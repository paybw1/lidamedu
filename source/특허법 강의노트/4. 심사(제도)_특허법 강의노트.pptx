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41" showSpecialPlsOnTitleSld="0" embedTrueTypeFonts="1" saveSubsetFonts="1">
  <p:sldMasterIdLst>
    <p:sldMasterId id="2147483648" r:id="rId1"/>
  </p:sldMasterIdLst>
  <p:notesMasterIdLst>
    <p:notesMasterId r:id="rId47"/>
  </p:notesMasterIdLst>
  <p:handoutMasterIdLst>
    <p:handoutMasterId r:id="rId48"/>
  </p:handoutMasterIdLst>
  <p:sldIdLst>
    <p:sldId id="256" r:id="rId2"/>
    <p:sldId id="2045" r:id="rId3"/>
    <p:sldId id="2047" r:id="rId4"/>
    <p:sldId id="2049" r:id="rId5"/>
    <p:sldId id="285" r:id="rId6"/>
    <p:sldId id="443" r:id="rId7"/>
    <p:sldId id="444" r:id="rId8"/>
    <p:sldId id="445" r:id="rId9"/>
    <p:sldId id="354" r:id="rId10"/>
    <p:sldId id="490" r:id="rId11"/>
    <p:sldId id="446" r:id="rId12"/>
    <p:sldId id="447" r:id="rId13"/>
    <p:sldId id="448" r:id="rId14"/>
    <p:sldId id="449" r:id="rId15"/>
    <p:sldId id="389" r:id="rId16"/>
    <p:sldId id="287" r:id="rId17"/>
    <p:sldId id="489" r:id="rId18"/>
    <p:sldId id="2020" r:id="rId19"/>
    <p:sldId id="450" r:id="rId20"/>
    <p:sldId id="452" r:id="rId21"/>
    <p:sldId id="480" r:id="rId22"/>
    <p:sldId id="461" r:id="rId23"/>
    <p:sldId id="463" r:id="rId24"/>
    <p:sldId id="462" r:id="rId25"/>
    <p:sldId id="466" r:id="rId26"/>
    <p:sldId id="465" r:id="rId27"/>
    <p:sldId id="464" r:id="rId28"/>
    <p:sldId id="468" r:id="rId29"/>
    <p:sldId id="467" r:id="rId30"/>
    <p:sldId id="2022" r:id="rId31"/>
    <p:sldId id="459" r:id="rId32"/>
    <p:sldId id="457" r:id="rId33"/>
    <p:sldId id="469" r:id="rId34"/>
    <p:sldId id="470" r:id="rId35"/>
    <p:sldId id="473" r:id="rId36"/>
    <p:sldId id="474" r:id="rId37"/>
    <p:sldId id="481" r:id="rId38"/>
    <p:sldId id="491" r:id="rId39"/>
    <p:sldId id="353" r:id="rId40"/>
    <p:sldId id="475" r:id="rId41"/>
    <p:sldId id="476" r:id="rId42"/>
    <p:sldId id="479" r:id="rId43"/>
    <p:sldId id="477" r:id="rId44"/>
    <p:sldId id="478" r:id="rId45"/>
    <p:sldId id="2046" r:id="rId46"/>
  </p:sldIdLst>
  <p:sldSz cx="12192000" cy="6858000"/>
  <p:notesSz cx="6400800" cy="11736388"/>
  <p:embeddedFontLst>
    <p:embeddedFont>
      <p:font typeface="Frutiger LT 65 Bold" panose="020B0800000000000000" pitchFamily="34" charset="0"/>
      <p:regular r:id="rId49"/>
    </p:embeddedFont>
    <p:embeddedFont>
      <p:font typeface="Frutiger LT 75 Black" panose="02000A03050000020004" pitchFamily="2" charset="0"/>
      <p:regular r:id="rId50"/>
    </p:embeddedFont>
    <p:embeddedFont>
      <p:font typeface="Rix모던고딕 B" panose="02020603020101020101" pitchFamily="18" charset="-127"/>
      <p:regular r:id="rId51"/>
    </p:embeddedFont>
    <p:embeddedFont>
      <p:font typeface="Rix모던고딕 EB" panose="02020603020101020101" pitchFamily="18" charset="-127"/>
      <p:regular r:id="rId52"/>
    </p:embeddedFont>
    <p:embeddedFont>
      <p:font typeface="Rix모던고딕 L" panose="02020603020101020101" pitchFamily="18" charset="-127"/>
      <p:regular r:id="rId53"/>
    </p:embeddedFont>
    <p:embeddedFont>
      <p:font typeface="Rix모던고딕 M" panose="02020603020101020101" pitchFamily="18" charset="-127"/>
      <p:regular r:id="rId54"/>
    </p:embeddedFont>
    <p:embeddedFont>
      <p:font typeface="Rix모던명조 B" panose="02020603020101020101" pitchFamily="18" charset="-127"/>
      <p:regular r:id="rId55"/>
    </p:embeddedFont>
    <p:embeddedFont>
      <p:font typeface="Rix모던명조 L" panose="02020603020101020101" pitchFamily="18" charset="-127"/>
      <p:regular r:id="rId56"/>
    </p:embeddedFont>
    <p:embeddedFont>
      <p:font typeface="Rix커피향 M" panose="02020603020101020101" pitchFamily="18" charset="-127"/>
      <p:regular r:id="rId57"/>
    </p:embeddedFont>
    <p:embeddedFont>
      <p:font typeface="옥션고딕 M" panose="02000000000000000000" pitchFamily="2" charset="-127"/>
      <p:regular r:id="rId58"/>
    </p:embeddedFont>
    <p:embeddedFont>
      <p:font typeface="한양신명조" panose="02030600000101010101" pitchFamily="18" charset="-127"/>
      <p:regular r:id="rId5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5252"/>
    <a:srgbClr val="0000FF"/>
    <a:srgbClr val="99CCFF"/>
    <a:srgbClr val="00B0F0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09" autoAdjust="0"/>
    <p:restoredTop sz="96242" autoAdjust="0"/>
  </p:normalViewPr>
  <p:slideViewPr>
    <p:cSldViewPr snapToGrid="0">
      <p:cViewPr varScale="1">
        <p:scale>
          <a:sx n="107" d="100"/>
          <a:sy n="107" d="100"/>
        </p:scale>
        <p:origin x="984" y="10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76" d="100"/>
          <a:sy n="76" d="100"/>
        </p:scale>
        <p:origin x="30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773442" cy="588003"/>
          </a:xfrm>
          <a:prstGeom prst="rect">
            <a:avLst/>
          </a:prstGeom>
        </p:spPr>
        <p:txBody>
          <a:bodyPr vert="horz" lIns="88194" tIns="44097" rIns="88194" bIns="44097" rtlCol="0"/>
          <a:lstStyle>
            <a:lvl1pPr algn="l">
              <a:defRPr sz="1200"/>
            </a:lvl1pPr>
          </a:lstStyle>
          <a:p>
            <a:endParaRPr lang="ko-KR" altLang="en-US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625928" y="2"/>
            <a:ext cx="2773441" cy="588003"/>
          </a:xfrm>
          <a:prstGeom prst="rect">
            <a:avLst/>
          </a:prstGeom>
        </p:spPr>
        <p:txBody>
          <a:bodyPr vert="horz" lIns="88194" tIns="44097" rIns="88194" bIns="44097" rtlCol="0"/>
          <a:lstStyle>
            <a:lvl1pPr algn="r">
              <a:defRPr sz="1200"/>
            </a:lvl1pPr>
          </a:lstStyle>
          <a:p>
            <a:fld id="{E166825A-ED3C-420C-9327-9C075F47485A}" type="datetimeFigureOut">
              <a:rPr lang="ko-KR" altLang="en-US" smtClean="0">
                <a:latin typeface="Rix모던고딕 L" panose="02020603020101020101" pitchFamily="18" charset="-127"/>
                <a:ea typeface="Rix모던고딕 L" panose="02020603020101020101" pitchFamily="18" charset="-127"/>
              </a:rPr>
              <a:t>2026-05-20</a:t>
            </a:fld>
            <a:endParaRPr lang="ko-KR" altLang="en-US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11148386"/>
            <a:ext cx="2773442" cy="588003"/>
          </a:xfrm>
          <a:prstGeom prst="rect">
            <a:avLst/>
          </a:prstGeom>
        </p:spPr>
        <p:txBody>
          <a:bodyPr vert="horz" lIns="88194" tIns="44097" rIns="88194" bIns="44097" rtlCol="0" anchor="b"/>
          <a:lstStyle>
            <a:lvl1pPr algn="l">
              <a:defRPr sz="1200"/>
            </a:lvl1pPr>
          </a:lstStyle>
          <a:p>
            <a:endParaRPr lang="ko-KR" altLang="en-US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625928" y="11148386"/>
            <a:ext cx="2773441" cy="588003"/>
          </a:xfrm>
          <a:prstGeom prst="rect">
            <a:avLst/>
          </a:prstGeom>
        </p:spPr>
        <p:txBody>
          <a:bodyPr vert="horz" lIns="88194" tIns="44097" rIns="88194" bIns="44097" rtlCol="0" anchor="b"/>
          <a:lstStyle>
            <a:lvl1pPr algn="r">
              <a:defRPr sz="1200"/>
            </a:lvl1pPr>
          </a:lstStyle>
          <a:p>
            <a:fld id="{0BFFB8C9-7789-4E6C-9EC5-682E11087327}" type="slidenum">
              <a:rPr lang="ko-KR" altLang="en-US" smtClean="0">
                <a:latin typeface="Rix모던고딕 L" panose="02020603020101020101" pitchFamily="18" charset="-127"/>
                <a:ea typeface="Rix모던고딕 L" panose="02020603020101020101" pitchFamily="18" charset="-127"/>
              </a:rPr>
              <a:t>‹#›</a:t>
            </a:fld>
            <a:endParaRPr lang="ko-KR" altLang="en-US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0132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773681" cy="588858"/>
          </a:xfrm>
          <a:prstGeom prst="rect">
            <a:avLst/>
          </a:prstGeom>
        </p:spPr>
        <p:txBody>
          <a:bodyPr vert="horz" lIns="91297" tIns="45649" rIns="91297" bIns="45649" rtlCol="0"/>
          <a:lstStyle>
            <a:lvl1pPr algn="l">
              <a:defRPr sz="1200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625639" y="2"/>
            <a:ext cx="2773681" cy="588858"/>
          </a:xfrm>
          <a:prstGeom prst="rect">
            <a:avLst/>
          </a:prstGeom>
        </p:spPr>
        <p:txBody>
          <a:bodyPr vert="horz" lIns="91297" tIns="45649" rIns="91297" bIns="45649" rtlCol="0"/>
          <a:lstStyle>
            <a:lvl1pPr algn="r">
              <a:defRPr sz="1200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fld id="{782597F2-0C3F-472E-942C-F0680216029B}" type="datetimeFigureOut">
              <a:rPr lang="ko-KR" altLang="en-US" smtClean="0"/>
              <a:pPr/>
              <a:t>2026-05-20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-317500" y="1468438"/>
            <a:ext cx="7035800" cy="39592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297" tIns="45649" rIns="91297" bIns="45649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40080" y="5648139"/>
            <a:ext cx="5120640" cy="4621203"/>
          </a:xfrm>
          <a:prstGeom prst="rect">
            <a:avLst/>
          </a:prstGeom>
        </p:spPr>
        <p:txBody>
          <a:bodyPr vert="horz" lIns="91297" tIns="45649" rIns="91297" bIns="45649" rtlCol="0"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1147534"/>
            <a:ext cx="2773681" cy="588857"/>
          </a:xfrm>
          <a:prstGeom prst="rect">
            <a:avLst/>
          </a:prstGeom>
        </p:spPr>
        <p:txBody>
          <a:bodyPr vert="horz" lIns="91297" tIns="45649" rIns="91297" bIns="45649" rtlCol="0" anchor="b"/>
          <a:lstStyle>
            <a:lvl1pPr algn="l">
              <a:defRPr sz="1200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625639" y="11147534"/>
            <a:ext cx="2773681" cy="588857"/>
          </a:xfrm>
          <a:prstGeom prst="rect">
            <a:avLst/>
          </a:prstGeom>
        </p:spPr>
        <p:txBody>
          <a:bodyPr vert="horz" lIns="91297" tIns="45649" rIns="91297" bIns="45649" rtlCol="0" anchor="b"/>
          <a:lstStyle>
            <a:lvl1pPr algn="r">
              <a:defRPr sz="1200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fld id="{30C005C8-BD53-41EA-B159-BC12A6DFFB7D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3274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Rix모던고딕 L" panose="02020603020101020101" pitchFamily="18" charset="-127"/>
        <a:ea typeface="Rix모던고딕 L" panose="02020603020101020101" pitchFamily="18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Rix모던고딕 L" panose="02020603020101020101" pitchFamily="18" charset="-127"/>
        <a:ea typeface="Rix모던고딕 L" panose="02020603020101020101" pitchFamily="18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Rix모던고딕 L" panose="02020603020101020101" pitchFamily="18" charset="-127"/>
        <a:ea typeface="Rix모던고딕 L" panose="02020603020101020101" pitchFamily="18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Rix모던고딕 L" panose="02020603020101020101" pitchFamily="18" charset="-127"/>
        <a:ea typeface="Rix모던고딕 L" panose="02020603020101020101" pitchFamily="18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Rix모던고딕 L" panose="02020603020101020101" pitchFamily="18" charset="-127"/>
        <a:ea typeface="Rix모던고딕 L" panose="02020603020101020101" pitchFamily="18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184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69892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012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1616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C005C8-BD53-41EA-B159-BC12A6DFFB7D}" type="slidenum">
              <a:rPr lang="ko-KR" altLang="en-US" smtClean="0"/>
              <a:t>282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8802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5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ko-KR" altLang="en-US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  <p:sp>
        <p:nvSpPr>
          <p:cNvPr id="136196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1AD53DB-3456-474F-B3C9-2433955C3C87}" type="slidenum">
              <a:rPr lang="en-US" altLang="ko-KR" smtClean="0">
                <a:latin typeface="Rix모던고딕 L" panose="02020603020101020101" pitchFamily="18" charset="-127"/>
                <a:ea typeface="Rix모던고딕 L" panose="02020603020101020101" pitchFamily="18" charset="-127"/>
              </a:rPr>
              <a:pPr/>
              <a:t>283</a:t>
            </a:fld>
            <a:endParaRPr lang="en-US" altLang="ko-KR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89797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5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ko-KR" altLang="en-US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  <p:sp>
        <p:nvSpPr>
          <p:cNvPr id="136196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1AD53DB-3456-474F-B3C9-2433955C3C87}" type="slidenum">
              <a:rPr lang="en-US" altLang="ko-KR" smtClean="0">
                <a:latin typeface="Rix모던고딕 L" panose="02020603020101020101" pitchFamily="18" charset="-127"/>
                <a:ea typeface="Rix모던고딕 L" panose="02020603020101020101" pitchFamily="18" charset="-127"/>
              </a:rPr>
              <a:pPr/>
              <a:t>284</a:t>
            </a:fld>
            <a:endParaRPr lang="en-US" altLang="ko-KR" dirty="0"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8979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 userDrawn="1"/>
        </p:nvSpPr>
        <p:spPr>
          <a:xfrm>
            <a:off x="2290709" y="0"/>
            <a:ext cx="9901291" cy="6898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216000" rtlCol="0" anchor="ctr"/>
          <a:lstStyle/>
          <a:p>
            <a:endParaRPr lang="ko-KR" altLang="en-US" sz="2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AE974-F2CC-439F-920F-8893196F9950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5FC6C-1516-4DC4-8C58-3090F7D4F003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3" name="그룹 12"/>
          <p:cNvGrpSpPr/>
          <p:nvPr userDrawn="1"/>
        </p:nvGrpSpPr>
        <p:grpSpPr>
          <a:xfrm>
            <a:off x="0" y="0"/>
            <a:ext cx="2844800" cy="923385"/>
            <a:chOff x="0" y="1206500"/>
            <a:chExt cx="2343150" cy="689865"/>
          </a:xfrm>
        </p:grpSpPr>
        <p:sp>
          <p:nvSpPr>
            <p:cNvPr id="11" name="제목 1"/>
            <p:cNvSpPr txBox="1">
              <a:spLocks/>
            </p:cNvSpPr>
            <p:nvPr userDrawn="1"/>
          </p:nvSpPr>
          <p:spPr>
            <a:xfrm>
              <a:off x="0" y="1206501"/>
              <a:ext cx="2243303" cy="68986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vert="horz" lIns="180000" tIns="0" rIns="180000" bIns="0" rtlCol="0" anchor="ctr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endParaRPr lang="ko-KR" altLang="en-US" sz="2400" dirty="0">
                <a:solidFill>
                  <a:schemeClr val="accent4"/>
                </a:solidFill>
                <a:latin typeface="+mn-ea"/>
                <a:ea typeface="+mn-ea"/>
                <a:cs typeface="Tahoma" panose="020B0604030504040204" pitchFamily="34" charset="0"/>
              </a:endParaRPr>
            </a:p>
          </p:txBody>
        </p:sp>
        <p:sp>
          <p:nvSpPr>
            <p:cNvPr id="12" name="직사각형 11"/>
            <p:cNvSpPr/>
            <p:nvPr userDrawn="1"/>
          </p:nvSpPr>
          <p:spPr>
            <a:xfrm>
              <a:off x="2243083" y="1206500"/>
              <a:ext cx="100067" cy="68986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/>
          <p:cNvSpPr txBox="1"/>
          <p:nvPr userDrawn="1"/>
        </p:nvSpPr>
        <p:spPr>
          <a:xfrm>
            <a:off x="0" y="677164"/>
            <a:ext cx="25891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aseline="0" dirty="0" err="1">
                <a:solidFill>
                  <a:schemeClr val="bg2"/>
                </a:solidFill>
              </a:rPr>
              <a:t>Yim</a:t>
            </a:r>
            <a:r>
              <a:rPr lang="en-US" altLang="ko-KR" sz="1000" baseline="0" dirty="0">
                <a:solidFill>
                  <a:schemeClr val="bg2"/>
                </a:solidFill>
              </a:rPr>
              <a:t>, </a:t>
            </a:r>
            <a:r>
              <a:rPr lang="en-US" altLang="ko-KR" sz="1000" baseline="0" dirty="0" err="1">
                <a:solidFill>
                  <a:schemeClr val="bg2"/>
                </a:solidFill>
              </a:rPr>
              <a:t>Byung-Woong</a:t>
            </a:r>
            <a:r>
              <a:rPr lang="en-US" altLang="ko-KR" sz="1000" baseline="0" dirty="0">
                <a:solidFill>
                  <a:schemeClr val="bg2"/>
                </a:solidFill>
              </a:rPr>
              <a:t> </a:t>
            </a:r>
            <a:r>
              <a:rPr lang="en-US" altLang="ko-KR" sz="1000" dirty="0">
                <a:solidFill>
                  <a:schemeClr val="bg2"/>
                </a:solidFill>
              </a:rPr>
              <a:t>All Right</a:t>
            </a:r>
            <a:r>
              <a:rPr lang="en-US" altLang="ko-KR" sz="1000" baseline="0" dirty="0">
                <a:solidFill>
                  <a:schemeClr val="bg2"/>
                </a:solidFill>
              </a:rPr>
              <a:t>s Reserved.</a:t>
            </a:r>
            <a:endParaRPr lang="ko-KR" altLang="en-US" sz="1000" dirty="0">
              <a:solidFill>
                <a:schemeClr val="bg2"/>
              </a:solidFill>
            </a:endParaRPr>
          </a:p>
        </p:txBody>
      </p:sp>
      <p:cxnSp>
        <p:nvCxnSpPr>
          <p:cNvPr id="16" name="직선 연결선 15"/>
          <p:cNvCxnSpPr/>
          <p:nvPr userDrawn="1"/>
        </p:nvCxnSpPr>
        <p:spPr>
          <a:xfrm flipH="1">
            <a:off x="0" y="685800"/>
            <a:ext cx="2844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제목 개체 틀 1"/>
          <p:cNvSpPr>
            <a:spLocks noGrp="1"/>
          </p:cNvSpPr>
          <p:nvPr>
            <p:ph type="title"/>
          </p:nvPr>
        </p:nvSpPr>
        <p:spPr>
          <a:xfrm>
            <a:off x="0" y="69055"/>
            <a:ext cx="2708636" cy="6037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2400">
                <a:solidFill>
                  <a:schemeClr val="accent4"/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제목 개체 틀 1"/>
          <p:cNvSpPr txBox="1">
            <a:spLocks/>
          </p:cNvSpPr>
          <p:nvPr userDrawn="1"/>
        </p:nvSpPr>
        <p:spPr>
          <a:xfrm>
            <a:off x="2864182" y="69055"/>
            <a:ext cx="9327818" cy="6037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ko-KR" alt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13"/>
          </p:nvPr>
        </p:nvSpPr>
        <p:spPr>
          <a:xfrm>
            <a:off x="2959100" y="69055"/>
            <a:ext cx="9232899" cy="603791"/>
          </a:xfrm>
        </p:spPr>
        <p:txBody>
          <a:bodyPr anchor="ctr"/>
          <a:lstStyle>
            <a:lvl1pPr marL="0" indent="0">
              <a:buNone/>
              <a:defRPr b="1">
                <a:solidFill>
                  <a:schemeClr val="accent3">
                    <a:lumMod val="50000"/>
                  </a:schemeClr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315053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C5B24-CD4D-4680-8DB7-9640F9921042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5FC6C-1516-4DC4-8C58-3090F7D4F00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/>
          <p:cNvSpPr/>
          <p:nvPr userDrawn="1"/>
        </p:nvSpPr>
        <p:spPr>
          <a:xfrm>
            <a:off x="2290709" y="0"/>
            <a:ext cx="9901291" cy="6898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216000" rtlCol="0" anchor="ctr"/>
          <a:lstStyle/>
          <a:p>
            <a:endParaRPr lang="ko-KR" altLang="en-US" sz="2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2" name="제목 1"/>
          <p:cNvSpPr txBox="1">
            <a:spLocks/>
          </p:cNvSpPr>
          <p:nvPr userDrawn="1"/>
        </p:nvSpPr>
        <p:spPr>
          <a:xfrm>
            <a:off x="0" y="1"/>
            <a:ext cx="2723577" cy="92338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vert="horz" lIns="180000" tIns="0" rIns="180000" bIns="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sz="2400" dirty="0">
              <a:solidFill>
                <a:schemeClr val="accent4"/>
              </a:solidFill>
              <a:latin typeface="+mn-ea"/>
              <a:ea typeface="+mn-ea"/>
              <a:cs typeface="Tahoma" panose="020B060403050404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2723309" y="0"/>
            <a:ext cx="121491" cy="923384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/>
          <p:cNvSpPr txBox="1"/>
          <p:nvPr userDrawn="1"/>
        </p:nvSpPr>
        <p:spPr>
          <a:xfrm>
            <a:off x="0" y="677164"/>
            <a:ext cx="25891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aseline="0" dirty="0" err="1">
                <a:solidFill>
                  <a:schemeClr val="bg2"/>
                </a:solidFill>
              </a:rPr>
              <a:t>Yim</a:t>
            </a:r>
            <a:r>
              <a:rPr lang="en-US" altLang="ko-KR" sz="1000" baseline="0" dirty="0">
                <a:solidFill>
                  <a:schemeClr val="bg2"/>
                </a:solidFill>
              </a:rPr>
              <a:t>, </a:t>
            </a:r>
            <a:r>
              <a:rPr lang="en-US" altLang="ko-KR" sz="1000" baseline="0" dirty="0" err="1">
                <a:solidFill>
                  <a:schemeClr val="bg2"/>
                </a:solidFill>
              </a:rPr>
              <a:t>Byung-Woong</a:t>
            </a:r>
            <a:r>
              <a:rPr lang="en-US" altLang="ko-KR" sz="1000" baseline="0" dirty="0">
                <a:solidFill>
                  <a:schemeClr val="bg2"/>
                </a:solidFill>
              </a:rPr>
              <a:t> </a:t>
            </a:r>
            <a:r>
              <a:rPr lang="en-US" altLang="ko-KR" sz="1000" dirty="0">
                <a:solidFill>
                  <a:schemeClr val="bg2"/>
                </a:solidFill>
              </a:rPr>
              <a:t>All Right</a:t>
            </a:r>
            <a:r>
              <a:rPr lang="en-US" altLang="ko-KR" sz="1000" baseline="0" dirty="0">
                <a:solidFill>
                  <a:schemeClr val="bg2"/>
                </a:solidFill>
              </a:rPr>
              <a:t>s Reserved.</a:t>
            </a:r>
            <a:endParaRPr lang="ko-KR" altLang="en-US" sz="1000" dirty="0">
              <a:solidFill>
                <a:schemeClr val="bg2"/>
              </a:solidFill>
            </a:endParaRPr>
          </a:p>
        </p:txBody>
      </p:sp>
      <p:cxnSp>
        <p:nvCxnSpPr>
          <p:cNvPr id="15" name="직선 연결선 14"/>
          <p:cNvCxnSpPr/>
          <p:nvPr userDrawn="1"/>
        </p:nvCxnSpPr>
        <p:spPr>
          <a:xfrm flipH="1">
            <a:off x="0" y="685800"/>
            <a:ext cx="2844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제목 개체 틀 1"/>
          <p:cNvSpPr>
            <a:spLocks noGrp="1"/>
          </p:cNvSpPr>
          <p:nvPr userDrawn="1">
            <p:ph type="title"/>
          </p:nvPr>
        </p:nvSpPr>
        <p:spPr>
          <a:xfrm>
            <a:off x="0" y="69055"/>
            <a:ext cx="2708636" cy="6037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2400">
                <a:solidFill>
                  <a:srgbClr val="FFFF00"/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7" name="제목 개체 틀 1"/>
          <p:cNvSpPr txBox="1">
            <a:spLocks/>
          </p:cNvSpPr>
          <p:nvPr userDrawn="1"/>
        </p:nvSpPr>
        <p:spPr>
          <a:xfrm>
            <a:off x="2864182" y="69055"/>
            <a:ext cx="9327818" cy="6037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ko-KR" alt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8" name="텍스트 개체 틀 21"/>
          <p:cNvSpPr>
            <a:spLocks noGrp="1"/>
          </p:cNvSpPr>
          <p:nvPr userDrawn="1">
            <p:ph type="body" sz="quarter" idx="13"/>
          </p:nvPr>
        </p:nvSpPr>
        <p:spPr>
          <a:xfrm>
            <a:off x="2959100" y="69055"/>
            <a:ext cx="9232899" cy="603791"/>
          </a:xfrm>
        </p:spPr>
        <p:txBody>
          <a:bodyPr anchor="ctr"/>
          <a:lstStyle>
            <a:lvl1pPr marL="0" indent="0">
              <a:buNone/>
              <a:defRPr b="1">
                <a:solidFill>
                  <a:schemeClr val="accent3">
                    <a:lumMod val="50000"/>
                  </a:schemeClr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8687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4445-C495-4461-AC0A-CDD6E1C8282F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5FC6C-1516-4DC4-8C58-3090F7D4F00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/>
          <p:cNvSpPr/>
          <p:nvPr userDrawn="1"/>
        </p:nvSpPr>
        <p:spPr>
          <a:xfrm>
            <a:off x="2290709" y="0"/>
            <a:ext cx="9901291" cy="6898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216000" rtlCol="0" anchor="ctr"/>
          <a:lstStyle/>
          <a:p>
            <a:endParaRPr lang="ko-KR" altLang="en-US" sz="2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2" name="제목 1"/>
          <p:cNvSpPr txBox="1">
            <a:spLocks/>
          </p:cNvSpPr>
          <p:nvPr userDrawn="1"/>
        </p:nvSpPr>
        <p:spPr>
          <a:xfrm>
            <a:off x="0" y="1"/>
            <a:ext cx="2723577" cy="68579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vert="horz" lIns="180000" tIns="0" rIns="180000" bIns="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sz="2400" dirty="0">
              <a:solidFill>
                <a:schemeClr val="accent4"/>
              </a:solidFill>
              <a:latin typeface="+mn-ea"/>
              <a:ea typeface="+mn-ea"/>
              <a:cs typeface="Tahoma" panose="020B060403050404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2723309" y="0"/>
            <a:ext cx="121491" cy="6858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/>
          <p:cNvCxnSpPr/>
          <p:nvPr userDrawn="1"/>
        </p:nvCxnSpPr>
        <p:spPr>
          <a:xfrm flipH="1">
            <a:off x="0" y="685800"/>
            <a:ext cx="2844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제목 개체 틀 1"/>
          <p:cNvSpPr>
            <a:spLocks noGrp="1"/>
          </p:cNvSpPr>
          <p:nvPr userDrawn="1">
            <p:ph type="title" hasCustomPrompt="1"/>
          </p:nvPr>
        </p:nvSpPr>
        <p:spPr>
          <a:xfrm>
            <a:off x="0" y="69055"/>
            <a:ext cx="2708636" cy="6037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2400">
                <a:solidFill>
                  <a:srgbClr val="FFFF00"/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r>
              <a:rPr lang="en-US" altLang="ko-KR" dirty="0"/>
              <a:t>TEST</a:t>
            </a:r>
            <a:endParaRPr lang="ko-KR" altLang="en-US" dirty="0"/>
          </a:p>
        </p:txBody>
      </p:sp>
      <p:sp>
        <p:nvSpPr>
          <p:cNvPr id="17" name="제목 개체 틀 1"/>
          <p:cNvSpPr txBox="1">
            <a:spLocks/>
          </p:cNvSpPr>
          <p:nvPr userDrawn="1"/>
        </p:nvSpPr>
        <p:spPr>
          <a:xfrm>
            <a:off x="2864182" y="69055"/>
            <a:ext cx="9327818" cy="6037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ko-KR" alt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8" name="텍스트 개체 틀 21"/>
          <p:cNvSpPr>
            <a:spLocks noGrp="1"/>
          </p:cNvSpPr>
          <p:nvPr userDrawn="1">
            <p:ph type="body" sz="quarter" idx="13"/>
          </p:nvPr>
        </p:nvSpPr>
        <p:spPr>
          <a:xfrm>
            <a:off x="2959100" y="69055"/>
            <a:ext cx="9232899" cy="603791"/>
          </a:xfrm>
        </p:spPr>
        <p:txBody>
          <a:bodyPr anchor="ctr"/>
          <a:lstStyle>
            <a:lvl1pPr marL="0" indent="0">
              <a:buNone/>
              <a:defRPr b="1">
                <a:solidFill>
                  <a:schemeClr val="accent3">
                    <a:lumMod val="50000"/>
                  </a:schemeClr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31710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30881" y="911580"/>
            <a:ext cx="6657226" cy="285420"/>
          </a:xfrm>
        </p:spPr>
        <p:txBody>
          <a:bodyPr lIns="90000" anchor="t">
            <a:spAutoFit/>
          </a:bodyPr>
          <a:lstStyle>
            <a:lvl1pPr algn="just">
              <a:lnSpc>
                <a:spcPts val="1504"/>
              </a:lnSpc>
              <a:defRPr sz="1103">
                <a:latin typeface="Rix모던고딕 M" panose="02020603020101020101" pitchFamily="18" charset="-127"/>
                <a:ea typeface="Rix모던고딕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388107" y="916735"/>
            <a:ext cx="4169541" cy="5417531"/>
          </a:xfrm>
        </p:spPr>
        <p:txBody>
          <a:bodyPr lIns="54000" rIns="0">
            <a:noAutofit/>
          </a:bodyPr>
          <a:lstStyle>
            <a:lvl1pPr marL="0" indent="0" algn="just">
              <a:lnSpc>
                <a:spcPts val="1103"/>
              </a:lnSpc>
              <a:buNone/>
              <a:defRPr sz="852">
                <a:solidFill>
                  <a:schemeClr val="tx1"/>
                </a:solidFill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  <a:lvl2pPr marL="4583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7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3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7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7388107" y="540361"/>
            <a:ext cx="0" cy="57939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/>
          <p:cNvSpPr/>
          <p:nvPr userDrawn="1"/>
        </p:nvSpPr>
        <p:spPr>
          <a:xfrm>
            <a:off x="7487537" y="549176"/>
            <a:ext cx="803668" cy="284700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3" dirty="0">
                <a:solidFill>
                  <a:schemeClr val="tx1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해 설</a:t>
            </a:r>
          </a:p>
        </p:txBody>
      </p:sp>
      <p:sp>
        <p:nvSpPr>
          <p:cNvPr id="13" name="모서리가 둥근 직사각형 12"/>
          <p:cNvSpPr/>
          <p:nvPr userDrawn="1"/>
        </p:nvSpPr>
        <p:spPr>
          <a:xfrm>
            <a:off x="7388106" y="6342676"/>
            <a:ext cx="635127" cy="2293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3" b="1" dirty="0">
                <a:solidFill>
                  <a:schemeClr val="tx2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정 답</a:t>
            </a:r>
          </a:p>
        </p:txBody>
      </p:sp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>
          <a:xfrm>
            <a:off x="732408" y="549176"/>
            <a:ext cx="2529141" cy="286479"/>
          </a:xfrm>
          <a:solidFill>
            <a:schemeClr val="accent1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0" name="텍스트 개체 틀 28"/>
          <p:cNvSpPr>
            <a:spLocks noGrp="1"/>
          </p:cNvSpPr>
          <p:nvPr>
            <p:ph type="body" sz="quarter" idx="11"/>
          </p:nvPr>
        </p:nvSpPr>
        <p:spPr>
          <a:xfrm>
            <a:off x="3261549" y="549176"/>
            <a:ext cx="2885485" cy="28647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rm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1" name="텍스트 개체 틀 28"/>
          <p:cNvSpPr>
            <a:spLocks noGrp="1"/>
          </p:cNvSpPr>
          <p:nvPr>
            <p:ph type="body" sz="quarter" idx="12"/>
          </p:nvPr>
        </p:nvSpPr>
        <p:spPr>
          <a:xfrm>
            <a:off x="6144263" y="549176"/>
            <a:ext cx="1141160" cy="286479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커피향 M" panose="02020603020101020101" pitchFamily="18" charset="-127"/>
                <a:ea typeface="Rix커피향 M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8"/>
          <p:cNvSpPr>
            <a:spLocks noGrp="1"/>
          </p:cNvSpPr>
          <p:nvPr>
            <p:ph type="body" sz="quarter" idx="13"/>
          </p:nvPr>
        </p:nvSpPr>
        <p:spPr>
          <a:xfrm>
            <a:off x="8163058" y="6309034"/>
            <a:ext cx="3562305" cy="286479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103">
                <a:latin typeface="Rix모던고딕 B" pitchFamily="18" charset="-127"/>
                <a:ea typeface="Rix모던고딕 B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4" name="텍스트 개체 틀 28"/>
          <p:cNvSpPr>
            <a:spLocks noGrp="1"/>
          </p:cNvSpPr>
          <p:nvPr>
            <p:ph type="body" sz="quarter" idx="14"/>
          </p:nvPr>
        </p:nvSpPr>
        <p:spPr>
          <a:xfrm>
            <a:off x="732407" y="1742184"/>
            <a:ext cx="6655700" cy="286479"/>
          </a:xfrm>
          <a:noFill/>
          <a:ln>
            <a:noFill/>
          </a:ln>
        </p:spPr>
        <p:txBody>
          <a:bodyPr anchor="t">
            <a:spAutoFit/>
          </a:bodyPr>
          <a:lstStyle>
            <a:lvl1pPr marL="143246" indent="-143246" algn="just">
              <a:lnSpc>
                <a:spcPts val="1504"/>
              </a:lnSpc>
              <a:spcBef>
                <a:spcPts val="0"/>
              </a:spcBef>
              <a:buNone/>
              <a:defRPr sz="1003">
                <a:latin typeface="Rix모던명조 L" pitchFamily="18" charset="-127"/>
                <a:ea typeface="Rix모던명조 L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7"/>
          </p:nvPr>
        </p:nvSpPr>
        <p:spPr>
          <a:xfrm>
            <a:off x="8712296" y="425377"/>
            <a:ext cx="2845351" cy="408498"/>
          </a:xfrm>
        </p:spPr>
        <p:txBody>
          <a:bodyPr/>
          <a:lstStyle>
            <a:lvl1pPr>
              <a:defRPr sz="3208" b="1" cap="none" spc="0">
                <a:ln w="10160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</a:ln>
                <a:solidFill>
                  <a:srgbClr val="FFFFFF"/>
                </a:solidFill>
                <a:effectLst/>
              </a:defRPr>
            </a:lvl1pPr>
          </a:lstStyle>
          <a:p>
            <a:fld id="{67DDBD9C-31A1-4AC6-979A-EBB296D195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2964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30881" y="911580"/>
            <a:ext cx="6657226" cy="285420"/>
          </a:xfrm>
        </p:spPr>
        <p:txBody>
          <a:bodyPr lIns="90000" anchor="t">
            <a:spAutoFit/>
          </a:bodyPr>
          <a:lstStyle>
            <a:lvl1pPr algn="just">
              <a:lnSpc>
                <a:spcPts val="1504"/>
              </a:lnSpc>
              <a:defRPr sz="1103">
                <a:latin typeface="Rix모던고딕 M" panose="02020603020101020101" pitchFamily="18" charset="-127"/>
                <a:ea typeface="Rix모던고딕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388107" y="916735"/>
            <a:ext cx="4169541" cy="5417531"/>
          </a:xfrm>
        </p:spPr>
        <p:txBody>
          <a:bodyPr lIns="54000" rIns="0">
            <a:noAutofit/>
          </a:bodyPr>
          <a:lstStyle>
            <a:lvl1pPr marL="0" indent="0" algn="just">
              <a:lnSpc>
                <a:spcPts val="1103"/>
              </a:lnSpc>
              <a:buNone/>
              <a:defRPr sz="852">
                <a:solidFill>
                  <a:schemeClr val="tx1"/>
                </a:solidFill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  <a:lvl2pPr marL="4583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7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3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7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7388107" y="540361"/>
            <a:ext cx="0" cy="57939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/>
          <p:cNvSpPr/>
          <p:nvPr userDrawn="1"/>
        </p:nvSpPr>
        <p:spPr>
          <a:xfrm>
            <a:off x="7487537" y="549176"/>
            <a:ext cx="803668" cy="284700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3" dirty="0">
                <a:solidFill>
                  <a:schemeClr val="tx1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해 설</a:t>
            </a:r>
          </a:p>
        </p:txBody>
      </p:sp>
      <p:sp>
        <p:nvSpPr>
          <p:cNvPr id="13" name="모서리가 둥근 직사각형 12"/>
          <p:cNvSpPr/>
          <p:nvPr userDrawn="1"/>
        </p:nvSpPr>
        <p:spPr>
          <a:xfrm>
            <a:off x="7388106" y="6342676"/>
            <a:ext cx="635127" cy="2293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3" b="1" dirty="0">
                <a:solidFill>
                  <a:schemeClr val="tx2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정 답</a:t>
            </a:r>
          </a:p>
        </p:txBody>
      </p:sp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>
          <a:xfrm>
            <a:off x="732408" y="549176"/>
            <a:ext cx="2529141" cy="286479"/>
          </a:xfrm>
          <a:solidFill>
            <a:schemeClr val="accent1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0" name="텍스트 개체 틀 28"/>
          <p:cNvSpPr>
            <a:spLocks noGrp="1"/>
          </p:cNvSpPr>
          <p:nvPr>
            <p:ph type="body" sz="quarter" idx="11"/>
          </p:nvPr>
        </p:nvSpPr>
        <p:spPr>
          <a:xfrm>
            <a:off x="3261549" y="549176"/>
            <a:ext cx="2885485" cy="28647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rm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1" name="텍스트 개체 틀 28"/>
          <p:cNvSpPr>
            <a:spLocks noGrp="1"/>
          </p:cNvSpPr>
          <p:nvPr>
            <p:ph type="body" sz="quarter" idx="12"/>
          </p:nvPr>
        </p:nvSpPr>
        <p:spPr>
          <a:xfrm>
            <a:off x="6144263" y="549176"/>
            <a:ext cx="1141160" cy="286479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커피향 M" panose="02020603020101020101" pitchFamily="18" charset="-127"/>
                <a:ea typeface="Rix커피향 M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8"/>
          <p:cNvSpPr>
            <a:spLocks noGrp="1"/>
          </p:cNvSpPr>
          <p:nvPr>
            <p:ph type="body" sz="quarter" idx="13"/>
          </p:nvPr>
        </p:nvSpPr>
        <p:spPr>
          <a:xfrm>
            <a:off x="8163058" y="6309034"/>
            <a:ext cx="3562305" cy="286479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103">
                <a:latin typeface="Rix모던고딕 B" pitchFamily="18" charset="-127"/>
                <a:ea typeface="Rix모던고딕 B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4" name="텍스트 개체 틀 28"/>
          <p:cNvSpPr>
            <a:spLocks noGrp="1"/>
          </p:cNvSpPr>
          <p:nvPr>
            <p:ph type="body" sz="quarter" idx="14"/>
          </p:nvPr>
        </p:nvSpPr>
        <p:spPr>
          <a:xfrm>
            <a:off x="732407" y="1742184"/>
            <a:ext cx="6655700" cy="286479"/>
          </a:xfrm>
          <a:noFill/>
          <a:ln>
            <a:noFill/>
          </a:ln>
        </p:spPr>
        <p:txBody>
          <a:bodyPr anchor="t">
            <a:spAutoFit/>
          </a:bodyPr>
          <a:lstStyle>
            <a:lvl1pPr marL="143246" indent="-143246" algn="just">
              <a:lnSpc>
                <a:spcPts val="1504"/>
              </a:lnSpc>
              <a:spcBef>
                <a:spcPts val="0"/>
              </a:spcBef>
              <a:buNone/>
              <a:defRPr sz="1003">
                <a:latin typeface="Rix모던명조 L" pitchFamily="18" charset="-127"/>
                <a:ea typeface="Rix모던명조 L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7"/>
          </p:nvPr>
        </p:nvSpPr>
        <p:spPr>
          <a:xfrm>
            <a:off x="8712296" y="425377"/>
            <a:ext cx="2845351" cy="408498"/>
          </a:xfrm>
        </p:spPr>
        <p:txBody>
          <a:bodyPr/>
          <a:lstStyle>
            <a:lvl1pPr>
              <a:defRPr sz="3208" b="1" cap="none" spc="0">
                <a:ln w="10160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</a:ln>
                <a:solidFill>
                  <a:srgbClr val="FFFFFF"/>
                </a:solidFill>
                <a:effectLst/>
              </a:defRPr>
            </a:lvl1pPr>
          </a:lstStyle>
          <a:p>
            <a:fld id="{67DDBD9C-31A1-4AC6-979A-EBB296D195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1798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30881" y="911580"/>
            <a:ext cx="6657226" cy="285420"/>
          </a:xfrm>
        </p:spPr>
        <p:txBody>
          <a:bodyPr lIns="90000" anchor="t">
            <a:spAutoFit/>
          </a:bodyPr>
          <a:lstStyle>
            <a:lvl1pPr algn="just">
              <a:lnSpc>
                <a:spcPts val="1504"/>
              </a:lnSpc>
              <a:defRPr sz="1103">
                <a:latin typeface="Rix모던고딕 M" panose="02020603020101020101" pitchFamily="18" charset="-127"/>
                <a:ea typeface="Rix모던고딕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388107" y="916735"/>
            <a:ext cx="4169541" cy="5417531"/>
          </a:xfrm>
        </p:spPr>
        <p:txBody>
          <a:bodyPr lIns="54000" rIns="0">
            <a:noAutofit/>
          </a:bodyPr>
          <a:lstStyle>
            <a:lvl1pPr marL="0" indent="0" algn="just">
              <a:lnSpc>
                <a:spcPts val="1103"/>
              </a:lnSpc>
              <a:buNone/>
              <a:defRPr sz="852">
                <a:solidFill>
                  <a:schemeClr val="tx1"/>
                </a:solidFill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  <a:lvl2pPr marL="4583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7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3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7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7388107" y="540361"/>
            <a:ext cx="0" cy="57939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/>
          <p:cNvSpPr/>
          <p:nvPr userDrawn="1"/>
        </p:nvSpPr>
        <p:spPr>
          <a:xfrm>
            <a:off x="7487537" y="549176"/>
            <a:ext cx="803668" cy="284700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3" dirty="0">
                <a:solidFill>
                  <a:schemeClr val="tx1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해 설</a:t>
            </a:r>
          </a:p>
        </p:txBody>
      </p:sp>
      <p:sp>
        <p:nvSpPr>
          <p:cNvPr id="13" name="모서리가 둥근 직사각형 12"/>
          <p:cNvSpPr/>
          <p:nvPr userDrawn="1"/>
        </p:nvSpPr>
        <p:spPr>
          <a:xfrm>
            <a:off x="7388105" y="6342676"/>
            <a:ext cx="635127" cy="2293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3" b="1" dirty="0">
                <a:solidFill>
                  <a:schemeClr val="tx2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정 답</a:t>
            </a:r>
          </a:p>
        </p:txBody>
      </p:sp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>
          <a:xfrm>
            <a:off x="732408" y="549176"/>
            <a:ext cx="2528016" cy="286479"/>
          </a:xfrm>
          <a:solidFill>
            <a:schemeClr val="accent1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0" name="텍스트 개체 틀 28"/>
          <p:cNvSpPr>
            <a:spLocks noGrp="1"/>
          </p:cNvSpPr>
          <p:nvPr>
            <p:ph type="body" sz="quarter" idx="11"/>
          </p:nvPr>
        </p:nvSpPr>
        <p:spPr>
          <a:xfrm>
            <a:off x="3260423" y="549176"/>
            <a:ext cx="2886612" cy="28647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rm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1" name="텍스트 개체 틀 28"/>
          <p:cNvSpPr>
            <a:spLocks noGrp="1"/>
          </p:cNvSpPr>
          <p:nvPr>
            <p:ph type="body" sz="quarter" idx="12"/>
          </p:nvPr>
        </p:nvSpPr>
        <p:spPr>
          <a:xfrm>
            <a:off x="6144263" y="549176"/>
            <a:ext cx="1141160" cy="286479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커피향 M" panose="02020603020101020101" pitchFamily="18" charset="-127"/>
                <a:ea typeface="Rix커피향 M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8"/>
          <p:cNvSpPr>
            <a:spLocks noGrp="1"/>
          </p:cNvSpPr>
          <p:nvPr>
            <p:ph type="body" sz="quarter" idx="13"/>
          </p:nvPr>
        </p:nvSpPr>
        <p:spPr>
          <a:xfrm>
            <a:off x="8163056" y="6309034"/>
            <a:ext cx="3562305" cy="286479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103">
                <a:latin typeface="Rix모던고딕 B" pitchFamily="18" charset="-127"/>
                <a:ea typeface="Rix모던고딕 B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4" name="텍스트 개체 틀 28"/>
          <p:cNvSpPr>
            <a:spLocks noGrp="1"/>
          </p:cNvSpPr>
          <p:nvPr>
            <p:ph type="body" sz="quarter" idx="14"/>
          </p:nvPr>
        </p:nvSpPr>
        <p:spPr>
          <a:xfrm>
            <a:off x="732408" y="1315935"/>
            <a:ext cx="6655698" cy="286479"/>
          </a:xfr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anchor="t">
            <a:spAutoFit/>
          </a:bodyPr>
          <a:lstStyle>
            <a:lvl1pPr marL="143246" indent="-143246" algn="just">
              <a:lnSpc>
                <a:spcPts val="1504"/>
              </a:lnSpc>
              <a:spcBef>
                <a:spcPts val="0"/>
              </a:spcBef>
              <a:buNone/>
              <a:defRPr sz="952">
                <a:latin typeface="Rix모던명조 L" pitchFamily="18" charset="-127"/>
                <a:ea typeface="Rix모던명조 L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7"/>
          </p:nvPr>
        </p:nvSpPr>
        <p:spPr>
          <a:xfrm>
            <a:off x="8712296" y="425377"/>
            <a:ext cx="2845351" cy="408498"/>
          </a:xfrm>
        </p:spPr>
        <p:txBody>
          <a:bodyPr/>
          <a:lstStyle>
            <a:lvl1pPr>
              <a:defRPr sz="3208" b="1" cap="none" spc="0">
                <a:ln w="10160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</a:ln>
                <a:solidFill>
                  <a:srgbClr val="FFFFFF"/>
                </a:solidFill>
                <a:effectLst/>
              </a:defRPr>
            </a:lvl1pPr>
          </a:lstStyle>
          <a:p>
            <a:fld id="{67DDBD9C-31A1-4AC6-979A-EBB296D195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4" name="텍스트 개체 틀 28"/>
          <p:cNvSpPr>
            <a:spLocks noGrp="1"/>
          </p:cNvSpPr>
          <p:nvPr>
            <p:ph type="body" sz="quarter" idx="18"/>
          </p:nvPr>
        </p:nvSpPr>
        <p:spPr>
          <a:xfrm>
            <a:off x="732408" y="1742184"/>
            <a:ext cx="6655698" cy="286479"/>
          </a:xfrm>
          <a:noFill/>
          <a:ln>
            <a:noFill/>
          </a:ln>
        </p:spPr>
        <p:txBody>
          <a:bodyPr wrap="square" anchor="t">
            <a:spAutoFit/>
          </a:bodyPr>
          <a:lstStyle>
            <a:lvl1pPr marL="143246" indent="-143246" algn="just">
              <a:lnSpc>
                <a:spcPts val="1504"/>
              </a:lnSpc>
              <a:spcBef>
                <a:spcPts val="0"/>
              </a:spcBef>
              <a:buNone/>
              <a:defRPr sz="1003">
                <a:latin typeface="Rix모던명조 L" pitchFamily="18" charset="-127"/>
                <a:ea typeface="Rix모던명조 L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73193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30881" y="911580"/>
            <a:ext cx="6657226" cy="285420"/>
          </a:xfrm>
        </p:spPr>
        <p:txBody>
          <a:bodyPr lIns="90000" anchor="t">
            <a:spAutoFit/>
          </a:bodyPr>
          <a:lstStyle>
            <a:lvl1pPr algn="just">
              <a:lnSpc>
                <a:spcPts val="1504"/>
              </a:lnSpc>
              <a:defRPr sz="1103">
                <a:latin typeface="Rix모던고딕 M" panose="02020603020101020101" pitchFamily="18" charset="-127"/>
                <a:ea typeface="Rix모던고딕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388107" y="916735"/>
            <a:ext cx="4169541" cy="5417531"/>
          </a:xfrm>
        </p:spPr>
        <p:txBody>
          <a:bodyPr lIns="54000" rIns="0">
            <a:noAutofit/>
          </a:bodyPr>
          <a:lstStyle>
            <a:lvl1pPr marL="0" indent="0" algn="just">
              <a:lnSpc>
                <a:spcPts val="1103"/>
              </a:lnSpc>
              <a:buNone/>
              <a:defRPr sz="852">
                <a:solidFill>
                  <a:schemeClr val="tx1"/>
                </a:solidFill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  <a:lvl2pPr marL="4583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7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3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7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7388107" y="540361"/>
            <a:ext cx="0" cy="57939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/>
          <p:cNvSpPr/>
          <p:nvPr userDrawn="1"/>
        </p:nvSpPr>
        <p:spPr>
          <a:xfrm>
            <a:off x="7487537" y="549176"/>
            <a:ext cx="803668" cy="284700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3" dirty="0">
                <a:solidFill>
                  <a:schemeClr val="tx1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해 설</a:t>
            </a:r>
          </a:p>
        </p:txBody>
      </p:sp>
      <p:sp>
        <p:nvSpPr>
          <p:cNvPr id="13" name="모서리가 둥근 직사각형 12"/>
          <p:cNvSpPr/>
          <p:nvPr userDrawn="1"/>
        </p:nvSpPr>
        <p:spPr>
          <a:xfrm>
            <a:off x="7388106" y="6342676"/>
            <a:ext cx="635127" cy="2293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3" b="1" dirty="0">
                <a:solidFill>
                  <a:schemeClr val="tx2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정 답</a:t>
            </a:r>
          </a:p>
        </p:txBody>
      </p:sp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>
          <a:xfrm>
            <a:off x="732408" y="549176"/>
            <a:ext cx="2529141" cy="286479"/>
          </a:xfrm>
          <a:solidFill>
            <a:schemeClr val="accent1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0" name="텍스트 개체 틀 28"/>
          <p:cNvSpPr>
            <a:spLocks noGrp="1"/>
          </p:cNvSpPr>
          <p:nvPr>
            <p:ph type="body" sz="quarter" idx="11"/>
          </p:nvPr>
        </p:nvSpPr>
        <p:spPr>
          <a:xfrm>
            <a:off x="3261549" y="549176"/>
            <a:ext cx="2885485" cy="28647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rm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1" name="텍스트 개체 틀 28"/>
          <p:cNvSpPr>
            <a:spLocks noGrp="1"/>
          </p:cNvSpPr>
          <p:nvPr>
            <p:ph type="body" sz="quarter" idx="12"/>
          </p:nvPr>
        </p:nvSpPr>
        <p:spPr>
          <a:xfrm>
            <a:off x="6144263" y="549176"/>
            <a:ext cx="1141160" cy="286479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커피향 M" panose="02020603020101020101" pitchFamily="18" charset="-127"/>
                <a:ea typeface="Rix커피향 M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8"/>
          <p:cNvSpPr>
            <a:spLocks noGrp="1"/>
          </p:cNvSpPr>
          <p:nvPr>
            <p:ph type="body" sz="quarter" idx="13"/>
          </p:nvPr>
        </p:nvSpPr>
        <p:spPr>
          <a:xfrm>
            <a:off x="8163058" y="6309034"/>
            <a:ext cx="3562305" cy="286479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103">
                <a:latin typeface="Rix모던고딕 B" pitchFamily="18" charset="-127"/>
                <a:ea typeface="Rix모던고딕 B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4" name="텍스트 개체 틀 28"/>
          <p:cNvSpPr>
            <a:spLocks noGrp="1"/>
          </p:cNvSpPr>
          <p:nvPr>
            <p:ph type="body" sz="quarter" idx="14"/>
          </p:nvPr>
        </p:nvSpPr>
        <p:spPr>
          <a:xfrm>
            <a:off x="732407" y="1742184"/>
            <a:ext cx="6655700" cy="286479"/>
          </a:xfrm>
          <a:noFill/>
          <a:ln>
            <a:noFill/>
          </a:ln>
        </p:spPr>
        <p:txBody>
          <a:bodyPr anchor="t">
            <a:spAutoFit/>
          </a:bodyPr>
          <a:lstStyle>
            <a:lvl1pPr marL="143246" indent="-143246" algn="just">
              <a:lnSpc>
                <a:spcPts val="1504"/>
              </a:lnSpc>
              <a:spcBef>
                <a:spcPts val="0"/>
              </a:spcBef>
              <a:buNone/>
              <a:defRPr sz="1003">
                <a:latin typeface="Rix모던명조 L" pitchFamily="18" charset="-127"/>
                <a:ea typeface="Rix모던명조 L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7"/>
          </p:nvPr>
        </p:nvSpPr>
        <p:spPr>
          <a:xfrm>
            <a:off x="8712296" y="425377"/>
            <a:ext cx="2845351" cy="408498"/>
          </a:xfrm>
        </p:spPr>
        <p:txBody>
          <a:bodyPr/>
          <a:lstStyle>
            <a:lvl1pPr>
              <a:defRPr sz="3208" b="1" cap="none" spc="0">
                <a:ln w="10160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</a:ln>
                <a:solidFill>
                  <a:srgbClr val="FFFFFF"/>
                </a:solidFill>
                <a:effectLst/>
              </a:defRPr>
            </a:lvl1pPr>
          </a:lstStyle>
          <a:p>
            <a:fld id="{67DDBD9C-31A1-4AC6-979A-EBB296D195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1429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30881" y="911580"/>
            <a:ext cx="6657226" cy="285420"/>
          </a:xfrm>
        </p:spPr>
        <p:txBody>
          <a:bodyPr lIns="90000" anchor="t">
            <a:spAutoFit/>
          </a:bodyPr>
          <a:lstStyle>
            <a:lvl1pPr algn="just">
              <a:lnSpc>
                <a:spcPts val="1504"/>
              </a:lnSpc>
              <a:defRPr sz="1103">
                <a:latin typeface="Rix모던고딕 M" panose="02020603020101020101" pitchFamily="18" charset="-127"/>
                <a:ea typeface="Rix모던고딕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388107" y="916735"/>
            <a:ext cx="4169541" cy="5417531"/>
          </a:xfrm>
        </p:spPr>
        <p:txBody>
          <a:bodyPr lIns="54000" rIns="0">
            <a:noAutofit/>
          </a:bodyPr>
          <a:lstStyle>
            <a:lvl1pPr marL="0" indent="0" algn="just">
              <a:lnSpc>
                <a:spcPts val="1103"/>
              </a:lnSpc>
              <a:buNone/>
              <a:defRPr sz="852">
                <a:solidFill>
                  <a:schemeClr val="tx1"/>
                </a:solidFill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  <a:lvl2pPr marL="4583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7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3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7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7388107" y="540361"/>
            <a:ext cx="0" cy="57939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/>
          <p:cNvSpPr/>
          <p:nvPr userDrawn="1"/>
        </p:nvSpPr>
        <p:spPr>
          <a:xfrm>
            <a:off x="7487537" y="549176"/>
            <a:ext cx="803668" cy="284700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3" dirty="0">
                <a:solidFill>
                  <a:schemeClr val="tx1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해 설</a:t>
            </a:r>
          </a:p>
        </p:txBody>
      </p:sp>
      <p:sp>
        <p:nvSpPr>
          <p:cNvPr id="13" name="모서리가 둥근 직사각형 12"/>
          <p:cNvSpPr/>
          <p:nvPr userDrawn="1"/>
        </p:nvSpPr>
        <p:spPr>
          <a:xfrm>
            <a:off x="7388106" y="6342676"/>
            <a:ext cx="635127" cy="2293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3" b="1" dirty="0">
                <a:solidFill>
                  <a:schemeClr val="tx2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정 답</a:t>
            </a:r>
          </a:p>
        </p:txBody>
      </p:sp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>
          <a:xfrm>
            <a:off x="732408" y="549176"/>
            <a:ext cx="2529141" cy="286479"/>
          </a:xfrm>
          <a:solidFill>
            <a:schemeClr val="accent1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0" name="텍스트 개체 틀 28"/>
          <p:cNvSpPr>
            <a:spLocks noGrp="1"/>
          </p:cNvSpPr>
          <p:nvPr>
            <p:ph type="body" sz="quarter" idx="11"/>
          </p:nvPr>
        </p:nvSpPr>
        <p:spPr>
          <a:xfrm>
            <a:off x="3261549" y="549176"/>
            <a:ext cx="2885485" cy="28647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rm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1" name="텍스트 개체 틀 28"/>
          <p:cNvSpPr>
            <a:spLocks noGrp="1"/>
          </p:cNvSpPr>
          <p:nvPr>
            <p:ph type="body" sz="quarter" idx="12"/>
          </p:nvPr>
        </p:nvSpPr>
        <p:spPr>
          <a:xfrm>
            <a:off x="6144263" y="549176"/>
            <a:ext cx="1141160" cy="286479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커피향 M" panose="02020603020101020101" pitchFamily="18" charset="-127"/>
                <a:ea typeface="Rix커피향 M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8"/>
          <p:cNvSpPr>
            <a:spLocks noGrp="1"/>
          </p:cNvSpPr>
          <p:nvPr>
            <p:ph type="body" sz="quarter" idx="13"/>
          </p:nvPr>
        </p:nvSpPr>
        <p:spPr>
          <a:xfrm>
            <a:off x="8163058" y="6309034"/>
            <a:ext cx="3562305" cy="286479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103">
                <a:latin typeface="Rix모던고딕 B" pitchFamily="18" charset="-127"/>
                <a:ea typeface="Rix모던고딕 B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4" name="텍스트 개체 틀 28"/>
          <p:cNvSpPr>
            <a:spLocks noGrp="1"/>
          </p:cNvSpPr>
          <p:nvPr>
            <p:ph type="body" sz="quarter" idx="14"/>
          </p:nvPr>
        </p:nvSpPr>
        <p:spPr>
          <a:xfrm>
            <a:off x="732407" y="1742184"/>
            <a:ext cx="6655700" cy="271677"/>
          </a:xfrm>
          <a:noFill/>
          <a:ln>
            <a:noFill/>
          </a:ln>
        </p:spPr>
        <p:txBody>
          <a:bodyPr anchor="t">
            <a:spAutoFit/>
          </a:bodyPr>
          <a:lstStyle>
            <a:lvl1pPr marL="143246" indent="-143246" algn="just">
              <a:lnSpc>
                <a:spcPts val="1504"/>
              </a:lnSpc>
              <a:spcBef>
                <a:spcPts val="0"/>
              </a:spcBef>
              <a:buNone/>
              <a:defRPr sz="1003">
                <a:latin typeface="Rix모던명조 L" pitchFamily="18" charset="-127"/>
                <a:ea typeface="Rix모던명조 L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7"/>
          </p:nvPr>
        </p:nvSpPr>
        <p:spPr>
          <a:xfrm>
            <a:off x="8712296" y="425377"/>
            <a:ext cx="2845351" cy="408498"/>
          </a:xfrm>
        </p:spPr>
        <p:txBody>
          <a:bodyPr/>
          <a:lstStyle>
            <a:lvl1pPr>
              <a:defRPr sz="3208" b="1" cap="none" spc="0">
                <a:ln w="10160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</a:ln>
                <a:solidFill>
                  <a:srgbClr val="FFFFFF"/>
                </a:solidFill>
                <a:effectLst/>
              </a:defRPr>
            </a:lvl1pPr>
          </a:lstStyle>
          <a:p>
            <a:fld id="{67DDBD9C-31A1-4AC6-979A-EBB296D195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2423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30881" y="911580"/>
            <a:ext cx="6657226" cy="285420"/>
          </a:xfrm>
        </p:spPr>
        <p:txBody>
          <a:bodyPr lIns="90000" anchor="t">
            <a:spAutoFit/>
          </a:bodyPr>
          <a:lstStyle>
            <a:lvl1pPr algn="just">
              <a:lnSpc>
                <a:spcPts val="1504"/>
              </a:lnSpc>
              <a:defRPr sz="1103">
                <a:latin typeface="Rix모던고딕 M" panose="02020603020101020101" pitchFamily="18" charset="-127"/>
                <a:ea typeface="Rix모던고딕 M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388107" y="916735"/>
            <a:ext cx="4169541" cy="5417531"/>
          </a:xfrm>
        </p:spPr>
        <p:txBody>
          <a:bodyPr lIns="54000" rIns="0">
            <a:noAutofit/>
          </a:bodyPr>
          <a:lstStyle>
            <a:lvl1pPr marL="0" indent="0" algn="just">
              <a:lnSpc>
                <a:spcPts val="1103"/>
              </a:lnSpc>
              <a:buNone/>
              <a:defRPr sz="852">
                <a:solidFill>
                  <a:schemeClr val="tx1"/>
                </a:solidFill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  <a:lvl2pPr marL="4583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7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3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7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7388107" y="540361"/>
            <a:ext cx="0" cy="57939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/>
          <p:cNvSpPr/>
          <p:nvPr userDrawn="1"/>
        </p:nvSpPr>
        <p:spPr>
          <a:xfrm>
            <a:off x="7487537" y="549176"/>
            <a:ext cx="803668" cy="284700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3" dirty="0">
                <a:solidFill>
                  <a:schemeClr val="tx1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해 설</a:t>
            </a:r>
          </a:p>
        </p:txBody>
      </p:sp>
      <p:sp>
        <p:nvSpPr>
          <p:cNvPr id="13" name="모서리가 둥근 직사각형 12"/>
          <p:cNvSpPr/>
          <p:nvPr userDrawn="1"/>
        </p:nvSpPr>
        <p:spPr>
          <a:xfrm>
            <a:off x="7388106" y="6342676"/>
            <a:ext cx="635127" cy="2293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3" b="1" dirty="0">
                <a:solidFill>
                  <a:schemeClr val="tx2"/>
                </a:solidFill>
                <a:latin typeface="Rix커피향 M" panose="02020603020101020101" pitchFamily="18" charset="-127"/>
                <a:ea typeface="Rix커피향 M" panose="02020603020101020101" pitchFamily="18" charset="-127"/>
              </a:rPr>
              <a:t>정 답</a:t>
            </a:r>
          </a:p>
        </p:txBody>
      </p:sp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>
          <a:xfrm>
            <a:off x="732408" y="549176"/>
            <a:ext cx="2529141" cy="286479"/>
          </a:xfrm>
          <a:solidFill>
            <a:schemeClr val="accent1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0" name="텍스트 개체 틀 28"/>
          <p:cNvSpPr>
            <a:spLocks noGrp="1"/>
          </p:cNvSpPr>
          <p:nvPr>
            <p:ph type="body" sz="quarter" idx="11"/>
          </p:nvPr>
        </p:nvSpPr>
        <p:spPr>
          <a:xfrm>
            <a:off x="3261549" y="549176"/>
            <a:ext cx="2885485" cy="28647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rmAutofit/>
          </a:bodyPr>
          <a:lstStyle>
            <a:lvl1pPr marL="0" indent="0" algn="ctr">
              <a:buNone/>
              <a:defRPr sz="1053">
                <a:latin typeface="Rix모던고딕 L" panose="02020603020101020101" pitchFamily="18" charset="-127"/>
                <a:ea typeface="Rix모던고딕 L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1" name="텍스트 개체 틀 28"/>
          <p:cNvSpPr>
            <a:spLocks noGrp="1"/>
          </p:cNvSpPr>
          <p:nvPr>
            <p:ph type="body" sz="quarter" idx="12"/>
          </p:nvPr>
        </p:nvSpPr>
        <p:spPr>
          <a:xfrm>
            <a:off x="6144263" y="549176"/>
            <a:ext cx="1141160" cy="286479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rIns="36000" anchor="ctr">
            <a:noAutofit/>
          </a:bodyPr>
          <a:lstStyle>
            <a:lvl1pPr marL="0" indent="0" algn="ctr">
              <a:buNone/>
              <a:defRPr sz="1053">
                <a:latin typeface="Rix커피향 M" panose="02020603020101020101" pitchFamily="18" charset="-127"/>
                <a:ea typeface="Rix커피향 M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2" name="텍스트 개체 틀 28"/>
          <p:cNvSpPr>
            <a:spLocks noGrp="1"/>
          </p:cNvSpPr>
          <p:nvPr>
            <p:ph type="body" sz="quarter" idx="13"/>
          </p:nvPr>
        </p:nvSpPr>
        <p:spPr>
          <a:xfrm>
            <a:off x="8163058" y="6309034"/>
            <a:ext cx="3562305" cy="286479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103">
                <a:latin typeface="Rix모던고딕 B" pitchFamily="18" charset="-127"/>
                <a:ea typeface="Rix모던고딕 B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4" name="텍스트 개체 틀 28"/>
          <p:cNvSpPr>
            <a:spLocks noGrp="1"/>
          </p:cNvSpPr>
          <p:nvPr>
            <p:ph type="body" sz="quarter" idx="14"/>
          </p:nvPr>
        </p:nvSpPr>
        <p:spPr>
          <a:xfrm>
            <a:off x="732407" y="1742184"/>
            <a:ext cx="6655700" cy="271677"/>
          </a:xfrm>
          <a:noFill/>
          <a:ln>
            <a:noFill/>
          </a:ln>
        </p:spPr>
        <p:txBody>
          <a:bodyPr anchor="t">
            <a:spAutoFit/>
          </a:bodyPr>
          <a:lstStyle>
            <a:lvl1pPr marL="143246" indent="-143246" algn="just">
              <a:lnSpc>
                <a:spcPts val="1504"/>
              </a:lnSpc>
              <a:spcBef>
                <a:spcPts val="0"/>
              </a:spcBef>
              <a:buNone/>
              <a:defRPr sz="1003">
                <a:latin typeface="Rix모던명조 L" pitchFamily="18" charset="-127"/>
                <a:ea typeface="Rix모던명조 L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7"/>
          </p:nvPr>
        </p:nvSpPr>
        <p:spPr>
          <a:xfrm>
            <a:off x="8712296" y="425377"/>
            <a:ext cx="2845351" cy="408498"/>
          </a:xfrm>
        </p:spPr>
        <p:txBody>
          <a:bodyPr/>
          <a:lstStyle>
            <a:lvl1pPr>
              <a:defRPr sz="3208" b="1" cap="none" spc="0">
                <a:ln w="10160">
                  <a:solidFill>
                    <a:schemeClr val="tx1">
                      <a:lumMod val="50000"/>
                      <a:lumOff val="50000"/>
                    </a:schemeClr>
                  </a:solidFill>
                  <a:prstDash val="solid"/>
                </a:ln>
                <a:solidFill>
                  <a:srgbClr val="FFFFFF"/>
                </a:solidFill>
                <a:effectLst/>
              </a:defRPr>
            </a:lvl1pPr>
          </a:lstStyle>
          <a:p>
            <a:fld id="{67DDBD9C-31A1-4AC6-979A-EBB296D195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7875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 userDrawn="1"/>
        </p:nvSpPr>
        <p:spPr>
          <a:xfrm>
            <a:off x="2290709" y="0"/>
            <a:ext cx="9901291" cy="6898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216000" rtlCol="0" anchor="ctr"/>
          <a:lstStyle/>
          <a:p>
            <a:endParaRPr lang="ko-KR" altLang="en-US" sz="2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CE72D-2D75-40FD-B9C5-E48E40FDAF15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13" name="그룹 12"/>
          <p:cNvGrpSpPr/>
          <p:nvPr userDrawn="1"/>
        </p:nvGrpSpPr>
        <p:grpSpPr>
          <a:xfrm>
            <a:off x="0" y="0"/>
            <a:ext cx="2844800" cy="923385"/>
            <a:chOff x="0" y="1206500"/>
            <a:chExt cx="2343150" cy="689865"/>
          </a:xfrm>
        </p:grpSpPr>
        <p:sp>
          <p:nvSpPr>
            <p:cNvPr id="11" name="제목 1"/>
            <p:cNvSpPr txBox="1">
              <a:spLocks/>
            </p:cNvSpPr>
            <p:nvPr userDrawn="1"/>
          </p:nvSpPr>
          <p:spPr>
            <a:xfrm>
              <a:off x="0" y="1206501"/>
              <a:ext cx="2243303" cy="68986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vert="horz" lIns="180000" tIns="0" rIns="180000" bIns="0" rtlCol="0" anchor="ctr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endParaRPr lang="ko-KR" altLang="en-US" sz="2400" dirty="0">
                <a:solidFill>
                  <a:schemeClr val="accent4"/>
                </a:solidFill>
                <a:latin typeface="+mn-ea"/>
                <a:ea typeface="+mn-ea"/>
                <a:cs typeface="Tahoma" panose="020B0604030504040204" pitchFamily="34" charset="0"/>
              </a:endParaRPr>
            </a:p>
          </p:txBody>
        </p:sp>
        <p:sp>
          <p:nvSpPr>
            <p:cNvPr id="12" name="직사각형 11"/>
            <p:cNvSpPr/>
            <p:nvPr userDrawn="1"/>
          </p:nvSpPr>
          <p:spPr>
            <a:xfrm>
              <a:off x="2243083" y="1206500"/>
              <a:ext cx="100067" cy="68986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/>
          <p:cNvSpPr txBox="1"/>
          <p:nvPr userDrawn="1"/>
        </p:nvSpPr>
        <p:spPr>
          <a:xfrm>
            <a:off x="-1" y="677165"/>
            <a:ext cx="2723309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ko-KR" sz="1000" baseline="0" dirty="0" err="1">
                <a:solidFill>
                  <a:schemeClr val="bg2"/>
                </a:solidFill>
              </a:rPr>
              <a:t>Yim</a:t>
            </a:r>
            <a:r>
              <a:rPr lang="en-US" altLang="ko-KR" sz="1000" baseline="0" dirty="0">
                <a:solidFill>
                  <a:schemeClr val="bg2"/>
                </a:solidFill>
              </a:rPr>
              <a:t>, </a:t>
            </a:r>
            <a:r>
              <a:rPr lang="en-US" altLang="ko-KR" sz="1000" baseline="0" dirty="0" err="1">
                <a:solidFill>
                  <a:schemeClr val="bg2"/>
                </a:solidFill>
              </a:rPr>
              <a:t>Byung-Woong</a:t>
            </a:r>
            <a:r>
              <a:rPr lang="en-US" altLang="ko-KR" sz="1000" baseline="0" dirty="0">
                <a:solidFill>
                  <a:schemeClr val="bg2"/>
                </a:solidFill>
              </a:rPr>
              <a:t> </a:t>
            </a:r>
            <a:r>
              <a:rPr lang="en-US" altLang="ko-KR" sz="1000" dirty="0">
                <a:solidFill>
                  <a:schemeClr val="bg2"/>
                </a:solidFill>
              </a:rPr>
              <a:t>All Right</a:t>
            </a:r>
            <a:r>
              <a:rPr lang="en-US" altLang="ko-KR" sz="1000" baseline="0" dirty="0">
                <a:solidFill>
                  <a:schemeClr val="bg2"/>
                </a:solidFill>
              </a:rPr>
              <a:t>s Reserved.</a:t>
            </a:r>
            <a:endParaRPr lang="ko-KR" altLang="en-US" sz="1000" dirty="0">
              <a:solidFill>
                <a:schemeClr val="bg2"/>
              </a:solidFill>
            </a:endParaRPr>
          </a:p>
        </p:txBody>
      </p:sp>
      <p:cxnSp>
        <p:nvCxnSpPr>
          <p:cNvPr id="16" name="직선 연결선 15"/>
          <p:cNvCxnSpPr/>
          <p:nvPr userDrawn="1"/>
        </p:nvCxnSpPr>
        <p:spPr>
          <a:xfrm flipH="1">
            <a:off x="0" y="685800"/>
            <a:ext cx="2844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제목 개체 틀 1"/>
          <p:cNvSpPr>
            <a:spLocks noGrp="1"/>
          </p:cNvSpPr>
          <p:nvPr>
            <p:ph type="title"/>
          </p:nvPr>
        </p:nvSpPr>
        <p:spPr>
          <a:xfrm>
            <a:off x="0" y="274320"/>
            <a:ext cx="2708636" cy="3985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2400">
                <a:solidFill>
                  <a:schemeClr val="accent4"/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제목 개체 틀 1"/>
          <p:cNvSpPr txBox="1">
            <a:spLocks/>
          </p:cNvSpPr>
          <p:nvPr userDrawn="1"/>
        </p:nvSpPr>
        <p:spPr>
          <a:xfrm>
            <a:off x="2864182" y="69055"/>
            <a:ext cx="9327818" cy="6037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ko-KR" alt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13"/>
          </p:nvPr>
        </p:nvSpPr>
        <p:spPr>
          <a:xfrm>
            <a:off x="2959100" y="69055"/>
            <a:ext cx="9232899" cy="603791"/>
          </a:xfrm>
        </p:spPr>
        <p:txBody>
          <a:bodyPr anchor="ctr"/>
          <a:lstStyle>
            <a:lvl1pPr marL="0" indent="0">
              <a:buNone/>
              <a:defRPr b="1">
                <a:solidFill>
                  <a:schemeClr val="accent3">
                    <a:lumMod val="50000"/>
                  </a:schemeClr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7D14E75-92C3-4B89-BE74-A6BDEFD9235C}"/>
              </a:ext>
            </a:extLst>
          </p:cNvPr>
          <p:cNvSpPr/>
          <p:nvPr userDrawn="1"/>
        </p:nvSpPr>
        <p:spPr>
          <a:xfrm>
            <a:off x="-4710" y="0"/>
            <a:ext cx="2723309" cy="2617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en-US" altLang="ko-KR" b="1" dirty="0"/>
              <a:t>CASE STUDY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040547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205E6C-6464-4644-B9B5-AEE9DC217CD3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125200" y="0"/>
            <a:ext cx="1066800" cy="673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0" b="1" cap="none" spc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/>
              </a:defRPr>
            </a:lvl1pPr>
          </a:lstStyle>
          <a:p>
            <a:fld id="{3875FC6C-1516-4DC4-8C58-3090F7D4F00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863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11153595" y="44623"/>
            <a:ext cx="1062789" cy="966965"/>
          </a:xfrm>
          <a:prstGeom prst="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</a:rPr>
              <a:t>총칙</a:t>
            </a:r>
            <a:r>
              <a:rPr lang="en-US" altLang="ko-KR" sz="2000" b="1" dirty="0">
                <a:solidFill>
                  <a:schemeClr val="bg1"/>
                </a:solidFill>
              </a:rPr>
              <a:t>/</a:t>
            </a:r>
          </a:p>
          <a:p>
            <a:pPr algn="ctr"/>
            <a:r>
              <a:rPr lang="ko-KR" altLang="en-US" sz="2000" b="1" dirty="0" err="1">
                <a:solidFill>
                  <a:schemeClr val="bg1"/>
                </a:solidFill>
              </a:rPr>
              <a:t>보칙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11153595" y="1011588"/>
            <a:ext cx="1062789" cy="966965"/>
          </a:xfrm>
          <a:prstGeom prst="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</a:rPr>
              <a:t>특허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pPr algn="ctr"/>
            <a:r>
              <a:rPr lang="ko-KR" altLang="en-US" sz="2000" b="1" dirty="0">
                <a:solidFill>
                  <a:schemeClr val="bg1"/>
                </a:solidFill>
              </a:rPr>
              <a:t>요건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11153595" y="1978552"/>
            <a:ext cx="1062789" cy="966965"/>
          </a:xfrm>
          <a:prstGeom prst="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이익</a:t>
            </a:r>
            <a:endParaRPr lang="en-US" altLang="ko-KR" sz="2000" b="1" dirty="0"/>
          </a:p>
          <a:p>
            <a:pPr algn="ctr"/>
            <a:r>
              <a:rPr lang="ko-KR" altLang="en-US" sz="2000" b="1" dirty="0"/>
              <a:t>제도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11153595" y="2945517"/>
            <a:ext cx="1062789" cy="96696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accent4"/>
                </a:solidFill>
              </a:rPr>
              <a:t>심사</a:t>
            </a:r>
            <a:endParaRPr lang="en-US" altLang="ko-KR" sz="2000" b="1" dirty="0">
              <a:solidFill>
                <a:schemeClr val="accent4"/>
              </a:solidFill>
            </a:endParaRPr>
          </a:p>
          <a:p>
            <a:pPr algn="ctr"/>
            <a:r>
              <a:rPr lang="en-US" altLang="ko-KR" sz="2000" b="1" dirty="0">
                <a:solidFill>
                  <a:schemeClr val="accent4"/>
                </a:solidFill>
              </a:rPr>
              <a:t>(</a:t>
            </a:r>
            <a:r>
              <a:rPr lang="ko-KR" altLang="en-US" sz="2000" b="1" dirty="0">
                <a:solidFill>
                  <a:schemeClr val="accent4"/>
                </a:solidFill>
              </a:rPr>
              <a:t>제도</a:t>
            </a:r>
            <a:r>
              <a:rPr lang="en-US" altLang="ko-KR" sz="2000" b="1" dirty="0">
                <a:solidFill>
                  <a:schemeClr val="accent4"/>
                </a:solidFill>
              </a:rPr>
              <a:t>)</a:t>
            </a:r>
            <a:endParaRPr lang="ko-KR" altLang="en-US" sz="2000" b="1" dirty="0">
              <a:solidFill>
                <a:schemeClr val="accent4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11153595" y="3912483"/>
            <a:ext cx="1062789" cy="966965"/>
          </a:xfrm>
          <a:prstGeom prst="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특허권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11153595" y="4879448"/>
            <a:ext cx="1062789" cy="966965"/>
          </a:xfrm>
          <a:prstGeom prst="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심판</a:t>
            </a:r>
            <a:r>
              <a:rPr lang="en-US" altLang="ko-KR" sz="2000" b="1" dirty="0"/>
              <a:t>/</a:t>
            </a:r>
          </a:p>
          <a:p>
            <a:pPr algn="ctr"/>
            <a:r>
              <a:rPr lang="ko-KR" altLang="en-US" sz="2000" b="1" dirty="0"/>
              <a:t>소송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11153595" y="5846412"/>
            <a:ext cx="1062789" cy="966965"/>
          </a:xfrm>
          <a:prstGeom prst="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PCT</a:t>
            </a:r>
            <a:endParaRPr lang="ko-KR" altLang="en-US" sz="2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5F9189-9815-B253-5283-822F207CC8B0}"/>
              </a:ext>
            </a:extLst>
          </p:cNvPr>
          <p:cNvSpPr txBox="1">
            <a:spLocks/>
          </p:cNvSpPr>
          <p:nvPr/>
        </p:nvSpPr>
        <p:spPr>
          <a:xfrm>
            <a:off x="1961128" y="1991045"/>
            <a:ext cx="7162800" cy="1193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accent4"/>
                </a:solidFill>
                <a:latin typeface="Rix모던명조 B" panose="02020603020101020101" pitchFamily="18" charset="-127"/>
                <a:ea typeface="Rix모던명조 B" panose="02020603020101020101" pitchFamily="18" charset="-127"/>
                <a:cs typeface="+mj-cs"/>
              </a:defRPr>
            </a:lvl1pPr>
          </a:lstStyle>
          <a:p>
            <a:r>
              <a:rPr lang="ko-KR" altLang="en-US" sz="8000" dirty="0">
                <a:solidFill>
                  <a:schemeClr val="tx1">
                    <a:lumMod val="50000"/>
                    <a:lumOff val="50000"/>
                  </a:schemeClr>
                </a:solidFill>
                <a:latin typeface="Rix모던고딕 EB" panose="02020603020101020101" pitchFamily="18" charset="-127"/>
                <a:ea typeface="Rix모던고딕 EB" panose="02020603020101020101" pitchFamily="18" charset="-127"/>
              </a:rPr>
              <a:t>특허법 강의노트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DA03D1-03FC-3C47-2375-CA55F2B38505}"/>
              </a:ext>
            </a:extLst>
          </p:cNvPr>
          <p:cNvSpPr txBox="1">
            <a:spLocks/>
          </p:cNvSpPr>
          <p:nvPr/>
        </p:nvSpPr>
        <p:spPr>
          <a:xfrm>
            <a:off x="2185246" y="3197545"/>
            <a:ext cx="6684682" cy="1044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lIns="540000" tIns="0" rIns="540000" bIns="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dist"/>
            <a:endParaRPr lang="ko-KR" altLang="en-US" sz="4000" dirty="0">
              <a:solidFill>
                <a:schemeClr val="accent4"/>
              </a:solidFill>
              <a:latin typeface="+mn-ea"/>
              <a:ea typeface="+mn-ea"/>
              <a:cs typeface="Tahoma" panose="020B0604030504040204" pitchFamily="34" charset="0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A4CAA58B-1619-E030-C172-E88EE91D7148}"/>
              </a:ext>
            </a:extLst>
          </p:cNvPr>
          <p:cNvSpPr txBox="1">
            <a:spLocks/>
          </p:cNvSpPr>
          <p:nvPr/>
        </p:nvSpPr>
        <p:spPr>
          <a:xfrm>
            <a:off x="4565375" y="4873198"/>
            <a:ext cx="1954306" cy="6490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>
                <a:solidFill>
                  <a:schemeClr val="tx1">
                    <a:lumMod val="50000"/>
                    <a:lumOff val="50000"/>
                  </a:schemeClr>
                </a:solidFill>
                <a:latin typeface="Rix모던고딕 EB" panose="02020603020101020101" pitchFamily="18" charset="-127"/>
                <a:ea typeface="Rix모던고딕 EB" panose="02020603020101020101" pitchFamily="18" charset="-127"/>
              </a:rPr>
              <a:t>2025</a:t>
            </a:r>
            <a:endParaRPr lang="ko-KR" altLang="en-US" sz="3600" dirty="0">
              <a:solidFill>
                <a:schemeClr val="tx1">
                  <a:lumMod val="50000"/>
                  <a:lumOff val="50000"/>
                </a:schemeClr>
              </a:solidFill>
              <a:latin typeface="Rix모던고딕 EB" panose="02020603020101020101" pitchFamily="18" charset="-127"/>
              <a:ea typeface="Rix모던고딕 EB" panose="02020603020101020101" pitchFamily="18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BC063A6E-D9A0-1BF8-B100-DA594D0D045A}"/>
              </a:ext>
            </a:extLst>
          </p:cNvPr>
          <p:cNvSpPr txBox="1">
            <a:spLocks/>
          </p:cNvSpPr>
          <p:nvPr/>
        </p:nvSpPr>
        <p:spPr>
          <a:xfrm>
            <a:off x="2185246" y="3467433"/>
            <a:ext cx="6684682" cy="5457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vert="horz" lIns="0" tIns="0" rIns="0" bIns="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dirty="0" err="1">
                <a:solidFill>
                  <a:schemeClr val="bg1"/>
                </a:solidFill>
                <a:latin typeface="Rix모던고딕 EB" panose="02020603020101020101" pitchFamily="18" charset="-127"/>
                <a:ea typeface="Rix모던고딕 EB" panose="02020603020101020101" pitchFamily="18" charset="-127"/>
              </a:rPr>
              <a:t>Yim</a:t>
            </a:r>
            <a:r>
              <a:rPr lang="en-US" altLang="ko-KR" sz="2800" dirty="0">
                <a:solidFill>
                  <a:schemeClr val="bg1"/>
                </a:solidFill>
                <a:latin typeface="Rix모던고딕 EB" panose="02020603020101020101" pitchFamily="18" charset="-127"/>
                <a:ea typeface="Rix모던고딕 EB" panose="02020603020101020101" pitchFamily="18" charset="-127"/>
              </a:rPr>
              <a:t>, </a:t>
            </a:r>
            <a:r>
              <a:rPr lang="en-US" altLang="ko-KR" sz="2800" dirty="0" err="1">
                <a:solidFill>
                  <a:schemeClr val="bg1"/>
                </a:solidFill>
                <a:latin typeface="Rix모던고딕 EB" panose="02020603020101020101" pitchFamily="18" charset="-127"/>
                <a:ea typeface="Rix모던고딕 EB" panose="02020603020101020101" pitchFamily="18" charset="-127"/>
              </a:rPr>
              <a:t>Byung-Woong</a:t>
            </a:r>
            <a:r>
              <a:rPr lang="en-US" altLang="ko-KR" sz="2800" dirty="0">
                <a:solidFill>
                  <a:schemeClr val="bg1"/>
                </a:solidFill>
                <a:latin typeface="Rix모던고딕 EB" panose="02020603020101020101" pitchFamily="18" charset="-127"/>
                <a:ea typeface="Rix모던고딕 EB" panose="02020603020101020101" pitchFamily="18" charset="-127"/>
              </a:rPr>
              <a:t> All Rights Reserved.</a:t>
            </a:r>
            <a:endParaRPr lang="ko-KR" altLang="en-US" sz="2800" dirty="0">
              <a:solidFill>
                <a:schemeClr val="bg1"/>
              </a:solidFill>
              <a:latin typeface="Rix모던고딕 EB" panose="02020603020101020101" pitchFamily="18" charset="-127"/>
              <a:ea typeface="Rix모던고딕 E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7436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245</a:t>
            </a:r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특허법 체계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244284" y="2152137"/>
            <a:ext cx="552862" cy="498328"/>
          </a:xfrm>
          <a:prstGeom prst="rect">
            <a:avLst/>
          </a:prstGeom>
          <a:ln w="6350"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총칙</a:t>
            </a:r>
            <a:r>
              <a:rPr lang="en-US" altLang="ko-KR" sz="1200" dirty="0"/>
              <a:t>/</a:t>
            </a:r>
          </a:p>
          <a:p>
            <a:pPr algn="ctr"/>
            <a:r>
              <a:rPr lang="ko-KR" altLang="en-US" sz="1200" dirty="0" err="1"/>
              <a:t>보칙</a:t>
            </a:r>
            <a:endParaRPr lang="ko-KR" altLang="en-US" sz="1200" dirty="0"/>
          </a:p>
        </p:txBody>
      </p:sp>
      <p:sp>
        <p:nvSpPr>
          <p:cNvPr id="7" name="직사각형 6"/>
          <p:cNvSpPr/>
          <p:nvPr/>
        </p:nvSpPr>
        <p:spPr>
          <a:xfrm>
            <a:off x="2118397" y="994294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목적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118397" y="1236286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정의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2118397" y="1471128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행위능력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3~5①)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118397" y="1713120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대리인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3②, 5②~10, 12)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118397" y="1945643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복수당사자 대표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11)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118397" y="2187635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재외자의</a:t>
            </a:r>
            <a:r>
              <a:rPr lang="ko-KR" altLang="en-US" sz="1000" dirty="0">
                <a:solidFill>
                  <a:schemeClr val="tx1"/>
                </a:solidFill>
              </a:rPr>
              <a:t> 재판관할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13)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118397" y="2438415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기일과 기간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14, 15)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118397" y="2670267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특허에 관한 절차 일반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16, 28~28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 dirty="0">
                <a:solidFill>
                  <a:schemeClr val="tx1"/>
                </a:solidFill>
              </a:rPr>
              <a:t>5)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118397" y="2908446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추후보완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17, 67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>
                <a:solidFill>
                  <a:schemeClr val="tx1"/>
                </a:solidFill>
              </a:rPr>
              <a:t>3)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18397" y="3139884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절차의 효력의 승계 및 절차의 속행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18, 19)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2118397" y="3371736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절차의 정지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20~24, 78, 164)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18" name="꺾인 연결선 17"/>
          <p:cNvCxnSpPr>
            <a:cxnSpLocks/>
            <a:stCxn id="6" idx="3"/>
            <a:endCxn id="7" idx="1"/>
          </p:cNvCxnSpPr>
          <p:nvPr/>
        </p:nvCxnSpPr>
        <p:spPr>
          <a:xfrm flipV="1">
            <a:off x="1797146" y="1085041"/>
            <a:ext cx="321251" cy="1316260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연결선 18"/>
          <p:cNvCxnSpPr>
            <a:cxnSpLocks/>
            <a:stCxn id="6" idx="3"/>
            <a:endCxn id="17" idx="1"/>
          </p:cNvCxnSpPr>
          <p:nvPr/>
        </p:nvCxnSpPr>
        <p:spPr>
          <a:xfrm>
            <a:off x="1797146" y="2401301"/>
            <a:ext cx="321251" cy="1061182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꺾인 연결선 19"/>
          <p:cNvCxnSpPr>
            <a:cxnSpLocks/>
            <a:stCxn id="6" idx="3"/>
            <a:endCxn id="8" idx="1"/>
          </p:cNvCxnSpPr>
          <p:nvPr/>
        </p:nvCxnSpPr>
        <p:spPr>
          <a:xfrm flipV="1">
            <a:off x="1797146" y="1327033"/>
            <a:ext cx="321251" cy="1074268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꺾인 연결선 20"/>
          <p:cNvCxnSpPr>
            <a:cxnSpLocks/>
            <a:stCxn id="6" idx="3"/>
            <a:endCxn id="9" idx="1"/>
          </p:cNvCxnSpPr>
          <p:nvPr/>
        </p:nvCxnSpPr>
        <p:spPr>
          <a:xfrm flipV="1">
            <a:off x="1797146" y="1561875"/>
            <a:ext cx="321251" cy="839426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연결선 21"/>
          <p:cNvCxnSpPr>
            <a:cxnSpLocks/>
            <a:stCxn id="6" idx="3"/>
            <a:endCxn id="13" idx="1"/>
          </p:cNvCxnSpPr>
          <p:nvPr/>
        </p:nvCxnSpPr>
        <p:spPr>
          <a:xfrm>
            <a:off x="1797146" y="2401301"/>
            <a:ext cx="321251" cy="127861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cxnSpLocks/>
            <a:stCxn id="6" idx="3"/>
            <a:endCxn id="14" idx="1"/>
          </p:cNvCxnSpPr>
          <p:nvPr/>
        </p:nvCxnSpPr>
        <p:spPr>
          <a:xfrm>
            <a:off x="1797146" y="2401301"/>
            <a:ext cx="321251" cy="359713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연결선 23"/>
          <p:cNvCxnSpPr>
            <a:cxnSpLocks/>
            <a:stCxn id="6" idx="3"/>
            <a:endCxn id="15" idx="1"/>
          </p:cNvCxnSpPr>
          <p:nvPr/>
        </p:nvCxnSpPr>
        <p:spPr>
          <a:xfrm>
            <a:off x="1797146" y="2401301"/>
            <a:ext cx="321251" cy="597892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연결선 24"/>
          <p:cNvCxnSpPr>
            <a:cxnSpLocks/>
            <a:stCxn id="6" idx="3"/>
            <a:endCxn id="16" idx="1"/>
          </p:cNvCxnSpPr>
          <p:nvPr/>
        </p:nvCxnSpPr>
        <p:spPr>
          <a:xfrm>
            <a:off x="1797146" y="2401301"/>
            <a:ext cx="321251" cy="829330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연결선 25"/>
          <p:cNvCxnSpPr>
            <a:cxnSpLocks/>
            <a:stCxn id="6" idx="3"/>
            <a:endCxn id="10" idx="1"/>
          </p:cNvCxnSpPr>
          <p:nvPr/>
        </p:nvCxnSpPr>
        <p:spPr>
          <a:xfrm flipV="1">
            <a:off x="1797146" y="1803867"/>
            <a:ext cx="321251" cy="597434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cxnSpLocks/>
            <a:stCxn id="6" idx="3"/>
            <a:endCxn id="11" idx="1"/>
          </p:cNvCxnSpPr>
          <p:nvPr/>
        </p:nvCxnSpPr>
        <p:spPr>
          <a:xfrm flipV="1">
            <a:off x="1797146" y="2036390"/>
            <a:ext cx="321251" cy="364911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연결선 27"/>
          <p:cNvCxnSpPr>
            <a:cxnSpLocks/>
            <a:stCxn id="6" idx="3"/>
            <a:endCxn id="12" idx="1"/>
          </p:cNvCxnSpPr>
          <p:nvPr/>
        </p:nvCxnSpPr>
        <p:spPr>
          <a:xfrm flipV="1">
            <a:off x="1797146" y="2278382"/>
            <a:ext cx="321251" cy="122919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그룹 28"/>
          <p:cNvGrpSpPr/>
          <p:nvPr/>
        </p:nvGrpSpPr>
        <p:grpSpPr>
          <a:xfrm>
            <a:off x="6536267" y="1171792"/>
            <a:ext cx="4444979" cy="2279356"/>
            <a:chOff x="3987793" y="1037128"/>
            <a:chExt cx="3733785" cy="1752532"/>
          </a:xfrm>
        </p:grpSpPr>
        <p:sp>
          <p:nvSpPr>
            <p:cNvPr id="30" name="직사각형 29"/>
            <p:cNvSpPr/>
            <p:nvPr/>
          </p:nvSpPr>
          <p:spPr>
            <a:xfrm>
              <a:off x="3987793" y="1888138"/>
              <a:ext cx="398311" cy="385993"/>
            </a:xfrm>
            <a:prstGeom prst="rect">
              <a:avLst/>
            </a:prstGeom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dirty="0"/>
                <a:t>특허</a:t>
              </a:r>
              <a:endParaRPr lang="en-US" altLang="ko-KR" sz="1200" dirty="0"/>
            </a:p>
            <a:p>
              <a:pPr algn="ctr"/>
              <a:r>
                <a:rPr lang="ko-KR" altLang="en-US" sz="1200" dirty="0"/>
                <a:t>요건</a:t>
              </a: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4546567" y="1605364"/>
              <a:ext cx="950303" cy="33777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특허를 받을 수 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없는 발명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4546568" y="1990474"/>
              <a:ext cx="950302" cy="33777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특허를 받을 수 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있는 자</a:t>
              </a: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4546567" y="1205114"/>
              <a:ext cx="950303" cy="33777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특허를 받을 수 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있는 발명</a:t>
              </a: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4546568" y="2378317"/>
              <a:ext cx="950302" cy="33777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특허를 받을 수 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있는 출원</a:t>
              </a:r>
            </a:p>
          </p:txBody>
        </p:sp>
        <p:grpSp>
          <p:nvGrpSpPr>
            <p:cNvPr id="35" name="그룹 34"/>
            <p:cNvGrpSpPr/>
            <p:nvPr/>
          </p:nvGrpSpPr>
          <p:grpSpPr>
            <a:xfrm>
              <a:off x="5713090" y="1037128"/>
              <a:ext cx="2008488" cy="1752532"/>
              <a:chOff x="9836379" y="3177270"/>
              <a:chExt cx="2251744" cy="1752532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49" name="직사각형 48"/>
              <p:cNvSpPr/>
              <p:nvPr/>
            </p:nvSpPr>
            <p:spPr>
              <a:xfrm>
                <a:off x="9836379" y="3177270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협의의 특허요건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29)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9836379" y="3385132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선출원주의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36)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직사각형 50"/>
              <p:cNvSpPr/>
              <p:nvPr/>
            </p:nvSpPr>
            <p:spPr>
              <a:xfrm>
                <a:off x="9836379" y="3574340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>
                    <a:solidFill>
                      <a:schemeClr val="tx1"/>
                    </a:solidFill>
                  </a:rPr>
                  <a:t>불특허발명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32)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직사각형 51"/>
              <p:cNvSpPr/>
              <p:nvPr/>
            </p:nvSpPr>
            <p:spPr>
              <a:xfrm>
                <a:off x="9836379" y="3782202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국방상 필요한 발명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 41, 106)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직사각형 52"/>
              <p:cNvSpPr/>
              <p:nvPr/>
            </p:nvSpPr>
            <p:spPr>
              <a:xfrm>
                <a:off x="9836379" y="3969271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출원인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25, 33, 44)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직사각형 53"/>
              <p:cNvSpPr/>
              <p:nvPr/>
            </p:nvSpPr>
            <p:spPr>
              <a:xfrm>
                <a:off x="9836379" y="4160199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특허를 받을 수 있는 권리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37, 38)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직사각형 54"/>
              <p:cNvSpPr/>
              <p:nvPr/>
            </p:nvSpPr>
            <p:spPr>
              <a:xfrm>
                <a:off x="9836379" y="4358676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직무발명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 err="1">
                    <a:solidFill>
                      <a:schemeClr val="tx1"/>
                    </a:solidFill>
                  </a:rPr>
                  <a:t>발진법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2, 10~19, 58)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직사각형 55"/>
              <p:cNvSpPr/>
              <p:nvPr/>
            </p:nvSpPr>
            <p:spPr>
              <a:xfrm>
                <a:off x="9836379" y="4558495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특허출원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42~42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의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3, 43)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직사각형 56"/>
              <p:cNvSpPr/>
              <p:nvPr/>
            </p:nvSpPr>
            <p:spPr>
              <a:xfrm>
                <a:off x="9836379" y="4773906"/>
                <a:ext cx="2251744" cy="155896"/>
              </a:xfrm>
              <a:prstGeom prst="rect">
                <a:avLst/>
              </a:pr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하나의 특허출원의 범위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45)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6" name="꺾인 연결선 35"/>
            <p:cNvCxnSpPr>
              <a:stCxn id="30" idx="3"/>
              <a:endCxn id="33" idx="1"/>
            </p:cNvCxnSpPr>
            <p:nvPr/>
          </p:nvCxnSpPr>
          <p:spPr>
            <a:xfrm flipV="1">
              <a:off x="4386104" y="1374002"/>
              <a:ext cx="160463" cy="707133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꺾인 연결선 36"/>
            <p:cNvCxnSpPr>
              <a:stCxn id="30" idx="3"/>
              <a:endCxn id="34" idx="1"/>
            </p:cNvCxnSpPr>
            <p:nvPr/>
          </p:nvCxnSpPr>
          <p:spPr>
            <a:xfrm>
              <a:off x="4386104" y="2081135"/>
              <a:ext cx="160464" cy="466070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꺾인 연결선 37"/>
            <p:cNvCxnSpPr>
              <a:stCxn id="30" idx="3"/>
              <a:endCxn id="31" idx="1"/>
            </p:cNvCxnSpPr>
            <p:nvPr/>
          </p:nvCxnSpPr>
          <p:spPr>
            <a:xfrm flipV="1">
              <a:off x="4386104" y="1774252"/>
              <a:ext cx="160463" cy="306883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꺾인 연결선 38"/>
            <p:cNvCxnSpPr>
              <a:stCxn id="30" idx="3"/>
              <a:endCxn id="32" idx="1"/>
            </p:cNvCxnSpPr>
            <p:nvPr/>
          </p:nvCxnSpPr>
          <p:spPr>
            <a:xfrm>
              <a:off x="4386104" y="2081135"/>
              <a:ext cx="160464" cy="78227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꺾인 연결선 39"/>
            <p:cNvCxnSpPr>
              <a:stCxn id="33" idx="3"/>
              <a:endCxn id="49" idx="1"/>
            </p:cNvCxnSpPr>
            <p:nvPr/>
          </p:nvCxnSpPr>
          <p:spPr>
            <a:xfrm flipV="1">
              <a:off x="5496870" y="1115076"/>
              <a:ext cx="216220" cy="258926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꺾인 연결선 40"/>
            <p:cNvCxnSpPr>
              <a:stCxn id="33" idx="3"/>
              <a:endCxn id="50" idx="1"/>
            </p:cNvCxnSpPr>
            <p:nvPr/>
          </p:nvCxnSpPr>
          <p:spPr>
            <a:xfrm flipV="1">
              <a:off x="5496870" y="1322938"/>
              <a:ext cx="216220" cy="51064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꺾인 연결선 41"/>
            <p:cNvCxnSpPr>
              <a:stCxn id="31" idx="3"/>
              <a:endCxn id="51" idx="1"/>
            </p:cNvCxnSpPr>
            <p:nvPr/>
          </p:nvCxnSpPr>
          <p:spPr>
            <a:xfrm flipV="1">
              <a:off x="5496870" y="1512146"/>
              <a:ext cx="216220" cy="262106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꺾인 연결선 42"/>
            <p:cNvCxnSpPr>
              <a:stCxn id="31" idx="3"/>
              <a:endCxn id="52" idx="1"/>
            </p:cNvCxnSpPr>
            <p:nvPr/>
          </p:nvCxnSpPr>
          <p:spPr>
            <a:xfrm flipV="1">
              <a:off x="5496870" y="1720008"/>
              <a:ext cx="216220" cy="54244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꺾인 연결선 43"/>
            <p:cNvCxnSpPr>
              <a:stCxn id="32" idx="3"/>
              <a:endCxn id="53" idx="1"/>
            </p:cNvCxnSpPr>
            <p:nvPr/>
          </p:nvCxnSpPr>
          <p:spPr>
            <a:xfrm flipV="1">
              <a:off x="5496870" y="1907077"/>
              <a:ext cx="216220" cy="252285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꺾인 연결선 44"/>
            <p:cNvCxnSpPr>
              <a:stCxn id="32" idx="3"/>
              <a:endCxn id="54" idx="1"/>
            </p:cNvCxnSpPr>
            <p:nvPr/>
          </p:nvCxnSpPr>
          <p:spPr>
            <a:xfrm flipV="1">
              <a:off x="5496870" y="2098005"/>
              <a:ext cx="216220" cy="61357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꺾인 연결선 45"/>
            <p:cNvCxnSpPr>
              <a:stCxn id="32" idx="3"/>
              <a:endCxn id="55" idx="1"/>
            </p:cNvCxnSpPr>
            <p:nvPr/>
          </p:nvCxnSpPr>
          <p:spPr>
            <a:xfrm>
              <a:off x="5496870" y="2159362"/>
              <a:ext cx="216220" cy="137120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꺾인 연결선 46"/>
            <p:cNvCxnSpPr>
              <a:stCxn id="34" idx="3"/>
              <a:endCxn id="56" idx="1"/>
            </p:cNvCxnSpPr>
            <p:nvPr/>
          </p:nvCxnSpPr>
          <p:spPr>
            <a:xfrm flipV="1">
              <a:off x="5496870" y="2496301"/>
              <a:ext cx="216220" cy="50904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꺾인 연결선 47"/>
            <p:cNvCxnSpPr>
              <a:stCxn id="34" idx="3"/>
              <a:endCxn id="57" idx="1"/>
            </p:cNvCxnSpPr>
            <p:nvPr/>
          </p:nvCxnSpPr>
          <p:spPr>
            <a:xfrm>
              <a:off x="5496870" y="2547205"/>
              <a:ext cx="216220" cy="164507"/>
            </a:xfrm>
            <a:prstGeom prst="bentConnector3">
              <a:avLst/>
            </a:prstGeom>
            <a:ln w="635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직사각형 58"/>
          <p:cNvSpPr/>
          <p:nvPr/>
        </p:nvSpPr>
        <p:spPr>
          <a:xfrm>
            <a:off x="906097" y="4898289"/>
            <a:ext cx="472526" cy="503727"/>
          </a:xfrm>
          <a:prstGeom prst="rect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dirty="0"/>
              <a:t>이익</a:t>
            </a:r>
            <a:endParaRPr lang="en-US" altLang="ko-KR" sz="1200" dirty="0"/>
          </a:p>
          <a:p>
            <a:pPr algn="ctr"/>
            <a:r>
              <a:rPr lang="ko-KR" altLang="en-US" sz="1200" dirty="0"/>
              <a:t>제도</a:t>
            </a:r>
          </a:p>
        </p:txBody>
      </p:sp>
      <p:sp>
        <p:nvSpPr>
          <p:cNvPr id="72" name="직사각형 71"/>
          <p:cNvSpPr/>
          <p:nvPr/>
        </p:nvSpPr>
        <p:spPr>
          <a:xfrm>
            <a:off x="2487992" y="4226191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공지예외적용주장출원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30)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487992" y="4599179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정당한 권리자의 보호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34, 35, 99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 dirty="0">
                <a:solidFill>
                  <a:schemeClr val="tx1"/>
                </a:solidFill>
              </a:rPr>
              <a:t>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2487992" y="4870443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보정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46, 47, 51)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2487992" y="5446506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분리출원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52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 dirty="0">
                <a:solidFill>
                  <a:schemeClr val="tx1"/>
                </a:solidFill>
              </a:rPr>
              <a:t>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2487992" y="5717771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변경출원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53)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2487992" y="6022943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조약우선권주장출원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54)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2487992" y="6294208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국내우선권주장출원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55, 56)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61" name="직사각형 60"/>
          <p:cNvSpPr/>
          <p:nvPr/>
        </p:nvSpPr>
        <p:spPr>
          <a:xfrm>
            <a:off x="1519197" y="5145136"/>
            <a:ext cx="722622" cy="4408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출원일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소급제도</a:t>
            </a:r>
          </a:p>
        </p:txBody>
      </p:sp>
      <p:sp>
        <p:nvSpPr>
          <p:cNvPr id="62" name="직사각형 61"/>
          <p:cNvSpPr/>
          <p:nvPr/>
        </p:nvSpPr>
        <p:spPr>
          <a:xfrm>
            <a:off x="1519197" y="6056851"/>
            <a:ext cx="722622" cy="4408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판단시점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>
                <a:solidFill>
                  <a:schemeClr val="tx1"/>
                </a:solidFill>
              </a:rPr>
              <a:t>소급제도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63" name="꺾인 연결선 62"/>
          <p:cNvCxnSpPr>
            <a:stCxn id="59" idx="3"/>
            <a:endCxn id="72" idx="1"/>
          </p:cNvCxnSpPr>
          <p:nvPr/>
        </p:nvCxnSpPr>
        <p:spPr>
          <a:xfrm flipV="1">
            <a:off x="1378623" y="4327915"/>
            <a:ext cx="1109369" cy="822238"/>
          </a:xfrm>
          <a:prstGeom prst="bentConnector3">
            <a:avLst>
              <a:gd name="adj1" fmla="val 6212"/>
            </a:avLst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연결선 63"/>
          <p:cNvCxnSpPr>
            <a:stCxn id="59" idx="3"/>
            <a:endCxn id="62" idx="1"/>
          </p:cNvCxnSpPr>
          <p:nvPr/>
        </p:nvCxnSpPr>
        <p:spPr>
          <a:xfrm>
            <a:off x="1378623" y="5150153"/>
            <a:ext cx="140574" cy="1127101"/>
          </a:xfrm>
          <a:prstGeom prst="bentConnector3">
            <a:avLst>
              <a:gd name="adj1" fmla="val 50000"/>
            </a:avLst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연결선 64"/>
          <p:cNvCxnSpPr>
            <a:stCxn id="59" idx="3"/>
            <a:endCxn id="61" idx="1"/>
          </p:cNvCxnSpPr>
          <p:nvPr/>
        </p:nvCxnSpPr>
        <p:spPr>
          <a:xfrm>
            <a:off x="1378623" y="5150153"/>
            <a:ext cx="140574" cy="215386"/>
          </a:xfrm>
          <a:prstGeom prst="bentConnector3">
            <a:avLst>
              <a:gd name="adj1" fmla="val 50000"/>
            </a:avLst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연결선 65"/>
          <p:cNvCxnSpPr>
            <a:stCxn id="61" idx="3"/>
            <a:endCxn id="73" idx="1"/>
          </p:cNvCxnSpPr>
          <p:nvPr/>
        </p:nvCxnSpPr>
        <p:spPr>
          <a:xfrm flipV="1">
            <a:off x="2241819" y="4700903"/>
            <a:ext cx="246173" cy="664635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 66"/>
          <p:cNvCxnSpPr>
            <a:stCxn id="61" idx="3"/>
            <a:endCxn id="76" idx="1"/>
          </p:cNvCxnSpPr>
          <p:nvPr/>
        </p:nvCxnSpPr>
        <p:spPr>
          <a:xfrm>
            <a:off x="2241819" y="5365539"/>
            <a:ext cx="246173" cy="453957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연결선 67"/>
          <p:cNvCxnSpPr>
            <a:stCxn id="61" idx="3"/>
            <a:endCxn id="74" idx="1"/>
          </p:cNvCxnSpPr>
          <p:nvPr/>
        </p:nvCxnSpPr>
        <p:spPr>
          <a:xfrm flipV="1">
            <a:off x="2241819" y="4972167"/>
            <a:ext cx="246173" cy="393371"/>
          </a:xfrm>
          <a:prstGeom prst="bentConnector3">
            <a:avLst>
              <a:gd name="adj1" fmla="val 50001"/>
            </a:avLst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연결선 68"/>
          <p:cNvCxnSpPr>
            <a:stCxn id="61" idx="3"/>
            <a:endCxn id="75" idx="1"/>
          </p:cNvCxnSpPr>
          <p:nvPr/>
        </p:nvCxnSpPr>
        <p:spPr>
          <a:xfrm>
            <a:off x="2241819" y="5365539"/>
            <a:ext cx="246173" cy="182692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연결선 69"/>
          <p:cNvCxnSpPr>
            <a:cxnSpLocks/>
            <a:stCxn id="62" idx="3"/>
            <a:endCxn id="77" idx="1"/>
          </p:cNvCxnSpPr>
          <p:nvPr/>
        </p:nvCxnSpPr>
        <p:spPr>
          <a:xfrm flipV="1">
            <a:off x="2241819" y="6124667"/>
            <a:ext cx="246173" cy="152586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꺾인 연결선 70"/>
          <p:cNvCxnSpPr>
            <a:cxnSpLocks/>
            <a:stCxn id="62" idx="3"/>
            <a:endCxn id="78" idx="1"/>
          </p:cNvCxnSpPr>
          <p:nvPr/>
        </p:nvCxnSpPr>
        <p:spPr>
          <a:xfrm>
            <a:off x="2241819" y="6277254"/>
            <a:ext cx="246173" cy="118678"/>
          </a:xfrm>
          <a:prstGeom prst="bentConnector3">
            <a:avLst/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그룹 78"/>
          <p:cNvGrpSpPr/>
          <p:nvPr/>
        </p:nvGrpSpPr>
        <p:grpSpPr>
          <a:xfrm>
            <a:off x="7001934" y="4076201"/>
            <a:ext cx="3979312" cy="2368895"/>
            <a:chOff x="7340600" y="4076201"/>
            <a:chExt cx="3640645" cy="2368895"/>
          </a:xfrm>
        </p:grpSpPr>
        <p:sp>
          <p:nvSpPr>
            <p:cNvPr id="80" name="직사각형 79"/>
            <p:cNvSpPr/>
            <p:nvPr/>
          </p:nvSpPr>
          <p:spPr>
            <a:xfrm>
              <a:off x="7340600" y="5011587"/>
              <a:ext cx="448769" cy="399529"/>
            </a:xfrm>
            <a:prstGeom prst="rect">
              <a:avLst/>
            </a:prstGeom>
            <a:ln w="3175"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dirty="0"/>
                <a:t>심사</a:t>
              </a:r>
              <a:endParaRPr lang="en-US" altLang="ko-KR" sz="1200" dirty="0"/>
            </a:p>
            <a:p>
              <a:pPr algn="ctr"/>
              <a:r>
                <a:rPr lang="en-US" altLang="ko-KR" sz="1200" dirty="0"/>
                <a:t>(</a:t>
              </a:r>
              <a:r>
                <a:rPr lang="ko-KR" altLang="en-US" sz="1200" dirty="0"/>
                <a:t>제도</a:t>
              </a:r>
              <a:r>
                <a:rPr lang="en-US" altLang="ko-KR" sz="1200" dirty="0"/>
                <a:t>)</a:t>
              </a:r>
              <a:endParaRPr lang="ko-KR" altLang="en-US" sz="1200" dirty="0"/>
            </a:p>
          </p:txBody>
        </p:sp>
        <p:grpSp>
          <p:nvGrpSpPr>
            <p:cNvPr id="81" name="그룹 80"/>
            <p:cNvGrpSpPr/>
            <p:nvPr/>
          </p:nvGrpSpPr>
          <p:grpSpPr>
            <a:xfrm>
              <a:off x="7967112" y="4305504"/>
              <a:ext cx="471444" cy="1770110"/>
              <a:chOff x="2707314" y="4441447"/>
              <a:chExt cx="786730" cy="1770110"/>
            </a:xfrm>
          </p:grpSpPr>
          <p:sp>
            <p:nvSpPr>
              <p:cNvPr id="108" name="직사각형 107"/>
              <p:cNvSpPr/>
              <p:nvPr/>
            </p:nvSpPr>
            <p:spPr>
              <a:xfrm>
                <a:off x="2707314" y="4441447"/>
                <a:ext cx="786730" cy="174811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주체</a:t>
                </a:r>
              </a:p>
            </p:txBody>
          </p:sp>
          <p:sp>
            <p:nvSpPr>
              <p:cNvPr id="109" name="직사각형 108"/>
              <p:cNvSpPr/>
              <p:nvPr/>
            </p:nvSpPr>
            <p:spPr>
              <a:xfrm>
                <a:off x="2707314" y="4839210"/>
                <a:ext cx="786730" cy="174811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청구</a:t>
                </a:r>
              </a:p>
            </p:txBody>
          </p:sp>
          <p:sp>
            <p:nvSpPr>
              <p:cNvPr id="110" name="직사각형 109"/>
              <p:cNvSpPr/>
              <p:nvPr/>
            </p:nvSpPr>
            <p:spPr>
              <a:xfrm>
                <a:off x="2707314" y="5258685"/>
                <a:ext cx="786730" cy="174811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진행</a:t>
                </a:r>
              </a:p>
            </p:txBody>
          </p:sp>
          <p:sp>
            <p:nvSpPr>
              <p:cNvPr id="111" name="직사각형 110"/>
              <p:cNvSpPr/>
              <p:nvPr/>
            </p:nvSpPr>
            <p:spPr>
              <a:xfrm>
                <a:off x="2707314" y="5656447"/>
                <a:ext cx="786730" cy="174811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종료</a:t>
                </a:r>
              </a:p>
            </p:txBody>
          </p:sp>
          <p:sp>
            <p:nvSpPr>
              <p:cNvPr id="112" name="직사각형 111"/>
              <p:cNvSpPr/>
              <p:nvPr/>
            </p:nvSpPr>
            <p:spPr>
              <a:xfrm>
                <a:off x="2707314" y="6036746"/>
                <a:ext cx="786730" cy="174811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관련</a:t>
                </a:r>
              </a:p>
            </p:txBody>
          </p:sp>
        </p:grpSp>
        <p:cxnSp>
          <p:nvCxnSpPr>
            <p:cNvPr id="82" name="꺾인 연결선 81"/>
            <p:cNvCxnSpPr>
              <a:stCxn id="80" idx="3"/>
              <a:endCxn id="108" idx="1"/>
            </p:cNvCxnSpPr>
            <p:nvPr/>
          </p:nvCxnSpPr>
          <p:spPr>
            <a:xfrm flipV="1">
              <a:off x="7789369" y="4392910"/>
              <a:ext cx="177743" cy="818442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꺾인 연결선 82"/>
            <p:cNvCxnSpPr>
              <a:stCxn id="80" idx="3"/>
              <a:endCxn id="112" idx="1"/>
            </p:cNvCxnSpPr>
            <p:nvPr/>
          </p:nvCxnSpPr>
          <p:spPr>
            <a:xfrm>
              <a:off x="7789369" y="5211352"/>
              <a:ext cx="177743" cy="776857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꺾인 연결선 83"/>
            <p:cNvCxnSpPr>
              <a:stCxn id="80" idx="3"/>
              <a:endCxn id="109" idx="1"/>
            </p:cNvCxnSpPr>
            <p:nvPr/>
          </p:nvCxnSpPr>
          <p:spPr>
            <a:xfrm flipV="1">
              <a:off x="7789369" y="4790673"/>
              <a:ext cx="177743" cy="420679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꺾인 연결선 84"/>
            <p:cNvCxnSpPr>
              <a:stCxn id="80" idx="3"/>
              <a:endCxn id="111" idx="1"/>
            </p:cNvCxnSpPr>
            <p:nvPr/>
          </p:nvCxnSpPr>
          <p:spPr>
            <a:xfrm>
              <a:off x="7789369" y="5211352"/>
              <a:ext cx="177743" cy="396558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꺾인 연결선 85"/>
            <p:cNvCxnSpPr>
              <a:stCxn id="80" idx="3"/>
              <a:endCxn id="110" idx="1"/>
            </p:cNvCxnSpPr>
            <p:nvPr/>
          </p:nvCxnSpPr>
          <p:spPr>
            <a:xfrm flipV="1">
              <a:off x="7789369" y="5210148"/>
              <a:ext cx="177743" cy="1204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7" name="그룹 86"/>
            <p:cNvGrpSpPr/>
            <p:nvPr/>
          </p:nvGrpSpPr>
          <p:grpSpPr>
            <a:xfrm>
              <a:off x="8563424" y="4076201"/>
              <a:ext cx="2417821" cy="2368895"/>
              <a:chOff x="3618912" y="4212144"/>
              <a:chExt cx="3438525" cy="2368895"/>
            </a:xfrm>
          </p:grpSpPr>
          <p:sp>
            <p:nvSpPr>
              <p:cNvPr id="98" name="직사각형 97"/>
              <p:cNvSpPr/>
              <p:nvPr/>
            </p:nvSpPr>
            <p:spPr>
              <a:xfrm>
                <a:off x="3618912" y="4212144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심사관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57</a:t>
                </a:r>
                <a:r>
                  <a:rPr lang="en-US" altLang="ko-KR" sz="1000">
                    <a:solidFill>
                      <a:schemeClr val="tx1"/>
                    </a:solidFill>
                  </a:rPr>
                  <a:t>, 68)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직사각형 98"/>
              <p:cNvSpPr/>
              <p:nvPr/>
            </p:nvSpPr>
            <p:spPr>
              <a:xfrm>
                <a:off x="3618912" y="4435206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전문기관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58, 58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의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2)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직사각형 99"/>
              <p:cNvSpPr/>
              <p:nvPr/>
            </p:nvSpPr>
            <p:spPr>
              <a:xfrm>
                <a:off x="3618912" y="5479998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출원의 무효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취하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포기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제도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직사각형 100"/>
              <p:cNvSpPr/>
              <p:nvPr/>
            </p:nvSpPr>
            <p:spPr>
              <a:xfrm>
                <a:off x="3618912" y="5703059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특허여부결정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제도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)(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62, 63, 66~67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의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3)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직사각형 101"/>
              <p:cNvSpPr/>
              <p:nvPr/>
            </p:nvSpPr>
            <p:spPr>
              <a:xfrm>
                <a:off x="3618912" y="4668743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심사청구제도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59, 60)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직사각형 102"/>
              <p:cNvSpPr/>
              <p:nvPr/>
            </p:nvSpPr>
            <p:spPr>
              <a:xfrm>
                <a:off x="3618912" y="4891805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우선심사제도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61)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직사각형 103"/>
              <p:cNvSpPr/>
              <p:nvPr/>
            </p:nvSpPr>
            <p:spPr>
              <a:xfrm>
                <a:off x="3618912" y="5178975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심사의 진행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62, 63, 63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의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3)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직사각형 104"/>
              <p:cNvSpPr/>
              <p:nvPr/>
            </p:nvSpPr>
            <p:spPr>
              <a:xfrm>
                <a:off x="3618912" y="5955831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정보제공제도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63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의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2)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직사각형 105"/>
              <p:cNvSpPr/>
              <p:nvPr/>
            </p:nvSpPr>
            <p:spPr>
              <a:xfrm>
                <a:off x="3618912" y="6178893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chemeClr val="tx1"/>
                    </a:solidFill>
                  </a:rPr>
                  <a:t>출원공개제도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64, 65)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직사각형 106"/>
              <p:cNvSpPr/>
              <p:nvPr/>
            </p:nvSpPr>
            <p:spPr>
              <a:xfrm>
                <a:off x="3618912" y="6406228"/>
                <a:ext cx="3438525" cy="1748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>
                    <a:solidFill>
                      <a:schemeClr val="tx1"/>
                    </a:solidFill>
                  </a:rPr>
                  <a:t>타절차와의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 관계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000" dirty="0">
                    <a:solidFill>
                      <a:schemeClr val="tx1"/>
                    </a:solidFill>
                  </a:rPr>
                  <a:t>法 </a:t>
                </a:r>
                <a:r>
                  <a:rPr lang="en-US" altLang="ko-KR" sz="1000" dirty="0">
                    <a:solidFill>
                      <a:schemeClr val="tx1"/>
                    </a:solidFill>
                  </a:rPr>
                  <a:t>78)</a:t>
                </a:r>
                <a:endParaRPr lang="ko-KR" altLang="en-US" sz="10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8" name="꺾인 연결선 87"/>
            <p:cNvCxnSpPr>
              <a:stCxn id="108" idx="3"/>
              <a:endCxn id="98" idx="1"/>
            </p:cNvCxnSpPr>
            <p:nvPr/>
          </p:nvCxnSpPr>
          <p:spPr>
            <a:xfrm flipV="1">
              <a:off x="8438556" y="4163607"/>
              <a:ext cx="124868" cy="229303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꺾인 연결선 88"/>
            <p:cNvCxnSpPr>
              <a:stCxn id="108" idx="3"/>
              <a:endCxn id="99" idx="1"/>
            </p:cNvCxnSpPr>
            <p:nvPr/>
          </p:nvCxnSpPr>
          <p:spPr>
            <a:xfrm flipV="1">
              <a:off x="8438556" y="4386669"/>
              <a:ext cx="124868" cy="6241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꺾인 연결선 89"/>
            <p:cNvCxnSpPr>
              <a:stCxn id="109" idx="3"/>
              <a:endCxn id="102" idx="1"/>
            </p:cNvCxnSpPr>
            <p:nvPr/>
          </p:nvCxnSpPr>
          <p:spPr>
            <a:xfrm flipV="1">
              <a:off x="8438556" y="4620206"/>
              <a:ext cx="124868" cy="170467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꺾인 연결선 90"/>
            <p:cNvCxnSpPr>
              <a:stCxn id="109" idx="3"/>
              <a:endCxn id="103" idx="1"/>
            </p:cNvCxnSpPr>
            <p:nvPr/>
          </p:nvCxnSpPr>
          <p:spPr>
            <a:xfrm>
              <a:off x="8438556" y="4790673"/>
              <a:ext cx="124868" cy="52595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꺾인 연결선 91"/>
            <p:cNvCxnSpPr>
              <a:stCxn id="110" idx="3"/>
              <a:endCxn id="104" idx="1"/>
            </p:cNvCxnSpPr>
            <p:nvPr/>
          </p:nvCxnSpPr>
          <p:spPr>
            <a:xfrm flipV="1">
              <a:off x="8438556" y="5130438"/>
              <a:ext cx="124868" cy="79710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꺾인 연결선 92"/>
            <p:cNvCxnSpPr>
              <a:stCxn id="111" idx="3"/>
              <a:endCxn id="100" idx="1"/>
            </p:cNvCxnSpPr>
            <p:nvPr/>
          </p:nvCxnSpPr>
          <p:spPr>
            <a:xfrm flipV="1">
              <a:off x="8438556" y="5431461"/>
              <a:ext cx="124868" cy="176449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꺾인 연결선 93"/>
            <p:cNvCxnSpPr>
              <a:stCxn id="111" idx="3"/>
              <a:endCxn id="101" idx="1"/>
            </p:cNvCxnSpPr>
            <p:nvPr/>
          </p:nvCxnSpPr>
          <p:spPr>
            <a:xfrm>
              <a:off x="8438556" y="5607910"/>
              <a:ext cx="124868" cy="46612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꺾인 연결선 94"/>
            <p:cNvCxnSpPr>
              <a:stCxn id="112" idx="3"/>
              <a:endCxn id="105" idx="1"/>
            </p:cNvCxnSpPr>
            <p:nvPr/>
          </p:nvCxnSpPr>
          <p:spPr>
            <a:xfrm flipV="1">
              <a:off x="8438556" y="5907294"/>
              <a:ext cx="124868" cy="80915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꺾인 연결선 95"/>
            <p:cNvCxnSpPr>
              <a:stCxn id="112" idx="3"/>
              <a:endCxn id="106" idx="1"/>
            </p:cNvCxnSpPr>
            <p:nvPr/>
          </p:nvCxnSpPr>
          <p:spPr>
            <a:xfrm>
              <a:off x="8438556" y="5988209"/>
              <a:ext cx="124868" cy="142147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꺾인 연결선 96"/>
            <p:cNvCxnSpPr>
              <a:stCxn id="112" idx="3"/>
              <a:endCxn id="107" idx="1"/>
            </p:cNvCxnSpPr>
            <p:nvPr/>
          </p:nvCxnSpPr>
          <p:spPr>
            <a:xfrm>
              <a:off x="8438556" y="5988209"/>
              <a:ext cx="124868" cy="369482"/>
            </a:xfrm>
            <a:prstGeom prst="bentConnector3">
              <a:avLst/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직사각형 112"/>
          <p:cNvSpPr/>
          <p:nvPr/>
        </p:nvSpPr>
        <p:spPr>
          <a:xfrm>
            <a:off x="5960556" y="3393490"/>
            <a:ext cx="914400" cy="914400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특허법</a:t>
            </a:r>
            <a:endParaRPr lang="en-US" altLang="ko-KR" dirty="0"/>
          </a:p>
          <a:p>
            <a:pPr algn="ctr"/>
            <a:r>
              <a:rPr lang="ko-KR" altLang="en-US" dirty="0"/>
              <a:t>체계도</a:t>
            </a:r>
          </a:p>
        </p:txBody>
      </p:sp>
      <p:sp>
        <p:nvSpPr>
          <p:cNvPr id="114" name="타원 113"/>
          <p:cNvSpPr/>
          <p:nvPr/>
        </p:nvSpPr>
        <p:spPr>
          <a:xfrm>
            <a:off x="880857" y="2219587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15" name="타원 114"/>
          <p:cNvSpPr/>
          <p:nvPr/>
        </p:nvSpPr>
        <p:spPr>
          <a:xfrm>
            <a:off x="6163733" y="2366819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16" name="타원 115"/>
          <p:cNvSpPr/>
          <p:nvPr/>
        </p:nvSpPr>
        <p:spPr>
          <a:xfrm>
            <a:off x="542670" y="5005703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17" name="타원 116"/>
          <p:cNvSpPr/>
          <p:nvPr/>
        </p:nvSpPr>
        <p:spPr>
          <a:xfrm>
            <a:off x="6647019" y="5043860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18" name="자유형 117"/>
          <p:cNvSpPr/>
          <p:nvPr/>
        </p:nvSpPr>
        <p:spPr>
          <a:xfrm>
            <a:off x="1049867" y="2582332"/>
            <a:ext cx="4893733" cy="1423457"/>
          </a:xfrm>
          <a:custGeom>
            <a:avLst/>
            <a:gdLst>
              <a:gd name="connsiteX0" fmla="*/ 4893733 w 4893733"/>
              <a:gd name="connsiteY0" fmla="*/ 1295400 h 1295400"/>
              <a:gd name="connsiteX1" fmla="*/ 4893733 w 4893733"/>
              <a:gd name="connsiteY1" fmla="*/ 1295400 h 1295400"/>
              <a:gd name="connsiteX2" fmla="*/ 0 w 4893733"/>
              <a:gd name="connsiteY2" fmla="*/ 1295400 h 1295400"/>
              <a:gd name="connsiteX3" fmla="*/ 0 w 4893733"/>
              <a:gd name="connsiteY3" fmla="*/ 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93733" h="1295400">
                <a:moveTo>
                  <a:pt x="4893733" y="1295400"/>
                </a:moveTo>
                <a:lnTo>
                  <a:pt x="4893733" y="1295400"/>
                </a:lnTo>
                <a:lnTo>
                  <a:pt x="0" y="1295400"/>
                </a:lnTo>
                <a:lnTo>
                  <a:pt x="0" y="0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자유형 118"/>
          <p:cNvSpPr/>
          <p:nvPr/>
        </p:nvSpPr>
        <p:spPr>
          <a:xfrm>
            <a:off x="718458" y="3993619"/>
            <a:ext cx="5233610" cy="997811"/>
          </a:xfrm>
          <a:custGeom>
            <a:avLst/>
            <a:gdLst>
              <a:gd name="connsiteX0" fmla="*/ 5215467 w 5215467"/>
              <a:gd name="connsiteY0" fmla="*/ 0 h 965200"/>
              <a:gd name="connsiteX1" fmla="*/ 0 w 5215467"/>
              <a:gd name="connsiteY1" fmla="*/ 0 h 965200"/>
              <a:gd name="connsiteX2" fmla="*/ 0 w 5215467"/>
              <a:gd name="connsiteY2" fmla="*/ 965200 h 96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5467" h="965200">
                <a:moveTo>
                  <a:pt x="5215467" y="0"/>
                </a:moveTo>
                <a:lnTo>
                  <a:pt x="0" y="0"/>
                </a:lnTo>
                <a:lnTo>
                  <a:pt x="0" y="965200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자유형 119"/>
          <p:cNvSpPr/>
          <p:nvPr/>
        </p:nvSpPr>
        <p:spPr>
          <a:xfrm>
            <a:off x="6383867" y="2726267"/>
            <a:ext cx="0" cy="668866"/>
          </a:xfrm>
          <a:custGeom>
            <a:avLst/>
            <a:gdLst>
              <a:gd name="connsiteX0" fmla="*/ 0 w 0"/>
              <a:gd name="connsiteY0" fmla="*/ 668866 h 668866"/>
              <a:gd name="connsiteX1" fmla="*/ 0 w 0"/>
              <a:gd name="connsiteY1" fmla="*/ 0 h 66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8866">
                <a:moveTo>
                  <a:pt x="0" y="668866"/>
                </a:moveTo>
                <a:lnTo>
                  <a:pt x="0" y="0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1" name="직선 연결선 120"/>
          <p:cNvCxnSpPr>
            <a:stCxn id="113" idx="2"/>
            <a:endCxn id="113" idx="2"/>
          </p:cNvCxnSpPr>
          <p:nvPr/>
        </p:nvCxnSpPr>
        <p:spPr>
          <a:xfrm>
            <a:off x="6417756" y="4307890"/>
            <a:ext cx="0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자유형 121"/>
          <p:cNvSpPr/>
          <p:nvPr/>
        </p:nvSpPr>
        <p:spPr>
          <a:xfrm>
            <a:off x="6400800" y="4318000"/>
            <a:ext cx="262467" cy="897467"/>
          </a:xfrm>
          <a:custGeom>
            <a:avLst/>
            <a:gdLst>
              <a:gd name="connsiteX0" fmla="*/ 0 w 262467"/>
              <a:gd name="connsiteY0" fmla="*/ 0 h 897467"/>
              <a:gd name="connsiteX1" fmla="*/ 0 w 262467"/>
              <a:gd name="connsiteY1" fmla="*/ 0 h 897467"/>
              <a:gd name="connsiteX2" fmla="*/ 0 w 262467"/>
              <a:gd name="connsiteY2" fmla="*/ 897467 h 897467"/>
              <a:gd name="connsiteX3" fmla="*/ 262467 w 262467"/>
              <a:gd name="connsiteY3" fmla="*/ 897467 h 897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467" h="897467">
                <a:moveTo>
                  <a:pt x="0" y="0"/>
                </a:moveTo>
                <a:lnTo>
                  <a:pt x="0" y="0"/>
                </a:lnTo>
                <a:lnTo>
                  <a:pt x="0" y="897467"/>
                </a:lnTo>
                <a:lnTo>
                  <a:pt x="262467" y="897467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9012F393-65ED-4311-A56D-1073EA0A0D99}"/>
              </a:ext>
            </a:extLst>
          </p:cNvPr>
          <p:cNvSpPr/>
          <p:nvPr/>
        </p:nvSpPr>
        <p:spPr>
          <a:xfrm>
            <a:off x="2487992" y="5160972"/>
            <a:ext cx="2634340" cy="2034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분할출원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52)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127" name="꺾인 연결선 67">
            <a:extLst>
              <a:ext uri="{FF2B5EF4-FFF2-40B4-BE49-F238E27FC236}">
                <a16:creationId xmlns:a16="http://schemas.microsoft.com/office/drawing/2014/main" id="{E6B18D36-32CC-497B-A148-E8CED33A916F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 flipV="1">
            <a:off x="2241819" y="5262696"/>
            <a:ext cx="246173" cy="102842"/>
          </a:xfrm>
          <a:prstGeom prst="bentConnector3">
            <a:avLst>
              <a:gd name="adj1" fmla="val 50000"/>
            </a:avLst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꺾인 연결선 68">
            <a:extLst>
              <a:ext uri="{FF2B5EF4-FFF2-40B4-BE49-F238E27FC236}">
                <a16:creationId xmlns:a16="http://schemas.microsoft.com/office/drawing/2014/main" id="{15731FFB-002A-4D1A-B931-E4E3AE5EC565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 flipV="1">
            <a:off x="2241819" y="5262696"/>
            <a:ext cx="246173" cy="102842"/>
          </a:xfrm>
          <a:prstGeom prst="bentConnector3">
            <a:avLst>
              <a:gd name="adj1" fmla="val 50000"/>
            </a:avLst>
          </a:prstGeom>
          <a:ln w="63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88952097-4047-B4C7-1974-88AE224120C6}"/>
              </a:ext>
            </a:extLst>
          </p:cNvPr>
          <p:cNvSpPr/>
          <p:nvPr/>
        </p:nvSpPr>
        <p:spPr>
          <a:xfrm>
            <a:off x="2118397" y="3622486"/>
            <a:ext cx="2591118" cy="1814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보칙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215-224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 dirty="0">
                <a:solidFill>
                  <a:schemeClr val="tx1"/>
                </a:solidFill>
              </a:rPr>
              <a:t>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369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246</a:t>
            </a:r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특허법 체계</a:t>
            </a:r>
          </a:p>
        </p:txBody>
      </p:sp>
      <p:sp>
        <p:nvSpPr>
          <p:cNvPr id="124" name="직사각형 123"/>
          <p:cNvSpPr/>
          <p:nvPr/>
        </p:nvSpPr>
        <p:spPr>
          <a:xfrm>
            <a:off x="680604" y="2547021"/>
            <a:ext cx="545064" cy="552230"/>
          </a:xfrm>
          <a:prstGeom prst="rect">
            <a:avLst/>
          </a:prstGeom>
          <a:ln w="3175"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/>
              <a:t>특허권</a:t>
            </a:r>
            <a:endParaRPr lang="ko-KR" altLang="en-US" sz="1200" dirty="0"/>
          </a:p>
        </p:txBody>
      </p:sp>
      <p:sp>
        <p:nvSpPr>
          <p:cNvPr id="125" name="직사각형 124"/>
          <p:cNvSpPr/>
          <p:nvPr/>
        </p:nvSpPr>
        <p:spPr>
          <a:xfrm>
            <a:off x="1383335" y="1239993"/>
            <a:ext cx="391011" cy="2416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발생</a:t>
            </a:r>
          </a:p>
        </p:txBody>
      </p:sp>
      <p:sp>
        <p:nvSpPr>
          <p:cNvPr id="126" name="직사각형 125"/>
          <p:cNvSpPr/>
          <p:nvPr/>
        </p:nvSpPr>
        <p:spPr>
          <a:xfrm>
            <a:off x="1383335" y="1789781"/>
            <a:ext cx="391011" cy="2416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효력</a:t>
            </a:r>
          </a:p>
        </p:txBody>
      </p:sp>
      <p:sp>
        <p:nvSpPr>
          <p:cNvPr id="127" name="직사각형 126"/>
          <p:cNvSpPr/>
          <p:nvPr/>
        </p:nvSpPr>
        <p:spPr>
          <a:xfrm>
            <a:off x="1383335" y="2944739"/>
            <a:ext cx="391011" cy="2416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변동</a:t>
            </a:r>
          </a:p>
        </p:txBody>
      </p:sp>
      <p:sp>
        <p:nvSpPr>
          <p:cNvPr id="128" name="직사각형 127"/>
          <p:cNvSpPr/>
          <p:nvPr/>
        </p:nvSpPr>
        <p:spPr>
          <a:xfrm>
            <a:off x="1383335" y="3668083"/>
            <a:ext cx="391011" cy="2416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소멸</a:t>
            </a:r>
          </a:p>
        </p:txBody>
      </p:sp>
      <p:sp>
        <p:nvSpPr>
          <p:cNvPr id="129" name="직사각형 128"/>
          <p:cNvSpPr/>
          <p:nvPr/>
        </p:nvSpPr>
        <p:spPr>
          <a:xfrm>
            <a:off x="1383335" y="4175764"/>
            <a:ext cx="391011" cy="2416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관련</a:t>
            </a:r>
          </a:p>
        </p:txBody>
      </p:sp>
      <p:cxnSp>
        <p:nvCxnSpPr>
          <p:cNvPr id="130" name="꺾인 연결선 129"/>
          <p:cNvCxnSpPr>
            <a:stCxn id="124" idx="3"/>
            <a:endCxn id="125" idx="1"/>
          </p:cNvCxnSpPr>
          <p:nvPr/>
        </p:nvCxnSpPr>
        <p:spPr>
          <a:xfrm flipV="1">
            <a:off x="1225668" y="1360804"/>
            <a:ext cx="157667" cy="146233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꺾인 연결선 130"/>
          <p:cNvCxnSpPr>
            <a:stCxn id="124" idx="3"/>
            <a:endCxn id="129" idx="1"/>
          </p:cNvCxnSpPr>
          <p:nvPr/>
        </p:nvCxnSpPr>
        <p:spPr>
          <a:xfrm>
            <a:off x="1225668" y="2823136"/>
            <a:ext cx="157667" cy="147344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꺾인 연결선 131"/>
          <p:cNvCxnSpPr>
            <a:stCxn id="124" idx="3"/>
            <a:endCxn id="126" idx="1"/>
          </p:cNvCxnSpPr>
          <p:nvPr/>
        </p:nvCxnSpPr>
        <p:spPr>
          <a:xfrm flipV="1">
            <a:off x="1225668" y="1910593"/>
            <a:ext cx="157667" cy="91254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꺾인 연결선 132"/>
          <p:cNvCxnSpPr>
            <a:stCxn id="124" idx="3"/>
            <a:endCxn id="128" idx="1"/>
          </p:cNvCxnSpPr>
          <p:nvPr/>
        </p:nvCxnSpPr>
        <p:spPr>
          <a:xfrm>
            <a:off x="1225668" y="2823136"/>
            <a:ext cx="157667" cy="965759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꺾인 연결선 133"/>
          <p:cNvCxnSpPr>
            <a:stCxn id="124" idx="3"/>
            <a:endCxn id="127" idx="1"/>
          </p:cNvCxnSpPr>
          <p:nvPr/>
        </p:nvCxnSpPr>
        <p:spPr>
          <a:xfrm>
            <a:off x="1225668" y="2823136"/>
            <a:ext cx="157667" cy="24241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직사각형 134"/>
          <p:cNvSpPr/>
          <p:nvPr/>
        </p:nvSpPr>
        <p:spPr>
          <a:xfrm>
            <a:off x="1927293" y="1027643"/>
            <a:ext cx="1744315" cy="1286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특허료의 납부 등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79~86)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1927294" y="1199840"/>
            <a:ext cx="1744314" cy="1467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설정등록 및 등록공고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87)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1927295" y="3385001"/>
            <a:ext cx="991185" cy="1876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질권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121~123)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1931244" y="3908454"/>
            <a:ext cx="383526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</a:rPr>
              <a:t>효과</a:t>
            </a:r>
          </a:p>
        </p:txBody>
      </p:sp>
      <p:sp>
        <p:nvSpPr>
          <p:cNvPr id="139" name="직사각형 138"/>
          <p:cNvSpPr/>
          <p:nvPr/>
        </p:nvSpPr>
        <p:spPr>
          <a:xfrm>
            <a:off x="1927295" y="1600786"/>
            <a:ext cx="387474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</a:rPr>
              <a:t>범위</a:t>
            </a:r>
          </a:p>
        </p:txBody>
      </p:sp>
      <p:sp>
        <p:nvSpPr>
          <p:cNvPr id="140" name="직사각형 139"/>
          <p:cNvSpPr/>
          <p:nvPr/>
        </p:nvSpPr>
        <p:spPr>
          <a:xfrm>
            <a:off x="1927295" y="2235641"/>
            <a:ext cx="387474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</a:rPr>
              <a:t>내용</a:t>
            </a:r>
          </a:p>
        </p:txBody>
      </p:sp>
      <p:sp>
        <p:nvSpPr>
          <p:cNvPr id="141" name="직사각형 140"/>
          <p:cNvSpPr/>
          <p:nvPr/>
        </p:nvSpPr>
        <p:spPr>
          <a:xfrm>
            <a:off x="1927295" y="3187241"/>
            <a:ext cx="991186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 fontAlgn="base"/>
            <a:r>
              <a:rPr lang="ko-KR" altLang="en-US" sz="1000" dirty="0" err="1">
                <a:solidFill>
                  <a:schemeClr val="tx2"/>
                </a:solidFill>
              </a:rPr>
              <a:t>실시권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42" name="직사각형 141"/>
          <p:cNvSpPr/>
          <p:nvPr/>
        </p:nvSpPr>
        <p:spPr>
          <a:xfrm>
            <a:off x="1926619" y="4143059"/>
            <a:ext cx="1355344" cy="1535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실시보고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125)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43" name="직사각형 142"/>
          <p:cNvSpPr/>
          <p:nvPr/>
        </p:nvSpPr>
        <p:spPr>
          <a:xfrm>
            <a:off x="1926619" y="4320845"/>
            <a:ext cx="1355344" cy="1341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 err="1">
                <a:solidFill>
                  <a:schemeClr val="tx2"/>
                </a:solidFill>
              </a:rPr>
              <a:t>집행권원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125</a:t>
            </a:r>
            <a:r>
              <a:rPr lang="ko-KR" altLang="en-US" sz="1000" dirty="0">
                <a:solidFill>
                  <a:schemeClr val="tx2"/>
                </a:solidFill>
              </a:rPr>
              <a:t>의</a:t>
            </a:r>
            <a:r>
              <a:rPr lang="en-US" altLang="ko-KR" sz="1000" dirty="0">
                <a:solidFill>
                  <a:schemeClr val="tx2"/>
                </a:solidFill>
              </a:rPr>
              <a:t>2)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cxnSp>
        <p:nvCxnSpPr>
          <p:cNvPr id="144" name="꺾인 연결선 143"/>
          <p:cNvCxnSpPr>
            <a:stCxn id="125" idx="3"/>
            <a:endCxn id="135" idx="1"/>
          </p:cNvCxnSpPr>
          <p:nvPr/>
        </p:nvCxnSpPr>
        <p:spPr>
          <a:xfrm flipV="1">
            <a:off x="1774346" y="1091961"/>
            <a:ext cx="152947" cy="268843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연결선 144"/>
          <p:cNvCxnSpPr>
            <a:stCxn id="125" idx="3"/>
            <a:endCxn id="136" idx="1"/>
          </p:cNvCxnSpPr>
          <p:nvPr/>
        </p:nvCxnSpPr>
        <p:spPr>
          <a:xfrm flipV="1">
            <a:off x="1774346" y="1273240"/>
            <a:ext cx="152948" cy="8756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꺾인 연결선 145"/>
          <p:cNvCxnSpPr>
            <a:stCxn id="126" idx="3"/>
            <a:endCxn id="139" idx="1"/>
          </p:cNvCxnSpPr>
          <p:nvPr/>
        </p:nvCxnSpPr>
        <p:spPr>
          <a:xfrm flipV="1">
            <a:off x="1774346" y="1680091"/>
            <a:ext cx="152949" cy="23050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꺾인 연결선 146"/>
          <p:cNvCxnSpPr>
            <a:stCxn id="126" idx="3"/>
            <a:endCxn id="140" idx="1"/>
          </p:cNvCxnSpPr>
          <p:nvPr/>
        </p:nvCxnSpPr>
        <p:spPr>
          <a:xfrm>
            <a:off x="1774346" y="1910593"/>
            <a:ext cx="152949" cy="40435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꺾인 연결선 147"/>
          <p:cNvCxnSpPr>
            <a:stCxn id="127" idx="3"/>
            <a:endCxn id="141" idx="1"/>
          </p:cNvCxnSpPr>
          <p:nvPr/>
        </p:nvCxnSpPr>
        <p:spPr>
          <a:xfrm>
            <a:off x="1774346" y="3065551"/>
            <a:ext cx="152949" cy="20099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꺾인 연결선 148"/>
          <p:cNvCxnSpPr>
            <a:stCxn id="128" idx="3"/>
            <a:endCxn id="138" idx="1"/>
          </p:cNvCxnSpPr>
          <p:nvPr/>
        </p:nvCxnSpPr>
        <p:spPr>
          <a:xfrm>
            <a:off x="1774346" y="3788895"/>
            <a:ext cx="156898" cy="19886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꺾인 연결선 149"/>
          <p:cNvCxnSpPr>
            <a:stCxn id="129" idx="3"/>
            <a:endCxn id="142" idx="1"/>
          </p:cNvCxnSpPr>
          <p:nvPr/>
        </p:nvCxnSpPr>
        <p:spPr>
          <a:xfrm flipV="1">
            <a:off x="1774346" y="4219817"/>
            <a:ext cx="152273" cy="7675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꺾인 연결선 150"/>
          <p:cNvCxnSpPr>
            <a:stCxn id="129" idx="3"/>
            <a:endCxn id="143" idx="1"/>
          </p:cNvCxnSpPr>
          <p:nvPr/>
        </p:nvCxnSpPr>
        <p:spPr>
          <a:xfrm>
            <a:off x="1774346" y="4296575"/>
            <a:ext cx="152273" cy="9135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직사각형 151"/>
          <p:cNvSpPr/>
          <p:nvPr/>
        </p:nvSpPr>
        <p:spPr>
          <a:xfrm>
            <a:off x="2490834" y="1502332"/>
            <a:ext cx="427647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시간적</a:t>
            </a:r>
          </a:p>
        </p:txBody>
      </p:sp>
      <p:sp>
        <p:nvSpPr>
          <p:cNvPr id="153" name="직사각형 152"/>
          <p:cNvSpPr/>
          <p:nvPr/>
        </p:nvSpPr>
        <p:spPr>
          <a:xfrm>
            <a:off x="2490834" y="1753955"/>
            <a:ext cx="427647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내용적</a:t>
            </a:r>
          </a:p>
        </p:txBody>
      </p:sp>
      <p:sp>
        <p:nvSpPr>
          <p:cNvPr id="154" name="직사각형 153"/>
          <p:cNvSpPr/>
          <p:nvPr/>
        </p:nvSpPr>
        <p:spPr>
          <a:xfrm>
            <a:off x="2490834" y="1966576"/>
            <a:ext cx="427647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지역적</a:t>
            </a:r>
          </a:p>
        </p:txBody>
      </p:sp>
      <p:sp>
        <p:nvSpPr>
          <p:cNvPr id="155" name="직사각형 154"/>
          <p:cNvSpPr/>
          <p:nvPr/>
        </p:nvSpPr>
        <p:spPr>
          <a:xfrm>
            <a:off x="3028012" y="1406769"/>
            <a:ext cx="1665788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존속기간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88)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56" name="직사각형 155"/>
          <p:cNvSpPr/>
          <p:nvPr/>
        </p:nvSpPr>
        <p:spPr>
          <a:xfrm>
            <a:off x="3028012" y="1577847"/>
            <a:ext cx="1665790" cy="1492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존속기간의 연장</a:t>
            </a:r>
            <a:r>
              <a:rPr lang="en-US" altLang="ko-KR" sz="800" dirty="0">
                <a:solidFill>
                  <a:schemeClr val="tx2"/>
                </a:solidFill>
              </a:rPr>
              <a:t>(</a:t>
            </a:r>
            <a:r>
              <a:rPr lang="ko-KR" altLang="en-US" sz="800" dirty="0">
                <a:solidFill>
                  <a:schemeClr val="tx2"/>
                </a:solidFill>
              </a:rPr>
              <a:t>法 </a:t>
            </a:r>
            <a:r>
              <a:rPr lang="en-US" altLang="ko-KR" sz="800" dirty="0">
                <a:solidFill>
                  <a:schemeClr val="tx2"/>
                </a:solidFill>
              </a:rPr>
              <a:t>89~93, 95)</a:t>
            </a:r>
            <a:endParaRPr lang="ko-KR" altLang="en-US" sz="800" dirty="0">
              <a:solidFill>
                <a:schemeClr val="tx2"/>
              </a:solidFill>
            </a:endParaRPr>
          </a:p>
        </p:txBody>
      </p:sp>
      <p:sp>
        <p:nvSpPr>
          <p:cNvPr id="157" name="직사각형 156"/>
          <p:cNvSpPr/>
          <p:nvPr/>
        </p:nvSpPr>
        <p:spPr>
          <a:xfrm>
            <a:off x="3028012" y="1745004"/>
            <a:ext cx="1665788" cy="1857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청구범위</a:t>
            </a:r>
          </a:p>
        </p:txBody>
      </p:sp>
      <p:sp>
        <p:nvSpPr>
          <p:cNvPr id="158" name="직사각형 157"/>
          <p:cNvSpPr/>
          <p:nvPr/>
        </p:nvSpPr>
        <p:spPr>
          <a:xfrm>
            <a:off x="3028011" y="1966575"/>
            <a:ext cx="1665789" cy="1586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속지주의</a:t>
            </a:r>
          </a:p>
        </p:txBody>
      </p:sp>
      <p:sp>
        <p:nvSpPr>
          <p:cNvPr id="159" name="직사각형 158"/>
          <p:cNvSpPr/>
          <p:nvPr/>
        </p:nvSpPr>
        <p:spPr>
          <a:xfrm>
            <a:off x="2500115" y="2247804"/>
            <a:ext cx="418366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의의</a:t>
            </a:r>
          </a:p>
        </p:txBody>
      </p:sp>
      <p:sp>
        <p:nvSpPr>
          <p:cNvPr id="160" name="직사각형 159"/>
          <p:cNvSpPr/>
          <p:nvPr/>
        </p:nvSpPr>
        <p:spPr>
          <a:xfrm>
            <a:off x="2500114" y="2523982"/>
            <a:ext cx="2193687" cy="1634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제한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81</a:t>
            </a:r>
            <a:r>
              <a:rPr lang="ko-KR" altLang="en-US" sz="1000" dirty="0">
                <a:solidFill>
                  <a:schemeClr val="tx2"/>
                </a:solidFill>
              </a:rPr>
              <a:t>의</a:t>
            </a:r>
            <a:r>
              <a:rPr lang="en-US" altLang="ko-KR" sz="1000" dirty="0">
                <a:solidFill>
                  <a:schemeClr val="tx2"/>
                </a:solidFill>
              </a:rPr>
              <a:t>3④, 96, 181/98)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61" name="직사각형 160"/>
          <p:cNvSpPr/>
          <p:nvPr/>
        </p:nvSpPr>
        <p:spPr>
          <a:xfrm>
            <a:off x="2500114" y="2714241"/>
            <a:ext cx="2193687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확장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127)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62" name="직사각형 161"/>
          <p:cNvSpPr/>
          <p:nvPr/>
        </p:nvSpPr>
        <p:spPr>
          <a:xfrm>
            <a:off x="1927295" y="2927413"/>
            <a:ext cx="1564240" cy="193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이전 및 공유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99, 99</a:t>
            </a:r>
            <a:r>
              <a:rPr lang="ko-KR" altLang="en-US" sz="1000" dirty="0">
                <a:solidFill>
                  <a:schemeClr val="tx2"/>
                </a:solidFill>
              </a:rPr>
              <a:t>의</a:t>
            </a:r>
            <a:r>
              <a:rPr lang="en-US" altLang="ko-KR" sz="1000" dirty="0">
                <a:solidFill>
                  <a:schemeClr val="tx2"/>
                </a:solidFill>
              </a:rPr>
              <a:t>2)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63" name="직사각형 162"/>
          <p:cNvSpPr/>
          <p:nvPr/>
        </p:nvSpPr>
        <p:spPr>
          <a:xfrm>
            <a:off x="3109057" y="3518950"/>
            <a:ext cx="2829345" cy="1332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 err="1">
                <a:solidFill>
                  <a:schemeClr val="tx2"/>
                </a:solidFill>
              </a:rPr>
              <a:t>강제실시권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106</a:t>
            </a:r>
            <a:r>
              <a:rPr lang="ko-KR" altLang="en-US" sz="1000" dirty="0">
                <a:solidFill>
                  <a:schemeClr val="tx2"/>
                </a:solidFill>
              </a:rPr>
              <a:t>의</a:t>
            </a:r>
            <a:r>
              <a:rPr lang="en-US" altLang="ko-KR" sz="1000" dirty="0">
                <a:solidFill>
                  <a:schemeClr val="tx2"/>
                </a:solidFill>
              </a:rPr>
              <a:t>2, 107~115, 138)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64" name="직사각형 163"/>
          <p:cNvSpPr/>
          <p:nvPr/>
        </p:nvSpPr>
        <p:spPr>
          <a:xfrm>
            <a:off x="3109057" y="3339094"/>
            <a:ext cx="2829345" cy="13973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 err="1">
                <a:solidFill>
                  <a:schemeClr val="tx2"/>
                </a:solidFill>
              </a:rPr>
              <a:t>법정실시권</a:t>
            </a:r>
            <a:r>
              <a:rPr lang="en-US" altLang="ko-KR" sz="800" dirty="0">
                <a:solidFill>
                  <a:schemeClr val="tx2"/>
                </a:solidFill>
              </a:rPr>
              <a:t>(</a:t>
            </a:r>
            <a:r>
              <a:rPr lang="ko-KR" altLang="en-US" sz="800" dirty="0">
                <a:solidFill>
                  <a:schemeClr val="tx2"/>
                </a:solidFill>
              </a:rPr>
              <a:t>法 </a:t>
            </a:r>
            <a:r>
              <a:rPr lang="en-US" altLang="ko-KR" sz="800" dirty="0">
                <a:solidFill>
                  <a:schemeClr val="tx2"/>
                </a:solidFill>
              </a:rPr>
              <a:t>81</a:t>
            </a:r>
            <a:r>
              <a:rPr lang="ko-KR" altLang="en-US" sz="800" dirty="0">
                <a:solidFill>
                  <a:schemeClr val="tx2"/>
                </a:solidFill>
              </a:rPr>
              <a:t>의</a:t>
            </a:r>
            <a:r>
              <a:rPr lang="en-US" altLang="ko-KR" sz="800" dirty="0">
                <a:solidFill>
                  <a:schemeClr val="tx2"/>
                </a:solidFill>
              </a:rPr>
              <a:t>3, 103~105, 122, 182,183, </a:t>
            </a:r>
            <a:r>
              <a:rPr lang="ko-KR" altLang="en-US" sz="800" dirty="0" err="1">
                <a:solidFill>
                  <a:schemeClr val="tx2"/>
                </a:solidFill>
              </a:rPr>
              <a:t>발진법</a:t>
            </a:r>
            <a:r>
              <a:rPr lang="en-US" altLang="ko-KR" sz="800" dirty="0">
                <a:solidFill>
                  <a:schemeClr val="tx2"/>
                </a:solidFill>
              </a:rPr>
              <a:t>10</a:t>
            </a:r>
            <a:r>
              <a:rPr lang="ko-KR" altLang="en-US" sz="800" dirty="0">
                <a:solidFill>
                  <a:schemeClr val="tx2"/>
                </a:solidFill>
              </a:rPr>
              <a:t>①</a:t>
            </a:r>
            <a:r>
              <a:rPr lang="en-US" altLang="ko-KR" sz="800" dirty="0">
                <a:solidFill>
                  <a:schemeClr val="tx2"/>
                </a:solidFill>
              </a:rPr>
              <a:t>)</a:t>
            </a:r>
            <a:endParaRPr lang="ko-KR" altLang="en-US" sz="800" dirty="0">
              <a:solidFill>
                <a:schemeClr val="tx2"/>
              </a:solidFill>
            </a:endParaRPr>
          </a:p>
        </p:txBody>
      </p:sp>
      <p:sp>
        <p:nvSpPr>
          <p:cNvPr id="165" name="직사각형 164"/>
          <p:cNvSpPr/>
          <p:nvPr/>
        </p:nvSpPr>
        <p:spPr>
          <a:xfrm>
            <a:off x="3109057" y="3151440"/>
            <a:ext cx="2829345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일반론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100~102, 118)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66" name="직사각형 165"/>
          <p:cNvSpPr/>
          <p:nvPr/>
        </p:nvSpPr>
        <p:spPr>
          <a:xfrm>
            <a:off x="1931244" y="3709590"/>
            <a:ext cx="383526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</a:rPr>
              <a:t>원인</a:t>
            </a:r>
          </a:p>
        </p:txBody>
      </p:sp>
      <p:sp>
        <p:nvSpPr>
          <p:cNvPr id="167" name="직사각형 166"/>
          <p:cNvSpPr/>
          <p:nvPr/>
        </p:nvSpPr>
        <p:spPr>
          <a:xfrm>
            <a:off x="2426794" y="3883877"/>
            <a:ext cx="1721991" cy="2093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장래소멸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119, 120, 124)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68" name="직사각형 167"/>
          <p:cNvSpPr/>
          <p:nvPr/>
        </p:nvSpPr>
        <p:spPr>
          <a:xfrm>
            <a:off x="2426794" y="3698412"/>
            <a:ext cx="1721991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000" dirty="0">
                <a:solidFill>
                  <a:schemeClr val="tx2"/>
                </a:solidFill>
              </a:rPr>
              <a:t>소급소멸</a:t>
            </a:r>
          </a:p>
        </p:txBody>
      </p:sp>
      <p:cxnSp>
        <p:nvCxnSpPr>
          <p:cNvPr id="169" name="꺾인 연결선 168"/>
          <p:cNvCxnSpPr>
            <a:stCxn id="139" idx="3"/>
            <a:endCxn id="152" idx="1"/>
          </p:cNvCxnSpPr>
          <p:nvPr/>
        </p:nvCxnSpPr>
        <p:spPr>
          <a:xfrm flipV="1">
            <a:off x="2314769" y="1581638"/>
            <a:ext cx="176065" cy="9845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꺾인 연결선 169"/>
          <p:cNvCxnSpPr>
            <a:stCxn id="139" idx="3"/>
            <a:endCxn id="153" idx="1"/>
          </p:cNvCxnSpPr>
          <p:nvPr/>
        </p:nvCxnSpPr>
        <p:spPr>
          <a:xfrm>
            <a:off x="2314769" y="1680091"/>
            <a:ext cx="176065" cy="153169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꺾인 연결선 170"/>
          <p:cNvCxnSpPr>
            <a:stCxn id="139" idx="3"/>
            <a:endCxn id="154" idx="1"/>
          </p:cNvCxnSpPr>
          <p:nvPr/>
        </p:nvCxnSpPr>
        <p:spPr>
          <a:xfrm>
            <a:off x="2314769" y="1680091"/>
            <a:ext cx="176065" cy="36579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꺾인 연결선 171"/>
          <p:cNvCxnSpPr>
            <a:stCxn id="152" idx="3"/>
            <a:endCxn id="155" idx="1"/>
          </p:cNvCxnSpPr>
          <p:nvPr/>
        </p:nvCxnSpPr>
        <p:spPr>
          <a:xfrm flipV="1">
            <a:off x="2918481" y="1486075"/>
            <a:ext cx="109531" cy="95563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꺾인 연결선 172"/>
          <p:cNvCxnSpPr>
            <a:stCxn id="152" idx="3"/>
            <a:endCxn id="156" idx="1"/>
          </p:cNvCxnSpPr>
          <p:nvPr/>
        </p:nvCxnSpPr>
        <p:spPr>
          <a:xfrm>
            <a:off x="2918481" y="1581638"/>
            <a:ext cx="109531" cy="7083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>
            <a:stCxn id="153" idx="3"/>
            <a:endCxn id="157" idx="1"/>
          </p:cNvCxnSpPr>
          <p:nvPr/>
        </p:nvCxnSpPr>
        <p:spPr>
          <a:xfrm>
            <a:off x="2918481" y="1833260"/>
            <a:ext cx="109531" cy="463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174"/>
          <p:cNvCxnSpPr>
            <a:stCxn id="154" idx="3"/>
            <a:endCxn id="158" idx="1"/>
          </p:cNvCxnSpPr>
          <p:nvPr/>
        </p:nvCxnSpPr>
        <p:spPr>
          <a:xfrm flipV="1">
            <a:off x="2918481" y="2045880"/>
            <a:ext cx="109530" cy="1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꺾인 연결선 175"/>
          <p:cNvCxnSpPr>
            <a:stCxn id="140" idx="3"/>
            <a:endCxn id="161" idx="1"/>
          </p:cNvCxnSpPr>
          <p:nvPr/>
        </p:nvCxnSpPr>
        <p:spPr>
          <a:xfrm>
            <a:off x="2314769" y="2314946"/>
            <a:ext cx="185345" cy="47860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꺾인 연결선 176"/>
          <p:cNvCxnSpPr>
            <a:stCxn id="140" idx="3"/>
            <a:endCxn id="159" idx="1"/>
          </p:cNvCxnSpPr>
          <p:nvPr/>
        </p:nvCxnSpPr>
        <p:spPr>
          <a:xfrm>
            <a:off x="2314769" y="2314946"/>
            <a:ext cx="185346" cy="1216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꺾인 연결선 177"/>
          <p:cNvCxnSpPr>
            <a:stCxn id="140" idx="3"/>
            <a:endCxn id="160" idx="1"/>
          </p:cNvCxnSpPr>
          <p:nvPr/>
        </p:nvCxnSpPr>
        <p:spPr>
          <a:xfrm>
            <a:off x="2314769" y="2314946"/>
            <a:ext cx="185345" cy="290739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꺾인 연결선 178"/>
          <p:cNvCxnSpPr>
            <a:stCxn id="127" idx="3"/>
            <a:endCxn id="162" idx="1"/>
          </p:cNvCxnSpPr>
          <p:nvPr/>
        </p:nvCxnSpPr>
        <p:spPr>
          <a:xfrm flipV="1">
            <a:off x="1774346" y="3024355"/>
            <a:ext cx="152949" cy="4119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꺾인 연결선 179"/>
          <p:cNvCxnSpPr>
            <a:stCxn id="127" idx="3"/>
            <a:endCxn id="137" idx="1"/>
          </p:cNvCxnSpPr>
          <p:nvPr/>
        </p:nvCxnSpPr>
        <p:spPr>
          <a:xfrm>
            <a:off x="1774346" y="3065551"/>
            <a:ext cx="152949" cy="41327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꺾인 연결선 180"/>
          <p:cNvCxnSpPr>
            <a:stCxn id="141" idx="3"/>
            <a:endCxn id="163" idx="1"/>
          </p:cNvCxnSpPr>
          <p:nvPr/>
        </p:nvCxnSpPr>
        <p:spPr>
          <a:xfrm>
            <a:off x="2918481" y="3266547"/>
            <a:ext cx="190576" cy="31904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꺾인 연결선 181"/>
          <p:cNvCxnSpPr>
            <a:stCxn id="141" idx="3"/>
            <a:endCxn id="165" idx="1"/>
          </p:cNvCxnSpPr>
          <p:nvPr/>
        </p:nvCxnSpPr>
        <p:spPr>
          <a:xfrm flipV="1">
            <a:off x="2918481" y="3230745"/>
            <a:ext cx="190576" cy="35801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꺾인 연결선 182"/>
          <p:cNvCxnSpPr>
            <a:stCxn id="141" idx="3"/>
            <a:endCxn id="164" idx="1"/>
          </p:cNvCxnSpPr>
          <p:nvPr/>
        </p:nvCxnSpPr>
        <p:spPr>
          <a:xfrm>
            <a:off x="2918481" y="3266547"/>
            <a:ext cx="190576" cy="14241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꺾인 연결선 183"/>
          <p:cNvCxnSpPr>
            <a:stCxn id="128" idx="3"/>
            <a:endCxn id="166" idx="1"/>
          </p:cNvCxnSpPr>
          <p:nvPr/>
        </p:nvCxnSpPr>
        <p:spPr>
          <a:xfrm>
            <a:off x="1774346" y="3788895"/>
            <a:ext cx="156898" cy="1270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꺾인 연결선 184"/>
          <p:cNvCxnSpPr>
            <a:stCxn id="166" idx="3"/>
            <a:endCxn id="167" idx="1"/>
          </p:cNvCxnSpPr>
          <p:nvPr/>
        </p:nvCxnSpPr>
        <p:spPr>
          <a:xfrm>
            <a:off x="2314770" y="3788895"/>
            <a:ext cx="112024" cy="19967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꺾인 연결선 185"/>
          <p:cNvCxnSpPr>
            <a:stCxn id="166" idx="3"/>
            <a:endCxn id="168" idx="1"/>
          </p:cNvCxnSpPr>
          <p:nvPr/>
        </p:nvCxnSpPr>
        <p:spPr>
          <a:xfrm flipV="1">
            <a:off x="2314770" y="3777717"/>
            <a:ext cx="112024" cy="1117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직사각형 186"/>
          <p:cNvSpPr/>
          <p:nvPr/>
        </p:nvSpPr>
        <p:spPr>
          <a:xfrm>
            <a:off x="3281962" y="2158301"/>
            <a:ext cx="1411839" cy="167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적극적 효력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94)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88" name="직사각형 187"/>
          <p:cNvSpPr/>
          <p:nvPr/>
        </p:nvSpPr>
        <p:spPr>
          <a:xfrm>
            <a:off x="3281962" y="2341797"/>
            <a:ext cx="1411839" cy="1539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소극적 효력</a:t>
            </a:r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침해</a:t>
            </a:r>
            <a:r>
              <a:rPr lang="en-US" altLang="ko-KR" sz="1000" dirty="0">
                <a:solidFill>
                  <a:schemeClr val="tx2"/>
                </a:solidFill>
              </a:rPr>
              <a:t>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cxnSp>
        <p:nvCxnSpPr>
          <p:cNvPr id="189" name="꺾인 연결선 188"/>
          <p:cNvCxnSpPr>
            <a:stCxn id="159" idx="3"/>
            <a:endCxn id="188" idx="1"/>
          </p:cNvCxnSpPr>
          <p:nvPr/>
        </p:nvCxnSpPr>
        <p:spPr>
          <a:xfrm>
            <a:off x="2918481" y="2327109"/>
            <a:ext cx="363481" cy="9165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꺾인 연결선 189"/>
          <p:cNvCxnSpPr>
            <a:stCxn id="159" idx="3"/>
            <a:endCxn id="187" idx="1"/>
          </p:cNvCxnSpPr>
          <p:nvPr/>
        </p:nvCxnSpPr>
        <p:spPr>
          <a:xfrm flipV="1">
            <a:off x="2918481" y="2242081"/>
            <a:ext cx="363481" cy="8502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직사각형 190"/>
          <p:cNvSpPr/>
          <p:nvPr/>
        </p:nvSpPr>
        <p:spPr>
          <a:xfrm>
            <a:off x="4891070" y="1400340"/>
            <a:ext cx="561412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성립요건</a:t>
            </a:r>
          </a:p>
        </p:txBody>
      </p:sp>
      <p:sp>
        <p:nvSpPr>
          <p:cNvPr id="192" name="직사각형 191"/>
          <p:cNvSpPr/>
          <p:nvPr/>
        </p:nvSpPr>
        <p:spPr>
          <a:xfrm>
            <a:off x="4891070" y="1771241"/>
            <a:ext cx="561412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종류</a:t>
            </a:r>
          </a:p>
        </p:txBody>
      </p:sp>
      <p:sp>
        <p:nvSpPr>
          <p:cNvPr id="193" name="직사각형 192"/>
          <p:cNvSpPr/>
          <p:nvPr/>
        </p:nvSpPr>
        <p:spPr>
          <a:xfrm>
            <a:off x="4891070" y="2381537"/>
            <a:ext cx="561412" cy="1586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조치</a:t>
            </a:r>
          </a:p>
        </p:txBody>
      </p:sp>
      <p:cxnSp>
        <p:nvCxnSpPr>
          <p:cNvPr id="194" name="꺾인 연결선 193"/>
          <p:cNvCxnSpPr>
            <a:stCxn id="188" idx="3"/>
            <a:endCxn id="191" idx="1"/>
          </p:cNvCxnSpPr>
          <p:nvPr/>
        </p:nvCxnSpPr>
        <p:spPr>
          <a:xfrm flipV="1">
            <a:off x="4693801" y="1479645"/>
            <a:ext cx="197269" cy="939118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꺾인 연결선 194"/>
          <p:cNvCxnSpPr>
            <a:stCxn id="188" idx="3"/>
            <a:endCxn id="193" idx="1"/>
          </p:cNvCxnSpPr>
          <p:nvPr/>
        </p:nvCxnSpPr>
        <p:spPr>
          <a:xfrm>
            <a:off x="4693801" y="2418763"/>
            <a:ext cx="197269" cy="42079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꺾인 연결선 195"/>
          <p:cNvCxnSpPr>
            <a:stCxn id="188" idx="3"/>
            <a:endCxn id="192" idx="1"/>
          </p:cNvCxnSpPr>
          <p:nvPr/>
        </p:nvCxnSpPr>
        <p:spPr>
          <a:xfrm flipV="1">
            <a:off x="4693801" y="1850546"/>
            <a:ext cx="197269" cy="568217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직사각형 196"/>
          <p:cNvSpPr/>
          <p:nvPr/>
        </p:nvSpPr>
        <p:spPr>
          <a:xfrm>
            <a:off x="5586610" y="1528907"/>
            <a:ext cx="833380" cy="3216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직접침해</a:t>
            </a:r>
            <a:endParaRPr lang="en-US" altLang="ko-KR" sz="1000" dirty="0">
              <a:solidFill>
                <a:schemeClr val="tx2"/>
              </a:solidFill>
            </a:endParaRPr>
          </a:p>
          <a:p>
            <a:pPr algn="ctr" fontAlgn="base"/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97, 98)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198" name="직사각형 197"/>
          <p:cNvSpPr/>
          <p:nvPr/>
        </p:nvSpPr>
        <p:spPr>
          <a:xfrm>
            <a:off x="5586610" y="1904907"/>
            <a:ext cx="833380" cy="3216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>
                <a:solidFill>
                  <a:schemeClr val="tx2"/>
                </a:solidFill>
              </a:rPr>
              <a:t>간접침해</a:t>
            </a:r>
            <a:endParaRPr lang="en-US" altLang="ko-KR" sz="1000" dirty="0">
              <a:solidFill>
                <a:schemeClr val="tx2"/>
              </a:solidFill>
            </a:endParaRPr>
          </a:p>
          <a:p>
            <a:pPr algn="ctr" fontAlgn="base"/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127)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cxnSp>
        <p:nvCxnSpPr>
          <p:cNvPr id="199" name="꺾인 연결선 198"/>
          <p:cNvCxnSpPr>
            <a:stCxn id="192" idx="3"/>
            <a:endCxn id="197" idx="1"/>
          </p:cNvCxnSpPr>
          <p:nvPr/>
        </p:nvCxnSpPr>
        <p:spPr>
          <a:xfrm flipV="1">
            <a:off x="5452482" y="1689718"/>
            <a:ext cx="134128" cy="16082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꺾인 연결선 199"/>
          <p:cNvCxnSpPr>
            <a:stCxn id="192" idx="3"/>
            <a:endCxn id="198" idx="1"/>
          </p:cNvCxnSpPr>
          <p:nvPr/>
        </p:nvCxnSpPr>
        <p:spPr>
          <a:xfrm>
            <a:off x="5452482" y="1850546"/>
            <a:ext cx="134128" cy="215171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모서리가 둥근 직사각형 200"/>
          <p:cNvSpPr/>
          <p:nvPr/>
        </p:nvSpPr>
        <p:spPr>
          <a:xfrm>
            <a:off x="5586610" y="2318465"/>
            <a:ext cx="833380" cy="30082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</a:rPr>
              <a:t>민사적 조치</a:t>
            </a:r>
            <a:endParaRPr lang="en-US" altLang="ko-KR" sz="1000" dirty="0">
              <a:solidFill>
                <a:schemeClr val="tx2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126-132)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sp>
        <p:nvSpPr>
          <p:cNvPr id="202" name="모서리가 둥근 직사각형 201"/>
          <p:cNvSpPr/>
          <p:nvPr/>
        </p:nvSpPr>
        <p:spPr>
          <a:xfrm>
            <a:off x="5586609" y="2663316"/>
            <a:ext cx="833381" cy="341821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</a:rPr>
              <a:t>형사적 조치</a:t>
            </a:r>
            <a:endParaRPr lang="en-US" altLang="ko-KR" sz="1000" dirty="0">
              <a:solidFill>
                <a:schemeClr val="tx2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2"/>
                </a:solidFill>
              </a:rPr>
              <a:t>(</a:t>
            </a:r>
            <a:r>
              <a:rPr lang="ko-KR" altLang="en-US" sz="1000" dirty="0">
                <a:solidFill>
                  <a:schemeClr val="tx2"/>
                </a:solidFill>
              </a:rPr>
              <a:t>法 </a:t>
            </a:r>
            <a:r>
              <a:rPr lang="en-US" altLang="ko-KR" sz="1000" dirty="0">
                <a:solidFill>
                  <a:schemeClr val="tx2"/>
                </a:solidFill>
              </a:rPr>
              <a:t>225-232)</a:t>
            </a:r>
            <a:endParaRPr lang="ko-KR" altLang="en-US" sz="1000" dirty="0">
              <a:solidFill>
                <a:schemeClr val="tx2"/>
              </a:solidFill>
            </a:endParaRPr>
          </a:p>
        </p:txBody>
      </p:sp>
      <p:cxnSp>
        <p:nvCxnSpPr>
          <p:cNvPr id="203" name="꺾인 연결선 202"/>
          <p:cNvCxnSpPr>
            <a:stCxn id="193" idx="3"/>
            <a:endCxn id="201" idx="1"/>
          </p:cNvCxnSpPr>
          <p:nvPr/>
        </p:nvCxnSpPr>
        <p:spPr>
          <a:xfrm>
            <a:off x="5452482" y="2460843"/>
            <a:ext cx="134128" cy="803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꺾인 연결선 203"/>
          <p:cNvCxnSpPr>
            <a:stCxn id="193" idx="3"/>
            <a:endCxn id="202" idx="1"/>
          </p:cNvCxnSpPr>
          <p:nvPr/>
        </p:nvCxnSpPr>
        <p:spPr>
          <a:xfrm>
            <a:off x="5452482" y="2460843"/>
            <a:ext cx="134127" cy="37338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직사각형 204"/>
          <p:cNvSpPr/>
          <p:nvPr/>
        </p:nvSpPr>
        <p:spPr>
          <a:xfrm>
            <a:off x="7780806" y="2184608"/>
            <a:ext cx="555844" cy="610645"/>
          </a:xfrm>
          <a:prstGeom prst="rect">
            <a:avLst/>
          </a:prstGeom>
          <a:solidFill>
            <a:schemeClr val="accent6">
              <a:lumMod val="5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심판절차 </a:t>
            </a:r>
            <a:endParaRPr lang="en-US" altLang="ko-KR" sz="1000" dirty="0">
              <a:solidFill>
                <a:schemeClr val="bg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일반</a:t>
            </a:r>
            <a:endParaRPr lang="en-US" altLang="ko-KR" sz="1000" dirty="0">
              <a:solidFill>
                <a:schemeClr val="bg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(</a:t>
            </a:r>
            <a:r>
              <a:rPr lang="ko-KR" altLang="en-US" sz="1000" dirty="0">
                <a:solidFill>
                  <a:schemeClr val="bg1"/>
                </a:solidFill>
              </a:rPr>
              <a:t>총론</a:t>
            </a:r>
            <a:r>
              <a:rPr lang="en-US" altLang="ko-KR" sz="1000" dirty="0">
                <a:solidFill>
                  <a:schemeClr val="bg1"/>
                </a:solidFill>
              </a:rPr>
              <a:t>)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206" name="직사각형 205"/>
          <p:cNvSpPr/>
          <p:nvPr/>
        </p:nvSpPr>
        <p:spPr>
          <a:xfrm>
            <a:off x="7780806" y="4163272"/>
            <a:ext cx="555844" cy="6106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심판의</a:t>
            </a:r>
            <a:endParaRPr lang="en-US" altLang="ko-KR" sz="1000" dirty="0">
              <a:solidFill>
                <a:schemeClr val="bg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종류</a:t>
            </a:r>
            <a:endParaRPr lang="en-US" altLang="ko-KR" sz="1000" dirty="0">
              <a:solidFill>
                <a:schemeClr val="bg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(</a:t>
            </a:r>
            <a:r>
              <a:rPr lang="ko-KR" altLang="en-US" sz="1000" dirty="0">
                <a:solidFill>
                  <a:schemeClr val="bg1"/>
                </a:solidFill>
              </a:rPr>
              <a:t>각론</a:t>
            </a:r>
            <a:r>
              <a:rPr lang="en-US" altLang="ko-KR" sz="1000" dirty="0">
                <a:solidFill>
                  <a:schemeClr val="bg1"/>
                </a:solidFill>
              </a:rPr>
              <a:t>)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207" name="직사각형 206"/>
          <p:cNvSpPr/>
          <p:nvPr/>
        </p:nvSpPr>
        <p:spPr>
          <a:xfrm>
            <a:off x="8500191" y="1313084"/>
            <a:ext cx="710030" cy="1710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/>
              <a:t>주체</a:t>
            </a:r>
            <a:endParaRPr lang="ko-KR" altLang="en-US" sz="1000" dirty="0"/>
          </a:p>
        </p:txBody>
      </p:sp>
      <p:sp>
        <p:nvSpPr>
          <p:cNvPr id="208" name="직사각형 207"/>
          <p:cNvSpPr/>
          <p:nvPr/>
        </p:nvSpPr>
        <p:spPr>
          <a:xfrm>
            <a:off x="8500191" y="1804594"/>
            <a:ext cx="710030" cy="1710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청구</a:t>
            </a:r>
          </a:p>
        </p:txBody>
      </p:sp>
      <p:sp>
        <p:nvSpPr>
          <p:cNvPr id="209" name="직사각형 208"/>
          <p:cNvSpPr/>
          <p:nvPr/>
        </p:nvSpPr>
        <p:spPr>
          <a:xfrm>
            <a:off x="8500191" y="2449052"/>
            <a:ext cx="710030" cy="1710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진행</a:t>
            </a:r>
          </a:p>
        </p:txBody>
      </p:sp>
      <p:sp>
        <p:nvSpPr>
          <p:cNvPr id="210" name="직사각형 209"/>
          <p:cNvSpPr/>
          <p:nvPr/>
        </p:nvSpPr>
        <p:spPr>
          <a:xfrm>
            <a:off x="8500191" y="2977875"/>
            <a:ext cx="710030" cy="1710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종료</a:t>
            </a:r>
          </a:p>
        </p:txBody>
      </p:sp>
      <p:sp>
        <p:nvSpPr>
          <p:cNvPr id="211" name="직사각형 210"/>
          <p:cNvSpPr/>
          <p:nvPr/>
        </p:nvSpPr>
        <p:spPr>
          <a:xfrm>
            <a:off x="9363869" y="805651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심판원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132</a:t>
            </a:r>
            <a:r>
              <a:rPr lang="ko-KR" altLang="en-US" sz="1000" dirty="0"/>
              <a:t>의</a:t>
            </a:r>
            <a:r>
              <a:rPr lang="en-US" altLang="ko-KR" sz="1000" dirty="0"/>
              <a:t>16, 143~153</a:t>
            </a:r>
            <a:r>
              <a:rPr lang="ko-KR" altLang="en-US" sz="1000" dirty="0"/>
              <a:t>의</a:t>
            </a:r>
            <a:r>
              <a:rPr lang="en-US" altLang="ko-KR" sz="1000" dirty="0"/>
              <a:t>2)</a:t>
            </a:r>
            <a:endParaRPr lang="ko-KR" altLang="en-US" sz="1000" dirty="0"/>
          </a:p>
        </p:txBody>
      </p:sp>
      <p:sp>
        <p:nvSpPr>
          <p:cNvPr id="212" name="직사각형 211"/>
          <p:cNvSpPr/>
          <p:nvPr/>
        </p:nvSpPr>
        <p:spPr>
          <a:xfrm>
            <a:off x="9363869" y="996229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심판의 당사자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139)</a:t>
            </a:r>
            <a:endParaRPr lang="ko-KR" altLang="en-US" sz="1000" dirty="0"/>
          </a:p>
        </p:txBody>
      </p:sp>
      <p:sp>
        <p:nvSpPr>
          <p:cNvPr id="213" name="직사각형 212"/>
          <p:cNvSpPr/>
          <p:nvPr/>
        </p:nvSpPr>
        <p:spPr>
          <a:xfrm>
            <a:off x="9363869" y="1183511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심판의 참가인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155, 156)</a:t>
            </a:r>
            <a:endParaRPr lang="ko-KR" altLang="en-US" sz="1000" dirty="0"/>
          </a:p>
        </p:txBody>
      </p:sp>
      <p:sp>
        <p:nvSpPr>
          <p:cNvPr id="214" name="직사각형 213"/>
          <p:cNvSpPr/>
          <p:nvPr/>
        </p:nvSpPr>
        <p:spPr>
          <a:xfrm>
            <a:off x="9363869" y="1703773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심판의 청구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140, 140</a:t>
            </a:r>
            <a:r>
              <a:rPr lang="ko-KR" altLang="en-US" sz="1000" dirty="0"/>
              <a:t>의</a:t>
            </a:r>
            <a:r>
              <a:rPr lang="en-US" altLang="ko-KR" sz="1000" dirty="0"/>
              <a:t>2)</a:t>
            </a:r>
            <a:endParaRPr lang="ko-KR" altLang="en-US" sz="1000" dirty="0"/>
          </a:p>
        </p:txBody>
      </p:sp>
      <p:sp>
        <p:nvSpPr>
          <p:cNvPr id="215" name="직사각형 214"/>
          <p:cNvSpPr/>
          <p:nvPr/>
        </p:nvSpPr>
        <p:spPr>
          <a:xfrm>
            <a:off x="9363869" y="1894351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심판청구서의 보정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140②, 140</a:t>
            </a:r>
            <a:r>
              <a:rPr lang="ko-KR" altLang="en-US" sz="1000" dirty="0"/>
              <a:t>의</a:t>
            </a:r>
            <a:r>
              <a:rPr lang="en-US" altLang="ko-KR" sz="1000" dirty="0"/>
              <a:t>2②)</a:t>
            </a:r>
          </a:p>
        </p:txBody>
      </p:sp>
      <p:sp>
        <p:nvSpPr>
          <p:cNvPr id="216" name="직사각형 215"/>
          <p:cNvSpPr/>
          <p:nvPr/>
        </p:nvSpPr>
        <p:spPr>
          <a:xfrm>
            <a:off x="9363869" y="2269829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방식심리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141)</a:t>
            </a:r>
            <a:endParaRPr lang="ko-KR" altLang="en-US" sz="1000" dirty="0"/>
          </a:p>
        </p:txBody>
      </p:sp>
      <p:sp>
        <p:nvSpPr>
          <p:cNvPr id="217" name="직사각형 216"/>
          <p:cNvSpPr/>
          <p:nvPr/>
        </p:nvSpPr>
        <p:spPr>
          <a:xfrm>
            <a:off x="9363869" y="2458014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적법성 심리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142)</a:t>
            </a:r>
            <a:endParaRPr lang="ko-KR" altLang="en-US" sz="1000" dirty="0"/>
          </a:p>
        </p:txBody>
      </p:sp>
      <p:sp>
        <p:nvSpPr>
          <p:cNvPr id="218" name="직사각형 217"/>
          <p:cNvSpPr/>
          <p:nvPr/>
        </p:nvSpPr>
        <p:spPr>
          <a:xfrm>
            <a:off x="9363869" y="2646662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 err="1"/>
              <a:t>본안심리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154, 157-160)</a:t>
            </a:r>
            <a:endParaRPr lang="ko-KR" altLang="en-US" sz="1000" dirty="0"/>
          </a:p>
        </p:txBody>
      </p:sp>
      <p:sp>
        <p:nvSpPr>
          <p:cNvPr id="219" name="직사각형 218"/>
          <p:cNvSpPr/>
          <p:nvPr/>
        </p:nvSpPr>
        <p:spPr>
          <a:xfrm>
            <a:off x="9363869" y="2884499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심판청구의 취하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161)</a:t>
            </a:r>
            <a:endParaRPr lang="ko-KR" altLang="en-US" sz="1000" dirty="0"/>
          </a:p>
        </p:txBody>
      </p:sp>
      <p:sp>
        <p:nvSpPr>
          <p:cNvPr id="220" name="직사각형 219"/>
          <p:cNvSpPr/>
          <p:nvPr/>
        </p:nvSpPr>
        <p:spPr>
          <a:xfrm>
            <a:off x="9363869" y="3072684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 err="1"/>
              <a:t>심결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162, 163)</a:t>
            </a:r>
            <a:endParaRPr lang="ko-KR" altLang="en-US" sz="1000" dirty="0"/>
          </a:p>
        </p:txBody>
      </p:sp>
      <p:sp>
        <p:nvSpPr>
          <p:cNvPr id="221" name="직사각형 220"/>
          <p:cNvSpPr/>
          <p:nvPr/>
        </p:nvSpPr>
        <p:spPr>
          <a:xfrm>
            <a:off x="8500191" y="4104276"/>
            <a:ext cx="710030" cy="1710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 err="1"/>
              <a:t>결정계</a:t>
            </a:r>
            <a:r>
              <a:rPr lang="ko-KR" altLang="en-US" sz="1000" dirty="0"/>
              <a:t> 심판</a:t>
            </a:r>
          </a:p>
        </p:txBody>
      </p:sp>
      <p:sp>
        <p:nvSpPr>
          <p:cNvPr id="222" name="직사각형 221"/>
          <p:cNvSpPr/>
          <p:nvPr/>
        </p:nvSpPr>
        <p:spPr>
          <a:xfrm>
            <a:off x="8500191" y="4475324"/>
            <a:ext cx="710030" cy="3642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당사자계 </a:t>
            </a:r>
            <a:endParaRPr lang="en-US" altLang="ko-KR" sz="1000" dirty="0"/>
          </a:p>
          <a:p>
            <a:pPr algn="ctr"/>
            <a:r>
              <a:rPr lang="ko-KR" altLang="en-US" sz="1000" dirty="0"/>
              <a:t>심판</a:t>
            </a:r>
          </a:p>
        </p:txBody>
      </p:sp>
      <p:sp>
        <p:nvSpPr>
          <p:cNvPr id="223" name="직사각형 222"/>
          <p:cNvSpPr/>
          <p:nvPr/>
        </p:nvSpPr>
        <p:spPr>
          <a:xfrm>
            <a:off x="8500189" y="5251229"/>
            <a:ext cx="1308145" cy="1586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재심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178~185)</a:t>
            </a:r>
            <a:endParaRPr lang="ko-KR" altLang="en-US" sz="1000" dirty="0"/>
          </a:p>
        </p:txBody>
      </p:sp>
      <p:sp>
        <p:nvSpPr>
          <p:cNvPr id="224" name="직사각형 223"/>
          <p:cNvSpPr/>
          <p:nvPr/>
        </p:nvSpPr>
        <p:spPr>
          <a:xfrm>
            <a:off x="9363869" y="4012193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거절결정불복심판</a:t>
            </a:r>
            <a:r>
              <a:rPr lang="en-US" altLang="ko-KR" sz="900" dirty="0"/>
              <a:t>(</a:t>
            </a:r>
            <a:r>
              <a:rPr lang="ko-KR" altLang="en-US" sz="900" dirty="0"/>
              <a:t>法 </a:t>
            </a:r>
            <a:r>
              <a:rPr lang="en-US" altLang="ko-KR" sz="900" dirty="0"/>
              <a:t>132</a:t>
            </a:r>
            <a:r>
              <a:rPr lang="ko-KR" altLang="en-US" sz="900" dirty="0"/>
              <a:t>의</a:t>
            </a:r>
            <a:r>
              <a:rPr lang="en-US" altLang="ko-KR" sz="900" dirty="0"/>
              <a:t>17, 170~172, 176)</a:t>
            </a:r>
            <a:endParaRPr lang="ko-KR" altLang="en-US" sz="900" dirty="0"/>
          </a:p>
        </p:txBody>
      </p:sp>
      <p:sp>
        <p:nvSpPr>
          <p:cNvPr id="225" name="직사각형 224"/>
          <p:cNvSpPr/>
          <p:nvPr/>
        </p:nvSpPr>
        <p:spPr>
          <a:xfrm>
            <a:off x="9363869" y="4202771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정정심판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136)</a:t>
            </a:r>
            <a:endParaRPr lang="ko-KR" altLang="en-US" sz="1000" dirty="0"/>
          </a:p>
        </p:txBody>
      </p:sp>
      <p:sp>
        <p:nvSpPr>
          <p:cNvPr id="226" name="직사각형 225"/>
          <p:cNvSpPr/>
          <p:nvPr/>
        </p:nvSpPr>
        <p:spPr>
          <a:xfrm>
            <a:off x="9363869" y="4383751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무효심판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133, 134, 137)</a:t>
            </a:r>
            <a:endParaRPr lang="ko-KR" altLang="en-US" sz="1000" dirty="0"/>
          </a:p>
        </p:txBody>
      </p:sp>
      <p:sp>
        <p:nvSpPr>
          <p:cNvPr id="227" name="직사각형 226"/>
          <p:cNvSpPr/>
          <p:nvPr/>
        </p:nvSpPr>
        <p:spPr>
          <a:xfrm>
            <a:off x="9363869" y="4579753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권리범위확인심판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135)</a:t>
            </a:r>
            <a:endParaRPr lang="ko-KR" altLang="en-US" sz="1000" dirty="0"/>
          </a:p>
        </p:txBody>
      </p:sp>
      <p:sp>
        <p:nvSpPr>
          <p:cNvPr id="228" name="직사각형 227"/>
          <p:cNvSpPr/>
          <p:nvPr/>
        </p:nvSpPr>
        <p:spPr>
          <a:xfrm>
            <a:off x="9363869" y="4770331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 err="1"/>
              <a:t>통상실시권허락심판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138)</a:t>
            </a:r>
            <a:endParaRPr lang="ko-KR" altLang="en-US" sz="1000" dirty="0"/>
          </a:p>
        </p:txBody>
      </p:sp>
      <p:cxnSp>
        <p:nvCxnSpPr>
          <p:cNvPr id="229" name="꺾인 연결선 228"/>
          <p:cNvCxnSpPr>
            <a:stCxn id="205" idx="1"/>
            <a:endCxn id="252" idx="3"/>
          </p:cNvCxnSpPr>
          <p:nvPr/>
        </p:nvCxnSpPr>
        <p:spPr>
          <a:xfrm rot="10800000" flipV="1">
            <a:off x="7557110" y="2489931"/>
            <a:ext cx="223697" cy="347276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꺾인 연결선 229"/>
          <p:cNvCxnSpPr>
            <a:stCxn id="205" idx="3"/>
            <a:endCxn id="207" idx="1"/>
          </p:cNvCxnSpPr>
          <p:nvPr/>
        </p:nvCxnSpPr>
        <p:spPr>
          <a:xfrm flipV="1">
            <a:off x="8336650" y="1398592"/>
            <a:ext cx="163541" cy="1091339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꺾인 연결선 230"/>
          <p:cNvCxnSpPr>
            <a:stCxn id="205" idx="3"/>
            <a:endCxn id="210" idx="1"/>
          </p:cNvCxnSpPr>
          <p:nvPr/>
        </p:nvCxnSpPr>
        <p:spPr>
          <a:xfrm>
            <a:off x="8336650" y="2489931"/>
            <a:ext cx="163541" cy="57345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꺾인 연결선 231"/>
          <p:cNvCxnSpPr>
            <a:stCxn id="205" idx="3"/>
            <a:endCxn id="208" idx="1"/>
          </p:cNvCxnSpPr>
          <p:nvPr/>
        </p:nvCxnSpPr>
        <p:spPr>
          <a:xfrm flipV="1">
            <a:off x="8336650" y="1890102"/>
            <a:ext cx="163541" cy="599829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꺾인 연결선 232"/>
          <p:cNvCxnSpPr>
            <a:stCxn id="205" idx="3"/>
            <a:endCxn id="209" idx="1"/>
          </p:cNvCxnSpPr>
          <p:nvPr/>
        </p:nvCxnSpPr>
        <p:spPr>
          <a:xfrm>
            <a:off x="8336650" y="2489931"/>
            <a:ext cx="163541" cy="44629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꺾인 연결선 233"/>
          <p:cNvCxnSpPr>
            <a:stCxn id="207" idx="3"/>
            <a:endCxn id="211" idx="1"/>
          </p:cNvCxnSpPr>
          <p:nvPr/>
        </p:nvCxnSpPr>
        <p:spPr>
          <a:xfrm flipV="1">
            <a:off x="9210221" y="874930"/>
            <a:ext cx="153648" cy="52366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꺾인 연결선 234"/>
          <p:cNvCxnSpPr>
            <a:stCxn id="207" idx="3"/>
            <a:endCxn id="213" idx="1"/>
          </p:cNvCxnSpPr>
          <p:nvPr/>
        </p:nvCxnSpPr>
        <p:spPr>
          <a:xfrm flipV="1">
            <a:off x="9210221" y="1252790"/>
            <a:ext cx="153648" cy="14580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꺾인 연결선 235"/>
          <p:cNvCxnSpPr>
            <a:cxnSpLocks/>
            <a:stCxn id="207" idx="3"/>
            <a:endCxn id="288" idx="1"/>
          </p:cNvCxnSpPr>
          <p:nvPr/>
        </p:nvCxnSpPr>
        <p:spPr>
          <a:xfrm>
            <a:off x="9210221" y="1398592"/>
            <a:ext cx="148622" cy="11085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 236"/>
          <p:cNvCxnSpPr>
            <a:stCxn id="208" idx="3"/>
            <a:endCxn id="214" idx="1"/>
          </p:cNvCxnSpPr>
          <p:nvPr/>
        </p:nvCxnSpPr>
        <p:spPr>
          <a:xfrm flipV="1">
            <a:off x="9210221" y="1773052"/>
            <a:ext cx="153648" cy="11705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꺾인 연결선 237"/>
          <p:cNvCxnSpPr>
            <a:stCxn id="208" idx="3"/>
            <a:endCxn id="215" idx="1"/>
          </p:cNvCxnSpPr>
          <p:nvPr/>
        </p:nvCxnSpPr>
        <p:spPr>
          <a:xfrm>
            <a:off x="9210221" y="1890102"/>
            <a:ext cx="153648" cy="7352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꺾인 연결선 238"/>
          <p:cNvCxnSpPr>
            <a:stCxn id="209" idx="3"/>
            <a:endCxn id="216" idx="1"/>
          </p:cNvCxnSpPr>
          <p:nvPr/>
        </p:nvCxnSpPr>
        <p:spPr>
          <a:xfrm flipV="1">
            <a:off x="9210221" y="2339108"/>
            <a:ext cx="153648" cy="19545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꺾인 연결선 239"/>
          <p:cNvCxnSpPr>
            <a:stCxn id="209" idx="3"/>
            <a:endCxn id="218" idx="1"/>
          </p:cNvCxnSpPr>
          <p:nvPr/>
        </p:nvCxnSpPr>
        <p:spPr>
          <a:xfrm>
            <a:off x="9210221" y="2534560"/>
            <a:ext cx="153648" cy="181381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꺾인 연결선 240"/>
          <p:cNvCxnSpPr>
            <a:stCxn id="209" idx="3"/>
            <a:endCxn id="217" idx="1"/>
          </p:cNvCxnSpPr>
          <p:nvPr/>
        </p:nvCxnSpPr>
        <p:spPr>
          <a:xfrm flipV="1">
            <a:off x="9210221" y="2527293"/>
            <a:ext cx="153648" cy="7267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꺾인 연결선 241"/>
          <p:cNvCxnSpPr>
            <a:stCxn id="221" idx="1"/>
            <a:endCxn id="206" idx="3"/>
          </p:cNvCxnSpPr>
          <p:nvPr/>
        </p:nvCxnSpPr>
        <p:spPr>
          <a:xfrm rot="10800000" flipV="1">
            <a:off x="8336651" y="4189783"/>
            <a:ext cx="163541" cy="278811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꺾인 연결선 242"/>
          <p:cNvCxnSpPr>
            <a:stCxn id="206" idx="3"/>
            <a:endCxn id="223" idx="1"/>
          </p:cNvCxnSpPr>
          <p:nvPr/>
        </p:nvCxnSpPr>
        <p:spPr>
          <a:xfrm>
            <a:off x="8336650" y="4468595"/>
            <a:ext cx="163539" cy="86197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 243"/>
          <p:cNvCxnSpPr>
            <a:stCxn id="206" idx="3"/>
            <a:endCxn id="222" idx="1"/>
          </p:cNvCxnSpPr>
          <p:nvPr/>
        </p:nvCxnSpPr>
        <p:spPr>
          <a:xfrm>
            <a:off x="8336650" y="4468595"/>
            <a:ext cx="163541" cy="18887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꺾인 연결선 244"/>
          <p:cNvCxnSpPr>
            <a:stCxn id="210" idx="3"/>
            <a:endCxn id="219" idx="1"/>
          </p:cNvCxnSpPr>
          <p:nvPr/>
        </p:nvCxnSpPr>
        <p:spPr>
          <a:xfrm flipV="1">
            <a:off x="9210221" y="2953778"/>
            <a:ext cx="153648" cy="10960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꺾인 연결선 245"/>
          <p:cNvCxnSpPr>
            <a:stCxn id="210" idx="3"/>
            <a:endCxn id="220" idx="1"/>
          </p:cNvCxnSpPr>
          <p:nvPr/>
        </p:nvCxnSpPr>
        <p:spPr>
          <a:xfrm>
            <a:off x="9210221" y="3063383"/>
            <a:ext cx="153648" cy="7858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꺾인 연결선 246"/>
          <p:cNvCxnSpPr>
            <a:stCxn id="221" idx="3"/>
            <a:endCxn id="224" idx="1"/>
          </p:cNvCxnSpPr>
          <p:nvPr/>
        </p:nvCxnSpPr>
        <p:spPr>
          <a:xfrm flipV="1">
            <a:off x="9210221" y="4081472"/>
            <a:ext cx="153648" cy="108312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꺾인 연결선 247"/>
          <p:cNvCxnSpPr>
            <a:stCxn id="221" idx="3"/>
            <a:endCxn id="225" idx="1"/>
          </p:cNvCxnSpPr>
          <p:nvPr/>
        </p:nvCxnSpPr>
        <p:spPr>
          <a:xfrm>
            <a:off x="9210221" y="4189784"/>
            <a:ext cx="153648" cy="8226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꺾인 연결선 248"/>
          <p:cNvCxnSpPr>
            <a:stCxn id="222" idx="3"/>
            <a:endCxn id="226" idx="1"/>
          </p:cNvCxnSpPr>
          <p:nvPr/>
        </p:nvCxnSpPr>
        <p:spPr>
          <a:xfrm flipV="1">
            <a:off x="9210221" y="4453030"/>
            <a:ext cx="153648" cy="204437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꺾인 연결선 249"/>
          <p:cNvCxnSpPr>
            <a:stCxn id="222" idx="3"/>
            <a:endCxn id="227" idx="1"/>
          </p:cNvCxnSpPr>
          <p:nvPr/>
        </p:nvCxnSpPr>
        <p:spPr>
          <a:xfrm flipV="1">
            <a:off x="9210221" y="4649032"/>
            <a:ext cx="153648" cy="843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꺾인 연결선 250"/>
          <p:cNvCxnSpPr>
            <a:stCxn id="222" idx="3"/>
            <a:endCxn id="228" idx="1"/>
          </p:cNvCxnSpPr>
          <p:nvPr/>
        </p:nvCxnSpPr>
        <p:spPr>
          <a:xfrm>
            <a:off x="9210221" y="4657467"/>
            <a:ext cx="153648" cy="18214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직사각형 251"/>
          <p:cNvSpPr/>
          <p:nvPr/>
        </p:nvSpPr>
        <p:spPr>
          <a:xfrm>
            <a:off x="7136327" y="2620124"/>
            <a:ext cx="420782" cy="434166"/>
          </a:xfrm>
          <a:prstGeom prst="rect">
            <a:avLst/>
          </a:prstGeom>
          <a:solidFill>
            <a:schemeClr val="accent5"/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심판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제도</a:t>
            </a:r>
          </a:p>
        </p:txBody>
      </p:sp>
      <p:cxnSp>
        <p:nvCxnSpPr>
          <p:cNvPr id="253" name="꺾인 연결선 252"/>
          <p:cNvCxnSpPr>
            <a:stCxn id="252" idx="3"/>
            <a:endCxn id="206" idx="1"/>
          </p:cNvCxnSpPr>
          <p:nvPr/>
        </p:nvCxnSpPr>
        <p:spPr>
          <a:xfrm>
            <a:off x="7557109" y="2837207"/>
            <a:ext cx="223697" cy="163138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직사각형 253"/>
          <p:cNvSpPr/>
          <p:nvPr/>
        </p:nvSpPr>
        <p:spPr>
          <a:xfrm>
            <a:off x="8500189" y="5000342"/>
            <a:ext cx="2075729" cy="1586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/>
              <a:t>특허취소신청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132</a:t>
            </a:r>
            <a:r>
              <a:rPr lang="ko-KR" altLang="en-US" sz="1000" dirty="0"/>
              <a:t>의</a:t>
            </a:r>
            <a:r>
              <a:rPr lang="en-US" altLang="ko-KR" sz="1000" dirty="0"/>
              <a:t>2~132</a:t>
            </a:r>
            <a:r>
              <a:rPr lang="ko-KR" altLang="en-US" sz="1000" dirty="0"/>
              <a:t>의</a:t>
            </a:r>
            <a:r>
              <a:rPr lang="en-US" altLang="ko-KR" sz="1000" dirty="0"/>
              <a:t>15)</a:t>
            </a:r>
            <a:endParaRPr lang="ko-KR" altLang="en-US" sz="1000" dirty="0"/>
          </a:p>
        </p:txBody>
      </p:sp>
      <p:cxnSp>
        <p:nvCxnSpPr>
          <p:cNvPr id="255" name="꺾인 연결선 254"/>
          <p:cNvCxnSpPr>
            <a:stCxn id="206" idx="3"/>
            <a:endCxn id="254" idx="1"/>
          </p:cNvCxnSpPr>
          <p:nvPr/>
        </p:nvCxnSpPr>
        <p:spPr>
          <a:xfrm>
            <a:off x="8336650" y="4468595"/>
            <a:ext cx="163539" cy="61108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직사각형 255"/>
          <p:cNvSpPr/>
          <p:nvPr/>
        </p:nvSpPr>
        <p:spPr>
          <a:xfrm>
            <a:off x="9363869" y="2079620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중복심판청구금지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154⑧ </a:t>
            </a:r>
            <a:r>
              <a:rPr lang="ko-KR" altLang="en-US" sz="1000" dirty="0"/>
              <a:t>준용</a:t>
            </a:r>
            <a:r>
              <a:rPr lang="en-US" altLang="ko-KR" sz="1000" dirty="0"/>
              <a:t> </a:t>
            </a:r>
            <a:r>
              <a:rPr lang="ko-KR" altLang="en-US" sz="1000" dirty="0"/>
              <a:t>민소</a:t>
            </a:r>
            <a:r>
              <a:rPr lang="en-US" altLang="ko-KR" sz="1000" dirty="0"/>
              <a:t>259)</a:t>
            </a:r>
          </a:p>
        </p:txBody>
      </p:sp>
      <p:sp>
        <p:nvSpPr>
          <p:cNvPr id="257" name="직사각형 256"/>
          <p:cNvSpPr/>
          <p:nvPr/>
        </p:nvSpPr>
        <p:spPr>
          <a:xfrm>
            <a:off x="8237008" y="5752000"/>
            <a:ext cx="420212" cy="364286"/>
          </a:xfrm>
          <a:prstGeom prst="rect">
            <a:avLst/>
          </a:prstGeom>
          <a:solidFill>
            <a:schemeClr val="accent5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</a:rPr>
              <a:t>PCT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58" name="직사각형 257"/>
          <p:cNvSpPr/>
          <p:nvPr/>
        </p:nvSpPr>
        <p:spPr>
          <a:xfrm>
            <a:off x="8810868" y="5660427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/>
              <a:t>특허출원절차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192~198)</a:t>
            </a:r>
            <a:endParaRPr lang="ko-KR" altLang="en-US" sz="1000" dirty="0"/>
          </a:p>
        </p:txBody>
      </p:sp>
      <p:sp>
        <p:nvSpPr>
          <p:cNvPr id="259" name="직사각형 258"/>
          <p:cNvSpPr/>
          <p:nvPr/>
        </p:nvSpPr>
        <p:spPr>
          <a:xfrm>
            <a:off x="8810868" y="5856429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/>
              <a:t>국제조사 및 국제예비심사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198</a:t>
            </a:r>
            <a:r>
              <a:rPr lang="ko-KR" altLang="en-US" sz="1000" dirty="0"/>
              <a:t>의</a:t>
            </a:r>
            <a:r>
              <a:rPr lang="en-US" altLang="ko-KR" sz="1000" dirty="0"/>
              <a:t>2)</a:t>
            </a:r>
            <a:endParaRPr lang="ko-KR" altLang="en-US" sz="1000" dirty="0"/>
          </a:p>
        </p:txBody>
      </p:sp>
      <p:sp>
        <p:nvSpPr>
          <p:cNvPr id="260" name="직사각형 259"/>
          <p:cNvSpPr/>
          <p:nvPr/>
        </p:nvSpPr>
        <p:spPr>
          <a:xfrm>
            <a:off x="8810868" y="6047007"/>
            <a:ext cx="2333212" cy="1385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/>
              <a:t>국제특허출원에 관한 특례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199~214)</a:t>
            </a:r>
            <a:endParaRPr lang="ko-KR" altLang="en-US" sz="1000" dirty="0"/>
          </a:p>
        </p:txBody>
      </p:sp>
      <p:cxnSp>
        <p:nvCxnSpPr>
          <p:cNvPr id="261" name="꺾인 연결선 260"/>
          <p:cNvCxnSpPr>
            <a:stCxn id="257" idx="3"/>
            <a:endCxn id="258" idx="1"/>
          </p:cNvCxnSpPr>
          <p:nvPr/>
        </p:nvCxnSpPr>
        <p:spPr>
          <a:xfrm flipV="1">
            <a:off x="8657220" y="5729706"/>
            <a:ext cx="153648" cy="204437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꺾인 연결선 261"/>
          <p:cNvCxnSpPr>
            <a:stCxn id="257" idx="3"/>
            <a:endCxn id="259" idx="1"/>
          </p:cNvCxnSpPr>
          <p:nvPr/>
        </p:nvCxnSpPr>
        <p:spPr>
          <a:xfrm flipV="1">
            <a:off x="8657220" y="5925708"/>
            <a:ext cx="153648" cy="843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꺾인 연결선 262"/>
          <p:cNvCxnSpPr>
            <a:stCxn id="257" idx="3"/>
            <a:endCxn id="260" idx="1"/>
          </p:cNvCxnSpPr>
          <p:nvPr/>
        </p:nvCxnSpPr>
        <p:spPr>
          <a:xfrm>
            <a:off x="8657220" y="5934143"/>
            <a:ext cx="153648" cy="18214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꺾인 연결선 263"/>
          <p:cNvCxnSpPr>
            <a:stCxn id="273" idx="3"/>
            <a:endCxn id="295" idx="1"/>
          </p:cNvCxnSpPr>
          <p:nvPr/>
        </p:nvCxnSpPr>
        <p:spPr>
          <a:xfrm flipV="1">
            <a:off x="4278775" y="4164703"/>
            <a:ext cx="168733" cy="44072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꺾인 연결선 264"/>
          <p:cNvCxnSpPr>
            <a:stCxn id="273" idx="3"/>
            <a:endCxn id="296" idx="1"/>
          </p:cNvCxnSpPr>
          <p:nvPr/>
        </p:nvCxnSpPr>
        <p:spPr>
          <a:xfrm flipV="1">
            <a:off x="4278775" y="4328505"/>
            <a:ext cx="168733" cy="27692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직사각형 265"/>
          <p:cNvSpPr/>
          <p:nvPr/>
        </p:nvSpPr>
        <p:spPr>
          <a:xfrm>
            <a:off x="612833" y="5324052"/>
            <a:ext cx="355015" cy="364286"/>
          </a:xfrm>
          <a:prstGeom prst="rect">
            <a:avLst/>
          </a:prstGeom>
          <a:solidFill>
            <a:schemeClr val="accent5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소송</a:t>
            </a:r>
          </a:p>
        </p:txBody>
      </p:sp>
      <p:sp>
        <p:nvSpPr>
          <p:cNvPr id="267" name="직사각형 266"/>
          <p:cNvSpPr/>
          <p:nvPr/>
        </p:nvSpPr>
        <p:spPr>
          <a:xfrm>
            <a:off x="1121497" y="5232479"/>
            <a:ext cx="2333212" cy="1385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 err="1"/>
              <a:t>심결취소소송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186~189)</a:t>
            </a:r>
            <a:endParaRPr lang="ko-KR" altLang="en-US" sz="1000" dirty="0"/>
          </a:p>
        </p:txBody>
      </p:sp>
      <p:sp>
        <p:nvSpPr>
          <p:cNvPr id="268" name="직사각형 267"/>
          <p:cNvSpPr/>
          <p:nvPr/>
        </p:nvSpPr>
        <p:spPr>
          <a:xfrm>
            <a:off x="1121497" y="5428481"/>
            <a:ext cx="2333212" cy="1385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/>
              <a:t>보상금</a:t>
            </a:r>
            <a:r>
              <a:rPr lang="en-US" altLang="ko-KR" sz="1000" dirty="0"/>
              <a:t>/</a:t>
            </a:r>
            <a:r>
              <a:rPr lang="ko-KR" altLang="en-US" sz="1000" dirty="0"/>
              <a:t>대가에 대한 소송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190, 191)</a:t>
            </a:r>
            <a:endParaRPr lang="ko-KR" altLang="en-US" sz="1000" dirty="0"/>
          </a:p>
        </p:txBody>
      </p:sp>
      <p:sp>
        <p:nvSpPr>
          <p:cNvPr id="269" name="직사각형 268"/>
          <p:cNvSpPr/>
          <p:nvPr/>
        </p:nvSpPr>
        <p:spPr>
          <a:xfrm>
            <a:off x="1121497" y="5619059"/>
            <a:ext cx="2333212" cy="1385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 fontAlgn="base"/>
            <a:r>
              <a:rPr lang="ko-KR" altLang="en-US" sz="1000" dirty="0"/>
              <a:t>변리사 보수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191</a:t>
            </a:r>
            <a:r>
              <a:rPr lang="ko-KR" altLang="en-US" sz="1000" dirty="0"/>
              <a:t>의</a:t>
            </a:r>
            <a:r>
              <a:rPr lang="en-US" altLang="ko-KR" sz="1000" dirty="0"/>
              <a:t>2)</a:t>
            </a:r>
            <a:endParaRPr lang="ko-KR" altLang="en-US" sz="1000" dirty="0"/>
          </a:p>
        </p:txBody>
      </p:sp>
      <p:cxnSp>
        <p:nvCxnSpPr>
          <p:cNvPr id="270" name="꺾인 연결선 269"/>
          <p:cNvCxnSpPr>
            <a:stCxn id="266" idx="3"/>
            <a:endCxn id="267" idx="1"/>
          </p:cNvCxnSpPr>
          <p:nvPr/>
        </p:nvCxnSpPr>
        <p:spPr>
          <a:xfrm flipV="1">
            <a:off x="967848" y="5301758"/>
            <a:ext cx="153649" cy="204437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꺾인 연결선 270"/>
          <p:cNvCxnSpPr>
            <a:stCxn id="266" idx="3"/>
            <a:endCxn id="268" idx="1"/>
          </p:cNvCxnSpPr>
          <p:nvPr/>
        </p:nvCxnSpPr>
        <p:spPr>
          <a:xfrm flipV="1">
            <a:off x="967848" y="5497760"/>
            <a:ext cx="153649" cy="843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꺾인 연결선 271"/>
          <p:cNvCxnSpPr>
            <a:stCxn id="266" idx="3"/>
            <a:endCxn id="269" idx="1"/>
          </p:cNvCxnSpPr>
          <p:nvPr/>
        </p:nvCxnSpPr>
        <p:spPr>
          <a:xfrm>
            <a:off x="967848" y="5506195"/>
            <a:ext cx="153649" cy="18214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직사각형 272"/>
          <p:cNvSpPr/>
          <p:nvPr/>
        </p:nvSpPr>
        <p:spPr>
          <a:xfrm>
            <a:off x="3609544" y="4480740"/>
            <a:ext cx="669231" cy="2493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accent3">
                    <a:lumMod val="50000"/>
                  </a:schemeClr>
                </a:solidFill>
              </a:rPr>
              <a:t>소송요건</a:t>
            </a:r>
            <a:endParaRPr lang="en-US" altLang="ko-KR" sz="1000" dirty="0">
              <a:solidFill>
                <a:schemeClr val="accent3">
                  <a:lumMod val="50000"/>
                </a:schemeClr>
              </a:solidFill>
            </a:endParaRPr>
          </a:p>
          <a:p>
            <a:pPr algn="ctr"/>
            <a:r>
              <a:rPr lang="en-US" altLang="ko-KR" sz="700" dirty="0">
                <a:solidFill>
                  <a:schemeClr val="accent3">
                    <a:lumMod val="50000"/>
                  </a:schemeClr>
                </a:solidFill>
              </a:rPr>
              <a:t>(</a:t>
            </a:r>
            <a:r>
              <a:rPr lang="ko-KR" altLang="en-US" sz="700" dirty="0">
                <a:solidFill>
                  <a:schemeClr val="accent3">
                    <a:lumMod val="50000"/>
                  </a:schemeClr>
                </a:solidFill>
              </a:rPr>
              <a:t>法 </a:t>
            </a:r>
            <a:r>
              <a:rPr lang="en-US" altLang="ko-KR" sz="700" dirty="0">
                <a:solidFill>
                  <a:schemeClr val="accent3">
                    <a:lumMod val="50000"/>
                  </a:schemeClr>
                </a:solidFill>
              </a:rPr>
              <a:t>186, 187)</a:t>
            </a:r>
            <a:endParaRPr lang="ko-KR" altLang="en-US" sz="7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74" name="직사각형 273"/>
          <p:cNvSpPr/>
          <p:nvPr/>
        </p:nvSpPr>
        <p:spPr>
          <a:xfrm>
            <a:off x="3609544" y="5109654"/>
            <a:ext cx="669231" cy="2493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소송제기</a:t>
            </a:r>
          </a:p>
        </p:txBody>
      </p:sp>
      <p:sp>
        <p:nvSpPr>
          <p:cNvPr id="275" name="직사각형 274"/>
          <p:cNvSpPr/>
          <p:nvPr/>
        </p:nvSpPr>
        <p:spPr>
          <a:xfrm>
            <a:off x="3609544" y="5640678"/>
            <a:ext cx="669231" cy="2493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소송심리</a:t>
            </a:r>
          </a:p>
        </p:txBody>
      </p:sp>
      <p:sp>
        <p:nvSpPr>
          <p:cNvPr id="276" name="직사각형 275"/>
          <p:cNvSpPr/>
          <p:nvPr/>
        </p:nvSpPr>
        <p:spPr>
          <a:xfrm>
            <a:off x="3609544" y="6249551"/>
            <a:ext cx="669231" cy="2493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소송종료</a:t>
            </a:r>
          </a:p>
        </p:txBody>
      </p:sp>
      <p:cxnSp>
        <p:nvCxnSpPr>
          <p:cNvPr id="277" name="꺾인 연결선 276"/>
          <p:cNvCxnSpPr>
            <a:stCxn id="267" idx="3"/>
            <a:endCxn id="273" idx="1"/>
          </p:cNvCxnSpPr>
          <p:nvPr/>
        </p:nvCxnSpPr>
        <p:spPr>
          <a:xfrm flipV="1">
            <a:off x="3454709" y="4605428"/>
            <a:ext cx="154835" cy="696330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꺾인 연결선 277"/>
          <p:cNvCxnSpPr>
            <a:stCxn id="267" idx="3"/>
            <a:endCxn id="276" idx="1"/>
          </p:cNvCxnSpPr>
          <p:nvPr/>
        </p:nvCxnSpPr>
        <p:spPr>
          <a:xfrm>
            <a:off x="3454709" y="5301758"/>
            <a:ext cx="154835" cy="1072481"/>
          </a:xfrm>
          <a:prstGeom prst="bentConnector3">
            <a:avLst>
              <a:gd name="adj1" fmla="val 50000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꺾인 연결선 278"/>
          <p:cNvCxnSpPr>
            <a:stCxn id="267" idx="3"/>
            <a:endCxn id="274" idx="1"/>
          </p:cNvCxnSpPr>
          <p:nvPr/>
        </p:nvCxnSpPr>
        <p:spPr>
          <a:xfrm flipV="1">
            <a:off x="3454709" y="5234342"/>
            <a:ext cx="154835" cy="6741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꺾인 연결선 279"/>
          <p:cNvCxnSpPr>
            <a:stCxn id="267" idx="3"/>
            <a:endCxn id="275" idx="1"/>
          </p:cNvCxnSpPr>
          <p:nvPr/>
        </p:nvCxnSpPr>
        <p:spPr>
          <a:xfrm>
            <a:off x="3454709" y="5301758"/>
            <a:ext cx="154835" cy="463608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꺾인 연결선 280"/>
          <p:cNvCxnSpPr>
            <a:stCxn id="273" idx="3"/>
            <a:endCxn id="297" idx="1"/>
          </p:cNvCxnSpPr>
          <p:nvPr/>
        </p:nvCxnSpPr>
        <p:spPr>
          <a:xfrm flipV="1">
            <a:off x="4278775" y="4489475"/>
            <a:ext cx="168733" cy="11595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꺾인 연결선 281"/>
          <p:cNvCxnSpPr>
            <a:stCxn id="274" idx="3"/>
            <a:endCxn id="298" idx="1"/>
          </p:cNvCxnSpPr>
          <p:nvPr/>
        </p:nvCxnSpPr>
        <p:spPr>
          <a:xfrm flipV="1">
            <a:off x="4278775" y="5070329"/>
            <a:ext cx="168733" cy="16401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꺾인 연결선 282"/>
          <p:cNvCxnSpPr>
            <a:stCxn id="274" idx="3"/>
            <a:endCxn id="299" idx="1"/>
          </p:cNvCxnSpPr>
          <p:nvPr/>
        </p:nvCxnSpPr>
        <p:spPr>
          <a:xfrm flipV="1">
            <a:off x="4278775" y="5234131"/>
            <a:ext cx="168733" cy="211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꺾인 연결선 283"/>
          <p:cNvCxnSpPr>
            <a:stCxn id="275" idx="3"/>
            <a:endCxn id="300" idx="1"/>
          </p:cNvCxnSpPr>
          <p:nvPr/>
        </p:nvCxnSpPr>
        <p:spPr>
          <a:xfrm flipV="1">
            <a:off x="4278775" y="5762383"/>
            <a:ext cx="168733" cy="298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꺾인 연결선 284"/>
          <p:cNvCxnSpPr>
            <a:cxnSpLocks/>
            <a:stCxn id="275" idx="3"/>
            <a:endCxn id="301" idx="1"/>
          </p:cNvCxnSpPr>
          <p:nvPr/>
        </p:nvCxnSpPr>
        <p:spPr>
          <a:xfrm>
            <a:off x="4278775" y="5765366"/>
            <a:ext cx="168733" cy="24859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꺾인 연결선 285"/>
          <p:cNvCxnSpPr>
            <a:stCxn id="276" idx="3"/>
            <a:endCxn id="302" idx="1"/>
          </p:cNvCxnSpPr>
          <p:nvPr/>
        </p:nvCxnSpPr>
        <p:spPr>
          <a:xfrm flipV="1">
            <a:off x="4278775" y="6284664"/>
            <a:ext cx="168733" cy="8957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꺾인 연결선 286"/>
          <p:cNvCxnSpPr>
            <a:cxnSpLocks/>
            <a:stCxn id="276" idx="3"/>
            <a:endCxn id="303" idx="1"/>
          </p:cNvCxnSpPr>
          <p:nvPr/>
        </p:nvCxnSpPr>
        <p:spPr>
          <a:xfrm>
            <a:off x="4278775" y="6374239"/>
            <a:ext cx="168733" cy="174441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직사각형 288"/>
          <p:cNvSpPr/>
          <p:nvPr/>
        </p:nvSpPr>
        <p:spPr>
          <a:xfrm>
            <a:off x="5954614" y="5228714"/>
            <a:ext cx="1396961" cy="3289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변론주의 원칙</a:t>
            </a:r>
            <a:endParaRPr lang="en-US" altLang="ko-KR" sz="1000" dirty="0"/>
          </a:p>
          <a:p>
            <a:pPr algn="ctr"/>
            <a:r>
              <a:rPr lang="en-US" altLang="ko-KR" sz="1000" dirty="0"/>
              <a:t>(</a:t>
            </a:r>
            <a:r>
              <a:rPr lang="ko-KR" altLang="en-US" sz="1000" dirty="0"/>
              <a:t>직권주의 가미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290" name="직사각형 289"/>
          <p:cNvSpPr/>
          <p:nvPr/>
        </p:nvSpPr>
        <p:spPr>
          <a:xfrm>
            <a:off x="5954614" y="5591097"/>
            <a:ext cx="1396961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위법판단의 기준시점</a:t>
            </a:r>
          </a:p>
        </p:txBody>
      </p:sp>
      <p:sp>
        <p:nvSpPr>
          <p:cNvPr id="291" name="직사각형 290"/>
          <p:cNvSpPr/>
          <p:nvPr/>
        </p:nvSpPr>
        <p:spPr>
          <a:xfrm>
            <a:off x="5954614" y="5753241"/>
            <a:ext cx="1396961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심리범위</a:t>
            </a:r>
          </a:p>
        </p:txBody>
      </p:sp>
      <p:sp>
        <p:nvSpPr>
          <p:cNvPr id="292" name="직사각형 291"/>
          <p:cNvSpPr/>
          <p:nvPr/>
        </p:nvSpPr>
        <p:spPr>
          <a:xfrm>
            <a:off x="5954614" y="5911001"/>
            <a:ext cx="1396961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주장증명책임</a:t>
            </a:r>
          </a:p>
        </p:txBody>
      </p:sp>
      <p:sp>
        <p:nvSpPr>
          <p:cNvPr id="293" name="직사각형 292"/>
          <p:cNvSpPr/>
          <p:nvPr/>
        </p:nvSpPr>
        <p:spPr>
          <a:xfrm>
            <a:off x="5954614" y="6071372"/>
            <a:ext cx="1396961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자백</a:t>
            </a:r>
          </a:p>
        </p:txBody>
      </p:sp>
      <p:sp>
        <p:nvSpPr>
          <p:cNvPr id="295" name="직사각형 294"/>
          <p:cNvSpPr/>
          <p:nvPr/>
        </p:nvSpPr>
        <p:spPr>
          <a:xfrm>
            <a:off x="4447508" y="4100527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 err="1"/>
              <a:t>소송물</a:t>
            </a:r>
            <a:endParaRPr lang="ko-KR" altLang="en-US" sz="1000" dirty="0"/>
          </a:p>
        </p:txBody>
      </p:sp>
      <p:sp>
        <p:nvSpPr>
          <p:cNvPr id="296" name="직사각형 295"/>
          <p:cNvSpPr/>
          <p:nvPr/>
        </p:nvSpPr>
        <p:spPr>
          <a:xfrm>
            <a:off x="4447508" y="4264329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소의 이익</a:t>
            </a:r>
          </a:p>
        </p:txBody>
      </p:sp>
      <p:sp>
        <p:nvSpPr>
          <p:cNvPr id="297" name="직사각형 296"/>
          <p:cNvSpPr/>
          <p:nvPr/>
        </p:nvSpPr>
        <p:spPr>
          <a:xfrm>
            <a:off x="4447508" y="4425299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관할</a:t>
            </a:r>
          </a:p>
        </p:txBody>
      </p:sp>
      <p:sp>
        <p:nvSpPr>
          <p:cNvPr id="298" name="직사각형 297"/>
          <p:cNvSpPr/>
          <p:nvPr/>
        </p:nvSpPr>
        <p:spPr>
          <a:xfrm>
            <a:off x="4447508" y="5006153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소장의 제출</a:t>
            </a:r>
          </a:p>
        </p:txBody>
      </p:sp>
      <p:sp>
        <p:nvSpPr>
          <p:cNvPr id="299" name="직사각형 298"/>
          <p:cNvSpPr/>
          <p:nvPr/>
        </p:nvSpPr>
        <p:spPr>
          <a:xfrm>
            <a:off x="4447508" y="5169955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심판원장에게 통지</a:t>
            </a:r>
            <a:r>
              <a:rPr lang="en-US" altLang="ko-KR" sz="600" dirty="0">
                <a:solidFill>
                  <a:schemeClr val="tx1"/>
                </a:solidFill>
              </a:rPr>
              <a:t>(</a:t>
            </a:r>
            <a:r>
              <a:rPr lang="ko-KR" altLang="en-US" sz="600" dirty="0">
                <a:solidFill>
                  <a:schemeClr val="tx1"/>
                </a:solidFill>
              </a:rPr>
              <a:t>法 </a:t>
            </a:r>
            <a:r>
              <a:rPr lang="en-US" altLang="ko-KR" sz="600" dirty="0">
                <a:solidFill>
                  <a:schemeClr val="tx1"/>
                </a:solidFill>
              </a:rPr>
              <a:t>188)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00" name="직사각형 299"/>
          <p:cNvSpPr/>
          <p:nvPr/>
        </p:nvSpPr>
        <p:spPr>
          <a:xfrm>
            <a:off x="4447508" y="5698207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 err="1"/>
              <a:t>본안심리</a:t>
            </a:r>
            <a:endParaRPr lang="ko-KR" altLang="en-US" sz="1000" dirty="0"/>
          </a:p>
        </p:txBody>
      </p:sp>
      <p:sp>
        <p:nvSpPr>
          <p:cNvPr id="301" name="직사각형 300"/>
          <p:cNvSpPr/>
          <p:nvPr/>
        </p:nvSpPr>
        <p:spPr>
          <a:xfrm>
            <a:off x="4447508" y="5859952"/>
            <a:ext cx="1380067" cy="3080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기술심리관의 관여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法 </a:t>
            </a:r>
            <a:r>
              <a:rPr lang="en-US" altLang="ko-KR" sz="800" dirty="0">
                <a:solidFill>
                  <a:schemeClr val="tx1"/>
                </a:solidFill>
              </a:rPr>
              <a:t>188</a:t>
            </a:r>
            <a:r>
              <a:rPr lang="ko-KR" altLang="en-US" sz="800" dirty="0">
                <a:solidFill>
                  <a:schemeClr val="tx1"/>
                </a:solidFill>
              </a:rPr>
              <a:t>의</a:t>
            </a:r>
            <a:r>
              <a:rPr lang="en-US" altLang="ko-KR" sz="800" dirty="0">
                <a:solidFill>
                  <a:schemeClr val="tx1"/>
                </a:solidFill>
              </a:rPr>
              <a:t>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02" name="직사각형 301"/>
          <p:cNvSpPr/>
          <p:nvPr/>
        </p:nvSpPr>
        <p:spPr>
          <a:xfrm>
            <a:off x="4447508" y="6220488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당사자에 의한 종결</a:t>
            </a:r>
          </a:p>
        </p:txBody>
      </p:sp>
      <p:sp>
        <p:nvSpPr>
          <p:cNvPr id="303" name="직사각형 302"/>
          <p:cNvSpPr/>
          <p:nvPr/>
        </p:nvSpPr>
        <p:spPr>
          <a:xfrm>
            <a:off x="4447508" y="6382234"/>
            <a:ext cx="1380067" cy="3328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종국판결에 의한 종결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法 </a:t>
            </a:r>
            <a:r>
              <a:rPr lang="en-US" altLang="ko-KR" sz="800" dirty="0">
                <a:solidFill>
                  <a:schemeClr val="tx1"/>
                </a:solidFill>
              </a:rPr>
              <a:t>189)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04" name="직사각형 303"/>
          <p:cNvSpPr/>
          <p:nvPr/>
        </p:nvSpPr>
        <p:spPr>
          <a:xfrm>
            <a:off x="4447508" y="4594038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당사자</a:t>
            </a:r>
          </a:p>
        </p:txBody>
      </p:sp>
      <p:sp>
        <p:nvSpPr>
          <p:cNvPr id="305" name="직사각형 304"/>
          <p:cNvSpPr/>
          <p:nvPr/>
        </p:nvSpPr>
        <p:spPr>
          <a:xfrm>
            <a:off x="4447508" y="5541835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소송요건의 심리</a:t>
            </a:r>
            <a:endParaRPr lang="en-US" altLang="ko-KR" sz="1000" dirty="0"/>
          </a:p>
        </p:txBody>
      </p:sp>
      <p:sp>
        <p:nvSpPr>
          <p:cNvPr id="306" name="직사각형 305"/>
          <p:cNvSpPr/>
          <p:nvPr/>
        </p:nvSpPr>
        <p:spPr>
          <a:xfrm>
            <a:off x="4447508" y="5338441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소장의 심사</a:t>
            </a:r>
            <a:endParaRPr lang="en-US" altLang="ko-KR" sz="1000" dirty="0"/>
          </a:p>
        </p:txBody>
      </p:sp>
      <p:sp>
        <p:nvSpPr>
          <p:cNvPr id="307" name="직사각형 306"/>
          <p:cNvSpPr/>
          <p:nvPr/>
        </p:nvSpPr>
        <p:spPr>
          <a:xfrm>
            <a:off x="4447508" y="4764128"/>
            <a:ext cx="1380067" cy="128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제소기간</a:t>
            </a:r>
          </a:p>
        </p:txBody>
      </p:sp>
      <p:cxnSp>
        <p:nvCxnSpPr>
          <p:cNvPr id="309" name="꺾인 연결선 308"/>
          <p:cNvCxnSpPr>
            <a:stCxn id="273" idx="3"/>
            <a:endCxn id="304" idx="1"/>
          </p:cNvCxnSpPr>
          <p:nvPr/>
        </p:nvCxnSpPr>
        <p:spPr>
          <a:xfrm>
            <a:off x="4278775" y="4605428"/>
            <a:ext cx="168733" cy="5278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꺾인 연결선 309"/>
          <p:cNvCxnSpPr>
            <a:stCxn id="273" idx="3"/>
            <a:endCxn id="307" idx="1"/>
          </p:cNvCxnSpPr>
          <p:nvPr/>
        </p:nvCxnSpPr>
        <p:spPr>
          <a:xfrm>
            <a:off x="4278775" y="4605428"/>
            <a:ext cx="168733" cy="222876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꺾인 연결선 310"/>
          <p:cNvCxnSpPr>
            <a:stCxn id="274" idx="3"/>
            <a:endCxn id="306" idx="1"/>
          </p:cNvCxnSpPr>
          <p:nvPr/>
        </p:nvCxnSpPr>
        <p:spPr>
          <a:xfrm>
            <a:off x="4278775" y="5234342"/>
            <a:ext cx="168733" cy="16827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꺾인 연결선 311"/>
          <p:cNvCxnSpPr>
            <a:stCxn id="275" idx="3"/>
            <a:endCxn id="305" idx="1"/>
          </p:cNvCxnSpPr>
          <p:nvPr/>
        </p:nvCxnSpPr>
        <p:spPr>
          <a:xfrm flipV="1">
            <a:off x="4278775" y="5606011"/>
            <a:ext cx="168733" cy="15935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꺾인 연결선 312"/>
          <p:cNvCxnSpPr>
            <a:stCxn id="300" idx="3"/>
            <a:endCxn id="289" idx="1"/>
          </p:cNvCxnSpPr>
          <p:nvPr/>
        </p:nvCxnSpPr>
        <p:spPr>
          <a:xfrm flipV="1">
            <a:off x="5827575" y="5393209"/>
            <a:ext cx="127039" cy="36917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꺾인 연결선 313"/>
          <p:cNvCxnSpPr>
            <a:stCxn id="300" idx="3"/>
            <a:endCxn id="290" idx="1"/>
          </p:cNvCxnSpPr>
          <p:nvPr/>
        </p:nvCxnSpPr>
        <p:spPr>
          <a:xfrm flipV="1">
            <a:off x="5827575" y="5655273"/>
            <a:ext cx="127039" cy="10711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꺾인 연결선 314"/>
          <p:cNvCxnSpPr>
            <a:stCxn id="300" idx="3"/>
            <a:endCxn id="291" idx="1"/>
          </p:cNvCxnSpPr>
          <p:nvPr/>
        </p:nvCxnSpPr>
        <p:spPr>
          <a:xfrm>
            <a:off x="5827575" y="5762383"/>
            <a:ext cx="127039" cy="5503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꺾인 연결선 315"/>
          <p:cNvCxnSpPr>
            <a:stCxn id="300" idx="3"/>
            <a:endCxn id="292" idx="1"/>
          </p:cNvCxnSpPr>
          <p:nvPr/>
        </p:nvCxnSpPr>
        <p:spPr>
          <a:xfrm>
            <a:off x="5827575" y="5762383"/>
            <a:ext cx="127039" cy="212794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꺾인 연결선 316"/>
          <p:cNvCxnSpPr>
            <a:endCxn id="293" idx="1"/>
          </p:cNvCxnSpPr>
          <p:nvPr/>
        </p:nvCxnSpPr>
        <p:spPr>
          <a:xfrm rot="16200000" flipH="1">
            <a:off x="5802218" y="5983152"/>
            <a:ext cx="293982" cy="10810"/>
          </a:xfrm>
          <a:prstGeom prst="bentConnector2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직사각형 317"/>
          <p:cNvSpPr/>
          <p:nvPr/>
        </p:nvSpPr>
        <p:spPr>
          <a:xfrm>
            <a:off x="6103431" y="3574465"/>
            <a:ext cx="914400" cy="914400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특허법</a:t>
            </a:r>
            <a:endParaRPr lang="en-US" altLang="ko-KR" dirty="0"/>
          </a:p>
          <a:p>
            <a:pPr algn="ctr"/>
            <a:r>
              <a:rPr lang="ko-KR" altLang="en-US" dirty="0"/>
              <a:t>체계도</a:t>
            </a:r>
          </a:p>
        </p:txBody>
      </p:sp>
      <p:sp>
        <p:nvSpPr>
          <p:cNvPr id="319" name="타원 318"/>
          <p:cNvSpPr/>
          <p:nvPr/>
        </p:nvSpPr>
        <p:spPr>
          <a:xfrm>
            <a:off x="322118" y="2686891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20" name="타원 319"/>
          <p:cNvSpPr/>
          <p:nvPr/>
        </p:nvSpPr>
        <p:spPr>
          <a:xfrm>
            <a:off x="262164" y="5316045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321" name="타원 320"/>
          <p:cNvSpPr/>
          <p:nvPr/>
        </p:nvSpPr>
        <p:spPr>
          <a:xfrm>
            <a:off x="7873581" y="5757616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322" name="타원 321"/>
          <p:cNvSpPr/>
          <p:nvPr/>
        </p:nvSpPr>
        <p:spPr>
          <a:xfrm>
            <a:off x="6772900" y="2666961"/>
            <a:ext cx="363427" cy="36342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23" name="자유형 322"/>
          <p:cNvSpPr/>
          <p:nvPr/>
        </p:nvSpPr>
        <p:spPr>
          <a:xfrm>
            <a:off x="523875" y="3059642"/>
            <a:ext cx="5571067" cy="1845733"/>
          </a:xfrm>
          <a:custGeom>
            <a:avLst/>
            <a:gdLst>
              <a:gd name="connsiteX0" fmla="*/ 5571067 w 5571067"/>
              <a:gd name="connsiteY0" fmla="*/ 872066 h 1845733"/>
              <a:gd name="connsiteX1" fmla="*/ 3708400 w 5571067"/>
              <a:gd name="connsiteY1" fmla="*/ 872066 h 1845733"/>
              <a:gd name="connsiteX2" fmla="*/ 3708400 w 5571067"/>
              <a:gd name="connsiteY2" fmla="*/ 1244600 h 1845733"/>
              <a:gd name="connsiteX3" fmla="*/ 2853267 w 5571067"/>
              <a:gd name="connsiteY3" fmla="*/ 1244600 h 1845733"/>
              <a:gd name="connsiteX4" fmla="*/ 2853267 w 5571067"/>
              <a:gd name="connsiteY4" fmla="*/ 1845733 h 1845733"/>
              <a:gd name="connsiteX5" fmla="*/ 0 w 5571067"/>
              <a:gd name="connsiteY5" fmla="*/ 1845733 h 1845733"/>
              <a:gd name="connsiteX6" fmla="*/ 0 w 5571067"/>
              <a:gd name="connsiteY6" fmla="*/ 0 h 1845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71067" h="1845733">
                <a:moveTo>
                  <a:pt x="5571067" y="872066"/>
                </a:moveTo>
                <a:lnTo>
                  <a:pt x="3708400" y="872066"/>
                </a:lnTo>
                <a:lnTo>
                  <a:pt x="3708400" y="1244600"/>
                </a:lnTo>
                <a:lnTo>
                  <a:pt x="2853267" y="1244600"/>
                </a:lnTo>
                <a:lnTo>
                  <a:pt x="2853267" y="1845733"/>
                </a:lnTo>
                <a:lnTo>
                  <a:pt x="0" y="1845733"/>
                </a:lnTo>
                <a:lnTo>
                  <a:pt x="0" y="0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4" name="자유형 323"/>
          <p:cNvSpPr/>
          <p:nvPr/>
        </p:nvSpPr>
        <p:spPr>
          <a:xfrm>
            <a:off x="422275" y="4905375"/>
            <a:ext cx="84667" cy="397933"/>
          </a:xfrm>
          <a:custGeom>
            <a:avLst/>
            <a:gdLst>
              <a:gd name="connsiteX0" fmla="*/ 84667 w 84667"/>
              <a:gd name="connsiteY0" fmla="*/ 0 h 397933"/>
              <a:gd name="connsiteX1" fmla="*/ 0 w 84667"/>
              <a:gd name="connsiteY1" fmla="*/ 0 h 397933"/>
              <a:gd name="connsiteX2" fmla="*/ 0 w 84667"/>
              <a:gd name="connsiteY2" fmla="*/ 397933 h 397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667" h="397933">
                <a:moveTo>
                  <a:pt x="84667" y="0"/>
                </a:moveTo>
                <a:lnTo>
                  <a:pt x="0" y="0"/>
                </a:lnTo>
                <a:lnTo>
                  <a:pt x="0" y="397933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5" name="자유형 324"/>
          <p:cNvSpPr/>
          <p:nvPr/>
        </p:nvSpPr>
        <p:spPr>
          <a:xfrm>
            <a:off x="6569075" y="2839508"/>
            <a:ext cx="186267" cy="745067"/>
          </a:xfrm>
          <a:custGeom>
            <a:avLst/>
            <a:gdLst>
              <a:gd name="connsiteX0" fmla="*/ 0 w 186267"/>
              <a:gd name="connsiteY0" fmla="*/ 745067 h 745067"/>
              <a:gd name="connsiteX1" fmla="*/ 0 w 186267"/>
              <a:gd name="connsiteY1" fmla="*/ 745067 h 745067"/>
              <a:gd name="connsiteX2" fmla="*/ 0 w 186267"/>
              <a:gd name="connsiteY2" fmla="*/ 0 h 745067"/>
              <a:gd name="connsiteX3" fmla="*/ 186267 w 186267"/>
              <a:gd name="connsiteY3" fmla="*/ 0 h 745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6267" h="745067">
                <a:moveTo>
                  <a:pt x="0" y="745067"/>
                </a:moveTo>
                <a:lnTo>
                  <a:pt x="0" y="745067"/>
                </a:lnTo>
                <a:lnTo>
                  <a:pt x="0" y="0"/>
                </a:lnTo>
                <a:lnTo>
                  <a:pt x="186267" y="0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6" name="자유형 325"/>
          <p:cNvSpPr/>
          <p:nvPr/>
        </p:nvSpPr>
        <p:spPr>
          <a:xfrm>
            <a:off x="6577542" y="4498975"/>
            <a:ext cx="1498600" cy="1244600"/>
          </a:xfrm>
          <a:custGeom>
            <a:avLst/>
            <a:gdLst>
              <a:gd name="connsiteX0" fmla="*/ 0 w 1498600"/>
              <a:gd name="connsiteY0" fmla="*/ 0 h 1244600"/>
              <a:gd name="connsiteX1" fmla="*/ 0 w 1498600"/>
              <a:gd name="connsiteY1" fmla="*/ 423333 h 1244600"/>
              <a:gd name="connsiteX2" fmla="*/ 1498600 w 1498600"/>
              <a:gd name="connsiteY2" fmla="*/ 423333 h 1244600"/>
              <a:gd name="connsiteX3" fmla="*/ 1498600 w 1498600"/>
              <a:gd name="connsiteY3" fmla="*/ 1244600 h 124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98600" h="1244600">
                <a:moveTo>
                  <a:pt x="0" y="0"/>
                </a:moveTo>
                <a:lnTo>
                  <a:pt x="0" y="423333"/>
                </a:lnTo>
                <a:lnTo>
                  <a:pt x="1498600" y="423333"/>
                </a:lnTo>
                <a:lnTo>
                  <a:pt x="1498600" y="1244600"/>
                </a:lnTo>
              </a:path>
            </a:pathLst>
          </a:cu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직사각형 293">
            <a:extLst>
              <a:ext uri="{FF2B5EF4-FFF2-40B4-BE49-F238E27FC236}">
                <a16:creationId xmlns:a16="http://schemas.microsoft.com/office/drawing/2014/main" id="{9B6DE0DF-BFFF-497F-9FD1-C58A8CA97621}"/>
              </a:ext>
            </a:extLst>
          </p:cNvPr>
          <p:cNvSpPr/>
          <p:nvPr/>
        </p:nvSpPr>
        <p:spPr>
          <a:xfrm>
            <a:off x="8500191" y="3384273"/>
            <a:ext cx="710030" cy="1710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관련</a:t>
            </a:r>
          </a:p>
        </p:txBody>
      </p: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A6BC253F-D9C4-4A98-984C-D8D62D28E8E9}"/>
              </a:ext>
            </a:extLst>
          </p:cNvPr>
          <p:cNvSpPr/>
          <p:nvPr/>
        </p:nvSpPr>
        <p:spPr>
          <a:xfrm>
            <a:off x="9363869" y="3290897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타절차와의 관계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164)</a:t>
            </a:r>
            <a:endParaRPr lang="ko-KR" altLang="en-US" sz="1000" dirty="0"/>
          </a:p>
        </p:txBody>
      </p:sp>
      <p:sp>
        <p:nvSpPr>
          <p:cNvPr id="328" name="직사각형 327">
            <a:extLst>
              <a:ext uri="{FF2B5EF4-FFF2-40B4-BE49-F238E27FC236}">
                <a16:creationId xmlns:a16="http://schemas.microsoft.com/office/drawing/2014/main" id="{855EA2A3-2862-42AE-AC8B-FB8E8761530B}"/>
              </a:ext>
            </a:extLst>
          </p:cNvPr>
          <p:cNvSpPr/>
          <p:nvPr/>
        </p:nvSpPr>
        <p:spPr>
          <a:xfrm>
            <a:off x="9363869" y="3720622"/>
            <a:ext cx="2333212" cy="1385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ko-KR" altLang="en-US" sz="1000" dirty="0"/>
              <a:t>심판비용</a:t>
            </a:r>
            <a:r>
              <a:rPr lang="en-US" altLang="ko-KR" sz="1000" dirty="0"/>
              <a:t>(</a:t>
            </a:r>
            <a:r>
              <a:rPr lang="ko-KR" altLang="en-US" sz="1000" dirty="0"/>
              <a:t>法 </a:t>
            </a:r>
            <a:r>
              <a:rPr lang="en-US" altLang="ko-KR" sz="1000" dirty="0"/>
              <a:t>165, 166)</a:t>
            </a:r>
            <a:endParaRPr lang="ko-KR" altLang="en-US" sz="1000" dirty="0"/>
          </a:p>
        </p:txBody>
      </p:sp>
      <p:cxnSp>
        <p:nvCxnSpPr>
          <p:cNvPr id="329" name="꺾인 연결선 244">
            <a:extLst>
              <a:ext uri="{FF2B5EF4-FFF2-40B4-BE49-F238E27FC236}">
                <a16:creationId xmlns:a16="http://schemas.microsoft.com/office/drawing/2014/main" id="{A54F89B3-B4E9-4E0A-BB23-C1DB0F7A25D8}"/>
              </a:ext>
            </a:extLst>
          </p:cNvPr>
          <p:cNvCxnSpPr>
            <a:cxnSpLocks/>
            <a:stCxn id="294" idx="3"/>
            <a:endCxn id="308" idx="1"/>
          </p:cNvCxnSpPr>
          <p:nvPr/>
        </p:nvCxnSpPr>
        <p:spPr>
          <a:xfrm>
            <a:off x="9210221" y="3469781"/>
            <a:ext cx="151225" cy="107743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꺾인 연결선 245">
            <a:extLst>
              <a:ext uri="{FF2B5EF4-FFF2-40B4-BE49-F238E27FC236}">
                <a16:creationId xmlns:a16="http://schemas.microsoft.com/office/drawing/2014/main" id="{48543D6B-7C92-4D3D-B213-6D84DC780C17}"/>
              </a:ext>
            </a:extLst>
          </p:cNvPr>
          <p:cNvCxnSpPr>
            <a:cxnSpLocks/>
            <a:stCxn id="294" idx="3"/>
            <a:endCxn id="328" idx="1"/>
          </p:cNvCxnSpPr>
          <p:nvPr/>
        </p:nvCxnSpPr>
        <p:spPr>
          <a:xfrm>
            <a:off x="9210221" y="3469781"/>
            <a:ext cx="153648" cy="320120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B370871F-6F80-4244-8543-0634A44D09BD}"/>
              </a:ext>
            </a:extLst>
          </p:cNvPr>
          <p:cNvCxnSpPr>
            <a:stCxn id="205" idx="3"/>
            <a:endCxn id="294" idx="1"/>
          </p:cNvCxnSpPr>
          <p:nvPr/>
        </p:nvCxnSpPr>
        <p:spPr>
          <a:xfrm>
            <a:off x="8336650" y="2489931"/>
            <a:ext cx="163541" cy="97985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직사각형 287">
            <a:extLst>
              <a:ext uri="{FF2B5EF4-FFF2-40B4-BE49-F238E27FC236}">
                <a16:creationId xmlns:a16="http://schemas.microsoft.com/office/drawing/2014/main" id="{CCF75EB5-ACDA-45AD-A3D7-EAD9647556E3}"/>
              </a:ext>
            </a:extLst>
          </p:cNvPr>
          <p:cNvSpPr/>
          <p:nvPr/>
        </p:nvSpPr>
        <p:spPr>
          <a:xfrm>
            <a:off x="9358843" y="1365202"/>
            <a:ext cx="2333212" cy="288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국선대리인</a:t>
            </a:r>
            <a:r>
              <a:rPr lang="en-US" altLang="ko-KR" sz="1000" dirty="0">
                <a:solidFill>
                  <a:schemeClr val="tx1"/>
                </a:solidFill>
              </a:rPr>
              <a:t>, </a:t>
            </a:r>
            <a:r>
              <a:rPr lang="ko-KR" altLang="en-US" sz="1000" dirty="0">
                <a:solidFill>
                  <a:schemeClr val="tx1"/>
                </a:solidFill>
              </a:rPr>
              <a:t>전문심리위원 및 참고인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法 </a:t>
            </a:r>
            <a:r>
              <a:rPr lang="en-US" altLang="ko-KR" sz="900" dirty="0">
                <a:solidFill>
                  <a:schemeClr val="tx1"/>
                </a:solidFill>
              </a:rPr>
              <a:t>139</a:t>
            </a:r>
            <a:r>
              <a:rPr lang="ko-KR" altLang="en-US" sz="900" dirty="0">
                <a:solidFill>
                  <a:schemeClr val="tx1"/>
                </a:solidFill>
              </a:rPr>
              <a:t>의</a:t>
            </a:r>
            <a:r>
              <a:rPr lang="en-US" altLang="ko-KR" sz="900" dirty="0">
                <a:solidFill>
                  <a:schemeClr val="tx1"/>
                </a:solidFill>
              </a:rPr>
              <a:t>2, 154</a:t>
            </a:r>
            <a:r>
              <a:rPr lang="ko-KR" altLang="en-US" sz="900" dirty="0">
                <a:solidFill>
                  <a:schemeClr val="tx1"/>
                </a:solidFill>
              </a:rPr>
              <a:t>의</a:t>
            </a:r>
            <a:r>
              <a:rPr lang="en-US" altLang="ko-KR" sz="900" dirty="0">
                <a:solidFill>
                  <a:schemeClr val="tx1"/>
                </a:solidFill>
              </a:rPr>
              <a:t>2, 154</a:t>
            </a:r>
            <a:r>
              <a:rPr lang="ko-KR" altLang="en-US" sz="900" dirty="0">
                <a:solidFill>
                  <a:schemeClr val="tx1"/>
                </a:solidFill>
              </a:rPr>
              <a:t>의</a:t>
            </a:r>
            <a:r>
              <a:rPr lang="en-US" altLang="ko-KR" sz="900" dirty="0">
                <a:solidFill>
                  <a:schemeClr val="tx1"/>
                </a:solidFill>
              </a:rPr>
              <a:t>3)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308" name="직사각형 307">
            <a:extLst>
              <a:ext uri="{FF2B5EF4-FFF2-40B4-BE49-F238E27FC236}">
                <a16:creationId xmlns:a16="http://schemas.microsoft.com/office/drawing/2014/main" id="{FBCE5317-4D8A-4C1C-92B6-ECD14431C289}"/>
              </a:ext>
            </a:extLst>
          </p:cNvPr>
          <p:cNvSpPr/>
          <p:nvPr/>
        </p:nvSpPr>
        <p:spPr>
          <a:xfrm>
            <a:off x="9361446" y="3486404"/>
            <a:ext cx="2330609" cy="1822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조정위원회 회부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法 </a:t>
            </a:r>
            <a:r>
              <a:rPr lang="en-US" altLang="ko-KR" sz="1000" dirty="0">
                <a:solidFill>
                  <a:schemeClr val="tx1"/>
                </a:solidFill>
              </a:rPr>
              <a:t>164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 dirty="0">
                <a:solidFill>
                  <a:schemeClr val="tx1"/>
                </a:solidFill>
              </a:rPr>
              <a:t>2)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331" name="꺾인 연결선 245">
            <a:extLst>
              <a:ext uri="{FF2B5EF4-FFF2-40B4-BE49-F238E27FC236}">
                <a16:creationId xmlns:a16="http://schemas.microsoft.com/office/drawing/2014/main" id="{8272E89B-C399-461C-82CA-028F1E621707}"/>
              </a:ext>
            </a:extLst>
          </p:cNvPr>
          <p:cNvCxnSpPr>
            <a:cxnSpLocks/>
            <a:stCxn id="294" idx="3"/>
            <a:endCxn id="327" idx="1"/>
          </p:cNvCxnSpPr>
          <p:nvPr/>
        </p:nvCxnSpPr>
        <p:spPr>
          <a:xfrm flipV="1">
            <a:off x="9210221" y="3360176"/>
            <a:ext cx="153648" cy="109605"/>
          </a:xfrm>
          <a:prstGeom prst="bentConnector3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8183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68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심사관의 </a:t>
            </a:r>
            <a:r>
              <a:rPr lang="ko-KR" altLang="en-US" dirty="0" err="1"/>
              <a:t>제척사유</a:t>
            </a:r>
            <a:r>
              <a:rPr lang="ko-KR" altLang="en-US" dirty="0"/>
              <a:t> 中 </a:t>
            </a:r>
            <a:r>
              <a:rPr lang="ko-KR" altLang="en-US" dirty="0" err="1"/>
              <a:t>전심관여</a:t>
            </a:r>
            <a:endParaRPr lang="ko-KR" altLang="en-US" dirty="0"/>
          </a:p>
        </p:txBody>
      </p:sp>
      <p:sp>
        <p:nvSpPr>
          <p:cNvPr id="30" name="직사각형 29"/>
          <p:cNvSpPr/>
          <p:nvPr/>
        </p:nvSpPr>
        <p:spPr>
          <a:xfrm>
            <a:off x="3495517" y="3905387"/>
            <a:ext cx="7220913" cy="276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지식재산처장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3495517" y="4428531"/>
            <a:ext cx="3514079" cy="2761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>
                <a:solidFill>
                  <a:schemeClr val="tx1"/>
                </a:solidFill>
              </a:rPr>
              <a:t>심사국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3495517" y="4710801"/>
            <a:ext cx="3514079" cy="13923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지식재산처장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7202351" y="4428531"/>
            <a:ext cx="3514079" cy="2761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특허심판원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7202351" y="4710801"/>
            <a:ext cx="3514079" cy="13923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지식재산처장</a:t>
            </a:r>
          </a:p>
        </p:txBody>
      </p:sp>
      <p:sp>
        <p:nvSpPr>
          <p:cNvPr id="35" name="모서리가 둥근 직사각형 34"/>
          <p:cNvSpPr/>
          <p:nvPr/>
        </p:nvSpPr>
        <p:spPr>
          <a:xfrm>
            <a:off x="4133094" y="5177167"/>
            <a:ext cx="2298238" cy="4706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심사관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(</a:t>
            </a:r>
            <a:r>
              <a:rPr lang="ko-KR" altLang="en-US" sz="1400" dirty="0">
                <a:solidFill>
                  <a:schemeClr val="tx1"/>
                </a:solidFill>
              </a:rPr>
              <a:t>甲</a:t>
            </a:r>
            <a:r>
              <a:rPr lang="en-US" altLang="ko-KR" sz="1400" dirty="0">
                <a:solidFill>
                  <a:schemeClr val="tx1"/>
                </a:solidFill>
              </a:rPr>
              <a:t>)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7810271" y="4800517"/>
            <a:ext cx="2298238" cy="29454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>
                <a:solidFill>
                  <a:schemeClr val="tx1"/>
                </a:solidFill>
              </a:rPr>
              <a:t>심판원장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/>
          <p:cNvSpPr/>
          <p:nvPr/>
        </p:nvSpPr>
        <p:spPr>
          <a:xfrm>
            <a:off x="7810271" y="5535899"/>
            <a:ext cx="2298238" cy="44435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심판관합의체</a:t>
            </a:r>
            <a:r>
              <a:rPr lang="en-US" altLang="ko-KR" sz="1100" dirty="0">
                <a:solidFill>
                  <a:schemeClr val="tx1"/>
                </a:solidFill>
              </a:rPr>
              <a:t>(3</a:t>
            </a:r>
            <a:r>
              <a:rPr lang="ko-KR" altLang="en-US" sz="1100" dirty="0">
                <a:solidFill>
                  <a:schemeClr val="tx1"/>
                </a:solidFill>
              </a:rPr>
              <a:t>인</a:t>
            </a:r>
            <a:r>
              <a:rPr lang="en-US" altLang="ko-KR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>
                <a:solidFill>
                  <a:schemeClr val="tx1"/>
                </a:solidFill>
              </a:rPr>
              <a:t>또는 </a:t>
            </a:r>
            <a:r>
              <a:rPr lang="en-US" altLang="ko-KR" sz="1100" dirty="0">
                <a:solidFill>
                  <a:schemeClr val="tx1"/>
                </a:solidFill>
              </a:rPr>
              <a:t>5</a:t>
            </a:r>
            <a:r>
              <a:rPr lang="ko-KR" altLang="en-US" sz="1100" dirty="0">
                <a:solidFill>
                  <a:schemeClr val="tx1"/>
                </a:solidFill>
              </a:rPr>
              <a:t>인</a:t>
            </a:r>
            <a:r>
              <a:rPr lang="en-US" altLang="ko-KR" sz="11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(</a:t>
            </a:r>
            <a:r>
              <a:rPr lang="ko-KR" altLang="en-US" sz="1400" dirty="0">
                <a:solidFill>
                  <a:schemeClr val="tx1"/>
                </a:solidFill>
              </a:rPr>
              <a:t>甲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乙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丙</a:t>
            </a:r>
            <a:r>
              <a:rPr lang="en-US" altLang="ko-KR" sz="1400" dirty="0">
                <a:solidFill>
                  <a:schemeClr val="tx1"/>
                </a:solidFill>
              </a:rPr>
              <a:t>)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39" name="직선 연결선 38"/>
          <p:cNvCxnSpPr>
            <a:stCxn id="33" idx="0"/>
          </p:cNvCxnSpPr>
          <p:nvPr/>
        </p:nvCxnSpPr>
        <p:spPr>
          <a:xfrm flipV="1">
            <a:off x="8959391" y="4181523"/>
            <a:ext cx="0" cy="24700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/>
          <p:cNvCxnSpPr>
            <a:stCxn id="31" idx="0"/>
          </p:cNvCxnSpPr>
          <p:nvPr/>
        </p:nvCxnSpPr>
        <p:spPr>
          <a:xfrm flipV="1">
            <a:off x="5252558" y="4181523"/>
            <a:ext cx="0" cy="24700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/>
          <p:cNvCxnSpPr>
            <a:stCxn id="37" idx="0"/>
            <a:endCxn id="36" idx="2"/>
          </p:cNvCxnSpPr>
          <p:nvPr/>
        </p:nvCxnSpPr>
        <p:spPr>
          <a:xfrm flipV="1">
            <a:off x="8959390" y="5095061"/>
            <a:ext cx="0" cy="4408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195674" y="3294919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accent2">
                    <a:lumMod val="50000"/>
                  </a:schemeClr>
                </a:solidFill>
              </a:rPr>
              <a:t>심사청구</a:t>
            </a:r>
          </a:p>
        </p:txBody>
      </p:sp>
      <p:cxnSp>
        <p:nvCxnSpPr>
          <p:cNvPr id="15" name="직선 연결선 14"/>
          <p:cNvCxnSpPr>
            <a:stCxn id="13" idx="2"/>
          </p:cNvCxnSpPr>
          <p:nvPr/>
        </p:nvCxnSpPr>
        <p:spPr>
          <a:xfrm>
            <a:off x="5704788" y="3664251"/>
            <a:ext cx="4884" cy="235002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/>
          <p:cNvCxnSpPr/>
          <p:nvPr/>
        </p:nvCxnSpPr>
        <p:spPr>
          <a:xfrm>
            <a:off x="5704789" y="4187658"/>
            <a:ext cx="0" cy="983376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704787" y="4704747"/>
            <a:ext cx="994774" cy="2528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2">
                    <a:lumMod val="50000"/>
                  </a:schemeClr>
                </a:solidFill>
              </a:rPr>
              <a:t>지정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18733" y="524774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>
                <a:solidFill>
                  <a:schemeClr val="accent2">
                    <a:lumMod val="50000"/>
                  </a:schemeClr>
                </a:solidFill>
              </a:rPr>
              <a:t>거절결정</a:t>
            </a:r>
            <a:endParaRPr lang="ko-KR" alt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530648" y="3294919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accent2">
                    <a:lumMod val="50000"/>
                  </a:schemeClr>
                </a:solidFill>
              </a:rPr>
              <a:t>특허출원</a:t>
            </a:r>
          </a:p>
        </p:txBody>
      </p:sp>
      <p:cxnSp>
        <p:nvCxnSpPr>
          <p:cNvPr id="68" name="직선 연결선 67"/>
          <p:cNvCxnSpPr>
            <a:stCxn id="67" idx="2"/>
          </p:cNvCxnSpPr>
          <p:nvPr/>
        </p:nvCxnSpPr>
        <p:spPr>
          <a:xfrm>
            <a:off x="4039762" y="3664251"/>
            <a:ext cx="4883" cy="235002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연결선 17"/>
          <p:cNvCxnSpPr>
            <a:stCxn id="65" idx="2"/>
            <a:endCxn id="36" idx="3"/>
          </p:cNvCxnSpPr>
          <p:nvPr/>
        </p:nvCxnSpPr>
        <p:spPr>
          <a:xfrm rot="5400000" flipH="1" flipV="1">
            <a:off x="6333537" y="1842100"/>
            <a:ext cx="669282" cy="6880662"/>
          </a:xfrm>
          <a:prstGeom prst="bentConnector4">
            <a:avLst>
              <a:gd name="adj1" fmla="val -116130"/>
              <a:gd name="adj2" fmla="val 103322"/>
            </a:avLst>
          </a:prstGeom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699561" y="6385736"/>
            <a:ext cx="2541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2">
                    <a:lumMod val="50000"/>
                  </a:schemeClr>
                </a:solidFill>
              </a:rPr>
              <a:t>거절결정불복심판의 청구</a:t>
            </a:r>
          </a:p>
        </p:txBody>
      </p:sp>
      <p:cxnSp>
        <p:nvCxnSpPr>
          <p:cNvPr id="71" name="직선 연결선 70"/>
          <p:cNvCxnSpPr/>
          <p:nvPr/>
        </p:nvCxnSpPr>
        <p:spPr>
          <a:xfrm>
            <a:off x="9503740" y="5095061"/>
            <a:ext cx="0" cy="440838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496443" y="5184356"/>
            <a:ext cx="994774" cy="2528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2">
                    <a:lumMod val="50000"/>
                  </a:schemeClr>
                </a:solidFill>
              </a:rPr>
              <a:t>지정</a:t>
            </a:r>
          </a:p>
        </p:txBody>
      </p:sp>
      <p:cxnSp>
        <p:nvCxnSpPr>
          <p:cNvPr id="75" name="직선 연결선 74"/>
          <p:cNvCxnSpPr>
            <a:stCxn id="35" idx="3"/>
          </p:cNvCxnSpPr>
          <p:nvPr/>
        </p:nvCxnSpPr>
        <p:spPr>
          <a:xfrm>
            <a:off x="6431332" y="5412494"/>
            <a:ext cx="1378938" cy="331176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575474" y="5265416"/>
            <a:ext cx="1684115" cy="2528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solidFill>
                  <a:schemeClr val="accent2">
                    <a:lumMod val="50000"/>
                  </a:schemeClr>
                </a:solidFill>
              </a:rPr>
              <a:t>인사발령</a:t>
            </a:r>
            <a:endParaRPr lang="ko-KR" alt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82" name="직선 연결선 81"/>
          <p:cNvCxnSpPr/>
          <p:nvPr/>
        </p:nvCxnSpPr>
        <p:spPr>
          <a:xfrm>
            <a:off x="0" y="3021477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7875" y="986046"/>
            <a:ext cx="119363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제</a:t>
            </a:r>
            <a:r>
              <a:rPr lang="en-US" altLang="ko-KR" sz="1400" b="1" dirty="0">
                <a:solidFill>
                  <a:schemeClr val="accent1"/>
                </a:solidFill>
              </a:rPr>
              <a:t>68</a:t>
            </a:r>
            <a:r>
              <a:rPr lang="ko-KR" altLang="en-US" sz="1400" b="1" dirty="0">
                <a:solidFill>
                  <a:schemeClr val="accent1"/>
                </a:solidFill>
              </a:rPr>
              <a:t>조</a:t>
            </a:r>
            <a:r>
              <a:rPr lang="en-US" altLang="ko-KR" sz="1400" b="1" dirty="0">
                <a:solidFill>
                  <a:schemeClr val="accent1"/>
                </a:solidFill>
              </a:rPr>
              <a:t>(</a:t>
            </a:r>
            <a:r>
              <a:rPr lang="ko-KR" altLang="en-US" sz="1400" b="1" dirty="0" err="1">
                <a:solidFill>
                  <a:schemeClr val="accent1"/>
                </a:solidFill>
              </a:rPr>
              <a:t>심판규정의</a:t>
            </a:r>
            <a:r>
              <a:rPr lang="ko-KR" altLang="en-US" sz="1400" b="1" dirty="0">
                <a:solidFill>
                  <a:schemeClr val="accent1"/>
                </a:solidFill>
              </a:rPr>
              <a:t> 심사에의 준용</a:t>
            </a:r>
            <a:r>
              <a:rPr lang="en-US" altLang="ko-KR" sz="1400" b="1" dirty="0">
                <a:solidFill>
                  <a:schemeClr val="accent1"/>
                </a:solidFill>
              </a:rPr>
              <a:t>)</a:t>
            </a:r>
            <a:r>
              <a:rPr lang="en-US" altLang="ko-KR" sz="1400" dirty="0">
                <a:solidFill>
                  <a:schemeClr val="tx2"/>
                </a:solidFill>
              </a:rPr>
              <a:t> </a:t>
            </a:r>
            <a:r>
              <a:rPr lang="ko-KR" altLang="en-US" sz="1400" dirty="0">
                <a:solidFill>
                  <a:schemeClr val="tx2"/>
                </a:solidFill>
              </a:rPr>
              <a:t>특허출원의 심사에 관하여는 제</a:t>
            </a:r>
            <a:r>
              <a:rPr lang="en-US" altLang="ko-KR" sz="1400" dirty="0">
                <a:solidFill>
                  <a:schemeClr val="tx2"/>
                </a:solidFill>
              </a:rPr>
              <a:t>148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호부터 제</a:t>
            </a:r>
            <a:r>
              <a:rPr lang="en-US" altLang="ko-KR" sz="1400" dirty="0">
                <a:solidFill>
                  <a:schemeClr val="tx2"/>
                </a:solidFill>
              </a:rPr>
              <a:t>5</a:t>
            </a:r>
            <a:r>
              <a:rPr lang="ko-KR" altLang="en-US" sz="1400" dirty="0">
                <a:solidFill>
                  <a:schemeClr val="tx2"/>
                </a:solidFill>
              </a:rPr>
              <a:t>호까지 및 제</a:t>
            </a:r>
            <a:r>
              <a:rPr lang="en-US" altLang="ko-KR" sz="1400" dirty="0">
                <a:solidFill>
                  <a:schemeClr val="tx2"/>
                </a:solidFill>
              </a:rPr>
              <a:t>7</a:t>
            </a:r>
            <a:r>
              <a:rPr lang="ko-KR" altLang="en-US" sz="1400" dirty="0">
                <a:solidFill>
                  <a:schemeClr val="tx2"/>
                </a:solidFill>
              </a:rPr>
              <a:t>호를 준용한다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제</a:t>
            </a:r>
            <a:r>
              <a:rPr lang="en-US" altLang="ko-KR" sz="1400" b="1" dirty="0">
                <a:solidFill>
                  <a:schemeClr val="accent1"/>
                </a:solidFill>
              </a:rPr>
              <a:t>148</a:t>
            </a:r>
            <a:r>
              <a:rPr lang="ko-KR" altLang="en-US" sz="1400" b="1" dirty="0">
                <a:solidFill>
                  <a:schemeClr val="accent1"/>
                </a:solidFill>
              </a:rPr>
              <a:t>조</a:t>
            </a:r>
            <a:r>
              <a:rPr lang="en-US" altLang="ko-KR" sz="1400" b="1" dirty="0">
                <a:solidFill>
                  <a:schemeClr val="accent1"/>
                </a:solidFill>
              </a:rPr>
              <a:t>(</a:t>
            </a:r>
            <a:r>
              <a:rPr lang="ko-KR" altLang="en-US" sz="1400" b="1" dirty="0">
                <a:solidFill>
                  <a:schemeClr val="accent1"/>
                </a:solidFill>
              </a:rPr>
              <a:t>심판관의 제척</a:t>
            </a:r>
            <a:r>
              <a:rPr lang="en-US" altLang="ko-KR" sz="1400" b="1" dirty="0">
                <a:solidFill>
                  <a:schemeClr val="accent1"/>
                </a:solidFill>
              </a:rPr>
              <a:t>)</a:t>
            </a:r>
            <a:r>
              <a:rPr lang="en-US" altLang="ko-KR" sz="1400" dirty="0">
                <a:solidFill>
                  <a:schemeClr val="tx2"/>
                </a:solidFill>
              </a:rPr>
              <a:t> </a:t>
            </a:r>
            <a:r>
              <a:rPr lang="ko-KR" altLang="en-US" sz="1400" dirty="0">
                <a:solidFill>
                  <a:schemeClr val="tx2"/>
                </a:solidFill>
              </a:rPr>
              <a:t>심판관은 다음 각 호의 어느 하나에 해당하는 경우에는 그 심판에서 제척된다</a:t>
            </a:r>
            <a:r>
              <a:rPr lang="en-US" altLang="ko-KR" sz="1400" dirty="0">
                <a:solidFill>
                  <a:schemeClr val="tx2"/>
                </a:solidFill>
              </a:rPr>
              <a:t>.  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1. </a:t>
            </a:r>
            <a:r>
              <a:rPr lang="ko-KR" altLang="en-US" sz="1400" dirty="0">
                <a:solidFill>
                  <a:schemeClr val="tx2"/>
                </a:solidFill>
              </a:rPr>
              <a:t>심판관 또는 그 배우자이거나 </a:t>
            </a:r>
            <a:r>
              <a:rPr lang="ko-KR" altLang="en-US" sz="1400" dirty="0" err="1">
                <a:solidFill>
                  <a:schemeClr val="tx2"/>
                </a:solidFill>
              </a:rPr>
              <a:t>배우자이었던</a:t>
            </a:r>
            <a:r>
              <a:rPr lang="ko-KR" altLang="en-US" sz="1400" dirty="0">
                <a:solidFill>
                  <a:schemeClr val="tx2"/>
                </a:solidFill>
              </a:rPr>
              <a:t> 사람이 사건의 당사자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참가인 또는 특허취소신청인인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2. </a:t>
            </a:r>
            <a:r>
              <a:rPr lang="ko-KR" altLang="en-US" sz="1400" dirty="0">
                <a:solidFill>
                  <a:schemeClr val="tx2"/>
                </a:solidFill>
              </a:rPr>
              <a:t>심판관이 사건의 당사자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참가인 또는 특허취소신청인의 친족이거나 친족이었던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3. </a:t>
            </a:r>
            <a:r>
              <a:rPr lang="ko-KR" altLang="en-US" sz="1400" dirty="0">
                <a:solidFill>
                  <a:schemeClr val="tx2"/>
                </a:solidFill>
              </a:rPr>
              <a:t>심판관이 사건의 당사자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참가인 또는 특허취소신청인의 법정대리인이거나 법정대리인이었던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4. </a:t>
            </a:r>
            <a:r>
              <a:rPr lang="ko-KR" altLang="en-US" sz="1400" dirty="0">
                <a:solidFill>
                  <a:schemeClr val="tx2"/>
                </a:solidFill>
              </a:rPr>
              <a:t>심판관이 사건에 대한 증인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감정인이거나 감정인이었던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5. </a:t>
            </a:r>
            <a:r>
              <a:rPr lang="ko-KR" altLang="en-US" sz="1400" dirty="0">
                <a:solidFill>
                  <a:schemeClr val="tx2"/>
                </a:solidFill>
              </a:rPr>
              <a:t>심판관이 사건의 당사자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참가인 또는 특허취소신청인의 대리인이거나 대리인이었던 경우</a:t>
            </a:r>
          </a:p>
          <a:p>
            <a:pPr fontAlgn="base"/>
            <a:r>
              <a:rPr lang="en-US" altLang="ko-KR" sz="1400" dirty="0">
                <a:solidFill>
                  <a:srgbClr val="FF0000"/>
                </a:solidFill>
              </a:rPr>
              <a:t>6. </a:t>
            </a:r>
            <a:r>
              <a:rPr lang="ko-KR" altLang="en-US" sz="1400" dirty="0">
                <a:solidFill>
                  <a:srgbClr val="FF0000"/>
                </a:solidFill>
              </a:rPr>
              <a:t>심판관이 사건에 대하여 심사관 또는 심판관으로서 특허여부결정 또는 </a:t>
            </a:r>
            <a:r>
              <a:rPr lang="ko-KR" altLang="en-US" sz="1400" dirty="0" err="1">
                <a:solidFill>
                  <a:srgbClr val="FF0000"/>
                </a:solidFill>
              </a:rPr>
              <a:t>심결에</a:t>
            </a:r>
            <a:r>
              <a:rPr lang="ko-KR" altLang="en-US" sz="1400" dirty="0">
                <a:solidFill>
                  <a:srgbClr val="FF0000"/>
                </a:solidFill>
              </a:rPr>
              <a:t> 관여한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7. </a:t>
            </a:r>
            <a:r>
              <a:rPr lang="ko-KR" altLang="en-US" sz="1400" dirty="0">
                <a:solidFill>
                  <a:schemeClr val="tx2"/>
                </a:solidFill>
              </a:rPr>
              <a:t>심판관이 사건에 관하여 직접 이해관계를 가진 경우</a:t>
            </a:r>
            <a:endParaRPr lang="en-US" altLang="ko-KR" sz="1400" dirty="0">
              <a:solidFill>
                <a:schemeClr val="tx2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247</a:t>
            </a:r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74C4B8D-384E-5BEB-6B83-3BA1B1985A39}"/>
              </a:ext>
            </a:extLst>
          </p:cNvPr>
          <p:cNvSpPr/>
          <p:nvPr/>
        </p:nvSpPr>
        <p:spPr>
          <a:xfrm>
            <a:off x="825245" y="4337001"/>
            <a:ext cx="1315224" cy="124111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dirty="0"/>
              <a:t>심판관</a:t>
            </a:r>
            <a:r>
              <a:rPr lang="en-US" altLang="ko-KR" dirty="0"/>
              <a:t>(</a:t>
            </a:r>
            <a:r>
              <a:rPr lang="ko-KR" altLang="en-US" dirty="0"/>
              <a:t>甲</a:t>
            </a:r>
            <a:r>
              <a:rPr lang="en-US" altLang="ko-KR" dirty="0"/>
              <a:t>)</a:t>
            </a:r>
          </a:p>
          <a:p>
            <a:pPr algn="ctr"/>
            <a:r>
              <a:rPr lang="ko-KR" altLang="en-US" dirty="0"/>
              <a:t>전심관여</a:t>
            </a:r>
          </a:p>
        </p:txBody>
      </p:sp>
    </p:spTree>
    <p:extLst>
      <p:ext uri="{BB962C8B-B14F-4D97-AF65-F5344CB8AC3E}">
        <p14:creationId xmlns:p14="http://schemas.microsoft.com/office/powerpoint/2010/main" val="908970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/>
          <p:cNvSpPr/>
          <p:nvPr/>
        </p:nvSpPr>
        <p:spPr>
          <a:xfrm>
            <a:off x="3794760" y="3393566"/>
            <a:ext cx="996696" cy="19089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/>
          <p:cNvCxnSpPr/>
          <p:nvPr/>
        </p:nvCxnSpPr>
        <p:spPr>
          <a:xfrm flipV="1">
            <a:off x="3017520" y="4320716"/>
            <a:ext cx="1773936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/>
          <p:cNvCxnSpPr/>
          <p:nvPr/>
        </p:nvCxnSpPr>
        <p:spPr>
          <a:xfrm flipV="1">
            <a:off x="3017520" y="4702114"/>
            <a:ext cx="1773936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>
            <a:stCxn id="54" idx="3"/>
          </p:cNvCxnSpPr>
          <p:nvPr/>
        </p:nvCxnSpPr>
        <p:spPr>
          <a:xfrm flipV="1">
            <a:off x="3017520" y="3563414"/>
            <a:ext cx="1773936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59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60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심사청구기간</a:t>
            </a:r>
            <a:r>
              <a:rPr lang="en-US" altLang="ko-KR" dirty="0"/>
              <a:t>(</a:t>
            </a:r>
            <a:r>
              <a:rPr lang="ko-KR" altLang="en-US" dirty="0"/>
              <a:t>제</a:t>
            </a:r>
            <a:r>
              <a:rPr lang="en-US" altLang="ko-KR" dirty="0"/>
              <a:t>59</a:t>
            </a:r>
            <a:r>
              <a:rPr lang="ko-KR" altLang="en-US" dirty="0"/>
              <a:t>조제</a:t>
            </a:r>
            <a:r>
              <a:rPr lang="en-US" altLang="ko-KR" dirty="0"/>
              <a:t>2</a:t>
            </a:r>
            <a:r>
              <a:rPr lang="ko-KR" altLang="en-US" dirty="0"/>
              <a:t>항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3</a:t>
            </a:r>
            <a:r>
              <a:rPr lang="ko-KR" altLang="en-US" dirty="0"/>
              <a:t>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82" name="직선 연결선 81"/>
          <p:cNvCxnSpPr/>
          <p:nvPr/>
        </p:nvCxnSpPr>
        <p:spPr>
          <a:xfrm>
            <a:off x="0" y="2363109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7875" y="976902"/>
            <a:ext cx="1193632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특허출원에 관한 심사의 청구는 </a:t>
            </a:r>
            <a:r>
              <a:rPr lang="ko-KR" altLang="en-US" sz="1400" dirty="0">
                <a:highlight>
                  <a:srgbClr val="FFFF00"/>
                </a:highlight>
              </a:rPr>
              <a:t>특허출원일로부터 </a:t>
            </a:r>
            <a:r>
              <a:rPr lang="en-US" altLang="ko-KR" sz="1400" dirty="0">
                <a:highlight>
                  <a:srgbClr val="FFFF00"/>
                </a:highlight>
              </a:rPr>
              <a:t>3</a:t>
            </a:r>
            <a:r>
              <a:rPr lang="ko-KR" altLang="en-US" sz="1400" dirty="0">
                <a:highlight>
                  <a:srgbClr val="FFFF00"/>
                </a:highlight>
              </a:rPr>
              <a:t>년</a:t>
            </a:r>
            <a:r>
              <a:rPr lang="ko-KR" altLang="en-US" sz="1400" dirty="0">
                <a:solidFill>
                  <a:schemeClr val="tx2"/>
                </a:solidFill>
              </a:rPr>
              <a:t> 이내에 할 수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출원인의 입장에서 보면 </a:t>
            </a:r>
            <a:r>
              <a:rPr lang="ko-KR" altLang="en-US" sz="1400" dirty="0" err="1">
                <a:solidFill>
                  <a:schemeClr val="tx2"/>
                </a:solidFill>
              </a:rPr>
              <a:t>기술적ㆍ경제적으로</a:t>
            </a:r>
            <a:r>
              <a:rPr lang="ko-KR" altLang="en-US" sz="1400" dirty="0">
                <a:solidFill>
                  <a:schemeClr val="tx2"/>
                </a:solidFill>
              </a:rPr>
              <a:t> 무가치한 출원의 심사청구를 억제할 수 있도록 충분한 </a:t>
            </a:r>
            <a:r>
              <a:rPr lang="ko-KR" altLang="en-US" sz="1400" dirty="0" err="1">
                <a:solidFill>
                  <a:schemeClr val="tx2"/>
                </a:solidFill>
              </a:rPr>
              <a:t>고려기간이</a:t>
            </a:r>
            <a:r>
              <a:rPr lang="ko-KR" altLang="en-US" sz="1400" dirty="0">
                <a:solidFill>
                  <a:schemeClr val="tx2"/>
                </a:solidFill>
              </a:rPr>
              <a:t> 필요하다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그러나 그 심사청구기간을 너무 장기로 하게 되면 출원발명의 권리화 여부가 불확실해지게 되어 산업계의 불안정한 상태가 장기간 계속되는 문제점이 있기 때문에 출원일로부터 </a:t>
            </a:r>
            <a:r>
              <a:rPr lang="en-US" altLang="ko-KR" sz="1400" dirty="0">
                <a:solidFill>
                  <a:schemeClr val="tx2"/>
                </a:solidFill>
              </a:rPr>
              <a:t>3</a:t>
            </a:r>
            <a:r>
              <a:rPr lang="ko-KR" altLang="en-US" sz="1400" dirty="0">
                <a:solidFill>
                  <a:schemeClr val="tx2"/>
                </a:solidFill>
              </a:rPr>
              <a:t>년으로 규정하고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출원인은</a:t>
            </a:r>
            <a:r>
              <a:rPr lang="en-US" altLang="ko-KR" sz="1400" dirty="0">
                <a:solidFill>
                  <a:schemeClr val="tx2"/>
                </a:solidFill>
              </a:rPr>
              <a:t> </a:t>
            </a:r>
            <a:r>
              <a:rPr lang="ko-KR" altLang="en-US" sz="1400" dirty="0">
                <a:solidFill>
                  <a:schemeClr val="tx2"/>
                </a:solidFill>
              </a:rPr>
              <a:t>라이프 사이클이 짧은 기술과 관련된 발명에 대해서는 심사청구를 하여 조기에 특허권을 확보해야 하겠지만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중장기적인 사업과 관련된 발명에 대해서는 심사청구시기를 늦출 필요가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highlight>
                  <a:srgbClr val="FFFF00"/>
                </a:highlight>
              </a:rPr>
              <a:t>시간의 경과에 따라 자사</a:t>
            </a:r>
            <a:r>
              <a:rPr lang="en-US" altLang="ko-KR" sz="1400" dirty="0">
                <a:highlight>
                  <a:srgbClr val="FFFF00"/>
                </a:highlight>
              </a:rPr>
              <a:t>·</a:t>
            </a:r>
            <a:r>
              <a:rPr lang="ko-KR" altLang="en-US" sz="1400" dirty="0">
                <a:highlight>
                  <a:srgbClr val="FFFF00"/>
                </a:highlight>
              </a:rPr>
              <a:t>타사의 연구개발 상황이나 그 기술 분야 전체의 장래성 등의 정보가 갱신</a:t>
            </a:r>
            <a:r>
              <a:rPr lang="ko-KR" altLang="en-US" sz="1400" dirty="0">
                <a:solidFill>
                  <a:schemeClr val="tx2"/>
                </a:solidFill>
              </a:rPr>
              <a:t>되기 때문이다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또한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심사청구를 하여 실체심사 결과 특허등록이 되면 청구범위가 확정되어 보정하여 </a:t>
            </a:r>
            <a:r>
              <a:rPr lang="ko-KR" altLang="en-US" sz="1400" dirty="0">
                <a:highlight>
                  <a:srgbClr val="FFFF00"/>
                </a:highlight>
              </a:rPr>
              <a:t>권리범위를 재설계할 수 있는 기회를 상실하게 되고</a:t>
            </a:r>
            <a:r>
              <a:rPr lang="en-US" altLang="ko-KR" sz="1400" dirty="0"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highlight>
                  <a:srgbClr val="FFFF00"/>
                </a:highlight>
              </a:rPr>
              <a:t>특허료 등의 특허비용이 증가할 수 있다</a:t>
            </a:r>
            <a:r>
              <a:rPr lang="ko-KR" altLang="en-US" sz="1400" dirty="0"/>
              <a:t>는 것을 고려해야 한다</a:t>
            </a:r>
            <a:r>
              <a:rPr lang="en-US" altLang="ko-KR" sz="1400" dirty="0"/>
              <a:t>.</a:t>
            </a:r>
            <a:r>
              <a:rPr lang="en-US" altLang="ko-KR" sz="1400" dirty="0">
                <a:highlight>
                  <a:srgbClr val="FFFF00"/>
                </a:highlight>
              </a:rPr>
              <a:t> </a:t>
            </a:r>
            <a:endParaRPr lang="en-US" altLang="ko-KR" sz="1400" dirty="0">
              <a:solidFill>
                <a:schemeClr val="tx2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43199" y="2597796"/>
            <a:ext cx="42339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특허출원일로부터 </a:t>
            </a:r>
            <a:r>
              <a:rPr lang="en-US" altLang="ko-KR" sz="3200" dirty="0"/>
              <a:t>3</a:t>
            </a:r>
            <a:r>
              <a:rPr lang="ko-KR" altLang="en-US" sz="3200" dirty="0"/>
              <a:t>년</a:t>
            </a:r>
          </a:p>
        </p:txBody>
      </p:sp>
      <p:cxnSp>
        <p:nvCxnSpPr>
          <p:cNvPr id="43" name="직선 연결선 42"/>
          <p:cNvCxnSpPr/>
          <p:nvPr/>
        </p:nvCxnSpPr>
        <p:spPr>
          <a:xfrm>
            <a:off x="839427" y="3184340"/>
            <a:ext cx="179404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685800" y="3914775"/>
            <a:ext cx="795528" cy="438912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/>
              <a:t>소급제도</a:t>
            </a:r>
            <a:endParaRPr lang="en-US" altLang="ko-KR" sz="1100" dirty="0"/>
          </a:p>
          <a:p>
            <a:pPr algn="ctr"/>
            <a:r>
              <a:rPr lang="en-US" altLang="ko-KR" sz="1100" dirty="0"/>
              <a:t>(7</a:t>
            </a:r>
            <a:r>
              <a:rPr lang="ko-KR" altLang="en-US" sz="1100" dirty="0"/>
              <a:t>가지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sp>
        <p:nvSpPr>
          <p:cNvPr id="53" name="직사각형 52"/>
          <p:cNvSpPr/>
          <p:nvPr/>
        </p:nvSpPr>
        <p:spPr>
          <a:xfrm>
            <a:off x="685800" y="6023682"/>
            <a:ext cx="795528" cy="438912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PCT</a:t>
            </a:r>
            <a:endParaRPr lang="ko-KR" altLang="en-US" sz="1100" dirty="0"/>
          </a:p>
        </p:txBody>
      </p:sp>
      <p:sp>
        <p:nvSpPr>
          <p:cNvPr id="54" name="직사각형 53"/>
          <p:cNvSpPr/>
          <p:nvPr/>
        </p:nvSpPr>
        <p:spPr>
          <a:xfrm>
            <a:off x="1831472" y="3393567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34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35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10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등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1831472" y="4147263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52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10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</a:rPr>
              <a:t>확공조국등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1831472" y="4526337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53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10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</a:rPr>
              <a:t>확공조국등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1831472" y="3768189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47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51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</a:t>
            </a:r>
          </a:p>
        </p:txBody>
      </p:sp>
      <p:sp>
        <p:nvSpPr>
          <p:cNvPr id="70" name="직사각형 69"/>
          <p:cNvSpPr/>
          <p:nvPr/>
        </p:nvSpPr>
        <p:spPr>
          <a:xfrm>
            <a:off x="1831472" y="5302480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FF0000"/>
                </a:solidFill>
              </a:rPr>
              <a:t>제</a:t>
            </a:r>
            <a:r>
              <a:rPr lang="en-US" altLang="ko-KR" sz="1100" dirty="0">
                <a:solidFill>
                  <a:srgbClr val="FF0000"/>
                </a:solidFill>
              </a:rPr>
              <a:t>54</a:t>
            </a:r>
            <a:r>
              <a:rPr lang="ko-KR" altLang="en-US" sz="1100" dirty="0">
                <a:solidFill>
                  <a:srgbClr val="FF0000"/>
                </a:solidFill>
              </a:rPr>
              <a:t>조</a:t>
            </a:r>
            <a:endParaRPr lang="en-US" altLang="ko-KR" sz="1100" dirty="0">
              <a:solidFill>
                <a:srgbClr val="FF0000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100" b="1" dirty="0" err="1">
                <a:solidFill>
                  <a:srgbClr val="FF0000"/>
                </a:solidFill>
              </a:rPr>
              <a:t>심</a:t>
            </a:r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</a:rPr>
              <a:t>공존재등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1831472" y="5681554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FF0000"/>
                </a:solidFill>
              </a:rPr>
              <a:t>제</a:t>
            </a:r>
            <a:r>
              <a:rPr lang="en-US" altLang="ko-KR" sz="1100" dirty="0">
                <a:solidFill>
                  <a:srgbClr val="FF0000"/>
                </a:solidFill>
              </a:rPr>
              <a:t>55</a:t>
            </a:r>
            <a:r>
              <a:rPr lang="ko-KR" altLang="en-US" sz="1100" dirty="0">
                <a:solidFill>
                  <a:srgbClr val="FF0000"/>
                </a:solidFill>
              </a:rPr>
              <a:t>조</a:t>
            </a:r>
            <a:r>
              <a:rPr lang="en-US" altLang="ko-KR" sz="1100" dirty="0">
                <a:solidFill>
                  <a:srgbClr val="FF0000"/>
                </a:solidFill>
              </a:rPr>
              <a:t>, </a:t>
            </a:r>
            <a:r>
              <a:rPr lang="ko-KR" altLang="en-US" sz="1100" dirty="0">
                <a:solidFill>
                  <a:srgbClr val="FF0000"/>
                </a:solidFill>
              </a:rPr>
              <a:t>제</a:t>
            </a:r>
            <a:r>
              <a:rPr lang="en-US" altLang="ko-KR" sz="1100" dirty="0">
                <a:solidFill>
                  <a:srgbClr val="FF0000"/>
                </a:solidFill>
              </a:rPr>
              <a:t>56</a:t>
            </a:r>
            <a:r>
              <a:rPr lang="ko-KR" altLang="en-US" sz="1100" dirty="0">
                <a:solidFill>
                  <a:srgbClr val="FF0000"/>
                </a:solidFill>
              </a:rPr>
              <a:t>조</a:t>
            </a:r>
            <a:endParaRPr lang="en-US" altLang="ko-KR" sz="1100" dirty="0">
              <a:solidFill>
                <a:srgbClr val="FF0000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100" b="1" dirty="0">
                <a:solidFill>
                  <a:srgbClr val="FF0000"/>
                </a:solidFill>
              </a:rPr>
              <a:t>심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공존재등이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1831472" y="6332924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210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</a:t>
            </a:r>
          </a:p>
        </p:txBody>
      </p:sp>
      <p:cxnSp>
        <p:nvCxnSpPr>
          <p:cNvPr id="7" name="꺾인 연결선 6"/>
          <p:cNvCxnSpPr>
            <a:stCxn id="5" idx="3"/>
            <a:endCxn id="54" idx="1"/>
          </p:cNvCxnSpPr>
          <p:nvPr/>
        </p:nvCxnSpPr>
        <p:spPr>
          <a:xfrm flipV="1">
            <a:off x="1481328" y="3563415"/>
            <a:ext cx="350144" cy="57081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연결선 8"/>
          <p:cNvCxnSpPr>
            <a:stCxn id="5" idx="3"/>
            <a:endCxn id="72" idx="1"/>
          </p:cNvCxnSpPr>
          <p:nvPr/>
        </p:nvCxnSpPr>
        <p:spPr>
          <a:xfrm>
            <a:off x="1481328" y="4134231"/>
            <a:ext cx="350144" cy="171717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꺾인 연결선 10"/>
          <p:cNvCxnSpPr>
            <a:stCxn id="5" idx="3"/>
            <a:endCxn id="66" idx="1"/>
          </p:cNvCxnSpPr>
          <p:nvPr/>
        </p:nvCxnSpPr>
        <p:spPr>
          <a:xfrm flipV="1">
            <a:off x="1481328" y="3938037"/>
            <a:ext cx="350144" cy="19619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꺾인 연결선 13"/>
          <p:cNvCxnSpPr>
            <a:stCxn id="5" idx="3"/>
            <a:endCxn id="70" idx="1"/>
          </p:cNvCxnSpPr>
          <p:nvPr/>
        </p:nvCxnSpPr>
        <p:spPr>
          <a:xfrm>
            <a:off x="1481328" y="4134231"/>
            <a:ext cx="350144" cy="1338097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연결선 16"/>
          <p:cNvCxnSpPr>
            <a:stCxn id="5" idx="3"/>
            <a:endCxn id="63" idx="1"/>
          </p:cNvCxnSpPr>
          <p:nvPr/>
        </p:nvCxnSpPr>
        <p:spPr>
          <a:xfrm>
            <a:off x="1481328" y="4134231"/>
            <a:ext cx="350144" cy="18288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꺾인 연결선 19"/>
          <p:cNvCxnSpPr>
            <a:stCxn id="5" idx="3"/>
            <a:endCxn id="64" idx="1"/>
          </p:cNvCxnSpPr>
          <p:nvPr/>
        </p:nvCxnSpPr>
        <p:spPr>
          <a:xfrm>
            <a:off x="1481328" y="4134231"/>
            <a:ext cx="350144" cy="56195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연결선 21"/>
          <p:cNvCxnSpPr>
            <a:stCxn id="53" idx="3"/>
            <a:endCxn id="74" idx="1"/>
          </p:cNvCxnSpPr>
          <p:nvPr/>
        </p:nvCxnSpPr>
        <p:spPr>
          <a:xfrm>
            <a:off x="1481328" y="6243138"/>
            <a:ext cx="350144" cy="25963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연결선 23"/>
          <p:cNvCxnSpPr>
            <a:stCxn id="5" idx="1"/>
            <a:endCxn id="53" idx="1"/>
          </p:cNvCxnSpPr>
          <p:nvPr/>
        </p:nvCxnSpPr>
        <p:spPr>
          <a:xfrm rot="10800000" flipV="1">
            <a:off x="685800" y="4134230"/>
            <a:ext cx="12700" cy="2108907"/>
          </a:xfrm>
          <a:prstGeom prst="bentConnector3">
            <a:avLst>
              <a:gd name="adj1" fmla="val 1800000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자유형 24"/>
          <p:cNvSpPr/>
          <p:nvPr/>
        </p:nvSpPr>
        <p:spPr>
          <a:xfrm>
            <a:off x="347472" y="3201543"/>
            <a:ext cx="1188720" cy="1764792"/>
          </a:xfrm>
          <a:custGeom>
            <a:avLst/>
            <a:gdLst>
              <a:gd name="connsiteX0" fmla="*/ 1188720 w 1188720"/>
              <a:gd name="connsiteY0" fmla="*/ 0 h 1764792"/>
              <a:gd name="connsiteX1" fmla="*/ 1188720 w 1188720"/>
              <a:gd name="connsiteY1" fmla="*/ 265176 h 1764792"/>
              <a:gd name="connsiteX2" fmla="*/ 0 w 1188720"/>
              <a:gd name="connsiteY2" fmla="*/ 265176 h 1764792"/>
              <a:gd name="connsiteX3" fmla="*/ 0 w 1188720"/>
              <a:gd name="connsiteY3" fmla="*/ 374904 h 1764792"/>
              <a:gd name="connsiteX4" fmla="*/ 0 w 1188720"/>
              <a:gd name="connsiteY4" fmla="*/ 1764792 h 1764792"/>
              <a:gd name="connsiteX5" fmla="*/ 128016 w 1188720"/>
              <a:gd name="connsiteY5" fmla="*/ 1764792 h 1764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88720" h="1764792">
                <a:moveTo>
                  <a:pt x="1188720" y="0"/>
                </a:moveTo>
                <a:lnTo>
                  <a:pt x="1188720" y="265176"/>
                </a:lnTo>
                <a:lnTo>
                  <a:pt x="0" y="265176"/>
                </a:lnTo>
                <a:lnTo>
                  <a:pt x="0" y="374904"/>
                </a:lnTo>
                <a:lnTo>
                  <a:pt x="0" y="1764792"/>
                </a:lnTo>
                <a:lnTo>
                  <a:pt x="128016" y="1764792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6" name="직선 연결선 75"/>
          <p:cNvCxnSpPr/>
          <p:nvPr/>
        </p:nvCxnSpPr>
        <p:spPr>
          <a:xfrm>
            <a:off x="3794760" y="3184340"/>
            <a:ext cx="707921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14"/>
          <p:cNvSpPr>
            <a:spLocks noChangeArrowheads="1"/>
          </p:cNvSpPr>
          <p:nvPr/>
        </p:nvSpPr>
        <p:spPr bwMode="auto">
          <a:xfrm flipV="1">
            <a:off x="4029720" y="3435931"/>
            <a:ext cx="238000" cy="254967"/>
          </a:xfrm>
          <a:prstGeom prst="ellipse">
            <a:avLst/>
          </a:prstGeom>
          <a:solidFill>
            <a:schemeClr val="tx2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8" name="Rectangle 14"/>
          <p:cNvSpPr>
            <a:spLocks noChangeArrowheads="1"/>
          </p:cNvSpPr>
          <p:nvPr/>
        </p:nvSpPr>
        <p:spPr bwMode="auto">
          <a:xfrm flipV="1">
            <a:off x="4029720" y="4189627"/>
            <a:ext cx="238000" cy="254967"/>
          </a:xfrm>
          <a:prstGeom prst="ellipse">
            <a:avLst/>
          </a:prstGeom>
          <a:solidFill>
            <a:schemeClr val="tx2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0" name="Rectangle 14"/>
          <p:cNvSpPr>
            <a:spLocks noChangeArrowheads="1"/>
          </p:cNvSpPr>
          <p:nvPr/>
        </p:nvSpPr>
        <p:spPr bwMode="auto">
          <a:xfrm flipV="1">
            <a:off x="4029720" y="4568701"/>
            <a:ext cx="238000" cy="254967"/>
          </a:xfrm>
          <a:prstGeom prst="ellipse">
            <a:avLst/>
          </a:prstGeom>
          <a:solidFill>
            <a:schemeClr val="tx2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86" name="직선 연결선 85"/>
          <p:cNvCxnSpPr/>
          <p:nvPr/>
        </p:nvCxnSpPr>
        <p:spPr>
          <a:xfrm flipV="1">
            <a:off x="5107081" y="2901544"/>
            <a:ext cx="0" cy="3352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248</a:t>
            </a:r>
            <a:endParaRPr lang="ko-KR" altLang="en-US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6EF2322-8D11-428E-BEA6-10AB40FF32FA}"/>
              </a:ext>
            </a:extLst>
          </p:cNvPr>
          <p:cNvCxnSpPr/>
          <p:nvPr/>
        </p:nvCxnSpPr>
        <p:spPr>
          <a:xfrm flipV="1">
            <a:off x="3017520" y="5081188"/>
            <a:ext cx="1773936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2CC600F-2FFC-4BBC-8A43-8D80EBEAD357}"/>
              </a:ext>
            </a:extLst>
          </p:cNvPr>
          <p:cNvSpPr/>
          <p:nvPr/>
        </p:nvSpPr>
        <p:spPr>
          <a:xfrm>
            <a:off x="1831472" y="4905411"/>
            <a:ext cx="1186048" cy="339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52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</a:rPr>
              <a:t>조의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2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</a:rPr>
              <a:t>확공조국등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Rectangle 14">
            <a:extLst>
              <a:ext uri="{FF2B5EF4-FFF2-40B4-BE49-F238E27FC236}">
                <a16:creationId xmlns:a16="http://schemas.microsoft.com/office/drawing/2014/main" id="{35494A1B-2E26-499B-A327-789E2ED885E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029720" y="4947775"/>
            <a:ext cx="238000" cy="254967"/>
          </a:xfrm>
          <a:prstGeom prst="ellipse">
            <a:avLst/>
          </a:prstGeom>
          <a:solidFill>
            <a:schemeClr val="tx2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EB0A3-420D-4326-AA64-ECED40BF98A2}"/>
              </a:ext>
            </a:extLst>
          </p:cNvPr>
          <p:cNvSpPr txBox="1"/>
          <p:nvPr/>
        </p:nvSpPr>
        <p:spPr>
          <a:xfrm>
            <a:off x="3921553" y="3695193"/>
            <a:ext cx="545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30</a:t>
            </a:r>
            <a:r>
              <a:rPr lang="ko-KR" altLang="en-US" sz="1400" dirty="0"/>
              <a:t>일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9AE2169-91D8-8323-804A-C79542F598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588999"/>
              </p:ext>
            </p:extLst>
          </p:nvPr>
        </p:nvGraphicFramePr>
        <p:xfrm>
          <a:off x="5237017" y="2683627"/>
          <a:ext cx="6712933" cy="3887495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371907">
                  <a:extLst>
                    <a:ext uri="{9D8B030D-6E8A-4147-A177-3AD203B41FA5}">
                      <a16:colId xmlns:a16="http://schemas.microsoft.com/office/drawing/2014/main" val="1461148948"/>
                    </a:ext>
                  </a:extLst>
                </a:gridCol>
                <a:gridCol w="595052">
                  <a:extLst>
                    <a:ext uri="{9D8B030D-6E8A-4147-A177-3AD203B41FA5}">
                      <a16:colId xmlns:a16="http://schemas.microsoft.com/office/drawing/2014/main" val="3582116031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2206439343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294787185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2107582032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3697112305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3014905108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2796026407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2964672037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3080475067"/>
                    </a:ext>
                  </a:extLst>
                </a:gridCol>
                <a:gridCol w="576457">
                  <a:extLst>
                    <a:ext uri="{9D8B030D-6E8A-4147-A177-3AD203B41FA5}">
                      <a16:colId xmlns:a16="http://schemas.microsoft.com/office/drawing/2014/main" val="3334660690"/>
                    </a:ext>
                  </a:extLst>
                </a:gridCol>
                <a:gridCol w="557861">
                  <a:extLst>
                    <a:ext uri="{9D8B030D-6E8A-4147-A177-3AD203B41FA5}">
                      <a16:colId xmlns:a16="http://schemas.microsoft.com/office/drawing/2014/main" val="460915898"/>
                    </a:ext>
                  </a:extLst>
                </a:gridCol>
              </a:tblGrid>
              <a:tr h="330821">
                <a:tc rowSpan="2"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연도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출원건수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심사청구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출원연도별 </a:t>
                      </a:r>
                      <a:endParaRPr lang="en-US" altLang="ko-KR" sz="900" b="0" u="none" strike="noStrike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ctr" fontAlgn="ctr"/>
                      <a:r>
                        <a:rPr lang="ko-KR" altLang="en-US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심사청구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980850"/>
                  </a:ext>
                </a:extLst>
              </a:tr>
              <a:tr h="39518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2015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2016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2017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2018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2019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2020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2021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2022</a:t>
                      </a:r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년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건수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비율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434422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2022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237,633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144,049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144,049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60.62%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6743824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2021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237,998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147,536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17,448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164,984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69.32%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40094376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2020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226,759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140,508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16,393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12,542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169,443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74.72%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8556663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2019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218,975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133,263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16,150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12,037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25,783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187,233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85.50%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66933058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2018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209,992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129,951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5,688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10,721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32,615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1,182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180,157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85.79%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79797133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2017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204,775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127,442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5,084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5,279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29,193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6,011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1,504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174,513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85.22%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3592289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2016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208,830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130,962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4,525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4,859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10,828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8,365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18,463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178,002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85.24%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07697407"/>
                  </a:ext>
                </a:extLst>
              </a:tr>
              <a:tr h="395186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2015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213,694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132,625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4,499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3,676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11,830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9,122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18,905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ko-KR" altLang="en-US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u="none" strike="noStrike">
                          <a:solidFill>
                            <a:srgbClr val="000000"/>
                          </a:solidFill>
                          <a:effectLst/>
                        </a:rPr>
                        <a:t>180,657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84.54%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96825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8261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직선 연결선 22"/>
          <p:cNvCxnSpPr/>
          <p:nvPr/>
        </p:nvCxnSpPr>
        <p:spPr>
          <a:xfrm>
            <a:off x="1876550" y="1695450"/>
            <a:ext cx="0" cy="462048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59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60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심사청구의 절차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제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60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조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  <a:endParaRPr lang="ko-KR" alt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48000" y="2152650"/>
            <a:ext cx="1657100" cy="5957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/>
              <a:t>출원인의</a:t>
            </a:r>
            <a:endParaRPr lang="en-US" altLang="ko-KR" sz="1400" dirty="0"/>
          </a:p>
          <a:p>
            <a:pPr algn="ctr"/>
            <a:r>
              <a:rPr lang="ko-KR" altLang="en-US" sz="1400" dirty="0" err="1"/>
              <a:t>심사청구서</a:t>
            </a:r>
            <a:r>
              <a:rPr lang="ko-KR" altLang="en-US" sz="1400" dirty="0"/>
              <a:t> 제출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8000" y="3052150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 err="1"/>
              <a:t>심사청구료</a:t>
            </a:r>
            <a:r>
              <a:rPr lang="ko-KR" altLang="en-US" sz="1400" dirty="0"/>
              <a:t> 납부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8000" y="4139842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/>
              <a:t>심사청구사실 게재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8000" y="5590315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 err="1"/>
              <a:t>실체심사</a:t>
            </a:r>
            <a:endParaRPr lang="ko-KR" altLang="en-US" sz="1400" dirty="0"/>
          </a:p>
        </p:txBody>
      </p:sp>
      <p:cxnSp>
        <p:nvCxnSpPr>
          <p:cNvPr id="60" name="직선 연결선 59"/>
          <p:cNvCxnSpPr/>
          <p:nvPr/>
        </p:nvCxnSpPr>
        <p:spPr>
          <a:xfrm>
            <a:off x="9982325" y="1695450"/>
            <a:ext cx="0" cy="462048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153775" y="2152650"/>
            <a:ext cx="1657100" cy="5957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/>
              <a:t>제</a:t>
            </a:r>
            <a:r>
              <a:rPr lang="en-US" altLang="ko-KR" sz="1400" dirty="0"/>
              <a:t>3</a:t>
            </a:r>
            <a:r>
              <a:rPr lang="ko-KR" altLang="en-US" sz="1400" dirty="0"/>
              <a:t>자의</a:t>
            </a:r>
            <a:endParaRPr lang="en-US" altLang="ko-KR" sz="1400" dirty="0"/>
          </a:p>
          <a:p>
            <a:pPr algn="ctr"/>
            <a:r>
              <a:rPr lang="ko-KR" altLang="en-US" sz="1400" dirty="0" err="1"/>
              <a:t>심사청구서</a:t>
            </a:r>
            <a:r>
              <a:rPr lang="ko-KR" altLang="en-US" sz="1400" dirty="0"/>
              <a:t> 제출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53775" y="3061675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 err="1"/>
              <a:t>심사청구료</a:t>
            </a:r>
            <a:r>
              <a:rPr lang="ko-KR" altLang="en-US" sz="1400" dirty="0"/>
              <a:t> 납부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53775" y="4139842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/>
              <a:t>심사청구사실 게재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53775" y="4809265"/>
            <a:ext cx="1657100" cy="324710"/>
          </a:xfrm>
          <a:prstGeom prst="rect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/>
              <a:t>심사청구사실 통지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53775" y="5590315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 err="1"/>
              <a:t>실체심사</a:t>
            </a:r>
            <a:endParaRPr lang="ko-KR" altLang="en-US" sz="1400" dirty="0"/>
          </a:p>
        </p:txBody>
      </p:sp>
      <p:sp>
        <p:nvSpPr>
          <p:cNvPr id="71" name="TextBox 70"/>
          <p:cNvSpPr txBox="1"/>
          <p:nvPr/>
        </p:nvSpPr>
        <p:spPr>
          <a:xfrm>
            <a:off x="2930526" y="1531425"/>
            <a:ext cx="3060700" cy="8264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ko-KR" sz="1200" dirty="0"/>
              <a:t>ⅰ) </a:t>
            </a:r>
            <a:r>
              <a:rPr lang="ko-KR" altLang="en-US" sz="1200" dirty="0"/>
              <a:t>명세서에 청구범위를 적지 아니한 경우 또는 </a:t>
            </a:r>
            <a:r>
              <a:rPr lang="en-US" altLang="ko-KR" sz="1200" dirty="0"/>
              <a:t>ⅱ) </a:t>
            </a:r>
            <a:r>
              <a:rPr lang="ko-KR" altLang="en-US" sz="1200" dirty="0" err="1"/>
              <a:t>국어번역문</a:t>
            </a:r>
            <a:r>
              <a:rPr lang="en-US" altLang="ko-KR" sz="1200" dirty="0"/>
              <a:t>(</a:t>
            </a:r>
            <a:r>
              <a:rPr lang="ko-KR" altLang="en-US" sz="1200" dirty="0"/>
              <a:t>法 </a:t>
            </a:r>
            <a:r>
              <a:rPr lang="en-US" altLang="ko-KR" sz="1200" dirty="0"/>
              <a:t>42</a:t>
            </a:r>
            <a:r>
              <a:rPr lang="ko-KR" altLang="en-US" sz="1200" dirty="0"/>
              <a:t>의</a:t>
            </a:r>
            <a:r>
              <a:rPr lang="en-US" altLang="ko-KR" sz="1200" dirty="0"/>
              <a:t>3</a:t>
            </a:r>
            <a:r>
              <a:rPr lang="ko-KR" altLang="en-US" sz="1200" dirty="0"/>
              <a:t>②</a:t>
            </a:r>
            <a:r>
              <a:rPr lang="en-US" altLang="ko-KR" sz="1200" dirty="0"/>
              <a:t>)</a:t>
            </a:r>
            <a:r>
              <a:rPr lang="ko-KR" altLang="en-US" sz="1200" dirty="0"/>
              <a:t>을 제출하지 아니한 경우</a:t>
            </a:r>
            <a:r>
              <a:rPr lang="en-US" altLang="ko-KR" sz="1200" dirty="0"/>
              <a:t>(</a:t>
            </a:r>
            <a:r>
              <a:rPr lang="ko-KR" altLang="en-US" sz="1200" dirty="0"/>
              <a:t>외국어특허출원의 경우로 한정한다</a:t>
            </a:r>
            <a:r>
              <a:rPr lang="en-US" altLang="ko-KR" sz="1200" dirty="0"/>
              <a:t>) </a:t>
            </a:r>
            <a:r>
              <a:rPr lang="ko-KR" altLang="en-US" sz="1200" dirty="0"/>
              <a:t>심사청구 不可</a:t>
            </a:r>
            <a:endParaRPr lang="ko-KR" altLang="en-US" sz="1050" dirty="0"/>
          </a:p>
        </p:txBody>
      </p:sp>
      <p:cxnSp>
        <p:nvCxnSpPr>
          <p:cNvPr id="30" name="직선 연결선 29"/>
          <p:cNvCxnSpPr>
            <a:stCxn id="71" idx="1"/>
          </p:cNvCxnSpPr>
          <p:nvPr/>
        </p:nvCxnSpPr>
        <p:spPr>
          <a:xfrm flipH="1">
            <a:off x="1876550" y="1944626"/>
            <a:ext cx="1053976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048000" y="3624202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 err="1"/>
              <a:t>방식심사</a:t>
            </a:r>
            <a:endParaRPr lang="ko-KR" alt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9153775" y="3614677"/>
            <a:ext cx="1657100" cy="3247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400" dirty="0" err="1"/>
              <a:t>방식심사</a:t>
            </a:r>
            <a:endParaRPr lang="ko-KR" altLang="en-US" sz="1400" dirty="0"/>
          </a:p>
        </p:txBody>
      </p:sp>
      <p:sp>
        <p:nvSpPr>
          <p:cNvPr id="41" name="모서리가 둥근 사각형 설명선 40"/>
          <p:cNvSpPr/>
          <p:nvPr/>
        </p:nvSpPr>
        <p:spPr>
          <a:xfrm>
            <a:off x="2968626" y="2601250"/>
            <a:ext cx="2670175" cy="395040"/>
          </a:xfrm>
          <a:prstGeom prst="wedgeRoundRectCallout">
            <a:avLst>
              <a:gd name="adj1" fmla="val -58429"/>
              <a:gd name="adj2" fmla="val -36357"/>
              <a:gd name="adj3" fmla="val 1666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>
                <a:solidFill>
                  <a:schemeClr val="tx1"/>
                </a:solidFill>
              </a:rPr>
              <a:t>출원서에</a:t>
            </a:r>
            <a:r>
              <a:rPr lang="ko-KR" altLang="en-US" sz="1200" dirty="0">
                <a:solidFill>
                  <a:schemeClr val="tx1"/>
                </a:solidFill>
              </a:rPr>
              <a:t> 취지 기재하고 생략 가능</a:t>
            </a:r>
          </a:p>
        </p:txBody>
      </p:sp>
      <p:cxnSp>
        <p:nvCxnSpPr>
          <p:cNvPr id="51" name="꺾인 연결선 50"/>
          <p:cNvCxnSpPr>
            <a:stCxn id="37" idx="1"/>
            <a:endCxn id="59" idx="1"/>
          </p:cNvCxnSpPr>
          <p:nvPr/>
        </p:nvCxnSpPr>
        <p:spPr>
          <a:xfrm rot="10800000" flipV="1">
            <a:off x="1048000" y="2450500"/>
            <a:ext cx="12700" cy="3302169"/>
          </a:xfrm>
          <a:prstGeom prst="bentConnector3">
            <a:avLst>
              <a:gd name="adj1" fmla="val 3925717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꺾인 연결선 87"/>
          <p:cNvCxnSpPr>
            <a:stCxn id="62" idx="3"/>
            <a:endCxn id="69" idx="3"/>
          </p:cNvCxnSpPr>
          <p:nvPr/>
        </p:nvCxnSpPr>
        <p:spPr>
          <a:xfrm>
            <a:off x="10810875" y="2450501"/>
            <a:ext cx="12700" cy="3302169"/>
          </a:xfrm>
          <a:prstGeom prst="bentConnector3">
            <a:avLst>
              <a:gd name="adj1" fmla="val 6600000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1163174" y="4169332"/>
            <a:ext cx="952500" cy="4191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200" dirty="0"/>
              <a:t>심사청구</a:t>
            </a:r>
            <a:endParaRPr lang="en-US" altLang="ko-KR" sz="1200" dirty="0"/>
          </a:p>
          <a:p>
            <a:pPr algn="ctr"/>
            <a:r>
              <a:rPr lang="ko-KR" altLang="en-US" sz="1200" dirty="0"/>
              <a:t>순서</a:t>
            </a:r>
          </a:p>
        </p:txBody>
      </p:sp>
      <p:cxnSp>
        <p:nvCxnSpPr>
          <p:cNvPr id="89" name="꺾인 연결선 88"/>
          <p:cNvCxnSpPr>
            <a:stCxn id="68" idx="3"/>
            <a:endCxn id="69" idx="0"/>
          </p:cNvCxnSpPr>
          <p:nvPr/>
        </p:nvCxnSpPr>
        <p:spPr>
          <a:xfrm flipH="1">
            <a:off x="9982325" y="4971620"/>
            <a:ext cx="828550" cy="618695"/>
          </a:xfrm>
          <a:prstGeom prst="bentConnector4">
            <a:avLst>
              <a:gd name="adj1" fmla="val -27590"/>
              <a:gd name="adj2" fmla="val 6312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0839450" y="5113311"/>
            <a:ext cx="609600" cy="1830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200"/>
              <a:t>3</a:t>
            </a:r>
            <a:r>
              <a:rPr lang="ko-KR" altLang="en-US" sz="1200" dirty="0"/>
              <a:t>개월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05501" y="4617100"/>
            <a:ext cx="4919725" cy="1209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/>
              <a:t>명세서에 청구범위를 적지 아니하거나 국어번역문을 제출하지 아니한 경우</a:t>
            </a:r>
            <a:r>
              <a:rPr lang="en-US" altLang="ko-KR" sz="1200" dirty="0"/>
              <a:t>(</a:t>
            </a:r>
            <a:r>
              <a:rPr lang="ko-KR" altLang="en-US" sz="1200" dirty="0"/>
              <a:t>외국어특허출원의 경우로 한정한다</a:t>
            </a:r>
            <a:r>
              <a:rPr lang="en-US" altLang="ko-KR" sz="1200" dirty="0"/>
              <a:t>) </a:t>
            </a:r>
            <a:r>
              <a:rPr lang="ko-KR" altLang="en-US" sz="1200" dirty="0"/>
              <a:t>제</a:t>
            </a:r>
            <a:r>
              <a:rPr lang="en-US" altLang="ko-KR" sz="1200" dirty="0"/>
              <a:t>3</a:t>
            </a:r>
            <a:r>
              <a:rPr lang="ko-KR" altLang="en-US" sz="1200" dirty="0"/>
              <a:t>자의 </a:t>
            </a:r>
            <a:r>
              <a:rPr lang="ko-KR" altLang="en-US" sz="1200" dirty="0" err="1"/>
              <a:t>출원심사</a:t>
            </a:r>
            <a:r>
              <a:rPr lang="ko-KR" altLang="en-US" sz="1200" dirty="0"/>
              <a:t> 청구의 취지를 </a:t>
            </a:r>
            <a:r>
              <a:rPr lang="ko-KR" altLang="en-US" sz="1200" dirty="0" err="1"/>
              <a:t>통지받은</a:t>
            </a:r>
            <a:r>
              <a:rPr lang="ko-KR" altLang="en-US" sz="1200" dirty="0"/>
              <a:t> 날부터 </a:t>
            </a:r>
            <a:r>
              <a:rPr lang="en-US" altLang="ko-KR" sz="1200" dirty="0"/>
              <a:t>3</a:t>
            </a:r>
            <a:r>
              <a:rPr lang="ko-KR" altLang="en-US" sz="1200" dirty="0"/>
              <a:t>개월이 되는 날 또는 출원일</a:t>
            </a:r>
            <a:r>
              <a:rPr lang="en-US" altLang="ko-KR" sz="1200" dirty="0"/>
              <a:t>(</a:t>
            </a:r>
            <a:r>
              <a:rPr lang="ko-KR" altLang="en-US" sz="1200" dirty="0"/>
              <a:t>우선권주장의 경우 최우선일</a:t>
            </a:r>
            <a:r>
              <a:rPr lang="en-US" altLang="ko-KR" sz="1200" dirty="0"/>
              <a:t>)</a:t>
            </a:r>
            <a:r>
              <a:rPr lang="ko-KR" altLang="en-US" sz="1200" dirty="0"/>
              <a:t>로부터 </a:t>
            </a:r>
            <a:r>
              <a:rPr lang="en-US" altLang="ko-KR" sz="1200" dirty="0"/>
              <a:t>1</a:t>
            </a:r>
            <a:r>
              <a:rPr lang="ko-KR" altLang="en-US" sz="1200" dirty="0"/>
              <a:t>년 </a:t>
            </a:r>
            <a:r>
              <a:rPr lang="en-US" altLang="ko-KR" sz="1200" dirty="0"/>
              <a:t>2</a:t>
            </a:r>
            <a:r>
              <a:rPr lang="ko-KR" altLang="en-US" sz="1200" dirty="0"/>
              <a:t>개월이 되는 날 중 빠른 날까지 명세서에 청구범위를 적는 보정</a:t>
            </a:r>
            <a:r>
              <a:rPr lang="en-US" altLang="ko-KR" sz="1200" dirty="0"/>
              <a:t>(</a:t>
            </a:r>
            <a:r>
              <a:rPr lang="ko-KR" altLang="en-US" sz="1200" dirty="0"/>
              <a:t>法 </a:t>
            </a:r>
            <a:r>
              <a:rPr lang="en-US" altLang="ko-KR" sz="1200" dirty="0"/>
              <a:t>42</a:t>
            </a:r>
            <a:r>
              <a:rPr lang="ko-KR" altLang="en-US" sz="1200" dirty="0"/>
              <a:t>의</a:t>
            </a:r>
            <a:r>
              <a:rPr lang="en-US" altLang="ko-KR" sz="1200" dirty="0"/>
              <a:t>2</a:t>
            </a:r>
            <a:r>
              <a:rPr lang="ko-KR" altLang="en-US" sz="1200" dirty="0"/>
              <a:t>②</a:t>
            </a:r>
            <a:r>
              <a:rPr lang="en-US" altLang="ko-KR" sz="1200" dirty="0"/>
              <a:t>) /</a:t>
            </a:r>
            <a:r>
              <a:rPr lang="ko-KR" altLang="en-US" sz="1200" dirty="0" err="1"/>
              <a:t>국어번역문</a:t>
            </a:r>
            <a:r>
              <a:rPr lang="ko-KR" altLang="en-US" sz="1200" dirty="0"/>
              <a:t> 제출</a:t>
            </a:r>
            <a:r>
              <a:rPr lang="en-US" altLang="ko-KR" sz="1200" dirty="0"/>
              <a:t>(</a:t>
            </a:r>
            <a:r>
              <a:rPr lang="ko-KR" altLang="en-US" sz="1200" dirty="0"/>
              <a:t>法 </a:t>
            </a:r>
            <a:r>
              <a:rPr lang="en-US" altLang="ko-KR" sz="1200" dirty="0"/>
              <a:t>42</a:t>
            </a:r>
            <a:r>
              <a:rPr lang="ko-KR" altLang="en-US" sz="1200" dirty="0"/>
              <a:t>의</a:t>
            </a:r>
            <a:r>
              <a:rPr lang="en-US" altLang="ko-KR" sz="1200" dirty="0"/>
              <a:t>3</a:t>
            </a:r>
            <a:r>
              <a:rPr lang="ko-KR" altLang="en-US" sz="1200" dirty="0"/>
              <a:t>②</a:t>
            </a:r>
            <a:r>
              <a:rPr lang="en-US" altLang="ko-KR" sz="1200" dirty="0"/>
              <a:t>)</a:t>
            </a:r>
            <a:r>
              <a:rPr lang="ko-KR" altLang="en-US" sz="1200" dirty="0"/>
              <a:t>하지 않으면 출원 취하 간주</a:t>
            </a:r>
            <a:endParaRPr lang="ko-KR" altLang="en-US" sz="1050" dirty="0"/>
          </a:p>
        </p:txBody>
      </p:sp>
      <p:cxnSp>
        <p:nvCxnSpPr>
          <p:cNvPr id="93" name="직선 연결선 92"/>
          <p:cNvCxnSpPr>
            <a:stCxn id="92" idx="3"/>
          </p:cNvCxnSpPr>
          <p:nvPr/>
        </p:nvCxnSpPr>
        <p:spPr>
          <a:xfrm>
            <a:off x="8325226" y="5221848"/>
            <a:ext cx="1657099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249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356855-1012-48D4-8882-297DEB2148A1}"/>
              </a:ext>
            </a:extLst>
          </p:cNvPr>
          <p:cNvSpPr txBox="1"/>
          <p:nvPr/>
        </p:nvSpPr>
        <p:spPr>
          <a:xfrm>
            <a:off x="58304" y="3972048"/>
            <a:ext cx="952500" cy="4191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200" dirty="0"/>
              <a:t>심사청구</a:t>
            </a:r>
            <a:endParaRPr lang="en-US" altLang="ko-KR" sz="1200" dirty="0"/>
          </a:p>
          <a:p>
            <a:pPr algn="ctr"/>
            <a:r>
              <a:rPr lang="ko-KR" altLang="en-US" sz="1200" dirty="0"/>
              <a:t>순서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4D7FEA-BFAD-09C0-BFA9-32F30FBAD3E7}"/>
              </a:ext>
            </a:extLst>
          </p:cNvPr>
          <p:cNvSpPr txBox="1"/>
          <p:nvPr/>
        </p:nvSpPr>
        <p:spPr>
          <a:xfrm>
            <a:off x="733412" y="1858647"/>
            <a:ext cx="1130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제</a:t>
            </a:r>
            <a:r>
              <a:rPr lang="en-US" altLang="ko-KR" sz="1400" dirty="0">
                <a:solidFill>
                  <a:srgbClr val="FF0000"/>
                </a:solidFill>
              </a:rPr>
              <a:t>60</a:t>
            </a:r>
            <a:r>
              <a:rPr lang="ko-KR" altLang="en-US" sz="1400" dirty="0">
                <a:solidFill>
                  <a:srgbClr val="FF0000"/>
                </a:solidFill>
              </a:rPr>
              <a:t>조제</a:t>
            </a:r>
            <a:r>
              <a:rPr lang="en-US" altLang="ko-KR" sz="1400" dirty="0">
                <a:solidFill>
                  <a:srgbClr val="FF0000"/>
                </a:solidFill>
              </a:rPr>
              <a:t>1</a:t>
            </a:r>
            <a:r>
              <a:rPr lang="ko-KR" altLang="en-US" sz="1400" dirty="0">
                <a:solidFill>
                  <a:srgbClr val="FF0000"/>
                </a:solidFill>
              </a:rPr>
              <a:t>항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07AF61-A5EA-DB48-8AB4-06C81572043E}"/>
              </a:ext>
            </a:extLst>
          </p:cNvPr>
          <p:cNvSpPr txBox="1"/>
          <p:nvPr/>
        </p:nvSpPr>
        <p:spPr>
          <a:xfrm>
            <a:off x="2717799" y="4017950"/>
            <a:ext cx="1130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제</a:t>
            </a:r>
            <a:r>
              <a:rPr lang="en-US" altLang="ko-KR" sz="1400" dirty="0">
                <a:solidFill>
                  <a:srgbClr val="FF0000"/>
                </a:solidFill>
              </a:rPr>
              <a:t>60</a:t>
            </a:r>
            <a:r>
              <a:rPr lang="ko-KR" altLang="en-US" sz="1400" dirty="0">
                <a:solidFill>
                  <a:srgbClr val="FF0000"/>
                </a:solidFill>
              </a:rPr>
              <a:t>조제</a:t>
            </a:r>
            <a:r>
              <a:rPr lang="en-US" altLang="ko-KR" sz="1400" dirty="0">
                <a:solidFill>
                  <a:srgbClr val="FF0000"/>
                </a:solidFill>
              </a:rPr>
              <a:t>2</a:t>
            </a:r>
            <a:r>
              <a:rPr lang="ko-KR" altLang="en-US" sz="1400" dirty="0">
                <a:solidFill>
                  <a:srgbClr val="FF0000"/>
                </a:solidFill>
              </a:rPr>
              <a:t>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00FA0C-A2F3-C255-6F89-2136569906BE}"/>
              </a:ext>
            </a:extLst>
          </p:cNvPr>
          <p:cNvSpPr txBox="1"/>
          <p:nvPr/>
        </p:nvSpPr>
        <p:spPr>
          <a:xfrm>
            <a:off x="7986140" y="4017950"/>
            <a:ext cx="1130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제</a:t>
            </a:r>
            <a:r>
              <a:rPr lang="en-US" altLang="ko-KR" sz="1400" dirty="0">
                <a:solidFill>
                  <a:srgbClr val="FF0000"/>
                </a:solidFill>
              </a:rPr>
              <a:t>60</a:t>
            </a:r>
            <a:r>
              <a:rPr lang="ko-KR" altLang="en-US" sz="1400" dirty="0">
                <a:solidFill>
                  <a:srgbClr val="FF0000"/>
                </a:solidFill>
              </a:rPr>
              <a:t>조제</a:t>
            </a:r>
            <a:r>
              <a:rPr lang="en-US" altLang="ko-KR" sz="1400" dirty="0">
                <a:solidFill>
                  <a:srgbClr val="FF0000"/>
                </a:solidFill>
              </a:rPr>
              <a:t>2</a:t>
            </a:r>
            <a:r>
              <a:rPr lang="ko-KR" altLang="en-US" sz="1400" dirty="0">
                <a:solidFill>
                  <a:srgbClr val="FF0000"/>
                </a:solidFill>
              </a:rPr>
              <a:t>항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4CF62C-1CCD-AC82-E223-1E9B5CE48C58}"/>
              </a:ext>
            </a:extLst>
          </p:cNvPr>
          <p:cNvSpPr txBox="1"/>
          <p:nvPr/>
        </p:nvSpPr>
        <p:spPr>
          <a:xfrm>
            <a:off x="10428156" y="4493021"/>
            <a:ext cx="1130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제</a:t>
            </a:r>
            <a:r>
              <a:rPr lang="en-US" altLang="ko-KR" sz="1400" dirty="0">
                <a:solidFill>
                  <a:srgbClr val="FF0000"/>
                </a:solidFill>
              </a:rPr>
              <a:t>60</a:t>
            </a:r>
            <a:r>
              <a:rPr lang="ko-KR" altLang="en-US" sz="1400" dirty="0">
                <a:solidFill>
                  <a:srgbClr val="FF0000"/>
                </a:solidFill>
              </a:rPr>
              <a:t>조제</a:t>
            </a:r>
            <a:r>
              <a:rPr lang="en-US" altLang="ko-KR" sz="1400" dirty="0">
                <a:solidFill>
                  <a:srgbClr val="FF0000"/>
                </a:solidFill>
              </a:rPr>
              <a:t>3</a:t>
            </a:r>
            <a:r>
              <a:rPr lang="ko-KR" altLang="en-US" sz="1400" dirty="0">
                <a:solidFill>
                  <a:srgbClr val="FF0000"/>
                </a:solidFill>
              </a:rPr>
              <a:t>항</a:t>
            </a:r>
          </a:p>
        </p:txBody>
      </p:sp>
    </p:spTree>
    <p:extLst>
      <p:ext uri="{BB962C8B-B14F-4D97-AF65-F5344CB8AC3E}">
        <p14:creationId xmlns:p14="http://schemas.microsoft.com/office/powerpoint/2010/main" val="4107170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양쪽 모서리가 둥근 사각형 60"/>
          <p:cNvSpPr/>
          <p:nvPr/>
        </p:nvSpPr>
        <p:spPr>
          <a:xfrm>
            <a:off x="1619250" y="3149301"/>
            <a:ext cx="5019675" cy="728813"/>
          </a:xfrm>
          <a:prstGeom prst="round2SameRect">
            <a:avLst>
              <a:gd name="adj1" fmla="val 50000"/>
              <a:gd name="adj2" fmla="val 0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양쪽 모서리가 둥근 사각형 5"/>
          <p:cNvSpPr/>
          <p:nvPr/>
        </p:nvSpPr>
        <p:spPr>
          <a:xfrm>
            <a:off x="4997720" y="3883142"/>
            <a:ext cx="3450956" cy="519042"/>
          </a:xfrm>
          <a:prstGeom prst="round2SameRect">
            <a:avLst>
              <a:gd name="adj1" fmla="val 0"/>
              <a:gd name="adj2" fmla="val 50000"/>
            </a:avLst>
          </a:prstGeom>
          <a:pattFill prst="smConfetti">
            <a:fgClr>
              <a:schemeClr val="accent2">
                <a:lumMod val="50000"/>
              </a:schemeClr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59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60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확대된 선출원과 출원공개제도를 활용한 심사청구제도 운영</a:t>
            </a:r>
          </a:p>
        </p:txBody>
      </p:sp>
      <p:cxnSp>
        <p:nvCxnSpPr>
          <p:cNvPr id="27" name="직선 연결선 26"/>
          <p:cNvCxnSpPr/>
          <p:nvPr/>
        </p:nvCxnSpPr>
        <p:spPr>
          <a:xfrm>
            <a:off x="752475" y="3887200"/>
            <a:ext cx="10715625" cy="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2784962" y="3758044"/>
            <a:ext cx="1149061" cy="250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 출원</a:t>
            </a:r>
            <a:r>
              <a:rPr lang="en-US" altLang="ko-KR" sz="1200" dirty="0">
                <a:solidFill>
                  <a:schemeClr val="tx1"/>
                </a:solidFill>
              </a:rPr>
              <a:t>(Y)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784963" y="3320973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2784963" y="3515891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6109115" y="3758044"/>
            <a:ext cx="1149061" cy="250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甲 공개</a:t>
            </a:r>
            <a:r>
              <a:rPr lang="en-US" altLang="ko-KR" sz="1200" dirty="0">
                <a:solidFill>
                  <a:schemeClr val="tx1"/>
                </a:solidFill>
              </a:rPr>
              <a:t>(X)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813965" y="3758044"/>
            <a:ext cx="1149061" cy="250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 </a:t>
            </a:r>
            <a:r>
              <a:rPr lang="ko-KR" altLang="en-US" sz="1200" dirty="0" err="1">
                <a:solidFill>
                  <a:schemeClr val="tx1"/>
                </a:solidFill>
              </a:rPr>
              <a:t>실체심사</a:t>
            </a:r>
            <a:r>
              <a:rPr lang="en-US" altLang="ko-KR" sz="1200" dirty="0">
                <a:solidFill>
                  <a:schemeClr val="tx1"/>
                </a:solidFill>
              </a:rPr>
              <a:t>(Y)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4442365" y="3758044"/>
            <a:ext cx="1149061" cy="250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 심사청구</a:t>
            </a:r>
            <a:r>
              <a:rPr lang="en-US" altLang="ko-KR" sz="1200" dirty="0">
                <a:solidFill>
                  <a:schemeClr val="tx1"/>
                </a:solidFill>
              </a:rPr>
              <a:t>(Y)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1042012" y="3758044"/>
            <a:ext cx="1149061" cy="250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甲 출원</a:t>
            </a:r>
            <a:r>
              <a:rPr lang="en-US" altLang="ko-KR" sz="1200" dirty="0">
                <a:solidFill>
                  <a:schemeClr val="tx1"/>
                </a:solidFill>
              </a:rPr>
              <a:t>(X)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042013" y="3320973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042013" y="3515891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A, 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9518815" y="3758044"/>
            <a:ext cx="1149061" cy="250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甲 보정</a:t>
            </a:r>
            <a:r>
              <a:rPr lang="en-US" altLang="ko-KR" sz="1200" dirty="0">
                <a:solidFill>
                  <a:schemeClr val="tx1"/>
                </a:solidFill>
              </a:rPr>
              <a:t>(X)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9518816" y="3320973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A, 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9518816" y="3515891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A, 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6156939" y="4459334"/>
            <a:ext cx="1149059" cy="1949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심사청구순서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3554557" y="2907148"/>
            <a:ext cx="1149059" cy="1949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년 </a:t>
            </a:r>
            <a:r>
              <a:rPr lang="en-US" altLang="ko-KR" sz="1200" dirty="0">
                <a:solidFill>
                  <a:schemeClr val="tx1"/>
                </a:solidFill>
              </a:rPr>
              <a:t>6</a:t>
            </a:r>
            <a:r>
              <a:rPr lang="ko-KR" altLang="en-US" sz="1200" dirty="0">
                <a:solidFill>
                  <a:schemeClr val="tx1"/>
                </a:solidFill>
              </a:rPr>
              <a:t>개월</a:t>
            </a:r>
          </a:p>
        </p:txBody>
      </p:sp>
      <p:cxnSp>
        <p:nvCxnSpPr>
          <p:cNvPr id="64" name="직선 연결선 63"/>
          <p:cNvCxnSpPr/>
          <p:nvPr/>
        </p:nvCxnSpPr>
        <p:spPr>
          <a:xfrm>
            <a:off x="0" y="2799899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7875" y="976902"/>
            <a:ext cx="1193632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甲 출원</a:t>
            </a:r>
            <a:r>
              <a:rPr lang="en-US" altLang="ko-KR" sz="1400" dirty="0">
                <a:solidFill>
                  <a:schemeClr val="tx2"/>
                </a:solidFill>
              </a:rPr>
              <a:t>(X)</a:t>
            </a:r>
            <a:r>
              <a:rPr lang="ko-KR" altLang="en-US" sz="1400" dirty="0">
                <a:solidFill>
                  <a:schemeClr val="tx2"/>
                </a:solidFill>
              </a:rPr>
              <a:t>의 보정유무에 따라 乙 출원</a:t>
            </a:r>
            <a:r>
              <a:rPr lang="en-US" altLang="ko-KR" sz="1400" dirty="0">
                <a:solidFill>
                  <a:schemeClr val="tx2"/>
                </a:solidFill>
              </a:rPr>
              <a:t>(Y)</a:t>
            </a:r>
            <a:r>
              <a:rPr lang="ko-KR" altLang="en-US" sz="1400" dirty="0">
                <a:solidFill>
                  <a:schemeClr val="tx2"/>
                </a:solidFill>
              </a:rPr>
              <a:t>이 선출원주의에 위반되는지 상관없이 甲 출원</a:t>
            </a:r>
            <a:r>
              <a:rPr lang="en-US" altLang="ko-KR" sz="1400" dirty="0">
                <a:solidFill>
                  <a:schemeClr val="tx2"/>
                </a:solidFill>
              </a:rPr>
              <a:t>(X)</a:t>
            </a:r>
            <a:r>
              <a:rPr lang="ko-KR" altLang="en-US" sz="1400" dirty="0">
                <a:solidFill>
                  <a:schemeClr val="tx2"/>
                </a:solidFill>
              </a:rPr>
              <a:t>의 공개를 요건으로 甲 출원</a:t>
            </a:r>
            <a:r>
              <a:rPr lang="en-US" altLang="ko-KR" sz="1400" dirty="0">
                <a:solidFill>
                  <a:schemeClr val="tx2"/>
                </a:solidFill>
              </a:rPr>
              <a:t>(X)</a:t>
            </a:r>
            <a:r>
              <a:rPr lang="ko-KR" altLang="en-US" sz="1400" dirty="0">
                <a:solidFill>
                  <a:schemeClr val="tx2"/>
                </a:solidFill>
              </a:rPr>
              <a:t>의 출원일의 다음날부터 출원공개 전 사이에서 선출원의 범위를 청구범위</a:t>
            </a:r>
            <a:r>
              <a:rPr lang="en-US" altLang="ko-KR" sz="1400" dirty="0">
                <a:solidFill>
                  <a:schemeClr val="tx2"/>
                </a:solidFill>
              </a:rPr>
              <a:t>(A)</a:t>
            </a:r>
            <a:r>
              <a:rPr lang="ko-KR" altLang="en-US" sz="1400" dirty="0">
                <a:solidFill>
                  <a:schemeClr val="tx2"/>
                </a:solidFill>
              </a:rPr>
              <a:t>로부터 최초 명세서 또는 도면</a:t>
            </a:r>
            <a:r>
              <a:rPr lang="en-US" altLang="ko-KR" sz="1400" dirty="0">
                <a:solidFill>
                  <a:schemeClr val="tx2"/>
                </a:solidFill>
              </a:rPr>
              <a:t>(A, B)</a:t>
            </a:r>
            <a:r>
              <a:rPr lang="ko-KR" altLang="en-US" sz="1400" dirty="0">
                <a:solidFill>
                  <a:schemeClr val="tx2"/>
                </a:solidFill>
              </a:rPr>
              <a:t>의 범위로 확대하여 먼저 심사청구한 </a:t>
            </a:r>
            <a:r>
              <a:rPr lang="ko-KR" altLang="en-US" sz="1400" dirty="0" err="1">
                <a:solidFill>
                  <a:schemeClr val="tx2"/>
                </a:solidFill>
              </a:rPr>
              <a:t>후출원인</a:t>
            </a:r>
            <a:r>
              <a:rPr lang="ko-KR" altLang="en-US" sz="1400" dirty="0">
                <a:solidFill>
                  <a:schemeClr val="tx2"/>
                </a:solidFill>
              </a:rPr>
              <a:t> 乙 출원</a:t>
            </a:r>
            <a:r>
              <a:rPr lang="en-US" altLang="ko-KR" sz="1400" dirty="0">
                <a:solidFill>
                  <a:schemeClr val="tx2"/>
                </a:solidFill>
              </a:rPr>
              <a:t>(Y)</a:t>
            </a:r>
            <a:r>
              <a:rPr lang="ko-KR" altLang="en-US" sz="1400" dirty="0">
                <a:solidFill>
                  <a:schemeClr val="tx2"/>
                </a:solidFill>
              </a:rPr>
              <a:t>을 확대된 </a:t>
            </a:r>
            <a:r>
              <a:rPr lang="ko-KR" altLang="en-US" sz="1400" dirty="0" err="1">
                <a:solidFill>
                  <a:schemeClr val="tx2"/>
                </a:solidFill>
              </a:rPr>
              <a:t>선출원</a:t>
            </a:r>
            <a:r>
              <a:rPr lang="ko-KR" altLang="en-US" sz="1400" dirty="0">
                <a:solidFill>
                  <a:schemeClr val="tx2"/>
                </a:solidFill>
              </a:rPr>
              <a:t> 위반으로 </a:t>
            </a:r>
            <a:r>
              <a:rPr lang="ko-KR" altLang="en-US" sz="1400" dirty="0" err="1">
                <a:solidFill>
                  <a:schemeClr val="tx2"/>
                </a:solidFill>
              </a:rPr>
              <a:t>거절시킴으로써</a:t>
            </a:r>
            <a:r>
              <a:rPr lang="ko-KR" altLang="en-US" sz="1400" dirty="0">
                <a:solidFill>
                  <a:schemeClr val="tx2"/>
                </a:solidFill>
              </a:rPr>
              <a:t> 심사청구순서에 따라 실체심사를 진행한다는 </a:t>
            </a:r>
            <a:r>
              <a:rPr lang="ko-KR" altLang="en-US" sz="1400" dirty="0">
                <a:highlight>
                  <a:srgbClr val="FFFF00"/>
                </a:highlight>
              </a:rPr>
              <a:t>심사청구제도를 효율적으로 운용</a:t>
            </a:r>
            <a:r>
              <a:rPr lang="ko-KR" altLang="en-US" sz="1400" dirty="0">
                <a:solidFill>
                  <a:schemeClr val="tx2"/>
                </a:solidFill>
              </a:rPr>
              <a:t>할 수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다만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출원일로부터 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년이 되기 전 특허결정을 하는 경우 심사관은 특허결정을 하되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 err="1">
                <a:solidFill>
                  <a:schemeClr val="tx2"/>
                </a:solidFill>
              </a:rPr>
              <a:t>조약우선권주장출원의</a:t>
            </a:r>
            <a:r>
              <a:rPr lang="ko-KR" altLang="en-US" sz="1400" dirty="0">
                <a:solidFill>
                  <a:schemeClr val="tx2"/>
                </a:solidFill>
              </a:rPr>
              <a:t> 우선기간</a:t>
            </a:r>
            <a:r>
              <a:rPr lang="en-US" altLang="ko-KR" sz="1400" dirty="0">
                <a:solidFill>
                  <a:schemeClr val="tx2"/>
                </a:solidFill>
              </a:rPr>
              <a:t>(1</a:t>
            </a:r>
            <a:r>
              <a:rPr lang="ko-KR" altLang="en-US" sz="1400" dirty="0">
                <a:solidFill>
                  <a:schemeClr val="tx2"/>
                </a:solidFill>
              </a:rPr>
              <a:t>년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을 고려하여 선출원주의 위반 여부를 판단할 수 없다는 단서를 붙이고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또한 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년 </a:t>
            </a:r>
            <a:r>
              <a:rPr lang="en-US" altLang="ko-KR" sz="1400" dirty="0">
                <a:solidFill>
                  <a:schemeClr val="tx2"/>
                </a:solidFill>
              </a:rPr>
              <a:t>6</a:t>
            </a:r>
            <a:r>
              <a:rPr lang="ko-KR" altLang="en-US" sz="1400" dirty="0">
                <a:solidFill>
                  <a:schemeClr val="tx2"/>
                </a:solidFill>
              </a:rPr>
              <a:t>개월이 되기 전 특허결정을 하는 경우에는 심사관은 선출원의 공개 여부가 불명확하기 때문에 확대된 </a:t>
            </a:r>
            <a:r>
              <a:rPr lang="ko-KR" altLang="en-US" sz="1400" dirty="0" err="1">
                <a:solidFill>
                  <a:schemeClr val="tx2"/>
                </a:solidFill>
              </a:rPr>
              <a:t>선출원</a:t>
            </a:r>
            <a:r>
              <a:rPr lang="ko-KR" altLang="en-US" sz="1400" dirty="0">
                <a:solidFill>
                  <a:schemeClr val="tx2"/>
                </a:solidFill>
              </a:rPr>
              <a:t> 위반을 판단할 수 없다는 단서를 붙이고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즉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en-US" altLang="ko-KR" sz="1400" dirty="0">
                <a:highlight>
                  <a:srgbClr val="FFFF00"/>
                </a:highlight>
              </a:rPr>
              <a:t>ⅰ) </a:t>
            </a:r>
            <a:r>
              <a:rPr lang="ko-KR" altLang="en-US" sz="1400" dirty="0">
                <a:highlight>
                  <a:srgbClr val="FFFF00"/>
                </a:highlight>
              </a:rPr>
              <a:t>출원일로부터 </a:t>
            </a:r>
            <a:r>
              <a:rPr lang="en-US" altLang="ko-KR" sz="1400" dirty="0">
                <a:highlight>
                  <a:srgbClr val="FFFF00"/>
                </a:highlight>
              </a:rPr>
              <a:t>1</a:t>
            </a:r>
            <a:r>
              <a:rPr lang="ko-KR" altLang="en-US" sz="1400" dirty="0">
                <a:highlight>
                  <a:srgbClr val="FFFF00"/>
                </a:highlight>
              </a:rPr>
              <a:t>년이 지나기 전 특허결정을 할 때는 선출원주의</a:t>
            </a:r>
            <a:r>
              <a:rPr lang="en-US" altLang="ko-KR" sz="1400" dirty="0"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highlight>
                  <a:srgbClr val="FFFF00"/>
                </a:highlight>
              </a:rPr>
              <a:t>확대된 </a:t>
            </a:r>
            <a:r>
              <a:rPr lang="ko-KR" altLang="en-US" sz="1400" dirty="0" err="1">
                <a:highlight>
                  <a:srgbClr val="FFFF00"/>
                </a:highlight>
              </a:rPr>
              <a:t>선출원</a:t>
            </a:r>
            <a:r>
              <a:rPr lang="ko-KR" altLang="en-US" sz="1400" dirty="0">
                <a:highlight>
                  <a:srgbClr val="FFFF00"/>
                </a:highlight>
              </a:rPr>
              <a:t> 위반 여부를 판단할 수 없다는</a:t>
            </a:r>
            <a:r>
              <a:rPr lang="en-US" altLang="ko-KR" sz="1400" dirty="0">
                <a:highlight>
                  <a:srgbClr val="FFFF00"/>
                </a:highlight>
              </a:rPr>
              <a:t>, ⅱ) </a:t>
            </a:r>
            <a:r>
              <a:rPr lang="ko-KR" altLang="en-US" sz="1400" dirty="0">
                <a:highlight>
                  <a:srgbClr val="FFFF00"/>
                </a:highlight>
              </a:rPr>
              <a:t>출원일로부터 </a:t>
            </a:r>
            <a:r>
              <a:rPr lang="en-US" altLang="ko-KR" sz="1400" dirty="0">
                <a:highlight>
                  <a:srgbClr val="FFFF00"/>
                </a:highlight>
              </a:rPr>
              <a:t>1</a:t>
            </a:r>
            <a:r>
              <a:rPr lang="ko-KR" altLang="en-US" sz="1400" dirty="0">
                <a:highlight>
                  <a:srgbClr val="FFFF00"/>
                </a:highlight>
              </a:rPr>
              <a:t>년이 지난 후 </a:t>
            </a:r>
            <a:r>
              <a:rPr lang="en-US" altLang="ko-KR" sz="1400" dirty="0">
                <a:highlight>
                  <a:srgbClr val="FFFF00"/>
                </a:highlight>
              </a:rPr>
              <a:t>1</a:t>
            </a:r>
            <a:r>
              <a:rPr lang="ko-KR" altLang="en-US" sz="1400" dirty="0">
                <a:highlight>
                  <a:srgbClr val="FFFF00"/>
                </a:highlight>
              </a:rPr>
              <a:t>년 </a:t>
            </a:r>
            <a:r>
              <a:rPr lang="en-US" altLang="ko-KR" sz="1400" dirty="0">
                <a:highlight>
                  <a:srgbClr val="FFFF00"/>
                </a:highlight>
              </a:rPr>
              <a:t>6</a:t>
            </a:r>
            <a:r>
              <a:rPr lang="ko-KR" altLang="en-US" sz="1400" dirty="0">
                <a:highlight>
                  <a:srgbClr val="FFFF00"/>
                </a:highlight>
              </a:rPr>
              <a:t>개월이 지나기 전 특허결정을 할 때는 확대된 </a:t>
            </a:r>
            <a:r>
              <a:rPr lang="ko-KR" altLang="en-US" sz="1400" dirty="0" err="1">
                <a:highlight>
                  <a:srgbClr val="FFFF00"/>
                </a:highlight>
              </a:rPr>
              <a:t>선출원</a:t>
            </a:r>
            <a:r>
              <a:rPr lang="ko-KR" altLang="en-US" sz="1400" dirty="0">
                <a:highlight>
                  <a:srgbClr val="FFFF00"/>
                </a:highlight>
              </a:rPr>
              <a:t> 위반 여부를 판단할 수 없다는 단서</a:t>
            </a:r>
            <a:r>
              <a:rPr lang="ko-KR" altLang="en-US" sz="1400" dirty="0">
                <a:solidFill>
                  <a:schemeClr val="tx2"/>
                </a:solidFill>
              </a:rPr>
              <a:t>를 붙이고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한편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심사관이 </a:t>
            </a:r>
            <a:r>
              <a:rPr lang="ko-KR" altLang="en-US" sz="1400" dirty="0" err="1">
                <a:solidFill>
                  <a:schemeClr val="tx2"/>
                </a:solidFill>
              </a:rPr>
              <a:t>선출원</a:t>
            </a:r>
            <a:r>
              <a:rPr lang="en-US" altLang="ko-KR" sz="1400" dirty="0">
                <a:solidFill>
                  <a:schemeClr val="tx2"/>
                </a:solidFill>
              </a:rPr>
              <a:t>(X)</a:t>
            </a:r>
            <a:r>
              <a:rPr lang="ko-KR" altLang="en-US" sz="1400" dirty="0">
                <a:solidFill>
                  <a:schemeClr val="tx2"/>
                </a:solidFill>
              </a:rPr>
              <a:t>이 있음을 발견한 경우에는 선출원이 출원공개 또는 </a:t>
            </a:r>
            <a:r>
              <a:rPr lang="ko-KR" altLang="en-US" sz="1400" dirty="0" err="1">
                <a:solidFill>
                  <a:schemeClr val="tx2"/>
                </a:solidFill>
              </a:rPr>
              <a:t>등록공고될</a:t>
            </a:r>
            <a:r>
              <a:rPr lang="ko-KR" altLang="en-US" sz="1400" dirty="0">
                <a:solidFill>
                  <a:schemeClr val="tx2"/>
                </a:solidFill>
              </a:rPr>
              <a:t> 때까지 심사를 보류하게 된다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施規 </a:t>
            </a:r>
            <a:r>
              <a:rPr lang="en-US" altLang="ko-KR" sz="1400" dirty="0">
                <a:solidFill>
                  <a:schemeClr val="tx2"/>
                </a:solidFill>
              </a:rPr>
              <a:t>40</a:t>
            </a:r>
            <a:r>
              <a:rPr lang="ko-KR" altLang="en-US" sz="1400" dirty="0">
                <a:solidFill>
                  <a:schemeClr val="tx2"/>
                </a:solidFill>
              </a:rPr>
              <a:t>본문</a:t>
            </a:r>
            <a:r>
              <a:rPr lang="en-US" altLang="ko-KR" sz="1400" dirty="0">
                <a:solidFill>
                  <a:schemeClr val="tx2"/>
                </a:solidFill>
              </a:rPr>
              <a:t>).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250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85EDDAB-C0AA-4F61-9050-F23FDE1ACF50}"/>
              </a:ext>
            </a:extLst>
          </p:cNvPr>
          <p:cNvCxnSpPr/>
          <p:nvPr/>
        </p:nvCxnSpPr>
        <p:spPr>
          <a:xfrm>
            <a:off x="77875" y="4728754"/>
            <a:ext cx="12114124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양쪽 모서리가 둥근 사각형 60">
            <a:extLst>
              <a:ext uri="{FF2B5EF4-FFF2-40B4-BE49-F238E27FC236}">
                <a16:creationId xmlns:a16="http://schemas.microsoft.com/office/drawing/2014/main" id="{57C78D84-C23F-42A3-93B9-A7224F75E430}"/>
              </a:ext>
            </a:extLst>
          </p:cNvPr>
          <p:cNvSpPr/>
          <p:nvPr/>
        </p:nvSpPr>
        <p:spPr>
          <a:xfrm>
            <a:off x="1619250" y="5168673"/>
            <a:ext cx="8465276" cy="728813"/>
          </a:xfrm>
          <a:prstGeom prst="round2SameRect">
            <a:avLst>
              <a:gd name="adj1" fmla="val 50000"/>
              <a:gd name="adj2" fmla="val 0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양쪽 모서리가 둥근 사각형 5">
            <a:extLst>
              <a:ext uri="{FF2B5EF4-FFF2-40B4-BE49-F238E27FC236}">
                <a16:creationId xmlns:a16="http://schemas.microsoft.com/office/drawing/2014/main" id="{EF12874C-A031-4B6C-8425-E2DD5F32D93A}"/>
              </a:ext>
            </a:extLst>
          </p:cNvPr>
          <p:cNvSpPr/>
          <p:nvPr/>
        </p:nvSpPr>
        <p:spPr>
          <a:xfrm>
            <a:off x="4997720" y="5902514"/>
            <a:ext cx="3450956" cy="519042"/>
          </a:xfrm>
          <a:prstGeom prst="round2SameRect">
            <a:avLst>
              <a:gd name="adj1" fmla="val 0"/>
              <a:gd name="adj2" fmla="val 50000"/>
            </a:avLst>
          </a:prstGeom>
          <a:pattFill prst="smConfetti">
            <a:fgClr>
              <a:schemeClr val="accent2">
                <a:lumMod val="50000"/>
              </a:schemeClr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D625EB-1736-4C5A-928C-1D1DD26AEAA4}"/>
              </a:ext>
            </a:extLst>
          </p:cNvPr>
          <p:cNvCxnSpPr/>
          <p:nvPr/>
        </p:nvCxnSpPr>
        <p:spPr>
          <a:xfrm>
            <a:off x="752475" y="5906572"/>
            <a:ext cx="10715625" cy="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B64BB94-1BD9-4A73-83BE-86236623960B}"/>
              </a:ext>
            </a:extLst>
          </p:cNvPr>
          <p:cNvSpPr/>
          <p:nvPr/>
        </p:nvSpPr>
        <p:spPr>
          <a:xfrm>
            <a:off x="2784962" y="5777416"/>
            <a:ext cx="1149061" cy="250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 출원</a:t>
            </a:r>
            <a:r>
              <a:rPr lang="en-US" altLang="ko-KR" sz="1200" dirty="0">
                <a:solidFill>
                  <a:schemeClr val="tx1"/>
                </a:solidFill>
              </a:rPr>
              <a:t>(Y)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9FEDD09-D265-482C-B9F9-CCED5BF53268}"/>
              </a:ext>
            </a:extLst>
          </p:cNvPr>
          <p:cNvSpPr/>
          <p:nvPr/>
        </p:nvSpPr>
        <p:spPr>
          <a:xfrm>
            <a:off x="2784963" y="5340345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DD220C2-8876-4DAC-AA1D-ACF066FF1429}"/>
              </a:ext>
            </a:extLst>
          </p:cNvPr>
          <p:cNvSpPr/>
          <p:nvPr/>
        </p:nvSpPr>
        <p:spPr>
          <a:xfrm>
            <a:off x="2784963" y="5535263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5D3F878-A60A-4C8B-8383-1E23AA0CC957}"/>
              </a:ext>
            </a:extLst>
          </p:cNvPr>
          <p:cNvSpPr/>
          <p:nvPr/>
        </p:nvSpPr>
        <p:spPr>
          <a:xfrm>
            <a:off x="9509995" y="5777416"/>
            <a:ext cx="1149061" cy="250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甲 공개</a:t>
            </a:r>
            <a:r>
              <a:rPr lang="en-US" altLang="ko-KR" sz="1200" dirty="0">
                <a:solidFill>
                  <a:schemeClr val="tx1"/>
                </a:solidFill>
              </a:rPr>
              <a:t>(X)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E1C9490-74DE-488A-8636-151995D0AFA4}"/>
              </a:ext>
            </a:extLst>
          </p:cNvPr>
          <p:cNvSpPr/>
          <p:nvPr/>
        </p:nvSpPr>
        <p:spPr>
          <a:xfrm>
            <a:off x="7813965" y="5777416"/>
            <a:ext cx="1149061" cy="250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 </a:t>
            </a:r>
            <a:r>
              <a:rPr lang="ko-KR" altLang="en-US" sz="1200" dirty="0" err="1">
                <a:solidFill>
                  <a:schemeClr val="tx1"/>
                </a:solidFill>
              </a:rPr>
              <a:t>실체심사</a:t>
            </a:r>
            <a:r>
              <a:rPr lang="en-US" altLang="ko-KR" sz="1200" dirty="0">
                <a:solidFill>
                  <a:schemeClr val="tx1"/>
                </a:solidFill>
              </a:rPr>
              <a:t>(Y)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F500309D-F660-4A8D-88C6-2AA2CD5BE792}"/>
              </a:ext>
            </a:extLst>
          </p:cNvPr>
          <p:cNvSpPr/>
          <p:nvPr/>
        </p:nvSpPr>
        <p:spPr>
          <a:xfrm>
            <a:off x="4442365" y="5777416"/>
            <a:ext cx="1149061" cy="250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 심사청구</a:t>
            </a:r>
            <a:r>
              <a:rPr lang="en-US" altLang="ko-KR" sz="1200" dirty="0">
                <a:solidFill>
                  <a:schemeClr val="tx1"/>
                </a:solidFill>
              </a:rPr>
              <a:t>(Y)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397BA7F-827E-4D7A-90BA-6970CED5DD47}"/>
              </a:ext>
            </a:extLst>
          </p:cNvPr>
          <p:cNvSpPr/>
          <p:nvPr/>
        </p:nvSpPr>
        <p:spPr>
          <a:xfrm>
            <a:off x="1042012" y="5777416"/>
            <a:ext cx="1149061" cy="250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甲 출원</a:t>
            </a:r>
            <a:r>
              <a:rPr lang="en-US" altLang="ko-KR" sz="1200" dirty="0">
                <a:solidFill>
                  <a:schemeClr val="tx1"/>
                </a:solidFill>
              </a:rPr>
              <a:t>(X)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D7C5BB15-845B-418A-B5CC-D4CA8BEF3387}"/>
              </a:ext>
            </a:extLst>
          </p:cNvPr>
          <p:cNvSpPr/>
          <p:nvPr/>
        </p:nvSpPr>
        <p:spPr>
          <a:xfrm>
            <a:off x="1042013" y="5340345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BCC6F9B6-7AF0-47F7-ABB0-7308DBF72E2D}"/>
              </a:ext>
            </a:extLst>
          </p:cNvPr>
          <p:cNvSpPr/>
          <p:nvPr/>
        </p:nvSpPr>
        <p:spPr>
          <a:xfrm>
            <a:off x="1042013" y="5535263"/>
            <a:ext cx="1149059" cy="19491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A, 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CB13A7AF-7415-4581-9DA3-5034AFB200A5}"/>
              </a:ext>
            </a:extLst>
          </p:cNvPr>
          <p:cNvSpPr/>
          <p:nvPr/>
        </p:nvSpPr>
        <p:spPr>
          <a:xfrm>
            <a:off x="6156939" y="6478706"/>
            <a:ext cx="1149059" cy="1949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심사청구순서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62E8898-4897-4E3C-ACE6-BB9A31D91A1F}"/>
              </a:ext>
            </a:extLst>
          </p:cNvPr>
          <p:cNvSpPr/>
          <p:nvPr/>
        </p:nvSpPr>
        <p:spPr>
          <a:xfrm>
            <a:off x="5277358" y="4926447"/>
            <a:ext cx="1149059" cy="1949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년 </a:t>
            </a:r>
            <a:r>
              <a:rPr lang="en-US" altLang="ko-KR" sz="1200" dirty="0">
                <a:solidFill>
                  <a:schemeClr val="tx1"/>
                </a:solidFill>
              </a:rPr>
              <a:t>6</a:t>
            </a:r>
            <a:r>
              <a:rPr lang="ko-KR" altLang="en-US" sz="1200" dirty="0">
                <a:solidFill>
                  <a:schemeClr val="tx1"/>
                </a:solidFill>
              </a:rPr>
              <a:t>개월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AA12A0-5DF7-4E62-B006-1DC626593609}"/>
              </a:ext>
            </a:extLst>
          </p:cNvPr>
          <p:cNvSpPr txBox="1"/>
          <p:nvPr/>
        </p:nvSpPr>
        <p:spPr>
          <a:xfrm>
            <a:off x="8564959" y="6149454"/>
            <a:ext cx="2899059" cy="646986"/>
          </a:xfrm>
          <a:prstGeom prst="wedgeRoundRectCallout">
            <a:avLst>
              <a:gd name="adj1" fmla="val -35819"/>
              <a:gd name="adj2" fmla="val -67167"/>
              <a:gd name="adj3" fmla="val 1666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solidFill>
                  <a:srgbClr val="FF0000"/>
                </a:solidFill>
              </a:rPr>
              <a:t>선출원</a:t>
            </a:r>
            <a:r>
              <a:rPr lang="en-US" altLang="ko-KR" sz="1600" dirty="0">
                <a:solidFill>
                  <a:srgbClr val="FF0000"/>
                </a:solidFill>
              </a:rPr>
              <a:t>(X)</a:t>
            </a:r>
            <a:r>
              <a:rPr lang="ko-KR" altLang="en-US" sz="1600" dirty="0">
                <a:solidFill>
                  <a:srgbClr val="FF0000"/>
                </a:solidFill>
              </a:rPr>
              <a:t> 발견한 경우 심사보류</a:t>
            </a:r>
            <a:endParaRPr lang="en-US" altLang="ko-KR" sz="1600" dirty="0">
              <a:solidFill>
                <a:srgbClr val="FF0000"/>
              </a:solidFill>
            </a:endParaRPr>
          </a:p>
          <a:p>
            <a:r>
              <a:rPr lang="en-US" altLang="ko-KR" sz="1600" dirty="0">
                <a:solidFill>
                  <a:srgbClr val="FF0000"/>
                </a:solidFill>
              </a:rPr>
              <a:t>,</a:t>
            </a:r>
            <a:r>
              <a:rPr lang="ko-KR" altLang="en-US" sz="1600" dirty="0">
                <a:solidFill>
                  <a:srgbClr val="FF0000"/>
                </a:solidFill>
              </a:rPr>
              <a:t> 발견하지 못한 경우 특허결정</a:t>
            </a:r>
          </a:p>
        </p:txBody>
      </p:sp>
    </p:spTree>
    <p:extLst>
      <p:ext uri="{BB962C8B-B14F-4D97-AF65-F5344CB8AC3E}">
        <p14:creationId xmlns:p14="http://schemas.microsoft.com/office/powerpoint/2010/main" val="413931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61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우선심사신청사유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한양신명조" panose="02030600000101010101" pitchFamily="18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7875" y="948974"/>
            <a:ext cx="5970500" cy="8233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just" fontAlgn="base"/>
            <a:r>
              <a:rPr lang="ko-KR" altLang="en-US" sz="950" b="1" dirty="0">
                <a:solidFill>
                  <a:schemeClr val="accent1"/>
                </a:solidFill>
              </a:rPr>
              <a:t>특허법 제</a:t>
            </a:r>
            <a:r>
              <a:rPr lang="en-US" altLang="ko-KR" sz="950" b="1" dirty="0">
                <a:solidFill>
                  <a:schemeClr val="accent1"/>
                </a:solidFill>
              </a:rPr>
              <a:t>61</a:t>
            </a:r>
            <a:r>
              <a:rPr lang="ko-KR" altLang="en-US" sz="950" b="1" dirty="0">
                <a:solidFill>
                  <a:schemeClr val="accent1"/>
                </a:solidFill>
              </a:rPr>
              <a:t>조</a:t>
            </a:r>
            <a:r>
              <a:rPr lang="en-US" altLang="ko-KR" sz="950" b="1" dirty="0">
                <a:solidFill>
                  <a:schemeClr val="accent1"/>
                </a:solidFill>
              </a:rPr>
              <a:t>(</a:t>
            </a:r>
            <a:r>
              <a:rPr lang="ko-KR" altLang="en-US" sz="950" b="1" dirty="0">
                <a:solidFill>
                  <a:schemeClr val="accent1"/>
                </a:solidFill>
              </a:rPr>
              <a:t>우선심사</a:t>
            </a:r>
            <a:r>
              <a:rPr lang="en-US" altLang="ko-KR" sz="950" b="1" dirty="0">
                <a:solidFill>
                  <a:schemeClr val="accent1"/>
                </a:solidFill>
              </a:rPr>
              <a:t>)</a:t>
            </a:r>
            <a:r>
              <a:rPr lang="en-US" altLang="ko-KR" sz="950" dirty="0">
                <a:solidFill>
                  <a:schemeClr val="accent1"/>
                </a:solidFill>
              </a:rPr>
              <a:t> </a:t>
            </a:r>
            <a:r>
              <a:rPr lang="ko-KR" altLang="en-US" sz="950" dirty="0">
                <a:solidFill>
                  <a:schemeClr val="tx2"/>
                </a:solidFill>
              </a:rPr>
              <a:t>지식재산처장은 다음 각 호의 어느 하나에 해당하는 특허출원에 대해서는 심사관에게 다른 특허출원에 우선하여 심사하게 할 수 있다</a:t>
            </a:r>
            <a:r>
              <a:rPr lang="en-US" altLang="ko-KR" sz="950" dirty="0">
                <a:solidFill>
                  <a:schemeClr val="tx2"/>
                </a:solidFill>
              </a:rPr>
              <a:t>.</a:t>
            </a:r>
          </a:p>
          <a:p>
            <a:pPr algn="just" fontAlgn="base"/>
            <a:r>
              <a:rPr lang="en-US" altLang="ko-KR" sz="950" dirty="0">
                <a:solidFill>
                  <a:schemeClr val="tx2"/>
                </a:solidFill>
              </a:rPr>
              <a:t>1.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64</a:t>
            </a:r>
            <a:r>
              <a:rPr lang="ko-KR" altLang="en-US" sz="950" dirty="0">
                <a:solidFill>
                  <a:schemeClr val="tx2"/>
                </a:solidFill>
              </a:rPr>
              <a:t>조에 따른 </a:t>
            </a:r>
            <a:r>
              <a:rPr lang="ko-KR" altLang="en-US" sz="950" dirty="0" err="1">
                <a:solidFill>
                  <a:schemeClr val="tx2"/>
                </a:solidFill>
              </a:rPr>
              <a:t>출원공개</a:t>
            </a:r>
            <a:r>
              <a:rPr lang="ko-KR" altLang="en-US" sz="950" dirty="0">
                <a:solidFill>
                  <a:schemeClr val="tx2"/>
                </a:solidFill>
              </a:rPr>
              <a:t> 후 특허출원인이 아닌 자가 업</a:t>
            </a:r>
            <a:r>
              <a:rPr lang="en-US" altLang="ko-KR" sz="950" dirty="0">
                <a:solidFill>
                  <a:schemeClr val="tx2"/>
                </a:solidFill>
              </a:rPr>
              <a:t>(</a:t>
            </a:r>
            <a:r>
              <a:rPr lang="ko-KR" altLang="en-US" sz="950" dirty="0">
                <a:solidFill>
                  <a:schemeClr val="tx2"/>
                </a:solidFill>
              </a:rPr>
              <a:t>業</a:t>
            </a:r>
            <a:r>
              <a:rPr lang="en-US" altLang="ko-KR" sz="950" dirty="0">
                <a:solidFill>
                  <a:schemeClr val="tx2"/>
                </a:solidFill>
              </a:rPr>
              <a:t>)</a:t>
            </a:r>
            <a:r>
              <a:rPr lang="ko-KR" altLang="en-US" sz="950" dirty="0">
                <a:solidFill>
                  <a:schemeClr val="tx2"/>
                </a:solidFill>
              </a:rPr>
              <a:t>으로서 </a:t>
            </a:r>
            <a:r>
              <a:rPr lang="ko-KR" altLang="en-US" sz="950" dirty="0" err="1">
                <a:solidFill>
                  <a:schemeClr val="tx2"/>
                </a:solidFill>
              </a:rPr>
              <a:t>특허출원된</a:t>
            </a:r>
            <a:r>
              <a:rPr lang="ko-KR" altLang="en-US" sz="950" dirty="0">
                <a:solidFill>
                  <a:schemeClr val="tx2"/>
                </a:solidFill>
              </a:rPr>
              <a:t> 발명을 실시하고 있다고 인정되는 경우</a:t>
            </a:r>
          </a:p>
          <a:p>
            <a:pPr algn="just" fontAlgn="base"/>
            <a:r>
              <a:rPr lang="en-US" altLang="ko-KR" sz="950" dirty="0">
                <a:solidFill>
                  <a:schemeClr val="tx2"/>
                </a:solidFill>
              </a:rPr>
              <a:t>2. </a:t>
            </a:r>
            <a:r>
              <a:rPr lang="ko-KR" altLang="en-US" sz="950" dirty="0">
                <a:solidFill>
                  <a:schemeClr val="tx2"/>
                </a:solidFill>
              </a:rPr>
              <a:t>대통령령으로 정하는 </a:t>
            </a:r>
            <a:r>
              <a:rPr lang="ko-KR" altLang="en-US" sz="950" dirty="0" err="1">
                <a:solidFill>
                  <a:schemeClr val="tx2"/>
                </a:solidFill>
              </a:rPr>
              <a:t>특허출원으로서</a:t>
            </a:r>
            <a:r>
              <a:rPr lang="ko-KR" altLang="en-US" sz="950" dirty="0">
                <a:solidFill>
                  <a:schemeClr val="tx2"/>
                </a:solidFill>
              </a:rPr>
              <a:t> 긴급하게 처리할 필요가 있다고 인정되는 경우 </a:t>
            </a:r>
            <a:endParaRPr lang="en-US" altLang="ko-KR" sz="950" dirty="0">
              <a:solidFill>
                <a:schemeClr val="tx2"/>
              </a:solidFill>
            </a:endParaRPr>
          </a:p>
          <a:p>
            <a:pPr algn="just" fontAlgn="base"/>
            <a:r>
              <a:rPr lang="en-US" altLang="ko-KR" sz="950" dirty="0">
                <a:solidFill>
                  <a:schemeClr val="tx2"/>
                </a:solidFill>
              </a:rPr>
              <a:t>3. </a:t>
            </a:r>
            <a:r>
              <a:rPr lang="ko-KR" altLang="en-US" sz="950" dirty="0">
                <a:solidFill>
                  <a:schemeClr val="tx2"/>
                </a:solidFill>
              </a:rPr>
              <a:t>대통령령으로 정하는 </a:t>
            </a:r>
            <a:r>
              <a:rPr lang="ko-KR" altLang="en-US" sz="950" dirty="0" err="1">
                <a:solidFill>
                  <a:schemeClr val="tx2"/>
                </a:solidFill>
              </a:rPr>
              <a:t>특허출원으로서</a:t>
            </a:r>
            <a:r>
              <a:rPr lang="ko-KR" altLang="en-US" sz="950" dirty="0">
                <a:solidFill>
                  <a:schemeClr val="tx2"/>
                </a:solidFill>
              </a:rPr>
              <a:t> 재난의 </a:t>
            </a:r>
            <a:r>
              <a:rPr lang="ko-KR" altLang="en-US" sz="950" dirty="0" err="1">
                <a:solidFill>
                  <a:schemeClr val="tx2"/>
                </a:solidFill>
              </a:rPr>
              <a:t>예방ㆍ대응ㆍ복구</a:t>
            </a:r>
            <a:r>
              <a:rPr lang="ko-KR" altLang="en-US" sz="950" dirty="0">
                <a:solidFill>
                  <a:schemeClr val="tx2"/>
                </a:solidFill>
              </a:rPr>
              <a:t> 등에 필요하다고 인정되는 경우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75" y="1821327"/>
            <a:ext cx="5970500" cy="477053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950" b="1" dirty="0">
                <a:solidFill>
                  <a:schemeClr val="accent1"/>
                </a:solidFill>
                <a:latin typeface="+mn-ea"/>
              </a:rPr>
              <a:t>시행령 </a:t>
            </a:r>
            <a:r>
              <a:rPr lang="ko-KR" altLang="ko-KR" sz="950" b="1" dirty="0">
                <a:solidFill>
                  <a:schemeClr val="accent1"/>
                </a:solidFill>
                <a:latin typeface="+mn-ea"/>
              </a:rPr>
              <a:t>제9조(우선심사의 대상)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 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① 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법 제61조제2호에서 "대통령령으로 정하는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특허출원"이란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다음 각 호의 어느 하나에 해당하는 것으로서 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지식재산처장이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정하는 특허출원을 말한다.  </a:t>
            </a:r>
            <a:endParaRPr lang="en-US" altLang="ko-KR" sz="950" dirty="0">
              <a:solidFill>
                <a:schemeClr val="tx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1. 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방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위산업분야의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accent6">
                    <a:lumMod val="75000"/>
                  </a:schemeClr>
                </a:solidFill>
                <a:latin typeface="+mn-ea"/>
              </a:rPr>
              <a:t>2. </a:t>
            </a:r>
            <a:r>
              <a:rPr lang="ko-KR" altLang="en-US" sz="950" dirty="0">
                <a:solidFill>
                  <a:schemeClr val="accent6">
                    <a:lumMod val="75000"/>
                  </a:schemeClr>
                </a:solidFill>
                <a:latin typeface="+mn-ea"/>
              </a:rPr>
              <a:t>「기후위기 대응을 위한 </a:t>
            </a:r>
            <a:r>
              <a:rPr lang="ko-KR" altLang="en-US" sz="950" dirty="0" err="1">
                <a:solidFill>
                  <a:schemeClr val="accent6">
                    <a:lumMod val="75000"/>
                  </a:schemeClr>
                </a:solidFill>
                <a:latin typeface="+mn-ea"/>
              </a:rPr>
              <a:t>탄소중립ㆍ녹색성장</a:t>
            </a:r>
            <a:r>
              <a:rPr lang="ko-KR" altLang="en-US" sz="950" dirty="0">
                <a:solidFill>
                  <a:schemeClr val="accent6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950" dirty="0" err="1">
                <a:solidFill>
                  <a:schemeClr val="accent6">
                    <a:lumMod val="75000"/>
                  </a:schemeClr>
                </a:solidFill>
                <a:latin typeface="+mn-ea"/>
              </a:rPr>
              <a:t>기본법」에</a:t>
            </a:r>
            <a:r>
              <a:rPr lang="ko-KR" altLang="en-US" sz="950" dirty="0">
                <a:solidFill>
                  <a:schemeClr val="accent6">
                    <a:lumMod val="75000"/>
                  </a:schemeClr>
                </a:solidFill>
                <a:latin typeface="+mn-ea"/>
              </a:rPr>
              <a:t> 따른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녹</a:t>
            </a:r>
            <a:r>
              <a:rPr lang="ko-KR" altLang="en-US" sz="950" dirty="0">
                <a:solidFill>
                  <a:schemeClr val="accent6">
                    <a:lumMod val="75000"/>
                  </a:schemeClr>
                </a:solidFill>
                <a:latin typeface="+mn-ea"/>
              </a:rPr>
              <a:t>색기술과 직접 관련된 특허출원</a:t>
            </a:r>
            <a:endParaRPr lang="en-US" altLang="ko-KR" sz="950" dirty="0">
              <a:solidFill>
                <a:schemeClr val="accent6">
                  <a:lumMod val="75000"/>
                </a:schemeClr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2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의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2. 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인공지능 또는 사물인터넷 등 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4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차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 산업혁명과 관련된 기술을 활용한 특허출원</a:t>
            </a:r>
            <a:endParaRPr lang="en-US" altLang="ko-KR" sz="950" dirty="0">
              <a:solidFill>
                <a:schemeClr val="accent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2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의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3. 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반도체 등 국민경제 및 국가경쟁력 강화에 중요한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첨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단기술과 관련된 특허출원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(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지식재산처장이 우선심사의 구체적인 대상과 신청 기간을 정하여 공고하는 특허출원으로 한정한다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)</a:t>
            </a:r>
            <a:endParaRPr lang="ko-KR" altLang="ko-KR" sz="950" dirty="0">
              <a:solidFill>
                <a:schemeClr val="accent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3. </a:t>
            </a:r>
            <a:r>
              <a:rPr lang="ko-KR" altLang="ko-KR" sz="950" dirty="0" err="1">
                <a:solidFill>
                  <a:srgbClr val="FF0000"/>
                </a:solidFill>
                <a:latin typeface="+mn-ea"/>
              </a:rPr>
              <a:t>수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출촉진에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직접 관련된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4. 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국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가 또는 지방자치단체의 직무에 관한 특허출원(「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고등교육법」에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따른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국·공립학교의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직무에 관한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특허출원으로서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「기술의 이전 및 사업화 촉진에 관한 법률」 제11조제1항에 따라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국·공립학교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안에 설치된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기술이전·사업화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전담조직에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의한 특허출원을 포함한다)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5. 「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벤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처기업육성에 관한 특별법」 제25조에 따른 벤처기업의 확인을 받은 기업의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5의2. 「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중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소기업기술혁신 촉진법」 제15조에 따라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기술혁신형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중소기업으로 선정된 기업의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5의3. 「발명진흥법」 제11조의2에 따라 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직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무발명보상 우수기업으로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인증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된 기업의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5의4. 「발명진흥법」 제24조의2에 따라 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지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식재산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경영인증을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받은 중소기업의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6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.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「과학기술기본법」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조에 따른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국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가연구개발사업의 결과물에 관한 특허출원</a:t>
            </a:r>
            <a:endParaRPr lang="ko-KR" altLang="ko-KR" sz="950" dirty="0">
              <a:solidFill>
                <a:schemeClr val="tx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7. 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조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약에 의한 우선권주장의 기초가 되는 특허출원(당해 특허출원을 기초로 하는 우선권주장에 의하여 외국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특허담당 정부기관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에서 특허에 관한 절차가 진행중인 것에 한정한다)</a:t>
            </a:r>
            <a:endParaRPr lang="en-US" altLang="ko-KR" sz="950" dirty="0">
              <a:solidFill>
                <a:schemeClr val="tx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7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의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2. 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법 제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198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조의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2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에 따라 지식재산처가 「</a:t>
            </a:r>
            <a:r>
              <a:rPr lang="ko-KR" altLang="en-US" sz="950" dirty="0" err="1">
                <a:solidFill>
                  <a:schemeClr val="accent2"/>
                </a:solidFill>
                <a:latin typeface="+mn-ea"/>
              </a:rPr>
              <a:t>특허협력조약」에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 따른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국</a:t>
            </a:r>
            <a:r>
              <a:rPr lang="ko-KR" altLang="en-US" sz="950" dirty="0">
                <a:solidFill>
                  <a:schemeClr val="accent2"/>
                </a:solidFill>
                <a:latin typeface="+mn-ea"/>
              </a:rPr>
              <a:t>제조사기관으로서 국제조사를 수행한 </a:t>
            </a:r>
            <a:r>
              <a:rPr lang="ko-KR" altLang="en-US" sz="950" dirty="0" err="1">
                <a:solidFill>
                  <a:schemeClr val="accent2"/>
                </a:solidFill>
                <a:latin typeface="+mn-ea"/>
              </a:rPr>
              <a:t>국제특허출원</a:t>
            </a:r>
            <a:endParaRPr lang="ko-KR" altLang="ko-KR" sz="950" dirty="0">
              <a:solidFill>
                <a:schemeClr val="accent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8. 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특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허출원인이 </a:t>
            </a:r>
            <a:r>
              <a:rPr lang="ko-KR" altLang="ko-KR" sz="950" dirty="0" err="1">
                <a:solidFill>
                  <a:schemeClr val="tx2"/>
                </a:solidFill>
                <a:latin typeface="+mn-ea"/>
              </a:rPr>
              <a:t>특허출원된</a:t>
            </a: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 발명을 실시하고 있거나 실시준비중인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9</a:t>
            </a:r>
            <a:r>
              <a:rPr lang="ko-KR" altLang="ko-KR" sz="950" dirty="0">
                <a:solidFill>
                  <a:srgbClr val="FF0000"/>
                </a:solidFill>
                <a:latin typeface="+mn-ea"/>
              </a:rPr>
              <a:t>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삭제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&lt;2019. 7. 9.&gt;</a:t>
            </a:r>
            <a:endParaRPr lang="ko-KR" altLang="ko-KR" sz="950" dirty="0">
              <a:solidFill>
                <a:schemeClr val="tx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accent2"/>
                </a:solidFill>
                <a:latin typeface="+mn-ea"/>
              </a:rPr>
              <a:t>10.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지식재산처장이</a:t>
            </a:r>
            <a:r>
              <a:rPr lang="ko-KR" altLang="ko-KR" sz="950" dirty="0">
                <a:solidFill>
                  <a:schemeClr val="accent2"/>
                </a:solidFill>
                <a:latin typeface="+mn-ea"/>
              </a:rPr>
              <a:t> 외국</a:t>
            </a:r>
            <a:r>
              <a:rPr lang="en-US" altLang="ko-KR" sz="950" dirty="0">
                <a:solidFill>
                  <a:schemeClr val="accent2"/>
                </a:solidFill>
                <a:latin typeface="+mn-ea"/>
              </a:rPr>
              <a:t> </a:t>
            </a:r>
            <a:r>
              <a:rPr lang="ko-KR" altLang="ko-KR" sz="950">
                <a:solidFill>
                  <a:schemeClr val="accent2"/>
                </a:solidFill>
                <a:latin typeface="+mn-ea"/>
              </a:rPr>
              <a:t>특허</a:t>
            </a:r>
            <a:r>
              <a:rPr lang="ko-KR" altLang="en-US" sz="950">
                <a:solidFill>
                  <a:schemeClr val="accent2"/>
                </a:solidFill>
                <a:latin typeface="+mn-ea"/>
              </a:rPr>
              <a:t>담당 정부기관의 </a:t>
            </a:r>
            <a:r>
              <a:rPr lang="ko-KR" altLang="ko-KR" sz="950">
                <a:solidFill>
                  <a:schemeClr val="accent2"/>
                </a:solidFill>
                <a:latin typeface="+mn-ea"/>
              </a:rPr>
              <a:t>장과 </a:t>
            </a:r>
            <a:r>
              <a:rPr lang="ko-KR" altLang="ko-KR" sz="950" dirty="0">
                <a:solidFill>
                  <a:schemeClr val="accent2"/>
                </a:solidFill>
                <a:latin typeface="+mn-ea"/>
              </a:rPr>
              <a:t>우선심사하기로 합의한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11.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삭제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&lt;2023. 12. 19.&gt;</a:t>
            </a:r>
            <a:endParaRPr lang="ko-KR" altLang="ko-KR" sz="950" dirty="0">
              <a:solidFill>
                <a:schemeClr val="tx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950" dirty="0">
                <a:solidFill>
                  <a:schemeClr val="tx2"/>
                </a:solidFill>
                <a:latin typeface="+mn-ea"/>
              </a:rPr>
              <a:t>12.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삭제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&lt;2023. 12. 19.&gt; 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② 법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61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3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호에서 “대통령령으로 정하는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특허출원”이란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다음 각 호의 어느 하나에 해당하는 특허출원을 말한다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.  &lt;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신설 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2021. 6. 22.&gt;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 1.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다음 각 목의 어느 하나에 해당하는 것으로서 지식재산처장이 정하여 고시하는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   가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「감염병의 예방 및 관리에 관한 법률」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호에 따른 </a:t>
            </a:r>
            <a:r>
              <a:rPr lang="ko-KR" altLang="en-US" sz="950" dirty="0" err="1">
                <a:solidFill>
                  <a:srgbClr val="FF0000"/>
                </a:solidFill>
                <a:latin typeface="+mn-ea"/>
              </a:rPr>
              <a:t>의료ㆍ방역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 물품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과 직접 관련된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   나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「재난안전산업 진흥법」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16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조에 따라 인증을 받은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재난안전제품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과 직접 관련된 특허출원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재난으로 인한 긴급한 상황에 대응하기 위해 지식재산처장이 우선심사 신청 기간을 정해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공고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한 대상에 해당하는 특허출원</a:t>
            </a:r>
            <a:endParaRPr lang="en-US" altLang="ko-KR" sz="9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122634" y="5761262"/>
            <a:ext cx="5970500" cy="6771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950" dirty="0">
                <a:solidFill>
                  <a:schemeClr val="accent4">
                    <a:lumMod val="50000"/>
                  </a:schemeClr>
                </a:solidFill>
              </a:rPr>
              <a:t>1. 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첨단</a:t>
            </a:r>
            <a:r>
              <a:rPr lang="ko-KR" altLang="en-US" sz="950" dirty="0">
                <a:solidFill>
                  <a:srgbClr val="FF0000"/>
                </a:solidFill>
              </a:rPr>
              <a:t>의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료복합단지 지정 및 지원에 관한 특별법 제</a:t>
            </a:r>
            <a:r>
              <a:rPr lang="en-US" altLang="ko-KR" sz="950" dirty="0">
                <a:solidFill>
                  <a:schemeClr val="accent4">
                    <a:lumMod val="50000"/>
                  </a:schemeClr>
                </a:solidFill>
              </a:rPr>
              <a:t>26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조에 따라 규제 특례가 적용되는 입주의료연구개발기관이 제출한 첨단의료복합단지 내 의료연구개발과 관련한 특허출원</a:t>
            </a:r>
          </a:p>
          <a:p>
            <a:r>
              <a:rPr lang="en-US" altLang="ko-KR" sz="950" dirty="0">
                <a:solidFill>
                  <a:schemeClr val="accent4">
                    <a:lumMod val="50000"/>
                  </a:schemeClr>
                </a:solidFill>
              </a:rPr>
              <a:t>2. </a:t>
            </a:r>
            <a:r>
              <a:rPr lang="ko-KR" altLang="en-US" sz="950" dirty="0">
                <a:solidFill>
                  <a:srgbClr val="FF0000"/>
                </a:solidFill>
              </a:rPr>
              <a:t>규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제자유특구 및 </a:t>
            </a:r>
            <a:r>
              <a:rPr lang="ko-KR" altLang="en-US" sz="950" dirty="0" err="1">
                <a:solidFill>
                  <a:schemeClr val="accent4">
                    <a:lumMod val="50000"/>
                  </a:schemeClr>
                </a:solidFill>
              </a:rPr>
              <a:t>지역특화발전특구에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 대한 규제특례법 제</a:t>
            </a:r>
            <a:r>
              <a:rPr lang="en-US" altLang="ko-KR" sz="950" dirty="0">
                <a:solidFill>
                  <a:schemeClr val="accent4">
                    <a:lumMod val="50000"/>
                  </a:schemeClr>
                </a:solidFill>
              </a:rPr>
              <a:t>36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조의</a:t>
            </a:r>
            <a:r>
              <a:rPr lang="en-US" altLang="ko-KR" sz="950" dirty="0">
                <a:solidFill>
                  <a:schemeClr val="accent4">
                    <a:lumMod val="50000"/>
                  </a:schemeClr>
                </a:solidFill>
              </a:rPr>
              <a:t>8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에 따라 </a:t>
            </a:r>
            <a:r>
              <a:rPr lang="ko-KR" altLang="en-US" sz="950" dirty="0" err="1">
                <a:solidFill>
                  <a:schemeClr val="accent4">
                    <a:lumMod val="50000"/>
                  </a:schemeClr>
                </a:solidFill>
              </a:rPr>
              <a:t>규제특례가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 적용된 </a:t>
            </a:r>
            <a:r>
              <a:rPr lang="ko-KR" altLang="en-US" sz="950" dirty="0" err="1">
                <a:solidFill>
                  <a:schemeClr val="accent4">
                    <a:lumMod val="50000"/>
                  </a:schemeClr>
                </a:solidFill>
              </a:rPr>
              <a:t>특화사업과</a:t>
            </a:r>
            <a:r>
              <a:rPr lang="ko-KR" altLang="en-US" sz="950" dirty="0">
                <a:solidFill>
                  <a:schemeClr val="accent4">
                    <a:lumMod val="50000"/>
                  </a:schemeClr>
                </a:solidFill>
              </a:rPr>
              <a:t> 직접 관련된 특허출원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250" y="948974"/>
            <a:ext cx="5970500" cy="8233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pPr algn="just" fontAlgn="base"/>
            <a:r>
              <a:rPr lang="ko-KR" altLang="en-US" sz="950" b="1" dirty="0" err="1">
                <a:solidFill>
                  <a:schemeClr val="accent1"/>
                </a:solidFill>
              </a:rPr>
              <a:t>실용법</a:t>
            </a:r>
            <a:r>
              <a:rPr lang="ko-KR" altLang="en-US" sz="950" b="1" dirty="0">
                <a:solidFill>
                  <a:schemeClr val="accent1"/>
                </a:solidFill>
              </a:rPr>
              <a:t> 제</a:t>
            </a:r>
            <a:r>
              <a:rPr lang="en-US" altLang="ko-KR" sz="950" b="1" dirty="0">
                <a:solidFill>
                  <a:schemeClr val="accent1"/>
                </a:solidFill>
              </a:rPr>
              <a:t>15</a:t>
            </a:r>
            <a:r>
              <a:rPr lang="ko-KR" altLang="en-US" sz="950" b="1" dirty="0">
                <a:solidFill>
                  <a:schemeClr val="accent1"/>
                </a:solidFill>
              </a:rPr>
              <a:t>조</a:t>
            </a:r>
            <a:r>
              <a:rPr lang="en-US" altLang="ko-KR" sz="950" b="1" dirty="0">
                <a:solidFill>
                  <a:schemeClr val="accent1"/>
                </a:solidFill>
              </a:rPr>
              <a:t>(</a:t>
            </a:r>
            <a:r>
              <a:rPr lang="ko-KR" altLang="en-US" sz="950" b="1" dirty="0">
                <a:solidFill>
                  <a:schemeClr val="accent1"/>
                </a:solidFill>
              </a:rPr>
              <a:t>「</a:t>
            </a:r>
            <a:r>
              <a:rPr lang="ko-KR" altLang="en-US" sz="950" b="1" dirty="0" err="1">
                <a:solidFill>
                  <a:schemeClr val="accent1"/>
                </a:solidFill>
              </a:rPr>
              <a:t>특허법」의</a:t>
            </a:r>
            <a:r>
              <a:rPr lang="ko-KR" altLang="en-US" sz="950" b="1" dirty="0">
                <a:solidFill>
                  <a:schemeClr val="accent1"/>
                </a:solidFill>
              </a:rPr>
              <a:t> 준용</a:t>
            </a:r>
            <a:r>
              <a:rPr lang="en-US" altLang="ko-KR" sz="950" b="1" dirty="0">
                <a:solidFill>
                  <a:schemeClr val="accent1"/>
                </a:solidFill>
              </a:rPr>
              <a:t>) </a:t>
            </a:r>
            <a:r>
              <a:rPr lang="ko-KR" altLang="en-US" sz="950" dirty="0">
                <a:solidFill>
                  <a:schemeClr val="tx2"/>
                </a:solidFill>
              </a:rPr>
              <a:t>실용신안등록출원의 </a:t>
            </a:r>
            <a:r>
              <a:rPr lang="ko-KR" altLang="en-US" sz="950" dirty="0" err="1">
                <a:solidFill>
                  <a:schemeClr val="tx2"/>
                </a:solidFill>
              </a:rPr>
              <a:t>심사ㆍ결정에</a:t>
            </a:r>
            <a:r>
              <a:rPr lang="ko-KR" altLang="en-US" sz="950" dirty="0">
                <a:solidFill>
                  <a:schemeClr val="tx2"/>
                </a:solidFill>
              </a:rPr>
              <a:t> 관하여는 「특허법」 제</a:t>
            </a:r>
            <a:r>
              <a:rPr lang="en-US" altLang="ko-KR" sz="950" dirty="0">
                <a:solidFill>
                  <a:schemeClr val="tx2"/>
                </a:solidFill>
              </a:rPr>
              <a:t>57</a:t>
            </a:r>
            <a:r>
              <a:rPr lang="ko-KR" altLang="en-US" sz="950" dirty="0">
                <a:solidFill>
                  <a:schemeClr val="tx2"/>
                </a:solidFill>
              </a:rPr>
              <a:t>조</a:t>
            </a:r>
            <a:r>
              <a:rPr lang="en-US" altLang="ko-KR" sz="950" dirty="0">
                <a:solidFill>
                  <a:schemeClr val="tx2"/>
                </a:solidFill>
              </a:rPr>
              <a:t>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58</a:t>
            </a:r>
            <a:r>
              <a:rPr lang="ko-KR" altLang="en-US" sz="950" dirty="0">
                <a:solidFill>
                  <a:schemeClr val="tx2"/>
                </a:solidFill>
              </a:rPr>
              <a:t>조</a:t>
            </a:r>
            <a:r>
              <a:rPr lang="en-US" altLang="ko-KR" sz="950" dirty="0">
                <a:solidFill>
                  <a:schemeClr val="tx2"/>
                </a:solidFill>
              </a:rPr>
              <a:t>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58</a:t>
            </a:r>
            <a:r>
              <a:rPr lang="ko-KR" altLang="en-US" sz="950" dirty="0">
                <a:solidFill>
                  <a:schemeClr val="tx2"/>
                </a:solidFill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</a:rPr>
              <a:t>2,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60</a:t>
            </a:r>
            <a:r>
              <a:rPr lang="ko-KR" altLang="en-US" sz="950" dirty="0">
                <a:solidFill>
                  <a:schemeClr val="tx2"/>
                </a:solidFill>
              </a:rPr>
              <a:t>조</a:t>
            </a:r>
            <a:r>
              <a:rPr lang="en-US" altLang="ko-KR" sz="950" dirty="0">
                <a:solidFill>
                  <a:schemeClr val="tx2"/>
                </a:solidFill>
              </a:rPr>
              <a:t>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61</a:t>
            </a:r>
            <a:r>
              <a:rPr lang="ko-KR" altLang="en-US" sz="950" dirty="0">
                <a:solidFill>
                  <a:schemeClr val="tx2"/>
                </a:solidFill>
              </a:rPr>
              <a:t>조</a:t>
            </a:r>
            <a:r>
              <a:rPr lang="en-US" altLang="ko-KR" sz="950" dirty="0">
                <a:solidFill>
                  <a:schemeClr val="tx2"/>
                </a:solidFill>
              </a:rPr>
              <a:t>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63</a:t>
            </a:r>
            <a:r>
              <a:rPr lang="ko-KR" altLang="en-US" sz="950" dirty="0">
                <a:solidFill>
                  <a:schemeClr val="tx2"/>
                </a:solidFill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</a:rPr>
              <a:t>2,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63</a:t>
            </a:r>
            <a:r>
              <a:rPr lang="ko-KR" altLang="en-US" sz="950" dirty="0">
                <a:solidFill>
                  <a:schemeClr val="tx2"/>
                </a:solidFill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</a:rPr>
              <a:t>3,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64</a:t>
            </a:r>
            <a:r>
              <a:rPr lang="ko-KR" altLang="en-US" sz="950" dirty="0">
                <a:solidFill>
                  <a:schemeClr val="tx2"/>
                </a:solidFill>
              </a:rPr>
              <a:t>조부터 제</a:t>
            </a:r>
            <a:r>
              <a:rPr lang="en-US" altLang="ko-KR" sz="950" dirty="0">
                <a:solidFill>
                  <a:schemeClr val="tx2"/>
                </a:solidFill>
              </a:rPr>
              <a:t>66</a:t>
            </a:r>
            <a:r>
              <a:rPr lang="ko-KR" altLang="en-US" sz="950" dirty="0">
                <a:solidFill>
                  <a:schemeClr val="tx2"/>
                </a:solidFill>
              </a:rPr>
              <a:t>조까지</a:t>
            </a:r>
            <a:r>
              <a:rPr lang="en-US" altLang="ko-KR" sz="950" dirty="0">
                <a:solidFill>
                  <a:schemeClr val="tx2"/>
                </a:solidFill>
              </a:rPr>
              <a:t>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66</a:t>
            </a:r>
            <a:r>
              <a:rPr lang="ko-KR" altLang="en-US" sz="950" dirty="0">
                <a:solidFill>
                  <a:schemeClr val="tx2"/>
                </a:solidFill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</a:rPr>
              <a:t>2,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66</a:t>
            </a:r>
            <a:r>
              <a:rPr lang="ko-KR" altLang="en-US" sz="950" dirty="0">
                <a:solidFill>
                  <a:schemeClr val="tx2"/>
                </a:solidFill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</a:rPr>
              <a:t>3,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67</a:t>
            </a:r>
            <a:r>
              <a:rPr lang="ko-KR" altLang="en-US" sz="950" dirty="0">
                <a:solidFill>
                  <a:schemeClr val="tx2"/>
                </a:solidFill>
              </a:rPr>
              <a:t>조</a:t>
            </a:r>
            <a:r>
              <a:rPr lang="en-US" altLang="ko-KR" sz="950" dirty="0">
                <a:solidFill>
                  <a:schemeClr val="tx2"/>
                </a:solidFill>
              </a:rPr>
              <a:t>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67</a:t>
            </a:r>
            <a:r>
              <a:rPr lang="ko-KR" altLang="en-US" sz="950" dirty="0">
                <a:solidFill>
                  <a:schemeClr val="tx2"/>
                </a:solidFill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</a:rPr>
              <a:t>2,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67</a:t>
            </a:r>
            <a:r>
              <a:rPr lang="ko-KR" altLang="en-US" sz="950" dirty="0">
                <a:solidFill>
                  <a:schemeClr val="tx2"/>
                </a:solidFill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</a:rPr>
              <a:t>3, </a:t>
            </a:r>
            <a:r>
              <a:rPr lang="ko-KR" altLang="en-US" sz="950" dirty="0">
                <a:solidFill>
                  <a:schemeClr val="tx2"/>
                </a:solidFill>
              </a:rPr>
              <a:t>제</a:t>
            </a:r>
            <a:r>
              <a:rPr lang="en-US" altLang="ko-KR" sz="950" dirty="0">
                <a:solidFill>
                  <a:schemeClr val="tx2"/>
                </a:solidFill>
              </a:rPr>
              <a:t>68</a:t>
            </a:r>
            <a:r>
              <a:rPr lang="ko-KR" altLang="en-US" sz="950" dirty="0">
                <a:solidFill>
                  <a:schemeClr val="tx2"/>
                </a:solidFill>
              </a:rPr>
              <a:t>조 및 제</a:t>
            </a:r>
            <a:r>
              <a:rPr lang="en-US" altLang="ko-KR" sz="950" dirty="0">
                <a:solidFill>
                  <a:schemeClr val="tx2"/>
                </a:solidFill>
              </a:rPr>
              <a:t>78</a:t>
            </a:r>
            <a:r>
              <a:rPr lang="ko-KR" altLang="en-US" sz="950" dirty="0">
                <a:solidFill>
                  <a:schemeClr val="tx2"/>
                </a:solidFill>
              </a:rPr>
              <a:t>조를 준용한다</a:t>
            </a:r>
            <a:r>
              <a:rPr lang="en-US" altLang="ko-KR" sz="950" dirty="0">
                <a:solidFill>
                  <a:schemeClr val="tx2"/>
                </a:solidFill>
              </a:rPr>
              <a:t>. 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250" y="1820962"/>
            <a:ext cx="5970500" cy="301621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950" b="1" dirty="0">
                <a:solidFill>
                  <a:schemeClr val="accent1"/>
                </a:solidFill>
                <a:latin typeface="+mn-ea"/>
              </a:rPr>
              <a:t>시행령 제</a:t>
            </a:r>
            <a:r>
              <a:rPr lang="en-US" altLang="ko-KR" sz="950" b="1" dirty="0">
                <a:solidFill>
                  <a:schemeClr val="accent1"/>
                </a:solidFill>
                <a:latin typeface="+mn-ea"/>
              </a:rPr>
              <a:t>5</a:t>
            </a:r>
            <a:r>
              <a:rPr lang="ko-KR" altLang="en-US" sz="950" b="1" dirty="0">
                <a:solidFill>
                  <a:schemeClr val="accent1"/>
                </a:solidFill>
                <a:latin typeface="+mn-ea"/>
              </a:rPr>
              <a:t>조</a:t>
            </a:r>
            <a:r>
              <a:rPr lang="en-US" altLang="ko-KR" sz="950" b="1" dirty="0">
                <a:solidFill>
                  <a:schemeClr val="accent1"/>
                </a:solidFill>
                <a:latin typeface="+mn-ea"/>
              </a:rPr>
              <a:t>(</a:t>
            </a:r>
            <a:r>
              <a:rPr lang="ko-KR" altLang="en-US" sz="950" b="1" dirty="0" err="1">
                <a:solidFill>
                  <a:schemeClr val="accent1"/>
                </a:solidFill>
                <a:latin typeface="+mn-ea"/>
              </a:rPr>
              <a:t>우선심사의</a:t>
            </a:r>
            <a:r>
              <a:rPr lang="ko-KR" altLang="en-US" sz="950" b="1" dirty="0">
                <a:solidFill>
                  <a:schemeClr val="accent1"/>
                </a:solidFill>
                <a:latin typeface="+mn-ea"/>
              </a:rPr>
              <a:t> 대상</a:t>
            </a:r>
            <a:r>
              <a:rPr lang="en-US" altLang="ko-KR" sz="950" b="1" dirty="0">
                <a:solidFill>
                  <a:schemeClr val="accent1"/>
                </a:solidFill>
                <a:latin typeface="+mn-ea"/>
              </a:rPr>
              <a:t>)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법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15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조에서 준용하는 「특허법」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61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호에서 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"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대통령령으로 정하는 특허출원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"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이란 다음 각 호의 어느 하나에 해당하는 것으로서 지식재산처장이 정하는 실용신안등록출원을 말한다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.  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방위산업분야의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accent6">
                    <a:lumMod val="75000"/>
                  </a:schemeClr>
                </a:solidFill>
                <a:latin typeface="+mn-ea"/>
              </a:rPr>
              <a:t>2. </a:t>
            </a:r>
            <a:r>
              <a:rPr lang="ko-KR" altLang="en-US" sz="950" dirty="0">
                <a:solidFill>
                  <a:schemeClr val="accent6">
                    <a:lumMod val="75000"/>
                  </a:schemeClr>
                </a:solidFill>
                <a:latin typeface="+mn-ea"/>
              </a:rPr>
              <a:t>공해방지에 유용한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3.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수출촉진에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직접 관련된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4.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국가 또는 지방자치단체의 직무에 관한 실용신안등록출원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고등교육법」에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따른 국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·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공립학교의 직무에 관한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실용신안등록출원으로서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「기술의 이전 및 사업화 촉진에 관한 법률」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항에 따라 국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·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공립학교 안에 설치된 기술이전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·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사업화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전담조직에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의한 실용신안등록출원을 포함한다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)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5.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「벤처기업육성에 관한 특별법」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25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조에 따른 벤처기업의 확인을 받은 기업의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6.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「중소기업기술혁신 촉진법」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15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조에 따라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기술혁신형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중소기업으로 선정된 기업의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6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의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「발명진흥법」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에 따라 직무발명보상 우수기업으로 인증된 기업의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6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의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3.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「발명진흥법」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24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조의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2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에 따라 지식재산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경영인증을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받은 중소기업의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7.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「과학기술기본법」 제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11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조에 따른 국가연구개발사업의 결과물에 관한 실용신안등록출원</a:t>
            </a:r>
            <a:endParaRPr lang="en-US" altLang="ko-KR" sz="950" dirty="0">
              <a:solidFill>
                <a:schemeClr val="tx2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8.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조약에 의한 우선권주장의 기초가 되는 실용신안등록출원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그 실용신안등록출원을 기초로 하는 우선권주장에 의하여 외국 특허담당 정부기관에서 특허출원 또는 실용신안등록출원에 관한 절차가 진행 중인 것에 한정한다</a:t>
            </a: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)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9. 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실용신안등록출원인이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실용신안등록출원된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고안을 실시하고 있거나 </a:t>
            </a:r>
            <a:r>
              <a:rPr lang="ko-KR" altLang="en-US" sz="950" dirty="0" err="1">
                <a:solidFill>
                  <a:schemeClr val="tx2"/>
                </a:solidFill>
                <a:latin typeface="+mn-ea"/>
              </a:rPr>
              <a:t>실시준비</a:t>
            </a:r>
            <a:r>
              <a:rPr lang="ko-KR" altLang="en-US" sz="950" dirty="0">
                <a:solidFill>
                  <a:schemeClr val="tx2"/>
                </a:solidFill>
                <a:latin typeface="+mn-ea"/>
              </a:rPr>
              <a:t> 중인 실용신안등록출원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10.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삭제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 &lt;2019. 7. 9.&gt;</a:t>
            </a:r>
            <a:endParaRPr lang="ko-KR" altLang="en-US" sz="950" dirty="0">
              <a:solidFill>
                <a:srgbClr val="FF0000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11.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삭제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 &lt;2019. 7. 9.&gt;</a:t>
            </a:r>
            <a:endParaRPr lang="ko-KR" altLang="en-US" sz="950" dirty="0">
              <a:solidFill>
                <a:srgbClr val="FF0000"/>
              </a:solidFill>
              <a:latin typeface="+mn-ea"/>
            </a:endParaRP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12.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삭제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&lt;2023. 12. 19.&gt; </a:t>
            </a:r>
          </a:p>
          <a:p>
            <a:pPr lvl="0" algn="just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50" dirty="0">
                <a:solidFill>
                  <a:schemeClr val="tx2"/>
                </a:solidFill>
                <a:latin typeface="+mn-ea"/>
              </a:rPr>
              <a:t>13. </a:t>
            </a:r>
            <a:r>
              <a:rPr lang="ko-KR" altLang="en-US" sz="950" dirty="0">
                <a:solidFill>
                  <a:srgbClr val="FF0000"/>
                </a:solidFill>
                <a:latin typeface="+mn-ea"/>
              </a:rPr>
              <a:t>삭제</a:t>
            </a:r>
            <a:r>
              <a:rPr lang="en-US" altLang="ko-KR" sz="950" dirty="0">
                <a:solidFill>
                  <a:srgbClr val="FF0000"/>
                </a:solidFill>
                <a:latin typeface="+mn-ea"/>
              </a:rPr>
              <a:t>&lt;2023. 12. 19.&gt;</a:t>
            </a:r>
            <a:endParaRPr lang="ko-KR" altLang="ko-KR" sz="9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251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E9B650-0D2C-48D0-800C-46D632E4F9D5}"/>
              </a:ext>
            </a:extLst>
          </p:cNvPr>
          <p:cNvSpPr txBox="1"/>
          <p:nvPr/>
        </p:nvSpPr>
        <p:spPr>
          <a:xfrm>
            <a:off x="6143626" y="5453212"/>
            <a:ext cx="2503224" cy="22721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tIns="0" bIns="0" rtlCol="0">
            <a:spAutoFit/>
          </a:bodyPr>
          <a:lstStyle/>
          <a:p>
            <a:pPr algn="ctr"/>
            <a:r>
              <a:rPr lang="ko-KR" altLang="en-US" sz="1050" dirty="0"/>
              <a:t>타법에 의한 </a:t>
            </a:r>
            <a:r>
              <a:rPr lang="ko-KR" altLang="en-US" sz="1050"/>
              <a:t>특허법의 우선심사신청사유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86C190-E090-37CA-FF5F-8B9E1910C65C}"/>
              </a:ext>
            </a:extLst>
          </p:cNvPr>
          <p:cNvSpPr txBox="1"/>
          <p:nvPr/>
        </p:nvSpPr>
        <p:spPr>
          <a:xfrm>
            <a:off x="5822693" y="225585"/>
            <a:ext cx="3738750" cy="307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+mn-ea"/>
              </a:rPr>
              <a:t>방</a:t>
            </a:r>
            <a:r>
              <a:rPr lang="ko-KR" altLang="en-US" sz="1400" kern="0" spc="0" dirty="0" err="1">
                <a:solidFill>
                  <a:schemeClr val="accent2"/>
                </a:solidFill>
                <a:effectLst/>
                <a:latin typeface="+mn-ea"/>
              </a:rPr>
              <a:t>녹</a:t>
            </a:r>
            <a:r>
              <a:rPr lang="en-US" altLang="ko-KR" sz="1400" kern="0" spc="0" dirty="0">
                <a:solidFill>
                  <a:schemeClr val="accent2"/>
                </a:solidFill>
                <a:effectLst/>
                <a:latin typeface="+mn-ea"/>
              </a:rPr>
              <a:t>4</a:t>
            </a:r>
            <a:r>
              <a:rPr lang="ko-KR" altLang="en-US" sz="1400" kern="0" spc="0" dirty="0" err="1">
                <a:solidFill>
                  <a:schemeClr val="accent2"/>
                </a:solidFill>
                <a:effectLst/>
                <a:latin typeface="+mn-ea"/>
              </a:rPr>
              <a:t>첨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+mn-ea"/>
              </a:rPr>
              <a:t>수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+mn-ea"/>
              </a:rPr>
              <a:t>/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+mn-ea"/>
              </a:rPr>
              <a:t>국벤중직지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+mn-ea"/>
              </a:rPr>
              <a:t>/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+mn-ea"/>
              </a:rPr>
              <a:t>국조</a:t>
            </a:r>
            <a:r>
              <a:rPr lang="ko-KR" altLang="en-US" sz="1400" kern="0" spc="0" dirty="0" err="1">
                <a:solidFill>
                  <a:schemeClr val="accent2"/>
                </a:solidFill>
                <a:effectLst/>
                <a:latin typeface="+mn-ea"/>
              </a:rPr>
              <a:t>국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+mn-ea"/>
              </a:rPr>
              <a:t>특</a:t>
            </a:r>
            <a:r>
              <a:rPr lang="ko-KR" altLang="en-US" sz="1400" kern="0" spc="0" dirty="0" err="1">
                <a:solidFill>
                  <a:schemeClr val="accent2"/>
                </a:solidFill>
                <a:effectLst/>
                <a:latin typeface="+mn-ea"/>
              </a:rPr>
              <a:t>특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+mn-ea"/>
              </a:rPr>
              <a:t>/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+mn-ea"/>
              </a:rPr>
              <a:t>의재공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+mn-ea"/>
              </a:rPr>
              <a:t>/</a:t>
            </a:r>
            <a:r>
              <a:rPr lang="ko-KR" altLang="en-US" sz="1400" kern="0" spc="0" dirty="0">
                <a:solidFill>
                  <a:schemeClr val="accent2"/>
                </a:solidFill>
                <a:effectLst/>
                <a:latin typeface="+mn-ea"/>
              </a:rPr>
              <a:t>의규</a:t>
            </a:r>
            <a:endParaRPr lang="ko-KR" altLang="en-US" sz="1400" dirty="0">
              <a:solidFill>
                <a:schemeClr val="accent2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91951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59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60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심사방법 및 순서</a:t>
            </a:r>
            <a:r>
              <a:rPr lang="en-US" altLang="ko-KR" dirty="0"/>
              <a:t>(</a:t>
            </a:r>
            <a:r>
              <a:rPr lang="ko-KR" altLang="en-US" dirty="0"/>
              <a:t>제</a:t>
            </a:r>
            <a:r>
              <a:rPr lang="en-US" altLang="ko-KR" dirty="0"/>
              <a:t>59</a:t>
            </a:r>
            <a:r>
              <a:rPr lang="ko-KR" altLang="en-US" dirty="0"/>
              <a:t>조제</a:t>
            </a:r>
            <a:r>
              <a:rPr lang="en-US" altLang="ko-KR" dirty="0"/>
              <a:t>1</a:t>
            </a:r>
            <a:r>
              <a:rPr lang="ko-KR" altLang="en-US" dirty="0"/>
              <a:t>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64" name="직선 연결선 63"/>
          <p:cNvCxnSpPr>
            <a:cxnSpLocks/>
          </p:cNvCxnSpPr>
          <p:nvPr/>
        </p:nvCxnSpPr>
        <p:spPr>
          <a:xfrm>
            <a:off x="6191794" y="4929793"/>
            <a:ext cx="419508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191794" y="976902"/>
            <a:ext cx="5822404" cy="3808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150" b="1" dirty="0">
                <a:solidFill>
                  <a:schemeClr val="accent1"/>
                </a:solidFill>
              </a:rPr>
              <a:t>시행규칙 제</a:t>
            </a:r>
            <a:r>
              <a:rPr lang="en-US" altLang="ko-KR" sz="1150" b="1" dirty="0">
                <a:solidFill>
                  <a:schemeClr val="accent1"/>
                </a:solidFill>
              </a:rPr>
              <a:t>40</a:t>
            </a:r>
            <a:r>
              <a:rPr lang="ko-KR" altLang="en-US" sz="1150" b="1" dirty="0">
                <a:solidFill>
                  <a:schemeClr val="accent1"/>
                </a:solidFill>
              </a:rPr>
              <a:t>조의</a:t>
            </a:r>
            <a:r>
              <a:rPr lang="en-US" altLang="ko-KR" sz="1150" b="1" dirty="0">
                <a:solidFill>
                  <a:schemeClr val="accent1"/>
                </a:solidFill>
              </a:rPr>
              <a:t>3(</a:t>
            </a:r>
            <a:r>
              <a:rPr lang="ko-KR" altLang="en-US" sz="1150" b="1" dirty="0" err="1">
                <a:solidFill>
                  <a:schemeClr val="accent1"/>
                </a:solidFill>
              </a:rPr>
              <a:t>특허출원심사의</a:t>
            </a:r>
            <a:r>
              <a:rPr lang="ko-KR" altLang="en-US" sz="1150" b="1" dirty="0">
                <a:solidFill>
                  <a:schemeClr val="accent1"/>
                </a:solidFill>
              </a:rPr>
              <a:t> 유예</a:t>
            </a:r>
            <a:r>
              <a:rPr lang="en-US" altLang="ko-KR" sz="1150" b="1" dirty="0">
                <a:solidFill>
                  <a:schemeClr val="accent1"/>
                </a:solidFill>
              </a:rPr>
              <a:t>)</a:t>
            </a:r>
            <a:r>
              <a:rPr lang="en-US" altLang="ko-KR" sz="1150" dirty="0">
                <a:solidFill>
                  <a:schemeClr val="tx2"/>
                </a:solidFill>
              </a:rPr>
              <a:t> </a:t>
            </a:r>
            <a:r>
              <a:rPr lang="ko-KR" altLang="en-US" sz="1150" dirty="0">
                <a:solidFill>
                  <a:schemeClr val="tx2"/>
                </a:solidFill>
              </a:rPr>
              <a:t>① </a:t>
            </a:r>
            <a:r>
              <a:rPr lang="ko-KR" altLang="en-US" sz="1150" dirty="0" err="1">
                <a:solidFill>
                  <a:schemeClr val="tx2"/>
                </a:solidFill>
              </a:rPr>
              <a:t>특허출원인이</a:t>
            </a:r>
            <a:r>
              <a:rPr lang="ko-KR" altLang="en-US" sz="1150" dirty="0">
                <a:solidFill>
                  <a:schemeClr val="tx2"/>
                </a:solidFill>
              </a:rPr>
              <a:t> 출원심사의 청구를 한 경우로서 출원심사의 청구일부터 </a:t>
            </a:r>
            <a:r>
              <a:rPr lang="en-US" altLang="ko-KR" sz="1150" dirty="0">
                <a:solidFill>
                  <a:schemeClr val="tx2"/>
                </a:solidFill>
              </a:rPr>
              <a:t>24</a:t>
            </a:r>
            <a:r>
              <a:rPr lang="ko-KR" altLang="en-US" sz="1150" dirty="0">
                <a:solidFill>
                  <a:schemeClr val="tx2"/>
                </a:solidFill>
              </a:rPr>
              <a:t>개월이 지난 후에 특허출원에 대한 심사를 받으려면 출원심사의 청구일부터 </a:t>
            </a:r>
            <a:r>
              <a:rPr lang="en-US" altLang="ko-KR" sz="1150" dirty="0">
                <a:solidFill>
                  <a:schemeClr val="tx2"/>
                </a:solidFill>
              </a:rPr>
              <a:t>9</a:t>
            </a:r>
            <a:r>
              <a:rPr lang="ko-KR" altLang="en-US" sz="1150" dirty="0">
                <a:solidFill>
                  <a:schemeClr val="tx2"/>
                </a:solidFill>
              </a:rPr>
              <a:t>개월 이내에 심사를 받으려는 시점</a:t>
            </a:r>
            <a:r>
              <a:rPr lang="en-US" altLang="ko-KR" sz="1150" dirty="0">
                <a:solidFill>
                  <a:schemeClr val="tx2"/>
                </a:solidFill>
              </a:rPr>
              <a:t>(</a:t>
            </a:r>
            <a:r>
              <a:rPr lang="ko-KR" altLang="en-US" sz="1150" dirty="0">
                <a:solidFill>
                  <a:schemeClr val="tx2"/>
                </a:solidFill>
              </a:rPr>
              <a:t>출원일부터 </a:t>
            </a:r>
            <a:r>
              <a:rPr lang="en-US" altLang="ko-KR" sz="1150" dirty="0">
                <a:solidFill>
                  <a:schemeClr val="tx2"/>
                </a:solidFill>
              </a:rPr>
              <a:t>5</a:t>
            </a:r>
            <a:r>
              <a:rPr lang="ko-KR" altLang="en-US" sz="1150" dirty="0">
                <a:solidFill>
                  <a:schemeClr val="tx2"/>
                </a:solidFill>
              </a:rPr>
              <a:t>년 이내에 한정하며</a:t>
            </a:r>
            <a:r>
              <a:rPr lang="en-US" altLang="ko-KR" sz="1150" dirty="0">
                <a:solidFill>
                  <a:schemeClr val="tx2"/>
                </a:solidFill>
              </a:rPr>
              <a:t>, </a:t>
            </a:r>
            <a:r>
              <a:rPr lang="ko-KR" altLang="en-US" sz="1150" dirty="0">
                <a:solidFill>
                  <a:schemeClr val="tx2"/>
                </a:solidFill>
              </a:rPr>
              <a:t>이하 </a:t>
            </a:r>
            <a:r>
              <a:rPr lang="en-US" altLang="ko-KR" sz="1150" dirty="0">
                <a:solidFill>
                  <a:schemeClr val="tx2"/>
                </a:solidFill>
              </a:rPr>
              <a:t>"</a:t>
            </a:r>
            <a:r>
              <a:rPr lang="ko-KR" altLang="en-US" sz="1150" dirty="0">
                <a:solidFill>
                  <a:schemeClr val="tx2"/>
                </a:solidFill>
              </a:rPr>
              <a:t>유예희망시점</a:t>
            </a:r>
            <a:r>
              <a:rPr lang="en-US" altLang="ko-KR" sz="1150" dirty="0">
                <a:solidFill>
                  <a:schemeClr val="tx2"/>
                </a:solidFill>
              </a:rPr>
              <a:t>"</a:t>
            </a:r>
            <a:r>
              <a:rPr lang="ko-KR" altLang="en-US" sz="1150" dirty="0">
                <a:solidFill>
                  <a:schemeClr val="tx2"/>
                </a:solidFill>
              </a:rPr>
              <a:t>이라 한다</a:t>
            </a:r>
            <a:r>
              <a:rPr lang="en-US" altLang="ko-KR" sz="1150" dirty="0">
                <a:solidFill>
                  <a:schemeClr val="tx2"/>
                </a:solidFill>
              </a:rPr>
              <a:t>)</a:t>
            </a:r>
            <a:r>
              <a:rPr lang="ko-KR" altLang="en-US" sz="1150" dirty="0">
                <a:solidFill>
                  <a:schemeClr val="tx2"/>
                </a:solidFill>
              </a:rPr>
              <a:t>을 적은 별지 제</a:t>
            </a:r>
            <a:r>
              <a:rPr lang="en-US" altLang="ko-KR" sz="1150" dirty="0">
                <a:solidFill>
                  <a:schemeClr val="tx2"/>
                </a:solidFill>
              </a:rPr>
              <a:t>22</a:t>
            </a:r>
            <a:r>
              <a:rPr lang="ko-KR" altLang="en-US" sz="1150" dirty="0">
                <a:solidFill>
                  <a:schemeClr val="tx2"/>
                </a:solidFill>
              </a:rPr>
              <a:t>호의</a:t>
            </a:r>
            <a:r>
              <a:rPr lang="en-US" altLang="ko-KR" sz="1150" dirty="0">
                <a:solidFill>
                  <a:schemeClr val="tx2"/>
                </a:solidFill>
              </a:rPr>
              <a:t>2</a:t>
            </a:r>
            <a:r>
              <a:rPr lang="ko-KR" altLang="en-US" sz="1150" dirty="0">
                <a:solidFill>
                  <a:schemeClr val="tx2"/>
                </a:solidFill>
              </a:rPr>
              <a:t>서식의 심사유예신청서를 지식재산처장에게 제출할 수 있다</a:t>
            </a:r>
            <a:r>
              <a:rPr lang="en-US" altLang="ko-KR" sz="1150" dirty="0">
                <a:solidFill>
                  <a:schemeClr val="tx2"/>
                </a:solidFill>
              </a:rPr>
              <a:t>. </a:t>
            </a:r>
            <a:r>
              <a:rPr lang="ko-KR" altLang="en-US" sz="1150" dirty="0">
                <a:solidFill>
                  <a:schemeClr val="tx2"/>
                </a:solidFill>
              </a:rPr>
              <a:t>다만</a:t>
            </a:r>
            <a:r>
              <a:rPr lang="en-US" altLang="ko-KR" sz="1150" dirty="0">
                <a:solidFill>
                  <a:schemeClr val="tx2"/>
                </a:solidFill>
              </a:rPr>
              <a:t>, </a:t>
            </a:r>
            <a:r>
              <a:rPr lang="ko-KR" altLang="en-US" sz="1150" dirty="0">
                <a:solidFill>
                  <a:schemeClr val="tx2"/>
                </a:solidFill>
              </a:rPr>
              <a:t>다음 각 호에 따른 특허출원서 또는 심사청구서에 그 취지 및 유예희망시점을 적음으로써 그 신청서를 갈음할 수 있다</a:t>
            </a:r>
            <a:r>
              <a:rPr lang="en-US" altLang="ko-KR" sz="1150" dirty="0">
                <a:solidFill>
                  <a:schemeClr val="tx2"/>
                </a:solidFill>
              </a:rPr>
              <a:t>.  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1. </a:t>
            </a:r>
            <a:r>
              <a:rPr lang="ko-KR" altLang="en-US" sz="1150" dirty="0">
                <a:solidFill>
                  <a:schemeClr val="tx2"/>
                </a:solidFill>
              </a:rPr>
              <a:t>제</a:t>
            </a:r>
            <a:r>
              <a:rPr lang="en-US" altLang="ko-KR" sz="1150" dirty="0">
                <a:solidFill>
                  <a:schemeClr val="tx2"/>
                </a:solidFill>
              </a:rPr>
              <a:t>37</a:t>
            </a:r>
            <a:r>
              <a:rPr lang="ko-KR" altLang="en-US" sz="1150" dirty="0">
                <a:solidFill>
                  <a:schemeClr val="tx2"/>
                </a:solidFill>
              </a:rPr>
              <a:t>조제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 단서에 따라 특허출원과 동시에 심사청구를 하면서 심사유예신청도 같이 하는 경우에는 별지 제</a:t>
            </a:r>
            <a:r>
              <a:rPr lang="en-US" altLang="ko-KR" sz="1150" dirty="0">
                <a:solidFill>
                  <a:schemeClr val="tx2"/>
                </a:solidFill>
              </a:rPr>
              <a:t>14</a:t>
            </a:r>
            <a:r>
              <a:rPr lang="ko-KR" altLang="en-US" sz="1150" dirty="0">
                <a:solidFill>
                  <a:schemeClr val="tx2"/>
                </a:solidFill>
              </a:rPr>
              <a:t>호서식의 특허출원서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2. </a:t>
            </a:r>
            <a:r>
              <a:rPr lang="ko-KR" altLang="en-US" sz="1150" dirty="0">
                <a:solidFill>
                  <a:schemeClr val="tx2"/>
                </a:solidFill>
              </a:rPr>
              <a:t>심사청구와 동시에 심사유예신청을 하는 경우</a:t>
            </a:r>
            <a:r>
              <a:rPr lang="en-US" altLang="ko-KR" sz="1150" dirty="0">
                <a:solidFill>
                  <a:schemeClr val="tx2"/>
                </a:solidFill>
              </a:rPr>
              <a:t>(</a:t>
            </a:r>
            <a:r>
              <a:rPr lang="ko-KR" altLang="en-US" sz="1150" dirty="0">
                <a:solidFill>
                  <a:schemeClr val="tx2"/>
                </a:solidFill>
              </a:rPr>
              <a:t>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호의 경우는 제외한다</a:t>
            </a:r>
            <a:r>
              <a:rPr lang="en-US" altLang="ko-KR" sz="1150" dirty="0">
                <a:solidFill>
                  <a:schemeClr val="tx2"/>
                </a:solidFill>
              </a:rPr>
              <a:t>)</a:t>
            </a:r>
            <a:r>
              <a:rPr lang="ko-KR" altLang="en-US" sz="1150" dirty="0">
                <a:solidFill>
                  <a:schemeClr val="tx2"/>
                </a:solidFill>
              </a:rPr>
              <a:t>에는 별지 제</a:t>
            </a:r>
            <a:r>
              <a:rPr lang="en-US" altLang="ko-KR" sz="1150" dirty="0">
                <a:solidFill>
                  <a:schemeClr val="tx2"/>
                </a:solidFill>
              </a:rPr>
              <a:t>22</a:t>
            </a:r>
            <a:r>
              <a:rPr lang="ko-KR" altLang="en-US" sz="1150" dirty="0">
                <a:solidFill>
                  <a:schemeClr val="tx2"/>
                </a:solidFill>
              </a:rPr>
              <a:t>호서식의 심사청구서</a:t>
            </a:r>
          </a:p>
          <a:p>
            <a:pPr fontAlgn="base"/>
            <a:r>
              <a:rPr lang="ko-KR" altLang="en-US" sz="1150" dirty="0">
                <a:solidFill>
                  <a:schemeClr val="tx2"/>
                </a:solidFill>
              </a:rPr>
              <a:t>② </a:t>
            </a:r>
            <a:r>
              <a:rPr lang="ko-KR" altLang="en-US" sz="1150" dirty="0" err="1">
                <a:solidFill>
                  <a:schemeClr val="tx2"/>
                </a:solidFill>
              </a:rPr>
              <a:t>특허출원인이</a:t>
            </a:r>
            <a:r>
              <a:rPr lang="ko-KR" altLang="en-US" sz="1150" dirty="0">
                <a:solidFill>
                  <a:schemeClr val="tx2"/>
                </a:solidFill>
              </a:rPr>
              <a:t> 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항에 따른 심사유예신청을 취하하거나 유예희망시점을 변경하려면 심사유예신청서를 제출한 날부터 </a:t>
            </a:r>
            <a:r>
              <a:rPr lang="en-US" altLang="ko-KR" sz="1150" dirty="0">
                <a:solidFill>
                  <a:schemeClr val="tx2"/>
                </a:solidFill>
              </a:rPr>
              <a:t>2</a:t>
            </a:r>
            <a:r>
              <a:rPr lang="ko-KR" altLang="en-US" sz="1150" dirty="0">
                <a:solidFill>
                  <a:schemeClr val="tx2"/>
                </a:solidFill>
              </a:rPr>
              <a:t>개월 이내에 별지 제</a:t>
            </a:r>
            <a:r>
              <a:rPr lang="en-US" altLang="ko-KR" sz="1150" dirty="0">
                <a:solidFill>
                  <a:schemeClr val="tx2"/>
                </a:solidFill>
              </a:rPr>
              <a:t>12</a:t>
            </a:r>
            <a:r>
              <a:rPr lang="ko-KR" altLang="en-US" sz="1150" dirty="0">
                <a:solidFill>
                  <a:schemeClr val="tx2"/>
                </a:solidFill>
              </a:rPr>
              <a:t>호서식의 취하서 또는 별지 제</a:t>
            </a:r>
            <a:r>
              <a:rPr lang="en-US" altLang="ko-KR" sz="1150" dirty="0">
                <a:solidFill>
                  <a:schemeClr val="tx2"/>
                </a:solidFill>
              </a:rPr>
              <a:t>9</a:t>
            </a:r>
            <a:r>
              <a:rPr lang="ko-KR" altLang="en-US" sz="1150" dirty="0">
                <a:solidFill>
                  <a:schemeClr val="tx2"/>
                </a:solidFill>
              </a:rPr>
              <a:t>호서식의 보정서를 제출하여야 한다</a:t>
            </a:r>
            <a:r>
              <a:rPr lang="en-US" altLang="ko-KR" sz="115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③ </a:t>
            </a:r>
            <a:r>
              <a:rPr lang="ko-KR" altLang="en-US" sz="1150" dirty="0">
                <a:solidFill>
                  <a:schemeClr val="tx2"/>
                </a:solidFill>
              </a:rPr>
              <a:t>심사관은 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항에 따른 심사유예신청이 있으면 유예희망시점까지 특허출원에 대한 심사를 유예할 수 있다</a:t>
            </a:r>
            <a:r>
              <a:rPr lang="en-US" altLang="ko-KR" sz="1150" dirty="0">
                <a:solidFill>
                  <a:schemeClr val="tx2"/>
                </a:solidFill>
              </a:rPr>
              <a:t>. </a:t>
            </a:r>
            <a:r>
              <a:rPr lang="ko-KR" altLang="en-US" sz="1150" dirty="0">
                <a:solidFill>
                  <a:schemeClr val="tx2"/>
                </a:solidFill>
              </a:rPr>
              <a:t>다만</a:t>
            </a:r>
            <a:r>
              <a:rPr lang="en-US" altLang="ko-KR" sz="1150" dirty="0">
                <a:solidFill>
                  <a:schemeClr val="tx2"/>
                </a:solidFill>
              </a:rPr>
              <a:t>, </a:t>
            </a:r>
            <a:r>
              <a:rPr lang="ko-KR" altLang="en-US" sz="1150" dirty="0">
                <a:solidFill>
                  <a:schemeClr val="tx2"/>
                </a:solidFill>
              </a:rPr>
              <a:t>다음 각 호의 어느 하나에 해당하는 경우에는 그러하지 아니하다</a:t>
            </a:r>
            <a:r>
              <a:rPr lang="en-US" altLang="ko-KR" sz="115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1. </a:t>
            </a:r>
            <a:r>
              <a:rPr lang="ko-KR" altLang="en-US" sz="1150" dirty="0">
                <a:solidFill>
                  <a:schemeClr val="tx2"/>
                </a:solidFill>
              </a:rPr>
              <a:t>특허출원이 분리출원</a:t>
            </a:r>
            <a:r>
              <a:rPr lang="en-US" altLang="ko-KR" sz="1150" dirty="0">
                <a:solidFill>
                  <a:schemeClr val="tx2"/>
                </a:solidFill>
              </a:rPr>
              <a:t>, </a:t>
            </a:r>
            <a:r>
              <a:rPr lang="ko-KR" altLang="en-US" sz="1150" dirty="0">
                <a:solidFill>
                  <a:schemeClr val="tx2"/>
                </a:solidFill>
              </a:rPr>
              <a:t>변경출원 또는 정당한 권리자의 출원인 경우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2. </a:t>
            </a:r>
            <a:r>
              <a:rPr lang="ko-KR" altLang="en-US" sz="1150" dirty="0">
                <a:solidFill>
                  <a:schemeClr val="tx2"/>
                </a:solidFill>
              </a:rPr>
              <a:t>특허출원에 대하여 우선심사결정을 한 경우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3. </a:t>
            </a:r>
            <a:r>
              <a:rPr lang="ko-KR" altLang="en-US" sz="1150" dirty="0" err="1">
                <a:solidFill>
                  <a:schemeClr val="tx2"/>
                </a:solidFill>
              </a:rPr>
              <a:t>특허출원심사의</a:t>
            </a:r>
            <a:r>
              <a:rPr lang="ko-KR" altLang="en-US" sz="1150" dirty="0">
                <a:solidFill>
                  <a:schemeClr val="tx2"/>
                </a:solidFill>
              </a:rPr>
              <a:t> 유예신청이 있기 전에 이미 거절이유를 통지하거나 특허결정서를 통지한 경우</a:t>
            </a:r>
          </a:p>
          <a:p>
            <a:pPr fontAlgn="base"/>
            <a:r>
              <a:rPr lang="ko-KR" altLang="en-US" sz="1150" dirty="0">
                <a:solidFill>
                  <a:schemeClr val="tx2"/>
                </a:solidFill>
              </a:rPr>
              <a:t>④ 대리인에 의하여 절차를 밟는 경우에는 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항에 따른 서식에 그 대리권을 증명하는 서류를 첨부하여야 한다</a:t>
            </a:r>
            <a:r>
              <a:rPr lang="en-US" altLang="ko-KR" sz="1150" dirty="0">
                <a:solidFill>
                  <a:schemeClr val="tx2"/>
                </a:solidFill>
              </a:rPr>
              <a:t>.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252</a:t>
            </a:r>
            <a:endParaRPr lang="ko-KR" altLang="en-US" dirty="0"/>
          </a:p>
        </p:txBody>
      </p:sp>
      <p:sp>
        <p:nvSpPr>
          <p:cNvPr id="45" name="양쪽 모서리가 둥근 사각형 26">
            <a:extLst>
              <a:ext uri="{FF2B5EF4-FFF2-40B4-BE49-F238E27FC236}">
                <a16:creationId xmlns:a16="http://schemas.microsoft.com/office/drawing/2014/main" id="{D9185DCE-00F7-4643-BB4A-7340825912EC}"/>
              </a:ext>
            </a:extLst>
          </p:cNvPr>
          <p:cNvSpPr/>
          <p:nvPr/>
        </p:nvSpPr>
        <p:spPr>
          <a:xfrm>
            <a:off x="9163202" y="5556461"/>
            <a:ext cx="1913751" cy="716058"/>
          </a:xfrm>
          <a:prstGeom prst="round2SameRect">
            <a:avLst>
              <a:gd name="adj1" fmla="val 0"/>
              <a:gd name="adj2" fmla="val 50000"/>
            </a:avLst>
          </a:prstGeom>
          <a:pattFill prst="pct10">
            <a:fgClr>
              <a:schemeClr val="accent2">
                <a:lumMod val="75000"/>
              </a:schemeClr>
            </a:fgClr>
            <a:bgClr>
              <a:schemeClr val="bg1"/>
            </a:bgClr>
          </a:patt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양쪽 모서리가 둥근 사각형 88">
            <a:extLst>
              <a:ext uri="{FF2B5EF4-FFF2-40B4-BE49-F238E27FC236}">
                <a16:creationId xmlns:a16="http://schemas.microsoft.com/office/drawing/2014/main" id="{80C01EF2-E09B-4DFC-909E-0ADEF2DCFE64}"/>
              </a:ext>
            </a:extLst>
          </p:cNvPr>
          <p:cNvSpPr/>
          <p:nvPr/>
        </p:nvSpPr>
        <p:spPr>
          <a:xfrm>
            <a:off x="9775550" y="5214830"/>
            <a:ext cx="1033482" cy="340225"/>
          </a:xfrm>
          <a:prstGeom prst="round2SameRect">
            <a:avLst>
              <a:gd name="adj1" fmla="val 50000"/>
              <a:gd name="adj2" fmla="val 0"/>
            </a:avLst>
          </a:prstGeom>
          <a:pattFill prst="dotGrid">
            <a:fgClr>
              <a:schemeClr val="accent5">
                <a:lumMod val="75000"/>
              </a:schemeClr>
            </a:fgClr>
            <a:bgClr>
              <a:schemeClr val="bg1"/>
            </a:bgClr>
          </a:patt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47" name="양쪽 모서리가 둥근 사각형 88">
            <a:extLst>
              <a:ext uri="{FF2B5EF4-FFF2-40B4-BE49-F238E27FC236}">
                <a16:creationId xmlns:a16="http://schemas.microsoft.com/office/drawing/2014/main" id="{43A0F1E7-4C30-44B4-B457-4CD937B992BD}"/>
              </a:ext>
            </a:extLst>
          </p:cNvPr>
          <p:cNvSpPr/>
          <p:nvPr/>
        </p:nvSpPr>
        <p:spPr>
          <a:xfrm>
            <a:off x="7638635" y="5214830"/>
            <a:ext cx="1193046" cy="340225"/>
          </a:xfrm>
          <a:prstGeom prst="round2SameRect">
            <a:avLst>
              <a:gd name="adj1" fmla="val 50000"/>
              <a:gd name="adj2" fmla="val 0"/>
            </a:avLst>
          </a:prstGeom>
          <a:pattFill prst="lgGrid">
            <a:fgClr>
              <a:schemeClr val="accent4"/>
            </a:fgClr>
            <a:bgClr>
              <a:schemeClr val="bg1"/>
            </a:bgClr>
          </a:patt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5B584C7-A600-47EF-8FCC-93CE1474A09B}"/>
              </a:ext>
            </a:extLst>
          </p:cNvPr>
          <p:cNvSpPr/>
          <p:nvPr/>
        </p:nvSpPr>
        <p:spPr>
          <a:xfrm>
            <a:off x="7549329" y="4953152"/>
            <a:ext cx="1434956" cy="3103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accent5">
                    <a:lumMod val="50000"/>
                  </a:schemeClr>
                </a:solidFill>
              </a:rPr>
              <a:t>9</a:t>
            </a:r>
            <a:r>
              <a:rPr lang="ko-KR" altLang="en-US" sz="1200" dirty="0">
                <a:solidFill>
                  <a:schemeClr val="accent5">
                    <a:lumMod val="50000"/>
                  </a:schemeClr>
                </a:solidFill>
              </a:rPr>
              <a:t>개월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720083E-0685-4C91-9194-2B2E51DA13B4}"/>
              </a:ext>
            </a:extLst>
          </p:cNvPr>
          <p:cNvSpPr/>
          <p:nvPr/>
        </p:nvSpPr>
        <p:spPr>
          <a:xfrm>
            <a:off x="7693471" y="5973196"/>
            <a:ext cx="1434956" cy="3103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accent5">
                    <a:lumMod val="50000"/>
                  </a:schemeClr>
                </a:solidFill>
              </a:rPr>
              <a:t>24</a:t>
            </a:r>
            <a:r>
              <a:rPr lang="ko-KR" altLang="en-US" sz="1200" dirty="0">
                <a:solidFill>
                  <a:schemeClr val="accent5">
                    <a:lumMod val="50000"/>
                  </a:schemeClr>
                </a:solidFill>
              </a:rPr>
              <a:t>개월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D94F9EEB-8256-4DF4-A843-5BCCE6126787}"/>
              </a:ext>
            </a:extLst>
          </p:cNvPr>
          <p:cNvSpPr/>
          <p:nvPr/>
        </p:nvSpPr>
        <p:spPr>
          <a:xfrm>
            <a:off x="8235158" y="6429338"/>
            <a:ext cx="1434956" cy="3103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accent5">
                    <a:lumMod val="50000"/>
                  </a:schemeClr>
                </a:solidFill>
              </a:rPr>
              <a:t>5</a:t>
            </a:r>
            <a:r>
              <a:rPr lang="ko-KR" altLang="en-US" sz="1200" dirty="0">
                <a:solidFill>
                  <a:schemeClr val="accent5">
                    <a:lumMod val="50000"/>
                  </a:schemeClr>
                </a:solidFill>
              </a:rPr>
              <a:t>년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699868E-DA46-49AA-B4C9-B443F4432996}"/>
              </a:ext>
            </a:extLst>
          </p:cNvPr>
          <p:cNvSpPr/>
          <p:nvPr/>
        </p:nvSpPr>
        <p:spPr>
          <a:xfrm>
            <a:off x="8893191" y="5588521"/>
            <a:ext cx="1434956" cy="3103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accent5">
                    <a:lumMod val="50000"/>
                  </a:schemeClr>
                </a:solidFill>
              </a:rPr>
              <a:t>유예희망시점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C441162-1C38-4906-A0CF-D0C55043BEA1}"/>
              </a:ext>
            </a:extLst>
          </p:cNvPr>
          <p:cNvSpPr/>
          <p:nvPr/>
        </p:nvSpPr>
        <p:spPr>
          <a:xfrm>
            <a:off x="9523697" y="4953152"/>
            <a:ext cx="1434956" cy="3103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accent5">
                    <a:lumMod val="50000"/>
                  </a:schemeClr>
                </a:solidFill>
              </a:rPr>
              <a:t>12</a:t>
            </a:r>
            <a:r>
              <a:rPr lang="ko-KR" altLang="en-US" sz="1200" dirty="0">
                <a:solidFill>
                  <a:schemeClr val="accent5">
                    <a:lumMod val="50000"/>
                  </a:schemeClr>
                </a:solidFill>
              </a:rPr>
              <a:t>개월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C4AC9F8-8DBA-44E0-A94D-DFDADE8BDE21}"/>
              </a:ext>
            </a:extLst>
          </p:cNvPr>
          <p:cNvSpPr/>
          <p:nvPr/>
        </p:nvSpPr>
        <p:spPr>
          <a:xfrm>
            <a:off x="9438589" y="5937823"/>
            <a:ext cx="1539364" cy="3103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rgbClr val="FF0000"/>
                </a:solidFill>
              </a:rPr>
              <a:t>유예희망가능기간</a:t>
            </a:r>
          </a:p>
        </p:txBody>
      </p:sp>
      <p:sp>
        <p:nvSpPr>
          <p:cNvPr id="68" name="양쪽 모서리가 둥근 사각형 26">
            <a:extLst>
              <a:ext uri="{FF2B5EF4-FFF2-40B4-BE49-F238E27FC236}">
                <a16:creationId xmlns:a16="http://schemas.microsoft.com/office/drawing/2014/main" id="{8ADF112E-1B64-443D-87F6-42678426BC1C}"/>
              </a:ext>
            </a:extLst>
          </p:cNvPr>
          <p:cNvSpPr/>
          <p:nvPr/>
        </p:nvSpPr>
        <p:spPr>
          <a:xfrm>
            <a:off x="7638265" y="5556461"/>
            <a:ext cx="1524937" cy="385912"/>
          </a:xfrm>
          <a:prstGeom prst="round2SameRect">
            <a:avLst>
              <a:gd name="adj1" fmla="val 0"/>
              <a:gd name="adj2" fmla="val 50000"/>
            </a:avLst>
          </a:prstGeom>
          <a:noFill/>
          <a:ln w="19050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양쪽 모서리가 둥근 사각형 26">
            <a:extLst>
              <a:ext uri="{FF2B5EF4-FFF2-40B4-BE49-F238E27FC236}">
                <a16:creationId xmlns:a16="http://schemas.microsoft.com/office/drawing/2014/main" id="{DD4F65EC-00AA-46E1-9B5E-7D4743E0F086}"/>
              </a:ext>
            </a:extLst>
          </p:cNvPr>
          <p:cNvSpPr/>
          <p:nvPr/>
        </p:nvSpPr>
        <p:spPr>
          <a:xfrm>
            <a:off x="6840011" y="5556462"/>
            <a:ext cx="4236942" cy="883166"/>
          </a:xfrm>
          <a:prstGeom prst="round2SameRect">
            <a:avLst>
              <a:gd name="adj1" fmla="val 0"/>
              <a:gd name="adj2" fmla="val 50000"/>
            </a:avLst>
          </a:prstGeom>
          <a:noFill/>
          <a:ln w="19050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E9573D16-D7B4-448D-AB1A-512AE08AE741}"/>
              </a:ext>
            </a:extLst>
          </p:cNvPr>
          <p:cNvCxnSpPr>
            <a:cxnSpLocks/>
          </p:cNvCxnSpPr>
          <p:nvPr/>
        </p:nvCxnSpPr>
        <p:spPr>
          <a:xfrm>
            <a:off x="6662117" y="5559398"/>
            <a:ext cx="5129292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타원 73">
            <a:extLst>
              <a:ext uri="{FF2B5EF4-FFF2-40B4-BE49-F238E27FC236}">
                <a16:creationId xmlns:a16="http://schemas.microsoft.com/office/drawing/2014/main" id="{15BD77FD-0D23-437C-87B7-C3449647C5EE}"/>
              </a:ext>
            </a:extLst>
          </p:cNvPr>
          <p:cNvSpPr/>
          <p:nvPr/>
        </p:nvSpPr>
        <p:spPr>
          <a:xfrm>
            <a:off x="9700541" y="5489297"/>
            <a:ext cx="137400" cy="13221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2792489D-E580-43BD-B4E3-BFE9BCAEB2D3}"/>
              </a:ext>
            </a:extLst>
          </p:cNvPr>
          <p:cNvSpPr/>
          <p:nvPr/>
        </p:nvSpPr>
        <p:spPr>
          <a:xfrm>
            <a:off x="6590545" y="5366856"/>
            <a:ext cx="467595" cy="3711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특허출원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335A6ABC-B642-42C4-A06B-06B945D3AA30}"/>
              </a:ext>
            </a:extLst>
          </p:cNvPr>
          <p:cNvSpPr/>
          <p:nvPr/>
        </p:nvSpPr>
        <p:spPr>
          <a:xfrm>
            <a:off x="7404468" y="5366856"/>
            <a:ext cx="467595" cy="3711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심사청구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DCEA1B41-4FE0-449E-A30E-7F4C4ECCD733}"/>
              </a:ext>
            </a:extLst>
          </p:cNvPr>
          <p:cNvSpPr/>
          <p:nvPr/>
        </p:nvSpPr>
        <p:spPr>
          <a:xfrm>
            <a:off x="8085170" y="5366856"/>
            <a:ext cx="471731" cy="371198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유예신청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D0FE57C-6432-4C0F-AC79-D05FCFB98387}"/>
              </a:ext>
            </a:extLst>
          </p:cNvPr>
          <p:cNvSpPr/>
          <p:nvPr/>
        </p:nvSpPr>
        <p:spPr>
          <a:xfrm>
            <a:off x="10049923" y="5366856"/>
            <a:ext cx="467595" cy="37119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실체심사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232F716A-04AB-49F1-9F8F-37876611E9D8}"/>
              </a:ext>
            </a:extLst>
          </p:cNvPr>
          <p:cNvCxnSpPr/>
          <p:nvPr/>
        </p:nvCxnSpPr>
        <p:spPr>
          <a:xfrm>
            <a:off x="6096000" y="809897"/>
            <a:ext cx="0" cy="5904412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245C62E-0269-4448-998A-2F353C5FF0C2}"/>
              </a:ext>
            </a:extLst>
          </p:cNvPr>
          <p:cNvSpPr txBox="1"/>
          <p:nvPr/>
        </p:nvSpPr>
        <p:spPr>
          <a:xfrm>
            <a:off x="156512" y="976902"/>
            <a:ext cx="5939483" cy="41626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150" b="1" dirty="0">
                <a:solidFill>
                  <a:schemeClr val="accent1"/>
                </a:solidFill>
              </a:rPr>
              <a:t>시행규칙 제</a:t>
            </a:r>
            <a:r>
              <a:rPr lang="en-US" altLang="ko-KR" sz="1150" b="1" dirty="0">
                <a:solidFill>
                  <a:schemeClr val="accent1"/>
                </a:solidFill>
              </a:rPr>
              <a:t>38</a:t>
            </a:r>
            <a:r>
              <a:rPr lang="ko-KR" altLang="en-US" sz="1150" b="1" dirty="0">
                <a:solidFill>
                  <a:schemeClr val="accent1"/>
                </a:solidFill>
              </a:rPr>
              <a:t>조</a:t>
            </a:r>
            <a:r>
              <a:rPr lang="en-US" altLang="ko-KR" sz="1150" b="1" dirty="0">
                <a:solidFill>
                  <a:schemeClr val="accent1"/>
                </a:solidFill>
              </a:rPr>
              <a:t>(</a:t>
            </a:r>
            <a:r>
              <a:rPr lang="ko-KR" altLang="en-US" sz="1150" b="1" dirty="0">
                <a:solidFill>
                  <a:schemeClr val="accent1"/>
                </a:solidFill>
              </a:rPr>
              <a:t>심사의 순위</a:t>
            </a:r>
            <a:r>
              <a:rPr lang="en-US" altLang="ko-KR" sz="1150" b="1" dirty="0">
                <a:solidFill>
                  <a:schemeClr val="accent1"/>
                </a:solidFill>
              </a:rPr>
              <a:t>) </a:t>
            </a:r>
            <a:r>
              <a:rPr lang="en-US" altLang="ko-KR" sz="1150" dirty="0">
                <a:solidFill>
                  <a:schemeClr val="tx2"/>
                </a:solidFill>
              </a:rPr>
              <a:t>① </a:t>
            </a:r>
            <a:r>
              <a:rPr lang="ko-KR" altLang="en-US" sz="1150" dirty="0">
                <a:solidFill>
                  <a:schemeClr val="tx2"/>
                </a:solidFill>
              </a:rPr>
              <a:t>특허출원에 대한 심사는 법 제</a:t>
            </a:r>
            <a:r>
              <a:rPr lang="en-US" altLang="ko-KR" sz="1150" dirty="0">
                <a:solidFill>
                  <a:schemeClr val="tx2"/>
                </a:solidFill>
              </a:rPr>
              <a:t>59</a:t>
            </a:r>
            <a:r>
              <a:rPr lang="ko-KR" altLang="en-US" sz="1150" dirty="0">
                <a:solidFill>
                  <a:schemeClr val="tx2"/>
                </a:solidFill>
              </a:rPr>
              <a:t>조제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항에 따른 출원심사의 청구순위에 따른다</a:t>
            </a:r>
            <a:r>
              <a:rPr lang="en-US" altLang="ko-KR" sz="1150" dirty="0">
                <a:solidFill>
                  <a:schemeClr val="tx2"/>
                </a:solidFill>
              </a:rPr>
              <a:t>.  </a:t>
            </a:r>
          </a:p>
          <a:p>
            <a:pPr fontAlgn="base"/>
            <a:r>
              <a:rPr lang="ko-KR" altLang="en-US" sz="1150" dirty="0">
                <a:solidFill>
                  <a:schemeClr val="tx2"/>
                </a:solidFill>
              </a:rPr>
              <a:t>② 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항에도 불구하고 다음 각 호의 어느 하나에 해당하는 경우에는 </a:t>
            </a:r>
            <a:r>
              <a:rPr lang="ko-KR" altLang="en-US" sz="1150" dirty="0">
                <a:solidFill>
                  <a:srgbClr val="FF0000"/>
                </a:solidFill>
              </a:rPr>
              <a:t>지식재산처장이 정하는 바*에 </a:t>
            </a:r>
            <a:r>
              <a:rPr lang="ko-KR" altLang="en-US" sz="1150" dirty="0">
                <a:solidFill>
                  <a:schemeClr val="tx2"/>
                </a:solidFill>
              </a:rPr>
              <a:t>따라 심사한다</a:t>
            </a:r>
            <a:r>
              <a:rPr lang="en-US" altLang="ko-KR" sz="1150" dirty="0">
                <a:solidFill>
                  <a:schemeClr val="tx2"/>
                </a:solidFill>
              </a:rPr>
              <a:t>. 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  1. </a:t>
            </a:r>
            <a:r>
              <a:rPr lang="ko-KR" altLang="en-US" sz="1150" dirty="0" err="1">
                <a:solidFill>
                  <a:schemeClr val="tx2"/>
                </a:solidFill>
              </a:rPr>
              <a:t>심사청구된</a:t>
            </a:r>
            <a:r>
              <a:rPr lang="ko-KR" altLang="en-US" sz="1150" dirty="0">
                <a:solidFill>
                  <a:schemeClr val="tx2"/>
                </a:solidFill>
              </a:rPr>
              <a:t> 특허출원을 법 제</a:t>
            </a:r>
            <a:r>
              <a:rPr lang="en-US" altLang="ko-KR" sz="1150" dirty="0">
                <a:solidFill>
                  <a:schemeClr val="tx2"/>
                </a:solidFill>
              </a:rPr>
              <a:t>52</a:t>
            </a:r>
            <a:r>
              <a:rPr lang="ko-KR" altLang="en-US" sz="1150" dirty="0">
                <a:solidFill>
                  <a:schemeClr val="tx2"/>
                </a:solidFill>
              </a:rPr>
              <a:t>조에 따라 </a:t>
            </a:r>
            <a:r>
              <a:rPr lang="ko-KR" altLang="en-US" sz="1150" dirty="0" err="1">
                <a:solidFill>
                  <a:schemeClr val="tx2"/>
                </a:solidFill>
              </a:rPr>
              <a:t>분할출원하여</a:t>
            </a:r>
            <a:r>
              <a:rPr lang="ko-KR" altLang="en-US" sz="1150" dirty="0">
                <a:solidFill>
                  <a:schemeClr val="tx2"/>
                </a:solidFill>
              </a:rPr>
              <a:t> 심사청구한 경우</a:t>
            </a:r>
          </a:p>
          <a:p>
            <a:pPr fontAlgn="base"/>
            <a:r>
              <a:rPr lang="ko-KR" altLang="en-US" sz="1150" dirty="0">
                <a:solidFill>
                  <a:schemeClr val="tx2"/>
                </a:solidFill>
              </a:rPr>
              <a:t>  </a:t>
            </a:r>
            <a:r>
              <a:rPr lang="en-US" altLang="ko-KR" sz="1150" dirty="0">
                <a:solidFill>
                  <a:schemeClr val="tx2"/>
                </a:solidFill>
              </a:rPr>
              <a:t>2. </a:t>
            </a:r>
            <a:r>
              <a:rPr lang="ko-KR" altLang="en-US" sz="1150" dirty="0" err="1">
                <a:solidFill>
                  <a:schemeClr val="tx2"/>
                </a:solidFill>
              </a:rPr>
              <a:t>심사청구된</a:t>
            </a:r>
            <a:r>
              <a:rPr lang="ko-KR" altLang="en-US" sz="1150" dirty="0">
                <a:solidFill>
                  <a:schemeClr val="tx2"/>
                </a:solidFill>
              </a:rPr>
              <a:t> 특허출원을 법 제</a:t>
            </a:r>
            <a:r>
              <a:rPr lang="en-US" altLang="ko-KR" sz="1150" dirty="0">
                <a:solidFill>
                  <a:schemeClr val="tx2"/>
                </a:solidFill>
              </a:rPr>
              <a:t>52</a:t>
            </a:r>
            <a:r>
              <a:rPr lang="ko-KR" altLang="en-US" sz="1150" dirty="0">
                <a:solidFill>
                  <a:schemeClr val="tx2"/>
                </a:solidFill>
              </a:rPr>
              <a:t>조의</a:t>
            </a:r>
            <a:r>
              <a:rPr lang="en-US" altLang="ko-KR" sz="1150" dirty="0">
                <a:solidFill>
                  <a:schemeClr val="tx2"/>
                </a:solidFill>
              </a:rPr>
              <a:t>2</a:t>
            </a:r>
            <a:r>
              <a:rPr lang="ko-KR" altLang="en-US" sz="1150" dirty="0">
                <a:solidFill>
                  <a:schemeClr val="tx2"/>
                </a:solidFill>
              </a:rPr>
              <a:t>에 따라 </a:t>
            </a:r>
            <a:r>
              <a:rPr lang="ko-KR" altLang="en-US" sz="1150" dirty="0" err="1">
                <a:solidFill>
                  <a:schemeClr val="tx2"/>
                </a:solidFill>
              </a:rPr>
              <a:t>분리출원하여</a:t>
            </a:r>
            <a:r>
              <a:rPr lang="ko-KR" altLang="en-US" sz="1150" dirty="0">
                <a:solidFill>
                  <a:schemeClr val="tx2"/>
                </a:solidFill>
              </a:rPr>
              <a:t> 심사청구한 경우</a:t>
            </a:r>
          </a:p>
          <a:p>
            <a:pPr fontAlgn="base"/>
            <a:r>
              <a:rPr lang="ko-KR" altLang="en-US" sz="1150" dirty="0">
                <a:solidFill>
                  <a:schemeClr val="tx2"/>
                </a:solidFill>
              </a:rPr>
              <a:t>  </a:t>
            </a:r>
            <a:r>
              <a:rPr lang="en-US" altLang="ko-KR" sz="1150" dirty="0">
                <a:solidFill>
                  <a:schemeClr val="tx2"/>
                </a:solidFill>
              </a:rPr>
              <a:t>3. </a:t>
            </a:r>
            <a:r>
              <a:rPr lang="ko-KR" altLang="en-US" sz="1150" dirty="0" err="1">
                <a:solidFill>
                  <a:schemeClr val="tx2"/>
                </a:solidFill>
              </a:rPr>
              <a:t>심사청구된</a:t>
            </a:r>
            <a:r>
              <a:rPr lang="ko-KR" altLang="en-US" sz="1150" dirty="0">
                <a:solidFill>
                  <a:schemeClr val="tx2"/>
                </a:solidFill>
              </a:rPr>
              <a:t> 실용신안등록출원을 법 제</a:t>
            </a:r>
            <a:r>
              <a:rPr lang="en-US" altLang="ko-KR" sz="1150" dirty="0">
                <a:solidFill>
                  <a:schemeClr val="tx2"/>
                </a:solidFill>
              </a:rPr>
              <a:t>53</a:t>
            </a:r>
            <a:r>
              <a:rPr lang="ko-KR" altLang="en-US" sz="1150" dirty="0">
                <a:solidFill>
                  <a:schemeClr val="tx2"/>
                </a:solidFill>
              </a:rPr>
              <a:t>조에 따라 특허출원으로 </a:t>
            </a:r>
            <a:r>
              <a:rPr lang="ko-KR" altLang="en-US" sz="1150" dirty="0" err="1">
                <a:solidFill>
                  <a:schemeClr val="tx2"/>
                </a:solidFill>
              </a:rPr>
              <a:t>변경출원하여</a:t>
            </a:r>
            <a:r>
              <a:rPr lang="ko-KR" altLang="en-US" sz="1150" dirty="0">
                <a:solidFill>
                  <a:schemeClr val="tx2"/>
                </a:solidFill>
              </a:rPr>
              <a:t> 심사청구한 경우</a:t>
            </a:r>
            <a:r>
              <a:rPr lang="en-US" altLang="ko-KR" sz="1150" dirty="0">
                <a:solidFill>
                  <a:schemeClr val="tx2"/>
                </a:solidFill>
              </a:rPr>
              <a:t> </a:t>
            </a:r>
          </a:p>
          <a:p>
            <a:pPr fontAlgn="base"/>
            <a:r>
              <a:rPr lang="ko-KR" altLang="en-US" sz="1150" b="1" dirty="0">
                <a:solidFill>
                  <a:schemeClr val="accent1"/>
                </a:solidFill>
              </a:rPr>
              <a:t>시행규칙 제</a:t>
            </a:r>
            <a:r>
              <a:rPr lang="en-US" altLang="ko-KR" sz="1150" b="1" dirty="0">
                <a:solidFill>
                  <a:schemeClr val="accent1"/>
                </a:solidFill>
              </a:rPr>
              <a:t>40</a:t>
            </a:r>
            <a:r>
              <a:rPr lang="ko-KR" altLang="en-US" sz="1150" b="1" dirty="0">
                <a:solidFill>
                  <a:schemeClr val="accent1"/>
                </a:solidFill>
              </a:rPr>
              <a:t>조</a:t>
            </a:r>
            <a:r>
              <a:rPr lang="en-US" altLang="ko-KR" sz="1150" b="1" dirty="0">
                <a:solidFill>
                  <a:schemeClr val="accent1"/>
                </a:solidFill>
              </a:rPr>
              <a:t>(</a:t>
            </a:r>
            <a:r>
              <a:rPr lang="ko-KR" altLang="en-US" sz="1150" b="1" dirty="0">
                <a:solidFill>
                  <a:schemeClr val="accent1"/>
                </a:solidFill>
              </a:rPr>
              <a:t>동일출원의 심사</a:t>
            </a:r>
            <a:r>
              <a:rPr lang="en-US" altLang="ko-KR" sz="1150" b="1" dirty="0">
                <a:solidFill>
                  <a:schemeClr val="accent1"/>
                </a:solidFill>
              </a:rPr>
              <a:t>) </a:t>
            </a:r>
            <a:r>
              <a:rPr lang="en-US" altLang="ko-KR" sz="1150" dirty="0">
                <a:solidFill>
                  <a:schemeClr val="tx2"/>
                </a:solidFill>
              </a:rPr>
              <a:t>① </a:t>
            </a:r>
            <a:r>
              <a:rPr lang="ko-KR" altLang="en-US" sz="1150" dirty="0">
                <a:solidFill>
                  <a:schemeClr val="tx2"/>
                </a:solidFill>
              </a:rPr>
              <a:t>동일한 발명에 대하여 다른 날에 둘 이상의 특허출원이 있는 경우에는 선출원이 처리되거나 출원공개 또는 등록공고 될 때까지 후출원의 심사를 보류하여야 한다</a:t>
            </a:r>
            <a:r>
              <a:rPr lang="en-US" altLang="ko-KR" sz="1150" dirty="0">
                <a:solidFill>
                  <a:schemeClr val="tx2"/>
                </a:solidFill>
              </a:rPr>
              <a:t>. </a:t>
            </a:r>
            <a:r>
              <a:rPr lang="ko-KR" altLang="en-US" sz="1150" dirty="0">
                <a:solidFill>
                  <a:schemeClr val="tx2"/>
                </a:solidFill>
              </a:rPr>
              <a:t>다만</a:t>
            </a:r>
            <a:r>
              <a:rPr lang="en-US" altLang="ko-KR" sz="1150" dirty="0">
                <a:solidFill>
                  <a:schemeClr val="tx2"/>
                </a:solidFill>
              </a:rPr>
              <a:t>, </a:t>
            </a:r>
            <a:r>
              <a:rPr lang="ko-KR" altLang="en-US" sz="1150" dirty="0">
                <a:solidFill>
                  <a:schemeClr val="tx2"/>
                </a:solidFill>
              </a:rPr>
              <a:t>선출원을 거절할 이유와 동일한 이유에 의하여 후출원을 거절하는 경우에는 그러하지 아니하다</a:t>
            </a:r>
            <a:r>
              <a:rPr lang="en-US" altLang="ko-KR" sz="1150" dirty="0">
                <a:solidFill>
                  <a:schemeClr val="tx2"/>
                </a:solidFill>
              </a:rPr>
              <a:t>.  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② </a:t>
            </a:r>
            <a:r>
              <a:rPr lang="ko-KR" altLang="en-US" sz="1150" dirty="0">
                <a:solidFill>
                  <a:schemeClr val="tx2"/>
                </a:solidFill>
              </a:rPr>
              <a:t>심사관이 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항에 따라 심사를 보류하려는 경우에는 지식재산처장이 지정한 심사장의 확인을 받아야 한다</a:t>
            </a:r>
            <a:endParaRPr lang="en-US" altLang="ko-KR" sz="1150" dirty="0">
              <a:solidFill>
                <a:schemeClr val="tx2"/>
              </a:solidFill>
            </a:endParaRPr>
          </a:p>
          <a:p>
            <a:pPr fontAlgn="base"/>
            <a:r>
              <a:rPr lang="ko-KR" altLang="en-US" sz="1150" b="1" dirty="0">
                <a:solidFill>
                  <a:schemeClr val="accent1"/>
                </a:solidFill>
              </a:rPr>
              <a:t>시행규칙 제</a:t>
            </a:r>
            <a:r>
              <a:rPr lang="en-US" altLang="ko-KR" sz="1150" b="1" dirty="0">
                <a:solidFill>
                  <a:schemeClr val="accent1"/>
                </a:solidFill>
              </a:rPr>
              <a:t>40</a:t>
            </a:r>
            <a:r>
              <a:rPr lang="ko-KR" altLang="en-US" sz="1150" b="1" dirty="0">
                <a:solidFill>
                  <a:schemeClr val="accent1"/>
                </a:solidFill>
              </a:rPr>
              <a:t>조의</a:t>
            </a:r>
            <a:r>
              <a:rPr lang="en-US" altLang="ko-KR" sz="1150" b="1" dirty="0">
                <a:solidFill>
                  <a:schemeClr val="accent1"/>
                </a:solidFill>
              </a:rPr>
              <a:t>2(</a:t>
            </a:r>
            <a:r>
              <a:rPr lang="ko-KR" altLang="en-US" sz="1150" b="1" dirty="0">
                <a:solidFill>
                  <a:schemeClr val="accent1"/>
                </a:solidFill>
              </a:rPr>
              <a:t>특허여부결정의 보류</a:t>
            </a:r>
            <a:r>
              <a:rPr lang="en-US" altLang="ko-KR" sz="1150" b="1" dirty="0">
                <a:solidFill>
                  <a:schemeClr val="accent1"/>
                </a:solidFill>
              </a:rPr>
              <a:t>)</a:t>
            </a:r>
            <a:r>
              <a:rPr lang="en-US" altLang="ko-KR" sz="1150" dirty="0">
                <a:solidFill>
                  <a:schemeClr val="tx2"/>
                </a:solidFill>
              </a:rPr>
              <a:t> </a:t>
            </a:r>
            <a:r>
              <a:rPr lang="ko-KR" altLang="en-US" sz="1150" dirty="0">
                <a:solidFill>
                  <a:schemeClr val="tx2"/>
                </a:solidFill>
              </a:rPr>
              <a:t>① 심사관은 </a:t>
            </a:r>
            <a:r>
              <a:rPr lang="ko-KR" altLang="en-US" sz="1150" dirty="0" err="1">
                <a:solidFill>
                  <a:schemeClr val="tx2"/>
                </a:solidFill>
              </a:rPr>
              <a:t>특허출원심사의</a:t>
            </a:r>
            <a:r>
              <a:rPr lang="ko-KR" altLang="en-US" sz="1150" dirty="0">
                <a:solidFill>
                  <a:schemeClr val="tx2"/>
                </a:solidFill>
              </a:rPr>
              <a:t> 청구 후 출원인이 </a:t>
            </a:r>
            <a:r>
              <a:rPr lang="ko-KR" altLang="en-US" sz="1150" dirty="0" err="1">
                <a:solidFill>
                  <a:schemeClr val="tx2"/>
                </a:solidFill>
              </a:rPr>
              <a:t>특허출원일부터</a:t>
            </a:r>
            <a:r>
              <a:rPr lang="ko-KR" altLang="en-US" sz="1150" dirty="0">
                <a:solidFill>
                  <a:schemeClr val="tx2"/>
                </a:solidFill>
              </a:rPr>
              <a:t> </a:t>
            </a:r>
            <a:r>
              <a:rPr lang="en-US" altLang="ko-KR" sz="1150" dirty="0">
                <a:solidFill>
                  <a:schemeClr val="tx2"/>
                </a:solidFill>
              </a:rPr>
              <a:t>6</a:t>
            </a:r>
            <a:r>
              <a:rPr lang="ko-KR" altLang="en-US" sz="1150" dirty="0">
                <a:solidFill>
                  <a:schemeClr val="tx2"/>
                </a:solidFill>
              </a:rPr>
              <a:t>개월 이내에 별지 제</a:t>
            </a:r>
            <a:r>
              <a:rPr lang="en-US" altLang="ko-KR" sz="1150" dirty="0">
                <a:solidFill>
                  <a:schemeClr val="tx2"/>
                </a:solidFill>
              </a:rPr>
              <a:t>22</a:t>
            </a:r>
            <a:r>
              <a:rPr lang="ko-KR" altLang="en-US" sz="1150" dirty="0">
                <a:solidFill>
                  <a:schemeClr val="tx2"/>
                </a:solidFill>
              </a:rPr>
              <a:t>호의</a:t>
            </a:r>
            <a:r>
              <a:rPr lang="en-US" altLang="ko-KR" sz="1150" dirty="0">
                <a:solidFill>
                  <a:schemeClr val="tx2"/>
                </a:solidFill>
              </a:rPr>
              <a:t>2</a:t>
            </a:r>
            <a:r>
              <a:rPr lang="ko-KR" altLang="en-US" sz="1150" dirty="0">
                <a:solidFill>
                  <a:schemeClr val="tx2"/>
                </a:solidFill>
              </a:rPr>
              <a:t>서식의 결정 보류신청서를 지식재산처장에게 제출하는 경우에는 </a:t>
            </a:r>
            <a:r>
              <a:rPr lang="ko-KR" altLang="en-US" sz="1150" dirty="0" err="1">
                <a:solidFill>
                  <a:schemeClr val="tx2"/>
                </a:solidFill>
              </a:rPr>
              <a:t>특허출원일부터</a:t>
            </a:r>
            <a:r>
              <a:rPr lang="ko-KR" altLang="en-US" sz="1150" dirty="0">
                <a:solidFill>
                  <a:schemeClr val="tx2"/>
                </a:solidFill>
              </a:rPr>
              <a:t> </a:t>
            </a:r>
            <a:r>
              <a:rPr lang="en-US" altLang="ko-KR" sz="1150" dirty="0">
                <a:solidFill>
                  <a:schemeClr val="tx2"/>
                </a:solidFill>
              </a:rPr>
              <a:t>12</a:t>
            </a:r>
            <a:r>
              <a:rPr lang="ko-KR" altLang="en-US" sz="1150" dirty="0">
                <a:solidFill>
                  <a:schemeClr val="tx2"/>
                </a:solidFill>
              </a:rPr>
              <a:t>개월이 경과하기 전까지 특허여부결정을 보류할 수 있다</a:t>
            </a:r>
            <a:r>
              <a:rPr lang="en-US" altLang="ko-KR" sz="1150" dirty="0">
                <a:solidFill>
                  <a:schemeClr val="tx2"/>
                </a:solidFill>
              </a:rPr>
              <a:t>. </a:t>
            </a:r>
            <a:r>
              <a:rPr lang="ko-KR" altLang="en-US" sz="1150" dirty="0">
                <a:solidFill>
                  <a:schemeClr val="tx2"/>
                </a:solidFill>
              </a:rPr>
              <a:t>다만</a:t>
            </a:r>
            <a:r>
              <a:rPr lang="en-US" altLang="ko-KR" sz="1150" dirty="0">
                <a:solidFill>
                  <a:schemeClr val="tx2"/>
                </a:solidFill>
              </a:rPr>
              <a:t>, </a:t>
            </a:r>
            <a:r>
              <a:rPr lang="ko-KR" altLang="en-US" sz="1150" dirty="0">
                <a:solidFill>
                  <a:schemeClr val="tx2"/>
                </a:solidFill>
              </a:rPr>
              <a:t>다음 각 호의 어느 하나에 해당하는 경우에는 그러하지 아니하다</a:t>
            </a:r>
            <a:r>
              <a:rPr lang="en-US" altLang="ko-KR" sz="1150" dirty="0">
                <a:solidFill>
                  <a:schemeClr val="tx2"/>
                </a:solidFill>
              </a:rPr>
              <a:t>.  </a:t>
            </a:r>
            <a:br>
              <a:rPr lang="en-US" altLang="ko-KR" sz="1150" dirty="0">
                <a:solidFill>
                  <a:schemeClr val="tx2"/>
                </a:solidFill>
              </a:rPr>
            </a:br>
            <a:r>
              <a:rPr lang="en-US" altLang="ko-KR" sz="1150" dirty="0">
                <a:solidFill>
                  <a:schemeClr val="tx2"/>
                </a:solidFill>
              </a:rPr>
              <a:t>1. </a:t>
            </a:r>
            <a:r>
              <a:rPr lang="ko-KR" altLang="en-US" sz="1150" dirty="0">
                <a:solidFill>
                  <a:schemeClr val="tx2"/>
                </a:solidFill>
              </a:rPr>
              <a:t>특허출원이 분리출원 또는 </a:t>
            </a:r>
            <a:r>
              <a:rPr lang="ko-KR" altLang="en-US" sz="1150" dirty="0" err="1">
                <a:solidFill>
                  <a:schemeClr val="tx2"/>
                </a:solidFill>
              </a:rPr>
              <a:t>변경출원인</a:t>
            </a:r>
            <a:r>
              <a:rPr lang="ko-KR" altLang="en-US" sz="1150" dirty="0">
                <a:solidFill>
                  <a:schemeClr val="tx2"/>
                </a:solidFill>
              </a:rPr>
              <a:t> 경우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2. </a:t>
            </a:r>
            <a:r>
              <a:rPr lang="ko-KR" altLang="en-US" sz="1150" dirty="0">
                <a:solidFill>
                  <a:schemeClr val="tx2"/>
                </a:solidFill>
              </a:rPr>
              <a:t>특허출원에 대하여 우선심사결정을 한 경우</a:t>
            </a:r>
          </a:p>
          <a:p>
            <a:pPr fontAlgn="base"/>
            <a:r>
              <a:rPr lang="en-US" altLang="ko-KR" sz="1150" dirty="0">
                <a:solidFill>
                  <a:schemeClr val="tx2"/>
                </a:solidFill>
              </a:rPr>
              <a:t>3. </a:t>
            </a:r>
            <a:r>
              <a:rPr lang="ko-KR" altLang="en-US" sz="1150" dirty="0">
                <a:solidFill>
                  <a:schemeClr val="tx2"/>
                </a:solidFill>
              </a:rPr>
              <a:t>특허여부결정의 보류신청이 있기 전에 이미 </a:t>
            </a:r>
            <a:r>
              <a:rPr lang="ko-KR" altLang="en-US" sz="1150" dirty="0" err="1">
                <a:solidFill>
                  <a:schemeClr val="tx2"/>
                </a:solidFill>
              </a:rPr>
              <a:t>특허거절결정서</a:t>
            </a:r>
            <a:r>
              <a:rPr lang="ko-KR" altLang="en-US" sz="1150" dirty="0">
                <a:solidFill>
                  <a:schemeClr val="tx2"/>
                </a:solidFill>
              </a:rPr>
              <a:t> 또는 특허결정서를 통지한 경우</a:t>
            </a:r>
          </a:p>
          <a:p>
            <a:pPr fontAlgn="base"/>
            <a:r>
              <a:rPr lang="ko-KR" altLang="en-US" sz="1150" dirty="0">
                <a:solidFill>
                  <a:schemeClr val="tx2"/>
                </a:solidFill>
              </a:rPr>
              <a:t>② 대리인에 의하여 절차를 밟는 경우에는 제</a:t>
            </a:r>
            <a:r>
              <a:rPr lang="en-US" altLang="ko-KR" sz="1150" dirty="0">
                <a:solidFill>
                  <a:schemeClr val="tx2"/>
                </a:solidFill>
              </a:rPr>
              <a:t>1</a:t>
            </a:r>
            <a:r>
              <a:rPr lang="ko-KR" altLang="en-US" sz="1150" dirty="0">
                <a:solidFill>
                  <a:schemeClr val="tx2"/>
                </a:solidFill>
              </a:rPr>
              <a:t>항에 따른 서식에 그 대리권을 증명하는 서류를 첨부하여야 한다</a:t>
            </a:r>
            <a:r>
              <a:rPr lang="en-US" altLang="ko-KR" sz="1150" dirty="0">
                <a:solidFill>
                  <a:schemeClr val="tx2"/>
                </a:solidFill>
              </a:rPr>
              <a:t>.</a:t>
            </a:r>
            <a:r>
              <a:rPr lang="ko-KR" altLang="en-US" sz="1150" dirty="0">
                <a:solidFill>
                  <a:schemeClr val="tx2"/>
                </a:solidFill>
              </a:rPr>
              <a:t> </a:t>
            </a:r>
            <a:endParaRPr lang="en-US" altLang="ko-KR" sz="1150" dirty="0">
              <a:solidFill>
                <a:schemeClr val="tx2"/>
              </a:solidFill>
            </a:endParaRPr>
          </a:p>
        </p:txBody>
      </p:sp>
      <p:sp>
        <p:nvSpPr>
          <p:cNvPr id="87" name="양쪽 모서리가 둥근 사각형 26">
            <a:extLst>
              <a:ext uri="{FF2B5EF4-FFF2-40B4-BE49-F238E27FC236}">
                <a16:creationId xmlns:a16="http://schemas.microsoft.com/office/drawing/2014/main" id="{6D5FA13D-2A71-4AC0-81D2-75C5B42BEC00}"/>
              </a:ext>
            </a:extLst>
          </p:cNvPr>
          <p:cNvSpPr/>
          <p:nvPr/>
        </p:nvSpPr>
        <p:spPr>
          <a:xfrm>
            <a:off x="804730" y="6218118"/>
            <a:ext cx="4236942" cy="366322"/>
          </a:xfrm>
          <a:prstGeom prst="round2SameRect">
            <a:avLst>
              <a:gd name="adj1" fmla="val 0"/>
              <a:gd name="adj2" fmla="val 50000"/>
            </a:avLst>
          </a:prstGeom>
          <a:noFill/>
          <a:ln w="19050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9F31F703-0BB9-459A-9474-4BE4AE0223B1}"/>
              </a:ext>
            </a:extLst>
          </p:cNvPr>
          <p:cNvCxnSpPr>
            <a:cxnSpLocks/>
          </p:cNvCxnSpPr>
          <p:nvPr/>
        </p:nvCxnSpPr>
        <p:spPr>
          <a:xfrm>
            <a:off x="626836" y="6220323"/>
            <a:ext cx="5129292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화살표: 왼쪽/오른쪽 13">
            <a:extLst>
              <a:ext uri="{FF2B5EF4-FFF2-40B4-BE49-F238E27FC236}">
                <a16:creationId xmlns:a16="http://schemas.microsoft.com/office/drawing/2014/main" id="{71DE6C8A-B10F-4177-8B34-FD3496D13D1B}"/>
              </a:ext>
            </a:extLst>
          </p:cNvPr>
          <p:cNvSpPr/>
          <p:nvPr/>
        </p:nvSpPr>
        <p:spPr>
          <a:xfrm>
            <a:off x="3011593" y="6043104"/>
            <a:ext cx="2030067" cy="339675"/>
          </a:xfrm>
          <a:prstGeom prst="leftRightArrow">
            <a:avLst>
              <a:gd name="adj1" fmla="val 73094"/>
              <a:gd name="adj2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62734EB7-7762-4727-AF1B-31C09C812FAB}"/>
              </a:ext>
            </a:extLst>
          </p:cNvPr>
          <p:cNvCxnSpPr>
            <a:cxnSpLocks/>
          </p:cNvCxnSpPr>
          <p:nvPr/>
        </p:nvCxnSpPr>
        <p:spPr>
          <a:xfrm>
            <a:off x="156513" y="5066236"/>
            <a:ext cx="419508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양쪽 모서리가 둥근 사각형 88">
            <a:extLst>
              <a:ext uri="{FF2B5EF4-FFF2-40B4-BE49-F238E27FC236}">
                <a16:creationId xmlns:a16="http://schemas.microsoft.com/office/drawing/2014/main" id="{958BF48C-545B-4F4E-963A-144057F0BE7A}"/>
              </a:ext>
            </a:extLst>
          </p:cNvPr>
          <p:cNvSpPr/>
          <p:nvPr/>
        </p:nvSpPr>
        <p:spPr>
          <a:xfrm>
            <a:off x="799591" y="5741443"/>
            <a:ext cx="1967675" cy="475620"/>
          </a:xfrm>
          <a:prstGeom prst="round2SameRect">
            <a:avLst>
              <a:gd name="adj1" fmla="val 50000"/>
              <a:gd name="adj2" fmla="val 0"/>
            </a:avLst>
          </a:prstGeom>
          <a:pattFill prst="lgGrid">
            <a:fgClr>
              <a:schemeClr val="accent4"/>
            </a:fgClr>
            <a:bgClr>
              <a:schemeClr val="bg1"/>
            </a:bgClr>
          </a:patt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54F97F9D-9982-4762-BA27-63B8C870C669}"/>
              </a:ext>
            </a:extLst>
          </p:cNvPr>
          <p:cNvSpPr/>
          <p:nvPr/>
        </p:nvSpPr>
        <p:spPr>
          <a:xfrm>
            <a:off x="1119304" y="5508508"/>
            <a:ext cx="1434956" cy="23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accent5">
                    <a:lumMod val="50000"/>
                  </a:schemeClr>
                </a:solidFill>
              </a:rPr>
              <a:t>6</a:t>
            </a:r>
            <a:r>
              <a:rPr lang="ko-KR" altLang="en-US" sz="1200" dirty="0">
                <a:solidFill>
                  <a:schemeClr val="accent5">
                    <a:lumMod val="50000"/>
                  </a:schemeClr>
                </a:solidFill>
              </a:rPr>
              <a:t>개월 이내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DBA6701-79F4-4F0A-A0E0-EB521DDF0F3A}"/>
              </a:ext>
            </a:extLst>
          </p:cNvPr>
          <p:cNvSpPr/>
          <p:nvPr/>
        </p:nvSpPr>
        <p:spPr>
          <a:xfrm>
            <a:off x="2199877" y="6571293"/>
            <a:ext cx="1434956" cy="23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accent5">
                    <a:lumMod val="50000"/>
                  </a:schemeClr>
                </a:solidFill>
              </a:rPr>
              <a:t>12</a:t>
            </a:r>
            <a:r>
              <a:rPr lang="ko-KR" altLang="en-US" sz="1200" dirty="0">
                <a:solidFill>
                  <a:schemeClr val="accent5">
                    <a:lumMod val="50000"/>
                  </a:schemeClr>
                </a:solidFill>
              </a:rPr>
              <a:t>개월</a:t>
            </a: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7DAD960F-4FE4-4B41-B9E0-9E508C4F2666}"/>
              </a:ext>
            </a:extLst>
          </p:cNvPr>
          <p:cNvSpPr/>
          <p:nvPr/>
        </p:nvSpPr>
        <p:spPr>
          <a:xfrm>
            <a:off x="3232618" y="6097607"/>
            <a:ext cx="1539364" cy="23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rgbClr val="FF0000"/>
                </a:solidFill>
              </a:rPr>
              <a:t>특허여부결정보류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8C60889C-5599-45AF-ACD8-9183834047BC}"/>
              </a:ext>
            </a:extLst>
          </p:cNvPr>
          <p:cNvSpPr/>
          <p:nvPr/>
        </p:nvSpPr>
        <p:spPr>
          <a:xfrm>
            <a:off x="555264" y="5980223"/>
            <a:ext cx="467595" cy="469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특허출원</a:t>
            </a: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4C72445C-19BE-4869-97FF-319D55D46BD3}"/>
              </a:ext>
            </a:extLst>
          </p:cNvPr>
          <p:cNvSpPr/>
          <p:nvPr/>
        </p:nvSpPr>
        <p:spPr>
          <a:xfrm>
            <a:off x="1514192" y="5980223"/>
            <a:ext cx="467595" cy="469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심사청구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D64398C4-7DB0-41FE-9FA4-0A63E813A18B}"/>
              </a:ext>
            </a:extLst>
          </p:cNvPr>
          <p:cNvSpPr/>
          <p:nvPr/>
        </p:nvSpPr>
        <p:spPr>
          <a:xfrm>
            <a:off x="2519126" y="5980223"/>
            <a:ext cx="471731" cy="469776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보류신청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D271AB-7F8E-F00E-2DC7-BE01D44FC5B3}"/>
              </a:ext>
            </a:extLst>
          </p:cNvPr>
          <p:cNvSpPr txBox="1"/>
          <p:nvPr/>
        </p:nvSpPr>
        <p:spPr>
          <a:xfrm>
            <a:off x="90608" y="5078265"/>
            <a:ext cx="5939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/>
            <a:r>
              <a:rPr lang="ko-KR" altLang="en-US" sz="1000" dirty="0">
                <a:solidFill>
                  <a:srgbClr val="FF0000"/>
                </a:solidFill>
              </a:rPr>
              <a:t>* 분할출원은 분할출원의 심사청구순서</a:t>
            </a:r>
            <a:r>
              <a:rPr lang="en-US" altLang="ko-KR" sz="1000" dirty="0">
                <a:solidFill>
                  <a:srgbClr val="FF0000"/>
                </a:solidFill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</a:rPr>
              <a:t>분리출원과 변경출원은 원출원의 심사청구순서에 의하여 심사</a:t>
            </a:r>
            <a:r>
              <a:rPr lang="en-US" altLang="ko-KR" sz="1000" dirty="0">
                <a:solidFill>
                  <a:srgbClr val="FF0000"/>
                </a:solidFill>
              </a:rPr>
              <a:t>(</a:t>
            </a:r>
            <a:r>
              <a:rPr lang="ko-KR" altLang="en-US" sz="1000" dirty="0">
                <a:solidFill>
                  <a:srgbClr val="FF0000"/>
                </a:solidFill>
              </a:rPr>
              <a:t>특허</a:t>
            </a:r>
            <a:r>
              <a:rPr lang="en-US" altLang="ko-KR" sz="1000" dirty="0">
                <a:solidFill>
                  <a:srgbClr val="FF0000"/>
                </a:solidFill>
              </a:rPr>
              <a:t>·</a:t>
            </a:r>
            <a:r>
              <a:rPr lang="ko-KR" altLang="en-US" sz="1000" dirty="0">
                <a:solidFill>
                  <a:srgbClr val="FF0000"/>
                </a:solidFill>
              </a:rPr>
              <a:t>실용신안 심사사무취급규정 제</a:t>
            </a:r>
            <a:r>
              <a:rPr lang="en-US" altLang="ko-KR" sz="1000" dirty="0">
                <a:solidFill>
                  <a:srgbClr val="FF0000"/>
                </a:solidFill>
              </a:rPr>
              <a:t>20</a:t>
            </a:r>
            <a:r>
              <a:rPr lang="ko-KR" altLang="en-US" sz="1000" dirty="0">
                <a:solidFill>
                  <a:srgbClr val="FF0000"/>
                </a:solidFill>
              </a:rPr>
              <a:t>조</a:t>
            </a:r>
          </a:p>
        </p:txBody>
      </p:sp>
    </p:spTree>
    <p:extLst>
      <p:ext uri="{BB962C8B-B14F-4D97-AF65-F5344CB8AC3E}">
        <p14:creationId xmlns:p14="http://schemas.microsoft.com/office/powerpoint/2010/main" val="1957505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심사절차 일반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253</a:t>
            </a:r>
            <a:endParaRPr lang="ko-KR" altLang="en-US" dirty="0"/>
          </a:p>
        </p:txBody>
      </p:sp>
      <p:sp>
        <p:nvSpPr>
          <p:cNvPr id="94" name="Rectangle 5">
            <a:extLst>
              <a:ext uri="{FF2B5EF4-FFF2-40B4-BE49-F238E27FC236}">
                <a16:creationId xmlns:a16="http://schemas.microsoft.com/office/drawing/2014/main" id="{7777D8A6-877A-4695-A8C3-4629458B7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666" y="1373037"/>
            <a:ext cx="1133475" cy="348102"/>
          </a:xfrm>
          <a:prstGeom prst="rect">
            <a:avLst/>
          </a:prstGeom>
          <a:solidFill>
            <a:schemeClr val="accent2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특허출원</a:t>
            </a:r>
            <a:endParaRPr lang="ko-KR" altLang="en-US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cxnSp>
        <p:nvCxnSpPr>
          <p:cNvPr id="95" name="직선 화살표 연결선 14">
            <a:extLst>
              <a:ext uri="{FF2B5EF4-FFF2-40B4-BE49-F238E27FC236}">
                <a16:creationId xmlns:a16="http://schemas.microsoft.com/office/drawing/2014/main" id="{B310C67D-2E6C-4979-81E2-F86AAAC0E19A}"/>
              </a:ext>
            </a:extLst>
          </p:cNvPr>
          <p:cNvCxnSpPr>
            <a:cxnSpLocks noChangeShapeType="1"/>
            <a:stCxn id="94" idx="2"/>
          </p:cNvCxnSpPr>
          <p:nvPr/>
        </p:nvCxnSpPr>
        <p:spPr bwMode="auto">
          <a:xfrm flipH="1">
            <a:off x="2372403" y="1721139"/>
            <a:ext cx="1" cy="143844"/>
          </a:xfrm>
          <a:prstGeom prst="straightConnector1">
            <a:avLst/>
          </a:prstGeom>
          <a:noFill/>
          <a:ln w="19050">
            <a:solidFill>
              <a:schemeClr val="bg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Rectangle 5">
            <a:extLst>
              <a:ext uri="{FF2B5EF4-FFF2-40B4-BE49-F238E27FC236}">
                <a16:creationId xmlns:a16="http://schemas.microsoft.com/office/drawing/2014/main" id="{E3259C91-8AC3-4FDA-9469-0C1BC8B5D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666" y="2310632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특허분류</a:t>
            </a:r>
            <a:endParaRPr lang="en-US" altLang="ko-KR" sz="110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900" dirty="0">
                <a:latin typeface="+mj-ea"/>
                <a:ea typeface="+mj-ea"/>
              </a:rPr>
              <a:t>(IPC, CPC)</a:t>
            </a:r>
            <a:endParaRPr lang="ko-KR" altLang="en-US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97" name="AutoShape 11">
            <a:extLst>
              <a:ext uri="{FF2B5EF4-FFF2-40B4-BE49-F238E27FC236}">
                <a16:creationId xmlns:a16="http://schemas.microsoft.com/office/drawing/2014/main" id="{71ED3626-7EB1-4D0D-9C5D-3F1EA47BDC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664" y="3240883"/>
            <a:ext cx="1133478" cy="471808"/>
          </a:xfrm>
          <a:prstGeom prst="flowChartDecisio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  <a:headEnd/>
            <a:tailEnd/>
          </a:ln>
          <a:effectLst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defRPr/>
            </a:pPr>
            <a:r>
              <a:rPr lang="ko-KR" altLang="en-US" sz="1100" b="0" dirty="0">
                <a:solidFill>
                  <a:schemeClr val="bg1"/>
                </a:solidFill>
                <a:latin typeface="+mj-ea"/>
                <a:ea typeface="+mj-ea"/>
              </a:rPr>
              <a:t>실체심사</a:t>
            </a: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D0793C8-0DBA-417C-9CBE-0364B4578C84}"/>
              </a:ext>
            </a:extLst>
          </p:cNvPr>
          <p:cNvCxnSpPr>
            <a:stCxn id="94" idx="2"/>
            <a:endCxn id="96" idx="0"/>
          </p:cNvCxnSpPr>
          <p:nvPr/>
        </p:nvCxnSpPr>
        <p:spPr>
          <a:xfrm>
            <a:off x="2372404" y="1721139"/>
            <a:ext cx="0" cy="58949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F5A92FC2-8291-4C32-A37C-5129B0E0C43B}"/>
              </a:ext>
            </a:extLst>
          </p:cNvPr>
          <p:cNvCxnSpPr>
            <a:stCxn id="96" idx="2"/>
            <a:endCxn id="97" idx="0"/>
          </p:cNvCxnSpPr>
          <p:nvPr/>
        </p:nvCxnSpPr>
        <p:spPr>
          <a:xfrm flipH="1">
            <a:off x="2372403" y="2658734"/>
            <a:ext cx="1" cy="58214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꺾인 연결선 17">
            <a:extLst>
              <a:ext uri="{FF2B5EF4-FFF2-40B4-BE49-F238E27FC236}">
                <a16:creationId xmlns:a16="http://schemas.microsoft.com/office/drawing/2014/main" id="{C80DF191-AB23-4AAC-83E8-7120975EE8A6}"/>
              </a:ext>
            </a:extLst>
          </p:cNvPr>
          <p:cNvCxnSpPr>
            <a:stCxn id="94" idx="1"/>
          </p:cNvCxnSpPr>
          <p:nvPr/>
        </p:nvCxnSpPr>
        <p:spPr>
          <a:xfrm rot="10800000" flipH="1" flipV="1">
            <a:off x="1805666" y="1547087"/>
            <a:ext cx="566738" cy="1507779"/>
          </a:xfrm>
          <a:prstGeom prst="bentConnector4">
            <a:avLst>
              <a:gd name="adj1" fmla="val -161344"/>
              <a:gd name="adj2" fmla="val 100090"/>
            </a:avLst>
          </a:prstGeom>
          <a:ln>
            <a:solidFill>
              <a:schemeClr val="bg1">
                <a:lumMod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5">
            <a:extLst>
              <a:ext uri="{FF2B5EF4-FFF2-40B4-BE49-F238E27FC236}">
                <a16:creationId xmlns:a16="http://schemas.microsoft.com/office/drawing/2014/main" id="{C3D1505D-8135-4CA8-8D4A-ECE213C2D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993" y="1915050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출원공개</a:t>
            </a:r>
            <a:endParaRPr lang="en-US" altLang="ko-KR" sz="1000" dirty="0">
              <a:latin typeface="+mj-ea"/>
              <a:ea typeface="+mj-ea"/>
            </a:endParaRPr>
          </a:p>
          <a:p>
            <a:pPr algn="ctr"/>
            <a:r>
              <a:rPr lang="en-US" altLang="ko-KR" sz="900" b="0" dirty="0">
                <a:solidFill>
                  <a:schemeClr val="tx1"/>
                </a:solidFill>
                <a:latin typeface="+mj-ea"/>
                <a:ea typeface="+mj-ea"/>
              </a:rPr>
              <a:t>(</a:t>
            </a:r>
            <a:r>
              <a:rPr lang="ko-KR" altLang="en-US" sz="900" b="0" dirty="0">
                <a:solidFill>
                  <a:schemeClr val="tx1"/>
                </a:solidFill>
                <a:latin typeface="+mj-ea"/>
                <a:ea typeface="+mj-ea"/>
              </a:rPr>
              <a:t>조기공개신청</a:t>
            </a:r>
            <a:r>
              <a:rPr lang="en-US" altLang="ko-KR" sz="900" b="0" dirty="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C5299D3-A6EC-4580-9D60-8FD07D81B7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993" y="2487037"/>
            <a:ext cx="1133475" cy="348102"/>
          </a:xfrm>
          <a:prstGeom prst="rect">
            <a:avLst/>
          </a:prstGeom>
          <a:solidFill>
            <a:schemeClr val="bg1"/>
          </a:solidFill>
          <a:ln w="57150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심사청구</a:t>
            </a:r>
            <a:endParaRPr lang="en-US" altLang="ko-KR" sz="1100" dirty="0">
              <a:latin typeface="+mj-ea"/>
              <a:ea typeface="+mj-ea"/>
            </a:endParaRPr>
          </a:p>
          <a:p>
            <a:pPr algn="ctr"/>
            <a:r>
              <a:rPr lang="en-US" altLang="ko-KR" sz="900" b="0" dirty="0">
                <a:solidFill>
                  <a:schemeClr val="tx1"/>
                </a:solidFill>
                <a:latin typeface="+mj-ea"/>
                <a:ea typeface="+mj-ea"/>
              </a:rPr>
              <a:t>(</a:t>
            </a:r>
            <a:r>
              <a:rPr lang="ko-KR" altLang="en-US" sz="900" b="0" dirty="0">
                <a:solidFill>
                  <a:schemeClr val="tx1"/>
                </a:solidFill>
                <a:latin typeface="+mj-ea"/>
                <a:ea typeface="+mj-ea"/>
              </a:rPr>
              <a:t>우선심사신청</a:t>
            </a:r>
            <a:r>
              <a:rPr lang="en-US" altLang="ko-KR" sz="900" b="0" dirty="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04" name="Rectangle 5">
            <a:extLst>
              <a:ext uri="{FF2B5EF4-FFF2-40B4-BE49-F238E27FC236}">
                <a16:creationId xmlns:a16="http://schemas.microsoft.com/office/drawing/2014/main" id="{9E637D0A-709D-4222-9C93-24F1CC8AB5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3096" y="3684147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특허결정</a:t>
            </a:r>
            <a:endParaRPr lang="en-US" altLang="ko-KR" sz="110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900" b="0" dirty="0">
                <a:solidFill>
                  <a:schemeClr val="tx1"/>
                </a:solidFill>
                <a:latin typeface="+mj-ea"/>
                <a:ea typeface="+mj-ea"/>
              </a:rPr>
              <a:t>(</a:t>
            </a:r>
            <a:r>
              <a:rPr lang="ko-KR" altLang="en-US" sz="900" dirty="0">
                <a:latin typeface="+mj-ea"/>
                <a:ea typeface="+mj-ea"/>
              </a:rPr>
              <a:t>직권보정</a:t>
            </a:r>
            <a:r>
              <a:rPr lang="en-US" altLang="ko-KR" sz="900" b="0" dirty="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05" name="Rectangle 5">
            <a:extLst>
              <a:ext uri="{FF2B5EF4-FFF2-40B4-BE49-F238E27FC236}">
                <a16:creationId xmlns:a16="http://schemas.microsoft.com/office/drawing/2014/main" id="{5B6C5F05-F06B-44BA-8FC7-9BB285CCE8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2421" y="2709513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거절이유통지</a:t>
            </a:r>
          </a:p>
        </p:txBody>
      </p:sp>
      <p:sp>
        <p:nvSpPr>
          <p:cNvPr id="106" name="Rectangle 5">
            <a:extLst>
              <a:ext uri="{FF2B5EF4-FFF2-40B4-BE49-F238E27FC236}">
                <a16:creationId xmlns:a16="http://schemas.microsoft.com/office/drawing/2014/main" id="{B1AAFCBC-BC9B-48E7-BA97-C3F6E9C2E9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2421" y="2053823"/>
            <a:ext cx="1133475" cy="348102"/>
          </a:xfrm>
          <a:prstGeom prst="rect">
            <a:avLst/>
          </a:prstGeom>
          <a:solidFill>
            <a:schemeClr val="accent2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의견서</a:t>
            </a:r>
            <a:r>
              <a:rPr lang="en-US" altLang="ko-KR" sz="1100" dirty="0">
                <a:latin typeface="+mj-ea"/>
                <a:ea typeface="+mj-ea"/>
              </a:rPr>
              <a:t>/</a:t>
            </a:r>
            <a:r>
              <a:rPr lang="ko-KR" altLang="en-US" sz="1100" dirty="0">
                <a:latin typeface="+mj-ea"/>
                <a:ea typeface="+mj-ea"/>
              </a:rPr>
              <a:t>보정서</a:t>
            </a:r>
            <a:endParaRPr lang="ko-KR" altLang="en-US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07" name="AutoShape 11">
            <a:extLst>
              <a:ext uri="{FF2B5EF4-FFF2-40B4-BE49-F238E27FC236}">
                <a16:creationId xmlns:a16="http://schemas.microsoft.com/office/drawing/2014/main" id="{A9464496-43D2-4D0B-9A58-3F66FFA15F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4667" y="2802883"/>
            <a:ext cx="1133478" cy="471808"/>
          </a:xfrm>
          <a:prstGeom prst="flowChartDecisio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  <a:headEnd/>
            <a:tailEnd/>
          </a:ln>
          <a:effectLst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defRPr/>
            </a:pPr>
            <a:r>
              <a:rPr lang="ko-KR" altLang="en-US" sz="1100" b="0" dirty="0">
                <a:solidFill>
                  <a:schemeClr val="bg1"/>
                </a:solidFill>
                <a:latin typeface="+mj-ea"/>
                <a:ea typeface="+mj-ea"/>
              </a:rPr>
              <a:t>실체심사</a:t>
            </a:r>
          </a:p>
        </p:txBody>
      </p:sp>
      <p:cxnSp>
        <p:nvCxnSpPr>
          <p:cNvPr id="108" name="꺾인 연결선 24">
            <a:extLst>
              <a:ext uri="{FF2B5EF4-FFF2-40B4-BE49-F238E27FC236}">
                <a16:creationId xmlns:a16="http://schemas.microsoft.com/office/drawing/2014/main" id="{F01C332B-5AD0-4686-B323-E85775B1850E}"/>
              </a:ext>
            </a:extLst>
          </p:cNvPr>
          <p:cNvCxnSpPr>
            <a:stCxn id="97" idx="3"/>
            <a:endCxn id="105" idx="2"/>
          </p:cNvCxnSpPr>
          <p:nvPr/>
        </p:nvCxnSpPr>
        <p:spPr>
          <a:xfrm flipV="1">
            <a:off x="2939142" y="3057615"/>
            <a:ext cx="880017" cy="419172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BDA91FDD-D833-4E99-BC61-4C86A46921E6}"/>
              </a:ext>
            </a:extLst>
          </p:cNvPr>
          <p:cNvCxnSpPr>
            <a:stCxn id="105" idx="0"/>
            <a:endCxn id="106" idx="2"/>
          </p:cNvCxnSpPr>
          <p:nvPr/>
        </p:nvCxnSpPr>
        <p:spPr>
          <a:xfrm flipV="1">
            <a:off x="3819159" y="2401925"/>
            <a:ext cx="0" cy="30758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 26">
            <a:extLst>
              <a:ext uri="{FF2B5EF4-FFF2-40B4-BE49-F238E27FC236}">
                <a16:creationId xmlns:a16="http://schemas.microsoft.com/office/drawing/2014/main" id="{E6408383-E8DC-43CC-803B-DAFBE416949D}"/>
              </a:ext>
            </a:extLst>
          </p:cNvPr>
          <p:cNvCxnSpPr>
            <a:stCxn id="106" idx="0"/>
            <a:endCxn id="107" idx="1"/>
          </p:cNvCxnSpPr>
          <p:nvPr/>
        </p:nvCxnSpPr>
        <p:spPr>
          <a:xfrm rot="16200000" flipH="1">
            <a:off x="3839431" y="2033551"/>
            <a:ext cx="984964" cy="1025508"/>
          </a:xfrm>
          <a:prstGeom prst="bentConnector4">
            <a:avLst>
              <a:gd name="adj1" fmla="val -23209"/>
              <a:gd name="adj2" fmla="val 77632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꺾인 연결선 28">
            <a:extLst>
              <a:ext uri="{FF2B5EF4-FFF2-40B4-BE49-F238E27FC236}">
                <a16:creationId xmlns:a16="http://schemas.microsoft.com/office/drawing/2014/main" id="{4FEE5C20-03C5-42D5-8FDD-4E90C0DD89FB}"/>
              </a:ext>
            </a:extLst>
          </p:cNvPr>
          <p:cNvCxnSpPr>
            <a:stCxn id="97" idx="2"/>
            <a:endCxn id="104" idx="1"/>
          </p:cNvCxnSpPr>
          <p:nvPr/>
        </p:nvCxnSpPr>
        <p:spPr>
          <a:xfrm rot="16200000" flipH="1">
            <a:off x="3534996" y="2550097"/>
            <a:ext cx="145507" cy="2470693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 5">
            <a:extLst>
              <a:ext uri="{FF2B5EF4-FFF2-40B4-BE49-F238E27FC236}">
                <a16:creationId xmlns:a16="http://schemas.microsoft.com/office/drawing/2014/main" id="{046F8658-A8BC-4C82-A17A-73A84FB3E2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3096" y="4344726"/>
            <a:ext cx="1133475" cy="348102"/>
          </a:xfrm>
          <a:prstGeom prst="rect">
            <a:avLst/>
          </a:prstGeom>
          <a:solidFill>
            <a:schemeClr val="bg1"/>
          </a:solidFill>
          <a:ln w="571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특허료 납부</a:t>
            </a:r>
          </a:p>
        </p:txBody>
      </p:sp>
      <p:sp>
        <p:nvSpPr>
          <p:cNvPr id="113" name="Rectangle 5">
            <a:extLst>
              <a:ext uri="{FF2B5EF4-FFF2-40B4-BE49-F238E27FC236}">
                <a16:creationId xmlns:a16="http://schemas.microsoft.com/office/drawing/2014/main" id="{EA6E2353-EEAD-41F4-A933-BF44D405F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3096" y="4887651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설정등록</a:t>
            </a:r>
          </a:p>
        </p:txBody>
      </p:sp>
      <p:sp>
        <p:nvSpPr>
          <p:cNvPr id="114" name="Rectangle 5">
            <a:extLst>
              <a:ext uri="{FF2B5EF4-FFF2-40B4-BE49-F238E27FC236}">
                <a16:creationId xmlns:a16="http://schemas.microsoft.com/office/drawing/2014/main" id="{E52F730D-3E42-453B-A2A2-F8CD7AA2F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3096" y="5422653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등록공고</a:t>
            </a:r>
            <a:endParaRPr lang="ko-KR" altLang="en-US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10BC86EB-0AA6-42B0-BB0F-C89D658DEDE6}"/>
              </a:ext>
            </a:extLst>
          </p:cNvPr>
          <p:cNvCxnSpPr>
            <a:stCxn id="107" idx="2"/>
            <a:endCxn id="104" idx="0"/>
          </p:cNvCxnSpPr>
          <p:nvPr/>
        </p:nvCxnSpPr>
        <p:spPr>
          <a:xfrm flipH="1">
            <a:off x="5409834" y="3274691"/>
            <a:ext cx="1572" cy="40945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A01480-776B-4B3C-8235-D96A3AE61A2C}"/>
              </a:ext>
            </a:extLst>
          </p:cNvPr>
          <p:cNvCxnSpPr>
            <a:stCxn id="104" idx="2"/>
            <a:endCxn id="112" idx="0"/>
          </p:cNvCxnSpPr>
          <p:nvPr/>
        </p:nvCxnSpPr>
        <p:spPr>
          <a:xfrm>
            <a:off x="5409834" y="4032249"/>
            <a:ext cx="0" cy="31247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FA859292-3E17-4E9F-856B-23ED494C1E71}"/>
              </a:ext>
            </a:extLst>
          </p:cNvPr>
          <p:cNvCxnSpPr>
            <a:stCxn id="112" idx="2"/>
            <a:endCxn id="113" idx="0"/>
          </p:cNvCxnSpPr>
          <p:nvPr/>
        </p:nvCxnSpPr>
        <p:spPr>
          <a:xfrm>
            <a:off x="5409834" y="4692828"/>
            <a:ext cx="0" cy="19482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F86C7467-C6ED-4B6D-A786-551AB2BF4AD1}"/>
              </a:ext>
            </a:extLst>
          </p:cNvPr>
          <p:cNvCxnSpPr>
            <a:stCxn id="113" idx="2"/>
            <a:endCxn id="114" idx="0"/>
          </p:cNvCxnSpPr>
          <p:nvPr/>
        </p:nvCxnSpPr>
        <p:spPr>
          <a:xfrm>
            <a:off x="5409834" y="5235753"/>
            <a:ext cx="0" cy="1869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5">
            <a:extLst>
              <a:ext uri="{FF2B5EF4-FFF2-40B4-BE49-F238E27FC236}">
                <a16:creationId xmlns:a16="http://schemas.microsoft.com/office/drawing/2014/main" id="{B7F535C5-346A-41B0-9BC3-37907058E7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0496" y="1917460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거절결정</a:t>
            </a:r>
          </a:p>
        </p:txBody>
      </p:sp>
      <p:sp>
        <p:nvSpPr>
          <p:cNvPr id="120" name="Rectangle 5">
            <a:extLst>
              <a:ext uri="{FF2B5EF4-FFF2-40B4-BE49-F238E27FC236}">
                <a16:creationId xmlns:a16="http://schemas.microsoft.com/office/drawing/2014/main" id="{538CC925-02CF-437F-8163-0AF36AB80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0496" y="2601706"/>
            <a:ext cx="1133475" cy="348102"/>
          </a:xfrm>
          <a:prstGeom prst="rect">
            <a:avLst/>
          </a:prstGeom>
          <a:solidFill>
            <a:schemeClr val="accent2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재심사청구</a:t>
            </a:r>
            <a:r>
              <a:rPr lang="en-US" altLang="ko-KR" sz="1100" b="0" dirty="0">
                <a:solidFill>
                  <a:schemeClr val="tx1"/>
                </a:solidFill>
                <a:latin typeface="+mj-ea"/>
                <a:ea typeface="+mj-ea"/>
              </a:rPr>
              <a:t>(</a:t>
            </a:r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보정</a:t>
            </a:r>
            <a:r>
              <a:rPr lang="en-US" altLang="ko-KR" sz="1100" b="0" dirty="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21" name="AutoShape 11">
            <a:extLst>
              <a:ext uri="{FF2B5EF4-FFF2-40B4-BE49-F238E27FC236}">
                <a16:creationId xmlns:a16="http://schemas.microsoft.com/office/drawing/2014/main" id="{F9E68FE7-F537-401C-999C-624F0D141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0496" y="3271417"/>
            <a:ext cx="1133478" cy="471808"/>
          </a:xfrm>
          <a:prstGeom prst="flowChartDecisio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  <a:headEnd/>
            <a:tailEnd/>
          </a:ln>
          <a:effectLst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defRPr/>
            </a:pPr>
            <a:r>
              <a:rPr lang="ko-KR" altLang="en-US" sz="1100" b="0" dirty="0">
                <a:solidFill>
                  <a:schemeClr val="bg1"/>
                </a:solidFill>
                <a:latin typeface="+mj-ea"/>
                <a:ea typeface="+mj-ea"/>
              </a:rPr>
              <a:t>실체심사</a:t>
            </a:r>
          </a:p>
        </p:txBody>
      </p:sp>
      <p:sp>
        <p:nvSpPr>
          <p:cNvPr id="122" name="Rectangle 5">
            <a:extLst>
              <a:ext uri="{FF2B5EF4-FFF2-40B4-BE49-F238E27FC236}">
                <a16:creationId xmlns:a16="http://schemas.microsoft.com/office/drawing/2014/main" id="{05A7DFC1-0577-4547-876D-1DF0B6532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0496" y="4059619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거절결정</a:t>
            </a:r>
          </a:p>
        </p:txBody>
      </p:sp>
      <p:sp>
        <p:nvSpPr>
          <p:cNvPr id="123" name="Rectangle 5">
            <a:extLst>
              <a:ext uri="{FF2B5EF4-FFF2-40B4-BE49-F238E27FC236}">
                <a16:creationId xmlns:a16="http://schemas.microsoft.com/office/drawing/2014/main" id="{B0E2BCCD-C890-463D-89D0-9277DD204C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95971" y="2052308"/>
            <a:ext cx="1281479" cy="348102"/>
          </a:xfrm>
          <a:prstGeom prst="rect">
            <a:avLst/>
          </a:prstGeom>
          <a:solidFill>
            <a:schemeClr val="accent2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거절결정불복심판청구</a:t>
            </a:r>
            <a:endParaRPr lang="en-US" altLang="ko-KR" sz="110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900" dirty="0">
                <a:latin typeface="+mj-ea"/>
                <a:ea typeface="+mj-ea"/>
              </a:rPr>
              <a:t>(</a:t>
            </a:r>
            <a:r>
              <a:rPr lang="ko-KR" altLang="en-US" sz="900" dirty="0">
                <a:latin typeface="+mj-ea"/>
                <a:ea typeface="+mj-ea"/>
              </a:rPr>
              <a:t>특허심판원</a:t>
            </a:r>
            <a:r>
              <a:rPr lang="en-US" altLang="ko-KR" sz="900" dirty="0">
                <a:latin typeface="+mj-ea"/>
                <a:ea typeface="+mj-ea"/>
              </a:rPr>
              <a:t>)</a:t>
            </a:r>
            <a:endParaRPr lang="en-US" altLang="ko-KR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24" name="Rectangle 5">
            <a:extLst>
              <a:ext uri="{FF2B5EF4-FFF2-40B4-BE49-F238E27FC236}">
                <a16:creationId xmlns:a16="http://schemas.microsoft.com/office/drawing/2014/main" id="{A249DBBE-7754-4AD1-B6EC-20B81717D3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7551" y="2247258"/>
            <a:ext cx="800524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 err="1">
                <a:latin typeface="+mj-ea"/>
                <a:ea typeface="+mj-ea"/>
              </a:rPr>
              <a:t>인용심결</a:t>
            </a:r>
            <a:endParaRPr lang="en-US" altLang="ko-KR" sz="1100" dirty="0">
              <a:latin typeface="+mj-ea"/>
              <a:ea typeface="+mj-ea"/>
            </a:endParaRPr>
          </a:p>
          <a:p>
            <a:pPr algn="ctr"/>
            <a:r>
              <a:rPr lang="en-US" altLang="ko-KR" sz="900" dirty="0">
                <a:latin typeface="+mj-ea"/>
                <a:ea typeface="+mj-ea"/>
              </a:rPr>
              <a:t>(</a:t>
            </a:r>
            <a:r>
              <a:rPr lang="ko-KR" altLang="en-US" sz="900" dirty="0">
                <a:latin typeface="+mj-ea"/>
                <a:ea typeface="+mj-ea"/>
              </a:rPr>
              <a:t>거절결정취소</a:t>
            </a:r>
            <a:r>
              <a:rPr lang="en-US" altLang="ko-KR" sz="900" dirty="0">
                <a:latin typeface="+mj-ea"/>
                <a:ea typeface="+mj-ea"/>
              </a:rPr>
              <a:t>)</a:t>
            </a: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125" name="Rectangle 5">
            <a:extLst>
              <a:ext uri="{FF2B5EF4-FFF2-40B4-BE49-F238E27FC236}">
                <a16:creationId xmlns:a16="http://schemas.microsoft.com/office/drawing/2014/main" id="{99F2A70D-A05A-4AFE-86BE-77039241AB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7551" y="1820131"/>
            <a:ext cx="800524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 err="1">
                <a:latin typeface="+mj-ea"/>
                <a:ea typeface="+mj-ea"/>
              </a:rPr>
              <a:t>기각</a:t>
            </a:r>
            <a:r>
              <a:rPr lang="ko-KR" altLang="en-US" sz="1100" b="0" dirty="0" err="1">
                <a:solidFill>
                  <a:schemeClr val="tx1"/>
                </a:solidFill>
                <a:latin typeface="+mj-ea"/>
                <a:ea typeface="+mj-ea"/>
              </a:rPr>
              <a:t>심결</a:t>
            </a:r>
            <a:endParaRPr lang="ko-KR" altLang="en-US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26" name="Rectangle 5">
            <a:extLst>
              <a:ext uri="{FF2B5EF4-FFF2-40B4-BE49-F238E27FC236}">
                <a16:creationId xmlns:a16="http://schemas.microsoft.com/office/drawing/2014/main" id="{6CFBCD20-0883-4493-9373-0F999B9E3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77071" y="4045073"/>
            <a:ext cx="1281479" cy="348102"/>
          </a:xfrm>
          <a:prstGeom prst="rect">
            <a:avLst/>
          </a:prstGeom>
          <a:solidFill>
            <a:schemeClr val="bg1"/>
          </a:solidFill>
          <a:ln w="57150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소제기</a:t>
            </a:r>
            <a:endParaRPr lang="en-US" altLang="ko-KR" sz="1100" dirty="0">
              <a:latin typeface="+mj-ea"/>
              <a:ea typeface="+mj-ea"/>
            </a:endParaRPr>
          </a:p>
          <a:p>
            <a:pPr algn="ctr"/>
            <a:r>
              <a:rPr lang="en-US" altLang="ko-KR" sz="900" dirty="0">
                <a:latin typeface="+mj-ea"/>
                <a:ea typeface="+mj-ea"/>
              </a:rPr>
              <a:t>(</a:t>
            </a:r>
            <a:r>
              <a:rPr lang="ko-KR" altLang="en-US" sz="900" dirty="0">
                <a:latin typeface="+mj-ea"/>
                <a:ea typeface="+mj-ea"/>
              </a:rPr>
              <a:t>특허법원</a:t>
            </a:r>
            <a:r>
              <a:rPr lang="en-US" altLang="ko-KR" sz="900" dirty="0">
                <a:latin typeface="+mj-ea"/>
                <a:ea typeface="+mj-ea"/>
              </a:rPr>
              <a:t>)</a:t>
            </a:r>
            <a:endParaRPr lang="en-US" altLang="ko-KR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27" name="Rectangle 5">
            <a:extLst>
              <a:ext uri="{FF2B5EF4-FFF2-40B4-BE49-F238E27FC236}">
                <a16:creationId xmlns:a16="http://schemas.microsoft.com/office/drawing/2014/main" id="{172F0175-F5FD-4D8D-B214-7461AC14A3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77071" y="4846989"/>
            <a:ext cx="1281479" cy="348102"/>
          </a:xfrm>
          <a:prstGeom prst="rect">
            <a:avLst/>
          </a:prstGeom>
          <a:solidFill>
            <a:schemeClr val="bg1"/>
          </a:solidFill>
          <a:ln w="57150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상고</a:t>
            </a:r>
            <a:endParaRPr lang="en-US" altLang="ko-KR" sz="1100" dirty="0">
              <a:latin typeface="+mj-ea"/>
              <a:ea typeface="+mj-ea"/>
            </a:endParaRPr>
          </a:p>
          <a:p>
            <a:pPr algn="ctr"/>
            <a:r>
              <a:rPr lang="en-US" altLang="ko-KR" sz="900" dirty="0">
                <a:latin typeface="+mj-ea"/>
                <a:ea typeface="+mj-ea"/>
              </a:rPr>
              <a:t>(</a:t>
            </a:r>
            <a:r>
              <a:rPr lang="ko-KR" altLang="en-US" sz="900" dirty="0">
                <a:latin typeface="+mj-ea"/>
                <a:ea typeface="+mj-ea"/>
              </a:rPr>
              <a:t>대법원</a:t>
            </a:r>
            <a:r>
              <a:rPr lang="en-US" altLang="ko-KR" sz="900" dirty="0">
                <a:latin typeface="+mj-ea"/>
                <a:ea typeface="+mj-ea"/>
              </a:rPr>
              <a:t>)</a:t>
            </a:r>
            <a:endParaRPr lang="en-US" altLang="ko-KR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28" name="Rectangle 5">
            <a:extLst>
              <a:ext uri="{FF2B5EF4-FFF2-40B4-BE49-F238E27FC236}">
                <a16:creationId xmlns:a16="http://schemas.microsoft.com/office/drawing/2014/main" id="{D08990CB-2836-48B0-946D-72F5F408F6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4271" y="5144533"/>
            <a:ext cx="1281479" cy="348102"/>
          </a:xfrm>
          <a:prstGeom prst="rect">
            <a:avLst/>
          </a:prstGeom>
          <a:solidFill>
            <a:schemeClr val="accent4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특허취소신청</a:t>
            </a:r>
            <a:endParaRPr lang="en-US" altLang="ko-KR" sz="1100" dirty="0">
              <a:latin typeface="+mj-ea"/>
              <a:ea typeface="+mj-ea"/>
            </a:endParaRPr>
          </a:p>
          <a:p>
            <a:pPr algn="ctr"/>
            <a:r>
              <a:rPr lang="en-US" altLang="ko-KR" sz="900" dirty="0">
                <a:latin typeface="+mj-ea"/>
                <a:ea typeface="+mj-ea"/>
              </a:rPr>
              <a:t>(</a:t>
            </a:r>
            <a:r>
              <a:rPr lang="ko-KR" altLang="en-US" sz="900" dirty="0">
                <a:latin typeface="+mj-ea"/>
                <a:ea typeface="+mj-ea"/>
              </a:rPr>
              <a:t>특허심판원</a:t>
            </a:r>
            <a:r>
              <a:rPr lang="en-US" altLang="ko-KR" sz="900" dirty="0">
                <a:latin typeface="+mj-ea"/>
                <a:ea typeface="+mj-ea"/>
              </a:rPr>
              <a:t>)</a:t>
            </a:r>
            <a:endParaRPr lang="en-US" altLang="ko-KR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29" name="Rectangle 5">
            <a:extLst>
              <a:ext uri="{FF2B5EF4-FFF2-40B4-BE49-F238E27FC236}">
                <a16:creationId xmlns:a16="http://schemas.microsoft.com/office/drawing/2014/main" id="{158C08EB-E437-4993-9141-F1DC4CD3BB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2622" y="4947402"/>
            <a:ext cx="800524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취소</a:t>
            </a:r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결정</a:t>
            </a:r>
          </a:p>
        </p:txBody>
      </p:sp>
      <p:sp>
        <p:nvSpPr>
          <p:cNvPr id="130" name="Rectangle 5">
            <a:extLst>
              <a:ext uri="{FF2B5EF4-FFF2-40B4-BE49-F238E27FC236}">
                <a16:creationId xmlns:a16="http://schemas.microsoft.com/office/drawing/2014/main" id="{F9CA1CEC-E7AD-4F33-9F99-BC58AD46A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2622" y="5341857"/>
            <a:ext cx="800524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기각</a:t>
            </a:r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결정</a:t>
            </a:r>
            <a:endParaRPr lang="en-US" altLang="ko-KR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31" name="Rectangle 5">
            <a:extLst>
              <a:ext uri="{FF2B5EF4-FFF2-40B4-BE49-F238E27FC236}">
                <a16:creationId xmlns:a16="http://schemas.microsoft.com/office/drawing/2014/main" id="{AB6FCBF0-141A-4566-B315-F9707A5A2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4271" y="5983939"/>
            <a:ext cx="1281479" cy="348102"/>
          </a:xfrm>
          <a:prstGeom prst="rect">
            <a:avLst/>
          </a:prstGeom>
          <a:solidFill>
            <a:schemeClr val="accent4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j-ea"/>
                <a:ea typeface="+mj-ea"/>
              </a:rPr>
              <a:t>특허무효심판청구</a:t>
            </a:r>
            <a:endParaRPr lang="en-US" altLang="ko-KR" sz="1100" dirty="0">
              <a:latin typeface="+mj-ea"/>
              <a:ea typeface="+mj-ea"/>
            </a:endParaRPr>
          </a:p>
          <a:p>
            <a:pPr algn="ctr"/>
            <a:r>
              <a:rPr lang="en-US" altLang="ko-KR" sz="900" dirty="0">
                <a:latin typeface="+mj-ea"/>
                <a:ea typeface="+mj-ea"/>
              </a:rPr>
              <a:t>(</a:t>
            </a:r>
            <a:r>
              <a:rPr lang="ko-KR" altLang="en-US" sz="900" dirty="0">
                <a:latin typeface="+mj-ea"/>
                <a:ea typeface="+mj-ea"/>
              </a:rPr>
              <a:t>특허심판원</a:t>
            </a:r>
            <a:r>
              <a:rPr lang="en-US" altLang="ko-KR" sz="900" dirty="0">
                <a:latin typeface="+mj-ea"/>
                <a:ea typeface="+mj-ea"/>
              </a:rPr>
              <a:t>)</a:t>
            </a:r>
            <a:endParaRPr lang="en-US" altLang="ko-KR" sz="9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32" name="Rectangle 5">
            <a:extLst>
              <a:ext uri="{FF2B5EF4-FFF2-40B4-BE49-F238E27FC236}">
                <a16:creationId xmlns:a16="http://schemas.microsoft.com/office/drawing/2014/main" id="{E06B82C9-6C14-4EF2-B26A-A005A8626D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2622" y="5786808"/>
            <a:ext cx="800524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 err="1">
                <a:latin typeface="+mj-ea"/>
                <a:ea typeface="+mj-ea"/>
              </a:rPr>
              <a:t>인용</a:t>
            </a:r>
            <a:r>
              <a:rPr lang="ko-KR" altLang="en-US" sz="1100" b="0" dirty="0" err="1">
                <a:solidFill>
                  <a:schemeClr val="tx1"/>
                </a:solidFill>
                <a:latin typeface="+mj-ea"/>
                <a:ea typeface="+mj-ea"/>
              </a:rPr>
              <a:t>심결</a:t>
            </a:r>
            <a:endParaRPr lang="ko-KR" altLang="en-US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33" name="Rectangle 5">
            <a:extLst>
              <a:ext uri="{FF2B5EF4-FFF2-40B4-BE49-F238E27FC236}">
                <a16:creationId xmlns:a16="http://schemas.microsoft.com/office/drawing/2014/main" id="{6BBBB7FA-AA77-4FD0-8C33-48F1C6A84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2622" y="6181263"/>
            <a:ext cx="800524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 err="1">
                <a:solidFill>
                  <a:schemeClr val="tx1"/>
                </a:solidFill>
                <a:latin typeface="+mj-ea"/>
                <a:ea typeface="+mj-ea"/>
              </a:rPr>
              <a:t>기각심결</a:t>
            </a:r>
            <a:endParaRPr lang="en-US" altLang="ko-KR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34" name="Rectangle 5">
            <a:extLst>
              <a:ext uri="{FF2B5EF4-FFF2-40B4-BE49-F238E27FC236}">
                <a16:creationId xmlns:a16="http://schemas.microsoft.com/office/drawing/2014/main" id="{81E28A1C-CF02-4DAF-AA63-500D680529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3784" y="3198619"/>
            <a:ext cx="1133475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거절이유 있음</a:t>
            </a:r>
          </a:p>
        </p:txBody>
      </p:sp>
      <p:sp>
        <p:nvSpPr>
          <p:cNvPr id="135" name="Rectangle 5">
            <a:extLst>
              <a:ext uri="{FF2B5EF4-FFF2-40B4-BE49-F238E27FC236}">
                <a16:creationId xmlns:a16="http://schemas.microsoft.com/office/drawing/2014/main" id="{5983A1F6-D746-47E2-BAF0-7F361080D8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1099" y="3582818"/>
            <a:ext cx="1133475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거절이유 없음</a:t>
            </a:r>
          </a:p>
        </p:txBody>
      </p:sp>
      <p:sp>
        <p:nvSpPr>
          <p:cNvPr id="136" name="Rectangle 5">
            <a:extLst>
              <a:ext uri="{FF2B5EF4-FFF2-40B4-BE49-F238E27FC236}">
                <a16:creationId xmlns:a16="http://schemas.microsoft.com/office/drawing/2014/main" id="{78596D95-232D-4991-872B-FE8F6905F9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7836" y="4034218"/>
            <a:ext cx="1133475" cy="34810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직권재심사</a:t>
            </a:r>
          </a:p>
        </p:txBody>
      </p:sp>
      <p:cxnSp>
        <p:nvCxnSpPr>
          <p:cNvPr id="137" name="꺾인 연결선 57">
            <a:extLst>
              <a:ext uri="{FF2B5EF4-FFF2-40B4-BE49-F238E27FC236}">
                <a16:creationId xmlns:a16="http://schemas.microsoft.com/office/drawing/2014/main" id="{0D2B120E-8D4D-4D22-9F6B-655808936EF7}"/>
              </a:ext>
            </a:extLst>
          </p:cNvPr>
          <p:cNvCxnSpPr>
            <a:stCxn id="104" idx="2"/>
            <a:endCxn id="136" idx="3"/>
          </p:cNvCxnSpPr>
          <p:nvPr/>
        </p:nvCxnSpPr>
        <p:spPr>
          <a:xfrm rot="5400000">
            <a:off x="4712563" y="3510998"/>
            <a:ext cx="176020" cy="1218523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꺾인 연결선 58">
            <a:extLst>
              <a:ext uri="{FF2B5EF4-FFF2-40B4-BE49-F238E27FC236}">
                <a16:creationId xmlns:a16="http://schemas.microsoft.com/office/drawing/2014/main" id="{02756BF9-C4BC-4961-8CC0-C6232409756D}"/>
              </a:ext>
            </a:extLst>
          </p:cNvPr>
          <p:cNvCxnSpPr>
            <a:stCxn id="136" idx="1"/>
            <a:endCxn id="97" idx="1"/>
          </p:cNvCxnSpPr>
          <p:nvPr/>
        </p:nvCxnSpPr>
        <p:spPr>
          <a:xfrm rot="10800000">
            <a:off x="1805664" y="3476787"/>
            <a:ext cx="1252172" cy="731482"/>
          </a:xfrm>
          <a:prstGeom prst="bentConnector3">
            <a:avLst>
              <a:gd name="adj1" fmla="val 118256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ectangle 5">
            <a:extLst>
              <a:ext uri="{FF2B5EF4-FFF2-40B4-BE49-F238E27FC236}">
                <a16:creationId xmlns:a16="http://schemas.microsoft.com/office/drawing/2014/main" id="{8CB6D69D-05FC-4F5E-A517-8ADC84E503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3825" y="3246116"/>
            <a:ext cx="1004576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거절이유 </a:t>
            </a:r>
            <a:endParaRPr lang="en-US" altLang="ko-KR" sz="105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해소</a:t>
            </a:r>
          </a:p>
        </p:txBody>
      </p:sp>
      <p:cxnSp>
        <p:nvCxnSpPr>
          <p:cNvPr id="140" name="꺾인 연결선 60">
            <a:extLst>
              <a:ext uri="{FF2B5EF4-FFF2-40B4-BE49-F238E27FC236}">
                <a16:creationId xmlns:a16="http://schemas.microsoft.com/office/drawing/2014/main" id="{125718C8-9D04-4F6B-B5BE-B190E88756AE}"/>
              </a:ext>
            </a:extLst>
          </p:cNvPr>
          <p:cNvCxnSpPr>
            <a:stCxn id="107" idx="3"/>
            <a:endCxn id="119" idx="0"/>
          </p:cNvCxnSpPr>
          <p:nvPr/>
        </p:nvCxnSpPr>
        <p:spPr>
          <a:xfrm flipV="1">
            <a:off x="5978145" y="1917460"/>
            <a:ext cx="1489089" cy="1121327"/>
          </a:xfrm>
          <a:prstGeom prst="bentConnector4">
            <a:avLst>
              <a:gd name="adj1" fmla="val 30970"/>
              <a:gd name="adj2" fmla="val 120387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5">
            <a:extLst>
              <a:ext uri="{FF2B5EF4-FFF2-40B4-BE49-F238E27FC236}">
                <a16:creationId xmlns:a16="http://schemas.microsoft.com/office/drawing/2014/main" id="{CD31F2D9-BB45-4CC1-A3BD-DB754302D4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1716" y="2658734"/>
            <a:ext cx="1004576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거절이유 </a:t>
            </a:r>
            <a:endParaRPr lang="en-US" altLang="ko-KR" sz="105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050" b="0" dirty="0" err="1">
                <a:solidFill>
                  <a:schemeClr val="tx1"/>
                </a:solidFill>
                <a:latin typeface="+mj-ea"/>
                <a:ea typeface="+mj-ea"/>
              </a:rPr>
              <a:t>미해소</a:t>
            </a:r>
            <a:endParaRPr lang="ko-KR" altLang="en-US" sz="105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cxnSp>
        <p:nvCxnSpPr>
          <p:cNvPr id="142" name="꺾인 연결선 62">
            <a:extLst>
              <a:ext uri="{FF2B5EF4-FFF2-40B4-BE49-F238E27FC236}">
                <a16:creationId xmlns:a16="http://schemas.microsoft.com/office/drawing/2014/main" id="{55522E41-F5DF-408A-94E0-1A01BBD3B174}"/>
              </a:ext>
            </a:extLst>
          </p:cNvPr>
          <p:cNvCxnSpPr>
            <a:stCxn id="119" idx="3"/>
            <a:endCxn id="123" idx="0"/>
          </p:cNvCxnSpPr>
          <p:nvPr/>
        </p:nvCxnSpPr>
        <p:spPr>
          <a:xfrm flipV="1">
            <a:off x="8033971" y="2052308"/>
            <a:ext cx="1402740" cy="39203"/>
          </a:xfrm>
          <a:prstGeom prst="bentConnector4">
            <a:avLst>
              <a:gd name="adj1" fmla="val 27161"/>
              <a:gd name="adj2" fmla="val 1027092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A6EF0C9D-93F2-4127-8342-3EF6A7E3CEDB}"/>
              </a:ext>
            </a:extLst>
          </p:cNvPr>
          <p:cNvCxnSpPr>
            <a:stCxn id="119" idx="2"/>
            <a:endCxn id="120" idx="0"/>
          </p:cNvCxnSpPr>
          <p:nvPr/>
        </p:nvCxnSpPr>
        <p:spPr>
          <a:xfrm>
            <a:off x="7467234" y="2265562"/>
            <a:ext cx="0" cy="33614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8BDD4E89-81ED-4E4F-8F2E-788AFACC71E2}"/>
              </a:ext>
            </a:extLst>
          </p:cNvPr>
          <p:cNvCxnSpPr>
            <a:stCxn id="120" idx="2"/>
            <a:endCxn id="121" idx="0"/>
          </p:cNvCxnSpPr>
          <p:nvPr/>
        </p:nvCxnSpPr>
        <p:spPr>
          <a:xfrm>
            <a:off x="7467234" y="2949808"/>
            <a:ext cx="1" cy="32160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F34D6503-80B6-4AA8-8844-8DD0485F7BEE}"/>
              </a:ext>
            </a:extLst>
          </p:cNvPr>
          <p:cNvCxnSpPr>
            <a:stCxn id="121" idx="2"/>
            <a:endCxn id="122" idx="0"/>
          </p:cNvCxnSpPr>
          <p:nvPr/>
        </p:nvCxnSpPr>
        <p:spPr>
          <a:xfrm flipH="1">
            <a:off x="7467234" y="3743225"/>
            <a:ext cx="1" cy="31639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꺾인 연결선 66">
            <a:extLst>
              <a:ext uri="{FF2B5EF4-FFF2-40B4-BE49-F238E27FC236}">
                <a16:creationId xmlns:a16="http://schemas.microsoft.com/office/drawing/2014/main" id="{4DA57264-F8F3-4A4A-A23D-438E92045104}"/>
              </a:ext>
            </a:extLst>
          </p:cNvPr>
          <p:cNvCxnSpPr>
            <a:stCxn id="122" idx="3"/>
            <a:endCxn id="123" idx="1"/>
          </p:cNvCxnSpPr>
          <p:nvPr/>
        </p:nvCxnSpPr>
        <p:spPr>
          <a:xfrm flipV="1">
            <a:off x="8033971" y="2226359"/>
            <a:ext cx="762000" cy="2007311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꺾인 연결선 67">
            <a:extLst>
              <a:ext uri="{FF2B5EF4-FFF2-40B4-BE49-F238E27FC236}">
                <a16:creationId xmlns:a16="http://schemas.microsoft.com/office/drawing/2014/main" id="{99010036-EBA4-406F-B003-84991F4E90C2}"/>
              </a:ext>
            </a:extLst>
          </p:cNvPr>
          <p:cNvCxnSpPr>
            <a:stCxn id="123" idx="3"/>
            <a:endCxn id="125" idx="1"/>
          </p:cNvCxnSpPr>
          <p:nvPr/>
        </p:nvCxnSpPr>
        <p:spPr>
          <a:xfrm flipV="1">
            <a:off x="10077450" y="1994182"/>
            <a:ext cx="390101" cy="23217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꺾인 연결선 68">
            <a:extLst>
              <a:ext uri="{FF2B5EF4-FFF2-40B4-BE49-F238E27FC236}">
                <a16:creationId xmlns:a16="http://schemas.microsoft.com/office/drawing/2014/main" id="{E51DD8D2-5687-4E1E-9178-4AE94915B5DB}"/>
              </a:ext>
            </a:extLst>
          </p:cNvPr>
          <p:cNvCxnSpPr>
            <a:stCxn id="123" idx="3"/>
            <a:endCxn id="124" idx="1"/>
          </p:cNvCxnSpPr>
          <p:nvPr/>
        </p:nvCxnSpPr>
        <p:spPr>
          <a:xfrm>
            <a:off x="10077450" y="2226359"/>
            <a:ext cx="390101" cy="194950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꺾인 연결선 69">
            <a:extLst>
              <a:ext uri="{FF2B5EF4-FFF2-40B4-BE49-F238E27FC236}">
                <a16:creationId xmlns:a16="http://schemas.microsoft.com/office/drawing/2014/main" id="{CE946CDF-C2B7-4D4B-AFB0-F25CFCE59E29}"/>
              </a:ext>
            </a:extLst>
          </p:cNvPr>
          <p:cNvCxnSpPr>
            <a:stCxn id="124" idx="3"/>
            <a:endCxn id="97" idx="1"/>
          </p:cNvCxnSpPr>
          <p:nvPr/>
        </p:nvCxnSpPr>
        <p:spPr>
          <a:xfrm flipH="1">
            <a:off x="1805664" y="2421309"/>
            <a:ext cx="9462411" cy="1055478"/>
          </a:xfrm>
          <a:prstGeom prst="bentConnector5">
            <a:avLst>
              <a:gd name="adj1" fmla="val -2416"/>
              <a:gd name="adj2" fmla="val 403532"/>
              <a:gd name="adj3" fmla="val 102416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23B52505-9F10-4919-94F3-0D37CA6B516E}"/>
              </a:ext>
            </a:extLst>
          </p:cNvPr>
          <p:cNvCxnSpPr>
            <a:stCxn id="126" idx="2"/>
            <a:endCxn id="127" idx="0"/>
          </p:cNvCxnSpPr>
          <p:nvPr/>
        </p:nvCxnSpPr>
        <p:spPr>
          <a:xfrm>
            <a:off x="10617811" y="4393175"/>
            <a:ext cx="0" cy="45381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꺾인 연결선 71">
            <a:extLst>
              <a:ext uri="{FF2B5EF4-FFF2-40B4-BE49-F238E27FC236}">
                <a16:creationId xmlns:a16="http://schemas.microsoft.com/office/drawing/2014/main" id="{A43AA581-D53A-4300-AB66-9A625ED9851E}"/>
              </a:ext>
            </a:extLst>
          </p:cNvPr>
          <p:cNvCxnSpPr>
            <a:stCxn id="121" idx="1"/>
            <a:endCxn id="104" idx="3"/>
          </p:cNvCxnSpPr>
          <p:nvPr/>
        </p:nvCxnSpPr>
        <p:spPr>
          <a:xfrm rot="10800000" flipV="1">
            <a:off x="5976572" y="3507320"/>
            <a:ext cx="923925" cy="35087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5">
            <a:extLst>
              <a:ext uri="{FF2B5EF4-FFF2-40B4-BE49-F238E27FC236}">
                <a16:creationId xmlns:a16="http://schemas.microsoft.com/office/drawing/2014/main" id="{8782D930-E9C4-4572-85B4-6D2D1552B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4060" y="3695641"/>
            <a:ext cx="1004576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거절이유 </a:t>
            </a:r>
            <a:endParaRPr lang="en-US" altLang="ko-KR" sz="105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050" b="0" dirty="0" err="1">
                <a:solidFill>
                  <a:schemeClr val="tx1"/>
                </a:solidFill>
                <a:latin typeface="+mj-ea"/>
                <a:ea typeface="+mj-ea"/>
              </a:rPr>
              <a:t>미해소</a:t>
            </a:r>
            <a:endParaRPr lang="ko-KR" altLang="en-US" sz="105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53" name="Rectangle 5">
            <a:extLst>
              <a:ext uri="{FF2B5EF4-FFF2-40B4-BE49-F238E27FC236}">
                <a16:creationId xmlns:a16="http://schemas.microsoft.com/office/drawing/2014/main" id="{1AC501F1-8BE9-4873-B2E2-90B6C8D746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104" y="3150367"/>
            <a:ext cx="1004576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거절이유 </a:t>
            </a:r>
            <a:endParaRPr lang="en-US" altLang="ko-KR" sz="105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해소</a:t>
            </a:r>
          </a:p>
        </p:txBody>
      </p:sp>
      <p:cxnSp>
        <p:nvCxnSpPr>
          <p:cNvPr id="154" name="꺾인 연결선 74">
            <a:extLst>
              <a:ext uri="{FF2B5EF4-FFF2-40B4-BE49-F238E27FC236}">
                <a16:creationId xmlns:a16="http://schemas.microsoft.com/office/drawing/2014/main" id="{953F9F76-5D31-404A-8A1A-102F18598D14}"/>
              </a:ext>
            </a:extLst>
          </p:cNvPr>
          <p:cNvCxnSpPr>
            <a:stCxn id="114" idx="3"/>
            <a:endCxn id="128" idx="1"/>
          </p:cNvCxnSpPr>
          <p:nvPr/>
        </p:nvCxnSpPr>
        <p:spPr>
          <a:xfrm flipV="1">
            <a:off x="5976571" y="5318584"/>
            <a:ext cx="647700" cy="278120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 75">
            <a:extLst>
              <a:ext uri="{FF2B5EF4-FFF2-40B4-BE49-F238E27FC236}">
                <a16:creationId xmlns:a16="http://schemas.microsoft.com/office/drawing/2014/main" id="{FE027324-5794-4847-852C-0C3C6F767E92}"/>
              </a:ext>
            </a:extLst>
          </p:cNvPr>
          <p:cNvCxnSpPr>
            <a:stCxn id="114" idx="2"/>
            <a:endCxn id="131" idx="1"/>
          </p:cNvCxnSpPr>
          <p:nvPr/>
        </p:nvCxnSpPr>
        <p:spPr>
          <a:xfrm rot="16200000" flipH="1">
            <a:off x="5823435" y="5357153"/>
            <a:ext cx="387235" cy="1214437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연결선 76">
            <a:extLst>
              <a:ext uri="{FF2B5EF4-FFF2-40B4-BE49-F238E27FC236}">
                <a16:creationId xmlns:a16="http://schemas.microsoft.com/office/drawing/2014/main" id="{5FF6C5C7-55E8-41C3-9897-0DF1C70906F2}"/>
              </a:ext>
            </a:extLst>
          </p:cNvPr>
          <p:cNvCxnSpPr>
            <a:stCxn id="128" idx="3"/>
            <a:endCxn id="129" idx="1"/>
          </p:cNvCxnSpPr>
          <p:nvPr/>
        </p:nvCxnSpPr>
        <p:spPr>
          <a:xfrm flipV="1">
            <a:off x="7905750" y="5121453"/>
            <a:ext cx="346872" cy="197131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꺾인 연결선 77">
            <a:extLst>
              <a:ext uri="{FF2B5EF4-FFF2-40B4-BE49-F238E27FC236}">
                <a16:creationId xmlns:a16="http://schemas.microsoft.com/office/drawing/2014/main" id="{EA350F71-52A9-45BD-8DFA-74151597AE55}"/>
              </a:ext>
            </a:extLst>
          </p:cNvPr>
          <p:cNvCxnSpPr>
            <a:stCxn id="131" idx="3"/>
            <a:endCxn id="132" idx="1"/>
          </p:cNvCxnSpPr>
          <p:nvPr/>
        </p:nvCxnSpPr>
        <p:spPr>
          <a:xfrm flipV="1">
            <a:off x="7905750" y="5960859"/>
            <a:ext cx="346872" cy="197131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꺾인 연결선 78">
            <a:extLst>
              <a:ext uri="{FF2B5EF4-FFF2-40B4-BE49-F238E27FC236}">
                <a16:creationId xmlns:a16="http://schemas.microsoft.com/office/drawing/2014/main" id="{A8DD8A48-BFAA-4A27-AFA5-B298BF43E605}"/>
              </a:ext>
            </a:extLst>
          </p:cNvPr>
          <p:cNvCxnSpPr>
            <a:stCxn id="131" idx="3"/>
            <a:endCxn id="133" idx="1"/>
          </p:cNvCxnSpPr>
          <p:nvPr/>
        </p:nvCxnSpPr>
        <p:spPr>
          <a:xfrm>
            <a:off x="7905750" y="6157990"/>
            <a:ext cx="346872" cy="197324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꺾인 연결선 79">
            <a:extLst>
              <a:ext uri="{FF2B5EF4-FFF2-40B4-BE49-F238E27FC236}">
                <a16:creationId xmlns:a16="http://schemas.microsoft.com/office/drawing/2014/main" id="{62A6EA70-D85F-487B-AF20-585187D5AE72}"/>
              </a:ext>
            </a:extLst>
          </p:cNvPr>
          <p:cNvCxnSpPr>
            <a:stCxn id="128" idx="3"/>
            <a:endCxn id="130" idx="1"/>
          </p:cNvCxnSpPr>
          <p:nvPr/>
        </p:nvCxnSpPr>
        <p:spPr>
          <a:xfrm>
            <a:off x="7905750" y="5318584"/>
            <a:ext cx="346872" cy="197324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꺾인 연결선 80">
            <a:extLst>
              <a:ext uri="{FF2B5EF4-FFF2-40B4-BE49-F238E27FC236}">
                <a16:creationId xmlns:a16="http://schemas.microsoft.com/office/drawing/2014/main" id="{0670808F-4EC8-43DE-8692-DB431638F109}"/>
              </a:ext>
            </a:extLst>
          </p:cNvPr>
          <p:cNvCxnSpPr>
            <a:stCxn id="129" idx="3"/>
            <a:endCxn id="126" idx="0"/>
          </p:cNvCxnSpPr>
          <p:nvPr/>
        </p:nvCxnSpPr>
        <p:spPr>
          <a:xfrm flipV="1">
            <a:off x="9053146" y="4045073"/>
            <a:ext cx="1564665" cy="1076380"/>
          </a:xfrm>
          <a:prstGeom prst="bentConnector4">
            <a:avLst>
              <a:gd name="adj1" fmla="val 29525"/>
              <a:gd name="adj2" fmla="val 121238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꺾인 연결선 81">
            <a:extLst>
              <a:ext uri="{FF2B5EF4-FFF2-40B4-BE49-F238E27FC236}">
                <a16:creationId xmlns:a16="http://schemas.microsoft.com/office/drawing/2014/main" id="{C0711372-F15C-459A-A6BD-A1B9C18AFD49}"/>
              </a:ext>
            </a:extLst>
          </p:cNvPr>
          <p:cNvCxnSpPr>
            <a:stCxn id="132" idx="3"/>
            <a:endCxn id="126" idx="1"/>
          </p:cNvCxnSpPr>
          <p:nvPr/>
        </p:nvCxnSpPr>
        <p:spPr>
          <a:xfrm flipV="1">
            <a:off x="9053146" y="4219124"/>
            <a:ext cx="923925" cy="1741735"/>
          </a:xfrm>
          <a:prstGeom prst="bentConnector3">
            <a:avLst>
              <a:gd name="adj1" fmla="val 75773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꺾인 연결선 82">
            <a:extLst>
              <a:ext uri="{FF2B5EF4-FFF2-40B4-BE49-F238E27FC236}">
                <a16:creationId xmlns:a16="http://schemas.microsoft.com/office/drawing/2014/main" id="{2C29B1C6-00DE-4AFB-9CE6-26A9C0BA64B5}"/>
              </a:ext>
            </a:extLst>
          </p:cNvPr>
          <p:cNvCxnSpPr>
            <a:stCxn id="133" idx="3"/>
            <a:endCxn id="126" idx="1"/>
          </p:cNvCxnSpPr>
          <p:nvPr/>
        </p:nvCxnSpPr>
        <p:spPr>
          <a:xfrm flipV="1">
            <a:off x="9053146" y="4219124"/>
            <a:ext cx="923925" cy="2136190"/>
          </a:xfrm>
          <a:prstGeom prst="bentConnector3">
            <a:avLst>
              <a:gd name="adj1" fmla="val 75773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꺾인 연결선 83">
            <a:extLst>
              <a:ext uri="{FF2B5EF4-FFF2-40B4-BE49-F238E27FC236}">
                <a16:creationId xmlns:a16="http://schemas.microsoft.com/office/drawing/2014/main" id="{28328006-171D-4845-8BA7-5234F9434BF4}"/>
              </a:ext>
            </a:extLst>
          </p:cNvPr>
          <p:cNvCxnSpPr>
            <a:stCxn id="125" idx="3"/>
            <a:endCxn id="126" idx="3"/>
          </p:cNvCxnSpPr>
          <p:nvPr/>
        </p:nvCxnSpPr>
        <p:spPr>
          <a:xfrm flipH="1">
            <a:off x="11258550" y="1994182"/>
            <a:ext cx="9525" cy="2224942"/>
          </a:xfrm>
          <a:prstGeom prst="bentConnector3">
            <a:avLst>
              <a:gd name="adj1" fmla="val -5300000"/>
            </a:avLst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5">
            <a:extLst>
              <a:ext uri="{FF2B5EF4-FFF2-40B4-BE49-F238E27FC236}">
                <a16:creationId xmlns:a16="http://schemas.microsoft.com/office/drawing/2014/main" id="{BBE4648B-F802-45ED-ABD1-E71106F6F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51285" y="2130133"/>
            <a:ext cx="1004576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>
                <a:solidFill>
                  <a:schemeClr val="tx1"/>
                </a:solidFill>
                <a:latin typeface="+mj-ea"/>
                <a:ea typeface="+mj-ea"/>
              </a:rPr>
              <a:t>환송</a:t>
            </a:r>
            <a:endParaRPr lang="ko-KR" altLang="en-US" sz="105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65" name="자유형 85">
            <a:extLst>
              <a:ext uri="{FF2B5EF4-FFF2-40B4-BE49-F238E27FC236}">
                <a16:creationId xmlns:a16="http://schemas.microsoft.com/office/drawing/2014/main" id="{1E1B47D2-6522-4A3D-AA33-3D6F4BC5EC06}"/>
              </a:ext>
            </a:extLst>
          </p:cNvPr>
          <p:cNvSpPr/>
          <p:nvPr/>
        </p:nvSpPr>
        <p:spPr>
          <a:xfrm>
            <a:off x="5972175" y="2600324"/>
            <a:ext cx="4886325" cy="2189915"/>
          </a:xfrm>
          <a:custGeom>
            <a:avLst/>
            <a:gdLst>
              <a:gd name="connsiteX0" fmla="*/ 4886325 w 4886325"/>
              <a:gd name="connsiteY0" fmla="*/ 0 h 2019300"/>
              <a:gd name="connsiteX1" fmla="*/ 4886325 w 4886325"/>
              <a:gd name="connsiteY1" fmla="*/ 457200 h 2019300"/>
              <a:gd name="connsiteX2" fmla="*/ 2952750 w 4886325"/>
              <a:gd name="connsiteY2" fmla="*/ 457200 h 2019300"/>
              <a:gd name="connsiteX3" fmla="*/ 2952750 w 4886325"/>
              <a:gd name="connsiteY3" fmla="*/ 2019300 h 2019300"/>
              <a:gd name="connsiteX4" fmla="*/ 428625 w 4886325"/>
              <a:gd name="connsiteY4" fmla="*/ 2019300 h 2019300"/>
              <a:gd name="connsiteX5" fmla="*/ 428625 w 4886325"/>
              <a:gd name="connsiteY5" fmla="*/ 1219200 h 2019300"/>
              <a:gd name="connsiteX6" fmla="*/ 0 w 4886325"/>
              <a:gd name="connsiteY6" fmla="*/ 1219200 h 2019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86325" h="2019300">
                <a:moveTo>
                  <a:pt x="4886325" y="0"/>
                </a:moveTo>
                <a:lnTo>
                  <a:pt x="4886325" y="457200"/>
                </a:lnTo>
                <a:lnTo>
                  <a:pt x="2952750" y="457200"/>
                </a:lnTo>
                <a:lnTo>
                  <a:pt x="2952750" y="2019300"/>
                </a:lnTo>
                <a:lnTo>
                  <a:pt x="428625" y="2019300"/>
                </a:lnTo>
                <a:lnTo>
                  <a:pt x="428625" y="1219200"/>
                </a:lnTo>
                <a:lnTo>
                  <a:pt x="0" y="1219200"/>
                </a:lnTo>
              </a:path>
            </a:pathLst>
          </a:cu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66" name="Rectangle 5">
            <a:extLst>
              <a:ext uri="{FF2B5EF4-FFF2-40B4-BE49-F238E27FC236}">
                <a16:creationId xmlns:a16="http://schemas.microsoft.com/office/drawing/2014/main" id="{DE4626D7-EFEB-4487-A904-5B90E5367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82198" y="2588592"/>
            <a:ext cx="1004576" cy="3481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50" b="0" dirty="0">
                <a:solidFill>
                  <a:schemeClr val="tx1"/>
                </a:solidFill>
                <a:latin typeface="+mj-ea"/>
                <a:ea typeface="+mj-ea"/>
              </a:rPr>
              <a:t>자판</a:t>
            </a:r>
          </a:p>
        </p:txBody>
      </p:sp>
      <p:sp>
        <p:nvSpPr>
          <p:cNvPr id="167" name="Rectangle 5">
            <a:extLst>
              <a:ext uri="{FF2B5EF4-FFF2-40B4-BE49-F238E27FC236}">
                <a16:creationId xmlns:a16="http://schemas.microsoft.com/office/drawing/2014/main" id="{10586C07-8A4A-4698-92BF-D4D64C29C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1716" y="1071260"/>
            <a:ext cx="1133475" cy="348102"/>
          </a:xfrm>
          <a:prstGeom prst="rect">
            <a:avLst/>
          </a:prstGeom>
          <a:solidFill>
            <a:schemeClr val="accent4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정보제공</a:t>
            </a: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7840DCE1-4F8B-4217-858E-ED5FFD0503AF}"/>
              </a:ext>
            </a:extLst>
          </p:cNvPr>
          <p:cNvCxnSpPr>
            <a:stCxn id="167" idx="2"/>
          </p:cNvCxnSpPr>
          <p:nvPr/>
        </p:nvCxnSpPr>
        <p:spPr>
          <a:xfrm flipH="1">
            <a:off x="2581275" y="1419362"/>
            <a:ext cx="3657179" cy="185532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직선 화살표 연결선 168">
            <a:extLst>
              <a:ext uri="{FF2B5EF4-FFF2-40B4-BE49-F238E27FC236}">
                <a16:creationId xmlns:a16="http://schemas.microsoft.com/office/drawing/2014/main" id="{10575F99-5281-41EC-9F1B-D839A39B8528}"/>
              </a:ext>
            </a:extLst>
          </p:cNvPr>
          <p:cNvCxnSpPr>
            <a:stCxn id="167" idx="2"/>
            <a:endCxn id="107" idx="0"/>
          </p:cNvCxnSpPr>
          <p:nvPr/>
        </p:nvCxnSpPr>
        <p:spPr>
          <a:xfrm flipH="1">
            <a:off x="5411406" y="1419362"/>
            <a:ext cx="827048" cy="138352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B96D1527-23B4-4E30-8F4A-EA479EB15404}"/>
              </a:ext>
            </a:extLst>
          </p:cNvPr>
          <p:cNvCxnSpPr>
            <a:stCxn id="167" idx="2"/>
          </p:cNvCxnSpPr>
          <p:nvPr/>
        </p:nvCxnSpPr>
        <p:spPr>
          <a:xfrm>
            <a:off x="6238454" y="1419362"/>
            <a:ext cx="1045606" cy="190505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49CC9522-6DA9-423A-B961-9C551671EB7F}"/>
              </a:ext>
            </a:extLst>
          </p:cNvPr>
          <p:cNvCxnSpPr>
            <a:stCxn id="167" idx="2"/>
          </p:cNvCxnSpPr>
          <p:nvPr/>
        </p:nvCxnSpPr>
        <p:spPr>
          <a:xfrm>
            <a:off x="6238454" y="1419362"/>
            <a:ext cx="2557517" cy="63446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5">
            <a:extLst>
              <a:ext uri="{FF2B5EF4-FFF2-40B4-BE49-F238E27FC236}">
                <a16:creationId xmlns:a16="http://schemas.microsoft.com/office/drawing/2014/main" id="{E5F608B0-E670-4733-AF2E-F2A6D00CA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7836" y="4543012"/>
            <a:ext cx="1133475" cy="348102"/>
          </a:xfrm>
          <a:prstGeom prst="rect">
            <a:avLst/>
          </a:prstGeom>
          <a:solidFill>
            <a:schemeClr val="accent2"/>
          </a:solidFill>
          <a:ln w="9525" algn="ctr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재심사청구</a:t>
            </a:r>
            <a:r>
              <a:rPr lang="en-US" altLang="ko-KR" sz="1100" b="0" dirty="0">
                <a:solidFill>
                  <a:schemeClr val="tx1"/>
                </a:solidFill>
                <a:latin typeface="+mj-ea"/>
                <a:ea typeface="+mj-ea"/>
              </a:rPr>
              <a:t>(</a:t>
            </a:r>
            <a:r>
              <a:rPr lang="ko-KR" altLang="en-US" sz="1100" b="0" dirty="0">
                <a:solidFill>
                  <a:schemeClr val="tx1"/>
                </a:solidFill>
                <a:latin typeface="+mj-ea"/>
                <a:ea typeface="+mj-ea"/>
              </a:rPr>
              <a:t>보정</a:t>
            </a:r>
            <a:r>
              <a:rPr lang="en-US" altLang="ko-KR" sz="1100" b="0" dirty="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1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cxnSp>
        <p:nvCxnSpPr>
          <p:cNvPr id="173" name="연결선: 꺾임 172">
            <a:extLst>
              <a:ext uri="{FF2B5EF4-FFF2-40B4-BE49-F238E27FC236}">
                <a16:creationId xmlns:a16="http://schemas.microsoft.com/office/drawing/2014/main" id="{21EF4337-CFD6-48B2-91D0-D10F8055FE74}"/>
              </a:ext>
            </a:extLst>
          </p:cNvPr>
          <p:cNvCxnSpPr>
            <a:cxnSpLocks/>
            <a:stCxn id="172" idx="1"/>
            <a:endCxn id="121" idx="3"/>
          </p:cNvCxnSpPr>
          <p:nvPr/>
        </p:nvCxnSpPr>
        <p:spPr>
          <a:xfrm rot="10800000" flipH="1">
            <a:off x="3057836" y="3507321"/>
            <a:ext cx="4976138" cy="1209742"/>
          </a:xfrm>
          <a:prstGeom prst="bentConnector5">
            <a:avLst>
              <a:gd name="adj1" fmla="val -4594"/>
              <a:gd name="adj2" fmla="val -169586"/>
              <a:gd name="adj3" fmla="val 124607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자유형: 도형 173">
            <a:extLst>
              <a:ext uri="{FF2B5EF4-FFF2-40B4-BE49-F238E27FC236}">
                <a16:creationId xmlns:a16="http://schemas.microsoft.com/office/drawing/2014/main" id="{E166B53F-8F70-4894-BCD5-1A4A5017F73B}"/>
              </a:ext>
            </a:extLst>
          </p:cNvPr>
          <p:cNvSpPr/>
          <p:nvPr/>
        </p:nvSpPr>
        <p:spPr>
          <a:xfrm>
            <a:off x="4190260" y="4208016"/>
            <a:ext cx="337352" cy="523782"/>
          </a:xfrm>
          <a:custGeom>
            <a:avLst/>
            <a:gdLst>
              <a:gd name="connsiteX0" fmla="*/ 337352 w 337352"/>
              <a:gd name="connsiteY0" fmla="*/ 0 h 523782"/>
              <a:gd name="connsiteX1" fmla="*/ 337352 w 337352"/>
              <a:gd name="connsiteY1" fmla="*/ 523782 h 523782"/>
              <a:gd name="connsiteX2" fmla="*/ 0 w 337352"/>
              <a:gd name="connsiteY2" fmla="*/ 523782 h 523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37352" h="523782">
                <a:moveTo>
                  <a:pt x="337352" y="0"/>
                </a:moveTo>
                <a:lnTo>
                  <a:pt x="337352" y="523782"/>
                </a:lnTo>
                <a:lnTo>
                  <a:pt x="0" y="523782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3767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실체심사의</a:t>
            </a:r>
            <a:r>
              <a:rPr lang="ko-KR" altLang="en-US" dirty="0"/>
              <a:t> 개략적인 흐름도</a:t>
            </a: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3"/>
          <p:cNvSpPr>
            <a:spLocks noChangeArrowheads="1"/>
          </p:cNvSpPr>
          <p:nvPr/>
        </p:nvSpPr>
        <p:spPr bwMode="auto">
          <a:xfrm>
            <a:off x="4828910" y="1092052"/>
            <a:ext cx="1350963" cy="3270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1"/>
                </a:solidFill>
                <a:latin typeface="+mj-ea"/>
                <a:ea typeface="+mj-ea"/>
              </a:rPr>
              <a:t>출원</a:t>
            </a:r>
          </a:p>
        </p:txBody>
      </p:sp>
      <p:cxnSp>
        <p:nvCxnSpPr>
          <p:cNvPr id="117" name="AutoShape 17"/>
          <p:cNvCxnSpPr>
            <a:cxnSpLocks noChangeShapeType="1"/>
            <a:stCxn id="115" idx="2"/>
            <a:endCxn id="140" idx="0"/>
          </p:cNvCxnSpPr>
          <p:nvPr/>
        </p:nvCxnSpPr>
        <p:spPr bwMode="auto">
          <a:xfrm>
            <a:off x="5504392" y="1419077"/>
            <a:ext cx="0" cy="975593"/>
          </a:xfrm>
          <a:prstGeom prst="straightConnector1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9" name="Rectangle 14"/>
          <p:cNvSpPr>
            <a:spLocks noChangeArrowheads="1"/>
          </p:cNvSpPr>
          <p:nvPr/>
        </p:nvSpPr>
        <p:spPr bwMode="auto">
          <a:xfrm>
            <a:off x="4828910" y="2954090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  <a:latin typeface="+mj-ea"/>
                <a:ea typeface="+mj-ea"/>
              </a:rPr>
              <a:t>최초거절이유통지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20" name="AutoShape 15"/>
          <p:cNvSpPr>
            <a:spLocks noChangeArrowheads="1"/>
          </p:cNvSpPr>
          <p:nvPr/>
        </p:nvSpPr>
        <p:spPr bwMode="auto">
          <a:xfrm>
            <a:off x="4824148" y="4961992"/>
            <a:ext cx="1368425" cy="520700"/>
          </a:xfrm>
          <a:prstGeom prst="flowChartDecision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  <a:headEnd/>
            <a:tailEnd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defRPr/>
            </a:pPr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보정의 </a:t>
            </a:r>
            <a:endParaRPr lang="en-US" altLang="ko-KR" sz="1000" b="0" dirty="0">
              <a:solidFill>
                <a:schemeClr val="tx2"/>
              </a:solidFill>
              <a:latin typeface="+mj-ea"/>
              <a:ea typeface="+mj-ea"/>
            </a:endParaRPr>
          </a:p>
          <a:p>
            <a:pPr algn="ctr">
              <a:defRPr/>
            </a:pPr>
            <a:r>
              <a:rPr lang="ko-KR" altLang="en-US" sz="1000" dirty="0">
                <a:solidFill>
                  <a:schemeClr val="tx2"/>
                </a:solidFill>
                <a:latin typeface="+mj-ea"/>
                <a:ea typeface="+mj-ea"/>
              </a:rPr>
              <a:t>적합여부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21" name="Rectangle 13"/>
          <p:cNvSpPr>
            <a:spLocks noChangeArrowheads="1"/>
          </p:cNvSpPr>
          <p:nvPr/>
        </p:nvSpPr>
        <p:spPr bwMode="auto">
          <a:xfrm>
            <a:off x="3181036" y="1951881"/>
            <a:ext cx="1350963" cy="32702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prstDash val="sysDot"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1"/>
                </a:solidFill>
                <a:latin typeface="+mj-ea"/>
                <a:ea typeface="+mj-ea"/>
              </a:rPr>
              <a:t>자진보정서</a:t>
            </a:r>
          </a:p>
        </p:txBody>
      </p:sp>
      <p:cxnSp>
        <p:nvCxnSpPr>
          <p:cNvPr id="122" name="직선 화살표 연결선 121"/>
          <p:cNvCxnSpPr/>
          <p:nvPr/>
        </p:nvCxnSpPr>
        <p:spPr>
          <a:xfrm flipV="1">
            <a:off x="4531999" y="2115393"/>
            <a:ext cx="972392" cy="1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 14"/>
          <p:cNvSpPr>
            <a:spLocks noChangeArrowheads="1"/>
          </p:cNvSpPr>
          <p:nvPr/>
        </p:nvSpPr>
        <p:spPr bwMode="auto">
          <a:xfrm>
            <a:off x="1713467" y="6064274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  <a:latin typeface="+mj-ea"/>
                <a:ea typeface="+mj-ea"/>
              </a:rPr>
              <a:t>특허결정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32" name="Rectangle 14"/>
          <p:cNvSpPr>
            <a:spLocks noChangeArrowheads="1"/>
          </p:cNvSpPr>
          <p:nvPr/>
        </p:nvSpPr>
        <p:spPr bwMode="auto">
          <a:xfrm>
            <a:off x="9010228" y="6064274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거절결정</a:t>
            </a:r>
          </a:p>
        </p:txBody>
      </p:sp>
      <p:cxnSp>
        <p:nvCxnSpPr>
          <p:cNvPr id="133" name="꺾인 연결선 132"/>
          <p:cNvCxnSpPr>
            <a:stCxn id="140" idx="1"/>
            <a:endCxn id="131" idx="0"/>
          </p:cNvCxnSpPr>
          <p:nvPr/>
        </p:nvCxnSpPr>
        <p:spPr>
          <a:xfrm rot="10800000" flipV="1">
            <a:off x="2388950" y="2557388"/>
            <a:ext cx="2439961" cy="3506885"/>
          </a:xfrm>
          <a:prstGeom prst="bentConnector2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4129324" y="2311258"/>
            <a:ext cx="716863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거절이유</a:t>
            </a:r>
            <a:r>
              <a:rPr lang="en-US" altLang="ko-KR" sz="900" dirty="0"/>
              <a:t>×</a:t>
            </a:r>
            <a:endParaRPr lang="ko-KR" altLang="en-US" sz="900" dirty="0"/>
          </a:p>
        </p:txBody>
      </p:sp>
      <p:sp>
        <p:nvSpPr>
          <p:cNvPr id="140" name="Rectangle 14"/>
          <p:cNvSpPr>
            <a:spLocks noChangeArrowheads="1"/>
          </p:cNvSpPr>
          <p:nvPr/>
        </p:nvSpPr>
        <p:spPr bwMode="auto">
          <a:xfrm>
            <a:off x="4828910" y="2394670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심사</a:t>
            </a:r>
            <a:r>
              <a:rPr lang="en-US" altLang="ko-KR" sz="1000" dirty="0">
                <a:solidFill>
                  <a:schemeClr val="tx2"/>
                </a:solidFill>
                <a:latin typeface="+mj-ea"/>
                <a:ea typeface="+mj-ea"/>
              </a:rPr>
              <a:t> I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41" name="Rectangle 14"/>
          <p:cNvSpPr>
            <a:spLocks noChangeArrowheads="1"/>
          </p:cNvSpPr>
          <p:nvPr/>
        </p:nvSpPr>
        <p:spPr bwMode="auto">
          <a:xfrm>
            <a:off x="4828910" y="3563958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심사 </a:t>
            </a:r>
            <a:r>
              <a:rPr lang="en-US" altLang="ko-KR" sz="1000" b="0" dirty="0">
                <a:solidFill>
                  <a:schemeClr val="tx2"/>
                </a:solidFill>
                <a:latin typeface="+mj-ea"/>
                <a:ea typeface="+mj-ea"/>
              </a:rPr>
              <a:t>II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42" name="Rectangle 14"/>
          <p:cNvSpPr>
            <a:spLocks noChangeArrowheads="1"/>
          </p:cNvSpPr>
          <p:nvPr/>
        </p:nvSpPr>
        <p:spPr bwMode="auto">
          <a:xfrm>
            <a:off x="4828910" y="4313920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>
                <a:solidFill>
                  <a:schemeClr val="tx2"/>
                </a:solidFill>
                <a:latin typeface="+mj-ea"/>
                <a:ea typeface="+mj-ea"/>
              </a:rPr>
              <a:t>최후거절이유통지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43" name="Rectangle 14"/>
          <p:cNvSpPr>
            <a:spLocks noChangeArrowheads="1"/>
          </p:cNvSpPr>
          <p:nvPr/>
        </p:nvSpPr>
        <p:spPr bwMode="auto">
          <a:xfrm>
            <a:off x="4828910" y="5679268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심사 </a:t>
            </a:r>
            <a:r>
              <a:rPr lang="en-US" altLang="ko-KR" sz="1000" b="0" dirty="0">
                <a:solidFill>
                  <a:schemeClr val="tx2"/>
                </a:solidFill>
                <a:latin typeface="+mj-ea"/>
                <a:ea typeface="+mj-ea"/>
              </a:rPr>
              <a:t>III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cxnSp>
        <p:nvCxnSpPr>
          <p:cNvPr id="144" name="AutoShape 17"/>
          <p:cNvCxnSpPr>
            <a:cxnSpLocks noChangeShapeType="1"/>
            <a:stCxn id="140" idx="2"/>
            <a:endCxn id="119" idx="0"/>
          </p:cNvCxnSpPr>
          <p:nvPr/>
        </p:nvCxnSpPr>
        <p:spPr bwMode="auto">
          <a:xfrm>
            <a:off x="5504392" y="2720108"/>
            <a:ext cx="0" cy="233982"/>
          </a:xfrm>
          <a:prstGeom prst="straightConnector1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5" name="AutoShape 17"/>
          <p:cNvCxnSpPr>
            <a:cxnSpLocks noChangeShapeType="1"/>
            <a:stCxn id="119" idx="2"/>
            <a:endCxn id="141" idx="0"/>
          </p:cNvCxnSpPr>
          <p:nvPr/>
        </p:nvCxnSpPr>
        <p:spPr bwMode="auto">
          <a:xfrm>
            <a:off x="5504392" y="3279528"/>
            <a:ext cx="0" cy="284430"/>
          </a:xfrm>
          <a:prstGeom prst="straightConnector1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6" name="AutoShape 17"/>
          <p:cNvCxnSpPr>
            <a:cxnSpLocks noChangeShapeType="1"/>
            <a:stCxn id="142" idx="2"/>
            <a:endCxn id="120" idx="0"/>
          </p:cNvCxnSpPr>
          <p:nvPr/>
        </p:nvCxnSpPr>
        <p:spPr bwMode="auto">
          <a:xfrm>
            <a:off x="5504392" y="4639358"/>
            <a:ext cx="3969" cy="322634"/>
          </a:xfrm>
          <a:prstGeom prst="straightConnector1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AutoShape 17"/>
          <p:cNvCxnSpPr>
            <a:cxnSpLocks noChangeShapeType="1"/>
            <a:stCxn id="120" idx="2"/>
            <a:endCxn id="143" idx="0"/>
          </p:cNvCxnSpPr>
          <p:nvPr/>
        </p:nvCxnSpPr>
        <p:spPr bwMode="auto">
          <a:xfrm flipH="1">
            <a:off x="5504392" y="5482692"/>
            <a:ext cx="3969" cy="196576"/>
          </a:xfrm>
          <a:prstGeom prst="straightConnector1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8" name="Rectangle 14"/>
          <p:cNvSpPr>
            <a:spLocks noChangeArrowheads="1"/>
          </p:cNvSpPr>
          <p:nvPr/>
        </p:nvSpPr>
        <p:spPr bwMode="auto">
          <a:xfrm>
            <a:off x="3136792" y="5059623"/>
            <a:ext cx="1350963" cy="325438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 err="1">
                <a:solidFill>
                  <a:schemeClr val="tx2"/>
                </a:solidFill>
                <a:latin typeface="+mj-ea"/>
                <a:ea typeface="+mj-ea"/>
              </a:rPr>
              <a:t>보정각하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49" name="Rectangle 13"/>
          <p:cNvSpPr>
            <a:spLocks noChangeArrowheads="1"/>
          </p:cNvSpPr>
          <p:nvPr/>
        </p:nvSpPr>
        <p:spPr bwMode="auto">
          <a:xfrm>
            <a:off x="3181036" y="3236933"/>
            <a:ext cx="1350963" cy="32702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prstDash val="sysDot"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1"/>
                </a:solidFill>
                <a:latin typeface="+mj-ea"/>
                <a:ea typeface="+mj-ea"/>
              </a:rPr>
              <a:t>의견서</a:t>
            </a:r>
            <a:r>
              <a:rPr lang="en-US" altLang="ko-KR" sz="1000" b="0" dirty="0">
                <a:solidFill>
                  <a:schemeClr val="tx1"/>
                </a:solidFill>
                <a:latin typeface="+mj-ea"/>
                <a:ea typeface="+mj-ea"/>
              </a:rPr>
              <a:t>/</a:t>
            </a:r>
            <a:r>
              <a:rPr lang="ko-KR" altLang="en-US" sz="1000" b="0" dirty="0">
                <a:solidFill>
                  <a:schemeClr val="tx1"/>
                </a:solidFill>
                <a:latin typeface="+mj-ea"/>
                <a:ea typeface="+mj-ea"/>
              </a:rPr>
              <a:t>보정 </a:t>
            </a:r>
            <a:r>
              <a:rPr lang="en-US" altLang="ko-KR" sz="1000" b="0" dirty="0">
                <a:solidFill>
                  <a:schemeClr val="tx1"/>
                </a:solidFill>
                <a:latin typeface="+mj-ea"/>
                <a:ea typeface="+mj-ea"/>
              </a:rPr>
              <a:t>I</a:t>
            </a:r>
            <a:endParaRPr lang="ko-KR" altLang="en-US" sz="10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cxnSp>
        <p:nvCxnSpPr>
          <p:cNvPr id="150" name="직선 화살표 연결선 149"/>
          <p:cNvCxnSpPr/>
          <p:nvPr/>
        </p:nvCxnSpPr>
        <p:spPr>
          <a:xfrm flipV="1">
            <a:off x="4531999" y="3400445"/>
            <a:ext cx="972392" cy="1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3"/>
          <p:cNvSpPr>
            <a:spLocks noChangeArrowheads="1"/>
          </p:cNvSpPr>
          <p:nvPr/>
        </p:nvSpPr>
        <p:spPr bwMode="auto">
          <a:xfrm>
            <a:off x="3181036" y="4588582"/>
            <a:ext cx="1350963" cy="32702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prstDash val="sysDot"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>
                <a:latin typeface="+mj-ea"/>
                <a:ea typeface="+mj-ea"/>
              </a:rPr>
              <a:t>의견서</a:t>
            </a:r>
            <a:r>
              <a:rPr lang="en-US" altLang="ko-KR" sz="1000" dirty="0">
                <a:latin typeface="+mj-ea"/>
                <a:ea typeface="+mj-ea"/>
              </a:rPr>
              <a:t>/</a:t>
            </a:r>
            <a:r>
              <a:rPr lang="ko-KR" altLang="en-US" sz="1000" dirty="0">
                <a:latin typeface="+mj-ea"/>
                <a:ea typeface="+mj-ea"/>
              </a:rPr>
              <a:t>보정 </a:t>
            </a:r>
            <a:r>
              <a:rPr lang="en-US" altLang="ko-KR" sz="1000" dirty="0">
                <a:latin typeface="+mj-ea"/>
                <a:ea typeface="+mj-ea"/>
              </a:rPr>
              <a:t>II</a:t>
            </a:r>
            <a:endParaRPr lang="ko-KR" altLang="en-US" sz="10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cxnSp>
        <p:nvCxnSpPr>
          <p:cNvPr id="152" name="직선 화살표 연결선 151"/>
          <p:cNvCxnSpPr/>
          <p:nvPr/>
        </p:nvCxnSpPr>
        <p:spPr>
          <a:xfrm flipV="1">
            <a:off x="4531999" y="4752094"/>
            <a:ext cx="972392" cy="1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5505186" y="2731759"/>
            <a:ext cx="712054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거절이유</a:t>
            </a:r>
            <a:r>
              <a:rPr lang="az-Cyrl-AZ" altLang="ko-KR" sz="900" dirty="0"/>
              <a:t>О</a:t>
            </a:r>
            <a:endParaRPr lang="ko-KR" altLang="en-US" sz="900" dirty="0"/>
          </a:p>
        </p:txBody>
      </p:sp>
      <p:sp>
        <p:nvSpPr>
          <p:cNvPr id="154" name="AutoShape 15"/>
          <p:cNvSpPr>
            <a:spLocks noChangeArrowheads="1"/>
          </p:cNvSpPr>
          <p:nvPr/>
        </p:nvSpPr>
        <p:spPr bwMode="auto">
          <a:xfrm>
            <a:off x="7025522" y="5580980"/>
            <a:ext cx="1368425" cy="520700"/>
          </a:xfrm>
          <a:prstGeom prst="flowChartDecision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  <a:headEnd/>
            <a:tailEnd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defRPr/>
            </a:pPr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기 통지한</a:t>
            </a:r>
            <a:endParaRPr lang="en-US" altLang="ko-KR" sz="1000" b="0" dirty="0">
              <a:solidFill>
                <a:schemeClr val="tx2"/>
              </a:solidFill>
              <a:latin typeface="+mj-ea"/>
              <a:ea typeface="+mj-ea"/>
            </a:endParaRPr>
          </a:p>
          <a:p>
            <a:pPr algn="ctr">
              <a:defRPr/>
            </a:pPr>
            <a:r>
              <a:rPr lang="ko-KR" altLang="en-US" sz="1000" dirty="0">
                <a:solidFill>
                  <a:schemeClr val="tx2"/>
                </a:solidFill>
                <a:latin typeface="+mj-ea"/>
                <a:ea typeface="+mj-ea"/>
              </a:rPr>
              <a:t>거절이유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sp>
        <p:nvSpPr>
          <p:cNvPr id="155" name="AutoShape 15"/>
          <p:cNvSpPr>
            <a:spLocks noChangeArrowheads="1"/>
          </p:cNvSpPr>
          <p:nvPr/>
        </p:nvSpPr>
        <p:spPr bwMode="auto">
          <a:xfrm>
            <a:off x="7025522" y="4216289"/>
            <a:ext cx="1368425" cy="520700"/>
          </a:xfrm>
          <a:prstGeom prst="flowChartDecision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  <a:headEnd/>
            <a:tailEnd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defRPr/>
            </a:pPr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보정 </a:t>
            </a:r>
            <a:r>
              <a:rPr lang="en-US" altLang="ko-KR" sz="1000" dirty="0">
                <a:solidFill>
                  <a:schemeClr val="tx2"/>
                </a:solidFill>
                <a:latin typeface="+mj-ea"/>
                <a:ea typeface="+mj-ea"/>
              </a:rPr>
              <a:t>I</a:t>
            </a:r>
            <a:r>
              <a:rPr lang="ko-KR" altLang="en-US" sz="1000" dirty="0">
                <a:solidFill>
                  <a:schemeClr val="tx2"/>
                </a:solidFill>
                <a:latin typeface="+mj-ea"/>
                <a:ea typeface="+mj-ea"/>
              </a:rPr>
              <a:t>에 의한</a:t>
            </a:r>
            <a:endParaRPr lang="en-US" altLang="ko-KR" sz="1000" dirty="0">
              <a:solidFill>
                <a:schemeClr val="tx2"/>
              </a:solidFill>
              <a:latin typeface="+mj-ea"/>
              <a:ea typeface="+mj-ea"/>
            </a:endParaRPr>
          </a:p>
          <a:p>
            <a:pPr algn="ctr">
              <a:defRPr/>
            </a:pPr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거절이유</a:t>
            </a:r>
          </a:p>
        </p:txBody>
      </p:sp>
      <p:sp>
        <p:nvSpPr>
          <p:cNvPr id="156" name="AutoShape 15"/>
          <p:cNvSpPr>
            <a:spLocks noChangeArrowheads="1"/>
          </p:cNvSpPr>
          <p:nvPr/>
        </p:nvSpPr>
        <p:spPr bwMode="auto">
          <a:xfrm>
            <a:off x="7025522" y="3466431"/>
            <a:ext cx="1368425" cy="520700"/>
          </a:xfrm>
          <a:prstGeom prst="flowChartDecision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  <a:headEnd/>
            <a:tailEnd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defRPr/>
            </a:pPr>
            <a:r>
              <a:rPr lang="ko-KR" altLang="en-US" sz="1000" b="0" dirty="0">
                <a:solidFill>
                  <a:schemeClr val="tx2"/>
                </a:solidFill>
                <a:latin typeface="+mj-ea"/>
                <a:ea typeface="+mj-ea"/>
              </a:rPr>
              <a:t>기 통지한</a:t>
            </a:r>
            <a:endParaRPr lang="en-US" altLang="ko-KR" sz="1000" b="0" dirty="0">
              <a:solidFill>
                <a:schemeClr val="tx2"/>
              </a:solidFill>
              <a:latin typeface="+mj-ea"/>
              <a:ea typeface="+mj-ea"/>
            </a:endParaRPr>
          </a:p>
          <a:p>
            <a:pPr algn="ctr">
              <a:defRPr/>
            </a:pPr>
            <a:r>
              <a:rPr lang="ko-KR" altLang="en-US" sz="1000" dirty="0">
                <a:solidFill>
                  <a:schemeClr val="tx2"/>
                </a:solidFill>
                <a:latin typeface="+mj-ea"/>
                <a:ea typeface="+mj-ea"/>
              </a:rPr>
              <a:t>거절이유</a:t>
            </a:r>
            <a:endParaRPr lang="ko-KR" altLang="en-US" sz="1000" b="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cxnSp>
        <p:nvCxnSpPr>
          <p:cNvPr id="157" name="직선 화살표 연결선 156"/>
          <p:cNvCxnSpPr>
            <a:stCxn id="141" idx="3"/>
            <a:endCxn id="156" idx="1"/>
          </p:cNvCxnSpPr>
          <p:nvPr/>
        </p:nvCxnSpPr>
        <p:spPr>
          <a:xfrm>
            <a:off x="6179873" y="3726677"/>
            <a:ext cx="845649" cy="104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157"/>
          <p:cNvCxnSpPr>
            <a:stCxn id="141" idx="1"/>
          </p:cNvCxnSpPr>
          <p:nvPr/>
        </p:nvCxnSpPr>
        <p:spPr>
          <a:xfrm flipH="1">
            <a:off x="2388949" y="3726677"/>
            <a:ext cx="2439961" cy="104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129324" y="3726677"/>
            <a:ext cx="716863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거절이유</a:t>
            </a:r>
            <a:r>
              <a:rPr lang="en-US" altLang="ko-KR" sz="900" dirty="0"/>
              <a:t>×</a:t>
            </a:r>
            <a:endParaRPr lang="ko-KR" altLang="en-US" sz="900" dirty="0"/>
          </a:p>
        </p:txBody>
      </p:sp>
      <p:sp>
        <p:nvSpPr>
          <p:cNvPr id="160" name="TextBox 159"/>
          <p:cNvSpPr txBox="1"/>
          <p:nvPr/>
        </p:nvSpPr>
        <p:spPr>
          <a:xfrm>
            <a:off x="6173653" y="3495949"/>
            <a:ext cx="712054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거절이유</a:t>
            </a:r>
            <a:r>
              <a:rPr lang="az-Cyrl-AZ" altLang="ko-KR" sz="900" dirty="0"/>
              <a:t>О</a:t>
            </a:r>
            <a:endParaRPr lang="ko-KR" altLang="en-US" sz="900" dirty="0"/>
          </a:p>
        </p:txBody>
      </p:sp>
      <p:cxnSp>
        <p:nvCxnSpPr>
          <p:cNvPr id="161" name="AutoShape 17"/>
          <p:cNvCxnSpPr>
            <a:cxnSpLocks noChangeShapeType="1"/>
            <a:stCxn id="156" idx="2"/>
            <a:endCxn id="155" idx="0"/>
          </p:cNvCxnSpPr>
          <p:nvPr/>
        </p:nvCxnSpPr>
        <p:spPr bwMode="auto">
          <a:xfrm>
            <a:off x="7709735" y="3987131"/>
            <a:ext cx="0" cy="229158"/>
          </a:xfrm>
          <a:prstGeom prst="straightConnector1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2" name="꺾인 연결선 161"/>
          <p:cNvCxnSpPr>
            <a:stCxn id="156" idx="3"/>
            <a:endCxn id="132" idx="0"/>
          </p:cNvCxnSpPr>
          <p:nvPr/>
        </p:nvCxnSpPr>
        <p:spPr>
          <a:xfrm>
            <a:off x="8393947" y="3726781"/>
            <a:ext cx="1291763" cy="2337493"/>
          </a:xfrm>
          <a:prstGeom prst="bentConnector2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8393947" y="3495845"/>
            <a:ext cx="36901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Yes</a:t>
            </a:r>
            <a:endParaRPr lang="ko-KR" altLang="en-US" sz="900" dirty="0"/>
          </a:p>
        </p:txBody>
      </p:sp>
      <p:sp>
        <p:nvSpPr>
          <p:cNvPr id="164" name="TextBox 163"/>
          <p:cNvSpPr txBox="1"/>
          <p:nvPr/>
        </p:nvSpPr>
        <p:spPr>
          <a:xfrm>
            <a:off x="7714084" y="3975780"/>
            <a:ext cx="33695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No</a:t>
            </a:r>
            <a:endParaRPr lang="ko-KR" altLang="en-US" sz="900" dirty="0"/>
          </a:p>
        </p:txBody>
      </p:sp>
      <p:cxnSp>
        <p:nvCxnSpPr>
          <p:cNvPr id="165" name="직선 화살표 연결선 164"/>
          <p:cNvCxnSpPr>
            <a:stCxn id="155" idx="1"/>
            <a:endCxn id="142" idx="3"/>
          </p:cNvCxnSpPr>
          <p:nvPr/>
        </p:nvCxnSpPr>
        <p:spPr>
          <a:xfrm flipH="1">
            <a:off x="6179873" y="4476639"/>
            <a:ext cx="845649" cy="0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701201" y="4259312"/>
            <a:ext cx="36901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Yes</a:t>
            </a:r>
            <a:endParaRPr lang="ko-KR" altLang="en-US" sz="900" dirty="0"/>
          </a:p>
        </p:txBody>
      </p:sp>
      <p:cxnSp>
        <p:nvCxnSpPr>
          <p:cNvPr id="167" name="꺾인 연결선 166"/>
          <p:cNvCxnSpPr>
            <a:stCxn id="155" idx="3"/>
            <a:endCxn id="119" idx="3"/>
          </p:cNvCxnSpPr>
          <p:nvPr/>
        </p:nvCxnSpPr>
        <p:spPr>
          <a:xfrm flipH="1" flipV="1">
            <a:off x="6179873" y="3116809"/>
            <a:ext cx="2214074" cy="1359830"/>
          </a:xfrm>
          <a:prstGeom prst="bentConnector3">
            <a:avLst>
              <a:gd name="adj1" fmla="val -38202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8409977" y="4251567"/>
            <a:ext cx="33695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No</a:t>
            </a:r>
            <a:endParaRPr lang="ko-KR" altLang="en-US" sz="900" dirty="0"/>
          </a:p>
        </p:txBody>
      </p:sp>
      <p:cxnSp>
        <p:nvCxnSpPr>
          <p:cNvPr id="169" name="직선 화살표 연결선 168"/>
          <p:cNvCxnSpPr>
            <a:stCxn id="120" idx="1"/>
            <a:endCxn id="148" idx="3"/>
          </p:cNvCxnSpPr>
          <p:nvPr/>
        </p:nvCxnSpPr>
        <p:spPr>
          <a:xfrm flipH="1">
            <a:off x="4487755" y="5222342"/>
            <a:ext cx="336393" cy="0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4493447" y="4983622"/>
            <a:ext cx="33695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No</a:t>
            </a:r>
            <a:endParaRPr lang="ko-KR" altLang="en-US" sz="900" dirty="0"/>
          </a:p>
        </p:txBody>
      </p:sp>
      <p:sp>
        <p:nvSpPr>
          <p:cNvPr id="171" name="TextBox 170"/>
          <p:cNvSpPr txBox="1"/>
          <p:nvPr/>
        </p:nvSpPr>
        <p:spPr>
          <a:xfrm>
            <a:off x="5508361" y="5445503"/>
            <a:ext cx="36901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Yes</a:t>
            </a:r>
            <a:endParaRPr lang="ko-KR" altLang="en-US" sz="900" dirty="0"/>
          </a:p>
        </p:txBody>
      </p:sp>
      <p:cxnSp>
        <p:nvCxnSpPr>
          <p:cNvPr id="172" name="직선 화살표 연결선 171"/>
          <p:cNvCxnSpPr/>
          <p:nvPr/>
        </p:nvCxnSpPr>
        <p:spPr>
          <a:xfrm flipH="1">
            <a:off x="2388949" y="5833442"/>
            <a:ext cx="2439961" cy="104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extBox 172"/>
          <p:cNvSpPr txBox="1"/>
          <p:nvPr/>
        </p:nvSpPr>
        <p:spPr>
          <a:xfrm>
            <a:off x="4129324" y="5833442"/>
            <a:ext cx="716863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거절이유</a:t>
            </a:r>
            <a:r>
              <a:rPr lang="en-US" altLang="ko-KR" sz="900" dirty="0"/>
              <a:t>×</a:t>
            </a:r>
            <a:endParaRPr lang="ko-KR" altLang="en-US" sz="900" dirty="0"/>
          </a:p>
        </p:txBody>
      </p:sp>
      <p:cxnSp>
        <p:nvCxnSpPr>
          <p:cNvPr id="174" name="직선 화살표 연결선 173"/>
          <p:cNvCxnSpPr>
            <a:stCxn id="143" idx="3"/>
            <a:endCxn id="154" idx="1"/>
          </p:cNvCxnSpPr>
          <p:nvPr/>
        </p:nvCxnSpPr>
        <p:spPr>
          <a:xfrm flipV="1">
            <a:off x="6179873" y="5841330"/>
            <a:ext cx="845649" cy="657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6173653" y="5602714"/>
            <a:ext cx="712054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거절이유</a:t>
            </a:r>
            <a:r>
              <a:rPr lang="az-Cyrl-AZ" altLang="ko-KR" sz="900" dirty="0"/>
              <a:t>О</a:t>
            </a:r>
            <a:endParaRPr lang="ko-KR" altLang="en-US" sz="900" dirty="0"/>
          </a:p>
        </p:txBody>
      </p:sp>
      <p:cxnSp>
        <p:nvCxnSpPr>
          <p:cNvPr id="176" name="꺾인 연결선 175"/>
          <p:cNvCxnSpPr>
            <a:stCxn id="148" idx="2"/>
          </p:cNvCxnSpPr>
          <p:nvPr/>
        </p:nvCxnSpPr>
        <p:spPr>
          <a:xfrm rot="16200000" flipH="1">
            <a:off x="4151676" y="5045659"/>
            <a:ext cx="333071" cy="1011874"/>
          </a:xfrm>
          <a:prstGeom prst="bentConnector2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176"/>
          <p:cNvCxnSpPr>
            <a:stCxn id="154" idx="3"/>
          </p:cNvCxnSpPr>
          <p:nvPr/>
        </p:nvCxnSpPr>
        <p:spPr>
          <a:xfrm flipV="1">
            <a:off x="8393947" y="5833442"/>
            <a:ext cx="1291763" cy="7888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/>
          <p:cNvSpPr txBox="1"/>
          <p:nvPr/>
        </p:nvSpPr>
        <p:spPr>
          <a:xfrm>
            <a:off x="8377917" y="5601750"/>
            <a:ext cx="36901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Yes</a:t>
            </a:r>
            <a:endParaRPr lang="ko-KR" altLang="en-US" sz="900" dirty="0"/>
          </a:p>
        </p:txBody>
      </p:sp>
      <p:cxnSp>
        <p:nvCxnSpPr>
          <p:cNvPr id="179" name="직선 화살표 연결선 178"/>
          <p:cNvCxnSpPr>
            <a:stCxn id="154" idx="0"/>
            <a:endCxn id="155" idx="2"/>
          </p:cNvCxnSpPr>
          <p:nvPr/>
        </p:nvCxnSpPr>
        <p:spPr>
          <a:xfrm flipV="1">
            <a:off x="7709735" y="4736989"/>
            <a:ext cx="0" cy="843991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7714084" y="5349755"/>
            <a:ext cx="336952" cy="2308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No</a:t>
            </a:r>
            <a:endParaRPr lang="ko-KR" altLang="en-US" sz="900" dirty="0"/>
          </a:p>
        </p:txBody>
      </p:sp>
      <p:sp>
        <p:nvSpPr>
          <p:cNvPr id="181" name="Rectangle 13"/>
          <p:cNvSpPr>
            <a:spLocks noChangeArrowheads="1"/>
          </p:cNvSpPr>
          <p:nvPr/>
        </p:nvSpPr>
        <p:spPr bwMode="auto">
          <a:xfrm>
            <a:off x="6771961" y="1618685"/>
            <a:ext cx="1350963" cy="32702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prstDash val="sysDot"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solidFill>
                  <a:schemeClr val="tx1"/>
                </a:solidFill>
                <a:latin typeface="+mj-ea"/>
                <a:ea typeface="+mj-ea"/>
              </a:rPr>
              <a:t>심사청구</a:t>
            </a:r>
            <a:endParaRPr lang="en-US" altLang="ko-KR" sz="1000" b="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1000" b="0" dirty="0">
                <a:solidFill>
                  <a:schemeClr val="tx1"/>
                </a:solidFill>
                <a:latin typeface="+mj-ea"/>
                <a:ea typeface="+mj-ea"/>
              </a:rPr>
              <a:t>(</a:t>
            </a:r>
            <a:r>
              <a:rPr lang="ko-KR" altLang="en-US" sz="1000" b="0" dirty="0">
                <a:solidFill>
                  <a:schemeClr val="tx1"/>
                </a:solidFill>
                <a:latin typeface="+mj-ea"/>
                <a:ea typeface="+mj-ea"/>
              </a:rPr>
              <a:t>우선심사신청</a:t>
            </a:r>
            <a:r>
              <a:rPr lang="en-US" altLang="ko-KR" sz="1000" b="0" dirty="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000" b="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cxnSp>
        <p:nvCxnSpPr>
          <p:cNvPr id="182" name="직선 화살표 연결선 181"/>
          <p:cNvCxnSpPr>
            <a:stCxn id="181" idx="1"/>
          </p:cNvCxnSpPr>
          <p:nvPr/>
        </p:nvCxnSpPr>
        <p:spPr>
          <a:xfrm flipH="1">
            <a:off x="5581650" y="1782198"/>
            <a:ext cx="1190311" cy="0"/>
          </a:xfrm>
          <a:prstGeom prst="straightConnector1">
            <a:avLst/>
          </a:prstGeom>
          <a:ln w="31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254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0027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1"/>
          <p:cNvSpPr>
            <a:spLocks noChangeArrowheads="1"/>
          </p:cNvSpPr>
          <p:nvPr/>
        </p:nvSpPr>
        <p:spPr bwMode="auto">
          <a:xfrm>
            <a:off x="6496050" y="2302969"/>
            <a:ext cx="5438775" cy="274228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7325" algn="l"/>
                <a:tab pos="320675" algn="l"/>
              </a:tabLst>
            </a:pPr>
            <a:r>
              <a:rPr lang="ko-KR" altLang="ko-KR" sz="1200" dirty="0">
                <a:solidFill>
                  <a:schemeClr val="tx2"/>
                </a:solidFill>
                <a:latin typeface="+mn-ea"/>
              </a:rPr>
              <a:t>【</a:t>
            </a:r>
            <a:r>
              <a:rPr lang="ko-KR" sz="1200" dirty="0">
                <a:solidFill>
                  <a:schemeClr val="tx2"/>
                </a:solidFill>
                <a:latin typeface="+mn-ea"/>
              </a:rPr>
              <a:t>예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1】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아래의 사례에서 심사관이 최초거절이유를 통지한 후 경미한 기재불비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명세서 등을 참고 할 때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A'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은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A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가 되어야 할 것으로 인정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)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를 보정한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대하여 다시 심사한 결과 구성요소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A+C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로 된 장치에 관한 선행기술을 발견하여 거절이유를 통지하려는 경우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이는 보정 전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기재된 발명에도 존재했던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신규성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또는 진보성의 거절이유이므로 최초거절이유를 통지한다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</a:t>
            </a:r>
          </a:p>
          <a:p>
            <a:pPr marL="0" marR="0" lvl="0" indent="0" algn="just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marL="0" marR="0" lvl="0" indent="0" algn="just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marL="0" marR="0" lvl="0" indent="0" algn="just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marL="0" marR="0" lvl="0" indent="0" algn="just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marL="0" marR="0" lvl="0" indent="0" algn="just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7325" algn="l"/>
                <a:tab pos="320675" algn="l"/>
              </a:tabLst>
            </a:pP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예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2】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하나의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기재된 둘 이상의 발명 중 일부에 대하여만 거절이유를 통지하였다가 나머지 발명에 대하여 거절이유를 통지하는 경우 그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청구항이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거절이유통지에 따라 보정되었더라도 최초거절이유를 통지하여야 한다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 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최초거절이유통지</a:t>
            </a: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4731" y="2270575"/>
            <a:ext cx="5749344" cy="305468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자진보정이 있었는지 여부에 관계없이 심사가 착수된 이후 첫 번째의 거절이유통지인 경우</a:t>
            </a:r>
            <a:endParaRPr lang="en-US" altLang="ko-KR" sz="120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84731" y="2635600"/>
            <a:ext cx="5749344" cy="461247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보정되지 아니한 보정식별항목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특허법 시행규칙 별지 제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9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호서식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기재요령의 식별항목으로서 식별번호 등을 말한다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이하 같다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)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에 거절이유가 있는 경우</a:t>
            </a:r>
            <a:endParaRPr lang="en-US" altLang="ko-KR" sz="120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84731" y="3153094"/>
            <a:ext cx="5749344" cy="6319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거절이유통지 후 보정된 발명의 설명 또는 청구범위에 존재하는 거절이유라고 하더라도 그 거절이유가 보정에 의하여 발생된 것이 아니라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최초거절이유통지시에도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발명의 설명 또는 청구범위에 존재하던 거절이유인 경우</a:t>
            </a:r>
            <a:endParaRPr lang="en-US" altLang="ko-KR" sz="1200" dirty="0">
              <a:solidFill>
                <a:schemeClr val="tx2"/>
              </a:solidFill>
              <a:latin typeface="+mn-ea"/>
            </a:endParaRPr>
          </a:p>
        </p:txBody>
      </p:sp>
      <p:cxnSp>
        <p:nvCxnSpPr>
          <p:cNvPr id="66" name="직선 연결선 65"/>
          <p:cNvCxnSpPr/>
          <p:nvPr/>
        </p:nvCxnSpPr>
        <p:spPr>
          <a:xfrm>
            <a:off x="65" y="2155290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7875" y="976902"/>
            <a:ext cx="119363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「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최초거절이유통지」란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63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조에 따라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거절이유통지를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최초로 받거나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최후거절이유통지가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아닌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거절이유통지를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말한다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「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최후거절이유통지가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아닌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거절이유통지」란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ⅰ)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특허출원한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발명에 원시적으로 거절이유가 존재하였는데 심사관이 간과한 후 나중에 이를 발견한 경우에 그 거절이유에 대한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ⅱ)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심사관이 직권 재심사를 하려고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특허출원인에게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특허결정을 취소한다는 사실을 통지한 경우에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66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의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3②)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그 통지 전의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거절이유통지에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대한 보정에 따라 발생한 거절이유에 대한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또는 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ⅲ)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거절결정불복심판에서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취소환송되었는데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취소환송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전의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거절이유통지에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대한 보정에 따라 발생한 거절이유에 대한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거절이유통지를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말한다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4731" y="3861191"/>
            <a:ext cx="5749344" cy="3509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보정 외적인 요인에 의하여 거절이유가 발생한 경우</a:t>
            </a:r>
            <a:endParaRPr lang="en-US" altLang="ko-KR" sz="120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84731" y="4288845"/>
            <a:ext cx="5749344" cy="551557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직권 재심사를 하려고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특허출원인에게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특허결정을 취소한다는 사실을 통지한 후 그 통지 전의 거절이유통지에 대한 보정에 따라 발생한 거절이유를 발견한 경우</a:t>
            </a:r>
            <a:endParaRPr lang="en-US" altLang="ko-KR" sz="120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84731" y="4907970"/>
            <a:ext cx="5749344" cy="551557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거절결정불복심판에서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취소환송된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출원은 취소환송 전의 거절이유통지에 대한 보정에 따라 발생한 거절이유를 발견한 경우 </a:t>
            </a:r>
            <a:endParaRPr lang="en-US" altLang="ko-KR" sz="1200" dirty="0">
              <a:solidFill>
                <a:schemeClr val="tx2"/>
              </a:solidFill>
              <a:latin typeface="+mn-ea"/>
            </a:endParaRPr>
          </a:p>
        </p:txBody>
      </p:sp>
      <p:graphicFrame>
        <p:nvGraphicFramePr>
          <p:cNvPr id="71" name="표 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480441"/>
              </p:ext>
            </p:extLst>
          </p:nvPr>
        </p:nvGraphicFramePr>
        <p:xfrm>
          <a:off x="6665594" y="3341243"/>
          <a:ext cx="5107305" cy="761226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258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5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401"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/>
                        <a:t>보정 전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9698" marB="1969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/>
                        <a:t>보정 후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9698" marB="1969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825"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/>
                        <a:t>청구항 </a:t>
                      </a:r>
                      <a:r>
                        <a:rPr lang="en-US" altLang="ko-KR" sz="1200" kern="1200" dirty="0"/>
                        <a:t>1: </a:t>
                      </a:r>
                      <a:r>
                        <a:rPr lang="ko-KR" altLang="en-US" sz="1200" kern="1200" dirty="0"/>
                        <a:t>구성요소 </a:t>
                      </a:r>
                      <a:r>
                        <a:rPr lang="en-US" altLang="ko-KR" sz="1200" kern="1200" dirty="0"/>
                        <a:t>A' </a:t>
                      </a:r>
                      <a:r>
                        <a:rPr lang="ko-KR" altLang="en-US" sz="1200" kern="1200" dirty="0"/>
                        <a:t>또는 </a:t>
                      </a:r>
                      <a:r>
                        <a:rPr lang="en-US" altLang="ko-KR" sz="1200" kern="1200" dirty="0"/>
                        <a:t>B</a:t>
                      </a:r>
                      <a:r>
                        <a:rPr lang="ko-KR" altLang="en-US" sz="1200" kern="1200" dirty="0"/>
                        <a:t>에 </a:t>
                      </a:r>
                      <a:r>
                        <a:rPr lang="en-US" altLang="ko-KR" sz="1200" kern="1200" dirty="0"/>
                        <a:t>C</a:t>
                      </a:r>
                      <a:r>
                        <a:rPr lang="ko-KR" altLang="en-US" sz="1200" kern="1200" dirty="0"/>
                        <a:t>를 부가한 장치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9698" marB="19698" anchor="ctr"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 err="1"/>
                        <a:t>청구항</a:t>
                      </a:r>
                      <a:r>
                        <a:rPr lang="ko-KR" altLang="en-US" sz="1200" kern="1200" dirty="0"/>
                        <a:t> </a:t>
                      </a:r>
                      <a:r>
                        <a:rPr lang="en-US" altLang="ko-KR" sz="1200" kern="1200" dirty="0"/>
                        <a:t>1: </a:t>
                      </a:r>
                      <a:r>
                        <a:rPr lang="ko-KR" altLang="en-US" sz="1200" kern="1200" dirty="0"/>
                        <a:t>구성요소 </a:t>
                      </a:r>
                      <a:r>
                        <a:rPr lang="en-US" altLang="ko-KR" sz="1200" kern="1200" dirty="0"/>
                        <a:t>A </a:t>
                      </a:r>
                      <a:r>
                        <a:rPr lang="ko-KR" altLang="en-US" sz="1200" kern="1200" dirty="0"/>
                        <a:t>또는 </a:t>
                      </a:r>
                      <a:r>
                        <a:rPr lang="en-US" altLang="ko-KR" sz="1200" kern="1200" dirty="0"/>
                        <a:t>B</a:t>
                      </a:r>
                      <a:r>
                        <a:rPr lang="ko-KR" altLang="en-US" sz="1200" kern="1200" dirty="0"/>
                        <a:t>에 </a:t>
                      </a:r>
                      <a:r>
                        <a:rPr lang="en-US" altLang="ko-KR" sz="1200" kern="1200" dirty="0"/>
                        <a:t>C</a:t>
                      </a:r>
                      <a:r>
                        <a:rPr lang="ko-KR" altLang="en-US" sz="1200" kern="1200" dirty="0"/>
                        <a:t>를 부가한 장치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9698" marB="1969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" name="Rectangle 1"/>
          <p:cNvSpPr>
            <a:spLocks noChangeArrowheads="1"/>
          </p:cNvSpPr>
          <p:nvPr/>
        </p:nvSpPr>
        <p:spPr bwMode="auto">
          <a:xfrm>
            <a:off x="6496050" y="5091516"/>
            <a:ext cx="543877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심사에 착수하여 최초거절이유를 통지할 때에는 외국인으로서 권리능력에 관한 흠결이 없었으나 보정 이후 제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25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조에 따라 특허에 관한 권리를 누릴 수 없게 된 경우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해당 거절이유는 거절이유통지에 대한 보정에 따라 발생한 거절이유가 아니므로 최초거절이유를 통지한다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</a:t>
            </a:r>
          </a:p>
        </p:txBody>
      </p:sp>
      <p:cxnSp>
        <p:nvCxnSpPr>
          <p:cNvPr id="75" name="꺾인 연결선 74"/>
          <p:cNvCxnSpPr>
            <a:stCxn id="65" idx="3"/>
            <a:endCxn id="72" idx="1"/>
          </p:cNvCxnSpPr>
          <p:nvPr/>
        </p:nvCxnSpPr>
        <p:spPr>
          <a:xfrm>
            <a:off x="5934075" y="3469058"/>
            <a:ext cx="561975" cy="20505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 76"/>
          <p:cNvCxnSpPr>
            <a:stCxn id="68" idx="3"/>
            <a:endCxn id="73" idx="1"/>
          </p:cNvCxnSpPr>
          <p:nvPr/>
        </p:nvCxnSpPr>
        <p:spPr>
          <a:xfrm>
            <a:off x="5934075" y="4036675"/>
            <a:ext cx="561975" cy="147034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255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6212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1"/>
          <p:cNvSpPr>
            <a:spLocks noChangeArrowheads="1"/>
          </p:cNvSpPr>
          <p:nvPr/>
        </p:nvSpPr>
        <p:spPr bwMode="auto">
          <a:xfrm>
            <a:off x="6496050" y="2203337"/>
            <a:ext cx="5438775" cy="32316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예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1】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아래 사례에서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신규성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또는 진보성을 위반으로 거절이유를 통지한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1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을 보정하여 종전의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신규성이나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진보성 거절이유를 해소하였으나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구성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D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를 부가함으로써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D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를 포함하는 선행기술을 추가로 인용할 필요가 생겼다면 이는 보정에 의하여 발생한 거절이유이므로 최후거절이유를 통지한다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만일 ‘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A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B’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라는 표현이 구성요소를 선택적으로 적지 아니하여 발명의 구성이 불분명하다는 거절이유가 있었다면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이는 구성 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D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를 부가한 것과 관계없이 보정 전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존재하던 거절이유로서 보정에 의하여 발생한 거절이유가 아니므로 최후거절이유통지 대상이 아니다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</a:t>
            </a:r>
          </a:p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endParaRPr lang="en-US" altLang="ko-KR" sz="1200" dirty="0">
              <a:solidFill>
                <a:schemeClr val="tx2"/>
              </a:solidFill>
              <a:latin typeface="+mn-ea"/>
            </a:endParaRPr>
          </a:p>
          <a:p>
            <a:pPr lvl="0" algn="just" fontAlgn="base">
              <a:spcBef>
                <a:spcPct val="0"/>
              </a:spcBef>
              <a:spcAft>
                <a:spcPct val="0"/>
              </a:spcAft>
              <a:tabLst>
                <a:tab pos="187325" algn="l"/>
                <a:tab pos="320675" algn="l"/>
              </a:tabLst>
            </a:pP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예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2】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기재불비만으로 통지한 거절이유에 대한 보정으로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청구항이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확장됨으로써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신규성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또는 진보성의 거절이유가 발생한 경우 보정에 의하여 선행기술을 다시 찾아 심사하여야 하기 때문에 그 거절이유가 같은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번호에 존재하는 거절이유라도 최후거절이유를 통지하여야 한다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최후거절이유통지</a:t>
            </a: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4731" y="1666875"/>
            <a:ext cx="5749344" cy="671002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명세서 또는 도면을 보정하여 신규사항이 추가된 경우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기재불비가 새롭게 발생한 경우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분할출원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분리출원 또는 변경출원의 범위를 벗어나게 된 경우</a:t>
            </a:r>
            <a:endParaRPr lang="en-US" altLang="ko-KR" sz="120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84731" y="2432285"/>
            <a:ext cx="5749344" cy="6347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fontAlgn="base"/>
            <a:r>
              <a:rPr lang="ko-KR" altLang="en-US" sz="1200" dirty="0">
                <a:solidFill>
                  <a:schemeClr val="tx2"/>
                </a:solidFill>
              </a:rPr>
              <a:t>심사가 이루어진 </a:t>
            </a:r>
            <a:r>
              <a:rPr lang="ko-KR" altLang="en-US" sz="1200" dirty="0" err="1">
                <a:solidFill>
                  <a:schemeClr val="tx2"/>
                </a:solidFill>
              </a:rPr>
              <a:t>청구항을</a:t>
            </a:r>
            <a:r>
              <a:rPr lang="ko-KR" altLang="en-US" sz="1200" dirty="0">
                <a:solidFill>
                  <a:schemeClr val="tx2"/>
                </a:solidFill>
              </a:rPr>
              <a:t> 보정하여 새롭게 </a:t>
            </a:r>
            <a:r>
              <a:rPr lang="ko-KR" altLang="en-US" sz="1200" dirty="0" err="1">
                <a:solidFill>
                  <a:schemeClr val="tx2"/>
                </a:solidFill>
              </a:rPr>
              <a:t>신규성</a:t>
            </a:r>
            <a:r>
              <a:rPr lang="en-US" altLang="ko-KR" sz="1200" dirty="0">
                <a:solidFill>
                  <a:schemeClr val="tx2"/>
                </a:solidFill>
              </a:rPr>
              <a:t>, </a:t>
            </a:r>
            <a:r>
              <a:rPr lang="ko-KR" altLang="en-US" sz="1200" dirty="0">
                <a:solidFill>
                  <a:schemeClr val="tx2"/>
                </a:solidFill>
              </a:rPr>
              <a:t>진보성 등에 관한 거절이유를 통지하게 된 경우</a:t>
            </a:r>
            <a:r>
              <a:rPr lang="en-US" altLang="ko-KR" sz="1200" dirty="0">
                <a:solidFill>
                  <a:schemeClr val="tx2"/>
                </a:solidFill>
              </a:rPr>
              <a:t>(</a:t>
            </a:r>
            <a:r>
              <a:rPr lang="ko-KR" altLang="en-US" sz="1200" dirty="0">
                <a:solidFill>
                  <a:schemeClr val="tx2"/>
                </a:solidFill>
              </a:rPr>
              <a:t>다만</a:t>
            </a:r>
            <a:r>
              <a:rPr lang="en-US" altLang="ko-KR" sz="1200" dirty="0">
                <a:solidFill>
                  <a:schemeClr val="tx2"/>
                </a:solidFill>
              </a:rPr>
              <a:t>, </a:t>
            </a:r>
            <a:r>
              <a:rPr lang="ko-KR" altLang="en-US" sz="1200" dirty="0">
                <a:solidFill>
                  <a:schemeClr val="tx2"/>
                </a:solidFill>
              </a:rPr>
              <a:t>보정된 청구항의 발명이 그 </a:t>
            </a:r>
            <a:r>
              <a:rPr lang="ko-KR" altLang="en-US" sz="1200" dirty="0" err="1">
                <a:solidFill>
                  <a:schemeClr val="tx2"/>
                </a:solidFill>
              </a:rPr>
              <a:t>청구항</a:t>
            </a:r>
            <a:r>
              <a:rPr lang="ko-KR" altLang="en-US" sz="1200" dirty="0">
                <a:solidFill>
                  <a:schemeClr val="tx2"/>
                </a:solidFill>
              </a:rPr>
              <a:t> 외의 다른 </a:t>
            </a:r>
            <a:r>
              <a:rPr lang="ko-KR" altLang="en-US" sz="1200" dirty="0" err="1">
                <a:solidFill>
                  <a:schemeClr val="tx2"/>
                </a:solidFill>
              </a:rPr>
              <a:t>청구항에</a:t>
            </a:r>
            <a:r>
              <a:rPr lang="ko-KR" altLang="en-US" sz="1200" dirty="0">
                <a:solidFill>
                  <a:schemeClr val="tx2"/>
                </a:solidFill>
              </a:rPr>
              <a:t> 원래부터 기재되어 있던 발명이었음에도 해당 거절이유를 통지하지 않았던 경우에는 최초거절이유를 통지한다</a:t>
            </a:r>
            <a:r>
              <a:rPr lang="en-US" altLang="ko-KR" sz="1200" dirty="0">
                <a:solidFill>
                  <a:schemeClr val="tx2"/>
                </a:solidFill>
              </a:rPr>
              <a:t>.</a:t>
            </a:r>
            <a:endParaRPr lang="ko-KR" altLang="en-US" sz="1200" dirty="0">
              <a:solidFill>
                <a:schemeClr val="tx2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84731" y="3233762"/>
            <a:ext cx="5749344" cy="574479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신설되거나 실질적으로 신설에 준하는 정도로 바뀐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청구항에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신규성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진보성의 거절이유가 있는 경우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다만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그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청구항이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거절이유를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통지받지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아니한 청구항의 발명으로 보정된 경우에는 최초거절이유를 통지한다</a:t>
            </a:r>
            <a:r>
              <a:rPr lang="en-US" altLang="ko-KR" sz="1200" dirty="0">
                <a:solidFill>
                  <a:schemeClr val="tx2"/>
                </a:solidFill>
                <a:latin typeface="+mn-ea"/>
              </a:rPr>
              <a:t>.)</a:t>
            </a:r>
          </a:p>
        </p:txBody>
      </p:sp>
      <p:cxnSp>
        <p:nvCxnSpPr>
          <p:cNvPr id="66" name="직선 연결선 65"/>
          <p:cNvCxnSpPr/>
          <p:nvPr/>
        </p:nvCxnSpPr>
        <p:spPr>
          <a:xfrm>
            <a:off x="65" y="1283309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7875" y="976902"/>
            <a:ext cx="11936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「최후거절이유통지」란 최초거절이유통지에 대한 보정에 따라 발생한 새로운 거절이유에 대한 거절이유통지를 말한다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4731" y="3929087"/>
            <a:ext cx="5749344" cy="671487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기재의 현저한 기재불비 또는 신규사항의 추가 등으로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신규성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또는 진보성 등과 관련된 심사가 불가능했던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청구항을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보정한 후 다시 심사한 결과 </a:t>
            </a:r>
            <a:r>
              <a:rPr lang="ko-KR" altLang="en-US" sz="1200" dirty="0" err="1">
                <a:solidFill>
                  <a:schemeClr val="tx2"/>
                </a:solidFill>
                <a:latin typeface="+mn-ea"/>
              </a:rPr>
              <a:t>신규성이나</a:t>
            </a:r>
            <a:r>
              <a:rPr lang="ko-KR" altLang="en-US" sz="1200" dirty="0">
                <a:solidFill>
                  <a:schemeClr val="tx2"/>
                </a:solidFill>
                <a:latin typeface="+mn-ea"/>
              </a:rPr>
              <a:t> 진보성에 관한 거절이유를 발견한 경우</a:t>
            </a:r>
          </a:p>
        </p:txBody>
      </p:sp>
      <p:cxnSp>
        <p:nvCxnSpPr>
          <p:cNvPr id="75" name="꺾인 연결선 74"/>
          <p:cNvCxnSpPr>
            <a:stCxn id="64" idx="3"/>
            <a:endCxn id="72" idx="1"/>
          </p:cNvCxnSpPr>
          <p:nvPr/>
        </p:nvCxnSpPr>
        <p:spPr>
          <a:xfrm>
            <a:off x="5934075" y="2749668"/>
            <a:ext cx="561975" cy="106949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459401"/>
              </p:ext>
            </p:extLst>
          </p:nvPr>
        </p:nvGraphicFramePr>
        <p:xfrm>
          <a:off x="6694169" y="3657799"/>
          <a:ext cx="5164455" cy="748475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26101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42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866"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/>
                        <a:t>보정 전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7907" marB="17907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/>
                        <a:t>보정 후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7907" marB="17907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005"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 err="1"/>
                        <a:t>청구항</a:t>
                      </a:r>
                      <a:r>
                        <a:rPr lang="ko-KR" altLang="en-US" sz="1200" kern="1200" dirty="0"/>
                        <a:t> </a:t>
                      </a:r>
                      <a:r>
                        <a:rPr lang="en-US" altLang="ko-KR" sz="1200" kern="1200" dirty="0"/>
                        <a:t>1: </a:t>
                      </a:r>
                      <a:r>
                        <a:rPr lang="ko-KR" altLang="en-US" sz="1200" kern="1200" dirty="0"/>
                        <a:t>구성요소 </a:t>
                      </a:r>
                      <a:r>
                        <a:rPr lang="en-US" altLang="ko-KR" sz="1200" kern="1200" dirty="0"/>
                        <a:t>A </a:t>
                      </a:r>
                      <a:r>
                        <a:rPr lang="ko-KR" altLang="en-US" sz="1200" kern="1200" dirty="0"/>
                        <a:t>및 </a:t>
                      </a:r>
                      <a:r>
                        <a:rPr lang="en-US" altLang="ko-KR" sz="1200" kern="1200" dirty="0"/>
                        <a:t>B</a:t>
                      </a:r>
                      <a:r>
                        <a:rPr lang="ko-KR" altLang="en-US" sz="1200" kern="1200" dirty="0"/>
                        <a:t>에 </a:t>
                      </a:r>
                      <a:r>
                        <a:rPr lang="en-US" altLang="ko-KR" sz="1200" kern="1200" dirty="0"/>
                        <a:t>C</a:t>
                      </a:r>
                      <a:r>
                        <a:rPr lang="ko-KR" altLang="en-US" sz="1200" kern="1200" dirty="0"/>
                        <a:t>를 부가한 장치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7907" marB="17907" anchor="ctr"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dirty="0" err="1"/>
                        <a:t>청구항</a:t>
                      </a:r>
                      <a:r>
                        <a:rPr lang="ko-KR" altLang="en-US" sz="1200" kern="1200" dirty="0"/>
                        <a:t> </a:t>
                      </a:r>
                      <a:r>
                        <a:rPr lang="en-US" altLang="ko-KR" sz="1200" kern="1200" dirty="0"/>
                        <a:t>1: </a:t>
                      </a:r>
                      <a:r>
                        <a:rPr lang="ko-KR" altLang="en-US" sz="1200" kern="1200" dirty="0"/>
                        <a:t>구성요소 </a:t>
                      </a:r>
                      <a:r>
                        <a:rPr lang="en-US" altLang="ko-KR" sz="1200" kern="1200" dirty="0"/>
                        <a:t>A </a:t>
                      </a:r>
                      <a:r>
                        <a:rPr lang="ko-KR" altLang="en-US" sz="1200" kern="1200" dirty="0"/>
                        <a:t>및 </a:t>
                      </a:r>
                      <a:r>
                        <a:rPr lang="en-US" altLang="ko-KR" sz="1200" kern="1200" dirty="0"/>
                        <a:t>B</a:t>
                      </a:r>
                      <a:r>
                        <a:rPr lang="ko-KR" altLang="en-US" sz="1200" kern="1200" dirty="0"/>
                        <a:t>에 </a:t>
                      </a:r>
                      <a:r>
                        <a:rPr lang="en-US" altLang="ko-KR" sz="1200" kern="1200" dirty="0"/>
                        <a:t>D</a:t>
                      </a:r>
                      <a:r>
                        <a:rPr lang="ko-KR" altLang="en-US" sz="1200" kern="1200" dirty="0"/>
                        <a:t>를 부가한 장치</a:t>
                      </a:r>
                      <a:endParaRPr lang="ko-KR" altLang="en-US" sz="1200" kern="1200" dirty="0">
                        <a:solidFill>
                          <a:schemeClr val="tx2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7907" marR="17907" marT="17907" marB="1790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7733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 err="1">
                <a:solidFill>
                  <a:srgbClr val="525252"/>
                </a:solidFill>
              </a:rPr>
              <a:t>원거절이유의</a:t>
            </a:r>
            <a:r>
              <a:rPr lang="ko-KR" altLang="en-US" dirty="0">
                <a:solidFill>
                  <a:srgbClr val="525252"/>
                </a:solidFill>
              </a:rPr>
              <a:t> 해소 여부</a:t>
            </a:r>
            <a:r>
              <a:rPr lang="en-US" altLang="ko-KR" sz="2000" dirty="0">
                <a:solidFill>
                  <a:srgbClr val="525252"/>
                </a:solidFill>
              </a:rPr>
              <a:t>(</a:t>
            </a:r>
            <a:r>
              <a:rPr lang="ko-KR" altLang="en-US" sz="2000" dirty="0" err="1">
                <a:solidFill>
                  <a:srgbClr val="525252"/>
                </a:solidFill>
              </a:rPr>
              <a:t>거절이유통지와</a:t>
            </a:r>
            <a:r>
              <a:rPr lang="ko-KR" altLang="en-US" sz="2000" dirty="0">
                <a:solidFill>
                  <a:srgbClr val="525252"/>
                </a:solidFill>
              </a:rPr>
              <a:t> 거절결정과의 관계</a:t>
            </a:r>
            <a:r>
              <a:rPr lang="en-US" altLang="ko-KR" sz="2000" dirty="0">
                <a:solidFill>
                  <a:srgbClr val="525252"/>
                </a:solidFill>
              </a:rPr>
              <a:t>)</a:t>
            </a:r>
            <a:endParaRPr lang="ko-KR" altLang="en-US" dirty="0">
              <a:solidFill>
                <a:srgbClr val="525252"/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4294967295"/>
          </p:nvPr>
        </p:nvSpPr>
        <p:spPr>
          <a:xfrm>
            <a:off x="11144250" y="3175"/>
            <a:ext cx="1047750" cy="714375"/>
          </a:xfrm>
        </p:spPr>
        <p:txBody>
          <a:bodyPr/>
          <a:lstStyle/>
          <a:p>
            <a:r>
              <a:rPr lang="en-US" altLang="ko-KR" dirty="0"/>
              <a:t>257</a:t>
            </a:r>
            <a:endParaRPr lang="ko-KR" altLang="en-US"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7875" y="986046"/>
            <a:ext cx="119363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심사관은 거절이유통지에 따라 제출된 </a:t>
            </a:r>
            <a:r>
              <a:rPr lang="ko-KR" altLang="en-US" sz="1400" dirty="0" err="1">
                <a:solidFill>
                  <a:schemeClr val="tx2"/>
                </a:solidFill>
              </a:rPr>
              <a:t>의견서ㆍ보정서에</a:t>
            </a:r>
            <a:r>
              <a:rPr lang="ko-KR" altLang="en-US" sz="1400" dirty="0">
                <a:solidFill>
                  <a:schemeClr val="tx2"/>
                </a:solidFill>
              </a:rPr>
              <a:t> 의해서도 이미 통지한 거절이유가 해소되지 아니하고 동일한 경우에는 다른 거절이유가 있더라도 다시 거절이유를 통지하지 아니하고 특허거절결정을 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「거절이유가 이미 통지한 </a:t>
            </a:r>
            <a:r>
              <a:rPr lang="ko-KR" altLang="en-US" sz="1400" dirty="0" err="1">
                <a:solidFill>
                  <a:schemeClr val="tx2"/>
                </a:solidFill>
              </a:rPr>
              <a:t>거절이유와</a:t>
            </a:r>
            <a:r>
              <a:rPr lang="ko-KR" altLang="en-US" sz="1400" dirty="0">
                <a:solidFill>
                  <a:schemeClr val="tx2"/>
                </a:solidFill>
              </a:rPr>
              <a:t> 동일한 </a:t>
            </a:r>
            <a:r>
              <a:rPr lang="ko-KR" altLang="en-US" sz="1400" dirty="0" err="1">
                <a:solidFill>
                  <a:schemeClr val="tx2"/>
                </a:solidFill>
              </a:rPr>
              <a:t>경우」란</a:t>
            </a:r>
            <a:r>
              <a:rPr lang="ko-KR" altLang="en-US" sz="1400" dirty="0">
                <a:solidFill>
                  <a:schemeClr val="tx2"/>
                </a:solidFill>
              </a:rPr>
              <a:t> 해당 거절이유가 앞서 통지된 거절이유통지에서 지적한 </a:t>
            </a:r>
            <a:r>
              <a:rPr lang="ko-KR" altLang="en-US" sz="1400" dirty="0" err="1">
                <a:solidFill>
                  <a:schemeClr val="tx2"/>
                </a:solidFill>
              </a:rPr>
              <a:t>거절이유와</a:t>
            </a:r>
            <a:r>
              <a:rPr lang="ko-KR" altLang="en-US" sz="1400" dirty="0">
                <a:solidFill>
                  <a:schemeClr val="tx2"/>
                </a:solidFill>
              </a:rPr>
              <a:t> 주지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主旨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에 있어서 부합되는 경우를 말하는 것으로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주지가 부합되는지 여부는 일부의 문구나 표현에 구애되어서는 아니 되고 </a:t>
            </a:r>
            <a:r>
              <a:rPr lang="ko-KR" altLang="en-US" sz="1400" dirty="0" err="1">
                <a:solidFill>
                  <a:schemeClr val="tx2"/>
                </a:solidFill>
              </a:rPr>
              <a:t>출원인에게</a:t>
            </a:r>
            <a:r>
              <a:rPr lang="ko-KR" altLang="en-US" sz="1400" dirty="0">
                <a:solidFill>
                  <a:schemeClr val="tx2"/>
                </a:solidFill>
              </a:rPr>
              <a:t> 의견을 제출할 기회가 실질적으로 부여되었는지 여부의 관점에서 평가되어야 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endParaRPr lang="en-US" altLang="ko-KR" sz="1400" dirty="0">
              <a:solidFill>
                <a:srgbClr val="FF0000"/>
              </a:solidFill>
            </a:endParaRPr>
          </a:p>
        </p:txBody>
      </p:sp>
      <p:cxnSp>
        <p:nvCxnSpPr>
          <p:cNvPr id="56" name="직선 연결선 55"/>
          <p:cNvCxnSpPr/>
          <p:nvPr/>
        </p:nvCxnSpPr>
        <p:spPr>
          <a:xfrm>
            <a:off x="0" y="1950664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FE9A4C4-2ED9-4E04-9EB1-37F3054EBB5F}"/>
              </a:ext>
            </a:extLst>
          </p:cNvPr>
          <p:cNvSpPr txBox="1"/>
          <p:nvPr/>
        </p:nvSpPr>
        <p:spPr>
          <a:xfrm>
            <a:off x="1599794" y="2040192"/>
            <a:ext cx="2217683" cy="4001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 err="1"/>
              <a:t>거절이유통지</a:t>
            </a:r>
            <a:endParaRPr lang="ko-KR" altLang="en-US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2E51E6-4BFC-4D42-85A1-5D4CE59C7190}"/>
              </a:ext>
            </a:extLst>
          </p:cNvPr>
          <p:cNvSpPr txBox="1"/>
          <p:nvPr/>
        </p:nvSpPr>
        <p:spPr>
          <a:xfrm>
            <a:off x="8166539" y="2040192"/>
            <a:ext cx="2217683" cy="4001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/>
              <a:t>거절결정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5576843-71C2-4938-A5B9-EA0AF903FB1F}"/>
              </a:ext>
            </a:extLst>
          </p:cNvPr>
          <p:cNvCxnSpPr>
            <a:cxnSpLocks/>
            <a:stCxn id="6" idx="3"/>
            <a:endCxn id="26" idx="1"/>
          </p:cNvCxnSpPr>
          <p:nvPr/>
        </p:nvCxnSpPr>
        <p:spPr>
          <a:xfrm>
            <a:off x="3217748" y="2682362"/>
            <a:ext cx="5252684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8284E3B-69D5-4330-9DB7-6A44B200FC8E}"/>
              </a:ext>
            </a:extLst>
          </p:cNvPr>
          <p:cNvSpPr txBox="1"/>
          <p:nvPr/>
        </p:nvSpPr>
        <p:spPr>
          <a:xfrm>
            <a:off x="4313117" y="2012595"/>
            <a:ext cx="30764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주지가 부합</a:t>
            </a:r>
            <a:endParaRPr lang="en-US" altLang="ko-KR" sz="1600" dirty="0"/>
          </a:p>
          <a:p>
            <a:pPr algn="ctr"/>
            <a:r>
              <a:rPr lang="en-US" altLang="ko-KR" sz="1600" dirty="0"/>
              <a:t>(</a:t>
            </a:r>
            <a:r>
              <a:rPr lang="ko-KR" altLang="en-US" sz="1600" dirty="0"/>
              <a:t>출원인에게 실질적 대응기회 부여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D21DD2-F1E4-4438-A98E-CD0580EA089D}"/>
              </a:ext>
            </a:extLst>
          </p:cNvPr>
          <p:cNvSpPr txBox="1"/>
          <p:nvPr/>
        </p:nvSpPr>
        <p:spPr>
          <a:xfrm>
            <a:off x="798787" y="3000874"/>
            <a:ext cx="8810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다른 </a:t>
            </a:r>
            <a:r>
              <a:rPr lang="ko-KR" altLang="en-US" sz="1400" dirty="0" err="1"/>
              <a:t>거절이유통지하고</a:t>
            </a:r>
            <a:r>
              <a:rPr lang="ko-KR" altLang="en-US" sz="1400" dirty="0"/>
              <a:t> 거절결정해서는 안 된다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(</a:t>
            </a:r>
            <a:r>
              <a:rPr lang="ko-KR" altLang="en-US" sz="1400" dirty="0">
                <a:solidFill>
                  <a:srgbClr val="FF0000"/>
                </a:solidFill>
              </a:rPr>
              <a:t>우선 법조문을 달리 한다면 거절이유를 달리하며</a:t>
            </a:r>
            <a:r>
              <a:rPr lang="en-US" altLang="ko-KR" sz="1400" dirty="0">
                <a:solidFill>
                  <a:srgbClr val="FF0000"/>
                </a:solidFill>
              </a:rPr>
              <a:t>, </a:t>
            </a:r>
            <a:r>
              <a:rPr lang="ko-KR" altLang="en-US" sz="1400" dirty="0">
                <a:solidFill>
                  <a:srgbClr val="FF0000"/>
                </a:solidFill>
              </a:rPr>
              <a:t>법조문을 같이 하더라도 사실을 달리 한다면 거절이유를 달리한다</a:t>
            </a:r>
            <a:r>
              <a:rPr lang="en-US" altLang="ko-KR" sz="1400" dirty="0">
                <a:solidFill>
                  <a:srgbClr val="FF0000"/>
                </a:solidFill>
              </a:rPr>
              <a:t>.)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0169D22-EC80-45D7-B146-6FB6C25F5563}"/>
              </a:ext>
            </a:extLst>
          </p:cNvPr>
          <p:cNvSpPr txBox="1"/>
          <p:nvPr/>
        </p:nvSpPr>
        <p:spPr>
          <a:xfrm>
            <a:off x="758529" y="3506497"/>
            <a:ext cx="111348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거절이유통지가</a:t>
            </a:r>
            <a:r>
              <a:rPr lang="ko-KR" altLang="en-US" sz="1400" dirty="0"/>
              <a:t> 어느 정도 추상적이나 개괄적으로 기재되어 있다고 하더라도 통상의 기술자가 전체적으로 그 취지를 이해할 수 있을 정도로 기재되어 있으면 충분하다</a:t>
            </a:r>
            <a:r>
              <a:rPr lang="en-US" altLang="ko-KR" sz="1400" dirty="0"/>
              <a:t>(</a:t>
            </a:r>
            <a:r>
              <a:rPr lang="ko-KR" altLang="en-US" sz="1400" dirty="0"/>
              <a:t>대법원 </a:t>
            </a:r>
            <a:r>
              <a:rPr lang="en-US" altLang="ko-KR" sz="1400" dirty="0"/>
              <a:t>2008. 12. 24. </a:t>
            </a:r>
            <a:r>
              <a:rPr lang="ko-KR" altLang="en-US" sz="1400" dirty="0"/>
              <a:t>선고 </a:t>
            </a:r>
            <a:r>
              <a:rPr lang="en-US" altLang="ko-KR" sz="1400" dirty="0"/>
              <a:t>2007</a:t>
            </a:r>
            <a:r>
              <a:rPr lang="ko-KR" altLang="en-US" sz="1400" dirty="0"/>
              <a:t>후</a:t>
            </a:r>
            <a:r>
              <a:rPr lang="en-US" altLang="ko-KR" sz="1400" dirty="0"/>
              <a:t>265 </a:t>
            </a:r>
            <a:r>
              <a:rPr lang="ko-KR" altLang="en-US" sz="1400" dirty="0"/>
              <a:t>등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B4B794-80FF-4722-BBFF-73FDDF6B8C26}"/>
              </a:ext>
            </a:extLst>
          </p:cNvPr>
          <p:cNvSpPr txBox="1"/>
          <p:nvPr/>
        </p:nvSpPr>
        <p:spPr>
          <a:xfrm>
            <a:off x="758529" y="4008215"/>
            <a:ext cx="111348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/>
              <a:t>출원발명에 대하여 우선권주장의 불인정으로 거절이유가 생긴 경우에는 </a:t>
            </a:r>
            <a:r>
              <a:rPr lang="ko-KR" altLang="en-US" sz="1400" dirty="0">
                <a:solidFill>
                  <a:srgbClr val="FF0000"/>
                </a:solidFill>
              </a:rPr>
              <a:t>우선권주장의 불인정은 거절이유 일부를 구성</a:t>
            </a:r>
            <a:r>
              <a:rPr lang="ko-KR" altLang="en-US" sz="1400" dirty="0"/>
              <a:t>하는 것이므로</a:t>
            </a:r>
            <a:r>
              <a:rPr lang="en-US" altLang="ko-KR" sz="1400" dirty="0"/>
              <a:t>, </a:t>
            </a:r>
            <a:r>
              <a:rPr lang="ko-KR" altLang="en-US" sz="1400" dirty="0"/>
              <a:t>우선권주장이 인정되지 아니한다는 취지 및 그 이유를 </a:t>
            </a:r>
            <a:r>
              <a:rPr lang="ko-KR" altLang="en-US" sz="1400" dirty="0" err="1"/>
              <a:t>거절이유통지서에</a:t>
            </a:r>
            <a:r>
              <a:rPr lang="ko-KR" altLang="en-US" sz="1400" dirty="0"/>
              <a:t> 포함하여야 한다</a:t>
            </a:r>
            <a:r>
              <a:rPr lang="en-US" altLang="ko-KR" sz="1400" dirty="0"/>
              <a:t>(</a:t>
            </a:r>
            <a:r>
              <a:rPr lang="ko-KR" altLang="en-US" sz="1400" dirty="0"/>
              <a:t>대법원 </a:t>
            </a:r>
            <a:r>
              <a:rPr lang="en-US" altLang="ko-KR" sz="1400" dirty="0"/>
              <a:t>2011. 9. 8. </a:t>
            </a:r>
            <a:r>
              <a:rPr lang="ko-KR" altLang="en-US" sz="1400" dirty="0"/>
              <a:t>선고 </a:t>
            </a:r>
            <a:r>
              <a:rPr lang="en-US" altLang="ko-KR" sz="1400" dirty="0"/>
              <a:t>2009</a:t>
            </a:r>
            <a:r>
              <a:rPr lang="ko-KR" altLang="en-US" sz="1400" dirty="0"/>
              <a:t>후</a:t>
            </a:r>
            <a:r>
              <a:rPr lang="en-US" altLang="ko-KR" sz="1400" dirty="0"/>
              <a:t>2371).</a:t>
            </a:r>
            <a:endParaRPr lang="ko-KR" altLang="en-US" sz="14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15EC0F2-B8E4-4590-8A28-1A52915A1353}"/>
              </a:ext>
            </a:extLst>
          </p:cNvPr>
          <p:cNvSpPr/>
          <p:nvPr/>
        </p:nvSpPr>
        <p:spPr>
          <a:xfrm>
            <a:off x="92365" y="2937778"/>
            <a:ext cx="11921833" cy="386007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324E418E-F82F-43E1-90C6-9AB59DBC8167}"/>
              </a:ext>
            </a:extLst>
          </p:cNvPr>
          <p:cNvCxnSpPr>
            <a:cxnSpLocks/>
            <a:stCxn id="13" idx="2"/>
            <a:endCxn id="18" idx="0"/>
          </p:cNvCxnSpPr>
          <p:nvPr/>
        </p:nvCxnSpPr>
        <p:spPr>
          <a:xfrm rot="16200000" flipH="1">
            <a:off x="5782116" y="2666612"/>
            <a:ext cx="340408" cy="201923"/>
          </a:xfrm>
          <a:prstGeom prst="bentConnector3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F0F5B3AB-5332-4CE3-ABAB-ACA9FB9D9941}"/>
              </a:ext>
            </a:extLst>
          </p:cNvPr>
          <p:cNvSpPr/>
          <p:nvPr/>
        </p:nvSpPr>
        <p:spPr>
          <a:xfrm>
            <a:off x="298639" y="3002889"/>
            <a:ext cx="416064" cy="41521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FCEA7E38-4AD7-4C63-B3A6-E163E98AFA19}"/>
              </a:ext>
            </a:extLst>
          </p:cNvPr>
          <p:cNvSpPr/>
          <p:nvPr/>
        </p:nvSpPr>
        <p:spPr>
          <a:xfrm>
            <a:off x="298639" y="3532935"/>
            <a:ext cx="416064" cy="41521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566ADC7-73C4-4E7B-A20E-ED49B53CA103}"/>
              </a:ext>
            </a:extLst>
          </p:cNvPr>
          <p:cNvSpPr/>
          <p:nvPr/>
        </p:nvSpPr>
        <p:spPr>
          <a:xfrm>
            <a:off x="298639" y="4005829"/>
            <a:ext cx="416064" cy="41521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60C2536-EE96-4989-AAA2-83B7499FD36A}"/>
              </a:ext>
            </a:extLst>
          </p:cNvPr>
          <p:cNvSpPr/>
          <p:nvPr/>
        </p:nvSpPr>
        <p:spPr>
          <a:xfrm>
            <a:off x="298639" y="4490626"/>
            <a:ext cx="416064" cy="415212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8FB2C-6913-43CE-A027-F6AF21B041BE}"/>
              </a:ext>
            </a:extLst>
          </p:cNvPr>
          <p:cNvSpPr txBox="1"/>
          <p:nvPr/>
        </p:nvSpPr>
        <p:spPr>
          <a:xfrm>
            <a:off x="758529" y="4493012"/>
            <a:ext cx="111348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/>
              <a:t>기통지한 거절이유에서 선행기술로 인용된 자료가 특허공보와 같이 하나의 기술에 관한 것이거나 여러 </a:t>
            </a:r>
            <a:r>
              <a:rPr lang="ko-KR" altLang="en-US" sz="1400" dirty="0" err="1"/>
              <a:t>실시태양을</a:t>
            </a:r>
            <a:r>
              <a:rPr lang="ko-KR" altLang="en-US" sz="1400" dirty="0"/>
              <a:t> 개시하고 있지만 동일 또는 밀접한 기술사상에 대한 문헌인 경우에는 </a:t>
            </a:r>
            <a:r>
              <a:rPr lang="ko-KR" altLang="en-US" sz="1400" dirty="0">
                <a:solidFill>
                  <a:srgbClr val="FF0000"/>
                </a:solidFill>
              </a:rPr>
              <a:t>그 문헌 전체</a:t>
            </a:r>
            <a:r>
              <a:rPr lang="ko-KR" altLang="en-US" sz="1400" dirty="0"/>
              <a:t>에 대하여 </a:t>
            </a:r>
            <a:r>
              <a:rPr lang="ko-KR" altLang="en-US" sz="1400" dirty="0" err="1"/>
              <a:t>거절이유통지가</a:t>
            </a:r>
            <a:r>
              <a:rPr lang="ko-KR" altLang="en-US" sz="1400" dirty="0"/>
              <a:t> 있었다고 봄이 상당하므로</a:t>
            </a:r>
            <a:r>
              <a:rPr lang="en-US" altLang="ko-KR" sz="1400" dirty="0"/>
              <a:t>, </a:t>
            </a:r>
            <a:r>
              <a:rPr lang="ko-KR" altLang="en-US" sz="1400" dirty="0"/>
              <a:t>추가적인 </a:t>
            </a:r>
            <a:r>
              <a:rPr lang="ko-KR" altLang="en-US" sz="1400" dirty="0" err="1"/>
              <a:t>거절이유통지</a:t>
            </a:r>
            <a:r>
              <a:rPr lang="ko-KR" altLang="en-US" sz="1400" dirty="0"/>
              <a:t> 없이 기통지한 거절이유에서 위 문헌 중 직접 인용하지 않았던 부분을 들어 바로 </a:t>
            </a:r>
            <a:r>
              <a:rPr lang="ko-KR" altLang="en-US" sz="1400" dirty="0" err="1"/>
              <a:t>거절결정할</a:t>
            </a:r>
            <a:r>
              <a:rPr lang="ko-KR" altLang="en-US" sz="1400" dirty="0"/>
              <a:t> 수 있다</a:t>
            </a:r>
            <a:r>
              <a:rPr lang="en-US" altLang="ko-KR" sz="1400" dirty="0"/>
              <a:t>. </a:t>
            </a:r>
            <a:r>
              <a:rPr lang="ko-KR" altLang="en-US" sz="1400" dirty="0"/>
              <a:t>다만</a:t>
            </a:r>
            <a:r>
              <a:rPr lang="en-US" altLang="ko-KR" sz="1400" dirty="0"/>
              <a:t>, </a:t>
            </a:r>
            <a:r>
              <a:rPr lang="ko-KR" altLang="en-US" sz="1400" dirty="0"/>
              <a:t>그 인용된 자료가 서적 등과 같이 방대하거나 여러 개의 기술에 관한 기재가 있는 것인데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거절이유통지에서는</a:t>
            </a:r>
            <a:r>
              <a:rPr lang="ko-KR" altLang="en-US" sz="1400" dirty="0"/>
              <a:t> 그 중 일부 기술만을 사본하여 첨부하거나 적시한 경우라면 인용되지 않은 부분을 새로운 거절이유로 볼 여지가 있으므로</a:t>
            </a:r>
            <a:r>
              <a:rPr lang="en-US" altLang="ko-KR" sz="1400" dirty="0"/>
              <a:t>, </a:t>
            </a:r>
            <a:r>
              <a:rPr lang="ko-KR" altLang="en-US" sz="1400" dirty="0"/>
              <a:t>가급적 다시 거절이유를 통지하여 출원인에게 </a:t>
            </a:r>
            <a:r>
              <a:rPr lang="ko-KR" altLang="en-US" sz="1400" dirty="0" err="1"/>
              <a:t>의견제출할</a:t>
            </a:r>
            <a:r>
              <a:rPr lang="ko-KR" altLang="en-US" sz="1400" dirty="0"/>
              <a:t> 기회를 부여하도록 한다</a:t>
            </a:r>
            <a:r>
              <a:rPr lang="en-US" altLang="ko-KR" sz="1400" dirty="0"/>
              <a:t>(</a:t>
            </a:r>
            <a:r>
              <a:rPr lang="ko-KR" altLang="en-US" sz="1400" dirty="0"/>
              <a:t>특허법원 </a:t>
            </a:r>
            <a:r>
              <a:rPr lang="en-US" altLang="ko-KR" sz="1400" dirty="0"/>
              <a:t>2011. 4. 27. </a:t>
            </a:r>
            <a:r>
              <a:rPr lang="ko-KR" altLang="en-US" sz="1400" dirty="0"/>
              <a:t>선고 </a:t>
            </a:r>
            <a:r>
              <a:rPr lang="en-US" altLang="ko-KR" sz="1400" dirty="0"/>
              <a:t>2010</a:t>
            </a:r>
            <a:r>
              <a:rPr lang="ko-KR" altLang="en-US" sz="1400" dirty="0"/>
              <a:t>허</a:t>
            </a:r>
            <a:r>
              <a:rPr lang="en-US" altLang="ko-KR" sz="1400" dirty="0"/>
              <a:t>2612; 2012. 6. 20. </a:t>
            </a:r>
            <a:r>
              <a:rPr lang="ko-KR" altLang="en-US" sz="1400" dirty="0"/>
              <a:t>선고 </a:t>
            </a:r>
            <a:r>
              <a:rPr lang="en-US" altLang="ko-KR" sz="1400" dirty="0"/>
              <a:t>2011</a:t>
            </a:r>
            <a:r>
              <a:rPr lang="ko-KR" altLang="en-US" sz="1400" dirty="0"/>
              <a:t>허</a:t>
            </a:r>
            <a:r>
              <a:rPr lang="en-US" altLang="ko-KR" sz="1400" dirty="0"/>
              <a:t>10306).</a:t>
            </a:r>
            <a:endParaRPr lang="ko-KR" altLang="en-US" sz="1400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9C3BE4C-6269-4DA1-B498-6257E9661FB2}"/>
              </a:ext>
            </a:extLst>
          </p:cNvPr>
          <p:cNvSpPr/>
          <p:nvPr/>
        </p:nvSpPr>
        <p:spPr>
          <a:xfrm>
            <a:off x="298639" y="5914553"/>
            <a:ext cx="416064" cy="415212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2C8F76C-5DA2-4A0B-B260-2EE529C71750}"/>
              </a:ext>
            </a:extLst>
          </p:cNvPr>
          <p:cNvSpPr/>
          <p:nvPr/>
        </p:nvSpPr>
        <p:spPr>
          <a:xfrm>
            <a:off x="714703" y="5846137"/>
            <a:ext cx="11178658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/>
              <a:t>진보성 위반을 이유로 한 거절이유에 기재된 </a:t>
            </a:r>
            <a:r>
              <a:rPr lang="ko-KR" altLang="en-US" sz="1400" dirty="0">
                <a:solidFill>
                  <a:srgbClr val="FF0000"/>
                </a:solidFill>
              </a:rPr>
              <a:t>주선행발명을 다른 선행발명으로 변경</a:t>
            </a:r>
            <a:r>
              <a:rPr lang="ko-KR" altLang="en-US" sz="1400" dirty="0"/>
              <a:t>하는 경우에는</a:t>
            </a:r>
            <a:r>
              <a:rPr lang="en-US" altLang="ko-KR" sz="1400" dirty="0"/>
              <a:t>, </a:t>
            </a:r>
            <a:r>
              <a:rPr lang="ko-KR" altLang="en-US" sz="1400" dirty="0"/>
              <a:t>일반적으로 출원발명과의 공통점 및 차이점의 인정과 그러한 차이점을 극복하여 출원발명을 쉽게 발명할 수 있는지에 대한 판단 내용이 달라지므로</a:t>
            </a:r>
            <a:r>
              <a:rPr lang="en-US" altLang="ko-KR" sz="1400" dirty="0"/>
              <a:t>, </a:t>
            </a:r>
            <a:r>
              <a:rPr lang="ko-KR" altLang="en-US" sz="1400" dirty="0"/>
              <a:t>출원인에게 이에 대해 실질적으로 의견제출의 기회가 주어졌다고 볼 수 있는 등의 특별한 사정이 없는 한 이미 통지된 거절이유와 주요한 취지가 부합하지 아니하는 새로운 거절이유에 해당한다</a:t>
            </a:r>
            <a:r>
              <a:rPr lang="en-US" altLang="ko-KR" sz="1400" dirty="0"/>
              <a:t>(</a:t>
            </a:r>
            <a:r>
              <a:rPr lang="ko-KR" altLang="en-US" sz="1400" dirty="0"/>
              <a:t>대법원 </a:t>
            </a:r>
            <a:r>
              <a:rPr lang="en-US" altLang="ko-KR" sz="1400" dirty="0"/>
              <a:t>2019. 10. 31. </a:t>
            </a:r>
            <a:r>
              <a:rPr lang="ko-KR" altLang="en-US" sz="1400" dirty="0"/>
              <a:t>선고 </a:t>
            </a:r>
            <a:r>
              <a:rPr lang="en-US" altLang="ko-KR" sz="1400" dirty="0"/>
              <a:t>2015</a:t>
            </a:r>
            <a:r>
              <a:rPr lang="ko-KR" altLang="en-US" sz="1400" dirty="0"/>
              <a:t>후</a:t>
            </a:r>
            <a:r>
              <a:rPr lang="en-US" altLang="ko-KR" sz="1400" dirty="0"/>
              <a:t>2341).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7C339C-C135-42CB-90BC-2B726740C48E}"/>
              </a:ext>
            </a:extLst>
          </p:cNvPr>
          <p:cNvSpPr txBox="1"/>
          <p:nvPr/>
        </p:nvSpPr>
        <p:spPr>
          <a:xfrm>
            <a:off x="2199521" y="2497696"/>
            <a:ext cx="1018227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FF00"/>
                </a:solidFill>
              </a:rPr>
              <a:t>거절이유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53421-819F-40DF-817B-6FA0AA693595}"/>
              </a:ext>
            </a:extLst>
          </p:cNvPr>
          <p:cNvSpPr txBox="1"/>
          <p:nvPr/>
        </p:nvSpPr>
        <p:spPr>
          <a:xfrm>
            <a:off x="8470432" y="2497696"/>
            <a:ext cx="170751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FF00"/>
                </a:solidFill>
              </a:rPr>
              <a:t>거절결정의 이유</a:t>
            </a:r>
          </a:p>
        </p:txBody>
      </p:sp>
    </p:spTree>
    <p:extLst>
      <p:ext uri="{BB962C8B-B14F-4D97-AF65-F5344CB8AC3E}">
        <p14:creationId xmlns:p14="http://schemas.microsoft.com/office/powerpoint/2010/main" val="3212454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 err="1">
                <a:solidFill>
                  <a:srgbClr val="525252"/>
                </a:solidFill>
              </a:rPr>
              <a:t>거절이유통지의</a:t>
            </a:r>
            <a:r>
              <a:rPr lang="ko-KR" altLang="en-US" dirty="0">
                <a:solidFill>
                  <a:srgbClr val="525252"/>
                </a:solidFill>
              </a:rPr>
              <a:t> 적법성 판단 </a:t>
            </a:r>
            <a:r>
              <a:rPr lang="en-US" altLang="ko-KR" dirty="0">
                <a:solidFill>
                  <a:srgbClr val="525252"/>
                </a:solidFill>
              </a:rPr>
              <a:t>CASE</a:t>
            </a:r>
            <a:endParaRPr lang="ko-KR" altLang="en-US" dirty="0">
              <a:solidFill>
                <a:srgbClr val="525252"/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4294967295"/>
          </p:nvPr>
        </p:nvSpPr>
        <p:spPr>
          <a:xfrm>
            <a:off x="11144250" y="3175"/>
            <a:ext cx="1047750" cy="714375"/>
          </a:xfrm>
        </p:spPr>
        <p:txBody>
          <a:bodyPr/>
          <a:lstStyle/>
          <a:p>
            <a:r>
              <a:rPr lang="en-US" altLang="ko-KR" dirty="0"/>
              <a:t>258</a:t>
            </a:r>
            <a:endParaRPr lang="ko-KR" altLang="en-US"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7875" y="986046"/>
            <a:ext cx="119363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심사관은 거절이유통지에 따라 제출된 </a:t>
            </a:r>
            <a:r>
              <a:rPr lang="ko-KR" altLang="en-US" sz="1400" dirty="0" err="1">
                <a:solidFill>
                  <a:schemeClr val="tx2"/>
                </a:solidFill>
              </a:rPr>
              <a:t>의견서ㆍ보정서에</a:t>
            </a:r>
            <a:r>
              <a:rPr lang="ko-KR" altLang="en-US" sz="1400" dirty="0">
                <a:solidFill>
                  <a:schemeClr val="tx2"/>
                </a:solidFill>
              </a:rPr>
              <a:t> 의해서도 이미 통지한 거절이유가 해소되지 아니하고 동일한 경우에는 다른 거절이유가 있더라도 다시 거절이유를 통지하지 아니하고 특허거절결정을 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「이미 통지한 거절이유와 동일한 </a:t>
            </a:r>
            <a:r>
              <a:rPr lang="ko-KR" altLang="en-US" sz="1400" dirty="0" err="1">
                <a:solidFill>
                  <a:schemeClr val="tx2"/>
                </a:solidFill>
              </a:rPr>
              <a:t>경우」란</a:t>
            </a:r>
            <a:r>
              <a:rPr lang="ko-KR" altLang="en-US" sz="1400" dirty="0">
                <a:solidFill>
                  <a:schemeClr val="tx2"/>
                </a:solidFill>
              </a:rPr>
              <a:t> 해당 거절결정의 이유가 앞서 통지된 거절이유통지에서 지적한 거절이유와 주지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主旨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에 있어서 부합되는 경우를 말하는 것으로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주지가 부합되는지 여부는 일부의 문구나 표현에 구애되어서는 아니 되고 </a:t>
            </a:r>
            <a:r>
              <a:rPr lang="ko-KR" altLang="en-US" sz="1400" dirty="0" err="1">
                <a:solidFill>
                  <a:schemeClr val="tx2"/>
                </a:solidFill>
              </a:rPr>
              <a:t>출원인에게</a:t>
            </a:r>
            <a:r>
              <a:rPr lang="ko-KR" altLang="en-US" sz="1400" dirty="0">
                <a:solidFill>
                  <a:schemeClr val="tx2"/>
                </a:solidFill>
              </a:rPr>
              <a:t> 의견을 제출할 기회가 실질적으로 부여되었는지 여부의 관점에서 평가되어야 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구체적으로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우선 법조문을 달리 한다면 거절이유를 달리 하며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법조문을 같이 하더라도 사실을 달리 한다면 거절이유를 달리 한다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.</a:t>
            </a:r>
          </a:p>
        </p:txBody>
      </p:sp>
      <p:cxnSp>
        <p:nvCxnSpPr>
          <p:cNvPr id="56" name="직선 연결선 55"/>
          <p:cNvCxnSpPr/>
          <p:nvPr/>
        </p:nvCxnSpPr>
        <p:spPr>
          <a:xfrm>
            <a:off x="0" y="2142051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그룹 6">
            <a:extLst>
              <a:ext uri="{FF2B5EF4-FFF2-40B4-BE49-F238E27FC236}">
                <a16:creationId xmlns:a16="http://schemas.microsoft.com/office/drawing/2014/main" id="{B1799F66-476C-40A5-8BC5-E124759A3707}"/>
              </a:ext>
            </a:extLst>
          </p:cNvPr>
          <p:cNvGrpSpPr/>
          <p:nvPr/>
        </p:nvGrpSpPr>
        <p:grpSpPr>
          <a:xfrm>
            <a:off x="184731" y="3585267"/>
            <a:ext cx="3926441" cy="2948318"/>
            <a:chOff x="184731" y="3431910"/>
            <a:chExt cx="3926441" cy="3231065"/>
          </a:xfrm>
        </p:grpSpPr>
        <p:sp>
          <p:nvSpPr>
            <p:cNvPr id="40" name="다이아몬드 39"/>
            <p:cNvSpPr/>
            <p:nvPr/>
          </p:nvSpPr>
          <p:spPr>
            <a:xfrm>
              <a:off x="2719211" y="3902817"/>
              <a:ext cx="1391961" cy="589859"/>
            </a:xfrm>
            <a:prstGeom prst="diamond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법조문 </a:t>
              </a:r>
              <a:endParaRPr lang="en-US" altLang="ko-KR" sz="14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동일</a:t>
              </a:r>
            </a:p>
          </p:txBody>
        </p:sp>
        <p:sp>
          <p:nvSpPr>
            <p:cNvPr id="41" name="다이아몬드 40"/>
            <p:cNvSpPr/>
            <p:nvPr/>
          </p:nvSpPr>
          <p:spPr>
            <a:xfrm>
              <a:off x="2719211" y="5103800"/>
              <a:ext cx="1391961" cy="589859"/>
            </a:xfrm>
            <a:prstGeom prst="diamond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사실 </a:t>
              </a:r>
              <a:endParaRPr lang="en-US" altLang="ko-KR" sz="14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동일</a:t>
              </a: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623838" y="3982181"/>
              <a:ext cx="1129102" cy="44617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다른 </a:t>
              </a:r>
              <a:endParaRPr lang="en-US" altLang="ko-KR" sz="14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거절이유</a:t>
              </a:r>
            </a:p>
          </p:txBody>
        </p:sp>
        <p:cxnSp>
          <p:nvCxnSpPr>
            <p:cNvPr id="44" name="직선 화살표 연결선 43"/>
            <p:cNvCxnSpPr>
              <a:stCxn id="40" idx="1"/>
              <a:endCxn id="42" idx="3"/>
            </p:cNvCxnSpPr>
            <p:nvPr/>
          </p:nvCxnSpPr>
          <p:spPr>
            <a:xfrm flipH="1">
              <a:off x="1752940" y="4197747"/>
              <a:ext cx="966271" cy="7522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직사각형 45"/>
            <p:cNvSpPr/>
            <p:nvPr/>
          </p:nvSpPr>
          <p:spPr>
            <a:xfrm>
              <a:off x="2850637" y="6182711"/>
              <a:ext cx="1129102" cy="48026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동일한 </a:t>
              </a:r>
              <a:endParaRPr lang="en-US" altLang="ko-KR" sz="1400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거절이유</a:t>
              </a:r>
            </a:p>
          </p:txBody>
        </p:sp>
        <p:cxnSp>
          <p:nvCxnSpPr>
            <p:cNvPr id="49" name="직선 화살표 연결선 48"/>
            <p:cNvCxnSpPr>
              <a:stCxn id="40" idx="2"/>
              <a:endCxn id="41" idx="0"/>
            </p:cNvCxnSpPr>
            <p:nvPr/>
          </p:nvCxnSpPr>
          <p:spPr>
            <a:xfrm>
              <a:off x="3415192" y="4492676"/>
              <a:ext cx="0" cy="611124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/>
            <p:cNvCxnSpPr>
              <a:stCxn id="41" idx="2"/>
              <a:endCxn id="46" idx="0"/>
            </p:cNvCxnSpPr>
            <p:nvPr/>
          </p:nvCxnSpPr>
          <p:spPr>
            <a:xfrm flipH="1">
              <a:off x="3415188" y="5693659"/>
              <a:ext cx="4" cy="489052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/>
          </p:nvSpPr>
          <p:spPr>
            <a:xfrm>
              <a:off x="3418180" y="4492671"/>
              <a:ext cx="53468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dirty="0"/>
                <a:t>Yes</a:t>
              </a:r>
              <a:endParaRPr lang="ko-KR" altLang="en-US" sz="1100" dirty="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3418180" y="5697348"/>
              <a:ext cx="4616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dirty="0"/>
                <a:t>Yes</a:t>
              </a:r>
              <a:endParaRPr lang="ko-KR" altLang="en-US" sz="1100" dirty="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358192" y="3985441"/>
              <a:ext cx="48389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dirty="0"/>
                <a:t>No</a:t>
              </a:r>
              <a:endParaRPr lang="ko-KR" altLang="en-US" sz="1100" dirty="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342750" y="5147890"/>
              <a:ext cx="40765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dirty="0"/>
                <a:t>No</a:t>
              </a:r>
              <a:endParaRPr lang="ko-KR" altLang="en-US" sz="1100" dirty="0"/>
            </a:p>
          </p:txBody>
        </p:sp>
        <p:cxnSp>
          <p:nvCxnSpPr>
            <p:cNvPr id="6" name="꺾인 연결선 5"/>
            <p:cNvCxnSpPr>
              <a:stCxn id="41" idx="1"/>
              <a:endCxn id="42" idx="2"/>
            </p:cNvCxnSpPr>
            <p:nvPr/>
          </p:nvCxnSpPr>
          <p:spPr>
            <a:xfrm rot="10800000">
              <a:off x="1188389" y="4428358"/>
              <a:ext cx="1530822" cy="970373"/>
            </a:xfrm>
            <a:prstGeom prst="bentConnector2">
              <a:avLst/>
            </a:prstGeom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모서리가 둥근 사각형 설명선 16"/>
            <p:cNvSpPr/>
            <p:nvPr/>
          </p:nvSpPr>
          <p:spPr>
            <a:xfrm>
              <a:off x="1752940" y="3431910"/>
              <a:ext cx="2058484" cy="291312"/>
            </a:xfrm>
            <a:prstGeom prst="wedgeRoundRectCallout">
              <a:avLst>
                <a:gd name="adj1" fmla="val -12945"/>
                <a:gd name="adj2" fmla="val 142573"/>
                <a:gd name="adj3" fmla="val 16667"/>
              </a:avLst>
            </a:prstGeom>
            <a:noFill/>
            <a:ln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>
                  <a:solidFill>
                    <a:schemeClr val="tx1"/>
                  </a:solidFill>
                </a:rPr>
                <a:t>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29</a:t>
              </a:r>
              <a:r>
                <a:rPr lang="ko-KR" altLang="en-US" sz="1050" dirty="0">
                  <a:solidFill>
                    <a:schemeClr val="tx1"/>
                  </a:solidFill>
                </a:rPr>
                <a:t>조제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1</a:t>
              </a:r>
              <a:r>
                <a:rPr lang="ko-KR" altLang="en-US" sz="1050" dirty="0">
                  <a:solidFill>
                    <a:schemeClr val="tx1"/>
                  </a:solidFill>
                </a:rPr>
                <a:t>항 </a:t>
              </a:r>
              <a:r>
                <a:rPr lang="en-US" altLang="ko-KR" sz="1050" dirty="0">
                  <a:solidFill>
                    <a:schemeClr val="tx1"/>
                  </a:solidFill>
                </a:rPr>
                <a:t>vs </a:t>
              </a:r>
              <a:r>
                <a:rPr lang="ko-KR" altLang="en-US" sz="1050" dirty="0">
                  <a:solidFill>
                    <a:schemeClr val="tx1"/>
                  </a:solidFill>
                </a:rPr>
                <a:t>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29</a:t>
              </a:r>
              <a:r>
                <a:rPr lang="ko-KR" altLang="en-US" sz="1050" dirty="0">
                  <a:solidFill>
                    <a:schemeClr val="tx1"/>
                  </a:solidFill>
                </a:rPr>
                <a:t>조제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2</a:t>
              </a:r>
              <a:r>
                <a:rPr lang="ko-KR" altLang="en-US" sz="1050" dirty="0">
                  <a:solidFill>
                    <a:schemeClr val="tx1"/>
                  </a:solidFill>
                </a:rPr>
                <a:t>항</a:t>
              </a:r>
            </a:p>
          </p:txBody>
        </p:sp>
        <p:sp>
          <p:nvSpPr>
            <p:cNvPr id="68" name="모서리가 둥근 사각형 설명선 67"/>
            <p:cNvSpPr/>
            <p:nvPr/>
          </p:nvSpPr>
          <p:spPr>
            <a:xfrm>
              <a:off x="184731" y="5693659"/>
              <a:ext cx="2665906" cy="489052"/>
            </a:xfrm>
            <a:prstGeom prst="wedgeRoundRectCallout">
              <a:avLst>
                <a:gd name="adj1" fmla="val 35460"/>
                <a:gd name="adj2" fmla="val -120837"/>
                <a:gd name="adj3" fmla="val 16667"/>
              </a:avLst>
            </a:prstGeom>
            <a:noFill/>
            <a:ln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>
                  <a:solidFill>
                    <a:schemeClr val="tx1"/>
                  </a:solidFill>
                </a:rPr>
                <a:t>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29</a:t>
              </a:r>
              <a:r>
                <a:rPr lang="ko-KR" altLang="en-US" sz="1050" dirty="0">
                  <a:solidFill>
                    <a:schemeClr val="tx1"/>
                  </a:solidFill>
                </a:rPr>
                <a:t>조제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1</a:t>
              </a:r>
              <a:r>
                <a:rPr lang="ko-KR" altLang="en-US" sz="1050" dirty="0">
                  <a:solidFill>
                    <a:schemeClr val="tx1"/>
                  </a:solidFill>
                </a:rPr>
                <a:t>항 </a:t>
              </a:r>
              <a:r>
                <a:rPr lang="en-US" altLang="ko-KR" sz="1050" dirty="0">
                  <a:solidFill>
                    <a:schemeClr val="tx1"/>
                  </a:solidFill>
                </a:rPr>
                <a:t>by </a:t>
              </a:r>
              <a:r>
                <a:rPr lang="ko-KR" altLang="en-US" sz="1050" dirty="0" err="1">
                  <a:solidFill>
                    <a:schemeClr val="tx1"/>
                  </a:solidFill>
                </a:rPr>
                <a:t>공지기술</a:t>
              </a:r>
              <a:r>
                <a:rPr lang="ko-KR" altLang="en-US" sz="1050" dirty="0">
                  <a:solidFill>
                    <a:schemeClr val="tx1"/>
                  </a:solidFill>
                </a:rPr>
                <a:t> </a:t>
              </a:r>
              <a:r>
                <a:rPr lang="en-US" altLang="ko-KR" sz="1050" dirty="0">
                  <a:solidFill>
                    <a:schemeClr val="tx1"/>
                  </a:solidFill>
                </a:rPr>
                <a:t>A</a:t>
              </a:r>
              <a:r>
                <a:rPr lang="ko-KR" altLang="en-US" sz="1050" dirty="0">
                  <a:solidFill>
                    <a:schemeClr val="tx1"/>
                  </a:solidFill>
                </a:rPr>
                <a:t> </a:t>
              </a:r>
              <a:endParaRPr lang="en-US" altLang="ko-KR" sz="1050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1050" dirty="0">
                  <a:solidFill>
                    <a:schemeClr val="tx1"/>
                  </a:solidFill>
                </a:rPr>
                <a:t>vs </a:t>
              </a:r>
              <a:r>
                <a:rPr lang="ko-KR" altLang="en-US" sz="1050" dirty="0">
                  <a:solidFill>
                    <a:schemeClr val="tx1"/>
                  </a:solidFill>
                </a:rPr>
                <a:t>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29</a:t>
              </a:r>
              <a:r>
                <a:rPr lang="ko-KR" altLang="en-US" sz="1050" dirty="0">
                  <a:solidFill>
                    <a:schemeClr val="tx1"/>
                  </a:solidFill>
                </a:rPr>
                <a:t>조제</a:t>
              </a:r>
              <a:r>
                <a:rPr lang="en-US" altLang="ko-KR" sz="1050" dirty="0">
                  <a:solidFill>
                    <a:schemeClr val="tx1"/>
                  </a:solidFill>
                </a:rPr>
                <a:t>1</a:t>
              </a:r>
              <a:r>
                <a:rPr lang="ko-KR" altLang="en-US" sz="1050" dirty="0">
                  <a:solidFill>
                    <a:schemeClr val="tx1"/>
                  </a:solidFill>
                </a:rPr>
                <a:t>항 </a:t>
              </a:r>
              <a:r>
                <a:rPr lang="en-US" altLang="ko-KR" sz="1050" dirty="0">
                  <a:solidFill>
                    <a:schemeClr val="tx1"/>
                  </a:solidFill>
                </a:rPr>
                <a:t>by </a:t>
              </a:r>
              <a:r>
                <a:rPr lang="ko-KR" altLang="en-US" sz="1050" dirty="0" err="1">
                  <a:solidFill>
                    <a:schemeClr val="tx1"/>
                  </a:solidFill>
                </a:rPr>
                <a:t>공지기술</a:t>
              </a:r>
              <a:r>
                <a:rPr lang="ko-KR" altLang="en-US" sz="1050" dirty="0">
                  <a:solidFill>
                    <a:schemeClr val="tx1"/>
                  </a:solidFill>
                </a:rPr>
                <a:t> </a:t>
              </a:r>
              <a:r>
                <a:rPr lang="en-US" altLang="ko-KR" sz="1050" dirty="0">
                  <a:solidFill>
                    <a:schemeClr val="tx1"/>
                  </a:solidFill>
                </a:rPr>
                <a:t>B</a:t>
              </a:r>
              <a:endParaRPr lang="ko-KR" altLang="en-US" sz="105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74" name="직선 연결선 73"/>
          <p:cNvCxnSpPr>
            <a:cxnSpLocks/>
          </p:cNvCxnSpPr>
          <p:nvPr/>
        </p:nvCxnSpPr>
        <p:spPr>
          <a:xfrm flipV="1">
            <a:off x="4672859" y="3416065"/>
            <a:ext cx="0" cy="3163395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099090"/>
              </p:ext>
            </p:extLst>
          </p:nvPr>
        </p:nvGraphicFramePr>
        <p:xfrm>
          <a:off x="5085393" y="3533511"/>
          <a:ext cx="6793172" cy="3012736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3643455">
                  <a:extLst>
                    <a:ext uri="{9D8B030D-6E8A-4147-A177-3AD203B41FA5}">
                      <a16:colId xmlns:a16="http://schemas.microsoft.com/office/drawing/2014/main" val="2363782007"/>
                    </a:ext>
                  </a:extLst>
                </a:gridCol>
                <a:gridCol w="3149717">
                  <a:extLst>
                    <a:ext uri="{9D8B030D-6E8A-4147-A177-3AD203B41FA5}">
                      <a16:colId xmlns:a16="http://schemas.microsoft.com/office/drawing/2014/main" val="257762263"/>
                    </a:ext>
                  </a:extLst>
                </a:gridCol>
              </a:tblGrid>
              <a:tr h="10001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50" kern="1200" dirty="0"/>
                        <a:t>구체적 예</a:t>
                      </a:r>
                      <a:endParaRPr lang="ko-KR" altLang="en-US" sz="11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15903" marB="15903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50" kern="1200" dirty="0"/>
                        <a:t>설 명</a:t>
                      </a:r>
                      <a:endParaRPr lang="ko-KR" altLang="en-US" sz="11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15903" marB="15903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617664"/>
                  </a:ext>
                </a:extLst>
              </a:tr>
              <a:tr h="706667"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50" kern="1200" dirty="0" err="1"/>
                        <a:t>청구항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 : A+B</a:t>
                      </a:r>
                      <a:r>
                        <a:rPr lang="ko-KR" altLang="en-US" sz="1150" kern="1200" dirty="0"/>
                        <a:t>로 이루어진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/>
                        <a:t>최후거절이유통지</a:t>
                      </a:r>
                      <a:r>
                        <a:rPr lang="en-US" altLang="ko-KR" sz="1150" kern="1200" dirty="0"/>
                        <a:t>】</a:t>
                      </a:r>
                      <a:r>
                        <a:rPr lang="ko-KR" altLang="en-US" sz="1150" kern="1200" dirty="0" err="1"/>
                        <a:t>청구항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이 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에 의하여 진보성 없음</a:t>
                      </a:r>
                      <a:r>
                        <a:rPr lang="en-US" altLang="ko-KR" sz="1150" kern="1200" dirty="0"/>
                        <a:t>.</a:t>
                      </a:r>
                      <a:endParaRPr lang="ko-KR" altLang="en-US" sz="1150" kern="1200" dirty="0"/>
                    </a:p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 err="1"/>
                        <a:t>최후보정</a:t>
                      </a:r>
                      <a:r>
                        <a:rPr lang="ko-KR" altLang="en-US" sz="1150" kern="1200" dirty="0"/>
                        <a:t> 후의 명세서</a:t>
                      </a:r>
                      <a:r>
                        <a:rPr lang="en-US" altLang="ko-KR" sz="1150" kern="1200" dirty="0"/>
                        <a:t>】</a:t>
                      </a:r>
                      <a:endParaRPr lang="ko-KR" altLang="en-US" sz="1150" kern="1200" dirty="0"/>
                    </a:p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50" kern="1200" dirty="0" err="1"/>
                        <a:t>청구항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 : A+B+C</a:t>
                      </a:r>
                      <a:r>
                        <a:rPr lang="ko-KR" altLang="en-US" sz="1150" kern="1200" dirty="0"/>
                        <a:t>로 이루어진 장치</a:t>
                      </a:r>
                      <a:r>
                        <a:rPr lang="en-US" altLang="ko-KR" sz="1150" kern="1200" dirty="0"/>
                        <a:t>(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에 대해서는 진보성이 인정되나 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 </a:t>
                      </a:r>
                      <a:r>
                        <a:rPr lang="ko-KR" altLang="en-US" sz="1150" kern="1200" dirty="0"/>
                        <a:t>및 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2</a:t>
                      </a:r>
                      <a:r>
                        <a:rPr lang="ko-KR" altLang="en-US" sz="1150" kern="1200" dirty="0"/>
                        <a:t>에 의하여 진보성 없음</a:t>
                      </a:r>
                      <a:r>
                        <a:rPr lang="en-US" altLang="ko-KR" sz="1150" kern="1200" dirty="0"/>
                        <a:t>. 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2</a:t>
                      </a:r>
                      <a:r>
                        <a:rPr lang="ko-KR" altLang="en-US" sz="1150" kern="1200" dirty="0"/>
                        <a:t>는 </a:t>
                      </a:r>
                      <a:r>
                        <a:rPr lang="en-US" altLang="ko-KR" sz="1150" kern="1200" dirty="0"/>
                        <a:t>C</a:t>
                      </a:r>
                      <a:r>
                        <a:rPr lang="ko-KR" altLang="en-US" sz="1150" kern="1200" dirty="0"/>
                        <a:t>의 부가로 인해 추가로 필요</a:t>
                      </a:r>
                      <a:r>
                        <a:rPr lang="en-US" altLang="ko-KR" sz="1150" kern="1200" dirty="0"/>
                        <a:t>)</a:t>
                      </a:r>
                      <a:endParaRPr lang="ko-KR" altLang="en-US" sz="11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15903" marB="15903" anchor="ctr"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 err="1"/>
                        <a:t>보정각하</a:t>
                      </a:r>
                      <a:r>
                        <a:rPr lang="en-US" altLang="ko-KR" sz="1150" kern="1200" dirty="0"/>
                        <a:t>】</a:t>
                      </a:r>
                      <a:r>
                        <a:rPr lang="ko-KR" altLang="en-US" sz="1150" kern="1200" dirty="0" err="1"/>
                        <a:t>청구항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의 보정에 따라 보정 전에 없던 새로운 거절이유가 발생하였기 때문에 </a:t>
                      </a:r>
                      <a:r>
                        <a:rPr lang="ko-KR" altLang="en-US" sz="1150" kern="1200" dirty="0" err="1"/>
                        <a:t>보정각하함</a:t>
                      </a:r>
                      <a:r>
                        <a:rPr lang="en-US" altLang="ko-KR" sz="1150" kern="1200" dirty="0"/>
                        <a:t>.</a:t>
                      </a:r>
                      <a:endParaRPr lang="ko-KR" altLang="en-US" sz="1150" kern="1200" dirty="0"/>
                    </a:p>
                    <a:p>
                      <a:pPr marL="17780" marR="17780" indent="0" algn="just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/>
                        <a:t>특허거절결정</a:t>
                      </a:r>
                      <a:r>
                        <a:rPr lang="en-US" altLang="ko-KR" sz="1150" kern="1200" dirty="0"/>
                        <a:t>】</a:t>
                      </a:r>
                      <a:r>
                        <a:rPr lang="ko-KR" altLang="en-US" sz="1150" kern="1200" dirty="0" err="1"/>
                        <a:t>청구항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1(A+B)</a:t>
                      </a:r>
                      <a:r>
                        <a:rPr lang="ko-KR" altLang="en-US" sz="1150" kern="1200" dirty="0"/>
                        <a:t>은 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에 의하여 진보성이 없으므로 특허거절결정함</a:t>
                      </a:r>
                      <a:r>
                        <a:rPr lang="en-US" altLang="ko-KR" sz="1150" kern="1200" dirty="0"/>
                        <a:t>.</a:t>
                      </a:r>
                      <a:endParaRPr lang="ko-KR" altLang="en-US" sz="11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15903" marB="15903" anchor="ctr"/>
                </a:tc>
                <a:extLst>
                  <a:ext uri="{0D108BD9-81ED-4DB2-BD59-A6C34878D82A}">
                    <a16:rowId xmlns:a16="http://schemas.microsoft.com/office/drawing/2014/main" val="481683276"/>
                  </a:ext>
                </a:extLst>
              </a:tr>
              <a:tr h="531777"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50" kern="1200" dirty="0"/>
                        <a:t>청구항 </a:t>
                      </a:r>
                      <a:r>
                        <a:rPr lang="en-US" altLang="ko-KR" sz="1150" kern="1200" dirty="0"/>
                        <a:t>1 : A</a:t>
                      </a:r>
                      <a:r>
                        <a:rPr lang="ko-KR" altLang="en-US" sz="1150" kern="1200" dirty="0"/>
                        <a:t>로 이루어진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 err="1"/>
                        <a:t>최후거절이유통지</a:t>
                      </a:r>
                      <a:r>
                        <a:rPr lang="en-US" altLang="ko-KR" sz="1150" kern="1200" dirty="0"/>
                        <a:t>】</a:t>
                      </a:r>
                      <a:r>
                        <a:rPr lang="ko-KR" altLang="en-US" sz="1150" kern="1200" dirty="0"/>
                        <a:t>청구항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이 </a:t>
                      </a:r>
                      <a:r>
                        <a:rPr lang="ko-KR" altLang="en-US" sz="1150" kern="1200" dirty="0">
                          <a:highlight>
                            <a:srgbClr val="FFFF00"/>
                          </a:highlight>
                        </a:rPr>
                        <a:t>인용대상 </a:t>
                      </a:r>
                      <a:r>
                        <a:rPr lang="en-US" altLang="ko-KR" sz="1150" kern="1200" dirty="0">
                          <a:highlight>
                            <a:srgbClr val="FFFF00"/>
                          </a:highlight>
                        </a:rPr>
                        <a:t>1</a:t>
                      </a:r>
                      <a:r>
                        <a:rPr lang="ko-KR" altLang="en-US" sz="1150" kern="1200" dirty="0"/>
                        <a:t>에 의하여 진보성 없음</a:t>
                      </a:r>
                      <a:r>
                        <a:rPr lang="en-US" altLang="ko-KR" sz="1150" kern="1200" dirty="0"/>
                        <a:t>.</a:t>
                      </a:r>
                      <a:endParaRPr lang="ko-KR" altLang="en-US" sz="1150" kern="1200" dirty="0"/>
                    </a:p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/>
                        <a:t>최후보정 후의 명세서</a:t>
                      </a:r>
                      <a:r>
                        <a:rPr lang="en-US" altLang="ko-KR" sz="1150" kern="1200" dirty="0"/>
                        <a:t>】</a:t>
                      </a:r>
                      <a:endParaRPr lang="ko-KR" altLang="en-US" sz="1150" kern="1200" dirty="0"/>
                    </a:p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50" kern="1200" dirty="0"/>
                        <a:t>청구항 </a:t>
                      </a:r>
                      <a:r>
                        <a:rPr lang="en-US" altLang="ko-KR" sz="1150" kern="1200" dirty="0"/>
                        <a:t>1 : A+B</a:t>
                      </a:r>
                      <a:r>
                        <a:rPr lang="ko-KR" altLang="en-US" sz="1150" kern="1200" dirty="0"/>
                        <a:t>로 이루어진 장치</a:t>
                      </a:r>
                      <a:r>
                        <a:rPr lang="en-US" altLang="ko-KR" sz="1150" kern="1200" dirty="0"/>
                        <a:t>(</a:t>
                      </a:r>
                      <a:r>
                        <a:rPr lang="ko-KR" altLang="en-US" sz="1150" kern="1200" dirty="0">
                          <a:highlight>
                            <a:srgbClr val="FFFF00"/>
                          </a:highlight>
                        </a:rPr>
                        <a:t>인용대상 </a:t>
                      </a:r>
                      <a:r>
                        <a:rPr lang="en-US" altLang="ko-KR" sz="1150" kern="1200" dirty="0">
                          <a:highlight>
                            <a:srgbClr val="FFFF00"/>
                          </a:highlight>
                        </a:rPr>
                        <a:t>1</a:t>
                      </a:r>
                      <a:r>
                        <a:rPr lang="ko-KR" altLang="en-US" sz="1150" kern="1200" dirty="0">
                          <a:highlight>
                            <a:srgbClr val="FFFF00"/>
                          </a:highlight>
                        </a:rPr>
                        <a:t>에 </a:t>
                      </a:r>
                      <a:r>
                        <a:rPr lang="en-US" altLang="ko-KR" sz="1150" kern="1200" dirty="0">
                          <a:highlight>
                            <a:srgbClr val="FFFF00"/>
                          </a:highlight>
                        </a:rPr>
                        <a:t>B</a:t>
                      </a:r>
                      <a:r>
                        <a:rPr lang="ko-KR" altLang="en-US" sz="1150" kern="1200" dirty="0">
                          <a:highlight>
                            <a:srgbClr val="FFFF00"/>
                          </a:highlight>
                        </a:rPr>
                        <a:t>도 개시되어 있어 여전히 진보성이 부정됨</a:t>
                      </a:r>
                      <a:r>
                        <a:rPr lang="en-US" altLang="ko-KR" sz="1150" kern="1200" dirty="0"/>
                        <a:t>)</a:t>
                      </a:r>
                      <a:endParaRPr lang="ko-KR" altLang="en-US" sz="11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15903" marB="15903" anchor="ctr"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 err="1"/>
                        <a:t>보정인정</a:t>
                      </a:r>
                      <a:r>
                        <a:rPr lang="en-US" altLang="ko-KR" sz="1150" kern="1200" dirty="0"/>
                        <a:t>】</a:t>
                      </a:r>
                      <a:r>
                        <a:rPr lang="ko-KR" altLang="en-US" sz="1150" kern="1200" dirty="0" err="1"/>
                        <a:t>청구항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에 기재된 발명이 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로부터 진보성이 부정된다는 </a:t>
                      </a:r>
                      <a:r>
                        <a:rPr lang="ko-KR" altLang="en-US" sz="1150" kern="1200" dirty="0" err="1"/>
                        <a:t>거절이유는</a:t>
                      </a:r>
                      <a:r>
                        <a:rPr lang="ko-KR" altLang="en-US" sz="1150" kern="1200" dirty="0"/>
                        <a:t> 기 통지되었던 </a:t>
                      </a:r>
                      <a:r>
                        <a:rPr lang="ko-KR" altLang="en-US" sz="1150" kern="1200" dirty="0" err="1"/>
                        <a:t>거절이유이므로</a:t>
                      </a:r>
                      <a:r>
                        <a:rPr lang="ko-KR" altLang="en-US" sz="1150" kern="1200" dirty="0"/>
                        <a:t> 보정에 따라 새로운 거절이유가 발생하지 아니하여 보정 인정함</a:t>
                      </a:r>
                      <a:r>
                        <a:rPr lang="en-US" altLang="ko-KR" sz="1150" kern="1200" dirty="0"/>
                        <a:t>.</a:t>
                      </a:r>
                      <a:endParaRPr lang="ko-KR" altLang="en-US" sz="1150" kern="1200" dirty="0"/>
                    </a:p>
                    <a:p>
                      <a:pPr marL="17780" marR="17780" indent="0" algn="just" fontAlgn="base" latinLnBrk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50" kern="1200" dirty="0"/>
                        <a:t>【</a:t>
                      </a:r>
                      <a:r>
                        <a:rPr lang="ko-KR" altLang="en-US" sz="1150" kern="1200" dirty="0"/>
                        <a:t>특허거절결정</a:t>
                      </a:r>
                      <a:r>
                        <a:rPr lang="en-US" altLang="ko-KR" sz="1150" kern="1200" dirty="0"/>
                        <a:t>】</a:t>
                      </a:r>
                      <a:r>
                        <a:rPr lang="ko-KR" altLang="en-US" sz="1150" kern="1200" dirty="0" err="1"/>
                        <a:t>청구항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1(A+B)</a:t>
                      </a:r>
                      <a:r>
                        <a:rPr lang="ko-KR" altLang="en-US" sz="1150" kern="1200" dirty="0"/>
                        <a:t>은 </a:t>
                      </a:r>
                      <a:r>
                        <a:rPr lang="ko-KR" altLang="en-US" sz="1150" kern="1200" dirty="0" err="1"/>
                        <a:t>인용대상</a:t>
                      </a:r>
                      <a:r>
                        <a:rPr lang="ko-KR" altLang="en-US" sz="1150" kern="1200" dirty="0"/>
                        <a:t> </a:t>
                      </a:r>
                      <a:r>
                        <a:rPr lang="en-US" altLang="ko-KR" sz="1150" kern="1200" dirty="0"/>
                        <a:t>1</a:t>
                      </a:r>
                      <a:r>
                        <a:rPr lang="ko-KR" altLang="en-US" sz="1150" kern="1200" dirty="0"/>
                        <a:t>에 의하여 진보성이 없으므로 특허거절결정함</a:t>
                      </a:r>
                      <a:r>
                        <a:rPr lang="en-US" altLang="ko-KR" sz="1150" kern="1200" dirty="0"/>
                        <a:t>.</a:t>
                      </a:r>
                      <a:endParaRPr lang="ko-KR" altLang="en-US" sz="11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15903" marB="15903" anchor="ctr"/>
                </a:tc>
                <a:extLst>
                  <a:ext uri="{0D108BD9-81ED-4DB2-BD59-A6C34878D82A}">
                    <a16:rowId xmlns:a16="http://schemas.microsoft.com/office/drawing/2014/main" val="14493638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20CD2D18-E252-46A1-B3EB-E3196DDA0081}"/>
              </a:ext>
            </a:extLst>
          </p:cNvPr>
          <p:cNvSpPr/>
          <p:nvPr/>
        </p:nvSpPr>
        <p:spPr>
          <a:xfrm>
            <a:off x="77874" y="2134427"/>
            <a:ext cx="11936315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기통지한 거절이유에서 선행기술로 인용된 자료가 특허공보와 같이 하나의 기술에 관한 것이거나 여러 </a:t>
            </a:r>
            <a:r>
              <a:rPr lang="ko-KR" altLang="en-US" sz="1400" dirty="0" err="1">
                <a:solidFill>
                  <a:schemeClr val="accent1">
                    <a:lumMod val="50000"/>
                  </a:schemeClr>
                </a:solidFill>
              </a:rPr>
              <a:t>실시태양을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 개시하고 있지만 동일 또는 밀접한 기술사상에 대한 문헌인 경우에는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그 문헌 전체에 대하여 </a:t>
            </a:r>
            <a:r>
              <a:rPr lang="ko-KR" altLang="en-US" sz="1400" dirty="0" err="1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거절이유통지가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 있었다고 봄이 상당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하므로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추가적인 </a:t>
            </a:r>
            <a:r>
              <a:rPr lang="ko-KR" altLang="en-US" sz="1400" dirty="0" err="1">
                <a:solidFill>
                  <a:schemeClr val="accent1">
                    <a:lumMod val="50000"/>
                  </a:schemeClr>
                </a:solidFill>
              </a:rPr>
              <a:t>거절이유통지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 없이 기통지한 거절이유에서 위 문헌 중 직접 인용하지 않았던 부분을 들어 바로 </a:t>
            </a:r>
            <a:r>
              <a:rPr lang="ko-KR" altLang="en-US" sz="1400" dirty="0" err="1">
                <a:solidFill>
                  <a:schemeClr val="accent1">
                    <a:lumMod val="50000"/>
                  </a:schemeClr>
                </a:solidFill>
              </a:rPr>
              <a:t>거절결정할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 수 있다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. 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다만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그 인용된 자료가 서적 등과 같이 방대하거나 여러 개의 기술에 관한 기재가 있는 것인데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, </a:t>
            </a:r>
            <a:r>
              <a:rPr lang="ko-KR" altLang="en-US" sz="1400" dirty="0" err="1">
                <a:solidFill>
                  <a:schemeClr val="accent1">
                    <a:lumMod val="50000"/>
                  </a:schemeClr>
                </a:solidFill>
              </a:rPr>
              <a:t>거절이유통지에서는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 그 중 일부 기술만을 사본하여 첨부하거나 적시한 경우라면 인용되지 않은 부분을 새로운 거절이유로 볼 여지가 있으므로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가급적 다시 거절이유를 통지하여 출원인에게 </a:t>
            </a:r>
            <a:r>
              <a:rPr lang="ko-KR" altLang="en-US" sz="1400" dirty="0" err="1">
                <a:solidFill>
                  <a:schemeClr val="accent1">
                    <a:lumMod val="50000"/>
                  </a:schemeClr>
                </a:solidFill>
              </a:rPr>
              <a:t>의견제출할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 기회를 부여하도록 한다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특허법원 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2011. 4. 27. 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선고 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2010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허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2612; 2012. 6. 20. 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선고 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2011</a:t>
            </a:r>
            <a:r>
              <a:rPr lang="ko-KR" altLang="en-US" sz="1400" dirty="0">
                <a:solidFill>
                  <a:schemeClr val="accent1">
                    <a:lumMod val="50000"/>
                  </a:schemeClr>
                </a:solidFill>
              </a:rPr>
              <a:t>허</a:t>
            </a:r>
            <a:r>
              <a:rPr lang="en-US" altLang="ko-KR" sz="1400" dirty="0">
                <a:solidFill>
                  <a:schemeClr val="accent1">
                    <a:lumMod val="50000"/>
                  </a:schemeClr>
                </a:solidFill>
              </a:rPr>
              <a:t>10306).</a:t>
            </a:r>
            <a:endParaRPr lang="ko-KR" altLang="en-US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C4BB119F-0C9A-453E-BC3E-5001629EB4CC}"/>
              </a:ext>
            </a:extLst>
          </p:cNvPr>
          <p:cNvCxnSpPr/>
          <p:nvPr/>
        </p:nvCxnSpPr>
        <p:spPr>
          <a:xfrm>
            <a:off x="0" y="3313542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394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solidFill>
                  <a:srgbClr val="525252"/>
                </a:solidFill>
              </a:rPr>
              <a:t>거절이유통지의</a:t>
            </a:r>
            <a:r>
              <a:rPr lang="ko-KR" altLang="en-US" dirty="0">
                <a:solidFill>
                  <a:srgbClr val="525252"/>
                </a:solidFill>
              </a:rPr>
              <a:t> 적법성 판단 </a:t>
            </a:r>
            <a:r>
              <a:rPr lang="en-US" altLang="ko-KR" dirty="0">
                <a:solidFill>
                  <a:srgbClr val="525252"/>
                </a:solidFill>
              </a:rPr>
              <a:t>CASE</a:t>
            </a:r>
            <a:endParaRPr lang="ko-KR" altLang="en-US" dirty="0">
              <a:solidFill>
                <a:srgbClr val="525252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11144250" y="3175"/>
            <a:ext cx="1047750" cy="714375"/>
          </a:xfrm>
        </p:spPr>
        <p:txBody>
          <a:bodyPr/>
          <a:lstStyle/>
          <a:p>
            <a:r>
              <a:rPr lang="en-US" altLang="ko-KR" dirty="0"/>
              <a:t>259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4ABF71-AF71-4AD1-B4A4-FDCE62B8EA69}"/>
              </a:ext>
            </a:extLst>
          </p:cNvPr>
          <p:cNvSpPr txBox="1"/>
          <p:nvPr/>
        </p:nvSpPr>
        <p:spPr>
          <a:xfrm>
            <a:off x="77875" y="986046"/>
            <a:ext cx="119363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제</a:t>
            </a:r>
            <a:r>
              <a:rPr lang="en-US" altLang="ko-KR" sz="1400" dirty="0"/>
              <a:t>63</a:t>
            </a:r>
            <a:r>
              <a:rPr lang="ko-KR" altLang="en-US" sz="1400" dirty="0"/>
              <a:t>조 본문에 의하면</a:t>
            </a:r>
            <a:r>
              <a:rPr lang="en-US" altLang="ko-KR" sz="1400" dirty="0"/>
              <a:t>, </a:t>
            </a:r>
            <a:r>
              <a:rPr lang="ko-KR" altLang="en-US" sz="1400" dirty="0"/>
              <a:t>심사관은 제</a:t>
            </a:r>
            <a:r>
              <a:rPr lang="en-US" altLang="ko-KR" sz="1400" dirty="0"/>
              <a:t>62</a:t>
            </a:r>
            <a:r>
              <a:rPr lang="ko-KR" altLang="en-US" sz="1400" dirty="0"/>
              <a:t>조에 따라 </a:t>
            </a:r>
            <a:r>
              <a:rPr lang="ko-KR" altLang="en-US" sz="1400" dirty="0" err="1"/>
              <a:t>특허거절결정을</a:t>
            </a:r>
            <a:r>
              <a:rPr lang="ko-KR" altLang="en-US" sz="1400" dirty="0"/>
              <a:t> 하려면 </a:t>
            </a:r>
            <a:r>
              <a:rPr lang="ko-KR" altLang="en-US" sz="1400" dirty="0" err="1"/>
              <a:t>특허출원인에게</a:t>
            </a:r>
            <a:r>
              <a:rPr lang="ko-KR" altLang="en-US" sz="1400" dirty="0"/>
              <a:t> 거절이유를 통지하고 기간을 정하여 의견서를 제출할 수 있는 기회를 주어야 한다고 규정하고 있는데</a:t>
            </a:r>
            <a:r>
              <a:rPr lang="en-US" altLang="ko-KR" sz="1400" dirty="0"/>
              <a:t>, </a:t>
            </a:r>
            <a:r>
              <a:rPr lang="ko-KR" altLang="en-US" sz="1400" dirty="0"/>
              <a:t>출원발명에 대하여 우선권주장의 불인정으로 거절이유가 생긴 경우에는 </a:t>
            </a:r>
            <a:r>
              <a:rPr lang="ko-KR" altLang="en-US" sz="1400" dirty="0">
                <a:highlight>
                  <a:srgbClr val="FFFF00"/>
                </a:highlight>
              </a:rPr>
              <a:t>우선권주장의 불인정은 거절이유 일부를 구성</a:t>
            </a:r>
            <a:r>
              <a:rPr lang="ko-KR" altLang="en-US" sz="1400" dirty="0"/>
              <a:t>하는 것이므로</a:t>
            </a:r>
            <a:r>
              <a:rPr lang="en-US" altLang="ko-KR" sz="1400" dirty="0"/>
              <a:t>, </a:t>
            </a:r>
            <a:r>
              <a:rPr lang="ko-KR" altLang="en-US" sz="1400" dirty="0"/>
              <a:t>우선권주장이 인정되지 아니한다는 취지 및 그 이유가 포함된 거절이유를 통지하지 아니한 채 우선권주장의 불인정으로 인하여 생긴 거절이유를 들어 </a:t>
            </a:r>
            <a:r>
              <a:rPr lang="ko-KR" altLang="en-US" sz="1400" dirty="0" err="1"/>
              <a:t>특허거절결정을</a:t>
            </a:r>
            <a:r>
              <a:rPr lang="ko-KR" altLang="en-US" sz="1400" dirty="0"/>
              <a:t> 하는 것은 제</a:t>
            </a:r>
            <a:r>
              <a:rPr lang="en-US" altLang="ko-KR" sz="1400" dirty="0"/>
              <a:t>63</a:t>
            </a:r>
            <a:r>
              <a:rPr lang="ko-KR" altLang="en-US" sz="1400" dirty="0"/>
              <a:t>조 본문에 위반되어 위법하다</a:t>
            </a:r>
            <a:r>
              <a:rPr lang="en-US" altLang="ko-KR" sz="1400" dirty="0"/>
              <a:t>. </a:t>
            </a:r>
            <a:r>
              <a:rPr lang="ko-KR" altLang="en-US" sz="1400" dirty="0"/>
              <a:t>그리고 거절이유 통지에 위와 같은 우선권주장 불인정에 관한 이유가 포함되어 있었는지는 </a:t>
            </a:r>
            <a:r>
              <a:rPr lang="ko-KR" altLang="en-US" sz="1400" dirty="0">
                <a:highlight>
                  <a:srgbClr val="FFFF00"/>
                </a:highlight>
              </a:rPr>
              <a:t>출원인에게 실질적으로 의견서 제출 및 보정의 기회를 부여</a:t>
            </a:r>
            <a:r>
              <a:rPr lang="ko-KR" altLang="en-US" sz="1400" dirty="0"/>
              <a:t>하였다고 볼 수 있을 정도로 그 취지와 이유가 명시되었는지 관점에서 판단되어야 한다</a:t>
            </a:r>
            <a:r>
              <a:rPr lang="en-US" altLang="ko-KR" sz="1400" dirty="0"/>
              <a:t>(</a:t>
            </a:r>
            <a:r>
              <a:rPr lang="ko-KR" altLang="en-US" sz="1400" dirty="0"/>
              <a:t>대법원 </a:t>
            </a:r>
            <a:r>
              <a:rPr lang="en-US" altLang="ko-KR" sz="1400" dirty="0"/>
              <a:t>2011. 9. 8. </a:t>
            </a:r>
            <a:r>
              <a:rPr lang="ko-KR" altLang="en-US" sz="1400" dirty="0"/>
              <a:t>선고 </a:t>
            </a:r>
            <a:r>
              <a:rPr lang="en-US" altLang="ko-KR" sz="1400" dirty="0"/>
              <a:t>2009</a:t>
            </a:r>
            <a:r>
              <a:rPr lang="ko-KR" altLang="en-US" sz="1400" dirty="0"/>
              <a:t>후</a:t>
            </a:r>
            <a:r>
              <a:rPr lang="en-US" altLang="ko-KR" sz="1400" dirty="0"/>
              <a:t>2371).</a:t>
            </a:r>
            <a:endParaRPr lang="ko-KR" altLang="en-US" sz="1400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8BD05C4-53FC-48F0-9895-C75C756AD023}"/>
              </a:ext>
            </a:extLst>
          </p:cNvPr>
          <p:cNvCxnSpPr/>
          <p:nvPr/>
        </p:nvCxnSpPr>
        <p:spPr>
          <a:xfrm>
            <a:off x="0" y="2178854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DB91A147-3B03-4508-81FC-31B7B991187B}"/>
              </a:ext>
            </a:extLst>
          </p:cNvPr>
          <p:cNvCxnSpPr>
            <a:cxnSpLocks/>
          </p:cNvCxnSpPr>
          <p:nvPr/>
        </p:nvCxnSpPr>
        <p:spPr>
          <a:xfrm>
            <a:off x="835934" y="4763226"/>
            <a:ext cx="11178264" cy="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AE395994-D854-49A7-9473-E0500983A03E}"/>
              </a:ext>
            </a:extLst>
          </p:cNvPr>
          <p:cNvSpPr/>
          <p:nvPr/>
        </p:nvSpPr>
        <p:spPr>
          <a:xfrm>
            <a:off x="3123129" y="5296244"/>
            <a:ext cx="1525628" cy="229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한국출원</a:t>
            </a:r>
            <a:r>
              <a:rPr lang="en-US" altLang="ko-KR" sz="1100" dirty="0">
                <a:solidFill>
                  <a:schemeClr val="tx1"/>
                </a:solidFill>
              </a:rPr>
              <a:t>(Y)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721D3DB8-83DD-40A0-9F78-8772125639CC}"/>
              </a:ext>
            </a:extLst>
          </p:cNvPr>
          <p:cNvSpPr/>
          <p:nvPr/>
        </p:nvSpPr>
        <p:spPr>
          <a:xfrm>
            <a:off x="3122493" y="5527000"/>
            <a:ext cx="1525628" cy="229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X </a:t>
            </a:r>
            <a:r>
              <a:rPr lang="ko-KR" altLang="en-US" sz="1100" dirty="0">
                <a:solidFill>
                  <a:schemeClr val="tx1"/>
                </a:solidFill>
              </a:rPr>
              <a:t>기초 </a:t>
            </a:r>
            <a:r>
              <a:rPr lang="ko-KR" altLang="en-US" sz="1100" dirty="0" err="1">
                <a:solidFill>
                  <a:schemeClr val="tx1"/>
                </a:solidFill>
              </a:rPr>
              <a:t>우선권주장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6ACD1042-8D80-42C0-A97D-302F8CB13A99}"/>
              </a:ext>
            </a:extLst>
          </p:cNvPr>
          <p:cNvSpPr/>
          <p:nvPr/>
        </p:nvSpPr>
        <p:spPr>
          <a:xfrm>
            <a:off x="1176260" y="4000708"/>
            <a:ext cx="1525628" cy="2295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한국출원</a:t>
            </a:r>
            <a:r>
              <a:rPr lang="en-US" altLang="ko-KR" sz="1100" dirty="0">
                <a:solidFill>
                  <a:schemeClr val="tx1"/>
                </a:solidFill>
              </a:rPr>
              <a:t>(X)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7E77DCA4-8C23-4C59-A7F0-766991ED78CB}"/>
              </a:ext>
            </a:extLst>
          </p:cNvPr>
          <p:cNvSpPr/>
          <p:nvPr/>
        </p:nvSpPr>
        <p:spPr>
          <a:xfrm>
            <a:off x="6793053" y="5296244"/>
            <a:ext cx="1525628" cy="229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거절이유통지</a:t>
            </a:r>
            <a:r>
              <a:rPr lang="en-US" altLang="ko-KR" sz="1100" dirty="0">
                <a:solidFill>
                  <a:schemeClr val="tx1"/>
                </a:solidFill>
              </a:rPr>
              <a:t>(Y)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BD22A012-880B-4480-82D3-FF4A4CD8AEDE}"/>
              </a:ext>
            </a:extLst>
          </p:cNvPr>
          <p:cNvCxnSpPr>
            <a:stCxn id="128" idx="2"/>
          </p:cNvCxnSpPr>
          <p:nvPr/>
        </p:nvCxnSpPr>
        <p:spPr>
          <a:xfrm>
            <a:off x="1939074" y="4230208"/>
            <a:ext cx="5340" cy="5330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BE28471D-DFA7-4DEB-AA3A-6CBB8E748328}"/>
              </a:ext>
            </a:extLst>
          </p:cNvPr>
          <p:cNvSpPr/>
          <p:nvPr/>
        </p:nvSpPr>
        <p:spPr>
          <a:xfrm>
            <a:off x="4570372" y="4000708"/>
            <a:ext cx="1525628" cy="2295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취하간주</a:t>
            </a:r>
            <a:r>
              <a:rPr lang="en-US" altLang="ko-KR" sz="1100" dirty="0">
                <a:solidFill>
                  <a:schemeClr val="tx1"/>
                </a:solidFill>
              </a:rPr>
              <a:t>(X)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000134DE-F858-4D56-9CAF-CE0EB44C6E80}"/>
              </a:ext>
            </a:extLst>
          </p:cNvPr>
          <p:cNvCxnSpPr>
            <a:stCxn id="131" idx="2"/>
          </p:cNvCxnSpPr>
          <p:nvPr/>
        </p:nvCxnSpPr>
        <p:spPr>
          <a:xfrm>
            <a:off x="5333186" y="4230208"/>
            <a:ext cx="5340" cy="5330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9B45A73A-A1DA-45EA-BAB6-A880EBBB9A8C}"/>
              </a:ext>
            </a:extLst>
          </p:cNvPr>
          <p:cNvSpPr/>
          <p:nvPr/>
        </p:nvSpPr>
        <p:spPr>
          <a:xfrm>
            <a:off x="5086625" y="5296244"/>
            <a:ext cx="1525628" cy="229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출원공개</a:t>
            </a:r>
            <a:r>
              <a:rPr lang="en-US" altLang="ko-KR" sz="1100" dirty="0">
                <a:solidFill>
                  <a:schemeClr val="tx1"/>
                </a:solidFill>
              </a:rPr>
              <a:t>(Y)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AD094C3E-BDEE-4826-A38F-EE1318266360}"/>
              </a:ext>
            </a:extLst>
          </p:cNvPr>
          <p:cNvSpPr/>
          <p:nvPr/>
        </p:nvSpPr>
        <p:spPr>
          <a:xfrm>
            <a:off x="10044874" y="5296244"/>
            <a:ext cx="1525628" cy="229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거절결정</a:t>
            </a:r>
            <a:r>
              <a:rPr lang="en-US" altLang="ko-KR" sz="1100" dirty="0">
                <a:solidFill>
                  <a:schemeClr val="tx1"/>
                </a:solidFill>
              </a:rPr>
              <a:t>(Y)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88E3D0-B5D5-4FAD-97B2-B51D725230AD}"/>
              </a:ext>
            </a:extLst>
          </p:cNvPr>
          <p:cNvCxnSpPr>
            <a:cxnSpLocks/>
            <a:stCxn id="122" idx="0"/>
          </p:cNvCxnSpPr>
          <p:nvPr/>
        </p:nvCxnSpPr>
        <p:spPr>
          <a:xfrm flipV="1">
            <a:off x="3885943" y="4786484"/>
            <a:ext cx="0" cy="50976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50CA3F9-8F7B-4C0A-BCEF-7784B2BADC84}"/>
              </a:ext>
            </a:extLst>
          </p:cNvPr>
          <p:cNvCxnSpPr>
            <a:cxnSpLocks/>
            <a:stCxn id="133" idx="0"/>
          </p:cNvCxnSpPr>
          <p:nvPr/>
        </p:nvCxnSpPr>
        <p:spPr>
          <a:xfrm flipV="1">
            <a:off x="5849439" y="4786484"/>
            <a:ext cx="0" cy="50976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12AA3555-23DF-45BA-8FAD-7594A17E4570}"/>
              </a:ext>
            </a:extLst>
          </p:cNvPr>
          <p:cNvCxnSpPr>
            <a:cxnSpLocks/>
            <a:stCxn id="130" idx="0"/>
          </p:cNvCxnSpPr>
          <p:nvPr/>
        </p:nvCxnSpPr>
        <p:spPr>
          <a:xfrm flipV="1">
            <a:off x="7555867" y="4786484"/>
            <a:ext cx="0" cy="50976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9AA18FA-870F-40B1-98E5-66439D759309}"/>
              </a:ext>
            </a:extLst>
          </p:cNvPr>
          <p:cNvCxnSpPr>
            <a:cxnSpLocks/>
            <a:stCxn id="134" idx="0"/>
          </p:cNvCxnSpPr>
          <p:nvPr/>
        </p:nvCxnSpPr>
        <p:spPr>
          <a:xfrm flipV="1">
            <a:off x="10807688" y="4786484"/>
            <a:ext cx="0" cy="50976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32D70EA-5942-4D54-8341-AFB0D89717A0}"/>
              </a:ext>
            </a:extLst>
          </p:cNvPr>
          <p:cNvCxnSpPr>
            <a:cxnSpLocks/>
          </p:cNvCxnSpPr>
          <p:nvPr/>
        </p:nvCxnSpPr>
        <p:spPr>
          <a:xfrm>
            <a:off x="3127833" y="3581813"/>
            <a:ext cx="0" cy="118141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360F6971-7824-457E-ADFB-F67EE45495BA}"/>
              </a:ext>
            </a:extLst>
          </p:cNvPr>
          <p:cNvSpPr/>
          <p:nvPr/>
        </p:nvSpPr>
        <p:spPr>
          <a:xfrm>
            <a:off x="2360315" y="3351057"/>
            <a:ext cx="1525628" cy="2295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공지기술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ADA12472-F960-4871-8B8B-63C3C96C22B5}"/>
              </a:ext>
            </a:extLst>
          </p:cNvPr>
          <p:cNvSpPr txBox="1"/>
          <p:nvPr/>
        </p:nvSpPr>
        <p:spPr>
          <a:xfrm>
            <a:off x="1385877" y="3607627"/>
            <a:ext cx="1106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/>
              <a:t>패들교반기</a:t>
            </a:r>
            <a:endParaRPr lang="ko-KR" altLang="en-US" sz="16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C39C9D85-7DCF-406F-91DC-110BC8F0F1AB}"/>
              </a:ext>
            </a:extLst>
          </p:cNvPr>
          <p:cNvSpPr txBox="1"/>
          <p:nvPr/>
        </p:nvSpPr>
        <p:spPr>
          <a:xfrm>
            <a:off x="2720067" y="2953089"/>
            <a:ext cx="8515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/>
              <a:t>교반기</a:t>
            </a:r>
            <a:r>
              <a:rPr lang="en-US" altLang="ko-KR" sz="1600" dirty="0"/>
              <a:t>1</a:t>
            </a:r>
            <a:endParaRPr lang="ko-KR" altLang="en-US" sz="16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DA9087B7-6A7C-4306-BF4A-4B943E17C51C}"/>
              </a:ext>
            </a:extLst>
          </p:cNvPr>
          <p:cNvSpPr txBox="1"/>
          <p:nvPr/>
        </p:nvSpPr>
        <p:spPr>
          <a:xfrm>
            <a:off x="3516455" y="5807322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/>
              <a:t>교반기</a:t>
            </a:r>
            <a:endParaRPr lang="ko-KR" altLang="en-US" sz="1600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86AD8E1-831A-4F02-BB21-C1477FA8B15A}"/>
              </a:ext>
            </a:extLst>
          </p:cNvPr>
          <p:cNvSpPr txBox="1"/>
          <p:nvPr/>
        </p:nvSpPr>
        <p:spPr>
          <a:xfrm>
            <a:off x="6668444" y="5984698"/>
            <a:ext cx="1774846" cy="58477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공지기술에 의하여 </a:t>
            </a:r>
            <a:endParaRPr lang="en-US" altLang="ko-KR" sz="1600" dirty="0"/>
          </a:p>
          <a:p>
            <a:pPr algn="ctr"/>
            <a:r>
              <a:rPr lang="ko-KR" altLang="en-US" sz="1600" dirty="0"/>
              <a:t>진보성 위반</a:t>
            </a: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B95C2D1B-E8C2-4A39-8039-98A8C2D31D78}"/>
              </a:ext>
            </a:extLst>
          </p:cNvPr>
          <p:cNvCxnSpPr>
            <a:stCxn id="146" idx="3"/>
            <a:endCxn id="148" idx="1"/>
          </p:cNvCxnSpPr>
          <p:nvPr/>
        </p:nvCxnSpPr>
        <p:spPr>
          <a:xfrm>
            <a:off x="2492270" y="3776904"/>
            <a:ext cx="1024185" cy="219969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7C8DDD22-0AA0-409E-872E-6D6CC26AD643}"/>
              </a:ext>
            </a:extLst>
          </p:cNvPr>
          <p:cNvSpPr txBox="1"/>
          <p:nvPr/>
        </p:nvSpPr>
        <p:spPr>
          <a:xfrm>
            <a:off x="2438849" y="4475904"/>
            <a:ext cx="7377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rgbClr val="FF0000"/>
                </a:solidFill>
              </a:rPr>
              <a:t>동일성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algn="ctr"/>
            <a:r>
              <a:rPr lang="ko-KR" altLang="en-US" sz="1600" dirty="0">
                <a:solidFill>
                  <a:srgbClr val="FF0000"/>
                </a:solidFill>
              </a:rPr>
              <a:t>불인정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sp>
        <p:nvSpPr>
          <p:cNvPr id="153" name="말풍선: 모서리가 둥근 사각형 152">
            <a:extLst>
              <a:ext uri="{FF2B5EF4-FFF2-40B4-BE49-F238E27FC236}">
                <a16:creationId xmlns:a16="http://schemas.microsoft.com/office/drawing/2014/main" id="{9B483978-CB8C-4CAC-A8DB-D67000C649B5}"/>
              </a:ext>
            </a:extLst>
          </p:cNvPr>
          <p:cNvSpPr/>
          <p:nvPr/>
        </p:nvSpPr>
        <p:spPr>
          <a:xfrm>
            <a:off x="8521748" y="2357151"/>
            <a:ext cx="2522483" cy="612648"/>
          </a:xfrm>
          <a:prstGeom prst="wedgeRoundRectCallout">
            <a:avLst>
              <a:gd name="adj1" fmla="val -25425"/>
              <a:gd name="adj2" fmla="val 125220"/>
              <a:gd name="adj3" fmla="val 16667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출원인에게 실질적 </a:t>
            </a:r>
            <a:endParaRPr lang="en-US" altLang="ko-KR" sz="1600" dirty="0"/>
          </a:p>
          <a:p>
            <a:pPr algn="ctr"/>
            <a:r>
              <a:rPr lang="ko-KR" altLang="en-US" sz="1600" dirty="0"/>
              <a:t>대응기회가 주어졌는가</a:t>
            </a:r>
            <a:r>
              <a:rPr lang="en-US" altLang="ko-KR" sz="1600" dirty="0"/>
              <a:t>?</a:t>
            </a:r>
            <a:endParaRPr lang="ko-KR" altLang="en-US" sz="1600" dirty="0"/>
          </a:p>
        </p:txBody>
      </p:sp>
      <p:sp>
        <p:nvSpPr>
          <p:cNvPr id="5" name="말풍선: 모서리가 둥근 사각형 4">
            <a:extLst>
              <a:ext uri="{FF2B5EF4-FFF2-40B4-BE49-F238E27FC236}">
                <a16:creationId xmlns:a16="http://schemas.microsoft.com/office/drawing/2014/main" id="{5330337D-AF9A-4EFF-9F32-7339A9F56A2E}"/>
              </a:ext>
            </a:extLst>
          </p:cNvPr>
          <p:cNvSpPr/>
          <p:nvPr/>
        </p:nvSpPr>
        <p:spPr>
          <a:xfrm>
            <a:off x="835934" y="3165177"/>
            <a:ext cx="851515" cy="263810"/>
          </a:xfrm>
          <a:prstGeom prst="wedgeRoundRectCallout">
            <a:avLst>
              <a:gd name="adj1" fmla="val 44714"/>
              <a:gd name="adj2" fmla="val 115979"/>
              <a:gd name="adj3" fmla="val 1666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2">
                    <a:lumMod val="50000"/>
                  </a:schemeClr>
                </a:solidFill>
              </a:rPr>
              <a:t>하위개념</a:t>
            </a:r>
          </a:p>
        </p:txBody>
      </p:sp>
      <p:sp>
        <p:nvSpPr>
          <p:cNvPr id="32" name="말풍선: 모서리가 둥근 사각형 31">
            <a:extLst>
              <a:ext uri="{FF2B5EF4-FFF2-40B4-BE49-F238E27FC236}">
                <a16:creationId xmlns:a16="http://schemas.microsoft.com/office/drawing/2014/main" id="{C43AB606-C646-41CA-BE42-561C74053270}"/>
              </a:ext>
            </a:extLst>
          </p:cNvPr>
          <p:cNvSpPr/>
          <p:nvPr/>
        </p:nvSpPr>
        <p:spPr>
          <a:xfrm>
            <a:off x="2533342" y="6179110"/>
            <a:ext cx="851515" cy="263810"/>
          </a:xfrm>
          <a:prstGeom prst="wedgeRoundRectCallout">
            <a:avLst>
              <a:gd name="adj1" fmla="val 79579"/>
              <a:gd name="adj2" fmla="val -77584"/>
              <a:gd name="adj3" fmla="val 1666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2">
                    <a:lumMod val="50000"/>
                  </a:schemeClr>
                </a:solidFill>
              </a:rPr>
              <a:t>상위개념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73CEE39-DD43-4DE4-A902-FF0B2040899B}"/>
              </a:ext>
            </a:extLst>
          </p:cNvPr>
          <p:cNvSpPr/>
          <p:nvPr/>
        </p:nvSpPr>
        <p:spPr>
          <a:xfrm>
            <a:off x="329784" y="2521470"/>
            <a:ext cx="4636862" cy="4149146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30340BD-E95D-4864-9D7B-1984ED597382}"/>
              </a:ext>
            </a:extLst>
          </p:cNvPr>
          <p:cNvSpPr/>
          <p:nvPr/>
        </p:nvSpPr>
        <p:spPr>
          <a:xfrm>
            <a:off x="553731" y="2330534"/>
            <a:ext cx="4188967" cy="553998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dirty="0"/>
              <a:t>특허법원 </a:t>
            </a:r>
            <a:r>
              <a:rPr lang="en-US" altLang="ko-KR" dirty="0"/>
              <a:t>2009. 7. 1. </a:t>
            </a:r>
            <a:r>
              <a:rPr lang="ko-KR" altLang="en-US" dirty="0"/>
              <a:t>선고 </a:t>
            </a:r>
            <a:r>
              <a:rPr lang="en-US" altLang="ko-KR" dirty="0"/>
              <a:t>2008</a:t>
            </a:r>
            <a:r>
              <a:rPr lang="ko-KR" altLang="en-US" dirty="0"/>
              <a:t>허</a:t>
            </a:r>
            <a:r>
              <a:rPr lang="en-US" altLang="ko-KR" dirty="0"/>
              <a:t>7706 </a:t>
            </a:r>
            <a:r>
              <a:rPr lang="ko-KR" altLang="en-US" dirty="0"/>
              <a:t>판결</a:t>
            </a:r>
            <a:endParaRPr lang="en-US" altLang="ko-KR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 err="1"/>
              <a:t>국내우선권주장출원의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패들타입</a:t>
            </a:r>
            <a:r>
              <a:rPr lang="ko-KR" altLang="en-US" sz="1200" dirty="0"/>
              <a:t> </a:t>
            </a:r>
            <a:r>
              <a:rPr lang="ko-KR" altLang="en-US" sz="1200" dirty="0" err="1"/>
              <a:t>교반기</a:t>
            </a:r>
            <a:r>
              <a:rPr lang="ko-KR" altLang="en-US" sz="1200" dirty="0"/>
              <a:t> 사건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04BEE286-9121-4097-A6BB-AC7FEFF4CC8D}"/>
              </a:ext>
            </a:extLst>
          </p:cNvPr>
          <p:cNvCxnSpPr>
            <a:stCxn id="149" idx="0"/>
            <a:endCxn id="130" idx="2"/>
          </p:cNvCxnSpPr>
          <p:nvPr/>
        </p:nvCxnSpPr>
        <p:spPr>
          <a:xfrm rot="5400000" flipH="1" flipV="1">
            <a:off x="7326390" y="5755221"/>
            <a:ext cx="458954" cy="12700"/>
          </a:xfrm>
          <a:prstGeom prst="bentConnector3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922A387-9A84-4694-BF07-EB9E6B0520A8}"/>
              </a:ext>
            </a:extLst>
          </p:cNvPr>
          <p:cNvSpPr/>
          <p:nvPr/>
        </p:nvSpPr>
        <p:spPr>
          <a:xfrm>
            <a:off x="8377202" y="5296244"/>
            <a:ext cx="1525628" cy="229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의견서</a:t>
            </a:r>
            <a:r>
              <a:rPr lang="en-US" altLang="ko-KR" sz="1100" dirty="0">
                <a:solidFill>
                  <a:schemeClr val="tx1"/>
                </a:solidFill>
              </a:rPr>
              <a:t>(Y)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F77EE66B-109E-4CDE-8F48-FC3F77AD59C6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9140016" y="4786484"/>
            <a:ext cx="0" cy="50976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866C1E8-BC02-4204-96DB-1302F95419A3}"/>
              </a:ext>
            </a:extLst>
          </p:cNvPr>
          <p:cNvSpPr txBox="1"/>
          <p:nvPr/>
        </p:nvSpPr>
        <p:spPr>
          <a:xfrm>
            <a:off x="8521748" y="5984698"/>
            <a:ext cx="3175697" cy="58477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한국출원</a:t>
            </a:r>
            <a:r>
              <a:rPr lang="en-US" altLang="ko-KR" sz="1600" dirty="0"/>
              <a:t>(X)</a:t>
            </a:r>
            <a:r>
              <a:rPr lang="ko-KR" altLang="en-US" sz="1600" dirty="0"/>
              <a:t>의 출원일로 판단시점이 </a:t>
            </a:r>
            <a:endParaRPr lang="en-US" altLang="ko-KR" sz="1600" dirty="0"/>
          </a:p>
          <a:p>
            <a:r>
              <a:rPr lang="ko-KR" altLang="en-US" sz="1600" dirty="0"/>
              <a:t>소급하여 진보성 위반이 아님</a:t>
            </a:r>
          </a:p>
        </p:txBody>
      </p:sp>
      <p:cxnSp>
        <p:nvCxnSpPr>
          <p:cNvPr id="40" name="연결선: 꺾임 39">
            <a:extLst>
              <a:ext uri="{FF2B5EF4-FFF2-40B4-BE49-F238E27FC236}">
                <a16:creationId xmlns:a16="http://schemas.microsoft.com/office/drawing/2014/main" id="{BDF5E7A2-76AB-47F8-B0B9-2365BC657B5B}"/>
              </a:ext>
            </a:extLst>
          </p:cNvPr>
          <p:cNvCxnSpPr>
            <a:cxnSpLocks/>
            <a:stCxn id="39" idx="0"/>
            <a:endCxn id="37" idx="2"/>
          </p:cNvCxnSpPr>
          <p:nvPr/>
        </p:nvCxnSpPr>
        <p:spPr>
          <a:xfrm rot="16200000" flipV="1">
            <a:off x="9395330" y="5270430"/>
            <a:ext cx="458954" cy="969581"/>
          </a:xfrm>
          <a:prstGeom prst="bentConnector3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ECD395C-8BA0-867F-7007-62F1D31BFE02}"/>
              </a:ext>
            </a:extLst>
          </p:cNvPr>
          <p:cNvSpPr/>
          <p:nvPr/>
        </p:nvSpPr>
        <p:spPr>
          <a:xfrm>
            <a:off x="6793053" y="3351057"/>
            <a:ext cx="1584149" cy="706491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거절이유</a:t>
            </a:r>
            <a:r>
              <a:rPr lang="en-US" altLang="ko-KR" sz="1200" dirty="0"/>
              <a:t>:</a:t>
            </a:r>
          </a:p>
          <a:p>
            <a:pPr algn="ctr"/>
            <a:r>
              <a:rPr lang="ko-KR" altLang="en-US" sz="1200" dirty="0"/>
              <a:t>우선권주장 불인정 </a:t>
            </a:r>
            <a:endParaRPr lang="en-US" altLang="ko-KR" sz="1200" dirty="0"/>
          </a:p>
          <a:p>
            <a:pPr algn="ctr"/>
            <a:r>
              <a:rPr lang="ko-KR" altLang="en-US" sz="1200" dirty="0" err="1"/>
              <a:t>불포함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6A223AB-4AD1-AC0C-F058-5615EFBF9E89}"/>
              </a:ext>
            </a:extLst>
          </p:cNvPr>
          <p:cNvSpPr/>
          <p:nvPr/>
        </p:nvSpPr>
        <p:spPr>
          <a:xfrm>
            <a:off x="10014048" y="3351057"/>
            <a:ext cx="1584149" cy="70649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거절결정의 이유</a:t>
            </a:r>
            <a:r>
              <a:rPr lang="en-US" altLang="ko-KR" sz="1200" dirty="0"/>
              <a:t>:</a:t>
            </a:r>
          </a:p>
          <a:p>
            <a:pPr algn="ctr"/>
            <a:r>
              <a:rPr lang="ko-KR" altLang="en-US" sz="1200" dirty="0"/>
              <a:t>우선권주장 불인정 </a:t>
            </a:r>
            <a:endParaRPr lang="en-US" altLang="ko-KR" sz="1200" dirty="0"/>
          </a:p>
          <a:p>
            <a:pPr algn="ctr"/>
            <a:r>
              <a:rPr lang="ko-KR" altLang="en-US" sz="1200" dirty="0"/>
              <a:t>포함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BE1C176-6ADD-77CC-354E-FB5DEB941087}"/>
              </a:ext>
            </a:extLst>
          </p:cNvPr>
          <p:cNvCxnSpPr/>
          <p:nvPr/>
        </p:nvCxnSpPr>
        <p:spPr>
          <a:xfrm flipV="1">
            <a:off x="11144250" y="4115458"/>
            <a:ext cx="0" cy="1180786"/>
          </a:xfrm>
          <a:prstGeom prst="straightConnector1">
            <a:avLst/>
          </a:prstGeom>
          <a:ln w="28575">
            <a:solidFill>
              <a:schemeClr val="accent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76A8376-9806-BDDF-7414-B1A9DB1FFEAD}"/>
              </a:ext>
            </a:extLst>
          </p:cNvPr>
          <p:cNvCxnSpPr/>
          <p:nvPr/>
        </p:nvCxnSpPr>
        <p:spPr>
          <a:xfrm flipV="1">
            <a:off x="7800415" y="4115458"/>
            <a:ext cx="0" cy="1180786"/>
          </a:xfrm>
          <a:prstGeom prst="straightConnector1">
            <a:avLst/>
          </a:prstGeom>
          <a:ln w="28575">
            <a:solidFill>
              <a:schemeClr val="accent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왼쪽/오른쪽 14">
            <a:extLst>
              <a:ext uri="{FF2B5EF4-FFF2-40B4-BE49-F238E27FC236}">
                <a16:creationId xmlns:a16="http://schemas.microsoft.com/office/drawing/2014/main" id="{A7278D97-D95B-E53C-B57F-4DFE599F5984}"/>
              </a:ext>
            </a:extLst>
          </p:cNvPr>
          <p:cNvSpPr/>
          <p:nvPr/>
        </p:nvSpPr>
        <p:spPr>
          <a:xfrm>
            <a:off x="8377202" y="3478999"/>
            <a:ext cx="1636846" cy="430803"/>
          </a:xfrm>
          <a:prstGeom prst="leftRightArrow">
            <a:avLst>
              <a:gd name="adj1" fmla="val 80238"/>
              <a:gd name="adj2" fmla="val 50000"/>
            </a:avLst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주지 부합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</a:t>
            </a:r>
            <a:endParaRPr lang="ko-KR" altLang="en-US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14471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solidFill>
                  <a:srgbClr val="525252"/>
                </a:solidFill>
              </a:rPr>
              <a:t>거절이유통지의</a:t>
            </a:r>
            <a:r>
              <a:rPr lang="ko-KR" altLang="en-US" dirty="0">
                <a:solidFill>
                  <a:srgbClr val="525252"/>
                </a:solidFill>
              </a:rPr>
              <a:t> 적법성 판단 </a:t>
            </a:r>
            <a:r>
              <a:rPr lang="en-US" altLang="ko-KR" dirty="0">
                <a:solidFill>
                  <a:srgbClr val="525252"/>
                </a:solidFill>
              </a:rPr>
              <a:t>CASE</a:t>
            </a:r>
            <a:endParaRPr lang="ko-KR" altLang="en-US" dirty="0">
              <a:solidFill>
                <a:srgbClr val="525252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11144250" y="3175"/>
            <a:ext cx="1047750" cy="714375"/>
          </a:xfrm>
        </p:spPr>
        <p:txBody>
          <a:bodyPr/>
          <a:lstStyle/>
          <a:p>
            <a:r>
              <a:rPr lang="en-US" altLang="ko-KR" dirty="0"/>
              <a:t>260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4ABF71-AF71-4AD1-B4A4-FDCE62B8EA69}"/>
              </a:ext>
            </a:extLst>
          </p:cNvPr>
          <p:cNvSpPr txBox="1"/>
          <p:nvPr/>
        </p:nvSpPr>
        <p:spPr>
          <a:xfrm>
            <a:off x="77875" y="986046"/>
            <a:ext cx="119363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진보성 위반을 이유로 한 거절이유에 기재된 주선행발명을 다른 선행발명으로 변경하는 경우에는</a:t>
            </a:r>
            <a:r>
              <a:rPr lang="en-US" altLang="ko-KR" sz="1400" dirty="0"/>
              <a:t>, </a:t>
            </a:r>
            <a:r>
              <a:rPr lang="ko-KR" altLang="en-US" sz="1400" dirty="0"/>
              <a:t>일반적으로 출원발명과의 공통점 및 차이점의 인정과 그러한 차이점을 극복하여 출원발명을 쉽게 발명할 수 있는지에 대한 판단 내용이 달라지므로</a:t>
            </a:r>
            <a:r>
              <a:rPr lang="en-US" altLang="ko-KR" sz="1400" dirty="0"/>
              <a:t>, </a:t>
            </a:r>
            <a:r>
              <a:rPr lang="ko-KR" altLang="en-US" sz="1400" dirty="0"/>
              <a:t>출원인에게 이에 대해 실질적으로 의견제출의 기회가 주어졌다고 볼 수 있는 등의 특별한 사정이 없는 한 이미 통지된 거절이유와 주요한 취지가 부합하지 아니하는 새로운 거절이유에 해당한다</a:t>
            </a:r>
            <a:r>
              <a:rPr lang="en-US" altLang="ko-KR" sz="1400" dirty="0"/>
              <a:t>(</a:t>
            </a:r>
            <a:r>
              <a:rPr lang="ko-KR" altLang="en-US" sz="1400" dirty="0"/>
              <a:t>대법원 </a:t>
            </a:r>
            <a:r>
              <a:rPr lang="en-US" altLang="ko-KR" sz="1400" dirty="0"/>
              <a:t>2019. 10. 31. </a:t>
            </a:r>
            <a:r>
              <a:rPr lang="ko-KR" altLang="en-US" sz="1400" dirty="0"/>
              <a:t>선고 </a:t>
            </a:r>
            <a:r>
              <a:rPr lang="en-US" altLang="ko-KR" sz="1400" dirty="0"/>
              <a:t>2015</a:t>
            </a:r>
            <a:r>
              <a:rPr lang="ko-KR" altLang="en-US" sz="1400" dirty="0"/>
              <a:t>후</a:t>
            </a:r>
            <a:r>
              <a:rPr lang="en-US" altLang="ko-KR" sz="1400" dirty="0"/>
              <a:t>2341).</a:t>
            </a:r>
            <a:endParaRPr lang="ko-KR" altLang="en-US" sz="1400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8BD05C4-53FC-48F0-9895-C75C756AD023}"/>
              </a:ext>
            </a:extLst>
          </p:cNvPr>
          <p:cNvCxnSpPr/>
          <p:nvPr/>
        </p:nvCxnSpPr>
        <p:spPr>
          <a:xfrm>
            <a:off x="0" y="1755587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35B976A-DE4C-42E4-857B-BE387D5921AB}"/>
              </a:ext>
            </a:extLst>
          </p:cNvPr>
          <p:cNvCxnSpPr>
            <a:cxnSpLocks/>
          </p:cNvCxnSpPr>
          <p:nvPr/>
        </p:nvCxnSpPr>
        <p:spPr>
          <a:xfrm>
            <a:off x="327804" y="2279448"/>
            <a:ext cx="11619781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14">
            <a:extLst>
              <a:ext uri="{FF2B5EF4-FFF2-40B4-BE49-F238E27FC236}">
                <a16:creationId xmlns:a16="http://schemas.microsoft.com/office/drawing/2014/main" id="{639DFE03-AB5F-4537-BE94-4D57E79C2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74214" y="2099946"/>
            <a:ext cx="925579" cy="3590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dirty="0">
                <a:latin typeface="+mn-ea"/>
              </a:rPr>
              <a:t>출원</a:t>
            </a:r>
            <a:r>
              <a:rPr lang="en-US" altLang="ko-KR" sz="1200" dirty="0">
                <a:latin typeface="+mn-ea"/>
              </a:rPr>
              <a:t>(X)</a:t>
            </a:r>
            <a:endParaRPr lang="ko-KR" altLang="en-US" sz="1200" b="0" dirty="0">
              <a:latin typeface="+mn-ea"/>
            </a:endParaRPr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B31DC284-8B34-4153-8B19-16B686F62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0072" y="2099946"/>
            <a:ext cx="925579" cy="3590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n-ea"/>
              </a:rPr>
              <a:t>심판청구</a:t>
            </a:r>
          </a:p>
        </p:txBody>
      </p:sp>
      <p:sp>
        <p:nvSpPr>
          <p:cNvPr id="65" name="Rectangle 14">
            <a:extLst>
              <a:ext uri="{FF2B5EF4-FFF2-40B4-BE49-F238E27FC236}">
                <a16:creationId xmlns:a16="http://schemas.microsoft.com/office/drawing/2014/main" id="{4B432D29-50EE-4FEF-90C2-9C240D804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4808" y="2099947"/>
            <a:ext cx="925579" cy="359004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>
                <a:solidFill>
                  <a:schemeClr val="accent4"/>
                </a:solidFill>
                <a:latin typeface="+mn-ea"/>
              </a:rPr>
              <a:t>거절이유통지</a:t>
            </a:r>
            <a:endParaRPr lang="ko-KR" altLang="en-US" sz="1200" b="0" dirty="0">
              <a:solidFill>
                <a:schemeClr val="accent4"/>
              </a:solidFill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B81395-0D73-43E4-B056-0E8FB958F764}"/>
              </a:ext>
            </a:extLst>
          </p:cNvPr>
          <p:cNvSpPr txBox="1"/>
          <p:nvPr/>
        </p:nvSpPr>
        <p:spPr>
          <a:xfrm>
            <a:off x="3776312" y="3782683"/>
            <a:ext cx="1838965" cy="27699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a, b, c. </a:t>
            </a:r>
            <a:r>
              <a:rPr lang="en-US" altLang="ko-KR" sz="1200"/>
              <a:t>d</a:t>
            </a:r>
            <a:r>
              <a:rPr lang="ko-KR" altLang="en-US" sz="1200"/>
              <a:t>를 </a:t>
            </a:r>
            <a:r>
              <a:rPr lang="ko-KR" altLang="en-US" sz="1200" dirty="0"/>
              <a:t>포함하는 발명</a:t>
            </a:r>
          </a:p>
        </p:txBody>
      </p:sp>
      <p:sp>
        <p:nvSpPr>
          <p:cNvPr id="69" name="Rectangle 14">
            <a:extLst>
              <a:ext uri="{FF2B5EF4-FFF2-40B4-BE49-F238E27FC236}">
                <a16:creationId xmlns:a16="http://schemas.microsoft.com/office/drawing/2014/main" id="{B934E805-F7DD-4B9C-B15C-2FB2A85EB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4221" y="2099946"/>
            <a:ext cx="925579" cy="35900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solidFill>
                  <a:schemeClr val="bg1"/>
                </a:solidFill>
                <a:latin typeface="+mn-ea"/>
              </a:rPr>
              <a:t>선행기술 </a:t>
            </a:r>
            <a:r>
              <a:rPr lang="en-US" altLang="ko-KR" sz="1200" b="0" dirty="0">
                <a:solidFill>
                  <a:schemeClr val="bg1"/>
                </a:solidFill>
                <a:latin typeface="+mn-ea"/>
              </a:rPr>
              <a:t>1</a:t>
            </a:r>
            <a:endParaRPr lang="ko-KR" altLang="en-US" sz="1200" b="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0" name="Rectangle 14">
            <a:extLst>
              <a:ext uri="{FF2B5EF4-FFF2-40B4-BE49-F238E27FC236}">
                <a16:creationId xmlns:a16="http://schemas.microsoft.com/office/drawing/2014/main" id="{03C93EA7-B683-4141-B6F2-9824FA8E81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4044" y="2099946"/>
            <a:ext cx="925579" cy="35900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solidFill>
                  <a:schemeClr val="bg1"/>
                </a:solidFill>
                <a:latin typeface="+mn-ea"/>
              </a:rPr>
              <a:t>선행기술 </a:t>
            </a:r>
            <a:r>
              <a:rPr lang="en-US" altLang="ko-KR" sz="1200" b="0" dirty="0">
                <a:solidFill>
                  <a:schemeClr val="bg1"/>
                </a:solidFill>
                <a:latin typeface="+mn-ea"/>
              </a:rPr>
              <a:t>2</a:t>
            </a:r>
            <a:endParaRPr lang="ko-KR" altLang="en-US" sz="1200" b="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1" name="Rectangle 14">
            <a:extLst>
              <a:ext uri="{FF2B5EF4-FFF2-40B4-BE49-F238E27FC236}">
                <a16:creationId xmlns:a16="http://schemas.microsoft.com/office/drawing/2014/main" id="{C98ED84B-642B-4967-B4A3-8F1BE7D1D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9621" y="2099946"/>
            <a:ext cx="925579" cy="35900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solidFill>
                  <a:schemeClr val="bg1"/>
                </a:solidFill>
                <a:latin typeface="+mn-ea"/>
              </a:rPr>
              <a:t>선행기술 </a:t>
            </a:r>
            <a:r>
              <a:rPr lang="en-US" altLang="ko-KR" sz="1200" b="0" dirty="0">
                <a:solidFill>
                  <a:schemeClr val="bg1"/>
                </a:solidFill>
                <a:latin typeface="+mn-ea"/>
              </a:rPr>
              <a:t>3</a:t>
            </a:r>
            <a:endParaRPr lang="ko-KR" altLang="en-US" sz="1200" b="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D376DB5-4C6E-42DE-B57E-FA0BF120C81C}"/>
              </a:ext>
            </a:extLst>
          </p:cNvPr>
          <p:cNvSpPr txBox="1"/>
          <p:nvPr/>
        </p:nvSpPr>
        <p:spPr>
          <a:xfrm>
            <a:off x="191710" y="2651116"/>
            <a:ext cx="1502334" cy="27699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a, b</a:t>
            </a:r>
            <a:r>
              <a:rPr lang="ko-KR" altLang="en-US" sz="1200" dirty="0"/>
              <a:t>를 포함하는 발명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83E11A-0D78-40F2-9538-9F71587FE7CD}"/>
              </a:ext>
            </a:extLst>
          </p:cNvPr>
          <p:cNvSpPr txBox="1"/>
          <p:nvPr/>
        </p:nvSpPr>
        <p:spPr>
          <a:xfrm>
            <a:off x="1297287" y="3022783"/>
            <a:ext cx="1476686" cy="27699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c, e</a:t>
            </a:r>
            <a:r>
              <a:rPr lang="ko-KR" altLang="en-US" sz="1200" dirty="0"/>
              <a:t>를 포함하는 발명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20045DF-AFA5-4846-A365-6D0F4091BBBF}"/>
              </a:ext>
            </a:extLst>
          </p:cNvPr>
          <p:cNvSpPr txBox="1"/>
          <p:nvPr/>
        </p:nvSpPr>
        <p:spPr>
          <a:xfrm>
            <a:off x="2358336" y="3429000"/>
            <a:ext cx="1657826" cy="27699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b, d, f</a:t>
            </a:r>
            <a:r>
              <a:rPr lang="ko-KR" altLang="en-US" sz="1200" dirty="0"/>
              <a:t>를 포함하는 발명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374E377D-C85B-41A9-A457-09DFF0125A50}"/>
              </a:ext>
            </a:extLst>
          </p:cNvPr>
          <p:cNvCxnSpPr>
            <a:stCxn id="69" idx="2"/>
            <a:endCxn id="72" idx="0"/>
          </p:cNvCxnSpPr>
          <p:nvPr/>
        </p:nvCxnSpPr>
        <p:spPr>
          <a:xfrm rot="5400000">
            <a:off x="888862" y="2512966"/>
            <a:ext cx="192165" cy="8413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FDB4262A-8C21-451D-96BD-E63262C00DD7}"/>
              </a:ext>
            </a:extLst>
          </p:cNvPr>
          <p:cNvCxnSpPr>
            <a:stCxn id="70" idx="2"/>
            <a:endCxn id="73" idx="0"/>
          </p:cNvCxnSpPr>
          <p:nvPr/>
        </p:nvCxnSpPr>
        <p:spPr>
          <a:xfrm rot="5400000">
            <a:off x="1814316" y="2680265"/>
            <a:ext cx="563832" cy="12120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122BCCAC-84A5-4B97-AC72-E88B469DE841}"/>
              </a:ext>
            </a:extLst>
          </p:cNvPr>
          <p:cNvCxnSpPr>
            <a:stCxn id="71" idx="2"/>
            <a:endCxn id="74" idx="0"/>
          </p:cNvCxnSpPr>
          <p:nvPr/>
        </p:nvCxnSpPr>
        <p:spPr>
          <a:xfrm rot="5400000">
            <a:off x="2739806" y="2906394"/>
            <a:ext cx="970049" cy="7516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05B07D72-0677-4D26-87C7-E6EF547D97D1}"/>
              </a:ext>
            </a:extLst>
          </p:cNvPr>
          <p:cNvCxnSpPr>
            <a:stCxn id="7" idx="0"/>
            <a:endCxn id="42" idx="2"/>
          </p:cNvCxnSpPr>
          <p:nvPr/>
        </p:nvCxnSpPr>
        <p:spPr>
          <a:xfrm rot="16200000" flipV="1">
            <a:off x="3904534" y="2991421"/>
            <a:ext cx="1323732" cy="25879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1FAE1A53-2375-47FD-8C7A-E849A54C4F98}"/>
              </a:ext>
            </a:extLst>
          </p:cNvPr>
          <p:cNvSpPr txBox="1"/>
          <p:nvPr/>
        </p:nvSpPr>
        <p:spPr>
          <a:xfrm>
            <a:off x="3092729" y="4286477"/>
            <a:ext cx="5755122" cy="904017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ko-KR" altLang="en-US" sz="1200" dirty="0"/>
              <a:t>본원발명은 선행기술 </a:t>
            </a:r>
            <a:r>
              <a:rPr lang="en-US" altLang="ko-KR" sz="1200" dirty="0"/>
              <a:t>1</a:t>
            </a:r>
            <a:r>
              <a:rPr lang="ko-KR" altLang="en-US" sz="1200" dirty="0"/>
              <a:t>과 비교하여</a:t>
            </a:r>
            <a:r>
              <a:rPr lang="en-US" altLang="ko-KR" sz="1200" dirty="0"/>
              <a:t>, a, b</a:t>
            </a:r>
            <a:r>
              <a:rPr lang="ko-KR" altLang="en-US" sz="1200" dirty="0"/>
              <a:t>가 동일하고 </a:t>
            </a:r>
            <a:r>
              <a:rPr lang="en-US" altLang="ko-KR" sz="1200" dirty="0"/>
              <a:t>c, d</a:t>
            </a:r>
            <a:r>
              <a:rPr lang="ko-KR" altLang="en-US" sz="1200" dirty="0"/>
              <a:t>에 차이가 있지만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/>
              <a:t>c</a:t>
            </a:r>
            <a:r>
              <a:rPr lang="ko-KR" altLang="en-US" sz="1200" dirty="0"/>
              <a:t>는 선행기술</a:t>
            </a:r>
            <a:r>
              <a:rPr lang="en-US" altLang="ko-KR" sz="1200" dirty="0"/>
              <a:t>2</a:t>
            </a:r>
            <a:r>
              <a:rPr lang="ko-KR" altLang="en-US" sz="1200" dirty="0"/>
              <a:t>에 기재된 </a:t>
            </a:r>
            <a:r>
              <a:rPr lang="en-US" altLang="ko-KR" sz="1200" dirty="0"/>
              <a:t>c</a:t>
            </a:r>
            <a:r>
              <a:rPr lang="ko-KR" altLang="en-US" sz="1200" dirty="0"/>
              <a:t>로부터 통상의 기술자가 쉽게 발명할 수 있고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en-US" altLang="ko-KR" sz="1200" dirty="0"/>
              <a:t>d</a:t>
            </a:r>
            <a:r>
              <a:rPr lang="ko-KR" altLang="en-US" sz="1200" dirty="0"/>
              <a:t>는 선행기술</a:t>
            </a:r>
            <a:r>
              <a:rPr lang="en-US" altLang="ko-KR" sz="1200" dirty="0"/>
              <a:t>3</a:t>
            </a:r>
            <a:r>
              <a:rPr lang="ko-KR" altLang="en-US" sz="1200" dirty="0"/>
              <a:t>에 기재된 </a:t>
            </a:r>
            <a:r>
              <a:rPr lang="en-US" altLang="ko-KR" sz="1200" dirty="0"/>
              <a:t>d</a:t>
            </a:r>
            <a:r>
              <a:rPr lang="ko-KR" altLang="en-US" sz="1200" dirty="0"/>
              <a:t>로부터 통상의 기술자가 쉽게 발명할 수 있기 때문에 결국 진보성 위반이다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87" name="Rectangle 14">
            <a:extLst>
              <a:ext uri="{FF2B5EF4-FFF2-40B4-BE49-F238E27FC236}">
                <a16:creationId xmlns:a16="http://schemas.microsoft.com/office/drawing/2014/main" id="{736FC315-D79E-44E9-A8E2-2370C93419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9478" y="2099947"/>
            <a:ext cx="925579" cy="3590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>
                <a:latin typeface="+mn-ea"/>
              </a:rPr>
              <a:t>거절결정</a:t>
            </a:r>
            <a:endParaRPr lang="ko-KR" altLang="en-US" sz="1200" b="0" dirty="0">
              <a:latin typeface="+mn-ea"/>
            </a:endParaRPr>
          </a:p>
        </p:txBody>
      </p:sp>
      <p:sp>
        <p:nvSpPr>
          <p:cNvPr id="88" name="Rectangle 14">
            <a:extLst>
              <a:ext uri="{FF2B5EF4-FFF2-40B4-BE49-F238E27FC236}">
                <a16:creationId xmlns:a16="http://schemas.microsoft.com/office/drawing/2014/main" id="{A7D2C602-EB9E-4097-976D-D1DFEBA60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8884" y="2099946"/>
            <a:ext cx="925579" cy="359004"/>
          </a:xfrm>
          <a:prstGeom prst="rect">
            <a:avLst/>
          </a:prstGeom>
          <a:solidFill>
            <a:schemeClr val="tx2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+mn-ea"/>
              </a:rPr>
              <a:t>의견서</a:t>
            </a:r>
            <a:endParaRPr lang="ko-KR" altLang="en-US" sz="1200" b="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D9F382-2F5F-48DE-9F28-240555AA2CD9}"/>
              </a:ext>
            </a:extLst>
          </p:cNvPr>
          <p:cNvSpPr txBox="1"/>
          <p:nvPr/>
        </p:nvSpPr>
        <p:spPr>
          <a:xfrm>
            <a:off x="6099683" y="5745233"/>
            <a:ext cx="5840083" cy="857933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b">
            <a:noAutofit/>
          </a:bodyPr>
          <a:lstStyle/>
          <a:p>
            <a:r>
              <a:rPr lang="ko-KR" altLang="en-US" sz="1200" dirty="0"/>
              <a:t>본원발명은 선행기술 </a:t>
            </a:r>
            <a:r>
              <a:rPr lang="en-US" altLang="ko-KR" sz="1200" dirty="0"/>
              <a:t>3</a:t>
            </a:r>
            <a:r>
              <a:rPr lang="ko-KR" altLang="en-US" sz="1200" dirty="0"/>
              <a:t>과 비교하여</a:t>
            </a:r>
            <a:r>
              <a:rPr lang="en-US" altLang="ko-KR" sz="1200" dirty="0"/>
              <a:t>, b, d</a:t>
            </a:r>
            <a:r>
              <a:rPr lang="ko-KR" altLang="en-US" sz="1200" dirty="0"/>
              <a:t>가 동일하고 </a:t>
            </a:r>
            <a:r>
              <a:rPr lang="en-US" altLang="ko-KR" sz="1200" dirty="0"/>
              <a:t>a, c</a:t>
            </a:r>
            <a:r>
              <a:rPr lang="ko-KR" altLang="en-US" sz="1200" dirty="0"/>
              <a:t>에 차이가 있지만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/>
              <a:t>c</a:t>
            </a:r>
            <a:r>
              <a:rPr lang="ko-KR" altLang="en-US" sz="1200" dirty="0"/>
              <a:t>는 선행기술</a:t>
            </a:r>
            <a:r>
              <a:rPr lang="en-US" altLang="ko-KR" sz="1200" dirty="0"/>
              <a:t>2</a:t>
            </a:r>
            <a:r>
              <a:rPr lang="ko-KR" altLang="en-US" sz="1200" dirty="0"/>
              <a:t>로부터 통상의 기술자가 쉽게 발명할 수 있고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en-US" altLang="ko-KR" sz="1200" dirty="0"/>
              <a:t>a</a:t>
            </a:r>
            <a:r>
              <a:rPr lang="ko-KR" altLang="en-US" sz="1200" dirty="0"/>
              <a:t>는 선행기술</a:t>
            </a:r>
            <a:r>
              <a:rPr lang="en-US" altLang="ko-KR" sz="1200" dirty="0"/>
              <a:t>1</a:t>
            </a:r>
            <a:r>
              <a:rPr lang="ko-KR" altLang="en-US" sz="1200" dirty="0"/>
              <a:t>으로부터 통상의 기술자가 쉽게 발명할 수 있기 때문에 결국 진보성 위반이다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6" name="Rectangle 14">
            <a:extLst>
              <a:ext uri="{FF2B5EF4-FFF2-40B4-BE49-F238E27FC236}">
                <a16:creationId xmlns:a16="http://schemas.microsoft.com/office/drawing/2014/main" id="{4B95A30D-A9B7-4B2A-8DA5-AB3EED8830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31663" y="2099946"/>
            <a:ext cx="925579" cy="3590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 err="1">
                <a:latin typeface="+mn-ea"/>
              </a:rPr>
              <a:t>기각심결</a:t>
            </a:r>
            <a:endParaRPr lang="ko-KR" altLang="en-US" sz="1200" b="0" dirty="0">
              <a:latin typeface="+mn-ea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47E83A2F-9CF1-4D16-8474-DD73EC442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7334" y="2099946"/>
            <a:ext cx="925579" cy="3590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n-ea"/>
              </a:rPr>
              <a:t>소제기</a:t>
            </a: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6A2BF9A6-A43A-4A64-B4DF-40A1B644A1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89302" y="2099946"/>
            <a:ext cx="925579" cy="359005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solidFill>
                  <a:schemeClr val="accent4"/>
                </a:solidFill>
                <a:latin typeface="+mn-ea"/>
              </a:rPr>
              <a:t>피고</a:t>
            </a:r>
            <a:r>
              <a:rPr lang="ko-KR" altLang="en-US" sz="1200" dirty="0">
                <a:solidFill>
                  <a:schemeClr val="accent4"/>
                </a:solidFill>
                <a:latin typeface="+mn-ea"/>
              </a:rPr>
              <a:t> 주장</a:t>
            </a:r>
            <a:endParaRPr lang="en-US" altLang="ko-KR" sz="1200" b="0" dirty="0">
              <a:solidFill>
                <a:schemeClr val="accent4"/>
              </a:solidFill>
              <a:latin typeface="+mn-e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86FBC4-EDEE-4E97-A957-4F8E08CA3ABB}"/>
              </a:ext>
            </a:extLst>
          </p:cNvPr>
          <p:cNvSpPr txBox="1"/>
          <p:nvPr/>
        </p:nvSpPr>
        <p:spPr>
          <a:xfrm>
            <a:off x="6469296" y="3276540"/>
            <a:ext cx="2068004" cy="46166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c</a:t>
            </a:r>
            <a:r>
              <a:rPr lang="ko-KR" altLang="en-US" sz="1200" dirty="0"/>
              <a:t>와 </a:t>
            </a:r>
            <a:r>
              <a:rPr lang="en-US" altLang="ko-KR" sz="1200" dirty="0"/>
              <a:t>d</a:t>
            </a:r>
            <a:r>
              <a:rPr lang="ko-KR" altLang="en-US" sz="1200" dirty="0"/>
              <a:t>는 선행기술</a:t>
            </a:r>
            <a:r>
              <a:rPr lang="en-US" altLang="ko-KR" sz="1200" dirty="0"/>
              <a:t>2, </a:t>
            </a:r>
            <a:r>
              <a:rPr lang="ko-KR" altLang="en-US" sz="1200" dirty="0"/>
              <a:t>선행기술</a:t>
            </a:r>
            <a:r>
              <a:rPr lang="en-US" altLang="ko-KR" sz="1200" dirty="0"/>
              <a:t>3</a:t>
            </a:r>
            <a:r>
              <a:rPr lang="ko-KR" altLang="en-US" sz="1200" dirty="0"/>
              <a:t>으로부터 쉽게 발명할 수 없다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7079D9B-AE76-4177-ACBF-32FEDA7229B6}"/>
              </a:ext>
            </a:extLst>
          </p:cNvPr>
          <p:cNvCxnSpPr>
            <a:cxnSpLocks/>
            <a:stCxn id="65" idx="2"/>
            <a:endCxn id="86" idx="0"/>
          </p:cNvCxnSpPr>
          <p:nvPr/>
        </p:nvCxnSpPr>
        <p:spPr>
          <a:xfrm rot="16200000" flipH="1">
            <a:off x="4775181" y="3091368"/>
            <a:ext cx="1827526" cy="56269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0F97D61C-F605-4F38-B0C5-9B73485C5FCB}"/>
              </a:ext>
            </a:extLst>
          </p:cNvPr>
          <p:cNvCxnSpPr>
            <a:cxnSpLocks/>
            <a:stCxn id="29" idx="2"/>
            <a:endCxn id="89" idx="0"/>
          </p:cNvCxnSpPr>
          <p:nvPr/>
        </p:nvCxnSpPr>
        <p:spPr>
          <a:xfrm rot="5400000">
            <a:off x="8492768" y="2985909"/>
            <a:ext cx="3286282" cy="2232367"/>
          </a:xfrm>
          <a:prstGeom prst="bentConnector3">
            <a:avLst>
              <a:gd name="adj1" fmla="val 79189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39CA05A6-39B3-43DD-BF2E-8F70ED4C152F}"/>
              </a:ext>
            </a:extLst>
          </p:cNvPr>
          <p:cNvCxnSpPr>
            <a:stCxn id="88" idx="2"/>
            <a:endCxn id="30" idx="0"/>
          </p:cNvCxnSpPr>
          <p:nvPr/>
        </p:nvCxnSpPr>
        <p:spPr>
          <a:xfrm rot="16200000" flipH="1">
            <a:off x="6533691" y="2306933"/>
            <a:ext cx="817590" cy="112162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4FF4C2-2AD9-4259-A800-F8C916402FC3}"/>
              </a:ext>
            </a:extLst>
          </p:cNvPr>
          <p:cNvSpPr/>
          <p:nvPr/>
        </p:nvSpPr>
        <p:spPr>
          <a:xfrm>
            <a:off x="339566" y="5597703"/>
            <a:ext cx="2369069" cy="10054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200" dirty="0">
                <a:solidFill>
                  <a:schemeClr val="accent4">
                    <a:lumMod val="50000"/>
                  </a:schemeClr>
                </a:solidFill>
              </a:rPr>
              <a:t>가장 가까운 인용대상으로부터 청구항에 기재된 발명에 이르는 것이 통상의 기술자에게 용이한지 여부를 다른 인용대상과 출원전의 기술상식 및 </a:t>
            </a:r>
            <a:r>
              <a:rPr lang="ko-KR" altLang="en-US" sz="1200" dirty="0" err="1">
                <a:solidFill>
                  <a:schemeClr val="accent4">
                    <a:lumMod val="50000"/>
                  </a:schemeClr>
                </a:solidFill>
              </a:rPr>
              <a:t>경험칙에</a:t>
            </a:r>
            <a:r>
              <a:rPr lang="ko-KR" altLang="en-US" sz="1200" dirty="0">
                <a:solidFill>
                  <a:schemeClr val="accent4">
                    <a:lumMod val="50000"/>
                  </a:schemeClr>
                </a:solidFill>
              </a:rPr>
              <a:t> 의하여 판단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50DB238-135C-457E-9E53-B70622DC75A3}"/>
              </a:ext>
            </a:extLst>
          </p:cNvPr>
          <p:cNvSpPr/>
          <p:nvPr/>
        </p:nvSpPr>
        <p:spPr>
          <a:xfrm>
            <a:off x="339566" y="4659255"/>
            <a:ext cx="2369069" cy="83099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fontAlgn="base" latinLnBrk="0"/>
            <a:r>
              <a:rPr lang="ko-KR" altLang="en-US" sz="1200" dirty="0">
                <a:solidFill>
                  <a:schemeClr val="accent4">
                    <a:lumMod val="50000"/>
                  </a:schemeClr>
                </a:solidFill>
              </a:rPr>
              <a:t>청구항에 기재된 발명과 가장 가까운 인용대상</a:t>
            </a:r>
            <a:r>
              <a:rPr lang="en-US" altLang="ko-KR" sz="1200" dirty="0">
                <a:solidFill>
                  <a:schemeClr val="accent4">
                    <a:lumMod val="50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accent4">
                    <a:lumMod val="50000"/>
                  </a:schemeClr>
                </a:solidFill>
              </a:rPr>
              <a:t>주선행발명</a:t>
            </a:r>
            <a:r>
              <a:rPr lang="en-US" altLang="ko-KR" sz="1200" dirty="0">
                <a:solidFill>
                  <a:schemeClr val="accent4">
                    <a:lumMod val="50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accent4">
                    <a:lumMod val="50000"/>
                  </a:schemeClr>
                </a:solidFill>
              </a:rPr>
              <a:t>을 선택하고 양자를 대비하여 차이점 파악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581F4F9-01A8-43A6-8E64-299EF8328B13}"/>
              </a:ext>
            </a:extLst>
          </p:cNvPr>
          <p:cNvSpPr/>
          <p:nvPr/>
        </p:nvSpPr>
        <p:spPr>
          <a:xfrm>
            <a:off x="339566" y="4274805"/>
            <a:ext cx="2369069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fontAlgn="base" latinLnBrk="0"/>
            <a:r>
              <a:rPr lang="ko-KR" altLang="en-US" sz="1200" dirty="0">
                <a:solidFill>
                  <a:schemeClr val="accent4">
                    <a:lumMod val="50000"/>
                  </a:schemeClr>
                </a:solidFill>
              </a:rPr>
              <a:t>인용대상의 특정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698E7D5-09EF-45B9-B197-238783A3B086}"/>
              </a:ext>
            </a:extLst>
          </p:cNvPr>
          <p:cNvSpPr/>
          <p:nvPr/>
        </p:nvSpPr>
        <p:spPr>
          <a:xfrm>
            <a:off x="339566" y="3897406"/>
            <a:ext cx="2369069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fontAlgn="base" latinLnBrk="0"/>
            <a:r>
              <a:rPr lang="ko-KR" altLang="en-US" sz="1200" dirty="0">
                <a:solidFill>
                  <a:schemeClr val="accent4">
                    <a:lumMod val="50000"/>
                  </a:schemeClr>
                </a:solidFill>
              </a:rPr>
              <a:t>청구항에 기재된 발명의 특정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9C6C1C2-4930-4368-97F3-9E7C21E9A7F6}"/>
              </a:ext>
            </a:extLst>
          </p:cNvPr>
          <p:cNvCxnSpPr>
            <a:stCxn id="36" idx="2"/>
            <a:endCxn id="35" idx="0"/>
          </p:cNvCxnSpPr>
          <p:nvPr/>
        </p:nvCxnSpPr>
        <p:spPr>
          <a:xfrm>
            <a:off x="1524101" y="4174405"/>
            <a:ext cx="0" cy="1004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6DC189F-105C-4E68-9FC5-C1008309DBB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524101" y="4551804"/>
            <a:ext cx="0" cy="9885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193CA80-E58A-450D-813F-747CBE0802C5}"/>
              </a:ext>
            </a:extLst>
          </p:cNvPr>
          <p:cNvCxnSpPr>
            <a:cxnSpLocks/>
            <a:stCxn id="34" idx="2"/>
            <a:endCxn id="5" idx="0"/>
          </p:cNvCxnSpPr>
          <p:nvPr/>
        </p:nvCxnSpPr>
        <p:spPr>
          <a:xfrm>
            <a:off x="1524101" y="5490252"/>
            <a:ext cx="0" cy="10745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6EA515B-8399-ED04-70BC-57D8BBFD5EFB}"/>
              </a:ext>
            </a:extLst>
          </p:cNvPr>
          <p:cNvSpPr/>
          <p:nvPr/>
        </p:nvSpPr>
        <p:spPr>
          <a:xfrm>
            <a:off x="5116003" y="5045741"/>
            <a:ext cx="1025348" cy="289505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거절이유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AC8C7E9-B0E5-8FE8-DFED-0C159E4A2E5F}"/>
              </a:ext>
            </a:extLst>
          </p:cNvPr>
          <p:cNvSpPr/>
          <p:nvPr/>
        </p:nvSpPr>
        <p:spPr>
          <a:xfrm>
            <a:off x="7547352" y="5594013"/>
            <a:ext cx="1025348" cy="289505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거절이유</a:t>
            </a:r>
          </a:p>
        </p:txBody>
      </p: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0F2DA29B-30FD-B7B7-B759-B8A7E01D2F5D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16200000" flipH="1">
            <a:off x="6714968" y="4248954"/>
            <a:ext cx="258767" cy="2431349"/>
          </a:xfrm>
          <a:prstGeom prst="bentConnector3">
            <a:avLst/>
          </a:prstGeom>
          <a:ln w="28575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C500907-BFF4-C771-D91C-06E25AD12FE1}"/>
              </a:ext>
            </a:extLst>
          </p:cNvPr>
          <p:cNvSpPr txBox="1"/>
          <p:nvPr/>
        </p:nvSpPr>
        <p:spPr>
          <a:xfrm>
            <a:off x="6446222" y="5326278"/>
            <a:ext cx="1002197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주지 부합</a:t>
            </a:r>
            <a:r>
              <a:rPr lang="en-US" altLang="ko-KR" sz="1400" dirty="0"/>
              <a:t>X</a:t>
            </a:r>
            <a:endParaRPr lang="ko-KR" altLang="en-US" sz="1400" dirty="0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EB685589-F632-1DA8-D49D-3C3AD7E6D3E6}"/>
              </a:ext>
            </a:extLst>
          </p:cNvPr>
          <p:cNvCxnSpPr>
            <a:stCxn id="87" idx="2"/>
            <a:endCxn id="86" idx="3"/>
          </p:cNvCxnSpPr>
          <p:nvPr/>
        </p:nvCxnSpPr>
        <p:spPr>
          <a:xfrm rot="16200000" flipH="1">
            <a:off x="6960292" y="2850926"/>
            <a:ext cx="2279535" cy="1495583"/>
          </a:xfrm>
          <a:prstGeom prst="bentConnector4">
            <a:avLst>
              <a:gd name="adj1" fmla="val 9410"/>
              <a:gd name="adj2" fmla="val 106294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연결선: 꺾임 39">
            <a:extLst>
              <a:ext uri="{FF2B5EF4-FFF2-40B4-BE49-F238E27FC236}">
                <a16:creationId xmlns:a16="http://schemas.microsoft.com/office/drawing/2014/main" id="{51DE4CD7-DED2-4D75-B4DC-5A1C825E7D55}"/>
              </a:ext>
            </a:extLst>
          </p:cNvPr>
          <p:cNvCxnSpPr>
            <a:cxnSpLocks/>
            <a:stCxn id="26" idx="2"/>
            <a:endCxn id="86" idx="3"/>
          </p:cNvCxnSpPr>
          <p:nvPr/>
        </p:nvCxnSpPr>
        <p:spPr>
          <a:xfrm rot="5400000">
            <a:off x="7931385" y="3375417"/>
            <a:ext cx="2279535" cy="446602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4497DF-1DDB-B1B9-F78A-C6FB06D13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528630"/>
              </p:ext>
            </p:extLst>
          </p:nvPr>
        </p:nvGraphicFramePr>
        <p:xfrm>
          <a:off x="2880509" y="5561874"/>
          <a:ext cx="2956130" cy="1143000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591226">
                  <a:extLst>
                    <a:ext uri="{9D8B030D-6E8A-4147-A177-3AD203B41FA5}">
                      <a16:colId xmlns:a16="http://schemas.microsoft.com/office/drawing/2014/main" val="1620216613"/>
                    </a:ext>
                  </a:extLst>
                </a:gridCol>
                <a:gridCol w="591226">
                  <a:extLst>
                    <a:ext uri="{9D8B030D-6E8A-4147-A177-3AD203B41FA5}">
                      <a16:colId xmlns:a16="http://schemas.microsoft.com/office/drawing/2014/main" val="550105099"/>
                    </a:ext>
                  </a:extLst>
                </a:gridCol>
                <a:gridCol w="591226">
                  <a:extLst>
                    <a:ext uri="{9D8B030D-6E8A-4147-A177-3AD203B41FA5}">
                      <a16:colId xmlns:a16="http://schemas.microsoft.com/office/drawing/2014/main" val="390291616"/>
                    </a:ext>
                  </a:extLst>
                </a:gridCol>
                <a:gridCol w="591226">
                  <a:extLst>
                    <a:ext uri="{9D8B030D-6E8A-4147-A177-3AD203B41FA5}">
                      <a16:colId xmlns:a16="http://schemas.microsoft.com/office/drawing/2014/main" val="3014985931"/>
                    </a:ext>
                  </a:extLst>
                </a:gridCol>
                <a:gridCol w="591226">
                  <a:extLst>
                    <a:ext uri="{9D8B030D-6E8A-4147-A177-3AD203B41FA5}">
                      <a16:colId xmlns:a16="http://schemas.microsoft.com/office/drawing/2014/main" val="299575125"/>
                    </a:ext>
                  </a:extLst>
                </a:gridCol>
              </a:tblGrid>
              <a:tr h="1277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출원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선행</a:t>
                      </a:r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선행</a:t>
                      </a:r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선행</a:t>
                      </a:r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OR</a:t>
                      </a:r>
                      <a:endParaRPr lang="ko-KR" altLang="en-US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3343562"/>
                  </a:ext>
                </a:extLst>
              </a:tr>
              <a:tr h="1277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a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723462"/>
                  </a:ext>
                </a:extLst>
              </a:tr>
              <a:tr h="1277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b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0593758"/>
                  </a:ext>
                </a:extLst>
              </a:tr>
              <a:tr h="1277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696569"/>
                  </a:ext>
                </a:extLst>
              </a:tr>
              <a:tr h="1277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d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082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11806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거절이유통지를 받은 출원인의 대응방안</a:t>
            </a:r>
          </a:p>
        </p:txBody>
      </p:sp>
      <p:sp>
        <p:nvSpPr>
          <p:cNvPr id="31" name="순서도: 판단 30"/>
          <p:cNvSpPr/>
          <p:nvPr/>
        </p:nvSpPr>
        <p:spPr bwMode="auto">
          <a:xfrm>
            <a:off x="2702261" y="2459750"/>
            <a:ext cx="1920213" cy="76076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0" tIns="46800" rIns="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1" lang="ko-KR" altLang="en-US" sz="14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+mn-ea"/>
              </a:rPr>
              <a:t>거절이유의 </a:t>
            </a:r>
            <a:endParaRPr kumimoji="1" lang="en-US" altLang="ko-KR" sz="14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1" lang="ko-KR" altLang="en-US" sz="14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+mn-ea"/>
              </a:rPr>
              <a:t>타당성</a:t>
            </a:r>
          </a:p>
        </p:txBody>
      </p:sp>
      <p:sp>
        <p:nvSpPr>
          <p:cNvPr id="32" name="순서도: 판단 31"/>
          <p:cNvSpPr/>
          <p:nvPr/>
        </p:nvSpPr>
        <p:spPr bwMode="auto">
          <a:xfrm>
            <a:off x="2702261" y="3636026"/>
            <a:ext cx="1920213" cy="760764"/>
          </a:xfrm>
          <a:prstGeom prst="flowChartDecision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0" tIns="46800" rIns="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1" lang="ko-KR" altLang="en-US" sz="14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+mn-ea"/>
              </a:rPr>
              <a:t>극복가능성</a:t>
            </a:r>
          </a:p>
        </p:txBody>
      </p:sp>
      <p:cxnSp>
        <p:nvCxnSpPr>
          <p:cNvPr id="34" name="직선 화살표 연결선 33"/>
          <p:cNvCxnSpPr>
            <a:stCxn id="31" idx="2"/>
            <a:endCxn id="32" idx="0"/>
          </p:cNvCxnSpPr>
          <p:nvPr/>
        </p:nvCxnSpPr>
        <p:spPr bwMode="auto">
          <a:xfrm>
            <a:off x="3662368" y="3220514"/>
            <a:ext cx="0" cy="41551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541438" y="2097432"/>
            <a:ext cx="3191500" cy="28585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의견서 제출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41" name="직선 화살표 연결선 40"/>
          <p:cNvCxnSpPr>
            <a:stCxn id="31" idx="3"/>
          </p:cNvCxnSpPr>
          <p:nvPr/>
        </p:nvCxnSpPr>
        <p:spPr bwMode="auto">
          <a:xfrm>
            <a:off x="4622474" y="2840132"/>
            <a:ext cx="74962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 bwMode="auto">
          <a:xfrm flipV="1">
            <a:off x="4622474" y="4025197"/>
            <a:ext cx="749626" cy="1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758033" y="3185067"/>
            <a:ext cx="4238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Yes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58033" y="4396791"/>
            <a:ext cx="4238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Yes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552950" y="2569048"/>
            <a:ext cx="38023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No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595591" y="3750326"/>
            <a:ext cx="38023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No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5" name="Rectangle 13"/>
          <p:cNvSpPr>
            <a:spLocks noChangeArrowheads="1"/>
          </p:cNvSpPr>
          <p:nvPr/>
        </p:nvSpPr>
        <p:spPr bwMode="auto">
          <a:xfrm>
            <a:off x="533135" y="1330177"/>
            <a:ext cx="1657615" cy="45099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거절이유통지</a:t>
            </a:r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ko-KR" altLang="en-US" sz="1400" dirty="0">
                <a:latin typeface="+mj-ea"/>
                <a:ea typeface="+mj-ea"/>
              </a:rPr>
              <a:t>자극</a:t>
            </a:r>
            <a:r>
              <a:rPr lang="en-US" altLang="ko-KR" sz="1400" dirty="0">
                <a:latin typeface="+mj-ea"/>
                <a:ea typeface="+mj-ea"/>
              </a:rPr>
              <a:t>)</a:t>
            </a:r>
          </a:p>
        </p:txBody>
      </p:sp>
      <p:sp>
        <p:nvSpPr>
          <p:cNvPr id="56" name="Rectangle 13"/>
          <p:cNvSpPr>
            <a:spLocks noChangeArrowheads="1"/>
          </p:cNvSpPr>
          <p:nvPr/>
        </p:nvSpPr>
        <p:spPr bwMode="auto">
          <a:xfrm>
            <a:off x="2855388" y="1330177"/>
            <a:ext cx="1668987" cy="450998"/>
          </a:xfrm>
          <a:prstGeom prst="rect">
            <a:avLst/>
          </a:prstGeom>
          <a:solidFill>
            <a:schemeClr val="accent2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거절이유통지</a:t>
            </a:r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ko-KR" altLang="en-US" sz="1400" dirty="0">
                <a:latin typeface="+mj-ea"/>
                <a:ea typeface="+mj-ea"/>
              </a:rPr>
              <a:t>판단</a:t>
            </a:r>
            <a:r>
              <a:rPr lang="en-US" altLang="ko-KR" sz="1400" dirty="0">
                <a:latin typeface="+mj-ea"/>
                <a:ea typeface="+mj-ea"/>
              </a:rPr>
              <a:t>)</a:t>
            </a:r>
          </a:p>
        </p:txBody>
      </p:sp>
      <p:sp>
        <p:nvSpPr>
          <p:cNvPr id="58" name="Rectangle 13"/>
          <p:cNvSpPr>
            <a:spLocks noChangeArrowheads="1"/>
          </p:cNvSpPr>
          <p:nvPr/>
        </p:nvSpPr>
        <p:spPr bwMode="auto">
          <a:xfrm>
            <a:off x="5541439" y="1330177"/>
            <a:ext cx="5526612" cy="45099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대응방안</a:t>
            </a:r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ko-KR" altLang="en-US" sz="1400" dirty="0">
                <a:latin typeface="+mj-ea"/>
                <a:ea typeface="+mj-ea"/>
              </a:rPr>
              <a:t>반응</a:t>
            </a:r>
            <a:r>
              <a:rPr lang="en-US" altLang="ko-KR" sz="1400" dirty="0">
                <a:latin typeface="+mj-ea"/>
                <a:ea typeface="+mj-ea"/>
              </a:rPr>
              <a:t>)</a:t>
            </a:r>
          </a:p>
        </p:txBody>
      </p:sp>
      <p:cxnSp>
        <p:nvCxnSpPr>
          <p:cNvPr id="5" name="직선 연결선 4"/>
          <p:cNvCxnSpPr>
            <a:stCxn id="55" idx="3"/>
            <a:endCxn id="56" idx="1"/>
          </p:cNvCxnSpPr>
          <p:nvPr/>
        </p:nvCxnSpPr>
        <p:spPr>
          <a:xfrm>
            <a:off x="2190750" y="1555676"/>
            <a:ext cx="664638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/>
          <p:cNvCxnSpPr>
            <a:stCxn id="56" idx="3"/>
            <a:endCxn id="58" idx="1"/>
          </p:cNvCxnSpPr>
          <p:nvPr/>
        </p:nvCxnSpPr>
        <p:spPr>
          <a:xfrm>
            <a:off x="4524375" y="1555676"/>
            <a:ext cx="1017064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532764" y="2442875"/>
            <a:ext cx="3204835" cy="31947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불복심판청구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재심사청구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532764" y="2823117"/>
            <a:ext cx="3204835" cy="31947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 err="1">
                <a:solidFill>
                  <a:schemeClr val="accent3">
                    <a:lumMod val="50000"/>
                  </a:schemeClr>
                </a:solidFill>
                <a:latin typeface="+mn-ea"/>
              </a:rPr>
              <a:t>심결취소의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 소 제기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/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분리출원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(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52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조의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764" y="3198028"/>
            <a:ext cx="3204835" cy="31947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상고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541438" y="3774525"/>
            <a:ext cx="3191500" cy="3498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출원의 취하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포기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541438" y="4185490"/>
            <a:ext cx="3191500" cy="3498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방치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541438" y="4821617"/>
            <a:ext cx="3191500" cy="349800"/>
          </a:xfrm>
          <a:prstGeom prst="rect">
            <a:avLst/>
          </a:prstGeom>
          <a:solidFill>
            <a:srgbClr val="00B0F0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출원인의 이익제도 활용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541438" y="5245807"/>
            <a:ext cx="3191500" cy="3498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의견서 제출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8" name="꺾인 연결선 17"/>
          <p:cNvCxnSpPr>
            <a:stCxn id="32" idx="2"/>
          </p:cNvCxnSpPr>
          <p:nvPr/>
        </p:nvCxnSpPr>
        <p:spPr>
          <a:xfrm rot="16200000" flipH="1">
            <a:off x="4092726" y="3966432"/>
            <a:ext cx="849017" cy="1709732"/>
          </a:xfrm>
          <a:prstGeom prst="bentConnector2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402619" y="3542215"/>
            <a:ext cx="1576925" cy="285851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30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396030" y="3887658"/>
            <a:ext cx="1583514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34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35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9396030" y="4267900"/>
            <a:ext cx="1583514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47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396030" y="4642811"/>
            <a:ext cx="1583514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52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9396030" y="5041571"/>
            <a:ext cx="1583514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53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396030" y="5421813"/>
            <a:ext cx="1583514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54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396030" y="5796724"/>
            <a:ext cx="1583514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dirty="0">
                <a:latin typeface="+mn-ea"/>
              </a:rPr>
              <a:t>55</a:t>
            </a:r>
            <a:r>
              <a:rPr lang="ko-KR" altLang="en-US" sz="1400" dirty="0"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23" name="꺾인 연결선 22"/>
          <p:cNvCxnSpPr>
            <a:cxnSpLocks/>
            <a:stCxn id="68" idx="3"/>
            <a:endCxn id="70" idx="1"/>
          </p:cNvCxnSpPr>
          <p:nvPr/>
        </p:nvCxnSpPr>
        <p:spPr>
          <a:xfrm flipV="1">
            <a:off x="8732938" y="3685141"/>
            <a:ext cx="669681" cy="131137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연결선 25"/>
          <p:cNvCxnSpPr>
            <a:cxnSpLocks/>
            <a:stCxn id="68" idx="3"/>
            <a:endCxn id="76" idx="1"/>
          </p:cNvCxnSpPr>
          <p:nvPr/>
        </p:nvCxnSpPr>
        <p:spPr>
          <a:xfrm>
            <a:off x="8732938" y="4996517"/>
            <a:ext cx="663092" cy="95994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꺾인 연결선 77"/>
          <p:cNvCxnSpPr>
            <a:cxnSpLocks/>
            <a:stCxn id="68" idx="3"/>
            <a:endCxn id="71" idx="1"/>
          </p:cNvCxnSpPr>
          <p:nvPr/>
        </p:nvCxnSpPr>
        <p:spPr>
          <a:xfrm flipV="1">
            <a:off x="8732938" y="4047395"/>
            <a:ext cx="663092" cy="94912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꺾인 연결선 79"/>
          <p:cNvCxnSpPr>
            <a:cxnSpLocks/>
            <a:stCxn id="68" idx="3"/>
            <a:endCxn id="75" idx="1"/>
          </p:cNvCxnSpPr>
          <p:nvPr/>
        </p:nvCxnSpPr>
        <p:spPr>
          <a:xfrm>
            <a:off x="8732938" y="4996517"/>
            <a:ext cx="663092" cy="585033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 81"/>
          <p:cNvCxnSpPr>
            <a:cxnSpLocks/>
            <a:stCxn id="68" idx="3"/>
            <a:endCxn id="72" idx="1"/>
          </p:cNvCxnSpPr>
          <p:nvPr/>
        </p:nvCxnSpPr>
        <p:spPr>
          <a:xfrm flipV="1">
            <a:off x="8732938" y="4427637"/>
            <a:ext cx="663092" cy="56888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 83"/>
          <p:cNvCxnSpPr>
            <a:cxnSpLocks/>
            <a:stCxn id="68" idx="3"/>
            <a:endCxn id="73" idx="1"/>
          </p:cNvCxnSpPr>
          <p:nvPr/>
        </p:nvCxnSpPr>
        <p:spPr>
          <a:xfrm flipV="1">
            <a:off x="8732938" y="4802548"/>
            <a:ext cx="663092" cy="193969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꺾인 연결선 85"/>
          <p:cNvCxnSpPr>
            <a:cxnSpLocks/>
            <a:stCxn id="68" idx="3"/>
            <a:endCxn id="74" idx="1"/>
          </p:cNvCxnSpPr>
          <p:nvPr/>
        </p:nvCxnSpPr>
        <p:spPr>
          <a:xfrm>
            <a:off x="8732938" y="4996517"/>
            <a:ext cx="663092" cy="20479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/>
          <p:cNvCxnSpPr/>
          <p:nvPr/>
        </p:nvCxnSpPr>
        <p:spPr>
          <a:xfrm>
            <a:off x="5114925" y="1057275"/>
            <a:ext cx="0" cy="550545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/>
          <p:cNvCxnSpPr/>
          <p:nvPr/>
        </p:nvCxnSpPr>
        <p:spPr>
          <a:xfrm>
            <a:off x="2523069" y="1057275"/>
            <a:ext cx="0" cy="550545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039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/>
          <p:cNvSpPr/>
          <p:nvPr/>
        </p:nvSpPr>
        <p:spPr>
          <a:xfrm>
            <a:off x="933450" y="2023499"/>
            <a:ext cx="10191750" cy="27717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양쪽 모서리가 둥근 사각형 26"/>
          <p:cNvSpPr/>
          <p:nvPr/>
        </p:nvSpPr>
        <p:spPr>
          <a:xfrm>
            <a:off x="2080054" y="3923737"/>
            <a:ext cx="3282521" cy="381000"/>
          </a:xfrm>
          <a:prstGeom prst="round2SameRect">
            <a:avLst>
              <a:gd name="adj1" fmla="val 16667"/>
              <a:gd name="adj2" fmla="val 50000"/>
            </a:avLst>
          </a:prstGeom>
          <a:pattFill prst="dkVert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양쪽 모서리가 둥근 사각형 82"/>
          <p:cNvSpPr/>
          <p:nvPr/>
        </p:nvSpPr>
        <p:spPr>
          <a:xfrm>
            <a:off x="5362576" y="3923737"/>
            <a:ext cx="2148840" cy="381000"/>
          </a:xfrm>
          <a:prstGeom prst="round2SameRect">
            <a:avLst>
              <a:gd name="adj1" fmla="val 16667"/>
              <a:gd name="adj2" fmla="val 50000"/>
            </a:avLst>
          </a:prstGeom>
          <a:pattFill prst="wdUpDiag">
            <a:fgClr>
              <a:schemeClr val="accent4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양쪽 모서리가 둥근 사각형 84"/>
          <p:cNvSpPr/>
          <p:nvPr/>
        </p:nvSpPr>
        <p:spPr>
          <a:xfrm>
            <a:off x="7505832" y="3923737"/>
            <a:ext cx="2148840" cy="381000"/>
          </a:xfrm>
          <a:prstGeom prst="round2SameRect">
            <a:avLst>
              <a:gd name="adj1" fmla="val 16667"/>
              <a:gd name="adj2" fmla="val 50000"/>
            </a:avLst>
          </a:prstGeom>
          <a:pattFill prst="lgGrid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발명의 </a:t>
            </a:r>
            <a:r>
              <a:rPr lang="ko-KR" altLang="en-US" dirty="0" err="1"/>
              <a:t>성립성</a:t>
            </a:r>
            <a:r>
              <a:rPr lang="ko-KR" altLang="en-US" dirty="0"/>
              <a:t> 위반 </a:t>
            </a:r>
            <a:r>
              <a:rPr lang="en-US" altLang="ko-KR" dirty="0"/>
              <a:t>vs </a:t>
            </a:r>
            <a:r>
              <a:rPr lang="ko-KR" altLang="en-US" dirty="0"/>
              <a:t>제한열거적인 거절이유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11125200" y="0"/>
            <a:ext cx="1066800" cy="673100"/>
          </a:xfrm>
        </p:spPr>
        <p:txBody>
          <a:bodyPr/>
          <a:lstStyle/>
          <a:p>
            <a:r>
              <a:rPr lang="en-US" altLang="ko-KR" dirty="0"/>
              <a:t>262</a:t>
            </a:r>
            <a:endParaRPr lang="ko-KR" altLang="en-US" dirty="0"/>
          </a:p>
        </p:txBody>
      </p:sp>
      <p:cxnSp>
        <p:nvCxnSpPr>
          <p:cNvPr id="44" name="직선 연결선 43"/>
          <p:cNvCxnSpPr/>
          <p:nvPr/>
        </p:nvCxnSpPr>
        <p:spPr>
          <a:xfrm>
            <a:off x="65" y="1931009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7875" y="976902"/>
            <a:ext cx="119363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거절이유는 제한열거적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이기 때문에 심사관은 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62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조 각 호의 거절이유에 명시되지 아니한 사항을 이유로 특허거절결정을 할 수 없으며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특허출원이 거절이유에 해당될 때에는 반드시 특허거절결정을 하여야 하며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심사관의 재량은 인정되지 아니한다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그 결과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심사관은 발명의 성립성이 결여되어 있는 경우에 발명의 정의 규정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(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法 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2Ⅰ)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이 제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62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조의 거절이유에 명시되지 있지 않기 때문에 우회적으로 제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29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조제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1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항 본문의 산업상 이용할 수 있는 발명 또는 제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42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조제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3</a:t>
            </a:r>
            <a:r>
              <a:rPr lang="ko-KR" altLang="en-US" sz="1400" dirty="0" err="1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항제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1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호의 발명의 설명 기재의 위반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으로 특허거절결정하고 있다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</a:p>
        </p:txBody>
      </p:sp>
      <p:cxnSp>
        <p:nvCxnSpPr>
          <p:cNvPr id="6" name="직선 연결선 5"/>
          <p:cNvCxnSpPr>
            <a:endCxn id="14" idx="2"/>
          </p:cNvCxnSpPr>
          <p:nvPr/>
        </p:nvCxnSpPr>
        <p:spPr>
          <a:xfrm flipV="1">
            <a:off x="2076450" y="3897067"/>
            <a:ext cx="7086600" cy="762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364829" y="2155846"/>
            <a:ext cx="1392762" cy="28585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accent4"/>
                </a:solidFill>
                <a:latin typeface="+mn-ea"/>
              </a:rPr>
              <a:t>발명 미완성 정도</a:t>
            </a:r>
            <a:endParaRPr lang="en-US" altLang="ko-KR" sz="1400" b="0" dirty="0">
              <a:solidFill>
                <a:schemeClr val="accent4"/>
              </a:solidFill>
              <a:latin typeface="+mn-ea"/>
            </a:endParaRPr>
          </a:p>
        </p:txBody>
      </p:sp>
      <p:cxnSp>
        <p:nvCxnSpPr>
          <p:cNvPr id="12" name="직선 연결선 11"/>
          <p:cNvCxnSpPr>
            <a:endCxn id="59" idx="0"/>
          </p:cNvCxnSpPr>
          <p:nvPr/>
        </p:nvCxnSpPr>
        <p:spPr>
          <a:xfrm>
            <a:off x="5362575" y="2447362"/>
            <a:ext cx="0" cy="152233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>
            <a:endCxn id="77" idx="0"/>
          </p:cNvCxnSpPr>
          <p:nvPr/>
        </p:nvCxnSpPr>
        <p:spPr>
          <a:xfrm>
            <a:off x="7511415" y="2447362"/>
            <a:ext cx="0" cy="152233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81574" y="3900877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0</a:t>
            </a:r>
            <a:endParaRPr lang="ko-KR" altLang="en-US" sz="1600" dirty="0"/>
          </a:p>
        </p:txBody>
      </p:sp>
      <p:sp>
        <p:nvSpPr>
          <p:cNvPr id="79" name="TextBox 78"/>
          <p:cNvSpPr txBox="1"/>
          <p:nvPr/>
        </p:nvSpPr>
        <p:spPr>
          <a:xfrm>
            <a:off x="6526237" y="3423207"/>
            <a:ext cx="2385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발명의 설명 기재요건 충족</a:t>
            </a:r>
          </a:p>
        </p:txBody>
      </p:sp>
      <p:sp>
        <p:nvSpPr>
          <p:cNvPr id="14" name="자유형 13"/>
          <p:cNvSpPr/>
          <p:nvPr/>
        </p:nvSpPr>
        <p:spPr>
          <a:xfrm>
            <a:off x="2053590" y="2921707"/>
            <a:ext cx="7109460" cy="975360"/>
          </a:xfrm>
          <a:custGeom>
            <a:avLst/>
            <a:gdLst>
              <a:gd name="connsiteX0" fmla="*/ 0 w 7109460"/>
              <a:gd name="connsiteY0" fmla="*/ 0 h 975360"/>
              <a:gd name="connsiteX1" fmla="*/ 3329940 w 7109460"/>
              <a:gd name="connsiteY1" fmla="*/ 975360 h 975360"/>
              <a:gd name="connsiteX2" fmla="*/ 7109460 w 7109460"/>
              <a:gd name="connsiteY2" fmla="*/ 975360 h 97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109460" h="975360">
                <a:moveTo>
                  <a:pt x="0" y="0"/>
                </a:moveTo>
                <a:lnTo>
                  <a:pt x="3329940" y="975360"/>
                </a:lnTo>
                <a:lnTo>
                  <a:pt x="7109460" y="975360"/>
                </a:lnTo>
              </a:path>
            </a:pathLst>
          </a:custGeom>
          <a:ln w="57150">
            <a:solidFill>
              <a:srgbClr val="00B0F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Rectangle 14"/>
          <p:cNvSpPr>
            <a:spLocks noChangeArrowheads="1"/>
          </p:cNvSpPr>
          <p:nvPr/>
        </p:nvSpPr>
        <p:spPr bwMode="auto">
          <a:xfrm flipV="1">
            <a:off x="5291137" y="3816633"/>
            <a:ext cx="142876" cy="153062"/>
          </a:xfrm>
          <a:prstGeom prst="ellipse">
            <a:avLst/>
          </a:prstGeom>
          <a:solidFill>
            <a:schemeClr val="tx2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7" name="Rectangle 14"/>
          <p:cNvSpPr>
            <a:spLocks noChangeArrowheads="1"/>
          </p:cNvSpPr>
          <p:nvPr/>
        </p:nvSpPr>
        <p:spPr bwMode="auto">
          <a:xfrm flipV="1">
            <a:off x="7439977" y="3816633"/>
            <a:ext cx="142876" cy="153062"/>
          </a:xfrm>
          <a:prstGeom prst="ellipse">
            <a:avLst/>
          </a:prstGeom>
          <a:solidFill>
            <a:schemeClr val="tx2">
              <a:lumMod val="5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312294" y="2752430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100%</a:t>
            </a:r>
            <a:endParaRPr lang="ko-KR" altLang="en-US" sz="1600" dirty="0"/>
          </a:p>
        </p:txBody>
      </p:sp>
      <p:cxnSp>
        <p:nvCxnSpPr>
          <p:cNvPr id="49" name="직선 연결선 48"/>
          <p:cNvCxnSpPr/>
          <p:nvPr/>
        </p:nvCxnSpPr>
        <p:spPr>
          <a:xfrm flipV="1">
            <a:off x="2064814" y="2523614"/>
            <a:ext cx="0" cy="1400123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9163050" y="3893164"/>
            <a:ext cx="818095" cy="4867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/>
          <p:cNvSpPr txBox="1"/>
          <p:nvPr/>
        </p:nvSpPr>
        <p:spPr>
          <a:xfrm>
            <a:off x="9284764" y="3761761"/>
            <a:ext cx="1722542" cy="28585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>
                <a:solidFill>
                  <a:schemeClr val="accent4"/>
                </a:solidFill>
                <a:latin typeface="+mn-ea"/>
              </a:rPr>
              <a:t>발명의 설명 </a:t>
            </a:r>
            <a:r>
              <a:rPr lang="ko-KR" altLang="en-US" sz="1400" b="0" dirty="0">
                <a:solidFill>
                  <a:schemeClr val="accent4"/>
                </a:solidFill>
                <a:latin typeface="+mn-ea"/>
              </a:rPr>
              <a:t>기재 정도</a:t>
            </a:r>
            <a:endParaRPr lang="en-US" altLang="ko-KR" sz="1400" b="0" dirty="0">
              <a:solidFill>
                <a:schemeClr val="accent4"/>
              </a:solidFill>
              <a:latin typeface="+mn-ea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3355669" y="4294646"/>
            <a:ext cx="896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(A) </a:t>
            </a:r>
            <a:r>
              <a:rPr lang="ko-KR" altLang="en-US" sz="1600" dirty="0"/>
              <a:t>영역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80570" y="4294646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(E) </a:t>
            </a:r>
            <a:r>
              <a:rPr lang="ko-KR" altLang="en-US" sz="1600" dirty="0"/>
              <a:t>영역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66520" y="4294646"/>
            <a:ext cx="896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(D) </a:t>
            </a:r>
            <a:r>
              <a:rPr lang="ko-KR" altLang="en-US" sz="1600" dirty="0"/>
              <a:t>영역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87805" y="3423207"/>
            <a:ext cx="9797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발명 완성</a:t>
            </a:r>
          </a:p>
        </p:txBody>
      </p:sp>
      <p:graphicFrame>
        <p:nvGraphicFramePr>
          <p:cNvPr id="30" name="표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9412340"/>
              </p:ext>
            </p:extLst>
          </p:nvPr>
        </p:nvGraphicFramePr>
        <p:xfrm>
          <a:off x="935810" y="4832871"/>
          <a:ext cx="10191752" cy="1341120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2547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79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47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7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algn="ctr" latinLnBrk="1">
                        <a:buAutoNum type="alphaUcParenBoth"/>
                      </a:pPr>
                      <a:r>
                        <a:rPr lang="ko-KR" altLang="en-US" sz="1400" baseline="0" dirty="0"/>
                        <a:t>영역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(E)</a:t>
                      </a:r>
                      <a:r>
                        <a:rPr lang="en-US" altLang="ko-KR" sz="1400" baseline="0" dirty="0"/>
                        <a:t> </a:t>
                      </a:r>
                      <a:r>
                        <a:rPr lang="ko-KR" altLang="en-US" sz="1400" baseline="0" dirty="0"/>
                        <a:t>영역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(D) </a:t>
                      </a:r>
                      <a:r>
                        <a:rPr lang="ko-KR" altLang="en-US" sz="1400" dirty="0"/>
                        <a:t>영역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발명의 </a:t>
                      </a:r>
                      <a:r>
                        <a:rPr lang="ko-KR" altLang="en-US" sz="1400" dirty="0" err="1"/>
                        <a:t>성립성</a:t>
                      </a:r>
                      <a:r>
                        <a:rPr lang="ko-KR" altLang="en-US" sz="1400" dirty="0"/>
                        <a:t> 위반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rgbClr val="FF0000"/>
                          </a:solidFill>
                        </a:rPr>
                        <a:t>제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29</a:t>
                      </a:r>
                      <a:r>
                        <a:rPr lang="ko-KR" altLang="en-US" sz="1400" dirty="0">
                          <a:solidFill>
                            <a:srgbClr val="FF0000"/>
                          </a:solidFill>
                        </a:rPr>
                        <a:t>조제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ko-KR" altLang="en-US" sz="1400" dirty="0" err="1">
                          <a:solidFill>
                            <a:srgbClr val="FF0000"/>
                          </a:solidFill>
                        </a:rPr>
                        <a:t>항본문</a:t>
                      </a:r>
                      <a:r>
                        <a:rPr lang="ko-KR" altLang="en-US" sz="1400" dirty="0">
                          <a:solidFill>
                            <a:srgbClr val="FF0000"/>
                          </a:solidFill>
                        </a:rPr>
                        <a:t> 위반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발명의 설명 </a:t>
                      </a:r>
                      <a:r>
                        <a:rPr lang="ko-KR" altLang="en-US" sz="1400" dirty="0" err="1"/>
                        <a:t>기재불비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제</a:t>
                      </a:r>
                      <a:r>
                        <a:rPr lang="en-US" altLang="ko-KR" sz="1400" dirty="0"/>
                        <a:t>42</a:t>
                      </a:r>
                      <a:r>
                        <a:rPr lang="ko-KR" altLang="en-US" sz="1400" dirty="0"/>
                        <a:t>조제</a:t>
                      </a:r>
                      <a:r>
                        <a:rPr lang="en-US" altLang="ko-KR" sz="1400" dirty="0"/>
                        <a:t>3</a:t>
                      </a:r>
                      <a:r>
                        <a:rPr lang="ko-KR" altLang="en-US" sz="1400" dirty="0" err="1"/>
                        <a:t>항제</a:t>
                      </a:r>
                      <a:r>
                        <a:rPr lang="en-US" altLang="ko-KR" sz="1400" dirty="0"/>
                        <a:t>1</a:t>
                      </a:r>
                      <a:r>
                        <a:rPr lang="ko-KR" altLang="en-US" sz="1400" dirty="0"/>
                        <a:t>호 위반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35" name="직선 연결선 34"/>
          <p:cNvCxnSpPr/>
          <p:nvPr/>
        </p:nvCxnSpPr>
        <p:spPr>
          <a:xfrm>
            <a:off x="4764860" y="5484805"/>
            <a:ext cx="0" cy="333375"/>
          </a:xfrm>
          <a:prstGeom prst="line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/>
          <p:nvPr/>
        </p:nvCxnSpPr>
        <p:spPr>
          <a:xfrm flipV="1">
            <a:off x="7288985" y="5484805"/>
            <a:ext cx="0" cy="333375"/>
          </a:xfrm>
          <a:prstGeom prst="line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/>
          <p:cNvSpPr/>
          <p:nvPr/>
        </p:nvSpPr>
        <p:spPr>
          <a:xfrm>
            <a:off x="4809306" y="544884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ko-KR" altLang="en-US" dirty="0">
                <a:solidFill>
                  <a:srgbClr val="FF0000"/>
                </a:solidFill>
              </a:rPr>
              <a:t>❶</a:t>
            </a:r>
          </a:p>
        </p:txBody>
      </p:sp>
      <p:sp>
        <p:nvSpPr>
          <p:cNvPr id="95" name="직사각형 94"/>
          <p:cNvSpPr/>
          <p:nvPr/>
        </p:nvSpPr>
        <p:spPr>
          <a:xfrm>
            <a:off x="7356612" y="548480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ko-KR" altLang="en-US" dirty="0">
                <a:solidFill>
                  <a:srgbClr val="FF0000"/>
                </a:solidFill>
              </a:rPr>
              <a:t>❷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1FC297-83B2-4C78-96A7-E3E6A1576525}"/>
              </a:ext>
            </a:extLst>
          </p:cNvPr>
          <p:cNvSpPr/>
          <p:nvPr/>
        </p:nvSpPr>
        <p:spPr>
          <a:xfrm>
            <a:off x="4401446" y="2357282"/>
            <a:ext cx="1944862" cy="50955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기술적 효과의 달성 가능성을 예상할 수 있을 정도까지 기재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80C7D09-6BE8-4DA1-A5B4-08A54C1FF0A4}"/>
              </a:ext>
            </a:extLst>
          </p:cNvPr>
          <p:cNvSpPr/>
          <p:nvPr/>
        </p:nvSpPr>
        <p:spPr>
          <a:xfrm>
            <a:off x="6533400" y="2357282"/>
            <a:ext cx="2503023" cy="50955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기술적 효과를 얻을 수 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있을 정도까지 기재</a:t>
            </a:r>
            <a:r>
              <a:rPr lang="en-US" altLang="ko-KR" sz="1100" dirty="0">
                <a:solidFill>
                  <a:srgbClr val="FF0000"/>
                </a:solidFill>
              </a:rPr>
              <a:t>(</a:t>
            </a:r>
            <a:r>
              <a:rPr lang="ko-KR" altLang="en-US" sz="1100" dirty="0">
                <a:solidFill>
                  <a:srgbClr val="FF0000"/>
                </a:solidFill>
              </a:rPr>
              <a:t>실질적 </a:t>
            </a:r>
            <a:r>
              <a:rPr lang="ko-KR" altLang="en-US" sz="1100" dirty="0" err="1">
                <a:solidFill>
                  <a:srgbClr val="FF0000"/>
                </a:solidFill>
              </a:rPr>
              <a:t>재현설</a:t>
            </a:r>
            <a:r>
              <a:rPr lang="en-US" altLang="ko-KR" sz="11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BAEF8D-CFA1-30B6-7058-773FE4BDCF22}"/>
              </a:ext>
            </a:extLst>
          </p:cNvPr>
          <p:cNvSpPr/>
          <p:nvPr/>
        </p:nvSpPr>
        <p:spPr>
          <a:xfrm>
            <a:off x="896796" y="61577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ko-KR" altLang="en-US" dirty="0">
                <a:solidFill>
                  <a:srgbClr val="FF0000"/>
                </a:solidFill>
              </a:rPr>
              <a:t>❶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73AC0C-F86A-2EFD-903F-675E095CBAF9}"/>
              </a:ext>
            </a:extLst>
          </p:cNvPr>
          <p:cNvSpPr txBox="1"/>
          <p:nvPr/>
        </p:nvSpPr>
        <p:spPr>
          <a:xfrm>
            <a:off x="1224674" y="6200664"/>
            <a:ext cx="33473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발명의 </a:t>
            </a:r>
            <a:r>
              <a:rPr lang="ko-KR" altLang="en-US" sz="1400" dirty="0" err="1"/>
              <a:t>성립성</a:t>
            </a:r>
            <a:r>
              <a:rPr lang="ko-KR" altLang="en-US" sz="1400" dirty="0"/>
              <a:t> 위반은 </a:t>
            </a:r>
            <a:r>
              <a:rPr lang="ko-KR" altLang="en-US" sz="1400" dirty="0" err="1"/>
              <a:t>기재불비이기도</a:t>
            </a:r>
            <a:r>
              <a:rPr lang="ko-KR" altLang="en-US" sz="1400" dirty="0"/>
              <a:t> 하다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B2788A-5EA8-2020-E919-2F3D2B889F99}"/>
              </a:ext>
            </a:extLst>
          </p:cNvPr>
          <p:cNvSpPr txBox="1"/>
          <p:nvPr/>
        </p:nvSpPr>
        <p:spPr>
          <a:xfrm>
            <a:off x="1224674" y="6514596"/>
            <a:ext cx="43556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기재불비라고</a:t>
            </a:r>
            <a:r>
              <a:rPr lang="ko-KR" altLang="en-US" sz="1400" dirty="0"/>
              <a:t> 하여</a:t>
            </a:r>
            <a:r>
              <a:rPr lang="en-US" altLang="ko-KR" sz="1400" dirty="0"/>
              <a:t>, </a:t>
            </a:r>
            <a:r>
              <a:rPr lang="ko-KR" altLang="en-US" sz="1400" dirty="0"/>
              <a:t>반드시 발명의 </a:t>
            </a:r>
            <a:r>
              <a:rPr lang="ko-KR" altLang="en-US" sz="1400" dirty="0" err="1"/>
              <a:t>성립성</a:t>
            </a:r>
            <a:r>
              <a:rPr lang="ko-KR" altLang="en-US" sz="1400" dirty="0"/>
              <a:t> 위반은 아니다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16AB7F-96EE-5206-083E-82C3A4586453}"/>
              </a:ext>
            </a:extLst>
          </p:cNvPr>
          <p:cNvSpPr/>
          <p:nvPr/>
        </p:nvSpPr>
        <p:spPr>
          <a:xfrm>
            <a:off x="894274" y="6476717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ko-KR" altLang="en-US" dirty="0">
                <a:solidFill>
                  <a:srgbClr val="FF0000"/>
                </a:solidFill>
              </a:rPr>
              <a:t>❷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D86400-2D6D-10CC-342F-8FEA7DA558C1}"/>
              </a:ext>
            </a:extLst>
          </p:cNvPr>
          <p:cNvSpPr txBox="1"/>
          <p:nvPr/>
        </p:nvSpPr>
        <p:spPr>
          <a:xfrm>
            <a:off x="6096000" y="6265520"/>
            <a:ext cx="4256293" cy="5232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거절이유에 따라 </a:t>
            </a:r>
            <a:r>
              <a:rPr lang="ko-KR" altLang="en-US" sz="1400" dirty="0" err="1">
                <a:solidFill>
                  <a:srgbClr val="FF0000"/>
                </a:solidFill>
              </a:rPr>
              <a:t>확선</a:t>
            </a:r>
            <a:r>
              <a:rPr lang="ko-KR" altLang="en-US" sz="1400" dirty="0">
                <a:solidFill>
                  <a:srgbClr val="FF0000"/>
                </a:solidFill>
              </a:rPr>
              <a:t> 위반 여부가 달라져서 구분해야 함</a:t>
            </a:r>
            <a:endParaRPr lang="en-US" altLang="ko-KR" sz="1400" dirty="0">
              <a:solidFill>
                <a:srgbClr val="FF0000"/>
              </a:solidFill>
            </a:endParaRPr>
          </a:p>
          <a:p>
            <a:r>
              <a:rPr lang="en-US" altLang="ko-KR" sz="1400" dirty="0">
                <a:solidFill>
                  <a:srgbClr val="FF0000"/>
                </a:solidFill>
              </a:rPr>
              <a:t>(</a:t>
            </a:r>
            <a:r>
              <a:rPr lang="ko-KR" altLang="en-US" sz="1400" dirty="0">
                <a:solidFill>
                  <a:srgbClr val="FF0000"/>
                </a:solidFill>
              </a:rPr>
              <a:t>발명의 </a:t>
            </a:r>
            <a:r>
              <a:rPr lang="ko-KR" altLang="en-US" sz="1400" dirty="0" err="1">
                <a:solidFill>
                  <a:srgbClr val="FF0000"/>
                </a:solidFill>
              </a:rPr>
              <a:t>성립성</a:t>
            </a:r>
            <a:r>
              <a:rPr lang="ko-KR" altLang="en-US" sz="1400" dirty="0">
                <a:solidFill>
                  <a:srgbClr val="FF0000"/>
                </a:solidFill>
              </a:rPr>
              <a:t> 위반이 타당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B7FBC4F-A9D1-8DB2-8CD3-B22F73D2CFDE}"/>
              </a:ext>
            </a:extLst>
          </p:cNvPr>
          <p:cNvCxnSpPr>
            <a:stCxn id="9" idx="1"/>
            <a:endCxn id="8" idx="3"/>
          </p:cNvCxnSpPr>
          <p:nvPr/>
        </p:nvCxnSpPr>
        <p:spPr>
          <a:xfrm rot="10800000">
            <a:off x="4572066" y="6354554"/>
            <a:ext cx="1523935" cy="172577"/>
          </a:xfrm>
          <a:prstGeom prst="bentConnector3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87267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거절결정등본을 </a:t>
            </a:r>
            <a:r>
              <a:rPr lang="ko-KR" altLang="en-US" dirty="0" err="1"/>
              <a:t>송달받은</a:t>
            </a:r>
            <a:r>
              <a:rPr lang="ko-KR" altLang="en-US" dirty="0"/>
              <a:t> 출원인의 대응방안</a:t>
            </a:r>
          </a:p>
        </p:txBody>
      </p:sp>
      <p:sp>
        <p:nvSpPr>
          <p:cNvPr id="32" name="순서도: 판단 31"/>
          <p:cNvSpPr/>
          <p:nvPr/>
        </p:nvSpPr>
        <p:spPr bwMode="auto">
          <a:xfrm>
            <a:off x="2702261" y="2459750"/>
            <a:ext cx="1920213" cy="760764"/>
          </a:xfrm>
          <a:prstGeom prst="flowChartDecision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0" tIns="46800" rIns="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1" lang="ko-KR" altLang="en-US" sz="14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+mn-ea"/>
              </a:rPr>
              <a:t>거절이유의 </a:t>
            </a:r>
            <a:endParaRPr kumimoji="1" lang="en-US" altLang="ko-KR" sz="14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1" lang="ko-KR" altLang="en-US" sz="14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+mn-ea"/>
              </a:rPr>
              <a:t>타당성</a:t>
            </a:r>
          </a:p>
        </p:txBody>
      </p:sp>
      <p:sp>
        <p:nvSpPr>
          <p:cNvPr id="33" name="순서도: 판단 32"/>
          <p:cNvSpPr/>
          <p:nvPr/>
        </p:nvSpPr>
        <p:spPr bwMode="auto">
          <a:xfrm>
            <a:off x="2702261" y="3636026"/>
            <a:ext cx="1920213" cy="760764"/>
          </a:xfrm>
          <a:prstGeom prst="flowChartDecision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0" tIns="46800" rIns="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1" lang="ko-KR" altLang="en-US" sz="14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+mn-ea"/>
              </a:rPr>
              <a:t>극복가능성</a:t>
            </a:r>
          </a:p>
        </p:txBody>
      </p:sp>
      <p:cxnSp>
        <p:nvCxnSpPr>
          <p:cNvPr id="34" name="직선 화살표 연결선 33"/>
          <p:cNvCxnSpPr>
            <a:stCxn id="32" idx="2"/>
            <a:endCxn id="33" idx="0"/>
          </p:cNvCxnSpPr>
          <p:nvPr/>
        </p:nvCxnSpPr>
        <p:spPr bwMode="auto">
          <a:xfrm>
            <a:off x="3662368" y="3220514"/>
            <a:ext cx="0" cy="41551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>
            <a:stCxn id="32" idx="3"/>
          </p:cNvCxnSpPr>
          <p:nvPr/>
        </p:nvCxnSpPr>
        <p:spPr bwMode="auto">
          <a:xfrm>
            <a:off x="4622474" y="2840132"/>
            <a:ext cx="74962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 bwMode="auto">
          <a:xfrm flipV="1">
            <a:off x="4622474" y="4025197"/>
            <a:ext cx="749626" cy="1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58033" y="3185067"/>
            <a:ext cx="4238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Yes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758033" y="4396791"/>
            <a:ext cx="4238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Yes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52950" y="2569048"/>
            <a:ext cx="38023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No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95591" y="3750326"/>
            <a:ext cx="38023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No</a:t>
            </a:r>
            <a:endParaRPr lang="ko-KR" altLang="en-US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3" name="Rectangle 13"/>
          <p:cNvSpPr>
            <a:spLocks noChangeArrowheads="1"/>
          </p:cNvSpPr>
          <p:nvPr/>
        </p:nvSpPr>
        <p:spPr bwMode="auto">
          <a:xfrm>
            <a:off x="533135" y="1330177"/>
            <a:ext cx="1657615" cy="45099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거절결정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ko-KR" altLang="en-US" sz="1400" dirty="0">
                <a:latin typeface="+mj-ea"/>
                <a:ea typeface="+mj-ea"/>
              </a:rPr>
              <a:t>등본송달</a:t>
            </a:r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ko-KR" altLang="en-US" sz="1400" dirty="0">
                <a:latin typeface="+mj-ea"/>
                <a:ea typeface="+mj-ea"/>
              </a:rPr>
              <a:t>자극</a:t>
            </a:r>
            <a:r>
              <a:rPr lang="en-US" altLang="ko-KR" sz="1400" dirty="0">
                <a:latin typeface="+mj-ea"/>
                <a:ea typeface="+mj-ea"/>
              </a:rPr>
              <a:t>)</a:t>
            </a:r>
          </a:p>
        </p:txBody>
      </p:sp>
      <p:sp>
        <p:nvSpPr>
          <p:cNvPr id="46" name="Rectangle 13"/>
          <p:cNvSpPr>
            <a:spLocks noChangeArrowheads="1"/>
          </p:cNvSpPr>
          <p:nvPr/>
        </p:nvSpPr>
        <p:spPr bwMode="auto">
          <a:xfrm>
            <a:off x="2855388" y="1330177"/>
            <a:ext cx="1668987" cy="450998"/>
          </a:xfrm>
          <a:prstGeom prst="rect">
            <a:avLst/>
          </a:prstGeom>
          <a:solidFill>
            <a:schemeClr val="accent2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거절결정</a:t>
            </a:r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ko-KR" altLang="en-US" sz="1400" dirty="0">
                <a:latin typeface="+mj-ea"/>
                <a:ea typeface="+mj-ea"/>
              </a:rPr>
              <a:t>판단</a:t>
            </a:r>
            <a:r>
              <a:rPr lang="en-US" altLang="ko-KR" sz="1400" dirty="0">
                <a:latin typeface="+mj-ea"/>
                <a:ea typeface="+mj-ea"/>
              </a:rPr>
              <a:t>)</a:t>
            </a:r>
          </a:p>
        </p:txBody>
      </p:sp>
      <p:sp>
        <p:nvSpPr>
          <p:cNvPr id="47" name="Rectangle 13"/>
          <p:cNvSpPr>
            <a:spLocks noChangeArrowheads="1"/>
          </p:cNvSpPr>
          <p:nvPr/>
        </p:nvSpPr>
        <p:spPr bwMode="auto">
          <a:xfrm>
            <a:off x="5541439" y="1330177"/>
            <a:ext cx="5526612" cy="45099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대응방안</a:t>
            </a:r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ko-KR" altLang="en-US" sz="1400" dirty="0">
                <a:latin typeface="+mj-ea"/>
                <a:ea typeface="+mj-ea"/>
              </a:rPr>
              <a:t>반응</a:t>
            </a:r>
            <a:r>
              <a:rPr lang="en-US" altLang="ko-KR" sz="1400" dirty="0">
                <a:latin typeface="+mj-ea"/>
                <a:ea typeface="+mj-ea"/>
              </a:rPr>
              <a:t>)</a:t>
            </a:r>
          </a:p>
        </p:txBody>
      </p:sp>
      <p:cxnSp>
        <p:nvCxnSpPr>
          <p:cNvPr id="50" name="직선 연결선 49"/>
          <p:cNvCxnSpPr>
            <a:stCxn id="43" idx="3"/>
            <a:endCxn id="46" idx="1"/>
          </p:cNvCxnSpPr>
          <p:nvPr/>
        </p:nvCxnSpPr>
        <p:spPr>
          <a:xfrm>
            <a:off x="2190750" y="1555676"/>
            <a:ext cx="664638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>
            <a:stCxn id="46" idx="3"/>
            <a:endCxn id="47" idx="1"/>
          </p:cNvCxnSpPr>
          <p:nvPr/>
        </p:nvCxnSpPr>
        <p:spPr>
          <a:xfrm>
            <a:off x="4524375" y="1555676"/>
            <a:ext cx="1017064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532764" y="2442875"/>
            <a:ext cx="3269487" cy="31947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불복심판청구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532764" y="2823117"/>
            <a:ext cx="3269487" cy="31947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 err="1">
                <a:solidFill>
                  <a:schemeClr val="accent3">
                    <a:lumMod val="50000"/>
                  </a:schemeClr>
                </a:solidFill>
                <a:latin typeface="+mn-ea"/>
              </a:rPr>
              <a:t>심결취소의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 소 제기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 / 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분리출원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(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52</a:t>
            </a:r>
            <a:r>
              <a:rPr lang="ko-KR" altLang="en-US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조의</a:t>
            </a:r>
            <a:r>
              <a:rPr lang="en-US" altLang="ko-KR" sz="1400" b="0" dirty="0">
                <a:solidFill>
                  <a:schemeClr val="accent3">
                    <a:lumMod val="50000"/>
                  </a:schemeClr>
                </a:solidFill>
                <a:latin typeface="+mn-ea"/>
              </a:rPr>
              <a:t>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764" y="3198028"/>
            <a:ext cx="3269487" cy="31947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상고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41438" y="3774525"/>
            <a:ext cx="3255883" cy="3498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출원의 취하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포기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41438" y="4185490"/>
            <a:ext cx="3255883" cy="3498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방치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541438" y="4821617"/>
            <a:ext cx="3255883" cy="349800"/>
          </a:xfrm>
          <a:prstGeom prst="rect">
            <a:avLst/>
          </a:prstGeom>
          <a:solidFill>
            <a:srgbClr val="00B0F0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출원인의 이익제도 활용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541438" y="5245807"/>
            <a:ext cx="3255883" cy="3498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의견서 제출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61" name="꺾인 연결선 60"/>
          <p:cNvCxnSpPr>
            <a:stCxn id="33" idx="2"/>
          </p:cNvCxnSpPr>
          <p:nvPr/>
        </p:nvCxnSpPr>
        <p:spPr>
          <a:xfrm rot="16200000" flipH="1">
            <a:off x="4092726" y="3966432"/>
            <a:ext cx="849017" cy="1709732"/>
          </a:xfrm>
          <a:prstGeom prst="bentConnector2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347204" y="3542215"/>
            <a:ext cx="1632340" cy="285851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30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340384" y="3887658"/>
            <a:ext cx="1639160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34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35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340384" y="4267900"/>
            <a:ext cx="1639160" cy="319474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47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재심사청구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40384" y="4642811"/>
            <a:ext cx="1639160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52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340384" y="5041571"/>
            <a:ext cx="1639160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53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340384" y="5421813"/>
            <a:ext cx="1639160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b="0" dirty="0">
                <a:solidFill>
                  <a:schemeClr val="tx1"/>
                </a:solidFill>
                <a:latin typeface="+mn-ea"/>
              </a:rPr>
              <a:t>54</a:t>
            </a:r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9340384" y="5796724"/>
            <a:ext cx="1639160" cy="31947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rtlCol="0" anchor="ctr">
            <a:noAutofit/>
          </a:bodyPr>
          <a:lstStyle/>
          <a:p>
            <a:r>
              <a:rPr lang="ko-KR" altLang="en-US" sz="1400" b="0" dirty="0">
                <a:solidFill>
                  <a:schemeClr val="tx1"/>
                </a:solidFill>
                <a:latin typeface="+mn-ea"/>
              </a:rPr>
              <a:t>제</a:t>
            </a:r>
            <a:r>
              <a:rPr lang="en-US" altLang="ko-KR" sz="1400" dirty="0">
                <a:latin typeface="+mn-ea"/>
              </a:rPr>
              <a:t>55</a:t>
            </a:r>
            <a:r>
              <a:rPr lang="ko-KR" altLang="en-US" sz="1400" dirty="0">
                <a:latin typeface="+mn-ea"/>
              </a:rPr>
              <a:t>조</a:t>
            </a:r>
            <a:endParaRPr lang="en-US" altLang="ko-KR" sz="1400" b="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70" name="꺾인 연결선 69"/>
          <p:cNvCxnSpPr>
            <a:cxnSpLocks/>
            <a:stCxn id="58" idx="3"/>
            <a:endCxn id="62" idx="1"/>
          </p:cNvCxnSpPr>
          <p:nvPr/>
        </p:nvCxnSpPr>
        <p:spPr>
          <a:xfrm flipV="1">
            <a:off x="8797321" y="3685141"/>
            <a:ext cx="549883" cy="131137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꺾인 연결선 70"/>
          <p:cNvCxnSpPr>
            <a:cxnSpLocks/>
            <a:stCxn id="58" idx="3"/>
            <a:endCxn id="69" idx="1"/>
          </p:cNvCxnSpPr>
          <p:nvPr/>
        </p:nvCxnSpPr>
        <p:spPr>
          <a:xfrm>
            <a:off x="8797321" y="4996517"/>
            <a:ext cx="543063" cy="95994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연결선 71"/>
          <p:cNvCxnSpPr>
            <a:cxnSpLocks/>
            <a:stCxn id="58" idx="3"/>
            <a:endCxn id="63" idx="1"/>
          </p:cNvCxnSpPr>
          <p:nvPr/>
        </p:nvCxnSpPr>
        <p:spPr>
          <a:xfrm flipV="1">
            <a:off x="8797321" y="4047395"/>
            <a:ext cx="543063" cy="94912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꺾인 연결선 72"/>
          <p:cNvCxnSpPr>
            <a:cxnSpLocks/>
            <a:stCxn id="58" idx="3"/>
            <a:endCxn id="68" idx="1"/>
          </p:cNvCxnSpPr>
          <p:nvPr/>
        </p:nvCxnSpPr>
        <p:spPr>
          <a:xfrm>
            <a:off x="8797321" y="4996517"/>
            <a:ext cx="543063" cy="585033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 73"/>
          <p:cNvCxnSpPr>
            <a:cxnSpLocks/>
            <a:stCxn id="58" idx="3"/>
            <a:endCxn id="64" idx="1"/>
          </p:cNvCxnSpPr>
          <p:nvPr/>
        </p:nvCxnSpPr>
        <p:spPr>
          <a:xfrm flipV="1">
            <a:off x="8797321" y="4427637"/>
            <a:ext cx="543063" cy="56888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꺾인 연결선 74"/>
          <p:cNvCxnSpPr>
            <a:cxnSpLocks/>
            <a:stCxn id="58" idx="3"/>
            <a:endCxn id="65" idx="1"/>
          </p:cNvCxnSpPr>
          <p:nvPr/>
        </p:nvCxnSpPr>
        <p:spPr>
          <a:xfrm flipV="1">
            <a:off x="8797321" y="4802548"/>
            <a:ext cx="543063" cy="193969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꺾인 연결선 75"/>
          <p:cNvCxnSpPr>
            <a:cxnSpLocks/>
            <a:stCxn id="58" idx="3"/>
            <a:endCxn id="66" idx="1"/>
          </p:cNvCxnSpPr>
          <p:nvPr/>
        </p:nvCxnSpPr>
        <p:spPr>
          <a:xfrm>
            <a:off x="8797321" y="4996517"/>
            <a:ext cx="543063" cy="20479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/>
          <p:cNvCxnSpPr/>
          <p:nvPr/>
        </p:nvCxnSpPr>
        <p:spPr>
          <a:xfrm>
            <a:off x="5114925" y="1057275"/>
            <a:ext cx="0" cy="550545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>
            <a:off x="2523069" y="1057275"/>
            <a:ext cx="0" cy="550545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986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거절결정의 확정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65" y="1499709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875" y="976902"/>
            <a:ext cx="11936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  <a:latin typeface="+mn-ea"/>
              </a:rPr>
              <a:t>확정이란 통상적인 불복방법으로는 더 이상 불복할 수 없는 상태에 이른 것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을 말한다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특허거절결정은 심사국은 물론 심판원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특허법원 또는 대법원에서도 확정될 수 있으며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심판원 이후 특허거절결정이 확정된 경우에 이를 거절한다는 취지의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심결이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확정되었다고 표현한다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836766" y="2194768"/>
            <a:ext cx="10228869" cy="3250457"/>
            <a:chOff x="88419" y="2194768"/>
            <a:chExt cx="11672211" cy="3250457"/>
          </a:xfrm>
        </p:grpSpPr>
        <p:sp>
          <p:nvSpPr>
            <p:cNvPr id="41" name="Rectangle 13"/>
            <p:cNvSpPr>
              <a:spLocks noChangeArrowheads="1"/>
            </p:cNvSpPr>
            <p:nvPr/>
          </p:nvSpPr>
          <p:spPr bwMode="auto">
            <a:xfrm>
              <a:off x="1041102" y="2194768"/>
              <a:ext cx="1801284" cy="327025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chemeClr val="bg1">
                  <a:lumMod val="50000"/>
                </a:schemeClr>
              </a:solidFill>
              <a:headEnd/>
              <a:tailEnd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/>
              <a:r>
                <a:rPr lang="ko-KR" altLang="en-US" sz="1600" b="0" dirty="0" err="1">
                  <a:solidFill>
                    <a:schemeClr val="tx1"/>
                  </a:solidFill>
                  <a:latin typeface="+mn-ea"/>
                </a:rPr>
                <a:t>심사국</a:t>
              </a:r>
              <a:endParaRPr lang="ko-KR" altLang="en-US" sz="1600" b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2" name="Rectangle 14"/>
            <p:cNvSpPr>
              <a:spLocks noChangeArrowheads="1"/>
            </p:cNvSpPr>
            <p:nvPr/>
          </p:nvSpPr>
          <p:spPr bwMode="auto">
            <a:xfrm>
              <a:off x="1594247" y="3490911"/>
              <a:ext cx="694995" cy="325438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algn="ctr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b="0" dirty="0">
                  <a:solidFill>
                    <a:schemeClr val="bg1">
                      <a:lumMod val="95000"/>
                    </a:schemeClr>
                  </a:solidFill>
                  <a:latin typeface="+mj-ea"/>
                  <a:ea typeface="+mj-ea"/>
                </a:rPr>
                <a:t>확정</a:t>
              </a:r>
            </a:p>
          </p:txBody>
        </p:sp>
        <p:cxnSp>
          <p:nvCxnSpPr>
            <p:cNvPr id="43" name="AutoShape 17"/>
            <p:cNvCxnSpPr>
              <a:cxnSpLocks noChangeShapeType="1"/>
              <a:stCxn id="41" idx="2"/>
              <a:endCxn id="42" idx="0"/>
            </p:cNvCxnSpPr>
            <p:nvPr/>
          </p:nvCxnSpPr>
          <p:spPr bwMode="auto">
            <a:xfrm>
              <a:off x="1941744" y="2521793"/>
              <a:ext cx="0" cy="969119"/>
            </a:xfrm>
            <a:prstGeom prst="straightConnector1">
              <a:avLst/>
            </a:prstGeom>
            <a:noFill/>
            <a:ln w="9525">
              <a:solidFill>
                <a:srgbClr val="5F5F5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2" name="Rectangle 13"/>
            <p:cNvSpPr>
              <a:spLocks noChangeArrowheads="1"/>
            </p:cNvSpPr>
            <p:nvPr/>
          </p:nvSpPr>
          <p:spPr bwMode="auto">
            <a:xfrm>
              <a:off x="1041101" y="2813992"/>
              <a:ext cx="1801284" cy="32702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algn="ctr">
              <a:solidFill>
                <a:schemeClr val="bg1">
                  <a:lumMod val="50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b="0" dirty="0">
                  <a:latin typeface="+mj-ea"/>
                  <a:ea typeface="+mj-ea"/>
                </a:rPr>
                <a:t>거절결정등본송달</a:t>
              </a:r>
            </a:p>
          </p:txBody>
        </p:sp>
        <p:sp>
          <p:nvSpPr>
            <p:cNvPr id="55" name="Rectangle 13"/>
            <p:cNvSpPr>
              <a:spLocks noChangeArrowheads="1"/>
            </p:cNvSpPr>
            <p:nvPr/>
          </p:nvSpPr>
          <p:spPr bwMode="auto">
            <a:xfrm>
              <a:off x="3729401" y="2194768"/>
              <a:ext cx="1801284" cy="327025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chemeClr val="bg1">
                  <a:lumMod val="50000"/>
                </a:schemeClr>
              </a:solidFill>
              <a:headEnd/>
              <a:tailEnd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/>
              <a:r>
                <a:rPr lang="ko-KR" altLang="en-US" sz="1600" b="0" dirty="0">
                  <a:solidFill>
                    <a:schemeClr val="tx1"/>
                  </a:solidFill>
                  <a:latin typeface="+mn-ea"/>
                </a:rPr>
                <a:t>특허심판원</a:t>
              </a:r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>
              <a:off x="6513710" y="2194768"/>
              <a:ext cx="1801284" cy="327025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chemeClr val="bg1">
                  <a:lumMod val="50000"/>
                </a:schemeClr>
              </a:solidFill>
              <a:headEnd/>
              <a:tailEnd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/>
              <a:r>
                <a:rPr lang="ko-KR" altLang="en-US" sz="1600" b="0" dirty="0">
                  <a:solidFill>
                    <a:schemeClr val="tx1"/>
                  </a:solidFill>
                  <a:latin typeface="+mn-ea"/>
                </a:rPr>
                <a:t>특허법원</a:t>
              </a:r>
            </a:p>
          </p:txBody>
        </p:sp>
        <p:sp>
          <p:nvSpPr>
            <p:cNvPr id="58" name="Rectangle 13"/>
            <p:cNvSpPr>
              <a:spLocks noChangeArrowheads="1"/>
            </p:cNvSpPr>
            <p:nvPr/>
          </p:nvSpPr>
          <p:spPr bwMode="auto">
            <a:xfrm>
              <a:off x="9202009" y="2194768"/>
              <a:ext cx="1801284" cy="327025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chemeClr val="bg1">
                  <a:lumMod val="50000"/>
                </a:schemeClr>
              </a:solidFill>
              <a:headEnd/>
              <a:tailEnd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/>
              <a:r>
                <a:rPr lang="ko-KR" altLang="en-US" sz="1600" b="0" dirty="0">
                  <a:solidFill>
                    <a:schemeClr val="tx1"/>
                  </a:solidFill>
                  <a:latin typeface="+mn-ea"/>
                </a:rPr>
                <a:t>대법원</a:t>
              </a:r>
            </a:p>
          </p:txBody>
        </p:sp>
        <p:cxnSp>
          <p:nvCxnSpPr>
            <p:cNvPr id="59" name="AutoShape 17"/>
            <p:cNvCxnSpPr>
              <a:cxnSpLocks noChangeShapeType="1"/>
              <a:stCxn id="41" idx="3"/>
              <a:endCxn id="55" idx="1"/>
            </p:cNvCxnSpPr>
            <p:nvPr/>
          </p:nvCxnSpPr>
          <p:spPr bwMode="auto">
            <a:xfrm>
              <a:off x="2842386" y="2358280"/>
              <a:ext cx="887015" cy="0"/>
            </a:xfrm>
            <a:prstGeom prst="straightConnector1">
              <a:avLst/>
            </a:prstGeom>
            <a:noFill/>
            <a:ln w="38100">
              <a:solidFill>
                <a:srgbClr val="5F5F5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17"/>
            <p:cNvCxnSpPr>
              <a:cxnSpLocks noChangeShapeType="1"/>
              <a:stCxn id="55" idx="3"/>
              <a:endCxn id="56" idx="1"/>
            </p:cNvCxnSpPr>
            <p:nvPr/>
          </p:nvCxnSpPr>
          <p:spPr bwMode="auto">
            <a:xfrm>
              <a:off x="5530685" y="2358280"/>
              <a:ext cx="983025" cy="0"/>
            </a:xfrm>
            <a:prstGeom prst="straightConnector1">
              <a:avLst/>
            </a:prstGeom>
            <a:noFill/>
            <a:ln w="38100">
              <a:solidFill>
                <a:srgbClr val="5F5F5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17"/>
            <p:cNvCxnSpPr>
              <a:cxnSpLocks noChangeShapeType="1"/>
              <a:stCxn id="56" idx="3"/>
              <a:endCxn id="58" idx="1"/>
            </p:cNvCxnSpPr>
            <p:nvPr/>
          </p:nvCxnSpPr>
          <p:spPr bwMode="auto">
            <a:xfrm>
              <a:off x="8314994" y="2358280"/>
              <a:ext cx="887015" cy="0"/>
            </a:xfrm>
            <a:prstGeom prst="straightConnector1">
              <a:avLst/>
            </a:prstGeom>
            <a:noFill/>
            <a:ln w="38100">
              <a:solidFill>
                <a:srgbClr val="5F5F5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꺾인 연결선 62"/>
            <p:cNvCxnSpPr>
              <a:stCxn id="52" idx="1"/>
              <a:endCxn id="42" idx="1"/>
            </p:cNvCxnSpPr>
            <p:nvPr/>
          </p:nvCxnSpPr>
          <p:spPr>
            <a:xfrm rot="10800000" flipH="1" flipV="1">
              <a:off x="1041100" y="2977504"/>
              <a:ext cx="553147" cy="676126"/>
            </a:xfrm>
            <a:prstGeom prst="bentConnector3">
              <a:avLst>
                <a:gd name="adj1" fmla="val -55103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/>
            <p:cNvSpPr txBox="1"/>
            <p:nvPr/>
          </p:nvSpPr>
          <p:spPr>
            <a:xfrm>
              <a:off x="88419" y="3200151"/>
              <a:ext cx="719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/>
                <a:t>3</a:t>
              </a:r>
              <a:r>
                <a:rPr lang="ko-KR" altLang="en-US" sz="1200" dirty="0"/>
                <a:t>개월</a:t>
              </a:r>
              <a:r>
                <a:rPr lang="en-US" altLang="ko-KR" sz="1200" dirty="0"/>
                <a:t>*</a:t>
              </a:r>
              <a:endParaRPr lang="ko-KR" altLang="en-US" sz="1200" dirty="0"/>
            </a:p>
          </p:txBody>
        </p:sp>
        <p:sp>
          <p:nvSpPr>
            <p:cNvPr id="67" name="Rectangle 14"/>
            <p:cNvSpPr>
              <a:spLocks noChangeArrowheads="1"/>
            </p:cNvSpPr>
            <p:nvPr/>
          </p:nvSpPr>
          <p:spPr bwMode="auto">
            <a:xfrm>
              <a:off x="4269421" y="4286605"/>
              <a:ext cx="694995" cy="325438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algn="ctr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b="0" dirty="0">
                  <a:solidFill>
                    <a:schemeClr val="bg1">
                      <a:lumMod val="95000"/>
                    </a:schemeClr>
                  </a:solidFill>
                  <a:latin typeface="+mj-ea"/>
                  <a:ea typeface="+mj-ea"/>
                </a:rPr>
                <a:t>확정</a:t>
              </a:r>
            </a:p>
          </p:txBody>
        </p:sp>
        <p:cxnSp>
          <p:nvCxnSpPr>
            <p:cNvPr id="68" name="AutoShape 17"/>
            <p:cNvCxnSpPr>
              <a:cxnSpLocks noChangeShapeType="1"/>
              <a:stCxn id="55" idx="2"/>
              <a:endCxn id="67" idx="0"/>
            </p:cNvCxnSpPr>
            <p:nvPr/>
          </p:nvCxnSpPr>
          <p:spPr bwMode="auto">
            <a:xfrm flipH="1">
              <a:off x="4616919" y="2521793"/>
              <a:ext cx="13124" cy="1764813"/>
            </a:xfrm>
            <a:prstGeom prst="straightConnector1">
              <a:avLst/>
            </a:prstGeom>
            <a:noFill/>
            <a:ln w="9525">
              <a:solidFill>
                <a:srgbClr val="5F5F5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Rectangle 13"/>
            <p:cNvSpPr>
              <a:spLocks noChangeArrowheads="1"/>
            </p:cNvSpPr>
            <p:nvPr/>
          </p:nvSpPr>
          <p:spPr bwMode="auto">
            <a:xfrm>
              <a:off x="3716275" y="3609686"/>
              <a:ext cx="1801284" cy="32702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algn="ctr">
              <a:solidFill>
                <a:schemeClr val="bg1">
                  <a:lumMod val="50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b="0" dirty="0" err="1">
                  <a:latin typeface="+mj-ea"/>
                  <a:ea typeface="+mj-ea"/>
                </a:rPr>
                <a:t>기각심결등본송달</a:t>
              </a:r>
              <a:endParaRPr lang="ko-KR" altLang="en-US" sz="1200" b="0" dirty="0">
                <a:latin typeface="+mj-ea"/>
                <a:ea typeface="+mj-ea"/>
              </a:endParaRPr>
            </a:p>
          </p:txBody>
        </p:sp>
        <p:cxnSp>
          <p:nvCxnSpPr>
            <p:cNvPr id="71" name="꺾인 연결선 70"/>
            <p:cNvCxnSpPr>
              <a:stCxn id="70" idx="1"/>
              <a:endCxn id="67" idx="1"/>
            </p:cNvCxnSpPr>
            <p:nvPr/>
          </p:nvCxnSpPr>
          <p:spPr>
            <a:xfrm rot="10800000" flipH="1" flipV="1">
              <a:off x="3716275" y="3773198"/>
              <a:ext cx="553147" cy="676126"/>
            </a:xfrm>
            <a:prstGeom prst="bentConnector3">
              <a:avLst>
                <a:gd name="adj1" fmla="val -55103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/>
            <p:cNvSpPr txBox="1"/>
            <p:nvPr/>
          </p:nvSpPr>
          <p:spPr>
            <a:xfrm>
              <a:off x="2673284" y="4043039"/>
              <a:ext cx="66236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/>
                <a:t>30</a:t>
              </a:r>
              <a:r>
                <a:rPr lang="ko-KR" altLang="en-US" sz="1200" dirty="0"/>
                <a:t>일</a:t>
              </a:r>
              <a:r>
                <a:rPr lang="en-US" altLang="ko-KR" sz="1200" dirty="0"/>
                <a:t>**</a:t>
              </a:r>
              <a:endParaRPr lang="ko-KR" altLang="en-US" sz="1200" dirty="0"/>
            </a:p>
          </p:txBody>
        </p:sp>
        <p:sp>
          <p:nvSpPr>
            <p:cNvPr id="76" name="Rectangle 14"/>
            <p:cNvSpPr>
              <a:spLocks noChangeArrowheads="1"/>
            </p:cNvSpPr>
            <p:nvPr/>
          </p:nvSpPr>
          <p:spPr bwMode="auto">
            <a:xfrm>
              <a:off x="7066856" y="5118199"/>
              <a:ext cx="694995" cy="325438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algn="ctr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b="0" dirty="0">
                  <a:solidFill>
                    <a:schemeClr val="bg1">
                      <a:lumMod val="95000"/>
                    </a:schemeClr>
                  </a:solidFill>
                  <a:latin typeface="+mj-ea"/>
                  <a:ea typeface="+mj-ea"/>
                </a:rPr>
                <a:t>확정</a:t>
              </a:r>
            </a:p>
          </p:txBody>
        </p:sp>
        <p:cxnSp>
          <p:nvCxnSpPr>
            <p:cNvPr id="77" name="AutoShape 17"/>
            <p:cNvCxnSpPr>
              <a:cxnSpLocks noChangeShapeType="1"/>
              <a:stCxn id="56" idx="2"/>
              <a:endCxn id="76" idx="0"/>
            </p:cNvCxnSpPr>
            <p:nvPr/>
          </p:nvCxnSpPr>
          <p:spPr bwMode="auto">
            <a:xfrm>
              <a:off x="7414353" y="2521793"/>
              <a:ext cx="1" cy="2596407"/>
            </a:xfrm>
            <a:prstGeom prst="straightConnector1">
              <a:avLst/>
            </a:prstGeom>
            <a:noFill/>
            <a:ln w="9525">
              <a:solidFill>
                <a:srgbClr val="5F5F5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Rectangle 13"/>
            <p:cNvSpPr>
              <a:spLocks noChangeArrowheads="1"/>
            </p:cNvSpPr>
            <p:nvPr/>
          </p:nvSpPr>
          <p:spPr bwMode="auto">
            <a:xfrm>
              <a:off x="6513710" y="4441280"/>
              <a:ext cx="1801284" cy="32702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algn="ctr">
              <a:solidFill>
                <a:schemeClr val="bg1">
                  <a:lumMod val="50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기각판결정</a:t>
              </a:r>
              <a:r>
                <a:rPr lang="ko-KR" altLang="en-US" sz="1200" b="0" dirty="0">
                  <a:latin typeface="+mj-ea"/>
                  <a:ea typeface="+mj-ea"/>
                </a:rPr>
                <a:t>본송달</a:t>
              </a:r>
            </a:p>
          </p:txBody>
        </p:sp>
        <p:cxnSp>
          <p:nvCxnSpPr>
            <p:cNvPr id="79" name="꺾인 연결선 78"/>
            <p:cNvCxnSpPr>
              <a:stCxn id="78" idx="1"/>
              <a:endCxn id="76" idx="1"/>
            </p:cNvCxnSpPr>
            <p:nvPr/>
          </p:nvCxnSpPr>
          <p:spPr>
            <a:xfrm rot="10800000" flipH="1" flipV="1">
              <a:off x="6513709" y="4604792"/>
              <a:ext cx="553147" cy="676126"/>
            </a:xfrm>
            <a:prstGeom prst="bentConnector3">
              <a:avLst>
                <a:gd name="adj1" fmla="val -55103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/>
            <p:cNvSpPr txBox="1"/>
            <p:nvPr/>
          </p:nvSpPr>
          <p:spPr>
            <a:xfrm>
              <a:off x="5649613" y="4797152"/>
              <a:ext cx="5453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/>
                <a:t>2</a:t>
              </a:r>
              <a:r>
                <a:rPr lang="ko-KR" altLang="en-US" sz="1200" dirty="0"/>
                <a:t>주일</a:t>
              </a:r>
            </a:p>
          </p:txBody>
        </p:sp>
        <p:sp>
          <p:nvSpPr>
            <p:cNvPr id="82" name="Rectangle 14"/>
            <p:cNvSpPr>
              <a:spLocks noChangeArrowheads="1"/>
            </p:cNvSpPr>
            <p:nvPr/>
          </p:nvSpPr>
          <p:spPr bwMode="auto">
            <a:xfrm>
              <a:off x="11065635" y="5119786"/>
              <a:ext cx="694995" cy="325438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algn="ctr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b="0" dirty="0">
                  <a:solidFill>
                    <a:schemeClr val="bg1">
                      <a:lumMod val="95000"/>
                    </a:schemeClr>
                  </a:solidFill>
                  <a:latin typeface="+mj-ea"/>
                  <a:ea typeface="+mj-ea"/>
                </a:rPr>
                <a:t>확정</a:t>
              </a:r>
            </a:p>
          </p:txBody>
        </p:sp>
        <p:cxnSp>
          <p:nvCxnSpPr>
            <p:cNvPr id="83" name="AutoShape 17"/>
            <p:cNvCxnSpPr>
              <a:cxnSpLocks noChangeShapeType="1"/>
              <a:stCxn id="58" idx="2"/>
              <a:endCxn id="84" idx="0"/>
            </p:cNvCxnSpPr>
            <p:nvPr/>
          </p:nvCxnSpPr>
          <p:spPr bwMode="auto">
            <a:xfrm flipH="1">
              <a:off x="10102650" y="2521793"/>
              <a:ext cx="1" cy="2596407"/>
            </a:xfrm>
            <a:prstGeom prst="straightConnector1">
              <a:avLst/>
            </a:prstGeom>
            <a:noFill/>
            <a:ln w="9525">
              <a:solidFill>
                <a:srgbClr val="5F5F5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4" name="Rectangle 13"/>
            <p:cNvSpPr>
              <a:spLocks noChangeArrowheads="1"/>
            </p:cNvSpPr>
            <p:nvPr/>
          </p:nvSpPr>
          <p:spPr bwMode="auto">
            <a:xfrm>
              <a:off x="9202007" y="5118200"/>
              <a:ext cx="1801284" cy="32702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algn="ctr">
              <a:solidFill>
                <a:schemeClr val="bg1">
                  <a:lumMod val="50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ko-KR" altLang="en-US" sz="1200" b="0" dirty="0">
                  <a:latin typeface="+mj-ea"/>
                  <a:ea typeface="+mj-ea"/>
                </a:rPr>
                <a:t>기각판결선고</a:t>
              </a:r>
            </a:p>
          </p:txBody>
        </p:sp>
        <p:cxnSp>
          <p:nvCxnSpPr>
            <p:cNvPr id="85" name="직선 화살표 연결선 84"/>
            <p:cNvCxnSpPr/>
            <p:nvPr/>
          </p:nvCxnSpPr>
          <p:spPr>
            <a:xfrm>
              <a:off x="1941745" y="3315567"/>
              <a:ext cx="2675172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화살표 연결선 85"/>
            <p:cNvCxnSpPr/>
            <p:nvPr/>
          </p:nvCxnSpPr>
          <p:spPr>
            <a:xfrm>
              <a:off x="4616919" y="4123252"/>
              <a:ext cx="2797435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화살표 연결선 86"/>
            <p:cNvCxnSpPr/>
            <p:nvPr/>
          </p:nvCxnSpPr>
          <p:spPr>
            <a:xfrm>
              <a:off x="7414354" y="4940422"/>
              <a:ext cx="2688295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87"/>
            <p:cNvSpPr txBox="1"/>
            <p:nvPr/>
          </p:nvSpPr>
          <p:spPr>
            <a:xfrm>
              <a:off x="3116278" y="3039793"/>
              <a:ext cx="7360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/>
                <a:t>심판청구</a:t>
              </a:r>
              <a:endParaRPr lang="ko-KR" altLang="en-US" sz="1200" dirty="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761322" y="3853454"/>
              <a:ext cx="12875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 err="1"/>
                <a:t>심결취소소송제기</a:t>
              </a:r>
              <a:endParaRPr lang="ko-KR" altLang="en-US" sz="1200" dirty="0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566548" y="4675086"/>
              <a:ext cx="4603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/>
                <a:t>상고</a:t>
              </a:r>
            </a:p>
          </p:txBody>
        </p:sp>
      </p:grpSp>
      <p:sp>
        <p:nvSpPr>
          <p:cNvPr id="91" name="TextBox 90"/>
          <p:cNvSpPr txBox="1"/>
          <p:nvPr/>
        </p:nvSpPr>
        <p:spPr>
          <a:xfrm>
            <a:off x="754408" y="5467610"/>
            <a:ext cx="1778051" cy="52322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* </a:t>
            </a:r>
            <a:r>
              <a:rPr lang="ko-KR" altLang="en-US" sz="1400" dirty="0"/>
              <a:t>연장</a:t>
            </a:r>
            <a:r>
              <a:rPr lang="en-US" altLang="ko-KR" sz="1400" dirty="0"/>
              <a:t>, </a:t>
            </a:r>
            <a:r>
              <a:rPr lang="ko-KR" altLang="en-US" sz="1400" dirty="0"/>
              <a:t>추후보완 가능</a:t>
            </a:r>
            <a:endParaRPr lang="en-US" altLang="ko-KR" sz="1400" dirty="0"/>
          </a:p>
          <a:p>
            <a:r>
              <a:rPr lang="en-US" altLang="ko-KR" sz="1400" dirty="0"/>
              <a:t>** </a:t>
            </a:r>
            <a:r>
              <a:rPr lang="ko-KR" altLang="en-US" sz="1400" dirty="0"/>
              <a:t>부가기간 가능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1179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직권보정</a:t>
            </a:r>
            <a:r>
              <a:rPr lang="en-US" altLang="ko-KR" dirty="0"/>
              <a:t>(</a:t>
            </a:r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2)</a:t>
            </a:r>
            <a:r>
              <a:rPr lang="ko-KR" altLang="en-US" dirty="0"/>
              <a:t>의 개념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875" y="986046"/>
            <a:ext cx="119363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제</a:t>
            </a:r>
            <a:r>
              <a:rPr lang="en-US" altLang="ko-KR" sz="1400" b="1" dirty="0">
                <a:solidFill>
                  <a:schemeClr val="accent1"/>
                </a:solidFill>
              </a:rPr>
              <a:t>66</a:t>
            </a:r>
            <a:r>
              <a:rPr lang="ko-KR" altLang="en-US" sz="1400" b="1" dirty="0">
                <a:solidFill>
                  <a:schemeClr val="accent1"/>
                </a:solidFill>
              </a:rPr>
              <a:t>조의</a:t>
            </a:r>
            <a:r>
              <a:rPr lang="en-US" altLang="ko-KR" sz="1400" b="1" dirty="0">
                <a:solidFill>
                  <a:schemeClr val="accent1"/>
                </a:solidFill>
              </a:rPr>
              <a:t>2(</a:t>
            </a:r>
            <a:r>
              <a:rPr lang="ko-KR" altLang="en-US" sz="1400" b="1" dirty="0">
                <a:solidFill>
                  <a:schemeClr val="accent1"/>
                </a:solidFill>
              </a:rPr>
              <a:t>직권보정 등</a:t>
            </a:r>
            <a:r>
              <a:rPr lang="en-US" altLang="ko-KR" sz="1400" b="1" dirty="0">
                <a:solidFill>
                  <a:schemeClr val="accent1"/>
                </a:solidFill>
              </a:rPr>
              <a:t>) </a:t>
            </a:r>
            <a:r>
              <a:rPr lang="en-US" altLang="ko-KR" sz="1400" dirty="0">
                <a:solidFill>
                  <a:schemeClr val="tx2"/>
                </a:solidFill>
              </a:rPr>
              <a:t>① </a:t>
            </a:r>
            <a:r>
              <a:rPr lang="ko-KR" altLang="en-US" sz="1400" dirty="0">
                <a:solidFill>
                  <a:schemeClr val="tx2"/>
                </a:solidFill>
              </a:rPr>
              <a:t>심사관은 제</a:t>
            </a:r>
            <a:r>
              <a:rPr lang="en-US" altLang="ko-KR" sz="1400" dirty="0">
                <a:solidFill>
                  <a:schemeClr val="tx2"/>
                </a:solidFill>
              </a:rPr>
              <a:t>66</a:t>
            </a:r>
            <a:r>
              <a:rPr lang="ko-KR" altLang="en-US" sz="1400" dirty="0">
                <a:solidFill>
                  <a:schemeClr val="tx2"/>
                </a:solidFill>
              </a:rPr>
              <a:t>조에 따른 특허결정을 할 때에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특허출원서에</a:t>
            </a:r>
            <a:r>
              <a:rPr lang="ko-KR" altLang="en-US" sz="1400" dirty="0">
                <a:solidFill>
                  <a:schemeClr val="tx2"/>
                </a:solidFill>
              </a:rPr>
              <a:t> 첨부된 명세서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도면 또는 요약서에 적힌 사항이 명백히 잘못된 경우에는 직권으로 보정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이하 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직권보정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이라 한다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할 수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rgbClr val="FF0000"/>
                </a:solidFill>
              </a:rPr>
              <a:t>이 경우 직권보정은 제</a:t>
            </a:r>
            <a:r>
              <a:rPr lang="en-US" altLang="ko-KR" sz="1400" dirty="0">
                <a:solidFill>
                  <a:srgbClr val="FF0000"/>
                </a:solidFill>
              </a:rPr>
              <a:t>47</a:t>
            </a:r>
            <a:r>
              <a:rPr lang="ko-KR" altLang="en-US" sz="1400" dirty="0">
                <a:solidFill>
                  <a:srgbClr val="FF0000"/>
                </a:solidFill>
              </a:rPr>
              <a:t>조제</a:t>
            </a:r>
            <a:r>
              <a:rPr lang="en-US" altLang="ko-KR" sz="1400" dirty="0">
                <a:solidFill>
                  <a:srgbClr val="FF0000"/>
                </a:solidFill>
              </a:rPr>
              <a:t>2</a:t>
            </a:r>
            <a:r>
              <a:rPr lang="ko-KR" altLang="en-US" sz="1400" dirty="0">
                <a:solidFill>
                  <a:srgbClr val="FF0000"/>
                </a:solidFill>
              </a:rPr>
              <a:t>항에 따른 범위에서 하여야 한다</a:t>
            </a:r>
            <a:r>
              <a:rPr lang="en-US" altLang="ko-KR" sz="1400" dirty="0">
                <a:solidFill>
                  <a:srgbClr val="FF0000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②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심사관이 직권보정을 하려면 제</a:t>
            </a:r>
            <a:r>
              <a:rPr lang="en-US" altLang="ko-KR" sz="1400" dirty="0">
                <a:solidFill>
                  <a:schemeClr val="tx2"/>
                </a:solidFill>
              </a:rPr>
              <a:t>67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2</a:t>
            </a:r>
            <a:r>
              <a:rPr lang="ko-KR" altLang="en-US" sz="1400" dirty="0">
                <a:solidFill>
                  <a:schemeClr val="tx2"/>
                </a:solidFill>
              </a:rPr>
              <a:t>항에 따른 특허결정의 등본 송달과 함께 그 직권보정 사항을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특허출원인에게</a:t>
            </a:r>
            <a:r>
              <a:rPr lang="ko-KR" altLang="en-US" sz="1400" dirty="0">
                <a:solidFill>
                  <a:schemeClr val="tx2"/>
                </a:solidFill>
              </a:rPr>
              <a:t> 알려야 한다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③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특허출원인은</a:t>
            </a:r>
            <a:r>
              <a:rPr lang="ko-KR" altLang="en-US" sz="1400" dirty="0">
                <a:solidFill>
                  <a:schemeClr val="tx2"/>
                </a:solidFill>
              </a:rPr>
              <a:t> 직권보정 사항의 전부 또는 </a:t>
            </a:r>
            <a:r>
              <a:rPr lang="ko-KR" altLang="en-US" sz="1400" dirty="0">
                <a:solidFill>
                  <a:srgbClr val="FF0000"/>
                </a:solidFill>
              </a:rPr>
              <a:t>일부</a:t>
            </a:r>
            <a:r>
              <a:rPr lang="ko-KR" altLang="en-US" sz="1400" dirty="0">
                <a:solidFill>
                  <a:schemeClr val="tx2"/>
                </a:solidFill>
              </a:rPr>
              <a:t>를 받아들일 수 없으면 제</a:t>
            </a:r>
            <a:r>
              <a:rPr lang="en-US" altLang="ko-KR" sz="1400" dirty="0">
                <a:solidFill>
                  <a:schemeClr val="tx2"/>
                </a:solidFill>
              </a:rPr>
              <a:t>79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특허료를 낼 때까지 그 직권보정 사항에 대한 의견서를 지식재산처장에게 제출하여야 한다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④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특허출원인이</a:t>
            </a:r>
            <a:r>
              <a:rPr lang="ko-KR" altLang="en-US" sz="1400" dirty="0">
                <a:solidFill>
                  <a:schemeClr val="tx2"/>
                </a:solidFill>
              </a:rPr>
              <a:t> 제</a:t>
            </a:r>
            <a:r>
              <a:rPr lang="en-US" altLang="ko-KR" sz="1400" dirty="0">
                <a:solidFill>
                  <a:schemeClr val="tx2"/>
                </a:solidFill>
              </a:rPr>
              <a:t>3</a:t>
            </a:r>
            <a:r>
              <a:rPr lang="ko-KR" altLang="en-US" sz="1400" dirty="0">
                <a:solidFill>
                  <a:schemeClr val="tx2"/>
                </a:solidFill>
              </a:rPr>
              <a:t>항에 따라 의견서를 제출한 경우 해당 직권보정 사항의 전부 또는 일부는 처음부터 없었던 것으로 본다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이 경우 그 특허결정도 함께 취소된 것으로 본다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다만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특허출원서에</a:t>
            </a:r>
            <a:r>
              <a:rPr lang="ko-KR" altLang="en-US" sz="1400" dirty="0">
                <a:solidFill>
                  <a:schemeClr val="tx2"/>
                </a:solidFill>
              </a:rPr>
              <a:t> 첨부된 요약서에 관한 직권보정 사항의 전부 또는 일부만 처음부터 없었던 것으로 보는 경우에는 그러하지 아니하다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⑤ 삭제</a:t>
            </a:r>
            <a:endParaRPr lang="en-US" altLang="ko-KR" sz="1400" dirty="0">
              <a:solidFill>
                <a:schemeClr val="tx2"/>
              </a:solidFill>
            </a:endParaRPr>
          </a:p>
          <a:p>
            <a:pPr fontAlgn="base"/>
            <a:r>
              <a:rPr lang="en-US" altLang="ko-KR" sz="1400" dirty="0">
                <a:solidFill>
                  <a:srgbClr val="FF0000"/>
                </a:solidFill>
              </a:rPr>
              <a:t>⑥ </a:t>
            </a:r>
            <a:r>
              <a:rPr lang="ko-KR" altLang="en-US" sz="1400" dirty="0">
                <a:solidFill>
                  <a:srgbClr val="FF0000"/>
                </a:solidFill>
              </a:rPr>
              <a:t>직권보정이 제</a:t>
            </a:r>
            <a:r>
              <a:rPr lang="en-US" altLang="ko-KR" sz="1400" dirty="0">
                <a:solidFill>
                  <a:srgbClr val="FF0000"/>
                </a:solidFill>
              </a:rPr>
              <a:t>47</a:t>
            </a:r>
            <a:r>
              <a:rPr lang="ko-KR" altLang="en-US" sz="1400" dirty="0">
                <a:solidFill>
                  <a:srgbClr val="FF0000"/>
                </a:solidFill>
              </a:rPr>
              <a:t>조제</a:t>
            </a:r>
            <a:r>
              <a:rPr lang="en-US" altLang="ko-KR" sz="1400" dirty="0">
                <a:solidFill>
                  <a:srgbClr val="FF0000"/>
                </a:solidFill>
              </a:rPr>
              <a:t>2</a:t>
            </a:r>
            <a:r>
              <a:rPr lang="ko-KR" altLang="en-US" sz="1400" dirty="0">
                <a:solidFill>
                  <a:srgbClr val="FF0000"/>
                </a:solidFill>
              </a:rPr>
              <a:t>항에 따른 범위를 벗어나거나 명백히 잘못되지 아니한 사항을 직권보정한 경우 그 직권보정은 처음부터 없었던 것으로 본다</a:t>
            </a:r>
            <a:r>
              <a:rPr lang="en-US" altLang="ko-KR" sz="1400" dirty="0">
                <a:solidFill>
                  <a:srgbClr val="FF0000"/>
                </a:solidFill>
              </a:rPr>
              <a:t>. 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cxnSp>
        <p:nvCxnSpPr>
          <p:cNvPr id="95" name="직선 연결선 94"/>
          <p:cNvCxnSpPr/>
          <p:nvPr/>
        </p:nvCxnSpPr>
        <p:spPr>
          <a:xfrm>
            <a:off x="0" y="3040584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14"/>
          <p:cNvSpPr>
            <a:spLocks noChangeArrowheads="1"/>
          </p:cNvSpPr>
          <p:nvPr/>
        </p:nvSpPr>
        <p:spPr bwMode="auto">
          <a:xfrm>
            <a:off x="526230" y="4445763"/>
            <a:ext cx="1362973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n-ea"/>
              </a:rPr>
              <a:t>직권보정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32" name="Rectangle 14"/>
          <p:cNvSpPr>
            <a:spLocks noChangeArrowheads="1"/>
          </p:cNvSpPr>
          <p:nvPr/>
        </p:nvSpPr>
        <p:spPr bwMode="auto">
          <a:xfrm>
            <a:off x="526230" y="5439931"/>
            <a:ext cx="1362973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해제조건부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dirty="0">
                <a:latin typeface="+mn-ea"/>
              </a:rPr>
              <a:t>특허결정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34" name="다이아몬드 33"/>
          <p:cNvSpPr/>
          <p:nvPr/>
        </p:nvSpPr>
        <p:spPr>
          <a:xfrm>
            <a:off x="2612396" y="4280074"/>
            <a:ext cx="1972733" cy="1015517"/>
          </a:xfrm>
          <a:prstGeom prst="diamond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출원인의 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의견서</a:t>
            </a:r>
          </a:p>
        </p:txBody>
      </p:sp>
      <p:sp>
        <p:nvSpPr>
          <p:cNvPr id="35" name="Rectangle 14"/>
          <p:cNvSpPr>
            <a:spLocks noChangeArrowheads="1"/>
          </p:cNvSpPr>
          <p:nvPr/>
        </p:nvSpPr>
        <p:spPr bwMode="auto">
          <a:xfrm>
            <a:off x="9670230" y="5439931"/>
            <a:ext cx="1851332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228600" indent="-228600">
              <a:buAutoNum type="arabicPeriod"/>
            </a:pPr>
            <a:r>
              <a:rPr lang="ko-KR" altLang="en-US" sz="1100" b="0" dirty="0">
                <a:latin typeface="+mn-ea"/>
              </a:rPr>
              <a:t>특허등록</a:t>
            </a:r>
            <a:endParaRPr lang="en-US" altLang="ko-KR" sz="1100" b="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1100" dirty="0">
                <a:latin typeface="+mn-ea"/>
              </a:rPr>
              <a:t>직권보정 효력유지</a:t>
            </a:r>
            <a:r>
              <a:rPr lang="en-US" altLang="ko-KR" sz="1100" dirty="0">
                <a:latin typeface="+mn-ea"/>
              </a:rPr>
              <a:t>*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38" name="Rectangle 14"/>
          <p:cNvSpPr>
            <a:spLocks noChangeArrowheads="1"/>
          </p:cNvSpPr>
          <p:nvPr/>
        </p:nvSpPr>
        <p:spPr bwMode="auto">
          <a:xfrm>
            <a:off x="5226533" y="3429000"/>
            <a:ext cx="1362973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명세서</a:t>
            </a:r>
            <a:r>
              <a:rPr lang="en-US" altLang="ko-KR" sz="1100" b="0" dirty="0">
                <a:latin typeface="+mn-ea"/>
              </a:rPr>
              <a:t>, </a:t>
            </a:r>
            <a:r>
              <a:rPr lang="ko-KR" altLang="en-US" sz="1100" dirty="0">
                <a:latin typeface="+mn-ea"/>
              </a:rPr>
              <a:t>도면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39" name="Rectangle 14"/>
          <p:cNvSpPr>
            <a:spLocks noChangeArrowheads="1"/>
          </p:cNvSpPr>
          <p:nvPr/>
        </p:nvSpPr>
        <p:spPr bwMode="auto">
          <a:xfrm>
            <a:off x="5226533" y="4445763"/>
            <a:ext cx="1362973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요약서</a:t>
            </a:r>
          </a:p>
        </p:txBody>
      </p:sp>
      <p:sp>
        <p:nvSpPr>
          <p:cNvPr id="41" name="Rectangle 14"/>
          <p:cNvSpPr>
            <a:spLocks noChangeArrowheads="1"/>
          </p:cNvSpPr>
          <p:nvPr/>
        </p:nvSpPr>
        <p:spPr bwMode="auto">
          <a:xfrm>
            <a:off x="6951816" y="3429000"/>
            <a:ext cx="1484825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marL="228600" indent="-228600">
              <a:buAutoNum type="arabicPeriod"/>
            </a:pPr>
            <a:r>
              <a:rPr lang="ko-KR" altLang="en-US" sz="1100" b="0" dirty="0">
                <a:latin typeface="+mn-ea"/>
              </a:rPr>
              <a:t>특허결정 취소</a:t>
            </a:r>
            <a:endParaRPr lang="en-US" altLang="ko-KR" sz="1100" b="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1100" dirty="0">
                <a:latin typeface="+mn-ea"/>
              </a:rPr>
              <a:t>직권보정 없었던 것으로 간주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46" name="Rectangle 14"/>
          <p:cNvSpPr>
            <a:spLocks noChangeArrowheads="1"/>
          </p:cNvSpPr>
          <p:nvPr/>
        </p:nvSpPr>
        <p:spPr bwMode="auto">
          <a:xfrm>
            <a:off x="6951816" y="4445763"/>
            <a:ext cx="1484825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r>
              <a:rPr lang="ko-KR" altLang="en-US" sz="1100" b="0" dirty="0">
                <a:latin typeface="+mn-ea"/>
              </a:rPr>
              <a:t>직권보정 없었던 것으로 간주</a:t>
            </a:r>
          </a:p>
        </p:txBody>
      </p:sp>
      <p:sp>
        <p:nvSpPr>
          <p:cNvPr id="47" name="Rectangle 14"/>
          <p:cNvSpPr>
            <a:spLocks noChangeArrowheads="1"/>
          </p:cNvSpPr>
          <p:nvPr/>
        </p:nvSpPr>
        <p:spPr bwMode="auto">
          <a:xfrm>
            <a:off x="9670230" y="3429000"/>
            <a:ext cx="1851332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>
                <a:latin typeface="+mn-ea"/>
              </a:rPr>
              <a:t>다시 심사진행</a:t>
            </a:r>
          </a:p>
        </p:txBody>
      </p:sp>
      <p:cxnSp>
        <p:nvCxnSpPr>
          <p:cNvPr id="5" name="직선 연결선 4"/>
          <p:cNvCxnSpPr>
            <a:stCxn id="31" idx="3"/>
            <a:endCxn id="34" idx="1"/>
          </p:cNvCxnSpPr>
          <p:nvPr/>
        </p:nvCxnSpPr>
        <p:spPr>
          <a:xfrm flipV="1">
            <a:off x="1889203" y="4787833"/>
            <a:ext cx="723193" cy="2070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꺾인 연결선 6"/>
          <p:cNvCxnSpPr>
            <a:stCxn id="32" idx="3"/>
            <a:endCxn id="34" idx="1"/>
          </p:cNvCxnSpPr>
          <p:nvPr/>
        </p:nvCxnSpPr>
        <p:spPr>
          <a:xfrm flipV="1">
            <a:off x="1889203" y="4787833"/>
            <a:ext cx="723193" cy="101487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004595" y="4435420"/>
            <a:ext cx="492408" cy="342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통지</a:t>
            </a:r>
          </a:p>
        </p:txBody>
      </p:sp>
      <p:cxnSp>
        <p:nvCxnSpPr>
          <p:cNvPr id="10" name="꺾인 연결선 9"/>
          <p:cNvCxnSpPr>
            <a:stCxn id="34" idx="2"/>
            <a:endCxn id="35" idx="1"/>
          </p:cNvCxnSpPr>
          <p:nvPr/>
        </p:nvCxnSpPr>
        <p:spPr>
          <a:xfrm rot="16200000" flipH="1">
            <a:off x="6380939" y="2513414"/>
            <a:ext cx="507113" cy="6071467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149484" y="5295592"/>
            <a:ext cx="492408" cy="342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No</a:t>
            </a:r>
            <a:endParaRPr lang="ko-KR" altLang="en-US" sz="1100" dirty="0"/>
          </a:p>
        </p:txBody>
      </p:sp>
      <p:cxnSp>
        <p:nvCxnSpPr>
          <p:cNvPr id="12" name="꺾인 연결선 11"/>
          <p:cNvCxnSpPr>
            <a:stCxn id="34" idx="3"/>
            <a:endCxn id="38" idx="1"/>
          </p:cNvCxnSpPr>
          <p:nvPr/>
        </p:nvCxnSpPr>
        <p:spPr>
          <a:xfrm flipV="1">
            <a:off x="4585129" y="3791774"/>
            <a:ext cx="641404" cy="996059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꺾인 연결선 13"/>
          <p:cNvCxnSpPr>
            <a:stCxn id="34" idx="3"/>
            <a:endCxn id="39" idx="1"/>
          </p:cNvCxnSpPr>
          <p:nvPr/>
        </p:nvCxnSpPr>
        <p:spPr>
          <a:xfrm>
            <a:off x="4585129" y="4787833"/>
            <a:ext cx="641404" cy="2070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491243" y="4809806"/>
            <a:ext cx="492408" cy="342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Yes</a:t>
            </a:r>
            <a:endParaRPr lang="ko-KR" altLang="en-US" sz="1100" dirty="0"/>
          </a:p>
        </p:txBody>
      </p:sp>
      <p:cxnSp>
        <p:nvCxnSpPr>
          <p:cNvPr id="16" name="직선 연결선 15"/>
          <p:cNvCxnSpPr>
            <a:stCxn id="38" idx="3"/>
            <a:endCxn id="41" idx="1"/>
          </p:cNvCxnSpPr>
          <p:nvPr/>
        </p:nvCxnSpPr>
        <p:spPr>
          <a:xfrm>
            <a:off x="6589506" y="3791774"/>
            <a:ext cx="362310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>
            <a:stCxn id="39" idx="3"/>
            <a:endCxn id="46" idx="1"/>
          </p:cNvCxnSpPr>
          <p:nvPr/>
        </p:nvCxnSpPr>
        <p:spPr>
          <a:xfrm>
            <a:off x="6589506" y="4808537"/>
            <a:ext cx="362310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>
            <a:stCxn id="41" idx="3"/>
            <a:endCxn id="47" idx="1"/>
          </p:cNvCxnSpPr>
          <p:nvPr/>
        </p:nvCxnSpPr>
        <p:spPr>
          <a:xfrm>
            <a:off x="8436641" y="3791774"/>
            <a:ext cx="1233589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265</a:t>
            </a:r>
            <a:endParaRPr lang="ko-KR" altLang="en-US" dirty="0"/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DD784AD1-E34B-470A-B1CC-DDB3591A42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70229" y="4445763"/>
            <a:ext cx="1851333" cy="725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특허등록</a:t>
            </a:r>
            <a:endParaRPr lang="ko-KR" altLang="en-US" sz="1100" b="0" dirty="0">
              <a:latin typeface="+mn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FD00137-D7A6-4CA6-A3B1-7801C58527FD}"/>
              </a:ext>
            </a:extLst>
          </p:cNvPr>
          <p:cNvCxnSpPr>
            <a:cxnSpLocks/>
            <a:stCxn id="46" idx="3"/>
            <a:endCxn id="28" idx="1"/>
          </p:cNvCxnSpPr>
          <p:nvPr/>
        </p:nvCxnSpPr>
        <p:spPr>
          <a:xfrm>
            <a:off x="8436641" y="4808537"/>
            <a:ext cx="1233588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98C4801-5C01-47DF-9EF3-BFFF383B09DF}"/>
              </a:ext>
            </a:extLst>
          </p:cNvPr>
          <p:cNvSpPr txBox="1"/>
          <p:nvPr/>
        </p:nvSpPr>
        <p:spPr>
          <a:xfrm>
            <a:off x="8462164" y="4483433"/>
            <a:ext cx="910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특허료 납부</a:t>
            </a:r>
            <a:endParaRPr lang="ko-KR" alt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A950B9-93B9-4C40-A0F3-3315096D5952}"/>
              </a:ext>
            </a:extLst>
          </p:cNvPr>
          <p:cNvSpPr txBox="1"/>
          <p:nvPr/>
        </p:nvSpPr>
        <p:spPr>
          <a:xfrm>
            <a:off x="3598760" y="5519766"/>
            <a:ext cx="910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특허료 납부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3F1FD3-A983-4716-BC68-974D7ED1CADD}"/>
              </a:ext>
            </a:extLst>
          </p:cNvPr>
          <p:cNvSpPr txBox="1"/>
          <p:nvPr/>
        </p:nvSpPr>
        <p:spPr>
          <a:xfrm>
            <a:off x="412867" y="6424980"/>
            <a:ext cx="113662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* </a:t>
            </a:r>
            <a:r>
              <a:rPr lang="ko-KR" altLang="en-US" sz="1100" dirty="0"/>
              <a:t>직권보정이 신규사항을 추가하거나 명백히 잘못되지 아니한 사항을 직권보정한 경우 그 직권보정은 처음부터 없었던 것으로 간주 </a:t>
            </a:r>
          </a:p>
        </p:txBody>
      </p:sp>
    </p:spTree>
    <p:extLst>
      <p:ext uri="{BB962C8B-B14F-4D97-AF65-F5344CB8AC3E}">
        <p14:creationId xmlns:p14="http://schemas.microsoft.com/office/powerpoint/2010/main" val="12238753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42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기재불비와 직권보정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875" y="986046"/>
            <a:ext cx="119363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심사관은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특허출원서에</a:t>
            </a:r>
            <a:r>
              <a:rPr lang="ko-KR" altLang="en-US" sz="1400" dirty="0">
                <a:solidFill>
                  <a:schemeClr val="tx2"/>
                </a:solidFill>
              </a:rPr>
              <a:t> 첨부된 명세서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도면 또는 </a:t>
            </a:r>
            <a:r>
              <a:rPr lang="ko-KR" altLang="en-US" sz="1400" dirty="0" err="1">
                <a:solidFill>
                  <a:schemeClr val="tx2"/>
                </a:solidFill>
              </a:rPr>
              <a:t>요약서에</a:t>
            </a:r>
            <a:r>
              <a:rPr lang="ko-KR" altLang="en-US" sz="1400" dirty="0">
                <a:solidFill>
                  <a:schemeClr val="tx2"/>
                </a:solidFill>
              </a:rPr>
              <a:t> 적힌 사항이 명백히 잘못된 경우이고 다른 거절이유가 없다면 직권보정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66</a:t>
            </a:r>
            <a:r>
              <a:rPr lang="ko-KR" altLang="en-US" sz="1400" dirty="0">
                <a:solidFill>
                  <a:schemeClr val="tx2"/>
                </a:solidFill>
              </a:rPr>
              <a:t>의</a:t>
            </a:r>
            <a:r>
              <a:rPr lang="en-US" altLang="ko-KR" sz="1400" dirty="0">
                <a:solidFill>
                  <a:schemeClr val="tx2"/>
                </a:solidFill>
              </a:rPr>
              <a:t>2)</a:t>
            </a:r>
            <a:r>
              <a:rPr lang="ko-KR" altLang="en-US" sz="1400" dirty="0">
                <a:solidFill>
                  <a:schemeClr val="tx2"/>
                </a:solidFill>
              </a:rPr>
              <a:t>하면서 </a:t>
            </a:r>
            <a:r>
              <a:rPr lang="ko-KR" altLang="en-US" sz="1400" dirty="0" err="1">
                <a:solidFill>
                  <a:schemeClr val="tx2"/>
                </a:solidFill>
              </a:rPr>
              <a:t>특허결정할</a:t>
            </a:r>
            <a:r>
              <a:rPr lang="ko-KR" altLang="en-US" sz="1400" dirty="0">
                <a:solidFill>
                  <a:schemeClr val="tx2"/>
                </a:solidFill>
              </a:rPr>
              <a:t> 수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「명백히 잘못된 경우」란 사소한 </a:t>
            </a:r>
            <a:r>
              <a:rPr lang="ko-KR" altLang="en-US" sz="1400" dirty="0" err="1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오탈자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 이외에 명백히 잘못 기재된 기재불비가 있는 경우를 말하고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여기서 명백히 잘못 기재된 기재불비란 통상의 기술자가 그 기재가 잘못되었다는 사실을 쉽게 인식할 수 있고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명세서 등의 기재</a:t>
            </a:r>
            <a:r>
              <a:rPr lang="en-US" altLang="ko-KR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의견서 및 </a:t>
            </a:r>
            <a:r>
              <a:rPr lang="ko-KR" altLang="en-US" sz="1400" dirty="0" err="1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출원시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 기술상식을 참작하여 출원인의 당초 의도를 명확히 알 수 있어서 해당 보정이 어떻게 이루어질 것인지 쉽게 예측할 수 있는 경우</a:t>
            </a:r>
            <a:r>
              <a:rPr lang="ko-KR" altLang="en-US" sz="1400" dirty="0">
                <a:solidFill>
                  <a:schemeClr val="tx2"/>
                </a:solidFill>
              </a:rPr>
              <a:t>를 말한다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한편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심사관은 다른 거절이유가 있다면 명백히 잘못된 경우 중 사소한 </a:t>
            </a:r>
            <a:r>
              <a:rPr lang="ko-KR" altLang="en-US" sz="1400" dirty="0" err="1">
                <a:solidFill>
                  <a:schemeClr val="tx2"/>
                </a:solidFill>
              </a:rPr>
              <a:t>오탈자인</a:t>
            </a:r>
            <a:r>
              <a:rPr lang="ko-KR" altLang="en-US" sz="1400" dirty="0">
                <a:solidFill>
                  <a:schemeClr val="tx2"/>
                </a:solidFill>
              </a:rPr>
              <a:t> 것은「참고사항」으로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명백한 잘못된 기재불비에 해당하는 것은 「거절이유」에 포함하여 거절이유를 통지한다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  <a:endParaRPr lang="ko-KR" altLang="en-US" sz="1400" dirty="0">
              <a:solidFill>
                <a:schemeClr val="tx2"/>
              </a:solidFill>
            </a:endParaRPr>
          </a:p>
        </p:txBody>
      </p:sp>
      <p:cxnSp>
        <p:nvCxnSpPr>
          <p:cNvPr id="95" name="직선 연결선 94"/>
          <p:cNvCxnSpPr/>
          <p:nvPr/>
        </p:nvCxnSpPr>
        <p:spPr>
          <a:xfrm>
            <a:off x="0" y="2181928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다이아몬드 19"/>
          <p:cNvSpPr/>
          <p:nvPr/>
        </p:nvSpPr>
        <p:spPr>
          <a:xfrm>
            <a:off x="2362203" y="3858720"/>
            <a:ext cx="1972733" cy="1151467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명백히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잘못된 경우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499556" y="4182560"/>
            <a:ext cx="1600200" cy="503789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기재불비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(</a:t>
            </a:r>
            <a:r>
              <a:rPr lang="ko-KR" altLang="en-US" sz="1400" dirty="0">
                <a:solidFill>
                  <a:schemeClr val="bg1"/>
                </a:solidFill>
              </a:rPr>
              <a:t>제</a:t>
            </a:r>
            <a:r>
              <a:rPr lang="en-US" altLang="ko-KR" sz="1400" dirty="0">
                <a:solidFill>
                  <a:schemeClr val="bg1"/>
                </a:solidFill>
              </a:rPr>
              <a:t>42</a:t>
            </a:r>
            <a:r>
              <a:rPr lang="ko-KR" altLang="en-US" sz="1400" dirty="0">
                <a:solidFill>
                  <a:schemeClr val="bg1"/>
                </a:solidFill>
              </a:rPr>
              <a:t>조 위반</a:t>
            </a:r>
            <a:r>
              <a:rPr lang="en-US" altLang="ko-KR" sz="1400" dirty="0">
                <a:solidFill>
                  <a:schemeClr val="bg1"/>
                </a:solidFill>
              </a:rPr>
              <a:t>)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548469" y="5799693"/>
            <a:ext cx="1600200" cy="5037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거절이유통지</a:t>
            </a:r>
          </a:p>
        </p:txBody>
      </p:sp>
      <p:sp>
        <p:nvSpPr>
          <p:cNvPr id="27" name="다이아몬드 26"/>
          <p:cNvSpPr/>
          <p:nvPr/>
        </p:nvSpPr>
        <p:spPr>
          <a:xfrm>
            <a:off x="4800598" y="3858720"/>
            <a:ext cx="1972733" cy="1151467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다른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거절이유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986864" y="5799693"/>
            <a:ext cx="1600200" cy="5037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직권보정</a:t>
            </a:r>
            <a:r>
              <a:rPr lang="en-US" altLang="ko-KR" sz="1400" dirty="0">
                <a:solidFill>
                  <a:schemeClr val="bg1"/>
                </a:solidFill>
              </a:rPr>
              <a:t>+</a:t>
            </a:r>
            <a:r>
              <a:rPr lang="ko-KR" altLang="en-US" sz="1400" dirty="0">
                <a:solidFill>
                  <a:schemeClr val="bg1"/>
                </a:solidFill>
              </a:rPr>
              <a:t>특허결정</a:t>
            </a:r>
          </a:p>
        </p:txBody>
      </p:sp>
      <p:cxnSp>
        <p:nvCxnSpPr>
          <p:cNvPr id="29" name="직선 화살표 연결선 28"/>
          <p:cNvCxnSpPr>
            <a:stCxn id="21" idx="3"/>
            <a:endCxn id="20" idx="1"/>
          </p:cNvCxnSpPr>
          <p:nvPr/>
        </p:nvCxnSpPr>
        <p:spPr>
          <a:xfrm flipV="1">
            <a:off x="2099756" y="4434454"/>
            <a:ext cx="262447" cy="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284164" y="4434455"/>
            <a:ext cx="482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Yes</a:t>
            </a:r>
            <a:endParaRPr lang="ko-KR" altLang="en-US" sz="1100" dirty="0"/>
          </a:p>
        </p:txBody>
      </p:sp>
      <p:cxnSp>
        <p:nvCxnSpPr>
          <p:cNvPr id="33" name="직선 화살표 연결선 32"/>
          <p:cNvCxnSpPr>
            <a:stCxn id="20" idx="2"/>
            <a:endCxn id="25" idx="0"/>
          </p:cNvCxnSpPr>
          <p:nvPr/>
        </p:nvCxnSpPr>
        <p:spPr>
          <a:xfrm flipH="1">
            <a:off x="3348569" y="5010187"/>
            <a:ext cx="1" cy="78950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348570" y="5010187"/>
            <a:ext cx="482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No</a:t>
            </a:r>
            <a:endParaRPr lang="ko-KR" altLang="en-US" sz="1100" dirty="0"/>
          </a:p>
        </p:txBody>
      </p:sp>
      <p:cxnSp>
        <p:nvCxnSpPr>
          <p:cNvPr id="40" name="직선 화살표 연결선 39"/>
          <p:cNvCxnSpPr>
            <a:stCxn id="20" idx="3"/>
            <a:endCxn id="27" idx="1"/>
          </p:cNvCxnSpPr>
          <p:nvPr/>
        </p:nvCxnSpPr>
        <p:spPr>
          <a:xfrm>
            <a:off x="4334936" y="4434454"/>
            <a:ext cx="46566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/>
          <p:nvPr/>
        </p:nvCxnSpPr>
        <p:spPr>
          <a:xfrm flipH="1">
            <a:off x="5782764" y="5010187"/>
            <a:ext cx="1" cy="78950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782765" y="5010187"/>
            <a:ext cx="482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/>
          <p:cNvSpPr/>
          <p:nvPr/>
        </p:nvSpPr>
        <p:spPr>
          <a:xfrm>
            <a:off x="7154322" y="3640693"/>
            <a:ext cx="4563540" cy="5037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base"/>
            <a:r>
              <a:rPr lang="ko-KR" altLang="en-US" sz="1400" dirty="0">
                <a:solidFill>
                  <a:schemeClr val="tx1"/>
                </a:solidFill>
              </a:rPr>
              <a:t>사소한 </a:t>
            </a:r>
            <a:r>
              <a:rPr lang="ko-KR" altLang="en-US" sz="1400" dirty="0" err="1">
                <a:solidFill>
                  <a:schemeClr val="tx1"/>
                </a:solidFill>
              </a:rPr>
              <a:t>오탈자</a:t>
            </a:r>
            <a:r>
              <a:rPr lang="en-US" altLang="ko-KR" sz="1400" dirty="0">
                <a:solidFill>
                  <a:schemeClr val="tx1"/>
                </a:solidFill>
              </a:rPr>
              <a:t>: </a:t>
            </a:r>
            <a:r>
              <a:rPr lang="ko-KR" altLang="en-US" sz="1400" dirty="0">
                <a:solidFill>
                  <a:schemeClr val="tx1"/>
                </a:solidFill>
              </a:rPr>
              <a:t>「참고사항」으로 하여 거절이유통지</a:t>
            </a:r>
          </a:p>
        </p:txBody>
      </p:sp>
      <p:sp>
        <p:nvSpPr>
          <p:cNvPr id="45" name="직사각형 44"/>
          <p:cNvSpPr/>
          <p:nvPr/>
        </p:nvSpPr>
        <p:spPr>
          <a:xfrm>
            <a:off x="7154322" y="4620280"/>
            <a:ext cx="4563540" cy="5037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</a:rPr>
              <a:t>명백히 잘못된 기재불비</a:t>
            </a:r>
            <a:r>
              <a:rPr lang="en-US" altLang="ko-KR" sz="1400" dirty="0">
                <a:solidFill>
                  <a:schemeClr val="tx1"/>
                </a:solidFill>
              </a:rPr>
              <a:t>: </a:t>
            </a:r>
            <a:r>
              <a:rPr lang="ko-KR" altLang="en-US" sz="1400" dirty="0">
                <a:solidFill>
                  <a:schemeClr val="tx1"/>
                </a:solidFill>
              </a:rPr>
              <a:t> 「거절이유」에 포함하여 거절이유통지</a:t>
            </a:r>
          </a:p>
        </p:txBody>
      </p:sp>
      <p:cxnSp>
        <p:nvCxnSpPr>
          <p:cNvPr id="17" name="꺾인 연결선 16"/>
          <p:cNvCxnSpPr>
            <a:stCxn id="27" idx="3"/>
            <a:endCxn id="44" idx="1"/>
          </p:cNvCxnSpPr>
          <p:nvPr/>
        </p:nvCxnSpPr>
        <p:spPr>
          <a:xfrm flipV="1">
            <a:off x="6773331" y="3892588"/>
            <a:ext cx="380991" cy="54186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연결선 18"/>
          <p:cNvCxnSpPr>
            <a:stCxn id="27" idx="3"/>
            <a:endCxn id="45" idx="1"/>
          </p:cNvCxnSpPr>
          <p:nvPr/>
        </p:nvCxnSpPr>
        <p:spPr>
          <a:xfrm>
            <a:off x="6773331" y="4434454"/>
            <a:ext cx="380991" cy="43772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591300" y="4476790"/>
            <a:ext cx="482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8" name="TextBox 47"/>
          <p:cNvSpPr txBox="1"/>
          <p:nvPr/>
        </p:nvSpPr>
        <p:spPr>
          <a:xfrm>
            <a:off x="3344327" y="2331532"/>
            <a:ext cx="8144940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사소한 </a:t>
            </a:r>
            <a:r>
              <a:rPr lang="ko-KR" altLang="en-US" sz="1400" dirty="0" err="1"/>
              <a:t>오탈자</a:t>
            </a:r>
            <a:endParaRPr lang="ko-KR" altLang="en-US" sz="1400" dirty="0"/>
          </a:p>
        </p:txBody>
      </p:sp>
      <p:sp>
        <p:nvSpPr>
          <p:cNvPr id="52" name="TextBox 51"/>
          <p:cNvSpPr txBox="1"/>
          <p:nvPr/>
        </p:nvSpPr>
        <p:spPr>
          <a:xfrm>
            <a:off x="3344327" y="2720998"/>
            <a:ext cx="8144940" cy="7386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명백히 잘못된 기재불비</a:t>
            </a:r>
            <a:r>
              <a:rPr lang="en-US" altLang="ko-KR" sz="1400" dirty="0"/>
              <a:t>: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통상의 기술자가 그 기재가 잘못되었다는 사실을 </a:t>
            </a:r>
            <a:r>
              <a:rPr lang="ko-KR" altLang="en-US" sz="1400" dirty="0">
                <a:solidFill>
                  <a:srgbClr val="FF0000"/>
                </a:solidFill>
              </a:rPr>
              <a:t>쉽게 인식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할 수 있고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명세서 등의 기재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의견서 및 </a:t>
            </a:r>
            <a:r>
              <a:rPr lang="ko-KR" altLang="en-US" sz="1400" dirty="0" err="1">
                <a:solidFill>
                  <a:schemeClr val="bg1">
                    <a:lumMod val="50000"/>
                  </a:schemeClr>
                </a:solidFill>
              </a:rPr>
              <a:t>출원시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 기술상식을 참작하여 출원인의 당초 의도를 명확히 알 수 있어서 해당 보정이 어떻게 이루어질 것인지 </a:t>
            </a:r>
            <a:r>
              <a:rPr lang="ko-KR" altLang="en-US" sz="1400" dirty="0">
                <a:solidFill>
                  <a:srgbClr val="FF0000"/>
                </a:solidFill>
              </a:rPr>
              <a:t>쉽게 예측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할 수 있는 경우</a:t>
            </a:r>
          </a:p>
        </p:txBody>
      </p:sp>
      <p:cxnSp>
        <p:nvCxnSpPr>
          <p:cNvPr id="51" name="꺾인 연결선 50"/>
          <p:cNvCxnSpPr>
            <a:stCxn id="48" idx="1"/>
            <a:endCxn id="52" idx="1"/>
          </p:cNvCxnSpPr>
          <p:nvPr/>
        </p:nvCxnSpPr>
        <p:spPr>
          <a:xfrm rot="10800000" flipV="1">
            <a:off x="3344327" y="2485420"/>
            <a:ext cx="12700" cy="604909"/>
          </a:xfrm>
          <a:prstGeom prst="bentConnector3">
            <a:avLst>
              <a:gd name="adj1" fmla="val 1800000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자유형 56"/>
          <p:cNvSpPr/>
          <p:nvPr/>
        </p:nvSpPr>
        <p:spPr>
          <a:xfrm>
            <a:off x="2861733" y="2802467"/>
            <a:ext cx="304800" cy="1143000"/>
          </a:xfrm>
          <a:custGeom>
            <a:avLst/>
            <a:gdLst>
              <a:gd name="connsiteX0" fmla="*/ 262467 w 304800"/>
              <a:gd name="connsiteY0" fmla="*/ 0 h 1143000"/>
              <a:gd name="connsiteX1" fmla="*/ 0 w 304800"/>
              <a:gd name="connsiteY1" fmla="*/ 0 h 1143000"/>
              <a:gd name="connsiteX2" fmla="*/ 0 w 304800"/>
              <a:gd name="connsiteY2" fmla="*/ 838200 h 1143000"/>
              <a:gd name="connsiteX3" fmla="*/ 304800 w 304800"/>
              <a:gd name="connsiteY3" fmla="*/ 114300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800" h="1143000">
                <a:moveTo>
                  <a:pt x="262467" y="0"/>
                </a:moveTo>
                <a:lnTo>
                  <a:pt x="0" y="0"/>
                </a:lnTo>
                <a:lnTo>
                  <a:pt x="0" y="838200"/>
                </a:lnTo>
                <a:lnTo>
                  <a:pt x="304800" y="1143000"/>
                </a:lnTo>
              </a:path>
            </a:pathLst>
          </a:custGeom>
          <a:ln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20125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42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명백히 잘못된 경우의 예시</a:t>
            </a:r>
          </a:p>
        </p:txBody>
      </p:sp>
      <p:sp>
        <p:nvSpPr>
          <p:cNvPr id="31" name="Rectangle 5"/>
          <p:cNvSpPr>
            <a:spLocks noChangeArrowheads="1"/>
          </p:cNvSpPr>
          <p:nvPr/>
        </p:nvSpPr>
        <p:spPr bwMode="auto">
          <a:xfrm>
            <a:off x="347688" y="1094336"/>
            <a:ext cx="2641046" cy="34810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+mj-ea"/>
                <a:ea typeface="+mj-ea"/>
              </a:rPr>
              <a:t>사소한 </a:t>
            </a:r>
            <a:r>
              <a:rPr lang="ko-KR" altLang="en-US" sz="1600" dirty="0" err="1">
                <a:solidFill>
                  <a:schemeClr val="bg1"/>
                </a:solidFill>
                <a:latin typeface="+mj-ea"/>
                <a:ea typeface="+mj-ea"/>
              </a:rPr>
              <a:t>오탈자</a:t>
            </a:r>
            <a:endParaRPr lang="ko-KR" altLang="en-US" sz="1600" b="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6088591" y="1017853"/>
            <a:ext cx="0" cy="547608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5"/>
          <p:cNvSpPr>
            <a:spLocks noChangeArrowheads="1"/>
          </p:cNvSpPr>
          <p:nvPr/>
        </p:nvSpPr>
        <p:spPr bwMode="auto">
          <a:xfrm>
            <a:off x="6452155" y="1094336"/>
            <a:ext cx="2641046" cy="34810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+mj-ea"/>
                <a:ea typeface="+mj-ea"/>
              </a:rPr>
              <a:t>명백히 잘못된 기재불비</a:t>
            </a:r>
            <a:endParaRPr lang="ko-KR" altLang="en-US" sz="1600" b="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45170"/>
              </p:ext>
            </p:extLst>
          </p:nvPr>
        </p:nvGraphicFramePr>
        <p:xfrm>
          <a:off x="6480729" y="1652150"/>
          <a:ext cx="5549345" cy="4825548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703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22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구 분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예시 및 설명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366">
                <a:tc row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삭제된 </a:t>
                      </a:r>
                      <a:r>
                        <a:rPr lang="ko-KR" altLang="en-US" sz="1050" kern="1200" dirty="0" err="1"/>
                        <a:t>청구항을</a:t>
                      </a:r>
                      <a:r>
                        <a:rPr lang="ko-KR" altLang="en-US" sz="1050" kern="1200" dirty="0"/>
                        <a:t> 인용하는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삭제된 청구항만을 인용하며</a:t>
                      </a:r>
                      <a:r>
                        <a:rPr lang="en-US" altLang="ko-KR" sz="1050" kern="1200" dirty="0"/>
                        <a:t>, </a:t>
                      </a:r>
                      <a:r>
                        <a:rPr lang="ko-KR" altLang="en-US" sz="1050" kern="1200" dirty="0"/>
                        <a:t>선행 </a:t>
                      </a:r>
                      <a:r>
                        <a:rPr lang="ko-KR" altLang="en-US" sz="1050" kern="1200" dirty="0" err="1"/>
                        <a:t>청구항이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</a:t>
                      </a:r>
                      <a:r>
                        <a:rPr lang="ko-KR" altLang="en-US" sz="1050" kern="1200" dirty="0"/>
                        <a:t>개인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1. A</a:t>
                      </a:r>
                      <a:r>
                        <a:rPr lang="ko-KR" altLang="en-US" sz="1050" kern="1200" dirty="0"/>
                        <a:t>와 </a:t>
                      </a:r>
                      <a:r>
                        <a:rPr lang="en-US" altLang="ko-KR" sz="1050" kern="1200" dirty="0"/>
                        <a:t>B</a:t>
                      </a:r>
                      <a:r>
                        <a:rPr lang="ko-KR" altLang="en-US" sz="1050" kern="1200" dirty="0"/>
                        <a:t>를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2. </a:t>
                      </a:r>
                      <a:r>
                        <a:rPr lang="ko-KR" altLang="en-US" sz="1050" kern="1200" dirty="0"/>
                        <a:t>삭제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3.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2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C</a:t>
                      </a:r>
                      <a:r>
                        <a:rPr lang="ko-KR" altLang="en-US" sz="1050" kern="1200" dirty="0"/>
                        <a:t>를 더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→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C</a:t>
                      </a:r>
                      <a:r>
                        <a:rPr lang="ko-KR" altLang="en-US" sz="1050" kern="1200" dirty="0"/>
                        <a:t>를 더 포함하는 장치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36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삭제되지 않은 청구항도 인용하는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1. A</a:t>
                      </a:r>
                      <a:r>
                        <a:rPr lang="ko-KR" altLang="en-US" sz="1050" kern="1200" dirty="0"/>
                        <a:t>와 </a:t>
                      </a:r>
                      <a:r>
                        <a:rPr lang="en-US" altLang="ko-KR" sz="1050" kern="1200" dirty="0"/>
                        <a:t>B</a:t>
                      </a:r>
                      <a:r>
                        <a:rPr lang="ko-KR" altLang="en-US" sz="1050" kern="1200" dirty="0"/>
                        <a:t>를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2. </a:t>
                      </a:r>
                      <a:r>
                        <a:rPr lang="ko-KR" altLang="en-US" sz="1050" kern="1200" dirty="0"/>
                        <a:t>삭제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3.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 </a:t>
                      </a:r>
                      <a:r>
                        <a:rPr lang="ko-KR" altLang="en-US" sz="1050" kern="1200" dirty="0"/>
                        <a:t>또는 </a:t>
                      </a:r>
                      <a:r>
                        <a:rPr lang="en-US" altLang="ko-KR" sz="1050" kern="1200" dirty="0"/>
                        <a:t>2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C</a:t>
                      </a:r>
                      <a:r>
                        <a:rPr lang="ko-KR" altLang="en-US" sz="1050" kern="1200" dirty="0"/>
                        <a:t>를 더 포함하는 장치 →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C</a:t>
                      </a:r>
                      <a:r>
                        <a:rPr lang="ko-KR" altLang="en-US" sz="1050" kern="1200" dirty="0"/>
                        <a:t>를 더 포함하는 장치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412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종속항임에도</a:t>
                      </a:r>
                      <a:r>
                        <a:rPr lang="ko-KR" altLang="en-US" sz="1050" kern="1200" dirty="0"/>
                        <a:t> 인용하는 </a:t>
                      </a:r>
                      <a:r>
                        <a:rPr lang="ko-KR" altLang="en-US" sz="1050" kern="1200" dirty="0" err="1"/>
                        <a:t>청구항과</a:t>
                      </a:r>
                      <a:r>
                        <a:rPr lang="ko-KR" altLang="en-US" sz="1050" kern="1200" dirty="0"/>
                        <a:t> 말미가 다른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청구항 </a:t>
                      </a:r>
                      <a:r>
                        <a:rPr lang="en-US" altLang="ko-KR" sz="1050" kern="1200" dirty="0"/>
                        <a:t>1. A</a:t>
                      </a:r>
                      <a:r>
                        <a:rPr lang="ko-KR" altLang="en-US" sz="1050" kern="1200" dirty="0"/>
                        <a:t>를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청구항 </a:t>
                      </a:r>
                      <a:r>
                        <a:rPr lang="en-US" altLang="ko-KR" sz="1050" kern="1200" dirty="0"/>
                        <a:t>2. </a:t>
                      </a:r>
                      <a:r>
                        <a:rPr lang="ko-KR" altLang="en-US" sz="1050" kern="1200" dirty="0"/>
                        <a:t>청구항 </a:t>
                      </a:r>
                      <a:r>
                        <a:rPr lang="en-US" altLang="ko-KR" sz="1050" kern="1200" dirty="0"/>
                        <a:t>1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B</a:t>
                      </a:r>
                      <a:r>
                        <a:rPr lang="ko-KR" altLang="en-US" sz="1050" kern="1200" dirty="0"/>
                        <a:t>를 더 포함하는 방법 → 청구항 </a:t>
                      </a:r>
                      <a:r>
                        <a:rPr lang="en-US" altLang="ko-KR" sz="1050" kern="1200" dirty="0"/>
                        <a:t>1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B</a:t>
                      </a:r>
                      <a:r>
                        <a:rPr lang="ko-KR" altLang="en-US" sz="1050" kern="1200" dirty="0"/>
                        <a:t>를 더 포함하는 장치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366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보정으로 </a:t>
                      </a:r>
                      <a:r>
                        <a:rPr lang="ko-KR" altLang="en-US" sz="1050" kern="1200" dirty="0" err="1"/>
                        <a:t>종속항이</a:t>
                      </a:r>
                      <a:r>
                        <a:rPr lang="ko-KR" altLang="en-US" sz="1050" kern="1200" dirty="0"/>
                        <a:t> 인용하는 </a:t>
                      </a:r>
                      <a:r>
                        <a:rPr lang="ko-KR" altLang="en-US" sz="1050" kern="1200" dirty="0" err="1"/>
                        <a:t>청구항에</a:t>
                      </a:r>
                      <a:r>
                        <a:rPr lang="ko-KR" altLang="en-US" sz="1050" kern="1200" dirty="0"/>
                        <a:t> 병합되었음에도 </a:t>
                      </a:r>
                      <a:r>
                        <a:rPr lang="ko-KR" altLang="en-US" sz="1050" kern="1200" dirty="0" err="1"/>
                        <a:t>종속항을</a:t>
                      </a:r>
                      <a:r>
                        <a:rPr lang="ko-KR" altLang="en-US" sz="1050" kern="1200" dirty="0"/>
                        <a:t> 삭제하지 않은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/>
                        <a:t>[</a:t>
                      </a:r>
                      <a:r>
                        <a:rPr lang="ko-KR" altLang="en-US" sz="1050" kern="1200"/>
                        <a:t>보정 전</a:t>
                      </a:r>
                      <a:r>
                        <a:rPr lang="en-US" altLang="ko-KR" sz="1050" kern="1200"/>
                        <a:t>] </a:t>
                      </a:r>
                      <a:r>
                        <a:rPr lang="ko-KR" altLang="en-US" sz="1050" kern="1200"/>
                        <a:t>청구항 </a:t>
                      </a:r>
                      <a:r>
                        <a:rPr lang="en-US" altLang="ko-KR" sz="1050" kern="1200"/>
                        <a:t>1. A</a:t>
                      </a:r>
                      <a:r>
                        <a:rPr lang="ko-KR" altLang="en-US" sz="1050" kern="1200"/>
                        <a:t>를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/>
                        <a:t>청구항 </a:t>
                      </a:r>
                      <a:r>
                        <a:rPr lang="en-US" altLang="ko-KR" sz="1050" kern="1200"/>
                        <a:t>2. </a:t>
                      </a:r>
                      <a:r>
                        <a:rPr lang="ko-KR" altLang="en-US" sz="1050" kern="1200"/>
                        <a:t>청구항 </a:t>
                      </a:r>
                      <a:r>
                        <a:rPr lang="en-US" altLang="ko-KR" sz="1050" kern="1200"/>
                        <a:t>1</a:t>
                      </a:r>
                      <a:r>
                        <a:rPr lang="ko-KR" altLang="en-US" sz="1050" kern="1200"/>
                        <a:t>에 있어서</a:t>
                      </a:r>
                      <a:r>
                        <a:rPr lang="en-US" altLang="ko-KR" sz="1050" kern="1200"/>
                        <a:t>, B</a:t>
                      </a:r>
                      <a:r>
                        <a:rPr lang="ko-KR" altLang="en-US" sz="1050" kern="1200"/>
                        <a:t>를 더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/>
                        <a:t>[</a:t>
                      </a:r>
                      <a:r>
                        <a:rPr lang="ko-KR" altLang="en-US" sz="1050" kern="1200"/>
                        <a:t>보정 후</a:t>
                      </a:r>
                      <a:r>
                        <a:rPr lang="en-US" altLang="ko-KR" sz="1050" kern="1200"/>
                        <a:t>] </a:t>
                      </a:r>
                      <a:r>
                        <a:rPr lang="ko-KR" altLang="en-US" sz="1050" kern="1200"/>
                        <a:t>청구항 </a:t>
                      </a:r>
                      <a:r>
                        <a:rPr lang="en-US" altLang="ko-KR" sz="1050" kern="1200"/>
                        <a:t>1. A</a:t>
                      </a:r>
                      <a:r>
                        <a:rPr lang="ko-KR" altLang="en-US" sz="1050" kern="1200"/>
                        <a:t>와 </a:t>
                      </a:r>
                      <a:r>
                        <a:rPr lang="en-US" altLang="ko-KR" sz="1050" kern="1200"/>
                        <a:t>B</a:t>
                      </a:r>
                      <a:r>
                        <a:rPr lang="ko-KR" altLang="en-US" sz="1050" kern="1200"/>
                        <a:t>를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/>
                        <a:t>청구항 </a:t>
                      </a:r>
                      <a:r>
                        <a:rPr lang="en-US" altLang="ko-KR" sz="1050" kern="1200"/>
                        <a:t>2. </a:t>
                      </a:r>
                      <a:r>
                        <a:rPr lang="ko-KR" altLang="en-US" sz="1050" kern="1200"/>
                        <a:t>청구항 </a:t>
                      </a:r>
                      <a:r>
                        <a:rPr lang="en-US" altLang="ko-KR" sz="1050" kern="1200"/>
                        <a:t>1</a:t>
                      </a:r>
                      <a:r>
                        <a:rPr lang="ko-KR" altLang="en-US" sz="1050" kern="1200"/>
                        <a:t>에 있어서</a:t>
                      </a:r>
                      <a:r>
                        <a:rPr lang="en-US" altLang="ko-KR" sz="1050" kern="1200"/>
                        <a:t>, B</a:t>
                      </a:r>
                      <a:r>
                        <a:rPr lang="ko-KR" altLang="en-US" sz="1050" kern="1200"/>
                        <a:t>를 더 포함하는 장치 → 삭제</a:t>
                      </a:r>
                      <a:endParaRPr lang="ko-KR" altLang="en-US" sz="1050" kern="120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366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동일한 구성을 두 개 이상의 용어를 사용하여 지칭하는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1. </a:t>
                      </a:r>
                      <a:r>
                        <a:rPr lang="ko-KR" altLang="en-US" sz="1050" kern="1200" dirty="0"/>
                        <a:t>핵 형성층을 형성하는 단계와 상기 핵 </a:t>
                      </a:r>
                      <a:r>
                        <a:rPr lang="ko-KR" altLang="en-US" sz="1050" kern="1200" dirty="0" err="1"/>
                        <a:t>생성층</a:t>
                      </a:r>
                      <a:r>
                        <a:rPr lang="ko-KR" altLang="en-US" sz="1050" kern="1200" dirty="0"/>
                        <a:t> 위에 실리콘 층을 형성하는 단계를 포함하는 </a:t>
                      </a:r>
                      <a:r>
                        <a:rPr lang="ko-KR" altLang="en-US" sz="1050" kern="1200" dirty="0" err="1"/>
                        <a:t>반도체층</a:t>
                      </a:r>
                      <a:r>
                        <a:rPr lang="ko-KR" altLang="en-US" sz="1050" kern="1200" dirty="0"/>
                        <a:t> 형성 방법 →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1. </a:t>
                      </a:r>
                      <a:r>
                        <a:rPr lang="ko-KR" altLang="en-US" sz="1050" kern="1200" dirty="0"/>
                        <a:t>핵 형성층을 형성하는 단계와 상기 핵 형성층 위에 실리콘 층을 형성하는 단계를 포함하는 </a:t>
                      </a:r>
                      <a:r>
                        <a:rPr lang="ko-KR" altLang="en-US" sz="1050" kern="1200" dirty="0" err="1"/>
                        <a:t>반도체층</a:t>
                      </a:r>
                      <a:r>
                        <a:rPr lang="ko-KR" altLang="en-US" sz="1050" kern="1200" dirty="0"/>
                        <a:t> 형성 방법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366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청구항을</a:t>
                      </a:r>
                      <a:r>
                        <a:rPr lang="ko-KR" altLang="en-US" sz="1050" kern="1200" dirty="0"/>
                        <a:t> 잘못 인용한 것이 </a:t>
                      </a:r>
                      <a:endParaRPr lang="en-US" altLang="ko-KR" sz="1050" kern="1200" dirty="0"/>
                    </a:p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명백한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1. A</a:t>
                      </a:r>
                      <a:r>
                        <a:rPr lang="ko-KR" altLang="en-US" sz="1050" kern="1200" dirty="0"/>
                        <a:t>를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2.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B</a:t>
                      </a:r>
                      <a:r>
                        <a:rPr lang="ko-KR" altLang="en-US" sz="1050" kern="1200" dirty="0"/>
                        <a:t>를 더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3.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</a:t>
                      </a:r>
                      <a:r>
                        <a:rPr lang="ko-KR" altLang="en-US" sz="1050" kern="1200" dirty="0"/>
                        <a:t>상기 </a:t>
                      </a:r>
                      <a:r>
                        <a:rPr lang="en-US" altLang="ko-KR" sz="1050" kern="1200" dirty="0"/>
                        <a:t>B</a:t>
                      </a:r>
                      <a:r>
                        <a:rPr lang="ko-KR" altLang="en-US" sz="1050" kern="1200" dirty="0"/>
                        <a:t>는 </a:t>
                      </a:r>
                      <a:r>
                        <a:rPr lang="en-US" altLang="ko-KR" sz="1050" kern="1200" dirty="0"/>
                        <a:t>C</a:t>
                      </a:r>
                      <a:r>
                        <a:rPr lang="ko-KR" altLang="en-US" sz="1050" kern="1200" dirty="0"/>
                        <a:t>인 장치→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2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</a:t>
                      </a:r>
                      <a:r>
                        <a:rPr lang="ko-KR" altLang="en-US" sz="1050" kern="1200" dirty="0"/>
                        <a:t>상기 </a:t>
                      </a:r>
                      <a:r>
                        <a:rPr lang="en-US" altLang="ko-KR" sz="1050" kern="1200" dirty="0"/>
                        <a:t>B</a:t>
                      </a:r>
                      <a:r>
                        <a:rPr lang="ko-KR" altLang="en-US" sz="1050" kern="1200" dirty="0"/>
                        <a:t>는 </a:t>
                      </a:r>
                      <a:r>
                        <a:rPr lang="en-US" altLang="ko-KR" sz="1050" kern="1200" dirty="0"/>
                        <a:t>C</a:t>
                      </a:r>
                      <a:r>
                        <a:rPr lang="ko-KR" altLang="en-US" sz="1050" kern="1200" dirty="0"/>
                        <a:t>인 장치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2459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문언적으로</a:t>
                      </a:r>
                      <a:r>
                        <a:rPr lang="ko-KR" altLang="en-US" sz="1050" kern="1200" dirty="0"/>
                        <a:t> 동일한 </a:t>
                      </a:r>
                      <a:r>
                        <a:rPr lang="ko-KR" altLang="en-US" sz="1050" kern="1200" dirty="0" err="1"/>
                        <a:t>청구항을</a:t>
                      </a:r>
                      <a:r>
                        <a:rPr lang="ko-KR" altLang="en-US" sz="1050" kern="1200" dirty="0"/>
                        <a:t> 중복하여 기재하는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1. A</a:t>
                      </a:r>
                      <a:r>
                        <a:rPr lang="ko-KR" altLang="en-US" sz="1050" kern="1200" dirty="0"/>
                        <a:t>와 </a:t>
                      </a:r>
                      <a:r>
                        <a:rPr lang="en-US" altLang="ko-KR" sz="1050" kern="1200" dirty="0"/>
                        <a:t>B</a:t>
                      </a:r>
                      <a:r>
                        <a:rPr lang="ko-KR" altLang="en-US" sz="1050" kern="1200" dirty="0"/>
                        <a:t>를 포함하는 장치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2. A</a:t>
                      </a:r>
                      <a:r>
                        <a:rPr lang="ko-KR" altLang="en-US" sz="1050" kern="1200" dirty="0"/>
                        <a:t>와 </a:t>
                      </a:r>
                      <a:r>
                        <a:rPr lang="en-US" altLang="ko-KR" sz="1050" kern="1200" dirty="0"/>
                        <a:t>B</a:t>
                      </a:r>
                      <a:r>
                        <a:rPr lang="ko-KR" altLang="en-US" sz="1050" kern="1200" dirty="0"/>
                        <a:t>를 포함하는 장치 → 삭제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412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/>
                        <a:t>인용되는 항의 번호를 </a:t>
                      </a:r>
                      <a:r>
                        <a:rPr lang="ko-KR" altLang="en-US" sz="1050" kern="1200" dirty="0" err="1"/>
                        <a:t>택일적으로</a:t>
                      </a:r>
                      <a:r>
                        <a:rPr lang="ko-KR" altLang="en-US" sz="1050" kern="1200" dirty="0"/>
                        <a:t> 기재하지 않은 경우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 dirty="0"/>
                        <a:t>(a)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 </a:t>
                      </a:r>
                      <a:r>
                        <a:rPr lang="ko-KR" altLang="en-US" sz="1050" kern="1200" dirty="0"/>
                        <a:t>및 </a:t>
                      </a:r>
                      <a:r>
                        <a:rPr lang="en-US" altLang="ko-KR" sz="1050" kern="1200" dirty="0"/>
                        <a:t>2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 </a:t>
                      </a:r>
                      <a:r>
                        <a:rPr lang="ko-KR" altLang="en-US" sz="1050" kern="1200" dirty="0"/>
                        <a:t>→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 </a:t>
                      </a:r>
                      <a:r>
                        <a:rPr lang="ko-KR" altLang="en-US" sz="1050" kern="1200" dirty="0"/>
                        <a:t>또는 </a:t>
                      </a:r>
                      <a:r>
                        <a:rPr lang="en-US" altLang="ko-KR" sz="1050" kern="1200" dirty="0"/>
                        <a:t>2</a:t>
                      </a:r>
                      <a:r>
                        <a:rPr lang="ko-KR" altLang="en-US" sz="1050" kern="1200" dirty="0"/>
                        <a:t>에 있어서</a:t>
                      </a:r>
                      <a:r>
                        <a:rPr lang="en-US" altLang="ko-KR" sz="1050" kern="1200" dirty="0"/>
                        <a:t>,</a:t>
                      </a:r>
                      <a:endParaRPr lang="ko-KR" altLang="en-US" sz="1050" kern="1200" dirty="0"/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 dirty="0"/>
                        <a:t>(b)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 </a:t>
                      </a:r>
                      <a:r>
                        <a:rPr lang="ko-KR" altLang="en-US" sz="1050" kern="1200" dirty="0"/>
                        <a:t>및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2 </a:t>
                      </a:r>
                      <a:r>
                        <a:rPr lang="ko-KR" altLang="en-US" sz="1050" kern="1200" dirty="0"/>
                        <a:t>또는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3 </a:t>
                      </a:r>
                      <a:r>
                        <a:rPr lang="ko-KR" altLang="en-US" sz="1050" kern="1200" dirty="0"/>
                        <a:t>중 적어도 어느 한 항에 있어서</a:t>
                      </a:r>
                      <a:r>
                        <a:rPr lang="en-US" altLang="ko-KR" sz="1050" kern="1200" dirty="0"/>
                        <a:t>, </a:t>
                      </a:r>
                      <a:r>
                        <a:rPr lang="ko-KR" altLang="en-US" sz="1050" kern="1200" dirty="0"/>
                        <a:t>→ </a:t>
                      </a:r>
                      <a:r>
                        <a:rPr lang="ko-KR" altLang="en-US" sz="1050" kern="1200" dirty="0" err="1"/>
                        <a:t>청구항</a:t>
                      </a:r>
                      <a:r>
                        <a:rPr lang="ko-KR" altLang="en-US" sz="1050" kern="1200" dirty="0"/>
                        <a:t> </a:t>
                      </a:r>
                      <a:r>
                        <a:rPr lang="en-US" altLang="ko-KR" sz="1050" kern="1200" dirty="0"/>
                        <a:t>1 </a:t>
                      </a:r>
                      <a:r>
                        <a:rPr lang="ko-KR" altLang="en-US" sz="1050" kern="1200" dirty="0"/>
                        <a:t>내지 </a:t>
                      </a:r>
                      <a:r>
                        <a:rPr lang="en-US" altLang="ko-KR" sz="1050" kern="1200" dirty="0"/>
                        <a:t>3 </a:t>
                      </a:r>
                      <a:r>
                        <a:rPr lang="ko-KR" altLang="en-US" sz="1050" kern="1200" dirty="0"/>
                        <a:t>중 어느 한 항에 있어서</a:t>
                      </a:r>
                      <a:r>
                        <a:rPr lang="en-US" altLang="ko-KR" sz="1050" kern="1200" dirty="0"/>
                        <a:t>,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5" name="표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472887"/>
              </p:ext>
            </p:extLst>
          </p:nvPr>
        </p:nvGraphicFramePr>
        <p:xfrm>
          <a:off x="347688" y="1647280"/>
          <a:ext cx="5595911" cy="3353346"/>
        </p:xfrm>
        <a:graphic>
          <a:graphicData uri="http://schemas.openxmlformats.org/drawingml/2006/table">
            <a:tbl>
              <a:tblPr/>
              <a:tblGrid>
                <a:gridCol w="709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3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28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7102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구 분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예시 및 설명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280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국문법에 어긋난 오자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(a)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반도테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→ 반도체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(b)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기판는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→ 기판은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280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국문법상 해석이 분명한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탈자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(a) 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라인에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전달하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○신호 → 라인에 전달하는 신호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(b)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리니어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터 →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리니어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모터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102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참조부호의 불일치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명세서 중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2]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버퍼부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(115) vs 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도면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2]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버퍼부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(15)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102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반복된 기재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지식재산처 지식재산처는 → 지식재산처는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459">
                <a:tc row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도면의 </a:t>
                      </a:r>
                    </a:p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간단한 </a:t>
                      </a:r>
                    </a:p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설명의 오류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도면번호오기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은 재생기기의 단면도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은 재생기기의 측면도 → 도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는 재생기기의 측면도</a:t>
                      </a:r>
                    </a:p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은 재생기기의 사시도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71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도면부호오기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3…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치차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3…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모터 →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3…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치차 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4…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모터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102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대표도의 오기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명세서로 파악해 본바 명백히 잘못 기재된 대표도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51817">
                <a:tc gridSpan="2">
                  <a:txBody>
                    <a:bodyPr/>
                    <a:lstStyle/>
                    <a:p>
                      <a:pPr marL="17780" marR="1778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명세서상의 발명의 명칭이 출원서와 일치하지 아니한 경우</a:t>
                      </a: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" marR="1778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명세서의 발명의 명칭을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출원서에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기재된 발명의 명칭으로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직권보정할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수 있다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만약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출원서에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기재된 발명의 명칭이 명세서의 발명의 명칭 기재요건을 충족하지 못하는 경우에는 출원서와 명세서 모두를 적절하다고 인정되는 발명의 명칭으로 </a:t>
                      </a:r>
                      <a:r>
                        <a:rPr lang="ko-KR" altLang="en-US" sz="1050" kern="1200" dirty="0" err="1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직권보정할</a:t>
                      </a:r>
                      <a:r>
                        <a:rPr lang="ko-KR" altLang="en-US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수 있다</a:t>
                      </a:r>
                      <a:r>
                        <a:rPr lang="en-US" altLang="ko-KR" sz="105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1050" kern="120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7168" marR="37168" marT="10276" marB="1027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575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olidFill>
                  <a:srgbClr val="525252"/>
                </a:solidFill>
              </a:rPr>
              <a:t>직권보정 후 심사진행 </a:t>
            </a:r>
            <a:r>
              <a:rPr lang="en-US" altLang="ko-KR" dirty="0">
                <a:solidFill>
                  <a:srgbClr val="525252"/>
                </a:solidFill>
              </a:rPr>
              <a:t>CASE</a:t>
            </a:r>
            <a:endParaRPr lang="ko-KR" altLang="en-US" dirty="0">
              <a:solidFill>
                <a:srgbClr val="525252"/>
              </a:solidFill>
            </a:endParaRP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7875" y="986046"/>
            <a:ext cx="119363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base"/>
            <a:r>
              <a:rPr lang="ko-KR" altLang="en-US" sz="1400" dirty="0">
                <a:solidFill>
                  <a:schemeClr val="tx2"/>
                </a:solidFill>
              </a:rPr>
              <a:t>특허결정이 취소된 것으로 보는 경우 심사관은 직권보정 전 명세서 또는 도면에 의하여 다시 심사를 진행한다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이 때 심사관이 직권보정 전에 이미 통지된 거절이유가 발견되더라도 다시 거절이유를 통지하여야 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다만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그 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거절이유가 </a:t>
            </a:r>
            <a:r>
              <a:rPr lang="ko-KR" altLang="en-US" sz="1400" dirty="0" err="1">
                <a:solidFill>
                  <a:schemeClr val="tx2"/>
                </a:solidFill>
                <a:highlight>
                  <a:srgbClr val="FFFF00"/>
                </a:highlight>
              </a:rPr>
              <a:t>출원인이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 받아들이지 아니한 직권보정사항에 해당하고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이미 통지된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거절이유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</a:rPr>
              <a:t>라면</a:t>
            </a:r>
            <a:r>
              <a:rPr lang="ko-KR" altLang="en-US" sz="1400" dirty="0">
                <a:solidFill>
                  <a:schemeClr val="tx2"/>
                </a:solidFill>
              </a:rPr>
              <a:t> 바로 </a:t>
            </a:r>
            <a:r>
              <a:rPr lang="ko-KR" altLang="en-US" sz="1400" dirty="0" err="1">
                <a:solidFill>
                  <a:schemeClr val="tx2"/>
                </a:solidFill>
              </a:rPr>
              <a:t>거절결정할</a:t>
            </a:r>
            <a:r>
              <a:rPr lang="ko-KR" altLang="en-US" sz="1400" dirty="0">
                <a:solidFill>
                  <a:schemeClr val="tx2"/>
                </a:solidFill>
              </a:rPr>
              <a:t> 수 있다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  <a:endParaRPr lang="ko-KR" altLang="en-US" sz="1400" dirty="0">
              <a:solidFill>
                <a:schemeClr val="tx2"/>
              </a:solidFill>
            </a:endParaRPr>
          </a:p>
        </p:txBody>
      </p:sp>
      <p:cxnSp>
        <p:nvCxnSpPr>
          <p:cNvPr id="51" name="직선 연결선 50"/>
          <p:cNvCxnSpPr/>
          <p:nvPr/>
        </p:nvCxnSpPr>
        <p:spPr>
          <a:xfrm>
            <a:off x="0" y="1733376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2987551" y="3404823"/>
            <a:ext cx="1101370" cy="570349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5" name="직선 화살표 연결선 124"/>
          <p:cNvCxnSpPr/>
          <p:nvPr/>
        </p:nvCxnSpPr>
        <p:spPr>
          <a:xfrm>
            <a:off x="1003596" y="2276381"/>
            <a:ext cx="9658350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/>
          <p:cNvSpPr/>
          <p:nvPr/>
        </p:nvSpPr>
        <p:spPr>
          <a:xfrm>
            <a:off x="772664" y="2063501"/>
            <a:ext cx="767463" cy="4257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출원</a:t>
            </a:r>
          </a:p>
        </p:txBody>
      </p:sp>
      <p:sp>
        <p:nvSpPr>
          <p:cNvPr id="93" name="직사각형 92"/>
          <p:cNvSpPr/>
          <p:nvPr/>
        </p:nvSpPr>
        <p:spPr>
          <a:xfrm>
            <a:off x="2115870" y="1786684"/>
            <a:ext cx="646040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4" name="직선 화살표 연결선 93"/>
          <p:cNvCxnSpPr>
            <a:stCxn id="93" idx="2"/>
          </p:cNvCxnSpPr>
          <p:nvPr/>
        </p:nvCxnSpPr>
        <p:spPr>
          <a:xfrm>
            <a:off x="2438890" y="1999564"/>
            <a:ext cx="7428" cy="26284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/>
          <p:cNvSpPr/>
          <p:nvPr/>
        </p:nvSpPr>
        <p:spPr>
          <a:xfrm>
            <a:off x="2584877" y="2166933"/>
            <a:ext cx="693430" cy="2128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최초</a:t>
            </a:r>
          </a:p>
        </p:txBody>
      </p:sp>
      <p:sp>
        <p:nvSpPr>
          <p:cNvPr id="96" name="직사각형 95"/>
          <p:cNvSpPr/>
          <p:nvPr/>
        </p:nvSpPr>
        <p:spPr>
          <a:xfrm>
            <a:off x="3194081" y="2629841"/>
            <a:ext cx="746998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7" name="직선 화살표 연결선 96"/>
          <p:cNvCxnSpPr>
            <a:stCxn id="96" idx="0"/>
          </p:cNvCxnSpPr>
          <p:nvPr/>
        </p:nvCxnSpPr>
        <p:spPr>
          <a:xfrm flipH="1" flipV="1">
            <a:off x="3565815" y="2273373"/>
            <a:ext cx="1765" cy="356467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3679986" y="1786684"/>
            <a:ext cx="646040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9" name="직선 화살표 연결선 98"/>
          <p:cNvCxnSpPr>
            <a:stCxn id="98" idx="2"/>
          </p:cNvCxnSpPr>
          <p:nvPr/>
        </p:nvCxnSpPr>
        <p:spPr>
          <a:xfrm>
            <a:off x="4003006" y="1999564"/>
            <a:ext cx="7428" cy="26284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07"/>
          <p:cNvSpPr/>
          <p:nvPr/>
        </p:nvSpPr>
        <p:spPr>
          <a:xfrm>
            <a:off x="1569706" y="2629841"/>
            <a:ext cx="746998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09" name="직선 화살표 연결선 108"/>
          <p:cNvCxnSpPr>
            <a:stCxn id="108" idx="0"/>
          </p:cNvCxnSpPr>
          <p:nvPr/>
        </p:nvCxnSpPr>
        <p:spPr>
          <a:xfrm flipH="1" flipV="1">
            <a:off x="1941440" y="2273373"/>
            <a:ext cx="1765" cy="356467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직사각형 112"/>
          <p:cNvSpPr/>
          <p:nvPr/>
        </p:nvSpPr>
        <p:spPr>
          <a:xfrm>
            <a:off x="1549240" y="3189606"/>
            <a:ext cx="767464" cy="21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</a:rPr>
              <a:t>42③Ⅰ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15" name="직사각형 114"/>
          <p:cNvSpPr/>
          <p:nvPr/>
        </p:nvSpPr>
        <p:spPr>
          <a:xfrm>
            <a:off x="3173615" y="3551100"/>
            <a:ext cx="767464" cy="21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42④Ⅰ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16" name="꺾인 연결선 115"/>
          <p:cNvCxnSpPr>
            <a:stCxn id="113" idx="3"/>
            <a:endCxn id="95" idx="2"/>
          </p:cNvCxnSpPr>
          <p:nvPr/>
        </p:nvCxnSpPr>
        <p:spPr>
          <a:xfrm flipV="1">
            <a:off x="2316704" y="2379813"/>
            <a:ext cx="614888" cy="916233"/>
          </a:xfrm>
          <a:prstGeom prst="bentConnector2">
            <a:avLst/>
          </a:prstGeom>
          <a:ln w="12700">
            <a:solidFill>
              <a:schemeClr val="accent4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/>
          <p:cNvSpPr/>
          <p:nvPr/>
        </p:nvSpPr>
        <p:spPr>
          <a:xfrm>
            <a:off x="1549240" y="3510699"/>
            <a:ext cx="767464" cy="21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29①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3182621" y="4094512"/>
            <a:ext cx="767464" cy="21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29②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1335024" y="3480302"/>
            <a:ext cx="415969" cy="451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❶</a:t>
            </a:r>
          </a:p>
        </p:txBody>
      </p:sp>
      <p:sp>
        <p:nvSpPr>
          <p:cNvPr id="124" name="직사각형 123"/>
          <p:cNvSpPr/>
          <p:nvPr/>
        </p:nvSpPr>
        <p:spPr>
          <a:xfrm>
            <a:off x="2987552" y="3134077"/>
            <a:ext cx="364983" cy="115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endParaRPr lang="ko-KR" altLang="en-US" kern="0" dirty="0">
              <a:solidFill>
                <a:schemeClr val="accent2">
                  <a:lumMod val="50000"/>
                </a:schemeClr>
              </a:solidFill>
              <a:latin typeface="+mn-ea"/>
            </a:endParaRPr>
          </a:p>
          <a:p>
            <a:pPr algn="just" fontAlgn="base">
              <a:lnSpc>
                <a:spcPct val="160000"/>
              </a:lnSpc>
            </a:pPr>
            <a:endParaRPr lang="en-US" altLang="ko-KR" kern="0" dirty="0">
              <a:solidFill>
                <a:schemeClr val="accent2">
                  <a:lumMod val="50000"/>
                </a:schemeClr>
              </a:solidFill>
              <a:latin typeface="+mn-ea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❸</a:t>
            </a:r>
          </a:p>
        </p:txBody>
      </p:sp>
      <p:sp>
        <p:nvSpPr>
          <p:cNvPr id="126" name="직사각형 125"/>
          <p:cNvSpPr/>
          <p:nvPr/>
        </p:nvSpPr>
        <p:spPr>
          <a:xfrm>
            <a:off x="4420399" y="2057484"/>
            <a:ext cx="988415" cy="431775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특허결정</a:t>
            </a:r>
            <a:r>
              <a:rPr lang="en-US" altLang="ko-KR" sz="1200" dirty="0">
                <a:solidFill>
                  <a:schemeClr val="bg1"/>
                </a:solidFill>
              </a:rPr>
              <a:t>+</a:t>
            </a:r>
          </a:p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직권보정</a:t>
            </a:r>
          </a:p>
        </p:txBody>
      </p:sp>
      <p:sp>
        <p:nvSpPr>
          <p:cNvPr id="137" name="직사각형 136"/>
          <p:cNvSpPr/>
          <p:nvPr/>
        </p:nvSpPr>
        <p:spPr>
          <a:xfrm>
            <a:off x="6657339" y="2057486"/>
            <a:ext cx="1288649" cy="431775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err="1">
                <a:solidFill>
                  <a:schemeClr val="bg1"/>
                </a:solidFill>
              </a:rPr>
              <a:t>특허결정</a:t>
            </a:r>
            <a:r>
              <a:rPr lang="ko-KR" altLang="en-US" sz="1200" dirty="0">
                <a:solidFill>
                  <a:schemeClr val="bg1"/>
                </a:solidFill>
              </a:rPr>
              <a:t> 취소</a:t>
            </a:r>
            <a:r>
              <a:rPr lang="en-US" altLang="ko-KR" sz="1200" dirty="0">
                <a:solidFill>
                  <a:schemeClr val="bg1"/>
                </a:solidFill>
              </a:rPr>
              <a:t>+</a:t>
            </a:r>
          </a:p>
          <a:p>
            <a:pPr algn="ctr"/>
            <a:r>
              <a:rPr lang="ko-KR" altLang="en-US" sz="1200" dirty="0" err="1">
                <a:solidFill>
                  <a:schemeClr val="bg1"/>
                </a:solidFill>
              </a:rPr>
              <a:t>직권보정</a:t>
            </a:r>
            <a:r>
              <a:rPr lang="ko-KR" altLang="en-US" sz="1200" dirty="0">
                <a:solidFill>
                  <a:schemeClr val="bg1"/>
                </a:solidFill>
              </a:rPr>
              <a:t> 취소</a:t>
            </a:r>
          </a:p>
        </p:txBody>
      </p:sp>
      <p:sp>
        <p:nvSpPr>
          <p:cNvPr id="144" name="직사각형 143"/>
          <p:cNvSpPr/>
          <p:nvPr/>
        </p:nvSpPr>
        <p:spPr>
          <a:xfrm>
            <a:off x="5620743" y="2731553"/>
            <a:ext cx="746998" cy="36753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의견서 제출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45" name="직선 화살표 연결선 144"/>
          <p:cNvCxnSpPr>
            <a:stCxn id="144" idx="0"/>
          </p:cNvCxnSpPr>
          <p:nvPr/>
        </p:nvCxnSpPr>
        <p:spPr>
          <a:xfrm flipH="1" flipV="1">
            <a:off x="5992477" y="2290355"/>
            <a:ext cx="1765" cy="441198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직사각형 159"/>
          <p:cNvSpPr/>
          <p:nvPr/>
        </p:nvSpPr>
        <p:spPr>
          <a:xfrm>
            <a:off x="8212421" y="2446324"/>
            <a:ext cx="1000384" cy="21288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심사</a:t>
            </a:r>
            <a:r>
              <a:rPr lang="en-US" altLang="ko-KR" sz="1200" dirty="0">
                <a:solidFill>
                  <a:schemeClr val="bg1"/>
                </a:solidFill>
              </a:rPr>
              <a:t>3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cxnSp>
        <p:nvCxnSpPr>
          <p:cNvPr id="164" name="직선 화살표 연결선 163"/>
          <p:cNvCxnSpPr>
            <a:cxnSpLocks/>
            <a:stCxn id="160" idx="0"/>
          </p:cNvCxnSpPr>
          <p:nvPr/>
        </p:nvCxnSpPr>
        <p:spPr>
          <a:xfrm flipV="1">
            <a:off x="8712613" y="2273373"/>
            <a:ext cx="0" cy="172951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직사각형 164"/>
          <p:cNvSpPr/>
          <p:nvPr/>
        </p:nvSpPr>
        <p:spPr>
          <a:xfrm>
            <a:off x="8202976" y="3715200"/>
            <a:ext cx="2393394" cy="92255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pPr fontAlgn="base"/>
            <a:r>
              <a:rPr lang="ko-KR" altLang="en-US" sz="1400" kern="0" dirty="0">
                <a:solidFill>
                  <a:schemeClr val="accent4"/>
                </a:solidFill>
                <a:latin typeface="+mn-ea"/>
              </a:rPr>
              <a:t>❶ 발견</a:t>
            </a:r>
            <a:r>
              <a:rPr lang="en-US" altLang="ko-KR" sz="1400" kern="0" dirty="0">
                <a:solidFill>
                  <a:schemeClr val="accent4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chemeClr val="accent4"/>
                </a:solidFill>
                <a:latin typeface="+mn-ea"/>
              </a:rPr>
              <a:t>최초거절이유통지</a:t>
            </a:r>
            <a:r>
              <a:rPr lang="en-US" altLang="ko-KR" sz="1400" kern="0" dirty="0">
                <a:solidFill>
                  <a:schemeClr val="accent4"/>
                </a:solidFill>
                <a:latin typeface="+mn-ea"/>
              </a:rPr>
              <a:t> </a:t>
            </a:r>
          </a:p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❷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최후거절이유통지</a:t>
            </a:r>
            <a:endParaRPr lang="en-US" altLang="ko-KR" sz="1400" kern="0" dirty="0">
              <a:solidFill>
                <a:srgbClr val="FF0000"/>
              </a:solidFill>
              <a:latin typeface="+mn-ea"/>
            </a:endParaRPr>
          </a:p>
          <a:p>
            <a:pPr fontAlgn="base"/>
            <a:r>
              <a:rPr lang="ko-KR" altLang="en-US" sz="1400" kern="0" dirty="0">
                <a:solidFill>
                  <a:schemeClr val="accent4"/>
                </a:solidFill>
                <a:latin typeface="+mn-ea"/>
              </a:rPr>
              <a:t>❸ 발견</a:t>
            </a:r>
            <a:r>
              <a:rPr lang="en-US" altLang="ko-KR" sz="1400" kern="0" dirty="0">
                <a:solidFill>
                  <a:schemeClr val="accent4"/>
                </a:solidFill>
                <a:latin typeface="+mn-ea"/>
              </a:rPr>
              <a:t>: </a:t>
            </a:r>
            <a:r>
              <a:rPr lang="ko-KR" altLang="en-US" sz="1400" kern="0" dirty="0" err="1">
                <a:solidFill>
                  <a:schemeClr val="accent4"/>
                </a:solidFill>
                <a:latin typeface="+mn-ea"/>
              </a:rPr>
              <a:t>최후거절이유통지</a:t>
            </a:r>
            <a:endParaRPr lang="en-US" altLang="ko-KR" sz="1400" kern="0" dirty="0">
              <a:solidFill>
                <a:schemeClr val="accent4"/>
              </a:solidFill>
              <a:latin typeface="+mn-ea"/>
            </a:endParaRPr>
          </a:p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❹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 err="1">
                <a:solidFill>
                  <a:srgbClr val="FF0000"/>
                </a:solidFill>
                <a:latin typeface="+mn-ea"/>
              </a:rPr>
              <a:t>최초거절이유통지</a:t>
            </a:r>
            <a:endParaRPr lang="en-US" altLang="ko-KR" sz="1400" kern="0" dirty="0">
              <a:solidFill>
                <a:srgbClr val="FF0000"/>
              </a:solidFill>
              <a:latin typeface="+mn-ea"/>
            </a:endParaRPr>
          </a:p>
          <a:p>
            <a:pPr fontAlgn="base"/>
            <a:endParaRPr lang="en-US" altLang="ko-KR" sz="1400" kern="0" dirty="0">
              <a:solidFill>
                <a:schemeClr val="accent4"/>
              </a:solidFill>
              <a:latin typeface="+mn-ea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198480" y="2961201"/>
            <a:ext cx="2390209" cy="22063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100" dirty="0"/>
              <a:t>1. </a:t>
            </a:r>
            <a:r>
              <a:rPr lang="ko-KR" altLang="en-US" sz="1100" dirty="0"/>
              <a:t>원거절이유의 </a:t>
            </a:r>
            <a:r>
              <a:rPr lang="ko-KR" altLang="en-US" sz="1100" dirty="0" err="1"/>
              <a:t>해소여부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8198480" y="3203261"/>
            <a:ext cx="2390207" cy="22063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2. </a:t>
            </a:r>
            <a:r>
              <a:rPr lang="ko-KR" altLang="en-US" sz="1100" dirty="0"/>
              <a:t>새로운 </a:t>
            </a:r>
            <a:r>
              <a:rPr lang="ko-KR" altLang="en-US" sz="1100" dirty="0" err="1"/>
              <a:t>거절이유의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발견여부</a:t>
            </a:r>
            <a:endParaRPr lang="ko-KR" altLang="en-US" sz="1100" dirty="0"/>
          </a:p>
        </p:txBody>
      </p:sp>
      <p:sp>
        <p:nvSpPr>
          <p:cNvPr id="48" name="TextBox 47"/>
          <p:cNvSpPr txBox="1"/>
          <p:nvPr/>
        </p:nvSpPr>
        <p:spPr>
          <a:xfrm>
            <a:off x="8198481" y="3454863"/>
            <a:ext cx="2397889" cy="22063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3. </a:t>
            </a:r>
            <a:r>
              <a:rPr lang="ko-KR" altLang="en-US" sz="1100" dirty="0"/>
              <a:t>새로운 거절이유의 발생시점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8480" y="2712196"/>
            <a:ext cx="2390209" cy="22063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0.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보정의 적법성</a:t>
            </a:r>
          </a:p>
        </p:txBody>
      </p:sp>
      <p:cxnSp>
        <p:nvCxnSpPr>
          <p:cNvPr id="8" name="꺾인 연결선 7"/>
          <p:cNvCxnSpPr>
            <a:cxnSpLocks/>
            <a:stCxn id="6" idx="3"/>
            <a:endCxn id="126" idx="2"/>
          </p:cNvCxnSpPr>
          <p:nvPr/>
        </p:nvCxnSpPr>
        <p:spPr>
          <a:xfrm flipV="1">
            <a:off x="4088921" y="2489259"/>
            <a:ext cx="825686" cy="120073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/>
          <p:cNvSpPr/>
          <p:nvPr/>
        </p:nvSpPr>
        <p:spPr>
          <a:xfrm>
            <a:off x="4088921" y="3643746"/>
            <a:ext cx="2735755" cy="535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특허출원서에 첨부된 명세서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도면 또는 </a:t>
            </a:r>
            <a:r>
              <a:rPr lang="ko-KR" altLang="en-US" sz="1200" dirty="0" err="1">
                <a:solidFill>
                  <a:schemeClr val="tx1"/>
                </a:solidFill>
              </a:rPr>
              <a:t>요약서에</a:t>
            </a:r>
            <a:r>
              <a:rPr lang="ko-KR" altLang="en-US" sz="1200" dirty="0">
                <a:solidFill>
                  <a:schemeClr val="tx1"/>
                </a:solidFill>
              </a:rPr>
              <a:t> 적힌 사항이 명백히 잘못된 경우 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3000129" y="3487918"/>
            <a:ext cx="364983" cy="451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❷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268</a:t>
            </a:r>
            <a:endParaRPr lang="ko-KR" altLang="en-US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C9C65E8-0046-4464-A042-74CD1AF4498B}"/>
              </a:ext>
            </a:extLst>
          </p:cNvPr>
          <p:cNvSpPr/>
          <p:nvPr/>
        </p:nvSpPr>
        <p:spPr>
          <a:xfrm>
            <a:off x="2987551" y="6026477"/>
            <a:ext cx="1101370" cy="570349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E5ADE14-4A99-4992-BB30-4AADED29EF51}"/>
              </a:ext>
            </a:extLst>
          </p:cNvPr>
          <p:cNvCxnSpPr/>
          <p:nvPr/>
        </p:nvCxnSpPr>
        <p:spPr>
          <a:xfrm>
            <a:off x="1003596" y="5266168"/>
            <a:ext cx="9658350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8538DCC1-2A58-413A-B84A-E9C82BF9E720}"/>
              </a:ext>
            </a:extLst>
          </p:cNvPr>
          <p:cNvSpPr/>
          <p:nvPr/>
        </p:nvSpPr>
        <p:spPr>
          <a:xfrm>
            <a:off x="772664" y="5053288"/>
            <a:ext cx="767463" cy="4257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출원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0E78999-FED3-485F-B6A4-03B2087B9C08}"/>
              </a:ext>
            </a:extLst>
          </p:cNvPr>
          <p:cNvSpPr/>
          <p:nvPr/>
        </p:nvSpPr>
        <p:spPr>
          <a:xfrm>
            <a:off x="2115870" y="4794401"/>
            <a:ext cx="646040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733300F-548F-406C-9896-D4E3D55D662F}"/>
              </a:ext>
            </a:extLst>
          </p:cNvPr>
          <p:cNvCxnSpPr>
            <a:stCxn id="81" idx="2"/>
          </p:cNvCxnSpPr>
          <p:nvPr/>
        </p:nvCxnSpPr>
        <p:spPr>
          <a:xfrm>
            <a:off x="2438890" y="5007281"/>
            <a:ext cx="7428" cy="26284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4FACCF6-0C3C-4042-A5A7-A4CAC30B4B92}"/>
              </a:ext>
            </a:extLst>
          </p:cNvPr>
          <p:cNvSpPr/>
          <p:nvPr/>
        </p:nvSpPr>
        <p:spPr>
          <a:xfrm>
            <a:off x="2584877" y="5156720"/>
            <a:ext cx="693430" cy="2128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최초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90247EF-1AA7-4D3F-9D51-39905CAEF6C9}"/>
              </a:ext>
            </a:extLst>
          </p:cNvPr>
          <p:cNvSpPr/>
          <p:nvPr/>
        </p:nvSpPr>
        <p:spPr>
          <a:xfrm>
            <a:off x="3194081" y="5619628"/>
            <a:ext cx="746998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94654E8-B45B-4E04-998D-BDF147C0B0AA}"/>
              </a:ext>
            </a:extLst>
          </p:cNvPr>
          <p:cNvCxnSpPr>
            <a:stCxn id="84" idx="0"/>
          </p:cNvCxnSpPr>
          <p:nvPr/>
        </p:nvCxnSpPr>
        <p:spPr>
          <a:xfrm flipH="1" flipV="1">
            <a:off x="3565815" y="5263160"/>
            <a:ext cx="1765" cy="356467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4F78DD1F-5FDD-4E26-ACDF-FEF5D1DC02D2}"/>
              </a:ext>
            </a:extLst>
          </p:cNvPr>
          <p:cNvSpPr/>
          <p:nvPr/>
        </p:nvSpPr>
        <p:spPr>
          <a:xfrm>
            <a:off x="3679986" y="4794401"/>
            <a:ext cx="646040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09E07BD4-07AD-413E-9BF8-EC23C5CCC074}"/>
              </a:ext>
            </a:extLst>
          </p:cNvPr>
          <p:cNvCxnSpPr>
            <a:stCxn id="86" idx="2"/>
          </p:cNvCxnSpPr>
          <p:nvPr/>
        </p:nvCxnSpPr>
        <p:spPr>
          <a:xfrm>
            <a:off x="4003006" y="5007281"/>
            <a:ext cx="7428" cy="26284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CE1FB8FC-024A-4454-9578-1611C1F2AB89}"/>
              </a:ext>
            </a:extLst>
          </p:cNvPr>
          <p:cNvSpPr/>
          <p:nvPr/>
        </p:nvSpPr>
        <p:spPr>
          <a:xfrm>
            <a:off x="1569706" y="5619628"/>
            <a:ext cx="746998" cy="2128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29720673-DE7C-4A04-8B50-18AFDE607192}"/>
              </a:ext>
            </a:extLst>
          </p:cNvPr>
          <p:cNvCxnSpPr>
            <a:stCxn id="88" idx="0"/>
          </p:cNvCxnSpPr>
          <p:nvPr/>
        </p:nvCxnSpPr>
        <p:spPr>
          <a:xfrm flipH="1" flipV="1">
            <a:off x="1941440" y="5263160"/>
            <a:ext cx="1765" cy="356467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4E433D7F-21A5-41C4-8DDF-B4D3836E19A5}"/>
              </a:ext>
            </a:extLst>
          </p:cNvPr>
          <p:cNvSpPr/>
          <p:nvPr/>
        </p:nvSpPr>
        <p:spPr>
          <a:xfrm>
            <a:off x="1549240" y="6179393"/>
            <a:ext cx="767464" cy="21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</a:rPr>
              <a:t>42③Ⅰ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cxnSp>
        <p:nvCxnSpPr>
          <p:cNvPr id="101" name="꺾인 연결선 115">
            <a:extLst>
              <a:ext uri="{FF2B5EF4-FFF2-40B4-BE49-F238E27FC236}">
                <a16:creationId xmlns:a16="http://schemas.microsoft.com/office/drawing/2014/main" id="{CDEA87AB-C000-495D-A205-AAD60D4113DE}"/>
              </a:ext>
            </a:extLst>
          </p:cNvPr>
          <p:cNvCxnSpPr>
            <a:stCxn id="90" idx="3"/>
            <a:endCxn id="83" idx="2"/>
          </p:cNvCxnSpPr>
          <p:nvPr/>
        </p:nvCxnSpPr>
        <p:spPr>
          <a:xfrm flipV="1">
            <a:off x="2316704" y="5369600"/>
            <a:ext cx="614888" cy="916233"/>
          </a:xfrm>
          <a:prstGeom prst="bentConnector2">
            <a:avLst/>
          </a:prstGeom>
          <a:ln w="12700">
            <a:solidFill>
              <a:schemeClr val="accent4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3966D017-F633-4BC9-B988-301B0B076336}"/>
              </a:ext>
            </a:extLst>
          </p:cNvPr>
          <p:cNvSpPr/>
          <p:nvPr/>
        </p:nvSpPr>
        <p:spPr>
          <a:xfrm>
            <a:off x="4420399" y="5047271"/>
            <a:ext cx="988415" cy="431775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특허결정</a:t>
            </a:r>
            <a:r>
              <a:rPr lang="en-US" altLang="ko-KR" sz="1200" dirty="0">
                <a:solidFill>
                  <a:schemeClr val="bg1"/>
                </a:solidFill>
              </a:rPr>
              <a:t>+</a:t>
            </a:r>
          </a:p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직권보정</a:t>
            </a:r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16293C32-C86B-487D-873F-7D2E17085DA1}"/>
              </a:ext>
            </a:extLst>
          </p:cNvPr>
          <p:cNvSpPr/>
          <p:nvPr/>
        </p:nvSpPr>
        <p:spPr>
          <a:xfrm>
            <a:off x="6657339" y="5047273"/>
            <a:ext cx="1288649" cy="431775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err="1">
                <a:solidFill>
                  <a:schemeClr val="bg1"/>
                </a:solidFill>
              </a:rPr>
              <a:t>특허결정</a:t>
            </a:r>
            <a:r>
              <a:rPr lang="ko-KR" altLang="en-US" sz="1200" dirty="0">
                <a:solidFill>
                  <a:schemeClr val="bg1"/>
                </a:solidFill>
              </a:rPr>
              <a:t> 취소</a:t>
            </a:r>
            <a:r>
              <a:rPr lang="en-US" altLang="ko-KR" sz="1200" dirty="0">
                <a:solidFill>
                  <a:schemeClr val="bg1"/>
                </a:solidFill>
              </a:rPr>
              <a:t>+</a:t>
            </a:r>
          </a:p>
          <a:p>
            <a:pPr algn="ctr"/>
            <a:r>
              <a:rPr lang="ko-KR" altLang="en-US" sz="1200" dirty="0" err="1">
                <a:solidFill>
                  <a:schemeClr val="bg1"/>
                </a:solidFill>
              </a:rPr>
              <a:t>직권보정</a:t>
            </a:r>
            <a:r>
              <a:rPr lang="ko-KR" altLang="en-US" sz="1200" dirty="0">
                <a:solidFill>
                  <a:schemeClr val="bg1"/>
                </a:solidFill>
              </a:rPr>
              <a:t> 취소</a:t>
            </a: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25EA5429-812C-4CB2-BBB7-0C84322753D6}"/>
              </a:ext>
            </a:extLst>
          </p:cNvPr>
          <p:cNvSpPr/>
          <p:nvPr/>
        </p:nvSpPr>
        <p:spPr>
          <a:xfrm>
            <a:off x="5620743" y="5721340"/>
            <a:ext cx="746998" cy="36753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의견서 제출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0B90E6-0E48-4620-9647-B3AB5E475E9C}"/>
              </a:ext>
            </a:extLst>
          </p:cNvPr>
          <p:cNvCxnSpPr>
            <a:stCxn id="110" idx="0"/>
          </p:cNvCxnSpPr>
          <p:nvPr/>
        </p:nvCxnSpPr>
        <p:spPr>
          <a:xfrm flipH="1" flipV="1">
            <a:off x="5992477" y="5280142"/>
            <a:ext cx="1765" cy="441198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F487F9DC-1390-430E-972D-39AE89A0A38A}"/>
              </a:ext>
            </a:extLst>
          </p:cNvPr>
          <p:cNvSpPr/>
          <p:nvPr/>
        </p:nvSpPr>
        <p:spPr>
          <a:xfrm>
            <a:off x="8212421" y="5436111"/>
            <a:ext cx="1000384" cy="21288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심사</a:t>
            </a:r>
            <a:r>
              <a:rPr lang="en-US" altLang="ko-KR" sz="1200" dirty="0">
                <a:solidFill>
                  <a:schemeClr val="bg1"/>
                </a:solidFill>
              </a:rPr>
              <a:t>3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92182DC6-B323-4D8C-A8B9-E9925DD540C5}"/>
              </a:ext>
            </a:extLst>
          </p:cNvPr>
          <p:cNvCxnSpPr>
            <a:cxnSpLocks/>
            <a:stCxn id="112" idx="0"/>
          </p:cNvCxnSpPr>
          <p:nvPr/>
        </p:nvCxnSpPr>
        <p:spPr>
          <a:xfrm flipV="1">
            <a:off x="8712613" y="5263160"/>
            <a:ext cx="0" cy="172951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0D84E1DF-E536-4371-9DAE-E5535CF95D6E}"/>
              </a:ext>
            </a:extLst>
          </p:cNvPr>
          <p:cNvSpPr/>
          <p:nvPr/>
        </p:nvSpPr>
        <p:spPr>
          <a:xfrm>
            <a:off x="8202976" y="5757233"/>
            <a:ext cx="2393394" cy="31192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❶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거절결정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 </a:t>
            </a:r>
          </a:p>
        </p:txBody>
      </p:sp>
      <p:cxnSp>
        <p:nvCxnSpPr>
          <p:cNvPr id="129" name="꺾인 연결선 7">
            <a:extLst>
              <a:ext uri="{FF2B5EF4-FFF2-40B4-BE49-F238E27FC236}">
                <a16:creationId xmlns:a16="http://schemas.microsoft.com/office/drawing/2014/main" id="{3E189C6E-C08B-4A6D-A97D-143497DC5EC4}"/>
              </a:ext>
            </a:extLst>
          </p:cNvPr>
          <p:cNvCxnSpPr>
            <a:cxnSpLocks/>
            <a:stCxn id="78" idx="3"/>
            <a:endCxn id="106" idx="2"/>
          </p:cNvCxnSpPr>
          <p:nvPr/>
        </p:nvCxnSpPr>
        <p:spPr>
          <a:xfrm flipV="1">
            <a:off x="4088921" y="5479046"/>
            <a:ext cx="825686" cy="8326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F8758BC8-E895-4DE1-8D96-8E6D726E9B01}"/>
              </a:ext>
            </a:extLst>
          </p:cNvPr>
          <p:cNvSpPr/>
          <p:nvPr/>
        </p:nvSpPr>
        <p:spPr>
          <a:xfrm>
            <a:off x="4040936" y="6314296"/>
            <a:ext cx="2735755" cy="535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특허출원서에 첨부된 명세서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도면 또는 </a:t>
            </a:r>
            <a:r>
              <a:rPr lang="ko-KR" altLang="en-US" sz="1200" dirty="0" err="1">
                <a:solidFill>
                  <a:schemeClr val="tx1"/>
                </a:solidFill>
              </a:rPr>
              <a:t>요약서에</a:t>
            </a:r>
            <a:r>
              <a:rPr lang="ko-KR" altLang="en-US" sz="1200" dirty="0">
                <a:solidFill>
                  <a:schemeClr val="tx1"/>
                </a:solidFill>
              </a:rPr>
              <a:t> 적힌 사항이 명백히 잘못된 경우 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44677A46-62B5-405C-B075-D05FC8F5C3F6}"/>
              </a:ext>
            </a:extLst>
          </p:cNvPr>
          <p:cNvSpPr/>
          <p:nvPr/>
        </p:nvSpPr>
        <p:spPr>
          <a:xfrm>
            <a:off x="3183899" y="6179393"/>
            <a:ext cx="767464" cy="21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</a:rPr>
              <a:t>42③Ⅰ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F2413139-8A90-46E4-9EAA-36CF7C2E4A8F}"/>
              </a:ext>
            </a:extLst>
          </p:cNvPr>
          <p:cNvSpPr/>
          <p:nvPr/>
        </p:nvSpPr>
        <p:spPr>
          <a:xfrm>
            <a:off x="2974635" y="6097315"/>
            <a:ext cx="415969" cy="451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❶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46D031E-699E-47B4-9BD5-C3610F05EFF3}"/>
              </a:ext>
            </a:extLst>
          </p:cNvPr>
          <p:cNvCxnSpPr/>
          <p:nvPr/>
        </p:nvCxnSpPr>
        <p:spPr>
          <a:xfrm>
            <a:off x="0" y="4732896"/>
            <a:ext cx="12191999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22EF2A82-21C5-362E-5D34-1EFE424476AB}"/>
              </a:ext>
            </a:extLst>
          </p:cNvPr>
          <p:cNvSpPr/>
          <p:nvPr/>
        </p:nvSpPr>
        <p:spPr>
          <a:xfrm>
            <a:off x="1335024" y="2901437"/>
            <a:ext cx="392200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❹</a:t>
            </a:r>
          </a:p>
        </p:txBody>
      </p:sp>
    </p:spTree>
    <p:extLst>
      <p:ext uri="{BB962C8B-B14F-4D97-AF65-F5344CB8AC3E}">
        <p14:creationId xmlns:p14="http://schemas.microsoft.com/office/powerpoint/2010/main" val="39747641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4742916" y="5122740"/>
            <a:ext cx="1306862" cy="1038778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5" name="직선 화살표 연결선 124"/>
          <p:cNvCxnSpPr/>
          <p:nvPr/>
        </p:nvCxnSpPr>
        <p:spPr>
          <a:xfrm>
            <a:off x="1003596" y="2982913"/>
            <a:ext cx="9658350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직권보정 후 심사진행 </a:t>
            </a:r>
            <a:r>
              <a:rPr lang="en-US" altLang="ko-KR" dirty="0"/>
              <a:t>CASE</a:t>
            </a:r>
            <a:endParaRPr lang="ko-KR" altLang="en-US"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772664" y="2730500"/>
            <a:ext cx="767463" cy="5048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출원</a:t>
            </a:r>
          </a:p>
        </p:txBody>
      </p:sp>
      <p:sp>
        <p:nvSpPr>
          <p:cNvPr id="93" name="직사각형 92"/>
          <p:cNvSpPr/>
          <p:nvPr/>
        </p:nvSpPr>
        <p:spPr>
          <a:xfrm>
            <a:off x="2115870" y="2402277"/>
            <a:ext cx="646040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4" name="직선 화살표 연결선 93"/>
          <p:cNvCxnSpPr>
            <a:stCxn id="93" idx="2"/>
          </p:cNvCxnSpPr>
          <p:nvPr/>
        </p:nvCxnSpPr>
        <p:spPr>
          <a:xfrm>
            <a:off x="2438890" y="2654690"/>
            <a:ext cx="7428" cy="31165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/>
          <p:cNvSpPr/>
          <p:nvPr/>
        </p:nvSpPr>
        <p:spPr>
          <a:xfrm>
            <a:off x="2584877" y="2853140"/>
            <a:ext cx="693430" cy="2524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최초</a:t>
            </a:r>
          </a:p>
        </p:txBody>
      </p:sp>
      <p:sp>
        <p:nvSpPr>
          <p:cNvPr id="96" name="직사각형 95"/>
          <p:cNvSpPr/>
          <p:nvPr/>
        </p:nvSpPr>
        <p:spPr>
          <a:xfrm>
            <a:off x="3194081" y="3402012"/>
            <a:ext cx="746998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7" name="직선 화살표 연결선 96"/>
          <p:cNvCxnSpPr>
            <a:stCxn id="96" idx="0"/>
          </p:cNvCxnSpPr>
          <p:nvPr/>
        </p:nvCxnSpPr>
        <p:spPr>
          <a:xfrm flipH="1" flipV="1">
            <a:off x="3565815" y="2979347"/>
            <a:ext cx="1765" cy="42266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3679986" y="2402277"/>
            <a:ext cx="646040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9" name="직선 화살표 연결선 98"/>
          <p:cNvCxnSpPr>
            <a:stCxn id="98" idx="2"/>
          </p:cNvCxnSpPr>
          <p:nvPr/>
        </p:nvCxnSpPr>
        <p:spPr>
          <a:xfrm>
            <a:off x="4003006" y="2654690"/>
            <a:ext cx="7428" cy="31165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/>
          <p:cNvSpPr/>
          <p:nvPr/>
        </p:nvSpPr>
        <p:spPr>
          <a:xfrm>
            <a:off x="4164410" y="2853140"/>
            <a:ext cx="783810" cy="2524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최후</a:t>
            </a:r>
          </a:p>
        </p:txBody>
      </p:sp>
      <p:sp>
        <p:nvSpPr>
          <p:cNvPr id="103" name="직사각형 102"/>
          <p:cNvSpPr/>
          <p:nvPr/>
        </p:nvSpPr>
        <p:spPr>
          <a:xfrm>
            <a:off x="5007637" y="3402012"/>
            <a:ext cx="746998" cy="252413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06" name="직선 화살표 연결선 105"/>
          <p:cNvCxnSpPr>
            <a:stCxn id="103" idx="0"/>
          </p:cNvCxnSpPr>
          <p:nvPr/>
        </p:nvCxnSpPr>
        <p:spPr>
          <a:xfrm flipH="1" flipV="1">
            <a:off x="5379371" y="2979347"/>
            <a:ext cx="1765" cy="42266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07"/>
          <p:cNvSpPr/>
          <p:nvPr/>
        </p:nvSpPr>
        <p:spPr>
          <a:xfrm>
            <a:off x="1569706" y="3402012"/>
            <a:ext cx="746998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09" name="직선 화살표 연결선 108"/>
          <p:cNvCxnSpPr>
            <a:stCxn id="108" idx="0"/>
          </p:cNvCxnSpPr>
          <p:nvPr/>
        </p:nvCxnSpPr>
        <p:spPr>
          <a:xfrm flipH="1" flipV="1">
            <a:off x="1941440" y="2979347"/>
            <a:ext cx="1765" cy="42266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직사각형 112"/>
          <p:cNvSpPr/>
          <p:nvPr/>
        </p:nvSpPr>
        <p:spPr>
          <a:xfrm>
            <a:off x="1549240" y="4065728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</a:rPr>
              <a:t>42③Ⅰ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14" name="직사각형 113"/>
          <p:cNvSpPr/>
          <p:nvPr/>
        </p:nvSpPr>
        <p:spPr>
          <a:xfrm>
            <a:off x="3194081" y="4068499"/>
            <a:ext cx="746998" cy="2524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해소</a:t>
            </a:r>
          </a:p>
        </p:txBody>
      </p:sp>
      <p:sp>
        <p:nvSpPr>
          <p:cNvPr id="115" name="직사각형 114"/>
          <p:cNvSpPr/>
          <p:nvPr/>
        </p:nvSpPr>
        <p:spPr>
          <a:xfrm>
            <a:off x="3173615" y="4494353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29②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16" name="꺾인 연결선 115"/>
          <p:cNvCxnSpPr>
            <a:stCxn id="113" idx="3"/>
            <a:endCxn id="95" idx="2"/>
          </p:cNvCxnSpPr>
          <p:nvPr/>
        </p:nvCxnSpPr>
        <p:spPr>
          <a:xfrm flipV="1">
            <a:off x="2316704" y="3105553"/>
            <a:ext cx="614888" cy="1086382"/>
          </a:xfrm>
          <a:prstGeom prst="bentConnector2">
            <a:avLst/>
          </a:prstGeom>
          <a:ln w="12700">
            <a:solidFill>
              <a:schemeClr val="accent4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 116"/>
          <p:cNvCxnSpPr>
            <a:stCxn id="115" idx="3"/>
            <a:endCxn id="100" idx="2"/>
          </p:cNvCxnSpPr>
          <p:nvPr/>
        </p:nvCxnSpPr>
        <p:spPr>
          <a:xfrm flipV="1">
            <a:off x="3941079" y="3105553"/>
            <a:ext cx="615236" cy="1515007"/>
          </a:xfrm>
          <a:prstGeom prst="bentConnector2">
            <a:avLst/>
          </a:prstGeom>
          <a:ln w="12700">
            <a:solidFill>
              <a:schemeClr val="accent4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직사각형 117"/>
          <p:cNvSpPr/>
          <p:nvPr/>
        </p:nvSpPr>
        <p:spPr>
          <a:xfrm>
            <a:off x="5020109" y="5443210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42④Ⅰ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9" name="직사각형 118"/>
          <p:cNvSpPr/>
          <p:nvPr/>
        </p:nvSpPr>
        <p:spPr>
          <a:xfrm>
            <a:off x="1549240" y="4446450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29①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3182621" y="4870327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42⑧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4824009" y="5421699"/>
            <a:ext cx="392200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❹</a:t>
            </a:r>
          </a:p>
        </p:txBody>
      </p:sp>
      <p:sp>
        <p:nvSpPr>
          <p:cNvPr id="122" name="직사각형 121"/>
          <p:cNvSpPr/>
          <p:nvPr/>
        </p:nvSpPr>
        <p:spPr>
          <a:xfrm>
            <a:off x="1335024" y="4389105"/>
            <a:ext cx="415969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❶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2987552" y="4207453"/>
            <a:ext cx="364983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❷</a:t>
            </a:r>
          </a:p>
        </p:txBody>
      </p:sp>
      <p:sp>
        <p:nvSpPr>
          <p:cNvPr id="124" name="직사각형 123"/>
          <p:cNvSpPr/>
          <p:nvPr/>
        </p:nvSpPr>
        <p:spPr>
          <a:xfrm>
            <a:off x="2987552" y="4395688"/>
            <a:ext cx="364983" cy="978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endParaRPr lang="ko-KR" altLang="en-US" kern="0" dirty="0">
              <a:solidFill>
                <a:schemeClr val="accent2">
                  <a:lumMod val="50000"/>
                </a:schemeClr>
              </a:solidFill>
              <a:latin typeface="+mn-ea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❸</a:t>
            </a:r>
          </a:p>
        </p:txBody>
      </p:sp>
      <p:sp>
        <p:nvSpPr>
          <p:cNvPr id="126" name="직사각형 125"/>
          <p:cNvSpPr/>
          <p:nvPr/>
        </p:nvSpPr>
        <p:spPr>
          <a:xfrm>
            <a:off x="6471219" y="2723367"/>
            <a:ext cx="1000384" cy="511958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특허결정</a:t>
            </a:r>
            <a:r>
              <a:rPr lang="en-US" altLang="ko-KR" sz="1200" dirty="0">
                <a:solidFill>
                  <a:schemeClr val="bg1"/>
                </a:solidFill>
              </a:rPr>
              <a:t>+</a:t>
            </a:r>
          </a:p>
          <a:p>
            <a:pPr algn="ctr"/>
            <a:r>
              <a:rPr lang="ko-KR" altLang="en-US" sz="1200" dirty="0" err="1">
                <a:solidFill>
                  <a:schemeClr val="bg1"/>
                </a:solidFill>
              </a:rPr>
              <a:t>직권보정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8063378" y="2723368"/>
            <a:ext cx="1183172" cy="511958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특허결정</a:t>
            </a:r>
            <a:r>
              <a:rPr lang="ko-KR" altLang="en-US" sz="1200" dirty="0">
                <a:solidFill>
                  <a:schemeClr val="bg1"/>
                </a:solidFill>
              </a:rPr>
              <a:t> 취소</a:t>
            </a:r>
            <a:r>
              <a:rPr lang="en-US" altLang="ko-KR" sz="1200" dirty="0">
                <a:solidFill>
                  <a:schemeClr val="bg1"/>
                </a:solidFill>
              </a:rPr>
              <a:t>+</a:t>
            </a:r>
          </a:p>
          <a:p>
            <a:pPr algn="ctr"/>
            <a:r>
              <a:rPr lang="ko-KR" altLang="en-US" sz="1200" dirty="0" err="1">
                <a:solidFill>
                  <a:schemeClr val="bg1"/>
                </a:solidFill>
              </a:rPr>
              <a:t>직권보정</a:t>
            </a:r>
            <a:r>
              <a:rPr lang="ko-KR" altLang="en-US" sz="1200" dirty="0">
                <a:solidFill>
                  <a:schemeClr val="bg1"/>
                </a:solidFill>
              </a:rPr>
              <a:t> 취소</a:t>
            </a:r>
          </a:p>
        </p:txBody>
      </p:sp>
      <p:sp>
        <p:nvSpPr>
          <p:cNvPr id="144" name="직사각형 143"/>
          <p:cNvSpPr/>
          <p:nvPr/>
        </p:nvSpPr>
        <p:spPr>
          <a:xfrm>
            <a:off x="7389073" y="3522613"/>
            <a:ext cx="746998" cy="43578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의견서 제출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45" name="직선 화살표 연결선 144"/>
          <p:cNvCxnSpPr>
            <a:stCxn id="144" idx="0"/>
          </p:cNvCxnSpPr>
          <p:nvPr/>
        </p:nvCxnSpPr>
        <p:spPr>
          <a:xfrm flipH="1" flipV="1">
            <a:off x="7760807" y="2999482"/>
            <a:ext cx="1765" cy="523131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직사각형 147"/>
          <p:cNvSpPr/>
          <p:nvPr/>
        </p:nvSpPr>
        <p:spPr>
          <a:xfrm>
            <a:off x="5726758" y="2402277"/>
            <a:ext cx="646040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/>
          <p:cNvCxnSpPr>
            <a:stCxn id="148" idx="2"/>
          </p:cNvCxnSpPr>
          <p:nvPr/>
        </p:nvCxnSpPr>
        <p:spPr>
          <a:xfrm>
            <a:off x="6049778" y="2654690"/>
            <a:ext cx="7428" cy="31165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직사각형 159"/>
          <p:cNvSpPr/>
          <p:nvPr/>
        </p:nvSpPr>
        <p:spPr>
          <a:xfrm>
            <a:off x="8988761" y="3381545"/>
            <a:ext cx="1000384" cy="2524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심사</a:t>
            </a:r>
            <a:r>
              <a:rPr lang="en-US" altLang="ko-KR" sz="1200" dirty="0">
                <a:solidFill>
                  <a:schemeClr val="bg1"/>
                </a:solidFill>
              </a:rPr>
              <a:t>4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cxnSp>
        <p:nvCxnSpPr>
          <p:cNvPr id="164" name="직선 화살표 연결선 163"/>
          <p:cNvCxnSpPr>
            <a:stCxn id="160" idx="0"/>
          </p:cNvCxnSpPr>
          <p:nvPr/>
        </p:nvCxnSpPr>
        <p:spPr>
          <a:xfrm flipV="1">
            <a:off x="9488953" y="2979346"/>
            <a:ext cx="0" cy="402199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직사각형 164"/>
          <p:cNvSpPr/>
          <p:nvPr/>
        </p:nvSpPr>
        <p:spPr>
          <a:xfrm>
            <a:off x="8979316" y="4917948"/>
            <a:ext cx="2183611" cy="95410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none">
            <a:spAutoFit/>
          </a:bodyPr>
          <a:lstStyle/>
          <a:p>
            <a:pPr fontAlgn="base"/>
            <a:r>
              <a:rPr lang="ko-KR" altLang="en-US" sz="1400" kern="0" dirty="0">
                <a:solidFill>
                  <a:schemeClr val="accent4"/>
                </a:solidFill>
                <a:latin typeface="+mn-ea"/>
              </a:rPr>
              <a:t>❶ 발견</a:t>
            </a:r>
            <a:r>
              <a:rPr lang="en-US" altLang="ko-KR" sz="1400" kern="0" dirty="0">
                <a:solidFill>
                  <a:schemeClr val="accent4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chemeClr val="accent4"/>
                </a:solidFill>
                <a:latin typeface="+mn-ea"/>
              </a:rPr>
              <a:t>최초거절이유통지</a:t>
            </a:r>
            <a:r>
              <a:rPr lang="en-US" altLang="ko-KR" sz="1400" kern="0" dirty="0">
                <a:solidFill>
                  <a:schemeClr val="accent4"/>
                </a:solidFill>
                <a:latin typeface="+mn-ea"/>
              </a:rPr>
              <a:t> </a:t>
            </a:r>
          </a:p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❷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최후거절이유통지</a:t>
            </a:r>
            <a:endParaRPr lang="en-US" altLang="ko-KR" sz="1400" kern="0" dirty="0">
              <a:solidFill>
                <a:srgbClr val="FF0000"/>
              </a:solidFill>
              <a:latin typeface="+mn-ea"/>
            </a:endParaRPr>
          </a:p>
          <a:p>
            <a:pPr fontAlgn="base"/>
            <a:r>
              <a:rPr lang="ko-KR" altLang="en-US" sz="1400" kern="0" dirty="0">
                <a:solidFill>
                  <a:schemeClr val="accent4"/>
                </a:solidFill>
                <a:latin typeface="+mn-ea"/>
              </a:rPr>
              <a:t>❸ 발견</a:t>
            </a:r>
            <a:r>
              <a:rPr lang="en-US" altLang="ko-KR" sz="1400" kern="0" dirty="0">
                <a:solidFill>
                  <a:schemeClr val="accent4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chemeClr val="accent4"/>
                </a:solidFill>
                <a:latin typeface="+mn-ea"/>
              </a:rPr>
              <a:t>최후거절이유통지</a:t>
            </a:r>
            <a:endParaRPr lang="en-US" altLang="ko-KR" sz="1400" kern="0" dirty="0">
              <a:solidFill>
                <a:schemeClr val="accent4"/>
              </a:solidFill>
              <a:latin typeface="+mn-ea"/>
            </a:endParaRPr>
          </a:p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❹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최후거절이유통지</a:t>
            </a:r>
            <a:endParaRPr lang="en-US" altLang="ko-KR" sz="1400" kern="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974820" y="3992037"/>
            <a:ext cx="2390209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100" dirty="0"/>
              <a:t>1. </a:t>
            </a:r>
            <a:r>
              <a:rPr lang="ko-KR" altLang="en-US" sz="1100" dirty="0"/>
              <a:t>원거절이유의 </a:t>
            </a:r>
            <a:r>
              <a:rPr lang="ko-KR" altLang="en-US" sz="1100" dirty="0" err="1"/>
              <a:t>해소여부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8974820" y="4279048"/>
            <a:ext cx="2390207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2. </a:t>
            </a:r>
            <a:r>
              <a:rPr lang="ko-KR" altLang="en-US" sz="1100" dirty="0"/>
              <a:t>새로운 </a:t>
            </a:r>
            <a:r>
              <a:rPr lang="ko-KR" altLang="en-US" sz="1100" dirty="0" err="1"/>
              <a:t>거절이유의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발견여부</a:t>
            </a:r>
            <a:endParaRPr lang="ko-KR" altLang="en-US" sz="1100" dirty="0"/>
          </a:p>
        </p:txBody>
      </p:sp>
      <p:sp>
        <p:nvSpPr>
          <p:cNvPr id="48" name="TextBox 47"/>
          <p:cNvSpPr txBox="1"/>
          <p:nvPr/>
        </p:nvSpPr>
        <p:spPr>
          <a:xfrm>
            <a:off x="8974821" y="4577374"/>
            <a:ext cx="2397889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3. </a:t>
            </a:r>
            <a:r>
              <a:rPr lang="ko-KR" altLang="en-US" sz="1100" dirty="0"/>
              <a:t>새로운 거절이유의 발생시점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4820" y="3696790"/>
            <a:ext cx="2390209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100" dirty="0"/>
              <a:t>0. </a:t>
            </a:r>
            <a:r>
              <a:rPr lang="ko-KR" altLang="en-US" sz="1100" dirty="0"/>
              <a:t>보정의 적법성</a:t>
            </a:r>
          </a:p>
        </p:txBody>
      </p:sp>
      <p:cxnSp>
        <p:nvCxnSpPr>
          <p:cNvPr id="8" name="꺾인 연결선 7"/>
          <p:cNvCxnSpPr>
            <a:cxnSpLocks/>
            <a:stCxn id="6" idx="3"/>
            <a:endCxn id="126" idx="2"/>
          </p:cNvCxnSpPr>
          <p:nvPr/>
        </p:nvCxnSpPr>
        <p:spPr>
          <a:xfrm flipV="1">
            <a:off x="6049778" y="3235325"/>
            <a:ext cx="921633" cy="2406804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/>
          <p:cNvSpPr/>
          <p:nvPr/>
        </p:nvSpPr>
        <p:spPr>
          <a:xfrm>
            <a:off x="6083503" y="5595458"/>
            <a:ext cx="2735755" cy="6344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특허출원서에 첨부된 명세서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도면 또는 </a:t>
            </a:r>
            <a:r>
              <a:rPr lang="ko-KR" altLang="en-US" sz="1200" dirty="0" err="1">
                <a:solidFill>
                  <a:schemeClr val="tx1"/>
                </a:solidFill>
              </a:rPr>
              <a:t>요약서에</a:t>
            </a:r>
            <a:r>
              <a:rPr lang="ko-KR" altLang="en-US" sz="1200" dirty="0">
                <a:solidFill>
                  <a:schemeClr val="tx1"/>
                </a:solidFill>
              </a:rPr>
              <a:t> 적힌 사항이 명백히 잘못된 경우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875" y="986046"/>
            <a:ext cx="119363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심사관은 직권보정 전에 최후거절이유통지에 따른 의견서 제출기간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</a:t>
            </a:r>
            <a:r>
              <a:rPr lang="ko-KR" altLang="en-US" sz="1400" dirty="0">
                <a:solidFill>
                  <a:schemeClr val="tx2"/>
                </a:solidFill>
              </a:rPr>
              <a:t>①</a:t>
            </a:r>
            <a:r>
              <a:rPr lang="en-US" altLang="ko-KR" sz="1400" dirty="0">
                <a:solidFill>
                  <a:schemeClr val="tx2"/>
                </a:solidFill>
              </a:rPr>
              <a:t>Ⅱ) </a:t>
            </a:r>
            <a:r>
              <a:rPr lang="ko-KR" altLang="en-US" sz="1400" dirty="0">
                <a:solidFill>
                  <a:schemeClr val="tx2"/>
                </a:solidFill>
              </a:rPr>
              <a:t>또는 재심사를 청구할 때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</a:t>
            </a:r>
            <a:r>
              <a:rPr lang="ko-KR" altLang="en-US" sz="1400" dirty="0">
                <a:solidFill>
                  <a:schemeClr val="tx2"/>
                </a:solidFill>
              </a:rPr>
              <a:t>①</a:t>
            </a:r>
            <a:r>
              <a:rPr lang="en-US" altLang="ko-KR" sz="1400" dirty="0">
                <a:solidFill>
                  <a:schemeClr val="tx2"/>
                </a:solidFill>
              </a:rPr>
              <a:t>Ⅲ) </a:t>
            </a:r>
            <a:r>
              <a:rPr lang="ko-KR" altLang="en-US" sz="1400" dirty="0">
                <a:solidFill>
                  <a:schemeClr val="tx2"/>
                </a:solidFill>
              </a:rPr>
              <a:t>한 보정이 신규사항추가금지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</a:t>
            </a:r>
            <a:r>
              <a:rPr lang="ko-KR" altLang="en-US" sz="1400" dirty="0">
                <a:solidFill>
                  <a:schemeClr val="tx2"/>
                </a:solidFill>
              </a:rPr>
              <a:t>②</a:t>
            </a:r>
            <a:r>
              <a:rPr lang="en-US" altLang="ko-KR" sz="1400" dirty="0">
                <a:solidFill>
                  <a:schemeClr val="tx2"/>
                </a:solidFill>
              </a:rPr>
              <a:t>) </a:t>
            </a:r>
            <a:r>
              <a:rPr lang="ko-KR" altLang="en-US" sz="1400" dirty="0">
                <a:solidFill>
                  <a:schemeClr val="tx2"/>
                </a:solidFill>
              </a:rPr>
              <a:t>또는 청구범위 보정범위제한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</a:t>
            </a:r>
            <a:r>
              <a:rPr lang="ko-KR" altLang="en-US" sz="1400" dirty="0">
                <a:solidFill>
                  <a:schemeClr val="tx2"/>
                </a:solidFill>
              </a:rPr>
              <a:t>③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을 위반하거나 그 보정에 따라 새로운 거절이유가 발생했음에도 불구하고 </a:t>
            </a:r>
            <a:r>
              <a:rPr lang="ko-KR" altLang="en-US" sz="1400" dirty="0" err="1">
                <a:solidFill>
                  <a:schemeClr val="tx2"/>
                </a:solidFill>
              </a:rPr>
              <a:t>보정각하결정을</a:t>
            </a:r>
            <a:r>
              <a:rPr lang="ko-KR" altLang="en-US" sz="1400" dirty="0">
                <a:solidFill>
                  <a:schemeClr val="tx2"/>
                </a:solidFill>
              </a:rPr>
              <a:t> 하지 아니하고 </a:t>
            </a:r>
            <a:r>
              <a:rPr lang="ko-KR" altLang="en-US" sz="1400" dirty="0" err="1">
                <a:solidFill>
                  <a:schemeClr val="tx2"/>
                </a:solidFill>
              </a:rPr>
              <a:t>특허결정한</a:t>
            </a:r>
            <a:r>
              <a:rPr lang="ko-KR" altLang="en-US" sz="1400" dirty="0">
                <a:solidFill>
                  <a:schemeClr val="tx2"/>
                </a:solidFill>
              </a:rPr>
              <a:t> 것을 특허결정을 취소한 후에 발견한 경우에는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 err="1">
                <a:solidFill>
                  <a:schemeClr val="tx2"/>
                </a:solidFill>
              </a:rPr>
              <a:t>보정각하를</a:t>
            </a:r>
            <a:r>
              <a:rPr lang="ko-KR" altLang="en-US" sz="1400" dirty="0">
                <a:solidFill>
                  <a:schemeClr val="tx2"/>
                </a:solidFill>
              </a:rPr>
              <a:t> 하지 아니하고 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최후거절이유통지</a:t>
            </a:r>
            <a:r>
              <a:rPr lang="ko-KR" altLang="en-US" sz="1400" dirty="0">
                <a:solidFill>
                  <a:schemeClr val="accent3">
                    <a:lumMod val="50000"/>
                  </a:schemeClr>
                </a:solidFill>
              </a:rPr>
              <a:t>를</a:t>
            </a:r>
            <a:r>
              <a:rPr lang="ko-KR" altLang="en-US" sz="1400" dirty="0">
                <a:solidFill>
                  <a:schemeClr val="tx2"/>
                </a:solidFill>
              </a:rPr>
              <a:t> 한다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51</a:t>
            </a:r>
            <a:r>
              <a:rPr lang="ko-KR" altLang="en-US" sz="1400" dirty="0">
                <a:solidFill>
                  <a:schemeClr val="tx2"/>
                </a:solidFill>
              </a:rPr>
              <a:t>①</a:t>
            </a:r>
            <a:r>
              <a:rPr lang="en-US" altLang="ko-KR" sz="1400" dirty="0">
                <a:solidFill>
                  <a:schemeClr val="tx2"/>
                </a:solidFill>
              </a:rPr>
              <a:t>Ⅰ). </a:t>
            </a:r>
            <a:r>
              <a:rPr lang="ko-KR" altLang="en-US" sz="1400" dirty="0">
                <a:solidFill>
                  <a:schemeClr val="tx2"/>
                </a:solidFill>
              </a:rPr>
              <a:t>이는 보정이 인정됨을 전제로 특허결정을 받았다는 것을 신뢰한 출원인의 이익을 보호하기 위함이다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endParaRPr lang="ko-KR" altLang="en-US" sz="1400" dirty="0">
              <a:solidFill>
                <a:schemeClr val="tx2"/>
              </a:solidFill>
            </a:endParaRPr>
          </a:p>
        </p:txBody>
      </p:sp>
      <p:cxnSp>
        <p:nvCxnSpPr>
          <p:cNvPr id="51" name="직선 연결선 50"/>
          <p:cNvCxnSpPr/>
          <p:nvPr/>
        </p:nvCxnSpPr>
        <p:spPr>
          <a:xfrm>
            <a:off x="0" y="1942926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269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7192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직권 재심사</a:t>
            </a:r>
            <a:r>
              <a:rPr lang="en-US" altLang="ko-KR" dirty="0"/>
              <a:t>(</a:t>
            </a:r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3)</a:t>
            </a:r>
            <a:r>
              <a:rPr lang="ko-KR" altLang="en-US" dirty="0"/>
              <a:t>의 개념</a:t>
            </a: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7875" y="986046"/>
            <a:ext cx="1193632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제</a:t>
            </a:r>
            <a:r>
              <a:rPr lang="en-US" altLang="ko-KR" sz="1400" b="1" dirty="0">
                <a:solidFill>
                  <a:schemeClr val="accent1"/>
                </a:solidFill>
              </a:rPr>
              <a:t>66</a:t>
            </a:r>
            <a:r>
              <a:rPr lang="ko-KR" altLang="en-US" sz="1400" b="1" dirty="0">
                <a:solidFill>
                  <a:schemeClr val="accent1"/>
                </a:solidFill>
              </a:rPr>
              <a:t>조의</a:t>
            </a:r>
            <a:r>
              <a:rPr lang="en-US" altLang="ko-KR" sz="1400" b="1" dirty="0">
                <a:solidFill>
                  <a:schemeClr val="accent1"/>
                </a:solidFill>
              </a:rPr>
              <a:t>3(</a:t>
            </a:r>
            <a:r>
              <a:rPr lang="ko-KR" altLang="en-US" sz="1400" b="1" dirty="0">
                <a:solidFill>
                  <a:schemeClr val="accent1"/>
                </a:solidFill>
              </a:rPr>
              <a:t>특허결정 이후 직권 재심사</a:t>
            </a:r>
            <a:r>
              <a:rPr lang="en-US" altLang="ko-KR" sz="1400" b="1" dirty="0">
                <a:solidFill>
                  <a:schemeClr val="accent1"/>
                </a:solidFill>
              </a:rPr>
              <a:t>) </a:t>
            </a:r>
            <a:r>
              <a:rPr lang="en-US" altLang="ko-KR" sz="1400" dirty="0"/>
              <a:t>① </a:t>
            </a:r>
            <a:r>
              <a:rPr lang="ko-KR" altLang="en-US" sz="1400" dirty="0"/>
              <a:t>심사관은 </a:t>
            </a:r>
            <a:r>
              <a:rPr lang="ko-KR" altLang="en-US" sz="1400" dirty="0" err="1"/>
              <a:t>특허결정된</a:t>
            </a:r>
            <a:r>
              <a:rPr lang="ko-KR" altLang="en-US" sz="1400" dirty="0"/>
              <a:t> 특허출원에 관하여 명백한 거절이유를 발견한 경우에는 직권으로 특허결정을 취소하고</a:t>
            </a:r>
            <a:r>
              <a:rPr lang="en-US" altLang="ko-KR" sz="1400" dirty="0"/>
              <a:t>, </a:t>
            </a:r>
            <a:r>
              <a:rPr lang="ko-KR" altLang="en-US" sz="1400" dirty="0"/>
              <a:t>그 특허출원을 다시 심사</a:t>
            </a:r>
            <a:r>
              <a:rPr lang="en-US" altLang="ko-KR" sz="1400" dirty="0"/>
              <a:t>(</a:t>
            </a:r>
            <a:r>
              <a:rPr lang="ko-KR" altLang="en-US" sz="1400" dirty="0"/>
              <a:t>이하 </a:t>
            </a:r>
            <a:r>
              <a:rPr lang="en-US" altLang="ko-KR" sz="1400" dirty="0"/>
              <a:t>"</a:t>
            </a:r>
            <a:r>
              <a:rPr lang="ko-KR" altLang="en-US" sz="1400" dirty="0"/>
              <a:t>직권 재심사</a:t>
            </a:r>
            <a:r>
              <a:rPr lang="en-US" altLang="ko-KR" sz="1400" dirty="0"/>
              <a:t>"</a:t>
            </a:r>
            <a:r>
              <a:rPr lang="ko-KR" altLang="en-US" sz="1400" dirty="0"/>
              <a:t>라 한다</a:t>
            </a:r>
            <a:r>
              <a:rPr lang="en-US" altLang="ko-KR" sz="1400" dirty="0"/>
              <a:t>)</a:t>
            </a:r>
            <a:r>
              <a:rPr lang="ko-KR" altLang="en-US" sz="1400" dirty="0"/>
              <a:t>할 수 있다</a:t>
            </a:r>
            <a:r>
              <a:rPr lang="en-US" altLang="ko-KR" sz="1400" dirty="0"/>
              <a:t>. </a:t>
            </a:r>
            <a:r>
              <a:rPr lang="ko-KR" altLang="en-US" sz="1400" dirty="0"/>
              <a:t>다만</a:t>
            </a:r>
            <a:r>
              <a:rPr lang="en-US" altLang="ko-KR" sz="1400" dirty="0"/>
              <a:t>, </a:t>
            </a:r>
            <a:r>
              <a:rPr lang="ko-KR" altLang="en-US" sz="1400" dirty="0"/>
              <a:t>다음 각 호의 어느 하나에 해당하는 경우에는 그러하지 아니하다</a:t>
            </a:r>
            <a:r>
              <a:rPr lang="en-US" altLang="ko-KR" sz="1400" dirty="0"/>
              <a:t>.</a:t>
            </a:r>
          </a:p>
          <a:p>
            <a:pPr fontAlgn="base"/>
            <a:r>
              <a:rPr lang="en-US" altLang="ko-KR" sz="1400" dirty="0"/>
              <a:t>1. </a:t>
            </a:r>
            <a:r>
              <a:rPr lang="ko-KR" altLang="en-US" sz="1400" dirty="0"/>
              <a:t>거절이유가 제</a:t>
            </a:r>
            <a:r>
              <a:rPr lang="en-US" altLang="ko-KR" sz="1400" dirty="0"/>
              <a:t>42</a:t>
            </a:r>
            <a:r>
              <a:rPr lang="ko-KR" altLang="en-US" sz="1400" dirty="0"/>
              <a:t>조제</a:t>
            </a:r>
            <a:r>
              <a:rPr lang="en-US" altLang="ko-KR" sz="1400" dirty="0"/>
              <a:t>3</a:t>
            </a:r>
            <a:r>
              <a:rPr lang="ko-KR" altLang="en-US" sz="1400" dirty="0" err="1"/>
              <a:t>항제</a:t>
            </a:r>
            <a:r>
              <a:rPr lang="en-US" altLang="ko-KR" sz="1400" dirty="0"/>
              <a:t>2</a:t>
            </a:r>
            <a:r>
              <a:rPr lang="ko-KR" altLang="en-US" sz="1400" dirty="0"/>
              <a:t>호</a:t>
            </a:r>
            <a:r>
              <a:rPr lang="en-US" altLang="ko-KR" sz="1400" dirty="0"/>
              <a:t>, </a:t>
            </a:r>
            <a:r>
              <a:rPr lang="ko-KR" altLang="en-US" sz="1400" dirty="0"/>
              <a:t>같은 조 제</a:t>
            </a:r>
            <a:r>
              <a:rPr lang="en-US" altLang="ko-KR" sz="1400" dirty="0"/>
              <a:t>8</a:t>
            </a:r>
            <a:r>
              <a:rPr lang="ko-KR" altLang="en-US" sz="1400" dirty="0"/>
              <a:t>항 및 제</a:t>
            </a:r>
            <a:r>
              <a:rPr lang="en-US" altLang="ko-KR" sz="1400" dirty="0"/>
              <a:t>45</a:t>
            </a:r>
            <a:r>
              <a:rPr lang="ko-KR" altLang="en-US" sz="1400" dirty="0"/>
              <a:t>조에 따른 요건에 관한 것인 경우</a:t>
            </a:r>
          </a:p>
          <a:p>
            <a:pPr fontAlgn="base"/>
            <a:r>
              <a:rPr lang="en-US" altLang="ko-KR" sz="1400" dirty="0"/>
              <a:t>2. </a:t>
            </a:r>
            <a:r>
              <a:rPr lang="ko-KR" altLang="en-US" sz="1400" dirty="0"/>
              <a:t>그 특허결정에 따라 특허권이 </a:t>
            </a:r>
            <a:r>
              <a:rPr lang="ko-KR" altLang="en-US" sz="1400" dirty="0" err="1"/>
              <a:t>설정등록된</a:t>
            </a:r>
            <a:r>
              <a:rPr lang="ko-KR" altLang="en-US" sz="1400" dirty="0"/>
              <a:t> 경우</a:t>
            </a:r>
          </a:p>
          <a:p>
            <a:pPr fontAlgn="base"/>
            <a:r>
              <a:rPr lang="en-US" altLang="ko-KR" sz="1400" dirty="0"/>
              <a:t>3. </a:t>
            </a:r>
            <a:r>
              <a:rPr lang="ko-KR" altLang="en-US" sz="1400" dirty="0"/>
              <a:t>그 특허출원이 취하되거나 포기된 경우</a:t>
            </a:r>
          </a:p>
          <a:p>
            <a:pPr fontAlgn="base"/>
            <a:r>
              <a:rPr lang="ko-KR" altLang="en-US" sz="1400" dirty="0"/>
              <a:t>② 제</a:t>
            </a:r>
            <a:r>
              <a:rPr lang="en-US" altLang="ko-KR" sz="1400" dirty="0"/>
              <a:t>1</a:t>
            </a:r>
            <a:r>
              <a:rPr lang="ko-KR" altLang="en-US" sz="1400" dirty="0"/>
              <a:t>항에 따라 심사관이 직권 재심사를 하려면 특허결정을 취소한다는 사실을 </a:t>
            </a:r>
            <a:r>
              <a:rPr lang="ko-KR" altLang="en-US" sz="1400" dirty="0" err="1"/>
              <a:t>특허출원인에게</a:t>
            </a:r>
            <a:r>
              <a:rPr lang="ko-KR" altLang="en-US" sz="1400" dirty="0"/>
              <a:t> 통지하여야 한다</a:t>
            </a:r>
            <a:r>
              <a:rPr lang="en-US" altLang="ko-KR" sz="1400" dirty="0"/>
              <a:t>.</a:t>
            </a:r>
          </a:p>
          <a:p>
            <a:pPr fontAlgn="base"/>
            <a:r>
              <a:rPr lang="en-US" altLang="ko-KR" sz="1400" dirty="0"/>
              <a:t>③ </a:t>
            </a:r>
            <a:r>
              <a:rPr lang="ko-KR" altLang="en-US" sz="1400" dirty="0" err="1"/>
              <a:t>특허출원인이</a:t>
            </a:r>
            <a:r>
              <a:rPr lang="ko-KR" altLang="en-US" sz="1400" dirty="0"/>
              <a:t> 제</a:t>
            </a:r>
            <a:r>
              <a:rPr lang="en-US" altLang="ko-KR" sz="1400" dirty="0"/>
              <a:t>2</a:t>
            </a:r>
            <a:r>
              <a:rPr lang="ko-KR" altLang="en-US" sz="1400" dirty="0"/>
              <a:t>항에 따른 통지를 받기 전에 그 특허출원이 제</a:t>
            </a:r>
            <a:r>
              <a:rPr lang="en-US" altLang="ko-KR" sz="1400" dirty="0"/>
              <a:t>1</a:t>
            </a:r>
            <a:r>
              <a:rPr lang="ko-KR" altLang="en-US" sz="1400" dirty="0" err="1"/>
              <a:t>항제</a:t>
            </a:r>
            <a:r>
              <a:rPr lang="en-US" altLang="ko-KR" sz="1400" dirty="0"/>
              <a:t>2</a:t>
            </a:r>
            <a:r>
              <a:rPr lang="ko-KR" altLang="en-US" sz="1400" dirty="0"/>
              <a:t>호 또는 제</a:t>
            </a:r>
            <a:r>
              <a:rPr lang="en-US" altLang="ko-KR" sz="1400" dirty="0"/>
              <a:t>3</a:t>
            </a:r>
            <a:r>
              <a:rPr lang="ko-KR" altLang="en-US" sz="1400" dirty="0"/>
              <a:t>호에 해당하게 된 경우에는 특허결정의 취소는 처음부터 없었던 것으로 본다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0" y="2595835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/>
          <p:cNvCxnSpPr/>
          <p:nvPr/>
        </p:nvCxnSpPr>
        <p:spPr>
          <a:xfrm>
            <a:off x="1054692" y="4416865"/>
            <a:ext cx="10241958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565446" y="4164452"/>
            <a:ext cx="1025777" cy="5048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출원</a:t>
            </a:r>
          </a:p>
        </p:txBody>
      </p:sp>
      <p:sp>
        <p:nvSpPr>
          <p:cNvPr id="52" name="직사각형 51"/>
          <p:cNvSpPr/>
          <p:nvPr/>
        </p:nvSpPr>
        <p:spPr>
          <a:xfrm>
            <a:off x="2422822" y="4157321"/>
            <a:ext cx="1143000" cy="5119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>
                <a:solidFill>
                  <a:schemeClr val="tx1"/>
                </a:solidFill>
              </a:rPr>
              <a:t>특허결정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(</a:t>
            </a:r>
            <a:r>
              <a:rPr lang="ko-KR" altLang="en-US" sz="1400" dirty="0">
                <a:solidFill>
                  <a:schemeClr val="tx1"/>
                </a:solidFill>
              </a:rPr>
              <a:t>착오</a:t>
            </a:r>
            <a:r>
              <a:rPr lang="en-US" altLang="ko-KR" sz="1400" dirty="0">
                <a:solidFill>
                  <a:schemeClr val="tx1"/>
                </a:solidFill>
              </a:rPr>
              <a:t>)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6202061" y="4157321"/>
            <a:ext cx="1121260" cy="5119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특허결정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54" name="직사각형 53"/>
          <p:cNvSpPr/>
          <p:nvPr/>
        </p:nvSpPr>
        <p:spPr>
          <a:xfrm>
            <a:off x="3681625" y="4956565"/>
            <a:ext cx="954827" cy="435787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정보제공</a:t>
            </a:r>
          </a:p>
        </p:txBody>
      </p:sp>
      <p:cxnSp>
        <p:nvCxnSpPr>
          <p:cNvPr id="55" name="직선 화살표 연결선 54"/>
          <p:cNvCxnSpPr>
            <a:stCxn id="54" idx="0"/>
          </p:cNvCxnSpPr>
          <p:nvPr/>
        </p:nvCxnSpPr>
        <p:spPr>
          <a:xfrm flipH="1" flipV="1">
            <a:off x="4159038" y="4433435"/>
            <a:ext cx="1" cy="52313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8057324" y="4157321"/>
            <a:ext cx="1121260" cy="5119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통지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7" name="말풍선: 모서리가 둥근 사각형 56"/>
          <p:cNvSpPr/>
          <p:nvPr/>
        </p:nvSpPr>
        <p:spPr>
          <a:xfrm>
            <a:off x="4945961" y="4992170"/>
            <a:ext cx="4440978" cy="568019"/>
          </a:xfrm>
          <a:prstGeom prst="wedgeRoundRectCallout">
            <a:avLst>
              <a:gd name="adj1" fmla="val 10085"/>
              <a:gd name="adj2" fmla="val -142956"/>
              <a:gd name="adj3" fmla="val 16667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95000"/>
                  </a:schemeClr>
                </a:solidFill>
              </a:rPr>
              <a:t>특허권이 </a:t>
            </a:r>
            <a:r>
              <a:rPr lang="ko-KR" altLang="en-US" sz="1400" dirty="0" err="1">
                <a:solidFill>
                  <a:schemeClr val="bg1">
                    <a:lumMod val="95000"/>
                  </a:schemeClr>
                </a:solidFill>
              </a:rPr>
              <a:t>설정등록되거나</a:t>
            </a:r>
            <a:r>
              <a:rPr lang="ko-KR" altLang="en-US" sz="1400" dirty="0">
                <a:solidFill>
                  <a:schemeClr val="bg1">
                    <a:lumMod val="95000"/>
                  </a:schemeClr>
                </a:solidFill>
              </a:rPr>
              <a:t> 특허출원이 취하</a:t>
            </a:r>
            <a:r>
              <a:rPr lang="en-US" altLang="ko-KR" sz="14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bg1">
                    <a:lumMod val="95000"/>
                  </a:schemeClr>
                </a:solidFill>
              </a:rPr>
              <a:t>포기된 경우에는 특허결정의 취소가 처음부터 없었던 것으로 간주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9842796" y="4157321"/>
            <a:ext cx="1121260" cy="511956"/>
          </a:xfrm>
          <a:prstGeom prst="rect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최초거절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이유통지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270</a:t>
            </a:r>
            <a:endParaRPr lang="ko-KR" altLang="en-US" dirty="0"/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E554D9D9-68B1-4FC0-968D-22E718405429}"/>
              </a:ext>
            </a:extLst>
          </p:cNvPr>
          <p:cNvSpPr/>
          <p:nvPr/>
        </p:nvSpPr>
        <p:spPr>
          <a:xfrm>
            <a:off x="4945961" y="3266409"/>
            <a:ext cx="3034255" cy="568019"/>
          </a:xfrm>
          <a:prstGeom prst="wedgeRoundRectCallout">
            <a:avLst>
              <a:gd name="adj1" fmla="val -4788"/>
              <a:gd name="adj2" fmla="val 100132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특허권이 </a:t>
            </a:r>
            <a:r>
              <a:rPr lang="ko-KR" altLang="en-US" sz="1400" dirty="0" err="1">
                <a:solidFill>
                  <a:schemeClr val="tx1"/>
                </a:solidFill>
              </a:rPr>
              <a:t>설정등록되거나</a:t>
            </a:r>
            <a:r>
              <a:rPr lang="ko-KR" altLang="en-US" sz="1400" dirty="0">
                <a:solidFill>
                  <a:schemeClr val="tx1"/>
                </a:solidFill>
              </a:rPr>
              <a:t> 특허출원이 취하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포기되지 않았음을 전제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53704C0-80DB-41BF-9B43-6FEF8C225238}"/>
              </a:ext>
            </a:extLst>
          </p:cNvPr>
          <p:cNvSpPr/>
          <p:nvPr/>
        </p:nvSpPr>
        <p:spPr>
          <a:xfrm>
            <a:off x="4577078" y="4157321"/>
            <a:ext cx="1296437" cy="5119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명백한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거절이유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35B99-54A8-47CF-8CA1-D140EAEE22D9}"/>
              </a:ext>
            </a:extLst>
          </p:cNvPr>
          <p:cNvSpPr txBox="1"/>
          <p:nvPr/>
        </p:nvSpPr>
        <p:spPr>
          <a:xfrm>
            <a:off x="7575549" y="5858494"/>
            <a:ext cx="423705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Reset</a:t>
            </a:r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/>
              <a:t>제</a:t>
            </a:r>
            <a:r>
              <a:rPr lang="en-US" altLang="ko-KR" sz="1200" dirty="0"/>
              <a:t>63</a:t>
            </a:r>
            <a:r>
              <a:rPr lang="ko-KR" altLang="en-US" sz="1200" dirty="0"/>
              <a:t>조제</a:t>
            </a:r>
            <a:r>
              <a:rPr lang="en-US" altLang="ko-KR" sz="1200" dirty="0"/>
              <a:t>1</a:t>
            </a:r>
            <a:r>
              <a:rPr lang="ko-KR" altLang="en-US" sz="1200" dirty="0" err="1"/>
              <a:t>항제</a:t>
            </a:r>
            <a:r>
              <a:rPr lang="en-US" altLang="ko-KR" sz="1200" dirty="0"/>
              <a:t>2</a:t>
            </a:r>
            <a:r>
              <a:rPr lang="ko-KR" altLang="en-US" sz="1200" dirty="0"/>
              <a:t>호</a:t>
            </a:r>
            <a:r>
              <a:rPr lang="en-US" altLang="ko-KR" sz="1200" dirty="0"/>
              <a:t>, </a:t>
            </a:r>
            <a:r>
              <a:rPr lang="ko-KR" altLang="en-US" sz="1200" dirty="0"/>
              <a:t>제</a:t>
            </a:r>
            <a:r>
              <a:rPr lang="en-US" altLang="ko-KR" sz="1200" dirty="0"/>
              <a:t>51</a:t>
            </a:r>
            <a:r>
              <a:rPr lang="ko-KR" altLang="en-US" sz="1200" dirty="0"/>
              <a:t>조제</a:t>
            </a:r>
            <a:r>
              <a:rPr lang="en-US" altLang="ko-KR" sz="1200" dirty="0"/>
              <a:t>1</a:t>
            </a:r>
            <a:r>
              <a:rPr lang="ko-KR" altLang="en-US" sz="1200" dirty="0" err="1"/>
              <a:t>항제</a:t>
            </a:r>
            <a:r>
              <a:rPr lang="en-US" altLang="ko-KR" sz="1200" dirty="0"/>
              <a:t>2</a:t>
            </a:r>
            <a:r>
              <a:rPr lang="ko-KR" altLang="en-US" sz="1200" dirty="0"/>
              <a:t>호</a:t>
            </a:r>
            <a:r>
              <a:rPr lang="en-US" altLang="ko-KR" sz="1200" dirty="0"/>
              <a:t>, </a:t>
            </a:r>
            <a:r>
              <a:rPr lang="ko-KR" altLang="en-US" sz="1200" dirty="0"/>
              <a:t>제</a:t>
            </a:r>
            <a:r>
              <a:rPr lang="en-US" altLang="ko-KR" sz="1200" dirty="0"/>
              <a:t>47</a:t>
            </a:r>
            <a:r>
              <a:rPr lang="ko-KR" altLang="en-US" sz="1200" dirty="0"/>
              <a:t>조제</a:t>
            </a:r>
            <a:r>
              <a:rPr lang="en-US" altLang="ko-KR" sz="1200" dirty="0"/>
              <a:t>1</a:t>
            </a:r>
            <a:r>
              <a:rPr lang="ko-KR" altLang="en-US" sz="1200" dirty="0" err="1"/>
              <a:t>항제</a:t>
            </a:r>
            <a:r>
              <a:rPr lang="en-US" altLang="ko-KR" sz="1200" dirty="0"/>
              <a:t>2</a:t>
            </a:r>
            <a:r>
              <a:rPr lang="ko-KR" altLang="en-US" sz="1200" dirty="0" err="1"/>
              <a:t>호괄호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8F4FBD0D-7378-40AB-B152-311BA9E75610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9694077" y="4433435"/>
            <a:ext cx="1" cy="1425059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265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5" name="직선 화살표 연결선 124"/>
          <p:cNvCxnSpPr/>
          <p:nvPr/>
        </p:nvCxnSpPr>
        <p:spPr>
          <a:xfrm>
            <a:off x="1003596" y="3773844"/>
            <a:ext cx="9658350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66</a:t>
            </a:r>
            <a:r>
              <a:rPr lang="ko-KR" altLang="en-US" dirty="0"/>
              <a:t>조의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직권 재심사 후 심사진행 </a:t>
            </a:r>
            <a:r>
              <a:rPr lang="en-US" altLang="ko-KR" dirty="0"/>
              <a:t>CASE</a:t>
            </a:r>
            <a:endParaRPr lang="ko-KR" altLang="en-US"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772664" y="3521431"/>
            <a:ext cx="767463" cy="5048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출원</a:t>
            </a:r>
          </a:p>
        </p:txBody>
      </p:sp>
      <p:sp>
        <p:nvSpPr>
          <p:cNvPr id="93" name="직사각형 92"/>
          <p:cNvSpPr/>
          <p:nvPr/>
        </p:nvSpPr>
        <p:spPr>
          <a:xfrm>
            <a:off x="2115870" y="3193208"/>
            <a:ext cx="646040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4" name="직선 화살표 연결선 93"/>
          <p:cNvCxnSpPr>
            <a:stCxn id="93" idx="2"/>
          </p:cNvCxnSpPr>
          <p:nvPr/>
        </p:nvCxnSpPr>
        <p:spPr>
          <a:xfrm>
            <a:off x="2438890" y="3445621"/>
            <a:ext cx="7428" cy="31165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/>
          <p:cNvSpPr/>
          <p:nvPr/>
        </p:nvSpPr>
        <p:spPr>
          <a:xfrm>
            <a:off x="2584877" y="3644071"/>
            <a:ext cx="693430" cy="2524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최초</a:t>
            </a:r>
          </a:p>
        </p:txBody>
      </p:sp>
      <p:sp>
        <p:nvSpPr>
          <p:cNvPr id="96" name="직사각형 95"/>
          <p:cNvSpPr/>
          <p:nvPr/>
        </p:nvSpPr>
        <p:spPr>
          <a:xfrm>
            <a:off x="3194081" y="4192943"/>
            <a:ext cx="746998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7" name="직선 화살표 연결선 96"/>
          <p:cNvCxnSpPr>
            <a:stCxn id="96" idx="0"/>
          </p:cNvCxnSpPr>
          <p:nvPr/>
        </p:nvCxnSpPr>
        <p:spPr>
          <a:xfrm flipH="1" flipV="1">
            <a:off x="3565815" y="3770278"/>
            <a:ext cx="1765" cy="42266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3679986" y="3193208"/>
            <a:ext cx="646040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99" name="직선 화살표 연결선 98"/>
          <p:cNvCxnSpPr>
            <a:stCxn id="98" idx="2"/>
          </p:cNvCxnSpPr>
          <p:nvPr/>
        </p:nvCxnSpPr>
        <p:spPr>
          <a:xfrm>
            <a:off x="4003006" y="3445621"/>
            <a:ext cx="7428" cy="31165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/>
          <p:cNvSpPr/>
          <p:nvPr/>
        </p:nvSpPr>
        <p:spPr>
          <a:xfrm>
            <a:off x="4164410" y="3644071"/>
            <a:ext cx="783810" cy="2524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최후</a:t>
            </a:r>
          </a:p>
        </p:txBody>
      </p:sp>
      <p:sp>
        <p:nvSpPr>
          <p:cNvPr id="103" name="직사각형 102"/>
          <p:cNvSpPr/>
          <p:nvPr/>
        </p:nvSpPr>
        <p:spPr>
          <a:xfrm>
            <a:off x="5007637" y="4192943"/>
            <a:ext cx="746998" cy="252413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06" name="직선 화살표 연결선 105"/>
          <p:cNvCxnSpPr>
            <a:stCxn id="103" idx="0"/>
          </p:cNvCxnSpPr>
          <p:nvPr/>
        </p:nvCxnSpPr>
        <p:spPr>
          <a:xfrm flipH="1" flipV="1">
            <a:off x="5379371" y="3770278"/>
            <a:ext cx="1765" cy="42266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07"/>
          <p:cNvSpPr/>
          <p:nvPr/>
        </p:nvSpPr>
        <p:spPr>
          <a:xfrm>
            <a:off x="1569706" y="4192943"/>
            <a:ext cx="746998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보정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09" name="직선 화살표 연결선 108"/>
          <p:cNvCxnSpPr>
            <a:stCxn id="108" idx="0"/>
          </p:cNvCxnSpPr>
          <p:nvPr/>
        </p:nvCxnSpPr>
        <p:spPr>
          <a:xfrm flipH="1" flipV="1">
            <a:off x="1941440" y="3770278"/>
            <a:ext cx="1765" cy="42266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직사각형 112"/>
          <p:cNvSpPr/>
          <p:nvPr/>
        </p:nvSpPr>
        <p:spPr>
          <a:xfrm>
            <a:off x="1549240" y="4856659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</a:rPr>
              <a:t>42③Ⅰ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14" name="직사각형 113"/>
          <p:cNvSpPr/>
          <p:nvPr/>
        </p:nvSpPr>
        <p:spPr>
          <a:xfrm>
            <a:off x="3194081" y="4859430"/>
            <a:ext cx="746998" cy="2524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해소</a:t>
            </a:r>
          </a:p>
        </p:txBody>
      </p:sp>
      <p:sp>
        <p:nvSpPr>
          <p:cNvPr id="115" name="직사각형 114"/>
          <p:cNvSpPr/>
          <p:nvPr/>
        </p:nvSpPr>
        <p:spPr>
          <a:xfrm>
            <a:off x="3173615" y="5285284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29②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16" name="꺾인 연결선 115"/>
          <p:cNvCxnSpPr>
            <a:stCxn id="113" idx="3"/>
            <a:endCxn id="95" idx="2"/>
          </p:cNvCxnSpPr>
          <p:nvPr/>
        </p:nvCxnSpPr>
        <p:spPr>
          <a:xfrm flipV="1">
            <a:off x="2316704" y="3896484"/>
            <a:ext cx="614888" cy="1086382"/>
          </a:xfrm>
          <a:prstGeom prst="bentConnector2">
            <a:avLst/>
          </a:prstGeom>
          <a:ln w="12700">
            <a:solidFill>
              <a:schemeClr val="accent4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 116"/>
          <p:cNvCxnSpPr>
            <a:stCxn id="115" idx="3"/>
            <a:endCxn id="100" idx="2"/>
          </p:cNvCxnSpPr>
          <p:nvPr/>
        </p:nvCxnSpPr>
        <p:spPr>
          <a:xfrm flipV="1">
            <a:off x="3941079" y="3896484"/>
            <a:ext cx="615236" cy="1515007"/>
          </a:xfrm>
          <a:prstGeom prst="bentConnector2">
            <a:avLst/>
          </a:prstGeom>
          <a:ln w="12700">
            <a:solidFill>
              <a:schemeClr val="accent4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직사각형 117"/>
          <p:cNvSpPr/>
          <p:nvPr/>
        </p:nvSpPr>
        <p:spPr>
          <a:xfrm>
            <a:off x="5020109" y="6234141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36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9" name="직사각형 118"/>
          <p:cNvSpPr/>
          <p:nvPr/>
        </p:nvSpPr>
        <p:spPr>
          <a:xfrm>
            <a:off x="1549240" y="5237381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29①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3182621" y="5661258"/>
            <a:ext cx="767464" cy="2524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  <a:latin typeface="+mn-ea"/>
              </a:rPr>
              <a:t>法 </a:t>
            </a:r>
            <a:r>
              <a:rPr lang="en-US" altLang="ko-KR" sz="1050" dirty="0">
                <a:solidFill>
                  <a:schemeClr val="tx1"/>
                </a:solidFill>
                <a:latin typeface="+mn-ea"/>
              </a:rPr>
              <a:t>42⑧</a:t>
            </a:r>
            <a:endParaRPr lang="ko-KR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4824009" y="6212630"/>
            <a:ext cx="392200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❹</a:t>
            </a:r>
          </a:p>
        </p:txBody>
      </p:sp>
      <p:sp>
        <p:nvSpPr>
          <p:cNvPr id="122" name="직사각형 121"/>
          <p:cNvSpPr/>
          <p:nvPr/>
        </p:nvSpPr>
        <p:spPr>
          <a:xfrm>
            <a:off x="1335024" y="5180036"/>
            <a:ext cx="415969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❶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2987552" y="4998384"/>
            <a:ext cx="364983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❷</a:t>
            </a:r>
          </a:p>
        </p:txBody>
      </p:sp>
      <p:sp>
        <p:nvSpPr>
          <p:cNvPr id="124" name="직사각형 123"/>
          <p:cNvSpPr/>
          <p:nvPr/>
        </p:nvSpPr>
        <p:spPr>
          <a:xfrm>
            <a:off x="2987552" y="5186619"/>
            <a:ext cx="364983" cy="978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lnSpc>
                <a:spcPct val="160000"/>
              </a:lnSpc>
            </a:pPr>
            <a:endParaRPr lang="ko-KR" altLang="en-US" kern="0" dirty="0">
              <a:solidFill>
                <a:schemeClr val="accent2">
                  <a:lumMod val="50000"/>
                </a:schemeClr>
              </a:solidFill>
              <a:latin typeface="+mn-ea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chemeClr val="accent2">
                    <a:lumMod val="50000"/>
                  </a:schemeClr>
                </a:solidFill>
                <a:latin typeface="+mn-ea"/>
              </a:rPr>
              <a:t>❸</a:t>
            </a:r>
          </a:p>
        </p:txBody>
      </p:sp>
      <p:sp>
        <p:nvSpPr>
          <p:cNvPr id="126" name="직사각형 125"/>
          <p:cNvSpPr/>
          <p:nvPr/>
        </p:nvSpPr>
        <p:spPr>
          <a:xfrm>
            <a:off x="6567802" y="3514300"/>
            <a:ext cx="807218" cy="511956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>
                <a:solidFill>
                  <a:schemeClr val="bg1"/>
                </a:solidFill>
              </a:rPr>
              <a:t>특허결정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>
                <a:solidFill>
                  <a:schemeClr val="bg1"/>
                </a:solidFill>
              </a:rPr>
              <a:t>착오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8189741" y="3514300"/>
            <a:ext cx="868534" cy="511956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특허결정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취소</a:t>
            </a:r>
          </a:p>
        </p:txBody>
      </p:sp>
      <p:sp>
        <p:nvSpPr>
          <p:cNvPr id="144" name="직사각형 143"/>
          <p:cNvSpPr/>
          <p:nvPr/>
        </p:nvSpPr>
        <p:spPr>
          <a:xfrm>
            <a:off x="7389073" y="4313544"/>
            <a:ext cx="746998" cy="435787"/>
          </a:xfrm>
          <a:prstGeom prst="rect">
            <a:avLst/>
          </a:pr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정보제공</a:t>
            </a:r>
          </a:p>
        </p:txBody>
      </p:sp>
      <p:cxnSp>
        <p:nvCxnSpPr>
          <p:cNvPr id="145" name="직선 화살표 연결선 144"/>
          <p:cNvCxnSpPr>
            <a:stCxn id="144" idx="0"/>
          </p:cNvCxnSpPr>
          <p:nvPr/>
        </p:nvCxnSpPr>
        <p:spPr>
          <a:xfrm flipH="1" flipV="1">
            <a:off x="7760807" y="3790413"/>
            <a:ext cx="1765" cy="523131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직사각형 147"/>
          <p:cNvSpPr/>
          <p:nvPr/>
        </p:nvSpPr>
        <p:spPr>
          <a:xfrm>
            <a:off x="5726758" y="3193208"/>
            <a:ext cx="646040" cy="2524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</a:t>
            </a:r>
            <a:r>
              <a:rPr lang="en-US" altLang="ko-KR" sz="1200" dirty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/>
          <p:cNvCxnSpPr>
            <a:stCxn id="148" idx="2"/>
          </p:cNvCxnSpPr>
          <p:nvPr/>
        </p:nvCxnSpPr>
        <p:spPr>
          <a:xfrm>
            <a:off x="6049778" y="3445621"/>
            <a:ext cx="7428" cy="31165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직사각형 159"/>
          <p:cNvSpPr/>
          <p:nvPr/>
        </p:nvSpPr>
        <p:spPr>
          <a:xfrm>
            <a:off x="8980215" y="4172476"/>
            <a:ext cx="1000384" cy="2524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직권 재심사</a:t>
            </a:r>
            <a:r>
              <a:rPr lang="en-US" altLang="ko-KR" sz="1200" dirty="0">
                <a:solidFill>
                  <a:schemeClr val="bg1"/>
                </a:solidFill>
              </a:rPr>
              <a:t>4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cxnSp>
        <p:nvCxnSpPr>
          <p:cNvPr id="164" name="직선 화살표 연결선 163"/>
          <p:cNvCxnSpPr>
            <a:stCxn id="160" idx="0"/>
          </p:cNvCxnSpPr>
          <p:nvPr/>
        </p:nvCxnSpPr>
        <p:spPr>
          <a:xfrm flipV="1">
            <a:off x="9488953" y="3770277"/>
            <a:ext cx="0" cy="402199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직사각형 164"/>
          <p:cNvSpPr/>
          <p:nvPr/>
        </p:nvSpPr>
        <p:spPr>
          <a:xfrm>
            <a:off x="8953678" y="5691789"/>
            <a:ext cx="2183611" cy="95410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none">
            <a:spAutoFit/>
          </a:bodyPr>
          <a:lstStyle/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❶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최초거절이유통지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 </a:t>
            </a:r>
          </a:p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❷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최초거절이유통지</a:t>
            </a:r>
            <a:endParaRPr lang="en-US" altLang="ko-KR" sz="1400" kern="0" dirty="0">
              <a:solidFill>
                <a:srgbClr val="FF0000"/>
              </a:solidFill>
              <a:latin typeface="+mn-ea"/>
            </a:endParaRPr>
          </a:p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❸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최초거절이유통지</a:t>
            </a:r>
            <a:endParaRPr lang="en-US" altLang="ko-KR" sz="1400" kern="0" dirty="0">
              <a:solidFill>
                <a:srgbClr val="FF0000"/>
              </a:solidFill>
              <a:latin typeface="+mn-ea"/>
            </a:endParaRPr>
          </a:p>
          <a:p>
            <a:pPr fontAlgn="base"/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❹ 발견</a:t>
            </a:r>
            <a:r>
              <a:rPr lang="en-US" altLang="ko-KR" sz="1400" kern="0" dirty="0">
                <a:solidFill>
                  <a:srgbClr val="FF0000"/>
                </a:solidFill>
                <a:latin typeface="+mn-ea"/>
              </a:rPr>
              <a:t>: </a:t>
            </a:r>
            <a:r>
              <a:rPr lang="ko-KR" altLang="en-US" sz="1400" kern="0" dirty="0">
                <a:solidFill>
                  <a:srgbClr val="FF0000"/>
                </a:solidFill>
                <a:latin typeface="+mn-ea"/>
              </a:rPr>
              <a:t>최초거절이유통지</a:t>
            </a:r>
            <a:endParaRPr lang="en-US" altLang="ko-KR" sz="1400" kern="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983365" y="4782968"/>
            <a:ext cx="2390209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100" dirty="0"/>
              <a:t>1. </a:t>
            </a:r>
            <a:r>
              <a:rPr lang="ko-KR" altLang="en-US" sz="1100" dirty="0"/>
              <a:t>원거절이유의 </a:t>
            </a:r>
            <a:r>
              <a:rPr lang="ko-KR" altLang="en-US" sz="1100" dirty="0" err="1"/>
              <a:t>해소여부</a:t>
            </a:r>
            <a:endParaRPr lang="ko-KR" alt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8983365" y="5069979"/>
            <a:ext cx="2390207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2. </a:t>
            </a:r>
            <a:r>
              <a:rPr lang="ko-KR" altLang="en-US" sz="1100" dirty="0"/>
              <a:t>새로운 </a:t>
            </a:r>
            <a:r>
              <a:rPr lang="ko-KR" altLang="en-US" sz="1100" dirty="0" err="1"/>
              <a:t>거절이유의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발견여부</a:t>
            </a:r>
            <a:endParaRPr lang="ko-KR" altLang="en-US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8983366" y="5368305"/>
            <a:ext cx="2397889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3. </a:t>
            </a:r>
            <a:r>
              <a:rPr lang="ko-KR" altLang="en-US" sz="1100" dirty="0"/>
              <a:t>새로운 거절이유의 발생시점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83365" y="4487721"/>
            <a:ext cx="2390209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100" dirty="0"/>
              <a:t>0. </a:t>
            </a:r>
            <a:r>
              <a:rPr lang="ko-KR" altLang="en-US" sz="1100" dirty="0"/>
              <a:t>보정의 적법성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875" y="986046"/>
            <a:ext cx="119363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심사관은 특허결정을 취소한 경우에는 다시 심사를 진행한다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심사관은 직권 재심사에 이르게 된 명백한 거절이유에 대해서는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특허출원인에게</a:t>
            </a:r>
            <a:r>
              <a:rPr lang="ko-KR" altLang="en-US" sz="1400" dirty="0">
                <a:solidFill>
                  <a:schemeClr val="tx2"/>
                </a:solidFill>
              </a:rPr>
              <a:t> 최초거절이유를 통지하여 기간을 정하여 의견서를 제출할 수 있는 기회를 주어야 한다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47①Ⅱ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괄호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)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즉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심사관이 특허결정을 취소한 경우에는 다시 최초거절이유통지를 하여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 err="1">
                <a:solidFill>
                  <a:schemeClr val="tx2"/>
                </a:solidFill>
              </a:rPr>
              <a:t>출원인에게</a:t>
            </a:r>
            <a:r>
              <a:rPr lang="ko-KR" altLang="en-US" sz="1400" dirty="0">
                <a:solidFill>
                  <a:schemeClr val="tx2"/>
                </a:solidFill>
              </a:rPr>
              <a:t> 청구범위를 확장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변경할 수 있는 보정기회를 주고 있다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47②). </a:t>
            </a:r>
            <a:r>
              <a:rPr lang="ko-KR" altLang="en-US" sz="1400" dirty="0">
                <a:solidFill>
                  <a:schemeClr val="tx2"/>
                </a:solidFill>
              </a:rPr>
              <a:t>심사관은 취소된 특허결정 전에 이미 통지한 거절이유로 특허거절결정을 하려는 경우에도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특허출원인에게</a:t>
            </a:r>
            <a:r>
              <a:rPr lang="ko-KR" altLang="en-US" sz="1400" dirty="0">
                <a:solidFill>
                  <a:schemeClr val="tx2"/>
                </a:solidFill>
              </a:rPr>
              <a:t> 최초거절이유를 통지하고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기간을 정하여 의견서를 제출할 수 있는 기회를 주어야 한다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63①Ⅱ)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이는 심사관이 특허출원에 관하여 명백한 거절이유가 있음에도 불구하고 특허결정을 한 후 이를 취소하여 다시 심사를 진행할 때 취소된 특허결정 전에 이미 통지한 거절이유를 이유로 곧바로 </a:t>
            </a:r>
            <a:r>
              <a:rPr lang="ko-KR" altLang="en-US" sz="1400" dirty="0" err="1">
                <a:solidFill>
                  <a:schemeClr val="tx2"/>
                </a:solidFill>
              </a:rPr>
              <a:t>거절결정하는</a:t>
            </a:r>
            <a:r>
              <a:rPr lang="ko-KR" altLang="en-US" sz="1400" dirty="0">
                <a:solidFill>
                  <a:schemeClr val="tx2"/>
                </a:solidFill>
              </a:rPr>
              <a:t> 것은 </a:t>
            </a:r>
            <a:r>
              <a:rPr lang="ko-KR" altLang="en-US" sz="1400" dirty="0" err="1">
                <a:solidFill>
                  <a:schemeClr val="tx2"/>
                </a:solidFill>
              </a:rPr>
              <a:t>출원인에게</a:t>
            </a:r>
            <a:r>
              <a:rPr lang="ko-KR" altLang="en-US" sz="1400" dirty="0">
                <a:solidFill>
                  <a:schemeClr val="tx2"/>
                </a:solidFill>
              </a:rPr>
              <a:t> 가혹하기 때문이다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심사관은 취소된 특허결정 전 최후거절이유통지에 따른 의견서 제출기간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47①Ⅱ) </a:t>
            </a:r>
            <a:r>
              <a:rPr lang="ko-KR" altLang="en-US" sz="1400" dirty="0">
                <a:solidFill>
                  <a:schemeClr val="tx2"/>
                </a:solidFill>
              </a:rPr>
              <a:t>또는 재심사를 청구할 때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47①Ⅲ) </a:t>
            </a:r>
            <a:r>
              <a:rPr lang="ko-KR" altLang="en-US" sz="1400" dirty="0">
                <a:solidFill>
                  <a:schemeClr val="tx2"/>
                </a:solidFill>
              </a:rPr>
              <a:t>한 보정이 신규사항추가금지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47②) </a:t>
            </a:r>
            <a:r>
              <a:rPr lang="ko-KR" altLang="en-US" sz="1400" dirty="0">
                <a:solidFill>
                  <a:schemeClr val="tx2"/>
                </a:solidFill>
              </a:rPr>
              <a:t>또는 청구범위 보정범위제한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</a:rPr>
              <a:t>47③)</a:t>
            </a:r>
            <a:r>
              <a:rPr lang="ko-KR" altLang="en-US" sz="1400" dirty="0">
                <a:solidFill>
                  <a:schemeClr val="tx2"/>
                </a:solidFill>
              </a:rPr>
              <a:t>을 위반하거나 그 보정에 따라 새로운 거절이유가 발생했음에도 불구하고 </a:t>
            </a:r>
            <a:r>
              <a:rPr lang="ko-KR" altLang="en-US" sz="1400" dirty="0" err="1">
                <a:solidFill>
                  <a:schemeClr val="tx2"/>
                </a:solidFill>
              </a:rPr>
              <a:t>보정각하결정을</a:t>
            </a:r>
            <a:r>
              <a:rPr lang="ko-KR" altLang="en-US" sz="1400" dirty="0">
                <a:solidFill>
                  <a:schemeClr val="tx2"/>
                </a:solidFill>
              </a:rPr>
              <a:t> 하지 아니하고 </a:t>
            </a:r>
            <a:r>
              <a:rPr lang="ko-KR" altLang="en-US" sz="1400" dirty="0" err="1">
                <a:solidFill>
                  <a:schemeClr val="tx2"/>
                </a:solidFill>
              </a:rPr>
              <a:t>특허결정한</a:t>
            </a:r>
            <a:r>
              <a:rPr lang="ko-KR" altLang="en-US" sz="1400" dirty="0">
                <a:solidFill>
                  <a:schemeClr val="tx2"/>
                </a:solidFill>
              </a:rPr>
              <a:t> 것을 특허결정을 취소한 후에 직권 재심사단계에서 발견한 경우에는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 err="1">
                <a:solidFill>
                  <a:schemeClr val="tx2"/>
                </a:solidFill>
              </a:rPr>
              <a:t>보정각하를</a:t>
            </a:r>
            <a:r>
              <a:rPr lang="ko-KR" altLang="en-US" sz="1400" dirty="0">
                <a:solidFill>
                  <a:schemeClr val="tx2"/>
                </a:solidFill>
              </a:rPr>
              <a:t> 하지 아니하고 최초거절이유통지를 한다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51①Ⅱ</a:t>
            </a:r>
            <a:r>
              <a:rPr lang="en-US" altLang="ko-KR" sz="1400" dirty="0">
                <a:solidFill>
                  <a:schemeClr val="tx2"/>
                </a:solidFill>
              </a:rPr>
              <a:t>, 47①Ⅱ). </a:t>
            </a:r>
            <a:r>
              <a:rPr lang="ko-KR" altLang="en-US" sz="1400" dirty="0">
                <a:solidFill>
                  <a:schemeClr val="tx2"/>
                </a:solidFill>
              </a:rPr>
              <a:t>이는 보정이 인정됨을 전제로 특허결정을 받았다는 것을 신뢰한 출원인의 이익을 보호하기 위함이다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  <a:endParaRPr lang="ko-KR" altLang="en-US" sz="1400" dirty="0">
              <a:solidFill>
                <a:schemeClr val="tx2"/>
              </a:solidFill>
            </a:endParaRPr>
          </a:p>
        </p:txBody>
      </p:sp>
      <p:cxnSp>
        <p:nvCxnSpPr>
          <p:cNvPr id="53" name="직선 연결선 52"/>
          <p:cNvCxnSpPr/>
          <p:nvPr/>
        </p:nvCxnSpPr>
        <p:spPr>
          <a:xfrm>
            <a:off x="0" y="3009726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39237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양쪽 모서리가 둥근 사각형 26">
            <a:extLst>
              <a:ext uri="{FF2B5EF4-FFF2-40B4-BE49-F238E27FC236}">
                <a16:creationId xmlns:a16="http://schemas.microsoft.com/office/drawing/2014/main" id="{63290DFE-D068-4C05-A586-5A09C83427D8}"/>
              </a:ext>
            </a:extLst>
          </p:cNvPr>
          <p:cNvSpPr/>
          <p:nvPr/>
        </p:nvSpPr>
        <p:spPr>
          <a:xfrm flipV="1">
            <a:off x="9816670" y="4032325"/>
            <a:ext cx="1771332" cy="365993"/>
          </a:xfrm>
          <a:prstGeom prst="round2SameRect">
            <a:avLst>
              <a:gd name="adj1" fmla="val 16667"/>
              <a:gd name="adj2" fmla="val 50000"/>
            </a:avLst>
          </a:prstGeom>
          <a:pattFill prst="dkVert">
            <a:fgClr>
              <a:schemeClr val="accent4"/>
            </a:fgClr>
            <a:bgClr>
              <a:schemeClr val="bg1"/>
            </a:bgClr>
          </a:patt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A1D316B-5EB4-43EA-BD6D-434CF1F42D86}"/>
              </a:ext>
            </a:extLst>
          </p:cNvPr>
          <p:cNvSpPr txBox="1"/>
          <p:nvPr/>
        </p:nvSpPr>
        <p:spPr>
          <a:xfrm>
            <a:off x="10443121" y="3740247"/>
            <a:ext cx="14430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3</a:t>
            </a:r>
            <a:r>
              <a:rPr lang="ko-KR" altLang="en-US" sz="1100" dirty="0"/>
              <a:t>월</a:t>
            </a:r>
          </a:p>
        </p:txBody>
      </p:sp>
      <p:sp>
        <p:nvSpPr>
          <p:cNvPr id="85" name="양쪽 모서리가 둥근 사각형 26">
            <a:extLst>
              <a:ext uri="{FF2B5EF4-FFF2-40B4-BE49-F238E27FC236}">
                <a16:creationId xmlns:a16="http://schemas.microsoft.com/office/drawing/2014/main" id="{C2694D89-9A31-40EE-951B-BD4522477ACB}"/>
              </a:ext>
            </a:extLst>
          </p:cNvPr>
          <p:cNvSpPr/>
          <p:nvPr/>
        </p:nvSpPr>
        <p:spPr>
          <a:xfrm flipV="1">
            <a:off x="5718167" y="4041561"/>
            <a:ext cx="1567171" cy="365993"/>
          </a:xfrm>
          <a:prstGeom prst="round2SameRect">
            <a:avLst>
              <a:gd name="adj1" fmla="val 16667"/>
              <a:gd name="adj2" fmla="val 50000"/>
            </a:avLst>
          </a:prstGeom>
          <a:pattFill prst="dkVert">
            <a:fgClr>
              <a:schemeClr val="accent4"/>
            </a:fgClr>
            <a:bgClr>
              <a:schemeClr val="bg1"/>
            </a:bgClr>
          </a:pattFill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EA3FBDC-D592-4DFD-98CA-D1F8869B1FC6}"/>
              </a:ext>
            </a:extLst>
          </p:cNvPr>
          <p:cNvSpPr txBox="1"/>
          <p:nvPr/>
        </p:nvSpPr>
        <p:spPr>
          <a:xfrm>
            <a:off x="5888461" y="3761480"/>
            <a:ext cx="14430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3</a:t>
            </a:r>
            <a:r>
              <a:rPr lang="ko-KR" altLang="en-US" sz="1100" dirty="0"/>
              <a:t>월</a:t>
            </a:r>
          </a:p>
        </p:txBody>
      </p:sp>
      <p:sp>
        <p:nvSpPr>
          <p:cNvPr id="65" name="양쪽 모서리가 둥근 사각형 26">
            <a:extLst>
              <a:ext uri="{FF2B5EF4-FFF2-40B4-BE49-F238E27FC236}">
                <a16:creationId xmlns:a16="http://schemas.microsoft.com/office/drawing/2014/main" id="{A0984D59-2FF9-477B-A33D-C21FDA143422}"/>
              </a:ext>
            </a:extLst>
          </p:cNvPr>
          <p:cNvSpPr/>
          <p:nvPr/>
        </p:nvSpPr>
        <p:spPr>
          <a:xfrm flipV="1">
            <a:off x="2606686" y="4023089"/>
            <a:ext cx="1706695" cy="365993"/>
          </a:xfrm>
          <a:prstGeom prst="round2SameRect">
            <a:avLst>
              <a:gd name="adj1" fmla="val 16667"/>
              <a:gd name="adj2" fmla="val 50000"/>
            </a:avLst>
          </a:prstGeom>
          <a:pattFill prst="dkVert">
            <a:fgClr>
              <a:schemeClr val="accent4"/>
            </a:fgClr>
            <a:bgClr>
              <a:schemeClr val="bg1"/>
            </a:bgClr>
          </a:patt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67</a:t>
            </a:r>
            <a:r>
              <a:rPr lang="ko-KR" altLang="en-US" dirty="0"/>
              <a:t>조의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재심사의 청구</a:t>
            </a:r>
            <a:r>
              <a:rPr lang="en-US" altLang="ko-KR" dirty="0"/>
              <a:t>(</a:t>
            </a:r>
            <a:r>
              <a:rPr lang="ko-KR" altLang="en-US" dirty="0"/>
              <a:t>제</a:t>
            </a:r>
            <a:r>
              <a:rPr lang="en-US" altLang="ko-KR" dirty="0"/>
              <a:t>67</a:t>
            </a:r>
            <a:r>
              <a:rPr lang="ko-KR" altLang="en-US" dirty="0"/>
              <a:t>조의</a:t>
            </a:r>
            <a:r>
              <a:rPr lang="en-US" altLang="ko-KR" dirty="0"/>
              <a:t>2)</a:t>
            </a:r>
            <a:r>
              <a:rPr lang="ko-KR" altLang="en-US" dirty="0"/>
              <a:t>의 개념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875" y="986046"/>
            <a:ext cx="119363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제</a:t>
            </a:r>
            <a:r>
              <a:rPr lang="en-US" altLang="ko-KR" sz="1400" b="1" dirty="0">
                <a:solidFill>
                  <a:schemeClr val="accent1"/>
                </a:solidFill>
              </a:rPr>
              <a:t>67</a:t>
            </a:r>
            <a:r>
              <a:rPr lang="ko-KR" altLang="en-US" sz="1400" b="1" dirty="0">
                <a:solidFill>
                  <a:schemeClr val="accent1"/>
                </a:solidFill>
              </a:rPr>
              <a:t>조의</a:t>
            </a:r>
            <a:r>
              <a:rPr lang="en-US" altLang="ko-KR" sz="1400" b="1" dirty="0">
                <a:solidFill>
                  <a:schemeClr val="accent1"/>
                </a:solidFill>
              </a:rPr>
              <a:t>2(</a:t>
            </a:r>
            <a:r>
              <a:rPr lang="ko-KR" altLang="en-US" sz="1400" b="1" dirty="0">
                <a:solidFill>
                  <a:schemeClr val="accent1"/>
                </a:solidFill>
              </a:rPr>
              <a:t>재심사의 청구</a:t>
            </a:r>
            <a:r>
              <a:rPr lang="en-US" altLang="ko-KR" sz="1400" b="1" dirty="0">
                <a:solidFill>
                  <a:schemeClr val="accent1"/>
                </a:solidFill>
              </a:rPr>
              <a:t>) </a:t>
            </a:r>
            <a:r>
              <a:rPr lang="ko-KR" altLang="en-US" sz="1400" dirty="0">
                <a:solidFill>
                  <a:schemeClr val="tx2"/>
                </a:solidFill>
              </a:rPr>
              <a:t>①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특허출원인은</a:t>
            </a:r>
            <a:r>
              <a:rPr lang="ko-KR" altLang="en-US" sz="1400" dirty="0">
                <a:solidFill>
                  <a:schemeClr val="tx2"/>
                </a:solidFill>
              </a:rPr>
              <a:t> 그 특허출원에 관하여 </a:t>
            </a:r>
            <a:r>
              <a:rPr lang="ko-KR" altLang="en-US" sz="1400" dirty="0">
                <a:solidFill>
                  <a:srgbClr val="FF0000"/>
                </a:solidFill>
              </a:rPr>
              <a:t>특허결정의 등본을 </a:t>
            </a:r>
            <a:r>
              <a:rPr lang="ko-KR" altLang="en-US" sz="1400" dirty="0" err="1">
                <a:solidFill>
                  <a:srgbClr val="FF0000"/>
                </a:solidFill>
              </a:rPr>
              <a:t>송달받은</a:t>
            </a:r>
            <a:r>
              <a:rPr lang="ko-KR" altLang="en-US" sz="1400" dirty="0">
                <a:solidFill>
                  <a:srgbClr val="FF0000"/>
                </a:solidFill>
              </a:rPr>
              <a:t> 날부터 제</a:t>
            </a:r>
            <a:r>
              <a:rPr lang="en-US" altLang="ko-KR" sz="1400" dirty="0">
                <a:solidFill>
                  <a:srgbClr val="FF0000"/>
                </a:solidFill>
              </a:rPr>
              <a:t>79</a:t>
            </a:r>
            <a:r>
              <a:rPr lang="ko-KR" altLang="en-US" sz="1400" dirty="0">
                <a:solidFill>
                  <a:srgbClr val="FF0000"/>
                </a:solidFill>
              </a:rPr>
              <a:t>조에 따른 설정등록을 받기 전까지의 기간</a:t>
            </a:r>
            <a:r>
              <a:rPr lang="ko-KR" altLang="en-US" sz="1400" dirty="0">
                <a:solidFill>
                  <a:schemeClr val="tx2"/>
                </a:solidFill>
              </a:rPr>
              <a:t> 또는 </a:t>
            </a:r>
            <a:r>
              <a:rPr lang="ko-KR" altLang="en-US" sz="1400" dirty="0" err="1">
                <a:solidFill>
                  <a:schemeClr val="tx2"/>
                </a:solidFill>
              </a:rPr>
              <a:t>특허거절결정등본을</a:t>
            </a:r>
            <a:r>
              <a:rPr lang="ko-KR" altLang="en-US" sz="1400" dirty="0">
                <a:solidFill>
                  <a:schemeClr val="tx2"/>
                </a:solidFill>
              </a:rPr>
              <a:t> </a:t>
            </a:r>
            <a:r>
              <a:rPr lang="ko-KR" altLang="en-US" sz="1400" dirty="0" err="1">
                <a:solidFill>
                  <a:schemeClr val="tx2"/>
                </a:solidFill>
              </a:rPr>
              <a:t>송달받은</a:t>
            </a:r>
            <a:r>
              <a:rPr lang="ko-KR" altLang="en-US" sz="1400" dirty="0">
                <a:solidFill>
                  <a:schemeClr val="tx2"/>
                </a:solidFill>
              </a:rPr>
              <a:t> 날부터 </a:t>
            </a:r>
            <a:r>
              <a:rPr lang="en-US" altLang="ko-KR" sz="1400" dirty="0">
                <a:solidFill>
                  <a:schemeClr val="tx2"/>
                </a:solidFill>
              </a:rPr>
              <a:t>3</a:t>
            </a:r>
            <a:r>
              <a:rPr lang="ko-KR" altLang="en-US" sz="1400" dirty="0">
                <a:solidFill>
                  <a:schemeClr val="tx2"/>
                </a:solidFill>
              </a:rPr>
              <a:t>개월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15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제</a:t>
            </a:r>
            <a:r>
              <a:rPr lang="en-US" altLang="ko-KR" sz="1400" dirty="0">
                <a:solidFill>
                  <a:schemeClr val="tx2"/>
                </a:solidFill>
              </a:rPr>
              <a:t>132</a:t>
            </a:r>
            <a:r>
              <a:rPr lang="ko-KR" altLang="en-US" sz="1400" dirty="0">
                <a:solidFill>
                  <a:schemeClr val="tx2"/>
                </a:solidFill>
              </a:rPr>
              <a:t>조의</a:t>
            </a:r>
            <a:r>
              <a:rPr lang="en-US" altLang="ko-KR" sz="1400" dirty="0">
                <a:solidFill>
                  <a:schemeClr val="tx2"/>
                </a:solidFill>
              </a:rPr>
              <a:t>17</a:t>
            </a:r>
            <a:r>
              <a:rPr lang="ko-KR" altLang="en-US" sz="1400" dirty="0">
                <a:solidFill>
                  <a:schemeClr val="tx2"/>
                </a:solidFill>
              </a:rPr>
              <a:t>에 따른 기간이 연장된 경우 그 연장된 기간을 말한다</a:t>
            </a:r>
            <a:r>
              <a:rPr lang="en-US" altLang="ko-KR" sz="1400" dirty="0">
                <a:solidFill>
                  <a:schemeClr val="tx2"/>
                </a:solidFill>
              </a:rPr>
              <a:t>) </a:t>
            </a:r>
            <a:r>
              <a:rPr lang="ko-KR" altLang="en-US" sz="1400" dirty="0">
                <a:solidFill>
                  <a:schemeClr val="tx2"/>
                </a:solidFill>
              </a:rPr>
              <a:t>이내에 그 특허출원의 명세서 또는 도면을 보정하여 해당 특허출원에 관한 재심사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이하 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재심사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라 한다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를 청구할 수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다만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다음 각 호의 어느 하나에 해당하는 경우에는 그러하지 아니하다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  1. </a:t>
            </a:r>
            <a:r>
              <a:rPr lang="ko-KR" altLang="en-US" sz="1400" dirty="0">
                <a:solidFill>
                  <a:schemeClr val="tx2"/>
                </a:solidFill>
              </a:rPr>
              <a:t>재심사를 청구할 때에 이미 재심사에 따른 특허여부의 결정이 있는 경우</a:t>
            </a:r>
          </a:p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  </a:t>
            </a:r>
            <a:r>
              <a:rPr lang="en-US" altLang="ko-KR" sz="1400" dirty="0">
                <a:solidFill>
                  <a:schemeClr val="tx2"/>
                </a:solidFill>
              </a:rPr>
              <a:t>2.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132</a:t>
            </a:r>
            <a:r>
              <a:rPr lang="ko-KR" altLang="en-US" sz="1400" dirty="0">
                <a:solidFill>
                  <a:schemeClr val="tx2"/>
                </a:solidFill>
              </a:rPr>
              <a:t>조의</a:t>
            </a:r>
            <a:r>
              <a:rPr lang="en-US" altLang="ko-KR" sz="1400" dirty="0">
                <a:solidFill>
                  <a:schemeClr val="tx2"/>
                </a:solidFill>
              </a:rPr>
              <a:t>17</a:t>
            </a:r>
            <a:r>
              <a:rPr lang="ko-KR" altLang="en-US" sz="1400" dirty="0">
                <a:solidFill>
                  <a:schemeClr val="tx2"/>
                </a:solidFill>
              </a:rPr>
              <a:t>에 따른 심판청구가 있는 경우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176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</a:t>
            </a:r>
            <a:r>
              <a:rPr lang="ko-KR" altLang="en-US" sz="1400" dirty="0" err="1">
                <a:solidFill>
                  <a:schemeClr val="tx2"/>
                </a:solidFill>
              </a:rPr>
              <a:t>특허거절결정이</a:t>
            </a:r>
            <a:r>
              <a:rPr lang="ko-KR" altLang="en-US" sz="1400" dirty="0">
                <a:solidFill>
                  <a:schemeClr val="tx2"/>
                </a:solidFill>
              </a:rPr>
              <a:t> 취소된 경우는 제외한다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  3. </a:t>
            </a:r>
            <a:r>
              <a:rPr lang="ko-KR" altLang="en-US" sz="1400" dirty="0">
                <a:solidFill>
                  <a:schemeClr val="tx2"/>
                </a:solidFill>
              </a:rPr>
              <a:t>그 특허출원이 </a:t>
            </a:r>
            <a:r>
              <a:rPr lang="ko-KR" altLang="en-US" sz="1400" dirty="0" err="1">
                <a:solidFill>
                  <a:schemeClr val="tx2"/>
                </a:solidFill>
              </a:rPr>
              <a:t>분리출원인</a:t>
            </a:r>
            <a:r>
              <a:rPr lang="ko-KR" altLang="en-US" sz="1400" dirty="0">
                <a:solidFill>
                  <a:schemeClr val="tx2"/>
                </a:solidFill>
              </a:rPr>
              <a:t> 경우</a:t>
            </a:r>
          </a:p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②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특허출원인은</a:t>
            </a:r>
            <a:r>
              <a:rPr lang="ko-KR" altLang="en-US" sz="1400" dirty="0">
                <a:solidFill>
                  <a:schemeClr val="tx2"/>
                </a:solidFill>
              </a:rPr>
              <a:t> 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따른 재심사의 청구와 함께 의견서를 제출할 수 있다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③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재심사가 청구된 경우 그 특허출원에 대하여 종전에 이루어진 특허결정 또는 </a:t>
            </a:r>
            <a:r>
              <a:rPr lang="ko-KR" altLang="en-US" sz="1400" dirty="0" err="1">
                <a:solidFill>
                  <a:schemeClr val="tx2"/>
                </a:solidFill>
              </a:rPr>
              <a:t>특허거절결정은</a:t>
            </a:r>
            <a:r>
              <a:rPr lang="ko-KR" altLang="en-US" sz="1400" dirty="0">
                <a:solidFill>
                  <a:schemeClr val="tx2"/>
                </a:solidFill>
              </a:rPr>
              <a:t> 취소된 것으로 본다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다만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재심사의 청구절차가 제</a:t>
            </a:r>
            <a:r>
              <a:rPr lang="en-US" altLang="ko-KR" sz="1400" dirty="0">
                <a:solidFill>
                  <a:schemeClr val="tx2"/>
                </a:solidFill>
              </a:rPr>
              <a:t>16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무효로 된 경우에는 그러하지 아니하다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④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따른 재심사의 청구는 취하할 수 없다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cxnSp>
        <p:nvCxnSpPr>
          <p:cNvPr id="95" name="직선 연결선 94"/>
          <p:cNvCxnSpPr/>
          <p:nvPr/>
        </p:nvCxnSpPr>
        <p:spPr>
          <a:xfrm>
            <a:off x="0" y="3225311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272</a:t>
            </a:r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15A376A-4FC5-42F8-B337-6E4D1E7DC6C3}"/>
              </a:ext>
            </a:extLst>
          </p:cNvPr>
          <p:cNvCxnSpPr>
            <a:cxnSpLocks/>
          </p:cNvCxnSpPr>
          <p:nvPr/>
        </p:nvCxnSpPr>
        <p:spPr>
          <a:xfrm>
            <a:off x="79211" y="4396586"/>
            <a:ext cx="11934987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14">
            <a:extLst>
              <a:ext uri="{FF2B5EF4-FFF2-40B4-BE49-F238E27FC236}">
                <a16:creationId xmlns:a16="http://schemas.microsoft.com/office/drawing/2014/main" id="{7BBC2DC0-DA98-46D4-98A3-A056DD224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1542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일반심사에 </a:t>
            </a:r>
            <a:endParaRPr lang="en-US" altLang="ko-KR" sz="1100" dirty="0">
              <a:latin typeface="+mn-ea"/>
            </a:endParaRPr>
          </a:p>
          <a:p>
            <a:pPr algn="ctr"/>
            <a:r>
              <a:rPr lang="ko-KR" altLang="en-US" sz="1100" dirty="0">
                <a:latin typeface="+mn-ea"/>
              </a:rPr>
              <a:t>따른 거절결정</a:t>
            </a:r>
            <a:endParaRPr lang="en-US" altLang="ko-KR" sz="110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등본송달</a:t>
            </a:r>
          </a:p>
        </p:txBody>
      </p:sp>
      <p:sp>
        <p:nvSpPr>
          <p:cNvPr id="43" name="Rectangle 14">
            <a:extLst>
              <a:ext uri="{FF2B5EF4-FFF2-40B4-BE49-F238E27FC236}">
                <a16:creationId xmlns:a16="http://schemas.microsoft.com/office/drawing/2014/main" id="{06DAAF62-EF27-433A-BA83-F73B22454B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688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>
                <a:latin typeface="+mn-ea"/>
              </a:rPr>
              <a:t>재심사청구</a:t>
            </a:r>
          </a:p>
        </p:txBody>
      </p:sp>
      <p:sp>
        <p:nvSpPr>
          <p:cNvPr id="44" name="Rectangle 14">
            <a:extLst>
              <a:ext uri="{FF2B5EF4-FFF2-40B4-BE49-F238E27FC236}">
                <a16:creationId xmlns:a16="http://schemas.microsoft.com/office/drawing/2014/main" id="{96D8BEF0-BD38-48B6-8B55-3585AD22FF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403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특허출원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45" name="Rectangle 14">
            <a:extLst>
              <a:ext uri="{FF2B5EF4-FFF2-40B4-BE49-F238E27FC236}">
                <a16:creationId xmlns:a16="http://schemas.microsoft.com/office/drawing/2014/main" id="{ECD43E6F-046F-4781-BFBA-4BF10C080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3023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>
                <a:latin typeface="+mn-ea"/>
              </a:rPr>
              <a:t>재심사에 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따른 거절결정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등본송달</a:t>
            </a:r>
          </a:p>
        </p:txBody>
      </p:sp>
      <p:sp>
        <p:nvSpPr>
          <p:cNvPr id="52" name="Rectangle 14">
            <a:extLst>
              <a:ext uri="{FF2B5EF4-FFF2-40B4-BE49-F238E27FC236}">
                <a16:creationId xmlns:a16="http://schemas.microsoft.com/office/drawing/2014/main" id="{F31BA700-1648-45DF-8695-E9D351473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820" y="3343076"/>
            <a:ext cx="1373092" cy="405370"/>
          </a:xfrm>
          <a:prstGeom prst="rect">
            <a:avLst/>
          </a:prstGeom>
          <a:noFill/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일반심사에 따른 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거절결정 취소</a:t>
            </a:r>
          </a:p>
        </p:txBody>
      </p:sp>
      <p:sp>
        <p:nvSpPr>
          <p:cNvPr id="64" name="Rectangle 14">
            <a:extLst>
              <a:ext uri="{FF2B5EF4-FFF2-40B4-BE49-F238E27FC236}">
                <a16:creationId xmlns:a16="http://schemas.microsoft.com/office/drawing/2014/main" id="{EADAE128-6EFC-4E43-B1E5-A645F9CFC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3915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 err="1">
                <a:latin typeface="+mn-ea"/>
              </a:rPr>
              <a:t>인용심결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96BB7B6-3391-420F-8D1E-677C680543DE}"/>
              </a:ext>
            </a:extLst>
          </p:cNvPr>
          <p:cNvSpPr txBox="1"/>
          <p:nvPr/>
        </p:nvSpPr>
        <p:spPr>
          <a:xfrm>
            <a:off x="2916504" y="3761480"/>
            <a:ext cx="14430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월</a:t>
            </a:r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6EDC884A-76FC-4D80-8BAD-BC7306631A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8476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>
                <a:latin typeface="+mn-ea"/>
              </a:rPr>
              <a:t>거절결정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불복심판청구</a:t>
            </a:r>
          </a:p>
        </p:txBody>
      </p:sp>
      <p:sp>
        <p:nvSpPr>
          <p:cNvPr id="71" name="Rectangle 14">
            <a:extLst>
              <a:ext uri="{FF2B5EF4-FFF2-40B4-BE49-F238E27FC236}">
                <a16:creationId xmlns:a16="http://schemas.microsoft.com/office/drawing/2014/main" id="{4631436B-D0B3-460C-B266-75426C3D3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087" y="3485585"/>
            <a:ext cx="1373092" cy="405370"/>
          </a:xfrm>
          <a:prstGeom prst="rect">
            <a:avLst/>
          </a:prstGeom>
          <a:noFill/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재심사에 따른 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거절결정 </a:t>
            </a:r>
            <a:r>
              <a:rPr lang="ko-KR" altLang="en-US" sz="1100" b="0" dirty="0" err="1">
                <a:latin typeface="+mn-ea"/>
              </a:rPr>
              <a:t>취소환송</a:t>
            </a:r>
            <a:endParaRPr lang="ko-KR" altLang="en-US" sz="1100" b="0" dirty="0">
              <a:latin typeface="+mn-ea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6D07366-3C05-45D7-B529-4A3C4ECD95A7}"/>
              </a:ext>
            </a:extLst>
          </p:cNvPr>
          <p:cNvCxnSpPr>
            <a:cxnSpLocks/>
            <a:stCxn id="71" idx="2"/>
            <a:endCxn id="64" idx="0"/>
          </p:cNvCxnSpPr>
          <p:nvPr/>
        </p:nvCxnSpPr>
        <p:spPr>
          <a:xfrm>
            <a:off x="8102633" y="3890955"/>
            <a:ext cx="3854" cy="259715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14">
            <a:extLst>
              <a:ext uri="{FF2B5EF4-FFF2-40B4-BE49-F238E27FC236}">
                <a16:creationId xmlns:a16="http://schemas.microsoft.com/office/drawing/2014/main" id="{AC8F878F-17BC-403B-9BBD-A444F2C0C2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31526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일반심사에 </a:t>
            </a:r>
            <a:endParaRPr lang="en-US" altLang="ko-KR" sz="1100" dirty="0">
              <a:latin typeface="+mn-ea"/>
            </a:endParaRPr>
          </a:p>
          <a:p>
            <a:pPr algn="ctr"/>
            <a:r>
              <a:rPr lang="ko-KR" altLang="en-US" sz="1100" dirty="0">
                <a:latin typeface="+mn-ea"/>
              </a:rPr>
              <a:t>따른 거절결정</a:t>
            </a:r>
            <a:endParaRPr lang="en-US" altLang="ko-KR" sz="110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등본송달</a:t>
            </a:r>
          </a:p>
        </p:txBody>
      </p:sp>
      <p:sp>
        <p:nvSpPr>
          <p:cNvPr id="75" name="Rectangle 14">
            <a:extLst>
              <a:ext uri="{FF2B5EF4-FFF2-40B4-BE49-F238E27FC236}">
                <a16:creationId xmlns:a16="http://schemas.microsoft.com/office/drawing/2014/main" id="{39D13E24-5A64-49D5-8B3C-3FA2DC08A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25796" y="415067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>
                <a:latin typeface="+mn-ea"/>
              </a:rPr>
              <a:t>재심사청구</a:t>
            </a:r>
          </a:p>
        </p:txBody>
      </p:sp>
      <p:sp>
        <p:nvSpPr>
          <p:cNvPr id="79" name="Rectangle 14">
            <a:extLst>
              <a:ext uri="{FF2B5EF4-FFF2-40B4-BE49-F238E27FC236}">
                <a16:creationId xmlns:a16="http://schemas.microsoft.com/office/drawing/2014/main" id="{6514EF26-8040-467B-88F1-548DCC1A7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688" y="481606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7150" algn="ctr">
            <a:solidFill>
              <a:schemeClr val="tx1">
                <a:lumMod val="95000"/>
                <a:lumOff val="5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>
                <a:latin typeface="+mn-ea"/>
              </a:rPr>
              <a:t>거절결정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불복심판청구</a:t>
            </a:r>
            <a:endParaRPr lang="en-US" altLang="ko-KR" sz="1100" b="0" dirty="0">
              <a:latin typeface="+mn-ea"/>
            </a:endParaRP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EA5E6157-FF86-498B-836C-32DEA9951BFB}"/>
              </a:ext>
            </a:extLst>
          </p:cNvPr>
          <p:cNvCxnSpPr>
            <a:cxnSpLocks/>
            <a:stCxn id="42" idx="3"/>
            <a:endCxn id="79" idx="1"/>
          </p:cNvCxnSpPr>
          <p:nvPr/>
        </p:nvCxnSpPr>
        <p:spPr>
          <a:xfrm>
            <a:off x="2606686" y="4396587"/>
            <a:ext cx="526002" cy="66539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14">
            <a:extLst>
              <a:ext uri="{FF2B5EF4-FFF2-40B4-BE49-F238E27FC236}">
                <a16:creationId xmlns:a16="http://schemas.microsoft.com/office/drawing/2014/main" id="{1410FBC9-54AB-4E5A-AB46-B0ACCB60BC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4165" y="3343076"/>
            <a:ext cx="1373092" cy="405370"/>
          </a:xfrm>
          <a:prstGeom prst="rect">
            <a:avLst/>
          </a:prstGeom>
          <a:noFill/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일반심사에 따른 </a:t>
            </a:r>
            <a:endParaRPr lang="en-US" altLang="ko-KR" sz="1100" b="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거절결정 취소</a:t>
            </a:r>
          </a:p>
        </p:txBody>
      </p:sp>
      <p:cxnSp>
        <p:nvCxnSpPr>
          <p:cNvPr id="83" name="연결선: 꺾임 82">
            <a:extLst>
              <a:ext uri="{FF2B5EF4-FFF2-40B4-BE49-F238E27FC236}">
                <a16:creationId xmlns:a16="http://schemas.microsoft.com/office/drawing/2014/main" id="{82383A0C-1481-423A-B8D8-3464F2B6638E}"/>
              </a:ext>
            </a:extLst>
          </p:cNvPr>
          <p:cNvCxnSpPr>
            <a:cxnSpLocks/>
            <a:stCxn id="52" idx="2"/>
            <a:endCxn id="43" idx="0"/>
          </p:cNvCxnSpPr>
          <p:nvPr/>
        </p:nvCxnSpPr>
        <p:spPr>
          <a:xfrm rot="5400000">
            <a:off x="4154201" y="3219505"/>
            <a:ext cx="402224" cy="1460106"/>
          </a:xfrm>
          <a:prstGeom prst="bentConnector3">
            <a:avLst>
              <a:gd name="adj1" fmla="val 27037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6E5D7804-7850-413A-9FD4-8441F18497B9}"/>
              </a:ext>
            </a:extLst>
          </p:cNvPr>
          <p:cNvCxnSpPr>
            <a:cxnSpLocks/>
            <a:stCxn id="84" idx="2"/>
            <a:endCxn id="75" idx="0"/>
          </p:cNvCxnSpPr>
          <p:nvPr/>
        </p:nvCxnSpPr>
        <p:spPr>
          <a:xfrm rot="16200000" flipH="1">
            <a:off x="10308427" y="3540729"/>
            <a:ext cx="402224" cy="817657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14">
            <a:extLst>
              <a:ext uri="{FF2B5EF4-FFF2-40B4-BE49-F238E27FC236}">
                <a16:creationId xmlns:a16="http://schemas.microsoft.com/office/drawing/2014/main" id="{67C3AB65-AE25-4705-8DF3-55EAB1DC72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1542" y="5701960"/>
            <a:ext cx="985144" cy="5544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일반심사에 </a:t>
            </a:r>
            <a:endParaRPr lang="en-US" altLang="ko-KR" sz="1100" dirty="0">
              <a:latin typeface="+mn-ea"/>
            </a:endParaRPr>
          </a:p>
          <a:p>
            <a:pPr algn="ctr"/>
            <a:r>
              <a:rPr lang="ko-KR" altLang="en-US" sz="1100" dirty="0">
                <a:latin typeface="+mn-ea"/>
              </a:rPr>
              <a:t>따른 특허결정</a:t>
            </a:r>
            <a:endParaRPr lang="en-US" altLang="ko-KR" sz="1100" dirty="0">
              <a:latin typeface="+mn-ea"/>
            </a:endParaRPr>
          </a:p>
          <a:p>
            <a:pPr algn="ctr"/>
            <a:r>
              <a:rPr lang="ko-KR" altLang="en-US" sz="1100" b="0" dirty="0">
                <a:latin typeface="+mn-ea"/>
              </a:rPr>
              <a:t>등본송달</a:t>
            </a:r>
          </a:p>
        </p:txBody>
      </p: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1D1A6F40-2236-4570-ACB8-22BE4FC35591}"/>
              </a:ext>
            </a:extLst>
          </p:cNvPr>
          <p:cNvCxnSpPr>
            <a:cxnSpLocks/>
            <a:stCxn id="44" idx="3"/>
            <a:endCxn id="97" idx="1"/>
          </p:cNvCxnSpPr>
          <p:nvPr/>
        </p:nvCxnSpPr>
        <p:spPr>
          <a:xfrm>
            <a:off x="1287547" y="4396587"/>
            <a:ext cx="333995" cy="1582580"/>
          </a:xfrm>
          <a:prstGeom prst="bentConnector3">
            <a:avLst/>
          </a:prstGeom>
          <a:ln w="381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4">
            <a:extLst>
              <a:ext uri="{FF2B5EF4-FFF2-40B4-BE49-F238E27FC236}">
                <a16:creationId xmlns:a16="http://schemas.microsoft.com/office/drawing/2014/main" id="{C5A08545-5F1B-48A5-AEDA-62A061BE3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688" y="573325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설정등록</a:t>
            </a:r>
            <a:endParaRPr lang="ko-KR" altLang="en-US" sz="1100" b="0" dirty="0">
              <a:latin typeface="+mn-ea"/>
            </a:endParaRPr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A35D9F73-68C2-4607-B47D-1C4D1B197CFA}"/>
              </a:ext>
            </a:extLst>
          </p:cNvPr>
          <p:cNvCxnSpPr>
            <a:cxnSpLocks/>
            <a:stCxn id="97" idx="3"/>
            <a:endCxn id="101" idx="1"/>
          </p:cNvCxnSpPr>
          <p:nvPr/>
        </p:nvCxnSpPr>
        <p:spPr>
          <a:xfrm>
            <a:off x="2606686" y="5979167"/>
            <a:ext cx="526002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 14">
            <a:extLst>
              <a:ext uri="{FF2B5EF4-FFF2-40B4-BE49-F238E27FC236}">
                <a16:creationId xmlns:a16="http://schemas.microsoft.com/office/drawing/2014/main" id="{9ACC316D-6FC8-4E2A-9F2F-A7646BA4B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3023" y="5701960"/>
            <a:ext cx="985144" cy="5544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재심사에 </a:t>
            </a:r>
            <a:endParaRPr lang="en-US" altLang="ko-KR" sz="1100" dirty="0">
              <a:latin typeface="+mn-ea"/>
            </a:endParaRPr>
          </a:p>
          <a:p>
            <a:pPr algn="ctr"/>
            <a:r>
              <a:rPr lang="ko-KR" altLang="en-US" sz="1100" dirty="0">
                <a:latin typeface="+mn-ea"/>
              </a:rPr>
              <a:t>따른 특허결정등본송달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106" name="Rectangle 14">
            <a:extLst>
              <a:ext uri="{FF2B5EF4-FFF2-40B4-BE49-F238E27FC236}">
                <a16:creationId xmlns:a16="http://schemas.microsoft.com/office/drawing/2014/main" id="{159E32C4-2D01-4E25-A457-78C2333C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4169" y="573325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설정등록</a:t>
            </a:r>
            <a:endParaRPr lang="ko-KR" altLang="en-US" sz="1100" b="0" dirty="0">
              <a:latin typeface="+mn-ea"/>
            </a:endParaRPr>
          </a:p>
        </p:txBody>
      </p: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748D5CD3-C1A1-461F-B234-56AC30859FFC}"/>
              </a:ext>
            </a:extLst>
          </p:cNvPr>
          <p:cNvCxnSpPr>
            <a:cxnSpLocks/>
            <a:stCxn id="105" idx="3"/>
            <a:endCxn id="106" idx="1"/>
          </p:cNvCxnSpPr>
          <p:nvPr/>
        </p:nvCxnSpPr>
        <p:spPr>
          <a:xfrm>
            <a:off x="5718167" y="5979167"/>
            <a:ext cx="526002" cy="0"/>
          </a:xfrm>
          <a:prstGeom prst="line">
            <a:avLst/>
          </a:prstGeom>
          <a:ln w="57150">
            <a:solidFill>
              <a:schemeClr val="tx1">
                <a:lumMod val="95000"/>
                <a:lumOff val="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연결선: 꺾임 107">
            <a:extLst>
              <a:ext uri="{FF2B5EF4-FFF2-40B4-BE49-F238E27FC236}">
                <a16:creationId xmlns:a16="http://schemas.microsoft.com/office/drawing/2014/main" id="{FE6BCD0E-C646-47BA-B0A6-1406C6B76256}"/>
              </a:ext>
            </a:extLst>
          </p:cNvPr>
          <p:cNvCxnSpPr>
            <a:cxnSpLocks/>
            <a:stCxn id="43" idx="3"/>
            <a:endCxn id="105" idx="1"/>
          </p:cNvCxnSpPr>
          <p:nvPr/>
        </p:nvCxnSpPr>
        <p:spPr>
          <a:xfrm>
            <a:off x="4117832" y="4396587"/>
            <a:ext cx="615191" cy="1582580"/>
          </a:xfrm>
          <a:prstGeom prst="bentConnector3">
            <a:avLst>
              <a:gd name="adj1" fmla="val 50000"/>
            </a:avLst>
          </a:prstGeom>
          <a:ln w="381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tangle 14">
            <a:extLst>
              <a:ext uri="{FF2B5EF4-FFF2-40B4-BE49-F238E27FC236}">
                <a16:creationId xmlns:a16="http://schemas.microsoft.com/office/drawing/2014/main" id="{42ED3451-D3E4-42BA-A505-F11472942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3915" y="573325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b="0" dirty="0" err="1">
                <a:latin typeface="+mn-ea"/>
              </a:rPr>
              <a:t>기각심결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112" name="Rectangle 14">
            <a:extLst>
              <a:ext uri="{FF2B5EF4-FFF2-40B4-BE49-F238E27FC236}">
                <a16:creationId xmlns:a16="http://schemas.microsoft.com/office/drawing/2014/main" id="{1269135F-52FB-4BC6-A6A1-04671E7535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31526" y="5733250"/>
            <a:ext cx="985144" cy="491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7150" algn="ctr">
            <a:solidFill>
              <a:schemeClr val="tx1">
                <a:lumMod val="95000"/>
                <a:lumOff val="5000"/>
              </a:schemeClr>
            </a:solidFill>
            <a:miter lim="800000"/>
            <a:headEnd/>
            <a:tailEnd/>
          </a:ln>
        </p:spPr>
        <p:txBody>
          <a:bodyPr wrap="square" anchor="ctr"/>
          <a:lstStyle/>
          <a:p>
            <a:pPr algn="ctr"/>
            <a:r>
              <a:rPr lang="ko-KR" altLang="en-US" sz="1100" dirty="0">
                <a:latin typeface="+mn-ea"/>
              </a:rPr>
              <a:t>분리출원</a:t>
            </a:r>
            <a:endParaRPr lang="ko-KR" altLang="en-US" sz="1100" b="0" dirty="0">
              <a:latin typeface="+mn-ea"/>
            </a:endParaRPr>
          </a:p>
        </p:txBody>
      </p:sp>
      <p:cxnSp>
        <p:nvCxnSpPr>
          <p:cNvPr id="114" name="연결선: 꺾임 113">
            <a:extLst>
              <a:ext uri="{FF2B5EF4-FFF2-40B4-BE49-F238E27FC236}">
                <a16:creationId xmlns:a16="http://schemas.microsoft.com/office/drawing/2014/main" id="{FA98AFED-8D21-4C09-9D81-9B30C33C7EC2}"/>
              </a:ext>
            </a:extLst>
          </p:cNvPr>
          <p:cNvCxnSpPr>
            <a:cxnSpLocks/>
            <a:stCxn id="63" idx="3"/>
            <a:endCxn id="111" idx="1"/>
          </p:cNvCxnSpPr>
          <p:nvPr/>
        </p:nvCxnSpPr>
        <p:spPr>
          <a:xfrm>
            <a:off x="7103620" y="4396587"/>
            <a:ext cx="510295" cy="1582580"/>
          </a:xfrm>
          <a:prstGeom prst="bentConnector3">
            <a:avLst>
              <a:gd name="adj1" fmla="val 50000"/>
            </a:avLst>
          </a:prstGeom>
          <a:ln w="381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C3F9ED84-F5C9-400C-9118-28C68C22FA21}"/>
              </a:ext>
            </a:extLst>
          </p:cNvPr>
          <p:cNvCxnSpPr>
            <a:cxnSpLocks/>
            <a:stCxn id="111" idx="3"/>
            <a:endCxn id="112" idx="1"/>
          </p:cNvCxnSpPr>
          <p:nvPr/>
        </p:nvCxnSpPr>
        <p:spPr>
          <a:xfrm>
            <a:off x="8599059" y="5979167"/>
            <a:ext cx="232467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267EEB12-950F-405E-8C43-78D624692535}"/>
              </a:ext>
            </a:extLst>
          </p:cNvPr>
          <p:cNvSpPr/>
          <p:nvPr/>
        </p:nvSpPr>
        <p:spPr>
          <a:xfrm>
            <a:off x="2391014" y="3351166"/>
            <a:ext cx="568086" cy="231467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</a:t>
            </a: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F8C94F05-F5D6-44B9-A37E-72D76E063CB2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2959100" y="3466900"/>
            <a:ext cx="173588" cy="331927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989E7EB3-EB55-48BF-9F04-AF539997B2F7}"/>
              </a:ext>
            </a:extLst>
          </p:cNvPr>
          <p:cNvSpPr/>
          <p:nvPr/>
        </p:nvSpPr>
        <p:spPr>
          <a:xfrm>
            <a:off x="2517497" y="5407284"/>
            <a:ext cx="615191" cy="231467"/>
          </a:xfrm>
          <a:prstGeom prst="roundRect">
            <a:avLst>
              <a:gd name="adj" fmla="val 50000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불가능</a:t>
            </a:r>
            <a:endParaRPr lang="ko-KR" altLang="en-US" sz="1000" dirty="0"/>
          </a:p>
        </p:txBody>
      </p:sp>
      <p:cxnSp>
        <p:nvCxnSpPr>
          <p:cNvPr id="128" name="연결선: 꺾임 127">
            <a:extLst>
              <a:ext uri="{FF2B5EF4-FFF2-40B4-BE49-F238E27FC236}">
                <a16:creationId xmlns:a16="http://schemas.microsoft.com/office/drawing/2014/main" id="{119C45DF-CFDA-4D08-8722-F685BD09D37E}"/>
              </a:ext>
            </a:extLst>
          </p:cNvPr>
          <p:cNvCxnSpPr>
            <a:cxnSpLocks/>
            <a:stCxn id="127" idx="3"/>
            <a:endCxn id="79" idx="2"/>
          </p:cNvCxnSpPr>
          <p:nvPr/>
        </p:nvCxnSpPr>
        <p:spPr>
          <a:xfrm flipV="1">
            <a:off x="3132688" y="5307894"/>
            <a:ext cx="492572" cy="215124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8B4F7E28-6267-4A74-9BE6-CA629DB6462E}"/>
              </a:ext>
            </a:extLst>
          </p:cNvPr>
          <p:cNvSpPr/>
          <p:nvPr/>
        </p:nvSpPr>
        <p:spPr>
          <a:xfrm>
            <a:off x="2424593" y="6366941"/>
            <a:ext cx="568086" cy="231467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</a:t>
            </a:r>
          </a:p>
        </p:txBody>
      </p:sp>
      <p:cxnSp>
        <p:nvCxnSpPr>
          <p:cNvPr id="139" name="연결선: 꺾임 138">
            <a:extLst>
              <a:ext uri="{FF2B5EF4-FFF2-40B4-BE49-F238E27FC236}">
                <a16:creationId xmlns:a16="http://schemas.microsoft.com/office/drawing/2014/main" id="{01487366-678E-42A2-8EF1-8877EB87565B}"/>
              </a:ext>
            </a:extLst>
          </p:cNvPr>
          <p:cNvCxnSpPr>
            <a:cxnSpLocks/>
            <a:stCxn id="132" idx="0"/>
          </p:cNvCxnSpPr>
          <p:nvPr/>
        </p:nvCxnSpPr>
        <p:spPr>
          <a:xfrm rot="5400000" flipH="1" flipV="1">
            <a:off x="2639424" y="6089859"/>
            <a:ext cx="346295" cy="207870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4C20CBC4-BD5C-4035-A82E-BED4AD10E5F6}"/>
              </a:ext>
            </a:extLst>
          </p:cNvPr>
          <p:cNvSpPr/>
          <p:nvPr/>
        </p:nvSpPr>
        <p:spPr>
          <a:xfrm>
            <a:off x="5967431" y="3310967"/>
            <a:ext cx="615191" cy="231467"/>
          </a:xfrm>
          <a:prstGeom prst="roundRect">
            <a:avLst>
              <a:gd name="adj" fmla="val 50000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불가능</a:t>
            </a:r>
            <a:endParaRPr lang="ko-KR" altLang="en-US" sz="1000" dirty="0"/>
          </a:p>
        </p:txBody>
      </p:sp>
      <p:cxnSp>
        <p:nvCxnSpPr>
          <p:cNvPr id="148" name="연결선: 꺾임 147">
            <a:extLst>
              <a:ext uri="{FF2B5EF4-FFF2-40B4-BE49-F238E27FC236}">
                <a16:creationId xmlns:a16="http://schemas.microsoft.com/office/drawing/2014/main" id="{308440C7-2C25-409D-8DAE-7F69F2C5E0D1}"/>
              </a:ext>
            </a:extLst>
          </p:cNvPr>
          <p:cNvCxnSpPr>
            <a:cxnSpLocks/>
            <a:stCxn id="147" idx="2"/>
            <a:endCxn id="86" idx="0"/>
          </p:cNvCxnSpPr>
          <p:nvPr/>
        </p:nvCxnSpPr>
        <p:spPr>
          <a:xfrm rot="16200000" flipH="1">
            <a:off x="6332987" y="3484473"/>
            <a:ext cx="219046" cy="334967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206F672-05FD-4C2E-BC21-D7D69C523B02}"/>
              </a:ext>
            </a:extLst>
          </p:cNvPr>
          <p:cNvSpPr/>
          <p:nvPr/>
        </p:nvSpPr>
        <p:spPr>
          <a:xfrm>
            <a:off x="5480809" y="5238614"/>
            <a:ext cx="615191" cy="231467"/>
          </a:xfrm>
          <a:prstGeom prst="roundRect">
            <a:avLst>
              <a:gd name="adj" fmla="val 50000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불가능</a:t>
            </a:r>
            <a:endParaRPr lang="ko-KR" altLang="en-US" sz="1000" dirty="0"/>
          </a:p>
        </p:txBody>
      </p:sp>
      <p:cxnSp>
        <p:nvCxnSpPr>
          <p:cNvPr id="153" name="연결선: 꺾임 152">
            <a:extLst>
              <a:ext uri="{FF2B5EF4-FFF2-40B4-BE49-F238E27FC236}">
                <a16:creationId xmlns:a16="http://schemas.microsoft.com/office/drawing/2014/main" id="{0BB17981-BD8D-42A1-9DAF-B72DCB2EF433}"/>
              </a:ext>
            </a:extLst>
          </p:cNvPr>
          <p:cNvCxnSpPr>
            <a:cxnSpLocks/>
            <a:stCxn id="152" idx="2"/>
          </p:cNvCxnSpPr>
          <p:nvPr/>
        </p:nvCxnSpPr>
        <p:spPr>
          <a:xfrm rot="16200000" flipH="1">
            <a:off x="5710480" y="5548006"/>
            <a:ext cx="457058" cy="301208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사각형: 둥근 모서리 155">
            <a:extLst>
              <a:ext uri="{FF2B5EF4-FFF2-40B4-BE49-F238E27FC236}">
                <a16:creationId xmlns:a16="http://schemas.microsoft.com/office/drawing/2014/main" id="{C1D14467-56CA-41A5-BB78-284BCD55C941}"/>
              </a:ext>
            </a:extLst>
          </p:cNvPr>
          <p:cNvSpPr/>
          <p:nvPr/>
        </p:nvSpPr>
        <p:spPr>
          <a:xfrm>
            <a:off x="8291463" y="6367314"/>
            <a:ext cx="615191" cy="231467"/>
          </a:xfrm>
          <a:prstGeom prst="roundRect">
            <a:avLst>
              <a:gd name="adj" fmla="val 50000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불가능</a:t>
            </a:r>
            <a:endParaRPr lang="ko-KR" altLang="en-US" sz="1000" dirty="0"/>
          </a:p>
        </p:txBody>
      </p:sp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20AE424E-4DF5-4CBD-9BB9-9D59DC19A7BD}"/>
              </a:ext>
            </a:extLst>
          </p:cNvPr>
          <p:cNvCxnSpPr>
            <a:cxnSpLocks/>
            <a:stCxn id="156" idx="3"/>
            <a:endCxn id="112" idx="2"/>
          </p:cNvCxnSpPr>
          <p:nvPr/>
        </p:nvCxnSpPr>
        <p:spPr>
          <a:xfrm flipV="1">
            <a:off x="8906654" y="6225084"/>
            <a:ext cx="417444" cy="257964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5EBBC57D-FB9B-47EE-9815-7AF1D82A9258}"/>
              </a:ext>
            </a:extLst>
          </p:cNvPr>
          <p:cNvSpPr/>
          <p:nvPr/>
        </p:nvSpPr>
        <p:spPr>
          <a:xfrm>
            <a:off x="11303959" y="3310976"/>
            <a:ext cx="568086" cy="231467"/>
          </a:xfrm>
          <a:prstGeom prst="rect">
            <a:avLst/>
          </a:prstGeom>
          <a:solidFill>
            <a:srgbClr val="FF0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</a:t>
            </a:r>
          </a:p>
        </p:txBody>
      </p:sp>
      <p:cxnSp>
        <p:nvCxnSpPr>
          <p:cNvPr id="161" name="연결선: 꺾임 160">
            <a:extLst>
              <a:ext uri="{FF2B5EF4-FFF2-40B4-BE49-F238E27FC236}">
                <a16:creationId xmlns:a16="http://schemas.microsoft.com/office/drawing/2014/main" id="{D37EDD7B-44F4-47FF-83D8-5421DDBFF9DC}"/>
              </a:ext>
            </a:extLst>
          </p:cNvPr>
          <p:cNvCxnSpPr>
            <a:cxnSpLocks/>
            <a:stCxn id="160" idx="1"/>
            <a:endCxn id="88" idx="0"/>
          </p:cNvCxnSpPr>
          <p:nvPr/>
        </p:nvCxnSpPr>
        <p:spPr>
          <a:xfrm rot="10800000" flipV="1">
            <a:off x="11164655" y="3426709"/>
            <a:ext cx="139305" cy="313537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81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553FC84F-6FDC-4506-BFC6-718C4B0E768C}"/>
              </a:ext>
            </a:extLst>
          </p:cNvPr>
          <p:cNvCxnSpPr/>
          <p:nvPr/>
        </p:nvCxnSpPr>
        <p:spPr>
          <a:xfrm flipH="1">
            <a:off x="7138432" y="3557351"/>
            <a:ext cx="1" cy="313139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 flipH="1">
            <a:off x="4383747" y="3557351"/>
            <a:ext cx="1" cy="313139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/>
          <p:cNvCxnSpPr/>
          <p:nvPr/>
        </p:nvCxnSpPr>
        <p:spPr>
          <a:xfrm>
            <a:off x="10886943" y="3382145"/>
            <a:ext cx="1" cy="330660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/>
          <p:cNvCxnSpPr/>
          <p:nvPr/>
        </p:nvCxnSpPr>
        <p:spPr>
          <a:xfrm>
            <a:off x="9749515" y="3382145"/>
            <a:ext cx="1" cy="330660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양쪽 모서리가 둥근 사각형 62"/>
          <p:cNvSpPr/>
          <p:nvPr/>
        </p:nvSpPr>
        <p:spPr>
          <a:xfrm>
            <a:off x="9749516" y="3507683"/>
            <a:ext cx="1905318" cy="396815"/>
          </a:xfrm>
          <a:prstGeom prst="round2SameRect">
            <a:avLst>
              <a:gd name="adj1" fmla="val 0"/>
              <a:gd name="adj2" fmla="val 50000"/>
            </a:avLst>
          </a:prstGeom>
          <a:pattFill prst="lgGrid">
            <a:fgClr>
              <a:schemeClr val="accent4"/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양쪽 모서리가 둥근 사각형 61"/>
          <p:cNvSpPr/>
          <p:nvPr/>
        </p:nvSpPr>
        <p:spPr>
          <a:xfrm>
            <a:off x="5917380" y="3507683"/>
            <a:ext cx="1975116" cy="396815"/>
          </a:xfrm>
          <a:prstGeom prst="round2SameRect">
            <a:avLst>
              <a:gd name="adj1" fmla="val 0"/>
              <a:gd name="adj2" fmla="val 50000"/>
            </a:avLst>
          </a:prstGeom>
          <a:pattFill prst="lgGrid">
            <a:fgClr>
              <a:schemeClr val="accent4"/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양쪽 모서리가 둥근 사각형 8"/>
          <p:cNvSpPr/>
          <p:nvPr/>
        </p:nvSpPr>
        <p:spPr>
          <a:xfrm>
            <a:off x="3210146" y="3507683"/>
            <a:ext cx="1905318" cy="396815"/>
          </a:xfrm>
          <a:prstGeom prst="round2SameRect">
            <a:avLst>
              <a:gd name="adj1" fmla="val 0"/>
              <a:gd name="adj2" fmla="val 50000"/>
            </a:avLst>
          </a:prstGeom>
          <a:pattFill prst="lgGrid">
            <a:fgClr>
              <a:schemeClr val="accent4"/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67</a:t>
            </a:r>
            <a:r>
              <a:rPr lang="ko-KR" altLang="en-US" dirty="0"/>
              <a:t>조의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거절결정등본송달일로부터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개월 이내 대응방안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65" y="2780510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875" y="976902"/>
            <a:ext cx="1193632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그 특허출원에 관하여 특허결정의 등본을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송달받은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날부터 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79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조에 따른 설정등록을 받기 전까지의 기간 또는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특허거절결정등본을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송달받은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날부터 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3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개월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15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항에 따라 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132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조의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17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에 따른 기간이 연장된 경우 그 연장된 기간을 말한다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이내에 그 특허출원의 명세서 또는 도면을 보정하여 해당 특허출원에 관한 재심사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이하 “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재심사”라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)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를 청구할 수 있다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다만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1)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재심사를 청구할 때에 이미 재심사에 따른 특허여부의 결정이 있는 경우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2)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132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조의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17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에 따른 심판청구가 있는 경우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176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1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항에 따라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특허거절결정이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취소된 경우는 제외한다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), 3)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그 특허출원이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분리출원인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경우 중 어느 하나에 해당하는 경우에는 그러하지 아니하다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法 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67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의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2①).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즉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이미 재심사 청구를 하여 다시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특허거절결정이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된 경우에는 재심사 절차의 반복으로 인해 심사가 지연되는 것을 방지하기 위해 다시 재심사 청구를 할 수 없고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거절결정불복심판만 가능하다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물론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거절결정불복심판에서 재심사에 따른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특허거절결정이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취소되고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심사국으로 환송된 이후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특허거절결정등본이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송달된 경우에는 재심사에 따른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특허거절결정은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아니기 때문에 다시 재심사 청구를 할 수 있다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또한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거절결정불복심판청구와 재심사청구는 선택적 사항으로서 출원인은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특허거절결정등본송달일로부터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+mn-ea"/>
              </a:rPr>
              <a:t>3</a:t>
            </a:r>
            <a:r>
              <a:rPr lang="ko-KR" altLang="en-US" sz="1400" dirty="0">
                <a:solidFill>
                  <a:srgbClr val="FF0000"/>
                </a:solidFill>
                <a:latin typeface="+mn-ea"/>
              </a:rPr>
              <a:t>개월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(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연장된 경우에는 그 연장된 기간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이내 둘 중에 하나를 선택하여 </a:t>
            </a:r>
            <a:r>
              <a:rPr lang="ko-KR" altLang="en-US" sz="1400" dirty="0" err="1">
                <a:solidFill>
                  <a:schemeClr val="tx2"/>
                </a:solidFill>
                <a:latin typeface="+mn-ea"/>
              </a:rPr>
              <a:t>특허거절결정에</a:t>
            </a:r>
            <a:r>
              <a:rPr lang="ko-KR" altLang="en-US" sz="1400" dirty="0">
                <a:solidFill>
                  <a:schemeClr val="tx2"/>
                </a:solidFill>
                <a:latin typeface="+mn-ea"/>
              </a:rPr>
              <a:t> 대하여 다툴 수 있다</a:t>
            </a:r>
            <a:r>
              <a:rPr lang="en-US" altLang="ko-KR" sz="1400" dirty="0">
                <a:solidFill>
                  <a:schemeClr val="tx2"/>
                </a:solidFill>
                <a:latin typeface="+mn-ea"/>
              </a:rPr>
              <a:t>.</a:t>
            </a:r>
          </a:p>
        </p:txBody>
      </p:sp>
      <p:cxnSp>
        <p:nvCxnSpPr>
          <p:cNvPr id="41" name="직선 화살표 연결선 40"/>
          <p:cNvCxnSpPr/>
          <p:nvPr/>
        </p:nvCxnSpPr>
        <p:spPr>
          <a:xfrm>
            <a:off x="1337094" y="3505970"/>
            <a:ext cx="10677104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14"/>
          <p:cNvSpPr>
            <a:spLocks noChangeArrowheads="1"/>
          </p:cNvSpPr>
          <p:nvPr/>
        </p:nvSpPr>
        <p:spPr bwMode="auto">
          <a:xfrm>
            <a:off x="2755384" y="3334190"/>
            <a:ext cx="930837" cy="3469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latin typeface="+mn-ea"/>
              </a:rPr>
              <a:t>일반심사에 따른</a:t>
            </a:r>
            <a:endParaRPr lang="en-US" altLang="ko-KR" sz="1000" b="0" dirty="0">
              <a:latin typeface="+mn-ea"/>
            </a:endParaRPr>
          </a:p>
          <a:p>
            <a:pPr algn="ctr"/>
            <a:r>
              <a:rPr lang="ko-KR" altLang="en-US" sz="1000" dirty="0">
                <a:latin typeface="+mn-ea"/>
              </a:rPr>
              <a:t>거절결정</a:t>
            </a:r>
            <a:endParaRPr lang="ko-KR" altLang="en-US" sz="1000" b="0" dirty="0">
              <a:latin typeface="+mn-ea"/>
            </a:endParaRPr>
          </a:p>
        </p:txBody>
      </p:sp>
      <p:sp>
        <p:nvSpPr>
          <p:cNvPr id="43" name="Rectangle 14"/>
          <p:cNvSpPr>
            <a:spLocks noChangeArrowheads="1"/>
          </p:cNvSpPr>
          <p:nvPr/>
        </p:nvSpPr>
        <p:spPr bwMode="auto">
          <a:xfrm>
            <a:off x="3918328" y="3334190"/>
            <a:ext cx="930837" cy="346986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latin typeface="+mn-ea"/>
              </a:rPr>
              <a:t>재심사청구</a:t>
            </a:r>
            <a:endParaRPr lang="en-US" altLang="ko-KR" sz="1000" b="0" dirty="0">
              <a:latin typeface="+mn-ea"/>
            </a:endParaRPr>
          </a:p>
          <a:p>
            <a:pPr algn="ctr"/>
            <a:r>
              <a:rPr lang="en-US" altLang="ko-KR" sz="1000" dirty="0">
                <a:latin typeface="+mn-ea"/>
              </a:rPr>
              <a:t>(</a:t>
            </a:r>
            <a:r>
              <a:rPr lang="ko-KR" altLang="en-US" sz="1000" dirty="0">
                <a:latin typeface="+mn-ea"/>
              </a:rPr>
              <a:t>보정</a:t>
            </a:r>
            <a:r>
              <a:rPr lang="en-US" altLang="ko-KR" sz="1000" dirty="0">
                <a:latin typeface="+mn-ea"/>
              </a:rPr>
              <a:t>)</a:t>
            </a:r>
            <a:endParaRPr lang="ko-KR" altLang="en-US" sz="1000" b="0" dirty="0">
              <a:latin typeface="+mn-ea"/>
            </a:endParaRPr>
          </a:p>
        </p:txBody>
      </p:sp>
      <p:sp>
        <p:nvSpPr>
          <p:cNvPr id="52" name="Rectangle 14"/>
          <p:cNvSpPr>
            <a:spLocks noChangeArrowheads="1"/>
          </p:cNvSpPr>
          <p:nvPr/>
        </p:nvSpPr>
        <p:spPr bwMode="auto">
          <a:xfrm>
            <a:off x="1578634" y="3334190"/>
            <a:ext cx="930837" cy="3469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latin typeface="+mn-ea"/>
              </a:rPr>
              <a:t>특허출원</a:t>
            </a:r>
          </a:p>
        </p:txBody>
      </p:sp>
      <p:sp>
        <p:nvSpPr>
          <p:cNvPr id="55" name="Rectangle 14"/>
          <p:cNvSpPr>
            <a:spLocks noChangeArrowheads="1"/>
          </p:cNvSpPr>
          <p:nvPr/>
        </p:nvSpPr>
        <p:spPr bwMode="auto">
          <a:xfrm>
            <a:off x="5451961" y="3334190"/>
            <a:ext cx="930837" cy="3469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latin typeface="+mn-ea"/>
              </a:rPr>
              <a:t>재심사에 따른</a:t>
            </a:r>
            <a:endParaRPr lang="en-US" altLang="ko-KR" sz="1000" b="0" dirty="0">
              <a:latin typeface="+mn-ea"/>
            </a:endParaRPr>
          </a:p>
          <a:p>
            <a:pPr algn="ctr"/>
            <a:r>
              <a:rPr lang="ko-KR" altLang="en-US" sz="1000" dirty="0">
                <a:latin typeface="+mn-ea"/>
              </a:rPr>
              <a:t>거절결정</a:t>
            </a:r>
            <a:endParaRPr lang="ko-KR" altLang="en-US" sz="1000" b="0" dirty="0">
              <a:latin typeface="+mn-ea"/>
            </a:endParaRPr>
          </a:p>
        </p:txBody>
      </p:sp>
      <p:sp>
        <p:nvSpPr>
          <p:cNvPr id="56" name="Rectangle 14"/>
          <p:cNvSpPr>
            <a:spLocks noChangeArrowheads="1"/>
          </p:cNvSpPr>
          <p:nvPr/>
        </p:nvSpPr>
        <p:spPr bwMode="auto">
          <a:xfrm>
            <a:off x="8126499" y="3334190"/>
            <a:ext cx="930837" cy="3469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 err="1">
                <a:latin typeface="+mn-ea"/>
              </a:rPr>
              <a:t>인용심결</a:t>
            </a:r>
            <a:endParaRPr lang="ko-KR" altLang="en-US" sz="1000" b="0" dirty="0">
              <a:latin typeface="+mn-ea"/>
            </a:endParaRPr>
          </a:p>
        </p:txBody>
      </p:sp>
      <p:sp>
        <p:nvSpPr>
          <p:cNvPr id="58" name="Rectangle 14"/>
          <p:cNvSpPr>
            <a:spLocks noChangeArrowheads="1"/>
          </p:cNvSpPr>
          <p:nvPr/>
        </p:nvSpPr>
        <p:spPr bwMode="auto">
          <a:xfrm>
            <a:off x="6666601" y="3334190"/>
            <a:ext cx="930837" cy="346986"/>
          </a:xfrm>
          <a:prstGeom prst="rect">
            <a:avLst/>
          </a:prstGeom>
          <a:solidFill>
            <a:schemeClr val="accent2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latin typeface="+mn-ea"/>
              </a:rPr>
              <a:t>불복심판청구</a:t>
            </a:r>
          </a:p>
        </p:txBody>
      </p:sp>
      <p:sp>
        <p:nvSpPr>
          <p:cNvPr id="59" name="Rectangle 14"/>
          <p:cNvSpPr>
            <a:spLocks noChangeArrowheads="1"/>
          </p:cNvSpPr>
          <p:nvPr/>
        </p:nvSpPr>
        <p:spPr bwMode="auto">
          <a:xfrm>
            <a:off x="9284098" y="3334190"/>
            <a:ext cx="930837" cy="3469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latin typeface="+mn-ea"/>
              </a:rPr>
              <a:t>일반심사에 따른</a:t>
            </a:r>
            <a:endParaRPr lang="en-US" altLang="ko-KR" sz="1000" b="0" dirty="0">
              <a:latin typeface="+mn-ea"/>
            </a:endParaRPr>
          </a:p>
          <a:p>
            <a:pPr algn="ctr"/>
            <a:r>
              <a:rPr lang="ko-KR" altLang="en-US" sz="1000" dirty="0">
                <a:latin typeface="+mn-ea"/>
              </a:rPr>
              <a:t>거절결정</a:t>
            </a:r>
            <a:endParaRPr lang="ko-KR" altLang="en-US" sz="1000" b="0" dirty="0">
              <a:latin typeface="+mn-ea"/>
            </a:endParaRPr>
          </a:p>
        </p:txBody>
      </p:sp>
      <p:sp>
        <p:nvSpPr>
          <p:cNvPr id="60" name="Rectangle 14"/>
          <p:cNvSpPr>
            <a:spLocks noChangeArrowheads="1"/>
          </p:cNvSpPr>
          <p:nvPr/>
        </p:nvSpPr>
        <p:spPr bwMode="auto">
          <a:xfrm>
            <a:off x="10421525" y="3334190"/>
            <a:ext cx="930837" cy="346986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b="0" dirty="0">
                <a:latin typeface="+mn-ea"/>
              </a:rPr>
              <a:t>재심사청구</a:t>
            </a:r>
            <a:endParaRPr lang="en-US" altLang="ko-KR" sz="1000" b="0" dirty="0">
              <a:latin typeface="+mn-ea"/>
            </a:endParaRPr>
          </a:p>
          <a:p>
            <a:pPr algn="ctr"/>
            <a:r>
              <a:rPr lang="en-US" altLang="ko-KR" sz="1000" dirty="0">
                <a:latin typeface="+mn-ea"/>
              </a:rPr>
              <a:t>(</a:t>
            </a:r>
            <a:r>
              <a:rPr lang="ko-KR" altLang="en-US" sz="1000" dirty="0">
                <a:latin typeface="+mn-ea"/>
              </a:rPr>
              <a:t>보정</a:t>
            </a:r>
            <a:r>
              <a:rPr lang="en-US" altLang="ko-KR" sz="1000" dirty="0">
                <a:latin typeface="+mn-ea"/>
              </a:rPr>
              <a:t>)</a:t>
            </a:r>
            <a:endParaRPr lang="ko-KR" altLang="en-US" sz="1000" b="0" dirty="0">
              <a:latin typeface="+mn-e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62934" y="3930378"/>
            <a:ext cx="14446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등본송달일로부터 </a:t>
            </a:r>
            <a:r>
              <a:rPr lang="en-US" altLang="ko-KR" sz="1000" dirty="0"/>
              <a:t>3</a:t>
            </a:r>
            <a:r>
              <a:rPr lang="ko-KR" altLang="en-US" sz="1000" dirty="0"/>
              <a:t>개월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9966" y="3930378"/>
            <a:ext cx="14446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등본송달일로부터 </a:t>
            </a:r>
            <a:r>
              <a:rPr lang="en-US" altLang="ko-KR" sz="1000" dirty="0"/>
              <a:t>3</a:t>
            </a:r>
            <a:r>
              <a:rPr lang="ko-KR" altLang="en-US" sz="1000" dirty="0"/>
              <a:t>개월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02304" y="3930378"/>
            <a:ext cx="14446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등본송달일로부터 </a:t>
            </a:r>
            <a:r>
              <a:rPr lang="en-US" altLang="ko-KR" sz="1000" dirty="0"/>
              <a:t>3</a:t>
            </a:r>
            <a:r>
              <a:rPr lang="ko-KR" altLang="en-US" sz="1000" dirty="0"/>
              <a:t>개일</a:t>
            </a:r>
          </a:p>
        </p:txBody>
      </p:sp>
      <p:sp>
        <p:nvSpPr>
          <p:cNvPr id="68" name="Rectangle 14"/>
          <p:cNvSpPr>
            <a:spLocks noChangeArrowheads="1"/>
          </p:cNvSpPr>
          <p:nvPr/>
        </p:nvSpPr>
        <p:spPr bwMode="auto">
          <a:xfrm>
            <a:off x="3652029" y="2871131"/>
            <a:ext cx="1463436" cy="34698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>
                <a:latin typeface="+mn-ea"/>
              </a:rPr>
              <a:t>일반심사에 따른</a:t>
            </a:r>
            <a:endParaRPr lang="en-US" altLang="ko-KR" sz="1000" dirty="0">
              <a:latin typeface="+mn-ea"/>
            </a:endParaRPr>
          </a:p>
          <a:p>
            <a:pPr algn="ctr"/>
            <a:r>
              <a:rPr lang="ko-KR" altLang="en-US" sz="1000" dirty="0">
                <a:latin typeface="+mn-ea"/>
              </a:rPr>
              <a:t>거절결정 취소</a:t>
            </a:r>
          </a:p>
        </p:txBody>
      </p:sp>
      <p:cxnSp>
        <p:nvCxnSpPr>
          <p:cNvPr id="13" name="직선 연결선 12"/>
          <p:cNvCxnSpPr>
            <a:stCxn id="43" idx="0"/>
            <a:endCxn id="68" idx="2"/>
          </p:cNvCxnSpPr>
          <p:nvPr/>
        </p:nvCxnSpPr>
        <p:spPr>
          <a:xfrm flipV="1">
            <a:off x="4383747" y="3218117"/>
            <a:ext cx="0" cy="11607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4"/>
          <p:cNvSpPr>
            <a:spLocks noChangeArrowheads="1"/>
          </p:cNvSpPr>
          <p:nvPr/>
        </p:nvSpPr>
        <p:spPr bwMode="auto">
          <a:xfrm>
            <a:off x="10155225" y="2871131"/>
            <a:ext cx="1463436" cy="34698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>
                <a:latin typeface="+mn-ea"/>
              </a:rPr>
              <a:t>일반심사에 따른</a:t>
            </a:r>
            <a:endParaRPr lang="en-US" altLang="ko-KR" sz="1000" dirty="0">
              <a:latin typeface="+mn-ea"/>
            </a:endParaRPr>
          </a:p>
          <a:p>
            <a:pPr algn="ctr"/>
            <a:r>
              <a:rPr lang="ko-KR" altLang="en-US" sz="1000" dirty="0">
                <a:latin typeface="+mn-ea"/>
              </a:rPr>
              <a:t>거절결정 취소</a:t>
            </a:r>
          </a:p>
        </p:txBody>
      </p:sp>
      <p:cxnSp>
        <p:nvCxnSpPr>
          <p:cNvPr id="71" name="직선 연결선 70"/>
          <p:cNvCxnSpPr>
            <a:cxnSpLocks/>
            <a:stCxn id="60" idx="0"/>
            <a:endCxn id="70" idx="2"/>
          </p:cNvCxnSpPr>
          <p:nvPr/>
        </p:nvCxnSpPr>
        <p:spPr>
          <a:xfrm flipH="1" flipV="1">
            <a:off x="10886943" y="3218117"/>
            <a:ext cx="1" cy="11607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14"/>
          <p:cNvSpPr>
            <a:spLocks noChangeArrowheads="1"/>
          </p:cNvSpPr>
          <p:nvPr/>
        </p:nvSpPr>
        <p:spPr bwMode="auto">
          <a:xfrm>
            <a:off x="7862016" y="2871131"/>
            <a:ext cx="1463436" cy="34698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000" dirty="0">
                <a:latin typeface="+mn-ea"/>
              </a:rPr>
              <a:t>재심사에 따른</a:t>
            </a:r>
            <a:endParaRPr lang="en-US" altLang="ko-KR" sz="1000" dirty="0">
              <a:latin typeface="+mn-ea"/>
            </a:endParaRPr>
          </a:p>
          <a:p>
            <a:pPr algn="ctr"/>
            <a:r>
              <a:rPr lang="ko-KR" altLang="en-US" sz="1000" dirty="0">
                <a:latin typeface="+mn-ea"/>
              </a:rPr>
              <a:t>거절결정 취소 및 환송</a:t>
            </a:r>
          </a:p>
        </p:txBody>
      </p:sp>
      <p:cxnSp>
        <p:nvCxnSpPr>
          <p:cNvPr id="76" name="직선 연결선 75"/>
          <p:cNvCxnSpPr>
            <a:cxnSpLocks/>
            <a:stCxn id="56" idx="0"/>
            <a:endCxn id="75" idx="2"/>
          </p:cNvCxnSpPr>
          <p:nvPr/>
        </p:nvCxnSpPr>
        <p:spPr>
          <a:xfrm flipV="1">
            <a:off x="8591918" y="3218117"/>
            <a:ext cx="1816" cy="11607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>
            <a:stCxn id="52" idx="2"/>
          </p:cNvCxnSpPr>
          <p:nvPr/>
        </p:nvCxnSpPr>
        <p:spPr>
          <a:xfrm flipH="1">
            <a:off x="2044052" y="3681176"/>
            <a:ext cx="1" cy="313139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/>
          <p:cNvCxnSpPr/>
          <p:nvPr/>
        </p:nvCxnSpPr>
        <p:spPr>
          <a:xfrm flipH="1">
            <a:off x="3220802" y="3557351"/>
            <a:ext cx="1" cy="313139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/>
          <p:cNvCxnSpPr/>
          <p:nvPr/>
        </p:nvCxnSpPr>
        <p:spPr>
          <a:xfrm flipH="1">
            <a:off x="5118614" y="3557351"/>
            <a:ext cx="1" cy="313139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 flipH="1">
            <a:off x="5917379" y="3557351"/>
            <a:ext cx="1" cy="313139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/>
          <p:cNvCxnSpPr/>
          <p:nvPr/>
        </p:nvCxnSpPr>
        <p:spPr>
          <a:xfrm>
            <a:off x="7892496" y="3382145"/>
            <a:ext cx="1" cy="330660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/>
          <p:cNvCxnSpPr/>
          <p:nvPr/>
        </p:nvCxnSpPr>
        <p:spPr>
          <a:xfrm>
            <a:off x="11654834" y="3382145"/>
            <a:ext cx="1" cy="330660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>
            <a:stCxn id="20" idx="6"/>
          </p:cNvCxnSpPr>
          <p:nvPr/>
        </p:nvCxnSpPr>
        <p:spPr>
          <a:xfrm flipV="1">
            <a:off x="1043790" y="4430479"/>
            <a:ext cx="11205713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/>
          <p:nvPr/>
        </p:nvCxnSpPr>
        <p:spPr>
          <a:xfrm flipV="1">
            <a:off x="914400" y="5123050"/>
            <a:ext cx="11205713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/>
          <p:cNvCxnSpPr/>
          <p:nvPr/>
        </p:nvCxnSpPr>
        <p:spPr>
          <a:xfrm flipV="1">
            <a:off x="914400" y="5791602"/>
            <a:ext cx="11205713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/>
          <p:nvPr/>
        </p:nvCxnSpPr>
        <p:spPr>
          <a:xfrm flipV="1">
            <a:off x="914400" y="6473697"/>
            <a:ext cx="11205713" cy="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3210146" y="4430480"/>
            <a:ext cx="1905318" cy="0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/>
          <p:nvPr/>
        </p:nvCxnSpPr>
        <p:spPr>
          <a:xfrm>
            <a:off x="9765099" y="4430480"/>
            <a:ext cx="1905318" cy="0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/>
          <p:cNvCxnSpPr/>
          <p:nvPr/>
        </p:nvCxnSpPr>
        <p:spPr>
          <a:xfrm>
            <a:off x="3210146" y="5123049"/>
            <a:ext cx="1905318" cy="0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/>
          <p:cNvCxnSpPr/>
          <p:nvPr/>
        </p:nvCxnSpPr>
        <p:spPr>
          <a:xfrm>
            <a:off x="5917380" y="5123049"/>
            <a:ext cx="1975116" cy="2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/>
          <p:cNvCxnSpPr/>
          <p:nvPr/>
        </p:nvCxnSpPr>
        <p:spPr>
          <a:xfrm>
            <a:off x="9749516" y="5123049"/>
            <a:ext cx="1905318" cy="2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>
            <a:off x="3210146" y="5791602"/>
            <a:ext cx="1173602" cy="0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5917379" y="5791602"/>
            <a:ext cx="1975118" cy="0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749515" y="5791602"/>
            <a:ext cx="1173602" cy="0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/>
          <p:cNvCxnSpPr/>
          <p:nvPr/>
        </p:nvCxnSpPr>
        <p:spPr>
          <a:xfrm>
            <a:off x="2044053" y="6473688"/>
            <a:ext cx="3071411" cy="0"/>
          </a:xfrm>
          <a:prstGeom prst="line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타원 19"/>
          <p:cNvSpPr/>
          <p:nvPr/>
        </p:nvSpPr>
        <p:spPr>
          <a:xfrm>
            <a:off x="353677" y="4104530"/>
            <a:ext cx="690113" cy="65189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dirty="0">
                <a:solidFill>
                  <a:schemeClr val="tx2"/>
                </a:solidFill>
              </a:rPr>
              <a:t>재심사청구</a:t>
            </a:r>
          </a:p>
        </p:txBody>
      </p:sp>
      <p:sp>
        <p:nvSpPr>
          <p:cNvPr id="86" name="타원 85"/>
          <p:cNvSpPr/>
          <p:nvPr/>
        </p:nvSpPr>
        <p:spPr>
          <a:xfrm>
            <a:off x="353677" y="4797100"/>
            <a:ext cx="690113" cy="65189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dirty="0">
                <a:solidFill>
                  <a:schemeClr val="tx2"/>
                </a:solidFill>
              </a:rPr>
              <a:t>심판</a:t>
            </a:r>
            <a:endParaRPr lang="en-US" altLang="ko-KR" sz="1200" dirty="0">
              <a:solidFill>
                <a:schemeClr val="tx2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2"/>
                </a:solidFill>
              </a:rPr>
              <a:t>청구</a:t>
            </a:r>
          </a:p>
        </p:txBody>
      </p:sp>
      <p:sp>
        <p:nvSpPr>
          <p:cNvPr id="87" name="타원 86"/>
          <p:cNvSpPr/>
          <p:nvPr/>
        </p:nvSpPr>
        <p:spPr>
          <a:xfrm>
            <a:off x="353677" y="5469962"/>
            <a:ext cx="690113" cy="65189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dirty="0">
                <a:solidFill>
                  <a:schemeClr val="tx2"/>
                </a:solidFill>
              </a:rPr>
              <a:t>분할</a:t>
            </a:r>
            <a:endParaRPr lang="en-US" altLang="ko-KR" sz="1200" dirty="0">
              <a:solidFill>
                <a:schemeClr val="tx2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2"/>
                </a:solidFill>
              </a:rPr>
              <a:t>출원</a:t>
            </a:r>
          </a:p>
        </p:txBody>
      </p:sp>
      <p:sp>
        <p:nvSpPr>
          <p:cNvPr id="88" name="타원 87"/>
          <p:cNvSpPr/>
          <p:nvPr/>
        </p:nvSpPr>
        <p:spPr>
          <a:xfrm>
            <a:off x="353677" y="6147739"/>
            <a:ext cx="690113" cy="65189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dirty="0"/>
              <a:t>변경</a:t>
            </a:r>
            <a:endParaRPr lang="en-US" altLang="ko-KR" sz="1200" dirty="0"/>
          </a:p>
          <a:p>
            <a:pPr algn="ctr"/>
            <a:r>
              <a:rPr lang="ko-KR" altLang="en-US" sz="1200" dirty="0"/>
              <a:t>출원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273</a:t>
            </a:r>
            <a:endParaRPr lang="ko-KR" altLang="en-US" dirty="0"/>
          </a:p>
        </p:txBody>
      </p:sp>
      <p:sp>
        <p:nvSpPr>
          <p:cNvPr id="5" name="모서리가 둥근 직사각형 4"/>
          <p:cNvSpPr/>
          <p:nvPr/>
        </p:nvSpPr>
        <p:spPr>
          <a:xfrm>
            <a:off x="3918328" y="4289980"/>
            <a:ext cx="359382" cy="1019503"/>
          </a:xfrm>
          <a:prstGeom prst="round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>
                    <a:lumMod val="95000"/>
                  </a:schemeClr>
                </a:solidFill>
              </a:rPr>
              <a:t>택일</a:t>
            </a:r>
          </a:p>
        </p:txBody>
      </p:sp>
      <p:sp>
        <p:nvSpPr>
          <p:cNvPr id="57" name="모서리가 둥근 직사각형 56"/>
          <p:cNvSpPr/>
          <p:nvPr/>
        </p:nvSpPr>
        <p:spPr>
          <a:xfrm>
            <a:off x="10454464" y="4245980"/>
            <a:ext cx="359382" cy="1019503"/>
          </a:xfrm>
          <a:prstGeom prst="round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>
                    <a:lumMod val="95000"/>
                  </a:schemeClr>
                </a:solidFill>
              </a:rPr>
              <a:t>택일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4C3633CC-1E81-4DBD-8F90-1AFFB0B25AC0}"/>
              </a:ext>
            </a:extLst>
          </p:cNvPr>
          <p:cNvCxnSpPr/>
          <p:nvPr/>
        </p:nvCxnSpPr>
        <p:spPr>
          <a:xfrm>
            <a:off x="2036544" y="5791602"/>
            <a:ext cx="1173602" cy="0"/>
          </a:xfrm>
          <a:prstGeom prst="line">
            <a:avLst/>
          </a:prstGeom>
          <a:ln w="38100">
            <a:solidFill>
              <a:schemeClr val="accent5">
                <a:lumMod val="50000"/>
              </a:schemeClr>
            </a:solidFill>
            <a:prstDash val="sysDot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DBD9D35-FB92-42C8-BF24-FC841292EAF1}"/>
              </a:ext>
            </a:extLst>
          </p:cNvPr>
          <p:cNvSpPr txBox="1"/>
          <p:nvPr/>
        </p:nvSpPr>
        <p:spPr>
          <a:xfrm>
            <a:off x="2078840" y="5841985"/>
            <a:ext cx="1114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(</a:t>
            </a:r>
            <a:r>
              <a:rPr lang="ko-KR" altLang="en-US" sz="1000" dirty="0"/>
              <a:t>보정기간내 가능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16F3C1-D249-43F7-8D7E-368B6979A7AB}"/>
              </a:ext>
            </a:extLst>
          </p:cNvPr>
          <p:cNvSpPr txBox="1"/>
          <p:nvPr/>
        </p:nvSpPr>
        <p:spPr>
          <a:xfrm>
            <a:off x="8859053" y="3917315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reset</a:t>
            </a:r>
            <a:endParaRPr lang="ko-KR" altLang="en-US" sz="1400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DE567F1-088C-499C-A1DB-DD3B502D9614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9154847" y="3529225"/>
            <a:ext cx="4930" cy="38809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원형: 비어 있음 13">
            <a:extLst>
              <a:ext uri="{FF2B5EF4-FFF2-40B4-BE49-F238E27FC236}">
                <a16:creationId xmlns:a16="http://schemas.microsoft.com/office/drawing/2014/main" id="{80022739-2BAC-4E27-AB48-197D04D9D11E}"/>
              </a:ext>
            </a:extLst>
          </p:cNvPr>
          <p:cNvSpPr/>
          <p:nvPr/>
        </p:nvSpPr>
        <p:spPr>
          <a:xfrm>
            <a:off x="7228829" y="5567463"/>
            <a:ext cx="471387" cy="471387"/>
          </a:xfrm>
          <a:prstGeom prst="donut">
            <a:avLst>
              <a:gd name="adj" fmla="val 12304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곱하기 기호 14">
            <a:extLst>
              <a:ext uri="{FF2B5EF4-FFF2-40B4-BE49-F238E27FC236}">
                <a16:creationId xmlns:a16="http://schemas.microsoft.com/office/drawing/2014/main" id="{F925A189-C4BC-422F-B68D-AC2D1B4D5ABD}"/>
              </a:ext>
            </a:extLst>
          </p:cNvPr>
          <p:cNvSpPr/>
          <p:nvPr/>
        </p:nvSpPr>
        <p:spPr>
          <a:xfrm>
            <a:off x="4432635" y="5458735"/>
            <a:ext cx="661830" cy="727192"/>
          </a:xfrm>
          <a:prstGeom prst="mathMultiply">
            <a:avLst>
              <a:gd name="adj1" fmla="val 9466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AD91B65C-07DC-47C0-85D9-2C68DF420211}"/>
              </a:ext>
            </a:extLst>
          </p:cNvPr>
          <p:cNvSpPr/>
          <p:nvPr/>
        </p:nvSpPr>
        <p:spPr>
          <a:xfrm>
            <a:off x="10980300" y="5458735"/>
            <a:ext cx="661830" cy="727192"/>
          </a:xfrm>
          <a:prstGeom prst="mathMultiply">
            <a:avLst>
              <a:gd name="adj1" fmla="val 9466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4">
            <a:extLst>
              <a:ext uri="{FF2B5EF4-FFF2-40B4-BE49-F238E27FC236}">
                <a16:creationId xmlns:a16="http://schemas.microsoft.com/office/drawing/2014/main" id="{45472A9A-B0AD-C234-3B81-6DFD163D59FF}"/>
              </a:ext>
            </a:extLst>
          </p:cNvPr>
          <p:cNvSpPr/>
          <p:nvPr/>
        </p:nvSpPr>
        <p:spPr>
          <a:xfrm>
            <a:off x="6156120" y="4975751"/>
            <a:ext cx="898687" cy="1019503"/>
          </a:xfrm>
          <a:prstGeom prst="round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>
                <a:solidFill>
                  <a:schemeClr val="bg1">
                    <a:lumMod val="95000"/>
                  </a:schemeClr>
                </a:solidFill>
              </a:rPr>
              <a:t>동시진행중</a:t>
            </a:r>
            <a:endParaRPr lang="en-US" altLang="ko-KR" sz="1050" dirty="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 dirty="0" err="1">
                <a:solidFill>
                  <a:schemeClr val="bg1">
                    <a:lumMod val="95000"/>
                  </a:schemeClr>
                </a:solidFill>
              </a:rPr>
              <a:t>협의제</a:t>
            </a:r>
            <a:r>
              <a:rPr lang="ko-KR" altLang="en-US" sz="1050" dirty="0">
                <a:solidFill>
                  <a:schemeClr val="bg1">
                    <a:lumMod val="95000"/>
                  </a:schemeClr>
                </a:solidFill>
              </a:rPr>
              <a:t> </a:t>
            </a:r>
            <a:endParaRPr lang="en-US" altLang="ko-KR" sz="1050" dirty="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 dirty="0">
                <a:solidFill>
                  <a:schemeClr val="bg1">
                    <a:lumMod val="95000"/>
                  </a:schemeClr>
                </a:solidFill>
              </a:rPr>
              <a:t>회피방안</a:t>
            </a:r>
          </a:p>
        </p:txBody>
      </p:sp>
    </p:spTree>
    <p:extLst>
      <p:ext uri="{BB962C8B-B14F-4D97-AF65-F5344CB8AC3E}">
        <p14:creationId xmlns:p14="http://schemas.microsoft.com/office/powerpoint/2010/main" val="26135563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62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63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심판청구와 재심사청구의 </a:t>
            </a:r>
            <a:r>
              <a:rPr lang="en-US" altLang="ko-KR" dirty="0"/>
              <a:t>CASE</a:t>
            </a:r>
            <a:endParaRPr lang="ko-KR" altLang="en-US" dirty="0"/>
          </a:p>
        </p:txBody>
      </p:sp>
      <p:cxnSp>
        <p:nvCxnSpPr>
          <p:cNvPr id="111" name="직선 연결선 110"/>
          <p:cNvCxnSpPr>
            <a:stCxn id="112" idx="2"/>
          </p:cNvCxnSpPr>
          <p:nvPr/>
        </p:nvCxnSpPr>
        <p:spPr>
          <a:xfrm>
            <a:off x="1524036" y="1442134"/>
            <a:ext cx="0" cy="5044391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 13"/>
          <p:cNvSpPr>
            <a:spLocks noChangeArrowheads="1"/>
          </p:cNvSpPr>
          <p:nvPr/>
        </p:nvSpPr>
        <p:spPr bwMode="auto">
          <a:xfrm>
            <a:off x="623394" y="1115109"/>
            <a:ext cx="1801284" cy="3270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j-ea"/>
                <a:ea typeface="+mj-ea"/>
              </a:rPr>
              <a:t>특허출원</a:t>
            </a:r>
          </a:p>
        </p:txBody>
      </p:sp>
      <p:sp>
        <p:nvSpPr>
          <p:cNvPr id="113" name="Rectangle 14"/>
          <p:cNvSpPr>
            <a:spLocks noChangeArrowheads="1"/>
          </p:cNvSpPr>
          <p:nvPr/>
        </p:nvSpPr>
        <p:spPr bwMode="auto">
          <a:xfrm>
            <a:off x="623394" y="1846978"/>
            <a:ext cx="1801284" cy="3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j-ea"/>
                <a:ea typeface="+mj-ea"/>
              </a:rPr>
              <a:t>거절결정</a:t>
            </a:r>
          </a:p>
        </p:txBody>
      </p:sp>
      <p:sp>
        <p:nvSpPr>
          <p:cNvPr id="114" name="Rectangle 14"/>
          <p:cNvSpPr>
            <a:spLocks noChangeArrowheads="1"/>
          </p:cNvSpPr>
          <p:nvPr/>
        </p:nvSpPr>
        <p:spPr bwMode="auto">
          <a:xfrm>
            <a:off x="623394" y="3391594"/>
            <a:ext cx="1801284" cy="325438"/>
          </a:xfrm>
          <a:prstGeom prst="rect">
            <a:avLst/>
          </a:prstGeom>
          <a:solidFill>
            <a:schemeClr val="accent4"/>
          </a:solidFill>
          <a:ln w="2857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j-ea"/>
                <a:ea typeface="+mj-ea"/>
              </a:rPr>
              <a:t>재심사청구</a:t>
            </a:r>
            <a:r>
              <a:rPr lang="en-US" altLang="ko-KR" sz="1200" b="0" dirty="0">
                <a:latin typeface="+mj-ea"/>
                <a:ea typeface="+mj-ea"/>
              </a:rPr>
              <a:t>(</a:t>
            </a:r>
            <a:r>
              <a:rPr lang="ko-KR" altLang="en-US" sz="1200" b="0" dirty="0">
                <a:latin typeface="+mj-ea"/>
                <a:ea typeface="+mj-ea"/>
              </a:rPr>
              <a:t>보정</a:t>
            </a:r>
            <a:r>
              <a:rPr lang="en-US" altLang="ko-KR" sz="1200" b="0" dirty="0">
                <a:latin typeface="+mj-ea"/>
                <a:ea typeface="+mj-ea"/>
              </a:rPr>
              <a:t>)</a:t>
            </a:r>
            <a:endParaRPr lang="ko-KR" altLang="en-US" sz="1200" b="0" dirty="0">
              <a:latin typeface="+mj-ea"/>
              <a:ea typeface="+mj-ea"/>
            </a:endParaRPr>
          </a:p>
        </p:txBody>
      </p:sp>
      <p:sp>
        <p:nvSpPr>
          <p:cNvPr id="115" name="Rectangle 14"/>
          <p:cNvSpPr>
            <a:spLocks noChangeArrowheads="1"/>
          </p:cNvSpPr>
          <p:nvPr/>
        </p:nvSpPr>
        <p:spPr bwMode="auto">
          <a:xfrm>
            <a:off x="623394" y="2348880"/>
            <a:ext cx="1801284" cy="3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j-ea"/>
                <a:ea typeface="+mj-ea"/>
              </a:rPr>
              <a:t>등본송달</a:t>
            </a:r>
          </a:p>
        </p:txBody>
      </p:sp>
      <p:sp>
        <p:nvSpPr>
          <p:cNvPr id="116" name="Rectangle 14"/>
          <p:cNvSpPr>
            <a:spLocks noChangeArrowheads="1"/>
          </p:cNvSpPr>
          <p:nvPr/>
        </p:nvSpPr>
        <p:spPr bwMode="auto">
          <a:xfrm>
            <a:off x="623394" y="4041820"/>
            <a:ext cx="1801284" cy="3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j-ea"/>
                <a:ea typeface="+mj-ea"/>
              </a:rPr>
              <a:t>거절결정</a:t>
            </a:r>
          </a:p>
        </p:txBody>
      </p:sp>
      <p:sp>
        <p:nvSpPr>
          <p:cNvPr id="117" name="Rectangle 14"/>
          <p:cNvSpPr>
            <a:spLocks noChangeArrowheads="1"/>
          </p:cNvSpPr>
          <p:nvPr/>
        </p:nvSpPr>
        <p:spPr bwMode="auto">
          <a:xfrm>
            <a:off x="623394" y="4543722"/>
            <a:ext cx="1801284" cy="3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200" b="0" dirty="0">
                <a:latin typeface="+mj-ea"/>
                <a:ea typeface="+mj-ea"/>
              </a:rPr>
              <a:t>등본송달</a:t>
            </a:r>
          </a:p>
        </p:txBody>
      </p:sp>
      <p:cxnSp>
        <p:nvCxnSpPr>
          <p:cNvPr id="118" name="꺾인 연결선 117"/>
          <p:cNvCxnSpPr>
            <a:stCxn id="115" idx="1"/>
          </p:cNvCxnSpPr>
          <p:nvPr/>
        </p:nvCxnSpPr>
        <p:spPr>
          <a:xfrm rot="10800000" flipH="1" flipV="1">
            <a:off x="623393" y="2511599"/>
            <a:ext cx="852636" cy="1313444"/>
          </a:xfrm>
          <a:prstGeom prst="bentConnector3">
            <a:avLst>
              <a:gd name="adj1" fmla="val -35748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3215680" y="2262064"/>
            <a:ext cx="2208245" cy="374848"/>
          </a:xfrm>
          <a:prstGeom prst="roundRect">
            <a:avLst>
              <a:gd name="adj" fmla="val 33303"/>
            </a:avLst>
          </a:prstGeom>
          <a:solidFill>
            <a:schemeClr val="accent4"/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chemeClr val="tx2">
                    <a:lumMod val="50000"/>
                  </a:schemeClr>
                </a:solidFill>
              </a:rPr>
              <a:t>거절결정불복심판청구</a:t>
            </a:r>
          </a:p>
        </p:txBody>
      </p:sp>
      <p:cxnSp>
        <p:nvCxnSpPr>
          <p:cNvPr id="120" name="꺾인 연결선 119"/>
          <p:cNvCxnSpPr>
            <a:stCxn id="117" idx="1"/>
          </p:cNvCxnSpPr>
          <p:nvPr/>
        </p:nvCxnSpPr>
        <p:spPr>
          <a:xfrm rot="10800000" flipH="1" flipV="1">
            <a:off x="623393" y="4706441"/>
            <a:ext cx="852636" cy="1313444"/>
          </a:xfrm>
          <a:prstGeom prst="bentConnector3">
            <a:avLst>
              <a:gd name="adj1" fmla="val -35748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3215680" y="2720430"/>
            <a:ext cx="2208245" cy="374848"/>
          </a:xfrm>
          <a:prstGeom prst="roundRect">
            <a:avLst>
              <a:gd name="adj" fmla="val 33303"/>
            </a:avLst>
          </a:prstGeom>
          <a:solidFill>
            <a:schemeClr val="accent4"/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chemeClr val="tx2">
                    <a:lumMod val="50000"/>
                  </a:schemeClr>
                </a:solidFill>
              </a:rPr>
              <a:t>재심사청구</a:t>
            </a:r>
            <a:r>
              <a:rPr lang="en-US" altLang="ko-KR" sz="1200" dirty="0">
                <a:solidFill>
                  <a:schemeClr val="tx2">
                    <a:lumMod val="50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tx2">
                    <a:lumMod val="50000"/>
                  </a:schemeClr>
                </a:solidFill>
              </a:rPr>
              <a:t>보정</a:t>
            </a:r>
            <a:r>
              <a:rPr lang="en-US" altLang="ko-KR" sz="1200" dirty="0">
                <a:solidFill>
                  <a:schemeClr val="tx2">
                    <a:lumMod val="50000"/>
                  </a:schemeClr>
                </a:solidFill>
              </a:rPr>
              <a:t>)</a:t>
            </a:r>
            <a:endParaRPr lang="ko-KR" alt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3215680" y="3179253"/>
            <a:ext cx="2208245" cy="374848"/>
          </a:xfrm>
          <a:prstGeom prst="roundRect">
            <a:avLst>
              <a:gd name="adj" fmla="val 33303"/>
            </a:avLst>
          </a:prstGeom>
          <a:solidFill>
            <a:schemeClr val="accent4"/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chemeClr val="tx2">
                    <a:lumMod val="50000"/>
                  </a:schemeClr>
                </a:solidFill>
              </a:rPr>
              <a:t>분할출원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15680" y="3637619"/>
            <a:ext cx="2208245" cy="374848"/>
          </a:xfrm>
          <a:prstGeom prst="roundRect">
            <a:avLst>
              <a:gd name="adj" fmla="val 33303"/>
            </a:avLst>
          </a:prstGeom>
          <a:solidFill>
            <a:schemeClr val="accent4"/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chemeClr val="tx2">
                    <a:lumMod val="50000"/>
                  </a:schemeClr>
                </a:solidFill>
              </a:rPr>
              <a:t>변경출원</a:t>
            </a:r>
          </a:p>
        </p:txBody>
      </p:sp>
      <p:cxnSp>
        <p:nvCxnSpPr>
          <p:cNvPr id="124" name="꺾인 연결선 123"/>
          <p:cNvCxnSpPr>
            <a:stCxn id="119" idx="1"/>
          </p:cNvCxnSpPr>
          <p:nvPr/>
        </p:nvCxnSpPr>
        <p:spPr>
          <a:xfrm rot="10800000" flipV="1">
            <a:off x="1656592" y="2449488"/>
            <a:ext cx="1559088" cy="818195"/>
          </a:xfrm>
          <a:prstGeom prst="bentConnector3">
            <a:avLst>
              <a:gd name="adj1" fmla="val 34758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꺾인 연결선 124"/>
          <p:cNvCxnSpPr>
            <a:stCxn id="123" idx="1"/>
          </p:cNvCxnSpPr>
          <p:nvPr/>
        </p:nvCxnSpPr>
        <p:spPr>
          <a:xfrm rot="10800000">
            <a:off x="1656592" y="3267683"/>
            <a:ext cx="1559088" cy="557360"/>
          </a:xfrm>
          <a:prstGeom prst="bentConnector3">
            <a:avLst>
              <a:gd name="adj1" fmla="val 34758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꺾인 연결선 125"/>
          <p:cNvCxnSpPr>
            <a:stCxn id="121" idx="1"/>
          </p:cNvCxnSpPr>
          <p:nvPr/>
        </p:nvCxnSpPr>
        <p:spPr>
          <a:xfrm rot="10800000" flipV="1">
            <a:off x="1656592" y="2907854"/>
            <a:ext cx="1559088" cy="359829"/>
          </a:xfrm>
          <a:prstGeom prst="bentConnector3">
            <a:avLst>
              <a:gd name="adj1" fmla="val 34758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꺾인 연결선 126"/>
          <p:cNvCxnSpPr>
            <a:stCxn id="122" idx="1"/>
          </p:cNvCxnSpPr>
          <p:nvPr/>
        </p:nvCxnSpPr>
        <p:spPr>
          <a:xfrm rot="10800000">
            <a:off x="1656592" y="3267683"/>
            <a:ext cx="1559088" cy="98994"/>
          </a:xfrm>
          <a:prstGeom prst="bentConnector3">
            <a:avLst>
              <a:gd name="adj1" fmla="val 34758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꺾인 연결선 127"/>
          <p:cNvCxnSpPr>
            <a:stCxn id="119" idx="3"/>
          </p:cNvCxnSpPr>
          <p:nvPr/>
        </p:nvCxnSpPr>
        <p:spPr>
          <a:xfrm flipH="1">
            <a:off x="1656592" y="2449489"/>
            <a:ext cx="3767333" cy="3013037"/>
          </a:xfrm>
          <a:prstGeom prst="bentConnector3">
            <a:avLst>
              <a:gd name="adj1" fmla="val -8091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꺾인 연결선 128"/>
          <p:cNvCxnSpPr>
            <a:stCxn id="122" idx="3"/>
          </p:cNvCxnSpPr>
          <p:nvPr/>
        </p:nvCxnSpPr>
        <p:spPr>
          <a:xfrm flipH="1">
            <a:off x="1656592" y="3366677"/>
            <a:ext cx="3767333" cy="2095848"/>
          </a:xfrm>
          <a:prstGeom prst="bentConnector3">
            <a:avLst>
              <a:gd name="adj1" fmla="val -8091"/>
            </a:avLst>
          </a:prstGeom>
          <a:ln w="3175">
            <a:solidFill>
              <a:schemeClr val="bg1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타원 129"/>
          <p:cNvSpPr/>
          <p:nvPr/>
        </p:nvSpPr>
        <p:spPr>
          <a:xfrm>
            <a:off x="2597987" y="2838154"/>
            <a:ext cx="154738" cy="161338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31" name="TextBox 130"/>
          <p:cNvSpPr txBox="1"/>
          <p:nvPr/>
        </p:nvSpPr>
        <p:spPr>
          <a:xfrm>
            <a:off x="2196040" y="2803407"/>
            <a:ext cx="460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택일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4944" y="2907853"/>
            <a:ext cx="5453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3</a:t>
            </a:r>
            <a:r>
              <a:rPr lang="ko-KR" altLang="en-US" sz="1200" dirty="0"/>
              <a:t>개월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54944" y="5231693"/>
            <a:ext cx="5453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3</a:t>
            </a:r>
            <a:r>
              <a:rPr lang="ko-KR" altLang="en-US" sz="1200" dirty="0"/>
              <a:t>개월</a:t>
            </a:r>
          </a:p>
        </p:txBody>
      </p:sp>
      <p:graphicFrame>
        <p:nvGraphicFramePr>
          <p:cNvPr id="134" name="표 1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053605"/>
              </p:ext>
            </p:extLst>
          </p:nvPr>
        </p:nvGraphicFramePr>
        <p:xfrm>
          <a:off x="5999989" y="1052737"/>
          <a:ext cx="5856651" cy="5112567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1746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99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50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구 분</a:t>
                      </a:r>
                      <a:endParaRPr lang="ko-KR" altLang="en-US" sz="1100" dirty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</a:rPr>
                        <a:t>취</a:t>
                      </a:r>
                      <a:r>
                        <a:rPr lang="ko-KR" altLang="en-US" sz="1100" dirty="0">
                          <a:effectLst/>
                        </a:rPr>
                        <a:t> 급</a:t>
                      </a:r>
                      <a:endParaRPr lang="ko-KR" altLang="en-US" sz="1100" dirty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0003">
                <a:tc>
                  <a:txBody>
                    <a:bodyPr/>
                    <a:lstStyle/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심판청구서를 제출한 후 재심사청구 취지를 기재한 </a:t>
                      </a:r>
                      <a:endParaRPr lang="en-US" altLang="ko-KR" sz="1100" dirty="0">
                        <a:effectLst/>
                      </a:endParaRPr>
                    </a:p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</a:rPr>
                        <a:t>보정서를</a:t>
                      </a:r>
                      <a:r>
                        <a:rPr lang="ko-KR" altLang="en-US" sz="1100" dirty="0">
                          <a:effectLst/>
                        </a:rPr>
                        <a:t> 제출한 경우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tc>
                  <a:txBody>
                    <a:bodyPr/>
                    <a:lstStyle/>
                    <a:p>
                      <a:pPr marL="35560" marR="3556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제</a:t>
                      </a:r>
                      <a:r>
                        <a:rPr lang="en-US" altLang="ko-KR" sz="1100" dirty="0">
                          <a:effectLst/>
                        </a:rPr>
                        <a:t>67</a:t>
                      </a:r>
                      <a:r>
                        <a:rPr lang="ko-KR" altLang="en-US" sz="1100" dirty="0">
                          <a:effectLst/>
                        </a:rPr>
                        <a:t>조의</a:t>
                      </a:r>
                      <a:r>
                        <a:rPr lang="en-US" altLang="ko-KR" sz="1100" dirty="0">
                          <a:effectLst/>
                        </a:rPr>
                        <a:t>2</a:t>
                      </a:r>
                      <a:r>
                        <a:rPr lang="ko-KR" altLang="en-US" sz="1100" dirty="0">
                          <a:effectLst/>
                        </a:rPr>
                        <a:t>제</a:t>
                      </a:r>
                      <a:r>
                        <a:rPr lang="en-US" altLang="ko-KR" sz="1100" dirty="0">
                          <a:effectLst/>
                        </a:rPr>
                        <a:t>1</a:t>
                      </a:r>
                      <a:r>
                        <a:rPr lang="ko-KR" altLang="en-US" sz="1100" dirty="0" err="1">
                          <a:effectLst/>
                        </a:rPr>
                        <a:t>항제</a:t>
                      </a:r>
                      <a:r>
                        <a:rPr lang="en-US" altLang="ko-KR" sz="1100" dirty="0">
                          <a:effectLst/>
                        </a:rPr>
                        <a:t>2</a:t>
                      </a:r>
                      <a:r>
                        <a:rPr lang="ko-KR" altLang="en-US" sz="1100" dirty="0">
                          <a:effectLst/>
                        </a:rPr>
                        <a:t>호에서 재심사를 청구할 때에 이미 거절결정불복심판이 청구된 경우에는 재심사를 청구할 수 없다고 규정하고 있는바</a:t>
                      </a:r>
                      <a:r>
                        <a:rPr lang="en-US" altLang="ko-KR" sz="1100" dirty="0">
                          <a:effectLst/>
                        </a:rPr>
                        <a:t>, </a:t>
                      </a:r>
                      <a:r>
                        <a:rPr lang="ko-KR" altLang="en-US" sz="1100" dirty="0" err="1">
                          <a:effectLst/>
                        </a:rPr>
                        <a:t>보정서</a:t>
                      </a:r>
                      <a:r>
                        <a:rPr lang="ko-KR" altLang="en-US" sz="1100" dirty="0">
                          <a:effectLst/>
                        </a:rPr>
                        <a:t> 제출 시점을 기준으로 심판청구가 계속 중인 경우에는 특허법시행규칙 제</a:t>
                      </a:r>
                      <a:r>
                        <a:rPr lang="en-US" altLang="ko-KR" sz="1100" dirty="0">
                          <a:effectLst/>
                        </a:rPr>
                        <a:t>11</a:t>
                      </a:r>
                      <a:r>
                        <a:rPr lang="ko-KR" altLang="en-US" sz="1100" dirty="0">
                          <a:effectLst/>
                        </a:rPr>
                        <a:t>조제</a:t>
                      </a:r>
                      <a:r>
                        <a:rPr lang="en-US" altLang="ko-KR" sz="1100" dirty="0">
                          <a:effectLst/>
                        </a:rPr>
                        <a:t>1</a:t>
                      </a:r>
                      <a:r>
                        <a:rPr lang="ko-KR" altLang="en-US" sz="1100" dirty="0" err="1">
                          <a:effectLst/>
                        </a:rPr>
                        <a:t>항제</a:t>
                      </a:r>
                      <a:r>
                        <a:rPr lang="en-US" altLang="ko-KR" sz="1100" dirty="0">
                          <a:effectLst/>
                        </a:rPr>
                        <a:t>19</a:t>
                      </a:r>
                      <a:r>
                        <a:rPr lang="ko-KR" altLang="en-US" sz="1100" dirty="0">
                          <a:effectLst/>
                        </a:rPr>
                        <a:t>호를 이유로 소명 기회를 부여하고 </a:t>
                      </a:r>
                      <a:r>
                        <a:rPr lang="ko-KR" altLang="en-US" sz="1100" dirty="0" err="1">
                          <a:effectLst/>
                          <a:highlight>
                            <a:srgbClr val="FFFF00"/>
                          </a:highlight>
                        </a:rPr>
                        <a:t>보정서를</a:t>
                      </a:r>
                      <a:r>
                        <a:rPr lang="ko-KR" altLang="en-US" sz="1100" dirty="0">
                          <a:effectLst/>
                          <a:highlight>
                            <a:srgbClr val="FFFF00"/>
                          </a:highlight>
                        </a:rPr>
                        <a:t> 반려</a:t>
                      </a:r>
                      <a:r>
                        <a:rPr lang="ko-KR" altLang="en-US" sz="1100" dirty="0">
                          <a:effectLst/>
                        </a:rPr>
                        <a:t>한다</a:t>
                      </a:r>
                      <a:r>
                        <a:rPr lang="en-US" altLang="ko-KR" sz="1100" dirty="0">
                          <a:effectLst/>
                        </a:rPr>
                        <a:t>. </a:t>
                      </a:r>
                      <a:r>
                        <a:rPr lang="ko-KR" altLang="en-US" sz="1100" dirty="0">
                          <a:effectLst/>
                        </a:rPr>
                        <a:t>이때 보정서를 반려 받은 출원인은 제</a:t>
                      </a:r>
                      <a:r>
                        <a:rPr lang="en-US" altLang="ko-KR" sz="1100" dirty="0">
                          <a:effectLst/>
                        </a:rPr>
                        <a:t>67</a:t>
                      </a:r>
                      <a:r>
                        <a:rPr lang="ko-KR" altLang="en-US" sz="1100" dirty="0">
                          <a:effectLst/>
                        </a:rPr>
                        <a:t>조의</a:t>
                      </a:r>
                      <a:r>
                        <a:rPr lang="en-US" altLang="ko-KR" sz="1100" dirty="0">
                          <a:effectLst/>
                        </a:rPr>
                        <a:t>2 </a:t>
                      </a:r>
                      <a:r>
                        <a:rPr lang="ko-KR" altLang="en-US" sz="1100" dirty="0">
                          <a:effectLst/>
                        </a:rPr>
                        <a:t>제</a:t>
                      </a:r>
                      <a:r>
                        <a:rPr lang="en-US" altLang="ko-KR" sz="1100" dirty="0">
                          <a:effectLst/>
                        </a:rPr>
                        <a:t>1</a:t>
                      </a:r>
                      <a:r>
                        <a:rPr lang="ko-KR" altLang="en-US" sz="1100" dirty="0">
                          <a:effectLst/>
                        </a:rPr>
                        <a:t>항의 기간이 지나지 않았다면 심판청구를 취하하고 보정하면서 재심사를 다시 청구할 수 있다</a:t>
                      </a:r>
                      <a:r>
                        <a:rPr lang="en-US" altLang="ko-KR" sz="1100" dirty="0">
                          <a:effectLst/>
                        </a:rPr>
                        <a:t>.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3529">
                <a:tc>
                  <a:txBody>
                    <a:bodyPr/>
                    <a:lstStyle/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재심사청구 취지를 기재한 </a:t>
                      </a:r>
                      <a:r>
                        <a:rPr lang="ko-KR" altLang="en-US" sz="1100" dirty="0" err="1">
                          <a:effectLst/>
                        </a:rPr>
                        <a:t>보정서를</a:t>
                      </a:r>
                      <a:r>
                        <a:rPr lang="ko-KR" altLang="en-US" sz="1100" dirty="0">
                          <a:effectLst/>
                        </a:rPr>
                        <a:t> 제출한 후 </a:t>
                      </a:r>
                      <a:endParaRPr lang="en-US" altLang="ko-KR" sz="1100" dirty="0">
                        <a:effectLst/>
                      </a:endParaRPr>
                    </a:p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심판청구서를 제출한 경우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tc>
                  <a:txBody>
                    <a:bodyPr/>
                    <a:lstStyle/>
                    <a:p>
                      <a:pPr marL="35560" marR="3556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보정서 제출에 따른 보정 및 재심사청구 절차는 적법하므로 거절결정이 취소된 것으로 보고 재심사절차를 진행한다</a:t>
                      </a:r>
                      <a:r>
                        <a:rPr lang="en-US" altLang="ko-KR" sz="1100" dirty="0">
                          <a:effectLst/>
                        </a:rPr>
                        <a:t>. </a:t>
                      </a:r>
                      <a:r>
                        <a:rPr lang="ko-KR" altLang="en-US" sz="1100" dirty="0">
                          <a:effectLst/>
                        </a:rPr>
                        <a:t>이 경우 </a:t>
                      </a:r>
                      <a:r>
                        <a:rPr lang="ko-KR" altLang="en-US" sz="1100" dirty="0">
                          <a:effectLst/>
                          <a:highlight>
                            <a:srgbClr val="FFFF00"/>
                          </a:highlight>
                        </a:rPr>
                        <a:t>심판절차는 </a:t>
                      </a:r>
                      <a:r>
                        <a:rPr lang="ko-KR" altLang="en-US" sz="1100" dirty="0" err="1">
                          <a:effectLst/>
                          <a:highlight>
                            <a:srgbClr val="FFFF00"/>
                          </a:highlight>
                        </a:rPr>
                        <a:t>심결각하</a:t>
                      </a:r>
                      <a:r>
                        <a:rPr lang="ko-KR" altLang="en-US" sz="1100" dirty="0" err="1">
                          <a:effectLst/>
                        </a:rPr>
                        <a:t>된다</a:t>
                      </a:r>
                      <a:r>
                        <a:rPr lang="en-US" altLang="ko-KR" sz="1100" dirty="0">
                          <a:effectLst/>
                        </a:rPr>
                        <a:t>.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0003">
                <a:tc>
                  <a:txBody>
                    <a:bodyPr/>
                    <a:lstStyle/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심판청구서와 재심사청구 취지를 기재한 보정서가 </a:t>
                      </a:r>
                      <a:endParaRPr lang="en-US" altLang="ko-KR" sz="1100" dirty="0">
                        <a:effectLst/>
                      </a:endParaRPr>
                    </a:p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</a:rPr>
                        <a:t>동일자로</a:t>
                      </a:r>
                      <a:r>
                        <a:rPr lang="ko-KR" altLang="en-US" sz="1100" dirty="0">
                          <a:effectLst/>
                        </a:rPr>
                        <a:t> 제출된 경우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tc>
                  <a:txBody>
                    <a:bodyPr/>
                    <a:lstStyle/>
                    <a:p>
                      <a:pPr marL="35560" marR="3556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심판청구서와 보정서의 제출 시점을 확정할 수 없는바</a:t>
                      </a:r>
                      <a:r>
                        <a:rPr lang="en-US" altLang="ko-KR" sz="1100" dirty="0">
                          <a:effectLst/>
                        </a:rPr>
                        <a:t>, </a:t>
                      </a:r>
                      <a:r>
                        <a:rPr lang="ko-KR" altLang="en-US" sz="1100" dirty="0">
                          <a:effectLst/>
                        </a:rPr>
                        <a:t>출원인의 선택을 유도하기 위해 보정서가 늦게 제출된 것으로 보고 </a:t>
                      </a:r>
                      <a:r>
                        <a:rPr lang="ko-KR" altLang="en-US" sz="1100" dirty="0" err="1">
                          <a:effectLst/>
                        </a:rPr>
                        <a:t>보정서에</a:t>
                      </a:r>
                      <a:r>
                        <a:rPr lang="ko-KR" altLang="en-US" sz="1100" dirty="0">
                          <a:effectLst/>
                        </a:rPr>
                        <a:t> 대하여 반려이유를 즉시 통지한다</a:t>
                      </a:r>
                      <a:r>
                        <a:rPr lang="en-US" altLang="ko-KR" sz="1100" dirty="0">
                          <a:effectLst/>
                        </a:rPr>
                        <a:t>. </a:t>
                      </a:r>
                      <a:r>
                        <a:rPr lang="ko-KR" altLang="en-US" sz="1100" dirty="0">
                          <a:effectLst/>
                          <a:highlight>
                            <a:srgbClr val="FFFF00"/>
                          </a:highlight>
                        </a:rPr>
                        <a:t>반려이유통지서에서는 </a:t>
                      </a:r>
                      <a:r>
                        <a:rPr lang="ko-KR" altLang="en-US" sz="1100" dirty="0" err="1">
                          <a:effectLst/>
                          <a:highlight>
                            <a:srgbClr val="FFFF00"/>
                          </a:highlight>
                        </a:rPr>
                        <a:t>출원인이</a:t>
                      </a:r>
                      <a:r>
                        <a:rPr lang="ko-KR" altLang="en-US" sz="1100" dirty="0">
                          <a:effectLst/>
                          <a:highlight>
                            <a:srgbClr val="FFFF00"/>
                          </a:highlight>
                        </a:rPr>
                        <a:t> 거절결정불복심판이나 재심사 중 어느 하나를 선택할 수 있음을 상세히 설명</a:t>
                      </a:r>
                      <a:r>
                        <a:rPr lang="ko-KR" altLang="en-US" sz="1100" dirty="0">
                          <a:effectLst/>
                        </a:rPr>
                        <a:t>하여야 한다</a:t>
                      </a:r>
                      <a:r>
                        <a:rPr lang="en-US" altLang="ko-KR" sz="1100" dirty="0">
                          <a:effectLst/>
                        </a:rPr>
                        <a:t>. </a:t>
                      </a:r>
                      <a:r>
                        <a:rPr lang="ko-KR" altLang="en-US" sz="1100" dirty="0" err="1">
                          <a:effectLst/>
                        </a:rPr>
                        <a:t>출원인이</a:t>
                      </a:r>
                      <a:r>
                        <a:rPr lang="ko-KR" altLang="en-US" sz="1100" dirty="0">
                          <a:effectLst/>
                        </a:rPr>
                        <a:t> 심판청구를 취하하는 경우에는 재심사청구가 유효한 것으로 보고 재심사절차를 진행하고</a:t>
                      </a:r>
                      <a:r>
                        <a:rPr lang="en-US" altLang="ko-KR" sz="1100" dirty="0">
                          <a:effectLst/>
                        </a:rPr>
                        <a:t>, </a:t>
                      </a:r>
                      <a:r>
                        <a:rPr lang="ko-KR" altLang="en-US" sz="1100" dirty="0">
                          <a:effectLst/>
                        </a:rPr>
                        <a:t>반려 요청하는 경우에는 </a:t>
                      </a:r>
                      <a:r>
                        <a:rPr lang="ko-KR" altLang="en-US" sz="1100" dirty="0" err="1">
                          <a:effectLst/>
                        </a:rPr>
                        <a:t>보정서를</a:t>
                      </a:r>
                      <a:r>
                        <a:rPr lang="ko-KR" altLang="en-US" sz="1100" dirty="0">
                          <a:effectLst/>
                        </a:rPr>
                        <a:t> 즉시 반려한다</a:t>
                      </a:r>
                      <a:r>
                        <a:rPr lang="en-US" altLang="ko-KR" sz="1100" dirty="0">
                          <a:effectLst/>
                        </a:rPr>
                        <a:t>.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3529">
                <a:tc>
                  <a:txBody>
                    <a:bodyPr/>
                    <a:lstStyle/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</a:rPr>
                        <a:t>심판청구서와 재심사청구 취지가 기재되지 않은 </a:t>
                      </a:r>
                      <a:endParaRPr lang="en-US" altLang="ko-KR" sz="1100" dirty="0">
                        <a:effectLst/>
                      </a:endParaRPr>
                    </a:p>
                    <a:p>
                      <a:pPr marL="35560" marR="3556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</a:rPr>
                        <a:t>보정서를</a:t>
                      </a:r>
                      <a:r>
                        <a:rPr lang="ko-KR" altLang="en-US" sz="1100" dirty="0">
                          <a:effectLst/>
                        </a:rPr>
                        <a:t> </a:t>
                      </a:r>
                      <a:r>
                        <a:rPr lang="ko-KR" altLang="en-US" sz="1100" dirty="0" err="1">
                          <a:effectLst/>
                        </a:rPr>
                        <a:t>동일자에</a:t>
                      </a:r>
                      <a:r>
                        <a:rPr lang="ko-KR" altLang="en-US" sz="1100" dirty="0">
                          <a:effectLst/>
                        </a:rPr>
                        <a:t> 제출한 경우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tc>
                  <a:txBody>
                    <a:bodyPr/>
                    <a:lstStyle/>
                    <a:p>
                      <a:pPr marL="35560" marR="3556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</a:rPr>
                        <a:t>보정서에</a:t>
                      </a:r>
                      <a:r>
                        <a:rPr lang="ko-KR" altLang="en-US" sz="1100" dirty="0">
                          <a:effectLst/>
                        </a:rPr>
                        <a:t> 재심사청구의 취지가 기재되지 않은바</a:t>
                      </a:r>
                      <a:r>
                        <a:rPr lang="en-US" altLang="ko-KR" sz="1100" dirty="0">
                          <a:effectLst/>
                        </a:rPr>
                        <a:t>, </a:t>
                      </a:r>
                      <a:r>
                        <a:rPr lang="ko-KR" altLang="en-US" sz="1100" dirty="0">
                          <a:effectLst/>
                        </a:rPr>
                        <a:t>보정서는 보정이 가능한 기간 내에 제출된 것으로 볼 수 없으므로 이 법 또는 이 법에 의한 명령이 정하는 기간 이내에 제출되지 아니한 서류로 취급하여 소명 기회를 부여한 후 </a:t>
                      </a:r>
                      <a:r>
                        <a:rPr lang="ko-KR" altLang="en-US" sz="1100" dirty="0">
                          <a:effectLst/>
                          <a:highlight>
                            <a:srgbClr val="FFFF00"/>
                          </a:highlight>
                        </a:rPr>
                        <a:t>보정서를 반려</a:t>
                      </a:r>
                      <a:r>
                        <a:rPr lang="ko-KR" altLang="en-US" sz="1100" dirty="0">
                          <a:effectLst/>
                        </a:rPr>
                        <a:t>한다</a:t>
                      </a:r>
                      <a:r>
                        <a:rPr lang="en-US" altLang="ko-KR" sz="1100" dirty="0">
                          <a:effectLst/>
                        </a:rPr>
                        <a:t>.</a:t>
                      </a:r>
                      <a:endParaRPr lang="ko-KR" altLang="en-US" sz="1100" dirty="0">
                        <a:solidFill>
                          <a:srgbClr val="000000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86360" marR="86360" marT="17907" marB="1790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35571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양쪽 모서리가 둥근 사각형 61"/>
          <p:cNvSpPr/>
          <p:nvPr/>
        </p:nvSpPr>
        <p:spPr>
          <a:xfrm>
            <a:off x="4210619" y="3378556"/>
            <a:ext cx="2428306" cy="680843"/>
          </a:xfrm>
          <a:prstGeom prst="round2SameRect">
            <a:avLst>
              <a:gd name="adj1" fmla="val 50000"/>
              <a:gd name="adj2" fmla="val 0"/>
            </a:avLst>
          </a:prstGeom>
          <a:pattFill prst="dkHorz">
            <a:fgClr>
              <a:schemeClr val="tx2">
                <a:lumMod val="75000"/>
              </a:schemeClr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5" name="직선 화살표 연결선 124"/>
          <p:cNvCxnSpPr/>
          <p:nvPr/>
        </p:nvCxnSpPr>
        <p:spPr>
          <a:xfrm>
            <a:off x="1327446" y="4059594"/>
            <a:ext cx="9658350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47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청구항별</a:t>
            </a:r>
            <a:r>
              <a:rPr lang="ko-KR" altLang="en-US" dirty="0"/>
              <a:t> </a:t>
            </a:r>
            <a:r>
              <a:rPr lang="ko-KR" altLang="en-US" dirty="0" err="1"/>
              <a:t>일부취하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294967295"/>
          </p:nvPr>
        </p:nvSpPr>
        <p:spPr>
          <a:xfrm>
            <a:off x="11125200" y="0"/>
            <a:ext cx="1066800" cy="673100"/>
          </a:xfrm>
        </p:spPr>
        <p:txBody>
          <a:bodyPr/>
          <a:lstStyle/>
          <a:p>
            <a:r>
              <a:rPr lang="en-US" altLang="ko-KR" dirty="0"/>
              <a:t>275</a:t>
            </a:r>
            <a:endParaRPr lang="ko-KR" altLang="en-US"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1306064" y="3807181"/>
            <a:ext cx="989461" cy="5048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출원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875" y="986046"/>
            <a:ext cx="119363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>
                <a:solidFill>
                  <a:schemeClr val="tx2"/>
                </a:solidFill>
              </a:rPr>
              <a:t>문제가 되는 것은 </a:t>
            </a:r>
            <a:r>
              <a:rPr lang="ko-KR" altLang="en-US" sz="1400" dirty="0" err="1">
                <a:solidFill>
                  <a:schemeClr val="tx2"/>
                </a:solidFill>
              </a:rPr>
              <a:t>청구항별</a:t>
            </a:r>
            <a:r>
              <a:rPr lang="ko-KR" altLang="en-US" sz="1400" dirty="0">
                <a:solidFill>
                  <a:schemeClr val="tx2"/>
                </a:solidFill>
              </a:rPr>
              <a:t> 일부 취하가 허용되는지 여부이다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이에 대하여 대법원 </a:t>
            </a:r>
            <a:r>
              <a:rPr lang="en-US" altLang="ko-KR" sz="1400" dirty="0">
                <a:solidFill>
                  <a:schemeClr val="tx2"/>
                </a:solidFill>
              </a:rPr>
              <a:t>2003. 3. 25. </a:t>
            </a:r>
            <a:r>
              <a:rPr lang="ko-KR" altLang="en-US" sz="1400" dirty="0">
                <a:solidFill>
                  <a:schemeClr val="tx2"/>
                </a:solidFill>
              </a:rPr>
              <a:t>선고 </a:t>
            </a:r>
            <a:r>
              <a:rPr lang="en-US" altLang="ko-KR" sz="1400" dirty="0">
                <a:solidFill>
                  <a:schemeClr val="tx2"/>
                </a:solidFill>
              </a:rPr>
              <a:t>2001</a:t>
            </a:r>
            <a:r>
              <a:rPr lang="ko-KR" altLang="en-US" sz="1400" dirty="0">
                <a:solidFill>
                  <a:schemeClr val="tx2"/>
                </a:solidFill>
              </a:rPr>
              <a:t>후</a:t>
            </a:r>
            <a:r>
              <a:rPr lang="en-US" altLang="ko-KR" sz="1400" dirty="0">
                <a:solidFill>
                  <a:schemeClr val="tx2"/>
                </a:solidFill>
              </a:rPr>
              <a:t>1044 </a:t>
            </a:r>
            <a:r>
              <a:rPr lang="ko-KR" altLang="en-US" sz="1400" dirty="0">
                <a:solidFill>
                  <a:schemeClr val="tx2"/>
                </a:solidFill>
              </a:rPr>
              <a:t>판결은 “</a:t>
            </a:r>
            <a:r>
              <a:rPr lang="ko-KR" altLang="en-US" sz="1400" dirty="0" err="1">
                <a:solidFill>
                  <a:schemeClr val="tx2"/>
                </a:solidFill>
              </a:rPr>
              <a:t>출원서에</a:t>
            </a:r>
            <a:r>
              <a:rPr lang="ko-KR" altLang="en-US" sz="1400" dirty="0">
                <a:solidFill>
                  <a:schemeClr val="tx2"/>
                </a:solidFill>
              </a:rPr>
              <a:t> 첨부된 명세서와 도면의 보정이라는 제도 및 그 보정의 시기와 범위를 제한하는 규정을 두고 있을 뿐 특허결정이 되기 전에 특허출원의 일부를 취하할 수 있다고 규정해 놓은 바 없으며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특허법에 정해진 보정기간이 지난 후에도 특허출원의 일부 취하를 허용하는 것은 특허출원의 보정에 엄격한 시기적 제한을 두고 있는 특허법의 취지에도 반하므로 원칙적으로 </a:t>
            </a:r>
            <a:r>
              <a:rPr lang="ko-KR" altLang="en-US" sz="1400" dirty="0" err="1">
                <a:solidFill>
                  <a:schemeClr val="tx2"/>
                </a:solidFill>
              </a:rPr>
              <a:t>청구항별</a:t>
            </a:r>
            <a:r>
              <a:rPr lang="ko-KR" altLang="en-US" sz="1400" dirty="0">
                <a:solidFill>
                  <a:schemeClr val="tx2"/>
                </a:solidFill>
              </a:rPr>
              <a:t> 일부 취하는 허용되지 아니한다</a:t>
            </a:r>
            <a:r>
              <a:rPr lang="en-US" altLang="ko-KR" sz="1400" dirty="0">
                <a:solidFill>
                  <a:schemeClr val="tx2"/>
                </a:solidFill>
              </a:rPr>
              <a:t>."</a:t>
            </a:r>
            <a:r>
              <a:rPr lang="ko-KR" altLang="en-US" sz="1400" dirty="0">
                <a:solidFill>
                  <a:schemeClr val="tx2"/>
                </a:solidFill>
              </a:rPr>
              <a:t>고 하여 일부 </a:t>
            </a:r>
            <a:r>
              <a:rPr lang="ko-KR" altLang="en-US" sz="1400" dirty="0" err="1">
                <a:solidFill>
                  <a:schemeClr val="tx2"/>
                </a:solidFill>
              </a:rPr>
              <a:t>취하서를</a:t>
            </a:r>
            <a:r>
              <a:rPr lang="ko-KR" altLang="en-US" sz="1400" dirty="0">
                <a:solidFill>
                  <a:schemeClr val="tx2"/>
                </a:solidFill>
              </a:rPr>
              <a:t> 삭제보정서와 동일시하고 있다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즉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 err="1">
                <a:solidFill>
                  <a:schemeClr val="tx2"/>
                </a:solidFill>
                <a:highlight>
                  <a:srgbClr val="FFFF00"/>
                </a:highlight>
              </a:rPr>
              <a:t>청구항별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 일부 취하를 하는 경우 보정기간의 제한을 가하여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보정기간을 지난 일부 </a:t>
            </a:r>
            <a:r>
              <a:rPr lang="ko-KR" altLang="en-US" sz="1400" dirty="0" err="1">
                <a:solidFill>
                  <a:schemeClr val="tx2"/>
                </a:solidFill>
                <a:highlight>
                  <a:srgbClr val="FFFF00"/>
                </a:highlight>
              </a:rPr>
              <a:t>취하서를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 </a:t>
            </a:r>
            <a:r>
              <a:rPr lang="ko-KR" altLang="en-US" sz="1400" dirty="0" err="1">
                <a:solidFill>
                  <a:schemeClr val="tx2"/>
                </a:solidFill>
                <a:highlight>
                  <a:srgbClr val="FFFF00"/>
                </a:highlight>
              </a:rPr>
              <a:t>불수리하는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 한편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, 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특허출원을 </a:t>
            </a:r>
            <a:r>
              <a:rPr lang="ko-KR" altLang="en-US" sz="1400" dirty="0" err="1">
                <a:solidFill>
                  <a:schemeClr val="tx2"/>
                </a:solidFill>
                <a:highlight>
                  <a:srgbClr val="FFFF00"/>
                </a:highlight>
              </a:rPr>
              <a:t>거절결정하였다</a:t>
            </a:r>
            <a:r>
              <a:rPr lang="en-US" altLang="ko-KR" sz="1400" dirty="0">
                <a:solidFill>
                  <a:schemeClr val="tx2"/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tx2"/>
              </a:solidFill>
              <a:highlight>
                <a:srgbClr val="FFFF00"/>
              </a:highlight>
            </a:endParaRPr>
          </a:p>
        </p:txBody>
      </p:sp>
      <p:cxnSp>
        <p:nvCxnSpPr>
          <p:cNvPr id="53" name="직선 연결선 52"/>
          <p:cNvCxnSpPr/>
          <p:nvPr/>
        </p:nvCxnSpPr>
        <p:spPr>
          <a:xfrm>
            <a:off x="0" y="2155597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3715889" y="3807181"/>
            <a:ext cx="989461" cy="5048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OA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7144889" y="3807181"/>
            <a:ext cx="989461" cy="504825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>
                <a:solidFill>
                  <a:schemeClr val="tx1"/>
                </a:solidFill>
              </a:rPr>
              <a:t>일부취하</a:t>
            </a:r>
            <a:endParaRPr lang="en-US" altLang="ko-KR" sz="1400" dirty="0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952500" y="4905374"/>
            <a:ext cx="1696588" cy="55245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  <a:r>
              <a:rPr lang="en-US" altLang="ko-KR" sz="1200" dirty="0">
                <a:solidFill>
                  <a:schemeClr val="tx1"/>
                </a:solidFill>
              </a:rPr>
              <a:t>~20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</a:p>
        </p:txBody>
      </p:sp>
      <p:cxnSp>
        <p:nvCxnSpPr>
          <p:cNvPr id="7" name="직선 연결선 6"/>
          <p:cNvCxnSpPr>
            <a:stCxn id="5" idx="0"/>
            <a:endCxn id="91" idx="2"/>
          </p:cNvCxnSpPr>
          <p:nvPr/>
        </p:nvCxnSpPr>
        <p:spPr>
          <a:xfrm flipV="1">
            <a:off x="1800794" y="4312006"/>
            <a:ext cx="1" cy="59336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3362325" y="4905374"/>
            <a:ext cx="1696588" cy="55245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거절</a:t>
            </a:r>
            <a:r>
              <a:rPr lang="en-US" altLang="ko-KR" sz="1200" dirty="0">
                <a:solidFill>
                  <a:schemeClr val="tx1"/>
                </a:solidFill>
              </a:rPr>
              <a:t>: 1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  <a:r>
              <a:rPr lang="en-US" altLang="ko-KR" sz="1200" dirty="0">
                <a:solidFill>
                  <a:schemeClr val="tx1"/>
                </a:solidFill>
              </a:rPr>
              <a:t>~10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등록</a:t>
            </a:r>
            <a:r>
              <a:rPr lang="en-US" altLang="ko-KR" sz="1200" dirty="0">
                <a:solidFill>
                  <a:schemeClr val="tx1"/>
                </a:solidFill>
              </a:rPr>
              <a:t>: 11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  <a:r>
              <a:rPr lang="en-US" altLang="ko-KR" sz="1200" dirty="0">
                <a:solidFill>
                  <a:schemeClr val="tx1"/>
                </a:solidFill>
              </a:rPr>
              <a:t>~20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</a:p>
        </p:txBody>
      </p:sp>
      <p:cxnSp>
        <p:nvCxnSpPr>
          <p:cNvPr id="54" name="직선 연결선 53"/>
          <p:cNvCxnSpPr>
            <a:stCxn id="51" idx="0"/>
          </p:cNvCxnSpPr>
          <p:nvPr/>
        </p:nvCxnSpPr>
        <p:spPr>
          <a:xfrm flipV="1">
            <a:off x="4210619" y="4312006"/>
            <a:ext cx="1" cy="59336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/>
          <p:cNvSpPr/>
          <p:nvPr/>
        </p:nvSpPr>
        <p:spPr>
          <a:xfrm>
            <a:off x="6791325" y="4905374"/>
            <a:ext cx="1696588" cy="55245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  <a:r>
              <a:rPr lang="en-US" altLang="ko-KR" sz="1200" dirty="0">
                <a:solidFill>
                  <a:schemeClr val="tx1"/>
                </a:solidFill>
              </a:rPr>
              <a:t>~10</a:t>
            </a:r>
            <a:r>
              <a:rPr lang="ko-KR" altLang="en-US" sz="1200" dirty="0">
                <a:solidFill>
                  <a:schemeClr val="tx1"/>
                </a:solidFill>
              </a:rPr>
              <a:t>항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cxnSp>
        <p:nvCxnSpPr>
          <p:cNvPr id="56" name="직선 연결선 55"/>
          <p:cNvCxnSpPr>
            <a:stCxn id="55" idx="0"/>
          </p:cNvCxnSpPr>
          <p:nvPr/>
        </p:nvCxnSpPr>
        <p:spPr>
          <a:xfrm flipV="1">
            <a:off x="7639619" y="4312006"/>
            <a:ext cx="1" cy="59336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직사각형 56"/>
          <p:cNvSpPr/>
          <p:nvPr/>
        </p:nvSpPr>
        <p:spPr>
          <a:xfrm>
            <a:off x="9211814" y="3807181"/>
            <a:ext cx="989461" cy="5048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거절결정</a:t>
            </a:r>
            <a:endParaRPr lang="en-US" altLang="ko-KR" sz="1400" dirty="0">
              <a:solidFill>
                <a:schemeClr val="tx1"/>
              </a:solidFill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8487913" y="2873731"/>
            <a:ext cx="989461" cy="504825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불수리</a:t>
            </a:r>
            <a:endParaRPr lang="en-US" altLang="ko-KR" sz="1400" dirty="0">
              <a:solidFill>
                <a:schemeClr val="tx1"/>
              </a:solidFill>
            </a:endParaRPr>
          </a:p>
        </p:txBody>
      </p:sp>
      <p:cxnSp>
        <p:nvCxnSpPr>
          <p:cNvPr id="11" name="꺾인 연결선 10"/>
          <p:cNvCxnSpPr>
            <a:stCxn id="49" idx="0"/>
            <a:endCxn id="58" idx="1"/>
          </p:cNvCxnSpPr>
          <p:nvPr/>
        </p:nvCxnSpPr>
        <p:spPr>
          <a:xfrm rot="5400000" flipH="1" flipV="1">
            <a:off x="7723248" y="3042517"/>
            <a:ext cx="681037" cy="848293"/>
          </a:xfrm>
          <a:prstGeom prst="bentConnector2">
            <a:avLst/>
          </a:prstGeom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4519327" y="2978505"/>
            <a:ext cx="1948147" cy="5524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의견제출기간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en-US" altLang="ko-KR" sz="1200" dirty="0">
                <a:solidFill>
                  <a:srgbClr val="FF0000"/>
                </a:solidFill>
              </a:rPr>
              <a:t>4</a:t>
            </a:r>
            <a:r>
              <a:rPr lang="ko-KR" altLang="en-US" sz="1200" dirty="0">
                <a:solidFill>
                  <a:srgbClr val="FF0000"/>
                </a:solidFill>
              </a:rPr>
              <a:t>개월</a:t>
            </a:r>
            <a:r>
              <a:rPr lang="ko-KR" altLang="en-US" sz="1200" dirty="0">
                <a:solidFill>
                  <a:schemeClr val="tx1"/>
                </a:solidFill>
              </a:rPr>
              <a:t> 이내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0353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>
            <a:off x="9370169" y="5497945"/>
            <a:ext cx="0" cy="96354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양쪽 모서리가 둥근 사각형 91"/>
          <p:cNvSpPr/>
          <p:nvPr/>
        </p:nvSpPr>
        <p:spPr>
          <a:xfrm>
            <a:off x="8277224" y="4994880"/>
            <a:ext cx="3848101" cy="345054"/>
          </a:xfrm>
          <a:prstGeom prst="round2SameRect">
            <a:avLst>
              <a:gd name="adj1" fmla="val 50000"/>
              <a:gd name="adj2" fmla="val 0"/>
            </a:avLst>
          </a:prstGeom>
          <a:pattFill prst="wdDnDiag">
            <a:fgClr>
              <a:schemeClr val="accent2">
                <a:lumMod val="75000"/>
              </a:schemeClr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양쪽 모서리가 둥근 사각형 88"/>
          <p:cNvSpPr/>
          <p:nvPr/>
        </p:nvSpPr>
        <p:spPr>
          <a:xfrm>
            <a:off x="7496175" y="4994880"/>
            <a:ext cx="781050" cy="345054"/>
          </a:xfrm>
          <a:prstGeom prst="round2SameRect">
            <a:avLst>
              <a:gd name="adj1" fmla="val 50000"/>
              <a:gd name="adj2" fmla="val 0"/>
            </a:avLst>
          </a:prstGeom>
          <a:pattFill prst="lgGrid">
            <a:fgClr>
              <a:schemeClr val="accent4"/>
            </a:fgClr>
            <a:bgClr>
              <a:schemeClr val="bg1"/>
            </a:bgClr>
          </a:patt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64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65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출원공개의 시기</a:t>
            </a: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7874" y="986046"/>
            <a:ext cx="6208626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제</a:t>
            </a:r>
            <a:r>
              <a:rPr lang="en-US" altLang="ko-KR" sz="1400" b="1" dirty="0">
                <a:solidFill>
                  <a:schemeClr val="accent1"/>
                </a:solidFill>
              </a:rPr>
              <a:t>64</a:t>
            </a:r>
            <a:r>
              <a:rPr lang="ko-KR" altLang="en-US" sz="1400" b="1" dirty="0">
                <a:solidFill>
                  <a:schemeClr val="accent1"/>
                </a:solidFill>
              </a:rPr>
              <a:t>조</a:t>
            </a:r>
            <a:r>
              <a:rPr lang="en-US" altLang="ko-KR" sz="1400" b="1" dirty="0">
                <a:solidFill>
                  <a:schemeClr val="accent1"/>
                </a:solidFill>
              </a:rPr>
              <a:t>(</a:t>
            </a:r>
            <a:r>
              <a:rPr lang="ko-KR" altLang="en-US" sz="1400" b="1" dirty="0">
                <a:solidFill>
                  <a:schemeClr val="accent1"/>
                </a:solidFill>
              </a:rPr>
              <a:t>출원공개</a:t>
            </a:r>
            <a:r>
              <a:rPr lang="en-US" altLang="ko-KR" sz="1400" b="1" dirty="0">
                <a:solidFill>
                  <a:schemeClr val="accent1"/>
                </a:solidFill>
              </a:rPr>
              <a:t>) </a:t>
            </a:r>
            <a:r>
              <a:rPr lang="en-US" altLang="ko-KR" sz="1400" dirty="0">
                <a:solidFill>
                  <a:schemeClr val="tx2"/>
                </a:solidFill>
              </a:rPr>
              <a:t>① </a:t>
            </a:r>
            <a:r>
              <a:rPr lang="ko-KR" altLang="en-US" sz="1400" dirty="0">
                <a:solidFill>
                  <a:schemeClr val="tx2"/>
                </a:solidFill>
              </a:rPr>
              <a:t>지식재산처장은 다음 각 호의 구분에 따른 날부터 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년 </a:t>
            </a:r>
            <a:r>
              <a:rPr lang="en-US" altLang="ko-KR" sz="1400" dirty="0">
                <a:solidFill>
                  <a:schemeClr val="tx2"/>
                </a:solidFill>
              </a:rPr>
              <a:t>6</a:t>
            </a:r>
            <a:r>
              <a:rPr lang="ko-KR" altLang="en-US" sz="1400" dirty="0">
                <a:solidFill>
                  <a:schemeClr val="tx2"/>
                </a:solidFill>
              </a:rPr>
              <a:t>개월이 지난 후 또는 그 전이라도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특허출원인이</a:t>
            </a:r>
            <a:r>
              <a:rPr lang="ko-KR" altLang="en-US" sz="1400" dirty="0">
                <a:solidFill>
                  <a:schemeClr val="tx2"/>
                </a:solidFill>
              </a:rPr>
              <a:t> 신청한 경우에는 총리령으로 정하는 바에 따라 그 특허출원에 관하여 특허공보에 게재하여 출원공개를 하여야 한다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1.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54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따른 우선권 주장을 수반하는 특허출원의 경우</a:t>
            </a:r>
            <a:r>
              <a:rPr lang="en-US" altLang="ko-KR" sz="1400" dirty="0">
                <a:solidFill>
                  <a:schemeClr val="tx2"/>
                </a:solidFill>
              </a:rPr>
              <a:t>: </a:t>
            </a:r>
            <a:r>
              <a:rPr lang="ko-KR" altLang="en-US" sz="1400" dirty="0">
                <a:solidFill>
                  <a:schemeClr val="tx2"/>
                </a:solidFill>
              </a:rPr>
              <a:t>그 우선권 주장의 기초가 된 출원일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2.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55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따른 우선권 주장을 수반하는 특허출원의 경우</a:t>
            </a:r>
            <a:r>
              <a:rPr lang="en-US" altLang="ko-KR" sz="1400" dirty="0">
                <a:solidFill>
                  <a:schemeClr val="tx2"/>
                </a:solidFill>
              </a:rPr>
              <a:t>: </a:t>
            </a:r>
            <a:r>
              <a:rPr lang="ko-KR" altLang="en-US" sz="1400" dirty="0" err="1">
                <a:solidFill>
                  <a:schemeClr val="tx2"/>
                </a:solidFill>
              </a:rPr>
              <a:t>선출원의</a:t>
            </a:r>
            <a:r>
              <a:rPr lang="ko-KR" altLang="en-US" sz="1400" dirty="0">
                <a:solidFill>
                  <a:schemeClr val="tx2"/>
                </a:solidFill>
              </a:rPr>
              <a:t> 출원일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3.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54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 또는 제</a:t>
            </a:r>
            <a:r>
              <a:rPr lang="en-US" altLang="ko-KR" sz="1400" dirty="0">
                <a:solidFill>
                  <a:schemeClr val="tx2"/>
                </a:solidFill>
              </a:rPr>
              <a:t>55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따른 둘 이상의 우선권 주장을 수반하는 특허출원의 경우</a:t>
            </a:r>
            <a:r>
              <a:rPr lang="en-US" altLang="ko-KR" sz="1400" dirty="0">
                <a:solidFill>
                  <a:schemeClr val="tx2"/>
                </a:solidFill>
              </a:rPr>
              <a:t>: </a:t>
            </a:r>
            <a:r>
              <a:rPr lang="ko-KR" altLang="en-US" sz="1400" dirty="0">
                <a:solidFill>
                  <a:schemeClr val="tx2"/>
                </a:solidFill>
              </a:rPr>
              <a:t>해당 우선권 주장의 기초가 된 출원일 중 최우선일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4.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호부터 제</a:t>
            </a:r>
            <a:r>
              <a:rPr lang="en-US" altLang="ko-KR" sz="1400" dirty="0">
                <a:solidFill>
                  <a:schemeClr val="tx2"/>
                </a:solidFill>
              </a:rPr>
              <a:t>3</a:t>
            </a:r>
            <a:r>
              <a:rPr lang="ko-KR" altLang="en-US" sz="1400" dirty="0">
                <a:solidFill>
                  <a:schemeClr val="tx2"/>
                </a:solidFill>
              </a:rPr>
              <a:t>호까지의 어느 하나에 해당하지 아니하는 특허출원의 경우</a:t>
            </a:r>
            <a:r>
              <a:rPr lang="en-US" altLang="ko-KR" sz="1400" dirty="0">
                <a:solidFill>
                  <a:schemeClr val="tx2"/>
                </a:solidFill>
              </a:rPr>
              <a:t>: </a:t>
            </a:r>
            <a:r>
              <a:rPr lang="ko-KR" altLang="en-US" sz="1400" dirty="0">
                <a:solidFill>
                  <a:schemeClr val="tx2"/>
                </a:solidFill>
              </a:rPr>
              <a:t>그 특허출원일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522" y="3250693"/>
            <a:ext cx="4919853" cy="45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특허출원일로부터 </a:t>
            </a:r>
            <a:r>
              <a:rPr lang="en-US" altLang="ko-KR" sz="2800" dirty="0"/>
              <a:t>1</a:t>
            </a:r>
            <a:r>
              <a:rPr lang="ko-KR" altLang="en-US" sz="2800" dirty="0"/>
              <a:t>년 </a:t>
            </a:r>
            <a:r>
              <a:rPr lang="en-US" altLang="ko-KR" sz="2800" dirty="0"/>
              <a:t>6</a:t>
            </a:r>
            <a:r>
              <a:rPr lang="ko-KR" altLang="en-US" sz="2800" dirty="0"/>
              <a:t>개월</a:t>
            </a:r>
          </a:p>
        </p:txBody>
      </p:sp>
      <p:cxnSp>
        <p:nvCxnSpPr>
          <p:cNvPr id="27" name="직선 연결선 26"/>
          <p:cNvCxnSpPr/>
          <p:nvPr/>
        </p:nvCxnSpPr>
        <p:spPr>
          <a:xfrm>
            <a:off x="523875" y="3766031"/>
            <a:ext cx="2128647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704850" y="4574044"/>
            <a:ext cx="795528" cy="385628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/>
              <a:t>소급제도</a:t>
            </a:r>
            <a:endParaRPr lang="en-US" altLang="ko-KR" sz="1050" dirty="0"/>
          </a:p>
          <a:p>
            <a:pPr algn="ctr"/>
            <a:r>
              <a:rPr lang="en-US" altLang="ko-KR" sz="1050" dirty="0"/>
              <a:t>(7</a:t>
            </a:r>
            <a:r>
              <a:rPr lang="ko-KR" altLang="en-US" sz="1050" dirty="0"/>
              <a:t>가지</a:t>
            </a:r>
            <a:r>
              <a:rPr lang="en-US" altLang="ko-KR" sz="1050" dirty="0"/>
              <a:t>)</a:t>
            </a:r>
            <a:endParaRPr lang="ko-KR" altLang="en-US" sz="1050" dirty="0"/>
          </a:p>
        </p:txBody>
      </p:sp>
      <p:sp>
        <p:nvSpPr>
          <p:cNvPr id="29" name="직사각형 28"/>
          <p:cNvSpPr/>
          <p:nvPr/>
        </p:nvSpPr>
        <p:spPr>
          <a:xfrm>
            <a:off x="704850" y="6207825"/>
            <a:ext cx="795528" cy="385628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PCT</a:t>
            </a:r>
            <a:endParaRPr lang="ko-KR" altLang="en-US" sz="1050" dirty="0"/>
          </a:p>
        </p:txBody>
      </p:sp>
      <p:sp>
        <p:nvSpPr>
          <p:cNvPr id="30" name="직사각형 29"/>
          <p:cNvSpPr/>
          <p:nvPr/>
        </p:nvSpPr>
        <p:spPr>
          <a:xfrm>
            <a:off x="1850522" y="3875964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34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35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05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등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1850522" y="4614255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52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05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050" dirty="0" err="1">
                <a:solidFill>
                  <a:schemeClr val="bg1">
                    <a:lumMod val="50000"/>
                  </a:schemeClr>
                </a:solidFill>
              </a:rPr>
              <a:t>확공조국등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850522" y="5345794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53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05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050" dirty="0" err="1">
                <a:solidFill>
                  <a:schemeClr val="bg1">
                    <a:lumMod val="50000"/>
                  </a:schemeClr>
                </a:solidFill>
              </a:rPr>
              <a:t>확공조국등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850522" y="4242929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47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51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1850522" y="5726076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54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05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050" b="1" dirty="0" err="1">
                <a:solidFill>
                  <a:schemeClr val="bg1">
                    <a:lumMod val="50000"/>
                  </a:schemeClr>
                </a:solidFill>
              </a:rPr>
              <a:t>심</a:t>
            </a:r>
            <a:r>
              <a:rPr lang="ko-KR" altLang="en-US" sz="1050" dirty="0" err="1">
                <a:solidFill>
                  <a:schemeClr val="bg1">
                    <a:lumMod val="50000"/>
                  </a:schemeClr>
                </a:solidFill>
              </a:rPr>
              <a:t>공존재등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850522" y="6097402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55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56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  <a:endParaRPr lang="en-US" altLang="ko-KR" sz="105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050" b="1" dirty="0">
                <a:solidFill>
                  <a:schemeClr val="bg1">
                    <a:lumMod val="50000"/>
                  </a:schemeClr>
                </a:solidFill>
              </a:rPr>
              <a:t>심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공존재등이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1850522" y="6499844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207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</a:t>
            </a:r>
          </a:p>
        </p:txBody>
      </p:sp>
      <p:cxnSp>
        <p:nvCxnSpPr>
          <p:cNvPr id="37" name="꺾인 연결선 36"/>
          <p:cNvCxnSpPr>
            <a:stCxn id="28" idx="3"/>
            <a:endCxn id="30" idx="1"/>
          </p:cNvCxnSpPr>
          <p:nvPr/>
        </p:nvCxnSpPr>
        <p:spPr>
          <a:xfrm flipV="1">
            <a:off x="1500378" y="4042340"/>
            <a:ext cx="350144" cy="72451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 37"/>
          <p:cNvCxnSpPr>
            <a:stCxn id="28" idx="3"/>
            <a:endCxn id="35" idx="1"/>
          </p:cNvCxnSpPr>
          <p:nvPr/>
        </p:nvCxnSpPr>
        <p:spPr>
          <a:xfrm>
            <a:off x="1500378" y="4766858"/>
            <a:ext cx="350144" cy="149692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꺾인 연결선 38"/>
          <p:cNvCxnSpPr>
            <a:stCxn id="28" idx="3"/>
            <a:endCxn id="33" idx="1"/>
          </p:cNvCxnSpPr>
          <p:nvPr/>
        </p:nvCxnSpPr>
        <p:spPr>
          <a:xfrm flipV="1">
            <a:off x="1500378" y="4409305"/>
            <a:ext cx="350144" cy="357553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 39"/>
          <p:cNvCxnSpPr>
            <a:stCxn id="28" idx="3"/>
            <a:endCxn id="34" idx="1"/>
          </p:cNvCxnSpPr>
          <p:nvPr/>
        </p:nvCxnSpPr>
        <p:spPr>
          <a:xfrm>
            <a:off x="1500378" y="4766858"/>
            <a:ext cx="350144" cy="112559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연결선 40"/>
          <p:cNvCxnSpPr>
            <a:stCxn id="28" idx="3"/>
            <a:endCxn id="31" idx="1"/>
          </p:cNvCxnSpPr>
          <p:nvPr/>
        </p:nvCxnSpPr>
        <p:spPr>
          <a:xfrm>
            <a:off x="1500378" y="4766858"/>
            <a:ext cx="350144" cy="13773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꺾인 연결선 41"/>
          <p:cNvCxnSpPr>
            <a:stCxn id="28" idx="3"/>
            <a:endCxn id="32" idx="1"/>
          </p:cNvCxnSpPr>
          <p:nvPr/>
        </p:nvCxnSpPr>
        <p:spPr>
          <a:xfrm>
            <a:off x="1500378" y="4766858"/>
            <a:ext cx="350144" cy="74531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연결선 42"/>
          <p:cNvCxnSpPr>
            <a:stCxn id="29" idx="3"/>
            <a:endCxn id="36" idx="1"/>
          </p:cNvCxnSpPr>
          <p:nvPr/>
        </p:nvCxnSpPr>
        <p:spPr>
          <a:xfrm>
            <a:off x="1500378" y="6400639"/>
            <a:ext cx="350144" cy="26558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연결선 43"/>
          <p:cNvCxnSpPr>
            <a:stCxn id="28" idx="1"/>
            <a:endCxn id="29" idx="1"/>
          </p:cNvCxnSpPr>
          <p:nvPr/>
        </p:nvCxnSpPr>
        <p:spPr>
          <a:xfrm rot="10800000" flipV="1">
            <a:off x="704850" y="4766858"/>
            <a:ext cx="12700" cy="1633781"/>
          </a:xfrm>
          <a:prstGeom prst="bentConnector3">
            <a:avLst>
              <a:gd name="adj1" fmla="val 1800000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자유형 44"/>
          <p:cNvSpPr/>
          <p:nvPr/>
        </p:nvSpPr>
        <p:spPr>
          <a:xfrm>
            <a:off x="366522" y="3766031"/>
            <a:ext cx="1188720" cy="1731913"/>
          </a:xfrm>
          <a:custGeom>
            <a:avLst/>
            <a:gdLst>
              <a:gd name="connsiteX0" fmla="*/ 1188720 w 1188720"/>
              <a:gd name="connsiteY0" fmla="*/ 0 h 1764792"/>
              <a:gd name="connsiteX1" fmla="*/ 1188720 w 1188720"/>
              <a:gd name="connsiteY1" fmla="*/ 265176 h 1764792"/>
              <a:gd name="connsiteX2" fmla="*/ 0 w 1188720"/>
              <a:gd name="connsiteY2" fmla="*/ 265176 h 1764792"/>
              <a:gd name="connsiteX3" fmla="*/ 0 w 1188720"/>
              <a:gd name="connsiteY3" fmla="*/ 374904 h 1764792"/>
              <a:gd name="connsiteX4" fmla="*/ 0 w 1188720"/>
              <a:gd name="connsiteY4" fmla="*/ 1764792 h 1764792"/>
              <a:gd name="connsiteX5" fmla="*/ 128016 w 1188720"/>
              <a:gd name="connsiteY5" fmla="*/ 1764792 h 1764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88720" h="1764792">
                <a:moveTo>
                  <a:pt x="1188720" y="0"/>
                </a:moveTo>
                <a:lnTo>
                  <a:pt x="1188720" y="265176"/>
                </a:lnTo>
                <a:lnTo>
                  <a:pt x="0" y="265176"/>
                </a:lnTo>
                <a:lnTo>
                  <a:pt x="0" y="374904"/>
                </a:lnTo>
                <a:lnTo>
                  <a:pt x="0" y="1764792"/>
                </a:lnTo>
                <a:lnTo>
                  <a:pt x="128016" y="1764792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cxnSp>
        <p:nvCxnSpPr>
          <p:cNvPr id="46" name="직선 연결선 45"/>
          <p:cNvCxnSpPr/>
          <p:nvPr/>
        </p:nvCxnSpPr>
        <p:spPr>
          <a:xfrm>
            <a:off x="3114675" y="3766031"/>
            <a:ext cx="1476375" cy="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 flipV="1">
            <a:off x="6362700" y="986046"/>
            <a:ext cx="0" cy="5607408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3514725" y="4855212"/>
            <a:ext cx="1076325" cy="38562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조기공개신청</a:t>
            </a:r>
            <a:endParaRPr lang="en-US" altLang="ko-KR" sz="1050" dirty="0"/>
          </a:p>
          <a:p>
            <a:pPr algn="ctr"/>
            <a:r>
              <a:rPr lang="ko-KR" altLang="en-US" sz="1050" dirty="0"/>
              <a:t>가능</a:t>
            </a:r>
          </a:p>
        </p:txBody>
      </p:sp>
      <p:cxnSp>
        <p:nvCxnSpPr>
          <p:cNvPr id="21" name="꺾인 연결선 20"/>
          <p:cNvCxnSpPr>
            <a:cxnSpLocks/>
            <a:stCxn id="64" idx="1"/>
          </p:cNvCxnSpPr>
          <p:nvPr/>
        </p:nvCxnSpPr>
        <p:spPr>
          <a:xfrm rot="10800000" flipH="1">
            <a:off x="3514724" y="3821670"/>
            <a:ext cx="795335" cy="1226357"/>
          </a:xfrm>
          <a:prstGeom prst="bentConnector4">
            <a:avLst>
              <a:gd name="adj1" fmla="val -28743"/>
              <a:gd name="adj2" fmla="val 5786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488199" y="986046"/>
            <a:ext cx="5560926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시행규칙 제</a:t>
            </a:r>
            <a:r>
              <a:rPr lang="en-US" altLang="ko-KR" sz="1400" b="1" dirty="0">
                <a:solidFill>
                  <a:schemeClr val="accent1"/>
                </a:solidFill>
              </a:rPr>
              <a:t>44</a:t>
            </a:r>
            <a:r>
              <a:rPr lang="ko-KR" altLang="en-US" sz="1400" b="1" dirty="0">
                <a:solidFill>
                  <a:schemeClr val="accent1"/>
                </a:solidFill>
              </a:rPr>
              <a:t>조</a:t>
            </a:r>
            <a:r>
              <a:rPr lang="en-US" altLang="ko-KR" sz="1400" b="1" dirty="0">
                <a:solidFill>
                  <a:schemeClr val="accent1"/>
                </a:solidFill>
              </a:rPr>
              <a:t>(</a:t>
            </a:r>
            <a:r>
              <a:rPr lang="ko-KR" altLang="en-US" sz="1400" b="1" dirty="0">
                <a:solidFill>
                  <a:schemeClr val="accent1"/>
                </a:solidFill>
              </a:rPr>
              <a:t>조기공개 등의 신청</a:t>
            </a:r>
            <a:r>
              <a:rPr lang="en-US" altLang="ko-KR" sz="1400" b="1" dirty="0">
                <a:solidFill>
                  <a:schemeClr val="accent1"/>
                </a:solidFill>
              </a:rPr>
              <a:t>)</a:t>
            </a:r>
            <a:r>
              <a:rPr lang="en-US" altLang="ko-KR" sz="1400" dirty="0">
                <a:solidFill>
                  <a:schemeClr val="accent1"/>
                </a:solidFill>
              </a:rPr>
              <a:t> </a:t>
            </a:r>
            <a:r>
              <a:rPr lang="en-US" altLang="ko-KR" sz="1400" dirty="0">
                <a:solidFill>
                  <a:schemeClr val="tx2"/>
                </a:solidFill>
              </a:rPr>
              <a:t>①</a:t>
            </a:r>
            <a:r>
              <a:rPr lang="ko-KR" altLang="en-US" sz="1400" dirty="0">
                <a:solidFill>
                  <a:schemeClr val="tx2"/>
                </a:solidFill>
              </a:rPr>
              <a:t>법 제</a:t>
            </a:r>
            <a:r>
              <a:rPr lang="en-US" altLang="ko-KR" sz="1400" dirty="0">
                <a:solidFill>
                  <a:schemeClr val="tx2"/>
                </a:solidFill>
              </a:rPr>
              <a:t>64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특허출원일부터</a:t>
            </a:r>
            <a:r>
              <a:rPr lang="ko-KR" altLang="en-US" sz="1400" dirty="0">
                <a:solidFill>
                  <a:schemeClr val="tx2"/>
                </a:solidFill>
              </a:rPr>
              <a:t> 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년 </a:t>
            </a:r>
            <a:r>
              <a:rPr lang="en-US" altLang="ko-KR" sz="1400" dirty="0">
                <a:solidFill>
                  <a:schemeClr val="tx2"/>
                </a:solidFill>
              </a:rPr>
              <a:t>6</a:t>
            </a:r>
            <a:r>
              <a:rPr lang="ko-KR" altLang="en-US" sz="1400" dirty="0">
                <a:solidFill>
                  <a:schemeClr val="tx2"/>
                </a:solidFill>
              </a:rPr>
              <a:t>개월이 경과하기 전에 특허출원의 공개를 신청하려는 자는 별지 제</a:t>
            </a:r>
            <a:r>
              <a:rPr lang="en-US" altLang="ko-KR" sz="1400" dirty="0">
                <a:solidFill>
                  <a:schemeClr val="tx2"/>
                </a:solidFill>
              </a:rPr>
              <a:t>25</a:t>
            </a:r>
            <a:r>
              <a:rPr lang="ko-KR" altLang="en-US" sz="1400" dirty="0">
                <a:solidFill>
                  <a:schemeClr val="tx2"/>
                </a:solidFill>
              </a:rPr>
              <a:t>호서식의 조기공개신청서를 지식재산처장에게 제출하여야 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다만</a:t>
            </a:r>
            <a:r>
              <a:rPr lang="en-US" altLang="ko-KR" sz="1400" dirty="0">
                <a:solidFill>
                  <a:schemeClr val="tx2"/>
                </a:solidFill>
              </a:rPr>
              <a:t>, </a:t>
            </a:r>
            <a:r>
              <a:rPr lang="ko-KR" altLang="en-US" sz="1400" dirty="0">
                <a:solidFill>
                  <a:schemeClr val="tx2"/>
                </a:solidFill>
              </a:rPr>
              <a:t>특허출원과 동시에 공개를 신청하려는 경우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청구범위가 기재된 명세서가 첨부된 경우만 해당한다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에는 </a:t>
            </a:r>
            <a:r>
              <a:rPr lang="ko-KR" altLang="en-US" sz="1400" dirty="0" err="1">
                <a:solidFill>
                  <a:schemeClr val="tx2"/>
                </a:solidFill>
              </a:rPr>
              <a:t>출원서에</a:t>
            </a:r>
            <a:r>
              <a:rPr lang="ko-KR" altLang="en-US" sz="1400" dirty="0">
                <a:solidFill>
                  <a:schemeClr val="tx2"/>
                </a:solidFill>
              </a:rPr>
              <a:t> 그 취지를 기재함으로써 신청서의 제출에 갈음할 수 있다</a:t>
            </a:r>
            <a:r>
              <a:rPr lang="en-US" altLang="ko-KR" sz="1400" dirty="0">
                <a:solidFill>
                  <a:schemeClr val="tx2"/>
                </a:solidFill>
              </a:rPr>
              <a:t>.  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②</a:t>
            </a:r>
            <a:r>
              <a:rPr lang="ko-KR" altLang="en-US" sz="1400" dirty="0">
                <a:solidFill>
                  <a:schemeClr val="tx2"/>
                </a:solidFill>
              </a:rPr>
              <a:t>외국어특허출원 또는 국제특허출원의 경우에는 법 제</a:t>
            </a:r>
            <a:r>
              <a:rPr lang="en-US" altLang="ko-KR" sz="1400" dirty="0">
                <a:solidFill>
                  <a:schemeClr val="tx2"/>
                </a:solidFill>
              </a:rPr>
              <a:t>42</a:t>
            </a:r>
            <a:r>
              <a:rPr lang="ko-KR" altLang="en-US" sz="1400" dirty="0">
                <a:solidFill>
                  <a:schemeClr val="tx2"/>
                </a:solidFill>
              </a:rPr>
              <a:t>조의</a:t>
            </a:r>
            <a:r>
              <a:rPr lang="en-US" altLang="ko-KR" sz="1400" dirty="0">
                <a:solidFill>
                  <a:schemeClr val="tx2"/>
                </a:solidFill>
              </a:rPr>
              <a:t>3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2</a:t>
            </a:r>
            <a:r>
              <a:rPr lang="ko-KR" altLang="en-US" sz="1400" dirty="0">
                <a:solidFill>
                  <a:schemeClr val="tx2"/>
                </a:solidFill>
              </a:rPr>
              <a:t>항 또는 법 제</a:t>
            </a:r>
            <a:r>
              <a:rPr lang="en-US" altLang="ko-KR" sz="1400" dirty="0">
                <a:solidFill>
                  <a:schemeClr val="tx2"/>
                </a:solidFill>
              </a:rPr>
              <a:t>201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따라 국어번역문을 제출한 후가 아니면 조기공개의 신청을 할 수 없다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③</a:t>
            </a:r>
            <a:r>
              <a:rPr lang="ko-KR" altLang="en-US" sz="1400" dirty="0">
                <a:solidFill>
                  <a:schemeClr val="tx2"/>
                </a:solidFill>
              </a:rPr>
              <a:t>특허에 관한 절차를 밟는 자가 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항의 규정에 의한 조기공개의 신청을 취하하고자 하는 경우에는 </a:t>
            </a:r>
            <a:r>
              <a:rPr lang="ko-KR" altLang="en-US" sz="1400" dirty="0">
                <a:solidFill>
                  <a:srgbClr val="FF0000"/>
                </a:solidFill>
              </a:rPr>
              <a:t>조기공개신청서를 제출한 날부터 </a:t>
            </a:r>
            <a:r>
              <a:rPr lang="en-US" altLang="ko-KR" sz="1400" dirty="0">
                <a:solidFill>
                  <a:srgbClr val="FF0000"/>
                </a:solidFill>
              </a:rPr>
              <a:t>10</a:t>
            </a:r>
            <a:r>
              <a:rPr lang="ko-KR" altLang="en-US" sz="1400" dirty="0">
                <a:solidFill>
                  <a:srgbClr val="FF0000"/>
                </a:solidFill>
              </a:rPr>
              <a:t>일 이내</a:t>
            </a:r>
            <a:r>
              <a:rPr lang="ko-KR" altLang="en-US" sz="1400" dirty="0">
                <a:solidFill>
                  <a:schemeClr val="tx2"/>
                </a:solidFill>
              </a:rPr>
              <a:t>에 별지 제</a:t>
            </a:r>
            <a:r>
              <a:rPr lang="en-US" altLang="ko-KR" sz="1400" dirty="0">
                <a:solidFill>
                  <a:schemeClr val="tx2"/>
                </a:solidFill>
              </a:rPr>
              <a:t>12</a:t>
            </a:r>
            <a:r>
              <a:rPr lang="ko-KR" altLang="en-US" sz="1400" dirty="0" err="1">
                <a:solidFill>
                  <a:schemeClr val="tx2"/>
                </a:solidFill>
              </a:rPr>
              <a:t>호서식의</a:t>
            </a:r>
            <a:r>
              <a:rPr lang="ko-KR" altLang="en-US" sz="1400" dirty="0">
                <a:solidFill>
                  <a:schemeClr val="tx2"/>
                </a:solidFill>
              </a:rPr>
              <a:t> </a:t>
            </a:r>
            <a:r>
              <a:rPr lang="ko-KR" altLang="en-US" sz="1400" dirty="0" err="1">
                <a:solidFill>
                  <a:schemeClr val="tx2"/>
                </a:solidFill>
              </a:rPr>
              <a:t>취하서를</a:t>
            </a:r>
            <a:r>
              <a:rPr lang="ko-KR" altLang="en-US" sz="1400" dirty="0">
                <a:solidFill>
                  <a:schemeClr val="tx2"/>
                </a:solidFill>
              </a:rPr>
              <a:t> 제출하여야 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④</a:t>
            </a:r>
            <a:r>
              <a:rPr lang="ko-KR" altLang="en-US" sz="1400" dirty="0">
                <a:solidFill>
                  <a:schemeClr val="tx2"/>
                </a:solidFill>
              </a:rPr>
              <a:t>대리인이 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 내지 제</a:t>
            </a:r>
            <a:r>
              <a:rPr lang="en-US" altLang="ko-KR" sz="1400" dirty="0">
                <a:solidFill>
                  <a:schemeClr val="tx2"/>
                </a:solidFill>
              </a:rPr>
              <a:t>3</a:t>
            </a:r>
            <a:r>
              <a:rPr lang="ko-KR" altLang="en-US" sz="1400" dirty="0">
                <a:solidFill>
                  <a:schemeClr val="tx2"/>
                </a:solidFill>
              </a:rPr>
              <a:t>항의 규정에 의한 절차를 밟고자 하는 경우에는 그 대리권을 증명하는 서류를 첨부하여야 한다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  <a:endParaRPr lang="ko-KR" altLang="en-US" sz="1400" dirty="0">
              <a:solidFill>
                <a:schemeClr val="tx2"/>
              </a:solidFill>
            </a:endParaRPr>
          </a:p>
        </p:txBody>
      </p:sp>
      <p:cxnSp>
        <p:nvCxnSpPr>
          <p:cNvPr id="71" name="직선 화살표 연결선 70"/>
          <p:cNvCxnSpPr/>
          <p:nvPr/>
        </p:nvCxnSpPr>
        <p:spPr>
          <a:xfrm>
            <a:off x="6955582" y="5350795"/>
            <a:ext cx="5017343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/>
          <p:cNvSpPr/>
          <p:nvPr/>
        </p:nvSpPr>
        <p:spPr>
          <a:xfrm>
            <a:off x="6694937" y="5244023"/>
            <a:ext cx="801238" cy="2539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출원</a:t>
            </a:r>
            <a:r>
              <a:rPr lang="en-US" altLang="ko-KR" sz="1000" dirty="0">
                <a:solidFill>
                  <a:schemeClr val="tx1"/>
                </a:solidFill>
              </a:rPr>
              <a:t>(X)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6694937" y="4491815"/>
            <a:ext cx="801238" cy="25392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A, 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6694937" y="4241772"/>
            <a:ext cx="801238" cy="25392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A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7799268" y="5244023"/>
            <a:ext cx="801238" cy="2539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조기공개</a:t>
            </a:r>
            <a:r>
              <a:rPr lang="en-US" altLang="ko-KR" sz="1000" dirty="0">
                <a:solidFill>
                  <a:schemeClr val="tx1"/>
                </a:solidFill>
              </a:rPr>
              <a:t>(X)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8969550" y="5244023"/>
            <a:ext cx="801238" cy="2539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출원</a:t>
            </a:r>
            <a:r>
              <a:rPr lang="en-US" altLang="ko-KR" sz="1000" dirty="0">
                <a:solidFill>
                  <a:schemeClr val="tx1"/>
                </a:solidFill>
              </a:rPr>
              <a:t>(Y)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8969550" y="4491815"/>
            <a:ext cx="801238" cy="25392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A, B, C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8969550" y="4241772"/>
            <a:ext cx="801238" cy="25392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A, C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8969550" y="5497945"/>
            <a:ext cx="801238" cy="2539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우선권주장</a:t>
            </a:r>
          </a:p>
        </p:txBody>
      </p:sp>
      <p:sp>
        <p:nvSpPr>
          <p:cNvPr id="83" name="직사각형 82"/>
          <p:cNvSpPr/>
          <p:nvPr/>
        </p:nvSpPr>
        <p:spPr>
          <a:xfrm>
            <a:off x="9961443" y="5244023"/>
            <a:ext cx="801238" cy="2539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취하</a:t>
            </a:r>
            <a:r>
              <a:rPr lang="en-US" altLang="ko-KR" sz="1000" dirty="0">
                <a:solidFill>
                  <a:schemeClr val="tx1"/>
                </a:solidFill>
              </a:rPr>
              <a:t>(X)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10983519" y="5244023"/>
            <a:ext cx="801238" cy="2539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공개</a:t>
            </a:r>
            <a:r>
              <a:rPr lang="en-US" altLang="ko-KR" sz="1000" dirty="0">
                <a:solidFill>
                  <a:schemeClr val="tx1"/>
                </a:solidFill>
              </a:rPr>
              <a:t>(Y)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85" name="직선 연결선 84"/>
          <p:cNvCxnSpPr>
            <a:stCxn id="74" idx="2"/>
          </p:cNvCxnSpPr>
          <p:nvPr/>
        </p:nvCxnSpPr>
        <p:spPr>
          <a:xfrm>
            <a:off x="7095556" y="4745737"/>
            <a:ext cx="0" cy="49510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/>
          <p:cNvCxnSpPr>
            <a:stCxn id="80" idx="2"/>
            <a:endCxn id="79" idx="0"/>
          </p:cNvCxnSpPr>
          <p:nvPr/>
        </p:nvCxnSpPr>
        <p:spPr>
          <a:xfrm>
            <a:off x="9370169" y="4745737"/>
            <a:ext cx="0" cy="49828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직사각형 89"/>
          <p:cNvSpPr/>
          <p:nvPr/>
        </p:nvSpPr>
        <p:spPr>
          <a:xfrm>
            <a:off x="11963399" y="4847197"/>
            <a:ext cx="181273" cy="903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/>
          <p:cNvSpPr/>
          <p:nvPr/>
        </p:nvSpPr>
        <p:spPr>
          <a:xfrm>
            <a:off x="7496175" y="4785972"/>
            <a:ext cx="801238" cy="2539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X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 dirty="0">
                <a:solidFill>
                  <a:schemeClr val="tx1"/>
                </a:solidFill>
              </a:rPr>
              <a:t> A, 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5" name="직사각형 94"/>
          <p:cNvSpPr/>
          <p:nvPr/>
        </p:nvSpPr>
        <p:spPr>
          <a:xfrm>
            <a:off x="9800655" y="4785972"/>
            <a:ext cx="801238" cy="2539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X</a:t>
            </a:r>
            <a:r>
              <a:rPr lang="ko-KR" altLang="en-US" sz="1000" dirty="0">
                <a:solidFill>
                  <a:schemeClr val="tx1"/>
                </a:solidFill>
              </a:rPr>
              <a:t>의</a:t>
            </a:r>
            <a:r>
              <a:rPr lang="en-US" altLang="ko-KR" sz="1000" dirty="0">
                <a:solidFill>
                  <a:schemeClr val="tx1"/>
                </a:solidFill>
              </a:rPr>
              <a:t> A, 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96" name="직선 연결선 95"/>
          <p:cNvCxnSpPr>
            <a:stCxn id="72" idx="2"/>
          </p:cNvCxnSpPr>
          <p:nvPr/>
        </p:nvCxnSpPr>
        <p:spPr>
          <a:xfrm>
            <a:off x="7095556" y="5497945"/>
            <a:ext cx="0" cy="96354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/>
          <p:cNvSpPr/>
          <p:nvPr/>
        </p:nvSpPr>
        <p:spPr>
          <a:xfrm>
            <a:off x="6703324" y="5890070"/>
            <a:ext cx="801238" cy="2539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rgbClr val="FF0000"/>
                </a:solidFill>
              </a:rPr>
              <a:t>Y</a:t>
            </a:r>
            <a:r>
              <a:rPr lang="ko-KR" altLang="en-US" sz="1000" dirty="0">
                <a:solidFill>
                  <a:srgbClr val="FF0000"/>
                </a:solidFill>
              </a:rPr>
              <a:t>의</a:t>
            </a:r>
            <a:r>
              <a:rPr lang="en-US" altLang="ko-KR" sz="1000" dirty="0">
                <a:solidFill>
                  <a:srgbClr val="FF0000"/>
                </a:solidFill>
              </a:rPr>
              <a:t> A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01" name="직사각형 100"/>
          <p:cNvSpPr/>
          <p:nvPr/>
        </p:nvSpPr>
        <p:spPr>
          <a:xfrm>
            <a:off x="8969550" y="5890070"/>
            <a:ext cx="801238" cy="2539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rgbClr val="FF0000"/>
                </a:solidFill>
              </a:rPr>
              <a:t>Y</a:t>
            </a:r>
            <a:r>
              <a:rPr lang="ko-KR" altLang="en-US" sz="1000" dirty="0">
                <a:solidFill>
                  <a:srgbClr val="FF0000"/>
                </a:solidFill>
              </a:rPr>
              <a:t>의</a:t>
            </a:r>
            <a:r>
              <a:rPr lang="en-US" altLang="ko-KR" sz="1000" dirty="0">
                <a:solidFill>
                  <a:srgbClr val="FF0000"/>
                </a:solidFill>
              </a:rPr>
              <a:t> C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연결선 101"/>
          <p:cNvCxnSpPr>
            <a:stCxn id="74" idx="3"/>
            <a:endCxn id="81" idx="1"/>
          </p:cNvCxnSpPr>
          <p:nvPr/>
        </p:nvCxnSpPr>
        <p:spPr>
          <a:xfrm flipV="1">
            <a:off x="7496175" y="4368733"/>
            <a:ext cx="1473375" cy="250043"/>
          </a:xfrm>
          <a:prstGeom prst="line">
            <a:avLst/>
          </a:prstGeom>
          <a:ln w="127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276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E03B79F-3991-4378-A195-76B9EBB783BB}"/>
              </a:ext>
            </a:extLst>
          </p:cNvPr>
          <p:cNvSpPr/>
          <p:nvPr/>
        </p:nvSpPr>
        <p:spPr>
          <a:xfrm>
            <a:off x="1850522" y="4984052"/>
            <a:ext cx="1186048" cy="3327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제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52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</a:rPr>
              <a:t>조의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2</a:t>
            </a:r>
          </a:p>
          <a:p>
            <a:pPr algn="ctr"/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1050" dirty="0" err="1">
                <a:solidFill>
                  <a:schemeClr val="bg1">
                    <a:lumMod val="50000"/>
                  </a:schemeClr>
                </a:solidFill>
              </a:rPr>
              <a:t>확공조국등</a:t>
            </a:r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59" name="꺾인 연결선 41">
            <a:extLst>
              <a:ext uri="{FF2B5EF4-FFF2-40B4-BE49-F238E27FC236}">
                <a16:creationId xmlns:a16="http://schemas.microsoft.com/office/drawing/2014/main" id="{A3F3D2C9-9FC7-4F73-9E70-FD95D96D5654}"/>
              </a:ext>
            </a:extLst>
          </p:cNvPr>
          <p:cNvCxnSpPr>
            <a:cxnSpLocks/>
            <a:stCxn id="28" idx="3"/>
            <a:endCxn id="58" idx="1"/>
          </p:cNvCxnSpPr>
          <p:nvPr/>
        </p:nvCxnSpPr>
        <p:spPr>
          <a:xfrm>
            <a:off x="1500378" y="4766858"/>
            <a:ext cx="350144" cy="38357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0E90442-A209-F7BA-CC30-C19294D0D54D}"/>
              </a:ext>
            </a:extLst>
          </p:cNvPr>
          <p:cNvSpPr txBox="1"/>
          <p:nvPr/>
        </p:nvSpPr>
        <p:spPr>
          <a:xfrm>
            <a:off x="9085710" y="6168544"/>
            <a:ext cx="3039615" cy="5232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</a:rPr>
              <a:t>조기공개된</a:t>
            </a:r>
            <a:r>
              <a:rPr lang="ko-KR" altLang="en-US" sz="1400" dirty="0">
                <a:solidFill>
                  <a:srgbClr val="FF0000"/>
                </a:solidFill>
              </a:rPr>
              <a:t> 발명</a:t>
            </a:r>
            <a:r>
              <a:rPr lang="en-US" altLang="ko-KR" sz="1400" dirty="0">
                <a:solidFill>
                  <a:srgbClr val="FF0000"/>
                </a:solidFill>
              </a:rPr>
              <a:t>(A, B)</a:t>
            </a:r>
            <a:r>
              <a:rPr lang="ko-KR" altLang="en-US" sz="1400" dirty="0">
                <a:solidFill>
                  <a:srgbClr val="FF0000"/>
                </a:solidFill>
              </a:rPr>
              <a:t>에 의해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algn="ctr"/>
            <a:r>
              <a:rPr lang="ko-KR" altLang="en-US" sz="1400" dirty="0">
                <a:solidFill>
                  <a:srgbClr val="FF0000"/>
                </a:solidFill>
              </a:rPr>
              <a:t>개량발명</a:t>
            </a:r>
            <a:r>
              <a:rPr lang="en-US" altLang="ko-KR" sz="1400" dirty="0">
                <a:solidFill>
                  <a:srgbClr val="FF0000"/>
                </a:solidFill>
              </a:rPr>
              <a:t>(C)</a:t>
            </a:r>
            <a:r>
              <a:rPr lang="ko-KR" altLang="en-US" sz="1400" dirty="0">
                <a:solidFill>
                  <a:srgbClr val="FF0000"/>
                </a:solidFill>
              </a:rPr>
              <a:t>의 진보성 위반 가능성 존재</a:t>
            </a:r>
          </a:p>
        </p:txBody>
      </p:sp>
    </p:spTree>
    <p:extLst>
      <p:ext uri="{BB962C8B-B14F-4D97-AF65-F5344CB8AC3E}">
        <p14:creationId xmlns:p14="http://schemas.microsoft.com/office/powerpoint/2010/main" val="32467715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64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65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보상금청구권</a:t>
            </a:r>
            <a:r>
              <a:rPr lang="en-US" altLang="ko-KR" dirty="0"/>
              <a:t>(</a:t>
            </a:r>
            <a:r>
              <a:rPr lang="ko-KR" altLang="en-US" dirty="0"/>
              <a:t>제</a:t>
            </a:r>
            <a:r>
              <a:rPr lang="en-US" altLang="ko-KR" dirty="0"/>
              <a:t>65</a:t>
            </a:r>
            <a:r>
              <a:rPr lang="ko-KR" altLang="en-US" dirty="0"/>
              <a:t>조</a:t>
            </a:r>
            <a:r>
              <a:rPr lang="en-US" altLang="ko-KR" dirty="0"/>
              <a:t>)</a:t>
            </a:r>
            <a:r>
              <a:rPr lang="ko-KR" altLang="en-US" dirty="0"/>
              <a:t>의 개념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875" y="986046"/>
            <a:ext cx="11936323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b="1" dirty="0">
                <a:solidFill>
                  <a:schemeClr val="accent1"/>
                </a:solidFill>
              </a:rPr>
              <a:t>제</a:t>
            </a:r>
            <a:r>
              <a:rPr lang="en-US" altLang="ko-KR" sz="1400" b="1" dirty="0">
                <a:solidFill>
                  <a:schemeClr val="accent1"/>
                </a:solidFill>
              </a:rPr>
              <a:t>65</a:t>
            </a:r>
            <a:r>
              <a:rPr lang="ko-KR" altLang="en-US" sz="1400" b="1" dirty="0">
                <a:solidFill>
                  <a:schemeClr val="accent1"/>
                </a:solidFill>
              </a:rPr>
              <a:t>조</a:t>
            </a:r>
            <a:r>
              <a:rPr lang="en-US" altLang="ko-KR" sz="1400" b="1" dirty="0">
                <a:solidFill>
                  <a:schemeClr val="accent1"/>
                </a:solidFill>
              </a:rPr>
              <a:t>(</a:t>
            </a:r>
            <a:r>
              <a:rPr lang="ko-KR" altLang="en-US" sz="1400" b="1" dirty="0">
                <a:solidFill>
                  <a:schemeClr val="accent1"/>
                </a:solidFill>
              </a:rPr>
              <a:t>출원공개의 효과</a:t>
            </a:r>
            <a:r>
              <a:rPr lang="en-US" altLang="ko-KR" sz="1400" b="1" dirty="0">
                <a:solidFill>
                  <a:schemeClr val="accent1"/>
                </a:solidFill>
              </a:rPr>
              <a:t>) </a:t>
            </a:r>
            <a:r>
              <a:rPr lang="en-US" altLang="ko-KR" sz="1400" dirty="0">
                <a:solidFill>
                  <a:schemeClr val="tx2"/>
                </a:solidFill>
              </a:rPr>
              <a:t>①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특허출원인은</a:t>
            </a:r>
            <a:r>
              <a:rPr lang="ko-KR" altLang="en-US" sz="1400" dirty="0">
                <a:solidFill>
                  <a:schemeClr val="tx2"/>
                </a:solidFill>
              </a:rPr>
              <a:t> 출원공개가 있은 후 그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특허출원된</a:t>
            </a:r>
            <a:r>
              <a:rPr lang="ko-KR" altLang="en-US" sz="1400" dirty="0">
                <a:solidFill>
                  <a:schemeClr val="tx2"/>
                </a:solidFill>
              </a:rPr>
              <a:t> 발명을 업으로서 실시한 자에게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특허출원된</a:t>
            </a:r>
            <a:r>
              <a:rPr lang="ko-KR" altLang="en-US" sz="1400" dirty="0">
                <a:solidFill>
                  <a:schemeClr val="tx2"/>
                </a:solidFill>
              </a:rPr>
              <a:t> 발명임을 서면으로 경고할 수 있다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②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특허출원인은</a:t>
            </a:r>
            <a:r>
              <a:rPr lang="ko-KR" altLang="en-US" sz="1400" dirty="0">
                <a:solidFill>
                  <a:schemeClr val="tx2"/>
                </a:solidFill>
              </a:rPr>
              <a:t> 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따른 경고를 받거나 제</a:t>
            </a:r>
            <a:r>
              <a:rPr lang="en-US" altLang="ko-KR" sz="1400" dirty="0">
                <a:solidFill>
                  <a:schemeClr val="tx2"/>
                </a:solidFill>
              </a:rPr>
              <a:t>64</a:t>
            </a:r>
            <a:r>
              <a:rPr lang="ko-KR" altLang="en-US" sz="1400" dirty="0">
                <a:solidFill>
                  <a:schemeClr val="tx2"/>
                </a:solidFill>
              </a:rPr>
              <a:t>조에 따라 </a:t>
            </a:r>
            <a:r>
              <a:rPr lang="ko-KR" altLang="en-US" sz="1400" dirty="0" err="1">
                <a:solidFill>
                  <a:schemeClr val="tx2"/>
                </a:solidFill>
              </a:rPr>
              <a:t>출원공개된</a:t>
            </a:r>
            <a:r>
              <a:rPr lang="ko-KR" altLang="en-US" sz="1400" dirty="0">
                <a:solidFill>
                  <a:schemeClr val="tx2"/>
                </a:solidFill>
              </a:rPr>
              <a:t> 발명임을 알고 그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특허출원된</a:t>
            </a:r>
            <a:r>
              <a:rPr lang="ko-KR" altLang="en-US" sz="1400" dirty="0">
                <a:solidFill>
                  <a:schemeClr val="tx2"/>
                </a:solidFill>
              </a:rPr>
              <a:t> 발명을 업으로 실시한 자에게 그 경고를 받거나 </a:t>
            </a:r>
            <a:r>
              <a:rPr lang="ko-KR" altLang="en-US" sz="1400" dirty="0" err="1">
                <a:solidFill>
                  <a:schemeClr val="tx2"/>
                </a:solidFill>
              </a:rPr>
              <a:t>출원공개된</a:t>
            </a:r>
            <a:r>
              <a:rPr lang="ko-KR" altLang="en-US" sz="1400" dirty="0">
                <a:solidFill>
                  <a:schemeClr val="tx2"/>
                </a:solidFill>
              </a:rPr>
              <a:t> 발명임을 알았을 때부터 특허권의 설정등록을 할 때까지의 기간 동안 그 특허발명의 실시에 대하여 </a:t>
            </a:r>
            <a:r>
              <a:rPr lang="ko-KR" altLang="en-US" sz="1400" dirty="0">
                <a:solidFill>
                  <a:srgbClr val="FF0000"/>
                </a:solidFill>
              </a:rPr>
              <a:t>합리적</a:t>
            </a:r>
            <a:r>
              <a:rPr lang="ko-KR" altLang="en-US" sz="1400" dirty="0">
                <a:solidFill>
                  <a:schemeClr val="tx2"/>
                </a:solidFill>
              </a:rPr>
              <a:t>으로 받을 수 있는 금액에 상당하는 보상금의 지급을 청구할 수 있다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③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2</a:t>
            </a:r>
            <a:r>
              <a:rPr lang="ko-KR" altLang="en-US" sz="1400" dirty="0">
                <a:solidFill>
                  <a:schemeClr val="tx2"/>
                </a:solidFill>
              </a:rPr>
              <a:t>항에 따른 청구권은 그 </a:t>
            </a:r>
            <a:r>
              <a:rPr lang="ko-KR" altLang="en-US" sz="1400" dirty="0" err="1">
                <a:solidFill>
                  <a:schemeClr val="tx2"/>
                </a:solidFill>
              </a:rPr>
              <a:t>특허출원된</a:t>
            </a:r>
            <a:r>
              <a:rPr lang="ko-KR" altLang="en-US" sz="1400" dirty="0">
                <a:solidFill>
                  <a:schemeClr val="tx2"/>
                </a:solidFill>
              </a:rPr>
              <a:t> 발명에 대한 특허권이 </a:t>
            </a:r>
            <a:r>
              <a:rPr lang="ko-KR" altLang="en-US" sz="1400" dirty="0" err="1">
                <a:solidFill>
                  <a:schemeClr val="tx2"/>
                </a:solidFill>
              </a:rPr>
              <a:t>설정등록된</a:t>
            </a:r>
            <a:r>
              <a:rPr lang="ko-KR" altLang="en-US" sz="1400" dirty="0">
                <a:solidFill>
                  <a:schemeClr val="tx2"/>
                </a:solidFill>
              </a:rPr>
              <a:t> 후에만 행사할 수 있다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④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2</a:t>
            </a:r>
            <a:r>
              <a:rPr lang="ko-KR" altLang="en-US" sz="1400" dirty="0">
                <a:solidFill>
                  <a:schemeClr val="tx2"/>
                </a:solidFill>
              </a:rPr>
              <a:t>항에 따른 청구권의 행사는 특허권의 행사에 영향을 미치지 아니한다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⑤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2</a:t>
            </a:r>
            <a:r>
              <a:rPr lang="ko-KR" altLang="en-US" sz="1400" dirty="0">
                <a:solidFill>
                  <a:schemeClr val="tx2"/>
                </a:solidFill>
              </a:rPr>
              <a:t>항에 따른 청구권을 행사하는 경우에는 제</a:t>
            </a:r>
            <a:r>
              <a:rPr lang="en-US" altLang="ko-KR" sz="1400" dirty="0">
                <a:solidFill>
                  <a:schemeClr val="tx2"/>
                </a:solidFill>
              </a:rPr>
              <a:t>127</a:t>
            </a:r>
            <a:r>
              <a:rPr lang="ko-KR" altLang="en-US" sz="1400" dirty="0" err="1">
                <a:solidFill>
                  <a:schemeClr val="tx2"/>
                </a:solidFill>
              </a:rPr>
              <a:t>조ㆍ제</a:t>
            </a:r>
            <a:r>
              <a:rPr lang="en-US" altLang="ko-KR" sz="1400" dirty="0">
                <a:solidFill>
                  <a:schemeClr val="tx2"/>
                </a:solidFill>
              </a:rPr>
              <a:t>129</a:t>
            </a:r>
            <a:r>
              <a:rPr lang="ko-KR" altLang="en-US" sz="1400" dirty="0" err="1">
                <a:solidFill>
                  <a:schemeClr val="tx2"/>
                </a:solidFill>
              </a:rPr>
              <a:t>조ㆍ제</a:t>
            </a:r>
            <a:r>
              <a:rPr lang="en-US" altLang="ko-KR" sz="1400" dirty="0">
                <a:solidFill>
                  <a:schemeClr val="tx2"/>
                </a:solidFill>
              </a:rPr>
              <a:t>132</a:t>
            </a:r>
            <a:r>
              <a:rPr lang="ko-KR" altLang="en-US" sz="1400" dirty="0">
                <a:solidFill>
                  <a:schemeClr val="tx2"/>
                </a:solidFill>
              </a:rPr>
              <a:t>조 및 「민법」 제</a:t>
            </a:r>
            <a:r>
              <a:rPr lang="en-US" altLang="ko-KR" sz="1400" dirty="0">
                <a:solidFill>
                  <a:schemeClr val="tx2"/>
                </a:solidFill>
              </a:rPr>
              <a:t>760</a:t>
            </a:r>
            <a:r>
              <a:rPr lang="ko-KR" altLang="en-US" sz="1400" dirty="0" err="1">
                <a:solidFill>
                  <a:schemeClr val="tx2"/>
                </a:solidFill>
              </a:rPr>
              <a:t>조ㆍ제</a:t>
            </a:r>
            <a:r>
              <a:rPr lang="en-US" altLang="ko-KR" sz="1400" dirty="0">
                <a:solidFill>
                  <a:schemeClr val="tx2"/>
                </a:solidFill>
              </a:rPr>
              <a:t>766</a:t>
            </a:r>
            <a:r>
              <a:rPr lang="ko-KR" altLang="en-US" sz="1400" dirty="0">
                <a:solidFill>
                  <a:schemeClr val="tx2"/>
                </a:solidFill>
              </a:rPr>
              <a:t>조를 준용한다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</a:rPr>
              <a:t>이 경우 「민법」 제</a:t>
            </a:r>
            <a:r>
              <a:rPr lang="en-US" altLang="ko-KR" sz="1400" dirty="0">
                <a:solidFill>
                  <a:schemeClr val="tx2"/>
                </a:solidFill>
              </a:rPr>
              <a:t>766</a:t>
            </a:r>
            <a:r>
              <a:rPr lang="ko-KR" altLang="en-US" sz="1400" dirty="0">
                <a:solidFill>
                  <a:schemeClr val="tx2"/>
                </a:solidFill>
              </a:rPr>
              <a:t>조제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 중 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피해자나 그 법정대리인이 그 손해 및 가해자를 안 날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은 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해당 특허권의 설정등록일</a:t>
            </a:r>
            <a:r>
              <a:rPr lang="en-US" altLang="ko-KR" sz="1400" dirty="0">
                <a:solidFill>
                  <a:schemeClr val="tx2"/>
                </a:solidFill>
              </a:rPr>
              <a:t>"</a:t>
            </a:r>
            <a:r>
              <a:rPr lang="ko-KR" altLang="en-US" sz="1400" dirty="0">
                <a:solidFill>
                  <a:schemeClr val="tx2"/>
                </a:solidFill>
              </a:rPr>
              <a:t>로 본다</a:t>
            </a:r>
            <a:r>
              <a:rPr lang="en-US" altLang="ko-KR" sz="1400" dirty="0">
                <a:solidFill>
                  <a:schemeClr val="tx2"/>
                </a:solidFill>
              </a:rPr>
              <a:t>.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⑥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64</a:t>
            </a:r>
            <a:r>
              <a:rPr lang="ko-KR" altLang="en-US" sz="1400" dirty="0">
                <a:solidFill>
                  <a:schemeClr val="tx2"/>
                </a:solidFill>
              </a:rPr>
              <a:t>조에 따른 출원공개 후 다음 각 호의 어느 하나에 해당하는 경우에는 제</a:t>
            </a:r>
            <a:r>
              <a:rPr lang="en-US" altLang="ko-KR" sz="1400" dirty="0">
                <a:solidFill>
                  <a:schemeClr val="tx2"/>
                </a:solidFill>
              </a:rPr>
              <a:t>2</a:t>
            </a:r>
            <a:r>
              <a:rPr lang="ko-KR" altLang="en-US" sz="1400" dirty="0">
                <a:solidFill>
                  <a:schemeClr val="tx2"/>
                </a:solidFill>
              </a:rPr>
              <a:t>항에 따른 청구권은 처음부터 발생하지 아니한 것으로 본다</a:t>
            </a:r>
            <a:r>
              <a:rPr lang="en-US" altLang="ko-KR" sz="1400" dirty="0">
                <a:solidFill>
                  <a:schemeClr val="tx2"/>
                </a:solidFill>
              </a:rPr>
              <a:t>.  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1. </a:t>
            </a:r>
            <a:r>
              <a:rPr lang="ko-KR" altLang="en-US" sz="1400" dirty="0">
                <a:solidFill>
                  <a:schemeClr val="tx2"/>
                </a:solidFill>
              </a:rPr>
              <a:t>특허출원이 </a:t>
            </a:r>
            <a:r>
              <a:rPr lang="ko-KR" altLang="en-US" sz="1400" dirty="0" err="1">
                <a:solidFill>
                  <a:schemeClr val="tx2"/>
                </a:solidFill>
              </a:rPr>
              <a:t>포기ㆍ무효</a:t>
            </a:r>
            <a:r>
              <a:rPr lang="ko-KR" altLang="en-US" sz="1400" dirty="0">
                <a:solidFill>
                  <a:schemeClr val="tx2"/>
                </a:solidFill>
              </a:rPr>
              <a:t> 또는 취하된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2. </a:t>
            </a:r>
            <a:r>
              <a:rPr lang="ko-KR" altLang="en-US" sz="1400" dirty="0">
                <a:solidFill>
                  <a:schemeClr val="tx2"/>
                </a:solidFill>
              </a:rPr>
              <a:t>특허출원에 대하여 제</a:t>
            </a:r>
            <a:r>
              <a:rPr lang="en-US" altLang="ko-KR" sz="1400" dirty="0">
                <a:solidFill>
                  <a:schemeClr val="tx2"/>
                </a:solidFill>
              </a:rPr>
              <a:t>62</a:t>
            </a:r>
            <a:r>
              <a:rPr lang="ko-KR" altLang="en-US" sz="1400" dirty="0">
                <a:solidFill>
                  <a:schemeClr val="tx2"/>
                </a:solidFill>
              </a:rPr>
              <a:t>조에 따른 특허거절결정이 확정된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3.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132</a:t>
            </a:r>
            <a:r>
              <a:rPr lang="ko-KR" altLang="en-US" sz="1400" dirty="0">
                <a:solidFill>
                  <a:schemeClr val="tx2"/>
                </a:solidFill>
              </a:rPr>
              <a:t>조의</a:t>
            </a:r>
            <a:r>
              <a:rPr lang="en-US" altLang="ko-KR" sz="1400" dirty="0">
                <a:solidFill>
                  <a:schemeClr val="tx2"/>
                </a:solidFill>
              </a:rPr>
              <a:t>13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>
                <a:solidFill>
                  <a:schemeClr val="tx2"/>
                </a:solidFill>
              </a:rPr>
              <a:t>항에 따른 특허취소결정이 확정된 경우</a:t>
            </a:r>
          </a:p>
          <a:p>
            <a:pPr fontAlgn="base"/>
            <a:r>
              <a:rPr lang="en-US" altLang="ko-KR" sz="1400" dirty="0">
                <a:solidFill>
                  <a:schemeClr val="tx2"/>
                </a:solidFill>
              </a:rPr>
              <a:t>4. </a:t>
            </a:r>
            <a:r>
              <a:rPr lang="ko-KR" altLang="en-US" sz="1400" dirty="0">
                <a:solidFill>
                  <a:schemeClr val="tx2"/>
                </a:solidFill>
              </a:rPr>
              <a:t>제</a:t>
            </a:r>
            <a:r>
              <a:rPr lang="en-US" altLang="ko-KR" sz="1400" dirty="0">
                <a:solidFill>
                  <a:schemeClr val="tx2"/>
                </a:solidFill>
              </a:rPr>
              <a:t>133</a:t>
            </a:r>
            <a:r>
              <a:rPr lang="ko-KR" altLang="en-US" sz="1400" dirty="0">
                <a:solidFill>
                  <a:schemeClr val="tx2"/>
                </a:solidFill>
              </a:rPr>
              <a:t>조에 따른 특허를 무효로 한다는 </a:t>
            </a:r>
            <a:r>
              <a:rPr lang="ko-KR" altLang="en-US" sz="1400" dirty="0" err="1">
                <a:solidFill>
                  <a:schemeClr val="tx2"/>
                </a:solidFill>
              </a:rPr>
              <a:t>심결</a:t>
            </a:r>
            <a:r>
              <a:rPr lang="en-US" altLang="ko-KR" sz="1400" dirty="0">
                <a:solidFill>
                  <a:schemeClr val="tx2"/>
                </a:solidFill>
              </a:rPr>
              <a:t>(</a:t>
            </a:r>
            <a:r>
              <a:rPr lang="ko-KR" altLang="en-US" sz="1400" dirty="0">
                <a:solidFill>
                  <a:schemeClr val="tx2"/>
                </a:solidFill>
              </a:rPr>
              <a:t>같은 조 제</a:t>
            </a:r>
            <a:r>
              <a:rPr lang="en-US" altLang="ko-KR" sz="1400" dirty="0">
                <a:solidFill>
                  <a:schemeClr val="tx2"/>
                </a:solidFill>
              </a:rPr>
              <a:t>1</a:t>
            </a:r>
            <a:r>
              <a:rPr lang="ko-KR" altLang="en-US" sz="1400" dirty="0" err="1">
                <a:solidFill>
                  <a:schemeClr val="tx2"/>
                </a:solidFill>
              </a:rPr>
              <a:t>항제</a:t>
            </a:r>
            <a:r>
              <a:rPr lang="en-US" altLang="ko-KR" sz="1400" dirty="0">
                <a:solidFill>
                  <a:schemeClr val="tx2"/>
                </a:solidFill>
              </a:rPr>
              <a:t>4</a:t>
            </a:r>
            <a:r>
              <a:rPr lang="ko-KR" altLang="en-US" sz="1400" dirty="0">
                <a:solidFill>
                  <a:schemeClr val="tx2"/>
                </a:solidFill>
              </a:rPr>
              <a:t>호에 따른 경우는 제외한다</a:t>
            </a:r>
            <a:r>
              <a:rPr lang="en-US" altLang="ko-KR" sz="1400" dirty="0">
                <a:solidFill>
                  <a:schemeClr val="tx2"/>
                </a:solidFill>
              </a:rPr>
              <a:t>)</a:t>
            </a:r>
            <a:r>
              <a:rPr lang="ko-KR" altLang="en-US" sz="1400" dirty="0">
                <a:solidFill>
                  <a:schemeClr val="tx2"/>
                </a:solidFill>
              </a:rPr>
              <a:t>이 확정된 경우</a:t>
            </a:r>
          </a:p>
        </p:txBody>
      </p:sp>
      <p:cxnSp>
        <p:nvCxnSpPr>
          <p:cNvPr id="95" name="직선 연결선 94"/>
          <p:cNvCxnSpPr/>
          <p:nvPr/>
        </p:nvCxnSpPr>
        <p:spPr>
          <a:xfrm>
            <a:off x="0" y="3862801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14"/>
          <p:cNvSpPr>
            <a:spLocks noChangeArrowheads="1"/>
          </p:cNvSpPr>
          <p:nvPr/>
        </p:nvSpPr>
        <p:spPr bwMode="auto">
          <a:xfrm>
            <a:off x="1820917" y="4151389"/>
            <a:ext cx="3017783" cy="3275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경고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①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32" name="Rectangle 14"/>
          <p:cNvSpPr>
            <a:spLocks noChangeArrowheads="1"/>
          </p:cNvSpPr>
          <p:nvPr/>
        </p:nvSpPr>
        <p:spPr bwMode="auto">
          <a:xfrm>
            <a:off x="1800225" y="5380903"/>
            <a:ext cx="3038475" cy="3275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독립성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④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26" name="Rectangle 14"/>
          <p:cNvSpPr>
            <a:spLocks noChangeArrowheads="1"/>
          </p:cNvSpPr>
          <p:nvPr/>
        </p:nvSpPr>
        <p:spPr bwMode="auto">
          <a:xfrm>
            <a:off x="1820917" y="4564226"/>
            <a:ext cx="3017783" cy="3275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성립요건 및 보상금액</a:t>
            </a:r>
            <a:r>
              <a:rPr lang="en-US" altLang="ko-KR" sz="1100" b="0" dirty="0">
                <a:latin typeface="+mn-ea"/>
              </a:rPr>
              <a:t>(</a:t>
            </a:r>
            <a:r>
              <a:rPr lang="ko-KR" altLang="en-US" sz="1100" b="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65②)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27" name="Rectangle 14"/>
          <p:cNvSpPr>
            <a:spLocks noChangeArrowheads="1"/>
          </p:cNvSpPr>
          <p:nvPr/>
        </p:nvSpPr>
        <p:spPr bwMode="auto">
          <a:xfrm>
            <a:off x="1820917" y="4977063"/>
            <a:ext cx="3017783" cy="3275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행사시기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③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dirty="0">
              <a:latin typeface="+mn-ea"/>
            </a:endParaRPr>
          </a:p>
        </p:txBody>
      </p:sp>
      <p:sp>
        <p:nvSpPr>
          <p:cNvPr id="28" name="Rectangle 14"/>
          <p:cNvSpPr>
            <a:spLocks noChangeArrowheads="1"/>
          </p:cNvSpPr>
          <p:nvPr/>
        </p:nvSpPr>
        <p:spPr bwMode="auto">
          <a:xfrm>
            <a:off x="1800225" y="5793740"/>
            <a:ext cx="3038475" cy="3275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준용규정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⑤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29" name="Rectangle 14"/>
          <p:cNvSpPr>
            <a:spLocks noChangeArrowheads="1"/>
          </p:cNvSpPr>
          <p:nvPr/>
        </p:nvSpPr>
        <p:spPr bwMode="auto">
          <a:xfrm>
            <a:off x="1800225" y="6206577"/>
            <a:ext cx="3038475" cy="3275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소멸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⑥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00050" y="4819650"/>
            <a:ext cx="838200" cy="88882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보상금</a:t>
            </a:r>
            <a:endParaRPr lang="en-US" altLang="ko-KR" dirty="0"/>
          </a:p>
          <a:p>
            <a:pPr algn="ctr"/>
            <a:r>
              <a:rPr lang="ko-KR" altLang="en-US" dirty="0"/>
              <a:t>청구권</a:t>
            </a:r>
          </a:p>
        </p:txBody>
      </p:sp>
      <p:cxnSp>
        <p:nvCxnSpPr>
          <p:cNvPr id="11" name="꺾인 연결선 10"/>
          <p:cNvCxnSpPr>
            <a:stCxn id="6" idx="3"/>
            <a:endCxn id="31" idx="1"/>
          </p:cNvCxnSpPr>
          <p:nvPr/>
        </p:nvCxnSpPr>
        <p:spPr>
          <a:xfrm flipV="1">
            <a:off x="1238250" y="4315176"/>
            <a:ext cx="582667" cy="948887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연결선 14"/>
          <p:cNvCxnSpPr>
            <a:stCxn id="6" idx="3"/>
            <a:endCxn id="29" idx="1"/>
          </p:cNvCxnSpPr>
          <p:nvPr/>
        </p:nvCxnSpPr>
        <p:spPr>
          <a:xfrm>
            <a:off x="1238250" y="5264063"/>
            <a:ext cx="561975" cy="110630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연결선 17"/>
          <p:cNvCxnSpPr>
            <a:stCxn id="6" idx="3"/>
            <a:endCxn id="26" idx="1"/>
          </p:cNvCxnSpPr>
          <p:nvPr/>
        </p:nvCxnSpPr>
        <p:spPr>
          <a:xfrm flipV="1">
            <a:off x="1238250" y="4728013"/>
            <a:ext cx="582667" cy="53605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꺾인 연결선 19"/>
          <p:cNvCxnSpPr>
            <a:stCxn id="6" idx="3"/>
            <a:endCxn id="28" idx="1"/>
          </p:cNvCxnSpPr>
          <p:nvPr/>
        </p:nvCxnSpPr>
        <p:spPr>
          <a:xfrm>
            <a:off x="1238250" y="5264063"/>
            <a:ext cx="561975" cy="69346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6" idx="3"/>
            <a:endCxn id="27" idx="1"/>
          </p:cNvCxnSpPr>
          <p:nvPr/>
        </p:nvCxnSpPr>
        <p:spPr>
          <a:xfrm flipV="1">
            <a:off x="1238250" y="5140850"/>
            <a:ext cx="582667" cy="123213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연결선 29"/>
          <p:cNvCxnSpPr>
            <a:stCxn id="6" idx="3"/>
            <a:endCxn id="32" idx="1"/>
          </p:cNvCxnSpPr>
          <p:nvPr/>
        </p:nvCxnSpPr>
        <p:spPr>
          <a:xfrm>
            <a:off x="1238250" y="5264063"/>
            <a:ext cx="561975" cy="280627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14"/>
          <p:cNvSpPr>
            <a:spLocks noChangeArrowheads="1"/>
          </p:cNvSpPr>
          <p:nvPr/>
        </p:nvSpPr>
        <p:spPr bwMode="auto">
          <a:xfrm>
            <a:off x="6086475" y="4503814"/>
            <a:ext cx="1943100" cy="327573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의의</a:t>
            </a:r>
          </a:p>
        </p:txBody>
      </p:sp>
      <p:sp>
        <p:nvSpPr>
          <p:cNvPr id="55" name="Rectangle 14"/>
          <p:cNvSpPr>
            <a:spLocks noChangeArrowheads="1"/>
          </p:cNvSpPr>
          <p:nvPr/>
        </p:nvSpPr>
        <p:spPr bwMode="auto">
          <a:xfrm>
            <a:off x="6062702" y="5733328"/>
            <a:ext cx="1956423" cy="3275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변동</a:t>
            </a:r>
          </a:p>
        </p:txBody>
      </p:sp>
      <p:sp>
        <p:nvSpPr>
          <p:cNvPr id="56" name="Rectangle 14"/>
          <p:cNvSpPr>
            <a:spLocks noChangeArrowheads="1"/>
          </p:cNvSpPr>
          <p:nvPr/>
        </p:nvSpPr>
        <p:spPr bwMode="auto">
          <a:xfrm>
            <a:off x="6086475" y="4916651"/>
            <a:ext cx="1943100" cy="327573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발생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성립요건</a:t>
            </a:r>
            <a:r>
              <a:rPr lang="en-US" altLang="ko-KR" sz="1100" dirty="0">
                <a:latin typeface="+mn-ea"/>
              </a:rPr>
              <a:t>) 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①</a:t>
            </a:r>
            <a:r>
              <a:rPr lang="en-US" altLang="ko-KR" sz="1100" dirty="0">
                <a:latin typeface="+mn-ea"/>
              </a:rPr>
              <a:t>②)</a:t>
            </a:r>
            <a:endParaRPr lang="ko-KR" altLang="en-US" sz="1100" dirty="0">
              <a:latin typeface="+mn-ea"/>
            </a:endParaRPr>
          </a:p>
        </p:txBody>
      </p:sp>
      <p:sp>
        <p:nvSpPr>
          <p:cNvPr id="57" name="Rectangle 14"/>
          <p:cNvSpPr>
            <a:spLocks noChangeArrowheads="1"/>
          </p:cNvSpPr>
          <p:nvPr/>
        </p:nvSpPr>
        <p:spPr bwMode="auto">
          <a:xfrm>
            <a:off x="6086475" y="5329488"/>
            <a:ext cx="1943100" cy="327573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n-ea"/>
              </a:rPr>
              <a:t>효력</a:t>
            </a:r>
          </a:p>
        </p:txBody>
      </p:sp>
      <p:sp>
        <p:nvSpPr>
          <p:cNvPr id="58" name="Rectangle 14"/>
          <p:cNvSpPr>
            <a:spLocks noChangeArrowheads="1"/>
          </p:cNvSpPr>
          <p:nvPr/>
        </p:nvSpPr>
        <p:spPr bwMode="auto">
          <a:xfrm>
            <a:off x="6062702" y="6146165"/>
            <a:ext cx="1956423" cy="327573"/>
          </a:xfrm>
          <a:prstGeom prst="rect">
            <a:avLst/>
          </a:prstGeom>
          <a:solidFill>
            <a:schemeClr val="accent4"/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dirty="0">
                <a:latin typeface="+mn-ea"/>
              </a:rPr>
              <a:t>소멸</a:t>
            </a:r>
            <a:r>
              <a:rPr lang="en-US" altLang="ko-KR" sz="1100" dirty="0">
                <a:latin typeface="+mn-ea"/>
              </a:rPr>
              <a:t> 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⑥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60" name="Rectangle 14"/>
          <p:cNvSpPr>
            <a:spLocks noChangeArrowheads="1"/>
          </p:cNvSpPr>
          <p:nvPr/>
        </p:nvSpPr>
        <p:spPr bwMode="auto">
          <a:xfrm>
            <a:off x="8659867" y="3979938"/>
            <a:ext cx="3017783" cy="3275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출원공개</a:t>
            </a:r>
          </a:p>
        </p:txBody>
      </p:sp>
      <p:sp>
        <p:nvSpPr>
          <p:cNvPr id="61" name="Rectangle 14"/>
          <p:cNvSpPr>
            <a:spLocks noChangeArrowheads="1"/>
          </p:cNvSpPr>
          <p:nvPr/>
        </p:nvSpPr>
        <p:spPr bwMode="auto">
          <a:xfrm>
            <a:off x="8659867" y="4351413"/>
            <a:ext cx="3017783" cy="3275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경고</a:t>
            </a:r>
            <a:r>
              <a:rPr lang="en-US" altLang="ko-KR" sz="1100" b="0" dirty="0">
                <a:latin typeface="+mn-ea"/>
              </a:rPr>
              <a:t>/</a:t>
            </a:r>
            <a:r>
              <a:rPr lang="ko-KR" altLang="en-US" sz="1100" b="0" dirty="0">
                <a:latin typeface="+mn-ea"/>
              </a:rPr>
              <a:t>안 때</a:t>
            </a:r>
          </a:p>
        </p:txBody>
      </p:sp>
      <p:sp>
        <p:nvSpPr>
          <p:cNvPr id="62" name="Rectangle 14"/>
          <p:cNvSpPr>
            <a:spLocks noChangeArrowheads="1"/>
          </p:cNvSpPr>
          <p:nvPr/>
        </p:nvSpPr>
        <p:spPr bwMode="auto">
          <a:xfrm>
            <a:off x="8659867" y="4725690"/>
            <a:ext cx="3017783" cy="3275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정당한 </a:t>
            </a:r>
            <a:r>
              <a:rPr lang="ko-KR" altLang="en-US" sz="1100" b="0" dirty="0" err="1">
                <a:latin typeface="+mn-ea"/>
              </a:rPr>
              <a:t>권원없는</a:t>
            </a:r>
            <a:r>
              <a:rPr lang="ko-KR" altLang="en-US" sz="1100" b="0" dirty="0">
                <a:latin typeface="+mn-ea"/>
              </a:rPr>
              <a:t> 제</a:t>
            </a:r>
            <a:r>
              <a:rPr lang="en-US" altLang="ko-KR" sz="1100" b="0" dirty="0">
                <a:latin typeface="+mn-ea"/>
              </a:rPr>
              <a:t>3</a:t>
            </a:r>
            <a:r>
              <a:rPr lang="ko-KR" altLang="en-US" sz="1100" b="0" dirty="0">
                <a:latin typeface="+mn-ea"/>
              </a:rPr>
              <a:t>자가 출원발명을 업으로 실시</a:t>
            </a:r>
          </a:p>
        </p:txBody>
      </p:sp>
      <p:sp>
        <p:nvSpPr>
          <p:cNvPr id="66" name="Rectangle 14"/>
          <p:cNvSpPr>
            <a:spLocks noChangeArrowheads="1"/>
          </p:cNvSpPr>
          <p:nvPr/>
        </p:nvSpPr>
        <p:spPr bwMode="auto">
          <a:xfrm>
            <a:off x="8639176" y="5942966"/>
            <a:ext cx="3038475" cy="3275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독립성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④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67" name="Rectangle 14"/>
          <p:cNvSpPr>
            <a:spLocks noChangeArrowheads="1"/>
          </p:cNvSpPr>
          <p:nvPr/>
        </p:nvSpPr>
        <p:spPr bwMode="auto">
          <a:xfrm>
            <a:off x="8659868" y="5126289"/>
            <a:ext cx="3017783" cy="3275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보상금액</a:t>
            </a:r>
            <a:r>
              <a:rPr lang="en-US" altLang="ko-KR" sz="1100" b="0" dirty="0">
                <a:latin typeface="+mn-ea"/>
              </a:rPr>
              <a:t>(</a:t>
            </a:r>
            <a:r>
              <a:rPr lang="ko-KR" altLang="en-US" sz="1100" b="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65②)</a:t>
            </a:r>
            <a:endParaRPr lang="ko-KR" altLang="en-US" sz="1100" b="0" dirty="0">
              <a:latin typeface="+mn-ea"/>
            </a:endParaRPr>
          </a:p>
        </p:txBody>
      </p:sp>
      <p:sp>
        <p:nvSpPr>
          <p:cNvPr id="68" name="Rectangle 14"/>
          <p:cNvSpPr>
            <a:spLocks noChangeArrowheads="1"/>
          </p:cNvSpPr>
          <p:nvPr/>
        </p:nvSpPr>
        <p:spPr bwMode="auto">
          <a:xfrm>
            <a:off x="8659868" y="5539126"/>
            <a:ext cx="3017783" cy="3275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행사시기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③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dirty="0">
              <a:latin typeface="+mn-ea"/>
            </a:endParaRPr>
          </a:p>
        </p:txBody>
      </p:sp>
      <p:sp>
        <p:nvSpPr>
          <p:cNvPr id="69" name="Rectangle 14"/>
          <p:cNvSpPr>
            <a:spLocks noChangeArrowheads="1"/>
          </p:cNvSpPr>
          <p:nvPr/>
        </p:nvSpPr>
        <p:spPr bwMode="auto">
          <a:xfrm>
            <a:off x="8639176" y="6355803"/>
            <a:ext cx="3038475" cy="3275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ko-KR" altLang="en-US" sz="1100" b="0" dirty="0">
                <a:latin typeface="+mn-ea"/>
              </a:rPr>
              <a:t>보상금청구권의 준용규정</a:t>
            </a:r>
            <a:r>
              <a:rPr lang="en-US" altLang="ko-KR" sz="1100" dirty="0">
                <a:latin typeface="+mn-ea"/>
              </a:rPr>
              <a:t>(</a:t>
            </a:r>
            <a:r>
              <a:rPr lang="ko-KR" altLang="en-US" sz="1100" dirty="0">
                <a:latin typeface="+mn-ea"/>
              </a:rPr>
              <a:t>法 </a:t>
            </a:r>
            <a:r>
              <a:rPr lang="en-US" altLang="ko-KR" sz="1100" dirty="0">
                <a:latin typeface="+mn-ea"/>
              </a:rPr>
              <a:t>65</a:t>
            </a:r>
            <a:r>
              <a:rPr lang="ko-KR" altLang="en-US" sz="1100" dirty="0"/>
              <a:t>⑤</a:t>
            </a:r>
            <a:r>
              <a:rPr lang="en-US" altLang="ko-KR" sz="1100" dirty="0">
                <a:latin typeface="+mn-ea"/>
              </a:rPr>
              <a:t>)</a:t>
            </a:r>
            <a:endParaRPr lang="ko-KR" altLang="en-US" sz="1100" b="0" dirty="0">
              <a:latin typeface="+mn-ea"/>
            </a:endParaRPr>
          </a:p>
        </p:txBody>
      </p:sp>
      <p:cxnSp>
        <p:nvCxnSpPr>
          <p:cNvPr id="65" name="꺾인 연결선 64"/>
          <p:cNvCxnSpPr>
            <a:stCxn id="56" idx="3"/>
            <a:endCxn id="60" idx="1"/>
          </p:cNvCxnSpPr>
          <p:nvPr/>
        </p:nvCxnSpPr>
        <p:spPr>
          <a:xfrm flipV="1">
            <a:off x="8029575" y="4143725"/>
            <a:ext cx="630292" cy="936713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꺾인 연결선 70"/>
          <p:cNvCxnSpPr>
            <a:stCxn id="56" idx="3"/>
            <a:endCxn id="61" idx="1"/>
          </p:cNvCxnSpPr>
          <p:nvPr/>
        </p:nvCxnSpPr>
        <p:spPr>
          <a:xfrm flipV="1">
            <a:off x="8029575" y="4515200"/>
            <a:ext cx="630292" cy="56523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꺾인 연결선 72"/>
          <p:cNvCxnSpPr>
            <a:stCxn id="56" idx="3"/>
            <a:endCxn id="62" idx="1"/>
          </p:cNvCxnSpPr>
          <p:nvPr/>
        </p:nvCxnSpPr>
        <p:spPr>
          <a:xfrm flipV="1">
            <a:off x="8029575" y="4889477"/>
            <a:ext cx="630292" cy="19096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꺾인 연결선 74"/>
          <p:cNvCxnSpPr>
            <a:stCxn id="57" idx="3"/>
            <a:endCxn id="67" idx="1"/>
          </p:cNvCxnSpPr>
          <p:nvPr/>
        </p:nvCxnSpPr>
        <p:spPr>
          <a:xfrm flipV="1">
            <a:off x="8029575" y="5290076"/>
            <a:ext cx="630293" cy="203199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꺾인 연결선 77"/>
          <p:cNvCxnSpPr>
            <a:stCxn id="57" idx="3"/>
            <a:endCxn id="69" idx="1"/>
          </p:cNvCxnSpPr>
          <p:nvPr/>
        </p:nvCxnSpPr>
        <p:spPr>
          <a:xfrm>
            <a:off x="8029575" y="5493275"/>
            <a:ext cx="609601" cy="1026315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꺾인 연결선 79"/>
          <p:cNvCxnSpPr>
            <a:stCxn id="57" idx="3"/>
            <a:endCxn id="68" idx="1"/>
          </p:cNvCxnSpPr>
          <p:nvPr/>
        </p:nvCxnSpPr>
        <p:spPr>
          <a:xfrm>
            <a:off x="8029575" y="5493275"/>
            <a:ext cx="630293" cy="20963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 81"/>
          <p:cNvCxnSpPr>
            <a:stCxn id="57" idx="3"/>
            <a:endCxn id="66" idx="1"/>
          </p:cNvCxnSpPr>
          <p:nvPr/>
        </p:nvCxnSpPr>
        <p:spPr>
          <a:xfrm>
            <a:off x="8029575" y="5493275"/>
            <a:ext cx="609601" cy="61347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277</a:t>
            </a:r>
            <a:endParaRPr lang="ko-KR" altLang="en-US" dirty="0"/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D196411-E23A-4EEE-BA2C-1E7F178A9927}"/>
              </a:ext>
            </a:extLst>
          </p:cNvPr>
          <p:cNvSpPr/>
          <p:nvPr/>
        </p:nvSpPr>
        <p:spPr>
          <a:xfrm>
            <a:off x="5120649" y="4631676"/>
            <a:ext cx="696685" cy="1395623"/>
          </a:xfrm>
          <a:prstGeom prst="rightArrow">
            <a:avLst>
              <a:gd name="adj1" fmla="val 83696"/>
              <a:gd name="adj2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40318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64</a:t>
            </a:r>
            <a:r>
              <a:rPr lang="ko-KR" altLang="en-US" dirty="0"/>
              <a:t>조</a:t>
            </a:r>
            <a:r>
              <a:rPr lang="en-US" altLang="ko-KR" dirty="0"/>
              <a:t>, </a:t>
            </a:r>
            <a:r>
              <a:rPr lang="ko-KR" altLang="en-US" dirty="0"/>
              <a:t>제</a:t>
            </a:r>
            <a:r>
              <a:rPr lang="en-US" altLang="ko-KR" dirty="0"/>
              <a:t>65</a:t>
            </a:r>
            <a:r>
              <a:rPr lang="ko-KR" altLang="en-US" dirty="0"/>
              <a:t>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보정과 </a:t>
            </a:r>
            <a:r>
              <a:rPr lang="ko-KR" altLang="en-US" dirty="0" err="1"/>
              <a:t>재경고</a:t>
            </a:r>
            <a:endParaRPr lang="ko-KR" altLang="en-US" dirty="0"/>
          </a:p>
        </p:txBody>
      </p:sp>
      <p:sp>
        <p:nvSpPr>
          <p:cNvPr id="93" name="TextBox 92"/>
          <p:cNvSpPr txBox="1"/>
          <p:nvPr/>
        </p:nvSpPr>
        <p:spPr>
          <a:xfrm>
            <a:off x="77875" y="986046"/>
            <a:ext cx="119363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400" dirty="0" err="1">
                <a:solidFill>
                  <a:schemeClr val="tx2"/>
                </a:solidFill>
              </a:rPr>
              <a:t>출원인이</a:t>
            </a:r>
            <a:r>
              <a:rPr lang="ko-KR" altLang="en-US" sz="1400" dirty="0">
                <a:solidFill>
                  <a:schemeClr val="tx2"/>
                </a:solidFill>
              </a:rPr>
              <a:t> 출원발명임을 경고한 후 청구범위 보정을 한 경우에 </a:t>
            </a:r>
            <a:r>
              <a:rPr lang="ko-KR" altLang="en-US" sz="1400" dirty="0" err="1">
                <a:solidFill>
                  <a:schemeClr val="tx2"/>
                </a:solidFill>
              </a:rPr>
              <a:t>재경고를</a:t>
            </a:r>
            <a:r>
              <a:rPr lang="ko-KR" altLang="en-US" sz="1400" dirty="0">
                <a:solidFill>
                  <a:schemeClr val="tx2"/>
                </a:solidFill>
              </a:rPr>
              <a:t> 하여야 하는지 여부가 문제된다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보정에 의하여 청구범위가 확장 또는 변경된 경우</a:t>
            </a:r>
            <a:r>
              <a:rPr lang="ko-KR" altLang="en-US" sz="1400" dirty="0">
                <a:solidFill>
                  <a:schemeClr val="tx2"/>
                </a:solidFill>
              </a:rPr>
              <a:t>에는 그 확장 또는 변경된 내용에 대하여 보상금청구권을 행사하기 위해서는 다시 경고를 하여야 하나 </a:t>
            </a:r>
            <a:r>
              <a:rPr lang="ko-KR" altLang="en-US" sz="1400" dirty="0">
                <a:solidFill>
                  <a:schemeClr val="tx2"/>
                </a:solidFill>
                <a:highlight>
                  <a:srgbClr val="FFFF00"/>
                </a:highlight>
              </a:rPr>
              <a:t>보정에 의하여 청구범위가 감축 또는 삭제된 경우</a:t>
            </a:r>
            <a:r>
              <a:rPr lang="ko-KR" altLang="en-US" sz="1400" dirty="0">
                <a:solidFill>
                  <a:schemeClr val="tx2"/>
                </a:solidFill>
              </a:rPr>
              <a:t>에는 재경고를 할 필요가 없다</a:t>
            </a:r>
            <a:r>
              <a:rPr lang="en-US" altLang="ko-KR" sz="1400" dirty="0">
                <a:solidFill>
                  <a:schemeClr val="tx2"/>
                </a:solidFill>
              </a:rPr>
              <a:t>. </a:t>
            </a:r>
            <a:endParaRPr lang="ko-KR" altLang="en-US" sz="1400" dirty="0">
              <a:solidFill>
                <a:schemeClr val="tx2"/>
              </a:solidFill>
            </a:endParaRPr>
          </a:p>
        </p:txBody>
      </p:sp>
      <p:cxnSp>
        <p:nvCxnSpPr>
          <p:cNvPr id="95" name="직선 연결선 94"/>
          <p:cNvCxnSpPr/>
          <p:nvPr/>
        </p:nvCxnSpPr>
        <p:spPr>
          <a:xfrm>
            <a:off x="0" y="1724710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584496" y="3183294"/>
            <a:ext cx="10464504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584496" y="3032837"/>
            <a:ext cx="989461" cy="3009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 甲 출원</a:t>
            </a:r>
          </a:p>
        </p:txBody>
      </p:sp>
      <p:sp>
        <p:nvSpPr>
          <p:cNvPr id="42" name="직사각형 41"/>
          <p:cNvSpPr/>
          <p:nvPr/>
        </p:nvSpPr>
        <p:spPr>
          <a:xfrm>
            <a:off x="2127546" y="3032837"/>
            <a:ext cx="989461" cy="3009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공개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4165896" y="3032837"/>
            <a:ext cx="989461" cy="3009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경고</a:t>
            </a:r>
          </a:p>
        </p:txBody>
      </p:sp>
      <p:sp>
        <p:nvSpPr>
          <p:cNvPr id="64" name="직사각형 63"/>
          <p:cNvSpPr/>
          <p:nvPr/>
        </p:nvSpPr>
        <p:spPr>
          <a:xfrm>
            <a:off x="5861346" y="3032837"/>
            <a:ext cx="989461" cy="3009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보정</a:t>
            </a:r>
          </a:p>
        </p:txBody>
      </p:sp>
      <p:sp>
        <p:nvSpPr>
          <p:cNvPr id="70" name="직사각형 69"/>
          <p:cNvSpPr/>
          <p:nvPr/>
        </p:nvSpPr>
        <p:spPr>
          <a:xfrm>
            <a:off x="7699671" y="3032837"/>
            <a:ext cx="989461" cy="3009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>
                <a:solidFill>
                  <a:schemeClr val="tx1"/>
                </a:solidFill>
              </a:rPr>
              <a:t>재경고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9480846" y="3032837"/>
            <a:ext cx="989461" cy="3009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등록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584496" y="2594687"/>
            <a:ext cx="989461" cy="30091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A, B, C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584496" y="2293773"/>
            <a:ext cx="989461" cy="30091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A, C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5861345" y="2594687"/>
            <a:ext cx="989461" cy="30091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A, B, C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5861345" y="2293773"/>
            <a:ext cx="989461" cy="30091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B, C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812332" y="2293773"/>
            <a:ext cx="1696588" cy="2762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丙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丁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戊에게 경고</a:t>
            </a:r>
          </a:p>
        </p:txBody>
      </p:sp>
      <p:cxnSp>
        <p:nvCxnSpPr>
          <p:cNvPr id="83" name="직선 연결선 82"/>
          <p:cNvCxnSpPr>
            <a:endCxn id="63" idx="0"/>
          </p:cNvCxnSpPr>
          <p:nvPr/>
        </p:nvCxnSpPr>
        <p:spPr>
          <a:xfrm>
            <a:off x="4660627" y="2590457"/>
            <a:ext cx="0" cy="44238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자유형 11"/>
          <p:cNvSpPr/>
          <p:nvPr/>
        </p:nvSpPr>
        <p:spPr>
          <a:xfrm>
            <a:off x="3295650" y="3162300"/>
            <a:ext cx="7753350" cy="2600325"/>
          </a:xfrm>
          <a:custGeom>
            <a:avLst/>
            <a:gdLst>
              <a:gd name="connsiteX0" fmla="*/ 0 w 7886700"/>
              <a:gd name="connsiteY0" fmla="*/ 0 h 2600325"/>
              <a:gd name="connsiteX1" fmla="*/ 0 w 7886700"/>
              <a:gd name="connsiteY1" fmla="*/ 2600325 h 2600325"/>
              <a:gd name="connsiteX2" fmla="*/ 7886700 w 7886700"/>
              <a:gd name="connsiteY2" fmla="*/ 2600325 h 260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6700" h="2600325">
                <a:moveTo>
                  <a:pt x="0" y="0"/>
                </a:moveTo>
                <a:lnTo>
                  <a:pt x="0" y="2600325"/>
                </a:lnTo>
                <a:lnTo>
                  <a:pt x="7886700" y="2600325"/>
                </a:lnTo>
              </a:path>
            </a:pathLst>
          </a:cu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자유형 84"/>
          <p:cNvSpPr/>
          <p:nvPr/>
        </p:nvSpPr>
        <p:spPr>
          <a:xfrm>
            <a:off x="3476625" y="3162301"/>
            <a:ext cx="7572375" cy="1943100"/>
          </a:xfrm>
          <a:custGeom>
            <a:avLst/>
            <a:gdLst>
              <a:gd name="connsiteX0" fmla="*/ 0 w 7886700"/>
              <a:gd name="connsiteY0" fmla="*/ 0 h 2600325"/>
              <a:gd name="connsiteX1" fmla="*/ 0 w 7886700"/>
              <a:gd name="connsiteY1" fmla="*/ 2600325 h 2600325"/>
              <a:gd name="connsiteX2" fmla="*/ 7886700 w 7886700"/>
              <a:gd name="connsiteY2" fmla="*/ 2600325 h 260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6700" h="2600325">
                <a:moveTo>
                  <a:pt x="0" y="0"/>
                </a:moveTo>
                <a:lnTo>
                  <a:pt x="0" y="2600325"/>
                </a:lnTo>
                <a:lnTo>
                  <a:pt x="7886700" y="2600325"/>
                </a:lnTo>
              </a:path>
            </a:pathLst>
          </a:cu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자유형 85"/>
          <p:cNvSpPr/>
          <p:nvPr/>
        </p:nvSpPr>
        <p:spPr>
          <a:xfrm>
            <a:off x="3648075" y="3183294"/>
            <a:ext cx="7400925" cy="1279168"/>
          </a:xfrm>
          <a:custGeom>
            <a:avLst/>
            <a:gdLst>
              <a:gd name="connsiteX0" fmla="*/ 0 w 7886700"/>
              <a:gd name="connsiteY0" fmla="*/ 0 h 2600325"/>
              <a:gd name="connsiteX1" fmla="*/ 0 w 7886700"/>
              <a:gd name="connsiteY1" fmla="*/ 2600325 h 2600325"/>
              <a:gd name="connsiteX2" fmla="*/ 7886700 w 7886700"/>
              <a:gd name="connsiteY2" fmla="*/ 2600325 h 260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6700" h="2600325">
                <a:moveTo>
                  <a:pt x="0" y="0"/>
                </a:moveTo>
                <a:lnTo>
                  <a:pt x="0" y="2600325"/>
                </a:lnTo>
                <a:lnTo>
                  <a:pt x="7886700" y="2600325"/>
                </a:lnTo>
              </a:path>
            </a:pathLst>
          </a:cu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자유형 88"/>
          <p:cNvSpPr/>
          <p:nvPr/>
        </p:nvSpPr>
        <p:spPr>
          <a:xfrm>
            <a:off x="3812332" y="3183293"/>
            <a:ext cx="3450480" cy="690561"/>
          </a:xfrm>
          <a:custGeom>
            <a:avLst/>
            <a:gdLst>
              <a:gd name="connsiteX0" fmla="*/ 0 w 7886700"/>
              <a:gd name="connsiteY0" fmla="*/ 0 h 2600325"/>
              <a:gd name="connsiteX1" fmla="*/ 0 w 7886700"/>
              <a:gd name="connsiteY1" fmla="*/ 2600325 h 2600325"/>
              <a:gd name="connsiteX2" fmla="*/ 7886700 w 7886700"/>
              <a:gd name="connsiteY2" fmla="*/ 2600325 h 260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6700" h="2600325">
                <a:moveTo>
                  <a:pt x="0" y="0"/>
                </a:moveTo>
                <a:lnTo>
                  <a:pt x="0" y="2600325"/>
                </a:lnTo>
                <a:lnTo>
                  <a:pt x="7886700" y="2600325"/>
                </a:lnTo>
              </a:path>
            </a:pathLst>
          </a:cu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4783882" y="5829300"/>
            <a:ext cx="1696588" cy="2762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乙 </a:t>
            </a:r>
            <a:r>
              <a:rPr lang="en-US" altLang="ko-KR" sz="1200" dirty="0">
                <a:solidFill>
                  <a:schemeClr val="tx1"/>
                </a:solidFill>
              </a:rPr>
              <a:t>A </a:t>
            </a:r>
            <a:r>
              <a:rPr lang="ko-KR" altLang="en-US" sz="1200" dirty="0">
                <a:solidFill>
                  <a:schemeClr val="tx1"/>
                </a:solidFill>
              </a:rPr>
              <a:t>실시</a:t>
            </a:r>
          </a:p>
        </p:txBody>
      </p:sp>
      <p:sp>
        <p:nvSpPr>
          <p:cNvPr id="91" name="직사각형 90"/>
          <p:cNvSpPr/>
          <p:nvPr/>
        </p:nvSpPr>
        <p:spPr>
          <a:xfrm>
            <a:off x="4783882" y="5143501"/>
            <a:ext cx="1696588" cy="2762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丙 </a:t>
            </a:r>
            <a:r>
              <a:rPr lang="en-US" altLang="ko-KR" sz="1200" dirty="0">
                <a:solidFill>
                  <a:schemeClr val="tx1"/>
                </a:solidFill>
              </a:rPr>
              <a:t>B </a:t>
            </a:r>
            <a:r>
              <a:rPr lang="ko-KR" altLang="en-US" sz="1200" dirty="0">
                <a:solidFill>
                  <a:schemeClr val="tx1"/>
                </a:solidFill>
              </a:rPr>
              <a:t>실시</a:t>
            </a:r>
          </a:p>
        </p:txBody>
      </p:sp>
      <p:sp>
        <p:nvSpPr>
          <p:cNvPr id="92" name="직사각형 91"/>
          <p:cNvSpPr/>
          <p:nvPr/>
        </p:nvSpPr>
        <p:spPr>
          <a:xfrm>
            <a:off x="4783882" y="4510087"/>
            <a:ext cx="1696588" cy="2762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丁 </a:t>
            </a:r>
            <a:r>
              <a:rPr lang="en-US" altLang="ko-KR" sz="1200" dirty="0">
                <a:solidFill>
                  <a:schemeClr val="tx1"/>
                </a:solidFill>
              </a:rPr>
              <a:t>C </a:t>
            </a:r>
            <a:r>
              <a:rPr lang="ko-KR" altLang="en-US" sz="1200" dirty="0">
                <a:solidFill>
                  <a:schemeClr val="tx1"/>
                </a:solidFill>
              </a:rPr>
              <a:t>실시</a:t>
            </a:r>
          </a:p>
        </p:txBody>
      </p:sp>
      <p:sp>
        <p:nvSpPr>
          <p:cNvPr id="94" name="직사각형 93"/>
          <p:cNvSpPr/>
          <p:nvPr/>
        </p:nvSpPr>
        <p:spPr>
          <a:xfrm>
            <a:off x="4783882" y="3935766"/>
            <a:ext cx="1696588" cy="2762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戊 </a:t>
            </a:r>
            <a:r>
              <a:rPr lang="en-US" altLang="ko-KR" sz="1200" dirty="0">
                <a:solidFill>
                  <a:schemeClr val="tx1"/>
                </a:solidFill>
              </a:rPr>
              <a:t>C </a:t>
            </a:r>
            <a:r>
              <a:rPr lang="ko-KR" altLang="en-US" sz="1200" dirty="0">
                <a:solidFill>
                  <a:schemeClr val="tx1"/>
                </a:solidFill>
              </a:rPr>
              <a:t>실시</a:t>
            </a:r>
          </a:p>
        </p:txBody>
      </p:sp>
      <p:cxnSp>
        <p:nvCxnSpPr>
          <p:cNvPr id="14" name="직선 연결선 13"/>
          <p:cNvCxnSpPr>
            <a:stCxn id="63" idx="2"/>
          </p:cNvCxnSpPr>
          <p:nvPr/>
        </p:nvCxnSpPr>
        <p:spPr>
          <a:xfrm flipH="1">
            <a:off x="4660626" y="3333751"/>
            <a:ext cx="1" cy="320992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9975576" y="3333751"/>
            <a:ext cx="1" cy="320992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 flipH="1">
            <a:off x="8194401" y="3333751"/>
            <a:ext cx="1" cy="320992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7346107" y="2293773"/>
            <a:ext cx="1696588" cy="276225"/>
          </a:xfrm>
          <a:prstGeom prst="rect">
            <a:avLst/>
          </a:pr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丙에게 경고</a:t>
            </a:r>
          </a:p>
        </p:txBody>
      </p:sp>
      <p:cxnSp>
        <p:nvCxnSpPr>
          <p:cNvPr id="99" name="직선 연결선 98"/>
          <p:cNvCxnSpPr/>
          <p:nvPr/>
        </p:nvCxnSpPr>
        <p:spPr>
          <a:xfrm>
            <a:off x="8187778" y="2590457"/>
            <a:ext cx="0" cy="44238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4660627" y="4462462"/>
            <a:ext cx="531494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>
            <a:off x="4660627" y="3873854"/>
            <a:ext cx="2657474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8194402" y="5093055"/>
            <a:ext cx="180917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사각형 설명선 23"/>
          <p:cNvSpPr/>
          <p:nvPr/>
        </p:nvSpPr>
        <p:spPr>
          <a:xfrm>
            <a:off x="9315450" y="1924050"/>
            <a:ext cx="790575" cy="760248"/>
          </a:xfrm>
          <a:prstGeom prst="wedgeRoundRectCallout">
            <a:avLst>
              <a:gd name="adj1" fmla="val -71132"/>
              <a:gd name="adj2" fmla="val 14478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A : </a:t>
            </a:r>
            <a:r>
              <a:rPr lang="ko-KR" altLang="en-US" sz="1200" dirty="0">
                <a:solidFill>
                  <a:schemeClr val="tx1"/>
                </a:solidFill>
              </a:rPr>
              <a:t>삭제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</a:rPr>
              <a:t>B : </a:t>
            </a:r>
            <a:r>
              <a:rPr lang="ko-KR" altLang="en-US" sz="1200" dirty="0">
                <a:solidFill>
                  <a:schemeClr val="tx1"/>
                </a:solidFill>
              </a:rPr>
              <a:t>추가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</a:rPr>
              <a:t>C : </a:t>
            </a:r>
            <a:r>
              <a:rPr lang="ko-KR" altLang="en-US" sz="1200" dirty="0">
                <a:solidFill>
                  <a:schemeClr val="tx1"/>
                </a:solidFill>
              </a:rPr>
              <a:t>유지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4655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선행기술조사의 목적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705919"/>
              </p:ext>
            </p:extLst>
          </p:nvPr>
        </p:nvGraphicFramePr>
        <p:xfrm>
          <a:off x="586036" y="1412776"/>
          <a:ext cx="11034464" cy="4752528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15558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399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3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8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목적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주요 내용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검색 전략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66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신기술 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ko-KR" altLang="en-US" sz="1400" dirty="0"/>
                        <a:t>개발을 위한 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ko-KR" altLang="en-US" sz="1400" dirty="0"/>
                        <a:t>조사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관련 기술분야의 개발흐름을 파악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연구개발 테마를 선정하거나 미래기술 예측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선행기술조사로 중복투자 및 중복투자 방지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 err="1"/>
                        <a:t>기술개발시</a:t>
                      </a:r>
                      <a:r>
                        <a:rPr lang="ko-KR" altLang="en-US" sz="1400" dirty="0"/>
                        <a:t> 문제점 해결을 위한 아이디어 입수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타사의 기술개발 동향 파악</a:t>
                      </a:r>
                      <a:endParaRPr lang="en-US" altLang="ko-KR" sz="1400" b="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관련성 있는 기술범위를 넓게 설정하여 조사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해결하고자 하는 과제를 중심으로 조사</a:t>
                      </a:r>
                      <a:endParaRPr lang="en-US" altLang="ko-KR" sz="14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24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특허등록 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ko-KR" altLang="en-US" sz="1400" dirty="0"/>
                        <a:t>가능성</a:t>
                      </a:r>
                      <a:r>
                        <a:rPr lang="en-US" altLang="ko-KR" sz="1400" dirty="0"/>
                        <a:t>/</a:t>
                      </a:r>
                      <a:r>
                        <a:rPr lang="ko-KR" altLang="en-US" sz="1400" dirty="0"/>
                        <a:t>특허권 존재</a:t>
                      </a:r>
                      <a:r>
                        <a:rPr lang="ko-KR" altLang="en-US" sz="1400" baseline="0" dirty="0"/>
                        <a:t> 여부</a:t>
                      </a:r>
                      <a:r>
                        <a:rPr lang="ko-KR" altLang="en-US" sz="1400" dirty="0"/>
                        <a:t> 조사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 err="1"/>
                        <a:t>특허출원전</a:t>
                      </a:r>
                      <a:r>
                        <a:rPr lang="ko-KR" altLang="en-US" sz="1400" dirty="0"/>
                        <a:t> 선행기술조사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특허등록 가능성 판단 및 권리범위 가능 영역의 확인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무용한 특허출원의 지양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특허등록 가능성이 높아지도록 명세서 작성</a:t>
                      </a:r>
                      <a:endParaRPr lang="ko-KR" altLang="en-US" sz="1400" b="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신규성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진보성의 판단 기준을 고려하여 조사</a:t>
                      </a:r>
                      <a:endParaRPr lang="en-US" altLang="ko-KR" sz="1400" dirty="0"/>
                    </a:p>
                    <a:p>
                      <a:pPr marL="88900" indent="-88900"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기술의 구성요소를 특정하고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이에 상응하는 구성요소들이 공지되어 있는지를 중점적으로 조사 </a:t>
                      </a:r>
                      <a:endParaRPr lang="ko-KR" altLang="en-US" sz="14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768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특허분쟁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ko-KR" altLang="en-US" sz="1400" dirty="0"/>
                        <a:t>대응</a:t>
                      </a:r>
                      <a:r>
                        <a:rPr lang="ko-KR" altLang="en-US" sz="1400" baseline="0" dirty="0"/>
                        <a:t> 자료 조사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시장출시 예정 제품에 대한 특허침해 가능성</a:t>
                      </a:r>
                      <a:r>
                        <a:rPr lang="ko-KR" altLang="en-US" sz="1400" baseline="0" dirty="0"/>
                        <a:t> 있는 특허 검색</a:t>
                      </a:r>
                      <a:endParaRPr lang="en-US" altLang="ko-KR" sz="1400" baseline="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baseline="0" dirty="0"/>
                        <a:t>특허분쟁 가능성 사전 예방</a:t>
                      </a:r>
                      <a:endParaRPr lang="en-US" altLang="ko-KR" sz="1400" baseline="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baseline="0" dirty="0"/>
                        <a:t>회피설계 타진 또는 해당 권리의 무효화 추진</a:t>
                      </a:r>
                      <a:endParaRPr lang="en-US" altLang="ko-KR" sz="1400" baseline="0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lang="ko-KR" altLang="en-US" sz="1400" dirty="0"/>
                        <a:t>문제 특허에 대한 정보제공 또는 무효자료 조사</a:t>
                      </a:r>
                      <a:endParaRPr lang="ko-KR" altLang="en-US" sz="1400" b="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88900" indent="-88900"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침해이론</a:t>
                      </a:r>
                      <a:r>
                        <a:rPr lang="en-US" altLang="ko-KR" sz="1400" dirty="0"/>
                        <a:t>(All</a:t>
                      </a:r>
                      <a:r>
                        <a:rPr lang="en-US" altLang="ko-KR" sz="1400" baseline="0" dirty="0"/>
                        <a:t> Elements Rule, </a:t>
                      </a:r>
                      <a:r>
                        <a:rPr lang="ko-KR" altLang="en-US" sz="1400" baseline="0" dirty="0" err="1"/>
                        <a:t>균등론</a:t>
                      </a:r>
                      <a:r>
                        <a:rPr lang="en-US" altLang="ko-KR" sz="1400" baseline="0" dirty="0"/>
                        <a:t>)</a:t>
                      </a:r>
                      <a:r>
                        <a:rPr lang="ko-KR" altLang="en-US" sz="1400" baseline="0" dirty="0"/>
                        <a:t>에 입각하여 침해 문제가 있는 선행기술을 중점적으로 조사</a:t>
                      </a:r>
                      <a:endParaRPr lang="en-US" altLang="ko-KR" sz="1400" baseline="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경쟁사의 포트폴리오를 분석</a:t>
                      </a:r>
                      <a:endParaRPr lang="en-US" altLang="ko-KR" sz="1400" dirty="0"/>
                    </a:p>
                    <a:p>
                      <a:pPr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dirty="0"/>
                        <a:t>회피설계방안을 고려하여 공지기술 조사</a:t>
                      </a:r>
                      <a:endParaRPr lang="en-US" altLang="ko-KR" sz="1400" dirty="0"/>
                    </a:p>
                    <a:p>
                      <a:pPr marL="88900" indent="-88900" algn="l" latinLnBrk="1">
                        <a:buFont typeface="Wingdings" pitchFamily="2" charset="2"/>
                        <a:buChar char="§"/>
                      </a:pPr>
                      <a:r>
                        <a:rPr lang="ko-KR" altLang="en-US" sz="1400" baseline="0" dirty="0"/>
                        <a:t>등록되지 않은 특허의 경우에는 지속적인 모니터링 방안 제시</a:t>
                      </a:r>
                      <a:endParaRPr lang="en-US" altLang="ko-KR" sz="1400" baseline="0" dirty="0"/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lang="ko-KR" altLang="en-US" sz="1400" baseline="0" dirty="0"/>
                        <a:t>인용도</a:t>
                      </a:r>
                      <a:r>
                        <a:rPr lang="en-US" altLang="ko-KR" sz="1400" baseline="0" dirty="0"/>
                        <a:t>(Forward, Backward Citation)</a:t>
                      </a:r>
                      <a:r>
                        <a:rPr lang="ko-KR" altLang="en-US" sz="1400" baseline="0" dirty="0"/>
                        <a:t>를 활용하여 심도 있는 조사</a:t>
                      </a:r>
                      <a:endParaRPr lang="en-US" altLang="ko-KR" sz="1400" b="0" baseline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279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47952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PATENT MAP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77875" y="986046"/>
            <a:ext cx="11936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latin typeface="+mn-ea"/>
              </a:rPr>
              <a:t>특허맵이란</a:t>
            </a:r>
            <a:r>
              <a:rPr lang="ko-KR" altLang="en-US" sz="1400" dirty="0">
                <a:latin typeface="+mn-ea"/>
              </a:rPr>
              <a:t> 특허정보를 분석하여 서지사항의 분류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정리하고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기술적 사항을 분석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가공하여 특허정보만이 가지고 있는 경영정보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권리정보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및 기술정보를 도표화한 것을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말한다</a:t>
            </a:r>
            <a:r>
              <a:rPr lang="en-US" altLang="ko-KR" sz="1400" dirty="0">
                <a:latin typeface="+mn-ea"/>
              </a:rPr>
              <a:t>.</a:t>
            </a:r>
            <a:endParaRPr lang="ko-KR" altLang="en-US" sz="1400" dirty="0">
              <a:latin typeface="+mn-ea"/>
            </a:endParaRPr>
          </a:p>
        </p:txBody>
      </p:sp>
      <p:cxnSp>
        <p:nvCxnSpPr>
          <p:cNvPr id="6" name="직선 연결선 5"/>
          <p:cNvCxnSpPr/>
          <p:nvPr/>
        </p:nvCxnSpPr>
        <p:spPr>
          <a:xfrm>
            <a:off x="0" y="1521510"/>
            <a:ext cx="914400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65576"/>
              </p:ext>
            </p:extLst>
          </p:nvPr>
        </p:nvGraphicFramePr>
        <p:xfrm>
          <a:off x="320825" y="1735708"/>
          <a:ext cx="11439375" cy="2188593"/>
        </p:xfrm>
        <a:graphic>
          <a:graphicData uri="http://schemas.openxmlformats.org/drawingml/2006/table">
            <a:tbl>
              <a:tblPr firstCol="1">
                <a:tableStyleId>{8799B23B-EC83-4686-B30A-512413B5E67A}</a:tableStyleId>
              </a:tblPr>
              <a:tblGrid>
                <a:gridCol w="2100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38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3177">
                <a:tc rowSpan="4">
                  <a:txBody>
                    <a:bodyPr/>
                    <a:lstStyle/>
                    <a:p>
                      <a:pPr marL="2540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경영정보분석</a:t>
                      </a:r>
                      <a:endParaRPr kumimoji="0" lang="en-US" altLang="ko-KR" sz="1100" u="none" strike="noStrike" cap="none" normalizeH="0" baseline="0" dirty="0">
                        <a:ln>
                          <a:noFill/>
                        </a:ln>
                        <a:effectLst/>
                      </a:endParaRPr>
                    </a:p>
                    <a:p>
                      <a:pPr marL="2540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(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경영전략 수립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)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경쟁사의 동향 파악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시장동향 및 상품의 변혁과 흐름파악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1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신규 사업방향 및 가능성 파악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31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자사 기술 매각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해외진출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기술도입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31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 err="1">
                          <a:ln>
                            <a:noFill/>
                          </a:ln>
                          <a:effectLst/>
                        </a:rPr>
                        <a:t>사업화시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 주의를 요하는 권리 파악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77">
                <a:tc rowSpan="2">
                  <a:txBody>
                    <a:bodyPr/>
                    <a:lstStyle/>
                    <a:p>
                      <a:pPr marL="2540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기술정보분석</a:t>
                      </a:r>
                      <a:endParaRPr kumimoji="0" lang="en-US" altLang="ko-KR" sz="1100" u="none" strike="noStrike" cap="none" normalizeH="0" baseline="0" dirty="0">
                        <a:ln>
                          <a:noFill/>
                        </a:ln>
                        <a:effectLst/>
                      </a:endParaRPr>
                    </a:p>
                    <a:p>
                      <a:pPr marL="2540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(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연구개발전략 수립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)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R&amp;D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동향 파악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공백 기술 분야 파악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선행 프로젝트의 현존기술 파악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중요 특허 파악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타깃제품의 시장조사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기술 분야의 체계 파악</a:t>
                      </a:r>
                      <a:r>
                        <a:rPr kumimoji="0" lang="en-US" altLang="ko-KR" sz="11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자사의 위치 설정</a:t>
                      </a:r>
                      <a:endParaRPr kumimoji="0" lang="ko-KR" altLang="en-US" sz="11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3177">
                <a:tc rowSpan="3">
                  <a:txBody>
                    <a:bodyPr/>
                    <a:lstStyle/>
                    <a:p>
                      <a:pPr marL="2540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권리정보분석</a:t>
                      </a:r>
                      <a:endParaRPr kumimoji="0" lang="en-US" altLang="ko-KR" sz="1100" u="none" strike="noStrike" cap="none" normalizeH="0" baseline="0" dirty="0">
                        <a:ln>
                          <a:noFill/>
                        </a:ln>
                        <a:effectLst/>
                      </a:endParaRPr>
                    </a:p>
                    <a:p>
                      <a:pPr marL="2540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(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특허전략 수립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)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정보제공</a:t>
                      </a:r>
                      <a:r>
                        <a:rPr kumimoji="0" lang="en-US" altLang="ko-KR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, </a:t>
                      </a: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취소신청 및 무효심판 등의 자료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31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특허 관리망 형성</a:t>
                      </a:r>
                      <a:endParaRPr kumimoji="0" lang="ko-KR" altLang="en-US" sz="11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31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5400" marR="0" lvl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1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강력한 특허권 취득을 위한 명세서 파악</a:t>
                      </a:r>
                      <a:endParaRPr kumimoji="0" lang="ko-KR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3910" marR="13910" marT="13922" marB="13922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직사각형 7"/>
          <p:cNvSpPr/>
          <p:nvPr/>
        </p:nvSpPr>
        <p:spPr bwMode="auto">
          <a:xfrm>
            <a:off x="319906" y="5225802"/>
            <a:ext cx="720725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특허정보</a:t>
            </a:r>
          </a:p>
        </p:txBody>
      </p:sp>
      <p:sp>
        <p:nvSpPr>
          <p:cNvPr id="9" name="직사각형 8"/>
          <p:cNvSpPr/>
          <p:nvPr/>
        </p:nvSpPr>
        <p:spPr bwMode="auto">
          <a:xfrm>
            <a:off x="1328588" y="4816227"/>
            <a:ext cx="935037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b="0" dirty="0">
                <a:solidFill>
                  <a:schemeClr val="tx1"/>
                </a:solidFill>
                <a:latin typeface="+mn-ea"/>
              </a:rPr>
              <a:t>서지적 사항</a:t>
            </a:r>
          </a:p>
        </p:txBody>
      </p:sp>
      <p:sp>
        <p:nvSpPr>
          <p:cNvPr id="10" name="직사각형 9"/>
          <p:cNvSpPr/>
          <p:nvPr/>
        </p:nvSpPr>
        <p:spPr bwMode="auto">
          <a:xfrm>
            <a:off x="2336650" y="4816227"/>
            <a:ext cx="935038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분류</a:t>
            </a:r>
            <a:r>
              <a:rPr lang="en-US" altLang="ko-KR" sz="105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정리</a:t>
            </a:r>
          </a:p>
        </p:txBody>
      </p:sp>
      <p:sp>
        <p:nvSpPr>
          <p:cNvPr id="11" name="직사각형 10"/>
          <p:cNvSpPr/>
          <p:nvPr/>
        </p:nvSpPr>
        <p:spPr bwMode="auto">
          <a:xfrm>
            <a:off x="3488258" y="5225802"/>
            <a:ext cx="720725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ko-KR" sz="1050">
                <a:solidFill>
                  <a:schemeClr val="bg1"/>
                </a:solidFill>
                <a:latin typeface="+mn-ea"/>
              </a:rPr>
              <a:t>DATA</a:t>
            </a: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화</a:t>
            </a:r>
          </a:p>
        </p:txBody>
      </p:sp>
      <p:sp>
        <p:nvSpPr>
          <p:cNvPr id="12" name="직사각형 11"/>
          <p:cNvSpPr/>
          <p:nvPr/>
        </p:nvSpPr>
        <p:spPr bwMode="auto">
          <a:xfrm>
            <a:off x="4351709" y="5225802"/>
            <a:ext cx="720725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도표화</a:t>
            </a:r>
          </a:p>
        </p:txBody>
      </p:sp>
      <p:sp>
        <p:nvSpPr>
          <p:cNvPr id="13" name="직사각형 12"/>
          <p:cNvSpPr/>
          <p:nvPr/>
        </p:nvSpPr>
        <p:spPr bwMode="auto">
          <a:xfrm>
            <a:off x="1328588" y="5635377"/>
            <a:ext cx="935037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b="0" dirty="0">
                <a:solidFill>
                  <a:schemeClr val="tx1"/>
                </a:solidFill>
                <a:latin typeface="+mn-ea"/>
              </a:rPr>
              <a:t>기술적 사항</a:t>
            </a:r>
          </a:p>
        </p:txBody>
      </p:sp>
      <p:sp>
        <p:nvSpPr>
          <p:cNvPr id="14" name="직사각형 13"/>
          <p:cNvSpPr/>
          <p:nvPr/>
        </p:nvSpPr>
        <p:spPr bwMode="auto">
          <a:xfrm>
            <a:off x="2336650" y="5635377"/>
            <a:ext cx="935038" cy="292100"/>
          </a:xfrm>
          <a:prstGeom prst="rect">
            <a:avLst/>
          </a:prstGeom>
          <a:solidFill>
            <a:schemeClr val="accent4"/>
          </a:solidFill>
          <a:ln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분석</a:t>
            </a:r>
            <a:r>
              <a:rPr lang="en-US" altLang="ko-KR" sz="105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가공</a:t>
            </a:r>
          </a:p>
        </p:txBody>
      </p:sp>
      <p:cxnSp>
        <p:nvCxnSpPr>
          <p:cNvPr id="15" name="꺾인 연결선 14"/>
          <p:cNvCxnSpPr>
            <a:stCxn id="8" idx="3"/>
            <a:endCxn id="9" idx="1"/>
          </p:cNvCxnSpPr>
          <p:nvPr/>
        </p:nvCxnSpPr>
        <p:spPr bwMode="auto">
          <a:xfrm flipV="1">
            <a:off x="1040631" y="4962277"/>
            <a:ext cx="287957" cy="409575"/>
          </a:xfrm>
          <a:prstGeom prst="bentConnector3">
            <a:avLst>
              <a:gd name="adj1" fmla="val 50000"/>
            </a:avLst>
          </a:prstGeom>
          <a:ln w="12700">
            <a:headEnd type="none" w="med" len="med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꺾인 연결선 15"/>
          <p:cNvCxnSpPr>
            <a:stCxn id="8" idx="3"/>
            <a:endCxn id="13" idx="1"/>
          </p:cNvCxnSpPr>
          <p:nvPr/>
        </p:nvCxnSpPr>
        <p:spPr bwMode="auto">
          <a:xfrm>
            <a:off x="1040631" y="5371852"/>
            <a:ext cx="287957" cy="409575"/>
          </a:xfrm>
          <a:prstGeom prst="bentConnector3">
            <a:avLst>
              <a:gd name="adj1" fmla="val 50000"/>
            </a:avLst>
          </a:prstGeom>
          <a:ln w="12700">
            <a:headEnd type="none" w="med" len="med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꺾인 연결선 16"/>
          <p:cNvCxnSpPr>
            <a:stCxn id="14" idx="3"/>
            <a:endCxn id="11" idx="1"/>
          </p:cNvCxnSpPr>
          <p:nvPr/>
        </p:nvCxnSpPr>
        <p:spPr bwMode="auto">
          <a:xfrm flipV="1">
            <a:off x="3271688" y="5371852"/>
            <a:ext cx="216570" cy="409575"/>
          </a:xfrm>
          <a:prstGeom prst="bentConnector3">
            <a:avLst>
              <a:gd name="adj1" fmla="val 50000"/>
            </a:avLst>
          </a:prstGeom>
          <a:ln w="12700">
            <a:headEnd type="none" w="med" len="med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꺾인 연결선 17"/>
          <p:cNvCxnSpPr>
            <a:stCxn id="10" idx="3"/>
            <a:endCxn id="11" idx="1"/>
          </p:cNvCxnSpPr>
          <p:nvPr/>
        </p:nvCxnSpPr>
        <p:spPr bwMode="auto">
          <a:xfrm>
            <a:off x="3271688" y="4962277"/>
            <a:ext cx="216570" cy="409575"/>
          </a:xfrm>
          <a:prstGeom prst="bentConnector3">
            <a:avLst>
              <a:gd name="adj1" fmla="val 50000"/>
            </a:avLst>
          </a:prstGeom>
          <a:ln w="12700">
            <a:headEnd type="none" w="med" len="med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11" idx="3"/>
            <a:endCxn id="12" idx="1"/>
          </p:cNvCxnSpPr>
          <p:nvPr/>
        </p:nvCxnSpPr>
        <p:spPr bwMode="auto">
          <a:xfrm>
            <a:off x="4208983" y="5371852"/>
            <a:ext cx="142726" cy="0"/>
          </a:xfrm>
          <a:prstGeom prst="straightConnector1">
            <a:avLst/>
          </a:prstGeom>
          <a:ln w="12700">
            <a:headEnd type="none" w="med" len="med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 bwMode="auto">
          <a:xfrm>
            <a:off x="1688950" y="5225802"/>
            <a:ext cx="1295400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>
                <a:solidFill>
                  <a:schemeClr val="bg1"/>
                </a:solidFill>
                <a:latin typeface="+mn-ea"/>
              </a:rPr>
              <a:t>권리정보적 활용</a:t>
            </a:r>
            <a:endParaRPr lang="ko-KR" altLang="en-US" sz="10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" name="직사각형 20"/>
          <p:cNvSpPr/>
          <p:nvPr/>
        </p:nvSpPr>
        <p:spPr bwMode="auto">
          <a:xfrm>
            <a:off x="1688950" y="6044952"/>
            <a:ext cx="1295400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기술정보적 활용</a:t>
            </a:r>
          </a:p>
        </p:txBody>
      </p:sp>
      <p:sp>
        <p:nvSpPr>
          <p:cNvPr id="22" name="직사각형 21"/>
          <p:cNvSpPr/>
          <p:nvPr/>
        </p:nvSpPr>
        <p:spPr bwMode="auto">
          <a:xfrm>
            <a:off x="1688950" y="4465389"/>
            <a:ext cx="1295400" cy="2921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ko-KR" altLang="en-US" sz="1050" dirty="0">
                <a:solidFill>
                  <a:schemeClr val="bg1"/>
                </a:solidFill>
                <a:latin typeface="+mn-ea"/>
              </a:rPr>
              <a:t>경영정보적 활용</a:t>
            </a:r>
          </a:p>
        </p:txBody>
      </p:sp>
      <p:pic>
        <p:nvPicPr>
          <p:cNvPr id="23" name="Picture 9" descr="http://dornbrook.com/Blogs/Mendon/Samurai%20Risk%20Level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1153" y="4067181"/>
            <a:ext cx="5225694" cy="2466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육각형 23"/>
          <p:cNvSpPr/>
          <p:nvPr/>
        </p:nvSpPr>
        <p:spPr bwMode="auto">
          <a:xfrm rot="2696538">
            <a:off x="6700383" y="4203000"/>
            <a:ext cx="203138" cy="158283"/>
          </a:xfrm>
          <a:prstGeom prst="hexagon">
            <a:avLst/>
          </a:prstGeom>
          <a:solidFill>
            <a:srgbClr val="FF0000"/>
          </a:solidFill>
          <a:ln>
            <a:headEnd type="none" w="med" len="med"/>
            <a:tailEnd type="none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25" name="육각형 24"/>
          <p:cNvSpPr/>
          <p:nvPr/>
        </p:nvSpPr>
        <p:spPr bwMode="auto">
          <a:xfrm rot="2696538">
            <a:off x="6700382" y="4647886"/>
            <a:ext cx="203138" cy="158283"/>
          </a:xfrm>
          <a:prstGeom prst="hexagon">
            <a:avLst/>
          </a:prstGeom>
          <a:solidFill>
            <a:srgbClr val="0000FF"/>
          </a:solidFill>
          <a:ln>
            <a:headEnd type="none" w="med" len="med"/>
            <a:tailEnd type="none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26" name="육각형 25"/>
          <p:cNvSpPr/>
          <p:nvPr/>
        </p:nvSpPr>
        <p:spPr bwMode="auto">
          <a:xfrm rot="2696538">
            <a:off x="6700383" y="4426265"/>
            <a:ext cx="203138" cy="158283"/>
          </a:xfrm>
          <a:prstGeom prst="hexagon">
            <a:avLst/>
          </a:prstGeom>
          <a:solidFill>
            <a:srgbClr val="FFFF00"/>
          </a:solidFill>
          <a:ln>
            <a:headEnd type="none" w="med" len="med"/>
            <a:tailEnd type="none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27" name="육각형 26"/>
          <p:cNvSpPr/>
          <p:nvPr/>
        </p:nvSpPr>
        <p:spPr bwMode="auto">
          <a:xfrm rot="2696538">
            <a:off x="6700384" y="4869507"/>
            <a:ext cx="203138" cy="158283"/>
          </a:xfrm>
          <a:prstGeom prst="hexagon">
            <a:avLst/>
          </a:prstGeom>
          <a:solidFill>
            <a:schemeClr val="bg1"/>
          </a:solidFill>
          <a:ln>
            <a:headEnd type="none" w="med" len="med"/>
            <a:tailEnd type="none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42736" y="4136700"/>
            <a:ext cx="1469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+mn-ea"/>
              </a:rPr>
              <a:t>High Risk region</a:t>
            </a:r>
            <a:endParaRPr lang="ko-KR" altLang="en-US" sz="1200" dirty="0">
              <a:latin typeface="+mn-ea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42736" y="4360927"/>
            <a:ext cx="1469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+mn-ea"/>
              </a:rPr>
              <a:t>Low Risk region</a:t>
            </a:r>
            <a:endParaRPr lang="ko-KR" altLang="en-US" sz="1200" dirty="0">
              <a:latin typeface="+mn-ea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942736" y="4582548"/>
            <a:ext cx="1469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+mn-ea"/>
              </a:rPr>
              <a:t>Public Domain</a:t>
            </a:r>
            <a:endParaRPr lang="ko-KR" altLang="en-US" sz="1200" dirty="0">
              <a:latin typeface="+mn-ea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942736" y="4804169"/>
            <a:ext cx="1469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+mn-ea"/>
              </a:rPr>
              <a:t>Empty</a:t>
            </a:r>
            <a:endParaRPr lang="ko-KR" altLang="en-US" sz="1200" dirty="0">
              <a:latin typeface="+mn-ea"/>
            </a:endParaRPr>
          </a:p>
        </p:txBody>
      </p:sp>
      <p:sp>
        <p:nvSpPr>
          <p:cNvPr id="32" name="육각형 31"/>
          <p:cNvSpPr/>
          <p:nvPr/>
        </p:nvSpPr>
        <p:spPr bwMode="auto">
          <a:xfrm rot="2696538">
            <a:off x="6700384" y="5093354"/>
            <a:ext cx="203138" cy="158283"/>
          </a:xfrm>
          <a:prstGeom prst="hexagon">
            <a:avLst/>
          </a:prstGeom>
          <a:solidFill>
            <a:srgbClr val="99CCFF"/>
          </a:solidFill>
          <a:ln>
            <a:headEnd type="none" w="med" len="med"/>
            <a:tailEnd type="none"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942736" y="5028015"/>
            <a:ext cx="1469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+mn-ea"/>
              </a:rPr>
              <a:t>Not related</a:t>
            </a:r>
            <a:endParaRPr lang="ko-KR" altLang="en-US" sz="1200" dirty="0">
              <a:latin typeface="+mn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280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11331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심사</a:t>
            </a:r>
            <a:r>
              <a:rPr lang="en-US" altLang="ko-KR" dirty="0"/>
              <a:t>(</a:t>
            </a:r>
            <a:r>
              <a:rPr lang="ko-KR" altLang="en-US" dirty="0"/>
              <a:t>제도</a:t>
            </a:r>
            <a:r>
              <a:rPr lang="en-US" altLang="ko-KR" dirty="0"/>
              <a:t>)</a:t>
            </a:r>
            <a:r>
              <a:rPr lang="ko-KR" altLang="en-US" dirty="0"/>
              <a:t> 체계</a:t>
            </a:r>
            <a:r>
              <a:rPr lang="en-US" altLang="ko-KR" dirty="0"/>
              <a:t>: </a:t>
            </a:r>
            <a:r>
              <a:rPr lang="ko-KR" altLang="en-US" dirty="0"/>
              <a:t>제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439326" y="3217998"/>
            <a:ext cx="970795" cy="94062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/>
              <a:t>심사</a:t>
            </a:r>
            <a:endParaRPr lang="en-US" altLang="ko-KR" sz="2400" dirty="0"/>
          </a:p>
          <a:p>
            <a:pPr algn="ctr"/>
            <a:r>
              <a:rPr lang="en-US" altLang="ko-KR" sz="2400" dirty="0"/>
              <a:t>(</a:t>
            </a:r>
            <a:r>
              <a:rPr lang="ko-KR" altLang="en-US" sz="2400" dirty="0"/>
              <a:t>제도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39" name="직사각형 38"/>
          <p:cNvSpPr/>
          <p:nvPr/>
        </p:nvSpPr>
        <p:spPr>
          <a:xfrm>
            <a:off x="2575595" y="1555643"/>
            <a:ext cx="786730" cy="4115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주체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575595" y="2492110"/>
            <a:ext cx="786730" cy="4115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청구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2575595" y="3479693"/>
            <a:ext cx="786730" cy="4115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진행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2575595" y="4416160"/>
            <a:ext cx="786730" cy="4115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종료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2575595" y="5311510"/>
            <a:ext cx="786730" cy="4115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관련</a:t>
            </a:r>
          </a:p>
        </p:txBody>
      </p:sp>
      <p:cxnSp>
        <p:nvCxnSpPr>
          <p:cNvPr id="8" name="꺾인 연결선 7"/>
          <p:cNvCxnSpPr>
            <a:stCxn id="31" idx="3"/>
            <a:endCxn id="39" idx="1"/>
          </p:cNvCxnSpPr>
          <p:nvPr/>
        </p:nvCxnSpPr>
        <p:spPr>
          <a:xfrm flipV="1">
            <a:off x="1410121" y="1761425"/>
            <a:ext cx="1165474" cy="192688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연결선 9"/>
          <p:cNvCxnSpPr>
            <a:stCxn id="31" idx="3"/>
            <a:endCxn id="29" idx="1"/>
          </p:cNvCxnSpPr>
          <p:nvPr/>
        </p:nvCxnSpPr>
        <p:spPr>
          <a:xfrm>
            <a:off x="1410121" y="3688311"/>
            <a:ext cx="1165474" cy="182898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 11"/>
          <p:cNvCxnSpPr>
            <a:stCxn id="31" idx="3"/>
            <a:endCxn id="26" idx="1"/>
          </p:cNvCxnSpPr>
          <p:nvPr/>
        </p:nvCxnSpPr>
        <p:spPr>
          <a:xfrm flipV="1">
            <a:off x="1410121" y="2697892"/>
            <a:ext cx="1165474" cy="990419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꺾인 연결선 13"/>
          <p:cNvCxnSpPr>
            <a:stCxn id="31" idx="3"/>
            <a:endCxn id="28" idx="1"/>
          </p:cNvCxnSpPr>
          <p:nvPr/>
        </p:nvCxnSpPr>
        <p:spPr>
          <a:xfrm>
            <a:off x="1410121" y="3688311"/>
            <a:ext cx="1165474" cy="933631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연결선 15"/>
          <p:cNvCxnSpPr>
            <a:stCxn id="31" idx="3"/>
            <a:endCxn id="27" idx="1"/>
          </p:cNvCxnSpPr>
          <p:nvPr/>
        </p:nvCxnSpPr>
        <p:spPr>
          <a:xfrm flipV="1">
            <a:off x="1410121" y="3685475"/>
            <a:ext cx="1165474" cy="2836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/>
          <p:cNvSpPr/>
          <p:nvPr/>
        </p:nvSpPr>
        <p:spPr>
          <a:xfrm>
            <a:off x="3876675" y="1015786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심사관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57, 68)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76675" y="1540948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전문기관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58, 58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2)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3876675" y="4000738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출원의 무효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취하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포기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제도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3876675" y="4525900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특허여부결정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제도</a:t>
            </a:r>
            <a:r>
              <a:rPr lang="en-US" altLang="ko-KR" sz="1200" dirty="0">
                <a:solidFill>
                  <a:schemeClr val="tx1"/>
                </a:solidFill>
              </a:rPr>
              <a:t>)(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62, 63, 66~67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876675" y="2090773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심사청구제도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59, 60)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3876675" y="2615935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우선심사제도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61)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3876675" y="3292029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심사의 진행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62, 63, 63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3876675" y="5121010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정보제공제도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63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2)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3876675" y="5646172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출원공개제도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64, 65)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3876675" y="6181395"/>
            <a:ext cx="3438525" cy="4115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>
                <a:solidFill>
                  <a:schemeClr val="tx1"/>
                </a:solidFill>
              </a:rPr>
              <a:t>타절차와의</a:t>
            </a:r>
            <a:r>
              <a:rPr lang="ko-KR" altLang="en-US" sz="1200" dirty="0">
                <a:solidFill>
                  <a:schemeClr val="tx1"/>
                </a:solidFill>
              </a:rPr>
              <a:t> 관계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78)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7823871" y="2713514"/>
            <a:ext cx="910554" cy="5344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종류</a:t>
            </a:r>
          </a:p>
        </p:txBody>
      </p:sp>
      <p:sp>
        <p:nvSpPr>
          <p:cNvPr id="61" name="직사각형 60"/>
          <p:cNvSpPr/>
          <p:nvPr/>
        </p:nvSpPr>
        <p:spPr>
          <a:xfrm>
            <a:off x="7823871" y="3395966"/>
            <a:ext cx="910554" cy="5344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방식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67)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7823871" y="4078577"/>
            <a:ext cx="910554" cy="5344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효과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9043071" y="2494702"/>
            <a:ext cx="1430965" cy="4115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거절결정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62, 63)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9043071" y="2956638"/>
            <a:ext cx="1430965" cy="4115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특허결정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66)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9043072" y="4353283"/>
            <a:ext cx="888664" cy="4115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거절결정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9043072" y="3888365"/>
            <a:ext cx="888664" cy="4115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특허결정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9055436" y="5101308"/>
            <a:ext cx="1510628" cy="4115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직권보정제도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66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2)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9055436" y="5572480"/>
            <a:ext cx="1510628" cy="4115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직권재심사제도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66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9" name="직사각형 68"/>
          <p:cNvSpPr/>
          <p:nvPr/>
        </p:nvSpPr>
        <p:spPr>
          <a:xfrm>
            <a:off x="9055436" y="6043932"/>
            <a:ext cx="1510628" cy="4115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재심사청구제도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法 </a:t>
            </a:r>
            <a:r>
              <a:rPr lang="en-US" altLang="ko-KR" sz="1200" dirty="0">
                <a:solidFill>
                  <a:schemeClr val="tx1"/>
                </a:solidFill>
              </a:rPr>
              <a:t>67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2, 67</a:t>
            </a:r>
            <a:r>
              <a:rPr lang="ko-KR" altLang="en-US" sz="1200" dirty="0">
                <a:solidFill>
                  <a:schemeClr val="tx1"/>
                </a:solidFill>
              </a:rPr>
              <a:t>의</a:t>
            </a:r>
            <a:r>
              <a:rPr lang="en-US" altLang="ko-KR" sz="1200" dirty="0">
                <a:solidFill>
                  <a:schemeClr val="tx1"/>
                </a:solidFill>
              </a:rPr>
              <a:t>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7823871" y="5215076"/>
            <a:ext cx="910554" cy="5344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관련제도</a:t>
            </a:r>
          </a:p>
        </p:txBody>
      </p:sp>
      <p:cxnSp>
        <p:nvCxnSpPr>
          <p:cNvPr id="20" name="꺾인 연결선 19"/>
          <p:cNvCxnSpPr>
            <a:stCxn id="39" idx="3"/>
            <a:endCxn id="50" idx="1"/>
          </p:cNvCxnSpPr>
          <p:nvPr/>
        </p:nvCxnSpPr>
        <p:spPr>
          <a:xfrm flipV="1">
            <a:off x="3362325" y="1221568"/>
            <a:ext cx="514350" cy="539857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39" idx="3"/>
            <a:endCxn id="51" idx="1"/>
          </p:cNvCxnSpPr>
          <p:nvPr/>
        </p:nvCxnSpPr>
        <p:spPr>
          <a:xfrm flipV="1">
            <a:off x="3362325" y="1746730"/>
            <a:ext cx="514350" cy="14695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연결선 24"/>
          <p:cNvCxnSpPr>
            <a:stCxn id="26" idx="3"/>
            <a:endCxn id="54" idx="1"/>
          </p:cNvCxnSpPr>
          <p:nvPr/>
        </p:nvCxnSpPr>
        <p:spPr>
          <a:xfrm flipV="1">
            <a:off x="3362325" y="2296555"/>
            <a:ext cx="514350" cy="401337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꺾인 연결선 70"/>
          <p:cNvCxnSpPr>
            <a:stCxn id="26" idx="3"/>
            <a:endCxn id="55" idx="1"/>
          </p:cNvCxnSpPr>
          <p:nvPr/>
        </p:nvCxnSpPr>
        <p:spPr>
          <a:xfrm>
            <a:off x="3362325" y="2697892"/>
            <a:ext cx="514350" cy="123825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 73"/>
          <p:cNvCxnSpPr>
            <a:stCxn id="27" idx="3"/>
            <a:endCxn id="56" idx="1"/>
          </p:cNvCxnSpPr>
          <p:nvPr/>
        </p:nvCxnSpPr>
        <p:spPr>
          <a:xfrm flipV="1">
            <a:off x="3362325" y="3497811"/>
            <a:ext cx="514350" cy="18766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꺾인 연결선 75"/>
          <p:cNvCxnSpPr>
            <a:stCxn id="28" idx="3"/>
            <a:endCxn id="52" idx="1"/>
          </p:cNvCxnSpPr>
          <p:nvPr/>
        </p:nvCxnSpPr>
        <p:spPr>
          <a:xfrm flipV="1">
            <a:off x="3362325" y="4206520"/>
            <a:ext cx="514350" cy="41542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꺾인 연결선 77"/>
          <p:cNvCxnSpPr>
            <a:stCxn id="28" idx="3"/>
            <a:endCxn id="53" idx="1"/>
          </p:cNvCxnSpPr>
          <p:nvPr/>
        </p:nvCxnSpPr>
        <p:spPr>
          <a:xfrm>
            <a:off x="3362325" y="4621942"/>
            <a:ext cx="514350" cy="10974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꺾인 연결선 79"/>
          <p:cNvCxnSpPr>
            <a:stCxn id="29" idx="3"/>
            <a:endCxn id="57" idx="1"/>
          </p:cNvCxnSpPr>
          <p:nvPr/>
        </p:nvCxnSpPr>
        <p:spPr>
          <a:xfrm flipV="1">
            <a:off x="3362325" y="5326792"/>
            <a:ext cx="514350" cy="19050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 81"/>
          <p:cNvCxnSpPr>
            <a:stCxn id="29" idx="3"/>
            <a:endCxn id="58" idx="1"/>
          </p:cNvCxnSpPr>
          <p:nvPr/>
        </p:nvCxnSpPr>
        <p:spPr>
          <a:xfrm>
            <a:off x="3362325" y="5517292"/>
            <a:ext cx="514350" cy="33466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 83"/>
          <p:cNvCxnSpPr>
            <a:stCxn id="29" idx="3"/>
            <a:endCxn id="59" idx="1"/>
          </p:cNvCxnSpPr>
          <p:nvPr/>
        </p:nvCxnSpPr>
        <p:spPr>
          <a:xfrm>
            <a:off x="3362325" y="5517292"/>
            <a:ext cx="514350" cy="869885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꺾인 연결선 85"/>
          <p:cNvCxnSpPr>
            <a:stCxn id="53" idx="3"/>
            <a:endCxn id="60" idx="1"/>
          </p:cNvCxnSpPr>
          <p:nvPr/>
        </p:nvCxnSpPr>
        <p:spPr>
          <a:xfrm flipV="1">
            <a:off x="7315200" y="2980732"/>
            <a:ext cx="508671" cy="175095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꺾인 연결선 87"/>
          <p:cNvCxnSpPr>
            <a:stCxn id="53" idx="3"/>
            <a:endCxn id="70" idx="1"/>
          </p:cNvCxnSpPr>
          <p:nvPr/>
        </p:nvCxnSpPr>
        <p:spPr>
          <a:xfrm>
            <a:off x="7315200" y="4731682"/>
            <a:ext cx="508671" cy="750612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꺾인 연결선 89"/>
          <p:cNvCxnSpPr>
            <a:stCxn id="53" idx="3"/>
            <a:endCxn id="61" idx="1"/>
          </p:cNvCxnSpPr>
          <p:nvPr/>
        </p:nvCxnSpPr>
        <p:spPr>
          <a:xfrm flipV="1">
            <a:off x="7315200" y="3663184"/>
            <a:ext cx="508671" cy="106849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 91"/>
          <p:cNvCxnSpPr>
            <a:stCxn id="53" idx="3"/>
            <a:endCxn id="62" idx="1"/>
          </p:cNvCxnSpPr>
          <p:nvPr/>
        </p:nvCxnSpPr>
        <p:spPr>
          <a:xfrm flipV="1">
            <a:off x="7315200" y="4345795"/>
            <a:ext cx="508671" cy="385887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꺾인 연결선 93"/>
          <p:cNvCxnSpPr>
            <a:cxnSpLocks/>
            <a:stCxn id="60" idx="3"/>
            <a:endCxn id="63" idx="1"/>
          </p:cNvCxnSpPr>
          <p:nvPr/>
        </p:nvCxnSpPr>
        <p:spPr>
          <a:xfrm flipV="1">
            <a:off x="8734425" y="2700484"/>
            <a:ext cx="308646" cy="28024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꺾인 연결선 95"/>
          <p:cNvCxnSpPr>
            <a:cxnSpLocks/>
            <a:stCxn id="60" idx="3"/>
            <a:endCxn id="64" idx="1"/>
          </p:cNvCxnSpPr>
          <p:nvPr/>
        </p:nvCxnSpPr>
        <p:spPr>
          <a:xfrm>
            <a:off x="8734425" y="2980732"/>
            <a:ext cx="308646" cy="18168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 97"/>
          <p:cNvCxnSpPr>
            <a:stCxn id="62" idx="3"/>
            <a:endCxn id="65" idx="1"/>
          </p:cNvCxnSpPr>
          <p:nvPr/>
        </p:nvCxnSpPr>
        <p:spPr>
          <a:xfrm>
            <a:off x="8734425" y="4345795"/>
            <a:ext cx="308647" cy="21327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꺾인 연결선 99"/>
          <p:cNvCxnSpPr>
            <a:stCxn id="62" idx="3"/>
            <a:endCxn id="66" idx="1"/>
          </p:cNvCxnSpPr>
          <p:nvPr/>
        </p:nvCxnSpPr>
        <p:spPr>
          <a:xfrm flipV="1">
            <a:off x="8734425" y="4094147"/>
            <a:ext cx="308647" cy="25164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꺾인 연결선 101"/>
          <p:cNvCxnSpPr>
            <a:cxnSpLocks/>
            <a:stCxn id="70" idx="3"/>
            <a:endCxn id="69" idx="1"/>
          </p:cNvCxnSpPr>
          <p:nvPr/>
        </p:nvCxnSpPr>
        <p:spPr>
          <a:xfrm>
            <a:off x="8734425" y="5482294"/>
            <a:ext cx="321011" cy="767420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 103"/>
          <p:cNvCxnSpPr>
            <a:cxnSpLocks/>
            <a:stCxn id="70" idx="3"/>
            <a:endCxn id="68" idx="1"/>
          </p:cNvCxnSpPr>
          <p:nvPr/>
        </p:nvCxnSpPr>
        <p:spPr>
          <a:xfrm>
            <a:off x="8734425" y="5482294"/>
            <a:ext cx="321011" cy="295968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 105"/>
          <p:cNvCxnSpPr>
            <a:cxnSpLocks/>
            <a:stCxn id="70" idx="3"/>
            <a:endCxn id="67" idx="1"/>
          </p:cNvCxnSpPr>
          <p:nvPr/>
        </p:nvCxnSpPr>
        <p:spPr>
          <a:xfrm flipV="1">
            <a:off x="8734425" y="5307090"/>
            <a:ext cx="321011" cy="175204"/>
          </a:xfrm>
          <a:prstGeom prst="bentConnector3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281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53507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심사</a:t>
            </a:r>
            <a:r>
              <a:rPr lang="en-US" altLang="ko-KR" dirty="0"/>
              <a:t>(</a:t>
            </a:r>
            <a:r>
              <a:rPr lang="ko-KR" altLang="en-US" dirty="0"/>
              <a:t>제도</a:t>
            </a:r>
            <a:r>
              <a:rPr lang="en-US" altLang="ko-KR" dirty="0"/>
              <a:t>)</a:t>
            </a:r>
            <a:r>
              <a:rPr lang="ko-KR" altLang="en-US" dirty="0"/>
              <a:t> 정리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869766"/>
              </p:ext>
            </p:extLst>
          </p:nvPr>
        </p:nvGraphicFramePr>
        <p:xfrm>
          <a:off x="139700" y="1020295"/>
          <a:ext cx="11963400" cy="5646510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288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146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5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812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3858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13931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　제도</a:t>
                      </a:r>
                    </a:p>
                  </a:txBody>
                  <a:tcPr marL="48271" marR="48271" marT="24135" marB="2413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심사청구제도</a:t>
                      </a:r>
                    </a:p>
                  </a:txBody>
                  <a:tcPr marL="48271" marR="48271" marT="24135" marB="2413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우선심사제도</a:t>
                      </a:r>
                    </a:p>
                  </a:txBody>
                  <a:tcPr marL="48271" marR="48271" marT="24135" marB="2413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특허여부결정제도</a:t>
                      </a:r>
                    </a:p>
                  </a:txBody>
                  <a:tcPr marL="48271" marR="48271" marT="24135" marB="2413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재심사청구제도</a:t>
                      </a:r>
                    </a:p>
                  </a:txBody>
                  <a:tcPr marL="48271" marR="48271" marT="24135" marB="2413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61"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요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건</a:t>
                      </a:r>
                    </a:p>
                  </a:txBody>
                  <a:tcPr marL="48271" marR="48271" marT="24135" marB="24135" anchor="ctr"/>
                </a:tc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>
                          <a:solidFill>
                            <a:schemeClr val="tx1"/>
                          </a:solidFill>
                          <a:effectLst/>
                        </a:rPr>
                        <a:t>주체적</a:t>
                      </a:r>
                    </a:p>
                  </a:txBody>
                  <a:tcPr marL="48271" marR="48271" marT="24135" marB="24135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누구든지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비법인사단ㆍ재단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4)</a:t>
                      </a:r>
                      <a:endParaRPr lang="ko-KR" altLang="en-US" sz="950" kern="0" spc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출원인은 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1)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명세서에 청구범위를 적지 아니한 경우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, 2)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외국어특허출원인데 국어번역문을 제출하지 아니한 경우 심사청구 不可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누구든지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단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국가ㆍ지방자치단체의 직무에 관한 특허출원의 경우는 국가 또는 지방자치단체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전담조직도 포함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만 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심사관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출원인 또는 그 승계인</a:t>
                      </a: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1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객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체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적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대</a:t>
                      </a:r>
                      <a:endParaRPr lang="en-US" altLang="ko-KR" sz="950" b="1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상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적법하게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출원계속중인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발명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출원공개후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자의 무단실시의 경우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61Ⅰ)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긴급처리가 필요하다고 인정되는 경우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61Ⅱ)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en-US" altLang="ko-KR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재난의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예방ㆍ대응ㆍ복구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등에 필요하다고 인정되는 경우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61Ⅲ)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4.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타법에서 규정하고 있는 경우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의지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심사청구된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출원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보정된 경우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47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①본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,Ⅰ-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보정된 내용 반영한 명세서 또는 도면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②法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47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</a:t>
                      </a:r>
                      <a:r>
                        <a:rPr lang="en-US" altLang="ko-KR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Ⅱ,Ⅲ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보정적법성을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판단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외국어특허출원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번역문 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특허여부결정등본을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송달받은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출원으로서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그 특허출원의 명세서 또는 도면을 보정</a:t>
                      </a: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39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범</a:t>
                      </a:r>
                      <a:endParaRPr lang="en-US" altLang="ko-KR" sz="950" b="1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위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청구항별 불가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하나의 청구항이라도 대상인 경우 가능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7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시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기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적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원</a:t>
                      </a:r>
                      <a:endParaRPr lang="en-US" altLang="ko-KR" sz="950" b="1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 err="1">
                          <a:solidFill>
                            <a:schemeClr val="tx1"/>
                          </a:solidFill>
                          <a:effectLst/>
                        </a:rPr>
                        <a:t>칙</a:t>
                      </a:r>
                      <a:endParaRPr lang="ko-KR" altLang="en-US" sz="950" b="1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출원일로부터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년이내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출원공개후 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자의 무단실시의 경우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심사청구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+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출원공개후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그밖의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사유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심사청구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거절결정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①거절이유통지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②의견서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보정서제출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③거절결정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특허결정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그 특허출원에 관하여 특허결정의 등본을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송달받은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날부터 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79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조에 따른 설정등록을 받기 전까지의 기간 또는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특허거절결정등본을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송달받은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날부터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개월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15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조제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항에 따라 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132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조의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17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에 따른 기간이 연장된 경우 그 연장된 기간을 말한다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6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예</a:t>
                      </a:r>
                      <a:endParaRPr lang="en-US" altLang="ko-KR" sz="950" b="1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외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조약우선권주장출원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54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),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국내우선권주장출원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55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②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 경우 소급효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×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분할ㆍ분리ㆍ변경출원ㆍ정당한권리자출원의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특례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59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③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국제특허출원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210)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  <a:latin typeface="Rix모던고딕 L" panose="02020603020101020101" pitchFamily="18" charset="-127"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92075" marR="0" indent="-92075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재심사를 청구할 때에 이미 재심사에 따른 특허여부의 결정이 있는 경우</a:t>
                      </a:r>
                      <a:endParaRPr lang="en-US" altLang="ko-KR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92075" marR="0" indent="-92075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거절결정불복심판청구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132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17)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가 있는 경우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176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조제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항에 따라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특허거절결정이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취소된 경우는 제외한다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  <a:p>
                      <a:pPr marL="92075" marR="0" indent="-92075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그 특허출원이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분리출원인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경우</a:t>
                      </a: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261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절차</a:t>
                      </a:r>
                    </a:p>
                  </a:txBody>
                  <a:tcPr marL="48271" marR="48271" marT="24135" marB="24135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심사청구서 제출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심사청구사실의 게재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②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심사청구사실의 통지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③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 – 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42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2, 42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4.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심사청구료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납부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82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②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․16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①단서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 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우선심사의 신청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우선심사여부의 결정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우선심사 각하 불복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ko-KR" altLang="en-US" sz="950" kern="0" spc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서면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+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이유</a:t>
                      </a:r>
                    </a:p>
                    <a:p>
                      <a:pPr marL="71120" marR="0" indent="-7112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지식재산처장이 등본 송달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-2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-20" dirty="0" err="1">
                          <a:solidFill>
                            <a:schemeClr val="tx1"/>
                          </a:solidFill>
                          <a:effectLst/>
                        </a:rPr>
                        <a:t>명세서등의</a:t>
                      </a:r>
                      <a:r>
                        <a:rPr lang="ko-KR" altLang="en-US" sz="950" kern="0" spc="-20" dirty="0">
                          <a:solidFill>
                            <a:schemeClr val="tx1"/>
                          </a:solidFill>
                          <a:effectLst/>
                        </a:rPr>
                        <a:t> 보정서에 그 취지를 병기하여 제출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-2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-20" dirty="0">
                          <a:solidFill>
                            <a:schemeClr val="tx1"/>
                          </a:solidFill>
                          <a:effectLst/>
                        </a:rPr>
                        <a:t>출원인은 재심사청구와 함께 의견서 제출 가능</a:t>
                      </a: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1148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>
                          <a:solidFill>
                            <a:schemeClr val="tx1"/>
                          </a:solidFill>
                          <a:effectLst/>
                        </a:rPr>
                        <a:t>효과</a:t>
                      </a:r>
                    </a:p>
                  </a:txBody>
                  <a:tcPr marL="48271" marR="48271" marT="24135" marB="24135" anchor="ctr"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적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법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심사의 개시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59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①원칙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- 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심사청구순위</a:t>
                      </a:r>
                    </a:p>
                    <a:p>
                      <a:pPr marL="115570" marR="0" indent="-11557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②예외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- 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분할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분리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변경출원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우선심사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취하금지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59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④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우선심사 </a:t>
                      </a: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- 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신속한 권리구제 및 권리이용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특허료납부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직권보정</a:t>
                      </a:r>
                      <a:endParaRPr lang="en-US" altLang="ko-KR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직권재심사</a:t>
                      </a:r>
                      <a:endParaRPr lang="en-US" altLang="ko-KR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4.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재심사청구</a:t>
                      </a:r>
                    </a:p>
                    <a:p>
                      <a:pPr marL="87630" marR="0" indent="-8763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공지예외적용주장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분할출원 또는 변경출원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특허여부결정은 취소된 것으로 보고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67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③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), 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재심사를 진행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출원인은 재심사에 따른 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거절결정등본송달후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개월이내에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거절결정불복심판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132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2)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을 청구하거나 분할출원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52)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可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 err="1">
                          <a:solidFill>
                            <a:schemeClr val="tx1"/>
                          </a:solidFill>
                          <a:effectLst/>
                        </a:rPr>
                        <a:t>보정각하의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 예외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51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①단서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).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4.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재심사의 청구는 취하 不可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67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의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④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).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26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부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적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</a:rPr>
                        <a:t>법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출원 취하간주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59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⑤</a:t>
                      </a: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심사청구순서에 따라 심사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>
                          <a:solidFill>
                            <a:schemeClr val="tx1"/>
                          </a:solidFill>
                          <a:effectLst/>
                        </a:rPr>
                        <a:t>수수료의 반환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거절결정의 불복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거절결정의 확정</a:t>
                      </a:r>
                      <a:endParaRPr lang="en-US" altLang="ko-KR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재심사청구</a:t>
                      </a:r>
                    </a:p>
                  </a:txBody>
                  <a:tcPr marL="48271" marR="48271" marT="24135" marB="24135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재심사의 청구절차가 무효로 된 경우 특허여부결정은 취소되지 아니한 것으로 간주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67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2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③단서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)</a:t>
                      </a:r>
                      <a:endParaRPr lang="ko-KR" altLang="en-US" sz="95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950" kern="0" spc="0" dirty="0">
                          <a:solidFill>
                            <a:schemeClr val="tx1"/>
                          </a:solidFill>
                          <a:effectLst/>
                        </a:rPr>
                        <a:t>① 보정서가 제출되지 아니한 경우 ② 시기에 위반된 재심사청구의 경우 재심사 청구서는 반려</a:t>
                      </a:r>
                    </a:p>
                  </a:txBody>
                  <a:tcPr marL="48271" marR="48271" marT="24135" marB="2413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282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15808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심사</a:t>
            </a:r>
            <a:r>
              <a:rPr lang="en-US" altLang="ko-KR" dirty="0"/>
              <a:t>(</a:t>
            </a:r>
            <a:r>
              <a:rPr lang="ko-KR" altLang="en-US" dirty="0"/>
              <a:t>제도</a:t>
            </a:r>
            <a:r>
              <a:rPr lang="en-US" altLang="ko-KR" dirty="0"/>
              <a:t>)</a:t>
            </a:r>
            <a:r>
              <a:rPr lang="ko-KR" altLang="en-US" dirty="0"/>
              <a:t> 정리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32503"/>
              </p:ext>
            </p:extLst>
          </p:nvPr>
        </p:nvGraphicFramePr>
        <p:xfrm>
          <a:off x="167216" y="997445"/>
          <a:ext cx="11857568" cy="5722920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206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33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7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13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5983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204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366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제도　</a:t>
                      </a:r>
                    </a:p>
                  </a:txBody>
                  <a:tcPr marL="48271" marR="48271" marT="36000" marB="360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직권보정제도</a:t>
                      </a:r>
                    </a:p>
                  </a:txBody>
                  <a:tcPr marT="36000" marB="360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직권재심사제도</a:t>
                      </a:r>
                    </a:p>
                  </a:txBody>
                  <a:tcPr marT="36000" marB="360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출원취하</a:t>
                      </a:r>
                      <a:r>
                        <a:rPr lang="en-US" altLang="ko-KR" sz="900" b="1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900" b="1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포기제도</a:t>
                      </a:r>
                    </a:p>
                  </a:txBody>
                  <a:tcPr marT="36000" marB="360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정보제공제도</a:t>
                      </a:r>
                    </a:p>
                  </a:txBody>
                  <a:tcPr marT="36000" marB="360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출원공개제도</a:t>
                      </a:r>
                    </a:p>
                  </a:txBody>
                  <a:tcPr marT="36000" marB="360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568"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요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건</a:t>
                      </a:r>
                    </a:p>
                  </a:txBody>
                  <a:tcPr marL="48271" marR="48271" marT="36000" marB="36000" anchor="ctr"/>
                </a:tc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주체적</a:t>
                      </a:r>
                    </a:p>
                  </a:txBody>
                  <a:tcPr marL="48271" marR="48271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심사관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심사관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공동출원의 경우 전원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임의대리인은 특별수권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법정대리인 중 후견인은 후견감독인의 동의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누구든지 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지식재산처장에 의한 강제공개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출원인의 신청에 의한 조기공개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94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객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체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적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대상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특허출원서에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첨부된 명세서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도면 또는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요약서에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명백히 잘못 기재된 내용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사소한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오탈자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이외에 명백히 잘못 기재된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기재불비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단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신규사항이 추가되지 않는 범위 내에서 가능</a:t>
                      </a:r>
                      <a:endParaRPr lang="en-US" altLang="ko-KR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특허결정된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특허출원에 관하여 배경기술 기재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42③Ⅱ),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다항제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기재방법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42⑧)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및 하나의 특허출원의 범위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45)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위반을 제외한 명백한 거절이유를 발견한 경우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의사에 의한 경우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①출원전체</a:t>
                      </a:r>
                    </a:p>
                    <a:p>
                      <a:pPr marL="115570" marR="0" indent="-11557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②단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등록료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납부시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청구항별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포기 가능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215)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법률에 의한 경우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거절이유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62)(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단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절차적 요건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발명의 설명 중 배경기술 기재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42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③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Ⅱ),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다항제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기재방법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42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⑧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 + 1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특허출원의 범위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45)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제외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원칙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 계속 중인 모든 특허출원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예외</a:t>
                      </a:r>
                    </a:p>
                    <a:p>
                      <a:pPr marL="124460" marR="0" indent="-1244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①명세서에 청구범위를 적지 아니한 경우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②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Ⅰ)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124460" marR="0" indent="-1244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②국어번역문을 제출하지 아니한 경우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②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Ⅱ)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124460" marR="0" indent="-1244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-4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③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등록공고를 한 특허의 경우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②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Ⅲ)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124460" marR="0" indent="-1244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④국방상 필요한 발명으로서 비밀취급이 필요한 경우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③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 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124460" marR="0" indent="-1244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⑤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공서양속에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어긋나거나 공중의 위생을 해칠 우려가 있는 경우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6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범위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청구항별로 가능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　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56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시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기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적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원칙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특허결정할 때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특허권이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설정등록되기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전이나 특허출원이 취하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포기되기 전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출원계속중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당해 출원이 지식재산처에 계속중인 경우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거절결정불복심판단계에서 가능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단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심판원장에게 제출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출원일로부터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년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월 지난 후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96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예외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　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출원일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판단시점은 모두 소급효 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2.1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년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월전이라도 출원인의 신청에 의하여 조기공개가 가능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0173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절차</a:t>
                      </a:r>
                    </a:p>
                  </a:txBody>
                  <a:tcPr marL="48271" marR="48271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특허결정의 등본 송달과 함께 그 직권보정 사항을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특허출원인에게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통지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88900" marR="0" indent="-8890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AutoNum type="arabicPeriod"/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특허결정을 취소한다는 사실을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특허출원인에게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 통지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66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3②)</a:t>
                      </a:r>
                    </a:p>
                    <a:p>
                      <a:pPr marL="88900" marR="0" indent="-8890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AutoNum type="arabicPeriod"/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통지 받기 전 특허권이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설정등록된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 경우나 특허출원이 취하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/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포기된 경우에는 특허결정의 취소는 없었던 것으로 간주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66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3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③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Rix모던고딕 B" panose="02020603020101020101" pitchFamily="18" charset="-127"/>
                        <a:ea typeface="Rix모던고딕 B" panose="02020603020101020101" pitchFamily="18" charset="-127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-2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취하</a:t>
                      </a:r>
                      <a:r>
                        <a:rPr lang="en-US" altLang="ko-KR" sz="900" kern="0" spc="-2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900" kern="0" spc="-2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포기서 제출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정보제공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심사에 참고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활용여부 및 특허여부결정 통보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전문공개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,CD-ROM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조기공개신청의경우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①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신청서의 제출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②외국어출원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,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국제특허출원의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 경우 번역문 제출 후에 신청가능</a:t>
                      </a:r>
                      <a:endParaRPr lang="en-US" altLang="ko-KR" sz="900" kern="0" spc="0" dirty="0">
                        <a:solidFill>
                          <a:schemeClr val="tx1"/>
                        </a:solidFill>
                        <a:effectLst/>
                        <a:latin typeface="Rix모던고딕 B" panose="02020603020101020101" pitchFamily="18" charset="-127"/>
                        <a:ea typeface="Rix모던고딕 B" panose="0202060302010102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-4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③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신청일로부터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10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일 이내 취하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0173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효과</a:t>
                      </a:r>
                    </a:p>
                  </a:txBody>
                  <a:tcPr marL="48271" marR="48271" marT="36000" marB="36000" anchor="ctr"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적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법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출원인이 의견서를 제출하지 아니한 경우 의사에 의한 보정과 같이 취급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66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2③).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단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,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직권보정이 신규사항을 추가하거나 명백히 잘못되지 아니한 사항을 직권보정한 경우 그 직권보정은 처음부터 없었던 것으로 간주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66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2⑤)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 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Rix모던고딕 B" panose="02020603020101020101" pitchFamily="18" charset="-127"/>
                        <a:ea typeface="Rix모던고딕 B" panose="02020603020101020101" pitchFamily="18" charset="-127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특허결정취소 후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최초거절이유통지</a:t>
                      </a:r>
                      <a:endParaRPr lang="en-US" altLang="ko-KR" sz="900" kern="0" spc="0" dirty="0">
                        <a:solidFill>
                          <a:schemeClr val="tx1"/>
                        </a:solidFill>
                        <a:effectLst/>
                        <a:latin typeface="Rix모던고딕 B" panose="02020603020101020101" pitchFamily="18" charset="-127"/>
                        <a:ea typeface="Rix모던고딕 B" panose="0202060302010102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63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①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Ⅱ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+51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①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Ⅱ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+47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①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Ⅱ괄호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)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2.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보정각하의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 예외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51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①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Ⅱ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)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절차의 종료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등록금지적 효력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보상금청구권의 소멸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4.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출원료등의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반환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심사의 신속성 및 정확성 향상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보상금청구권의 발생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65)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우선심사의 신청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61Ⅰ)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-8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3.</a:t>
                      </a:r>
                      <a:r>
                        <a:rPr lang="ko-KR" altLang="en-US" sz="900" kern="0" spc="-8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특허출원에  관한  서류의  열람신청</a:t>
                      </a:r>
                      <a:r>
                        <a:rPr lang="en-US" altLang="ko-KR" sz="900" kern="0" spc="-8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kern="0" spc="-8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法</a:t>
                      </a:r>
                      <a:r>
                        <a:rPr lang="en-US" altLang="ko-KR" sz="900" kern="0" spc="-8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216)</a:t>
                      </a:r>
                      <a:endParaRPr lang="ko-KR" altLang="en-US" sz="900" kern="0" spc="-8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기탁된 미생물의 분양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공지기술로 활용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확대된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선출원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인정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75656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부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적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법</a:t>
                      </a:r>
                    </a:p>
                  </a:txBody>
                  <a:tcPr marL="48271" marR="48271" marT="36000" marB="36000" anchor="ctr"/>
                </a:tc>
                <a:tc>
                  <a:txBody>
                    <a:bodyPr/>
                    <a:lstStyle/>
                    <a:p>
                      <a:pPr marL="120650" marR="0" indent="-12065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1.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특허료를 낼 때까지 의견서를 지식재산처장에게 제출하면 특허결정과 직권보정 취소간주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단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,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요약서에 대한 의견서는 직권보정만 취소간주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) 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66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의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2④)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 </a:t>
                      </a:r>
                      <a:endParaRPr lang="en-US" altLang="ko-KR" sz="900" kern="0" spc="0" dirty="0">
                        <a:solidFill>
                          <a:schemeClr val="tx1"/>
                        </a:solidFill>
                        <a:effectLst/>
                        <a:latin typeface="Rix모던고딕 B" panose="02020603020101020101" pitchFamily="18" charset="-127"/>
                        <a:ea typeface="Rix모던고딕 B" panose="02020603020101020101" pitchFamily="18" charset="-127"/>
                      </a:endParaRPr>
                    </a:p>
                    <a:p>
                      <a:pPr marL="120650" marR="0" indent="-12065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2.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직권보정 전 명세서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, 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도면에 의하여 심사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직권보정사항이 아닌 거절이유에 대해서는 다시 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거절이유통지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)</a:t>
                      </a:r>
                    </a:p>
                    <a:p>
                      <a:pPr marL="68580" marR="0" indent="-6858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3.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보정각하의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 예외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(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法 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51</a:t>
                      </a: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①</a:t>
                      </a:r>
                      <a:r>
                        <a:rPr lang="ko-KR" altLang="en-US" sz="900" kern="0" spc="0" dirty="0" err="1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Ⅰ</a:t>
                      </a:r>
                      <a:r>
                        <a:rPr lang="en-US" altLang="ko-KR" sz="900" kern="0" spc="0" dirty="0">
                          <a:solidFill>
                            <a:schemeClr val="tx1"/>
                          </a:solidFill>
                          <a:effectLst/>
                          <a:latin typeface="Rix모던고딕 B" panose="02020603020101020101" pitchFamily="18" charset="-127"/>
                          <a:ea typeface="Rix모던고딕 B" panose="02020603020101020101" pitchFamily="18" charset="-127"/>
                        </a:rPr>
                        <a:t>)</a:t>
                      </a: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Rix모던고딕 B" panose="02020603020101020101" pitchFamily="18" charset="-127"/>
                        <a:ea typeface="Rix모던고딕 B" panose="02020603020101020101" pitchFamily="18" charset="-127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Rix모던고딕 B" panose="02020603020101020101" pitchFamily="18" charset="-127"/>
                        <a:ea typeface="Rix모던고딕 B" panose="02020603020101020101" pitchFamily="18" charset="-127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　</a:t>
                      </a:r>
                    </a:p>
                  </a:txBody>
                  <a:tcPr marT="36000" marB="3600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　</a:t>
                      </a:r>
                    </a:p>
                  </a:txBody>
                  <a:tcPr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283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09137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특허를 받을 수 있는 권리와 보상금청구권</a:t>
            </a: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8747195"/>
              </p:ext>
            </p:extLst>
          </p:nvPr>
        </p:nvGraphicFramePr>
        <p:xfrm>
          <a:off x="342899" y="1064901"/>
          <a:ext cx="11417301" cy="5666100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688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59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31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492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6775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</a:rPr>
                        <a:t>권리　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</a:rPr>
                        <a:t>특허를 받을 수 있는 권리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</a:rPr>
                        <a:t>보상금청구권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831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서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의의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발명의 완성에 의하여 발생하고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특허출원에 대한 거절결정확정이나 설정등록이 있기 전까지 인정되는 권리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출원공개가 있는 후 경고받거나 </a:t>
                      </a:r>
                      <a:r>
                        <a:rPr lang="ko-KR" altLang="en-US" sz="1100" kern="0" spc="0" dirty="0" err="1">
                          <a:solidFill>
                            <a:schemeClr val="tx1"/>
                          </a:solidFill>
                          <a:effectLst/>
                        </a:rPr>
                        <a:t>출원공개된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 발명임을 알고 그 </a:t>
                      </a:r>
                      <a:r>
                        <a:rPr lang="ko-KR" altLang="en-US" sz="1100" kern="0" spc="0" dirty="0" err="1">
                          <a:solidFill>
                            <a:schemeClr val="tx1"/>
                          </a:solidFill>
                          <a:effectLst/>
                        </a:rPr>
                        <a:t>특허출원된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 발명을 업으로서 실시한 자에게 경고받거나 알았을 때부터 설정등록을 한 때까지의 기간 동안 그 특허발명의 실시에 대하여 합리적으로 받을 수 있는 금액에 상당하는 보상금의 지급을 청구할 수 있는 권리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7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취지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특허권 발생이전에 발명자 또는 출원인 보호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공개로 인해 상실된 이익의 보전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38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성질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사권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재산권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과 공권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특허부여요구권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을 병합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해제조건부 권리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채권적 권리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특허권의 독립적인 권리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3831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발생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발명의 완성에 의하여 발생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출원공개가 있을 것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경고받거나 알고 있을 것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정당한 권원없는 제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자가 업으로서 출원발명을 실시할 것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101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효력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범위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 rowSpan="2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특허부여요구권</a:t>
                      </a:r>
                      <a:endParaRPr lang="en-US" altLang="ko-KR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①특허부여의 요구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42)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②타인의 등록금지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발명자권</a:t>
                      </a:r>
                      <a:endParaRPr lang="en-US" altLang="ko-KR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①인격권</a:t>
                      </a:r>
                      <a:endParaRPr lang="en-US" altLang="ko-KR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②재산권</a:t>
                      </a:r>
                    </a:p>
                  </a:txBody>
                  <a:tcPr marL="51439" marR="51439" marT="25720" marB="25720" anchor="ctr"/>
                </a:tc>
                <a:tc rowSpan="2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</a:p>
                    <a:p>
                      <a:pPr marL="73660" marR="0" indent="-7366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보상금액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65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②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)-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경고받거나 알았을 때부터 설정등록을 한 때까지의 기간 동안 그 특허발명의 실시에 합리적으로 받을 수 있는 금액에 상당하는 보상금의 지급을 청구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행사시기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65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③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)-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등록 후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3.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독립성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65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④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)-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특허권과 별개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4.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준용규정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65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⑤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①특허법상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간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127), 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생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129), 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자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132)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②민법상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공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民法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760), 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소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民法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766)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843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내용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304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변동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이전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이전가능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37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①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 dirty="0" err="1">
                          <a:solidFill>
                            <a:schemeClr val="tx1"/>
                          </a:solidFill>
                          <a:effectLst/>
                        </a:rPr>
                        <a:t>특받권의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 승계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38)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7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실시권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7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질권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불가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37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②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0304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소멸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원인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권리능력 상실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상속인 부존재도 포함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 dirty="0" err="1">
                          <a:solidFill>
                            <a:schemeClr val="tx1"/>
                          </a:solidFill>
                          <a:effectLst/>
                        </a:rPr>
                        <a:t>출원계속의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 소멸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특허등록이 되지 않은 경우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특허등록이 되더라도 소급 소멸하는 경우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03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효과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공개전 소멸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등록금지적 효력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공개후 소멸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法</a:t>
                      </a:r>
                      <a:r>
                        <a:rPr lang="en-US" altLang="ko-KR" sz="1100" kern="0" spc="0">
                          <a:solidFill>
                            <a:schemeClr val="tx1"/>
                          </a:solidFill>
                          <a:effectLst/>
                        </a:rPr>
                        <a:t>29</a:t>
                      </a: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①②③</a:t>
                      </a:r>
                      <a:endParaRPr lang="ko-KR" altLang="en-US" sz="1100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1.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고의과실○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ko-KR" altLang="en-US" sz="1100" kern="0" spc="0" dirty="0" err="1">
                          <a:solidFill>
                            <a:schemeClr val="tx1"/>
                          </a:solidFill>
                          <a:effectLst/>
                        </a:rPr>
                        <a:t>손배청구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2.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고의과실</a:t>
                      </a:r>
                      <a:r>
                        <a:rPr lang="en-US" altLang="ko-KR" sz="1100" kern="0" spc="0" dirty="0">
                          <a:solidFill>
                            <a:schemeClr val="tx1"/>
                          </a:solidFill>
                          <a:effectLst/>
                        </a:rPr>
                        <a:t>×-</a:t>
                      </a: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부당이득반환청구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5122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>
                          <a:solidFill>
                            <a:schemeClr val="tx1"/>
                          </a:solidFill>
                          <a:effectLst/>
                        </a:rPr>
                        <a:t>공유</a:t>
                      </a:r>
                      <a:endParaRPr lang="ko-KR" altLang="en-US" sz="1100" b="1" kern="0" spc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-20" dirty="0">
                          <a:solidFill>
                            <a:schemeClr val="tx1"/>
                          </a:solidFill>
                          <a:effectLst/>
                        </a:rPr>
                        <a:t>다른 공유자 동의 받아야만 지분양도 可</a:t>
                      </a:r>
                      <a:r>
                        <a:rPr lang="en-US" altLang="ko-KR" sz="1100" kern="0" spc="-2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 kern="0" spc="-20" dirty="0">
                          <a:solidFill>
                            <a:schemeClr val="tx1"/>
                          </a:solidFill>
                          <a:effectLst/>
                        </a:rPr>
                        <a:t>法 </a:t>
                      </a:r>
                      <a:r>
                        <a:rPr lang="en-US" altLang="ko-KR" sz="1100" kern="0" spc="-20" dirty="0">
                          <a:solidFill>
                            <a:schemeClr val="tx1"/>
                          </a:solidFill>
                          <a:effectLst/>
                        </a:rPr>
                        <a:t>37</a:t>
                      </a:r>
                      <a:r>
                        <a:rPr lang="ko-KR" altLang="en-US" sz="1100" kern="0" spc="-20" dirty="0">
                          <a:solidFill>
                            <a:schemeClr val="tx1"/>
                          </a:solidFill>
                          <a:effectLst/>
                        </a:rPr>
                        <a:t>③</a:t>
                      </a:r>
                      <a:r>
                        <a:rPr lang="en-US" altLang="ko-KR" sz="1100" kern="0" spc="-2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ko-KR" altLang="en-US" sz="1100" kern="0" spc="-2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kern="0" spc="0" dirty="0">
                          <a:solidFill>
                            <a:schemeClr val="tx1"/>
                          </a:solidFill>
                          <a:effectLst/>
                        </a:rPr>
                        <a:t>　</a:t>
                      </a:r>
                      <a:endParaRPr lang="ko-KR" altLang="en-US" sz="110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1439" marR="51439" marT="25720" marB="2572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284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7128C1-6244-522F-D421-EE86E100BF16}"/>
              </a:ext>
            </a:extLst>
          </p:cNvPr>
          <p:cNvSpPr txBox="1"/>
          <p:nvPr/>
        </p:nvSpPr>
        <p:spPr>
          <a:xfrm>
            <a:off x="7944521" y="5963478"/>
            <a:ext cx="3180679" cy="338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특허등록후 소급 소멸한 경우만 해당</a:t>
            </a:r>
          </a:p>
        </p:txBody>
      </p:sp>
    </p:spTree>
    <p:extLst>
      <p:ext uri="{BB962C8B-B14F-4D97-AF65-F5344CB8AC3E}">
        <p14:creationId xmlns:p14="http://schemas.microsoft.com/office/powerpoint/2010/main" val="16689834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23E3CBA9-3F87-F311-F2ED-E6B51B7B5FF7}"/>
              </a:ext>
            </a:extLst>
          </p:cNvPr>
          <p:cNvSpPr/>
          <p:nvPr/>
        </p:nvSpPr>
        <p:spPr>
          <a:xfrm rot="10800000">
            <a:off x="7337677" y="3802382"/>
            <a:ext cx="1882588" cy="448235"/>
          </a:xfrm>
          <a:prstGeom prst="round2SameRect">
            <a:avLst>
              <a:gd name="adj1" fmla="val 50000"/>
              <a:gd name="adj2" fmla="val 0"/>
            </a:avLst>
          </a:prstGeom>
          <a:pattFill prst="ltHorz">
            <a:fgClr>
              <a:schemeClr val="accent6"/>
            </a:fgClr>
            <a:bgClr>
              <a:schemeClr val="bg1"/>
            </a:bgClr>
          </a:patt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09E643B0-C43A-47AC-5131-686F4F683761}"/>
              </a:ext>
            </a:extLst>
          </p:cNvPr>
          <p:cNvSpPr/>
          <p:nvPr/>
        </p:nvSpPr>
        <p:spPr>
          <a:xfrm>
            <a:off x="4868956" y="3156553"/>
            <a:ext cx="1882588" cy="448235"/>
          </a:xfrm>
          <a:prstGeom prst="round2SameRect">
            <a:avLst>
              <a:gd name="adj1" fmla="val 50000"/>
              <a:gd name="adj2" fmla="val 0"/>
            </a:avLst>
          </a:prstGeom>
          <a:pattFill prst="pct25">
            <a:fgClr>
              <a:schemeClr val="accent2"/>
            </a:fgClr>
            <a:bgClr>
              <a:schemeClr val="bg1"/>
            </a:bgClr>
          </a:patt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AE9F7BE2-75B0-4E4D-4DA6-F567E8498EA0}"/>
              </a:ext>
            </a:extLst>
          </p:cNvPr>
          <p:cNvSpPr/>
          <p:nvPr/>
        </p:nvSpPr>
        <p:spPr>
          <a:xfrm rot="10800000">
            <a:off x="2357718" y="3802382"/>
            <a:ext cx="1882588" cy="448235"/>
          </a:xfrm>
          <a:prstGeom prst="round2SameRect">
            <a:avLst>
              <a:gd name="adj1" fmla="val 50000"/>
              <a:gd name="adj2" fmla="val 0"/>
            </a:avLst>
          </a:prstGeom>
          <a:pattFill prst="pct5">
            <a:fgClr>
              <a:schemeClr val="accent1"/>
            </a:fgClr>
            <a:bgClr>
              <a:schemeClr val="bg1"/>
            </a:bgClr>
          </a:patt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특허법의 </a:t>
            </a:r>
            <a:r>
              <a:rPr lang="en-US" altLang="ko-KR" dirty="0"/>
              <a:t>MAIN STREAM</a:t>
            </a:r>
            <a:endParaRPr lang="ko-KR" altLang="en-US" dirty="0"/>
          </a:p>
        </p:txBody>
      </p:sp>
      <p:sp>
        <p:nvSpPr>
          <p:cNvPr id="27" name="오른쪽 화살표 26"/>
          <p:cNvSpPr/>
          <p:nvPr/>
        </p:nvSpPr>
        <p:spPr bwMode="auto">
          <a:xfrm>
            <a:off x="824754" y="3530487"/>
            <a:ext cx="10703858" cy="333378"/>
          </a:xfrm>
          <a:prstGeom prst="rightArrow">
            <a:avLst>
              <a:gd name="adj1" fmla="val 61198"/>
              <a:gd name="adj2" fmla="val 75558"/>
            </a:avLst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90000" tIns="46800" rIns="90000" bIns="46800" anchor="ctr"/>
          <a:lstStyle/>
          <a:p>
            <a:pPr algn="ctr">
              <a:buFont typeface="Wingdings" pitchFamily="2" charset="2"/>
              <a:buNone/>
              <a:defRPr/>
            </a:pPr>
            <a:endParaRPr lang="ko-KR" altLang="en-US" sz="1400" dirty="0">
              <a:solidFill>
                <a:srgbClr val="1C1C1C"/>
              </a:solidFill>
              <a:latin typeface="Rix모던고딕 L" panose="02020603020101020101" pitchFamily="18" charset="-127"/>
              <a:ea typeface="Rix모던고딕 L" panose="02020603020101020101" pitchFamily="18" charset="-127"/>
            </a:endParaRPr>
          </a:p>
        </p:txBody>
      </p:sp>
      <p:sp>
        <p:nvSpPr>
          <p:cNvPr id="32" name="모서리가 둥근 사각형 설명선 31"/>
          <p:cNvSpPr/>
          <p:nvPr/>
        </p:nvSpPr>
        <p:spPr>
          <a:xfrm>
            <a:off x="1323803" y="5138327"/>
            <a:ext cx="4263133" cy="1387977"/>
          </a:xfrm>
          <a:prstGeom prst="wedgeRoundRectCallout">
            <a:avLst>
              <a:gd name="adj1" fmla="val -14054"/>
              <a:gd name="adj2" fmla="val -110736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77800" indent="-177800">
              <a:buFont typeface="Wingdings" pitchFamily="2" charset="2"/>
              <a:buChar char="§"/>
            </a:pPr>
            <a:r>
              <a:rPr lang="ko-KR" altLang="en-US" sz="1600" dirty="0"/>
              <a:t>내가 생각한 아이디어가 특허법의 보호대상인 발명에 해당하는가</a:t>
            </a:r>
            <a:r>
              <a:rPr lang="en-US" altLang="ko-KR" sz="1600" dirty="0"/>
              <a:t>? </a:t>
            </a:r>
          </a:p>
          <a:p>
            <a:pPr marL="355600" lvl="1" indent="-177800">
              <a:buFont typeface="옥션고딕 M" charset="-127"/>
              <a:buChar char="-"/>
            </a:pPr>
            <a:r>
              <a:rPr lang="ko-KR" altLang="en-US" sz="1600" dirty="0"/>
              <a:t>발명이 되기 위한 요건은</a:t>
            </a:r>
            <a:r>
              <a:rPr lang="en-US" altLang="ko-KR" sz="1600" dirty="0"/>
              <a:t>?</a:t>
            </a:r>
          </a:p>
          <a:p>
            <a:pPr marL="355600" lvl="1" indent="-177800">
              <a:buFont typeface="옥션고딕 M" charset="-127"/>
              <a:buChar char="-"/>
            </a:pPr>
            <a:r>
              <a:rPr lang="ko-KR" altLang="en-US" sz="1600" dirty="0"/>
              <a:t>새로운 영업방법</a:t>
            </a:r>
            <a:r>
              <a:rPr lang="en-US" altLang="ko-KR" sz="1600" dirty="0"/>
              <a:t>?</a:t>
            </a:r>
          </a:p>
          <a:p>
            <a:pPr marL="355600" lvl="1" indent="-177800">
              <a:buFont typeface="옥션고딕 M" charset="-127"/>
              <a:buChar char="-"/>
            </a:pPr>
            <a:r>
              <a:rPr lang="ko-KR" altLang="en-US" sz="1600" dirty="0"/>
              <a:t>인간 </a:t>
            </a:r>
            <a:r>
              <a:rPr lang="en-US" altLang="ko-KR" sz="1600" dirty="0"/>
              <a:t>DNA </a:t>
            </a:r>
            <a:r>
              <a:rPr lang="ko-KR" altLang="en-US" sz="1600" dirty="0"/>
              <a:t>발견</a:t>
            </a:r>
            <a:r>
              <a:rPr lang="en-US" altLang="ko-KR" sz="1600" dirty="0"/>
              <a:t>?</a:t>
            </a:r>
          </a:p>
        </p:txBody>
      </p:sp>
      <p:sp>
        <p:nvSpPr>
          <p:cNvPr id="33" name="모서리가 둥근 사각형 설명선 32"/>
          <p:cNvSpPr/>
          <p:nvPr/>
        </p:nvSpPr>
        <p:spPr>
          <a:xfrm>
            <a:off x="2888256" y="1135994"/>
            <a:ext cx="4687293" cy="1411587"/>
          </a:xfrm>
          <a:prstGeom prst="wedgeRoundRectCallout">
            <a:avLst>
              <a:gd name="adj1" fmla="val 11152"/>
              <a:gd name="adj2" fmla="val 89676"/>
              <a:gd name="adj3" fmla="val 16667"/>
            </a:avLst>
          </a:prstGeom>
          <a:ln>
            <a:solidFill>
              <a:schemeClr val="accent2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177800" indent="-177800">
              <a:buFont typeface="Wingdings" pitchFamily="2" charset="2"/>
              <a:buChar char="§"/>
            </a:pPr>
            <a:r>
              <a:rPr lang="ko-KR" altLang="en-US" sz="1600" dirty="0"/>
              <a:t>특허출원이 </a:t>
            </a:r>
            <a:r>
              <a:rPr lang="ko-KR" altLang="en-US" sz="1600" dirty="0" err="1"/>
              <a:t>등록받을</a:t>
            </a:r>
            <a:r>
              <a:rPr lang="ko-KR" altLang="en-US" sz="1600" dirty="0"/>
              <a:t> 수 있는가</a:t>
            </a:r>
            <a:r>
              <a:rPr lang="en-US" altLang="ko-KR" sz="1600" dirty="0"/>
              <a:t>?</a:t>
            </a:r>
          </a:p>
          <a:p>
            <a:pPr marL="266700" lvl="1" indent="-88900">
              <a:buFont typeface="옥션고딕 M" charset="-127"/>
              <a:buChar char="-"/>
            </a:pPr>
            <a:r>
              <a:rPr lang="en-US" altLang="ko-KR" sz="1600" dirty="0"/>
              <a:t> </a:t>
            </a:r>
            <a:r>
              <a:rPr lang="ko-KR" altLang="en-US" sz="1600" dirty="0"/>
              <a:t>특허등록을 받기 위한 특허요건의 내용</a:t>
            </a:r>
            <a:r>
              <a:rPr lang="en-US" altLang="ko-KR" sz="1600" dirty="0"/>
              <a:t>?</a:t>
            </a:r>
          </a:p>
          <a:p>
            <a:pPr marL="355600" lvl="1" indent="-177800">
              <a:buFont typeface="옥션고딕 M" charset="-127"/>
              <a:buChar char="-"/>
            </a:pPr>
            <a:r>
              <a:rPr lang="ko-KR" altLang="en-US" sz="1600" dirty="0"/>
              <a:t>등록가능성이 미약할 때 </a:t>
            </a:r>
            <a:r>
              <a:rPr lang="ko-KR" altLang="en-US" sz="1600" dirty="0" err="1"/>
              <a:t>출원인이</a:t>
            </a:r>
            <a:r>
              <a:rPr lang="ko-KR" altLang="en-US" sz="1600" dirty="0"/>
              <a:t> 취할 수 있는 조치</a:t>
            </a:r>
            <a:r>
              <a:rPr lang="en-US" altLang="ko-KR" sz="1600" dirty="0"/>
              <a:t>?</a:t>
            </a:r>
          </a:p>
          <a:p>
            <a:pPr marL="355600" lvl="1" indent="-177800">
              <a:buFont typeface="옥션고딕 M" charset="-127"/>
              <a:buChar char="-"/>
            </a:pPr>
            <a:r>
              <a:rPr lang="ko-KR" altLang="en-US" sz="1600" dirty="0"/>
              <a:t>심사관의 </a:t>
            </a:r>
            <a:r>
              <a:rPr lang="en-US" altLang="ko-KR" sz="1600" dirty="0"/>
              <a:t>OA</a:t>
            </a:r>
            <a:r>
              <a:rPr lang="ko-KR" altLang="en-US" sz="1600" dirty="0"/>
              <a:t>에 대한 대응방안</a:t>
            </a:r>
            <a:r>
              <a:rPr lang="en-US" altLang="ko-KR" sz="1600" dirty="0"/>
              <a:t>?</a:t>
            </a:r>
          </a:p>
        </p:txBody>
      </p:sp>
      <p:sp>
        <p:nvSpPr>
          <p:cNvPr id="34" name="모서리가 둥근 사각형 설명선 33"/>
          <p:cNvSpPr/>
          <p:nvPr/>
        </p:nvSpPr>
        <p:spPr>
          <a:xfrm>
            <a:off x="6534855" y="4923775"/>
            <a:ext cx="4263133" cy="1395129"/>
          </a:xfrm>
          <a:prstGeom prst="wedgeRoundRectCallout">
            <a:avLst>
              <a:gd name="adj1" fmla="val -1770"/>
              <a:gd name="adj2" fmla="val -96381"/>
              <a:gd name="adj3" fmla="val 16667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177800" indent="-177800">
              <a:buFont typeface="Wingdings" pitchFamily="2" charset="2"/>
              <a:buChar char="§"/>
            </a:pPr>
            <a:r>
              <a:rPr lang="ko-KR" altLang="en-US" sz="1600" dirty="0"/>
              <a:t>제품을 판매하는 것이 다른 사람 특허의 침해인가</a:t>
            </a:r>
            <a:r>
              <a:rPr lang="en-US" altLang="ko-KR" sz="1600" dirty="0"/>
              <a:t>?</a:t>
            </a:r>
          </a:p>
          <a:p>
            <a:pPr marL="355600" lvl="1" indent="-177800">
              <a:buFont typeface="옥션고딕 M" charset="-127"/>
              <a:buChar char="-"/>
            </a:pPr>
            <a:r>
              <a:rPr lang="ko-KR" altLang="en-US" sz="1600" dirty="0"/>
              <a:t>침해의 성립요건은</a:t>
            </a:r>
            <a:r>
              <a:rPr lang="en-US" altLang="ko-KR" sz="1600" dirty="0"/>
              <a:t>?</a:t>
            </a:r>
          </a:p>
          <a:p>
            <a:pPr marL="355600" lvl="1" indent="-177800">
              <a:buFont typeface="옥션고딕 M" charset="-127"/>
              <a:buChar char="-"/>
            </a:pPr>
            <a:r>
              <a:rPr lang="ko-KR" altLang="en-US" sz="1600" dirty="0"/>
              <a:t>침해일 때 특허권자의 조치와 침해 피의자의 대응방안은</a:t>
            </a:r>
            <a:r>
              <a:rPr lang="en-US" altLang="ko-KR" sz="1600" dirty="0"/>
              <a:t>?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285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DC98D2E-6586-8962-BB08-562DD13C3606}"/>
              </a:ext>
            </a:extLst>
          </p:cNvPr>
          <p:cNvSpPr/>
          <p:nvPr/>
        </p:nvSpPr>
        <p:spPr>
          <a:xfrm>
            <a:off x="1613120" y="3466465"/>
            <a:ext cx="1322296" cy="4482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발명완성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0C4D70-567D-2B5D-C119-83C1C9D5AFD3}"/>
              </a:ext>
            </a:extLst>
          </p:cNvPr>
          <p:cNvSpPr/>
          <p:nvPr/>
        </p:nvSpPr>
        <p:spPr>
          <a:xfrm>
            <a:off x="3941174" y="3466465"/>
            <a:ext cx="1322296" cy="44823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특허출원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64FA647-B494-00A1-6C63-9E235BFB1183}"/>
              </a:ext>
            </a:extLst>
          </p:cNvPr>
          <p:cNvSpPr/>
          <p:nvPr/>
        </p:nvSpPr>
        <p:spPr>
          <a:xfrm>
            <a:off x="6398558" y="3466465"/>
            <a:ext cx="1322296" cy="44823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특허등록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669F3B0-C5D1-70A6-10D3-BC4F581410B4}"/>
              </a:ext>
            </a:extLst>
          </p:cNvPr>
          <p:cNvSpPr/>
          <p:nvPr/>
        </p:nvSpPr>
        <p:spPr>
          <a:xfrm>
            <a:off x="8897470" y="3466465"/>
            <a:ext cx="1322296" cy="44823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제</a:t>
            </a:r>
            <a:r>
              <a:rPr lang="en-US" altLang="ko-KR" dirty="0"/>
              <a:t>3</a:t>
            </a:r>
            <a:r>
              <a:rPr lang="ko-KR" altLang="en-US" dirty="0" err="1"/>
              <a:t>자실시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6033066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모서리가 둥근 직사각형 72"/>
          <p:cNvSpPr/>
          <p:nvPr/>
        </p:nvSpPr>
        <p:spPr bwMode="auto">
          <a:xfrm>
            <a:off x="6106571" y="1286079"/>
            <a:ext cx="2304256" cy="43204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1" lang="en-US" altLang="ko-KR" sz="14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+mn-ea"/>
              </a:rPr>
              <a:t>* </a:t>
            </a:r>
            <a:r>
              <a:rPr kumimoji="1" lang="ko-KR" altLang="en-US" sz="1400" b="0" i="0" u="none" strike="noStrike" cap="none" normalizeH="0" baseline="0" dirty="0">
                <a:ln>
                  <a:noFill/>
                </a:ln>
                <a:solidFill>
                  <a:srgbClr val="1C1C1C"/>
                </a:solidFill>
                <a:effectLst/>
                <a:latin typeface="+mn-ea"/>
              </a:rPr>
              <a:t>특허여부의 결정</a:t>
            </a:r>
          </a:p>
        </p:txBody>
      </p:sp>
      <p:sp>
        <p:nvSpPr>
          <p:cNvPr id="74" name="모서리가 둥근 직사각형 73"/>
          <p:cNvSpPr/>
          <p:nvPr/>
        </p:nvSpPr>
        <p:spPr bwMode="auto">
          <a:xfrm>
            <a:off x="1134533" y="3878366"/>
            <a:ext cx="3435867" cy="169270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*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조기권리저지방안</a:t>
            </a:r>
            <a:endParaRPr lang="en-US" altLang="ko-KR" sz="1400" b="1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- </a:t>
            </a:r>
            <a:r>
              <a:rPr lang="ko-KR" altLang="en-US" sz="1200" dirty="0">
                <a:latin typeface="+mn-ea"/>
              </a:rPr>
              <a:t>심사청구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- </a:t>
            </a:r>
            <a:r>
              <a:rPr lang="ko-KR" altLang="en-US" sz="1200" dirty="0">
                <a:latin typeface="+mn-ea"/>
              </a:rPr>
              <a:t>우선심사신청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*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심사관여방안</a:t>
            </a:r>
            <a:endParaRPr lang="en-US" altLang="ko-KR" sz="1400" b="1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 - </a:t>
            </a: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>정보제공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- </a:t>
            </a:r>
            <a:r>
              <a:rPr lang="ko-KR" altLang="en-US" sz="1200" dirty="0">
                <a:latin typeface="+mn-ea"/>
              </a:rPr>
              <a:t>취소신청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b="0" dirty="0">
                <a:solidFill>
                  <a:schemeClr val="tx1"/>
                </a:solidFill>
                <a:latin typeface="+mn-ea"/>
              </a:rPr>
              <a:t> - </a:t>
            </a: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>무효심판청구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1" name="모서리가 둥근 직사각형 80"/>
          <p:cNvSpPr/>
          <p:nvPr/>
        </p:nvSpPr>
        <p:spPr bwMode="auto">
          <a:xfrm>
            <a:off x="7258699" y="3950375"/>
            <a:ext cx="2715034" cy="248737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indent="627063"/>
            <a:r>
              <a:rPr lang="en-US" altLang="ko-KR" sz="1400" b="1" dirty="0">
                <a:latin typeface="+mn-ea"/>
              </a:rPr>
              <a:t>* </a:t>
            </a:r>
            <a:r>
              <a:rPr lang="ko-KR" altLang="en-US" sz="1400" b="1" dirty="0">
                <a:latin typeface="+mn-ea"/>
              </a:rPr>
              <a:t>조기권리방안</a:t>
            </a:r>
            <a:endParaRPr lang="en-US" altLang="ko-KR" sz="1400" b="1" dirty="0">
              <a:latin typeface="+mn-ea"/>
            </a:endParaRPr>
          </a:p>
          <a:p>
            <a:pPr indent="627063"/>
            <a:r>
              <a:rPr lang="en-US" altLang="ko-KR" sz="1200" b="0" dirty="0">
                <a:latin typeface="+mn-ea"/>
              </a:rPr>
              <a:t> - </a:t>
            </a:r>
            <a:r>
              <a:rPr lang="ko-KR" altLang="en-US" sz="1200" b="0" dirty="0">
                <a:latin typeface="+mn-ea"/>
              </a:rPr>
              <a:t>심사청구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en-US" altLang="ko-KR" sz="1200" dirty="0">
                <a:latin typeface="+mn-ea"/>
              </a:rPr>
              <a:t> - </a:t>
            </a:r>
            <a:r>
              <a:rPr lang="ko-KR" altLang="en-US" sz="1200" dirty="0">
                <a:latin typeface="+mn-ea"/>
              </a:rPr>
              <a:t>우선심사신청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en-US" altLang="ko-KR" sz="1400" b="1" dirty="0">
                <a:latin typeface="+mn-ea"/>
              </a:rPr>
              <a:t>* </a:t>
            </a:r>
            <a:r>
              <a:rPr lang="ko-KR" altLang="en-US" sz="1400" b="1" dirty="0">
                <a:latin typeface="+mn-ea"/>
              </a:rPr>
              <a:t>출원인 이익제도 활용</a:t>
            </a:r>
            <a:endParaRPr lang="en-US" altLang="ko-KR" sz="1400" b="1" dirty="0">
              <a:latin typeface="+mn-ea"/>
            </a:endParaRPr>
          </a:p>
          <a:p>
            <a:pPr indent="627063"/>
            <a:r>
              <a:rPr lang="ko-KR" altLang="en-US" sz="1200" b="0" dirty="0">
                <a:latin typeface="+mn-ea"/>
              </a:rPr>
              <a:t> </a:t>
            </a:r>
            <a:r>
              <a:rPr lang="en-US" altLang="ko-KR" sz="1200" b="0" dirty="0">
                <a:latin typeface="+mn-ea"/>
              </a:rPr>
              <a:t>- </a:t>
            </a:r>
            <a:r>
              <a:rPr lang="ko-KR" altLang="en-US" sz="1200" b="0" dirty="0">
                <a:latin typeface="+mn-ea"/>
              </a:rPr>
              <a:t>공지예외적용주장출원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en-US" altLang="ko-KR" sz="1200" dirty="0">
                <a:latin typeface="+mn-ea"/>
              </a:rPr>
              <a:t> - </a:t>
            </a:r>
            <a:r>
              <a:rPr lang="ko-KR" altLang="en-US" sz="1200" dirty="0">
                <a:latin typeface="+mn-ea"/>
              </a:rPr>
              <a:t>정당한 권리자의 보호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ko-KR" altLang="en-US" sz="1200" b="0" dirty="0">
                <a:latin typeface="+mn-ea"/>
              </a:rPr>
              <a:t> </a:t>
            </a:r>
            <a:r>
              <a:rPr lang="en-US" altLang="ko-KR" sz="1200" b="0" dirty="0">
                <a:latin typeface="+mn-ea"/>
              </a:rPr>
              <a:t>- </a:t>
            </a:r>
            <a:r>
              <a:rPr lang="ko-KR" altLang="en-US" sz="1200" b="0" dirty="0">
                <a:latin typeface="+mn-ea"/>
              </a:rPr>
              <a:t>보정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ko-KR" altLang="en-US" sz="1200" b="0" dirty="0">
                <a:latin typeface="+mn-ea"/>
              </a:rPr>
              <a:t> </a:t>
            </a:r>
            <a:r>
              <a:rPr lang="en-US" altLang="ko-KR" sz="1200" b="0" dirty="0">
                <a:latin typeface="+mn-ea"/>
              </a:rPr>
              <a:t>- </a:t>
            </a:r>
            <a:r>
              <a:rPr lang="ko-KR" altLang="en-US" sz="1200" b="0" dirty="0">
                <a:latin typeface="+mn-ea"/>
              </a:rPr>
              <a:t>분할출원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en-US" altLang="ko-KR" sz="1200" dirty="0">
                <a:latin typeface="+mn-ea"/>
              </a:rPr>
              <a:t> - </a:t>
            </a:r>
            <a:r>
              <a:rPr lang="ko-KR" altLang="en-US" sz="1200" dirty="0">
                <a:latin typeface="+mn-ea"/>
              </a:rPr>
              <a:t>분리출원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ko-KR" altLang="en-US" sz="1200" b="0" dirty="0">
                <a:latin typeface="+mn-ea"/>
              </a:rPr>
              <a:t> </a:t>
            </a:r>
            <a:r>
              <a:rPr lang="en-US" altLang="ko-KR" sz="1200" b="0" dirty="0">
                <a:latin typeface="+mn-ea"/>
              </a:rPr>
              <a:t>- </a:t>
            </a:r>
            <a:r>
              <a:rPr lang="ko-KR" altLang="en-US" sz="1200" b="0" dirty="0">
                <a:latin typeface="+mn-ea"/>
              </a:rPr>
              <a:t>변경출원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ko-KR" altLang="en-US" sz="1200" b="0" dirty="0">
                <a:latin typeface="+mn-ea"/>
              </a:rPr>
              <a:t> </a:t>
            </a:r>
            <a:r>
              <a:rPr lang="en-US" altLang="ko-KR" sz="1200" b="0" dirty="0">
                <a:latin typeface="+mn-ea"/>
              </a:rPr>
              <a:t>- </a:t>
            </a:r>
            <a:r>
              <a:rPr lang="ko-KR" altLang="en-US" sz="1200" b="0" dirty="0">
                <a:latin typeface="+mn-ea"/>
              </a:rPr>
              <a:t>조약우선권주장출원</a:t>
            </a:r>
            <a:endParaRPr lang="en-US" altLang="ko-KR" sz="1200" b="0" dirty="0">
              <a:latin typeface="+mn-ea"/>
            </a:endParaRPr>
          </a:p>
          <a:p>
            <a:pPr indent="627063"/>
            <a:r>
              <a:rPr lang="ko-KR" altLang="en-US" sz="1200" b="0" dirty="0">
                <a:latin typeface="+mn-ea"/>
              </a:rPr>
              <a:t> </a:t>
            </a:r>
            <a:r>
              <a:rPr lang="en-US" altLang="ko-KR" sz="1200" b="0" dirty="0">
                <a:latin typeface="+mn-ea"/>
              </a:rPr>
              <a:t>- </a:t>
            </a:r>
            <a:r>
              <a:rPr lang="ko-KR" altLang="en-US" sz="1200" b="0" dirty="0">
                <a:latin typeface="+mn-ea"/>
              </a:rPr>
              <a:t>국내우선권주장출원 </a:t>
            </a:r>
          </a:p>
        </p:txBody>
      </p:sp>
      <p:sp>
        <p:nvSpPr>
          <p:cNvPr id="5" name="자유형 4"/>
          <p:cNvSpPr/>
          <p:nvPr/>
        </p:nvSpPr>
        <p:spPr>
          <a:xfrm>
            <a:off x="5286824" y="2885016"/>
            <a:ext cx="1229681" cy="1229681"/>
          </a:xfrm>
          <a:custGeom>
            <a:avLst/>
            <a:gdLst>
              <a:gd name="connsiteX0" fmla="*/ 0 w 1229681"/>
              <a:gd name="connsiteY0" fmla="*/ 614841 h 1229681"/>
              <a:gd name="connsiteX1" fmla="*/ 614841 w 1229681"/>
              <a:gd name="connsiteY1" fmla="*/ 0 h 1229681"/>
              <a:gd name="connsiteX2" fmla="*/ 1229682 w 1229681"/>
              <a:gd name="connsiteY2" fmla="*/ 614841 h 1229681"/>
              <a:gd name="connsiteX3" fmla="*/ 614841 w 1229681"/>
              <a:gd name="connsiteY3" fmla="*/ 1229682 h 1229681"/>
              <a:gd name="connsiteX4" fmla="*/ 0 w 1229681"/>
              <a:gd name="connsiteY4" fmla="*/ 614841 h 1229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9681" h="1229681">
                <a:moveTo>
                  <a:pt x="0" y="614841"/>
                </a:moveTo>
                <a:cubicBezTo>
                  <a:pt x="0" y="275274"/>
                  <a:pt x="275274" y="0"/>
                  <a:pt x="614841" y="0"/>
                </a:cubicBezTo>
                <a:cubicBezTo>
                  <a:pt x="954408" y="0"/>
                  <a:pt x="1229682" y="275274"/>
                  <a:pt x="1229682" y="614841"/>
                </a:cubicBezTo>
                <a:cubicBezTo>
                  <a:pt x="1229682" y="954408"/>
                  <a:pt x="954408" y="1229682"/>
                  <a:pt x="614841" y="1229682"/>
                </a:cubicBezTo>
                <a:cubicBezTo>
                  <a:pt x="275274" y="1229682"/>
                  <a:pt x="0" y="954408"/>
                  <a:pt x="0" y="614841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0083" tIns="180083" rIns="180083" bIns="180083" numCol="1" spcCol="1270" anchor="ctr" anchorCtr="0">
            <a:noAutofit/>
          </a:bodyPr>
          <a:lstStyle/>
          <a:p>
            <a:pPr lvl="0" algn="ctr" defTabSz="488950" latinLnBrk="1">
              <a:spcBef>
                <a:spcPct val="0"/>
              </a:spcBef>
            </a:pPr>
            <a:r>
              <a:rPr lang="ko-KR" altLang="en-US" sz="1600" b="0" kern="1200" dirty="0">
                <a:solidFill>
                  <a:schemeClr val="bg1"/>
                </a:solidFill>
                <a:latin typeface="+mn-ea"/>
                <a:ea typeface="+mn-ea"/>
              </a:rPr>
              <a:t>특허요건</a:t>
            </a:r>
            <a:endParaRPr lang="en-US" altLang="ko-KR" sz="1600" b="0" kern="1200" dirty="0">
              <a:solidFill>
                <a:schemeClr val="bg1"/>
              </a:solidFill>
              <a:latin typeface="+mn-ea"/>
              <a:ea typeface="+mn-ea"/>
            </a:endParaRPr>
          </a:p>
          <a:p>
            <a:pPr lvl="0" algn="ctr" defTabSz="488950" latinLnBrk="1">
              <a:spcBef>
                <a:spcPct val="0"/>
              </a:spcBef>
            </a:pPr>
            <a:r>
              <a:rPr lang="en-US" altLang="ko-KR" sz="1600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1600" b="0" kern="1200" dirty="0">
                <a:solidFill>
                  <a:schemeClr val="bg1"/>
                </a:solidFill>
                <a:latin typeface="+mn-ea"/>
                <a:ea typeface="+mn-ea"/>
              </a:rPr>
              <a:t>판단</a:t>
            </a:r>
            <a:r>
              <a:rPr lang="en-US" altLang="ko-KR" sz="1600" b="0" kern="1200" dirty="0">
                <a:solidFill>
                  <a:schemeClr val="bg1"/>
                </a:solidFill>
                <a:latin typeface="+mn-ea"/>
                <a:ea typeface="+mn-ea"/>
              </a:rPr>
              <a:t>)</a:t>
            </a:r>
            <a:endParaRPr lang="ko-KR" altLang="en-US" sz="1600" b="0" kern="120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6" name="자유형 5"/>
          <p:cNvSpPr/>
          <p:nvPr/>
        </p:nvSpPr>
        <p:spPr>
          <a:xfrm rot="16200000">
            <a:off x="5771014" y="2436856"/>
            <a:ext cx="261300" cy="418091"/>
          </a:xfrm>
          <a:custGeom>
            <a:avLst/>
            <a:gdLst>
              <a:gd name="connsiteX0" fmla="*/ 0 w 261300"/>
              <a:gd name="connsiteY0" fmla="*/ 83618 h 418091"/>
              <a:gd name="connsiteX1" fmla="*/ 130650 w 261300"/>
              <a:gd name="connsiteY1" fmla="*/ 83618 h 418091"/>
              <a:gd name="connsiteX2" fmla="*/ 130650 w 261300"/>
              <a:gd name="connsiteY2" fmla="*/ 0 h 418091"/>
              <a:gd name="connsiteX3" fmla="*/ 261300 w 261300"/>
              <a:gd name="connsiteY3" fmla="*/ 209046 h 418091"/>
              <a:gd name="connsiteX4" fmla="*/ 130650 w 261300"/>
              <a:gd name="connsiteY4" fmla="*/ 418091 h 418091"/>
              <a:gd name="connsiteX5" fmla="*/ 130650 w 261300"/>
              <a:gd name="connsiteY5" fmla="*/ 334473 h 418091"/>
              <a:gd name="connsiteX6" fmla="*/ 0 w 261300"/>
              <a:gd name="connsiteY6" fmla="*/ 334473 h 418091"/>
              <a:gd name="connsiteX7" fmla="*/ 0 w 261300"/>
              <a:gd name="connsiteY7" fmla="*/ 83618 h 418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1300" h="418091">
                <a:moveTo>
                  <a:pt x="0" y="83618"/>
                </a:moveTo>
                <a:lnTo>
                  <a:pt x="130650" y="83618"/>
                </a:lnTo>
                <a:lnTo>
                  <a:pt x="130650" y="0"/>
                </a:lnTo>
                <a:lnTo>
                  <a:pt x="261300" y="209046"/>
                </a:lnTo>
                <a:lnTo>
                  <a:pt x="130650" y="418091"/>
                </a:lnTo>
                <a:lnTo>
                  <a:pt x="130650" y="334473"/>
                </a:lnTo>
                <a:lnTo>
                  <a:pt x="0" y="334473"/>
                </a:lnTo>
                <a:lnTo>
                  <a:pt x="0" y="83618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-1" tIns="83617" rIns="78390" bIns="83618" numCol="1" spcCol="1270" anchor="ctr" anchorCtr="0">
            <a:noAutofit/>
          </a:bodyPr>
          <a:lstStyle/>
          <a:p>
            <a:pPr lvl="0" algn="ctr" defTabSz="4889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ko-KR" altLang="en-US" sz="1100" b="0" kern="1200">
              <a:latin typeface="+mn-ea"/>
              <a:ea typeface="+mn-ea"/>
            </a:endParaRPr>
          </a:p>
        </p:txBody>
      </p:sp>
      <p:sp>
        <p:nvSpPr>
          <p:cNvPr id="7" name="자유형 6"/>
          <p:cNvSpPr/>
          <p:nvPr/>
        </p:nvSpPr>
        <p:spPr>
          <a:xfrm>
            <a:off x="5286824" y="1162314"/>
            <a:ext cx="1229681" cy="1229681"/>
          </a:xfrm>
          <a:custGeom>
            <a:avLst/>
            <a:gdLst>
              <a:gd name="connsiteX0" fmla="*/ 0 w 1229681"/>
              <a:gd name="connsiteY0" fmla="*/ 614841 h 1229681"/>
              <a:gd name="connsiteX1" fmla="*/ 614841 w 1229681"/>
              <a:gd name="connsiteY1" fmla="*/ 0 h 1229681"/>
              <a:gd name="connsiteX2" fmla="*/ 1229682 w 1229681"/>
              <a:gd name="connsiteY2" fmla="*/ 614841 h 1229681"/>
              <a:gd name="connsiteX3" fmla="*/ 614841 w 1229681"/>
              <a:gd name="connsiteY3" fmla="*/ 1229682 h 1229681"/>
              <a:gd name="connsiteX4" fmla="*/ 0 w 1229681"/>
              <a:gd name="connsiteY4" fmla="*/ 614841 h 1229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9681" h="1229681">
                <a:moveTo>
                  <a:pt x="0" y="614841"/>
                </a:moveTo>
                <a:cubicBezTo>
                  <a:pt x="0" y="275274"/>
                  <a:pt x="275274" y="0"/>
                  <a:pt x="614841" y="0"/>
                </a:cubicBezTo>
                <a:cubicBezTo>
                  <a:pt x="954408" y="0"/>
                  <a:pt x="1229682" y="275274"/>
                  <a:pt x="1229682" y="614841"/>
                </a:cubicBezTo>
                <a:cubicBezTo>
                  <a:pt x="1229682" y="954408"/>
                  <a:pt x="954408" y="1229682"/>
                  <a:pt x="614841" y="1229682"/>
                </a:cubicBezTo>
                <a:cubicBezTo>
                  <a:pt x="275274" y="1229682"/>
                  <a:pt x="0" y="954408"/>
                  <a:pt x="0" y="614841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94053" tIns="194053" rIns="194053" bIns="194053" numCol="1" spcCol="1270" anchor="ctr" anchorCtr="0">
            <a:noAutofit/>
          </a:bodyPr>
          <a:lstStyle/>
          <a:p>
            <a:pPr lvl="0" algn="ctr" defTabSz="488950" latinLnBrk="1">
              <a:spcBef>
                <a:spcPct val="0"/>
              </a:spcBef>
            </a:pPr>
            <a:r>
              <a:rPr lang="ko-KR" altLang="en-US" sz="1600" b="0" kern="1200" dirty="0">
                <a:solidFill>
                  <a:schemeClr val="tx1"/>
                </a:solidFill>
                <a:latin typeface="+mn-ea"/>
                <a:ea typeface="+mn-ea"/>
              </a:rPr>
              <a:t>심사관</a:t>
            </a:r>
            <a:endParaRPr lang="en-US" altLang="ko-KR" sz="1600" b="0" kern="1200" dirty="0">
              <a:solidFill>
                <a:schemeClr val="tx1"/>
              </a:solidFill>
              <a:latin typeface="+mn-ea"/>
              <a:ea typeface="+mn-ea"/>
            </a:endParaRPr>
          </a:p>
          <a:p>
            <a:pPr lvl="0" algn="ctr" defTabSz="488950" latinLnBrk="1">
              <a:spcBef>
                <a:spcPct val="0"/>
              </a:spcBef>
            </a:pPr>
            <a:r>
              <a:rPr lang="en-US" altLang="ko-KR" sz="16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600" dirty="0">
                <a:solidFill>
                  <a:schemeClr val="tx1"/>
                </a:solidFill>
                <a:latin typeface="+mn-ea"/>
              </a:rPr>
              <a:t>반응</a:t>
            </a:r>
            <a:r>
              <a:rPr lang="en-US" altLang="ko-KR" sz="16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1600" b="0" kern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자유형 7"/>
          <p:cNvSpPr/>
          <p:nvPr/>
        </p:nvSpPr>
        <p:spPr>
          <a:xfrm rot="1800000">
            <a:off x="6510561" y="3717789"/>
            <a:ext cx="261300" cy="418091"/>
          </a:xfrm>
          <a:custGeom>
            <a:avLst/>
            <a:gdLst>
              <a:gd name="connsiteX0" fmla="*/ 0 w 261300"/>
              <a:gd name="connsiteY0" fmla="*/ 83618 h 418091"/>
              <a:gd name="connsiteX1" fmla="*/ 130650 w 261300"/>
              <a:gd name="connsiteY1" fmla="*/ 83618 h 418091"/>
              <a:gd name="connsiteX2" fmla="*/ 130650 w 261300"/>
              <a:gd name="connsiteY2" fmla="*/ 0 h 418091"/>
              <a:gd name="connsiteX3" fmla="*/ 261300 w 261300"/>
              <a:gd name="connsiteY3" fmla="*/ 209046 h 418091"/>
              <a:gd name="connsiteX4" fmla="*/ 130650 w 261300"/>
              <a:gd name="connsiteY4" fmla="*/ 418091 h 418091"/>
              <a:gd name="connsiteX5" fmla="*/ 130650 w 261300"/>
              <a:gd name="connsiteY5" fmla="*/ 334473 h 418091"/>
              <a:gd name="connsiteX6" fmla="*/ 0 w 261300"/>
              <a:gd name="connsiteY6" fmla="*/ 334473 h 418091"/>
              <a:gd name="connsiteX7" fmla="*/ 0 w 261300"/>
              <a:gd name="connsiteY7" fmla="*/ 83618 h 418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1300" h="418091">
                <a:moveTo>
                  <a:pt x="0" y="83618"/>
                </a:moveTo>
                <a:lnTo>
                  <a:pt x="130650" y="83618"/>
                </a:lnTo>
                <a:lnTo>
                  <a:pt x="130650" y="0"/>
                </a:lnTo>
                <a:lnTo>
                  <a:pt x="261300" y="209046"/>
                </a:lnTo>
                <a:lnTo>
                  <a:pt x="130650" y="418091"/>
                </a:lnTo>
                <a:lnTo>
                  <a:pt x="130650" y="334473"/>
                </a:lnTo>
                <a:lnTo>
                  <a:pt x="0" y="334473"/>
                </a:lnTo>
                <a:lnTo>
                  <a:pt x="0" y="83618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83618" rIns="78389" bIns="83617" numCol="1" spcCol="1270" anchor="ctr" anchorCtr="0">
            <a:noAutofit/>
          </a:bodyPr>
          <a:lstStyle/>
          <a:p>
            <a:pPr lvl="0" algn="ctr" defTabSz="4889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ko-KR" altLang="en-US" sz="1100" b="0" kern="1200">
              <a:latin typeface="+mn-ea"/>
              <a:ea typeface="+mn-ea"/>
            </a:endParaRPr>
          </a:p>
        </p:txBody>
      </p:sp>
      <p:sp>
        <p:nvSpPr>
          <p:cNvPr id="9" name="자유형 8"/>
          <p:cNvSpPr/>
          <p:nvPr/>
        </p:nvSpPr>
        <p:spPr>
          <a:xfrm>
            <a:off x="6778727" y="3746367"/>
            <a:ext cx="1229681" cy="1229681"/>
          </a:xfrm>
          <a:custGeom>
            <a:avLst/>
            <a:gdLst>
              <a:gd name="connsiteX0" fmla="*/ 0 w 1229681"/>
              <a:gd name="connsiteY0" fmla="*/ 614841 h 1229681"/>
              <a:gd name="connsiteX1" fmla="*/ 614841 w 1229681"/>
              <a:gd name="connsiteY1" fmla="*/ 0 h 1229681"/>
              <a:gd name="connsiteX2" fmla="*/ 1229682 w 1229681"/>
              <a:gd name="connsiteY2" fmla="*/ 614841 h 1229681"/>
              <a:gd name="connsiteX3" fmla="*/ 614841 w 1229681"/>
              <a:gd name="connsiteY3" fmla="*/ 1229682 h 1229681"/>
              <a:gd name="connsiteX4" fmla="*/ 0 w 1229681"/>
              <a:gd name="connsiteY4" fmla="*/ 614841 h 1229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9681" h="1229681">
                <a:moveTo>
                  <a:pt x="0" y="614841"/>
                </a:moveTo>
                <a:cubicBezTo>
                  <a:pt x="0" y="275274"/>
                  <a:pt x="275274" y="0"/>
                  <a:pt x="614841" y="0"/>
                </a:cubicBezTo>
                <a:cubicBezTo>
                  <a:pt x="954408" y="0"/>
                  <a:pt x="1229682" y="275274"/>
                  <a:pt x="1229682" y="614841"/>
                </a:cubicBezTo>
                <a:cubicBezTo>
                  <a:pt x="1229682" y="954408"/>
                  <a:pt x="954408" y="1229682"/>
                  <a:pt x="614841" y="1229682"/>
                </a:cubicBezTo>
                <a:cubicBezTo>
                  <a:pt x="275274" y="1229682"/>
                  <a:pt x="0" y="954408"/>
                  <a:pt x="0" y="614841"/>
                </a:cubicBezTo>
                <a:close/>
              </a:path>
            </a:pathLst>
          </a:custGeom>
          <a:solidFill>
            <a:schemeClr val="accent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94053" tIns="194053" rIns="194053" bIns="194053" numCol="1" spcCol="1270" anchor="ctr" anchorCtr="0">
            <a:noAutofit/>
          </a:bodyPr>
          <a:lstStyle/>
          <a:p>
            <a:pPr lvl="0" algn="ctr" defTabSz="488950" latinLnBrk="1">
              <a:spcBef>
                <a:spcPct val="0"/>
              </a:spcBef>
            </a:pPr>
            <a:r>
              <a:rPr lang="ko-KR" altLang="en-US" sz="1600" b="0" kern="1200" dirty="0">
                <a:solidFill>
                  <a:schemeClr val="tx1"/>
                </a:solidFill>
                <a:latin typeface="+mn-ea"/>
                <a:ea typeface="+mn-ea"/>
              </a:rPr>
              <a:t>출원인</a:t>
            </a:r>
            <a:endParaRPr lang="en-US" altLang="ko-KR" sz="1600" b="0" kern="1200" dirty="0">
              <a:solidFill>
                <a:schemeClr val="tx1"/>
              </a:solidFill>
              <a:latin typeface="+mn-ea"/>
              <a:ea typeface="+mn-ea"/>
            </a:endParaRPr>
          </a:p>
          <a:p>
            <a:pPr lvl="0" algn="ctr" defTabSz="488950" latinLnBrk="1">
              <a:spcBef>
                <a:spcPct val="0"/>
              </a:spcBef>
            </a:pPr>
            <a:r>
              <a:rPr lang="en-US" altLang="ko-KR" sz="16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600" dirty="0">
                <a:solidFill>
                  <a:schemeClr val="tx1"/>
                </a:solidFill>
                <a:latin typeface="+mn-ea"/>
              </a:rPr>
              <a:t>반응</a:t>
            </a:r>
            <a:r>
              <a:rPr lang="en-US" altLang="ko-KR" sz="16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1600" b="0" kern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" name="자유형 9"/>
          <p:cNvSpPr/>
          <p:nvPr/>
        </p:nvSpPr>
        <p:spPr>
          <a:xfrm rot="19808912">
            <a:off x="5021794" y="3718887"/>
            <a:ext cx="267924" cy="418091"/>
          </a:xfrm>
          <a:custGeom>
            <a:avLst/>
            <a:gdLst>
              <a:gd name="connsiteX0" fmla="*/ 0 w 267923"/>
              <a:gd name="connsiteY0" fmla="*/ 83618 h 418091"/>
              <a:gd name="connsiteX1" fmla="*/ 133962 w 267923"/>
              <a:gd name="connsiteY1" fmla="*/ 83618 h 418091"/>
              <a:gd name="connsiteX2" fmla="*/ 133962 w 267923"/>
              <a:gd name="connsiteY2" fmla="*/ 0 h 418091"/>
              <a:gd name="connsiteX3" fmla="*/ 267923 w 267923"/>
              <a:gd name="connsiteY3" fmla="*/ 209046 h 418091"/>
              <a:gd name="connsiteX4" fmla="*/ 133962 w 267923"/>
              <a:gd name="connsiteY4" fmla="*/ 418091 h 418091"/>
              <a:gd name="connsiteX5" fmla="*/ 133962 w 267923"/>
              <a:gd name="connsiteY5" fmla="*/ 334473 h 418091"/>
              <a:gd name="connsiteX6" fmla="*/ 0 w 267923"/>
              <a:gd name="connsiteY6" fmla="*/ 334473 h 418091"/>
              <a:gd name="connsiteX7" fmla="*/ 0 w 267923"/>
              <a:gd name="connsiteY7" fmla="*/ 83618 h 418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923" h="418091">
                <a:moveTo>
                  <a:pt x="267923" y="334473"/>
                </a:moveTo>
                <a:lnTo>
                  <a:pt x="133961" y="334473"/>
                </a:lnTo>
                <a:lnTo>
                  <a:pt x="133961" y="418091"/>
                </a:lnTo>
                <a:lnTo>
                  <a:pt x="0" y="209045"/>
                </a:lnTo>
                <a:lnTo>
                  <a:pt x="133961" y="0"/>
                </a:lnTo>
                <a:lnTo>
                  <a:pt x="133961" y="83618"/>
                </a:lnTo>
                <a:lnTo>
                  <a:pt x="267923" y="83618"/>
                </a:lnTo>
                <a:lnTo>
                  <a:pt x="267923" y="334473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0377" tIns="83617" rIns="0" bIns="83618" numCol="1" spcCol="1270" anchor="ctr" anchorCtr="0">
            <a:noAutofit/>
          </a:bodyPr>
          <a:lstStyle/>
          <a:p>
            <a:pPr lvl="0" algn="ctr" defTabSz="4889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ko-KR" altLang="en-US" sz="1100" b="0" kern="1200">
              <a:latin typeface="+mn-ea"/>
              <a:ea typeface="+mn-ea"/>
            </a:endParaRPr>
          </a:p>
        </p:txBody>
      </p:sp>
      <p:sp>
        <p:nvSpPr>
          <p:cNvPr id="11" name="자유형 10"/>
          <p:cNvSpPr/>
          <p:nvPr/>
        </p:nvSpPr>
        <p:spPr>
          <a:xfrm>
            <a:off x="3781853" y="3748717"/>
            <a:ext cx="1229681" cy="1229681"/>
          </a:xfrm>
          <a:custGeom>
            <a:avLst/>
            <a:gdLst>
              <a:gd name="connsiteX0" fmla="*/ 0 w 1229681"/>
              <a:gd name="connsiteY0" fmla="*/ 614841 h 1229681"/>
              <a:gd name="connsiteX1" fmla="*/ 614841 w 1229681"/>
              <a:gd name="connsiteY1" fmla="*/ 0 h 1229681"/>
              <a:gd name="connsiteX2" fmla="*/ 1229682 w 1229681"/>
              <a:gd name="connsiteY2" fmla="*/ 614841 h 1229681"/>
              <a:gd name="connsiteX3" fmla="*/ 614841 w 1229681"/>
              <a:gd name="connsiteY3" fmla="*/ 1229682 h 1229681"/>
              <a:gd name="connsiteX4" fmla="*/ 0 w 1229681"/>
              <a:gd name="connsiteY4" fmla="*/ 614841 h 1229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9681" h="1229681">
                <a:moveTo>
                  <a:pt x="0" y="614841"/>
                </a:moveTo>
                <a:cubicBezTo>
                  <a:pt x="0" y="275274"/>
                  <a:pt x="275274" y="0"/>
                  <a:pt x="614841" y="0"/>
                </a:cubicBezTo>
                <a:cubicBezTo>
                  <a:pt x="954408" y="0"/>
                  <a:pt x="1229682" y="275274"/>
                  <a:pt x="1229682" y="614841"/>
                </a:cubicBezTo>
                <a:cubicBezTo>
                  <a:pt x="1229682" y="954408"/>
                  <a:pt x="954408" y="1229682"/>
                  <a:pt x="614841" y="1229682"/>
                </a:cubicBezTo>
                <a:cubicBezTo>
                  <a:pt x="275274" y="1229682"/>
                  <a:pt x="0" y="954408"/>
                  <a:pt x="0" y="614841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94053" tIns="194053" rIns="194053" bIns="194053" numCol="1" spcCol="1270" anchor="ctr" anchorCtr="0">
            <a:noAutofit/>
          </a:bodyPr>
          <a:lstStyle/>
          <a:p>
            <a:pPr lvl="0" algn="ctr" defTabSz="488950" latinLnBrk="1">
              <a:spcBef>
                <a:spcPct val="0"/>
              </a:spcBef>
            </a:pPr>
            <a:r>
              <a:rPr lang="ko-KR" altLang="en-US" sz="1600" b="0" kern="1200" dirty="0">
                <a:solidFill>
                  <a:schemeClr val="tx1"/>
                </a:solidFill>
                <a:latin typeface="+mn-ea"/>
                <a:ea typeface="+mn-ea"/>
              </a:rPr>
              <a:t>제</a:t>
            </a:r>
            <a:r>
              <a:rPr lang="en-US" altLang="ko-KR" sz="1600" b="0" kern="1200" dirty="0">
                <a:solidFill>
                  <a:schemeClr val="tx1"/>
                </a:solidFill>
                <a:latin typeface="+mn-ea"/>
                <a:ea typeface="+mn-ea"/>
              </a:rPr>
              <a:t>3</a:t>
            </a:r>
            <a:r>
              <a:rPr lang="ko-KR" altLang="en-US" sz="1600" b="0" kern="1200" dirty="0">
                <a:solidFill>
                  <a:schemeClr val="tx1"/>
                </a:solidFill>
                <a:latin typeface="+mn-ea"/>
                <a:ea typeface="+mn-ea"/>
              </a:rPr>
              <a:t>자</a:t>
            </a:r>
            <a:endParaRPr lang="en-US" altLang="ko-KR" sz="1600" b="0" kern="1200" dirty="0">
              <a:solidFill>
                <a:schemeClr val="tx1"/>
              </a:solidFill>
              <a:latin typeface="+mn-ea"/>
              <a:ea typeface="+mn-ea"/>
            </a:endParaRPr>
          </a:p>
          <a:p>
            <a:pPr lvl="0" algn="ctr" defTabSz="488950" latinLnBrk="1">
              <a:spcBef>
                <a:spcPct val="0"/>
              </a:spcBef>
            </a:pPr>
            <a:r>
              <a:rPr lang="en-US" altLang="ko-KR" sz="16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600" dirty="0">
                <a:solidFill>
                  <a:schemeClr val="tx1"/>
                </a:solidFill>
                <a:latin typeface="+mn-ea"/>
              </a:rPr>
              <a:t>반응</a:t>
            </a:r>
            <a:r>
              <a:rPr lang="en-US" altLang="ko-KR" sz="16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1600" b="0" kern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참고노트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특허출원이 </a:t>
            </a:r>
            <a:r>
              <a:rPr lang="ko-KR" altLang="en-US" dirty="0" err="1"/>
              <a:t>등록받을</a:t>
            </a:r>
            <a:r>
              <a:rPr lang="ko-KR" altLang="en-US" dirty="0"/>
              <a:t> 수 있는가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 dirty="0"/>
              <a:t>286</a:t>
            </a:r>
            <a:endParaRPr lang="ko-KR" altLang="en-US" dirty="0"/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3D6BAD38-9D5E-7822-56AA-E86FE7AE12DB}"/>
              </a:ext>
            </a:extLst>
          </p:cNvPr>
          <p:cNvSpPr/>
          <p:nvPr/>
        </p:nvSpPr>
        <p:spPr>
          <a:xfrm>
            <a:off x="7258699" y="3081174"/>
            <a:ext cx="4201118" cy="347826"/>
          </a:xfrm>
          <a:prstGeom prst="wedgeRoundRectCallout">
            <a:avLst>
              <a:gd name="adj1" fmla="val -50498"/>
              <a:gd name="adj2" fmla="val 136573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 err="1">
                <a:solidFill>
                  <a:schemeClr val="tx1"/>
                </a:solidFill>
              </a:rPr>
              <a:t>거절이유통지</a:t>
            </a:r>
            <a:r>
              <a:rPr lang="en-US" altLang="ko-KR" sz="1400" dirty="0">
                <a:solidFill>
                  <a:schemeClr val="tx1"/>
                </a:solidFill>
              </a:rPr>
              <a:t>(</a:t>
            </a:r>
            <a:r>
              <a:rPr lang="ko-KR" altLang="en-US" sz="1400" dirty="0">
                <a:solidFill>
                  <a:schemeClr val="tx1"/>
                </a:solidFill>
              </a:rPr>
              <a:t>거절결정등본</a:t>
            </a:r>
            <a:r>
              <a:rPr lang="en-US" altLang="ko-KR" sz="1400" dirty="0">
                <a:solidFill>
                  <a:schemeClr val="tx1"/>
                </a:solidFill>
              </a:rPr>
              <a:t>)</a:t>
            </a:r>
            <a:r>
              <a:rPr lang="ko-KR" altLang="en-US" sz="1400" dirty="0">
                <a:solidFill>
                  <a:schemeClr val="tx1"/>
                </a:solidFill>
              </a:rPr>
              <a:t>를 받은 출원인의 대응방안</a:t>
            </a:r>
          </a:p>
        </p:txBody>
      </p:sp>
    </p:spTree>
    <p:extLst>
      <p:ext uri="{BB962C8B-B14F-4D97-AF65-F5344CB8AC3E}">
        <p14:creationId xmlns:p14="http://schemas.microsoft.com/office/powerpoint/2010/main" val="539271338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9550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Frutiger LT 75 Black"/>
        <a:ea typeface="Rix모던고딕 EB"/>
        <a:cs typeface=""/>
      </a:majorFont>
      <a:minorFont>
        <a:latin typeface="Frutiger LT 65 Bold"/>
        <a:ea typeface="Rix모던고딕 B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>
              <a:lumMod val="50000"/>
            </a:schemeClr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10041</TotalTime>
  <Words>11849</Words>
  <Application>Microsoft Office PowerPoint</Application>
  <PresentationFormat>와이드스크린</PresentationFormat>
  <Paragraphs>1862</Paragraphs>
  <Slides>45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9" baseType="lpstr">
      <vt:lpstr>Rix모던고딕 M</vt:lpstr>
      <vt:lpstr>Frutiger LT 75 Black</vt:lpstr>
      <vt:lpstr>옥션고딕 M</vt:lpstr>
      <vt:lpstr>Rix모던명조 B</vt:lpstr>
      <vt:lpstr>Rix모던고딕 EB</vt:lpstr>
      <vt:lpstr>Rix커피향 M</vt:lpstr>
      <vt:lpstr>Frutiger LT 65 Bold</vt:lpstr>
      <vt:lpstr>Arial</vt:lpstr>
      <vt:lpstr>Rix모던명조 L</vt:lpstr>
      <vt:lpstr>한양신명조</vt:lpstr>
      <vt:lpstr>Wingdings</vt:lpstr>
      <vt:lpstr>Rix모던고딕 L</vt:lpstr>
      <vt:lpstr>Rix모던고딕 B</vt:lpstr>
      <vt:lpstr>Office 테마</vt:lpstr>
      <vt:lpstr>PowerPoint 프레젠테이션</vt:lpstr>
      <vt:lpstr>PowerPoint 프레젠테이션</vt:lpstr>
      <vt:lpstr>참고노트</vt:lpstr>
      <vt:lpstr>참고노트</vt:lpstr>
      <vt:lpstr>제68조</vt:lpstr>
      <vt:lpstr>제59조, 제60조</vt:lpstr>
      <vt:lpstr>제59조, 제60조</vt:lpstr>
      <vt:lpstr>제59조, 제60조</vt:lpstr>
      <vt:lpstr>제61조</vt:lpstr>
      <vt:lpstr>제59조, 제60조</vt:lpstr>
      <vt:lpstr>제62조, 제63조</vt:lpstr>
      <vt:lpstr>제62조, 제63조</vt:lpstr>
      <vt:lpstr>제62조, 제63조</vt:lpstr>
      <vt:lpstr>제62조, 제63조</vt:lpstr>
      <vt:lpstr>제62조, 제63조</vt:lpstr>
      <vt:lpstr>제62조, 제63조</vt:lpstr>
      <vt:lpstr>제62조, 제63조</vt:lpstr>
      <vt:lpstr>제62조, 제63조</vt:lpstr>
      <vt:lpstr>제62조, 제63조</vt:lpstr>
      <vt:lpstr>제62조, 제63조</vt:lpstr>
      <vt:lpstr>제62조, 제63조</vt:lpstr>
      <vt:lpstr>제62조, 제63조</vt:lpstr>
      <vt:lpstr>제66조의2</vt:lpstr>
      <vt:lpstr>제42조, 제66조의2</vt:lpstr>
      <vt:lpstr>제42조, 제66조의2</vt:lpstr>
      <vt:lpstr>제66조의2</vt:lpstr>
      <vt:lpstr>제66조의2</vt:lpstr>
      <vt:lpstr>제66조의3</vt:lpstr>
      <vt:lpstr>제66조의3</vt:lpstr>
      <vt:lpstr>제67조의2</vt:lpstr>
      <vt:lpstr>제67조의2</vt:lpstr>
      <vt:lpstr>제62조, 제63조</vt:lpstr>
      <vt:lpstr>제47조</vt:lpstr>
      <vt:lpstr>제64조, 제65조</vt:lpstr>
      <vt:lpstr>제64조, 제65조</vt:lpstr>
      <vt:lpstr>제64조, 제65조</vt:lpstr>
      <vt:lpstr>참고노트</vt:lpstr>
      <vt:lpstr>참고노트</vt:lpstr>
      <vt:lpstr>참고노트</vt:lpstr>
      <vt:lpstr>참고노트</vt:lpstr>
      <vt:lpstr>참고노트</vt:lpstr>
      <vt:lpstr>참고노트</vt:lpstr>
      <vt:lpstr>참고노트</vt:lpstr>
      <vt:lpstr>참고노트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(주)INVENSTOR</dc:title>
  <dc:creator>Windows 사용자</dc:creator>
  <cp:lastModifiedBy>병웅 임</cp:lastModifiedBy>
  <cp:revision>675</cp:revision>
  <cp:lastPrinted>2025-02-11T00:13:49Z</cp:lastPrinted>
  <dcterms:created xsi:type="dcterms:W3CDTF">2016-02-25T00:12:49Z</dcterms:created>
  <dcterms:modified xsi:type="dcterms:W3CDTF">2026-05-20T04:59:44Z</dcterms:modified>
</cp:coreProperties>
</file>