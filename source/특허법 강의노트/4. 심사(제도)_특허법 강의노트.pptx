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41" showSpecialPlsOnTitleSld="0" embedTrueTypeFonts="1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045" r:id="rId3"/>
    <p:sldId id="2047" r:id="rId4"/>
    <p:sldId id="2049" r:id="rId5"/>
    <p:sldId id="285" r:id="rId6"/>
    <p:sldId id="443" r:id="rId7"/>
    <p:sldId id="444" r:id="rId8"/>
    <p:sldId id="445" r:id="rId9"/>
    <p:sldId id="354" r:id="rId10"/>
    <p:sldId id="490" r:id="rId11"/>
    <p:sldId id="446" r:id="rId12"/>
    <p:sldId id="447" r:id="rId13"/>
    <p:sldId id="448" r:id="rId14"/>
    <p:sldId id="449" r:id="rId15"/>
    <p:sldId id="389" r:id="rId16"/>
    <p:sldId id="287" r:id="rId17"/>
    <p:sldId id="489" r:id="rId18"/>
    <p:sldId id="2020" r:id="rId19"/>
    <p:sldId id="450" r:id="rId20"/>
    <p:sldId id="452" r:id="rId21"/>
    <p:sldId id="480" r:id="rId22"/>
    <p:sldId id="461" r:id="rId23"/>
    <p:sldId id="463" r:id="rId24"/>
    <p:sldId id="462" r:id="rId25"/>
    <p:sldId id="466" r:id="rId26"/>
    <p:sldId id="465" r:id="rId27"/>
    <p:sldId id="464" r:id="rId28"/>
    <p:sldId id="468" r:id="rId29"/>
    <p:sldId id="467" r:id="rId30"/>
    <p:sldId id="2022" r:id="rId31"/>
    <p:sldId id="459" r:id="rId32"/>
    <p:sldId id="457" r:id="rId33"/>
    <p:sldId id="469" r:id="rId34"/>
    <p:sldId id="470" r:id="rId35"/>
    <p:sldId id="473" r:id="rId36"/>
    <p:sldId id="474" r:id="rId37"/>
    <p:sldId id="481" r:id="rId38"/>
    <p:sldId id="491" r:id="rId39"/>
    <p:sldId id="353" r:id="rId40"/>
    <p:sldId id="475" r:id="rId41"/>
    <p:sldId id="476" r:id="rId42"/>
    <p:sldId id="479" r:id="rId43"/>
    <p:sldId id="477" r:id="rId44"/>
    <p:sldId id="478" r:id="rId45"/>
    <p:sldId id="2046" r:id="rId46"/>
  </p:sldIdLst>
  <p:sldSz cx="12192000" cy="6858000"/>
  <p:notesSz cx="6400800" cy="11736388"/>
  <p:embeddedFontLst>
    <p:embeddedFont>
      <p:font typeface="Frutiger LT 65 Bold" panose="020B0800000000000000" pitchFamily="34" charset="0"/>
      <p:regular r:id="rId49"/>
    </p:embeddedFont>
    <p:embeddedFont>
      <p:font typeface="Frutiger LT 75 Black" panose="02000A03050000020004" pitchFamily="2" charset="0"/>
      <p:regular r:id="rId50"/>
    </p:embeddedFont>
    <p:embeddedFont>
      <p:font typeface="Rix모던고딕 B" panose="02020603020101020101" pitchFamily="18" charset="-127"/>
      <p:regular r:id="rId51"/>
    </p:embeddedFont>
    <p:embeddedFont>
      <p:font typeface="Rix모던고딕 EB" panose="02020603020101020101" pitchFamily="18" charset="-127"/>
      <p:regular r:id="rId52"/>
    </p:embeddedFont>
    <p:embeddedFont>
      <p:font typeface="Rix모던고딕 L" panose="02020603020101020101" pitchFamily="18" charset="-127"/>
      <p:regular r:id="rId53"/>
    </p:embeddedFont>
    <p:embeddedFont>
      <p:font typeface="Rix모던고딕 M" panose="02020603020101020101" pitchFamily="18" charset="-127"/>
      <p:regular r:id="rId54"/>
    </p:embeddedFont>
    <p:embeddedFont>
      <p:font typeface="Rix모던명조 B" panose="02020603020101020101" pitchFamily="18" charset="-127"/>
      <p:regular r:id="rId55"/>
    </p:embeddedFont>
    <p:embeddedFont>
      <p:font typeface="Rix모던명조 L" panose="02020603020101020101" pitchFamily="18" charset="-127"/>
      <p:regular r:id="rId56"/>
    </p:embeddedFont>
    <p:embeddedFont>
      <p:font typeface="Rix커피향 M" panose="02020603020101020101" pitchFamily="18" charset="-127"/>
      <p:regular r:id="rId57"/>
    </p:embeddedFont>
    <p:embeddedFont>
      <p:font typeface="옥션고딕 M" panose="02000000000000000000" pitchFamily="2" charset="-127"/>
      <p:regular r:id="rId58"/>
    </p:embeddedFont>
    <p:embeddedFont>
      <p:font typeface="한양신명조" panose="02030600000101010101" pitchFamily="18" charset="-127"/>
      <p:regular r:id="rId5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  <a:srgbClr val="0000FF"/>
    <a:srgbClr val="99CCFF"/>
    <a:srgbClr val="00B0F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09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8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625928" y="2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2026-06-13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11148386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625928" y="11148386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625639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2026-06-13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17500" y="1468438"/>
            <a:ext cx="7035800" cy="3959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7" tIns="45649" rIns="91297" bIns="4564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40080" y="5648139"/>
            <a:ext cx="5120640" cy="4621203"/>
          </a:xfrm>
          <a:prstGeom prst="rect">
            <a:avLst/>
          </a:prstGeom>
        </p:spPr>
        <p:txBody>
          <a:bodyPr vert="horz" lIns="91297" tIns="45649" rIns="91297" bIns="45649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625639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9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126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61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pPr/>
              <a:t>283</a:t>
            </a:fld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8979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pPr/>
              <a:t>284</a:t>
            </a:fld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897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AE974-F2CC-439F-920F-8893196F9950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5B24-CD4D-4680-8DB7-9640F9921042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4445-C495-4461-AC0A-CDD6E1C8282F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3171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296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798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86479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86479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7319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42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242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87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4054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5E6C-6464-4644-B9B5-AEE9DC217CD3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73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심사</a:t>
            </a:r>
            <a:endParaRPr lang="en-US" altLang="ko-KR" sz="2000" b="1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4"/>
                </a:solidFill>
              </a:rPr>
              <a:t>(</a:t>
            </a:r>
            <a:r>
              <a:rPr lang="ko-KR" altLang="en-US" sz="2000" b="1" dirty="0">
                <a:solidFill>
                  <a:schemeClr val="accent4"/>
                </a:solidFill>
              </a:rPr>
              <a:t>제도</a:t>
            </a:r>
            <a:r>
              <a:rPr lang="en-US" altLang="ko-KR" sz="2000" b="1" dirty="0">
                <a:solidFill>
                  <a:schemeClr val="accent4"/>
                </a:solidFill>
              </a:rPr>
              <a:t>)</a:t>
            </a:r>
            <a:endParaRPr lang="ko-KR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5F9189-9815-B253-5283-822F207CC8B0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5DA03D1-03FC-3C47-2375-CA55F2B38505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4CAA58B-1619-E030-C172-E88EE91D7148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C063A6E-D9A0-1BF8-B100-DA594D0D045A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245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6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246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심사관의 </a:t>
            </a:r>
            <a:r>
              <a:rPr lang="ko-KR" altLang="en-US" dirty="0" err="1"/>
              <a:t>제척사유</a:t>
            </a:r>
            <a:r>
              <a:rPr lang="ko-KR" altLang="en-US" dirty="0"/>
              <a:t> 中 </a:t>
            </a:r>
            <a:r>
              <a:rPr lang="ko-KR" altLang="en-US" dirty="0" err="1"/>
              <a:t>전심관여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3495517" y="3905387"/>
            <a:ext cx="7220913" cy="27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지식재산처장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495517" y="4428531"/>
            <a:ext cx="3514079" cy="2761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심사국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495517" y="4710801"/>
            <a:ext cx="3514079" cy="13923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지식재산처장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202351" y="4428531"/>
            <a:ext cx="3514079" cy="2761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특허심판원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7202351" y="4710801"/>
            <a:ext cx="3514079" cy="13923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지식재산처장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133094" y="5177167"/>
            <a:ext cx="2298238" cy="4706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심사관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810271" y="4800517"/>
            <a:ext cx="2298238" cy="294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심판원장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7810271" y="5535899"/>
            <a:ext cx="2298238" cy="4443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심판관합의체</a:t>
            </a:r>
            <a:r>
              <a:rPr lang="en-US" altLang="ko-KR" sz="1100" dirty="0">
                <a:solidFill>
                  <a:schemeClr val="tx1"/>
                </a:solidFill>
              </a:rPr>
              <a:t>(3</a:t>
            </a:r>
            <a:r>
              <a:rPr lang="ko-KR" altLang="en-US" sz="1100" dirty="0">
                <a:solidFill>
                  <a:schemeClr val="tx1"/>
                </a:solidFill>
              </a:rPr>
              <a:t>인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>
                <a:solidFill>
                  <a:schemeClr val="tx1"/>
                </a:solidFill>
              </a:rPr>
              <a:t>또는 </a:t>
            </a:r>
            <a:r>
              <a:rPr lang="en-US" altLang="ko-KR" sz="1100" dirty="0">
                <a:solidFill>
                  <a:schemeClr val="tx1"/>
                </a:solidFill>
              </a:rPr>
              <a:t>5</a:t>
            </a:r>
            <a:r>
              <a:rPr lang="ko-KR" altLang="en-US" sz="1100" dirty="0">
                <a:solidFill>
                  <a:schemeClr val="tx1"/>
                </a:solidFill>
              </a:rPr>
              <a:t>인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9" name="직선 연결선 38"/>
          <p:cNvCxnSpPr>
            <a:stCxn id="33" idx="0"/>
          </p:cNvCxnSpPr>
          <p:nvPr/>
        </p:nvCxnSpPr>
        <p:spPr>
          <a:xfrm flipV="1">
            <a:off x="8959391" y="4181523"/>
            <a:ext cx="0" cy="24700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31" idx="0"/>
          </p:cNvCxnSpPr>
          <p:nvPr/>
        </p:nvCxnSpPr>
        <p:spPr>
          <a:xfrm flipV="1">
            <a:off x="5252558" y="4181523"/>
            <a:ext cx="0" cy="24700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37" idx="0"/>
            <a:endCxn id="36" idx="2"/>
          </p:cNvCxnSpPr>
          <p:nvPr/>
        </p:nvCxnSpPr>
        <p:spPr>
          <a:xfrm flipV="1">
            <a:off x="8959390" y="5095061"/>
            <a:ext cx="0" cy="4408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95674" y="3294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심사청구</a:t>
            </a:r>
          </a:p>
        </p:txBody>
      </p:sp>
      <p:cxnSp>
        <p:nvCxnSpPr>
          <p:cNvPr id="15" name="직선 연결선 14"/>
          <p:cNvCxnSpPr>
            <a:stCxn id="13" idx="2"/>
          </p:cNvCxnSpPr>
          <p:nvPr/>
        </p:nvCxnSpPr>
        <p:spPr>
          <a:xfrm>
            <a:off x="5704788" y="3664251"/>
            <a:ext cx="4884" cy="235002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704789" y="4187658"/>
            <a:ext cx="0" cy="98337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704787" y="4704747"/>
            <a:ext cx="994774" cy="252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지정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18733" y="524774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거절결정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530648" y="3294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특허출원</a:t>
            </a:r>
          </a:p>
        </p:txBody>
      </p:sp>
      <p:cxnSp>
        <p:nvCxnSpPr>
          <p:cNvPr id="68" name="직선 연결선 67"/>
          <p:cNvCxnSpPr>
            <a:stCxn id="67" idx="2"/>
          </p:cNvCxnSpPr>
          <p:nvPr/>
        </p:nvCxnSpPr>
        <p:spPr>
          <a:xfrm>
            <a:off x="4039762" y="3664251"/>
            <a:ext cx="4883" cy="235002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5" idx="2"/>
            <a:endCxn id="36" idx="3"/>
          </p:cNvCxnSpPr>
          <p:nvPr/>
        </p:nvCxnSpPr>
        <p:spPr>
          <a:xfrm rot="5400000" flipH="1" flipV="1">
            <a:off x="6333537" y="1842100"/>
            <a:ext cx="669282" cy="6880662"/>
          </a:xfrm>
          <a:prstGeom prst="bentConnector4">
            <a:avLst>
              <a:gd name="adj1" fmla="val -116130"/>
              <a:gd name="adj2" fmla="val 10332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699561" y="6385736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거절결정불복심판의 청구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9503740" y="5095061"/>
            <a:ext cx="0" cy="44083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496443" y="5184356"/>
            <a:ext cx="994774" cy="252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지정</a:t>
            </a:r>
          </a:p>
        </p:txBody>
      </p:sp>
      <p:cxnSp>
        <p:nvCxnSpPr>
          <p:cNvPr id="75" name="직선 연결선 74"/>
          <p:cNvCxnSpPr>
            <a:stCxn id="35" idx="3"/>
          </p:cNvCxnSpPr>
          <p:nvPr/>
        </p:nvCxnSpPr>
        <p:spPr>
          <a:xfrm>
            <a:off x="6431332" y="5412494"/>
            <a:ext cx="1378938" cy="33117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575474" y="5265416"/>
            <a:ext cx="1684115" cy="252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2">
                    <a:lumMod val="50000"/>
                  </a:schemeClr>
                </a:solidFill>
              </a:rPr>
              <a:t>인사발령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30214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심판규정의</a:t>
            </a:r>
            <a:r>
              <a:rPr lang="ko-KR" altLang="en-US" sz="1400" b="1" dirty="0">
                <a:solidFill>
                  <a:schemeClr val="accent1"/>
                </a:solidFill>
              </a:rPr>
              <a:t> 심사에의 준용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특허출원의 심사에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148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호부터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호까지 및 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호를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148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심판관의 제척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심판관은 다음 각 호의 어느 하나에 해당하는 경우에는 그 심판에서 제척된다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심판관 또는 그 배우자이거나 </a:t>
            </a:r>
            <a:r>
              <a:rPr lang="ko-KR" altLang="en-US" sz="1400" dirty="0" err="1">
                <a:solidFill>
                  <a:schemeClr val="tx2"/>
                </a:solidFill>
              </a:rPr>
              <a:t>배우자이었던</a:t>
            </a:r>
            <a:r>
              <a:rPr lang="ko-KR" altLang="en-US" sz="1400" dirty="0">
                <a:solidFill>
                  <a:schemeClr val="tx2"/>
                </a:solidFill>
              </a:rPr>
              <a:t> 사람이 사건의 당사자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참가인 또는 특허취소신청인인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심판관이 사건의 당사자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참가인 또는 특허취소신청인의 친족이거나 친족이었던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심판관이 사건의 당사자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참가인 또는 특허취소신청인의 법정대리인이거나 법정대리인이었던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심판관이 사건에 대한 증인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감정인이거나 감정인이었던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5. </a:t>
            </a:r>
            <a:r>
              <a:rPr lang="ko-KR" altLang="en-US" sz="1400" dirty="0">
                <a:solidFill>
                  <a:schemeClr val="tx2"/>
                </a:solidFill>
              </a:rPr>
              <a:t>심판관이 사건의 당사자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참가인 또는 특허취소신청인의 대리인이거나 대리인이었던 경우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6. </a:t>
            </a:r>
            <a:r>
              <a:rPr lang="ko-KR" altLang="en-US" sz="1400" dirty="0">
                <a:solidFill>
                  <a:srgbClr val="FF0000"/>
                </a:solidFill>
              </a:rPr>
              <a:t>심판관이 사건에 대하여 심사관 또는 심판관으로서 특허여부결정 또는 </a:t>
            </a:r>
            <a:r>
              <a:rPr lang="ko-KR" altLang="en-US" sz="1400" dirty="0" err="1">
                <a:solidFill>
                  <a:srgbClr val="FF0000"/>
                </a:solidFill>
              </a:rPr>
              <a:t>심결에</a:t>
            </a:r>
            <a:r>
              <a:rPr lang="ko-KR" altLang="en-US" sz="1400" dirty="0">
                <a:solidFill>
                  <a:srgbClr val="FF0000"/>
                </a:solidFill>
              </a:rPr>
              <a:t> 관여한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7. </a:t>
            </a:r>
            <a:r>
              <a:rPr lang="ko-KR" altLang="en-US" sz="1400" dirty="0">
                <a:solidFill>
                  <a:schemeClr val="tx2"/>
                </a:solidFill>
              </a:rPr>
              <a:t>심판관이 사건에 관하여 직접 이해관계를 가진 경우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247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4C4B8D-384E-5BEB-6B83-3BA1B1985A39}"/>
              </a:ext>
            </a:extLst>
          </p:cNvPr>
          <p:cNvSpPr/>
          <p:nvPr/>
        </p:nvSpPr>
        <p:spPr>
          <a:xfrm>
            <a:off x="825245" y="4337001"/>
            <a:ext cx="1315224" cy="124111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/>
              <a:t>심판관</a:t>
            </a:r>
            <a:r>
              <a:rPr lang="en-US" altLang="ko-KR" dirty="0"/>
              <a:t>(</a:t>
            </a:r>
            <a:r>
              <a:rPr lang="ko-KR" altLang="en-US" dirty="0"/>
              <a:t>甲</a:t>
            </a:r>
            <a:r>
              <a:rPr lang="en-US" altLang="ko-KR" dirty="0"/>
              <a:t>)</a:t>
            </a:r>
          </a:p>
          <a:p>
            <a:pPr algn="ctr"/>
            <a:r>
              <a:rPr lang="ko-KR" altLang="en-US" dirty="0"/>
              <a:t>전심관여</a:t>
            </a:r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3794760" y="3393566"/>
            <a:ext cx="996696" cy="19089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3017520" y="4320716"/>
            <a:ext cx="1773936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3017520" y="4702114"/>
            <a:ext cx="1773936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54" idx="3"/>
          </p:cNvCxnSpPr>
          <p:nvPr/>
        </p:nvCxnSpPr>
        <p:spPr>
          <a:xfrm flipV="1">
            <a:off x="3017520" y="3563414"/>
            <a:ext cx="1773936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심사청구기간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23631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특허출원에 관한 심사의 청구는 </a:t>
            </a:r>
            <a:r>
              <a:rPr lang="ko-KR" altLang="en-US" sz="1400" dirty="0">
                <a:highlight>
                  <a:srgbClr val="FFFF00"/>
                </a:highlight>
              </a:rPr>
              <a:t>특허출원일로부터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highlight>
                  <a:srgbClr val="FFFF00"/>
                </a:highlight>
              </a:rPr>
              <a:t>년</a:t>
            </a:r>
            <a:r>
              <a:rPr lang="ko-KR" altLang="en-US" sz="1400" dirty="0">
                <a:solidFill>
                  <a:schemeClr val="tx2"/>
                </a:solidFill>
              </a:rPr>
              <a:t> 이내에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출원인의 입장에서 보면 </a:t>
            </a:r>
            <a:r>
              <a:rPr lang="ko-KR" altLang="en-US" sz="1400" dirty="0" err="1">
                <a:solidFill>
                  <a:schemeClr val="tx2"/>
                </a:solidFill>
              </a:rPr>
              <a:t>기술적ㆍ경제적으로</a:t>
            </a:r>
            <a:r>
              <a:rPr lang="ko-KR" altLang="en-US" sz="1400" dirty="0">
                <a:solidFill>
                  <a:schemeClr val="tx2"/>
                </a:solidFill>
              </a:rPr>
              <a:t> 무가치한 출원의 심사청구를 억제할 수 있도록 충분한 </a:t>
            </a:r>
            <a:r>
              <a:rPr lang="ko-KR" altLang="en-US" sz="1400" dirty="0" err="1">
                <a:solidFill>
                  <a:schemeClr val="tx2"/>
                </a:solidFill>
              </a:rPr>
              <a:t>고려기간이</a:t>
            </a:r>
            <a:r>
              <a:rPr lang="ko-KR" altLang="en-US" sz="1400" dirty="0">
                <a:solidFill>
                  <a:schemeClr val="tx2"/>
                </a:solidFill>
              </a:rPr>
              <a:t> 필요하다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그 심사청구기간을 너무 장기로 하게 되면 출원발명의 권리화 여부가 불확실해지게 되어 산업계의 불안정한 상태가 장기간 계속되는 문제점이 있기 때문에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년으로 규정하고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출원인은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라이프 사이클이 짧은 기술과 관련된 발명에 대해서는 심사청구를 하여 조기에 특허권을 확보해야 하겠지만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중장기적인 사업과 관련된 발명에 대해서는 심사청구시기를 늦출 필요가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시간의 경과에 따라 자사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타사의 연구개발 상황이나 그 기술 분야 전체의 장래성 등의 정보가 갱신</a:t>
            </a:r>
            <a:r>
              <a:rPr lang="ko-KR" altLang="en-US" sz="1400" dirty="0">
                <a:solidFill>
                  <a:schemeClr val="tx2"/>
                </a:solidFill>
              </a:rPr>
              <a:t>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심사청구를 하여 실체심사 결과 특허등록이 되면 청구범위가 확정되어 보정하여 </a:t>
            </a:r>
            <a:r>
              <a:rPr lang="ko-KR" altLang="en-US" sz="1400" dirty="0">
                <a:highlight>
                  <a:srgbClr val="FFFF00"/>
                </a:highlight>
              </a:rPr>
              <a:t>권리범위를 재설계할 수 있는 기회를 상실하게 되고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특허료 등의 특허비용이 증가할 수 있다</a:t>
            </a:r>
            <a:r>
              <a:rPr lang="ko-KR" altLang="en-US" sz="1400" dirty="0"/>
              <a:t>는 것을 고려해야 한다</a:t>
            </a:r>
            <a:r>
              <a:rPr lang="en-US" altLang="ko-KR" sz="1400" dirty="0"/>
              <a:t>.</a:t>
            </a:r>
            <a:r>
              <a:rPr lang="en-US" altLang="ko-KR" sz="1400" dirty="0">
                <a:highlight>
                  <a:srgbClr val="FFFF00"/>
                </a:highlight>
              </a:rPr>
              <a:t> 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3199" y="2597796"/>
            <a:ext cx="423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특허출원일로부터 </a:t>
            </a:r>
            <a:r>
              <a:rPr lang="en-US" altLang="ko-KR" sz="3200" dirty="0"/>
              <a:t>3</a:t>
            </a:r>
            <a:r>
              <a:rPr lang="ko-KR" altLang="en-US" sz="3200" dirty="0"/>
              <a:t>년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839427" y="3184340"/>
            <a:ext cx="179404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685800" y="3914775"/>
            <a:ext cx="795528" cy="438912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소급제도</a:t>
            </a:r>
            <a:endParaRPr lang="en-US" altLang="ko-KR" sz="1100" dirty="0"/>
          </a:p>
          <a:p>
            <a:pPr algn="ctr"/>
            <a:r>
              <a:rPr lang="en-US" altLang="ko-KR" sz="1100" dirty="0"/>
              <a:t>(7</a:t>
            </a:r>
            <a:r>
              <a:rPr lang="ko-KR" altLang="en-US" sz="1100" dirty="0"/>
              <a:t>가지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3" name="직사각형 52"/>
          <p:cNvSpPr/>
          <p:nvPr/>
        </p:nvSpPr>
        <p:spPr>
          <a:xfrm>
            <a:off x="685800" y="6023682"/>
            <a:ext cx="795528" cy="438912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PCT</a:t>
            </a:r>
            <a:endParaRPr lang="ko-KR" altLang="en-US" sz="1100" dirty="0"/>
          </a:p>
        </p:txBody>
      </p:sp>
      <p:sp>
        <p:nvSpPr>
          <p:cNvPr id="54" name="직사각형 53"/>
          <p:cNvSpPr/>
          <p:nvPr/>
        </p:nvSpPr>
        <p:spPr>
          <a:xfrm>
            <a:off x="1831472" y="3393567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831472" y="4147263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831472" y="4526337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831472" y="3768189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1831472" y="5302480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54</a:t>
            </a:r>
            <a:r>
              <a:rPr lang="ko-KR" altLang="en-US" sz="1100" dirty="0">
                <a:solidFill>
                  <a:srgbClr val="FF0000"/>
                </a:solidFill>
              </a:rPr>
              <a:t>조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b="1" dirty="0" err="1">
                <a:solidFill>
                  <a:srgbClr val="FF0000"/>
                </a:solidFill>
              </a:rPr>
              <a:t>심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</a:rPr>
              <a:t>공존재등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831472" y="5681554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55</a:t>
            </a:r>
            <a:r>
              <a:rPr lang="ko-KR" altLang="en-US" sz="1100" dirty="0">
                <a:solidFill>
                  <a:srgbClr val="FF0000"/>
                </a:solidFill>
              </a:rPr>
              <a:t>조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56</a:t>
            </a:r>
            <a:r>
              <a:rPr lang="ko-KR" altLang="en-US" sz="1100" dirty="0">
                <a:solidFill>
                  <a:srgbClr val="FF0000"/>
                </a:solidFill>
              </a:rPr>
              <a:t>조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심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공존재등이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831472" y="6332924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210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cxnSp>
        <p:nvCxnSpPr>
          <p:cNvPr id="7" name="꺾인 연결선 6"/>
          <p:cNvCxnSpPr>
            <a:stCxn id="5" idx="3"/>
            <a:endCxn id="54" idx="1"/>
          </p:cNvCxnSpPr>
          <p:nvPr/>
        </p:nvCxnSpPr>
        <p:spPr>
          <a:xfrm flipV="1">
            <a:off x="1481328" y="3563415"/>
            <a:ext cx="350144" cy="5708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5" idx="3"/>
            <a:endCxn id="72" idx="1"/>
          </p:cNvCxnSpPr>
          <p:nvPr/>
        </p:nvCxnSpPr>
        <p:spPr>
          <a:xfrm>
            <a:off x="1481328" y="4134231"/>
            <a:ext cx="350144" cy="17171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5" idx="3"/>
            <a:endCxn id="66" idx="1"/>
          </p:cNvCxnSpPr>
          <p:nvPr/>
        </p:nvCxnSpPr>
        <p:spPr>
          <a:xfrm flipV="1">
            <a:off x="1481328" y="3938037"/>
            <a:ext cx="350144" cy="1961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5" idx="3"/>
            <a:endCxn id="70" idx="1"/>
          </p:cNvCxnSpPr>
          <p:nvPr/>
        </p:nvCxnSpPr>
        <p:spPr>
          <a:xfrm>
            <a:off x="1481328" y="4134231"/>
            <a:ext cx="350144" cy="13380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5" idx="3"/>
            <a:endCxn id="63" idx="1"/>
          </p:cNvCxnSpPr>
          <p:nvPr/>
        </p:nvCxnSpPr>
        <p:spPr>
          <a:xfrm>
            <a:off x="1481328" y="4134231"/>
            <a:ext cx="350144" cy="1828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3"/>
            <a:endCxn id="64" idx="1"/>
          </p:cNvCxnSpPr>
          <p:nvPr/>
        </p:nvCxnSpPr>
        <p:spPr>
          <a:xfrm>
            <a:off x="1481328" y="4134231"/>
            <a:ext cx="350144" cy="5619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53" idx="3"/>
            <a:endCxn id="74" idx="1"/>
          </p:cNvCxnSpPr>
          <p:nvPr/>
        </p:nvCxnSpPr>
        <p:spPr>
          <a:xfrm>
            <a:off x="1481328" y="6243138"/>
            <a:ext cx="350144" cy="2596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5" idx="1"/>
            <a:endCxn id="53" idx="1"/>
          </p:cNvCxnSpPr>
          <p:nvPr/>
        </p:nvCxnSpPr>
        <p:spPr>
          <a:xfrm rot="10800000" flipV="1">
            <a:off x="685800" y="4134230"/>
            <a:ext cx="12700" cy="2108907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자유형 24"/>
          <p:cNvSpPr/>
          <p:nvPr/>
        </p:nvSpPr>
        <p:spPr>
          <a:xfrm>
            <a:off x="347472" y="3201543"/>
            <a:ext cx="1188720" cy="1764792"/>
          </a:xfrm>
          <a:custGeom>
            <a:avLst/>
            <a:gdLst>
              <a:gd name="connsiteX0" fmla="*/ 1188720 w 1188720"/>
              <a:gd name="connsiteY0" fmla="*/ 0 h 1764792"/>
              <a:gd name="connsiteX1" fmla="*/ 1188720 w 1188720"/>
              <a:gd name="connsiteY1" fmla="*/ 265176 h 1764792"/>
              <a:gd name="connsiteX2" fmla="*/ 0 w 1188720"/>
              <a:gd name="connsiteY2" fmla="*/ 265176 h 1764792"/>
              <a:gd name="connsiteX3" fmla="*/ 0 w 1188720"/>
              <a:gd name="connsiteY3" fmla="*/ 374904 h 1764792"/>
              <a:gd name="connsiteX4" fmla="*/ 0 w 1188720"/>
              <a:gd name="connsiteY4" fmla="*/ 1764792 h 1764792"/>
              <a:gd name="connsiteX5" fmla="*/ 128016 w 1188720"/>
              <a:gd name="connsiteY5" fmla="*/ 1764792 h 1764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8720" h="1764792">
                <a:moveTo>
                  <a:pt x="1188720" y="0"/>
                </a:moveTo>
                <a:lnTo>
                  <a:pt x="1188720" y="265176"/>
                </a:lnTo>
                <a:lnTo>
                  <a:pt x="0" y="265176"/>
                </a:lnTo>
                <a:lnTo>
                  <a:pt x="0" y="374904"/>
                </a:lnTo>
                <a:lnTo>
                  <a:pt x="0" y="1764792"/>
                </a:lnTo>
                <a:lnTo>
                  <a:pt x="128016" y="1764792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/>
          <p:cNvCxnSpPr/>
          <p:nvPr/>
        </p:nvCxnSpPr>
        <p:spPr>
          <a:xfrm>
            <a:off x="3794760" y="3184340"/>
            <a:ext cx="70792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4"/>
          <p:cNvSpPr>
            <a:spLocks noChangeArrowheads="1"/>
          </p:cNvSpPr>
          <p:nvPr/>
        </p:nvSpPr>
        <p:spPr bwMode="auto">
          <a:xfrm flipV="1">
            <a:off x="4029720" y="3435931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 flipV="1">
            <a:off x="4029720" y="4189627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 flipV="1">
            <a:off x="4029720" y="4568701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 flipV="1">
            <a:off x="5107081" y="2901544"/>
            <a:ext cx="0" cy="3352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248</a:t>
            </a:r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6EF2322-8D11-428E-BEA6-10AB40FF32FA}"/>
              </a:ext>
            </a:extLst>
          </p:cNvPr>
          <p:cNvCxnSpPr/>
          <p:nvPr/>
        </p:nvCxnSpPr>
        <p:spPr>
          <a:xfrm flipV="1">
            <a:off x="3017520" y="5081188"/>
            <a:ext cx="1773936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2CC600F-2FFC-4BBC-8A43-8D80EBEAD357}"/>
              </a:ext>
            </a:extLst>
          </p:cNvPr>
          <p:cNvSpPr/>
          <p:nvPr/>
        </p:nvSpPr>
        <p:spPr>
          <a:xfrm>
            <a:off x="1831472" y="4905411"/>
            <a:ext cx="1186048" cy="339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Rectangle 14">
            <a:extLst>
              <a:ext uri="{FF2B5EF4-FFF2-40B4-BE49-F238E27FC236}">
                <a16:creationId xmlns:a16="http://schemas.microsoft.com/office/drawing/2014/main" id="{35494A1B-2E26-499B-A327-789E2ED885E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029720" y="494777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EB0A3-420D-4326-AA64-ECED40BF98A2}"/>
              </a:ext>
            </a:extLst>
          </p:cNvPr>
          <p:cNvSpPr txBox="1"/>
          <p:nvPr/>
        </p:nvSpPr>
        <p:spPr>
          <a:xfrm>
            <a:off x="3921553" y="369519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30</a:t>
            </a:r>
            <a:r>
              <a:rPr lang="ko-KR" altLang="en-US" sz="1400" dirty="0"/>
              <a:t>일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9AE2169-91D8-8323-804A-C79542F59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88999"/>
              </p:ext>
            </p:extLst>
          </p:nvPr>
        </p:nvGraphicFramePr>
        <p:xfrm>
          <a:off x="5237017" y="2683627"/>
          <a:ext cx="6712933" cy="388749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71907">
                  <a:extLst>
                    <a:ext uri="{9D8B030D-6E8A-4147-A177-3AD203B41FA5}">
                      <a16:colId xmlns:a16="http://schemas.microsoft.com/office/drawing/2014/main" val="1461148948"/>
                    </a:ext>
                  </a:extLst>
                </a:gridCol>
                <a:gridCol w="595052">
                  <a:extLst>
                    <a:ext uri="{9D8B030D-6E8A-4147-A177-3AD203B41FA5}">
                      <a16:colId xmlns:a16="http://schemas.microsoft.com/office/drawing/2014/main" val="3582116031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2206439343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294787185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2107582032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3697112305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3014905108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2796026407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2964672037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3080475067"/>
                    </a:ext>
                  </a:extLst>
                </a:gridCol>
                <a:gridCol w="576457">
                  <a:extLst>
                    <a:ext uri="{9D8B030D-6E8A-4147-A177-3AD203B41FA5}">
                      <a16:colId xmlns:a16="http://schemas.microsoft.com/office/drawing/2014/main" val="3334660690"/>
                    </a:ext>
                  </a:extLst>
                </a:gridCol>
                <a:gridCol w="557861">
                  <a:extLst>
                    <a:ext uri="{9D8B030D-6E8A-4147-A177-3AD203B41FA5}">
                      <a16:colId xmlns:a16="http://schemas.microsoft.com/office/drawing/2014/main" val="460915898"/>
                    </a:ext>
                  </a:extLst>
                </a:gridCol>
              </a:tblGrid>
              <a:tr h="330821">
                <a:tc rowSpan="2"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연도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출원건수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심사청구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출원연도별 </a:t>
                      </a:r>
                      <a:endParaRPr lang="en-US" altLang="ko-KR" sz="9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심사청구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980850"/>
                  </a:ext>
                </a:extLst>
              </a:tr>
              <a:tr h="3951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2016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2018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2019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2020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2021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2022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건수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비율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34422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237,633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144,049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144,049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60.62%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6743824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237,998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147,536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17,448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164,984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69.32%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0094376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226,759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140,508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16,393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12,542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169,443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74.72%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8556663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218,975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133,263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16,150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12,037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25,783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187,233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85.50%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6933058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209,992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129,951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5,688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10,721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32,615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1,182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180,157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85.79%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9797133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204,775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127,442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5,084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5,279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29,193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6,011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1,504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174,513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85.22%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3592289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208,830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130,962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4,525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4,859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10,828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8,365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18,463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178,002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85.24%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697407"/>
                  </a:ext>
                </a:extLst>
              </a:tr>
              <a:tr h="395186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213,694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132,625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4,499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3,676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11,830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9,122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18,905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180,657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84.54%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682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261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/>
          <p:cNvCxnSpPr/>
          <p:nvPr/>
        </p:nvCxnSpPr>
        <p:spPr>
          <a:xfrm>
            <a:off x="1876550" y="1695450"/>
            <a:ext cx="0" cy="462048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심사청구의 절차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조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48000" y="2152650"/>
            <a:ext cx="1657100" cy="595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출원인의</a:t>
            </a:r>
            <a:endParaRPr lang="en-US" altLang="ko-KR" sz="1400" dirty="0"/>
          </a:p>
          <a:p>
            <a:pPr algn="ctr"/>
            <a:r>
              <a:rPr lang="ko-KR" altLang="en-US" sz="1400" dirty="0" err="1"/>
              <a:t>심사청구서</a:t>
            </a:r>
            <a:r>
              <a:rPr lang="ko-KR" altLang="en-US" sz="1400" dirty="0"/>
              <a:t> 제출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8000" y="3052150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심사청구료</a:t>
            </a:r>
            <a:r>
              <a:rPr lang="ko-KR" altLang="en-US" sz="1400" dirty="0"/>
              <a:t> 납부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8000" y="4139842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심사청구사실 게재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000" y="5590315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실체심사</a:t>
            </a:r>
            <a:endParaRPr lang="ko-KR" altLang="en-US" sz="1400" dirty="0"/>
          </a:p>
        </p:txBody>
      </p:sp>
      <p:cxnSp>
        <p:nvCxnSpPr>
          <p:cNvPr id="60" name="직선 연결선 59"/>
          <p:cNvCxnSpPr/>
          <p:nvPr/>
        </p:nvCxnSpPr>
        <p:spPr>
          <a:xfrm>
            <a:off x="9982325" y="1695450"/>
            <a:ext cx="0" cy="462048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53775" y="2152650"/>
            <a:ext cx="1657100" cy="5957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자의</a:t>
            </a:r>
            <a:endParaRPr lang="en-US" altLang="ko-KR" sz="1400" dirty="0"/>
          </a:p>
          <a:p>
            <a:pPr algn="ctr"/>
            <a:r>
              <a:rPr lang="ko-KR" altLang="en-US" sz="1400" dirty="0" err="1"/>
              <a:t>심사청구서</a:t>
            </a:r>
            <a:r>
              <a:rPr lang="ko-KR" altLang="en-US" sz="1400" dirty="0"/>
              <a:t> 제출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53775" y="3061675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심사청구료</a:t>
            </a:r>
            <a:r>
              <a:rPr lang="ko-KR" altLang="en-US" sz="1400" dirty="0"/>
              <a:t> 납부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53775" y="4139842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심사청구사실 게재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53775" y="4809265"/>
            <a:ext cx="1657100" cy="32471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심사청구사실 통지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53775" y="5590315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실체심사</a:t>
            </a:r>
            <a:endParaRPr lang="ko-KR" altLang="en-US" sz="1400" dirty="0"/>
          </a:p>
        </p:txBody>
      </p:sp>
      <p:sp>
        <p:nvSpPr>
          <p:cNvPr id="71" name="TextBox 70"/>
          <p:cNvSpPr txBox="1"/>
          <p:nvPr/>
        </p:nvSpPr>
        <p:spPr>
          <a:xfrm>
            <a:off x="2930526" y="1531425"/>
            <a:ext cx="3060700" cy="826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200" dirty="0"/>
              <a:t>ⅰ) </a:t>
            </a:r>
            <a:r>
              <a:rPr lang="ko-KR" altLang="en-US" sz="1200" dirty="0"/>
              <a:t>명세서에 청구범위를 적지 아니한 경우 또는 </a:t>
            </a:r>
            <a:r>
              <a:rPr lang="en-US" altLang="ko-KR" sz="1200" dirty="0"/>
              <a:t>ⅱ) </a:t>
            </a:r>
            <a:r>
              <a:rPr lang="ko-KR" altLang="en-US" sz="1200" dirty="0" err="1"/>
              <a:t>국어번역문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42</a:t>
            </a:r>
            <a:r>
              <a:rPr lang="ko-KR" altLang="en-US" sz="1200" dirty="0"/>
              <a:t>의</a:t>
            </a:r>
            <a:r>
              <a:rPr lang="en-US" altLang="ko-KR" sz="1200" dirty="0"/>
              <a:t>3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r>
              <a:rPr lang="ko-KR" altLang="en-US" sz="1200" dirty="0"/>
              <a:t>을 제출하지 아니한 경우</a:t>
            </a:r>
            <a:r>
              <a:rPr lang="en-US" altLang="ko-KR" sz="1200" dirty="0"/>
              <a:t>(</a:t>
            </a:r>
            <a:r>
              <a:rPr lang="ko-KR" altLang="en-US" sz="1200" dirty="0"/>
              <a:t>외국어특허출원의 경우로 한정한다</a:t>
            </a:r>
            <a:r>
              <a:rPr lang="en-US" altLang="ko-KR" sz="1200" dirty="0"/>
              <a:t>) </a:t>
            </a:r>
            <a:r>
              <a:rPr lang="ko-KR" altLang="en-US" sz="1200" dirty="0"/>
              <a:t>심사청구 不可</a:t>
            </a:r>
            <a:endParaRPr lang="ko-KR" altLang="en-US" sz="1050" dirty="0"/>
          </a:p>
        </p:txBody>
      </p:sp>
      <p:cxnSp>
        <p:nvCxnSpPr>
          <p:cNvPr id="30" name="직선 연결선 29"/>
          <p:cNvCxnSpPr>
            <a:stCxn id="71" idx="1"/>
          </p:cNvCxnSpPr>
          <p:nvPr/>
        </p:nvCxnSpPr>
        <p:spPr>
          <a:xfrm flipH="1">
            <a:off x="1876550" y="1944626"/>
            <a:ext cx="105397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48000" y="3624202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방식심사</a:t>
            </a:r>
            <a:endParaRPr lang="ko-KR" alt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9153775" y="3614677"/>
            <a:ext cx="1657100" cy="32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방식심사</a:t>
            </a:r>
            <a:endParaRPr lang="ko-KR" altLang="en-US" sz="1400" dirty="0"/>
          </a:p>
        </p:txBody>
      </p:sp>
      <p:sp>
        <p:nvSpPr>
          <p:cNvPr id="41" name="모서리가 둥근 사각형 설명선 40"/>
          <p:cNvSpPr/>
          <p:nvPr/>
        </p:nvSpPr>
        <p:spPr>
          <a:xfrm>
            <a:off x="2968626" y="2601250"/>
            <a:ext cx="2670175" cy="395040"/>
          </a:xfrm>
          <a:prstGeom prst="wedgeRoundRectCallout">
            <a:avLst>
              <a:gd name="adj1" fmla="val -58429"/>
              <a:gd name="adj2" fmla="val -3635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출원서에</a:t>
            </a:r>
            <a:r>
              <a:rPr lang="ko-KR" altLang="en-US" sz="1200" dirty="0">
                <a:solidFill>
                  <a:schemeClr val="tx1"/>
                </a:solidFill>
              </a:rPr>
              <a:t> 취지 기재하고 생략 가능</a:t>
            </a:r>
          </a:p>
        </p:txBody>
      </p:sp>
      <p:cxnSp>
        <p:nvCxnSpPr>
          <p:cNvPr id="51" name="꺾인 연결선 50"/>
          <p:cNvCxnSpPr>
            <a:stCxn id="37" idx="1"/>
            <a:endCxn id="59" idx="1"/>
          </p:cNvCxnSpPr>
          <p:nvPr/>
        </p:nvCxnSpPr>
        <p:spPr>
          <a:xfrm rot="10800000" flipV="1">
            <a:off x="1048000" y="2450500"/>
            <a:ext cx="12700" cy="3302169"/>
          </a:xfrm>
          <a:prstGeom prst="bentConnector3">
            <a:avLst>
              <a:gd name="adj1" fmla="val 392571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62" idx="3"/>
            <a:endCxn id="69" idx="3"/>
          </p:cNvCxnSpPr>
          <p:nvPr/>
        </p:nvCxnSpPr>
        <p:spPr>
          <a:xfrm>
            <a:off x="10810875" y="2450501"/>
            <a:ext cx="12700" cy="3302169"/>
          </a:xfrm>
          <a:prstGeom prst="bentConnector3">
            <a:avLst>
              <a:gd name="adj1" fmla="val 66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163174" y="4169332"/>
            <a:ext cx="952500" cy="419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심사청구</a:t>
            </a:r>
            <a:endParaRPr lang="en-US" altLang="ko-KR" sz="1200" dirty="0"/>
          </a:p>
          <a:p>
            <a:pPr algn="ctr"/>
            <a:r>
              <a:rPr lang="ko-KR" altLang="en-US" sz="1200" dirty="0"/>
              <a:t>순서</a:t>
            </a:r>
          </a:p>
        </p:txBody>
      </p:sp>
      <p:cxnSp>
        <p:nvCxnSpPr>
          <p:cNvPr id="89" name="꺾인 연결선 88"/>
          <p:cNvCxnSpPr>
            <a:stCxn id="68" idx="3"/>
            <a:endCxn id="69" idx="0"/>
          </p:cNvCxnSpPr>
          <p:nvPr/>
        </p:nvCxnSpPr>
        <p:spPr>
          <a:xfrm flipH="1">
            <a:off x="9982325" y="4971620"/>
            <a:ext cx="828550" cy="618695"/>
          </a:xfrm>
          <a:prstGeom prst="bentConnector4">
            <a:avLst>
              <a:gd name="adj1" fmla="val -27590"/>
              <a:gd name="adj2" fmla="val 6312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0839450" y="5113311"/>
            <a:ext cx="609600" cy="183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/>
              <a:t>3</a:t>
            </a:r>
            <a:r>
              <a:rPr lang="ko-KR" altLang="en-US" sz="1200" dirty="0"/>
              <a:t>개월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05501" y="4617100"/>
            <a:ext cx="4919725" cy="1209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/>
              <a:t>명세서에 청구범위를 적지 아니하거나 국어번역문을 제출하지 아니한 경우</a:t>
            </a:r>
            <a:r>
              <a:rPr lang="en-US" altLang="ko-KR" sz="1200" dirty="0"/>
              <a:t>(</a:t>
            </a:r>
            <a:r>
              <a:rPr lang="ko-KR" altLang="en-US" sz="1200" dirty="0"/>
              <a:t>외국어특허출원의 경우로 한정한다</a:t>
            </a:r>
            <a:r>
              <a:rPr lang="en-US" altLang="ko-KR" sz="1200" dirty="0"/>
              <a:t>)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</a:t>
            </a:r>
            <a:r>
              <a:rPr lang="ko-KR" altLang="en-US" sz="1200" dirty="0" err="1"/>
              <a:t>출원심사</a:t>
            </a:r>
            <a:r>
              <a:rPr lang="ko-KR" altLang="en-US" sz="1200" dirty="0"/>
              <a:t> 청구의 취지를 </a:t>
            </a:r>
            <a:r>
              <a:rPr lang="ko-KR" altLang="en-US" sz="1200" dirty="0" err="1"/>
              <a:t>통지받은</a:t>
            </a:r>
            <a:r>
              <a:rPr lang="ko-KR" altLang="en-US" sz="1200" dirty="0"/>
              <a:t> 날부터 </a:t>
            </a:r>
            <a:r>
              <a:rPr lang="en-US" altLang="ko-KR" sz="1200" dirty="0"/>
              <a:t>3</a:t>
            </a:r>
            <a:r>
              <a:rPr lang="ko-KR" altLang="en-US" sz="1200" dirty="0"/>
              <a:t>개월이 되는 날 또는 출원일</a:t>
            </a:r>
            <a:r>
              <a:rPr lang="en-US" altLang="ko-KR" sz="1200" dirty="0"/>
              <a:t>(</a:t>
            </a:r>
            <a:r>
              <a:rPr lang="ko-KR" altLang="en-US" sz="1200" dirty="0"/>
              <a:t>우선권주장의 경우 최우선일</a:t>
            </a:r>
            <a:r>
              <a:rPr lang="en-US" altLang="ko-KR" sz="1200" dirty="0"/>
              <a:t>)</a:t>
            </a:r>
            <a:r>
              <a:rPr lang="ko-KR" altLang="en-US" sz="1200" dirty="0"/>
              <a:t>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개월이 되는 날 중 빠른 날까지 명세서에 청구범위를 적는 보정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42</a:t>
            </a:r>
            <a:r>
              <a:rPr lang="ko-KR" altLang="en-US" sz="1200" dirty="0"/>
              <a:t>의</a:t>
            </a:r>
            <a:r>
              <a:rPr lang="en-US" altLang="ko-KR" sz="1200" dirty="0"/>
              <a:t>2</a:t>
            </a:r>
            <a:r>
              <a:rPr lang="ko-KR" altLang="en-US" sz="1200" dirty="0"/>
              <a:t>②</a:t>
            </a:r>
            <a:r>
              <a:rPr lang="en-US" altLang="ko-KR" sz="1200" dirty="0"/>
              <a:t>) /</a:t>
            </a:r>
            <a:r>
              <a:rPr lang="ko-KR" altLang="en-US" sz="1200" dirty="0" err="1"/>
              <a:t>국어번역문</a:t>
            </a:r>
            <a:r>
              <a:rPr lang="ko-KR" altLang="en-US" sz="1200" dirty="0"/>
              <a:t> 제출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42</a:t>
            </a:r>
            <a:r>
              <a:rPr lang="ko-KR" altLang="en-US" sz="1200" dirty="0"/>
              <a:t>의</a:t>
            </a:r>
            <a:r>
              <a:rPr lang="en-US" altLang="ko-KR" sz="1200" dirty="0"/>
              <a:t>3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r>
              <a:rPr lang="ko-KR" altLang="en-US" sz="1200" dirty="0"/>
              <a:t>하지 않으면 출원 취하 간주</a:t>
            </a:r>
            <a:endParaRPr lang="ko-KR" altLang="en-US" sz="1050" dirty="0"/>
          </a:p>
        </p:txBody>
      </p:sp>
      <p:cxnSp>
        <p:nvCxnSpPr>
          <p:cNvPr id="93" name="직선 연결선 92"/>
          <p:cNvCxnSpPr>
            <a:stCxn id="92" idx="3"/>
          </p:cNvCxnSpPr>
          <p:nvPr/>
        </p:nvCxnSpPr>
        <p:spPr>
          <a:xfrm>
            <a:off x="8325226" y="5221848"/>
            <a:ext cx="16570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249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356855-1012-48D4-8882-297DEB2148A1}"/>
              </a:ext>
            </a:extLst>
          </p:cNvPr>
          <p:cNvSpPr txBox="1"/>
          <p:nvPr/>
        </p:nvSpPr>
        <p:spPr>
          <a:xfrm>
            <a:off x="58304" y="3972048"/>
            <a:ext cx="952500" cy="419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심사청구</a:t>
            </a:r>
            <a:endParaRPr lang="en-US" altLang="ko-KR" sz="1200" dirty="0"/>
          </a:p>
          <a:p>
            <a:pPr algn="ctr"/>
            <a:r>
              <a:rPr lang="ko-KR" altLang="en-US" sz="1200" dirty="0"/>
              <a:t>순서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D7FEA-BFAD-09C0-BFA9-32F30FBAD3E7}"/>
              </a:ext>
            </a:extLst>
          </p:cNvPr>
          <p:cNvSpPr txBox="1"/>
          <p:nvPr/>
        </p:nvSpPr>
        <p:spPr>
          <a:xfrm>
            <a:off x="733412" y="1858647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7AF61-A5EA-DB48-8AB4-06C81572043E}"/>
              </a:ext>
            </a:extLst>
          </p:cNvPr>
          <p:cNvSpPr txBox="1"/>
          <p:nvPr/>
        </p:nvSpPr>
        <p:spPr>
          <a:xfrm>
            <a:off x="2717799" y="4017950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0FA0C-A2F3-C255-6F89-2136569906BE}"/>
              </a:ext>
            </a:extLst>
          </p:cNvPr>
          <p:cNvSpPr txBox="1"/>
          <p:nvPr/>
        </p:nvSpPr>
        <p:spPr>
          <a:xfrm>
            <a:off x="7986140" y="4017950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CF62C-1CCD-AC82-E223-1E9B5CE48C58}"/>
              </a:ext>
            </a:extLst>
          </p:cNvPr>
          <p:cNvSpPr txBox="1"/>
          <p:nvPr/>
        </p:nvSpPr>
        <p:spPr>
          <a:xfrm>
            <a:off x="10428156" y="4493021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3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410717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양쪽 모서리가 둥근 사각형 60"/>
          <p:cNvSpPr/>
          <p:nvPr/>
        </p:nvSpPr>
        <p:spPr>
          <a:xfrm>
            <a:off x="1619250" y="3149301"/>
            <a:ext cx="5019675" cy="72881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양쪽 모서리가 둥근 사각형 5"/>
          <p:cNvSpPr/>
          <p:nvPr/>
        </p:nvSpPr>
        <p:spPr>
          <a:xfrm>
            <a:off x="4997720" y="3883142"/>
            <a:ext cx="3450956" cy="519042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확대된 선출원과 출원공개제도를 활용한 심사청구제도 운영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752475" y="3887200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2784962" y="3758044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84963" y="3320973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784963" y="3515891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109115" y="3758044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 공개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813965" y="3758044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</a:rPr>
              <a:t>실체심사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442365" y="3758044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심사청구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042012" y="3758044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 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42013" y="3320973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042013" y="3515891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9518815" y="3758044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 보정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9518816" y="3320973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9518816" y="3515891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156939" y="4459334"/>
            <a:ext cx="1149059" cy="194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심사청구순서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554557" y="2907148"/>
            <a:ext cx="1149059" cy="194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cxnSp>
        <p:nvCxnSpPr>
          <p:cNvPr id="64" name="직선 연결선 63"/>
          <p:cNvCxnSpPr/>
          <p:nvPr/>
        </p:nvCxnSpPr>
        <p:spPr>
          <a:xfrm>
            <a:off x="0" y="27998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875" y="976902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甲 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의 보정유무에 따라 乙 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이 선출원주의에 위반되는지 상관없이 甲 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의 공개를 요건으로 甲 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의 출원일의 다음날부터 출원공개 전 사이에서 선출원의 범위를 청구범위</a:t>
            </a:r>
            <a:r>
              <a:rPr lang="en-US" altLang="ko-KR" sz="1400" dirty="0">
                <a:solidFill>
                  <a:schemeClr val="tx2"/>
                </a:solidFill>
              </a:rPr>
              <a:t>(A)</a:t>
            </a:r>
            <a:r>
              <a:rPr lang="ko-KR" altLang="en-US" sz="1400" dirty="0">
                <a:solidFill>
                  <a:schemeClr val="tx2"/>
                </a:solidFill>
              </a:rPr>
              <a:t>로부터 최초 명세서 또는 도면</a:t>
            </a:r>
            <a:r>
              <a:rPr lang="en-US" altLang="ko-KR" sz="1400" dirty="0">
                <a:solidFill>
                  <a:schemeClr val="tx2"/>
                </a:solidFill>
              </a:rPr>
              <a:t>(A, B)</a:t>
            </a:r>
            <a:r>
              <a:rPr lang="ko-KR" altLang="en-US" sz="1400" dirty="0">
                <a:solidFill>
                  <a:schemeClr val="tx2"/>
                </a:solidFill>
              </a:rPr>
              <a:t>의 범위로 확대하여 먼저 심사청구한 </a:t>
            </a:r>
            <a:r>
              <a:rPr lang="ko-KR" altLang="en-US" sz="1400" dirty="0" err="1">
                <a:solidFill>
                  <a:schemeClr val="tx2"/>
                </a:solidFill>
              </a:rPr>
              <a:t>후출원인</a:t>
            </a:r>
            <a:r>
              <a:rPr lang="ko-KR" altLang="en-US" sz="1400" dirty="0">
                <a:solidFill>
                  <a:schemeClr val="tx2"/>
                </a:solidFill>
              </a:rPr>
              <a:t> 乙 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을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위반으로 </a:t>
            </a:r>
            <a:r>
              <a:rPr lang="ko-KR" altLang="en-US" sz="1400" dirty="0" err="1">
                <a:solidFill>
                  <a:schemeClr val="tx2"/>
                </a:solidFill>
              </a:rPr>
              <a:t>거절시킴으로써</a:t>
            </a:r>
            <a:r>
              <a:rPr lang="ko-KR" altLang="en-US" sz="1400" dirty="0">
                <a:solidFill>
                  <a:schemeClr val="tx2"/>
                </a:solidFill>
              </a:rPr>
              <a:t> 심사청구순서에 따라 실체심사를 진행한다는 </a:t>
            </a:r>
            <a:r>
              <a:rPr lang="ko-KR" altLang="en-US" sz="1400" dirty="0">
                <a:highlight>
                  <a:srgbClr val="FFFF00"/>
                </a:highlight>
              </a:rPr>
              <a:t>심사청구제도를 효율적으로 운용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년이 되기 전 특허결정을 하는 경우 심사관은 특허결정을 하되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조약우선권주장출원의</a:t>
            </a:r>
            <a:r>
              <a:rPr lang="ko-KR" altLang="en-US" sz="1400" dirty="0">
                <a:solidFill>
                  <a:schemeClr val="tx2"/>
                </a:solidFill>
              </a:rPr>
              <a:t> 우선기간</a:t>
            </a:r>
            <a:r>
              <a:rPr lang="en-US" altLang="ko-KR" sz="1400" dirty="0">
                <a:solidFill>
                  <a:schemeClr val="tx2"/>
                </a:solidFill>
              </a:rPr>
              <a:t>(1</a:t>
            </a:r>
            <a:r>
              <a:rPr lang="ko-KR" altLang="en-US" sz="1400" dirty="0">
                <a:solidFill>
                  <a:schemeClr val="tx2"/>
                </a:solidFill>
              </a:rPr>
              <a:t>년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고려하여 선출원주의 위반 여부를 판단할 수 없다는 단서를 붙이고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되기 전 특허결정을 하는 경우에는 심사관은 선출원의 공개 여부가 불명확하기 때문에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위반을 판단할 수 없다는 단서를 붙이고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en-US" altLang="ko-KR" sz="1400" dirty="0"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highlight>
                  <a:srgbClr val="FFFF00"/>
                </a:highlight>
              </a:rPr>
              <a:t>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년이 지나기 전 특허결정을 할 때는 선출원주의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확대된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</a:t>
            </a:r>
            <a:r>
              <a:rPr lang="ko-KR" altLang="en-US" sz="1400" dirty="0">
                <a:highlight>
                  <a:srgbClr val="FFFF00"/>
                </a:highlight>
              </a:rPr>
              <a:t> 위반 여부를 판단할 수 없다는</a:t>
            </a:r>
            <a:r>
              <a:rPr lang="en-US" altLang="ko-KR" sz="1400" dirty="0">
                <a:highlight>
                  <a:srgbClr val="FFFF00"/>
                </a:highlight>
              </a:rPr>
              <a:t>, ⅱ) </a:t>
            </a:r>
            <a:r>
              <a:rPr lang="ko-KR" altLang="en-US" sz="1400" dirty="0">
                <a:highlight>
                  <a:srgbClr val="FFFF00"/>
                </a:highlight>
              </a:rPr>
              <a:t>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년이 지난 후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 </a:t>
            </a:r>
            <a:r>
              <a:rPr lang="en-US" altLang="ko-KR" sz="1400" dirty="0">
                <a:highlight>
                  <a:srgbClr val="FFFF00"/>
                </a:highlight>
              </a:rPr>
              <a:t>6</a:t>
            </a:r>
            <a:r>
              <a:rPr lang="ko-KR" altLang="en-US" sz="1400" dirty="0">
                <a:highlight>
                  <a:srgbClr val="FFFF00"/>
                </a:highlight>
              </a:rPr>
              <a:t>개월이 지나기 전 특허결정을 할 때는 확대된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</a:t>
            </a:r>
            <a:r>
              <a:rPr lang="ko-KR" altLang="en-US" sz="1400" dirty="0">
                <a:highlight>
                  <a:srgbClr val="FFFF00"/>
                </a:highlight>
              </a:rPr>
              <a:t> 위반 여부를 판단할 수 없다는 단서</a:t>
            </a:r>
            <a:r>
              <a:rPr lang="ko-KR" altLang="en-US" sz="1400" dirty="0">
                <a:solidFill>
                  <a:schemeClr val="tx2"/>
                </a:solidFill>
              </a:rPr>
              <a:t>를 붙이고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심사관이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이 있음을 발견한 경우에는 선출원이 출원공개 또는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등록공고될</a:t>
            </a:r>
            <a:r>
              <a:rPr lang="ko-KR" altLang="en-US" sz="1400" dirty="0">
                <a:solidFill>
                  <a:schemeClr val="tx2"/>
                </a:solidFill>
              </a:rPr>
              <a:t> 때까지 심사를 보류하게 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</a:rPr>
              <a:t>40</a:t>
            </a:r>
            <a:r>
              <a:rPr lang="ko-KR" altLang="en-US" sz="1400" dirty="0">
                <a:solidFill>
                  <a:schemeClr val="tx2"/>
                </a:solidFill>
              </a:rPr>
              <a:t>본문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250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5EDDAB-C0AA-4F61-9050-F23FDE1ACF50}"/>
              </a:ext>
            </a:extLst>
          </p:cNvPr>
          <p:cNvCxnSpPr/>
          <p:nvPr/>
        </p:nvCxnSpPr>
        <p:spPr>
          <a:xfrm>
            <a:off x="77875" y="4728754"/>
            <a:ext cx="1211412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양쪽 모서리가 둥근 사각형 60">
            <a:extLst>
              <a:ext uri="{FF2B5EF4-FFF2-40B4-BE49-F238E27FC236}">
                <a16:creationId xmlns:a16="http://schemas.microsoft.com/office/drawing/2014/main" id="{57C78D84-C23F-42A3-93B9-A7224F75E430}"/>
              </a:ext>
            </a:extLst>
          </p:cNvPr>
          <p:cNvSpPr/>
          <p:nvPr/>
        </p:nvSpPr>
        <p:spPr>
          <a:xfrm>
            <a:off x="1619250" y="5168673"/>
            <a:ext cx="8465276" cy="72881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양쪽 모서리가 둥근 사각형 5">
            <a:extLst>
              <a:ext uri="{FF2B5EF4-FFF2-40B4-BE49-F238E27FC236}">
                <a16:creationId xmlns:a16="http://schemas.microsoft.com/office/drawing/2014/main" id="{EF12874C-A031-4B6C-8425-E2DD5F32D93A}"/>
              </a:ext>
            </a:extLst>
          </p:cNvPr>
          <p:cNvSpPr/>
          <p:nvPr/>
        </p:nvSpPr>
        <p:spPr>
          <a:xfrm>
            <a:off x="4997720" y="5902514"/>
            <a:ext cx="3450956" cy="519042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D625EB-1736-4C5A-928C-1D1DD26AEAA4}"/>
              </a:ext>
            </a:extLst>
          </p:cNvPr>
          <p:cNvCxnSpPr/>
          <p:nvPr/>
        </p:nvCxnSpPr>
        <p:spPr>
          <a:xfrm>
            <a:off x="752475" y="5906572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64BB94-1BD9-4A73-83BE-86236623960B}"/>
              </a:ext>
            </a:extLst>
          </p:cNvPr>
          <p:cNvSpPr/>
          <p:nvPr/>
        </p:nvSpPr>
        <p:spPr>
          <a:xfrm>
            <a:off x="2784962" y="5777416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9FEDD09-D265-482C-B9F9-CCED5BF53268}"/>
              </a:ext>
            </a:extLst>
          </p:cNvPr>
          <p:cNvSpPr/>
          <p:nvPr/>
        </p:nvSpPr>
        <p:spPr>
          <a:xfrm>
            <a:off x="2784963" y="5340345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DD220C2-8876-4DAC-AA1D-ACF066FF1429}"/>
              </a:ext>
            </a:extLst>
          </p:cNvPr>
          <p:cNvSpPr/>
          <p:nvPr/>
        </p:nvSpPr>
        <p:spPr>
          <a:xfrm>
            <a:off x="2784963" y="5535263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D3F878-A60A-4C8B-8383-1E23AA0CC957}"/>
              </a:ext>
            </a:extLst>
          </p:cNvPr>
          <p:cNvSpPr/>
          <p:nvPr/>
        </p:nvSpPr>
        <p:spPr>
          <a:xfrm>
            <a:off x="9509995" y="5777416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 공개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1C9490-74DE-488A-8636-151995D0AFA4}"/>
              </a:ext>
            </a:extLst>
          </p:cNvPr>
          <p:cNvSpPr/>
          <p:nvPr/>
        </p:nvSpPr>
        <p:spPr>
          <a:xfrm>
            <a:off x="7813965" y="5777416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</a:rPr>
              <a:t>실체심사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500309D-F660-4A8D-88C6-2AA2CD5BE792}"/>
              </a:ext>
            </a:extLst>
          </p:cNvPr>
          <p:cNvSpPr/>
          <p:nvPr/>
        </p:nvSpPr>
        <p:spPr>
          <a:xfrm>
            <a:off x="4442365" y="5777416"/>
            <a:ext cx="1149061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심사청구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7BA7F-827E-4D7A-90BA-6970CED5DD47}"/>
              </a:ext>
            </a:extLst>
          </p:cNvPr>
          <p:cNvSpPr/>
          <p:nvPr/>
        </p:nvSpPr>
        <p:spPr>
          <a:xfrm>
            <a:off x="1042012" y="5777416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 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C5BB15-845B-418A-B5CC-D4CA8BEF3387}"/>
              </a:ext>
            </a:extLst>
          </p:cNvPr>
          <p:cNvSpPr/>
          <p:nvPr/>
        </p:nvSpPr>
        <p:spPr>
          <a:xfrm>
            <a:off x="1042013" y="5340345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CC6F9B6-7AF0-47F7-ABB0-7308DBF72E2D}"/>
              </a:ext>
            </a:extLst>
          </p:cNvPr>
          <p:cNvSpPr/>
          <p:nvPr/>
        </p:nvSpPr>
        <p:spPr>
          <a:xfrm>
            <a:off x="1042013" y="5535263"/>
            <a:ext cx="1149059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B13A7AF-7415-4581-9DA3-5034AFB200A5}"/>
              </a:ext>
            </a:extLst>
          </p:cNvPr>
          <p:cNvSpPr/>
          <p:nvPr/>
        </p:nvSpPr>
        <p:spPr>
          <a:xfrm>
            <a:off x="6156939" y="6478706"/>
            <a:ext cx="1149059" cy="194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심사청구순서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62E8898-4897-4E3C-ACE6-BB9A31D91A1F}"/>
              </a:ext>
            </a:extLst>
          </p:cNvPr>
          <p:cNvSpPr/>
          <p:nvPr/>
        </p:nvSpPr>
        <p:spPr>
          <a:xfrm>
            <a:off x="5277358" y="4926447"/>
            <a:ext cx="1149059" cy="194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A12A0-5DF7-4E62-B006-1DC626593609}"/>
              </a:ext>
            </a:extLst>
          </p:cNvPr>
          <p:cNvSpPr txBox="1"/>
          <p:nvPr/>
        </p:nvSpPr>
        <p:spPr>
          <a:xfrm>
            <a:off x="8564959" y="6149454"/>
            <a:ext cx="2899059" cy="646986"/>
          </a:xfrm>
          <a:prstGeom prst="wedgeRoundRectCallout">
            <a:avLst>
              <a:gd name="adj1" fmla="val -35819"/>
              <a:gd name="adj2" fmla="val -6716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선출원</a:t>
            </a:r>
            <a:r>
              <a:rPr lang="en-US" altLang="ko-KR" sz="1600" dirty="0">
                <a:solidFill>
                  <a:srgbClr val="FF0000"/>
                </a:solidFill>
              </a:rPr>
              <a:t>(X)</a:t>
            </a:r>
            <a:r>
              <a:rPr lang="ko-KR" altLang="en-US" sz="1600" dirty="0">
                <a:solidFill>
                  <a:srgbClr val="FF0000"/>
                </a:solidFill>
              </a:rPr>
              <a:t> 발견한 경우 심사보류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,</a:t>
            </a:r>
            <a:r>
              <a:rPr lang="ko-KR" altLang="en-US" sz="1600" dirty="0">
                <a:solidFill>
                  <a:srgbClr val="FF0000"/>
                </a:solidFill>
              </a:rPr>
              <a:t> 발견하지 못한 경우 특허결정</a:t>
            </a:r>
          </a:p>
        </p:txBody>
      </p:sp>
    </p:spTree>
    <p:extLst>
      <p:ext uri="{BB962C8B-B14F-4D97-AF65-F5344CB8AC3E}">
        <p14:creationId xmlns:p14="http://schemas.microsoft.com/office/powerpoint/2010/main" val="41393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우선심사신청사유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한양신명조" panose="0203060000010101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875" y="948974"/>
            <a:ext cx="5970500" cy="823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950" b="1" dirty="0">
                <a:solidFill>
                  <a:schemeClr val="accent1"/>
                </a:solidFill>
              </a:rPr>
              <a:t>특허법 제</a:t>
            </a:r>
            <a:r>
              <a:rPr lang="en-US" altLang="ko-KR" sz="950" b="1" dirty="0">
                <a:solidFill>
                  <a:schemeClr val="accent1"/>
                </a:solidFill>
              </a:rPr>
              <a:t>61</a:t>
            </a:r>
            <a:r>
              <a:rPr lang="ko-KR" altLang="en-US" sz="950" b="1" dirty="0">
                <a:solidFill>
                  <a:schemeClr val="accent1"/>
                </a:solidFill>
              </a:rPr>
              <a:t>조</a:t>
            </a:r>
            <a:r>
              <a:rPr lang="en-US" altLang="ko-KR" sz="950" b="1" dirty="0">
                <a:solidFill>
                  <a:schemeClr val="accent1"/>
                </a:solidFill>
              </a:rPr>
              <a:t>(</a:t>
            </a:r>
            <a:r>
              <a:rPr lang="ko-KR" altLang="en-US" sz="950" b="1" dirty="0">
                <a:solidFill>
                  <a:schemeClr val="accent1"/>
                </a:solidFill>
              </a:rPr>
              <a:t>우선심사</a:t>
            </a:r>
            <a:r>
              <a:rPr lang="en-US" altLang="ko-KR" sz="950" b="1" dirty="0">
                <a:solidFill>
                  <a:schemeClr val="accent1"/>
                </a:solidFill>
              </a:rPr>
              <a:t>)</a:t>
            </a:r>
            <a:r>
              <a:rPr lang="en-US" altLang="ko-KR" sz="950" dirty="0">
                <a:solidFill>
                  <a:schemeClr val="accent1"/>
                </a:solidFill>
              </a:rPr>
              <a:t> </a:t>
            </a:r>
            <a:r>
              <a:rPr lang="ko-KR" altLang="en-US" sz="950" dirty="0">
                <a:solidFill>
                  <a:schemeClr val="tx2"/>
                </a:solidFill>
              </a:rPr>
              <a:t>지식재산처장은 다음 각 호의 어느 하나에 해당하는 특허출원에 대해서는 심사관에게 다른 특허출원에 우선하여 심사하게 할 수 있다</a:t>
            </a:r>
            <a:r>
              <a:rPr lang="en-US" altLang="ko-KR" sz="950" dirty="0">
                <a:solidFill>
                  <a:schemeClr val="tx2"/>
                </a:solidFill>
              </a:rPr>
              <a:t>.</a:t>
            </a:r>
          </a:p>
          <a:p>
            <a:pPr algn="just" fontAlgn="base"/>
            <a:r>
              <a:rPr lang="en-US" altLang="ko-KR" sz="950" dirty="0">
                <a:solidFill>
                  <a:schemeClr val="tx2"/>
                </a:solidFill>
              </a:rPr>
              <a:t>1.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64</a:t>
            </a:r>
            <a:r>
              <a:rPr lang="ko-KR" altLang="en-US" sz="950" dirty="0">
                <a:solidFill>
                  <a:schemeClr val="tx2"/>
                </a:solidFill>
              </a:rPr>
              <a:t>조에 따른 </a:t>
            </a:r>
            <a:r>
              <a:rPr lang="ko-KR" altLang="en-US" sz="950" dirty="0" err="1">
                <a:solidFill>
                  <a:schemeClr val="tx2"/>
                </a:solidFill>
              </a:rPr>
              <a:t>출원공개</a:t>
            </a:r>
            <a:r>
              <a:rPr lang="ko-KR" altLang="en-US" sz="950" dirty="0">
                <a:solidFill>
                  <a:schemeClr val="tx2"/>
                </a:solidFill>
              </a:rPr>
              <a:t> 후 특허출원인이 아닌 자가 업</a:t>
            </a:r>
            <a:r>
              <a:rPr lang="en-US" altLang="ko-KR" sz="950" dirty="0">
                <a:solidFill>
                  <a:schemeClr val="tx2"/>
                </a:solidFill>
              </a:rPr>
              <a:t>(</a:t>
            </a:r>
            <a:r>
              <a:rPr lang="ko-KR" altLang="en-US" sz="950" dirty="0">
                <a:solidFill>
                  <a:schemeClr val="tx2"/>
                </a:solidFill>
              </a:rPr>
              <a:t>業</a:t>
            </a:r>
            <a:r>
              <a:rPr lang="en-US" altLang="ko-KR" sz="950" dirty="0">
                <a:solidFill>
                  <a:schemeClr val="tx2"/>
                </a:solidFill>
              </a:rPr>
              <a:t>)</a:t>
            </a:r>
            <a:r>
              <a:rPr lang="ko-KR" altLang="en-US" sz="950" dirty="0">
                <a:solidFill>
                  <a:schemeClr val="tx2"/>
                </a:solidFill>
              </a:rPr>
              <a:t>으로서 </a:t>
            </a:r>
            <a:r>
              <a:rPr lang="ko-KR" altLang="en-US" sz="95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950" dirty="0">
                <a:solidFill>
                  <a:schemeClr val="tx2"/>
                </a:solidFill>
              </a:rPr>
              <a:t> 발명을 실시하고 있다고 인정되는 경우</a:t>
            </a:r>
          </a:p>
          <a:p>
            <a:pPr algn="just" fontAlgn="base"/>
            <a:r>
              <a:rPr lang="en-US" altLang="ko-KR" sz="950" dirty="0">
                <a:solidFill>
                  <a:schemeClr val="tx2"/>
                </a:solidFill>
              </a:rPr>
              <a:t>2. </a:t>
            </a:r>
            <a:r>
              <a:rPr lang="ko-KR" altLang="en-US" sz="950" dirty="0">
                <a:solidFill>
                  <a:schemeClr val="tx2"/>
                </a:solidFill>
              </a:rPr>
              <a:t>대통령령으로 정하는 </a:t>
            </a:r>
            <a:r>
              <a:rPr lang="ko-KR" altLang="en-US" sz="950" dirty="0" err="1">
                <a:solidFill>
                  <a:schemeClr val="tx2"/>
                </a:solidFill>
              </a:rPr>
              <a:t>특허출원으로서</a:t>
            </a:r>
            <a:r>
              <a:rPr lang="ko-KR" altLang="en-US" sz="950" dirty="0">
                <a:solidFill>
                  <a:schemeClr val="tx2"/>
                </a:solidFill>
              </a:rPr>
              <a:t> 긴급하게 처리할 필요가 있다고 인정되는 경우 </a:t>
            </a:r>
            <a:endParaRPr lang="en-US" altLang="ko-KR" sz="950" dirty="0">
              <a:solidFill>
                <a:schemeClr val="tx2"/>
              </a:solidFill>
            </a:endParaRPr>
          </a:p>
          <a:p>
            <a:pPr algn="just" fontAlgn="base"/>
            <a:r>
              <a:rPr lang="en-US" altLang="ko-KR" sz="950" dirty="0">
                <a:solidFill>
                  <a:schemeClr val="tx2"/>
                </a:solidFill>
              </a:rPr>
              <a:t>3. </a:t>
            </a:r>
            <a:r>
              <a:rPr lang="ko-KR" altLang="en-US" sz="950" dirty="0">
                <a:solidFill>
                  <a:schemeClr val="tx2"/>
                </a:solidFill>
              </a:rPr>
              <a:t>대통령령으로 정하는 </a:t>
            </a:r>
            <a:r>
              <a:rPr lang="ko-KR" altLang="en-US" sz="950" dirty="0" err="1">
                <a:solidFill>
                  <a:schemeClr val="tx2"/>
                </a:solidFill>
              </a:rPr>
              <a:t>특허출원으로서</a:t>
            </a:r>
            <a:r>
              <a:rPr lang="ko-KR" altLang="en-US" sz="950" dirty="0">
                <a:solidFill>
                  <a:schemeClr val="tx2"/>
                </a:solidFill>
              </a:rPr>
              <a:t> 재난의 </a:t>
            </a:r>
            <a:r>
              <a:rPr lang="ko-KR" altLang="en-US" sz="950" dirty="0" err="1">
                <a:solidFill>
                  <a:schemeClr val="tx2"/>
                </a:solidFill>
              </a:rPr>
              <a:t>예방ㆍ대응ㆍ복구</a:t>
            </a:r>
            <a:r>
              <a:rPr lang="ko-KR" altLang="en-US" sz="950" dirty="0">
                <a:solidFill>
                  <a:schemeClr val="tx2"/>
                </a:solidFill>
              </a:rPr>
              <a:t> 등에 필요하다고 인정되는 경우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75" y="1821327"/>
            <a:ext cx="5970500" cy="47705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b="1" dirty="0">
                <a:solidFill>
                  <a:schemeClr val="accent1"/>
                </a:solidFill>
                <a:latin typeface="+mn-ea"/>
              </a:rPr>
              <a:t>시행령 </a:t>
            </a:r>
            <a:r>
              <a:rPr lang="ko-KR" altLang="ko-KR" sz="950" b="1" dirty="0">
                <a:solidFill>
                  <a:schemeClr val="accent1"/>
                </a:solidFill>
                <a:latin typeface="+mn-ea"/>
              </a:rPr>
              <a:t>제9조(우선심사의 대상)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 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법 제61조제2호에서 "대통령령으로 정하는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특허출원"이란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다음 각 호의 어느 하나에 해당하는 것으로서 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지식재산처장이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정하는 특허출원을 말한다.  </a:t>
            </a:r>
            <a:endParaRPr lang="en-US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방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위산업분야의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「기후위기 대응을 위한 </a:t>
            </a:r>
            <a:r>
              <a:rPr lang="ko-KR" altLang="en-US" sz="950" dirty="0" err="1">
                <a:solidFill>
                  <a:schemeClr val="accent6">
                    <a:lumMod val="75000"/>
                  </a:schemeClr>
                </a:solidFill>
                <a:latin typeface="+mn-ea"/>
              </a:rPr>
              <a:t>탄소중립ㆍ녹색성장</a:t>
            </a:r>
            <a:r>
              <a:rPr lang="ko-KR" altLang="en-US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950" dirty="0" err="1">
                <a:solidFill>
                  <a:schemeClr val="accent6">
                    <a:lumMod val="75000"/>
                  </a:schemeClr>
                </a:solidFill>
                <a:latin typeface="+mn-ea"/>
              </a:rPr>
              <a:t>기본법」에</a:t>
            </a:r>
            <a:r>
              <a:rPr lang="ko-KR" altLang="en-US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 따른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녹</a:t>
            </a:r>
            <a:r>
              <a:rPr lang="ko-KR" altLang="en-US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색기술과 직접 관련된 특허출원</a:t>
            </a:r>
            <a:endParaRPr lang="en-US" altLang="ko-KR" sz="950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의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인공지능 또는 사물인터넷 등 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차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 산업혁명과 관련된 기술을 활용한 특허출원</a:t>
            </a:r>
            <a:endParaRPr lang="en-US" altLang="ko-KR" sz="950" dirty="0">
              <a:solidFill>
                <a:schemeClr val="accent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의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3. 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반도체 등 국민경제 및 국가경쟁력 강화에 중요한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첨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단기술과 관련된 특허출원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지식재산처장이 우선심사의 구체적인 대상과 신청 기간을 정하여 공고하는 특허출원으로 한정한다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)</a:t>
            </a:r>
            <a:endParaRPr lang="ko-KR" altLang="ko-KR" sz="950" dirty="0">
              <a:solidFill>
                <a:schemeClr val="accent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ko-KR" sz="950" dirty="0" err="1">
                <a:solidFill>
                  <a:srgbClr val="FF0000"/>
                </a:solidFill>
                <a:latin typeface="+mn-ea"/>
              </a:rPr>
              <a:t>수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출촉진에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직접 관련된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국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가 또는 지방자치단체의 직무에 관한 특허출원(「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고등교육법」에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따른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국·공립학교의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직무에 관한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특허출원으로서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「기술의 이전 및 사업화 촉진에 관한 법률」 제11조제1항에 따라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국·공립학교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안에 설치된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기술이전·사업화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전담조직에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의한 특허출원을 포함한다)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5. 「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벤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처기업육성에 관한 특별법」 제25조에 따른 벤처기업의 확인을 받은 기업의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5의2. 「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중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소기업기술혁신 촉진법」 제15조에 따라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기술혁신형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중소기업으로 선정된 기업의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5의3. 「발명진흥법」 제11조의2에 따라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직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무발명보상 우수기업으로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인증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된 기업의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5의4. 「발명진흥법」 제24조의2에 따라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지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식재산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경영인증을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받은 중소기업의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6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.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「과학기술기본법」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 따른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국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가연구개발사업의 결과물에 관한 특허출원</a:t>
            </a:r>
            <a:endParaRPr lang="ko-KR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7.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조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약에 의한 우선권주장의 기초가 되는 특허출원(당해 특허출원을 기초로 하는 우선권주장에 의하여 외국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특허담당 정부기관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에서 특허에 관한 절차가 진행중인 것에 한정한다)</a:t>
            </a:r>
            <a:endParaRPr lang="en-US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7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의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법 제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198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조의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에 따라 지식재산처가 「</a:t>
            </a:r>
            <a:r>
              <a:rPr lang="ko-KR" altLang="en-US" sz="950" dirty="0" err="1">
                <a:solidFill>
                  <a:schemeClr val="accent2"/>
                </a:solidFill>
                <a:latin typeface="+mn-ea"/>
              </a:rPr>
              <a:t>특허협력조약」에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 따른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국</a:t>
            </a:r>
            <a:r>
              <a:rPr lang="ko-KR" altLang="en-US" sz="950" dirty="0">
                <a:solidFill>
                  <a:schemeClr val="accent2"/>
                </a:solidFill>
                <a:latin typeface="+mn-ea"/>
              </a:rPr>
              <a:t>제조사기관으로서 국제조사를 수행한 </a:t>
            </a:r>
            <a:r>
              <a:rPr lang="ko-KR" altLang="en-US" sz="950" dirty="0" err="1">
                <a:solidFill>
                  <a:schemeClr val="accent2"/>
                </a:solidFill>
                <a:latin typeface="+mn-ea"/>
              </a:rPr>
              <a:t>국제특허출원</a:t>
            </a:r>
            <a:endParaRPr lang="ko-KR" altLang="ko-KR" sz="950" dirty="0">
              <a:solidFill>
                <a:schemeClr val="accent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8. 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특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허출원인이 </a:t>
            </a:r>
            <a:r>
              <a:rPr lang="ko-KR" altLang="ko-KR" sz="950" dirty="0" err="1">
                <a:solidFill>
                  <a:schemeClr val="tx2"/>
                </a:solidFill>
                <a:latin typeface="+mn-ea"/>
              </a:rPr>
              <a:t>특허출원된</a:t>
            </a: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 발명을 실시하고 있거나 실시준비중인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9</a:t>
            </a:r>
            <a:r>
              <a:rPr lang="ko-KR" altLang="ko-KR" sz="95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&lt;2019. 7. 9.&gt;</a:t>
            </a:r>
            <a:endParaRPr lang="ko-KR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accent2"/>
                </a:solidFill>
                <a:latin typeface="+mn-ea"/>
              </a:rPr>
              <a:t>10.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지식재산처장이</a:t>
            </a:r>
            <a:r>
              <a:rPr lang="ko-KR" altLang="ko-KR" sz="950" dirty="0">
                <a:solidFill>
                  <a:schemeClr val="accent2"/>
                </a:solidFill>
                <a:latin typeface="+mn-ea"/>
              </a:rPr>
              <a:t> 외국</a:t>
            </a:r>
            <a:r>
              <a:rPr lang="en-US" altLang="ko-KR" sz="95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ko-KR" altLang="ko-KR" sz="950">
                <a:solidFill>
                  <a:schemeClr val="accent2"/>
                </a:solidFill>
                <a:latin typeface="+mn-ea"/>
              </a:rPr>
              <a:t>특허</a:t>
            </a:r>
            <a:r>
              <a:rPr lang="ko-KR" altLang="en-US" sz="950">
                <a:solidFill>
                  <a:schemeClr val="accent2"/>
                </a:solidFill>
                <a:latin typeface="+mn-ea"/>
              </a:rPr>
              <a:t>담당 정부기관의 </a:t>
            </a:r>
            <a:r>
              <a:rPr lang="ko-KR" altLang="ko-KR" sz="950">
                <a:solidFill>
                  <a:schemeClr val="accent2"/>
                </a:solidFill>
                <a:latin typeface="+mn-ea"/>
              </a:rPr>
              <a:t>장과 </a:t>
            </a:r>
            <a:r>
              <a:rPr lang="ko-KR" altLang="ko-KR" sz="950" dirty="0">
                <a:solidFill>
                  <a:schemeClr val="accent2"/>
                </a:solidFill>
                <a:latin typeface="+mn-ea"/>
              </a:rPr>
              <a:t>우선심사하기로 합의한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11.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&lt;2023. 12. 19.&gt;</a:t>
            </a:r>
            <a:endParaRPr lang="ko-KR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50" dirty="0">
                <a:solidFill>
                  <a:schemeClr val="tx2"/>
                </a:solidFill>
                <a:latin typeface="+mn-ea"/>
              </a:rPr>
              <a:t>12.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&lt;2023. 12. 19.&gt; 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② 법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61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호에서 “대통령령으로 정하는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특허출원”이란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다음 각 호의 어느 하나에 해당하는 특허출원을 말한다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.  &lt;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신설 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2021. 6. 22.&gt;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 1.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다음 각 목의 어느 하나에 해당하는 것으로서 지식재산처장이 정하여 고시하는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   가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「감염병의 예방 및 관리에 관한 법률」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호에 따른 </a:t>
            </a:r>
            <a:r>
              <a:rPr lang="ko-KR" altLang="en-US" sz="950" dirty="0" err="1">
                <a:solidFill>
                  <a:srgbClr val="FF0000"/>
                </a:solidFill>
                <a:latin typeface="+mn-ea"/>
              </a:rPr>
              <a:t>의료ㆍ방역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 물품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과 직접 관련된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   나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「재난안전산업 진흥법」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16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 따라 인증을 받은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재난안전제품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과 직접 관련된 특허출원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재난으로 인한 긴급한 상황에 대응하기 위해 지식재산처장이 우선심사 신청 기간을 정해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공고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한 대상에 해당하는 특허출원</a:t>
            </a:r>
            <a:endParaRPr lang="en-US" altLang="ko-KR" sz="9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122634" y="5761262"/>
            <a:ext cx="5970500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>
                <a:solidFill>
                  <a:schemeClr val="accent4">
                    <a:lumMod val="50000"/>
                  </a:schemeClr>
                </a:solidFill>
              </a:rPr>
              <a:t>1. 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첨단</a:t>
            </a:r>
            <a:r>
              <a:rPr lang="ko-KR" altLang="en-US" sz="950" dirty="0">
                <a:solidFill>
                  <a:srgbClr val="FF0000"/>
                </a:solidFill>
              </a:rPr>
              <a:t>의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료복합단지 지정 및 지원에 관한 특별법 제</a:t>
            </a:r>
            <a:r>
              <a:rPr lang="en-US" altLang="ko-KR" sz="950" dirty="0">
                <a:solidFill>
                  <a:schemeClr val="accent4">
                    <a:lumMod val="50000"/>
                  </a:schemeClr>
                </a:solidFill>
              </a:rPr>
              <a:t>26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조에 따라 규제 특례가 적용되는 입주의료연구개발기관이 제출한 첨단의료복합단지 내 의료연구개발과 관련한 특허출원</a:t>
            </a:r>
          </a:p>
          <a:p>
            <a:r>
              <a:rPr lang="en-US" altLang="ko-KR" sz="950" dirty="0">
                <a:solidFill>
                  <a:schemeClr val="accent4">
                    <a:lumMod val="50000"/>
                  </a:schemeClr>
                </a:solidFill>
              </a:rPr>
              <a:t>2. </a:t>
            </a:r>
            <a:r>
              <a:rPr lang="ko-KR" altLang="en-US" sz="950" dirty="0">
                <a:solidFill>
                  <a:srgbClr val="FF0000"/>
                </a:solidFill>
              </a:rPr>
              <a:t>규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제자유특구 및 </a:t>
            </a:r>
            <a:r>
              <a:rPr lang="ko-KR" altLang="en-US" sz="950" dirty="0" err="1">
                <a:solidFill>
                  <a:schemeClr val="accent4">
                    <a:lumMod val="50000"/>
                  </a:schemeClr>
                </a:solidFill>
              </a:rPr>
              <a:t>지역특화발전특구에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 대한 규제특례법 제</a:t>
            </a:r>
            <a:r>
              <a:rPr lang="en-US" altLang="ko-KR" sz="950" dirty="0">
                <a:solidFill>
                  <a:schemeClr val="accent4">
                    <a:lumMod val="50000"/>
                  </a:schemeClr>
                </a:solidFill>
              </a:rPr>
              <a:t>36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조의</a:t>
            </a:r>
            <a:r>
              <a:rPr lang="en-US" altLang="ko-KR" sz="950" dirty="0">
                <a:solidFill>
                  <a:schemeClr val="accent4">
                    <a:lumMod val="50000"/>
                  </a:schemeClr>
                </a:solidFill>
              </a:rPr>
              <a:t>8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에 따라 </a:t>
            </a:r>
            <a:r>
              <a:rPr lang="ko-KR" altLang="en-US" sz="950" dirty="0" err="1">
                <a:solidFill>
                  <a:schemeClr val="accent4">
                    <a:lumMod val="50000"/>
                  </a:schemeClr>
                </a:solidFill>
              </a:rPr>
              <a:t>규제특례가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 적용된 </a:t>
            </a:r>
            <a:r>
              <a:rPr lang="ko-KR" altLang="en-US" sz="950" dirty="0" err="1">
                <a:solidFill>
                  <a:schemeClr val="accent4">
                    <a:lumMod val="50000"/>
                  </a:schemeClr>
                </a:solidFill>
              </a:rPr>
              <a:t>특화사업과</a:t>
            </a:r>
            <a:r>
              <a:rPr lang="ko-KR" altLang="en-US" sz="950" dirty="0">
                <a:solidFill>
                  <a:schemeClr val="accent4">
                    <a:lumMod val="50000"/>
                  </a:schemeClr>
                </a:solidFill>
              </a:rPr>
              <a:t> 직접 관련된 특허출원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250" y="948974"/>
            <a:ext cx="5970500" cy="823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just" fontAlgn="base"/>
            <a:r>
              <a:rPr lang="ko-KR" altLang="en-US" sz="950" b="1" dirty="0" err="1">
                <a:solidFill>
                  <a:schemeClr val="accent1"/>
                </a:solidFill>
              </a:rPr>
              <a:t>실용법</a:t>
            </a:r>
            <a:r>
              <a:rPr lang="ko-KR" altLang="en-US" sz="950" b="1" dirty="0">
                <a:solidFill>
                  <a:schemeClr val="accent1"/>
                </a:solidFill>
              </a:rPr>
              <a:t> 제</a:t>
            </a:r>
            <a:r>
              <a:rPr lang="en-US" altLang="ko-KR" sz="950" b="1" dirty="0">
                <a:solidFill>
                  <a:schemeClr val="accent1"/>
                </a:solidFill>
              </a:rPr>
              <a:t>15</a:t>
            </a:r>
            <a:r>
              <a:rPr lang="ko-KR" altLang="en-US" sz="950" b="1" dirty="0">
                <a:solidFill>
                  <a:schemeClr val="accent1"/>
                </a:solidFill>
              </a:rPr>
              <a:t>조</a:t>
            </a:r>
            <a:r>
              <a:rPr lang="en-US" altLang="ko-KR" sz="950" b="1" dirty="0">
                <a:solidFill>
                  <a:schemeClr val="accent1"/>
                </a:solidFill>
              </a:rPr>
              <a:t>(</a:t>
            </a:r>
            <a:r>
              <a:rPr lang="ko-KR" altLang="en-US" sz="950" b="1" dirty="0">
                <a:solidFill>
                  <a:schemeClr val="accent1"/>
                </a:solidFill>
              </a:rPr>
              <a:t>「</a:t>
            </a:r>
            <a:r>
              <a:rPr lang="ko-KR" altLang="en-US" sz="950" b="1" dirty="0" err="1">
                <a:solidFill>
                  <a:schemeClr val="accent1"/>
                </a:solidFill>
              </a:rPr>
              <a:t>특허법」의</a:t>
            </a:r>
            <a:r>
              <a:rPr lang="ko-KR" altLang="en-US" sz="950" b="1" dirty="0">
                <a:solidFill>
                  <a:schemeClr val="accent1"/>
                </a:solidFill>
              </a:rPr>
              <a:t> 준용</a:t>
            </a:r>
            <a:r>
              <a:rPr lang="en-US" altLang="ko-KR" sz="950" b="1" dirty="0">
                <a:solidFill>
                  <a:schemeClr val="accent1"/>
                </a:solidFill>
              </a:rPr>
              <a:t>) </a:t>
            </a:r>
            <a:r>
              <a:rPr lang="ko-KR" altLang="en-US" sz="950" dirty="0">
                <a:solidFill>
                  <a:schemeClr val="tx2"/>
                </a:solidFill>
              </a:rPr>
              <a:t>실용신안등록출원의 </a:t>
            </a:r>
            <a:r>
              <a:rPr lang="ko-KR" altLang="en-US" sz="950" dirty="0" err="1">
                <a:solidFill>
                  <a:schemeClr val="tx2"/>
                </a:solidFill>
              </a:rPr>
              <a:t>심사ㆍ결정에</a:t>
            </a:r>
            <a:r>
              <a:rPr lang="ko-KR" altLang="en-US" sz="950" dirty="0">
                <a:solidFill>
                  <a:schemeClr val="tx2"/>
                </a:solidFill>
              </a:rPr>
              <a:t> 관하여는 「특허법」 제</a:t>
            </a:r>
            <a:r>
              <a:rPr lang="en-US" altLang="ko-KR" sz="950" dirty="0">
                <a:solidFill>
                  <a:schemeClr val="tx2"/>
                </a:solidFill>
              </a:rPr>
              <a:t>57</a:t>
            </a:r>
            <a:r>
              <a:rPr lang="ko-KR" altLang="en-US" sz="950" dirty="0">
                <a:solidFill>
                  <a:schemeClr val="tx2"/>
                </a:solidFill>
              </a:rPr>
              <a:t>조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58</a:t>
            </a:r>
            <a:r>
              <a:rPr lang="ko-KR" altLang="en-US" sz="950" dirty="0">
                <a:solidFill>
                  <a:schemeClr val="tx2"/>
                </a:solidFill>
              </a:rPr>
              <a:t>조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58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2,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60</a:t>
            </a:r>
            <a:r>
              <a:rPr lang="ko-KR" altLang="en-US" sz="950" dirty="0">
                <a:solidFill>
                  <a:schemeClr val="tx2"/>
                </a:solidFill>
              </a:rPr>
              <a:t>조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61</a:t>
            </a:r>
            <a:r>
              <a:rPr lang="ko-KR" altLang="en-US" sz="950" dirty="0">
                <a:solidFill>
                  <a:schemeClr val="tx2"/>
                </a:solidFill>
              </a:rPr>
              <a:t>조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63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2,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63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3,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64</a:t>
            </a:r>
            <a:r>
              <a:rPr lang="ko-KR" altLang="en-US" sz="950" dirty="0">
                <a:solidFill>
                  <a:schemeClr val="tx2"/>
                </a:solidFill>
              </a:rPr>
              <a:t>조부터 제</a:t>
            </a:r>
            <a:r>
              <a:rPr lang="en-US" altLang="ko-KR" sz="950" dirty="0">
                <a:solidFill>
                  <a:schemeClr val="tx2"/>
                </a:solidFill>
              </a:rPr>
              <a:t>66</a:t>
            </a:r>
            <a:r>
              <a:rPr lang="ko-KR" altLang="en-US" sz="950" dirty="0">
                <a:solidFill>
                  <a:schemeClr val="tx2"/>
                </a:solidFill>
              </a:rPr>
              <a:t>조까지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66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2,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66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3,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67</a:t>
            </a:r>
            <a:r>
              <a:rPr lang="ko-KR" altLang="en-US" sz="950" dirty="0">
                <a:solidFill>
                  <a:schemeClr val="tx2"/>
                </a:solidFill>
              </a:rPr>
              <a:t>조</a:t>
            </a:r>
            <a:r>
              <a:rPr lang="en-US" altLang="ko-KR" sz="950" dirty="0">
                <a:solidFill>
                  <a:schemeClr val="tx2"/>
                </a:solidFill>
              </a:rPr>
              <a:t>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67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2,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67</a:t>
            </a:r>
            <a:r>
              <a:rPr lang="ko-KR" altLang="en-US" sz="950" dirty="0">
                <a:solidFill>
                  <a:schemeClr val="tx2"/>
                </a:solidFill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</a:rPr>
              <a:t>3, </a:t>
            </a:r>
            <a:r>
              <a:rPr lang="ko-KR" altLang="en-US" sz="950" dirty="0">
                <a:solidFill>
                  <a:schemeClr val="tx2"/>
                </a:solidFill>
              </a:rPr>
              <a:t>제</a:t>
            </a:r>
            <a:r>
              <a:rPr lang="en-US" altLang="ko-KR" sz="950" dirty="0">
                <a:solidFill>
                  <a:schemeClr val="tx2"/>
                </a:solidFill>
              </a:rPr>
              <a:t>68</a:t>
            </a:r>
            <a:r>
              <a:rPr lang="ko-KR" altLang="en-US" sz="950" dirty="0">
                <a:solidFill>
                  <a:schemeClr val="tx2"/>
                </a:solidFill>
              </a:rPr>
              <a:t>조 및 제</a:t>
            </a:r>
            <a:r>
              <a:rPr lang="en-US" altLang="ko-KR" sz="950" dirty="0">
                <a:solidFill>
                  <a:schemeClr val="tx2"/>
                </a:solidFill>
              </a:rPr>
              <a:t>78</a:t>
            </a:r>
            <a:r>
              <a:rPr lang="ko-KR" altLang="en-US" sz="950" dirty="0">
                <a:solidFill>
                  <a:schemeClr val="tx2"/>
                </a:solidFill>
              </a:rPr>
              <a:t>조를 준용한다</a:t>
            </a:r>
            <a:r>
              <a:rPr lang="en-US" altLang="ko-KR" sz="950" dirty="0">
                <a:solidFill>
                  <a:schemeClr val="tx2"/>
                </a:solidFill>
              </a:rPr>
              <a:t>. 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250" y="1820962"/>
            <a:ext cx="5970500" cy="30162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950" b="1" dirty="0">
                <a:solidFill>
                  <a:schemeClr val="accent1"/>
                </a:solidFill>
                <a:latin typeface="+mn-ea"/>
              </a:rPr>
              <a:t>시행령 제</a:t>
            </a:r>
            <a:r>
              <a:rPr lang="en-US" altLang="ko-KR" sz="950" b="1" dirty="0">
                <a:solidFill>
                  <a:schemeClr val="accent1"/>
                </a:solidFill>
                <a:latin typeface="+mn-ea"/>
              </a:rPr>
              <a:t>5</a:t>
            </a:r>
            <a:r>
              <a:rPr lang="ko-KR" altLang="en-US" sz="95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95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950" b="1" dirty="0" err="1">
                <a:solidFill>
                  <a:schemeClr val="accent1"/>
                </a:solidFill>
                <a:latin typeface="+mn-ea"/>
              </a:rPr>
              <a:t>우선심사의</a:t>
            </a:r>
            <a:r>
              <a:rPr lang="ko-KR" altLang="en-US" sz="950" b="1" dirty="0">
                <a:solidFill>
                  <a:schemeClr val="accent1"/>
                </a:solidFill>
                <a:latin typeface="+mn-ea"/>
              </a:rPr>
              <a:t> 대상</a:t>
            </a:r>
            <a:r>
              <a:rPr lang="en-US" altLang="ko-KR" sz="95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법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15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조에서 준용하는 「특허법」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61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호에서 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대통령령으로 정하는 특허출원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이란 다음 각 호의 어느 하나에 해당하는 것으로서 지식재산처장이 정하는 실용신안등록출원을 말한다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.  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방위산업분야의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공해방지에 유용한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수출촉진에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직접 관련된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국가 또는 지방자치단체의 직무에 관한 실용신안등록출원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고등교육법」에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따른 국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·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공립학교의 직무에 관한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실용신안등록출원으로서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「기술의 이전 및 사업화 촉진에 관한 법률」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항에 따라 국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·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공립학교 안에 설치된 기술이전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·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사업화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전담조직에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의한 실용신안등록출원을 포함한다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)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5.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「벤처기업육성에 관한 특별법」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25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 따른 벤처기업의 확인을 받은 기업의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6.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「중소기업기술혁신 촉진법」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15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 따라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기술혁신형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중소기업으로 선정된 기업의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「발명진흥법」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에 따라 직무발명보상 우수기업으로 인증된 기업의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「발명진흥법」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24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에 따라 지식재산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경영인증을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받은 중소기업의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7.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「과학기술기본법」 제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11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조에 따른 국가연구개발사업의 결과물에 관한 실용신안등록출원</a:t>
            </a:r>
            <a:endParaRPr lang="en-US" altLang="ko-KR" sz="950" dirty="0">
              <a:solidFill>
                <a:schemeClr val="tx2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8.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조약에 의한 우선권주장의 기초가 되는 실용신안등록출원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그 실용신안등록출원을 기초로 하는 우선권주장에 의하여 외국 특허담당 정부기관에서 특허출원 또는 실용신안등록출원에 관한 절차가 진행 중인 것에 한정한다</a:t>
            </a: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)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9. 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실용신안등록출원인이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실용신안등록출원된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고안을 실시하고 있거나 </a:t>
            </a:r>
            <a:r>
              <a:rPr lang="ko-KR" altLang="en-US" sz="950" dirty="0" err="1">
                <a:solidFill>
                  <a:schemeClr val="tx2"/>
                </a:solidFill>
                <a:latin typeface="+mn-ea"/>
              </a:rPr>
              <a:t>실시준비</a:t>
            </a:r>
            <a:r>
              <a:rPr lang="ko-KR" altLang="en-US" sz="950" dirty="0">
                <a:solidFill>
                  <a:schemeClr val="tx2"/>
                </a:solidFill>
                <a:latin typeface="+mn-ea"/>
              </a:rPr>
              <a:t> 중인 실용신안등록출원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10.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 &lt;2019. 7. 9.&gt;</a:t>
            </a:r>
            <a:endParaRPr lang="ko-KR" altLang="en-US" sz="950" dirty="0">
              <a:solidFill>
                <a:srgbClr val="FF0000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11.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 &lt;2019. 7. 9.&gt;</a:t>
            </a:r>
            <a:endParaRPr lang="ko-KR" altLang="en-US" sz="950" dirty="0">
              <a:solidFill>
                <a:srgbClr val="FF0000"/>
              </a:solidFill>
              <a:latin typeface="+mn-ea"/>
            </a:endParaRP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12.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&lt;2023. 12. 19.&gt; </a:t>
            </a:r>
          </a:p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50" dirty="0">
                <a:solidFill>
                  <a:schemeClr val="tx2"/>
                </a:solidFill>
                <a:latin typeface="+mn-ea"/>
              </a:rPr>
              <a:t>13. </a:t>
            </a:r>
            <a:r>
              <a:rPr lang="ko-KR" altLang="en-US" sz="95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950" dirty="0">
                <a:solidFill>
                  <a:srgbClr val="FF0000"/>
                </a:solidFill>
                <a:latin typeface="+mn-ea"/>
              </a:rPr>
              <a:t>&lt;2023. 12. 19.&gt;</a:t>
            </a:r>
            <a:endParaRPr lang="ko-KR" altLang="ko-KR" sz="9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251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9B650-0D2C-48D0-800C-46D632E4F9D5}"/>
              </a:ext>
            </a:extLst>
          </p:cNvPr>
          <p:cNvSpPr txBox="1"/>
          <p:nvPr/>
        </p:nvSpPr>
        <p:spPr>
          <a:xfrm>
            <a:off x="6143626" y="5453212"/>
            <a:ext cx="2503224" cy="2272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ko-KR" altLang="en-US" sz="1050" dirty="0"/>
              <a:t>타법에 의한 </a:t>
            </a:r>
            <a:r>
              <a:rPr lang="ko-KR" altLang="en-US" sz="1050"/>
              <a:t>특허법의 우선심사신청사유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6C190-E090-37CA-FF5F-8B9E1910C65C}"/>
              </a:ext>
            </a:extLst>
          </p:cNvPr>
          <p:cNvSpPr txBox="1"/>
          <p:nvPr/>
        </p:nvSpPr>
        <p:spPr>
          <a:xfrm>
            <a:off x="5822693" y="225585"/>
            <a:ext cx="3738750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방</a:t>
            </a:r>
            <a:r>
              <a:rPr lang="ko-KR" altLang="en-US" sz="1400" kern="0" spc="0" dirty="0" err="1">
                <a:solidFill>
                  <a:schemeClr val="accent2"/>
                </a:solidFill>
                <a:effectLst/>
                <a:latin typeface="+mn-ea"/>
              </a:rPr>
              <a:t>녹</a:t>
            </a:r>
            <a:r>
              <a:rPr lang="en-US" altLang="ko-KR" sz="1400" kern="0" spc="0" dirty="0">
                <a:solidFill>
                  <a:schemeClr val="accent2"/>
                </a:solidFill>
                <a:effectLst/>
                <a:latin typeface="+mn-ea"/>
              </a:rPr>
              <a:t>4</a:t>
            </a:r>
            <a:r>
              <a:rPr lang="ko-KR" altLang="en-US" sz="1400" kern="0" spc="0" dirty="0" err="1">
                <a:solidFill>
                  <a:schemeClr val="accent2"/>
                </a:solidFill>
                <a:effectLst/>
                <a:latin typeface="+mn-ea"/>
              </a:rPr>
              <a:t>첨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수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국벤중직지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국조</a:t>
            </a:r>
            <a:r>
              <a:rPr lang="ko-KR" altLang="en-US" sz="1400" kern="0" spc="0" dirty="0" err="1">
                <a:solidFill>
                  <a:schemeClr val="accent2"/>
                </a:solidFill>
                <a:effectLst/>
                <a:latin typeface="+mn-ea"/>
              </a:rPr>
              <a:t>국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특</a:t>
            </a:r>
            <a:r>
              <a:rPr lang="ko-KR" altLang="en-US" sz="1400" kern="0" spc="0" dirty="0" err="1">
                <a:solidFill>
                  <a:schemeClr val="accent2"/>
                </a:solidFill>
                <a:effectLst/>
                <a:latin typeface="+mn-ea"/>
              </a:rPr>
              <a:t>특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의재공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400" kern="0" spc="0" dirty="0">
                <a:solidFill>
                  <a:schemeClr val="accent2"/>
                </a:solidFill>
                <a:effectLst/>
                <a:latin typeface="+mn-ea"/>
              </a:rPr>
              <a:t>의규</a:t>
            </a:r>
            <a:endParaRPr lang="ko-KR" altLang="en-US" sz="1400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195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심사방법 및 순서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64" name="직선 연결선 63"/>
          <p:cNvCxnSpPr>
            <a:cxnSpLocks/>
          </p:cNvCxnSpPr>
          <p:nvPr/>
        </p:nvCxnSpPr>
        <p:spPr>
          <a:xfrm>
            <a:off x="6191794" y="4929793"/>
            <a:ext cx="419508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91794" y="976902"/>
            <a:ext cx="5822404" cy="38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시행규칙 제</a:t>
            </a:r>
            <a:r>
              <a:rPr lang="en-US" altLang="ko-KR" sz="1150" b="1" dirty="0">
                <a:solidFill>
                  <a:schemeClr val="accent1"/>
                </a:solidFill>
              </a:rPr>
              <a:t>40</a:t>
            </a:r>
            <a:r>
              <a:rPr lang="ko-KR" altLang="en-US" sz="1150" b="1" dirty="0">
                <a:solidFill>
                  <a:schemeClr val="accent1"/>
                </a:solidFill>
              </a:rPr>
              <a:t>조의</a:t>
            </a:r>
            <a:r>
              <a:rPr lang="en-US" altLang="ko-KR" sz="1150" b="1" dirty="0">
                <a:solidFill>
                  <a:schemeClr val="accent1"/>
                </a:solidFill>
              </a:rPr>
              <a:t>3(</a:t>
            </a:r>
            <a:r>
              <a:rPr lang="ko-KR" altLang="en-US" sz="1150" b="1" dirty="0" err="1">
                <a:solidFill>
                  <a:schemeClr val="accent1"/>
                </a:solidFill>
              </a:rPr>
              <a:t>특허출원심사의</a:t>
            </a:r>
            <a:r>
              <a:rPr lang="ko-KR" altLang="en-US" sz="1150" b="1" dirty="0">
                <a:solidFill>
                  <a:schemeClr val="accent1"/>
                </a:solidFill>
              </a:rPr>
              <a:t> 유예</a:t>
            </a:r>
            <a:r>
              <a:rPr lang="en-US" altLang="ko-KR" sz="1150" b="1" dirty="0">
                <a:solidFill>
                  <a:schemeClr val="accent1"/>
                </a:solidFill>
              </a:rPr>
              <a:t>)</a:t>
            </a:r>
            <a:r>
              <a:rPr lang="en-US" altLang="ko-KR" sz="1150" dirty="0">
                <a:solidFill>
                  <a:schemeClr val="tx2"/>
                </a:solidFill>
              </a:rPr>
              <a:t> </a:t>
            </a:r>
            <a:r>
              <a:rPr lang="ko-KR" altLang="en-US" sz="1150" dirty="0">
                <a:solidFill>
                  <a:schemeClr val="tx2"/>
                </a:solidFill>
              </a:rPr>
              <a:t>①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150" dirty="0">
                <a:solidFill>
                  <a:schemeClr val="tx2"/>
                </a:solidFill>
              </a:rPr>
              <a:t> 출원심사의 청구를 한 경우로서 출원심사의 청구일부터 </a:t>
            </a:r>
            <a:r>
              <a:rPr lang="en-US" altLang="ko-KR" sz="1150" dirty="0">
                <a:solidFill>
                  <a:schemeClr val="tx2"/>
                </a:solidFill>
              </a:rPr>
              <a:t>24</a:t>
            </a:r>
            <a:r>
              <a:rPr lang="ko-KR" altLang="en-US" sz="1150" dirty="0">
                <a:solidFill>
                  <a:schemeClr val="tx2"/>
                </a:solidFill>
              </a:rPr>
              <a:t>개월이 지난 후에 특허출원에 대한 심사를 받으려면 출원심사의 청구일부터 </a:t>
            </a:r>
            <a:r>
              <a:rPr lang="en-US" altLang="ko-KR" sz="1150" dirty="0">
                <a:solidFill>
                  <a:schemeClr val="tx2"/>
                </a:solidFill>
              </a:rPr>
              <a:t>9</a:t>
            </a:r>
            <a:r>
              <a:rPr lang="ko-KR" altLang="en-US" sz="1150" dirty="0">
                <a:solidFill>
                  <a:schemeClr val="tx2"/>
                </a:solidFill>
              </a:rPr>
              <a:t>개월 이내에 심사를 받으려는 시점</a:t>
            </a:r>
            <a:r>
              <a:rPr lang="en-US" altLang="ko-KR" sz="1150" dirty="0">
                <a:solidFill>
                  <a:schemeClr val="tx2"/>
                </a:solidFill>
              </a:rPr>
              <a:t>(</a:t>
            </a:r>
            <a:r>
              <a:rPr lang="ko-KR" altLang="en-US" sz="1150" dirty="0">
                <a:solidFill>
                  <a:schemeClr val="tx2"/>
                </a:solidFill>
              </a:rPr>
              <a:t>출원일부터 </a:t>
            </a:r>
            <a:r>
              <a:rPr lang="en-US" altLang="ko-KR" sz="1150" dirty="0">
                <a:solidFill>
                  <a:schemeClr val="tx2"/>
                </a:solidFill>
              </a:rPr>
              <a:t>5</a:t>
            </a:r>
            <a:r>
              <a:rPr lang="ko-KR" altLang="en-US" sz="1150" dirty="0">
                <a:solidFill>
                  <a:schemeClr val="tx2"/>
                </a:solidFill>
              </a:rPr>
              <a:t>년 이내에 한정하며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이하 </a:t>
            </a:r>
            <a:r>
              <a:rPr lang="en-US" altLang="ko-KR" sz="1150" dirty="0">
                <a:solidFill>
                  <a:schemeClr val="tx2"/>
                </a:solidFill>
              </a:rPr>
              <a:t>"</a:t>
            </a:r>
            <a:r>
              <a:rPr lang="ko-KR" altLang="en-US" sz="1150" dirty="0">
                <a:solidFill>
                  <a:schemeClr val="tx2"/>
                </a:solidFill>
              </a:rPr>
              <a:t>유예희망시점</a:t>
            </a:r>
            <a:r>
              <a:rPr lang="en-US" altLang="ko-KR" sz="1150" dirty="0">
                <a:solidFill>
                  <a:schemeClr val="tx2"/>
                </a:solidFill>
              </a:rPr>
              <a:t>"</a:t>
            </a:r>
            <a:r>
              <a:rPr lang="ko-KR" altLang="en-US" sz="1150" dirty="0">
                <a:solidFill>
                  <a:schemeClr val="tx2"/>
                </a:solidFill>
              </a:rPr>
              <a:t>이라 한다</a:t>
            </a:r>
            <a:r>
              <a:rPr lang="en-US" altLang="ko-KR" sz="1150" dirty="0">
                <a:solidFill>
                  <a:schemeClr val="tx2"/>
                </a:solidFill>
              </a:rPr>
              <a:t>)</a:t>
            </a:r>
            <a:r>
              <a:rPr lang="ko-KR" altLang="en-US" sz="1150" dirty="0">
                <a:solidFill>
                  <a:schemeClr val="tx2"/>
                </a:solidFill>
              </a:rPr>
              <a:t>을 적은 별지 제</a:t>
            </a:r>
            <a:r>
              <a:rPr lang="en-US" altLang="ko-KR" sz="1150" dirty="0">
                <a:solidFill>
                  <a:schemeClr val="tx2"/>
                </a:solidFill>
              </a:rPr>
              <a:t>22</a:t>
            </a:r>
            <a:r>
              <a:rPr lang="ko-KR" altLang="en-US" sz="1150" dirty="0">
                <a:solidFill>
                  <a:schemeClr val="tx2"/>
                </a:solidFill>
              </a:rPr>
              <a:t>호의</a:t>
            </a:r>
            <a:r>
              <a:rPr lang="en-US" altLang="ko-KR" sz="1150" dirty="0">
                <a:solidFill>
                  <a:schemeClr val="tx2"/>
                </a:solidFill>
              </a:rPr>
              <a:t>2</a:t>
            </a:r>
            <a:r>
              <a:rPr lang="ko-KR" altLang="en-US" sz="1150" dirty="0">
                <a:solidFill>
                  <a:schemeClr val="tx2"/>
                </a:solidFill>
              </a:rPr>
              <a:t>서식의 심사유예신청서를 지식재산처장에게 제출할 수 있다</a:t>
            </a:r>
            <a:r>
              <a:rPr lang="en-US" altLang="ko-KR" sz="1150" dirty="0">
                <a:solidFill>
                  <a:schemeClr val="tx2"/>
                </a:solidFill>
              </a:rPr>
              <a:t>. </a:t>
            </a:r>
            <a:r>
              <a:rPr lang="ko-KR" altLang="en-US" sz="1150" dirty="0">
                <a:solidFill>
                  <a:schemeClr val="tx2"/>
                </a:solidFill>
              </a:rPr>
              <a:t>다만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다음 각 호에 따른 특허출원서 또는 심사청구서에 그 취지 및 유예희망시점을 적음으로써 그 신청서를 갈음할 수 있다</a:t>
            </a:r>
            <a:r>
              <a:rPr lang="en-US" altLang="ko-KR" sz="115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1. </a:t>
            </a:r>
            <a:r>
              <a:rPr lang="ko-KR" altLang="en-US" sz="1150" dirty="0">
                <a:solidFill>
                  <a:schemeClr val="tx2"/>
                </a:solidFill>
              </a:rPr>
              <a:t>제</a:t>
            </a:r>
            <a:r>
              <a:rPr lang="en-US" altLang="ko-KR" sz="1150" dirty="0">
                <a:solidFill>
                  <a:schemeClr val="tx2"/>
                </a:solidFill>
              </a:rPr>
              <a:t>37</a:t>
            </a:r>
            <a:r>
              <a:rPr lang="ko-KR" altLang="en-US" sz="1150" dirty="0">
                <a:solidFill>
                  <a:schemeClr val="tx2"/>
                </a:solidFill>
              </a:rPr>
              <a:t>조제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 단서에 따라 특허출원과 동시에 심사청구를 하면서 심사유예신청도 같이 하는 경우에는 별지 제</a:t>
            </a:r>
            <a:r>
              <a:rPr lang="en-US" altLang="ko-KR" sz="1150" dirty="0">
                <a:solidFill>
                  <a:schemeClr val="tx2"/>
                </a:solidFill>
              </a:rPr>
              <a:t>14</a:t>
            </a:r>
            <a:r>
              <a:rPr lang="ko-KR" altLang="en-US" sz="1150" dirty="0">
                <a:solidFill>
                  <a:schemeClr val="tx2"/>
                </a:solidFill>
              </a:rPr>
              <a:t>호서식의 특허출원서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2. </a:t>
            </a:r>
            <a:r>
              <a:rPr lang="ko-KR" altLang="en-US" sz="1150" dirty="0">
                <a:solidFill>
                  <a:schemeClr val="tx2"/>
                </a:solidFill>
              </a:rPr>
              <a:t>심사청구와 동시에 심사유예신청을 하는 경우</a:t>
            </a:r>
            <a:r>
              <a:rPr lang="en-US" altLang="ko-KR" sz="1150" dirty="0">
                <a:solidFill>
                  <a:schemeClr val="tx2"/>
                </a:solidFill>
              </a:rPr>
              <a:t>(</a:t>
            </a:r>
            <a:r>
              <a:rPr lang="ko-KR" altLang="en-US" sz="1150" dirty="0">
                <a:solidFill>
                  <a:schemeClr val="tx2"/>
                </a:solidFill>
              </a:rPr>
              <a:t>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호의 경우는 제외한다</a:t>
            </a:r>
            <a:r>
              <a:rPr lang="en-US" altLang="ko-KR" sz="1150" dirty="0">
                <a:solidFill>
                  <a:schemeClr val="tx2"/>
                </a:solidFill>
              </a:rPr>
              <a:t>)</a:t>
            </a:r>
            <a:r>
              <a:rPr lang="ko-KR" altLang="en-US" sz="1150" dirty="0">
                <a:solidFill>
                  <a:schemeClr val="tx2"/>
                </a:solidFill>
              </a:rPr>
              <a:t>에는 별지 제</a:t>
            </a:r>
            <a:r>
              <a:rPr lang="en-US" altLang="ko-KR" sz="1150" dirty="0">
                <a:solidFill>
                  <a:schemeClr val="tx2"/>
                </a:solidFill>
              </a:rPr>
              <a:t>22</a:t>
            </a:r>
            <a:r>
              <a:rPr lang="ko-KR" altLang="en-US" sz="1150" dirty="0">
                <a:solidFill>
                  <a:schemeClr val="tx2"/>
                </a:solidFill>
              </a:rPr>
              <a:t>호서식의 심사청구서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②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150" dirty="0">
                <a:solidFill>
                  <a:schemeClr val="tx2"/>
                </a:solidFill>
              </a:rPr>
              <a:t>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따른 심사유예신청을 취하하거나 유예희망시점을 변경하려면 심사유예신청서를 제출한 날부터 </a:t>
            </a:r>
            <a:r>
              <a:rPr lang="en-US" altLang="ko-KR" sz="1150" dirty="0">
                <a:solidFill>
                  <a:schemeClr val="tx2"/>
                </a:solidFill>
              </a:rPr>
              <a:t>2</a:t>
            </a:r>
            <a:r>
              <a:rPr lang="ko-KR" altLang="en-US" sz="1150" dirty="0">
                <a:solidFill>
                  <a:schemeClr val="tx2"/>
                </a:solidFill>
              </a:rPr>
              <a:t>개월 이내에 별지 제</a:t>
            </a:r>
            <a:r>
              <a:rPr lang="en-US" altLang="ko-KR" sz="1150" dirty="0">
                <a:solidFill>
                  <a:schemeClr val="tx2"/>
                </a:solidFill>
              </a:rPr>
              <a:t>12</a:t>
            </a:r>
            <a:r>
              <a:rPr lang="ko-KR" altLang="en-US" sz="1150" dirty="0">
                <a:solidFill>
                  <a:schemeClr val="tx2"/>
                </a:solidFill>
              </a:rPr>
              <a:t>호서식의 취하서 또는 별지 제</a:t>
            </a:r>
            <a:r>
              <a:rPr lang="en-US" altLang="ko-KR" sz="1150" dirty="0">
                <a:solidFill>
                  <a:schemeClr val="tx2"/>
                </a:solidFill>
              </a:rPr>
              <a:t>9</a:t>
            </a:r>
            <a:r>
              <a:rPr lang="ko-KR" altLang="en-US" sz="1150" dirty="0">
                <a:solidFill>
                  <a:schemeClr val="tx2"/>
                </a:solidFill>
              </a:rPr>
              <a:t>호서식의 보정서를 제출하여야 한다</a:t>
            </a:r>
            <a:r>
              <a:rPr lang="en-US" altLang="ko-KR" sz="115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③ </a:t>
            </a:r>
            <a:r>
              <a:rPr lang="ko-KR" altLang="en-US" sz="1150" dirty="0">
                <a:solidFill>
                  <a:schemeClr val="tx2"/>
                </a:solidFill>
              </a:rPr>
              <a:t>심사관은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따른 심사유예신청이 있으면 유예희망시점까지 특허출원에 대한 심사를 유예할 수 있다</a:t>
            </a:r>
            <a:r>
              <a:rPr lang="en-US" altLang="ko-KR" sz="1150" dirty="0">
                <a:solidFill>
                  <a:schemeClr val="tx2"/>
                </a:solidFill>
              </a:rPr>
              <a:t>. </a:t>
            </a:r>
            <a:r>
              <a:rPr lang="ko-KR" altLang="en-US" sz="1150" dirty="0">
                <a:solidFill>
                  <a:schemeClr val="tx2"/>
                </a:solidFill>
              </a:rPr>
              <a:t>다만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15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1. </a:t>
            </a:r>
            <a:r>
              <a:rPr lang="ko-KR" altLang="en-US" sz="1150" dirty="0">
                <a:solidFill>
                  <a:schemeClr val="tx2"/>
                </a:solidFill>
              </a:rPr>
              <a:t>특허출원이 분리출원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변경출원 또는 정당한 권리자의 출원인 경우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2. </a:t>
            </a:r>
            <a:r>
              <a:rPr lang="ko-KR" altLang="en-US" sz="1150" dirty="0">
                <a:solidFill>
                  <a:schemeClr val="tx2"/>
                </a:solidFill>
              </a:rPr>
              <a:t>특허출원에 대하여 우선심사결정을 한 경우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3.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특허출원심사의</a:t>
            </a:r>
            <a:r>
              <a:rPr lang="ko-KR" altLang="en-US" sz="1150" dirty="0">
                <a:solidFill>
                  <a:schemeClr val="tx2"/>
                </a:solidFill>
              </a:rPr>
              <a:t> 유예신청이 있기 전에 이미 거절이유를 통지하거나 특허결정서를 통지한 경우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④ 대리인에 의하여 절차를 밟는 경우에는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따른 서식에 그 대리권을 증명하는 서류를 첨부하여야 한다</a:t>
            </a:r>
            <a:r>
              <a:rPr lang="en-US" altLang="ko-KR" sz="115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252</a:t>
            </a:r>
            <a:endParaRPr lang="ko-KR" altLang="en-US" dirty="0"/>
          </a:p>
        </p:txBody>
      </p:sp>
      <p:sp>
        <p:nvSpPr>
          <p:cNvPr id="45" name="양쪽 모서리가 둥근 사각형 26">
            <a:extLst>
              <a:ext uri="{FF2B5EF4-FFF2-40B4-BE49-F238E27FC236}">
                <a16:creationId xmlns:a16="http://schemas.microsoft.com/office/drawing/2014/main" id="{D9185DCE-00F7-4643-BB4A-7340825912EC}"/>
              </a:ext>
            </a:extLst>
          </p:cNvPr>
          <p:cNvSpPr/>
          <p:nvPr/>
        </p:nvSpPr>
        <p:spPr>
          <a:xfrm>
            <a:off x="9163202" y="5556461"/>
            <a:ext cx="1913751" cy="716058"/>
          </a:xfrm>
          <a:prstGeom prst="round2SameRect">
            <a:avLst>
              <a:gd name="adj1" fmla="val 0"/>
              <a:gd name="adj2" fmla="val 50000"/>
            </a:avLst>
          </a:prstGeom>
          <a:pattFill prst="pct10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양쪽 모서리가 둥근 사각형 88">
            <a:extLst>
              <a:ext uri="{FF2B5EF4-FFF2-40B4-BE49-F238E27FC236}">
                <a16:creationId xmlns:a16="http://schemas.microsoft.com/office/drawing/2014/main" id="{80C01EF2-E09B-4DFC-909E-0ADEF2DCFE64}"/>
              </a:ext>
            </a:extLst>
          </p:cNvPr>
          <p:cNvSpPr/>
          <p:nvPr/>
        </p:nvSpPr>
        <p:spPr>
          <a:xfrm>
            <a:off x="9775550" y="5214830"/>
            <a:ext cx="1033482" cy="340225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5">
                <a:lumMod val="75000"/>
              </a:schemeClr>
            </a:fgClr>
            <a:bgClr>
              <a:schemeClr val="bg1"/>
            </a:bgClr>
          </a:patt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7" name="양쪽 모서리가 둥근 사각형 88">
            <a:extLst>
              <a:ext uri="{FF2B5EF4-FFF2-40B4-BE49-F238E27FC236}">
                <a16:creationId xmlns:a16="http://schemas.microsoft.com/office/drawing/2014/main" id="{43A0F1E7-4C30-44B4-B457-4CD937B992BD}"/>
              </a:ext>
            </a:extLst>
          </p:cNvPr>
          <p:cNvSpPr/>
          <p:nvPr/>
        </p:nvSpPr>
        <p:spPr>
          <a:xfrm>
            <a:off x="7638635" y="5214830"/>
            <a:ext cx="1193046" cy="340225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5B584C7-A600-47EF-8FCC-93CE1474A09B}"/>
              </a:ext>
            </a:extLst>
          </p:cNvPr>
          <p:cNvSpPr/>
          <p:nvPr/>
        </p:nvSpPr>
        <p:spPr>
          <a:xfrm>
            <a:off x="7549329" y="4953152"/>
            <a:ext cx="1434956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9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개월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720083E-0685-4C91-9194-2B2E51DA13B4}"/>
              </a:ext>
            </a:extLst>
          </p:cNvPr>
          <p:cNvSpPr/>
          <p:nvPr/>
        </p:nvSpPr>
        <p:spPr>
          <a:xfrm>
            <a:off x="7693471" y="5973196"/>
            <a:ext cx="1434956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24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개월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94F9EEB-8256-4DF4-A843-5BCCE6126787}"/>
              </a:ext>
            </a:extLst>
          </p:cNvPr>
          <p:cNvSpPr/>
          <p:nvPr/>
        </p:nvSpPr>
        <p:spPr>
          <a:xfrm>
            <a:off x="8235158" y="6429338"/>
            <a:ext cx="1434956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5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년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99868E-DA46-49AA-B4C9-B443F4432996}"/>
              </a:ext>
            </a:extLst>
          </p:cNvPr>
          <p:cNvSpPr/>
          <p:nvPr/>
        </p:nvSpPr>
        <p:spPr>
          <a:xfrm>
            <a:off x="8893191" y="5588521"/>
            <a:ext cx="1434956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accent5">
                    <a:lumMod val="50000"/>
                  </a:schemeClr>
                </a:solidFill>
              </a:rPr>
              <a:t>유예희망시점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C441162-1C38-4906-A0CF-D0C55043BEA1}"/>
              </a:ext>
            </a:extLst>
          </p:cNvPr>
          <p:cNvSpPr/>
          <p:nvPr/>
        </p:nvSpPr>
        <p:spPr>
          <a:xfrm>
            <a:off x="9523697" y="4953152"/>
            <a:ext cx="1434956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12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개월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C4AC9F8-8DBA-44E0-A94D-DFDADE8BDE21}"/>
              </a:ext>
            </a:extLst>
          </p:cNvPr>
          <p:cNvSpPr/>
          <p:nvPr/>
        </p:nvSpPr>
        <p:spPr>
          <a:xfrm>
            <a:off x="9438589" y="5937823"/>
            <a:ext cx="1539364" cy="310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0000"/>
                </a:solidFill>
              </a:rPr>
              <a:t>유예희망가능기간</a:t>
            </a:r>
          </a:p>
        </p:txBody>
      </p:sp>
      <p:sp>
        <p:nvSpPr>
          <p:cNvPr id="68" name="양쪽 모서리가 둥근 사각형 26">
            <a:extLst>
              <a:ext uri="{FF2B5EF4-FFF2-40B4-BE49-F238E27FC236}">
                <a16:creationId xmlns:a16="http://schemas.microsoft.com/office/drawing/2014/main" id="{8ADF112E-1B64-443D-87F6-42678426BC1C}"/>
              </a:ext>
            </a:extLst>
          </p:cNvPr>
          <p:cNvSpPr/>
          <p:nvPr/>
        </p:nvSpPr>
        <p:spPr>
          <a:xfrm>
            <a:off x="7638265" y="5556461"/>
            <a:ext cx="1524937" cy="385912"/>
          </a:xfrm>
          <a:prstGeom prst="round2SameRect">
            <a:avLst>
              <a:gd name="adj1" fmla="val 0"/>
              <a:gd name="adj2" fmla="val 50000"/>
            </a:avLst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양쪽 모서리가 둥근 사각형 26">
            <a:extLst>
              <a:ext uri="{FF2B5EF4-FFF2-40B4-BE49-F238E27FC236}">
                <a16:creationId xmlns:a16="http://schemas.microsoft.com/office/drawing/2014/main" id="{DD4F65EC-00AA-46E1-9B5E-7D4743E0F086}"/>
              </a:ext>
            </a:extLst>
          </p:cNvPr>
          <p:cNvSpPr/>
          <p:nvPr/>
        </p:nvSpPr>
        <p:spPr>
          <a:xfrm>
            <a:off x="6840011" y="5556462"/>
            <a:ext cx="4236942" cy="883166"/>
          </a:xfrm>
          <a:prstGeom prst="round2SameRect">
            <a:avLst>
              <a:gd name="adj1" fmla="val 0"/>
              <a:gd name="adj2" fmla="val 50000"/>
            </a:avLst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9573D16-D7B4-448D-AB1A-512AE08AE741}"/>
              </a:ext>
            </a:extLst>
          </p:cNvPr>
          <p:cNvCxnSpPr>
            <a:cxnSpLocks/>
          </p:cNvCxnSpPr>
          <p:nvPr/>
        </p:nvCxnSpPr>
        <p:spPr>
          <a:xfrm>
            <a:off x="6662117" y="5559398"/>
            <a:ext cx="512929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15BD77FD-0D23-437C-87B7-C3449647C5EE}"/>
              </a:ext>
            </a:extLst>
          </p:cNvPr>
          <p:cNvSpPr/>
          <p:nvPr/>
        </p:nvSpPr>
        <p:spPr>
          <a:xfrm>
            <a:off x="9700541" y="5489297"/>
            <a:ext cx="137400" cy="1322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792489D-E580-43BD-B4E3-BFE9BCAEB2D3}"/>
              </a:ext>
            </a:extLst>
          </p:cNvPr>
          <p:cNvSpPr/>
          <p:nvPr/>
        </p:nvSpPr>
        <p:spPr>
          <a:xfrm>
            <a:off x="6590545" y="5366856"/>
            <a:ext cx="467595" cy="371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35A6ABC-B642-42C4-A06B-06B945D3AA30}"/>
              </a:ext>
            </a:extLst>
          </p:cNvPr>
          <p:cNvSpPr/>
          <p:nvPr/>
        </p:nvSpPr>
        <p:spPr>
          <a:xfrm>
            <a:off x="7404468" y="5366856"/>
            <a:ext cx="467595" cy="371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CEA1B41-4FE0-449E-A30E-7F4C4ECCD733}"/>
              </a:ext>
            </a:extLst>
          </p:cNvPr>
          <p:cNvSpPr/>
          <p:nvPr/>
        </p:nvSpPr>
        <p:spPr>
          <a:xfrm>
            <a:off x="8085170" y="5366856"/>
            <a:ext cx="471731" cy="371198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유예신청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D0FE57C-6432-4C0F-AC79-D05FCFB98387}"/>
              </a:ext>
            </a:extLst>
          </p:cNvPr>
          <p:cNvSpPr/>
          <p:nvPr/>
        </p:nvSpPr>
        <p:spPr>
          <a:xfrm>
            <a:off x="10049923" y="5366856"/>
            <a:ext cx="467595" cy="37119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실체심사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32F716A-04AB-49F1-9F8F-37876611E9D8}"/>
              </a:ext>
            </a:extLst>
          </p:cNvPr>
          <p:cNvCxnSpPr/>
          <p:nvPr/>
        </p:nvCxnSpPr>
        <p:spPr>
          <a:xfrm>
            <a:off x="6096000" y="809897"/>
            <a:ext cx="0" cy="59044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245C62E-0269-4448-998A-2F353C5FF0C2}"/>
              </a:ext>
            </a:extLst>
          </p:cNvPr>
          <p:cNvSpPr txBox="1"/>
          <p:nvPr/>
        </p:nvSpPr>
        <p:spPr>
          <a:xfrm>
            <a:off x="156512" y="976902"/>
            <a:ext cx="5939483" cy="416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시행규칙 제</a:t>
            </a:r>
            <a:r>
              <a:rPr lang="en-US" altLang="ko-KR" sz="1150" b="1" dirty="0">
                <a:solidFill>
                  <a:schemeClr val="accent1"/>
                </a:solidFill>
              </a:rPr>
              <a:t>38</a:t>
            </a:r>
            <a:r>
              <a:rPr lang="ko-KR" altLang="en-US" sz="1150" b="1" dirty="0">
                <a:solidFill>
                  <a:schemeClr val="accent1"/>
                </a:solidFill>
              </a:rPr>
              <a:t>조</a:t>
            </a:r>
            <a:r>
              <a:rPr lang="en-US" altLang="ko-KR" sz="1150" b="1" dirty="0">
                <a:solidFill>
                  <a:schemeClr val="accent1"/>
                </a:solidFill>
              </a:rPr>
              <a:t>(</a:t>
            </a:r>
            <a:r>
              <a:rPr lang="ko-KR" altLang="en-US" sz="1150" b="1" dirty="0">
                <a:solidFill>
                  <a:schemeClr val="accent1"/>
                </a:solidFill>
              </a:rPr>
              <a:t>심사의 순위</a:t>
            </a:r>
            <a:r>
              <a:rPr lang="en-US" altLang="ko-KR" sz="1150" b="1" dirty="0">
                <a:solidFill>
                  <a:schemeClr val="accent1"/>
                </a:solidFill>
              </a:rPr>
              <a:t>) </a:t>
            </a:r>
            <a:r>
              <a:rPr lang="en-US" altLang="ko-KR" sz="1150" dirty="0">
                <a:solidFill>
                  <a:schemeClr val="tx2"/>
                </a:solidFill>
              </a:rPr>
              <a:t>① </a:t>
            </a:r>
            <a:r>
              <a:rPr lang="ko-KR" altLang="en-US" sz="1150" dirty="0">
                <a:solidFill>
                  <a:schemeClr val="tx2"/>
                </a:solidFill>
              </a:rPr>
              <a:t>특허출원에 대한 심사는 법 제</a:t>
            </a:r>
            <a:r>
              <a:rPr lang="en-US" altLang="ko-KR" sz="1150" dirty="0">
                <a:solidFill>
                  <a:schemeClr val="tx2"/>
                </a:solidFill>
              </a:rPr>
              <a:t>59</a:t>
            </a:r>
            <a:r>
              <a:rPr lang="ko-KR" altLang="en-US" sz="1150" dirty="0">
                <a:solidFill>
                  <a:schemeClr val="tx2"/>
                </a:solidFill>
              </a:rPr>
              <a:t>조제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따른 출원심사의 청구순위에 따른다</a:t>
            </a:r>
            <a:r>
              <a:rPr lang="en-US" altLang="ko-KR" sz="115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②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항에도 불구하고 다음 각 호의 어느 하나에 해당하는 경우에는 </a:t>
            </a:r>
            <a:r>
              <a:rPr lang="ko-KR" altLang="en-US" sz="1150" dirty="0">
                <a:solidFill>
                  <a:srgbClr val="FF0000"/>
                </a:solidFill>
              </a:rPr>
              <a:t>지식재산처장이 정하는 바*에 </a:t>
            </a:r>
            <a:r>
              <a:rPr lang="ko-KR" altLang="en-US" sz="1150" dirty="0">
                <a:solidFill>
                  <a:schemeClr val="tx2"/>
                </a:solidFill>
              </a:rPr>
              <a:t>따라 심사한다</a:t>
            </a:r>
            <a:r>
              <a:rPr lang="en-US" altLang="ko-KR" sz="115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  1. </a:t>
            </a:r>
            <a:r>
              <a:rPr lang="ko-KR" altLang="en-US" sz="1150" dirty="0" err="1">
                <a:solidFill>
                  <a:schemeClr val="tx2"/>
                </a:solidFill>
              </a:rPr>
              <a:t>심사청구된</a:t>
            </a:r>
            <a:r>
              <a:rPr lang="ko-KR" altLang="en-US" sz="1150" dirty="0">
                <a:solidFill>
                  <a:schemeClr val="tx2"/>
                </a:solidFill>
              </a:rPr>
              <a:t> 특허출원을 법 제</a:t>
            </a:r>
            <a:r>
              <a:rPr lang="en-US" altLang="ko-KR" sz="1150" dirty="0">
                <a:solidFill>
                  <a:schemeClr val="tx2"/>
                </a:solidFill>
              </a:rPr>
              <a:t>52</a:t>
            </a:r>
            <a:r>
              <a:rPr lang="ko-KR" altLang="en-US" sz="1150" dirty="0">
                <a:solidFill>
                  <a:schemeClr val="tx2"/>
                </a:solidFill>
              </a:rPr>
              <a:t>조에 따라 </a:t>
            </a:r>
            <a:r>
              <a:rPr lang="ko-KR" altLang="en-US" sz="1150" dirty="0" err="1">
                <a:solidFill>
                  <a:schemeClr val="tx2"/>
                </a:solidFill>
              </a:rPr>
              <a:t>분할출원하여</a:t>
            </a:r>
            <a:r>
              <a:rPr lang="ko-KR" altLang="en-US" sz="1150" dirty="0">
                <a:solidFill>
                  <a:schemeClr val="tx2"/>
                </a:solidFill>
              </a:rPr>
              <a:t> 심사청구한 경우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  </a:t>
            </a:r>
            <a:r>
              <a:rPr lang="en-US" altLang="ko-KR" sz="1150" dirty="0">
                <a:solidFill>
                  <a:schemeClr val="tx2"/>
                </a:solidFill>
              </a:rPr>
              <a:t>2. </a:t>
            </a:r>
            <a:r>
              <a:rPr lang="ko-KR" altLang="en-US" sz="1150" dirty="0" err="1">
                <a:solidFill>
                  <a:schemeClr val="tx2"/>
                </a:solidFill>
              </a:rPr>
              <a:t>심사청구된</a:t>
            </a:r>
            <a:r>
              <a:rPr lang="ko-KR" altLang="en-US" sz="1150" dirty="0">
                <a:solidFill>
                  <a:schemeClr val="tx2"/>
                </a:solidFill>
              </a:rPr>
              <a:t> 특허출원을 법 제</a:t>
            </a:r>
            <a:r>
              <a:rPr lang="en-US" altLang="ko-KR" sz="1150" dirty="0">
                <a:solidFill>
                  <a:schemeClr val="tx2"/>
                </a:solidFill>
              </a:rPr>
              <a:t>52</a:t>
            </a:r>
            <a:r>
              <a:rPr lang="ko-KR" altLang="en-US" sz="1150" dirty="0">
                <a:solidFill>
                  <a:schemeClr val="tx2"/>
                </a:solidFill>
              </a:rPr>
              <a:t>조의</a:t>
            </a:r>
            <a:r>
              <a:rPr lang="en-US" altLang="ko-KR" sz="1150" dirty="0">
                <a:solidFill>
                  <a:schemeClr val="tx2"/>
                </a:solidFill>
              </a:rPr>
              <a:t>2</a:t>
            </a:r>
            <a:r>
              <a:rPr lang="ko-KR" altLang="en-US" sz="1150" dirty="0">
                <a:solidFill>
                  <a:schemeClr val="tx2"/>
                </a:solidFill>
              </a:rPr>
              <a:t>에 따라 </a:t>
            </a:r>
            <a:r>
              <a:rPr lang="ko-KR" altLang="en-US" sz="1150" dirty="0" err="1">
                <a:solidFill>
                  <a:schemeClr val="tx2"/>
                </a:solidFill>
              </a:rPr>
              <a:t>분리출원하여</a:t>
            </a:r>
            <a:r>
              <a:rPr lang="ko-KR" altLang="en-US" sz="1150" dirty="0">
                <a:solidFill>
                  <a:schemeClr val="tx2"/>
                </a:solidFill>
              </a:rPr>
              <a:t> 심사청구한 경우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  </a:t>
            </a:r>
            <a:r>
              <a:rPr lang="en-US" altLang="ko-KR" sz="1150" dirty="0">
                <a:solidFill>
                  <a:schemeClr val="tx2"/>
                </a:solidFill>
              </a:rPr>
              <a:t>3. </a:t>
            </a:r>
            <a:r>
              <a:rPr lang="ko-KR" altLang="en-US" sz="1150" dirty="0" err="1">
                <a:solidFill>
                  <a:schemeClr val="tx2"/>
                </a:solidFill>
              </a:rPr>
              <a:t>심사청구된</a:t>
            </a:r>
            <a:r>
              <a:rPr lang="ko-KR" altLang="en-US" sz="1150" dirty="0">
                <a:solidFill>
                  <a:schemeClr val="tx2"/>
                </a:solidFill>
              </a:rPr>
              <a:t> 실용신안등록출원을 법 제</a:t>
            </a:r>
            <a:r>
              <a:rPr lang="en-US" altLang="ko-KR" sz="1150" dirty="0">
                <a:solidFill>
                  <a:schemeClr val="tx2"/>
                </a:solidFill>
              </a:rPr>
              <a:t>53</a:t>
            </a:r>
            <a:r>
              <a:rPr lang="ko-KR" altLang="en-US" sz="1150" dirty="0">
                <a:solidFill>
                  <a:schemeClr val="tx2"/>
                </a:solidFill>
              </a:rPr>
              <a:t>조에 따라 특허출원으로 </a:t>
            </a:r>
            <a:r>
              <a:rPr lang="ko-KR" altLang="en-US" sz="1150" dirty="0" err="1">
                <a:solidFill>
                  <a:schemeClr val="tx2"/>
                </a:solidFill>
              </a:rPr>
              <a:t>변경출원하여</a:t>
            </a:r>
            <a:r>
              <a:rPr lang="ko-KR" altLang="en-US" sz="1150" dirty="0">
                <a:solidFill>
                  <a:schemeClr val="tx2"/>
                </a:solidFill>
              </a:rPr>
              <a:t> 심사청구한 경우</a:t>
            </a:r>
            <a:r>
              <a:rPr lang="en-US" altLang="ko-KR" sz="1150" dirty="0">
                <a:solidFill>
                  <a:schemeClr val="tx2"/>
                </a:solidFill>
              </a:rPr>
              <a:t> </a:t>
            </a:r>
          </a:p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시행규칙 제</a:t>
            </a:r>
            <a:r>
              <a:rPr lang="en-US" altLang="ko-KR" sz="1150" b="1" dirty="0">
                <a:solidFill>
                  <a:schemeClr val="accent1"/>
                </a:solidFill>
              </a:rPr>
              <a:t>40</a:t>
            </a:r>
            <a:r>
              <a:rPr lang="ko-KR" altLang="en-US" sz="1150" b="1" dirty="0">
                <a:solidFill>
                  <a:schemeClr val="accent1"/>
                </a:solidFill>
              </a:rPr>
              <a:t>조</a:t>
            </a:r>
            <a:r>
              <a:rPr lang="en-US" altLang="ko-KR" sz="1150" b="1" dirty="0">
                <a:solidFill>
                  <a:schemeClr val="accent1"/>
                </a:solidFill>
              </a:rPr>
              <a:t>(</a:t>
            </a:r>
            <a:r>
              <a:rPr lang="ko-KR" altLang="en-US" sz="1150" b="1" dirty="0">
                <a:solidFill>
                  <a:schemeClr val="accent1"/>
                </a:solidFill>
              </a:rPr>
              <a:t>동일출원의 심사</a:t>
            </a:r>
            <a:r>
              <a:rPr lang="en-US" altLang="ko-KR" sz="1150" b="1" dirty="0">
                <a:solidFill>
                  <a:schemeClr val="accent1"/>
                </a:solidFill>
              </a:rPr>
              <a:t>) </a:t>
            </a:r>
            <a:r>
              <a:rPr lang="en-US" altLang="ko-KR" sz="1150" dirty="0">
                <a:solidFill>
                  <a:schemeClr val="tx2"/>
                </a:solidFill>
              </a:rPr>
              <a:t>① </a:t>
            </a:r>
            <a:r>
              <a:rPr lang="ko-KR" altLang="en-US" sz="1150" dirty="0">
                <a:solidFill>
                  <a:schemeClr val="tx2"/>
                </a:solidFill>
              </a:rPr>
              <a:t>동일한 발명에 대하여 다른 날에 둘 이상의 특허출원이 있는 경우에는 선출원이 처리되거나 출원공개 또는 등록공고 될 때까지 후출원의 심사를 보류하여야 한다</a:t>
            </a:r>
            <a:r>
              <a:rPr lang="en-US" altLang="ko-KR" sz="1150" dirty="0">
                <a:solidFill>
                  <a:schemeClr val="tx2"/>
                </a:solidFill>
              </a:rPr>
              <a:t>. </a:t>
            </a:r>
            <a:r>
              <a:rPr lang="ko-KR" altLang="en-US" sz="1150" dirty="0">
                <a:solidFill>
                  <a:schemeClr val="tx2"/>
                </a:solidFill>
              </a:rPr>
              <a:t>다만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선출원을 거절할 이유와 동일한 이유에 의하여 후출원을 거절하는 경우에는 그러하지 아니하다</a:t>
            </a:r>
            <a:r>
              <a:rPr lang="en-US" altLang="ko-KR" sz="115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② </a:t>
            </a:r>
            <a:r>
              <a:rPr lang="ko-KR" altLang="en-US" sz="1150" dirty="0">
                <a:solidFill>
                  <a:schemeClr val="tx2"/>
                </a:solidFill>
              </a:rPr>
              <a:t>심사관이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따라 심사를 보류하려는 경우에는 지식재산처장이 지정한 심사장의 확인을 받아야 한다</a:t>
            </a:r>
            <a:endParaRPr lang="en-US" altLang="ko-KR" sz="115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시행규칙 제</a:t>
            </a:r>
            <a:r>
              <a:rPr lang="en-US" altLang="ko-KR" sz="1150" b="1" dirty="0">
                <a:solidFill>
                  <a:schemeClr val="accent1"/>
                </a:solidFill>
              </a:rPr>
              <a:t>40</a:t>
            </a:r>
            <a:r>
              <a:rPr lang="ko-KR" altLang="en-US" sz="1150" b="1" dirty="0">
                <a:solidFill>
                  <a:schemeClr val="accent1"/>
                </a:solidFill>
              </a:rPr>
              <a:t>조의</a:t>
            </a:r>
            <a:r>
              <a:rPr lang="en-US" altLang="ko-KR" sz="1150" b="1" dirty="0">
                <a:solidFill>
                  <a:schemeClr val="accent1"/>
                </a:solidFill>
              </a:rPr>
              <a:t>2(</a:t>
            </a:r>
            <a:r>
              <a:rPr lang="ko-KR" altLang="en-US" sz="1150" b="1" dirty="0">
                <a:solidFill>
                  <a:schemeClr val="accent1"/>
                </a:solidFill>
              </a:rPr>
              <a:t>특허여부결정의 보류</a:t>
            </a:r>
            <a:r>
              <a:rPr lang="en-US" altLang="ko-KR" sz="1150" b="1" dirty="0">
                <a:solidFill>
                  <a:schemeClr val="accent1"/>
                </a:solidFill>
              </a:rPr>
              <a:t>)</a:t>
            </a:r>
            <a:r>
              <a:rPr lang="en-US" altLang="ko-KR" sz="1150" dirty="0">
                <a:solidFill>
                  <a:schemeClr val="tx2"/>
                </a:solidFill>
              </a:rPr>
              <a:t> </a:t>
            </a:r>
            <a:r>
              <a:rPr lang="ko-KR" altLang="en-US" sz="1150" dirty="0">
                <a:solidFill>
                  <a:schemeClr val="tx2"/>
                </a:solidFill>
              </a:rPr>
              <a:t>① 심사관은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특허출원심사의</a:t>
            </a:r>
            <a:r>
              <a:rPr lang="ko-KR" altLang="en-US" sz="1150" dirty="0">
                <a:solidFill>
                  <a:schemeClr val="tx2"/>
                </a:solidFill>
              </a:rPr>
              <a:t> 청구 후 출원인이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특허출원일부터</a:t>
            </a:r>
            <a:r>
              <a:rPr lang="ko-KR" altLang="en-US" sz="1150" dirty="0">
                <a:solidFill>
                  <a:schemeClr val="tx2"/>
                </a:solidFill>
              </a:rPr>
              <a:t> </a:t>
            </a:r>
            <a:r>
              <a:rPr lang="en-US" altLang="ko-KR" sz="1150" dirty="0">
                <a:solidFill>
                  <a:schemeClr val="tx2"/>
                </a:solidFill>
              </a:rPr>
              <a:t>6</a:t>
            </a:r>
            <a:r>
              <a:rPr lang="ko-KR" altLang="en-US" sz="1150" dirty="0">
                <a:solidFill>
                  <a:schemeClr val="tx2"/>
                </a:solidFill>
              </a:rPr>
              <a:t>개월 이내에 별지 제</a:t>
            </a:r>
            <a:r>
              <a:rPr lang="en-US" altLang="ko-KR" sz="1150" dirty="0">
                <a:solidFill>
                  <a:schemeClr val="tx2"/>
                </a:solidFill>
              </a:rPr>
              <a:t>22</a:t>
            </a:r>
            <a:r>
              <a:rPr lang="ko-KR" altLang="en-US" sz="1150" dirty="0">
                <a:solidFill>
                  <a:schemeClr val="tx2"/>
                </a:solidFill>
              </a:rPr>
              <a:t>호의</a:t>
            </a:r>
            <a:r>
              <a:rPr lang="en-US" altLang="ko-KR" sz="1150" dirty="0">
                <a:solidFill>
                  <a:schemeClr val="tx2"/>
                </a:solidFill>
              </a:rPr>
              <a:t>2</a:t>
            </a:r>
            <a:r>
              <a:rPr lang="ko-KR" altLang="en-US" sz="1150" dirty="0">
                <a:solidFill>
                  <a:schemeClr val="tx2"/>
                </a:solidFill>
              </a:rPr>
              <a:t>서식의 결정 보류신청서를 지식재산처장에게 제출하는 경우에는 </a:t>
            </a:r>
            <a:r>
              <a:rPr lang="ko-KR" altLang="en-US" sz="1150" dirty="0" err="1">
                <a:solidFill>
                  <a:schemeClr val="tx2"/>
                </a:solidFill>
              </a:rPr>
              <a:t>특허출원일부터</a:t>
            </a:r>
            <a:r>
              <a:rPr lang="ko-KR" altLang="en-US" sz="1150" dirty="0">
                <a:solidFill>
                  <a:schemeClr val="tx2"/>
                </a:solidFill>
              </a:rPr>
              <a:t> </a:t>
            </a:r>
            <a:r>
              <a:rPr lang="en-US" altLang="ko-KR" sz="1150" dirty="0">
                <a:solidFill>
                  <a:schemeClr val="tx2"/>
                </a:solidFill>
              </a:rPr>
              <a:t>12</a:t>
            </a:r>
            <a:r>
              <a:rPr lang="ko-KR" altLang="en-US" sz="1150" dirty="0">
                <a:solidFill>
                  <a:schemeClr val="tx2"/>
                </a:solidFill>
              </a:rPr>
              <a:t>개월이 경과하기 전까지 특허여부결정을 보류할 수 있다</a:t>
            </a:r>
            <a:r>
              <a:rPr lang="en-US" altLang="ko-KR" sz="1150" dirty="0">
                <a:solidFill>
                  <a:schemeClr val="tx2"/>
                </a:solidFill>
              </a:rPr>
              <a:t>. </a:t>
            </a:r>
            <a:r>
              <a:rPr lang="ko-KR" altLang="en-US" sz="1150" dirty="0">
                <a:solidFill>
                  <a:schemeClr val="tx2"/>
                </a:solidFill>
              </a:rPr>
              <a:t>다만</a:t>
            </a:r>
            <a:r>
              <a:rPr lang="en-US" altLang="ko-KR" sz="1150" dirty="0">
                <a:solidFill>
                  <a:schemeClr val="tx2"/>
                </a:solidFill>
              </a:rPr>
              <a:t>, </a:t>
            </a:r>
            <a:r>
              <a:rPr lang="ko-KR" altLang="en-US" sz="115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150" dirty="0">
                <a:solidFill>
                  <a:schemeClr val="tx2"/>
                </a:solidFill>
              </a:rPr>
              <a:t>.  </a:t>
            </a:r>
            <a:br>
              <a:rPr lang="en-US" altLang="ko-KR" sz="1150" dirty="0">
                <a:solidFill>
                  <a:schemeClr val="tx2"/>
                </a:solidFill>
              </a:rPr>
            </a:br>
            <a:r>
              <a:rPr lang="en-US" altLang="ko-KR" sz="1150" dirty="0">
                <a:solidFill>
                  <a:schemeClr val="tx2"/>
                </a:solidFill>
              </a:rPr>
              <a:t>1. </a:t>
            </a:r>
            <a:r>
              <a:rPr lang="ko-KR" altLang="en-US" sz="1150" dirty="0">
                <a:solidFill>
                  <a:schemeClr val="tx2"/>
                </a:solidFill>
              </a:rPr>
              <a:t>특허출원이 분리출원 또는 </a:t>
            </a:r>
            <a:r>
              <a:rPr lang="ko-KR" altLang="en-US" sz="1150" dirty="0" err="1">
                <a:solidFill>
                  <a:schemeClr val="tx2"/>
                </a:solidFill>
              </a:rPr>
              <a:t>변경출원인</a:t>
            </a:r>
            <a:r>
              <a:rPr lang="ko-KR" altLang="en-US" sz="115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2. </a:t>
            </a:r>
            <a:r>
              <a:rPr lang="ko-KR" altLang="en-US" sz="1150" dirty="0">
                <a:solidFill>
                  <a:schemeClr val="tx2"/>
                </a:solidFill>
              </a:rPr>
              <a:t>특허출원에 대하여 우선심사결정을 한 경우</a:t>
            </a:r>
          </a:p>
          <a:p>
            <a:pPr fontAlgn="base"/>
            <a:r>
              <a:rPr lang="en-US" altLang="ko-KR" sz="1150" dirty="0">
                <a:solidFill>
                  <a:schemeClr val="tx2"/>
                </a:solidFill>
              </a:rPr>
              <a:t>3. </a:t>
            </a:r>
            <a:r>
              <a:rPr lang="ko-KR" altLang="en-US" sz="1150" dirty="0">
                <a:solidFill>
                  <a:schemeClr val="tx2"/>
                </a:solidFill>
              </a:rPr>
              <a:t>특허여부결정의 보류신청이 있기 전에 이미 </a:t>
            </a:r>
            <a:r>
              <a:rPr lang="ko-KR" altLang="en-US" sz="1150" dirty="0" err="1">
                <a:solidFill>
                  <a:schemeClr val="tx2"/>
                </a:solidFill>
              </a:rPr>
              <a:t>특허거절결정서</a:t>
            </a:r>
            <a:r>
              <a:rPr lang="ko-KR" altLang="en-US" sz="1150" dirty="0">
                <a:solidFill>
                  <a:schemeClr val="tx2"/>
                </a:solidFill>
              </a:rPr>
              <a:t> 또는 특허결정서를 통지한 경우</a:t>
            </a:r>
          </a:p>
          <a:p>
            <a:pPr fontAlgn="base"/>
            <a:r>
              <a:rPr lang="ko-KR" altLang="en-US" sz="1150" dirty="0">
                <a:solidFill>
                  <a:schemeClr val="tx2"/>
                </a:solidFill>
              </a:rPr>
              <a:t>② 대리인에 의하여 절차를 밟는 경우에는 제</a:t>
            </a:r>
            <a:r>
              <a:rPr lang="en-US" altLang="ko-KR" sz="1150" dirty="0">
                <a:solidFill>
                  <a:schemeClr val="tx2"/>
                </a:solidFill>
              </a:rPr>
              <a:t>1</a:t>
            </a:r>
            <a:r>
              <a:rPr lang="ko-KR" altLang="en-US" sz="1150" dirty="0">
                <a:solidFill>
                  <a:schemeClr val="tx2"/>
                </a:solidFill>
              </a:rPr>
              <a:t>항에 따른 서식에 그 대리권을 증명하는 서류를 첨부하여야 한다</a:t>
            </a:r>
            <a:r>
              <a:rPr lang="en-US" altLang="ko-KR" sz="1150" dirty="0">
                <a:solidFill>
                  <a:schemeClr val="tx2"/>
                </a:solidFill>
              </a:rPr>
              <a:t>.</a:t>
            </a:r>
            <a:r>
              <a:rPr lang="ko-KR" altLang="en-US" sz="1150" dirty="0">
                <a:solidFill>
                  <a:schemeClr val="tx2"/>
                </a:solidFill>
              </a:rPr>
              <a:t> </a:t>
            </a:r>
            <a:endParaRPr lang="en-US" altLang="ko-KR" sz="1150" dirty="0">
              <a:solidFill>
                <a:schemeClr val="tx2"/>
              </a:solidFill>
            </a:endParaRPr>
          </a:p>
        </p:txBody>
      </p:sp>
      <p:sp>
        <p:nvSpPr>
          <p:cNvPr id="87" name="양쪽 모서리가 둥근 사각형 26">
            <a:extLst>
              <a:ext uri="{FF2B5EF4-FFF2-40B4-BE49-F238E27FC236}">
                <a16:creationId xmlns:a16="http://schemas.microsoft.com/office/drawing/2014/main" id="{6D5FA13D-2A71-4AC0-81D2-75C5B42BEC00}"/>
              </a:ext>
            </a:extLst>
          </p:cNvPr>
          <p:cNvSpPr/>
          <p:nvPr/>
        </p:nvSpPr>
        <p:spPr>
          <a:xfrm>
            <a:off x="804730" y="6218118"/>
            <a:ext cx="4236942" cy="366322"/>
          </a:xfrm>
          <a:prstGeom prst="round2SameRect">
            <a:avLst>
              <a:gd name="adj1" fmla="val 0"/>
              <a:gd name="adj2" fmla="val 50000"/>
            </a:avLst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F31F703-0BB9-459A-9474-4BE4AE0223B1}"/>
              </a:ext>
            </a:extLst>
          </p:cNvPr>
          <p:cNvCxnSpPr>
            <a:cxnSpLocks/>
          </p:cNvCxnSpPr>
          <p:nvPr/>
        </p:nvCxnSpPr>
        <p:spPr>
          <a:xfrm>
            <a:off x="626836" y="6220323"/>
            <a:ext cx="512929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화살표: 왼쪽/오른쪽 13">
            <a:extLst>
              <a:ext uri="{FF2B5EF4-FFF2-40B4-BE49-F238E27FC236}">
                <a16:creationId xmlns:a16="http://schemas.microsoft.com/office/drawing/2014/main" id="{71DE6C8A-B10F-4177-8B34-FD3496D13D1B}"/>
              </a:ext>
            </a:extLst>
          </p:cNvPr>
          <p:cNvSpPr/>
          <p:nvPr/>
        </p:nvSpPr>
        <p:spPr>
          <a:xfrm>
            <a:off x="3011593" y="6043104"/>
            <a:ext cx="2030067" cy="339675"/>
          </a:xfrm>
          <a:prstGeom prst="leftRightArrow">
            <a:avLst>
              <a:gd name="adj1" fmla="val 73094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62734EB7-7762-4727-AF1B-31C09C812FAB}"/>
              </a:ext>
            </a:extLst>
          </p:cNvPr>
          <p:cNvCxnSpPr>
            <a:cxnSpLocks/>
          </p:cNvCxnSpPr>
          <p:nvPr/>
        </p:nvCxnSpPr>
        <p:spPr>
          <a:xfrm>
            <a:off x="156513" y="5066236"/>
            <a:ext cx="419508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양쪽 모서리가 둥근 사각형 88">
            <a:extLst>
              <a:ext uri="{FF2B5EF4-FFF2-40B4-BE49-F238E27FC236}">
                <a16:creationId xmlns:a16="http://schemas.microsoft.com/office/drawing/2014/main" id="{958BF48C-545B-4F4E-963A-144057F0BE7A}"/>
              </a:ext>
            </a:extLst>
          </p:cNvPr>
          <p:cNvSpPr/>
          <p:nvPr/>
        </p:nvSpPr>
        <p:spPr>
          <a:xfrm>
            <a:off x="799591" y="5741443"/>
            <a:ext cx="1967675" cy="47562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4F97F9D-9982-4762-BA27-63B8C870C669}"/>
              </a:ext>
            </a:extLst>
          </p:cNvPr>
          <p:cNvSpPr/>
          <p:nvPr/>
        </p:nvSpPr>
        <p:spPr>
          <a:xfrm>
            <a:off x="1119304" y="5508508"/>
            <a:ext cx="1434956" cy="23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6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개월 이내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DBA6701-79F4-4F0A-A0E0-EB521DDF0F3A}"/>
              </a:ext>
            </a:extLst>
          </p:cNvPr>
          <p:cNvSpPr/>
          <p:nvPr/>
        </p:nvSpPr>
        <p:spPr>
          <a:xfrm>
            <a:off x="2199877" y="6571293"/>
            <a:ext cx="1434956" cy="23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12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개월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DAD960F-4FE4-4B41-B9E0-9E508C4F2666}"/>
              </a:ext>
            </a:extLst>
          </p:cNvPr>
          <p:cNvSpPr/>
          <p:nvPr/>
        </p:nvSpPr>
        <p:spPr>
          <a:xfrm>
            <a:off x="3232618" y="6097607"/>
            <a:ext cx="1539364" cy="23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0000"/>
                </a:solidFill>
              </a:rPr>
              <a:t>특허여부결정보류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C60889C-5599-45AF-ACD8-9183834047BC}"/>
              </a:ext>
            </a:extLst>
          </p:cNvPr>
          <p:cNvSpPr/>
          <p:nvPr/>
        </p:nvSpPr>
        <p:spPr>
          <a:xfrm>
            <a:off x="555264" y="5980223"/>
            <a:ext cx="467595" cy="469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C72445C-19BE-4869-97FF-319D55D46BD3}"/>
              </a:ext>
            </a:extLst>
          </p:cNvPr>
          <p:cNvSpPr/>
          <p:nvPr/>
        </p:nvSpPr>
        <p:spPr>
          <a:xfrm>
            <a:off x="1514192" y="5980223"/>
            <a:ext cx="467595" cy="469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64398C4-7DB0-41FE-9FA4-0A63E813A18B}"/>
              </a:ext>
            </a:extLst>
          </p:cNvPr>
          <p:cNvSpPr/>
          <p:nvPr/>
        </p:nvSpPr>
        <p:spPr>
          <a:xfrm>
            <a:off x="2519126" y="5980223"/>
            <a:ext cx="471731" cy="469776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보류신청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271AB-7F8E-F00E-2DC7-BE01D44FC5B3}"/>
              </a:ext>
            </a:extLst>
          </p:cNvPr>
          <p:cNvSpPr txBox="1"/>
          <p:nvPr/>
        </p:nvSpPr>
        <p:spPr>
          <a:xfrm>
            <a:off x="90608" y="5078265"/>
            <a:ext cx="5939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/>
            <a:r>
              <a:rPr lang="ko-KR" altLang="en-US" sz="1000" dirty="0">
                <a:solidFill>
                  <a:srgbClr val="FF0000"/>
                </a:solidFill>
              </a:rPr>
              <a:t>* 분할출원은 분할출원의 심사청구순서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분리출원과 변경출원은 원출원의 심사청구순서에 의하여 심사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특허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실용신안 심사사무취급규정 제</a:t>
            </a:r>
            <a:r>
              <a:rPr lang="en-US" altLang="ko-KR" sz="1000" dirty="0">
                <a:solidFill>
                  <a:srgbClr val="FF0000"/>
                </a:solidFill>
              </a:rPr>
              <a:t>20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195750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심사절차 일반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253</a:t>
            </a:r>
            <a:endParaRPr lang="ko-KR" altLang="en-US" dirty="0"/>
          </a:p>
        </p:txBody>
      </p:sp>
      <p:sp>
        <p:nvSpPr>
          <p:cNvPr id="94" name="Rectangle 5">
            <a:extLst>
              <a:ext uri="{FF2B5EF4-FFF2-40B4-BE49-F238E27FC236}">
                <a16:creationId xmlns:a16="http://schemas.microsoft.com/office/drawing/2014/main" id="{7777D8A6-877A-4695-A8C3-4629458B7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666" y="1373037"/>
            <a:ext cx="1133475" cy="348102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특허출원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95" name="직선 화살표 연결선 14">
            <a:extLst>
              <a:ext uri="{FF2B5EF4-FFF2-40B4-BE49-F238E27FC236}">
                <a16:creationId xmlns:a16="http://schemas.microsoft.com/office/drawing/2014/main" id="{B310C67D-2E6C-4979-81E2-F86AAAC0E19A}"/>
              </a:ext>
            </a:extLst>
          </p:cNvPr>
          <p:cNvCxnSpPr>
            <a:cxnSpLocks noChangeShapeType="1"/>
            <a:stCxn id="94" idx="2"/>
          </p:cNvCxnSpPr>
          <p:nvPr/>
        </p:nvCxnSpPr>
        <p:spPr bwMode="auto">
          <a:xfrm flipH="1">
            <a:off x="2372403" y="1721139"/>
            <a:ext cx="1" cy="143844"/>
          </a:xfrm>
          <a:prstGeom prst="straightConnector1">
            <a:avLst/>
          </a:prstGeom>
          <a:noFill/>
          <a:ln w="19050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Rectangle 5">
            <a:extLst>
              <a:ext uri="{FF2B5EF4-FFF2-40B4-BE49-F238E27FC236}">
                <a16:creationId xmlns:a16="http://schemas.microsoft.com/office/drawing/2014/main" id="{E3259C91-8AC3-4FDA-9469-0C1BC8B5D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666" y="2310632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특허분류</a:t>
            </a:r>
            <a:endParaRPr lang="en-US" altLang="ko-KR" sz="110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(IPC, CPC)</a:t>
            </a:r>
            <a:endParaRPr lang="ko-KR" altLang="en-US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7" name="AutoShape 11">
            <a:extLst>
              <a:ext uri="{FF2B5EF4-FFF2-40B4-BE49-F238E27FC236}">
                <a16:creationId xmlns:a16="http://schemas.microsoft.com/office/drawing/2014/main" id="{71ED3626-7EB1-4D0D-9C5D-3F1EA47BD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664" y="3240883"/>
            <a:ext cx="1133478" cy="471808"/>
          </a:xfrm>
          <a:prstGeom prst="flowChartDecisi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실체심사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D0793C8-0DBA-417C-9CBE-0364B4578C84}"/>
              </a:ext>
            </a:extLst>
          </p:cNvPr>
          <p:cNvCxnSpPr>
            <a:stCxn id="94" idx="2"/>
            <a:endCxn id="96" idx="0"/>
          </p:cNvCxnSpPr>
          <p:nvPr/>
        </p:nvCxnSpPr>
        <p:spPr>
          <a:xfrm>
            <a:off x="2372404" y="1721139"/>
            <a:ext cx="0" cy="5894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F5A92FC2-8291-4C32-A37C-5129B0E0C43B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flipH="1">
            <a:off x="2372403" y="2658734"/>
            <a:ext cx="1" cy="5821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7">
            <a:extLst>
              <a:ext uri="{FF2B5EF4-FFF2-40B4-BE49-F238E27FC236}">
                <a16:creationId xmlns:a16="http://schemas.microsoft.com/office/drawing/2014/main" id="{C80DF191-AB23-4AAC-83E8-7120975EE8A6}"/>
              </a:ext>
            </a:extLst>
          </p:cNvPr>
          <p:cNvCxnSpPr>
            <a:stCxn id="94" idx="1"/>
          </p:cNvCxnSpPr>
          <p:nvPr/>
        </p:nvCxnSpPr>
        <p:spPr>
          <a:xfrm rot="10800000" flipH="1" flipV="1">
            <a:off x="1805666" y="1547087"/>
            <a:ext cx="566738" cy="1507779"/>
          </a:xfrm>
          <a:prstGeom prst="bentConnector4">
            <a:avLst>
              <a:gd name="adj1" fmla="val -161344"/>
              <a:gd name="adj2" fmla="val 100090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5">
            <a:extLst>
              <a:ext uri="{FF2B5EF4-FFF2-40B4-BE49-F238E27FC236}">
                <a16:creationId xmlns:a16="http://schemas.microsoft.com/office/drawing/2014/main" id="{C3D1505D-8135-4CA8-8D4A-ECE213C2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93" y="1915050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출원공개</a:t>
            </a:r>
            <a:endParaRPr lang="en-US" altLang="ko-KR" sz="1000" dirty="0">
              <a:latin typeface="+mj-ea"/>
              <a:ea typeface="+mj-ea"/>
            </a:endParaRPr>
          </a:p>
          <a:p>
            <a:pPr algn="ctr"/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  <a:latin typeface="+mj-ea"/>
                <a:ea typeface="+mj-ea"/>
              </a:rPr>
              <a:t>조기공개신청</a:t>
            </a:r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C5299D3-A6EC-4580-9D60-8FD07D81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93" y="2487037"/>
            <a:ext cx="1133475" cy="348102"/>
          </a:xfrm>
          <a:prstGeom prst="rect">
            <a:avLst/>
          </a:prstGeom>
          <a:solidFill>
            <a:schemeClr val="bg1"/>
          </a:solidFill>
          <a:ln w="57150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심사청구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  <a:latin typeface="+mj-ea"/>
                <a:ea typeface="+mj-ea"/>
              </a:rPr>
              <a:t>우선심사신청</a:t>
            </a:r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4" name="Rectangle 5">
            <a:extLst>
              <a:ext uri="{FF2B5EF4-FFF2-40B4-BE49-F238E27FC236}">
                <a16:creationId xmlns:a16="http://schemas.microsoft.com/office/drawing/2014/main" id="{9E637D0A-709D-4222-9C93-24F1CC8A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096" y="3684147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특허결정</a:t>
            </a:r>
            <a:endParaRPr lang="en-US" altLang="ko-KR" sz="110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직권보정</a:t>
            </a:r>
            <a:r>
              <a:rPr lang="en-US" altLang="ko-KR" sz="9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5" name="Rectangle 5">
            <a:extLst>
              <a:ext uri="{FF2B5EF4-FFF2-40B4-BE49-F238E27FC236}">
                <a16:creationId xmlns:a16="http://schemas.microsoft.com/office/drawing/2014/main" id="{5B6C5F05-F06B-44BA-8FC7-9BB285CCE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421" y="2709513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거절이유통지</a:t>
            </a:r>
          </a:p>
        </p:txBody>
      </p:sp>
      <p:sp>
        <p:nvSpPr>
          <p:cNvPr id="106" name="Rectangle 5">
            <a:extLst>
              <a:ext uri="{FF2B5EF4-FFF2-40B4-BE49-F238E27FC236}">
                <a16:creationId xmlns:a16="http://schemas.microsoft.com/office/drawing/2014/main" id="{B1AAFCBC-BC9B-48E7-BA97-C3F6E9C2E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421" y="2053823"/>
            <a:ext cx="1133475" cy="348102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의견서</a:t>
            </a:r>
            <a:r>
              <a:rPr lang="en-US" altLang="ko-KR" sz="1100" dirty="0">
                <a:latin typeface="+mj-ea"/>
                <a:ea typeface="+mj-ea"/>
              </a:rPr>
              <a:t>/</a:t>
            </a:r>
            <a:r>
              <a:rPr lang="ko-KR" altLang="en-US" sz="1100" dirty="0">
                <a:latin typeface="+mj-ea"/>
                <a:ea typeface="+mj-ea"/>
              </a:rPr>
              <a:t>보정서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7" name="AutoShape 11">
            <a:extLst>
              <a:ext uri="{FF2B5EF4-FFF2-40B4-BE49-F238E27FC236}">
                <a16:creationId xmlns:a16="http://schemas.microsoft.com/office/drawing/2014/main" id="{A9464496-43D2-4D0B-9A58-3F66FFA15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667" y="2802883"/>
            <a:ext cx="1133478" cy="471808"/>
          </a:xfrm>
          <a:prstGeom prst="flowChartDecisi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실체심사</a:t>
            </a:r>
          </a:p>
        </p:txBody>
      </p:sp>
      <p:cxnSp>
        <p:nvCxnSpPr>
          <p:cNvPr id="108" name="꺾인 연결선 24">
            <a:extLst>
              <a:ext uri="{FF2B5EF4-FFF2-40B4-BE49-F238E27FC236}">
                <a16:creationId xmlns:a16="http://schemas.microsoft.com/office/drawing/2014/main" id="{F01C332B-5AD0-4686-B323-E85775B1850E}"/>
              </a:ext>
            </a:extLst>
          </p:cNvPr>
          <p:cNvCxnSpPr>
            <a:stCxn id="97" idx="3"/>
            <a:endCxn id="105" idx="2"/>
          </p:cNvCxnSpPr>
          <p:nvPr/>
        </p:nvCxnSpPr>
        <p:spPr>
          <a:xfrm flipV="1">
            <a:off x="2939142" y="3057615"/>
            <a:ext cx="880017" cy="419172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BDA91FDD-D833-4E99-BC61-4C86A46921E6}"/>
              </a:ext>
            </a:extLst>
          </p:cNvPr>
          <p:cNvCxnSpPr>
            <a:stCxn id="105" idx="0"/>
            <a:endCxn id="106" idx="2"/>
          </p:cNvCxnSpPr>
          <p:nvPr/>
        </p:nvCxnSpPr>
        <p:spPr>
          <a:xfrm flipV="1">
            <a:off x="3819159" y="2401925"/>
            <a:ext cx="0" cy="307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26">
            <a:extLst>
              <a:ext uri="{FF2B5EF4-FFF2-40B4-BE49-F238E27FC236}">
                <a16:creationId xmlns:a16="http://schemas.microsoft.com/office/drawing/2014/main" id="{E6408383-E8DC-43CC-803B-DAFBE416949D}"/>
              </a:ext>
            </a:extLst>
          </p:cNvPr>
          <p:cNvCxnSpPr>
            <a:stCxn id="106" idx="0"/>
            <a:endCxn id="107" idx="1"/>
          </p:cNvCxnSpPr>
          <p:nvPr/>
        </p:nvCxnSpPr>
        <p:spPr>
          <a:xfrm rot="16200000" flipH="1">
            <a:off x="3839431" y="2033551"/>
            <a:ext cx="984964" cy="1025508"/>
          </a:xfrm>
          <a:prstGeom prst="bentConnector4">
            <a:avLst>
              <a:gd name="adj1" fmla="val -23209"/>
              <a:gd name="adj2" fmla="val 77632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28">
            <a:extLst>
              <a:ext uri="{FF2B5EF4-FFF2-40B4-BE49-F238E27FC236}">
                <a16:creationId xmlns:a16="http://schemas.microsoft.com/office/drawing/2014/main" id="{4FEE5C20-03C5-42D5-8FDD-4E90C0DD89FB}"/>
              </a:ext>
            </a:extLst>
          </p:cNvPr>
          <p:cNvCxnSpPr>
            <a:stCxn id="97" idx="2"/>
            <a:endCxn id="104" idx="1"/>
          </p:cNvCxnSpPr>
          <p:nvPr/>
        </p:nvCxnSpPr>
        <p:spPr>
          <a:xfrm rot="16200000" flipH="1">
            <a:off x="3534996" y="2550097"/>
            <a:ext cx="145507" cy="247069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5">
            <a:extLst>
              <a:ext uri="{FF2B5EF4-FFF2-40B4-BE49-F238E27FC236}">
                <a16:creationId xmlns:a16="http://schemas.microsoft.com/office/drawing/2014/main" id="{046F8658-A8BC-4C82-A17A-73A84FB3E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096" y="4344726"/>
            <a:ext cx="1133475" cy="348102"/>
          </a:xfrm>
          <a:prstGeom prst="rect">
            <a:avLst/>
          </a:prstGeom>
          <a:solidFill>
            <a:schemeClr val="bg1"/>
          </a:solidFill>
          <a:ln w="571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특허료 납부</a:t>
            </a:r>
          </a:p>
        </p:txBody>
      </p:sp>
      <p:sp>
        <p:nvSpPr>
          <p:cNvPr id="113" name="Rectangle 5">
            <a:extLst>
              <a:ext uri="{FF2B5EF4-FFF2-40B4-BE49-F238E27FC236}">
                <a16:creationId xmlns:a16="http://schemas.microsoft.com/office/drawing/2014/main" id="{EA6E2353-EEAD-41F4-A933-BF44D405F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096" y="4887651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설정등록</a:t>
            </a:r>
          </a:p>
        </p:txBody>
      </p:sp>
      <p:sp>
        <p:nvSpPr>
          <p:cNvPr id="114" name="Rectangle 5">
            <a:extLst>
              <a:ext uri="{FF2B5EF4-FFF2-40B4-BE49-F238E27FC236}">
                <a16:creationId xmlns:a16="http://schemas.microsoft.com/office/drawing/2014/main" id="{E52F730D-3E42-453B-A2A2-F8CD7AA2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096" y="5422653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등록공고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10BC86EB-0AA6-42B0-BB0F-C89D658DEDE6}"/>
              </a:ext>
            </a:extLst>
          </p:cNvPr>
          <p:cNvCxnSpPr>
            <a:stCxn id="107" idx="2"/>
            <a:endCxn id="104" idx="0"/>
          </p:cNvCxnSpPr>
          <p:nvPr/>
        </p:nvCxnSpPr>
        <p:spPr>
          <a:xfrm flipH="1">
            <a:off x="5409834" y="3274691"/>
            <a:ext cx="1572" cy="40945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6A01480-776B-4B3C-8235-D96A3AE61A2C}"/>
              </a:ext>
            </a:extLst>
          </p:cNvPr>
          <p:cNvCxnSpPr>
            <a:stCxn id="104" idx="2"/>
            <a:endCxn id="112" idx="0"/>
          </p:cNvCxnSpPr>
          <p:nvPr/>
        </p:nvCxnSpPr>
        <p:spPr>
          <a:xfrm>
            <a:off x="5409834" y="4032249"/>
            <a:ext cx="0" cy="3124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FA859292-3E17-4E9F-856B-23ED494C1E71}"/>
              </a:ext>
            </a:extLst>
          </p:cNvPr>
          <p:cNvCxnSpPr>
            <a:stCxn id="112" idx="2"/>
            <a:endCxn id="113" idx="0"/>
          </p:cNvCxnSpPr>
          <p:nvPr/>
        </p:nvCxnSpPr>
        <p:spPr>
          <a:xfrm>
            <a:off x="5409834" y="4692828"/>
            <a:ext cx="0" cy="19482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F86C7467-C6ED-4B6D-A786-551AB2BF4AD1}"/>
              </a:ext>
            </a:extLst>
          </p:cNvPr>
          <p:cNvCxnSpPr>
            <a:stCxn id="113" idx="2"/>
            <a:endCxn id="114" idx="0"/>
          </p:cNvCxnSpPr>
          <p:nvPr/>
        </p:nvCxnSpPr>
        <p:spPr>
          <a:xfrm>
            <a:off x="5409834" y="5235753"/>
            <a:ext cx="0" cy="1869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5">
            <a:extLst>
              <a:ext uri="{FF2B5EF4-FFF2-40B4-BE49-F238E27FC236}">
                <a16:creationId xmlns:a16="http://schemas.microsoft.com/office/drawing/2014/main" id="{B7F535C5-346A-41B0-9BC3-37907058E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496" y="1917460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거절결정</a:t>
            </a:r>
          </a:p>
        </p:txBody>
      </p:sp>
      <p:sp>
        <p:nvSpPr>
          <p:cNvPr id="120" name="Rectangle 5">
            <a:extLst>
              <a:ext uri="{FF2B5EF4-FFF2-40B4-BE49-F238E27FC236}">
                <a16:creationId xmlns:a16="http://schemas.microsoft.com/office/drawing/2014/main" id="{538CC925-02CF-437F-8163-0AF36AB80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496" y="2601706"/>
            <a:ext cx="1133475" cy="348102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재심사청구</a:t>
            </a:r>
            <a:r>
              <a:rPr lang="en-US" altLang="ko-KR" sz="11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보정</a:t>
            </a:r>
            <a:r>
              <a:rPr lang="en-US" altLang="ko-KR" sz="11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1" name="AutoShape 11">
            <a:extLst>
              <a:ext uri="{FF2B5EF4-FFF2-40B4-BE49-F238E27FC236}">
                <a16:creationId xmlns:a16="http://schemas.microsoft.com/office/drawing/2014/main" id="{F9E68FE7-F537-401C-999C-624F0D141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496" y="3271417"/>
            <a:ext cx="1133478" cy="471808"/>
          </a:xfrm>
          <a:prstGeom prst="flowChartDecisi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실체심사</a:t>
            </a:r>
          </a:p>
        </p:txBody>
      </p:sp>
      <p:sp>
        <p:nvSpPr>
          <p:cNvPr id="122" name="Rectangle 5">
            <a:extLst>
              <a:ext uri="{FF2B5EF4-FFF2-40B4-BE49-F238E27FC236}">
                <a16:creationId xmlns:a16="http://schemas.microsoft.com/office/drawing/2014/main" id="{05A7DFC1-0577-4547-876D-1DF0B653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496" y="4059619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거절결정</a:t>
            </a:r>
          </a:p>
        </p:txBody>
      </p:sp>
      <p:sp>
        <p:nvSpPr>
          <p:cNvPr id="123" name="Rectangle 5">
            <a:extLst>
              <a:ext uri="{FF2B5EF4-FFF2-40B4-BE49-F238E27FC236}">
                <a16:creationId xmlns:a16="http://schemas.microsoft.com/office/drawing/2014/main" id="{B0E2BCCD-C890-463D-89D0-9277DD204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5971" y="2052308"/>
            <a:ext cx="1281479" cy="348102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거절결정불복심판청구</a:t>
            </a:r>
            <a:endParaRPr lang="en-US" altLang="ko-KR" sz="110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특허심판원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en-US" altLang="ko-KR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4" name="Rectangle 5">
            <a:extLst>
              <a:ext uri="{FF2B5EF4-FFF2-40B4-BE49-F238E27FC236}">
                <a16:creationId xmlns:a16="http://schemas.microsoft.com/office/drawing/2014/main" id="{A249DBBE-7754-4AD1-B6EC-20B81717D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551" y="2247258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인용심결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거절결정취소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ko-KR" altLang="en-US" sz="900" dirty="0">
              <a:latin typeface="+mj-ea"/>
              <a:ea typeface="+mj-ea"/>
            </a:endParaRPr>
          </a:p>
        </p:txBody>
      </p:sp>
      <p:sp>
        <p:nvSpPr>
          <p:cNvPr id="125" name="Rectangle 5">
            <a:extLst>
              <a:ext uri="{FF2B5EF4-FFF2-40B4-BE49-F238E27FC236}">
                <a16:creationId xmlns:a16="http://schemas.microsoft.com/office/drawing/2014/main" id="{99F2A70D-A05A-4AFE-86BE-77039241A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551" y="1820131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기각</a:t>
            </a:r>
            <a:r>
              <a:rPr lang="ko-KR" altLang="en-US" sz="1100" b="0" dirty="0" err="1">
                <a:solidFill>
                  <a:schemeClr val="tx1"/>
                </a:solidFill>
                <a:latin typeface="+mj-ea"/>
                <a:ea typeface="+mj-ea"/>
              </a:rPr>
              <a:t>심결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6CFBCD20-0883-4493-9373-0F999B9E3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7071" y="4045073"/>
            <a:ext cx="1281479" cy="348102"/>
          </a:xfrm>
          <a:prstGeom prst="rect">
            <a:avLst/>
          </a:prstGeom>
          <a:solidFill>
            <a:schemeClr val="bg1"/>
          </a:solidFill>
          <a:ln w="57150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소제기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특허법원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en-US" altLang="ko-KR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7" name="Rectangle 5">
            <a:extLst>
              <a:ext uri="{FF2B5EF4-FFF2-40B4-BE49-F238E27FC236}">
                <a16:creationId xmlns:a16="http://schemas.microsoft.com/office/drawing/2014/main" id="{172F0175-F5FD-4D8D-B214-7461AC14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7071" y="4846989"/>
            <a:ext cx="1281479" cy="348102"/>
          </a:xfrm>
          <a:prstGeom prst="rect">
            <a:avLst/>
          </a:prstGeom>
          <a:solidFill>
            <a:schemeClr val="bg1"/>
          </a:solidFill>
          <a:ln w="57150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상고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대법원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en-US" altLang="ko-KR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8" name="Rectangle 5">
            <a:extLst>
              <a:ext uri="{FF2B5EF4-FFF2-40B4-BE49-F238E27FC236}">
                <a16:creationId xmlns:a16="http://schemas.microsoft.com/office/drawing/2014/main" id="{D08990CB-2836-48B0-946D-72F5F408F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271" y="5144533"/>
            <a:ext cx="1281479" cy="348102"/>
          </a:xfrm>
          <a:prstGeom prst="rect">
            <a:avLst/>
          </a:prstGeom>
          <a:solidFill>
            <a:schemeClr val="accent4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특허취소신청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특허심판원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en-US" altLang="ko-KR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9" name="Rectangle 5">
            <a:extLst>
              <a:ext uri="{FF2B5EF4-FFF2-40B4-BE49-F238E27FC236}">
                <a16:creationId xmlns:a16="http://schemas.microsoft.com/office/drawing/2014/main" id="{158C08EB-E437-4993-9141-F1DC4CD3B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622" y="4947402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취소</a:t>
            </a:r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결정</a:t>
            </a:r>
          </a:p>
        </p:txBody>
      </p:sp>
      <p:sp>
        <p:nvSpPr>
          <p:cNvPr id="130" name="Rectangle 5">
            <a:extLst>
              <a:ext uri="{FF2B5EF4-FFF2-40B4-BE49-F238E27FC236}">
                <a16:creationId xmlns:a16="http://schemas.microsoft.com/office/drawing/2014/main" id="{F9CA1CEC-E7AD-4F33-9F99-BC58AD46A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622" y="5341857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기각</a:t>
            </a:r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결정</a:t>
            </a:r>
            <a:endParaRPr lang="en-US" altLang="ko-KR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1" name="Rectangle 5">
            <a:extLst>
              <a:ext uri="{FF2B5EF4-FFF2-40B4-BE49-F238E27FC236}">
                <a16:creationId xmlns:a16="http://schemas.microsoft.com/office/drawing/2014/main" id="{AB6FCBF0-141A-4566-B315-F9707A5A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271" y="5983939"/>
            <a:ext cx="1281479" cy="348102"/>
          </a:xfrm>
          <a:prstGeom prst="rect">
            <a:avLst/>
          </a:prstGeom>
          <a:solidFill>
            <a:schemeClr val="accent4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특허무효심판청구</a:t>
            </a:r>
            <a:endParaRPr lang="en-US" altLang="ko-KR" sz="1100" dirty="0"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latin typeface="+mj-ea"/>
                <a:ea typeface="+mj-ea"/>
              </a:rPr>
              <a:t>(</a:t>
            </a:r>
            <a:r>
              <a:rPr lang="ko-KR" altLang="en-US" sz="900" dirty="0">
                <a:latin typeface="+mj-ea"/>
                <a:ea typeface="+mj-ea"/>
              </a:rPr>
              <a:t>특허심판원</a:t>
            </a:r>
            <a:r>
              <a:rPr lang="en-US" altLang="ko-KR" sz="900" dirty="0">
                <a:latin typeface="+mj-ea"/>
                <a:ea typeface="+mj-ea"/>
              </a:rPr>
              <a:t>)</a:t>
            </a:r>
            <a:endParaRPr lang="en-US" altLang="ko-KR" sz="9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2" name="Rectangle 5">
            <a:extLst>
              <a:ext uri="{FF2B5EF4-FFF2-40B4-BE49-F238E27FC236}">
                <a16:creationId xmlns:a16="http://schemas.microsoft.com/office/drawing/2014/main" id="{E06B82C9-6C14-4EF2-B26A-A005A862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622" y="5786808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인용</a:t>
            </a:r>
            <a:r>
              <a:rPr lang="ko-KR" altLang="en-US" sz="1100" b="0" dirty="0" err="1">
                <a:solidFill>
                  <a:schemeClr val="tx1"/>
                </a:solidFill>
                <a:latin typeface="+mj-ea"/>
                <a:ea typeface="+mj-ea"/>
              </a:rPr>
              <a:t>심결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3" name="Rectangle 5">
            <a:extLst>
              <a:ext uri="{FF2B5EF4-FFF2-40B4-BE49-F238E27FC236}">
                <a16:creationId xmlns:a16="http://schemas.microsoft.com/office/drawing/2014/main" id="{6BBBB7FA-AA77-4FD0-8C33-48F1C6A84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622" y="6181263"/>
            <a:ext cx="800524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 err="1">
                <a:solidFill>
                  <a:schemeClr val="tx1"/>
                </a:solidFill>
                <a:latin typeface="+mj-ea"/>
                <a:ea typeface="+mj-ea"/>
              </a:rPr>
              <a:t>기각심결</a:t>
            </a:r>
            <a:endParaRPr lang="en-US" altLang="ko-KR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4" name="Rectangle 5">
            <a:extLst>
              <a:ext uri="{FF2B5EF4-FFF2-40B4-BE49-F238E27FC236}">
                <a16:creationId xmlns:a16="http://schemas.microsoft.com/office/drawing/2014/main" id="{81E28A1C-CF02-4DAF-AA63-500D68052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84" y="3198619"/>
            <a:ext cx="113347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있음</a:t>
            </a: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5983A1F6-D746-47E2-BAF0-7F361080D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1099" y="3582818"/>
            <a:ext cx="113347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없음</a:t>
            </a: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78596D95-232D-4991-872B-FE8F6905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836" y="4034218"/>
            <a:ext cx="1133475" cy="348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직권재심사</a:t>
            </a:r>
          </a:p>
        </p:txBody>
      </p:sp>
      <p:cxnSp>
        <p:nvCxnSpPr>
          <p:cNvPr id="137" name="꺾인 연결선 57">
            <a:extLst>
              <a:ext uri="{FF2B5EF4-FFF2-40B4-BE49-F238E27FC236}">
                <a16:creationId xmlns:a16="http://schemas.microsoft.com/office/drawing/2014/main" id="{0D2B120E-8D4D-4D22-9F6B-655808936EF7}"/>
              </a:ext>
            </a:extLst>
          </p:cNvPr>
          <p:cNvCxnSpPr>
            <a:stCxn id="104" idx="2"/>
            <a:endCxn id="136" idx="3"/>
          </p:cNvCxnSpPr>
          <p:nvPr/>
        </p:nvCxnSpPr>
        <p:spPr>
          <a:xfrm rot="5400000">
            <a:off x="4712563" y="3510998"/>
            <a:ext cx="176020" cy="121852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58">
            <a:extLst>
              <a:ext uri="{FF2B5EF4-FFF2-40B4-BE49-F238E27FC236}">
                <a16:creationId xmlns:a16="http://schemas.microsoft.com/office/drawing/2014/main" id="{02756BF9-C4BC-4961-8CC0-C6232409756D}"/>
              </a:ext>
            </a:extLst>
          </p:cNvPr>
          <p:cNvCxnSpPr>
            <a:stCxn id="136" idx="1"/>
            <a:endCxn id="97" idx="1"/>
          </p:cNvCxnSpPr>
          <p:nvPr/>
        </p:nvCxnSpPr>
        <p:spPr>
          <a:xfrm rot="10800000">
            <a:off x="1805664" y="3476787"/>
            <a:ext cx="1252172" cy="731482"/>
          </a:xfrm>
          <a:prstGeom prst="bentConnector3">
            <a:avLst>
              <a:gd name="adj1" fmla="val 118256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5">
            <a:extLst>
              <a:ext uri="{FF2B5EF4-FFF2-40B4-BE49-F238E27FC236}">
                <a16:creationId xmlns:a16="http://schemas.microsoft.com/office/drawing/2014/main" id="{8CB6D69D-05FC-4F5E-A517-8ADC84E50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825" y="3246116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</a:t>
            </a:r>
            <a:endParaRPr lang="en-US" altLang="ko-KR" sz="105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해소</a:t>
            </a:r>
          </a:p>
        </p:txBody>
      </p:sp>
      <p:cxnSp>
        <p:nvCxnSpPr>
          <p:cNvPr id="140" name="꺾인 연결선 60">
            <a:extLst>
              <a:ext uri="{FF2B5EF4-FFF2-40B4-BE49-F238E27FC236}">
                <a16:creationId xmlns:a16="http://schemas.microsoft.com/office/drawing/2014/main" id="{125718C8-9D04-4F6B-B5BE-B190E88756AE}"/>
              </a:ext>
            </a:extLst>
          </p:cNvPr>
          <p:cNvCxnSpPr>
            <a:stCxn id="107" idx="3"/>
            <a:endCxn id="119" idx="0"/>
          </p:cNvCxnSpPr>
          <p:nvPr/>
        </p:nvCxnSpPr>
        <p:spPr>
          <a:xfrm flipV="1">
            <a:off x="5978145" y="1917460"/>
            <a:ext cx="1489089" cy="1121327"/>
          </a:xfrm>
          <a:prstGeom prst="bentConnector4">
            <a:avLst>
              <a:gd name="adj1" fmla="val 30970"/>
              <a:gd name="adj2" fmla="val 120387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5">
            <a:extLst>
              <a:ext uri="{FF2B5EF4-FFF2-40B4-BE49-F238E27FC236}">
                <a16:creationId xmlns:a16="http://schemas.microsoft.com/office/drawing/2014/main" id="{CD31F2D9-BB45-4CC1-A3BD-DB754302D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716" y="2658734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</a:t>
            </a:r>
            <a:endParaRPr lang="en-US" altLang="ko-KR" sz="105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b="0" dirty="0" err="1">
                <a:solidFill>
                  <a:schemeClr val="tx1"/>
                </a:solidFill>
                <a:latin typeface="+mj-ea"/>
                <a:ea typeface="+mj-ea"/>
              </a:rPr>
              <a:t>미해소</a:t>
            </a:r>
            <a:endParaRPr lang="ko-KR" altLang="en-US" sz="105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42" name="꺾인 연결선 62">
            <a:extLst>
              <a:ext uri="{FF2B5EF4-FFF2-40B4-BE49-F238E27FC236}">
                <a16:creationId xmlns:a16="http://schemas.microsoft.com/office/drawing/2014/main" id="{55522E41-F5DF-408A-94E0-1A01BBD3B174}"/>
              </a:ext>
            </a:extLst>
          </p:cNvPr>
          <p:cNvCxnSpPr>
            <a:stCxn id="119" idx="3"/>
            <a:endCxn id="123" idx="0"/>
          </p:cNvCxnSpPr>
          <p:nvPr/>
        </p:nvCxnSpPr>
        <p:spPr>
          <a:xfrm flipV="1">
            <a:off x="8033971" y="2052308"/>
            <a:ext cx="1402740" cy="39203"/>
          </a:xfrm>
          <a:prstGeom prst="bentConnector4">
            <a:avLst>
              <a:gd name="adj1" fmla="val 27161"/>
              <a:gd name="adj2" fmla="val 1027092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A6EF0C9D-93F2-4127-8342-3EF6A7E3CEDB}"/>
              </a:ext>
            </a:extLst>
          </p:cNvPr>
          <p:cNvCxnSpPr>
            <a:stCxn id="119" idx="2"/>
            <a:endCxn id="120" idx="0"/>
          </p:cNvCxnSpPr>
          <p:nvPr/>
        </p:nvCxnSpPr>
        <p:spPr>
          <a:xfrm>
            <a:off x="7467234" y="2265562"/>
            <a:ext cx="0" cy="3361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8BDD4E89-81ED-4E4F-8F2E-788AFACC71E2}"/>
              </a:ext>
            </a:extLst>
          </p:cNvPr>
          <p:cNvCxnSpPr>
            <a:stCxn id="120" idx="2"/>
            <a:endCxn id="121" idx="0"/>
          </p:cNvCxnSpPr>
          <p:nvPr/>
        </p:nvCxnSpPr>
        <p:spPr>
          <a:xfrm>
            <a:off x="7467234" y="2949808"/>
            <a:ext cx="1" cy="32160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F34D6503-80B6-4AA8-8844-8DD0485F7BEE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7467234" y="3743225"/>
            <a:ext cx="1" cy="3163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66">
            <a:extLst>
              <a:ext uri="{FF2B5EF4-FFF2-40B4-BE49-F238E27FC236}">
                <a16:creationId xmlns:a16="http://schemas.microsoft.com/office/drawing/2014/main" id="{4DA57264-F8F3-4A4A-A23D-438E92045104}"/>
              </a:ext>
            </a:extLst>
          </p:cNvPr>
          <p:cNvCxnSpPr>
            <a:stCxn id="122" idx="3"/>
            <a:endCxn id="123" idx="1"/>
          </p:cNvCxnSpPr>
          <p:nvPr/>
        </p:nvCxnSpPr>
        <p:spPr>
          <a:xfrm flipV="1">
            <a:off x="8033971" y="2226359"/>
            <a:ext cx="762000" cy="20073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67">
            <a:extLst>
              <a:ext uri="{FF2B5EF4-FFF2-40B4-BE49-F238E27FC236}">
                <a16:creationId xmlns:a16="http://schemas.microsoft.com/office/drawing/2014/main" id="{99010036-EBA4-406F-B003-84991F4E90C2}"/>
              </a:ext>
            </a:extLst>
          </p:cNvPr>
          <p:cNvCxnSpPr>
            <a:stCxn id="123" idx="3"/>
            <a:endCxn id="125" idx="1"/>
          </p:cNvCxnSpPr>
          <p:nvPr/>
        </p:nvCxnSpPr>
        <p:spPr>
          <a:xfrm flipV="1">
            <a:off x="10077450" y="1994182"/>
            <a:ext cx="390101" cy="23217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68">
            <a:extLst>
              <a:ext uri="{FF2B5EF4-FFF2-40B4-BE49-F238E27FC236}">
                <a16:creationId xmlns:a16="http://schemas.microsoft.com/office/drawing/2014/main" id="{E51DD8D2-5687-4E1E-9178-4AE94915B5DB}"/>
              </a:ext>
            </a:extLst>
          </p:cNvPr>
          <p:cNvCxnSpPr>
            <a:stCxn id="123" idx="3"/>
            <a:endCxn id="124" idx="1"/>
          </p:cNvCxnSpPr>
          <p:nvPr/>
        </p:nvCxnSpPr>
        <p:spPr>
          <a:xfrm>
            <a:off x="10077450" y="2226359"/>
            <a:ext cx="390101" cy="1949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69">
            <a:extLst>
              <a:ext uri="{FF2B5EF4-FFF2-40B4-BE49-F238E27FC236}">
                <a16:creationId xmlns:a16="http://schemas.microsoft.com/office/drawing/2014/main" id="{CE946CDF-C2B7-4D4B-AFB0-F25CFCE59E29}"/>
              </a:ext>
            </a:extLst>
          </p:cNvPr>
          <p:cNvCxnSpPr>
            <a:stCxn id="124" idx="3"/>
            <a:endCxn id="97" idx="1"/>
          </p:cNvCxnSpPr>
          <p:nvPr/>
        </p:nvCxnSpPr>
        <p:spPr>
          <a:xfrm flipH="1">
            <a:off x="1805664" y="2421309"/>
            <a:ext cx="9462411" cy="1055478"/>
          </a:xfrm>
          <a:prstGeom prst="bentConnector5">
            <a:avLst>
              <a:gd name="adj1" fmla="val -2416"/>
              <a:gd name="adj2" fmla="val 403532"/>
              <a:gd name="adj3" fmla="val 102416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23B52505-9F10-4919-94F3-0D37CA6B516E}"/>
              </a:ext>
            </a:extLst>
          </p:cNvPr>
          <p:cNvCxnSpPr>
            <a:stCxn id="126" idx="2"/>
            <a:endCxn id="127" idx="0"/>
          </p:cNvCxnSpPr>
          <p:nvPr/>
        </p:nvCxnSpPr>
        <p:spPr>
          <a:xfrm>
            <a:off x="10617811" y="4393175"/>
            <a:ext cx="0" cy="4538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71">
            <a:extLst>
              <a:ext uri="{FF2B5EF4-FFF2-40B4-BE49-F238E27FC236}">
                <a16:creationId xmlns:a16="http://schemas.microsoft.com/office/drawing/2014/main" id="{A43AA581-D53A-4300-AB66-9A625ED9851E}"/>
              </a:ext>
            </a:extLst>
          </p:cNvPr>
          <p:cNvCxnSpPr>
            <a:stCxn id="121" idx="1"/>
            <a:endCxn id="104" idx="3"/>
          </p:cNvCxnSpPr>
          <p:nvPr/>
        </p:nvCxnSpPr>
        <p:spPr>
          <a:xfrm rot="10800000" flipV="1">
            <a:off x="5976572" y="3507320"/>
            <a:ext cx="923925" cy="35087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5">
            <a:extLst>
              <a:ext uri="{FF2B5EF4-FFF2-40B4-BE49-F238E27FC236}">
                <a16:creationId xmlns:a16="http://schemas.microsoft.com/office/drawing/2014/main" id="{8782D930-E9C4-4572-85B4-6D2D1552B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060" y="3695641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</a:t>
            </a:r>
            <a:endParaRPr lang="en-US" altLang="ko-KR" sz="105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b="0" dirty="0" err="1">
                <a:solidFill>
                  <a:schemeClr val="tx1"/>
                </a:solidFill>
                <a:latin typeface="+mj-ea"/>
                <a:ea typeface="+mj-ea"/>
              </a:rPr>
              <a:t>미해소</a:t>
            </a:r>
            <a:endParaRPr lang="ko-KR" altLang="en-US" sz="105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3" name="Rectangle 5">
            <a:extLst>
              <a:ext uri="{FF2B5EF4-FFF2-40B4-BE49-F238E27FC236}">
                <a16:creationId xmlns:a16="http://schemas.microsoft.com/office/drawing/2014/main" id="{1AC501F1-8BE9-4873-B2E2-90B6C8D7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104" y="3150367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거절이유 </a:t>
            </a:r>
            <a:endParaRPr lang="en-US" altLang="ko-KR" sz="105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해소</a:t>
            </a:r>
          </a:p>
        </p:txBody>
      </p:sp>
      <p:cxnSp>
        <p:nvCxnSpPr>
          <p:cNvPr id="154" name="꺾인 연결선 74">
            <a:extLst>
              <a:ext uri="{FF2B5EF4-FFF2-40B4-BE49-F238E27FC236}">
                <a16:creationId xmlns:a16="http://schemas.microsoft.com/office/drawing/2014/main" id="{953F9F76-5D31-404A-8A1A-102F18598D14}"/>
              </a:ext>
            </a:extLst>
          </p:cNvPr>
          <p:cNvCxnSpPr>
            <a:stCxn id="114" idx="3"/>
            <a:endCxn id="128" idx="1"/>
          </p:cNvCxnSpPr>
          <p:nvPr/>
        </p:nvCxnSpPr>
        <p:spPr>
          <a:xfrm flipV="1">
            <a:off x="5976571" y="5318584"/>
            <a:ext cx="647700" cy="27812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75">
            <a:extLst>
              <a:ext uri="{FF2B5EF4-FFF2-40B4-BE49-F238E27FC236}">
                <a16:creationId xmlns:a16="http://schemas.microsoft.com/office/drawing/2014/main" id="{FE027324-5794-4847-852C-0C3C6F767E92}"/>
              </a:ext>
            </a:extLst>
          </p:cNvPr>
          <p:cNvCxnSpPr>
            <a:stCxn id="114" idx="2"/>
            <a:endCxn id="131" idx="1"/>
          </p:cNvCxnSpPr>
          <p:nvPr/>
        </p:nvCxnSpPr>
        <p:spPr>
          <a:xfrm rot="16200000" flipH="1">
            <a:off x="5823435" y="5357153"/>
            <a:ext cx="387235" cy="121443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 76">
            <a:extLst>
              <a:ext uri="{FF2B5EF4-FFF2-40B4-BE49-F238E27FC236}">
                <a16:creationId xmlns:a16="http://schemas.microsoft.com/office/drawing/2014/main" id="{5FF6C5C7-55E8-41C3-9897-0DF1C70906F2}"/>
              </a:ext>
            </a:extLst>
          </p:cNvPr>
          <p:cNvCxnSpPr>
            <a:stCxn id="128" idx="3"/>
            <a:endCxn id="129" idx="1"/>
          </p:cNvCxnSpPr>
          <p:nvPr/>
        </p:nvCxnSpPr>
        <p:spPr>
          <a:xfrm flipV="1">
            <a:off x="7905750" y="5121453"/>
            <a:ext cx="346872" cy="1971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77">
            <a:extLst>
              <a:ext uri="{FF2B5EF4-FFF2-40B4-BE49-F238E27FC236}">
                <a16:creationId xmlns:a16="http://schemas.microsoft.com/office/drawing/2014/main" id="{EA350F71-52A9-45BD-8DFA-74151597AE55}"/>
              </a:ext>
            </a:extLst>
          </p:cNvPr>
          <p:cNvCxnSpPr>
            <a:stCxn id="131" idx="3"/>
            <a:endCxn id="132" idx="1"/>
          </p:cNvCxnSpPr>
          <p:nvPr/>
        </p:nvCxnSpPr>
        <p:spPr>
          <a:xfrm flipV="1">
            <a:off x="7905750" y="5960859"/>
            <a:ext cx="346872" cy="1971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78">
            <a:extLst>
              <a:ext uri="{FF2B5EF4-FFF2-40B4-BE49-F238E27FC236}">
                <a16:creationId xmlns:a16="http://schemas.microsoft.com/office/drawing/2014/main" id="{A8DD8A48-BFAA-4A27-AFA5-B298BF43E605}"/>
              </a:ext>
            </a:extLst>
          </p:cNvPr>
          <p:cNvCxnSpPr>
            <a:stCxn id="131" idx="3"/>
            <a:endCxn id="133" idx="1"/>
          </p:cNvCxnSpPr>
          <p:nvPr/>
        </p:nvCxnSpPr>
        <p:spPr>
          <a:xfrm>
            <a:off x="7905750" y="6157990"/>
            <a:ext cx="346872" cy="19732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79">
            <a:extLst>
              <a:ext uri="{FF2B5EF4-FFF2-40B4-BE49-F238E27FC236}">
                <a16:creationId xmlns:a16="http://schemas.microsoft.com/office/drawing/2014/main" id="{62A6EA70-D85F-487B-AF20-585187D5AE72}"/>
              </a:ext>
            </a:extLst>
          </p:cNvPr>
          <p:cNvCxnSpPr>
            <a:stCxn id="128" idx="3"/>
            <a:endCxn id="130" idx="1"/>
          </p:cNvCxnSpPr>
          <p:nvPr/>
        </p:nvCxnSpPr>
        <p:spPr>
          <a:xfrm>
            <a:off x="7905750" y="5318584"/>
            <a:ext cx="346872" cy="19732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80">
            <a:extLst>
              <a:ext uri="{FF2B5EF4-FFF2-40B4-BE49-F238E27FC236}">
                <a16:creationId xmlns:a16="http://schemas.microsoft.com/office/drawing/2014/main" id="{0670808F-4EC8-43DE-8692-DB431638F109}"/>
              </a:ext>
            </a:extLst>
          </p:cNvPr>
          <p:cNvCxnSpPr>
            <a:stCxn id="129" idx="3"/>
            <a:endCxn id="126" idx="0"/>
          </p:cNvCxnSpPr>
          <p:nvPr/>
        </p:nvCxnSpPr>
        <p:spPr>
          <a:xfrm flipV="1">
            <a:off x="9053146" y="4045073"/>
            <a:ext cx="1564665" cy="1076380"/>
          </a:xfrm>
          <a:prstGeom prst="bentConnector4">
            <a:avLst>
              <a:gd name="adj1" fmla="val 29525"/>
              <a:gd name="adj2" fmla="val 121238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 81">
            <a:extLst>
              <a:ext uri="{FF2B5EF4-FFF2-40B4-BE49-F238E27FC236}">
                <a16:creationId xmlns:a16="http://schemas.microsoft.com/office/drawing/2014/main" id="{C0711372-F15C-459A-A6BD-A1B9C18AFD49}"/>
              </a:ext>
            </a:extLst>
          </p:cNvPr>
          <p:cNvCxnSpPr>
            <a:stCxn id="132" idx="3"/>
            <a:endCxn id="126" idx="1"/>
          </p:cNvCxnSpPr>
          <p:nvPr/>
        </p:nvCxnSpPr>
        <p:spPr>
          <a:xfrm flipV="1">
            <a:off x="9053146" y="4219124"/>
            <a:ext cx="923925" cy="1741735"/>
          </a:xfrm>
          <a:prstGeom prst="bentConnector3">
            <a:avLst>
              <a:gd name="adj1" fmla="val 75773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꺾인 연결선 82">
            <a:extLst>
              <a:ext uri="{FF2B5EF4-FFF2-40B4-BE49-F238E27FC236}">
                <a16:creationId xmlns:a16="http://schemas.microsoft.com/office/drawing/2014/main" id="{2C29B1C6-00DE-4AFB-9CE6-26A9C0BA64B5}"/>
              </a:ext>
            </a:extLst>
          </p:cNvPr>
          <p:cNvCxnSpPr>
            <a:stCxn id="133" idx="3"/>
            <a:endCxn id="126" idx="1"/>
          </p:cNvCxnSpPr>
          <p:nvPr/>
        </p:nvCxnSpPr>
        <p:spPr>
          <a:xfrm flipV="1">
            <a:off x="9053146" y="4219124"/>
            <a:ext cx="923925" cy="2136190"/>
          </a:xfrm>
          <a:prstGeom prst="bentConnector3">
            <a:avLst>
              <a:gd name="adj1" fmla="val 75773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83">
            <a:extLst>
              <a:ext uri="{FF2B5EF4-FFF2-40B4-BE49-F238E27FC236}">
                <a16:creationId xmlns:a16="http://schemas.microsoft.com/office/drawing/2014/main" id="{28328006-171D-4845-8BA7-5234F9434BF4}"/>
              </a:ext>
            </a:extLst>
          </p:cNvPr>
          <p:cNvCxnSpPr>
            <a:stCxn id="125" idx="3"/>
            <a:endCxn id="126" idx="3"/>
          </p:cNvCxnSpPr>
          <p:nvPr/>
        </p:nvCxnSpPr>
        <p:spPr>
          <a:xfrm flipH="1">
            <a:off x="11258550" y="1994182"/>
            <a:ext cx="9525" cy="2224942"/>
          </a:xfrm>
          <a:prstGeom prst="bentConnector3">
            <a:avLst>
              <a:gd name="adj1" fmla="val -53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5">
            <a:extLst>
              <a:ext uri="{FF2B5EF4-FFF2-40B4-BE49-F238E27FC236}">
                <a16:creationId xmlns:a16="http://schemas.microsoft.com/office/drawing/2014/main" id="{BBE4648B-F802-45ED-ABD1-E71106F6F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1285" y="2130133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>
                <a:solidFill>
                  <a:schemeClr val="tx1"/>
                </a:solidFill>
                <a:latin typeface="+mj-ea"/>
                <a:ea typeface="+mj-ea"/>
              </a:rPr>
              <a:t>환송</a:t>
            </a:r>
            <a:endParaRPr lang="ko-KR" altLang="en-US" sz="105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5" name="자유형 85">
            <a:extLst>
              <a:ext uri="{FF2B5EF4-FFF2-40B4-BE49-F238E27FC236}">
                <a16:creationId xmlns:a16="http://schemas.microsoft.com/office/drawing/2014/main" id="{1E1B47D2-6522-4A3D-AA33-3D6F4BC5EC06}"/>
              </a:ext>
            </a:extLst>
          </p:cNvPr>
          <p:cNvSpPr/>
          <p:nvPr/>
        </p:nvSpPr>
        <p:spPr>
          <a:xfrm>
            <a:off x="5972175" y="2600324"/>
            <a:ext cx="4886325" cy="2189915"/>
          </a:xfrm>
          <a:custGeom>
            <a:avLst/>
            <a:gdLst>
              <a:gd name="connsiteX0" fmla="*/ 4886325 w 4886325"/>
              <a:gd name="connsiteY0" fmla="*/ 0 h 2019300"/>
              <a:gd name="connsiteX1" fmla="*/ 4886325 w 4886325"/>
              <a:gd name="connsiteY1" fmla="*/ 457200 h 2019300"/>
              <a:gd name="connsiteX2" fmla="*/ 2952750 w 4886325"/>
              <a:gd name="connsiteY2" fmla="*/ 457200 h 2019300"/>
              <a:gd name="connsiteX3" fmla="*/ 2952750 w 4886325"/>
              <a:gd name="connsiteY3" fmla="*/ 2019300 h 2019300"/>
              <a:gd name="connsiteX4" fmla="*/ 428625 w 4886325"/>
              <a:gd name="connsiteY4" fmla="*/ 2019300 h 2019300"/>
              <a:gd name="connsiteX5" fmla="*/ 428625 w 4886325"/>
              <a:gd name="connsiteY5" fmla="*/ 1219200 h 2019300"/>
              <a:gd name="connsiteX6" fmla="*/ 0 w 4886325"/>
              <a:gd name="connsiteY6" fmla="*/ 12192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6325" h="2019300">
                <a:moveTo>
                  <a:pt x="4886325" y="0"/>
                </a:moveTo>
                <a:lnTo>
                  <a:pt x="4886325" y="457200"/>
                </a:lnTo>
                <a:lnTo>
                  <a:pt x="2952750" y="457200"/>
                </a:lnTo>
                <a:lnTo>
                  <a:pt x="2952750" y="2019300"/>
                </a:lnTo>
                <a:lnTo>
                  <a:pt x="428625" y="2019300"/>
                </a:lnTo>
                <a:lnTo>
                  <a:pt x="428625" y="1219200"/>
                </a:lnTo>
                <a:lnTo>
                  <a:pt x="0" y="12192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66" name="Rectangle 5">
            <a:extLst>
              <a:ext uri="{FF2B5EF4-FFF2-40B4-BE49-F238E27FC236}">
                <a16:creationId xmlns:a16="http://schemas.microsoft.com/office/drawing/2014/main" id="{DE4626D7-EFEB-4487-A904-5B90E5367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2198" y="2588592"/>
            <a:ext cx="1004576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b="0" dirty="0">
                <a:solidFill>
                  <a:schemeClr val="tx1"/>
                </a:solidFill>
                <a:latin typeface="+mj-ea"/>
                <a:ea typeface="+mj-ea"/>
              </a:rPr>
              <a:t>자판</a:t>
            </a:r>
          </a:p>
        </p:txBody>
      </p:sp>
      <p:sp>
        <p:nvSpPr>
          <p:cNvPr id="167" name="Rectangle 5">
            <a:extLst>
              <a:ext uri="{FF2B5EF4-FFF2-40B4-BE49-F238E27FC236}">
                <a16:creationId xmlns:a16="http://schemas.microsoft.com/office/drawing/2014/main" id="{10586C07-8A4A-4698-92BF-D4D64C29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716" y="1071260"/>
            <a:ext cx="1133475" cy="348102"/>
          </a:xfrm>
          <a:prstGeom prst="rect">
            <a:avLst/>
          </a:prstGeom>
          <a:solidFill>
            <a:schemeClr val="accent4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정보제공</a:t>
            </a: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7840DCE1-4F8B-4217-858E-ED5FFD0503AF}"/>
              </a:ext>
            </a:extLst>
          </p:cNvPr>
          <p:cNvCxnSpPr>
            <a:stCxn id="167" idx="2"/>
          </p:cNvCxnSpPr>
          <p:nvPr/>
        </p:nvCxnSpPr>
        <p:spPr>
          <a:xfrm flipH="1">
            <a:off x="2581275" y="1419362"/>
            <a:ext cx="3657179" cy="185532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10575F99-5281-41EC-9F1B-D839A39B8528}"/>
              </a:ext>
            </a:extLst>
          </p:cNvPr>
          <p:cNvCxnSpPr>
            <a:stCxn id="167" idx="2"/>
            <a:endCxn id="107" idx="0"/>
          </p:cNvCxnSpPr>
          <p:nvPr/>
        </p:nvCxnSpPr>
        <p:spPr>
          <a:xfrm flipH="1">
            <a:off x="5411406" y="1419362"/>
            <a:ext cx="827048" cy="13835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B96D1527-23B4-4E30-8F4A-EA479EB15404}"/>
              </a:ext>
            </a:extLst>
          </p:cNvPr>
          <p:cNvCxnSpPr>
            <a:stCxn id="167" idx="2"/>
          </p:cNvCxnSpPr>
          <p:nvPr/>
        </p:nvCxnSpPr>
        <p:spPr>
          <a:xfrm>
            <a:off x="6238454" y="1419362"/>
            <a:ext cx="1045606" cy="190505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49CC9522-6DA9-423A-B961-9C551671EB7F}"/>
              </a:ext>
            </a:extLst>
          </p:cNvPr>
          <p:cNvCxnSpPr>
            <a:stCxn id="167" idx="2"/>
          </p:cNvCxnSpPr>
          <p:nvPr/>
        </p:nvCxnSpPr>
        <p:spPr>
          <a:xfrm>
            <a:off x="6238454" y="1419362"/>
            <a:ext cx="2557517" cy="6344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5">
            <a:extLst>
              <a:ext uri="{FF2B5EF4-FFF2-40B4-BE49-F238E27FC236}">
                <a16:creationId xmlns:a16="http://schemas.microsoft.com/office/drawing/2014/main" id="{E5F608B0-E670-4733-AF2E-F2A6D00CA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836" y="4543012"/>
            <a:ext cx="1133475" cy="348102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재심사청구</a:t>
            </a:r>
            <a:r>
              <a:rPr lang="en-US" altLang="ko-KR" sz="11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100" b="0" dirty="0">
                <a:solidFill>
                  <a:schemeClr val="tx1"/>
                </a:solidFill>
                <a:latin typeface="+mj-ea"/>
                <a:ea typeface="+mj-ea"/>
              </a:rPr>
              <a:t>보정</a:t>
            </a:r>
            <a:r>
              <a:rPr lang="en-US" altLang="ko-KR" sz="11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1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73" name="연결선: 꺾임 172">
            <a:extLst>
              <a:ext uri="{FF2B5EF4-FFF2-40B4-BE49-F238E27FC236}">
                <a16:creationId xmlns:a16="http://schemas.microsoft.com/office/drawing/2014/main" id="{21EF4337-CFD6-48B2-91D0-D10F8055FE74}"/>
              </a:ext>
            </a:extLst>
          </p:cNvPr>
          <p:cNvCxnSpPr>
            <a:cxnSpLocks/>
            <a:stCxn id="172" idx="1"/>
            <a:endCxn id="121" idx="3"/>
          </p:cNvCxnSpPr>
          <p:nvPr/>
        </p:nvCxnSpPr>
        <p:spPr>
          <a:xfrm rot="10800000" flipH="1">
            <a:off x="3057836" y="3507321"/>
            <a:ext cx="4976138" cy="1209742"/>
          </a:xfrm>
          <a:prstGeom prst="bentConnector5">
            <a:avLst>
              <a:gd name="adj1" fmla="val -4594"/>
              <a:gd name="adj2" fmla="val -169586"/>
              <a:gd name="adj3" fmla="val 12460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자유형: 도형 173">
            <a:extLst>
              <a:ext uri="{FF2B5EF4-FFF2-40B4-BE49-F238E27FC236}">
                <a16:creationId xmlns:a16="http://schemas.microsoft.com/office/drawing/2014/main" id="{E166B53F-8F70-4894-BCD5-1A4A5017F73B}"/>
              </a:ext>
            </a:extLst>
          </p:cNvPr>
          <p:cNvSpPr/>
          <p:nvPr/>
        </p:nvSpPr>
        <p:spPr>
          <a:xfrm>
            <a:off x="4190260" y="4208016"/>
            <a:ext cx="337352" cy="523782"/>
          </a:xfrm>
          <a:custGeom>
            <a:avLst/>
            <a:gdLst>
              <a:gd name="connsiteX0" fmla="*/ 337352 w 337352"/>
              <a:gd name="connsiteY0" fmla="*/ 0 h 523782"/>
              <a:gd name="connsiteX1" fmla="*/ 337352 w 337352"/>
              <a:gd name="connsiteY1" fmla="*/ 523782 h 523782"/>
              <a:gd name="connsiteX2" fmla="*/ 0 w 337352"/>
              <a:gd name="connsiteY2" fmla="*/ 523782 h 52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7352" h="523782">
                <a:moveTo>
                  <a:pt x="337352" y="0"/>
                </a:moveTo>
                <a:lnTo>
                  <a:pt x="337352" y="523782"/>
                </a:lnTo>
                <a:lnTo>
                  <a:pt x="0" y="523782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376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실체심사의</a:t>
            </a:r>
            <a:r>
              <a:rPr lang="ko-KR" altLang="en-US" dirty="0"/>
              <a:t> 개략적인 흐름도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5" name="Rectangle 13"/>
          <p:cNvSpPr>
            <a:spLocks noChangeArrowheads="1"/>
          </p:cNvSpPr>
          <p:nvPr/>
        </p:nvSpPr>
        <p:spPr bwMode="auto">
          <a:xfrm>
            <a:off x="4828910" y="1092052"/>
            <a:ext cx="1350963" cy="3270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출원</a:t>
            </a:r>
          </a:p>
        </p:txBody>
      </p:sp>
      <p:cxnSp>
        <p:nvCxnSpPr>
          <p:cNvPr id="117" name="AutoShape 17"/>
          <p:cNvCxnSpPr>
            <a:cxnSpLocks noChangeShapeType="1"/>
            <a:stCxn id="115" idx="2"/>
            <a:endCxn id="140" idx="0"/>
          </p:cNvCxnSpPr>
          <p:nvPr/>
        </p:nvCxnSpPr>
        <p:spPr bwMode="auto">
          <a:xfrm>
            <a:off x="5504392" y="1419077"/>
            <a:ext cx="0" cy="975593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4828910" y="2954090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최초거절이유통지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20" name="AutoShape 15"/>
          <p:cNvSpPr>
            <a:spLocks noChangeArrowheads="1"/>
          </p:cNvSpPr>
          <p:nvPr/>
        </p:nvSpPr>
        <p:spPr bwMode="auto">
          <a:xfrm>
            <a:off x="4824148" y="4961992"/>
            <a:ext cx="1368425" cy="520700"/>
          </a:xfrm>
          <a:prstGeom prst="flowChartDecision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보정의 </a:t>
            </a:r>
            <a:endParaRPr lang="en-US" altLang="ko-KR" sz="1000" b="0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적합여부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21" name="Rectangle 13"/>
          <p:cNvSpPr>
            <a:spLocks noChangeArrowheads="1"/>
          </p:cNvSpPr>
          <p:nvPr/>
        </p:nvSpPr>
        <p:spPr bwMode="auto">
          <a:xfrm>
            <a:off x="3181036" y="1951881"/>
            <a:ext cx="1350963" cy="327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자진보정서</a:t>
            </a:r>
          </a:p>
        </p:txBody>
      </p:sp>
      <p:cxnSp>
        <p:nvCxnSpPr>
          <p:cNvPr id="122" name="직선 화살표 연결선 121"/>
          <p:cNvCxnSpPr/>
          <p:nvPr/>
        </p:nvCxnSpPr>
        <p:spPr>
          <a:xfrm flipV="1">
            <a:off x="4531999" y="2115393"/>
            <a:ext cx="972392" cy="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4"/>
          <p:cNvSpPr>
            <a:spLocks noChangeArrowheads="1"/>
          </p:cNvSpPr>
          <p:nvPr/>
        </p:nvSpPr>
        <p:spPr bwMode="auto">
          <a:xfrm>
            <a:off x="1713467" y="6064274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특허결정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32" name="Rectangle 14"/>
          <p:cNvSpPr>
            <a:spLocks noChangeArrowheads="1"/>
          </p:cNvSpPr>
          <p:nvPr/>
        </p:nvSpPr>
        <p:spPr bwMode="auto">
          <a:xfrm>
            <a:off x="9010228" y="6064274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거절결정</a:t>
            </a:r>
          </a:p>
        </p:txBody>
      </p:sp>
      <p:cxnSp>
        <p:nvCxnSpPr>
          <p:cNvPr id="133" name="꺾인 연결선 132"/>
          <p:cNvCxnSpPr>
            <a:stCxn id="140" idx="1"/>
            <a:endCxn id="131" idx="0"/>
          </p:cNvCxnSpPr>
          <p:nvPr/>
        </p:nvCxnSpPr>
        <p:spPr>
          <a:xfrm rot="10800000" flipV="1">
            <a:off x="2388950" y="2557388"/>
            <a:ext cx="2439961" cy="3506885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129324" y="2311258"/>
            <a:ext cx="716863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en-US" altLang="ko-KR" sz="900" dirty="0"/>
              <a:t>×</a:t>
            </a:r>
            <a:endParaRPr lang="ko-KR" altLang="en-US" sz="900" dirty="0"/>
          </a:p>
        </p:txBody>
      </p:sp>
      <p:sp>
        <p:nvSpPr>
          <p:cNvPr id="140" name="Rectangle 14"/>
          <p:cNvSpPr>
            <a:spLocks noChangeArrowheads="1"/>
          </p:cNvSpPr>
          <p:nvPr/>
        </p:nvSpPr>
        <p:spPr bwMode="auto">
          <a:xfrm>
            <a:off x="4828910" y="2394670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심사</a:t>
            </a:r>
            <a:r>
              <a:rPr lang="en-US" altLang="ko-KR" sz="1000" dirty="0">
                <a:solidFill>
                  <a:schemeClr val="tx2"/>
                </a:solidFill>
                <a:latin typeface="+mj-ea"/>
                <a:ea typeface="+mj-ea"/>
              </a:rPr>
              <a:t> I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41" name="Rectangle 14"/>
          <p:cNvSpPr>
            <a:spLocks noChangeArrowheads="1"/>
          </p:cNvSpPr>
          <p:nvPr/>
        </p:nvSpPr>
        <p:spPr bwMode="auto">
          <a:xfrm>
            <a:off x="4828910" y="3563958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심사 </a:t>
            </a:r>
            <a:r>
              <a:rPr lang="en-US" altLang="ko-KR" sz="1000" b="0" dirty="0">
                <a:solidFill>
                  <a:schemeClr val="tx2"/>
                </a:solidFill>
                <a:latin typeface="+mj-ea"/>
                <a:ea typeface="+mj-ea"/>
              </a:rPr>
              <a:t>II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>
            <a:off x="4828910" y="4313920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최후거절이유통지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>
            <a:off x="4828910" y="5679268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심사 </a:t>
            </a:r>
            <a:r>
              <a:rPr lang="en-US" altLang="ko-KR" sz="1000" b="0" dirty="0">
                <a:solidFill>
                  <a:schemeClr val="tx2"/>
                </a:solidFill>
                <a:latin typeface="+mj-ea"/>
                <a:ea typeface="+mj-ea"/>
              </a:rPr>
              <a:t>III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cxnSp>
        <p:nvCxnSpPr>
          <p:cNvPr id="144" name="AutoShape 17"/>
          <p:cNvCxnSpPr>
            <a:cxnSpLocks noChangeShapeType="1"/>
            <a:stCxn id="140" idx="2"/>
            <a:endCxn id="119" idx="0"/>
          </p:cNvCxnSpPr>
          <p:nvPr/>
        </p:nvCxnSpPr>
        <p:spPr bwMode="auto">
          <a:xfrm>
            <a:off x="5504392" y="2720108"/>
            <a:ext cx="0" cy="233982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5" name="AutoShape 17"/>
          <p:cNvCxnSpPr>
            <a:cxnSpLocks noChangeShapeType="1"/>
            <a:stCxn id="119" idx="2"/>
            <a:endCxn id="141" idx="0"/>
          </p:cNvCxnSpPr>
          <p:nvPr/>
        </p:nvCxnSpPr>
        <p:spPr bwMode="auto">
          <a:xfrm>
            <a:off x="5504392" y="3279528"/>
            <a:ext cx="0" cy="28443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AutoShape 17"/>
          <p:cNvCxnSpPr>
            <a:cxnSpLocks noChangeShapeType="1"/>
            <a:stCxn id="142" idx="2"/>
            <a:endCxn id="120" idx="0"/>
          </p:cNvCxnSpPr>
          <p:nvPr/>
        </p:nvCxnSpPr>
        <p:spPr bwMode="auto">
          <a:xfrm>
            <a:off x="5504392" y="4639358"/>
            <a:ext cx="3969" cy="322634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" name="AutoShape 17"/>
          <p:cNvCxnSpPr>
            <a:cxnSpLocks noChangeShapeType="1"/>
            <a:stCxn id="120" idx="2"/>
            <a:endCxn id="143" idx="0"/>
          </p:cNvCxnSpPr>
          <p:nvPr/>
        </p:nvCxnSpPr>
        <p:spPr bwMode="auto">
          <a:xfrm flipH="1">
            <a:off x="5504392" y="5482692"/>
            <a:ext cx="3969" cy="196576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8" name="Rectangle 14"/>
          <p:cNvSpPr>
            <a:spLocks noChangeArrowheads="1"/>
          </p:cNvSpPr>
          <p:nvPr/>
        </p:nvSpPr>
        <p:spPr bwMode="auto">
          <a:xfrm>
            <a:off x="3136792" y="5059623"/>
            <a:ext cx="1350963" cy="32543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 err="1">
                <a:solidFill>
                  <a:schemeClr val="tx2"/>
                </a:solidFill>
                <a:latin typeface="+mj-ea"/>
                <a:ea typeface="+mj-ea"/>
              </a:rPr>
              <a:t>보정각하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49" name="Rectangle 13"/>
          <p:cNvSpPr>
            <a:spLocks noChangeArrowheads="1"/>
          </p:cNvSpPr>
          <p:nvPr/>
        </p:nvSpPr>
        <p:spPr bwMode="auto">
          <a:xfrm>
            <a:off x="3181036" y="3236933"/>
            <a:ext cx="1350963" cy="327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의견서</a:t>
            </a:r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보정 </a:t>
            </a:r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I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flipV="1">
            <a:off x="4531999" y="3400445"/>
            <a:ext cx="972392" cy="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3"/>
          <p:cNvSpPr>
            <a:spLocks noChangeArrowheads="1"/>
          </p:cNvSpPr>
          <p:nvPr/>
        </p:nvSpPr>
        <p:spPr bwMode="auto">
          <a:xfrm>
            <a:off x="3181036" y="4588582"/>
            <a:ext cx="1350963" cy="327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의견서</a:t>
            </a:r>
            <a:r>
              <a:rPr lang="en-US" altLang="ko-KR" sz="1000" dirty="0">
                <a:latin typeface="+mj-ea"/>
                <a:ea typeface="+mj-ea"/>
              </a:rPr>
              <a:t>/</a:t>
            </a:r>
            <a:r>
              <a:rPr lang="ko-KR" altLang="en-US" sz="1000" dirty="0">
                <a:latin typeface="+mj-ea"/>
                <a:ea typeface="+mj-ea"/>
              </a:rPr>
              <a:t>보정 </a:t>
            </a:r>
            <a:r>
              <a:rPr lang="en-US" altLang="ko-KR" sz="1000" dirty="0">
                <a:latin typeface="+mj-ea"/>
                <a:ea typeface="+mj-ea"/>
              </a:rPr>
              <a:t>II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52" name="직선 화살표 연결선 151"/>
          <p:cNvCxnSpPr/>
          <p:nvPr/>
        </p:nvCxnSpPr>
        <p:spPr>
          <a:xfrm flipV="1">
            <a:off x="4531999" y="4752094"/>
            <a:ext cx="972392" cy="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5505186" y="2731759"/>
            <a:ext cx="7120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az-Cyrl-AZ" altLang="ko-KR" sz="900" dirty="0"/>
              <a:t>О</a:t>
            </a:r>
            <a:endParaRPr lang="ko-KR" altLang="en-US" sz="900" dirty="0"/>
          </a:p>
        </p:txBody>
      </p:sp>
      <p:sp>
        <p:nvSpPr>
          <p:cNvPr id="154" name="AutoShape 15"/>
          <p:cNvSpPr>
            <a:spLocks noChangeArrowheads="1"/>
          </p:cNvSpPr>
          <p:nvPr/>
        </p:nvSpPr>
        <p:spPr bwMode="auto">
          <a:xfrm>
            <a:off x="7025522" y="5580980"/>
            <a:ext cx="1368425" cy="520700"/>
          </a:xfrm>
          <a:prstGeom prst="flowChartDecision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기 통지한</a:t>
            </a:r>
            <a:endParaRPr lang="en-US" altLang="ko-KR" sz="1000" b="0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거절이유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55" name="AutoShape 15"/>
          <p:cNvSpPr>
            <a:spLocks noChangeArrowheads="1"/>
          </p:cNvSpPr>
          <p:nvPr/>
        </p:nvSpPr>
        <p:spPr bwMode="auto">
          <a:xfrm>
            <a:off x="7025522" y="4216289"/>
            <a:ext cx="1368425" cy="520700"/>
          </a:xfrm>
          <a:prstGeom prst="flowChartDecision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보정 </a:t>
            </a:r>
            <a:r>
              <a:rPr lang="en-US" altLang="ko-KR" sz="1000" dirty="0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에 의한</a:t>
            </a:r>
            <a:endParaRPr lang="en-US" altLang="ko-KR" sz="1000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거절이유</a:t>
            </a:r>
          </a:p>
        </p:txBody>
      </p:sp>
      <p:sp>
        <p:nvSpPr>
          <p:cNvPr id="156" name="AutoShape 15"/>
          <p:cNvSpPr>
            <a:spLocks noChangeArrowheads="1"/>
          </p:cNvSpPr>
          <p:nvPr/>
        </p:nvSpPr>
        <p:spPr bwMode="auto">
          <a:xfrm>
            <a:off x="7025522" y="3466431"/>
            <a:ext cx="1368425" cy="520700"/>
          </a:xfrm>
          <a:prstGeom prst="flowChartDecision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b="0" dirty="0">
                <a:solidFill>
                  <a:schemeClr val="tx2"/>
                </a:solidFill>
                <a:latin typeface="+mj-ea"/>
                <a:ea typeface="+mj-ea"/>
              </a:rPr>
              <a:t>기 통지한</a:t>
            </a:r>
            <a:endParaRPr lang="en-US" altLang="ko-KR" sz="1000" b="0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1000" dirty="0">
                <a:solidFill>
                  <a:schemeClr val="tx2"/>
                </a:solidFill>
                <a:latin typeface="+mj-ea"/>
                <a:ea typeface="+mj-ea"/>
              </a:rPr>
              <a:t>거절이유</a:t>
            </a:r>
            <a:endParaRPr lang="ko-KR" altLang="en-US" sz="1000" b="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cxnSp>
        <p:nvCxnSpPr>
          <p:cNvPr id="157" name="직선 화살표 연결선 156"/>
          <p:cNvCxnSpPr>
            <a:stCxn id="141" idx="3"/>
            <a:endCxn id="156" idx="1"/>
          </p:cNvCxnSpPr>
          <p:nvPr/>
        </p:nvCxnSpPr>
        <p:spPr>
          <a:xfrm>
            <a:off x="6179873" y="3726677"/>
            <a:ext cx="845649" cy="10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/>
          <p:cNvCxnSpPr>
            <a:stCxn id="141" idx="1"/>
          </p:cNvCxnSpPr>
          <p:nvPr/>
        </p:nvCxnSpPr>
        <p:spPr>
          <a:xfrm flipH="1">
            <a:off x="2388949" y="3726677"/>
            <a:ext cx="2439961" cy="10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4129324" y="3726677"/>
            <a:ext cx="716863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en-US" altLang="ko-KR" sz="900" dirty="0"/>
              <a:t>×</a:t>
            </a:r>
            <a:endParaRPr lang="ko-KR" altLang="en-US" sz="900" dirty="0"/>
          </a:p>
        </p:txBody>
      </p:sp>
      <p:sp>
        <p:nvSpPr>
          <p:cNvPr id="160" name="TextBox 159"/>
          <p:cNvSpPr txBox="1"/>
          <p:nvPr/>
        </p:nvSpPr>
        <p:spPr>
          <a:xfrm>
            <a:off x="6173653" y="3495949"/>
            <a:ext cx="7120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az-Cyrl-AZ" altLang="ko-KR" sz="900" dirty="0"/>
              <a:t>О</a:t>
            </a:r>
            <a:endParaRPr lang="ko-KR" altLang="en-US" sz="900" dirty="0"/>
          </a:p>
        </p:txBody>
      </p:sp>
      <p:cxnSp>
        <p:nvCxnSpPr>
          <p:cNvPr id="161" name="AutoShape 17"/>
          <p:cNvCxnSpPr>
            <a:cxnSpLocks noChangeShapeType="1"/>
            <a:stCxn id="156" idx="2"/>
            <a:endCxn id="155" idx="0"/>
          </p:cNvCxnSpPr>
          <p:nvPr/>
        </p:nvCxnSpPr>
        <p:spPr bwMode="auto">
          <a:xfrm>
            <a:off x="7709735" y="3987131"/>
            <a:ext cx="0" cy="22915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2" name="꺾인 연결선 161"/>
          <p:cNvCxnSpPr>
            <a:stCxn id="156" idx="3"/>
            <a:endCxn id="132" idx="0"/>
          </p:cNvCxnSpPr>
          <p:nvPr/>
        </p:nvCxnSpPr>
        <p:spPr>
          <a:xfrm>
            <a:off x="8393947" y="3726781"/>
            <a:ext cx="1291763" cy="2337493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8393947" y="3495845"/>
            <a:ext cx="36901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Yes</a:t>
            </a:r>
            <a:endParaRPr lang="ko-KR" altLang="en-US" sz="900" dirty="0"/>
          </a:p>
        </p:txBody>
      </p:sp>
      <p:sp>
        <p:nvSpPr>
          <p:cNvPr id="164" name="TextBox 163"/>
          <p:cNvSpPr txBox="1"/>
          <p:nvPr/>
        </p:nvSpPr>
        <p:spPr>
          <a:xfrm>
            <a:off x="7714084" y="3975780"/>
            <a:ext cx="33695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No</a:t>
            </a:r>
            <a:endParaRPr lang="ko-KR" altLang="en-US" sz="900" dirty="0"/>
          </a:p>
        </p:txBody>
      </p:sp>
      <p:cxnSp>
        <p:nvCxnSpPr>
          <p:cNvPr id="165" name="직선 화살표 연결선 164"/>
          <p:cNvCxnSpPr>
            <a:stCxn id="155" idx="1"/>
            <a:endCxn id="142" idx="3"/>
          </p:cNvCxnSpPr>
          <p:nvPr/>
        </p:nvCxnSpPr>
        <p:spPr>
          <a:xfrm flipH="1">
            <a:off x="6179873" y="4476639"/>
            <a:ext cx="845649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6701201" y="4259312"/>
            <a:ext cx="36901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Yes</a:t>
            </a:r>
            <a:endParaRPr lang="ko-KR" altLang="en-US" sz="900" dirty="0"/>
          </a:p>
        </p:txBody>
      </p:sp>
      <p:cxnSp>
        <p:nvCxnSpPr>
          <p:cNvPr id="167" name="꺾인 연결선 166"/>
          <p:cNvCxnSpPr>
            <a:stCxn id="155" idx="3"/>
            <a:endCxn id="119" idx="3"/>
          </p:cNvCxnSpPr>
          <p:nvPr/>
        </p:nvCxnSpPr>
        <p:spPr>
          <a:xfrm flipH="1" flipV="1">
            <a:off x="6179873" y="3116809"/>
            <a:ext cx="2214074" cy="1359830"/>
          </a:xfrm>
          <a:prstGeom prst="bentConnector3">
            <a:avLst>
              <a:gd name="adj1" fmla="val -38202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8409977" y="4251567"/>
            <a:ext cx="33695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No</a:t>
            </a:r>
            <a:endParaRPr lang="ko-KR" altLang="en-US" sz="900" dirty="0"/>
          </a:p>
        </p:txBody>
      </p:sp>
      <p:cxnSp>
        <p:nvCxnSpPr>
          <p:cNvPr id="169" name="직선 화살표 연결선 168"/>
          <p:cNvCxnSpPr>
            <a:stCxn id="120" idx="1"/>
            <a:endCxn id="148" idx="3"/>
          </p:cNvCxnSpPr>
          <p:nvPr/>
        </p:nvCxnSpPr>
        <p:spPr>
          <a:xfrm flipH="1">
            <a:off x="4487755" y="5222342"/>
            <a:ext cx="336393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4493447" y="4983622"/>
            <a:ext cx="33695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No</a:t>
            </a:r>
            <a:endParaRPr lang="ko-KR" altLang="en-US" sz="900" dirty="0"/>
          </a:p>
        </p:txBody>
      </p:sp>
      <p:sp>
        <p:nvSpPr>
          <p:cNvPr id="171" name="TextBox 170"/>
          <p:cNvSpPr txBox="1"/>
          <p:nvPr/>
        </p:nvSpPr>
        <p:spPr>
          <a:xfrm>
            <a:off x="5508361" y="5445503"/>
            <a:ext cx="36901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Yes</a:t>
            </a:r>
            <a:endParaRPr lang="ko-KR" altLang="en-US" sz="900" dirty="0"/>
          </a:p>
        </p:txBody>
      </p:sp>
      <p:cxnSp>
        <p:nvCxnSpPr>
          <p:cNvPr id="172" name="직선 화살표 연결선 171"/>
          <p:cNvCxnSpPr/>
          <p:nvPr/>
        </p:nvCxnSpPr>
        <p:spPr>
          <a:xfrm flipH="1">
            <a:off x="2388949" y="5833442"/>
            <a:ext cx="2439961" cy="10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129324" y="5833442"/>
            <a:ext cx="716863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en-US" altLang="ko-KR" sz="900" dirty="0"/>
              <a:t>×</a:t>
            </a:r>
            <a:endParaRPr lang="ko-KR" altLang="en-US" sz="900" dirty="0"/>
          </a:p>
        </p:txBody>
      </p:sp>
      <p:cxnSp>
        <p:nvCxnSpPr>
          <p:cNvPr id="174" name="직선 화살표 연결선 173"/>
          <p:cNvCxnSpPr>
            <a:stCxn id="143" idx="3"/>
            <a:endCxn id="154" idx="1"/>
          </p:cNvCxnSpPr>
          <p:nvPr/>
        </p:nvCxnSpPr>
        <p:spPr>
          <a:xfrm flipV="1">
            <a:off x="6179873" y="5841330"/>
            <a:ext cx="845649" cy="65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6173653" y="5602714"/>
            <a:ext cx="7120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거절이유</a:t>
            </a:r>
            <a:r>
              <a:rPr lang="az-Cyrl-AZ" altLang="ko-KR" sz="900" dirty="0"/>
              <a:t>О</a:t>
            </a:r>
            <a:endParaRPr lang="ko-KR" altLang="en-US" sz="900" dirty="0"/>
          </a:p>
        </p:txBody>
      </p:sp>
      <p:cxnSp>
        <p:nvCxnSpPr>
          <p:cNvPr id="176" name="꺾인 연결선 175"/>
          <p:cNvCxnSpPr>
            <a:stCxn id="148" idx="2"/>
          </p:cNvCxnSpPr>
          <p:nvPr/>
        </p:nvCxnSpPr>
        <p:spPr>
          <a:xfrm rot="16200000" flipH="1">
            <a:off x="4151676" y="5045659"/>
            <a:ext cx="333071" cy="1011874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/>
          <p:cNvCxnSpPr>
            <a:stCxn id="154" idx="3"/>
          </p:cNvCxnSpPr>
          <p:nvPr/>
        </p:nvCxnSpPr>
        <p:spPr>
          <a:xfrm flipV="1">
            <a:off x="8393947" y="5833442"/>
            <a:ext cx="1291763" cy="78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8377917" y="5601750"/>
            <a:ext cx="36901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Yes</a:t>
            </a:r>
            <a:endParaRPr lang="ko-KR" altLang="en-US" sz="900" dirty="0"/>
          </a:p>
        </p:txBody>
      </p:sp>
      <p:cxnSp>
        <p:nvCxnSpPr>
          <p:cNvPr id="179" name="직선 화살표 연결선 178"/>
          <p:cNvCxnSpPr>
            <a:stCxn id="154" idx="0"/>
            <a:endCxn id="155" idx="2"/>
          </p:cNvCxnSpPr>
          <p:nvPr/>
        </p:nvCxnSpPr>
        <p:spPr>
          <a:xfrm flipV="1">
            <a:off x="7709735" y="4736989"/>
            <a:ext cx="0" cy="8439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714084" y="5349755"/>
            <a:ext cx="336952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No</a:t>
            </a:r>
            <a:endParaRPr lang="ko-KR" altLang="en-US" sz="900" dirty="0"/>
          </a:p>
        </p:txBody>
      </p:sp>
      <p:sp>
        <p:nvSpPr>
          <p:cNvPr id="181" name="Rectangle 13"/>
          <p:cNvSpPr>
            <a:spLocks noChangeArrowheads="1"/>
          </p:cNvSpPr>
          <p:nvPr/>
        </p:nvSpPr>
        <p:spPr bwMode="auto">
          <a:xfrm>
            <a:off x="6771961" y="1618685"/>
            <a:ext cx="1350963" cy="327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심사청구</a:t>
            </a:r>
            <a:endParaRPr lang="en-US" altLang="ko-KR" sz="100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 b="0" dirty="0">
                <a:solidFill>
                  <a:schemeClr val="tx1"/>
                </a:solidFill>
                <a:latin typeface="+mj-ea"/>
                <a:ea typeface="+mj-ea"/>
              </a:rPr>
              <a:t>우선심사신청</a:t>
            </a:r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82" name="직선 화살표 연결선 181"/>
          <p:cNvCxnSpPr>
            <a:stCxn id="181" idx="1"/>
          </p:cNvCxnSpPr>
          <p:nvPr/>
        </p:nvCxnSpPr>
        <p:spPr>
          <a:xfrm flipH="1">
            <a:off x="5581650" y="1782198"/>
            <a:ext cx="1190311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002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>
            <a:spLocks noChangeArrowheads="1"/>
          </p:cNvSpPr>
          <p:nvPr/>
        </p:nvSpPr>
        <p:spPr bwMode="auto">
          <a:xfrm>
            <a:off x="6496050" y="2302969"/>
            <a:ext cx="5438775" cy="274228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r>
              <a:rPr lang="ko-KR" altLang="ko-KR" sz="1200" dirty="0">
                <a:solidFill>
                  <a:schemeClr val="tx2"/>
                </a:solidFill>
                <a:latin typeface="+mn-ea"/>
              </a:rPr>
              <a:t>【</a:t>
            </a:r>
            <a:r>
              <a:rPr lang="ko-KR" sz="12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1】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아래의 사례에서 심사관이 최초거절이유를 통지한 후 경미한 기재불비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명세서 등을 참고 할 때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A'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A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가 되어야 할 것으로 인정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보정한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대하여 다시 심사한 결과 구성요소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A+C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로 된 장치에 관한 선행기술을 발견하여 거절이유를 통지하려는 경우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이는 보정 전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기재된 발명에도 존재했던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진보성의 거절이유이므로 최초거절이유를 통지한다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7325" algn="l"/>
                <a:tab pos="320675" algn="l"/>
              </a:tabLst>
            </a:pP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2】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하나의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기재된 둘 이상의 발명 중 일부에 대하여만 거절이유를 통지하였다가 나머지 발명에 대하여 거절이유를 통지하는 경우 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거절이유통지에 따라 보정되었더라도 최초거절이유를 통지하여야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최초거절이유통지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4731" y="2270575"/>
            <a:ext cx="5749344" cy="30546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자진보정이 있었는지 여부에 관계없이 심사가 착수된 이후 첫 번째의 거절이유통지인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4731" y="2635600"/>
            <a:ext cx="5749344" cy="46124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보정되지 아니한 보정식별항목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특허법 시행규칙 별지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9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호서식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기재요령의 식별항목으로서 식별번호 등을 말한다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같다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 거절이유가 있는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4731" y="3153094"/>
            <a:ext cx="5749344" cy="631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거절이유통지 후 보정된 발명의 설명 또는 청구범위에 존재하는 거절이유라고 하더라도 그 거절이유가 보정에 의하여 발생된 것이 아니라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최초거절이유통지시에도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발명의 설명 또는 청구범위에 존재하던 거절이유인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65" y="215529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「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최초거절이유통지」란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최초로 받거나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최후거절이유통지가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아닌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최후거절이유통지가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아닌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거절이유통지」란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ⅰ)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발명에 원시적으로 거절이유가 존재하였는데 심사관이 간과한 후 나중에 이를 발견한 경우에 그 거절이유에 대한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심사관이 직권 재심사를 하려고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특허결정을 취소한다는 사실을 통지한 경우에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3②)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통지 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보정에 따라 발생한 거절이유에 대한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ⅲ)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거절결정불복심판에서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취소환송되었는데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취소환송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보정에 따라 발생한 거절이유에 대한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거절이유통지를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4731" y="3861191"/>
            <a:ext cx="5749344" cy="3509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보정 외적인 요인에 의하여 거절이유가 발생한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84731" y="4288845"/>
            <a:ext cx="5749344" cy="55155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직권 재심사를 하려고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특허출원인에게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특허결정을 취소한다는 사실을 통지한 후 그 통지 전의 거절이유통지에 대한 보정에 따라 발생한 거절이유를 발견한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84731" y="4907970"/>
            <a:ext cx="5749344" cy="55155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거절결정불복심판에서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취소환송된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출원은 취소환송 전의 거절이유통지에 대한 보정에 따라 발생한 거절이유를 발견한 경우 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80441"/>
              </p:ext>
            </p:extLst>
          </p:nvPr>
        </p:nvGraphicFramePr>
        <p:xfrm>
          <a:off x="6665594" y="3341243"/>
          <a:ext cx="5107305" cy="76122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401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 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9698" marB="1969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 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9698" marB="1969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825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청구항 </a:t>
                      </a:r>
                      <a:r>
                        <a:rPr lang="en-US" altLang="ko-KR" sz="1200" kern="1200" dirty="0"/>
                        <a:t>1: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A'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B</a:t>
                      </a:r>
                      <a:r>
                        <a:rPr lang="ko-KR" altLang="en-US" sz="1200" kern="1200" dirty="0"/>
                        <a:t>에 </a:t>
                      </a:r>
                      <a:r>
                        <a:rPr lang="en-US" altLang="ko-KR" sz="1200" kern="1200" dirty="0"/>
                        <a:t>C</a:t>
                      </a:r>
                      <a:r>
                        <a:rPr lang="ko-KR" altLang="en-US" sz="1200" kern="1200" dirty="0"/>
                        <a:t>를 부가한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9698" marB="19698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1: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B</a:t>
                      </a:r>
                      <a:r>
                        <a:rPr lang="ko-KR" altLang="en-US" sz="1200" kern="1200" dirty="0"/>
                        <a:t>에 </a:t>
                      </a:r>
                      <a:r>
                        <a:rPr lang="en-US" altLang="ko-KR" sz="1200" kern="1200" dirty="0"/>
                        <a:t>C</a:t>
                      </a:r>
                      <a:r>
                        <a:rPr lang="ko-KR" altLang="en-US" sz="1200" kern="1200" dirty="0"/>
                        <a:t>를 부가한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9698" marB="196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Rectangle 1"/>
          <p:cNvSpPr>
            <a:spLocks noChangeArrowheads="1"/>
          </p:cNvSpPr>
          <p:nvPr/>
        </p:nvSpPr>
        <p:spPr bwMode="auto">
          <a:xfrm>
            <a:off x="6496050" y="5091516"/>
            <a:ext cx="543877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심사에 착수하여 최초거절이유를 통지할 때에는 외국인으로서 권리능력에 관한 흠결이 없었으나 보정 이후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조에 따라 특허에 관한 권리를 누릴 수 없게 된 경우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해당 거절이유는 거절이유통지에 대한 보정에 따라 발생한 거절이유가 아니므로 최초거절이유를 통지한다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75" name="꺾인 연결선 74"/>
          <p:cNvCxnSpPr>
            <a:stCxn id="65" idx="3"/>
            <a:endCxn id="72" idx="1"/>
          </p:cNvCxnSpPr>
          <p:nvPr/>
        </p:nvCxnSpPr>
        <p:spPr>
          <a:xfrm>
            <a:off x="5934075" y="3469058"/>
            <a:ext cx="561975" cy="2050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68" idx="3"/>
            <a:endCxn id="73" idx="1"/>
          </p:cNvCxnSpPr>
          <p:nvPr/>
        </p:nvCxnSpPr>
        <p:spPr>
          <a:xfrm>
            <a:off x="5934075" y="4036675"/>
            <a:ext cx="561975" cy="14703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21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>
            <a:spLocks noChangeArrowheads="1"/>
          </p:cNvSpPr>
          <p:nvPr/>
        </p:nvSpPr>
        <p:spPr bwMode="auto">
          <a:xfrm>
            <a:off x="6496050" y="2203337"/>
            <a:ext cx="5438775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1】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아래 사례에서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진보성을 위반으로 거절이유를 통지한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보정하여 종전의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신규성이나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진보성 거절이유를 해소하였으나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구성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D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부가함으로써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D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포함하는 선행기술을 추가로 인용할 필요가 생겼다면 이는 보정에 의하여 발생한 거절이유이므로 최후거절이유를 통지한다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만일 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A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및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B’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라는 표현이 구성요소를 선택적으로 적지 아니하여 발명의 구성이 불분명하다는 거절이유가 있었다면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이는 구성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D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부가한 것과 관계없이 보정 전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존재하던 거절이유로서 보정에 의하여 발생한 거절이유가 아니므로 최후거절이유통지 대상이 아니다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20675" algn="l"/>
              </a:tabLst>
            </a:pP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2】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기재불비만으로 통지한 거절이유에 대한 보정으로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확장됨으로써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진보성의 거절이유가 발생한 경우 보정에 의하여 선행기술을 다시 찾아 심사하여야 하기 때문에 그 거절이유가 같은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번호에 존재하는 거절이유라도 최후거절이유를 통지하여야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최후거절이유통지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4731" y="1666875"/>
            <a:ext cx="5749344" cy="67100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명세서 또는 도면을 보정하여 신규사항이 추가된 경우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기재불비가 새롭게 발생한 경우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분할출원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분리출원 또는 변경출원의 범위를 벗어나게 된 경우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4731" y="2432285"/>
            <a:ext cx="5749344" cy="6347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200" dirty="0">
                <a:solidFill>
                  <a:schemeClr val="tx2"/>
                </a:solidFill>
              </a:rPr>
              <a:t>심사가 이루어진 </a:t>
            </a:r>
            <a:r>
              <a:rPr lang="ko-KR" altLang="en-US" sz="12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200" dirty="0">
                <a:solidFill>
                  <a:schemeClr val="tx2"/>
                </a:solidFill>
              </a:rPr>
              <a:t> 보정하여 새롭게 </a:t>
            </a:r>
            <a:r>
              <a:rPr lang="ko-KR" altLang="en-US" sz="1200" dirty="0" err="1">
                <a:solidFill>
                  <a:schemeClr val="tx2"/>
                </a:solidFill>
              </a:rPr>
              <a:t>신규성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진보성 등에 관한 거절이유를 통지하게 된 경우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보정된 청구항의 발명이 그 </a:t>
            </a:r>
            <a:r>
              <a:rPr lang="ko-KR" altLang="en-US" sz="1200" dirty="0" err="1">
                <a:solidFill>
                  <a:schemeClr val="tx2"/>
                </a:solidFill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</a:rPr>
              <a:t> 외의 다른 </a:t>
            </a:r>
            <a:r>
              <a:rPr lang="ko-KR" altLang="en-US" sz="12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</a:rPr>
              <a:t> 원래부터 기재되어 있던 발명이었음에도 해당 거절이유를 통지하지 않았던 경우에는 최초거절이유를 통지한다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4731" y="3233762"/>
            <a:ext cx="5749344" cy="574479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신설되거나 실질적으로 신설에 준하는 정도로 바뀐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진보성의 거절이유가 있는 경우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거절이유를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통지받지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아니한 청구항의 발명으로 보정된 경우에는 최초거절이유를 통지한다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.)</a:t>
            </a:r>
          </a:p>
        </p:txBody>
      </p:sp>
      <p:cxnSp>
        <p:nvCxnSpPr>
          <p:cNvPr id="66" name="직선 연결선 65"/>
          <p:cNvCxnSpPr/>
          <p:nvPr/>
        </p:nvCxnSpPr>
        <p:spPr>
          <a:xfrm>
            <a:off x="65" y="12833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7875" y="976902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「최후거절이유통지」란 최초거절이유통지에 대한 보정에 따라 발생한 새로운 거절이유에 대한 거절이유통지를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4731" y="3929087"/>
            <a:ext cx="5749344" cy="67148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기재의 현저한 기재불비 또는 신규사항의 추가 등으로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진보성 등과 관련된 심사가 불가능했던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보정한 후 다시 심사한 결과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신규성이나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진보성에 관한 거절이유를 발견한 경우</a:t>
            </a:r>
          </a:p>
        </p:txBody>
      </p:sp>
      <p:cxnSp>
        <p:nvCxnSpPr>
          <p:cNvPr id="75" name="꺾인 연결선 74"/>
          <p:cNvCxnSpPr>
            <a:stCxn id="64" idx="3"/>
            <a:endCxn id="72" idx="1"/>
          </p:cNvCxnSpPr>
          <p:nvPr/>
        </p:nvCxnSpPr>
        <p:spPr>
          <a:xfrm>
            <a:off x="5934075" y="2749668"/>
            <a:ext cx="561975" cy="10694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459401"/>
              </p:ext>
            </p:extLst>
          </p:nvPr>
        </p:nvGraphicFramePr>
        <p:xfrm>
          <a:off x="6694169" y="3657799"/>
          <a:ext cx="5164455" cy="74847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1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866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 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 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1: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 </a:t>
                      </a:r>
                      <a:r>
                        <a:rPr lang="ko-KR" altLang="en-US" sz="1200" kern="1200" dirty="0"/>
                        <a:t>및 </a:t>
                      </a:r>
                      <a:r>
                        <a:rPr lang="en-US" altLang="ko-KR" sz="1200" kern="1200" dirty="0"/>
                        <a:t>B</a:t>
                      </a:r>
                      <a:r>
                        <a:rPr lang="ko-KR" altLang="en-US" sz="1200" kern="1200" dirty="0"/>
                        <a:t>에 </a:t>
                      </a:r>
                      <a:r>
                        <a:rPr lang="en-US" altLang="ko-KR" sz="1200" kern="1200" dirty="0"/>
                        <a:t>C</a:t>
                      </a:r>
                      <a:r>
                        <a:rPr lang="ko-KR" altLang="en-US" sz="1200" kern="1200" dirty="0"/>
                        <a:t>를 부가한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1: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 </a:t>
                      </a:r>
                      <a:r>
                        <a:rPr lang="ko-KR" altLang="en-US" sz="1200" kern="1200" dirty="0"/>
                        <a:t>및 </a:t>
                      </a:r>
                      <a:r>
                        <a:rPr lang="en-US" altLang="ko-KR" sz="1200" kern="1200" dirty="0"/>
                        <a:t>B</a:t>
                      </a:r>
                      <a:r>
                        <a:rPr lang="ko-KR" altLang="en-US" sz="1200" kern="1200" dirty="0"/>
                        <a:t>에 </a:t>
                      </a:r>
                      <a:r>
                        <a:rPr lang="en-US" altLang="ko-KR" sz="1200" kern="1200" dirty="0"/>
                        <a:t>D</a:t>
                      </a:r>
                      <a:r>
                        <a:rPr lang="ko-KR" altLang="en-US" sz="1200" kern="1200" dirty="0"/>
                        <a:t>를 부가한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7733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원거절이유의</a:t>
            </a:r>
            <a:r>
              <a:rPr lang="ko-KR" altLang="en-US" dirty="0">
                <a:solidFill>
                  <a:srgbClr val="525252"/>
                </a:solidFill>
              </a:rPr>
              <a:t> 해소 여부</a:t>
            </a:r>
            <a:r>
              <a:rPr lang="en-US" altLang="ko-KR" sz="2000" dirty="0">
                <a:solidFill>
                  <a:srgbClr val="525252"/>
                </a:solidFill>
              </a:rPr>
              <a:t>(</a:t>
            </a:r>
            <a:r>
              <a:rPr lang="ko-KR" altLang="en-US" sz="2000" dirty="0" err="1">
                <a:solidFill>
                  <a:srgbClr val="525252"/>
                </a:solidFill>
              </a:rPr>
              <a:t>거절이유통지와</a:t>
            </a:r>
            <a:r>
              <a:rPr lang="ko-KR" altLang="en-US" sz="2000" dirty="0">
                <a:solidFill>
                  <a:srgbClr val="525252"/>
                </a:solidFill>
              </a:rPr>
              <a:t> 거절결정과의 관계</a:t>
            </a:r>
            <a:r>
              <a:rPr lang="en-US" altLang="ko-KR" sz="2000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r>
              <a:rPr lang="en-US" altLang="ko-KR" dirty="0"/>
              <a:t>257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심사관은 거절이유통지에 따라 제출된 </a:t>
            </a:r>
            <a:r>
              <a:rPr lang="ko-KR" altLang="en-US" sz="1400" dirty="0" err="1">
                <a:solidFill>
                  <a:schemeClr val="tx2"/>
                </a:solidFill>
              </a:rPr>
              <a:t>의견서ㆍ보정서에</a:t>
            </a:r>
            <a:r>
              <a:rPr lang="ko-KR" altLang="en-US" sz="1400" dirty="0">
                <a:solidFill>
                  <a:schemeClr val="tx2"/>
                </a:solidFill>
              </a:rPr>
              <a:t> 의해서도 이미 통지한 거절이유가 해소되지 아니하고 동일한 경우에는 다른 거절이유가 있더라도 다시 거절이유를 통지하지 아니하고 특허거절결정을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「거절이유가 이미 통지한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거절이유와</a:t>
            </a:r>
            <a:r>
              <a:rPr lang="ko-KR" altLang="en-US" sz="1400" dirty="0">
                <a:solidFill>
                  <a:schemeClr val="tx2"/>
                </a:solidFill>
              </a:rPr>
              <a:t> 동일한 </a:t>
            </a:r>
            <a:r>
              <a:rPr lang="ko-KR" altLang="en-US" sz="1400" dirty="0" err="1">
                <a:solidFill>
                  <a:schemeClr val="tx2"/>
                </a:solidFill>
              </a:rPr>
              <a:t>경우」란</a:t>
            </a:r>
            <a:r>
              <a:rPr lang="ko-KR" altLang="en-US" sz="1400" dirty="0">
                <a:solidFill>
                  <a:schemeClr val="tx2"/>
                </a:solidFill>
              </a:rPr>
              <a:t> 해당 거절이유가 앞서 통지된 거절이유통지에서 지적한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거절이유와</a:t>
            </a:r>
            <a:r>
              <a:rPr lang="ko-KR" altLang="en-US" sz="1400" dirty="0">
                <a:solidFill>
                  <a:schemeClr val="tx2"/>
                </a:solidFill>
              </a:rPr>
              <a:t> 주지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主旨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있어서 부합되는 경우를 말하는 것으로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주지가 부합되는지 여부는 일부의 문구나 표현에 구애되어서는 아니 되고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의견을 제출할 기회가 실질적으로 부여되었는지 여부의 관점에서 평가되어야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195066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E9A4C4-2ED9-4E04-9EB1-37F3054EBB5F}"/>
              </a:ext>
            </a:extLst>
          </p:cNvPr>
          <p:cNvSpPr txBox="1"/>
          <p:nvPr/>
        </p:nvSpPr>
        <p:spPr>
          <a:xfrm>
            <a:off x="1599794" y="2040192"/>
            <a:ext cx="2217683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/>
              <a:t>거절이유통지</a:t>
            </a:r>
            <a:endParaRPr lang="ko-KR" alt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2E51E6-4BFC-4D42-85A1-5D4CE59C7190}"/>
              </a:ext>
            </a:extLst>
          </p:cNvPr>
          <p:cNvSpPr txBox="1"/>
          <p:nvPr/>
        </p:nvSpPr>
        <p:spPr>
          <a:xfrm>
            <a:off x="8166539" y="2040192"/>
            <a:ext cx="2217683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거절결정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5576843-71C2-4938-A5B9-EA0AF903FB1F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3217748" y="2682362"/>
            <a:ext cx="525268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284E3B-69D5-4330-9DB7-6A44B200FC8E}"/>
              </a:ext>
            </a:extLst>
          </p:cNvPr>
          <p:cNvSpPr txBox="1"/>
          <p:nvPr/>
        </p:nvSpPr>
        <p:spPr>
          <a:xfrm>
            <a:off x="4313117" y="2012595"/>
            <a:ext cx="3076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주지가 부합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출원인에게 실질적 대응기회 부여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D21DD2-F1E4-4438-A98E-CD0580EA089D}"/>
              </a:ext>
            </a:extLst>
          </p:cNvPr>
          <p:cNvSpPr txBox="1"/>
          <p:nvPr/>
        </p:nvSpPr>
        <p:spPr>
          <a:xfrm>
            <a:off x="798787" y="3000874"/>
            <a:ext cx="881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다른 </a:t>
            </a:r>
            <a:r>
              <a:rPr lang="ko-KR" altLang="en-US" sz="1400" dirty="0" err="1"/>
              <a:t>거절이유통지하고</a:t>
            </a:r>
            <a:r>
              <a:rPr lang="ko-KR" altLang="en-US" sz="1400" dirty="0"/>
              <a:t> 거절결정해서는 안 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우선 법조문을 달리 한다면 거절이유를 달리하며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법조문을 같이 하더라도 사실을 달리 한다면 거절이유를 달리한다</a:t>
            </a:r>
            <a:r>
              <a:rPr lang="en-US" altLang="ko-KR" sz="1400" dirty="0">
                <a:solidFill>
                  <a:srgbClr val="FF0000"/>
                </a:solidFill>
              </a:rPr>
              <a:t>.)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169D22-EC80-45D7-B146-6FB6C25F5563}"/>
              </a:ext>
            </a:extLst>
          </p:cNvPr>
          <p:cNvSpPr txBox="1"/>
          <p:nvPr/>
        </p:nvSpPr>
        <p:spPr>
          <a:xfrm>
            <a:off x="758529" y="3506497"/>
            <a:ext cx="11134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거절이유통지가</a:t>
            </a:r>
            <a:r>
              <a:rPr lang="ko-KR" altLang="en-US" sz="1400" dirty="0"/>
              <a:t> 어느 정도 추상적이나 개괄적으로 기재되어 있다고 하더라도 통상의 기술자가 전체적으로 그 취지를 이해할 수 있을 정도로 기재되어 있으면 충분하다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2008. 12. 24.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265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B4B794-80FF-4722-BBFF-73FDDF6B8C26}"/>
              </a:ext>
            </a:extLst>
          </p:cNvPr>
          <p:cNvSpPr txBox="1"/>
          <p:nvPr/>
        </p:nvSpPr>
        <p:spPr>
          <a:xfrm>
            <a:off x="758529" y="4008215"/>
            <a:ext cx="11134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출원발명에 대하여 우선권주장의 불인정으로 거절이유가 생긴 경우에는 </a:t>
            </a:r>
            <a:r>
              <a:rPr lang="ko-KR" altLang="en-US" sz="1400" dirty="0">
                <a:solidFill>
                  <a:srgbClr val="FF0000"/>
                </a:solidFill>
              </a:rPr>
              <a:t>우선권주장의 불인정은 거절이유 일부를 구성</a:t>
            </a:r>
            <a:r>
              <a:rPr lang="ko-KR" altLang="en-US" sz="1400" dirty="0"/>
              <a:t>하는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우선권주장이 인정되지 아니한다는 취지 및 그 이유를 </a:t>
            </a:r>
            <a:r>
              <a:rPr lang="ko-KR" altLang="en-US" sz="1400" dirty="0" err="1"/>
              <a:t>거절이유통지서에</a:t>
            </a:r>
            <a:r>
              <a:rPr lang="ko-KR" altLang="en-US" sz="1400" dirty="0"/>
              <a:t> 포함하여야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2011. 9. 8.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2371).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5EC0F2-B8E4-4590-8A28-1A52915A1353}"/>
              </a:ext>
            </a:extLst>
          </p:cNvPr>
          <p:cNvSpPr/>
          <p:nvPr/>
        </p:nvSpPr>
        <p:spPr>
          <a:xfrm>
            <a:off x="92365" y="2937778"/>
            <a:ext cx="11921833" cy="38600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324E418E-F82F-43E1-90C6-9AB59DBC8167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 rot="16200000" flipH="1">
            <a:off x="5782116" y="2666612"/>
            <a:ext cx="340408" cy="20192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F0F5B3AB-5332-4CE3-ABAB-ACA9FB9D9941}"/>
              </a:ext>
            </a:extLst>
          </p:cNvPr>
          <p:cNvSpPr/>
          <p:nvPr/>
        </p:nvSpPr>
        <p:spPr>
          <a:xfrm>
            <a:off x="298639" y="3002889"/>
            <a:ext cx="416064" cy="4152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CEA7E38-4AD7-4C63-B3A6-E163E98AFA19}"/>
              </a:ext>
            </a:extLst>
          </p:cNvPr>
          <p:cNvSpPr/>
          <p:nvPr/>
        </p:nvSpPr>
        <p:spPr>
          <a:xfrm>
            <a:off x="298639" y="3532935"/>
            <a:ext cx="416064" cy="4152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566ADC7-73C4-4E7B-A20E-ED49B53CA103}"/>
              </a:ext>
            </a:extLst>
          </p:cNvPr>
          <p:cNvSpPr/>
          <p:nvPr/>
        </p:nvSpPr>
        <p:spPr>
          <a:xfrm>
            <a:off x="298639" y="4005829"/>
            <a:ext cx="416064" cy="41521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60C2536-EE96-4989-AAA2-83B7499FD36A}"/>
              </a:ext>
            </a:extLst>
          </p:cNvPr>
          <p:cNvSpPr/>
          <p:nvPr/>
        </p:nvSpPr>
        <p:spPr>
          <a:xfrm>
            <a:off x="298639" y="4490626"/>
            <a:ext cx="416064" cy="41521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E8FB2C-6913-43CE-A027-F6AF21B041BE}"/>
              </a:ext>
            </a:extLst>
          </p:cNvPr>
          <p:cNvSpPr txBox="1"/>
          <p:nvPr/>
        </p:nvSpPr>
        <p:spPr>
          <a:xfrm>
            <a:off x="758529" y="4493012"/>
            <a:ext cx="11134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기통지한 거절이유에서 선행기술로 인용된 자료가 특허공보와 같이 하나의 기술에 관한 것이거나 여러 </a:t>
            </a:r>
            <a:r>
              <a:rPr lang="ko-KR" altLang="en-US" sz="1400" dirty="0" err="1"/>
              <a:t>실시태양을</a:t>
            </a:r>
            <a:r>
              <a:rPr lang="ko-KR" altLang="en-US" sz="1400" dirty="0"/>
              <a:t> 개시하고 있지만 동일 또는 밀접한 기술사상에 대한 문헌인 경우에는 </a:t>
            </a:r>
            <a:r>
              <a:rPr lang="ko-KR" altLang="en-US" sz="1400" dirty="0">
                <a:solidFill>
                  <a:srgbClr val="FF0000"/>
                </a:solidFill>
              </a:rPr>
              <a:t>그 문헌 전체</a:t>
            </a:r>
            <a:r>
              <a:rPr lang="ko-KR" altLang="en-US" sz="1400" dirty="0"/>
              <a:t>에 대하여 </a:t>
            </a:r>
            <a:r>
              <a:rPr lang="ko-KR" altLang="en-US" sz="1400" dirty="0" err="1"/>
              <a:t>거절이유통지가</a:t>
            </a:r>
            <a:r>
              <a:rPr lang="ko-KR" altLang="en-US" sz="1400" dirty="0"/>
              <a:t> 있었다고 봄이 상당하므로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추가적인 </a:t>
            </a:r>
            <a:r>
              <a:rPr lang="ko-KR" altLang="en-US" sz="1400" dirty="0" err="1"/>
              <a:t>거절이유통지</a:t>
            </a:r>
            <a:r>
              <a:rPr lang="ko-KR" altLang="en-US" sz="1400" dirty="0"/>
              <a:t> 없이 기통지한 거절이유에서 위 문헌 중 직접 인용하지 않았던 부분을 들어 바로 </a:t>
            </a:r>
            <a:r>
              <a:rPr lang="ko-KR" altLang="en-US" sz="1400" dirty="0" err="1"/>
              <a:t>거절결정할</a:t>
            </a:r>
            <a:r>
              <a:rPr lang="ko-KR" altLang="en-US" sz="1400" dirty="0"/>
              <a:t>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그 인용된 자료가 서적 등과 같이 방대하거나 여러 개의 기술에 관한 기재가 있는 것인데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거절이유통지에서는</a:t>
            </a:r>
            <a:r>
              <a:rPr lang="ko-KR" altLang="en-US" sz="1400" dirty="0"/>
              <a:t> 그 중 일부 기술만을 사본하여 첨부하거나 적시한 경우라면 인용되지 않은 부분을 새로운 거절이유로 볼 여지가 있으므로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가급적 다시 거절이유를 통지하여 출원인에게 </a:t>
            </a:r>
            <a:r>
              <a:rPr lang="ko-KR" altLang="en-US" sz="1400" dirty="0" err="1"/>
              <a:t>의견제출할</a:t>
            </a:r>
            <a:r>
              <a:rPr lang="ko-KR" altLang="en-US" sz="1400" dirty="0"/>
              <a:t> 기회를 부여하도록 한다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2011. 4. 27.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2010</a:t>
            </a:r>
            <a:r>
              <a:rPr lang="ko-KR" altLang="en-US" sz="1400" dirty="0"/>
              <a:t>허</a:t>
            </a:r>
            <a:r>
              <a:rPr lang="en-US" altLang="ko-KR" sz="1400" dirty="0"/>
              <a:t>2612; 2012. 6.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허</a:t>
            </a:r>
            <a:r>
              <a:rPr lang="en-US" altLang="ko-KR" sz="1400" dirty="0"/>
              <a:t>10306).</a:t>
            </a:r>
            <a:endParaRPr lang="ko-KR" altLang="en-US" sz="14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9C3BE4C-6269-4DA1-B498-6257E9661FB2}"/>
              </a:ext>
            </a:extLst>
          </p:cNvPr>
          <p:cNvSpPr/>
          <p:nvPr/>
        </p:nvSpPr>
        <p:spPr>
          <a:xfrm>
            <a:off x="298639" y="5914553"/>
            <a:ext cx="416064" cy="415212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C8F76C-5DA2-4A0B-B260-2EE529C71750}"/>
              </a:ext>
            </a:extLst>
          </p:cNvPr>
          <p:cNvSpPr/>
          <p:nvPr/>
        </p:nvSpPr>
        <p:spPr>
          <a:xfrm>
            <a:off x="714703" y="5846137"/>
            <a:ext cx="11178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진보성 위반을 이유로 한 거절이유에 기재된 </a:t>
            </a:r>
            <a:r>
              <a:rPr lang="ko-KR" altLang="en-US" sz="1400" dirty="0">
                <a:solidFill>
                  <a:srgbClr val="FF0000"/>
                </a:solidFill>
              </a:rPr>
              <a:t>주선행발명을 다른 선행발명으로 변경</a:t>
            </a:r>
            <a:r>
              <a:rPr lang="ko-KR" altLang="en-US" sz="1400" dirty="0"/>
              <a:t>하는 경우에는</a:t>
            </a:r>
            <a:r>
              <a:rPr lang="en-US" altLang="ko-KR" sz="1400" dirty="0"/>
              <a:t>, </a:t>
            </a:r>
            <a:r>
              <a:rPr lang="ko-KR" altLang="en-US" sz="1400" dirty="0"/>
              <a:t>일반적으로 출원발명과의 공통점 및 차이점의 인정과 그러한 차이점을 극복하여 출원발명을 쉽게 발명할 수 있는지에 대한 판단 내용이 달라지므로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출원인에게 이에 대해 실질적으로 의견제출의 기회가 주어졌다고 볼 수 있는 등의 특별한 사정이 없는 한 이미 통지된 거절이유와 주요한 취지가 부합하지 아니하는 새로운 거절이유에 해당한다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2019. 10. 31.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2341).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C339C-C135-42CB-90BC-2B726740C48E}"/>
              </a:ext>
            </a:extLst>
          </p:cNvPr>
          <p:cNvSpPr txBox="1"/>
          <p:nvPr/>
        </p:nvSpPr>
        <p:spPr>
          <a:xfrm>
            <a:off x="2199521" y="2497696"/>
            <a:ext cx="1018227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거절이유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53421-819F-40DF-817B-6FA0AA693595}"/>
              </a:ext>
            </a:extLst>
          </p:cNvPr>
          <p:cNvSpPr txBox="1"/>
          <p:nvPr/>
        </p:nvSpPr>
        <p:spPr>
          <a:xfrm>
            <a:off x="8470432" y="2497696"/>
            <a:ext cx="170751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거절결정의 이유</a:t>
            </a:r>
          </a:p>
        </p:txBody>
      </p:sp>
    </p:spTree>
    <p:extLst>
      <p:ext uri="{BB962C8B-B14F-4D97-AF65-F5344CB8AC3E}">
        <p14:creationId xmlns:p14="http://schemas.microsoft.com/office/powerpoint/2010/main" val="321245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거절이유통지의</a:t>
            </a:r>
            <a:r>
              <a:rPr lang="ko-KR" altLang="en-US" dirty="0">
                <a:solidFill>
                  <a:srgbClr val="525252"/>
                </a:solidFill>
              </a:rPr>
              <a:t> 적법성 판단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r>
              <a:rPr lang="en-US" altLang="ko-KR" dirty="0"/>
              <a:t>258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심사관은 거절이유통지에 따라 제출된 </a:t>
            </a:r>
            <a:r>
              <a:rPr lang="ko-KR" altLang="en-US" sz="1400" dirty="0" err="1">
                <a:solidFill>
                  <a:schemeClr val="tx2"/>
                </a:solidFill>
              </a:rPr>
              <a:t>의견서ㆍ보정서에</a:t>
            </a:r>
            <a:r>
              <a:rPr lang="ko-KR" altLang="en-US" sz="1400" dirty="0">
                <a:solidFill>
                  <a:schemeClr val="tx2"/>
                </a:solidFill>
              </a:rPr>
              <a:t> 의해서도 이미 통지한 거절이유가 해소되지 아니하고 동일한 경우에는 다른 거절이유가 있더라도 다시 거절이유를 통지하지 아니하고 특허거절결정을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「이미 통지한 거절이유와 동일한 </a:t>
            </a:r>
            <a:r>
              <a:rPr lang="ko-KR" altLang="en-US" sz="1400" dirty="0" err="1">
                <a:solidFill>
                  <a:schemeClr val="tx2"/>
                </a:solidFill>
              </a:rPr>
              <a:t>경우」란</a:t>
            </a:r>
            <a:r>
              <a:rPr lang="ko-KR" altLang="en-US" sz="1400" dirty="0">
                <a:solidFill>
                  <a:schemeClr val="tx2"/>
                </a:solidFill>
              </a:rPr>
              <a:t> 해당 거절결정의 이유가 앞서 통지된 거절이유통지에서 지적한 거절이유와 주지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主旨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있어서 부합되는 경우를 말하는 것으로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주지가 부합되는지 여부는 일부의 문구나 표현에 구애되어서는 아니 되고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의견을 제출할 기회가 실질적으로 부여되었는지 여부의 관점에서 평가되어야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구체적으로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우선 법조문을 달리 한다면 거절이유를 달리 하며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법조문을 같이 하더라도 사실을 달리 한다면 거절이유를 달리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14205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799F66-476C-40A5-8BC5-E124759A3707}"/>
              </a:ext>
            </a:extLst>
          </p:cNvPr>
          <p:cNvGrpSpPr/>
          <p:nvPr/>
        </p:nvGrpSpPr>
        <p:grpSpPr>
          <a:xfrm>
            <a:off x="184731" y="3585267"/>
            <a:ext cx="3926441" cy="2948318"/>
            <a:chOff x="184731" y="3431910"/>
            <a:chExt cx="3926441" cy="3231065"/>
          </a:xfrm>
        </p:grpSpPr>
        <p:sp>
          <p:nvSpPr>
            <p:cNvPr id="40" name="다이아몬드 39"/>
            <p:cNvSpPr/>
            <p:nvPr/>
          </p:nvSpPr>
          <p:spPr>
            <a:xfrm>
              <a:off x="2719211" y="3902817"/>
              <a:ext cx="1391961" cy="589859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법조문 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동일</a:t>
              </a:r>
            </a:p>
          </p:txBody>
        </p:sp>
        <p:sp>
          <p:nvSpPr>
            <p:cNvPr id="41" name="다이아몬드 40"/>
            <p:cNvSpPr/>
            <p:nvPr/>
          </p:nvSpPr>
          <p:spPr>
            <a:xfrm>
              <a:off x="2719211" y="5103800"/>
              <a:ext cx="1391961" cy="589859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사실 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동일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623838" y="3982181"/>
              <a:ext cx="1129102" cy="4461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다른 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거절이유</a:t>
              </a:r>
            </a:p>
          </p:txBody>
        </p:sp>
        <p:cxnSp>
          <p:nvCxnSpPr>
            <p:cNvPr id="44" name="직선 화살표 연결선 43"/>
            <p:cNvCxnSpPr>
              <a:stCxn id="40" idx="1"/>
              <a:endCxn id="42" idx="3"/>
            </p:cNvCxnSpPr>
            <p:nvPr/>
          </p:nvCxnSpPr>
          <p:spPr>
            <a:xfrm flipH="1">
              <a:off x="1752940" y="4197747"/>
              <a:ext cx="966271" cy="752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/>
            <p:cNvSpPr/>
            <p:nvPr/>
          </p:nvSpPr>
          <p:spPr>
            <a:xfrm>
              <a:off x="2850637" y="6182711"/>
              <a:ext cx="1129102" cy="4802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동일한 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거절이유</a:t>
              </a:r>
            </a:p>
          </p:txBody>
        </p:sp>
        <p:cxnSp>
          <p:nvCxnSpPr>
            <p:cNvPr id="49" name="직선 화살표 연결선 48"/>
            <p:cNvCxnSpPr>
              <a:stCxn id="40" idx="2"/>
              <a:endCxn id="41" idx="0"/>
            </p:cNvCxnSpPr>
            <p:nvPr/>
          </p:nvCxnSpPr>
          <p:spPr>
            <a:xfrm>
              <a:off x="3415192" y="4492676"/>
              <a:ext cx="0" cy="61112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>
              <a:stCxn id="41" idx="2"/>
              <a:endCxn id="46" idx="0"/>
            </p:cNvCxnSpPr>
            <p:nvPr/>
          </p:nvCxnSpPr>
          <p:spPr>
            <a:xfrm flipH="1">
              <a:off x="3415188" y="5693659"/>
              <a:ext cx="4" cy="48905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418180" y="4492671"/>
              <a:ext cx="534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Yes</a:t>
              </a:r>
              <a:endParaRPr lang="ko-KR" altLang="en-US" sz="11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418180" y="5697348"/>
              <a:ext cx="4616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Yes</a:t>
              </a:r>
              <a:endParaRPr lang="ko-KR" altLang="en-US" sz="11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8192" y="3985441"/>
              <a:ext cx="4838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No</a:t>
              </a:r>
              <a:endParaRPr lang="ko-KR" altLang="en-US" sz="11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342750" y="5147890"/>
              <a:ext cx="4076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No</a:t>
              </a:r>
              <a:endParaRPr lang="ko-KR" altLang="en-US" sz="1100" dirty="0"/>
            </a:p>
          </p:txBody>
        </p:sp>
        <p:cxnSp>
          <p:nvCxnSpPr>
            <p:cNvPr id="6" name="꺾인 연결선 5"/>
            <p:cNvCxnSpPr>
              <a:stCxn id="41" idx="1"/>
              <a:endCxn id="42" idx="2"/>
            </p:cNvCxnSpPr>
            <p:nvPr/>
          </p:nvCxnSpPr>
          <p:spPr>
            <a:xfrm rot="10800000">
              <a:off x="1188389" y="4428358"/>
              <a:ext cx="1530822" cy="970373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모서리가 둥근 사각형 설명선 16"/>
            <p:cNvSpPr/>
            <p:nvPr/>
          </p:nvSpPr>
          <p:spPr>
            <a:xfrm>
              <a:off x="1752940" y="3431910"/>
              <a:ext cx="2058484" cy="291312"/>
            </a:xfrm>
            <a:prstGeom prst="wedgeRoundRectCallout">
              <a:avLst>
                <a:gd name="adj1" fmla="val -12945"/>
                <a:gd name="adj2" fmla="val 142573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29</a:t>
              </a:r>
              <a:r>
                <a:rPr lang="ko-KR" altLang="en-US" sz="1050" dirty="0">
                  <a:solidFill>
                    <a:schemeClr val="tx1"/>
                  </a:solidFill>
                </a:rPr>
                <a:t>조제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1</a:t>
              </a:r>
              <a:r>
                <a:rPr lang="ko-KR" altLang="en-US" sz="1050" dirty="0">
                  <a:solidFill>
                    <a:schemeClr val="tx1"/>
                  </a:solidFill>
                </a:rPr>
                <a:t>항 </a:t>
              </a:r>
              <a:r>
                <a:rPr lang="en-US" altLang="ko-KR" sz="1050" dirty="0">
                  <a:solidFill>
                    <a:schemeClr val="tx1"/>
                  </a:solidFill>
                </a:rPr>
                <a:t>vs </a:t>
              </a:r>
              <a:r>
                <a:rPr lang="ko-KR" altLang="en-US" sz="1050" dirty="0">
                  <a:solidFill>
                    <a:schemeClr val="tx1"/>
                  </a:solidFill>
                </a:rPr>
                <a:t>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29</a:t>
              </a:r>
              <a:r>
                <a:rPr lang="ko-KR" altLang="en-US" sz="1050" dirty="0">
                  <a:solidFill>
                    <a:schemeClr val="tx1"/>
                  </a:solidFill>
                </a:rPr>
                <a:t>조제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2</a:t>
              </a:r>
              <a:r>
                <a:rPr lang="ko-KR" altLang="en-US" sz="1050" dirty="0">
                  <a:solidFill>
                    <a:schemeClr val="tx1"/>
                  </a:solidFill>
                </a:rPr>
                <a:t>항</a:t>
              </a:r>
            </a:p>
          </p:txBody>
        </p:sp>
        <p:sp>
          <p:nvSpPr>
            <p:cNvPr id="68" name="모서리가 둥근 사각형 설명선 67"/>
            <p:cNvSpPr/>
            <p:nvPr/>
          </p:nvSpPr>
          <p:spPr>
            <a:xfrm>
              <a:off x="184731" y="5693659"/>
              <a:ext cx="2665906" cy="489052"/>
            </a:xfrm>
            <a:prstGeom prst="wedgeRoundRectCallout">
              <a:avLst>
                <a:gd name="adj1" fmla="val 35460"/>
                <a:gd name="adj2" fmla="val -120837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29</a:t>
              </a:r>
              <a:r>
                <a:rPr lang="ko-KR" altLang="en-US" sz="1050" dirty="0">
                  <a:solidFill>
                    <a:schemeClr val="tx1"/>
                  </a:solidFill>
                </a:rPr>
                <a:t>조제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1</a:t>
              </a:r>
              <a:r>
                <a:rPr lang="ko-KR" altLang="en-US" sz="1050" dirty="0">
                  <a:solidFill>
                    <a:schemeClr val="tx1"/>
                  </a:solidFill>
                </a:rPr>
                <a:t>항 </a:t>
              </a:r>
              <a:r>
                <a:rPr lang="en-US" altLang="ko-KR" sz="1050" dirty="0">
                  <a:solidFill>
                    <a:schemeClr val="tx1"/>
                  </a:solidFill>
                </a:rPr>
                <a:t>by </a:t>
              </a:r>
              <a:r>
                <a:rPr lang="ko-KR" altLang="en-US" sz="1050" dirty="0" err="1">
                  <a:solidFill>
                    <a:schemeClr val="tx1"/>
                  </a:solidFill>
                </a:rPr>
                <a:t>공지기술</a:t>
              </a:r>
              <a:r>
                <a:rPr lang="ko-KR" altLang="en-US" sz="1050" dirty="0">
                  <a:solidFill>
                    <a:schemeClr val="tx1"/>
                  </a:solidFill>
                </a:rPr>
                <a:t> </a:t>
              </a:r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r>
                <a:rPr lang="ko-KR" altLang="en-US" sz="1050" dirty="0">
                  <a:solidFill>
                    <a:schemeClr val="tx1"/>
                  </a:solidFill>
                </a:rPr>
                <a:t> </a:t>
              </a:r>
              <a:endParaRPr lang="en-US" altLang="ko-KR" sz="105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vs </a:t>
              </a:r>
              <a:r>
                <a:rPr lang="ko-KR" altLang="en-US" sz="1050" dirty="0">
                  <a:solidFill>
                    <a:schemeClr val="tx1"/>
                  </a:solidFill>
                </a:rPr>
                <a:t>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29</a:t>
              </a:r>
              <a:r>
                <a:rPr lang="ko-KR" altLang="en-US" sz="1050" dirty="0">
                  <a:solidFill>
                    <a:schemeClr val="tx1"/>
                  </a:solidFill>
                </a:rPr>
                <a:t>조제</a:t>
              </a:r>
              <a:r>
                <a:rPr lang="en-US" altLang="ko-KR" sz="1050" dirty="0">
                  <a:solidFill>
                    <a:schemeClr val="tx1"/>
                  </a:solidFill>
                </a:rPr>
                <a:t>1</a:t>
              </a:r>
              <a:r>
                <a:rPr lang="ko-KR" altLang="en-US" sz="1050" dirty="0">
                  <a:solidFill>
                    <a:schemeClr val="tx1"/>
                  </a:solidFill>
                </a:rPr>
                <a:t>항 </a:t>
              </a:r>
              <a:r>
                <a:rPr lang="en-US" altLang="ko-KR" sz="1050" dirty="0">
                  <a:solidFill>
                    <a:schemeClr val="tx1"/>
                  </a:solidFill>
                </a:rPr>
                <a:t>by </a:t>
              </a:r>
              <a:r>
                <a:rPr lang="ko-KR" altLang="en-US" sz="1050" dirty="0" err="1">
                  <a:solidFill>
                    <a:schemeClr val="tx1"/>
                  </a:solidFill>
                </a:rPr>
                <a:t>공지기술</a:t>
              </a:r>
              <a:r>
                <a:rPr lang="ko-KR" altLang="en-US" sz="1050" dirty="0">
                  <a:solidFill>
                    <a:schemeClr val="tx1"/>
                  </a:solidFill>
                </a:rPr>
                <a:t> </a:t>
              </a:r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4" name="직선 연결선 73"/>
          <p:cNvCxnSpPr>
            <a:cxnSpLocks/>
          </p:cNvCxnSpPr>
          <p:nvPr/>
        </p:nvCxnSpPr>
        <p:spPr>
          <a:xfrm flipV="1">
            <a:off x="4672859" y="3416065"/>
            <a:ext cx="0" cy="316339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099090"/>
              </p:ext>
            </p:extLst>
          </p:nvPr>
        </p:nvGraphicFramePr>
        <p:xfrm>
          <a:off x="5085393" y="3533511"/>
          <a:ext cx="6793172" cy="301273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643455">
                  <a:extLst>
                    <a:ext uri="{9D8B030D-6E8A-4147-A177-3AD203B41FA5}">
                      <a16:colId xmlns:a16="http://schemas.microsoft.com/office/drawing/2014/main" val="2363782007"/>
                    </a:ext>
                  </a:extLst>
                </a:gridCol>
                <a:gridCol w="3149717">
                  <a:extLst>
                    <a:ext uri="{9D8B030D-6E8A-4147-A177-3AD203B41FA5}">
                      <a16:colId xmlns:a16="http://schemas.microsoft.com/office/drawing/2014/main" val="257762263"/>
                    </a:ext>
                  </a:extLst>
                </a:gridCol>
              </a:tblGrid>
              <a:tr h="1000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/>
                        <a:t>구체적 예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/>
                        <a:t>설 명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617664"/>
                  </a:ext>
                </a:extLst>
              </a:tr>
              <a:tr h="706667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 : A+B</a:t>
                      </a:r>
                      <a:r>
                        <a:rPr lang="ko-KR" altLang="en-US" sz="1150" kern="1200" dirty="0"/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/>
                        <a:t>최후거절이유통지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이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에 의하여 진보성 없음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 err="1"/>
                        <a:t>최후보정</a:t>
                      </a:r>
                      <a:r>
                        <a:rPr lang="ko-KR" altLang="en-US" sz="1150" kern="1200" dirty="0"/>
                        <a:t> 후의 명세서</a:t>
                      </a:r>
                      <a:r>
                        <a:rPr lang="en-US" altLang="ko-KR" sz="1150" kern="1200" dirty="0"/>
                        <a:t>】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 : A+B+C</a:t>
                      </a:r>
                      <a:r>
                        <a:rPr lang="ko-KR" altLang="en-US" sz="1150" kern="1200" dirty="0"/>
                        <a:t>로 이루어진 장치</a:t>
                      </a:r>
                      <a:r>
                        <a:rPr lang="en-US" altLang="ko-KR" sz="1150" kern="1200" dirty="0"/>
                        <a:t>(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에 대해서는 진보성이 인정되나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 </a:t>
                      </a:r>
                      <a:r>
                        <a:rPr lang="ko-KR" altLang="en-US" sz="1150" kern="1200" dirty="0"/>
                        <a:t>및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2</a:t>
                      </a:r>
                      <a:r>
                        <a:rPr lang="ko-KR" altLang="en-US" sz="1150" kern="1200" dirty="0"/>
                        <a:t>에 의하여 진보성 없음</a:t>
                      </a:r>
                      <a:r>
                        <a:rPr lang="en-US" altLang="ko-KR" sz="1150" kern="1200" dirty="0"/>
                        <a:t>.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2</a:t>
                      </a:r>
                      <a:r>
                        <a:rPr lang="ko-KR" altLang="en-US" sz="1150" kern="1200" dirty="0"/>
                        <a:t>는 </a:t>
                      </a:r>
                      <a:r>
                        <a:rPr lang="en-US" altLang="ko-KR" sz="1150" kern="1200" dirty="0"/>
                        <a:t>C</a:t>
                      </a:r>
                      <a:r>
                        <a:rPr lang="ko-KR" altLang="en-US" sz="1150" kern="1200" dirty="0"/>
                        <a:t>의 부가로 인해 추가로 필요</a:t>
                      </a:r>
                      <a:r>
                        <a:rPr lang="en-US" altLang="ko-KR" sz="1150" kern="1200" dirty="0"/>
                        <a:t>)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 err="1"/>
                        <a:t>보정각하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의 보정에 따라 보정 전에 없던 새로운 거절이유가 발생하였기 때문에 </a:t>
                      </a:r>
                      <a:r>
                        <a:rPr lang="ko-KR" altLang="en-US" sz="1150" kern="1200" dirty="0" err="1"/>
                        <a:t>보정각하함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/>
                        <a:t>특허거절결정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1(A+B)</a:t>
                      </a:r>
                      <a:r>
                        <a:rPr lang="ko-KR" altLang="en-US" sz="1150" kern="1200" dirty="0"/>
                        <a:t>은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에 의하여 진보성이 없으므로 특허거절결정함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/>
                </a:tc>
                <a:extLst>
                  <a:ext uri="{0D108BD9-81ED-4DB2-BD59-A6C34878D82A}">
                    <a16:rowId xmlns:a16="http://schemas.microsoft.com/office/drawing/2014/main" val="481683276"/>
                  </a:ext>
                </a:extLst>
              </a:tr>
              <a:tr h="531777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/>
                        <a:t>청구항 </a:t>
                      </a:r>
                      <a:r>
                        <a:rPr lang="en-US" altLang="ko-KR" sz="1150" kern="1200" dirty="0"/>
                        <a:t>1 : A</a:t>
                      </a:r>
                      <a:r>
                        <a:rPr lang="ko-KR" altLang="en-US" sz="1150" kern="1200" dirty="0"/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 err="1"/>
                        <a:t>최후거절이유통지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/>
                        <a:t>청구항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이 </a:t>
                      </a:r>
                      <a:r>
                        <a:rPr lang="ko-KR" altLang="en-US" sz="1150" kern="1200" dirty="0">
                          <a:highlight>
                            <a:srgbClr val="FFFF00"/>
                          </a:highlight>
                        </a:rPr>
                        <a:t>인용대상 </a:t>
                      </a:r>
                      <a:r>
                        <a:rPr lang="en-US" altLang="ko-KR" sz="1150" kern="12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ko-KR" altLang="en-US" sz="1150" kern="1200" dirty="0"/>
                        <a:t>에 의하여 진보성 없음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/>
                        <a:t>최후보정 후의 명세서</a:t>
                      </a:r>
                      <a:r>
                        <a:rPr lang="en-US" altLang="ko-KR" sz="1150" kern="1200" dirty="0"/>
                        <a:t>】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/>
                        <a:t>청구항 </a:t>
                      </a:r>
                      <a:r>
                        <a:rPr lang="en-US" altLang="ko-KR" sz="1150" kern="1200" dirty="0"/>
                        <a:t>1 : A+B</a:t>
                      </a:r>
                      <a:r>
                        <a:rPr lang="ko-KR" altLang="en-US" sz="1150" kern="1200" dirty="0"/>
                        <a:t>로 이루어진 장치</a:t>
                      </a:r>
                      <a:r>
                        <a:rPr lang="en-US" altLang="ko-KR" sz="1150" kern="1200" dirty="0"/>
                        <a:t>(</a:t>
                      </a:r>
                      <a:r>
                        <a:rPr lang="ko-KR" altLang="en-US" sz="1150" kern="1200" dirty="0">
                          <a:highlight>
                            <a:srgbClr val="FFFF00"/>
                          </a:highlight>
                        </a:rPr>
                        <a:t>인용대상 </a:t>
                      </a:r>
                      <a:r>
                        <a:rPr lang="en-US" altLang="ko-KR" sz="1150" kern="12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ko-KR" altLang="en-US" sz="1150" kern="1200" dirty="0">
                          <a:highlight>
                            <a:srgbClr val="FFFF00"/>
                          </a:highlight>
                        </a:rPr>
                        <a:t>에 </a:t>
                      </a:r>
                      <a:r>
                        <a:rPr lang="en-US" altLang="ko-KR" sz="1150" kern="1200" dirty="0">
                          <a:highlight>
                            <a:srgbClr val="FFFF00"/>
                          </a:highlight>
                        </a:rPr>
                        <a:t>B</a:t>
                      </a:r>
                      <a:r>
                        <a:rPr lang="ko-KR" altLang="en-US" sz="1150" kern="1200" dirty="0">
                          <a:highlight>
                            <a:srgbClr val="FFFF00"/>
                          </a:highlight>
                        </a:rPr>
                        <a:t>도 개시되어 있어 여전히 진보성이 부정됨</a:t>
                      </a:r>
                      <a:r>
                        <a:rPr lang="en-US" altLang="ko-KR" sz="1150" kern="1200" dirty="0"/>
                        <a:t>)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 err="1"/>
                        <a:t>보정인정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에 기재된 발명이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로부터 진보성이 부정된다는 </a:t>
                      </a:r>
                      <a:r>
                        <a:rPr lang="ko-KR" altLang="en-US" sz="1150" kern="1200" dirty="0" err="1"/>
                        <a:t>거절이유는</a:t>
                      </a:r>
                      <a:r>
                        <a:rPr lang="ko-KR" altLang="en-US" sz="1150" kern="1200" dirty="0"/>
                        <a:t> 기 통지되었던 </a:t>
                      </a:r>
                      <a:r>
                        <a:rPr lang="ko-KR" altLang="en-US" sz="1150" kern="1200" dirty="0" err="1"/>
                        <a:t>거절이유이므로</a:t>
                      </a:r>
                      <a:r>
                        <a:rPr lang="ko-KR" altLang="en-US" sz="1150" kern="1200" dirty="0"/>
                        <a:t> 보정에 따라 새로운 거절이유가 발생하지 아니하여 보정 인정함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/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/>
                        <a:t>【</a:t>
                      </a:r>
                      <a:r>
                        <a:rPr lang="ko-KR" altLang="en-US" sz="1150" kern="1200" dirty="0"/>
                        <a:t>특허거절결정</a:t>
                      </a:r>
                      <a:r>
                        <a:rPr lang="en-US" altLang="ko-KR" sz="1150" kern="1200" dirty="0"/>
                        <a:t>】</a:t>
                      </a:r>
                      <a:r>
                        <a:rPr lang="ko-KR" altLang="en-US" sz="1150" kern="1200" dirty="0" err="1"/>
                        <a:t>청구항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1(A+B)</a:t>
                      </a:r>
                      <a:r>
                        <a:rPr lang="ko-KR" altLang="en-US" sz="1150" kern="1200" dirty="0"/>
                        <a:t>은 </a:t>
                      </a:r>
                      <a:r>
                        <a:rPr lang="ko-KR" altLang="en-US" sz="1150" kern="1200" dirty="0" err="1"/>
                        <a:t>인용대상</a:t>
                      </a:r>
                      <a:r>
                        <a:rPr lang="ko-KR" altLang="en-US" sz="1150" kern="1200" dirty="0"/>
                        <a:t> </a:t>
                      </a:r>
                      <a:r>
                        <a:rPr lang="en-US" altLang="ko-KR" sz="1150" kern="1200" dirty="0"/>
                        <a:t>1</a:t>
                      </a:r>
                      <a:r>
                        <a:rPr lang="ko-KR" altLang="en-US" sz="1150" kern="1200" dirty="0"/>
                        <a:t>에 의하여 진보성이 없으므로 특허거절결정함</a:t>
                      </a:r>
                      <a:r>
                        <a:rPr lang="en-US" altLang="ko-KR" sz="1150" kern="1200" dirty="0"/>
                        <a:t>.</a:t>
                      </a:r>
                      <a:endParaRPr lang="ko-KR" altLang="en-US" sz="11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5903" marB="15903" anchor="ctr"/>
                </a:tc>
                <a:extLst>
                  <a:ext uri="{0D108BD9-81ED-4DB2-BD59-A6C34878D82A}">
                    <a16:rowId xmlns:a16="http://schemas.microsoft.com/office/drawing/2014/main" val="14493638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0CD2D18-E252-46A1-B3EB-E3196DDA0081}"/>
              </a:ext>
            </a:extLst>
          </p:cNvPr>
          <p:cNvSpPr/>
          <p:nvPr/>
        </p:nvSpPr>
        <p:spPr>
          <a:xfrm>
            <a:off x="77874" y="2134427"/>
            <a:ext cx="1193631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기통지한 거절이유에서 선행기술로 인용된 자료가 특허공보와 같이 하나의 기술에 관한 것이거나 여러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실시태양을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개시하고 있지만 동일 또는 밀접한 기술사상에 대한 문헌인 경우에는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문헌 전체에 대하여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거절이유통지가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있었다고 봄이 상당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하므로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추가적인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거절이유통지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없이 기통지한 거절이유에서 위 문헌 중 직접 인용하지 않았던 부분을 들어 바로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거절결정할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수 있다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다만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 인용된 자료가 서적 등과 같이 방대하거나 여러 개의 기술에 관한 기재가 있는 것인데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거절이유통지에서는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그 중 일부 기술만을 사본하여 첨부하거나 적시한 경우라면 인용되지 않은 부분을 새로운 거절이유로 볼 여지가 있으므로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가급적 다시 거절이유를 통지하여 출원인에게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의견제출할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기회를 부여하도록 한다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특허법원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2011. 4. 27.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선고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2010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2612; 2012. 6. 20.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선고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2011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10306).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4BB119F-0C9A-453E-BC3E-5001629EB4CC}"/>
              </a:ext>
            </a:extLst>
          </p:cNvPr>
          <p:cNvCxnSpPr/>
          <p:nvPr/>
        </p:nvCxnSpPr>
        <p:spPr>
          <a:xfrm>
            <a:off x="0" y="331354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394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거절이유통지의</a:t>
            </a:r>
            <a:r>
              <a:rPr lang="ko-KR" altLang="en-US" dirty="0">
                <a:solidFill>
                  <a:srgbClr val="525252"/>
                </a:solidFill>
              </a:rPr>
              <a:t> 적법성 판단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r>
              <a:rPr lang="en-US" altLang="ko-KR" dirty="0"/>
              <a:t>259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ABF71-AF71-4AD1-B4A4-FDCE62B8EA69}"/>
              </a:ext>
            </a:extLst>
          </p:cNvPr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63</a:t>
            </a:r>
            <a:r>
              <a:rPr lang="ko-KR" altLang="en-US" sz="1400" dirty="0"/>
              <a:t>조 본문에 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심사관은 제</a:t>
            </a:r>
            <a:r>
              <a:rPr lang="en-US" altLang="ko-KR" sz="1400" dirty="0"/>
              <a:t>62</a:t>
            </a:r>
            <a:r>
              <a:rPr lang="ko-KR" altLang="en-US" sz="1400" dirty="0"/>
              <a:t>조에 따라 </a:t>
            </a:r>
            <a:r>
              <a:rPr lang="ko-KR" altLang="en-US" sz="1400" dirty="0" err="1"/>
              <a:t>특허거절결정을</a:t>
            </a:r>
            <a:r>
              <a:rPr lang="ko-KR" altLang="en-US" sz="1400" dirty="0"/>
              <a:t> 하려면 </a:t>
            </a:r>
            <a:r>
              <a:rPr lang="ko-KR" altLang="en-US" sz="1400" dirty="0" err="1"/>
              <a:t>특허출원인에게</a:t>
            </a:r>
            <a:r>
              <a:rPr lang="ko-KR" altLang="en-US" sz="1400" dirty="0"/>
              <a:t> 거절이유를 통지하고 기간을 정하여 의견서를 제출할 수 있는 기회를 주어야 한다고 규정하고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출원발명에 대하여 우선권주장의 불인정으로 거절이유가 생긴 경우에는 </a:t>
            </a:r>
            <a:r>
              <a:rPr lang="ko-KR" altLang="en-US" sz="1400" dirty="0">
                <a:highlight>
                  <a:srgbClr val="FFFF00"/>
                </a:highlight>
              </a:rPr>
              <a:t>우선권주장의 불인정은 거절이유 일부를 구성</a:t>
            </a:r>
            <a:r>
              <a:rPr lang="ko-KR" altLang="en-US" sz="1400" dirty="0"/>
              <a:t>하는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우선권주장이 인정되지 아니한다는 취지 및 그 이유가 포함된 거절이유를 통지하지 아니한 채 우선권주장의 불인정으로 인하여 생긴 거절이유를 들어 </a:t>
            </a:r>
            <a:r>
              <a:rPr lang="ko-KR" altLang="en-US" sz="1400" dirty="0" err="1"/>
              <a:t>특허거절결정을</a:t>
            </a:r>
            <a:r>
              <a:rPr lang="ko-KR" altLang="en-US" sz="1400" dirty="0"/>
              <a:t> 하는 것은 제</a:t>
            </a:r>
            <a:r>
              <a:rPr lang="en-US" altLang="ko-KR" sz="1400" dirty="0"/>
              <a:t>63</a:t>
            </a:r>
            <a:r>
              <a:rPr lang="ko-KR" altLang="en-US" sz="1400" dirty="0"/>
              <a:t>조 본문에 위반되어 위법하다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거절이유 통지에 위와 같은 우선권주장 불인정에 관한 이유가 포함되어 있었는지는 </a:t>
            </a:r>
            <a:r>
              <a:rPr lang="ko-KR" altLang="en-US" sz="1400" dirty="0">
                <a:highlight>
                  <a:srgbClr val="FFFF00"/>
                </a:highlight>
              </a:rPr>
              <a:t>출원인에게 실질적으로 의견서 제출 및 보정의 기회를 부여</a:t>
            </a:r>
            <a:r>
              <a:rPr lang="ko-KR" altLang="en-US" sz="1400" dirty="0"/>
              <a:t>하였다고 볼 수 있을 정도로 그 취지와 이유가 명시되었는지 관점에서 판단되어야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2011. 9. 8.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2371).</a:t>
            </a:r>
            <a:endParaRPr lang="ko-KR" altLang="en-US" sz="1400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8BD05C4-53FC-48F0-9895-C75C756AD023}"/>
              </a:ext>
            </a:extLst>
          </p:cNvPr>
          <p:cNvCxnSpPr/>
          <p:nvPr/>
        </p:nvCxnSpPr>
        <p:spPr>
          <a:xfrm>
            <a:off x="0" y="217885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B91A147-3B03-4508-81FC-31B7B991187B}"/>
              </a:ext>
            </a:extLst>
          </p:cNvPr>
          <p:cNvCxnSpPr>
            <a:cxnSpLocks/>
          </p:cNvCxnSpPr>
          <p:nvPr/>
        </p:nvCxnSpPr>
        <p:spPr>
          <a:xfrm>
            <a:off x="835934" y="4763226"/>
            <a:ext cx="1117826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E395994-D854-49A7-9473-E0500983A03E}"/>
              </a:ext>
            </a:extLst>
          </p:cNvPr>
          <p:cNvSpPr/>
          <p:nvPr/>
        </p:nvSpPr>
        <p:spPr>
          <a:xfrm>
            <a:off x="3123129" y="5296244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21D3DB8-83DD-40A0-9F78-8772125639CC}"/>
              </a:ext>
            </a:extLst>
          </p:cNvPr>
          <p:cNvSpPr/>
          <p:nvPr/>
        </p:nvSpPr>
        <p:spPr>
          <a:xfrm>
            <a:off x="3122493" y="5527000"/>
            <a:ext cx="1525628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ACD1042-8D80-42C0-A97D-302F8CB13A99}"/>
              </a:ext>
            </a:extLst>
          </p:cNvPr>
          <p:cNvSpPr/>
          <p:nvPr/>
        </p:nvSpPr>
        <p:spPr>
          <a:xfrm>
            <a:off x="1176260" y="4000708"/>
            <a:ext cx="1525628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7E77DCA4-8C23-4C59-A7F0-766991ED78CB}"/>
              </a:ext>
            </a:extLst>
          </p:cNvPr>
          <p:cNvSpPr/>
          <p:nvPr/>
        </p:nvSpPr>
        <p:spPr>
          <a:xfrm>
            <a:off x="6793053" y="5296244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거절이유통지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D22A012-880B-4480-82D3-FF4A4CD8AEDE}"/>
              </a:ext>
            </a:extLst>
          </p:cNvPr>
          <p:cNvCxnSpPr>
            <a:stCxn id="128" idx="2"/>
          </p:cNvCxnSpPr>
          <p:nvPr/>
        </p:nvCxnSpPr>
        <p:spPr>
          <a:xfrm>
            <a:off x="1939074" y="4230208"/>
            <a:ext cx="5340" cy="533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BE28471D-DFA7-4DEB-AA3A-6CBB8E748328}"/>
              </a:ext>
            </a:extLst>
          </p:cNvPr>
          <p:cNvSpPr/>
          <p:nvPr/>
        </p:nvSpPr>
        <p:spPr>
          <a:xfrm>
            <a:off x="4570372" y="4000708"/>
            <a:ext cx="1525628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000134DE-F858-4D56-9CAF-CE0EB44C6E80}"/>
              </a:ext>
            </a:extLst>
          </p:cNvPr>
          <p:cNvCxnSpPr>
            <a:stCxn id="131" idx="2"/>
          </p:cNvCxnSpPr>
          <p:nvPr/>
        </p:nvCxnSpPr>
        <p:spPr>
          <a:xfrm>
            <a:off x="5333186" y="4230208"/>
            <a:ext cx="5340" cy="533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9B45A73A-A1DA-45EA-BAB6-A880EBBB9A8C}"/>
              </a:ext>
            </a:extLst>
          </p:cNvPr>
          <p:cNvSpPr/>
          <p:nvPr/>
        </p:nvSpPr>
        <p:spPr>
          <a:xfrm>
            <a:off x="5086625" y="5296244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AD094C3E-BDEE-4826-A38F-EE1318266360}"/>
              </a:ext>
            </a:extLst>
          </p:cNvPr>
          <p:cNvSpPr/>
          <p:nvPr/>
        </p:nvSpPr>
        <p:spPr>
          <a:xfrm>
            <a:off x="10044874" y="5296244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거절결정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488E3D0-B5D5-4FAD-97B2-B51D725230AD}"/>
              </a:ext>
            </a:extLst>
          </p:cNvPr>
          <p:cNvCxnSpPr>
            <a:cxnSpLocks/>
            <a:stCxn id="122" idx="0"/>
          </p:cNvCxnSpPr>
          <p:nvPr/>
        </p:nvCxnSpPr>
        <p:spPr>
          <a:xfrm flipV="1">
            <a:off x="3885943" y="4786484"/>
            <a:ext cx="0" cy="509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50CA3F9-8F7B-4C0A-BCEF-7784B2BADC84}"/>
              </a:ext>
            </a:extLst>
          </p:cNvPr>
          <p:cNvCxnSpPr>
            <a:cxnSpLocks/>
            <a:stCxn id="133" idx="0"/>
          </p:cNvCxnSpPr>
          <p:nvPr/>
        </p:nvCxnSpPr>
        <p:spPr>
          <a:xfrm flipV="1">
            <a:off x="5849439" y="4786484"/>
            <a:ext cx="0" cy="509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2AA3555-23DF-45BA-8FAD-7594A17E4570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7555867" y="4786484"/>
            <a:ext cx="0" cy="509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9AA18FA-870F-40B1-98E5-66439D759309}"/>
              </a:ext>
            </a:extLst>
          </p:cNvPr>
          <p:cNvCxnSpPr>
            <a:cxnSpLocks/>
            <a:stCxn id="134" idx="0"/>
          </p:cNvCxnSpPr>
          <p:nvPr/>
        </p:nvCxnSpPr>
        <p:spPr>
          <a:xfrm flipV="1">
            <a:off x="10807688" y="4786484"/>
            <a:ext cx="0" cy="509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932D70EA-5942-4D54-8341-AFB0D89717A0}"/>
              </a:ext>
            </a:extLst>
          </p:cNvPr>
          <p:cNvCxnSpPr>
            <a:cxnSpLocks/>
          </p:cNvCxnSpPr>
          <p:nvPr/>
        </p:nvCxnSpPr>
        <p:spPr>
          <a:xfrm>
            <a:off x="3127833" y="3581813"/>
            <a:ext cx="0" cy="118141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0F6971-7824-457E-ADFB-F67EE45495BA}"/>
              </a:ext>
            </a:extLst>
          </p:cNvPr>
          <p:cNvSpPr/>
          <p:nvPr/>
        </p:nvSpPr>
        <p:spPr>
          <a:xfrm>
            <a:off x="2360315" y="3351057"/>
            <a:ext cx="1525628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DA12472-F960-4871-8B8B-63C3C96C22B5}"/>
              </a:ext>
            </a:extLst>
          </p:cNvPr>
          <p:cNvSpPr txBox="1"/>
          <p:nvPr/>
        </p:nvSpPr>
        <p:spPr>
          <a:xfrm>
            <a:off x="1385877" y="3607627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패들교반기</a:t>
            </a:r>
            <a:endParaRPr lang="ko-KR" altLang="en-US" sz="16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39C9D85-7DCF-406F-91DC-110BC8F0F1AB}"/>
              </a:ext>
            </a:extLst>
          </p:cNvPr>
          <p:cNvSpPr txBox="1"/>
          <p:nvPr/>
        </p:nvSpPr>
        <p:spPr>
          <a:xfrm>
            <a:off x="2720067" y="2953089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/>
              <a:t>교반기</a:t>
            </a:r>
            <a:r>
              <a:rPr lang="en-US" altLang="ko-KR" sz="1600" dirty="0"/>
              <a:t>1</a:t>
            </a:r>
            <a:endParaRPr lang="ko-KR" altLang="en-US" sz="16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A9087B7-6A7C-4306-BF4A-4B943E17C51C}"/>
              </a:ext>
            </a:extLst>
          </p:cNvPr>
          <p:cNvSpPr txBox="1"/>
          <p:nvPr/>
        </p:nvSpPr>
        <p:spPr>
          <a:xfrm>
            <a:off x="3516455" y="5807322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/>
              <a:t>교반기</a:t>
            </a:r>
            <a:endParaRPr lang="ko-KR" altLang="en-US" sz="16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86AD8E1-831A-4F02-BB21-C1477FA8B15A}"/>
              </a:ext>
            </a:extLst>
          </p:cNvPr>
          <p:cNvSpPr txBox="1"/>
          <p:nvPr/>
        </p:nvSpPr>
        <p:spPr>
          <a:xfrm>
            <a:off x="6668444" y="5984698"/>
            <a:ext cx="1774846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공지기술에 의하여 </a:t>
            </a:r>
            <a:endParaRPr lang="en-US" altLang="ko-KR" sz="1600" dirty="0"/>
          </a:p>
          <a:p>
            <a:pPr algn="ctr"/>
            <a:r>
              <a:rPr lang="ko-KR" altLang="en-US" sz="1600" dirty="0"/>
              <a:t>진보성 위반</a:t>
            </a: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B95C2D1B-E8C2-4A39-8039-98A8C2D31D78}"/>
              </a:ext>
            </a:extLst>
          </p:cNvPr>
          <p:cNvCxnSpPr>
            <a:stCxn id="146" idx="3"/>
            <a:endCxn id="148" idx="1"/>
          </p:cNvCxnSpPr>
          <p:nvPr/>
        </p:nvCxnSpPr>
        <p:spPr>
          <a:xfrm>
            <a:off x="2492270" y="3776904"/>
            <a:ext cx="1024185" cy="219969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C8DDD22-0AA0-409E-872E-6D6CC26AD643}"/>
              </a:ext>
            </a:extLst>
          </p:cNvPr>
          <p:cNvSpPr txBox="1"/>
          <p:nvPr/>
        </p:nvSpPr>
        <p:spPr>
          <a:xfrm>
            <a:off x="2438849" y="4475904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동일성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불인정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53" name="말풍선: 모서리가 둥근 사각형 152">
            <a:extLst>
              <a:ext uri="{FF2B5EF4-FFF2-40B4-BE49-F238E27FC236}">
                <a16:creationId xmlns:a16="http://schemas.microsoft.com/office/drawing/2014/main" id="{9B483978-CB8C-4CAC-A8DB-D67000C649B5}"/>
              </a:ext>
            </a:extLst>
          </p:cNvPr>
          <p:cNvSpPr/>
          <p:nvPr/>
        </p:nvSpPr>
        <p:spPr>
          <a:xfrm>
            <a:off x="8521748" y="2357151"/>
            <a:ext cx="2522483" cy="612648"/>
          </a:xfrm>
          <a:prstGeom prst="wedgeRoundRectCallout">
            <a:avLst>
              <a:gd name="adj1" fmla="val -25425"/>
              <a:gd name="adj2" fmla="val 125220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출원인에게 실질적 </a:t>
            </a:r>
            <a:endParaRPr lang="en-US" altLang="ko-KR" sz="1600" dirty="0"/>
          </a:p>
          <a:p>
            <a:pPr algn="ctr"/>
            <a:r>
              <a:rPr lang="ko-KR" altLang="en-US" sz="1600" dirty="0"/>
              <a:t>대응기회가 주어졌는가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5330337D-AF9A-4EFF-9F32-7339A9F56A2E}"/>
              </a:ext>
            </a:extLst>
          </p:cNvPr>
          <p:cNvSpPr/>
          <p:nvPr/>
        </p:nvSpPr>
        <p:spPr>
          <a:xfrm>
            <a:off x="835934" y="3165177"/>
            <a:ext cx="851515" cy="263810"/>
          </a:xfrm>
          <a:prstGeom prst="wedgeRoundRectCallout">
            <a:avLst>
              <a:gd name="adj1" fmla="val 44714"/>
              <a:gd name="adj2" fmla="val 115979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하위개념</a:t>
            </a:r>
          </a:p>
        </p:txBody>
      </p:sp>
      <p:sp>
        <p:nvSpPr>
          <p:cNvPr id="32" name="말풍선: 모서리가 둥근 사각형 31">
            <a:extLst>
              <a:ext uri="{FF2B5EF4-FFF2-40B4-BE49-F238E27FC236}">
                <a16:creationId xmlns:a16="http://schemas.microsoft.com/office/drawing/2014/main" id="{C43AB606-C646-41CA-BE42-561C74053270}"/>
              </a:ext>
            </a:extLst>
          </p:cNvPr>
          <p:cNvSpPr/>
          <p:nvPr/>
        </p:nvSpPr>
        <p:spPr>
          <a:xfrm>
            <a:off x="2533342" y="6179110"/>
            <a:ext cx="851515" cy="263810"/>
          </a:xfrm>
          <a:prstGeom prst="wedgeRoundRectCallout">
            <a:avLst>
              <a:gd name="adj1" fmla="val 79579"/>
              <a:gd name="adj2" fmla="val -7758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상위개념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3CEE39-DD43-4DE4-A902-FF0B2040899B}"/>
              </a:ext>
            </a:extLst>
          </p:cNvPr>
          <p:cNvSpPr/>
          <p:nvPr/>
        </p:nvSpPr>
        <p:spPr>
          <a:xfrm>
            <a:off x="329784" y="2521470"/>
            <a:ext cx="4636862" cy="414914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0340BD-E95D-4864-9D7B-1984ED597382}"/>
              </a:ext>
            </a:extLst>
          </p:cNvPr>
          <p:cNvSpPr/>
          <p:nvPr/>
        </p:nvSpPr>
        <p:spPr>
          <a:xfrm>
            <a:off x="553731" y="2330534"/>
            <a:ext cx="4188967" cy="55399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dirty="0"/>
              <a:t>특허법원 </a:t>
            </a:r>
            <a:r>
              <a:rPr lang="en-US" altLang="ko-KR" dirty="0"/>
              <a:t>2009. 7. 1. </a:t>
            </a:r>
            <a:r>
              <a:rPr lang="ko-KR" altLang="en-US" dirty="0"/>
              <a:t>선고 </a:t>
            </a:r>
            <a:r>
              <a:rPr lang="en-US" altLang="ko-KR" dirty="0"/>
              <a:t>2008</a:t>
            </a:r>
            <a:r>
              <a:rPr lang="ko-KR" altLang="en-US" dirty="0"/>
              <a:t>허</a:t>
            </a:r>
            <a:r>
              <a:rPr lang="en-US" altLang="ko-KR" dirty="0"/>
              <a:t>7706 </a:t>
            </a:r>
            <a:r>
              <a:rPr lang="ko-KR" altLang="en-US" dirty="0"/>
              <a:t>판결</a:t>
            </a:r>
            <a:endParaRPr lang="en-US" altLang="ko-KR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국내우선권주장출원의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패들타입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교반기</a:t>
            </a:r>
            <a:r>
              <a:rPr lang="ko-KR" altLang="en-US" sz="1200" dirty="0"/>
              <a:t> 사건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4BEE286-9121-4097-A6BB-AC7FEFF4CC8D}"/>
              </a:ext>
            </a:extLst>
          </p:cNvPr>
          <p:cNvCxnSpPr>
            <a:stCxn id="149" idx="0"/>
            <a:endCxn id="130" idx="2"/>
          </p:cNvCxnSpPr>
          <p:nvPr/>
        </p:nvCxnSpPr>
        <p:spPr>
          <a:xfrm rot="5400000" flipH="1" flipV="1">
            <a:off x="7326390" y="5755221"/>
            <a:ext cx="458954" cy="127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22A387-9A84-4694-BF07-EB9E6B0520A8}"/>
              </a:ext>
            </a:extLst>
          </p:cNvPr>
          <p:cNvSpPr/>
          <p:nvPr/>
        </p:nvSpPr>
        <p:spPr>
          <a:xfrm>
            <a:off x="8377202" y="5296244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의견서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77EE66B-109E-4CDE-8F48-FC3F77AD59C6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9140016" y="4786484"/>
            <a:ext cx="0" cy="509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866C1E8-BC02-4204-96DB-1302F95419A3}"/>
              </a:ext>
            </a:extLst>
          </p:cNvPr>
          <p:cNvSpPr txBox="1"/>
          <p:nvPr/>
        </p:nvSpPr>
        <p:spPr>
          <a:xfrm>
            <a:off x="8521748" y="5984698"/>
            <a:ext cx="3175697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한국출원</a:t>
            </a:r>
            <a:r>
              <a:rPr lang="en-US" altLang="ko-KR" sz="1600" dirty="0"/>
              <a:t>(X)</a:t>
            </a:r>
            <a:r>
              <a:rPr lang="ko-KR" altLang="en-US" sz="1600" dirty="0"/>
              <a:t>의 출원일로 판단시점이 </a:t>
            </a:r>
            <a:endParaRPr lang="en-US" altLang="ko-KR" sz="1600" dirty="0"/>
          </a:p>
          <a:p>
            <a:r>
              <a:rPr lang="ko-KR" altLang="en-US" sz="1600" dirty="0"/>
              <a:t>소급하여 진보성 위반이 아님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DF5E7A2-76AB-47F8-B0B9-2365BC657B5B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rot="16200000" flipV="1">
            <a:off x="9395330" y="5270430"/>
            <a:ext cx="458954" cy="96958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ECD395C-8BA0-867F-7007-62F1D31BFE02}"/>
              </a:ext>
            </a:extLst>
          </p:cNvPr>
          <p:cNvSpPr/>
          <p:nvPr/>
        </p:nvSpPr>
        <p:spPr>
          <a:xfrm>
            <a:off x="6793053" y="3351057"/>
            <a:ext cx="1584149" cy="70649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거절이유</a:t>
            </a:r>
            <a:r>
              <a:rPr lang="en-US" altLang="ko-KR" sz="1200" dirty="0"/>
              <a:t>:</a:t>
            </a:r>
          </a:p>
          <a:p>
            <a:pPr algn="ctr"/>
            <a:r>
              <a:rPr lang="ko-KR" altLang="en-US" sz="1200" dirty="0"/>
              <a:t>우선권주장 불인정 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불포함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6A223AB-4AD1-AC0C-F058-5615EFBF9E89}"/>
              </a:ext>
            </a:extLst>
          </p:cNvPr>
          <p:cNvSpPr/>
          <p:nvPr/>
        </p:nvSpPr>
        <p:spPr>
          <a:xfrm>
            <a:off x="10014048" y="3351057"/>
            <a:ext cx="1584149" cy="70649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거절결정의 이유</a:t>
            </a:r>
            <a:r>
              <a:rPr lang="en-US" altLang="ko-KR" sz="1200" dirty="0"/>
              <a:t>:</a:t>
            </a:r>
          </a:p>
          <a:p>
            <a:pPr algn="ctr"/>
            <a:r>
              <a:rPr lang="ko-KR" altLang="en-US" sz="1200" dirty="0"/>
              <a:t>우선권주장 불인정 </a:t>
            </a:r>
            <a:endParaRPr lang="en-US" altLang="ko-KR" sz="1200" dirty="0"/>
          </a:p>
          <a:p>
            <a:pPr algn="ctr"/>
            <a:r>
              <a:rPr lang="ko-KR" altLang="en-US" sz="1200" dirty="0"/>
              <a:t>포함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BE1C176-6ADD-77CC-354E-FB5DEB941087}"/>
              </a:ext>
            </a:extLst>
          </p:cNvPr>
          <p:cNvCxnSpPr/>
          <p:nvPr/>
        </p:nvCxnSpPr>
        <p:spPr>
          <a:xfrm flipV="1">
            <a:off x="11144250" y="4115458"/>
            <a:ext cx="0" cy="118078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76A8376-9806-BDDF-7414-B1A9DB1FFEAD}"/>
              </a:ext>
            </a:extLst>
          </p:cNvPr>
          <p:cNvCxnSpPr/>
          <p:nvPr/>
        </p:nvCxnSpPr>
        <p:spPr>
          <a:xfrm flipV="1">
            <a:off x="7800415" y="4115458"/>
            <a:ext cx="0" cy="118078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A7278D97-D95B-E53C-B57F-4DFE599F5984}"/>
              </a:ext>
            </a:extLst>
          </p:cNvPr>
          <p:cNvSpPr/>
          <p:nvPr/>
        </p:nvSpPr>
        <p:spPr>
          <a:xfrm>
            <a:off x="8377202" y="3478999"/>
            <a:ext cx="1636846" cy="430803"/>
          </a:xfrm>
          <a:prstGeom prst="leftRightArrow">
            <a:avLst>
              <a:gd name="adj1" fmla="val 80238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주지 부합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447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거절이유통지의</a:t>
            </a:r>
            <a:r>
              <a:rPr lang="ko-KR" altLang="en-US" dirty="0">
                <a:solidFill>
                  <a:srgbClr val="525252"/>
                </a:solidFill>
              </a:rPr>
              <a:t> 적법성 판단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r>
              <a:rPr lang="en-US" altLang="ko-KR" dirty="0"/>
              <a:t>260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ABF71-AF71-4AD1-B4A4-FDCE62B8EA69}"/>
              </a:ext>
            </a:extLst>
          </p:cNvPr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진보성 위반을 이유로 한 거절이유에 기재된 주선행발명을 다른 선행발명으로 변경하는 경우에는</a:t>
            </a:r>
            <a:r>
              <a:rPr lang="en-US" altLang="ko-KR" sz="1400" dirty="0"/>
              <a:t>, </a:t>
            </a:r>
            <a:r>
              <a:rPr lang="ko-KR" altLang="en-US" sz="1400" dirty="0"/>
              <a:t>일반적으로 출원발명과의 공통점 및 차이점의 인정과 그러한 차이점을 극복하여 출원발명을 쉽게 발명할 수 있는지에 대한 판단 내용이 달라지므로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출원인에게 이에 대해 실질적으로 의견제출의 기회가 주어졌다고 볼 수 있는 등의 특별한 사정이 없는 한 이미 통지된 거절이유와 주요한 취지가 부합하지 아니하는 새로운 거절이유에 해당한다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2019. 10. 31.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2341).</a:t>
            </a:r>
            <a:endParaRPr lang="ko-KR" altLang="en-US" sz="1400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8BD05C4-53FC-48F0-9895-C75C756AD023}"/>
              </a:ext>
            </a:extLst>
          </p:cNvPr>
          <p:cNvCxnSpPr/>
          <p:nvPr/>
        </p:nvCxnSpPr>
        <p:spPr>
          <a:xfrm>
            <a:off x="0" y="175558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35B976A-DE4C-42E4-857B-BE387D5921AB}"/>
              </a:ext>
            </a:extLst>
          </p:cNvPr>
          <p:cNvCxnSpPr>
            <a:cxnSpLocks/>
          </p:cNvCxnSpPr>
          <p:nvPr/>
        </p:nvCxnSpPr>
        <p:spPr>
          <a:xfrm>
            <a:off x="327804" y="2279448"/>
            <a:ext cx="1161978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>
            <a:extLst>
              <a:ext uri="{FF2B5EF4-FFF2-40B4-BE49-F238E27FC236}">
                <a16:creationId xmlns:a16="http://schemas.microsoft.com/office/drawing/2014/main" id="{639DFE03-AB5F-4537-BE94-4D57E79C2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4214" y="2099946"/>
            <a:ext cx="925579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출원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63" name="Rectangle 14">
            <a:extLst>
              <a:ext uri="{FF2B5EF4-FFF2-40B4-BE49-F238E27FC236}">
                <a16:creationId xmlns:a16="http://schemas.microsoft.com/office/drawing/2014/main" id="{B31DC284-8B34-4153-8B19-16B686F62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072" y="2099946"/>
            <a:ext cx="925579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심판청구</a:t>
            </a: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4B432D29-50EE-4FEF-90C2-9C240D804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808" y="2099947"/>
            <a:ext cx="925579" cy="35900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>
                <a:solidFill>
                  <a:schemeClr val="accent4"/>
                </a:solidFill>
                <a:latin typeface="+mn-ea"/>
              </a:rPr>
              <a:t>거절이유통지</a:t>
            </a:r>
            <a:endParaRPr lang="ko-KR" altLang="en-US" sz="12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81395-0D73-43E4-B056-0E8FB958F764}"/>
              </a:ext>
            </a:extLst>
          </p:cNvPr>
          <p:cNvSpPr txBox="1"/>
          <p:nvPr/>
        </p:nvSpPr>
        <p:spPr>
          <a:xfrm>
            <a:off x="3776312" y="3782683"/>
            <a:ext cx="1838965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a, b, c. </a:t>
            </a:r>
            <a:r>
              <a:rPr lang="en-US" altLang="ko-KR" sz="1200"/>
              <a:t>d</a:t>
            </a:r>
            <a:r>
              <a:rPr lang="ko-KR" altLang="en-US" sz="1200"/>
              <a:t>를 </a:t>
            </a:r>
            <a:r>
              <a:rPr lang="ko-KR" altLang="en-US" sz="1200" dirty="0"/>
              <a:t>포함하는 발명</a:t>
            </a:r>
          </a:p>
        </p:txBody>
      </p:sp>
      <p:sp>
        <p:nvSpPr>
          <p:cNvPr id="69" name="Rectangle 14">
            <a:extLst>
              <a:ext uri="{FF2B5EF4-FFF2-40B4-BE49-F238E27FC236}">
                <a16:creationId xmlns:a16="http://schemas.microsoft.com/office/drawing/2014/main" id="{B934E805-F7DD-4B9C-B15C-2FB2A85EB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21" y="2099946"/>
            <a:ext cx="925579" cy="3590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solidFill>
                  <a:schemeClr val="bg1"/>
                </a:solidFill>
                <a:latin typeface="+mn-ea"/>
              </a:rPr>
              <a:t>선행기술 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Rectangle 14">
            <a:extLst>
              <a:ext uri="{FF2B5EF4-FFF2-40B4-BE49-F238E27FC236}">
                <a16:creationId xmlns:a16="http://schemas.microsoft.com/office/drawing/2014/main" id="{03C93EA7-B683-4141-B6F2-9824FA8E8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044" y="2099946"/>
            <a:ext cx="925579" cy="3590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solidFill>
                  <a:schemeClr val="bg1"/>
                </a:solidFill>
                <a:latin typeface="+mn-ea"/>
              </a:rPr>
              <a:t>선행기술 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Rectangle 14">
            <a:extLst>
              <a:ext uri="{FF2B5EF4-FFF2-40B4-BE49-F238E27FC236}">
                <a16:creationId xmlns:a16="http://schemas.microsoft.com/office/drawing/2014/main" id="{C98ED84B-642B-4967-B4A3-8F1BE7D1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9621" y="2099946"/>
            <a:ext cx="925579" cy="3590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solidFill>
                  <a:schemeClr val="bg1"/>
                </a:solidFill>
                <a:latin typeface="+mn-ea"/>
              </a:rPr>
              <a:t>선행기술 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376DB5-4C6E-42DE-B57E-FA0BF120C81C}"/>
              </a:ext>
            </a:extLst>
          </p:cNvPr>
          <p:cNvSpPr txBox="1"/>
          <p:nvPr/>
        </p:nvSpPr>
        <p:spPr>
          <a:xfrm>
            <a:off x="191710" y="2651116"/>
            <a:ext cx="1502334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a, b</a:t>
            </a:r>
            <a:r>
              <a:rPr lang="ko-KR" altLang="en-US" sz="1200" dirty="0"/>
              <a:t>를 포함하는 발명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83E11A-0D78-40F2-9538-9F71587FE7CD}"/>
              </a:ext>
            </a:extLst>
          </p:cNvPr>
          <p:cNvSpPr txBox="1"/>
          <p:nvPr/>
        </p:nvSpPr>
        <p:spPr>
          <a:xfrm>
            <a:off x="1297287" y="3022783"/>
            <a:ext cx="1476686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c, e</a:t>
            </a:r>
            <a:r>
              <a:rPr lang="ko-KR" altLang="en-US" sz="1200" dirty="0"/>
              <a:t>를 포함하는 발명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0045DF-AFA5-4846-A365-6D0F4091BBBF}"/>
              </a:ext>
            </a:extLst>
          </p:cNvPr>
          <p:cNvSpPr txBox="1"/>
          <p:nvPr/>
        </p:nvSpPr>
        <p:spPr>
          <a:xfrm>
            <a:off x="2358336" y="3429000"/>
            <a:ext cx="1657826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b, d, f</a:t>
            </a:r>
            <a:r>
              <a:rPr lang="ko-KR" altLang="en-US" sz="1200" dirty="0"/>
              <a:t>를 포함하는 발명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374E377D-C85B-41A9-A457-09DFF0125A50}"/>
              </a:ext>
            </a:extLst>
          </p:cNvPr>
          <p:cNvCxnSpPr>
            <a:stCxn id="69" idx="2"/>
            <a:endCxn id="72" idx="0"/>
          </p:cNvCxnSpPr>
          <p:nvPr/>
        </p:nvCxnSpPr>
        <p:spPr>
          <a:xfrm rot="5400000">
            <a:off x="888862" y="2512966"/>
            <a:ext cx="192165" cy="841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FDB4262A-8C21-451D-96BD-E63262C00DD7}"/>
              </a:ext>
            </a:extLst>
          </p:cNvPr>
          <p:cNvCxnSpPr>
            <a:stCxn id="70" idx="2"/>
            <a:endCxn id="73" idx="0"/>
          </p:cNvCxnSpPr>
          <p:nvPr/>
        </p:nvCxnSpPr>
        <p:spPr>
          <a:xfrm rot="5400000">
            <a:off x="1814316" y="2680265"/>
            <a:ext cx="563832" cy="121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122BCCAC-84A5-4B97-AC72-E88B469DE841}"/>
              </a:ext>
            </a:extLst>
          </p:cNvPr>
          <p:cNvCxnSpPr>
            <a:stCxn id="71" idx="2"/>
            <a:endCxn id="74" idx="0"/>
          </p:cNvCxnSpPr>
          <p:nvPr/>
        </p:nvCxnSpPr>
        <p:spPr>
          <a:xfrm rot="5400000">
            <a:off x="2739806" y="2906394"/>
            <a:ext cx="970049" cy="751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5B07D72-0677-4D26-87C7-E6EF547D97D1}"/>
              </a:ext>
            </a:extLst>
          </p:cNvPr>
          <p:cNvCxnSpPr>
            <a:stCxn id="7" idx="0"/>
            <a:endCxn id="42" idx="2"/>
          </p:cNvCxnSpPr>
          <p:nvPr/>
        </p:nvCxnSpPr>
        <p:spPr>
          <a:xfrm rot="16200000" flipV="1">
            <a:off x="3904534" y="2991421"/>
            <a:ext cx="1323732" cy="25879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FAE1A53-2375-47FD-8C7A-E849A54C4F98}"/>
              </a:ext>
            </a:extLst>
          </p:cNvPr>
          <p:cNvSpPr txBox="1"/>
          <p:nvPr/>
        </p:nvSpPr>
        <p:spPr>
          <a:xfrm>
            <a:off x="3092729" y="4286477"/>
            <a:ext cx="5755122" cy="90401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200" dirty="0"/>
              <a:t>본원발명은 선행기술 </a:t>
            </a:r>
            <a:r>
              <a:rPr lang="en-US" altLang="ko-KR" sz="1200" dirty="0"/>
              <a:t>1</a:t>
            </a:r>
            <a:r>
              <a:rPr lang="ko-KR" altLang="en-US" sz="1200" dirty="0"/>
              <a:t>과 비교하여</a:t>
            </a:r>
            <a:r>
              <a:rPr lang="en-US" altLang="ko-KR" sz="1200" dirty="0"/>
              <a:t>, a, b</a:t>
            </a:r>
            <a:r>
              <a:rPr lang="ko-KR" altLang="en-US" sz="1200" dirty="0"/>
              <a:t>가 동일하고 </a:t>
            </a:r>
            <a:r>
              <a:rPr lang="en-US" altLang="ko-KR" sz="1200" dirty="0"/>
              <a:t>c, d</a:t>
            </a:r>
            <a:r>
              <a:rPr lang="ko-KR" altLang="en-US" sz="1200" dirty="0"/>
              <a:t>에 차이가 있지만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c</a:t>
            </a:r>
            <a:r>
              <a:rPr lang="ko-KR" altLang="en-US" sz="1200" dirty="0"/>
              <a:t>는 선행기술</a:t>
            </a:r>
            <a:r>
              <a:rPr lang="en-US" altLang="ko-KR" sz="1200" dirty="0"/>
              <a:t>2</a:t>
            </a:r>
            <a:r>
              <a:rPr lang="ko-KR" altLang="en-US" sz="1200" dirty="0"/>
              <a:t>에 기재된 </a:t>
            </a:r>
            <a:r>
              <a:rPr lang="en-US" altLang="ko-KR" sz="1200" dirty="0"/>
              <a:t>c</a:t>
            </a:r>
            <a:r>
              <a:rPr lang="ko-KR" altLang="en-US" sz="1200" dirty="0"/>
              <a:t>로부터 통상의 기술자가 쉽게 발명할 수 있고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d</a:t>
            </a:r>
            <a:r>
              <a:rPr lang="ko-KR" altLang="en-US" sz="1200" dirty="0"/>
              <a:t>는 선행기술</a:t>
            </a:r>
            <a:r>
              <a:rPr lang="en-US" altLang="ko-KR" sz="1200" dirty="0"/>
              <a:t>3</a:t>
            </a:r>
            <a:r>
              <a:rPr lang="ko-KR" altLang="en-US" sz="1200" dirty="0"/>
              <a:t>에 기재된 </a:t>
            </a:r>
            <a:r>
              <a:rPr lang="en-US" altLang="ko-KR" sz="1200" dirty="0"/>
              <a:t>d</a:t>
            </a:r>
            <a:r>
              <a:rPr lang="ko-KR" altLang="en-US" sz="1200" dirty="0"/>
              <a:t>로부터 통상의 기술자가 쉽게 발명할 수 있기 때문에 결국 진보성 위반이다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7" name="Rectangle 14">
            <a:extLst>
              <a:ext uri="{FF2B5EF4-FFF2-40B4-BE49-F238E27FC236}">
                <a16:creationId xmlns:a16="http://schemas.microsoft.com/office/drawing/2014/main" id="{736FC315-D79E-44E9-A8E2-2370C9341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478" y="2099947"/>
            <a:ext cx="925579" cy="359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>
                <a:latin typeface="+mn-ea"/>
              </a:rPr>
              <a:t>거절결정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88" name="Rectangle 14">
            <a:extLst>
              <a:ext uri="{FF2B5EF4-FFF2-40B4-BE49-F238E27FC236}">
                <a16:creationId xmlns:a16="http://schemas.microsoft.com/office/drawing/2014/main" id="{A7D2C602-EB9E-4097-976D-D1DFEBA60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884" y="2099946"/>
            <a:ext cx="925579" cy="359004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의견서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D9F382-2F5F-48DE-9F28-240555AA2CD9}"/>
              </a:ext>
            </a:extLst>
          </p:cNvPr>
          <p:cNvSpPr txBox="1"/>
          <p:nvPr/>
        </p:nvSpPr>
        <p:spPr>
          <a:xfrm>
            <a:off x="6099683" y="5745233"/>
            <a:ext cx="5840083" cy="8579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b">
            <a:noAutofit/>
          </a:bodyPr>
          <a:lstStyle/>
          <a:p>
            <a:r>
              <a:rPr lang="ko-KR" altLang="en-US" sz="1200" dirty="0"/>
              <a:t>본원발명은 선행기술 </a:t>
            </a:r>
            <a:r>
              <a:rPr lang="en-US" altLang="ko-KR" sz="1200" dirty="0"/>
              <a:t>3</a:t>
            </a:r>
            <a:r>
              <a:rPr lang="ko-KR" altLang="en-US" sz="1200" dirty="0"/>
              <a:t>과 비교하여</a:t>
            </a:r>
            <a:r>
              <a:rPr lang="en-US" altLang="ko-KR" sz="1200" dirty="0"/>
              <a:t>, b, d</a:t>
            </a:r>
            <a:r>
              <a:rPr lang="ko-KR" altLang="en-US" sz="1200" dirty="0"/>
              <a:t>가 동일하고 </a:t>
            </a:r>
            <a:r>
              <a:rPr lang="en-US" altLang="ko-KR" sz="1200" dirty="0"/>
              <a:t>a, c</a:t>
            </a:r>
            <a:r>
              <a:rPr lang="ko-KR" altLang="en-US" sz="1200" dirty="0"/>
              <a:t>에 차이가 있지만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c</a:t>
            </a:r>
            <a:r>
              <a:rPr lang="ko-KR" altLang="en-US" sz="1200" dirty="0"/>
              <a:t>는 선행기술</a:t>
            </a:r>
            <a:r>
              <a:rPr lang="en-US" altLang="ko-KR" sz="1200" dirty="0"/>
              <a:t>2</a:t>
            </a:r>
            <a:r>
              <a:rPr lang="ko-KR" altLang="en-US" sz="1200" dirty="0"/>
              <a:t>로부터 통상의 기술자가 쉽게 발명할 수 있고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a</a:t>
            </a:r>
            <a:r>
              <a:rPr lang="ko-KR" altLang="en-US" sz="1200" dirty="0"/>
              <a:t>는 선행기술</a:t>
            </a:r>
            <a:r>
              <a:rPr lang="en-US" altLang="ko-KR" sz="1200" dirty="0"/>
              <a:t>1</a:t>
            </a:r>
            <a:r>
              <a:rPr lang="ko-KR" altLang="en-US" sz="1200" dirty="0"/>
              <a:t>으로부터 통상의 기술자가 쉽게 발명할 수 있기 때문에 결국 진보성 위반이다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4B95A30D-A9B7-4B2A-8DA5-AB3EED88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663" y="2099946"/>
            <a:ext cx="925579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latin typeface="+mn-ea"/>
              </a:rPr>
              <a:t>기각심결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47E83A2F-9CF1-4D16-8474-DD73EC44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334" y="2099946"/>
            <a:ext cx="925579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소제기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6A2BF9A6-A43A-4A64-B4DF-40A1B644A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9302" y="2099946"/>
            <a:ext cx="925579" cy="35900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solidFill>
                  <a:schemeClr val="accent4"/>
                </a:solidFill>
                <a:latin typeface="+mn-ea"/>
              </a:rPr>
              <a:t>피고</a:t>
            </a:r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 주장</a:t>
            </a:r>
            <a:endParaRPr lang="en-US" altLang="ko-KR" sz="12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6FBC4-EDEE-4E97-A957-4F8E08CA3ABB}"/>
              </a:ext>
            </a:extLst>
          </p:cNvPr>
          <p:cNvSpPr txBox="1"/>
          <p:nvPr/>
        </p:nvSpPr>
        <p:spPr>
          <a:xfrm>
            <a:off x="6469296" y="3276540"/>
            <a:ext cx="2068004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</a:t>
            </a:r>
            <a:r>
              <a:rPr lang="ko-KR" altLang="en-US" sz="1200" dirty="0"/>
              <a:t>와 </a:t>
            </a:r>
            <a:r>
              <a:rPr lang="en-US" altLang="ko-KR" sz="1200" dirty="0"/>
              <a:t>d</a:t>
            </a:r>
            <a:r>
              <a:rPr lang="ko-KR" altLang="en-US" sz="1200" dirty="0"/>
              <a:t>는 선행기술</a:t>
            </a:r>
            <a:r>
              <a:rPr lang="en-US" altLang="ko-KR" sz="1200" dirty="0"/>
              <a:t>2, </a:t>
            </a:r>
            <a:r>
              <a:rPr lang="ko-KR" altLang="en-US" sz="1200" dirty="0"/>
              <a:t>선행기술</a:t>
            </a:r>
            <a:r>
              <a:rPr lang="en-US" altLang="ko-KR" sz="1200" dirty="0"/>
              <a:t>3</a:t>
            </a:r>
            <a:r>
              <a:rPr lang="ko-KR" altLang="en-US" sz="1200" dirty="0"/>
              <a:t>으로부터 쉽게 발명할 수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7079D9B-AE76-4177-ACBF-32FEDA7229B6}"/>
              </a:ext>
            </a:extLst>
          </p:cNvPr>
          <p:cNvCxnSpPr>
            <a:cxnSpLocks/>
            <a:stCxn id="65" idx="2"/>
            <a:endCxn id="86" idx="0"/>
          </p:cNvCxnSpPr>
          <p:nvPr/>
        </p:nvCxnSpPr>
        <p:spPr>
          <a:xfrm rot="16200000" flipH="1">
            <a:off x="4775181" y="3091368"/>
            <a:ext cx="1827526" cy="5626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F97D61C-F605-4F38-B0C5-9B73485C5FCB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rot="5400000">
            <a:off x="8492768" y="2985909"/>
            <a:ext cx="3286282" cy="2232367"/>
          </a:xfrm>
          <a:prstGeom prst="bentConnector3">
            <a:avLst>
              <a:gd name="adj1" fmla="val 7918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9CA05A6-39B3-43DD-BF2E-8F70ED4C152F}"/>
              </a:ext>
            </a:extLst>
          </p:cNvPr>
          <p:cNvCxnSpPr>
            <a:stCxn id="88" idx="2"/>
            <a:endCxn id="30" idx="0"/>
          </p:cNvCxnSpPr>
          <p:nvPr/>
        </p:nvCxnSpPr>
        <p:spPr>
          <a:xfrm rot="16200000" flipH="1">
            <a:off x="6533691" y="2306933"/>
            <a:ext cx="817590" cy="11216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4FF4C2-2AD9-4259-A800-F8C916402FC3}"/>
              </a:ext>
            </a:extLst>
          </p:cNvPr>
          <p:cNvSpPr/>
          <p:nvPr/>
        </p:nvSpPr>
        <p:spPr>
          <a:xfrm>
            <a:off x="339566" y="5597703"/>
            <a:ext cx="2369069" cy="10054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가장 가까운 인용대상으로부터 청구항에 기재된 발명에 이르는 것이 통상의 기술자에게 용이한지 여부를 다른 인용대상과 출원전의 기술상식 및 </a:t>
            </a:r>
            <a:r>
              <a:rPr lang="ko-KR" altLang="en-US" sz="1200" dirty="0" err="1">
                <a:solidFill>
                  <a:schemeClr val="accent4">
                    <a:lumMod val="50000"/>
                  </a:schemeClr>
                </a:solidFill>
              </a:rPr>
              <a:t>경험칙에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 의하여 판단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0DB238-135C-457E-9E53-B70622DC75A3}"/>
              </a:ext>
            </a:extLst>
          </p:cNvPr>
          <p:cNvSpPr/>
          <p:nvPr/>
        </p:nvSpPr>
        <p:spPr>
          <a:xfrm>
            <a:off x="339566" y="4659255"/>
            <a:ext cx="236906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 latinLnBrk="0"/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청구항에 기재된 발명과 가장 가까운 인용대상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주선행발명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을 선택하고 양자를 대비하여 차이점 파악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81F4F9-01A8-43A6-8E64-299EF8328B13}"/>
              </a:ext>
            </a:extLst>
          </p:cNvPr>
          <p:cNvSpPr/>
          <p:nvPr/>
        </p:nvSpPr>
        <p:spPr>
          <a:xfrm>
            <a:off x="339566" y="4274805"/>
            <a:ext cx="236906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 latinLnBrk="0"/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인용대상의 특정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98E7D5-09EF-45B9-B197-238783A3B086}"/>
              </a:ext>
            </a:extLst>
          </p:cNvPr>
          <p:cNvSpPr/>
          <p:nvPr/>
        </p:nvSpPr>
        <p:spPr>
          <a:xfrm>
            <a:off x="339566" y="3897406"/>
            <a:ext cx="236906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 latinLnBrk="0"/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청구항에 기재된 발명의 특정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9C6C1C2-4930-4368-97F3-9E7C21E9A7F6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>
            <a:off x="1524101" y="4174405"/>
            <a:ext cx="0" cy="1004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DC189F-105C-4E68-9FC5-C1008309DBB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524101" y="4551804"/>
            <a:ext cx="0" cy="988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193CA80-E58A-450D-813F-747CBE0802C5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1524101" y="5490252"/>
            <a:ext cx="0" cy="10745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EA515B-8399-ED04-70BC-57D8BBFD5EFB}"/>
              </a:ext>
            </a:extLst>
          </p:cNvPr>
          <p:cNvSpPr/>
          <p:nvPr/>
        </p:nvSpPr>
        <p:spPr>
          <a:xfrm>
            <a:off x="5116003" y="5045741"/>
            <a:ext cx="1025348" cy="2895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거절이유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AC8C7E9-B0E5-8FE8-DFED-0C159E4A2E5F}"/>
              </a:ext>
            </a:extLst>
          </p:cNvPr>
          <p:cNvSpPr/>
          <p:nvPr/>
        </p:nvSpPr>
        <p:spPr>
          <a:xfrm>
            <a:off x="7547352" y="5594013"/>
            <a:ext cx="1025348" cy="28950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거절이유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0F2DA29B-30FD-B7B7-B759-B8A7E01D2F5D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16200000" flipH="1">
            <a:off x="6714968" y="4248954"/>
            <a:ext cx="258767" cy="2431349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500907-BFF4-C771-D91C-06E25AD12FE1}"/>
              </a:ext>
            </a:extLst>
          </p:cNvPr>
          <p:cNvSpPr txBox="1"/>
          <p:nvPr/>
        </p:nvSpPr>
        <p:spPr>
          <a:xfrm>
            <a:off x="6446222" y="5326278"/>
            <a:ext cx="1002197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주지 부합</a:t>
            </a:r>
            <a:r>
              <a:rPr lang="en-US" altLang="ko-KR" sz="1400" dirty="0"/>
              <a:t>X</a:t>
            </a:r>
            <a:endParaRPr lang="ko-KR" altLang="en-US" sz="1400" dirty="0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B685589-F632-1DA8-D49D-3C3AD7E6D3E6}"/>
              </a:ext>
            </a:extLst>
          </p:cNvPr>
          <p:cNvCxnSpPr>
            <a:stCxn id="87" idx="2"/>
            <a:endCxn id="86" idx="3"/>
          </p:cNvCxnSpPr>
          <p:nvPr/>
        </p:nvCxnSpPr>
        <p:spPr>
          <a:xfrm rot="16200000" flipH="1">
            <a:off x="6960292" y="2850926"/>
            <a:ext cx="2279535" cy="1495583"/>
          </a:xfrm>
          <a:prstGeom prst="bentConnector4">
            <a:avLst>
              <a:gd name="adj1" fmla="val 9410"/>
              <a:gd name="adj2" fmla="val 106294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51DE4CD7-DED2-4D75-B4DC-5A1C825E7D55}"/>
              </a:ext>
            </a:extLst>
          </p:cNvPr>
          <p:cNvCxnSpPr>
            <a:cxnSpLocks/>
            <a:stCxn id="26" idx="2"/>
            <a:endCxn id="86" idx="3"/>
          </p:cNvCxnSpPr>
          <p:nvPr/>
        </p:nvCxnSpPr>
        <p:spPr>
          <a:xfrm rot="5400000">
            <a:off x="7931385" y="3375417"/>
            <a:ext cx="2279535" cy="44660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4497DF-1DDB-B1B9-F78A-C6FB06D13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28630"/>
              </p:ext>
            </p:extLst>
          </p:nvPr>
        </p:nvGraphicFramePr>
        <p:xfrm>
          <a:off x="2880509" y="5561874"/>
          <a:ext cx="2956130" cy="1143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1226">
                  <a:extLst>
                    <a:ext uri="{9D8B030D-6E8A-4147-A177-3AD203B41FA5}">
                      <a16:colId xmlns:a16="http://schemas.microsoft.com/office/drawing/2014/main" val="1620216613"/>
                    </a:ext>
                  </a:extLst>
                </a:gridCol>
                <a:gridCol w="591226">
                  <a:extLst>
                    <a:ext uri="{9D8B030D-6E8A-4147-A177-3AD203B41FA5}">
                      <a16:colId xmlns:a16="http://schemas.microsoft.com/office/drawing/2014/main" val="550105099"/>
                    </a:ext>
                  </a:extLst>
                </a:gridCol>
                <a:gridCol w="591226">
                  <a:extLst>
                    <a:ext uri="{9D8B030D-6E8A-4147-A177-3AD203B41FA5}">
                      <a16:colId xmlns:a16="http://schemas.microsoft.com/office/drawing/2014/main" val="390291616"/>
                    </a:ext>
                  </a:extLst>
                </a:gridCol>
                <a:gridCol w="591226">
                  <a:extLst>
                    <a:ext uri="{9D8B030D-6E8A-4147-A177-3AD203B41FA5}">
                      <a16:colId xmlns:a16="http://schemas.microsoft.com/office/drawing/2014/main" val="3014985931"/>
                    </a:ext>
                  </a:extLst>
                </a:gridCol>
                <a:gridCol w="591226">
                  <a:extLst>
                    <a:ext uri="{9D8B030D-6E8A-4147-A177-3AD203B41FA5}">
                      <a16:colId xmlns:a16="http://schemas.microsoft.com/office/drawing/2014/main" val="299575125"/>
                    </a:ext>
                  </a:extLst>
                </a:gridCol>
              </a:tblGrid>
              <a:tr h="127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출원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선행</a:t>
                      </a:r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선행</a:t>
                      </a:r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선행</a:t>
                      </a:r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OR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343562"/>
                  </a:ext>
                </a:extLst>
              </a:tr>
              <a:tr h="127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723462"/>
                  </a:ext>
                </a:extLst>
              </a:tr>
              <a:tr h="127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b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93758"/>
                  </a:ext>
                </a:extLst>
              </a:tr>
              <a:tr h="127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696569"/>
                  </a:ext>
                </a:extLst>
              </a:tr>
              <a:tr h="127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082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180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거절이유통지를 받은 출원인의 대응방안</a:t>
            </a:r>
          </a:p>
        </p:txBody>
      </p:sp>
      <p:sp>
        <p:nvSpPr>
          <p:cNvPr id="31" name="순서도: 판단 30"/>
          <p:cNvSpPr/>
          <p:nvPr/>
        </p:nvSpPr>
        <p:spPr bwMode="auto">
          <a:xfrm>
            <a:off x="2702261" y="24597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거절이유의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타당성</a:t>
            </a:r>
          </a:p>
        </p:txBody>
      </p:sp>
      <p:sp>
        <p:nvSpPr>
          <p:cNvPr id="32" name="순서도: 판단 31"/>
          <p:cNvSpPr/>
          <p:nvPr/>
        </p:nvSpPr>
        <p:spPr bwMode="auto">
          <a:xfrm>
            <a:off x="2702261" y="3636026"/>
            <a:ext cx="1920213" cy="760764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극복가능성</a:t>
            </a:r>
          </a:p>
        </p:txBody>
      </p:sp>
      <p:cxnSp>
        <p:nvCxnSpPr>
          <p:cNvPr id="34" name="직선 화살표 연결선 33"/>
          <p:cNvCxnSpPr>
            <a:stCxn id="31" idx="2"/>
            <a:endCxn id="32" idx="0"/>
          </p:cNvCxnSpPr>
          <p:nvPr/>
        </p:nvCxnSpPr>
        <p:spPr bwMode="auto">
          <a:xfrm>
            <a:off x="3662368" y="3220514"/>
            <a:ext cx="0" cy="41551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541438" y="2097432"/>
            <a:ext cx="3191500" cy="2858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의견서 제출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1" name="직선 화살표 연결선 40"/>
          <p:cNvCxnSpPr>
            <a:stCxn id="31" idx="3"/>
          </p:cNvCxnSpPr>
          <p:nvPr/>
        </p:nvCxnSpPr>
        <p:spPr bwMode="auto">
          <a:xfrm>
            <a:off x="4622474" y="2840132"/>
            <a:ext cx="74962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 bwMode="auto">
          <a:xfrm flipV="1">
            <a:off x="4622474" y="4025197"/>
            <a:ext cx="749626" cy="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58033" y="3185067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58033" y="4396791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52950" y="2569048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95591" y="3750326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533135" y="1330177"/>
            <a:ext cx="1657615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거절이유통지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자극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2855388" y="133017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거절이유통지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5541439" y="1330177"/>
            <a:ext cx="5526612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5" name="직선 연결선 4"/>
          <p:cNvCxnSpPr>
            <a:stCxn id="55" idx="3"/>
            <a:endCxn id="56" idx="1"/>
          </p:cNvCxnSpPr>
          <p:nvPr/>
        </p:nvCxnSpPr>
        <p:spPr>
          <a:xfrm>
            <a:off x="2190750" y="1555676"/>
            <a:ext cx="6646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stCxn id="56" idx="3"/>
            <a:endCxn id="58" idx="1"/>
          </p:cNvCxnSpPr>
          <p:nvPr/>
        </p:nvCxnSpPr>
        <p:spPr>
          <a:xfrm>
            <a:off x="4524375" y="1555676"/>
            <a:ext cx="10170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532764" y="2442875"/>
            <a:ext cx="3204835" cy="3194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불복심판청구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재심사청구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532764" y="2823117"/>
            <a:ext cx="3204835" cy="3194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심결취소의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소 제기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분리출원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52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조의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2)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2764" y="3198028"/>
            <a:ext cx="3204835" cy="3194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상고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541438" y="3774525"/>
            <a:ext cx="3191500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출원의 취하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포기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41438" y="4185490"/>
            <a:ext cx="3191500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방치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541438" y="4821617"/>
            <a:ext cx="3191500" cy="349800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출원인의 이익제도 활용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541438" y="5245807"/>
            <a:ext cx="3191500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의견서 제출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" name="꺾인 연결선 17"/>
          <p:cNvCxnSpPr>
            <a:stCxn id="32" idx="2"/>
          </p:cNvCxnSpPr>
          <p:nvPr/>
        </p:nvCxnSpPr>
        <p:spPr>
          <a:xfrm rot="16200000" flipH="1">
            <a:off x="4092726" y="3966432"/>
            <a:ext cx="849017" cy="1709732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402619" y="3542215"/>
            <a:ext cx="1576925" cy="285851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396030" y="3887658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34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35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96030" y="4267900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47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396030" y="4642811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52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6030" y="5041571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53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396030" y="5421813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54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396030" y="5796724"/>
            <a:ext cx="1583514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dirty="0">
                <a:latin typeface="+mn-ea"/>
              </a:rPr>
              <a:t>55</a:t>
            </a:r>
            <a:r>
              <a:rPr lang="ko-KR" altLang="en-US" sz="1400" dirty="0"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" name="꺾인 연결선 22"/>
          <p:cNvCxnSpPr>
            <a:cxnSpLocks/>
            <a:stCxn id="68" idx="3"/>
            <a:endCxn id="70" idx="1"/>
          </p:cNvCxnSpPr>
          <p:nvPr/>
        </p:nvCxnSpPr>
        <p:spPr>
          <a:xfrm flipV="1">
            <a:off x="8732938" y="3685141"/>
            <a:ext cx="669681" cy="13113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8" idx="3"/>
            <a:endCxn id="76" idx="1"/>
          </p:cNvCxnSpPr>
          <p:nvPr/>
        </p:nvCxnSpPr>
        <p:spPr>
          <a:xfrm>
            <a:off x="8732938" y="4996517"/>
            <a:ext cx="663092" cy="959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cxnSpLocks/>
            <a:stCxn id="68" idx="3"/>
            <a:endCxn id="71" idx="1"/>
          </p:cNvCxnSpPr>
          <p:nvPr/>
        </p:nvCxnSpPr>
        <p:spPr>
          <a:xfrm flipV="1">
            <a:off x="8732938" y="4047395"/>
            <a:ext cx="663092" cy="9491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cxnSpLocks/>
            <a:stCxn id="68" idx="3"/>
            <a:endCxn id="75" idx="1"/>
          </p:cNvCxnSpPr>
          <p:nvPr/>
        </p:nvCxnSpPr>
        <p:spPr>
          <a:xfrm>
            <a:off x="8732938" y="4996517"/>
            <a:ext cx="663092" cy="5850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cxnSpLocks/>
            <a:stCxn id="68" idx="3"/>
            <a:endCxn id="72" idx="1"/>
          </p:cNvCxnSpPr>
          <p:nvPr/>
        </p:nvCxnSpPr>
        <p:spPr>
          <a:xfrm flipV="1">
            <a:off x="8732938" y="4427637"/>
            <a:ext cx="663092" cy="5688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>
            <a:cxnSpLocks/>
            <a:stCxn id="68" idx="3"/>
            <a:endCxn id="73" idx="1"/>
          </p:cNvCxnSpPr>
          <p:nvPr/>
        </p:nvCxnSpPr>
        <p:spPr>
          <a:xfrm flipV="1">
            <a:off x="8732938" y="4802548"/>
            <a:ext cx="663092" cy="1939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cxnSpLocks/>
            <a:stCxn id="68" idx="3"/>
            <a:endCxn id="74" idx="1"/>
          </p:cNvCxnSpPr>
          <p:nvPr/>
        </p:nvCxnSpPr>
        <p:spPr>
          <a:xfrm>
            <a:off x="8732938" y="4996517"/>
            <a:ext cx="663092" cy="20479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51149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523069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039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933450" y="2023499"/>
            <a:ext cx="10191750" cy="2771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양쪽 모서리가 둥근 사각형 26"/>
          <p:cNvSpPr/>
          <p:nvPr/>
        </p:nvSpPr>
        <p:spPr>
          <a:xfrm>
            <a:off x="2080054" y="3923737"/>
            <a:ext cx="3282521" cy="381000"/>
          </a:xfrm>
          <a:prstGeom prst="round2SameRect">
            <a:avLst>
              <a:gd name="adj1" fmla="val 16667"/>
              <a:gd name="adj2" fmla="val 50000"/>
            </a:avLst>
          </a:prstGeom>
          <a:pattFill prst="dk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양쪽 모서리가 둥근 사각형 82"/>
          <p:cNvSpPr/>
          <p:nvPr/>
        </p:nvSpPr>
        <p:spPr>
          <a:xfrm>
            <a:off x="5362576" y="3923737"/>
            <a:ext cx="2148840" cy="381000"/>
          </a:xfrm>
          <a:prstGeom prst="round2SameRect">
            <a:avLst>
              <a:gd name="adj1" fmla="val 16667"/>
              <a:gd name="adj2" fmla="val 50000"/>
            </a:avLst>
          </a:prstGeom>
          <a:pattFill prst="wdUpDiag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양쪽 모서리가 둥근 사각형 84"/>
          <p:cNvSpPr/>
          <p:nvPr/>
        </p:nvSpPr>
        <p:spPr>
          <a:xfrm>
            <a:off x="7505832" y="3923737"/>
            <a:ext cx="2148840" cy="381000"/>
          </a:xfrm>
          <a:prstGeom prst="round2SameRect">
            <a:avLst>
              <a:gd name="adj1" fmla="val 16667"/>
              <a:gd name="adj2" fmla="val 5000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발명의 </a:t>
            </a:r>
            <a:r>
              <a:rPr lang="ko-KR" altLang="en-US" dirty="0" err="1"/>
              <a:t>성립성</a:t>
            </a:r>
            <a:r>
              <a:rPr lang="ko-KR" altLang="en-US" dirty="0"/>
              <a:t> 위반 </a:t>
            </a:r>
            <a:r>
              <a:rPr lang="en-US" altLang="ko-KR" dirty="0"/>
              <a:t>vs </a:t>
            </a:r>
            <a:r>
              <a:rPr lang="ko-KR" altLang="en-US" dirty="0"/>
              <a:t>제한열거적인 거절이유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3100"/>
          </a:xfrm>
        </p:spPr>
        <p:txBody>
          <a:bodyPr/>
          <a:lstStyle/>
          <a:p>
            <a:r>
              <a:rPr lang="en-US" altLang="ko-KR" dirty="0"/>
              <a:t>262</a:t>
            </a:r>
            <a:endParaRPr lang="ko-KR" altLang="en-US" dirty="0"/>
          </a:p>
        </p:txBody>
      </p:sp>
      <p:cxnSp>
        <p:nvCxnSpPr>
          <p:cNvPr id="44" name="직선 연결선 43"/>
          <p:cNvCxnSpPr/>
          <p:nvPr/>
        </p:nvCxnSpPr>
        <p:spPr>
          <a:xfrm>
            <a:off x="65" y="19310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거절이유는 제한열거적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이기 때문에 심사관은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 각 호의 거절이유에 명시되지 아니한 사항을 이유로 특허거절결정을 할 수 없으며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특허출원이 거절이유에 해당될 때에는 반드시 특허거절결정을 하여야 하며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심사관의 재량은 인정되지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결과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심사관은 발명의 성립성이 결여되어 있는 경우에 발명의 정의 규정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2Ⅰ)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이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62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조의 거절이유에 명시되지 있지 않기 때문에 우회적으로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29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항 본문의 산업상 이용할 수 있는 발명 또는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42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항제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호의 발명의 설명 기재의 위반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특허거절결정하고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</p:txBody>
      </p:sp>
      <p:cxnSp>
        <p:nvCxnSpPr>
          <p:cNvPr id="6" name="직선 연결선 5"/>
          <p:cNvCxnSpPr>
            <a:endCxn id="14" idx="2"/>
          </p:cNvCxnSpPr>
          <p:nvPr/>
        </p:nvCxnSpPr>
        <p:spPr>
          <a:xfrm flipV="1">
            <a:off x="2076450" y="3897067"/>
            <a:ext cx="7086600" cy="762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64829" y="2155846"/>
            <a:ext cx="1392762" cy="2858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발명 미완성 정도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cxnSp>
        <p:nvCxnSpPr>
          <p:cNvPr id="12" name="직선 연결선 11"/>
          <p:cNvCxnSpPr>
            <a:endCxn id="59" idx="0"/>
          </p:cNvCxnSpPr>
          <p:nvPr/>
        </p:nvCxnSpPr>
        <p:spPr>
          <a:xfrm>
            <a:off x="5362575" y="2447362"/>
            <a:ext cx="0" cy="1522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endCxn id="77" idx="0"/>
          </p:cNvCxnSpPr>
          <p:nvPr/>
        </p:nvCxnSpPr>
        <p:spPr>
          <a:xfrm>
            <a:off x="7511415" y="2447362"/>
            <a:ext cx="0" cy="1522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1574" y="390087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0</a:t>
            </a:r>
            <a:endParaRPr lang="ko-KR" altLang="en-US" sz="1600" dirty="0"/>
          </a:p>
        </p:txBody>
      </p:sp>
      <p:sp>
        <p:nvSpPr>
          <p:cNvPr id="79" name="TextBox 78"/>
          <p:cNvSpPr txBox="1"/>
          <p:nvPr/>
        </p:nvSpPr>
        <p:spPr>
          <a:xfrm>
            <a:off x="6526237" y="3423207"/>
            <a:ext cx="2385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발명의 설명 기재요건 충족</a:t>
            </a:r>
          </a:p>
        </p:txBody>
      </p:sp>
      <p:sp>
        <p:nvSpPr>
          <p:cNvPr id="14" name="자유형 13"/>
          <p:cNvSpPr/>
          <p:nvPr/>
        </p:nvSpPr>
        <p:spPr>
          <a:xfrm>
            <a:off x="2053590" y="2921707"/>
            <a:ext cx="7109460" cy="975360"/>
          </a:xfrm>
          <a:custGeom>
            <a:avLst/>
            <a:gdLst>
              <a:gd name="connsiteX0" fmla="*/ 0 w 7109460"/>
              <a:gd name="connsiteY0" fmla="*/ 0 h 975360"/>
              <a:gd name="connsiteX1" fmla="*/ 3329940 w 7109460"/>
              <a:gd name="connsiteY1" fmla="*/ 975360 h 975360"/>
              <a:gd name="connsiteX2" fmla="*/ 7109460 w 7109460"/>
              <a:gd name="connsiteY2" fmla="*/ 97536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09460" h="975360">
                <a:moveTo>
                  <a:pt x="0" y="0"/>
                </a:moveTo>
                <a:lnTo>
                  <a:pt x="3329940" y="975360"/>
                </a:lnTo>
                <a:lnTo>
                  <a:pt x="7109460" y="975360"/>
                </a:lnTo>
              </a:path>
            </a:pathLst>
          </a:cu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 flipV="1">
            <a:off x="5291137" y="381663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 flipV="1">
            <a:off x="7439977" y="381663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12294" y="275243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100%</a:t>
            </a:r>
            <a:endParaRPr lang="ko-KR" altLang="en-US" sz="1600" dirty="0"/>
          </a:p>
        </p:txBody>
      </p:sp>
      <p:cxnSp>
        <p:nvCxnSpPr>
          <p:cNvPr id="49" name="직선 연결선 48"/>
          <p:cNvCxnSpPr/>
          <p:nvPr/>
        </p:nvCxnSpPr>
        <p:spPr>
          <a:xfrm flipV="1">
            <a:off x="2064814" y="2523614"/>
            <a:ext cx="0" cy="140012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9163050" y="3893164"/>
            <a:ext cx="818095" cy="486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9284764" y="3761761"/>
            <a:ext cx="1722542" cy="2858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>
                <a:solidFill>
                  <a:schemeClr val="accent4"/>
                </a:solidFill>
                <a:latin typeface="+mn-ea"/>
              </a:rPr>
              <a:t>발명의 설명 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기재 정도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355669" y="4294646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(A) </a:t>
            </a:r>
            <a:r>
              <a:rPr lang="ko-KR" altLang="en-US" sz="1600" dirty="0"/>
              <a:t>영역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80570" y="4294646"/>
            <a:ext cx="862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(E) </a:t>
            </a:r>
            <a:r>
              <a:rPr lang="ko-KR" altLang="en-US" sz="1600" dirty="0"/>
              <a:t>영역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66520" y="4294646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(D) </a:t>
            </a:r>
            <a:r>
              <a:rPr lang="ko-KR" altLang="en-US" sz="1600" dirty="0"/>
              <a:t>영역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87805" y="3423207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발명 완성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12340"/>
              </p:ext>
            </p:extLst>
          </p:nvPr>
        </p:nvGraphicFramePr>
        <p:xfrm>
          <a:off x="935810" y="4832871"/>
          <a:ext cx="10191752" cy="13411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4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AutoNum type="alphaUcParenBoth"/>
                      </a:pPr>
                      <a:r>
                        <a:rPr lang="ko-KR" altLang="en-US" sz="1400" baseline="0" dirty="0"/>
                        <a:t>영역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(E)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영역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(D) </a:t>
                      </a:r>
                      <a:r>
                        <a:rPr lang="ko-KR" altLang="en-US" sz="1400" dirty="0"/>
                        <a:t>영역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</a:t>
                      </a:r>
                      <a:r>
                        <a:rPr lang="ko-KR" altLang="en-US" sz="1400" dirty="0" err="1"/>
                        <a:t>성립성</a:t>
                      </a:r>
                      <a:r>
                        <a:rPr lang="ko-KR" altLang="en-US" sz="1400" dirty="0"/>
                        <a:t> 위반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29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조제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항본문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 위반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설명 </a:t>
                      </a:r>
                      <a:r>
                        <a:rPr lang="ko-KR" altLang="en-US" sz="1400" dirty="0" err="1"/>
                        <a:t>기재불비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호 위반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5" name="직선 연결선 34"/>
          <p:cNvCxnSpPr/>
          <p:nvPr/>
        </p:nvCxnSpPr>
        <p:spPr>
          <a:xfrm>
            <a:off x="4764860" y="5484805"/>
            <a:ext cx="0" cy="33337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7288985" y="5484805"/>
            <a:ext cx="0" cy="33337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4809306" y="544884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7356612" y="5484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1FC297-83B2-4C78-96A7-E3E6A1576525}"/>
              </a:ext>
            </a:extLst>
          </p:cNvPr>
          <p:cNvSpPr/>
          <p:nvPr/>
        </p:nvSpPr>
        <p:spPr>
          <a:xfrm>
            <a:off x="4401446" y="2357282"/>
            <a:ext cx="1944862" cy="509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기술적 효과의 달성 가능성을 예상할 수 있을 정도까지 기재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80C7D09-6BE8-4DA1-A5B4-08A54C1FF0A4}"/>
              </a:ext>
            </a:extLst>
          </p:cNvPr>
          <p:cNvSpPr/>
          <p:nvPr/>
        </p:nvSpPr>
        <p:spPr>
          <a:xfrm>
            <a:off x="6533400" y="2357282"/>
            <a:ext cx="2503023" cy="509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기술적 효과를 얻을 수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있을 정도까지 기재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실질적 </a:t>
            </a:r>
            <a:r>
              <a:rPr lang="ko-KR" altLang="en-US" sz="1100" dirty="0" err="1">
                <a:solidFill>
                  <a:srgbClr val="FF0000"/>
                </a:solidFill>
              </a:rPr>
              <a:t>재현설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BAEF8D-CFA1-30B6-7058-773FE4BDCF22}"/>
              </a:ext>
            </a:extLst>
          </p:cNvPr>
          <p:cNvSpPr/>
          <p:nvPr/>
        </p:nvSpPr>
        <p:spPr>
          <a:xfrm>
            <a:off x="896796" y="61577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3AC0C-F86A-2EFD-903F-675E095CBAF9}"/>
              </a:ext>
            </a:extLst>
          </p:cNvPr>
          <p:cNvSpPr txBox="1"/>
          <p:nvPr/>
        </p:nvSpPr>
        <p:spPr>
          <a:xfrm>
            <a:off x="1224674" y="6200664"/>
            <a:ext cx="3347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발명의 </a:t>
            </a:r>
            <a:r>
              <a:rPr lang="ko-KR" altLang="en-US" sz="1400" dirty="0" err="1"/>
              <a:t>성립성</a:t>
            </a:r>
            <a:r>
              <a:rPr lang="ko-KR" altLang="en-US" sz="1400" dirty="0"/>
              <a:t> 위반은 </a:t>
            </a:r>
            <a:r>
              <a:rPr lang="ko-KR" altLang="en-US" sz="1400" dirty="0" err="1"/>
              <a:t>기재불비이기도</a:t>
            </a:r>
            <a:r>
              <a:rPr lang="ko-KR" altLang="en-US" sz="1400" dirty="0"/>
              <a:t> 하다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2788A-5EA8-2020-E919-2F3D2B889F99}"/>
              </a:ext>
            </a:extLst>
          </p:cNvPr>
          <p:cNvSpPr txBox="1"/>
          <p:nvPr/>
        </p:nvSpPr>
        <p:spPr>
          <a:xfrm>
            <a:off x="1224674" y="6514596"/>
            <a:ext cx="4355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기재불비라고</a:t>
            </a:r>
            <a:r>
              <a:rPr lang="ko-KR" altLang="en-US" sz="1400" dirty="0"/>
              <a:t> 하여</a:t>
            </a:r>
            <a:r>
              <a:rPr lang="en-US" altLang="ko-KR" sz="1400" dirty="0"/>
              <a:t>, </a:t>
            </a:r>
            <a:r>
              <a:rPr lang="ko-KR" altLang="en-US" sz="1400" dirty="0"/>
              <a:t>반드시 발명의 </a:t>
            </a:r>
            <a:r>
              <a:rPr lang="ko-KR" altLang="en-US" sz="1400" dirty="0" err="1"/>
              <a:t>성립성</a:t>
            </a:r>
            <a:r>
              <a:rPr lang="ko-KR" altLang="en-US" sz="1400" dirty="0"/>
              <a:t> 위반은 아니다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16AB7F-96EE-5206-083E-82C3A4586453}"/>
              </a:ext>
            </a:extLst>
          </p:cNvPr>
          <p:cNvSpPr/>
          <p:nvPr/>
        </p:nvSpPr>
        <p:spPr>
          <a:xfrm>
            <a:off x="894274" y="647671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86400-2D6D-10CC-342F-8FEA7DA558C1}"/>
              </a:ext>
            </a:extLst>
          </p:cNvPr>
          <p:cNvSpPr txBox="1"/>
          <p:nvPr/>
        </p:nvSpPr>
        <p:spPr>
          <a:xfrm>
            <a:off x="6096000" y="6265520"/>
            <a:ext cx="4256293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거절이유에 따라 </a:t>
            </a:r>
            <a:r>
              <a:rPr lang="ko-KR" altLang="en-US" sz="1400" dirty="0" err="1">
                <a:solidFill>
                  <a:srgbClr val="FF0000"/>
                </a:solidFill>
              </a:rPr>
              <a:t>확선</a:t>
            </a:r>
            <a:r>
              <a:rPr lang="ko-KR" altLang="en-US" sz="1400" dirty="0">
                <a:solidFill>
                  <a:srgbClr val="FF0000"/>
                </a:solidFill>
              </a:rPr>
              <a:t> 위반 여부가 달라져서 구분해야 함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발명의 </a:t>
            </a:r>
            <a:r>
              <a:rPr lang="ko-KR" altLang="en-US" sz="1400" dirty="0" err="1">
                <a:solidFill>
                  <a:srgbClr val="FF0000"/>
                </a:solidFill>
              </a:rPr>
              <a:t>성립성</a:t>
            </a:r>
            <a:r>
              <a:rPr lang="ko-KR" altLang="en-US" sz="1400" dirty="0">
                <a:solidFill>
                  <a:srgbClr val="FF0000"/>
                </a:solidFill>
              </a:rPr>
              <a:t> 위반이 타당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B7FBC4F-A9D1-8DB2-8CD3-B22F73D2CFD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rot="10800000">
            <a:off x="4572066" y="6354554"/>
            <a:ext cx="1523935" cy="172577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726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거절결정등본을 </a:t>
            </a:r>
            <a:r>
              <a:rPr lang="ko-KR" altLang="en-US" dirty="0" err="1"/>
              <a:t>송달받은</a:t>
            </a:r>
            <a:r>
              <a:rPr lang="ko-KR" altLang="en-US" dirty="0"/>
              <a:t> 출원인의 대응방안</a:t>
            </a:r>
          </a:p>
        </p:txBody>
      </p:sp>
      <p:sp>
        <p:nvSpPr>
          <p:cNvPr id="32" name="순서도: 판단 31"/>
          <p:cNvSpPr/>
          <p:nvPr/>
        </p:nvSpPr>
        <p:spPr bwMode="auto">
          <a:xfrm>
            <a:off x="2702261" y="24597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거절이유의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타당성</a:t>
            </a:r>
          </a:p>
        </p:txBody>
      </p:sp>
      <p:sp>
        <p:nvSpPr>
          <p:cNvPr id="33" name="순서도: 판단 32"/>
          <p:cNvSpPr/>
          <p:nvPr/>
        </p:nvSpPr>
        <p:spPr bwMode="auto">
          <a:xfrm>
            <a:off x="2702261" y="3636026"/>
            <a:ext cx="1920213" cy="760764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극복가능성</a:t>
            </a:r>
          </a:p>
        </p:txBody>
      </p:sp>
      <p:cxnSp>
        <p:nvCxnSpPr>
          <p:cNvPr id="34" name="직선 화살표 연결선 33"/>
          <p:cNvCxnSpPr>
            <a:stCxn id="32" idx="2"/>
            <a:endCxn id="33" idx="0"/>
          </p:cNvCxnSpPr>
          <p:nvPr/>
        </p:nvCxnSpPr>
        <p:spPr bwMode="auto">
          <a:xfrm>
            <a:off x="3662368" y="3220514"/>
            <a:ext cx="0" cy="41551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32" idx="3"/>
          </p:cNvCxnSpPr>
          <p:nvPr/>
        </p:nvCxnSpPr>
        <p:spPr bwMode="auto">
          <a:xfrm>
            <a:off x="4622474" y="2840132"/>
            <a:ext cx="74962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 bwMode="auto">
          <a:xfrm flipV="1">
            <a:off x="4622474" y="4025197"/>
            <a:ext cx="749626" cy="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58033" y="3185067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58033" y="4396791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52950" y="2569048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95591" y="3750326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Rectangle 13"/>
          <p:cNvSpPr>
            <a:spLocks noChangeArrowheads="1"/>
          </p:cNvSpPr>
          <p:nvPr/>
        </p:nvSpPr>
        <p:spPr bwMode="auto">
          <a:xfrm>
            <a:off x="533135" y="1330177"/>
            <a:ext cx="1657615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거절결정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ko-KR" altLang="en-US" sz="1400" dirty="0">
                <a:latin typeface="+mj-ea"/>
                <a:ea typeface="+mj-ea"/>
              </a:rPr>
              <a:t>등본송달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자극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855388" y="133017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거절결정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5541439" y="1330177"/>
            <a:ext cx="5526612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50" name="직선 연결선 49"/>
          <p:cNvCxnSpPr>
            <a:stCxn id="43" idx="3"/>
            <a:endCxn id="46" idx="1"/>
          </p:cNvCxnSpPr>
          <p:nvPr/>
        </p:nvCxnSpPr>
        <p:spPr>
          <a:xfrm>
            <a:off x="2190750" y="1555676"/>
            <a:ext cx="6646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stCxn id="46" idx="3"/>
            <a:endCxn id="47" idx="1"/>
          </p:cNvCxnSpPr>
          <p:nvPr/>
        </p:nvCxnSpPr>
        <p:spPr>
          <a:xfrm>
            <a:off x="4524375" y="1555676"/>
            <a:ext cx="10170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532764" y="2442875"/>
            <a:ext cx="3269487" cy="3194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불복심판청구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32764" y="2823117"/>
            <a:ext cx="3269487" cy="3194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심결취소의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소 제기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/ 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분리출원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52</a:t>
            </a:r>
            <a:r>
              <a:rPr lang="ko-KR" altLang="en-US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조의</a:t>
            </a:r>
            <a:r>
              <a:rPr lang="en-US" altLang="ko-KR" sz="1400" b="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764" y="3198028"/>
            <a:ext cx="3269487" cy="3194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상고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41438" y="3774525"/>
            <a:ext cx="3255883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출원의 취하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포기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541438" y="4185490"/>
            <a:ext cx="3255883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방치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41438" y="4821617"/>
            <a:ext cx="3255883" cy="349800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출원인의 이익제도 활용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541438" y="5245807"/>
            <a:ext cx="3255883" cy="349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의견서 제출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1" name="꺾인 연결선 60"/>
          <p:cNvCxnSpPr>
            <a:stCxn id="33" idx="2"/>
          </p:cNvCxnSpPr>
          <p:nvPr/>
        </p:nvCxnSpPr>
        <p:spPr>
          <a:xfrm rot="16200000" flipH="1">
            <a:off x="4092726" y="3966432"/>
            <a:ext cx="849017" cy="1709732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347204" y="3542215"/>
            <a:ext cx="1632340" cy="285851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40384" y="3887658"/>
            <a:ext cx="1639160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34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35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340384" y="4267900"/>
            <a:ext cx="1639160" cy="319474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47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재심사청구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0384" y="4642811"/>
            <a:ext cx="1639160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52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40384" y="5041571"/>
            <a:ext cx="1639160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53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340384" y="5421813"/>
            <a:ext cx="1639160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54</a:t>
            </a:r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340384" y="5796724"/>
            <a:ext cx="1639160" cy="31947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400" dirty="0">
                <a:latin typeface="+mn-ea"/>
              </a:rPr>
              <a:t>55</a:t>
            </a:r>
            <a:r>
              <a:rPr lang="ko-KR" altLang="en-US" sz="1400" dirty="0">
                <a:latin typeface="+mn-ea"/>
              </a:rPr>
              <a:t>조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0" name="꺾인 연결선 69"/>
          <p:cNvCxnSpPr>
            <a:cxnSpLocks/>
            <a:stCxn id="58" idx="3"/>
            <a:endCxn id="62" idx="1"/>
          </p:cNvCxnSpPr>
          <p:nvPr/>
        </p:nvCxnSpPr>
        <p:spPr>
          <a:xfrm flipV="1">
            <a:off x="8797321" y="3685141"/>
            <a:ext cx="549883" cy="13113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58" idx="3"/>
            <a:endCxn id="69" idx="1"/>
          </p:cNvCxnSpPr>
          <p:nvPr/>
        </p:nvCxnSpPr>
        <p:spPr>
          <a:xfrm>
            <a:off x="8797321" y="4996517"/>
            <a:ext cx="543063" cy="959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cxnSpLocks/>
            <a:stCxn id="58" idx="3"/>
            <a:endCxn id="63" idx="1"/>
          </p:cNvCxnSpPr>
          <p:nvPr/>
        </p:nvCxnSpPr>
        <p:spPr>
          <a:xfrm flipV="1">
            <a:off x="8797321" y="4047395"/>
            <a:ext cx="543063" cy="9491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cxnSpLocks/>
            <a:stCxn id="58" idx="3"/>
            <a:endCxn id="68" idx="1"/>
          </p:cNvCxnSpPr>
          <p:nvPr/>
        </p:nvCxnSpPr>
        <p:spPr>
          <a:xfrm>
            <a:off x="8797321" y="4996517"/>
            <a:ext cx="543063" cy="5850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cxnSpLocks/>
            <a:stCxn id="58" idx="3"/>
            <a:endCxn id="64" idx="1"/>
          </p:cNvCxnSpPr>
          <p:nvPr/>
        </p:nvCxnSpPr>
        <p:spPr>
          <a:xfrm flipV="1">
            <a:off x="8797321" y="4427637"/>
            <a:ext cx="543063" cy="5688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cxnSpLocks/>
            <a:stCxn id="58" idx="3"/>
            <a:endCxn id="65" idx="1"/>
          </p:cNvCxnSpPr>
          <p:nvPr/>
        </p:nvCxnSpPr>
        <p:spPr>
          <a:xfrm flipV="1">
            <a:off x="8797321" y="4802548"/>
            <a:ext cx="543063" cy="1939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cxnSpLocks/>
            <a:stCxn id="58" idx="3"/>
            <a:endCxn id="66" idx="1"/>
          </p:cNvCxnSpPr>
          <p:nvPr/>
        </p:nvCxnSpPr>
        <p:spPr>
          <a:xfrm>
            <a:off x="8797321" y="4996517"/>
            <a:ext cx="543063" cy="20479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1149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2523069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2986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거절결정의 확정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65" y="14997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확정이란 통상적인 불복방법으로는 더 이상 불복할 수 없는 상태에 이른 것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특허거절결정은 심사국은 물론 심판원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특허법원 또는 대법원에서도 확정될 수 있으며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심판원 이후 특허거절결정이 확정된 경우에 이를 거절한다는 취지의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확정되었다고 표현한다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836766" y="2194768"/>
            <a:ext cx="10228869" cy="3250457"/>
            <a:chOff x="88419" y="2194768"/>
            <a:chExt cx="11672211" cy="3250457"/>
          </a:xfrm>
        </p:grpSpPr>
        <p:sp>
          <p:nvSpPr>
            <p:cNvPr id="41" name="Rectangle 13"/>
            <p:cNvSpPr>
              <a:spLocks noChangeArrowheads="1"/>
            </p:cNvSpPr>
            <p:nvPr/>
          </p:nvSpPr>
          <p:spPr bwMode="auto">
            <a:xfrm>
              <a:off x="1041102" y="2194768"/>
              <a:ext cx="1801284" cy="327025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bg1">
                  <a:lumMod val="50000"/>
                </a:schemeClr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ko-KR" altLang="en-US" sz="1600" b="0" dirty="0" err="1">
                  <a:solidFill>
                    <a:schemeClr val="tx1"/>
                  </a:solidFill>
                  <a:latin typeface="+mn-ea"/>
                </a:rPr>
                <a:t>심사국</a:t>
              </a:r>
              <a:endParaRPr lang="ko-KR" altLang="en-US" sz="1600" b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Rectangle 14"/>
            <p:cNvSpPr>
              <a:spLocks noChangeArrowheads="1"/>
            </p:cNvSpPr>
            <p:nvPr/>
          </p:nvSpPr>
          <p:spPr bwMode="auto">
            <a:xfrm>
              <a:off x="1594247" y="3490911"/>
              <a:ext cx="694995" cy="3254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확정</a:t>
              </a:r>
            </a:p>
          </p:txBody>
        </p:sp>
        <p:cxnSp>
          <p:nvCxnSpPr>
            <p:cNvPr id="43" name="AutoShape 17"/>
            <p:cNvCxnSpPr>
              <a:cxnSpLocks noChangeShapeType="1"/>
              <a:stCxn id="41" idx="2"/>
              <a:endCxn id="42" idx="0"/>
            </p:cNvCxnSpPr>
            <p:nvPr/>
          </p:nvCxnSpPr>
          <p:spPr bwMode="auto">
            <a:xfrm>
              <a:off x="1941744" y="2521793"/>
              <a:ext cx="0" cy="969119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Rectangle 13"/>
            <p:cNvSpPr>
              <a:spLocks noChangeArrowheads="1"/>
            </p:cNvSpPr>
            <p:nvPr/>
          </p:nvSpPr>
          <p:spPr bwMode="auto">
            <a:xfrm>
              <a:off x="1041101" y="2813992"/>
              <a:ext cx="1801284" cy="3270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latin typeface="+mj-ea"/>
                  <a:ea typeface="+mj-ea"/>
                </a:rPr>
                <a:t>거절결정등본송달</a:t>
              </a:r>
            </a:p>
          </p:txBody>
        </p:sp>
        <p:sp>
          <p:nvSpPr>
            <p:cNvPr id="55" name="Rectangle 13"/>
            <p:cNvSpPr>
              <a:spLocks noChangeArrowheads="1"/>
            </p:cNvSpPr>
            <p:nvPr/>
          </p:nvSpPr>
          <p:spPr bwMode="auto">
            <a:xfrm>
              <a:off x="3729401" y="2194768"/>
              <a:ext cx="1801284" cy="327025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bg1">
                  <a:lumMod val="50000"/>
                </a:schemeClr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ko-KR" altLang="en-US" sz="1600" b="0" dirty="0">
                  <a:solidFill>
                    <a:schemeClr val="tx1"/>
                  </a:solidFill>
                  <a:latin typeface="+mn-ea"/>
                </a:rPr>
                <a:t>특허심판원</a:t>
              </a:r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6513710" y="2194768"/>
              <a:ext cx="1801284" cy="327025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bg1">
                  <a:lumMod val="50000"/>
                </a:schemeClr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ko-KR" altLang="en-US" sz="1600" b="0" dirty="0">
                  <a:solidFill>
                    <a:schemeClr val="tx1"/>
                  </a:solidFill>
                  <a:latin typeface="+mn-ea"/>
                </a:rPr>
                <a:t>특허법원</a:t>
              </a: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9202009" y="2194768"/>
              <a:ext cx="1801284" cy="327025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bg1">
                  <a:lumMod val="50000"/>
                </a:schemeClr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ko-KR" altLang="en-US" sz="1600" b="0" dirty="0">
                  <a:solidFill>
                    <a:schemeClr val="tx1"/>
                  </a:solidFill>
                  <a:latin typeface="+mn-ea"/>
                </a:rPr>
                <a:t>대법원</a:t>
              </a:r>
            </a:p>
          </p:txBody>
        </p:sp>
        <p:cxnSp>
          <p:nvCxnSpPr>
            <p:cNvPr id="59" name="AutoShape 17"/>
            <p:cNvCxnSpPr>
              <a:cxnSpLocks noChangeShapeType="1"/>
              <a:stCxn id="41" idx="3"/>
              <a:endCxn id="55" idx="1"/>
            </p:cNvCxnSpPr>
            <p:nvPr/>
          </p:nvCxnSpPr>
          <p:spPr bwMode="auto">
            <a:xfrm>
              <a:off x="2842386" y="2358280"/>
              <a:ext cx="887015" cy="0"/>
            </a:xfrm>
            <a:prstGeom prst="straightConnector1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17"/>
            <p:cNvCxnSpPr>
              <a:cxnSpLocks noChangeShapeType="1"/>
              <a:stCxn id="55" idx="3"/>
              <a:endCxn id="56" idx="1"/>
            </p:cNvCxnSpPr>
            <p:nvPr/>
          </p:nvCxnSpPr>
          <p:spPr bwMode="auto">
            <a:xfrm>
              <a:off x="5530685" y="2358280"/>
              <a:ext cx="983025" cy="0"/>
            </a:xfrm>
            <a:prstGeom prst="straightConnector1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17"/>
            <p:cNvCxnSpPr>
              <a:cxnSpLocks noChangeShapeType="1"/>
              <a:stCxn id="56" idx="3"/>
              <a:endCxn id="58" idx="1"/>
            </p:cNvCxnSpPr>
            <p:nvPr/>
          </p:nvCxnSpPr>
          <p:spPr bwMode="auto">
            <a:xfrm>
              <a:off x="8314994" y="2358280"/>
              <a:ext cx="887015" cy="0"/>
            </a:xfrm>
            <a:prstGeom prst="straightConnector1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꺾인 연결선 62"/>
            <p:cNvCxnSpPr>
              <a:stCxn id="52" idx="1"/>
              <a:endCxn id="42" idx="1"/>
            </p:cNvCxnSpPr>
            <p:nvPr/>
          </p:nvCxnSpPr>
          <p:spPr>
            <a:xfrm rot="10800000" flipH="1" flipV="1">
              <a:off x="1041100" y="2977504"/>
              <a:ext cx="553147" cy="676126"/>
            </a:xfrm>
            <a:prstGeom prst="bentConnector3">
              <a:avLst>
                <a:gd name="adj1" fmla="val -55103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8419" y="3200151"/>
              <a:ext cx="7192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3</a:t>
              </a:r>
              <a:r>
                <a:rPr lang="ko-KR" altLang="en-US" sz="1200" dirty="0"/>
                <a:t>개월</a:t>
              </a:r>
              <a:r>
                <a:rPr lang="en-US" altLang="ko-KR" sz="1200" dirty="0"/>
                <a:t>*</a:t>
              </a:r>
              <a:endParaRPr lang="ko-KR" altLang="en-US" sz="1200" dirty="0"/>
            </a:p>
          </p:txBody>
        </p:sp>
        <p:sp>
          <p:nvSpPr>
            <p:cNvPr id="67" name="Rectangle 14"/>
            <p:cNvSpPr>
              <a:spLocks noChangeArrowheads="1"/>
            </p:cNvSpPr>
            <p:nvPr/>
          </p:nvSpPr>
          <p:spPr bwMode="auto">
            <a:xfrm>
              <a:off x="4269421" y="4286605"/>
              <a:ext cx="694995" cy="3254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확정</a:t>
              </a:r>
            </a:p>
          </p:txBody>
        </p:sp>
        <p:cxnSp>
          <p:nvCxnSpPr>
            <p:cNvPr id="68" name="AutoShape 17"/>
            <p:cNvCxnSpPr>
              <a:cxnSpLocks noChangeShapeType="1"/>
              <a:stCxn id="55" idx="2"/>
              <a:endCxn id="67" idx="0"/>
            </p:cNvCxnSpPr>
            <p:nvPr/>
          </p:nvCxnSpPr>
          <p:spPr bwMode="auto">
            <a:xfrm flipH="1">
              <a:off x="4616919" y="2521793"/>
              <a:ext cx="13124" cy="1764813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Rectangle 13"/>
            <p:cNvSpPr>
              <a:spLocks noChangeArrowheads="1"/>
            </p:cNvSpPr>
            <p:nvPr/>
          </p:nvSpPr>
          <p:spPr bwMode="auto">
            <a:xfrm>
              <a:off x="3716275" y="3609686"/>
              <a:ext cx="1801284" cy="3270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 err="1">
                  <a:latin typeface="+mj-ea"/>
                  <a:ea typeface="+mj-ea"/>
                </a:rPr>
                <a:t>기각심결등본송달</a:t>
              </a:r>
              <a:endParaRPr lang="ko-KR" altLang="en-US" sz="1200" b="0" dirty="0">
                <a:latin typeface="+mj-ea"/>
                <a:ea typeface="+mj-ea"/>
              </a:endParaRPr>
            </a:p>
          </p:txBody>
        </p:sp>
        <p:cxnSp>
          <p:nvCxnSpPr>
            <p:cNvPr id="71" name="꺾인 연결선 70"/>
            <p:cNvCxnSpPr>
              <a:stCxn id="70" idx="1"/>
              <a:endCxn id="67" idx="1"/>
            </p:cNvCxnSpPr>
            <p:nvPr/>
          </p:nvCxnSpPr>
          <p:spPr>
            <a:xfrm rot="10800000" flipH="1" flipV="1">
              <a:off x="3716275" y="3773198"/>
              <a:ext cx="553147" cy="676126"/>
            </a:xfrm>
            <a:prstGeom prst="bentConnector3">
              <a:avLst>
                <a:gd name="adj1" fmla="val -55103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2673284" y="4043039"/>
              <a:ext cx="662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30</a:t>
              </a:r>
              <a:r>
                <a:rPr lang="ko-KR" altLang="en-US" sz="1200" dirty="0"/>
                <a:t>일</a:t>
              </a:r>
              <a:r>
                <a:rPr lang="en-US" altLang="ko-KR" sz="1200" dirty="0"/>
                <a:t>**</a:t>
              </a:r>
              <a:endParaRPr lang="ko-KR" altLang="en-US" sz="1200" dirty="0"/>
            </a:p>
          </p:txBody>
        </p:sp>
        <p:sp>
          <p:nvSpPr>
            <p:cNvPr id="76" name="Rectangle 14"/>
            <p:cNvSpPr>
              <a:spLocks noChangeArrowheads="1"/>
            </p:cNvSpPr>
            <p:nvPr/>
          </p:nvSpPr>
          <p:spPr bwMode="auto">
            <a:xfrm>
              <a:off x="7066856" y="5118199"/>
              <a:ext cx="694995" cy="3254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확정</a:t>
              </a:r>
            </a:p>
          </p:txBody>
        </p:sp>
        <p:cxnSp>
          <p:nvCxnSpPr>
            <p:cNvPr id="77" name="AutoShape 17"/>
            <p:cNvCxnSpPr>
              <a:cxnSpLocks noChangeShapeType="1"/>
              <a:stCxn id="56" idx="2"/>
              <a:endCxn id="76" idx="0"/>
            </p:cNvCxnSpPr>
            <p:nvPr/>
          </p:nvCxnSpPr>
          <p:spPr bwMode="auto">
            <a:xfrm>
              <a:off x="7414353" y="2521793"/>
              <a:ext cx="1" cy="2596407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Rectangle 13"/>
            <p:cNvSpPr>
              <a:spLocks noChangeArrowheads="1"/>
            </p:cNvSpPr>
            <p:nvPr/>
          </p:nvSpPr>
          <p:spPr bwMode="auto">
            <a:xfrm>
              <a:off x="6513710" y="4441280"/>
              <a:ext cx="1801284" cy="3270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기각판결정</a:t>
              </a:r>
              <a:r>
                <a:rPr lang="ko-KR" altLang="en-US" sz="1200" b="0" dirty="0">
                  <a:latin typeface="+mj-ea"/>
                  <a:ea typeface="+mj-ea"/>
                </a:rPr>
                <a:t>본송달</a:t>
              </a:r>
            </a:p>
          </p:txBody>
        </p:sp>
        <p:cxnSp>
          <p:nvCxnSpPr>
            <p:cNvPr id="79" name="꺾인 연결선 78"/>
            <p:cNvCxnSpPr>
              <a:stCxn id="78" idx="1"/>
              <a:endCxn id="76" idx="1"/>
            </p:cNvCxnSpPr>
            <p:nvPr/>
          </p:nvCxnSpPr>
          <p:spPr>
            <a:xfrm rot="10800000" flipH="1" flipV="1">
              <a:off x="6513709" y="4604792"/>
              <a:ext cx="553147" cy="676126"/>
            </a:xfrm>
            <a:prstGeom prst="bentConnector3">
              <a:avLst>
                <a:gd name="adj1" fmla="val -55103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5649613" y="4797152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2</a:t>
              </a:r>
              <a:r>
                <a:rPr lang="ko-KR" altLang="en-US" sz="1200" dirty="0"/>
                <a:t>주일</a:t>
              </a:r>
            </a:p>
          </p:txBody>
        </p:sp>
        <p:sp>
          <p:nvSpPr>
            <p:cNvPr id="82" name="Rectangle 14"/>
            <p:cNvSpPr>
              <a:spLocks noChangeArrowheads="1"/>
            </p:cNvSpPr>
            <p:nvPr/>
          </p:nvSpPr>
          <p:spPr bwMode="auto">
            <a:xfrm>
              <a:off x="11065635" y="5119786"/>
              <a:ext cx="694995" cy="32543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확정</a:t>
              </a:r>
            </a:p>
          </p:txBody>
        </p:sp>
        <p:cxnSp>
          <p:nvCxnSpPr>
            <p:cNvPr id="83" name="AutoShape 17"/>
            <p:cNvCxnSpPr>
              <a:cxnSpLocks noChangeShapeType="1"/>
              <a:stCxn id="58" idx="2"/>
              <a:endCxn id="84" idx="0"/>
            </p:cNvCxnSpPr>
            <p:nvPr/>
          </p:nvCxnSpPr>
          <p:spPr bwMode="auto">
            <a:xfrm flipH="1">
              <a:off x="10102650" y="2521793"/>
              <a:ext cx="1" cy="2596407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4" name="Rectangle 13"/>
            <p:cNvSpPr>
              <a:spLocks noChangeArrowheads="1"/>
            </p:cNvSpPr>
            <p:nvPr/>
          </p:nvSpPr>
          <p:spPr bwMode="auto">
            <a:xfrm>
              <a:off x="9202007" y="5118200"/>
              <a:ext cx="1801284" cy="3270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 dirty="0">
                  <a:latin typeface="+mj-ea"/>
                  <a:ea typeface="+mj-ea"/>
                </a:rPr>
                <a:t>기각판결선고</a:t>
              </a:r>
            </a:p>
          </p:txBody>
        </p:sp>
        <p:cxnSp>
          <p:nvCxnSpPr>
            <p:cNvPr id="85" name="직선 화살표 연결선 84"/>
            <p:cNvCxnSpPr/>
            <p:nvPr/>
          </p:nvCxnSpPr>
          <p:spPr>
            <a:xfrm>
              <a:off x="1941745" y="3315567"/>
              <a:ext cx="2675172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/>
            <p:cNvCxnSpPr/>
            <p:nvPr/>
          </p:nvCxnSpPr>
          <p:spPr>
            <a:xfrm>
              <a:off x="4616919" y="4123252"/>
              <a:ext cx="2797435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/>
            <p:nvPr/>
          </p:nvCxnSpPr>
          <p:spPr>
            <a:xfrm>
              <a:off x="7414354" y="4940422"/>
              <a:ext cx="2688295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3116278" y="3039793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/>
                <a:t>심판청구</a:t>
              </a:r>
              <a:endParaRPr lang="ko-KR" altLang="en-US" sz="12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761322" y="3853454"/>
              <a:ext cx="12875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/>
                <a:t>심결취소소송제기</a:t>
              </a:r>
              <a:endParaRPr lang="ko-KR" altLang="en-US" sz="12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8566548" y="4675086"/>
              <a:ext cx="4603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상고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754408" y="5467610"/>
            <a:ext cx="1778051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연장</a:t>
            </a:r>
            <a:r>
              <a:rPr lang="en-US" altLang="ko-KR" sz="1400" dirty="0"/>
              <a:t>, </a:t>
            </a:r>
            <a:r>
              <a:rPr lang="ko-KR" altLang="en-US" sz="1400" dirty="0"/>
              <a:t>추후보완 가능</a:t>
            </a:r>
            <a:endParaRPr lang="en-US" altLang="ko-KR" sz="1400" dirty="0"/>
          </a:p>
          <a:p>
            <a:r>
              <a:rPr lang="en-US" altLang="ko-KR" sz="1400" dirty="0"/>
              <a:t>** </a:t>
            </a:r>
            <a:r>
              <a:rPr lang="ko-KR" altLang="en-US" sz="1400" dirty="0"/>
              <a:t>부가기간 가능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411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직권보정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2)</a:t>
            </a:r>
            <a:r>
              <a:rPr lang="ko-KR" altLang="en-US" dirty="0"/>
              <a:t>의 개념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66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직권보정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심사관은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특허결정을 할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첨부된 명세서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도면 또는 요약서에 적힌 사항이 명백히 잘못된 경우에는 직권으로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직권보정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이 경우 직권보정은 제</a:t>
            </a:r>
            <a:r>
              <a:rPr lang="en-US" altLang="ko-KR" sz="1400" dirty="0">
                <a:solidFill>
                  <a:srgbClr val="FF0000"/>
                </a:solidFill>
              </a:rPr>
              <a:t>47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범위에서 하여야 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심사관이 직권보정을 하려면 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특허결정의 등본 송달과 함께 그 직권보정 사항을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</a:rPr>
              <a:t> 알려야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직권보정 사항의 전부 또는 </a:t>
            </a:r>
            <a:r>
              <a:rPr lang="ko-KR" altLang="en-US" sz="1400" dirty="0">
                <a:solidFill>
                  <a:srgbClr val="FF0000"/>
                </a:solidFill>
              </a:rPr>
              <a:t>일부</a:t>
            </a:r>
            <a:r>
              <a:rPr lang="ko-KR" altLang="en-US" sz="1400" dirty="0">
                <a:solidFill>
                  <a:schemeClr val="tx2"/>
                </a:solidFill>
              </a:rPr>
              <a:t>를 받아들일 수 없으면 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특허료를 낼 때까지 그 직권보정 사항에 대한 의견서를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의견서를 제출한 경우 해당 직권보정 사항의 전부 또는 일부는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그 특허결정도 함께 취소된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첨부된 요약서에 관한 직권보정 사항의 전부 또는 일부만 처음부터 없었던 것으로 보는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⑤ 삭제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⑥ </a:t>
            </a:r>
            <a:r>
              <a:rPr lang="ko-KR" altLang="en-US" sz="1400" dirty="0">
                <a:solidFill>
                  <a:srgbClr val="FF0000"/>
                </a:solidFill>
              </a:rPr>
              <a:t>직권보정이 제</a:t>
            </a:r>
            <a:r>
              <a:rPr lang="en-US" altLang="ko-KR" sz="1400" dirty="0">
                <a:solidFill>
                  <a:srgbClr val="FF0000"/>
                </a:solidFill>
              </a:rPr>
              <a:t>47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범위를 벗어나거나 명백히 잘못되지 아니한 사항을 직권보정한 경우 그 직권보정은 처음부터 없었던 것으로 본다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30405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526230" y="4445763"/>
            <a:ext cx="1362973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직권보정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26230" y="5439931"/>
            <a:ext cx="1362973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해제조건부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dirty="0">
                <a:latin typeface="+mn-ea"/>
              </a:rPr>
              <a:t>특허결정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4" name="다이아몬드 33"/>
          <p:cNvSpPr/>
          <p:nvPr/>
        </p:nvSpPr>
        <p:spPr>
          <a:xfrm>
            <a:off x="2612396" y="4280074"/>
            <a:ext cx="1972733" cy="1015517"/>
          </a:xfrm>
          <a:prstGeom prst="diamond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출원인의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의견서</a:t>
            </a: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9670230" y="5439931"/>
            <a:ext cx="1851332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28600" indent="-228600">
              <a:buAutoNum type="arabicPeriod"/>
            </a:pPr>
            <a:r>
              <a:rPr lang="ko-KR" altLang="en-US" sz="1100" b="0" dirty="0">
                <a:latin typeface="+mn-ea"/>
              </a:rPr>
              <a:t>특허등록</a:t>
            </a:r>
            <a:endParaRPr lang="en-US" altLang="ko-KR" sz="1100" b="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직권보정 효력유지</a:t>
            </a:r>
            <a:r>
              <a:rPr lang="en-US" altLang="ko-KR" sz="1100" dirty="0">
                <a:latin typeface="+mn-ea"/>
              </a:rPr>
              <a:t>*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5226533" y="3429000"/>
            <a:ext cx="1362973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명세서</a:t>
            </a:r>
            <a:r>
              <a:rPr lang="en-US" altLang="ko-KR" sz="1100" b="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도면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226533" y="4445763"/>
            <a:ext cx="1362973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요약서</a:t>
            </a:r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6951816" y="3429000"/>
            <a:ext cx="1484825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marL="228600" indent="-228600">
              <a:buAutoNum type="arabicPeriod"/>
            </a:pPr>
            <a:r>
              <a:rPr lang="ko-KR" altLang="en-US" sz="1100" b="0" dirty="0">
                <a:latin typeface="+mn-ea"/>
              </a:rPr>
              <a:t>특허결정 취소</a:t>
            </a:r>
            <a:endParaRPr lang="en-US" altLang="ko-KR" sz="1100" b="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직권보정 없었던 것으로 간주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6951816" y="4445763"/>
            <a:ext cx="1484825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sz="1100" b="0" dirty="0">
                <a:latin typeface="+mn-ea"/>
              </a:rPr>
              <a:t>직권보정 없었던 것으로 간주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9670230" y="3429000"/>
            <a:ext cx="1851332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다시 심사진행</a:t>
            </a:r>
          </a:p>
        </p:txBody>
      </p:sp>
      <p:cxnSp>
        <p:nvCxnSpPr>
          <p:cNvPr id="5" name="직선 연결선 4"/>
          <p:cNvCxnSpPr>
            <a:stCxn id="31" idx="3"/>
            <a:endCxn id="34" idx="1"/>
          </p:cNvCxnSpPr>
          <p:nvPr/>
        </p:nvCxnSpPr>
        <p:spPr>
          <a:xfrm flipV="1">
            <a:off x="1889203" y="4787833"/>
            <a:ext cx="723193" cy="207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32" idx="3"/>
            <a:endCxn id="34" idx="1"/>
          </p:cNvCxnSpPr>
          <p:nvPr/>
        </p:nvCxnSpPr>
        <p:spPr>
          <a:xfrm flipV="1">
            <a:off x="1889203" y="4787833"/>
            <a:ext cx="723193" cy="10148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04595" y="4435420"/>
            <a:ext cx="492408" cy="342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통지</a:t>
            </a:r>
          </a:p>
        </p:txBody>
      </p:sp>
      <p:cxnSp>
        <p:nvCxnSpPr>
          <p:cNvPr id="10" name="꺾인 연결선 9"/>
          <p:cNvCxnSpPr>
            <a:stCxn id="34" idx="2"/>
            <a:endCxn id="35" idx="1"/>
          </p:cNvCxnSpPr>
          <p:nvPr/>
        </p:nvCxnSpPr>
        <p:spPr>
          <a:xfrm rot="16200000" flipH="1">
            <a:off x="6380939" y="2513414"/>
            <a:ext cx="507113" cy="607146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149484" y="5295592"/>
            <a:ext cx="492408" cy="342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cxnSp>
        <p:nvCxnSpPr>
          <p:cNvPr id="12" name="꺾인 연결선 11"/>
          <p:cNvCxnSpPr>
            <a:stCxn id="34" idx="3"/>
            <a:endCxn id="38" idx="1"/>
          </p:cNvCxnSpPr>
          <p:nvPr/>
        </p:nvCxnSpPr>
        <p:spPr>
          <a:xfrm flipV="1">
            <a:off x="4585129" y="3791774"/>
            <a:ext cx="641404" cy="9960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4" idx="3"/>
            <a:endCxn id="39" idx="1"/>
          </p:cNvCxnSpPr>
          <p:nvPr/>
        </p:nvCxnSpPr>
        <p:spPr>
          <a:xfrm>
            <a:off x="4585129" y="4787833"/>
            <a:ext cx="641404" cy="207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491243" y="4809806"/>
            <a:ext cx="492408" cy="342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16" name="직선 연결선 15"/>
          <p:cNvCxnSpPr>
            <a:stCxn id="38" idx="3"/>
            <a:endCxn id="41" idx="1"/>
          </p:cNvCxnSpPr>
          <p:nvPr/>
        </p:nvCxnSpPr>
        <p:spPr>
          <a:xfrm>
            <a:off x="6589506" y="3791774"/>
            <a:ext cx="3623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39" idx="3"/>
            <a:endCxn id="46" idx="1"/>
          </p:cNvCxnSpPr>
          <p:nvPr/>
        </p:nvCxnSpPr>
        <p:spPr>
          <a:xfrm>
            <a:off x="6589506" y="4808537"/>
            <a:ext cx="3623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41" idx="3"/>
            <a:endCxn id="47" idx="1"/>
          </p:cNvCxnSpPr>
          <p:nvPr/>
        </p:nvCxnSpPr>
        <p:spPr>
          <a:xfrm>
            <a:off x="8436641" y="3791774"/>
            <a:ext cx="123358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265</a:t>
            </a:r>
            <a:endParaRPr lang="ko-KR" altLang="en-US" dirty="0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DD784AD1-E34B-470A-B1CC-DDB3591A4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229" y="4445763"/>
            <a:ext cx="1851333" cy="725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특허등록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FD00137-D7A6-4CA6-A3B1-7801C58527FD}"/>
              </a:ext>
            </a:extLst>
          </p:cNvPr>
          <p:cNvCxnSpPr>
            <a:cxnSpLocks/>
            <a:stCxn id="46" idx="3"/>
            <a:endCxn id="28" idx="1"/>
          </p:cNvCxnSpPr>
          <p:nvPr/>
        </p:nvCxnSpPr>
        <p:spPr>
          <a:xfrm>
            <a:off x="8436641" y="4808537"/>
            <a:ext cx="123358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98C4801-5C01-47DF-9EF3-BFFF383B09DF}"/>
              </a:ext>
            </a:extLst>
          </p:cNvPr>
          <p:cNvSpPr txBox="1"/>
          <p:nvPr/>
        </p:nvSpPr>
        <p:spPr>
          <a:xfrm>
            <a:off x="8462164" y="4483433"/>
            <a:ext cx="910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특허료 납부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A950B9-93B9-4C40-A0F3-3315096D5952}"/>
              </a:ext>
            </a:extLst>
          </p:cNvPr>
          <p:cNvSpPr txBox="1"/>
          <p:nvPr/>
        </p:nvSpPr>
        <p:spPr>
          <a:xfrm>
            <a:off x="3598760" y="5519766"/>
            <a:ext cx="910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특허료 납부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3F1FD3-A983-4716-BC68-974D7ED1CADD}"/>
              </a:ext>
            </a:extLst>
          </p:cNvPr>
          <p:cNvSpPr txBox="1"/>
          <p:nvPr/>
        </p:nvSpPr>
        <p:spPr>
          <a:xfrm>
            <a:off x="412867" y="6424980"/>
            <a:ext cx="113662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직권보정이 신규사항을 추가하거나 명백히 잘못되지 아니한 사항을 직권보정한 경우 그 직권보정은 처음부터 없었던 것으로 간주 </a:t>
            </a:r>
          </a:p>
        </p:txBody>
      </p:sp>
    </p:spTree>
    <p:extLst>
      <p:ext uri="{BB962C8B-B14F-4D97-AF65-F5344CB8AC3E}">
        <p14:creationId xmlns:p14="http://schemas.microsoft.com/office/powerpoint/2010/main" val="1223875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기재불비와 직권보정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심사관은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첨부된 명세서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도면 또는 </a:t>
            </a:r>
            <a:r>
              <a:rPr lang="ko-KR" altLang="en-US" sz="1400" dirty="0" err="1">
                <a:solidFill>
                  <a:schemeClr val="tx2"/>
                </a:solidFill>
              </a:rPr>
              <a:t>요약서에</a:t>
            </a:r>
            <a:r>
              <a:rPr lang="ko-KR" altLang="en-US" sz="1400" dirty="0">
                <a:solidFill>
                  <a:schemeClr val="tx2"/>
                </a:solidFill>
              </a:rPr>
              <a:t> 적힌 사항이 명백히 잘못된 경우이고 다른 거절이유가 없다면 직권보정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2)</a:t>
            </a:r>
            <a:r>
              <a:rPr lang="ko-KR" altLang="en-US" sz="1400" dirty="0">
                <a:solidFill>
                  <a:schemeClr val="tx2"/>
                </a:solidFill>
              </a:rPr>
              <a:t>하면서 </a:t>
            </a:r>
            <a:r>
              <a:rPr lang="ko-KR" altLang="en-US" sz="1400" dirty="0" err="1">
                <a:solidFill>
                  <a:schemeClr val="tx2"/>
                </a:solidFill>
              </a:rPr>
              <a:t>특허결정할</a:t>
            </a:r>
            <a:r>
              <a:rPr lang="ko-KR" altLang="en-US" sz="1400" dirty="0">
                <a:solidFill>
                  <a:schemeClr val="tx2"/>
                </a:solidFill>
              </a:rPr>
              <a:t>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「명백히 잘못된 경우」란 사소한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오탈자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이외에 명백히 잘못 기재된 기재불비가 있는 경우를 말하고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여기서 명백히 잘못 기재된 기재불비란 통상의 기술자가 그 기재가 잘못되었다는 사실을 쉽게 인식할 수 있고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명세서 등의 기재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의견서 및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기술상식을 참작하여 출원인의 당초 의도를 명확히 알 수 있어서 해당 보정이 어떻게 이루어질 것인지 쉽게 예측할 수 있는 경우</a:t>
            </a:r>
            <a:r>
              <a:rPr lang="ko-KR" altLang="en-US" sz="1400" dirty="0">
                <a:solidFill>
                  <a:schemeClr val="tx2"/>
                </a:solidFill>
              </a:rPr>
              <a:t>를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심사관은 다른 거절이유가 있다면 명백히 잘못된 경우 중 사소한 </a:t>
            </a:r>
            <a:r>
              <a:rPr lang="ko-KR" altLang="en-US" sz="1400" dirty="0" err="1">
                <a:solidFill>
                  <a:schemeClr val="tx2"/>
                </a:solidFill>
              </a:rPr>
              <a:t>오탈자인</a:t>
            </a:r>
            <a:r>
              <a:rPr lang="ko-KR" altLang="en-US" sz="1400" dirty="0">
                <a:solidFill>
                  <a:schemeClr val="tx2"/>
                </a:solidFill>
              </a:rPr>
              <a:t> 것은「참고사항」으로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명백한 잘못된 기재불비에 해당하는 것은 「거절이유」에 포함하여 거절이유를 통지한다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18192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다이아몬드 19"/>
          <p:cNvSpPr/>
          <p:nvPr/>
        </p:nvSpPr>
        <p:spPr>
          <a:xfrm>
            <a:off x="2362203" y="3858720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명백히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잘못된 경우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99556" y="4182560"/>
            <a:ext cx="1600200" cy="50378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기재불비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42</a:t>
            </a:r>
            <a:r>
              <a:rPr lang="ko-KR" altLang="en-US" sz="1400" dirty="0">
                <a:solidFill>
                  <a:schemeClr val="bg1"/>
                </a:solidFill>
              </a:rPr>
              <a:t>조 위반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548469" y="5799693"/>
            <a:ext cx="160020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거절이유통지</a:t>
            </a:r>
          </a:p>
        </p:txBody>
      </p:sp>
      <p:sp>
        <p:nvSpPr>
          <p:cNvPr id="27" name="다이아몬드 26"/>
          <p:cNvSpPr/>
          <p:nvPr/>
        </p:nvSpPr>
        <p:spPr>
          <a:xfrm>
            <a:off x="4800598" y="3858720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다른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거절이유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986864" y="5799693"/>
            <a:ext cx="1600200" cy="5037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직권보정</a:t>
            </a:r>
            <a:r>
              <a:rPr lang="en-US" altLang="ko-KR" sz="1400" dirty="0">
                <a:solidFill>
                  <a:schemeClr val="bg1"/>
                </a:solidFill>
              </a:rPr>
              <a:t>+</a:t>
            </a:r>
            <a:r>
              <a:rPr lang="ko-KR" altLang="en-US" sz="1400" dirty="0">
                <a:solidFill>
                  <a:schemeClr val="bg1"/>
                </a:solidFill>
              </a:rPr>
              <a:t>특허결정</a:t>
            </a:r>
          </a:p>
        </p:txBody>
      </p:sp>
      <p:cxnSp>
        <p:nvCxnSpPr>
          <p:cNvPr id="29" name="직선 화살표 연결선 28"/>
          <p:cNvCxnSpPr>
            <a:stCxn id="21" idx="3"/>
            <a:endCxn id="20" idx="1"/>
          </p:cNvCxnSpPr>
          <p:nvPr/>
        </p:nvCxnSpPr>
        <p:spPr>
          <a:xfrm flipV="1">
            <a:off x="2099756" y="4434454"/>
            <a:ext cx="262447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84164" y="4434455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33" name="직선 화살표 연결선 32"/>
          <p:cNvCxnSpPr>
            <a:stCxn id="20" idx="2"/>
            <a:endCxn id="25" idx="0"/>
          </p:cNvCxnSpPr>
          <p:nvPr/>
        </p:nvCxnSpPr>
        <p:spPr>
          <a:xfrm flipH="1">
            <a:off x="3348569" y="5010187"/>
            <a:ext cx="1" cy="78950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48570" y="5010187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cxnSp>
        <p:nvCxnSpPr>
          <p:cNvPr id="40" name="직선 화살표 연결선 39"/>
          <p:cNvCxnSpPr>
            <a:stCxn id="20" idx="3"/>
            <a:endCxn id="27" idx="1"/>
          </p:cNvCxnSpPr>
          <p:nvPr/>
        </p:nvCxnSpPr>
        <p:spPr>
          <a:xfrm>
            <a:off x="4334936" y="4434454"/>
            <a:ext cx="4656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5782764" y="5010187"/>
            <a:ext cx="1" cy="78950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82765" y="5010187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/>
          <p:cNvSpPr/>
          <p:nvPr/>
        </p:nvSpPr>
        <p:spPr>
          <a:xfrm>
            <a:off x="7154322" y="3640693"/>
            <a:ext cx="456354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>
                <a:solidFill>
                  <a:schemeClr val="tx1"/>
                </a:solidFill>
              </a:rPr>
              <a:t>사소한 </a:t>
            </a:r>
            <a:r>
              <a:rPr lang="ko-KR" altLang="en-US" sz="1400" dirty="0" err="1">
                <a:solidFill>
                  <a:schemeClr val="tx1"/>
                </a:solidFill>
              </a:rPr>
              <a:t>오탈자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「참고사항」으로 하여 거절이유통지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154322" y="4620280"/>
            <a:ext cx="456354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명백히 잘못된 기재불비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 「거절이유」에 포함하여 거절이유통지</a:t>
            </a:r>
          </a:p>
        </p:txBody>
      </p:sp>
      <p:cxnSp>
        <p:nvCxnSpPr>
          <p:cNvPr id="17" name="꺾인 연결선 16"/>
          <p:cNvCxnSpPr>
            <a:stCxn id="27" idx="3"/>
            <a:endCxn id="44" idx="1"/>
          </p:cNvCxnSpPr>
          <p:nvPr/>
        </p:nvCxnSpPr>
        <p:spPr>
          <a:xfrm flipV="1">
            <a:off x="6773331" y="3892588"/>
            <a:ext cx="380991" cy="5418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27" idx="3"/>
            <a:endCxn id="45" idx="1"/>
          </p:cNvCxnSpPr>
          <p:nvPr/>
        </p:nvCxnSpPr>
        <p:spPr>
          <a:xfrm>
            <a:off x="6773331" y="4434454"/>
            <a:ext cx="380991" cy="4377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91300" y="4476790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3344327" y="2331532"/>
            <a:ext cx="8144940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사소한 </a:t>
            </a:r>
            <a:r>
              <a:rPr lang="ko-KR" altLang="en-US" sz="1400" dirty="0" err="1"/>
              <a:t>오탈자</a:t>
            </a:r>
            <a:endParaRPr lang="ko-KR" alt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3344327" y="2720998"/>
            <a:ext cx="8144940" cy="7386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명백히 잘못된 기재불비</a:t>
            </a:r>
            <a:r>
              <a:rPr lang="en-US" altLang="ko-KR" sz="1400" dirty="0"/>
              <a:t>: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통상의 기술자가 그 기재가 잘못되었다는 사실을 </a:t>
            </a:r>
            <a:r>
              <a:rPr lang="ko-KR" altLang="en-US" sz="1400" dirty="0">
                <a:solidFill>
                  <a:srgbClr val="FF0000"/>
                </a:solidFill>
              </a:rPr>
              <a:t>쉽게 인식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할 수 있고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명세서 등의 기재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의견서 및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출원시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기술상식을 참작하여 출원인의 당초 의도를 명확히 알 수 있어서 해당 보정이 어떻게 이루어질 것인지 </a:t>
            </a:r>
            <a:r>
              <a:rPr lang="ko-KR" altLang="en-US" sz="1400" dirty="0">
                <a:solidFill>
                  <a:srgbClr val="FF0000"/>
                </a:solidFill>
              </a:rPr>
              <a:t>쉽게 예측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할 수 있는 경우</a:t>
            </a:r>
          </a:p>
        </p:txBody>
      </p:sp>
      <p:cxnSp>
        <p:nvCxnSpPr>
          <p:cNvPr id="51" name="꺾인 연결선 50"/>
          <p:cNvCxnSpPr>
            <a:stCxn id="48" idx="1"/>
            <a:endCxn id="52" idx="1"/>
          </p:cNvCxnSpPr>
          <p:nvPr/>
        </p:nvCxnSpPr>
        <p:spPr>
          <a:xfrm rot="10800000" flipV="1">
            <a:off x="3344327" y="2485420"/>
            <a:ext cx="12700" cy="604909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자유형 56"/>
          <p:cNvSpPr/>
          <p:nvPr/>
        </p:nvSpPr>
        <p:spPr>
          <a:xfrm>
            <a:off x="2861733" y="2802467"/>
            <a:ext cx="304800" cy="1143000"/>
          </a:xfrm>
          <a:custGeom>
            <a:avLst/>
            <a:gdLst>
              <a:gd name="connsiteX0" fmla="*/ 262467 w 304800"/>
              <a:gd name="connsiteY0" fmla="*/ 0 h 1143000"/>
              <a:gd name="connsiteX1" fmla="*/ 0 w 304800"/>
              <a:gd name="connsiteY1" fmla="*/ 0 h 1143000"/>
              <a:gd name="connsiteX2" fmla="*/ 0 w 304800"/>
              <a:gd name="connsiteY2" fmla="*/ 838200 h 1143000"/>
              <a:gd name="connsiteX3" fmla="*/ 304800 w 304800"/>
              <a:gd name="connsiteY3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143000">
                <a:moveTo>
                  <a:pt x="262467" y="0"/>
                </a:moveTo>
                <a:lnTo>
                  <a:pt x="0" y="0"/>
                </a:lnTo>
                <a:lnTo>
                  <a:pt x="0" y="838200"/>
                </a:lnTo>
                <a:lnTo>
                  <a:pt x="304800" y="11430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2012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명백히 잘못된 경우의 예시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347688" y="1094336"/>
            <a:ext cx="264104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사소한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오탈자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6088591" y="1017853"/>
            <a:ext cx="0" cy="5476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6452155" y="1094336"/>
            <a:ext cx="264104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명백히 잘못된 기재불비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5170"/>
              </p:ext>
            </p:extLst>
          </p:nvPr>
        </p:nvGraphicFramePr>
        <p:xfrm>
          <a:off x="6480729" y="1652150"/>
          <a:ext cx="5549345" cy="48255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03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구 분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예시 및 설명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66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삭제된 </a:t>
                      </a:r>
                      <a:r>
                        <a:rPr lang="ko-KR" altLang="en-US" sz="1050" kern="1200" dirty="0" err="1"/>
                        <a:t>청구항을</a:t>
                      </a:r>
                      <a:r>
                        <a:rPr lang="ko-KR" altLang="en-US" sz="1050" kern="1200" dirty="0"/>
                        <a:t> 인용하는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삭제된 청구항만을 인용하며</a:t>
                      </a:r>
                      <a:r>
                        <a:rPr lang="en-US" altLang="ko-KR" sz="1050" kern="1200" dirty="0"/>
                        <a:t>, </a:t>
                      </a:r>
                      <a:r>
                        <a:rPr lang="ko-KR" altLang="en-US" sz="1050" kern="1200" dirty="0"/>
                        <a:t>선행 </a:t>
                      </a:r>
                      <a:r>
                        <a:rPr lang="ko-KR" altLang="en-US" sz="1050" kern="1200" dirty="0" err="1"/>
                        <a:t>청구항이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개인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A</a:t>
                      </a:r>
                      <a:r>
                        <a:rPr lang="ko-KR" altLang="en-US" sz="1050" kern="1200" dirty="0"/>
                        <a:t>와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2. </a:t>
                      </a:r>
                      <a:r>
                        <a:rPr lang="ko-KR" altLang="en-US" sz="1050" kern="1200" dirty="0"/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3.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C</a:t>
                      </a:r>
                      <a:r>
                        <a:rPr lang="ko-KR" altLang="en-US" sz="1050" kern="1200" dirty="0"/>
                        <a:t>를 더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C</a:t>
                      </a:r>
                      <a:r>
                        <a:rPr lang="ko-KR" altLang="en-US" sz="1050" kern="1200" dirty="0"/>
                        <a:t>를 더 포함하는 장치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3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삭제되지 않은 청구항도 인용하는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A</a:t>
                      </a:r>
                      <a:r>
                        <a:rPr lang="ko-KR" altLang="en-US" sz="1050" kern="1200" dirty="0"/>
                        <a:t>와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2. </a:t>
                      </a:r>
                      <a:r>
                        <a:rPr lang="ko-KR" altLang="en-US" sz="1050" kern="1200" dirty="0"/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3.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 </a:t>
                      </a:r>
                      <a:r>
                        <a:rPr lang="ko-KR" altLang="en-US" sz="1050" kern="1200" dirty="0"/>
                        <a:t>또는 </a:t>
                      </a:r>
                      <a:r>
                        <a:rPr lang="en-US" altLang="ko-KR" sz="1050" kern="1200" dirty="0"/>
                        <a:t>2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C</a:t>
                      </a:r>
                      <a:r>
                        <a:rPr lang="ko-KR" altLang="en-US" sz="1050" kern="1200" dirty="0"/>
                        <a:t>를 더 포함하는 장치 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C</a:t>
                      </a:r>
                      <a:r>
                        <a:rPr lang="ko-KR" altLang="en-US" sz="1050" kern="1200" dirty="0"/>
                        <a:t>를 더 포함하는 장치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12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종속항임에도</a:t>
                      </a:r>
                      <a:r>
                        <a:rPr lang="ko-KR" altLang="en-US" sz="1050" kern="1200" dirty="0"/>
                        <a:t> 인용하는 </a:t>
                      </a:r>
                      <a:r>
                        <a:rPr lang="ko-KR" altLang="en-US" sz="1050" kern="1200" dirty="0" err="1"/>
                        <a:t>청구항과</a:t>
                      </a:r>
                      <a:r>
                        <a:rPr lang="ko-KR" altLang="en-US" sz="1050" kern="1200" dirty="0"/>
                        <a:t> 말미가 다른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청구항 </a:t>
                      </a:r>
                      <a:r>
                        <a:rPr lang="en-US" altLang="ko-KR" sz="1050" kern="1200" dirty="0"/>
                        <a:t>1. A</a:t>
                      </a:r>
                      <a:r>
                        <a:rPr lang="ko-KR" altLang="en-US" sz="1050" kern="1200" dirty="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청구항 </a:t>
                      </a:r>
                      <a:r>
                        <a:rPr lang="en-US" altLang="ko-KR" sz="1050" kern="1200" dirty="0"/>
                        <a:t>2. </a:t>
                      </a:r>
                      <a:r>
                        <a:rPr lang="ko-KR" altLang="en-US" sz="1050" kern="1200" dirty="0"/>
                        <a:t>청구항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B</a:t>
                      </a:r>
                      <a:r>
                        <a:rPr lang="ko-KR" altLang="en-US" sz="1050" kern="1200" dirty="0"/>
                        <a:t>를 더 포함하는 방법 → 청구항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B</a:t>
                      </a:r>
                      <a:r>
                        <a:rPr lang="ko-KR" altLang="en-US" sz="1050" kern="1200" dirty="0"/>
                        <a:t>를 더 포함하는 장치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366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보정으로 </a:t>
                      </a:r>
                      <a:r>
                        <a:rPr lang="ko-KR" altLang="en-US" sz="1050" kern="1200" dirty="0" err="1"/>
                        <a:t>종속항이</a:t>
                      </a:r>
                      <a:r>
                        <a:rPr lang="ko-KR" altLang="en-US" sz="1050" kern="1200" dirty="0"/>
                        <a:t> 인용하는 </a:t>
                      </a:r>
                      <a:r>
                        <a:rPr lang="ko-KR" altLang="en-US" sz="1050" kern="1200" dirty="0" err="1"/>
                        <a:t>청구항에</a:t>
                      </a:r>
                      <a:r>
                        <a:rPr lang="ko-KR" altLang="en-US" sz="1050" kern="1200" dirty="0"/>
                        <a:t> 병합되었음에도 </a:t>
                      </a:r>
                      <a:r>
                        <a:rPr lang="ko-KR" altLang="en-US" sz="1050" kern="1200" dirty="0" err="1"/>
                        <a:t>종속항을</a:t>
                      </a:r>
                      <a:r>
                        <a:rPr lang="ko-KR" altLang="en-US" sz="1050" kern="1200" dirty="0"/>
                        <a:t> 삭제하지 않은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/>
                        <a:t>[</a:t>
                      </a:r>
                      <a:r>
                        <a:rPr lang="ko-KR" altLang="en-US" sz="1050" kern="1200"/>
                        <a:t>보정 전</a:t>
                      </a:r>
                      <a:r>
                        <a:rPr lang="en-US" altLang="ko-KR" sz="1050" kern="1200"/>
                        <a:t>] </a:t>
                      </a: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1. A</a:t>
                      </a:r>
                      <a:r>
                        <a:rPr lang="ko-KR" altLang="en-US" sz="1050" kern="120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2. </a:t>
                      </a: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1</a:t>
                      </a:r>
                      <a:r>
                        <a:rPr lang="ko-KR" altLang="en-US" sz="1050" kern="1200"/>
                        <a:t>에 있어서</a:t>
                      </a:r>
                      <a:r>
                        <a:rPr lang="en-US" altLang="ko-KR" sz="1050" kern="1200"/>
                        <a:t>, B</a:t>
                      </a:r>
                      <a:r>
                        <a:rPr lang="ko-KR" altLang="en-US" sz="1050" kern="1200"/>
                        <a:t>를 더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/>
                        <a:t>[</a:t>
                      </a:r>
                      <a:r>
                        <a:rPr lang="ko-KR" altLang="en-US" sz="1050" kern="1200"/>
                        <a:t>보정 후</a:t>
                      </a:r>
                      <a:r>
                        <a:rPr lang="en-US" altLang="ko-KR" sz="1050" kern="1200"/>
                        <a:t>] </a:t>
                      </a: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1. A</a:t>
                      </a:r>
                      <a:r>
                        <a:rPr lang="ko-KR" altLang="en-US" sz="1050" kern="1200"/>
                        <a:t>와 </a:t>
                      </a:r>
                      <a:r>
                        <a:rPr lang="en-US" altLang="ko-KR" sz="1050" kern="1200"/>
                        <a:t>B</a:t>
                      </a:r>
                      <a:r>
                        <a:rPr lang="ko-KR" altLang="en-US" sz="1050" kern="120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2. </a:t>
                      </a:r>
                      <a:r>
                        <a:rPr lang="ko-KR" altLang="en-US" sz="1050" kern="1200"/>
                        <a:t>청구항 </a:t>
                      </a:r>
                      <a:r>
                        <a:rPr lang="en-US" altLang="ko-KR" sz="1050" kern="1200"/>
                        <a:t>1</a:t>
                      </a:r>
                      <a:r>
                        <a:rPr lang="ko-KR" altLang="en-US" sz="1050" kern="1200"/>
                        <a:t>에 있어서</a:t>
                      </a:r>
                      <a:r>
                        <a:rPr lang="en-US" altLang="ko-KR" sz="1050" kern="1200"/>
                        <a:t>, B</a:t>
                      </a:r>
                      <a:r>
                        <a:rPr lang="ko-KR" altLang="en-US" sz="1050" kern="1200"/>
                        <a:t>를 더 포함하는 장치 → 삭제</a:t>
                      </a:r>
                      <a:endParaRPr lang="ko-KR" altLang="en-US" sz="105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366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동일한 구성을 두 개 이상의 용어를 사용하여 지칭하는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</a:t>
                      </a:r>
                      <a:r>
                        <a:rPr lang="ko-KR" altLang="en-US" sz="1050" kern="1200" dirty="0"/>
                        <a:t>핵 형성층을 형성하는 단계와 상기 핵 </a:t>
                      </a:r>
                      <a:r>
                        <a:rPr lang="ko-KR" altLang="en-US" sz="1050" kern="1200" dirty="0" err="1"/>
                        <a:t>생성층</a:t>
                      </a:r>
                      <a:r>
                        <a:rPr lang="ko-KR" altLang="en-US" sz="1050" kern="1200" dirty="0"/>
                        <a:t> 위에 실리콘 층을 형성하는 단계를 포함하는 </a:t>
                      </a:r>
                      <a:r>
                        <a:rPr lang="ko-KR" altLang="en-US" sz="1050" kern="1200" dirty="0" err="1"/>
                        <a:t>반도체층</a:t>
                      </a:r>
                      <a:r>
                        <a:rPr lang="ko-KR" altLang="en-US" sz="1050" kern="1200" dirty="0"/>
                        <a:t> 형성 방법 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</a:t>
                      </a:r>
                      <a:r>
                        <a:rPr lang="ko-KR" altLang="en-US" sz="1050" kern="1200" dirty="0"/>
                        <a:t>핵 형성층을 형성하는 단계와 상기 핵 형성층 위에 실리콘 층을 형성하는 단계를 포함하는 </a:t>
                      </a:r>
                      <a:r>
                        <a:rPr lang="ko-KR" altLang="en-US" sz="1050" kern="1200" dirty="0" err="1"/>
                        <a:t>반도체층</a:t>
                      </a:r>
                      <a:r>
                        <a:rPr lang="ko-KR" altLang="en-US" sz="1050" kern="1200" dirty="0"/>
                        <a:t> 형성 방법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366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청구항을</a:t>
                      </a:r>
                      <a:r>
                        <a:rPr lang="ko-KR" altLang="en-US" sz="1050" kern="1200" dirty="0"/>
                        <a:t> 잘못 인용한 것이 </a:t>
                      </a:r>
                      <a:endParaRPr lang="en-US" altLang="ko-KR" sz="1050" kern="1200" dirty="0"/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명백한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A</a:t>
                      </a:r>
                      <a:r>
                        <a:rPr lang="ko-KR" altLang="en-US" sz="1050" kern="1200" dirty="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2.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B</a:t>
                      </a:r>
                      <a:r>
                        <a:rPr lang="ko-KR" altLang="en-US" sz="1050" kern="1200" dirty="0"/>
                        <a:t>를 더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3.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</a:t>
                      </a:r>
                      <a:r>
                        <a:rPr lang="ko-KR" altLang="en-US" sz="1050" kern="1200" dirty="0"/>
                        <a:t>상기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는 </a:t>
                      </a:r>
                      <a:r>
                        <a:rPr lang="en-US" altLang="ko-KR" sz="1050" kern="1200" dirty="0"/>
                        <a:t>C</a:t>
                      </a:r>
                      <a:r>
                        <a:rPr lang="ko-KR" altLang="en-US" sz="1050" kern="1200" dirty="0"/>
                        <a:t>인 장치→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</a:t>
                      </a:r>
                      <a:r>
                        <a:rPr lang="ko-KR" altLang="en-US" sz="1050" kern="1200" dirty="0"/>
                        <a:t>상기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는 </a:t>
                      </a:r>
                      <a:r>
                        <a:rPr lang="en-US" altLang="ko-KR" sz="1050" kern="1200" dirty="0"/>
                        <a:t>C</a:t>
                      </a:r>
                      <a:r>
                        <a:rPr lang="ko-KR" altLang="en-US" sz="1050" kern="1200" dirty="0"/>
                        <a:t>인 장치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59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문언적으로</a:t>
                      </a:r>
                      <a:r>
                        <a:rPr lang="ko-KR" altLang="en-US" sz="1050" kern="1200" dirty="0"/>
                        <a:t> 동일한 </a:t>
                      </a:r>
                      <a:r>
                        <a:rPr lang="ko-KR" altLang="en-US" sz="1050" kern="1200" dirty="0" err="1"/>
                        <a:t>청구항을</a:t>
                      </a:r>
                      <a:r>
                        <a:rPr lang="ko-KR" altLang="en-US" sz="1050" kern="1200" dirty="0"/>
                        <a:t> 중복하여 기재하는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1. A</a:t>
                      </a:r>
                      <a:r>
                        <a:rPr lang="ko-KR" altLang="en-US" sz="1050" kern="1200" dirty="0"/>
                        <a:t>와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를 포함하는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2. A</a:t>
                      </a:r>
                      <a:r>
                        <a:rPr lang="ko-KR" altLang="en-US" sz="1050" kern="1200" dirty="0"/>
                        <a:t>와 </a:t>
                      </a:r>
                      <a:r>
                        <a:rPr lang="en-US" altLang="ko-KR" sz="1050" kern="1200" dirty="0"/>
                        <a:t>B</a:t>
                      </a:r>
                      <a:r>
                        <a:rPr lang="ko-KR" altLang="en-US" sz="1050" kern="1200" dirty="0"/>
                        <a:t>를 포함하는 장치 → 삭제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412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/>
                        <a:t>인용되는 항의 번호를 </a:t>
                      </a:r>
                      <a:r>
                        <a:rPr lang="ko-KR" altLang="en-US" sz="1050" kern="1200" dirty="0" err="1"/>
                        <a:t>택일적으로</a:t>
                      </a:r>
                      <a:r>
                        <a:rPr lang="ko-KR" altLang="en-US" sz="1050" kern="1200" dirty="0"/>
                        <a:t> 기재하지 않은 경우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/>
                        <a:t>(a)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 </a:t>
                      </a:r>
                      <a:r>
                        <a:rPr lang="ko-KR" altLang="en-US" sz="1050" kern="1200" dirty="0"/>
                        <a:t>및 </a:t>
                      </a:r>
                      <a:r>
                        <a:rPr lang="en-US" altLang="ko-KR" sz="1050" kern="1200" dirty="0"/>
                        <a:t>2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 </a:t>
                      </a:r>
                      <a:r>
                        <a:rPr lang="ko-KR" altLang="en-US" sz="1050" kern="1200" dirty="0"/>
                        <a:t>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 </a:t>
                      </a:r>
                      <a:r>
                        <a:rPr lang="ko-KR" altLang="en-US" sz="1050" kern="1200" dirty="0"/>
                        <a:t>또는 </a:t>
                      </a:r>
                      <a:r>
                        <a:rPr lang="en-US" altLang="ko-KR" sz="1050" kern="1200" dirty="0"/>
                        <a:t>2</a:t>
                      </a:r>
                      <a:r>
                        <a:rPr lang="ko-KR" altLang="en-US" sz="1050" kern="1200" dirty="0"/>
                        <a:t>에 있어서</a:t>
                      </a:r>
                      <a:r>
                        <a:rPr lang="en-US" altLang="ko-KR" sz="1050" kern="1200" dirty="0"/>
                        <a:t>,</a:t>
                      </a:r>
                      <a:endParaRPr lang="ko-KR" altLang="en-US" sz="105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/>
                        <a:t>(b)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 </a:t>
                      </a:r>
                      <a:r>
                        <a:rPr lang="ko-KR" altLang="en-US" sz="1050" kern="1200" dirty="0"/>
                        <a:t>및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2 </a:t>
                      </a:r>
                      <a:r>
                        <a:rPr lang="ko-KR" altLang="en-US" sz="1050" kern="1200" dirty="0"/>
                        <a:t>또는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3 </a:t>
                      </a:r>
                      <a:r>
                        <a:rPr lang="ko-KR" altLang="en-US" sz="1050" kern="1200" dirty="0"/>
                        <a:t>중 적어도 어느 한 항에 있어서</a:t>
                      </a:r>
                      <a:r>
                        <a:rPr lang="en-US" altLang="ko-KR" sz="1050" kern="1200" dirty="0"/>
                        <a:t>, </a:t>
                      </a:r>
                      <a:r>
                        <a:rPr lang="ko-KR" altLang="en-US" sz="1050" kern="1200" dirty="0"/>
                        <a:t>→ </a:t>
                      </a:r>
                      <a:r>
                        <a:rPr lang="ko-KR" altLang="en-US" sz="1050" kern="1200" dirty="0" err="1"/>
                        <a:t>청구항</a:t>
                      </a:r>
                      <a:r>
                        <a:rPr lang="ko-KR" altLang="en-US" sz="1050" kern="1200" dirty="0"/>
                        <a:t> </a:t>
                      </a:r>
                      <a:r>
                        <a:rPr lang="en-US" altLang="ko-KR" sz="1050" kern="1200" dirty="0"/>
                        <a:t>1 </a:t>
                      </a:r>
                      <a:r>
                        <a:rPr lang="ko-KR" altLang="en-US" sz="1050" kern="1200" dirty="0"/>
                        <a:t>내지 </a:t>
                      </a:r>
                      <a:r>
                        <a:rPr lang="en-US" altLang="ko-KR" sz="1050" kern="1200" dirty="0"/>
                        <a:t>3 </a:t>
                      </a:r>
                      <a:r>
                        <a:rPr lang="ko-KR" altLang="en-US" sz="1050" kern="1200" dirty="0"/>
                        <a:t>중 어느 한 항에 있어서</a:t>
                      </a:r>
                      <a:r>
                        <a:rPr lang="en-US" altLang="ko-KR" sz="1050" kern="1200" dirty="0"/>
                        <a:t>,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472887"/>
              </p:ext>
            </p:extLst>
          </p:nvPr>
        </p:nvGraphicFramePr>
        <p:xfrm>
          <a:off x="347688" y="1647280"/>
          <a:ext cx="5595911" cy="3353346"/>
        </p:xfrm>
        <a:graphic>
          <a:graphicData uri="http://schemas.openxmlformats.org/drawingml/2006/table">
            <a:tbl>
              <a:tblPr/>
              <a:tblGrid>
                <a:gridCol w="709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1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예시 및 설명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80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국문법에 어긋난 오자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(a)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반도테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반도체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(b)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기판는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기판은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80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국문법상 해석이 분명한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탈자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(a) 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라인에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전달하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○신호 → 라인에 전달하는 신호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(b)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리니어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터 →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리니어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모터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102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참조부호의 불일치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명세서 중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2]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버퍼부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(115) vs 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도면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2]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버퍼부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(15)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102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반복된 기재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지식재산처 지식재산처는 → 지식재산처는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59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도면의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간단한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설명의 오류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도면번호오기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은 재생기기의 단면도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은 재생기기의 측면도 → 도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는 재생기기의 측면도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은 재생기기의 사시도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도면부호오기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3…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치차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3…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모터 →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3…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치차 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4…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모터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102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대표도의 오기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명세서로 파악해 본바 명백히 잘못 기재된 대표도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51817"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명세서상의 발명의 명칭이 출원서와 일치하지 아니한 경우</a:t>
                      </a: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명세서의 발명의 명칭을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기재된 발명의 명칭으로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직권보정할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수 있다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만약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기재된 발명의 명칭이 명세서의 발명의 명칭 기재요건을 충족하지 못하는 경우에는 출원서와 명세서 모두를 적절하다고 인정되는 발명의 명칭으로 </a:t>
                      </a:r>
                      <a:r>
                        <a:rPr lang="ko-KR" altLang="en-US" sz="105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직권보정할</a:t>
                      </a:r>
                      <a:r>
                        <a:rPr lang="ko-KR" altLang="en-US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수 있다</a:t>
                      </a:r>
                      <a:r>
                        <a:rPr lang="en-US" altLang="ko-KR" sz="105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168" marR="37168" marT="10276" marB="1027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575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직권보정 후 심사진행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>
                <a:solidFill>
                  <a:schemeClr val="tx2"/>
                </a:solidFill>
              </a:rPr>
              <a:t>특허결정이 취소된 것으로 보는 경우 심사관은 직권보정 전 명세서 또는 도면에 의하여 다시 심사를 진행한다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때 심사관이 직권보정 전에 이미 통지된 거절이유가 발견되더라도 다시 거절이유를 통지하여야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거절이유가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받아들이지 아니한 직권보정사항에 해당하고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이미 통지된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거절이유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라면</a:t>
            </a:r>
            <a:r>
              <a:rPr lang="ko-KR" altLang="en-US" sz="1400" dirty="0">
                <a:solidFill>
                  <a:schemeClr val="tx2"/>
                </a:solidFill>
              </a:rPr>
              <a:t> 바로 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거절결정할</a:t>
            </a:r>
            <a:r>
              <a:rPr lang="ko-KR" altLang="en-US" sz="1400" dirty="0">
                <a:solidFill>
                  <a:schemeClr val="tx2"/>
                </a:solidFill>
              </a:rPr>
              <a:t>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0" y="173337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987551" y="3404823"/>
            <a:ext cx="1101370" cy="57034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003596" y="2276381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772664" y="2063501"/>
            <a:ext cx="767463" cy="4257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1786684"/>
            <a:ext cx="646040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1999564"/>
            <a:ext cx="7428" cy="26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166933"/>
            <a:ext cx="693430" cy="21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2629841"/>
            <a:ext cx="746998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273373"/>
            <a:ext cx="1765" cy="3564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1786684"/>
            <a:ext cx="646040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1999564"/>
            <a:ext cx="7428" cy="26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2629841"/>
            <a:ext cx="746998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273373"/>
            <a:ext cx="1765" cy="3564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3189606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3173615" y="3551100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42④Ⅰ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2379813"/>
            <a:ext cx="614888" cy="916233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/>
          <p:cNvSpPr/>
          <p:nvPr/>
        </p:nvSpPr>
        <p:spPr>
          <a:xfrm>
            <a:off x="1549240" y="3510699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094512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335024" y="3480302"/>
            <a:ext cx="415969" cy="451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3134077"/>
            <a:ext cx="364983" cy="115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4420399" y="2057484"/>
            <a:ext cx="988415" cy="43177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특허결정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직권보정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6657339" y="2057486"/>
            <a:ext cx="1288649" cy="43177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>
                <a:solidFill>
                  <a:schemeClr val="bg1"/>
                </a:solidFill>
              </a:rPr>
              <a:t>특허결정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5620743" y="2731553"/>
            <a:ext cx="746998" cy="3675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의견서 제출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5992477" y="2290355"/>
            <a:ext cx="1765" cy="441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212421" y="2446324"/>
            <a:ext cx="1000384" cy="2128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cxnSpLocks/>
            <a:stCxn id="160" idx="0"/>
          </p:cNvCxnSpPr>
          <p:nvPr/>
        </p:nvCxnSpPr>
        <p:spPr>
          <a:xfrm flipV="1">
            <a:off x="8712613" y="2273373"/>
            <a:ext cx="0" cy="17295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202976" y="3715200"/>
            <a:ext cx="2393394" cy="92255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98480" y="2961201"/>
            <a:ext cx="2390209" cy="2206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198480" y="3203261"/>
            <a:ext cx="2390207" cy="2206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8198481" y="3454863"/>
            <a:ext cx="2397889" cy="2206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8480" y="2712196"/>
            <a:ext cx="2390209" cy="2206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0.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보정의 적법성</a:t>
            </a:r>
          </a:p>
        </p:txBody>
      </p:sp>
      <p:cxnSp>
        <p:nvCxnSpPr>
          <p:cNvPr id="8" name="꺾인 연결선 7"/>
          <p:cNvCxnSpPr>
            <a:cxnSpLocks/>
            <a:stCxn id="6" idx="3"/>
            <a:endCxn id="126" idx="2"/>
          </p:cNvCxnSpPr>
          <p:nvPr/>
        </p:nvCxnSpPr>
        <p:spPr>
          <a:xfrm flipV="1">
            <a:off x="4088921" y="2489259"/>
            <a:ext cx="825686" cy="120073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4088921" y="3643746"/>
            <a:ext cx="2735755" cy="535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특허출원서에 첨부된 명세서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도면 또는 </a:t>
            </a:r>
            <a:r>
              <a:rPr lang="ko-KR" altLang="en-US" sz="1200" dirty="0" err="1">
                <a:solidFill>
                  <a:schemeClr val="tx1"/>
                </a:solidFill>
              </a:rPr>
              <a:t>요약서에</a:t>
            </a:r>
            <a:r>
              <a:rPr lang="ko-KR" altLang="en-US" sz="1200" dirty="0">
                <a:solidFill>
                  <a:schemeClr val="tx1"/>
                </a:solidFill>
              </a:rPr>
              <a:t> 적힌 사항이 명백히 잘못된 경우 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3000129" y="3487918"/>
            <a:ext cx="364983" cy="451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268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C9C65E8-0046-4464-A042-74CD1AF4498B}"/>
              </a:ext>
            </a:extLst>
          </p:cNvPr>
          <p:cNvSpPr/>
          <p:nvPr/>
        </p:nvSpPr>
        <p:spPr>
          <a:xfrm>
            <a:off x="2987551" y="6026477"/>
            <a:ext cx="1101370" cy="57034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E5ADE14-4A99-4992-BB30-4AADED29EF51}"/>
              </a:ext>
            </a:extLst>
          </p:cNvPr>
          <p:cNvCxnSpPr/>
          <p:nvPr/>
        </p:nvCxnSpPr>
        <p:spPr>
          <a:xfrm>
            <a:off x="1003596" y="5266168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538DCC1-2A58-413A-B84A-E9C82BF9E720}"/>
              </a:ext>
            </a:extLst>
          </p:cNvPr>
          <p:cNvSpPr/>
          <p:nvPr/>
        </p:nvSpPr>
        <p:spPr>
          <a:xfrm>
            <a:off x="772664" y="5053288"/>
            <a:ext cx="767463" cy="4257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0E78999-FED3-485F-B6A4-03B2087B9C08}"/>
              </a:ext>
            </a:extLst>
          </p:cNvPr>
          <p:cNvSpPr/>
          <p:nvPr/>
        </p:nvSpPr>
        <p:spPr>
          <a:xfrm>
            <a:off x="2115870" y="4794401"/>
            <a:ext cx="646040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733300F-548F-406C-9896-D4E3D55D662F}"/>
              </a:ext>
            </a:extLst>
          </p:cNvPr>
          <p:cNvCxnSpPr>
            <a:stCxn id="81" idx="2"/>
          </p:cNvCxnSpPr>
          <p:nvPr/>
        </p:nvCxnSpPr>
        <p:spPr>
          <a:xfrm>
            <a:off x="2438890" y="5007281"/>
            <a:ext cx="7428" cy="26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4FACCF6-0C3C-4042-A5A7-A4CAC30B4B92}"/>
              </a:ext>
            </a:extLst>
          </p:cNvPr>
          <p:cNvSpPr/>
          <p:nvPr/>
        </p:nvSpPr>
        <p:spPr>
          <a:xfrm>
            <a:off x="2584877" y="5156720"/>
            <a:ext cx="693430" cy="21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90247EF-1AA7-4D3F-9D51-39905CAEF6C9}"/>
              </a:ext>
            </a:extLst>
          </p:cNvPr>
          <p:cNvSpPr/>
          <p:nvPr/>
        </p:nvSpPr>
        <p:spPr>
          <a:xfrm>
            <a:off x="3194081" y="5619628"/>
            <a:ext cx="746998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494654E8-B45B-4E04-998D-BDF147C0B0AA}"/>
              </a:ext>
            </a:extLst>
          </p:cNvPr>
          <p:cNvCxnSpPr>
            <a:stCxn id="84" idx="0"/>
          </p:cNvCxnSpPr>
          <p:nvPr/>
        </p:nvCxnSpPr>
        <p:spPr>
          <a:xfrm flipH="1" flipV="1">
            <a:off x="3565815" y="5263160"/>
            <a:ext cx="1765" cy="3564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F78DD1F-5FDD-4E26-ACDF-FEF5D1DC02D2}"/>
              </a:ext>
            </a:extLst>
          </p:cNvPr>
          <p:cNvSpPr/>
          <p:nvPr/>
        </p:nvSpPr>
        <p:spPr>
          <a:xfrm>
            <a:off x="3679986" y="4794401"/>
            <a:ext cx="646040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09E07BD4-07AD-413E-9BF8-EC23C5CCC074}"/>
              </a:ext>
            </a:extLst>
          </p:cNvPr>
          <p:cNvCxnSpPr>
            <a:stCxn id="86" idx="2"/>
          </p:cNvCxnSpPr>
          <p:nvPr/>
        </p:nvCxnSpPr>
        <p:spPr>
          <a:xfrm>
            <a:off x="4003006" y="5007281"/>
            <a:ext cx="7428" cy="26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E1FB8FC-024A-4454-9578-1611C1F2AB89}"/>
              </a:ext>
            </a:extLst>
          </p:cNvPr>
          <p:cNvSpPr/>
          <p:nvPr/>
        </p:nvSpPr>
        <p:spPr>
          <a:xfrm>
            <a:off x="1569706" y="5619628"/>
            <a:ext cx="746998" cy="212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29720673-DE7C-4A04-8B50-18AFDE607192}"/>
              </a:ext>
            </a:extLst>
          </p:cNvPr>
          <p:cNvCxnSpPr>
            <a:stCxn id="88" idx="0"/>
          </p:cNvCxnSpPr>
          <p:nvPr/>
        </p:nvCxnSpPr>
        <p:spPr>
          <a:xfrm flipH="1" flipV="1">
            <a:off x="1941440" y="5263160"/>
            <a:ext cx="1765" cy="3564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E433D7F-21A5-41C4-8DDF-B4D3836E19A5}"/>
              </a:ext>
            </a:extLst>
          </p:cNvPr>
          <p:cNvSpPr/>
          <p:nvPr/>
        </p:nvSpPr>
        <p:spPr>
          <a:xfrm>
            <a:off x="1549240" y="6179393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01" name="꺾인 연결선 115">
            <a:extLst>
              <a:ext uri="{FF2B5EF4-FFF2-40B4-BE49-F238E27FC236}">
                <a16:creationId xmlns:a16="http://schemas.microsoft.com/office/drawing/2014/main" id="{CDEA87AB-C000-495D-A205-AAD60D4113DE}"/>
              </a:ext>
            </a:extLst>
          </p:cNvPr>
          <p:cNvCxnSpPr>
            <a:stCxn id="90" idx="3"/>
            <a:endCxn id="83" idx="2"/>
          </p:cNvCxnSpPr>
          <p:nvPr/>
        </p:nvCxnSpPr>
        <p:spPr>
          <a:xfrm flipV="1">
            <a:off x="2316704" y="5369600"/>
            <a:ext cx="614888" cy="916233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966D017-F633-4BC9-B988-301B0B076336}"/>
              </a:ext>
            </a:extLst>
          </p:cNvPr>
          <p:cNvSpPr/>
          <p:nvPr/>
        </p:nvSpPr>
        <p:spPr>
          <a:xfrm>
            <a:off x="4420399" y="5047271"/>
            <a:ext cx="988415" cy="43177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특허결정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직권보정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6293C32-C86B-487D-873F-7D2E17085DA1}"/>
              </a:ext>
            </a:extLst>
          </p:cNvPr>
          <p:cNvSpPr/>
          <p:nvPr/>
        </p:nvSpPr>
        <p:spPr>
          <a:xfrm>
            <a:off x="6657339" y="5047273"/>
            <a:ext cx="1288649" cy="43177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>
                <a:solidFill>
                  <a:schemeClr val="bg1"/>
                </a:solidFill>
              </a:rPr>
              <a:t>특허결정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5EA5429-812C-4CB2-BBB7-0C84322753D6}"/>
              </a:ext>
            </a:extLst>
          </p:cNvPr>
          <p:cNvSpPr/>
          <p:nvPr/>
        </p:nvSpPr>
        <p:spPr>
          <a:xfrm>
            <a:off x="5620743" y="5721340"/>
            <a:ext cx="746998" cy="3675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의견서 제출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0B90E6-0E48-4620-9647-B3AB5E475E9C}"/>
              </a:ext>
            </a:extLst>
          </p:cNvPr>
          <p:cNvCxnSpPr>
            <a:stCxn id="110" idx="0"/>
          </p:cNvCxnSpPr>
          <p:nvPr/>
        </p:nvCxnSpPr>
        <p:spPr>
          <a:xfrm flipH="1" flipV="1">
            <a:off x="5992477" y="5280142"/>
            <a:ext cx="1765" cy="441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F487F9DC-1390-430E-972D-39AE89A0A38A}"/>
              </a:ext>
            </a:extLst>
          </p:cNvPr>
          <p:cNvSpPr/>
          <p:nvPr/>
        </p:nvSpPr>
        <p:spPr>
          <a:xfrm>
            <a:off x="8212421" y="5436111"/>
            <a:ext cx="1000384" cy="2128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92182DC6-B323-4D8C-A8B9-E9925DD540C5}"/>
              </a:ext>
            </a:extLst>
          </p:cNvPr>
          <p:cNvCxnSpPr>
            <a:cxnSpLocks/>
            <a:stCxn id="112" idx="0"/>
          </p:cNvCxnSpPr>
          <p:nvPr/>
        </p:nvCxnSpPr>
        <p:spPr>
          <a:xfrm flipV="1">
            <a:off x="8712613" y="5263160"/>
            <a:ext cx="0" cy="17295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D84E1DF-E536-4371-9DAE-E5535CF95D6E}"/>
              </a:ext>
            </a:extLst>
          </p:cNvPr>
          <p:cNvSpPr/>
          <p:nvPr/>
        </p:nvSpPr>
        <p:spPr>
          <a:xfrm>
            <a:off x="8202976" y="5757233"/>
            <a:ext cx="2393394" cy="3119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거절결정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cxnSp>
        <p:nvCxnSpPr>
          <p:cNvPr id="129" name="꺾인 연결선 7">
            <a:extLst>
              <a:ext uri="{FF2B5EF4-FFF2-40B4-BE49-F238E27FC236}">
                <a16:creationId xmlns:a16="http://schemas.microsoft.com/office/drawing/2014/main" id="{3E189C6E-C08B-4A6D-A97D-143497DC5EC4}"/>
              </a:ext>
            </a:extLst>
          </p:cNvPr>
          <p:cNvCxnSpPr>
            <a:cxnSpLocks/>
            <a:stCxn id="78" idx="3"/>
            <a:endCxn id="106" idx="2"/>
          </p:cNvCxnSpPr>
          <p:nvPr/>
        </p:nvCxnSpPr>
        <p:spPr>
          <a:xfrm flipV="1">
            <a:off x="4088921" y="5479046"/>
            <a:ext cx="825686" cy="8326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8758BC8-E895-4DE1-8D96-8E6D726E9B01}"/>
              </a:ext>
            </a:extLst>
          </p:cNvPr>
          <p:cNvSpPr/>
          <p:nvPr/>
        </p:nvSpPr>
        <p:spPr>
          <a:xfrm>
            <a:off x="4040936" y="6314296"/>
            <a:ext cx="2735755" cy="535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특허출원서에 첨부된 명세서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도면 또는 </a:t>
            </a:r>
            <a:r>
              <a:rPr lang="ko-KR" altLang="en-US" sz="1200" dirty="0" err="1">
                <a:solidFill>
                  <a:schemeClr val="tx1"/>
                </a:solidFill>
              </a:rPr>
              <a:t>요약서에</a:t>
            </a:r>
            <a:r>
              <a:rPr lang="ko-KR" altLang="en-US" sz="1200" dirty="0">
                <a:solidFill>
                  <a:schemeClr val="tx1"/>
                </a:solidFill>
              </a:rPr>
              <a:t> 적힌 사항이 명백히 잘못된 경우 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4677A46-62B5-405C-B075-D05FC8F5C3F6}"/>
              </a:ext>
            </a:extLst>
          </p:cNvPr>
          <p:cNvSpPr/>
          <p:nvPr/>
        </p:nvSpPr>
        <p:spPr>
          <a:xfrm>
            <a:off x="3183899" y="6179393"/>
            <a:ext cx="767464" cy="21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2413139-8A90-46E4-9EAA-36CF7C2E4A8F}"/>
              </a:ext>
            </a:extLst>
          </p:cNvPr>
          <p:cNvSpPr/>
          <p:nvPr/>
        </p:nvSpPr>
        <p:spPr>
          <a:xfrm>
            <a:off x="2974635" y="6097315"/>
            <a:ext cx="415969" cy="451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46D031E-699E-47B4-9BD5-C3610F05EFF3}"/>
              </a:ext>
            </a:extLst>
          </p:cNvPr>
          <p:cNvCxnSpPr/>
          <p:nvPr/>
        </p:nvCxnSpPr>
        <p:spPr>
          <a:xfrm>
            <a:off x="0" y="4732896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EF2A82-21C5-362E-5D34-1EFE424476AB}"/>
              </a:ext>
            </a:extLst>
          </p:cNvPr>
          <p:cNvSpPr/>
          <p:nvPr/>
        </p:nvSpPr>
        <p:spPr>
          <a:xfrm>
            <a:off x="1335024" y="2901437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</p:spTree>
    <p:extLst>
      <p:ext uri="{BB962C8B-B14F-4D97-AF65-F5344CB8AC3E}">
        <p14:creationId xmlns:p14="http://schemas.microsoft.com/office/powerpoint/2010/main" val="3974764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742916" y="5122740"/>
            <a:ext cx="1306862" cy="103877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003596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직권보정 후 심사진행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42④Ⅰ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471219" y="2723367"/>
            <a:ext cx="1000384" cy="5119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특허결정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2723368"/>
            <a:ext cx="1183172" cy="5119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특허결정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7389073" y="3522613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의견서 제출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2999482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8761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79316" y="4917948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74820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974820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8974821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4820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cxnSp>
        <p:nvCxnSpPr>
          <p:cNvPr id="8" name="꺾인 연결선 7"/>
          <p:cNvCxnSpPr>
            <a:cxnSpLocks/>
            <a:stCxn id="6" idx="3"/>
            <a:endCxn id="126" idx="2"/>
          </p:cNvCxnSpPr>
          <p:nvPr/>
        </p:nvCxnSpPr>
        <p:spPr>
          <a:xfrm flipV="1">
            <a:off x="6049778" y="3235325"/>
            <a:ext cx="921633" cy="2406804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6083503" y="5595458"/>
            <a:ext cx="2735755" cy="634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특허출원서에 첨부된 명세서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도면 또는 </a:t>
            </a:r>
            <a:r>
              <a:rPr lang="ko-KR" altLang="en-US" sz="1200" dirty="0" err="1">
                <a:solidFill>
                  <a:schemeClr val="tx1"/>
                </a:solidFill>
              </a:rPr>
              <a:t>요약서에</a:t>
            </a:r>
            <a:r>
              <a:rPr lang="ko-KR" altLang="en-US" sz="1200" dirty="0">
                <a:solidFill>
                  <a:schemeClr val="tx1"/>
                </a:solidFill>
              </a:rPr>
              <a:t> 적힌 사항이 명백히 잘못된 경우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심사관은 직권보정 전에 최후거절이유통지에 따른 의견서 제출기간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①</a:t>
            </a:r>
            <a:r>
              <a:rPr lang="en-US" altLang="ko-KR" sz="1400" dirty="0">
                <a:solidFill>
                  <a:schemeClr val="tx2"/>
                </a:solidFill>
              </a:rPr>
              <a:t>Ⅱ) </a:t>
            </a:r>
            <a:r>
              <a:rPr lang="ko-KR" altLang="en-US" sz="1400" dirty="0">
                <a:solidFill>
                  <a:schemeClr val="tx2"/>
                </a:solidFill>
              </a:rPr>
              <a:t>또는 재심사를 청구할 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①</a:t>
            </a:r>
            <a:r>
              <a:rPr lang="en-US" altLang="ko-KR" sz="1400" dirty="0">
                <a:solidFill>
                  <a:schemeClr val="tx2"/>
                </a:solidFill>
              </a:rPr>
              <a:t>Ⅲ) </a:t>
            </a:r>
            <a:r>
              <a:rPr lang="ko-KR" altLang="en-US" sz="1400" dirty="0">
                <a:solidFill>
                  <a:schemeClr val="tx2"/>
                </a:solidFill>
              </a:rPr>
              <a:t>한 보정이 신규사항추가금지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②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청구범위 보정범위제한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③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위반하거나 그 보정에 따라 새로운 거절이유가 발생했음에도 불구하고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보정각하결정을</a:t>
            </a:r>
            <a:r>
              <a:rPr lang="ko-KR" altLang="en-US" sz="1400" dirty="0">
                <a:solidFill>
                  <a:schemeClr val="tx2"/>
                </a:solidFill>
              </a:rPr>
              <a:t> 하지 아니하고 </a:t>
            </a:r>
            <a:r>
              <a:rPr lang="ko-KR" altLang="en-US" sz="1400" dirty="0" err="1">
                <a:solidFill>
                  <a:schemeClr val="tx2"/>
                </a:solidFill>
              </a:rPr>
              <a:t>특허결정한</a:t>
            </a:r>
            <a:r>
              <a:rPr lang="ko-KR" altLang="en-US" sz="1400" dirty="0">
                <a:solidFill>
                  <a:schemeClr val="tx2"/>
                </a:solidFill>
              </a:rPr>
              <a:t> 것을 특허결정을 취소한 후에 발견한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보정각하를</a:t>
            </a:r>
            <a:r>
              <a:rPr lang="ko-KR" altLang="en-US" sz="1400" dirty="0">
                <a:solidFill>
                  <a:schemeClr val="tx2"/>
                </a:solidFill>
              </a:rPr>
              <a:t> 하지 아니하고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최후거절이유통지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를</a:t>
            </a:r>
            <a:r>
              <a:rPr lang="ko-KR" altLang="en-US" sz="1400" dirty="0">
                <a:solidFill>
                  <a:schemeClr val="tx2"/>
                </a:solidFill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51</a:t>
            </a:r>
            <a:r>
              <a:rPr lang="ko-KR" altLang="en-US" sz="1400" dirty="0">
                <a:solidFill>
                  <a:schemeClr val="tx2"/>
                </a:solidFill>
              </a:rPr>
              <a:t>①</a:t>
            </a:r>
            <a:r>
              <a:rPr lang="en-US" altLang="ko-KR" sz="1400" dirty="0">
                <a:solidFill>
                  <a:schemeClr val="tx2"/>
                </a:solidFill>
              </a:rPr>
              <a:t>Ⅰ). </a:t>
            </a:r>
            <a:r>
              <a:rPr lang="ko-KR" altLang="en-US" sz="1400" dirty="0">
                <a:solidFill>
                  <a:schemeClr val="tx2"/>
                </a:solidFill>
              </a:rPr>
              <a:t>이는 보정이 인정됨을 전제로 특허결정을 받았다는 것을 신뢰한 출원인의 이익을 보호하기 위함이다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0" y="194292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269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19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직권 재심사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3)</a:t>
            </a:r>
            <a:r>
              <a:rPr lang="ko-KR" altLang="en-US" dirty="0"/>
              <a:t>의 개념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66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3(</a:t>
            </a:r>
            <a:r>
              <a:rPr lang="ko-KR" altLang="en-US" sz="1400" b="1" dirty="0">
                <a:solidFill>
                  <a:schemeClr val="accent1"/>
                </a:solidFill>
              </a:rPr>
              <a:t>특허결정 이후 직권 재심사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/>
              <a:t>① </a:t>
            </a:r>
            <a:r>
              <a:rPr lang="ko-KR" altLang="en-US" sz="1400" dirty="0"/>
              <a:t>심사관은 </a:t>
            </a:r>
            <a:r>
              <a:rPr lang="ko-KR" altLang="en-US" sz="1400" dirty="0" err="1"/>
              <a:t>특허결정된</a:t>
            </a:r>
            <a:r>
              <a:rPr lang="ko-KR" altLang="en-US" sz="1400" dirty="0"/>
              <a:t> 특허출원에 관하여 명백한 거절이유를 발견한 경우에는 직권으로 특허결정을 취소하고</a:t>
            </a:r>
            <a:r>
              <a:rPr lang="en-US" altLang="ko-KR" sz="1400" dirty="0"/>
              <a:t>, </a:t>
            </a:r>
            <a:r>
              <a:rPr lang="ko-KR" altLang="en-US" sz="1400" dirty="0"/>
              <a:t>그 특허출원을 다시 심사</a:t>
            </a:r>
            <a:r>
              <a:rPr lang="en-US" altLang="ko-KR" sz="1400" dirty="0"/>
              <a:t>(</a:t>
            </a:r>
            <a:r>
              <a:rPr lang="ko-KR" altLang="en-US" sz="1400" dirty="0"/>
              <a:t>이하 </a:t>
            </a:r>
            <a:r>
              <a:rPr lang="en-US" altLang="ko-KR" sz="1400" dirty="0"/>
              <a:t>"</a:t>
            </a:r>
            <a:r>
              <a:rPr lang="ko-KR" altLang="en-US" sz="1400" dirty="0"/>
              <a:t>직권 재심사</a:t>
            </a:r>
            <a:r>
              <a:rPr lang="en-US" altLang="ko-KR" sz="1400" dirty="0"/>
              <a:t>"</a:t>
            </a:r>
            <a:r>
              <a:rPr lang="ko-KR" altLang="en-US" sz="1400" dirty="0"/>
              <a:t>라 한다</a:t>
            </a:r>
            <a:r>
              <a:rPr lang="en-US" altLang="ko-KR" sz="1400" dirty="0"/>
              <a:t>)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다음 각 호의 어느 하나에 해당하는 경우에는 그러하지 아니하다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1. </a:t>
            </a:r>
            <a:r>
              <a:rPr lang="ko-KR" altLang="en-US" sz="1400" dirty="0"/>
              <a:t>거절이유가 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</a:t>
            </a:r>
            <a:r>
              <a:rPr lang="en-US" altLang="ko-KR" sz="1400" dirty="0"/>
              <a:t>, </a:t>
            </a:r>
            <a:r>
              <a:rPr lang="ko-KR" altLang="en-US" sz="1400" dirty="0"/>
              <a:t>같은 조 제</a:t>
            </a:r>
            <a:r>
              <a:rPr lang="en-US" altLang="ko-KR" sz="1400" dirty="0"/>
              <a:t>8</a:t>
            </a:r>
            <a:r>
              <a:rPr lang="ko-KR" altLang="en-US" sz="1400" dirty="0"/>
              <a:t>항 및 제</a:t>
            </a:r>
            <a:r>
              <a:rPr lang="en-US" altLang="ko-KR" sz="1400" dirty="0"/>
              <a:t>45</a:t>
            </a:r>
            <a:r>
              <a:rPr lang="ko-KR" altLang="en-US" sz="1400" dirty="0"/>
              <a:t>조에 따른 요건에 관한 것인 경우</a:t>
            </a:r>
          </a:p>
          <a:p>
            <a:pPr fontAlgn="base"/>
            <a:r>
              <a:rPr lang="en-US" altLang="ko-KR" sz="1400" dirty="0"/>
              <a:t>2. </a:t>
            </a:r>
            <a:r>
              <a:rPr lang="ko-KR" altLang="en-US" sz="1400" dirty="0"/>
              <a:t>그 특허결정에 따라 특허권이 </a:t>
            </a:r>
            <a:r>
              <a:rPr lang="ko-KR" altLang="en-US" sz="1400" dirty="0" err="1"/>
              <a:t>설정등록된</a:t>
            </a:r>
            <a:r>
              <a:rPr lang="ko-KR" altLang="en-US" sz="1400" dirty="0"/>
              <a:t> 경우</a:t>
            </a:r>
          </a:p>
          <a:p>
            <a:pPr fontAlgn="base"/>
            <a:r>
              <a:rPr lang="en-US" altLang="ko-KR" sz="1400" dirty="0"/>
              <a:t>3. </a:t>
            </a:r>
            <a:r>
              <a:rPr lang="ko-KR" altLang="en-US" sz="1400" dirty="0"/>
              <a:t>그 특허출원이 취하되거나 포기된 경우</a:t>
            </a:r>
          </a:p>
          <a:p>
            <a:pPr fontAlgn="base"/>
            <a:r>
              <a:rPr lang="ko-KR" altLang="en-US" sz="1400" dirty="0"/>
              <a:t>②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따라 심사관이 직권 재심사를 하려면 특허결정을 취소한다는 사실을 </a:t>
            </a:r>
            <a:r>
              <a:rPr lang="ko-KR" altLang="en-US" sz="1400" dirty="0" err="1"/>
              <a:t>특허출원인에게</a:t>
            </a:r>
            <a:r>
              <a:rPr lang="ko-KR" altLang="en-US" sz="1400" dirty="0"/>
              <a:t> 통지하여야 한다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③ </a:t>
            </a:r>
            <a:r>
              <a:rPr lang="ko-KR" altLang="en-US" sz="1400" dirty="0" err="1"/>
              <a:t>특허출원인이</a:t>
            </a:r>
            <a:r>
              <a:rPr lang="ko-KR" altLang="en-US" sz="1400" dirty="0"/>
              <a:t> 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 따른 통지를 받기 전에 그 특허출원이 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 또는 제</a:t>
            </a:r>
            <a:r>
              <a:rPr lang="en-US" altLang="ko-KR" sz="1400" dirty="0"/>
              <a:t>3</a:t>
            </a:r>
            <a:r>
              <a:rPr lang="ko-KR" altLang="en-US" sz="1400" dirty="0"/>
              <a:t>호에 해당하게 된 경우에는 특허결정의 취소는 처음부터 없었던 것으로 본다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0" y="259583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1054692" y="4416865"/>
            <a:ext cx="1024195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565446" y="4164452"/>
            <a:ext cx="1025777" cy="504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2422822" y="4157321"/>
            <a:ext cx="1143000" cy="511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특허결정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착오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202061" y="4157321"/>
            <a:ext cx="1121260" cy="511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특허결정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681625" y="4956565"/>
            <a:ext cx="954827" cy="43578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정보제공</a:t>
            </a:r>
          </a:p>
        </p:txBody>
      </p:sp>
      <p:cxnSp>
        <p:nvCxnSpPr>
          <p:cNvPr id="55" name="직선 화살표 연결선 54"/>
          <p:cNvCxnSpPr>
            <a:stCxn id="54" idx="0"/>
          </p:cNvCxnSpPr>
          <p:nvPr/>
        </p:nvCxnSpPr>
        <p:spPr>
          <a:xfrm flipH="1" flipV="1">
            <a:off x="4159038" y="4433435"/>
            <a:ext cx="1" cy="5231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8057324" y="4157321"/>
            <a:ext cx="1121260" cy="511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통지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말풍선: 모서리가 둥근 사각형 56"/>
          <p:cNvSpPr/>
          <p:nvPr/>
        </p:nvSpPr>
        <p:spPr>
          <a:xfrm>
            <a:off x="4945961" y="4992170"/>
            <a:ext cx="4440978" cy="568019"/>
          </a:xfrm>
          <a:prstGeom prst="wedgeRoundRectCallout">
            <a:avLst>
              <a:gd name="adj1" fmla="val 10085"/>
              <a:gd name="adj2" fmla="val -142956"/>
              <a:gd name="adj3" fmla="val 16667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특허권이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설정등록되거나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 특허출원이 취하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포기된 경우에는 특허결정의 취소가 처음부터 없었던 것으로 간주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9842796" y="4157321"/>
            <a:ext cx="1121260" cy="51195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최초거절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이유통지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270</a:t>
            </a:r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E554D9D9-68B1-4FC0-968D-22E718405429}"/>
              </a:ext>
            </a:extLst>
          </p:cNvPr>
          <p:cNvSpPr/>
          <p:nvPr/>
        </p:nvSpPr>
        <p:spPr>
          <a:xfrm>
            <a:off x="4945961" y="3266409"/>
            <a:ext cx="3034255" cy="568019"/>
          </a:xfrm>
          <a:prstGeom prst="wedgeRoundRectCallout">
            <a:avLst>
              <a:gd name="adj1" fmla="val -4788"/>
              <a:gd name="adj2" fmla="val 10013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특허권이 </a:t>
            </a:r>
            <a:r>
              <a:rPr lang="ko-KR" altLang="en-US" sz="1400" dirty="0" err="1">
                <a:solidFill>
                  <a:schemeClr val="tx1"/>
                </a:solidFill>
              </a:rPr>
              <a:t>설정등록되거나</a:t>
            </a:r>
            <a:r>
              <a:rPr lang="ko-KR" altLang="en-US" sz="1400" dirty="0">
                <a:solidFill>
                  <a:schemeClr val="tx1"/>
                </a:solidFill>
              </a:rPr>
              <a:t> 특허출원이 취하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포기되지 않았음을 전제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3704C0-80DB-41BF-9B43-6FEF8C225238}"/>
              </a:ext>
            </a:extLst>
          </p:cNvPr>
          <p:cNvSpPr/>
          <p:nvPr/>
        </p:nvSpPr>
        <p:spPr>
          <a:xfrm>
            <a:off x="4577078" y="4157321"/>
            <a:ext cx="1296437" cy="511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명백한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거절이유 발견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35B99-54A8-47CF-8CA1-D140EAEE22D9}"/>
              </a:ext>
            </a:extLst>
          </p:cNvPr>
          <p:cNvSpPr txBox="1"/>
          <p:nvPr/>
        </p:nvSpPr>
        <p:spPr>
          <a:xfrm>
            <a:off x="7575549" y="5858494"/>
            <a:ext cx="42370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Reset</a:t>
            </a:r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63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51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 err="1"/>
              <a:t>호괄호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F4FBD0D-7378-40AB-B152-311BA9E75610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9694077" y="4433435"/>
            <a:ext cx="1" cy="142505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65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003596" y="3773844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66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직권 재심사 후 심사진행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3521431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3193208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3445621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3644071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4192943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3770278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3193208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3445621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3644071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4192943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3770278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4192943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3770278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856659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859430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5285284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896484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896484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623414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523738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566125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6212630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5180036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998384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5186619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3514300"/>
            <a:ext cx="807218" cy="511956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착오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189741" y="3514300"/>
            <a:ext cx="868534" cy="511956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7389073" y="4313544"/>
            <a:ext cx="746998" cy="4357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정보제공</a:t>
            </a: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3790413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3193208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3445621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0215" y="4172476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직권 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3770277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53678" y="5691789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83365" y="4782968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3365" y="5069979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8983366" y="5368305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365" y="4487721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심사관은 특허결정을 취소한 경우에는 다시 심사를 진행한다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심사관은 직권 재심사에 이르게 된 명백한 거절이유에 대해서는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</a:rPr>
              <a:t> 최초거절이유를 통지하여 기간을 정하여 의견서를 제출할 수 있는 기회를 주어야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47①Ⅱ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괄호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심사관이 특허결정을 취소한 경우에는 다시 최초거절이유통지를 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청구범위를 확장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변경할 수 있는 보정기회를 주고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47②). </a:t>
            </a:r>
            <a:r>
              <a:rPr lang="ko-KR" altLang="en-US" sz="1400" dirty="0">
                <a:solidFill>
                  <a:schemeClr val="tx2"/>
                </a:solidFill>
              </a:rPr>
              <a:t>심사관은 취소된 특허결정 전에 이미 통지한 거절이유로 특허거절결정을 하려는 경우에도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</a:rPr>
              <a:t> 최초거절이유를 통지하고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기간을 정하여 의견서를 제출할 수 있는 기회를 주어야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63①Ⅱ)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심사관이 특허출원에 관하여 명백한 거절이유가 있음에도 불구하고 특허결정을 한 후 이를 취소하여 다시 심사를 진행할 때 취소된 특허결정 전에 이미 통지한 거절이유를 이유로 곧바로 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거절결정하는</a:t>
            </a:r>
            <a:r>
              <a:rPr lang="ko-KR" altLang="en-US" sz="1400" dirty="0">
                <a:solidFill>
                  <a:schemeClr val="tx2"/>
                </a:solidFill>
              </a:rPr>
              <a:t> 것은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가혹하기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심사관은 취소된 특허결정 전 최후거절이유통지에 따른 의견서 제출기간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47①Ⅱ) </a:t>
            </a:r>
            <a:r>
              <a:rPr lang="ko-KR" altLang="en-US" sz="1400" dirty="0">
                <a:solidFill>
                  <a:schemeClr val="tx2"/>
                </a:solidFill>
              </a:rPr>
              <a:t>또는 재심사를 청구할 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47①Ⅲ) </a:t>
            </a:r>
            <a:r>
              <a:rPr lang="ko-KR" altLang="en-US" sz="1400" dirty="0">
                <a:solidFill>
                  <a:schemeClr val="tx2"/>
                </a:solidFill>
              </a:rPr>
              <a:t>한 보정이 신규사항추가금지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 </a:t>
            </a:r>
            <a:r>
              <a:rPr lang="ko-KR" altLang="en-US" sz="1400" dirty="0">
                <a:solidFill>
                  <a:schemeClr val="tx2"/>
                </a:solidFill>
              </a:rPr>
              <a:t>또는 청구범위 보정범위제한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47③)</a:t>
            </a:r>
            <a:r>
              <a:rPr lang="ko-KR" altLang="en-US" sz="1400" dirty="0">
                <a:solidFill>
                  <a:schemeClr val="tx2"/>
                </a:solidFill>
              </a:rPr>
              <a:t>을 위반하거나 그 보정에 따라 새로운 거절이유가 발생했음에도 불구하고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보정각하결정을</a:t>
            </a:r>
            <a:r>
              <a:rPr lang="ko-KR" altLang="en-US" sz="1400" dirty="0">
                <a:solidFill>
                  <a:schemeClr val="tx2"/>
                </a:solidFill>
              </a:rPr>
              <a:t> 하지 아니하고 </a:t>
            </a:r>
            <a:r>
              <a:rPr lang="ko-KR" altLang="en-US" sz="1400" dirty="0" err="1">
                <a:solidFill>
                  <a:schemeClr val="tx2"/>
                </a:solidFill>
              </a:rPr>
              <a:t>특허결정한</a:t>
            </a:r>
            <a:r>
              <a:rPr lang="ko-KR" altLang="en-US" sz="1400" dirty="0">
                <a:solidFill>
                  <a:schemeClr val="tx2"/>
                </a:solidFill>
              </a:rPr>
              <a:t> 것을 특허결정을 취소한 후에 직권 재심사단계에서 발견한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보정각하를</a:t>
            </a:r>
            <a:r>
              <a:rPr lang="ko-KR" altLang="en-US" sz="1400" dirty="0">
                <a:solidFill>
                  <a:schemeClr val="tx2"/>
                </a:solidFill>
              </a:rPr>
              <a:t> 하지 아니하고 최초거절이유통지를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51①Ⅱ</a:t>
            </a:r>
            <a:r>
              <a:rPr lang="en-US" altLang="ko-KR" sz="1400" dirty="0">
                <a:solidFill>
                  <a:schemeClr val="tx2"/>
                </a:solidFill>
              </a:rPr>
              <a:t>, 47①Ⅱ). </a:t>
            </a:r>
            <a:r>
              <a:rPr lang="ko-KR" altLang="en-US" sz="1400" dirty="0">
                <a:solidFill>
                  <a:schemeClr val="tx2"/>
                </a:solidFill>
              </a:rPr>
              <a:t>이는 보정이 인정됨을 전제로 특허결정을 받았다는 것을 신뢰한 출원인의 이익을 보호하기 위함이다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3" name="직선 연결선 52"/>
          <p:cNvCxnSpPr/>
          <p:nvPr/>
        </p:nvCxnSpPr>
        <p:spPr>
          <a:xfrm>
            <a:off x="0" y="300972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3923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양쪽 모서리가 둥근 사각형 26">
            <a:extLst>
              <a:ext uri="{FF2B5EF4-FFF2-40B4-BE49-F238E27FC236}">
                <a16:creationId xmlns:a16="http://schemas.microsoft.com/office/drawing/2014/main" id="{63290DFE-D068-4C05-A586-5A09C83427D8}"/>
              </a:ext>
            </a:extLst>
          </p:cNvPr>
          <p:cNvSpPr/>
          <p:nvPr/>
        </p:nvSpPr>
        <p:spPr>
          <a:xfrm flipV="1">
            <a:off x="9816670" y="4032325"/>
            <a:ext cx="1771332" cy="365993"/>
          </a:xfrm>
          <a:prstGeom prst="round2SameRect">
            <a:avLst>
              <a:gd name="adj1" fmla="val 16667"/>
              <a:gd name="adj2" fmla="val 50000"/>
            </a:avLst>
          </a:prstGeom>
          <a:pattFill prst="dkVert">
            <a:fgClr>
              <a:schemeClr val="accent4"/>
            </a:fgClr>
            <a:bgClr>
              <a:schemeClr val="bg1"/>
            </a:bgClr>
          </a:patt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A1D316B-5EB4-43EA-BD6D-434CF1F42D86}"/>
              </a:ext>
            </a:extLst>
          </p:cNvPr>
          <p:cNvSpPr txBox="1"/>
          <p:nvPr/>
        </p:nvSpPr>
        <p:spPr>
          <a:xfrm>
            <a:off x="10443121" y="3740247"/>
            <a:ext cx="14430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3</a:t>
            </a:r>
            <a:r>
              <a:rPr lang="ko-KR" altLang="en-US" sz="1100" dirty="0"/>
              <a:t>월</a:t>
            </a:r>
          </a:p>
        </p:txBody>
      </p:sp>
      <p:sp>
        <p:nvSpPr>
          <p:cNvPr id="85" name="양쪽 모서리가 둥근 사각형 26">
            <a:extLst>
              <a:ext uri="{FF2B5EF4-FFF2-40B4-BE49-F238E27FC236}">
                <a16:creationId xmlns:a16="http://schemas.microsoft.com/office/drawing/2014/main" id="{C2694D89-9A31-40EE-951B-BD4522477ACB}"/>
              </a:ext>
            </a:extLst>
          </p:cNvPr>
          <p:cNvSpPr/>
          <p:nvPr/>
        </p:nvSpPr>
        <p:spPr>
          <a:xfrm flipV="1">
            <a:off x="5718167" y="4041561"/>
            <a:ext cx="1567171" cy="365993"/>
          </a:xfrm>
          <a:prstGeom prst="round2SameRect">
            <a:avLst>
              <a:gd name="adj1" fmla="val 16667"/>
              <a:gd name="adj2" fmla="val 50000"/>
            </a:avLst>
          </a:prstGeom>
          <a:pattFill prst="dkVert">
            <a:fgClr>
              <a:schemeClr val="accent4"/>
            </a:fgClr>
            <a:bgClr>
              <a:schemeClr val="bg1"/>
            </a:bgClr>
          </a:patt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A3FBDC-D592-4DFD-98CA-D1F8869B1FC6}"/>
              </a:ext>
            </a:extLst>
          </p:cNvPr>
          <p:cNvSpPr txBox="1"/>
          <p:nvPr/>
        </p:nvSpPr>
        <p:spPr>
          <a:xfrm>
            <a:off x="5888461" y="3761480"/>
            <a:ext cx="14430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3</a:t>
            </a:r>
            <a:r>
              <a:rPr lang="ko-KR" altLang="en-US" sz="1100" dirty="0"/>
              <a:t>월</a:t>
            </a:r>
          </a:p>
        </p:txBody>
      </p:sp>
      <p:sp>
        <p:nvSpPr>
          <p:cNvPr id="65" name="양쪽 모서리가 둥근 사각형 26">
            <a:extLst>
              <a:ext uri="{FF2B5EF4-FFF2-40B4-BE49-F238E27FC236}">
                <a16:creationId xmlns:a16="http://schemas.microsoft.com/office/drawing/2014/main" id="{A0984D59-2FF9-477B-A33D-C21FDA143422}"/>
              </a:ext>
            </a:extLst>
          </p:cNvPr>
          <p:cNvSpPr/>
          <p:nvPr/>
        </p:nvSpPr>
        <p:spPr>
          <a:xfrm flipV="1">
            <a:off x="2606686" y="4023089"/>
            <a:ext cx="1706695" cy="365993"/>
          </a:xfrm>
          <a:prstGeom prst="round2SameRect">
            <a:avLst>
              <a:gd name="adj1" fmla="val 16667"/>
              <a:gd name="adj2" fmla="val 50000"/>
            </a:avLst>
          </a:prstGeom>
          <a:pattFill prst="dkVert">
            <a:fgClr>
              <a:schemeClr val="accent4"/>
            </a:fgClr>
            <a:bgClr>
              <a:schemeClr val="bg1"/>
            </a:bgClr>
          </a:patt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67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재심사의 청구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67</a:t>
            </a:r>
            <a:r>
              <a:rPr lang="ko-KR" altLang="en-US" dirty="0"/>
              <a:t>조의</a:t>
            </a:r>
            <a:r>
              <a:rPr lang="en-US" altLang="ko-KR" dirty="0"/>
              <a:t>2)</a:t>
            </a:r>
            <a:r>
              <a:rPr lang="ko-KR" altLang="en-US" dirty="0"/>
              <a:t>의 개념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67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재심사의 청구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그 특허출원에 관하여 </a:t>
            </a:r>
            <a:r>
              <a:rPr lang="ko-KR" altLang="en-US" sz="1400" dirty="0">
                <a:solidFill>
                  <a:srgbClr val="FF0000"/>
                </a:solidFill>
              </a:rPr>
              <a:t>특허결정의 등본을 </a:t>
            </a:r>
            <a:r>
              <a:rPr lang="ko-KR" altLang="en-US" sz="1400" dirty="0" err="1">
                <a:solidFill>
                  <a:srgbClr val="FF0000"/>
                </a:solidFill>
              </a:rPr>
              <a:t>송달받은</a:t>
            </a:r>
            <a:r>
              <a:rPr lang="ko-KR" altLang="en-US" sz="1400" dirty="0">
                <a:solidFill>
                  <a:srgbClr val="FF0000"/>
                </a:solidFill>
              </a:rPr>
              <a:t> 날부터 제</a:t>
            </a:r>
            <a:r>
              <a:rPr lang="en-US" altLang="ko-KR" sz="1400" dirty="0">
                <a:solidFill>
                  <a:srgbClr val="FF0000"/>
                </a:solidFill>
              </a:rPr>
              <a:t>79</a:t>
            </a:r>
            <a:r>
              <a:rPr lang="ko-KR" altLang="en-US" sz="1400" dirty="0">
                <a:solidFill>
                  <a:srgbClr val="FF0000"/>
                </a:solidFill>
              </a:rPr>
              <a:t>조에 따른 설정등록을 받기 전까지의 기간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특허거절결정등본을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에 따른 기간이 연장된 경우 그 연장된 기간을 말한다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이내에 그 특허출원의 명세서 또는 도면을 보정하여 해당 특허출원에 관한 재심사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재심사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1. </a:t>
            </a:r>
            <a:r>
              <a:rPr lang="ko-KR" altLang="en-US" sz="1400" dirty="0">
                <a:solidFill>
                  <a:schemeClr val="tx2"/>
                </a:solidFill>
              </a:rPr>
              <a:t>재심사를 청구할 때에 이미 재심사에 따른 특허여부의 결정이 있는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 </a:t>
            </a:r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에 따른 심판청구가 있는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특허거절결정이</a:t>
            </a:r>
            <a:r>
              <a:rPr lang="ko-KR" altLang="en-US" sz="1400" dirty="0">
                <a:solidFill>
                  <a:schemeClr val="tx2"/>
                </a:solidFill>
              </a:rPr>
              <a:t> 취소된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3.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분리출원인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재심사의 청구와 함께 의견서를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재심사가 청구된 경우 그 특허출원에 대하여 종전에 이루어진 특허결정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특허거절결정은</a:t>
            </a:r>
            <a:r>
              <a:rPr lang="ko-KR" altLang="en-US" sz="1400" dirty="0">
                <a:solidFill>
                  <a:schemeClr val="tx2"/>
                </a:solidFill>
              </a:rPr>
              <a:t> 취소된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재심사의 청구절차가 제</a:t>
            </a:r>
            <a:r>
              <a:rPr lang="en-US" altLang="ko-KR" sz="1400" dirty="0">
                <a:solidFill>
                  <a:schemeClr val="tx2"/>
                </a:solidFill>
              </a:rPr>
              <a:t>16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무효로 된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재심사의 청구는 취하할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322531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272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15A376A-4FC5-42F8-B337-6E4D1E7DC6C3}"/>
              </a:ext>
            </a:extLst>
          </p:cNvPr>
          <p:cNvCxnSpPr>
            <a:cxnSpLocks/>
          </p:cNvCxnSpPr>
          <p:nvPr/>
        </p:nvCxnSpPr>
        <p:spPr>
          <a:xfrm>
            <a:off x="79211" y="4396586"/>
            <a:ext cx="1193498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>
            <a:extLst>
              <a:ext uri="{FF2B5EF4-FFF2-40B4-BE49-F238E27FC236}">
                <a16:creationId xmlns:a16="http://schemas.microsoft.com/office/drawing/2014/main" id="{7BBC2DC0-DA98-46D4-98A3-A056DD224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542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일반심사에 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dirty="0">
                <a:latin typeface="+mn-ea"/>
              </a:rPr>
              <a:t>따른 거절결정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등본송달</a:t>
            </a: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DAAF62-EF27-433A-BA83-F73B22454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688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재심사청구</a:t>
            </a: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96D8BEF0-BD38-48B6-8B55-3585AD22F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03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특허출원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ECD43E6F-046F-4781-BFBA-4BF10C080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023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재심사에 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따른 거절결정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등본송달</a:t>
            </a:r>
          </a:p>
        </p:txBody>
      </p:sp>
      <p:sp>
        <p:nvSpPr>
          <p:cNvPr id="52" name="Rectangle 14">
            <a:extLst>
              <a:ext uri="{FF2B5EF4-FFF2-40B4-BE49-F238E27FC236}">
                <a16:creationId xmlns:a16="http://schemas.microsoft.com/office/drawing/2014/main" id="{F31BA700-1648-45DF-8695-E9D351473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820" y="3343076"/>
            <a:ext cx="1373092" cy="4053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일반심사에 따른 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거절결정 취소</a:t>
            </a: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EADAE128-6EFC-4E43-B1E5-A645F9CFC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915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 err="1">
                <a:latin typeface="+mn-ea"/>
              </a:rPr>
              <a:t>인용심결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6BB7B6-3391-420F-8D1E-677C680543DE}"/>
              </a:ext>
            </a:extLst>
          </p:cNvPr>
          <p:cNvSpPr txBox="1"/>
          <p:nvPr/>
        </p:nvSpPr>
        <p:spPr>
          <a:xfrm>
            <a:off x="2916504" y="3761480"/>
            <a:ext cx="14430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월</a:t>
            </a:r>
          </a:p>
        </p:txBody>
      </p:sp>
      <p:sp>
        <p:nvSpPr>
          <p:cNvPr id="63" name="Rectangle 14">
            <a:extLst>
              <a:ext uri="{FF2B5EF4-FFF2-40B4-BE49-F238E27FC236}">
                <a16:creationId xmlns:a16="http://schemas.microsoft.com/office/drawing/2014/main" id="{6EDC884A-76FC-4D80-8BAD-BC7306631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476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거절결정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불복심판청구</a:t>
            </a:r>
          </a:p>
        </p:txBody>
      </p:sp>
      <p:sp>
        <p:nvSpPr>
          <p:cNvPr id="71" name="Rectangle 14">
            <a:extLst>
              <a:ext uri="{FF2B5EF4-FFF2-40B4-BE49-F238E27FC236}">
                <a16:creationId xmlns:a16="http://schemas.microsoft.com/office/drawing/2014/main" id="{4631436B-D0B3-460C-B266-75426C3D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087" y="3485585"/>
            <a:ext cx="1373092" cy="4053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재심사에 따른 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거절결정 </a:t>
            </a:r>
            <a:r>
              <a:rPr lang="ko-KR" altLang="en-US" sz="1100" b="0" dirty="0" err="1">
                <a:latin typeface="+mn-ea"/>
              </a:rPr>
              <a:t>취소환송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6D07366-3C05-45D7-B529-4A3C4ECD95A7}"/>
              </a:ext>
            </a:extLst>
          </p:cNvPr>
          <p:cNvCxnSpPr>
            <a:cxnSpLocks/>
            <a:stCxn id="71" idx="2"/>
            <a:endCxn id="64" idx="0"/>
          </p:cNvCxnSpPr>
          <p:nvPr/>
        </p:nvCxnSpPr>
        <p:spPr>
          <a:xfrm>
            <a:off x="8102633" y="3890955"/>
            <a:ext cx="3854" cy="25971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14">
            <a:extLst>
              <a:ext uri="{FF2B5EF4-FFF2-40B4-BE49-F238E27FC236}">
                <a16:creationId xmlns:a16="http://schemas.microsoft.com/office/drawing/2014/main" id="{AC8F878F-17BC-403B-9BBD-A444F2C0C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526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일반심사에 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dirty="0">
                <a:latin typeface="+mn-ea"/>
              </a:rPr>
              <a:t>따른 거절결정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등본송달</a:t>
            </a:r>
          </a:p>
        </p:txBody>
      </p:sp>
      <p:sp>
        <p:nvSpPr>
          <p:cNvPr id="75" name="Rectangle 14">
            <a:extLst>
              <a:ext uri="{FF2B5EF4-FFF2-40B4-BE49-F238E27FC236}">
                <a16:creationId xmlns:a16="http://schemas.microsoft.com/office/drawing/2014/main" id="{39D13E24-5A64-49D5-8B3C-3FA2DC08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5796" y="415067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재심사청구</a:t>
            </a:r>
          </a:p>
        </p:txBody>
      </p:sp>
      <p:sp>
        <p:nvSpPr>
          <p:cNvPr id="79" name="Rectangle 14">
            <a:extLst>
              <a:ext uri="{FF2B5EF4-FFF2-40B4-BE49-F238E27FC236}">
                <a16:creationId xmlns:a16="http://schemas.microsoft.com/office/drawing/2014/main" id="{6514EF26-8040-467B-88F1-548DCC1A7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688" y="481606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 algn="ctr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>
                <a:latin typeface="+mn-ea"/>
              </a:rPr>
              <a:t>거절결정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불복심판청구</a:t>
            </a:r>
            <a:endParaRPr lang="en-US" altLang="ko-KR" sz="1100" b="0" dirty="0">
              <a:latin typeface="+mn-ea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EA5E6157-FF86-498B-836C-32DEA9951BFB}"/>
              </a:ext>
            </a:extLst>
          </p:cNvPr>
          <p:cNvCxnSpPr>
            <a:cxnSpLocks/>
            <a:stCxn id="42" idx="3"/>
            <a:endCxn id="79" idx="1"/>
          </p:cNvCxnSpPr>
          <p:nvPr/>
        </p:nvCxnSpPr>
        <p:spPr>
          <a:xfrm>
            <a:off x="2606686" y="4396587"/>
            <a:ext cx="526002" cy="6653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14">
            <a:extLst>
              <a:ext uri="{FF2B5EF4-FFF2-40B4-BE49-F238E27FC236}">
                <a16:creationId xmlns:a16="http://schemas.microsoft.com/office/drawing/2014/main" id="{1410FBC9-54AB-4E5A-AB46-B0ACCB60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4165" y="3343076"/>
            <a:ext cx="1373092" cy="4053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일반심사에 따른 </a:t>
            </a:r>
            <a:endParaRPr lang="en-US" altLang="ko-KR" sz="1100" b="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거절결정 취소</a:t>
            </a: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82383A0C-1481-423A-B8D8-3464F2B6638E}"/>
              </a:ext>
            </a:extLst>
          </p:cNvPr>
          <p:cNvCxnSpPr>
            <a:cxnSpLocks/>
            <a:stCxn id="52" idx="2"/>
            <a:endCxn id="43" idx="0"/>
          </p:cNvCxnSpPr>
          <p:nvPr/>
        </p:nvCxnSpPr>
        <p:spPr>
          <a:xfrm rot="5400000">
            <a:off x="4154201" y="3219505"/>
            <a:ext cx="402224" cy="1460106"/>
          </a:xfrm>
          <a:prstGeom prst="bentConnector3">
            <a:avLst>
              <a:gd name="adj1" fmla="val 2703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6E5D7804-7850-413A-9FD4-8441F18497B9}"/>
              </a:ext>
            </a:extLst>
          </p:cNvPr>
          <p:cNvCxnSpPr>
            <a:cxnSpLocks/>
            <a:stCxn id="84" idx="2"/>
            <a:endCxn id="75" idx="0"/>
          </p:cNvCxnSpPr>
          <p:nvPr/>
        </p:nvCxnSpPr>
        <p:spPr>
          <a:xfrm rot="16200000" flipH="1">
            <a:off x="10308427" y="3540729"/>
            <a:ext cx="402224" cy="8176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14">
            <a:extLst>
              <a:ext uri="{FF2B5EF4-FFF2-40B4-BE49-F238E27FC236}">
                <a16:creationId xmlns:a16="http://schemas.microsoft.com/office/drawing/2014/main" id="{67C3AB65-AE25-4705-8DF3-55EAB1DC7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542" y="5701960"/>
            <a:ext cx="985144" cy="5544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일반심사에 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dirty="0">
                <a:latin typeface="+mn-ea"/>
              </a:rPr>
              <a:t>따른 특허결정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등본송달</a:t>
            </a:r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1D1A6F40-2236-4570-ACB8-22BE4FC35591}"/>
              </a:ext>
            </a:extLst>
          </p:cNvPr>
          <p:cNvCxnSpPr>
            <a:cxnSpLocks/>
            <a:stCxn id="44" idx="3"/>
            <a:endCxn id="97" idx="1"/>
          </p:cNvCxnSpPr>
          <p:nvPr/>
        </p:nvCxnSpPr>
        <p:spPr>
          <a:xfrm>
            <a:off x="1287547" y="4396587"/>
            <a:ext cx="333995" cy="1582580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4">
            <a:extLst>
              <a:ext uri="{FF2B5EF4-FFF2-40B4-BE49-F238E27FC236}">
                <a16:creationId xmlns:a16="http://schemas.microsoft.com/office/drawing/2014/main" id="{C5A08545-5F1B-48A5-AEDA-62A061BE3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688" y="573325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설정등록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A35D9F73-68C2-4607-B47D-1C4D1B197CFA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2606686" y="5979167"/>
            <a:ext cx="526002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>
            <a:extLst>
              <a:ext uri="{FF2B5EF4-FFF2-40B4-BE49-F238E27FC236}">
                <a16:creationId xmlns:a16="http://schemas.microsoft.com/office/drawing/2014/main" id="{9ACC316D-6FC8-4E2A-9F2F-A7646BA4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023" y="5701960"/>
            <a:ext cx="985144" cy="5544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재심사에 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dirty="0">
                <a:latin typeface="+mn-ea"/>
              </a:rPr>
              <a:t>따른 특허결정등본송달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106" name="Rectangle 14">
            <a:extLst>
              <a:ext uri="{FF2B5EF4-FFF2-40B4-BE49-F238E27FC236}">
                <a16:creationId xmlns:a16="http://schemas.microsoft.com/office/drawing/2014/main" id="{159E32C4-2D01-4E25-A457-78C2333C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69" y="573325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설정등록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748D5CD3-C1A1-461F-B234-56AC30859FFC}"/>
              </a:ext>
            </a:extLst>
          </p:cNvPr>
          <p:cNvCxnSpPr>
            <a:cxnSpLocks/>
            <a:stCxn id="105" idx="3"/>
            <a:endCxn id="106" idx="1"/>
          </p:cNvCxnSpPr>
          <p:nvPr/>
        </p:nvCxnSpPr>
        <p:spPr>
          <a:xfrm>
            <a:off x="5718167" y="5979167"/>
            <a:ext cx="526002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FE6BCD0E-C646-47BA-B0A6-1406C6B76256}"/>
              </a:ext>
            </a:extLst>
          </p:cNvPr>
          <p:cNvCxnSpPr>
            <a:cxnSpLocks/>
            <a:stCxn id="43" idx="3"/>
            <a:endCxn id="105" idx="1"/>
          </p:cNvCxnSpPr>
          <p:nvPr/>
        </p:nvCxnSpPr>
        <p:spPr>
          <a:xfrm>
            <a:off x="4117832" y="4396587"/>
            <a:ext cx="615191" cy="1582580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4">
            <a:extLst>
              <a:ext uri="{FF2B5EF4-FFF2-40B4-BE49-F238E27FC236}">
                <a16:creationId xmlns:a16="http://schemas.microsoft.com/office/drawing/2014/main" id="{42ED3451-D3E4-42BA-A505-F11472942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915" y="573325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b="0" dirty="0" err="1">
                <a:latin typeface="+mn-ea"/>
              </a:rPr>
              <a:t>기각심결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112" name="Rectangle 14">
            <a:extLst>
              <a:ext uri="{FF2B5EF4-FFF2-40B4-BE49-F238E27FC236}">
                <a16:creationId xmlns:a16="http://schemas.microsoft.com/office/drawing/2014/main" id="{1269135F-52FB-4BC6-A6A1-04671E753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526" y="5733250"/>
            <a:ext cx="985144" cy="491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 algn="ctr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100" dirty="0">
                <a:latin typeface="+mn-ea"/>
              </a:rPr>
              <a:t>분리출원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FA98AFED-8D21-4C09-9D81-9B30C33C7EC2}"/>
              </a:ext>
            </a:extLst>
          </p:cNvPr>
          <p:cNvCxnSpPr>
            <a:cxnSpLocks/>
            <a:stCxn id="63" idx="3"/>
            <a:endCxn id="111" idx="1"/>
          </p:cNvCxnSpPr>
          <p:nvPr/>
        </p:nvCxnSpPr>
        <p:spPr>
          <a:xfrm>
            <a:off x="7103620" y="4396587"/>
            <a:ext cx="510295" cy="1582580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C3F9ED84-F5C9-400C-9118-28C68C22FA21}"/>
              </a:ext>
            </a:extLst>
          </p:cNvPr>
          <p:cNvCxnSpPr>
            <a:cxnSpLocks/>
            <a:stCxn id="111" idx="3"/>
            <a:endCxn id="112" idx="1"/>
          </p:cNvCxnSpPr>
          <p:nvPr/>
        </p:nvCxnSpPr>
        <p:spPr>
          <a:xfrm>
            <a:off x="8599059" y="5979167"/>
            <a:ext cx="232467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67EEB12-950F-405E-8C43-78D624692535}"/>
              </a:ext>
            </a:extLst>
          </p:cNvPr>
          <p:cNvSpPr/>
          <p:nvPr/>
        </p:nvSpPr>
        <p:spPr>
          <a:xfrm>
            <a:off x="2391014" y="3351166"/>
            <a:ext cx="568086" cy="231467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F8C94F05-F5D6-44B9-A37E-72D76E063CB2}"/>
              </a:ext>
            </a:extLst>
          </p:cNvPr>
          <p:cNvCxnSpPr>
            <a:cxnSpLocks/>
            <a:stCxn id="122" idx="3"/>
          </p:cNvCxnSpPr>
          <p:nvPr/>
        </p:nvCxnSpPr>
        <p:spPr>
          <a:xfrm>
            <a:off x="2959100" y="3466900"/>
            <a:ext cx="173588" cy="33192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89E7EB3-EB55-48BF-9F04-AF539997B2F7}"/>
              </a:ext>
            </a:extLst>
          </p:cNvPr>
          <p:cNvSpPr/>
          <p:nvPr/>
        </p:nvSpPr>
        <p:spPr>
          <a:xfrm>
            <a:off x="2517497" y="5407284"/>
            <a:ext cx="615191" cy="23146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불가능</a:t>
            </a:r>
            <a:endParaRPr lang="ko-KR" altLang="en-US" sz="1000" dirty="0"/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119C45DF-CFDA-4D08-8722-F685BD09D37E}"/>
              </a:ext>
            </a:extLst>
          </p:cNvPr>
          <p:cNvCxnSpPr>
            <a:cxnSpLocks/>
            <a:stCxn id="127" idx="3"/>
            <a:endCxn id="79" idx="2"/>
          </p:cNvCxnSpPr>
          <p:nvPr/>
        </p:nvCxnSpPr>
        <p:spPr>
          <a:xfrm flipV="1">
            <a:off x="3132688" y="5307894"/>
            <a:ext cx="492572" cy="21512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B4F7E28-6267-4A74-9BE6-CA629DB6462E}"/>
              </a:ext>
            </a:extLst>
          </p:cNvPr>
          <p:cNvSpPr/>
          <p:nvPr/>
        </p:nvSpPr>
        <p:spPr>
          <a:xfrm>
            <a:off x="2424593" y="6366941"/>
            <a:ext cx="568086" cy="231467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</a:t>
            </a:r>
          </a:p>
        </p:txBody>
      </p:sp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01487366-678E-42A2-8EF1-8877EB87565B}"/>
              </a:ext>
            </a:extLst>
          </p:cNvPr>
          <p:cNvCxnSpPr>
            <a:cxnSpLocks/>
            <a:stCxn id="132" idx="0"/>
          </p:cNvCxnSpPr>
          <p:nvPr/>
        </p:nvCxnSpPr>
        <p:spPr>
          <a:xfrm rot="5400000" flipH="1" flipV="1">
            <a:off x="2639424" y="6089859"/>
            <a:ext cx="346295" cy="20787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4C20CBC4-BD5C-4035-A82E-BED4AD10E5F6}"/>
              </a:ext>
            </a:extLst>
          </p:cNvPr>
          <p:cNvSpPr/>
          <p:nvPr/>
        </p:nvSpPr>
        <p:spPr>
          <a:xfrm>
            <a:off x="5967431" y="3310967"/>
            <a:ext cx="615191" cy="23146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불가능</a:t>
            </a:r>
            <a:endParaRPr lang="ko-KR" altLang="en-US" sz="1000" dirty="0"/>
          </a:p>
        </p:txBody>
      </p: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308440C7-2C25-409D-8DAE-7F69F2C5E0D1}"/>
              </a:ext>
            </a:extLst>
          </p:cNvPr>
          <p:cNvCxnSpPr>
            <a:cxnSpLocks/>
            <a:stCxn id="147" idx="2"/>
            <a:endCxn id="86" idx="0"/>
          </p:cNvCxnSpPr>
          <p:nvPr/>
        </p:nvCxnSpPr>
        <p:spPr>
          <a:xfrm rot="16200000" flipH="1">
            <a:off x="6332987" y="3484473"/>
            <a:ext cx="219046" cy="33496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206F672-05FD-4C2E-BC21-D7D69C523B02}"/>
              </a:ext>
            </a:extLst>
          </p:cNvPr>
          <p:cNvSpPr/>
          <p:nvPr/>
        </p:nvSpPr>
        <p:spPr>
          <a:xfrm>
            <a:off x="5480809" y="5238614"/>
            <a:ext cx="615191" cy="23146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불가능</a:t>
            </a:r>
            <a:endParaRPr lang="ko-KR" altLang="en-US" sz="1000" dirty="0"/>
          </a:p>
        </p:txBody>
      </p:sp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0BB17981-BD8D-42A1-9DAF-B72DCB2EF433}"/>
              </a:ext>
            </a:extLst>
          </p:cNvPr>
          <p:cNvCxnSpPr>
            <a:cxnSpLocks/>
            <a:stCxn id="152" idx="2"/>
          </p:cNvCxnSpPr>
          <p:nvPr/>
        </p:nvCxnSpPr>
        <p:spPr>
          <a:xfrm rot="16200000" flipH="1">
            <a:off x="5710480" y="5548006"/>
            <a:ext cx="457058" cy="30120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C1D14467-56CA-41A5-BB78-284BCD55C941}"/>
              </a:ext>
            </a:extLst>
          </p:cNvPr>
          <p:cNvSpPr/>
          <p:nvPr/>
        </p:nvSpPr>
        <p:spPr>
          <a:xfrm>
            <a:off x="8291463" y="6367314"/>
            <a:ext cx="615191" cy="23146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불가능</a:t>
            </a:r>
            <a:endParaRPr lang="ko-KR" altLang="en-US" sz="1000" dirty="0"/>
          </a:p>
        </p:txBody>
      </p:sp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20AE424E-4DF5-4CBD-9BB9-9D59DC19A7BD}"/>
              </a:ext>
            </a:extLst>
          </p:cNvPr>
          <p:cNvCxnSpPr>
            <a:cxnSpLocks/>
            <a:stCxn id="156" idx="3"/>
            <a:endCxn id="112" idx="2"/>
          </p:cNvCxnSpPr>
          <p:nvPr/>
        </p:nvCxnSpPr>
        <p:spPr>
          <a:xfrm flipV="1">
            <a:off x="8906654" y="6225084"/>
            <a:ext cx="417444" cy="25796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EBBC57D-FB9B-47EE-9815-7AF1D82A9258}"/>
              </a:ext>
            </a:extLst>
          </p:cNvPr>
          <p:cNvSpPr/>
          <p:nvPr/>
        </p:nvSpPr>
        <p:spPr>
          <a:xfrm>
            <a:off x="11303959" y="3310976"/>
            <a:ext cx="568086" cy="231467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</a:t>
            </a:r>
          </a:p>
        </p:txBody>
      </p:sp>
      <p:cxnSp>
        <p:nvCxnSpPr>
          <p:cNvPr id="161" name="연결선: 꺾임 160">
            <a:extLst>
              <a:ext uri="{FF2B5EF4-FFF2-40B4-BE49-F238E27FC236}">
                <a16:creationId xmlns:a16="http://schemas.microsoft.com/office/drawing/2014/main" id="{D37EDD7B-44F4-47FF-83D8-5421DDBFF9DC}"/>
              </a:ext>
            </a:extLst>
          </p:cNvPr>
          <p:cNvCxnSpPr>
            <a:cxnSpLocks/>
            <a:stCxn id="160" idx="1"/>
            <a:endCxn id="88" idx="0"/>
          </p:cNvCxnSpPr>
          <p:nvPr/>
        </p:nvCxnSpPr>
        <p:spPr>
          <a:xfrm rot="10800000" flipV="1">
            <a:off x="11164655" y="3426709"/>
            <a:ext cx="139305" cy="31353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1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53FC84F-6FDC-4506-BFC6-718C4B0E768C}"/>
              </a:ext>
            </a:extLst>
          </p:cNvPr>
          <p:cNvCxnSpPr/>
          <p:nvPr/>
        </p:nvCxnSpPr>
        <p:spPr>
          <a:xfrm flipH="1">
            <a:off x="7138432" y="3557351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H="1">
            <a:off x="4383747" y="3557351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10886943" y="3382145"/>
            <a:ext cx="1" cy="3306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9749515" y="3382145"/>
            <a:ext cx="1" cy="3306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양쪽 모서리가 둥근 사각형 62"/>
          <p:cNvSpPr/>
          <p:nvPr/>
        </p:nvSpPr>
        <p:spPr>
          <a:xfrm>
            <a:off x="9749516" y="3507683"/>
            <a:ext cx="1905318" cy="396815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5917380" y="3507683"/>
            <a:ext cx="1975116" cy="396815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>
            <a:off x="3210146" y="3507683"/>
            <a:ext cx="1905318" cy="396815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67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거절결정등본송달일로부터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개월 이내 대응방안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65" y="27805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875" y="976902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특허출원에 관하여 특허결정의 등본을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날부터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79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조에 따른 설정등록을 받기 전까지의 기간 또는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특허거절결정등본을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따른 기간이 연장된 경우 그 연장된 기간을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이내에 그 특허출원의 명세서 또는 도면을 보정하여 해당 특허출원에 관한 재심사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“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재심사”라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를 청구할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1)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재심사를 청구할 때에 이미 재심사에 따른 특허여부의 결정이 있는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2)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따른 심판청구가 있는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취소된 경우는 제외한다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), 3)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특허출원이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분리출원인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경우 중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2①).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이미 재심사 청구를 하여 다시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경우에는 재심사 절차의 반복으로 인해 심사가 지연되는 것을 방지하기 위해 다시 재심사 청구를 할 수 없고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거절결정불복심판만 가능하다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물론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거절결정불복심판에서 재심사에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취소되고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심사국으로 환송된 이후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특허거절결정등본이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송달된 경우에는 재심사에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아니기 때문에 다시 재심사 청구를 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거절결정불복심판청구와 재심사청구는 선택적 사항으로서 출원인은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특허거절결정등본송달일로부터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연장된 경우에는 그 연장된 기간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이내 둘 중에 하나를 선택하여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특허거절결정에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대하여 다툴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337094" y="3505970"/>
            <a:ext cx="1067710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2755384" y="3334190"/>
            <a:ext cx="930837" cy="346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일반심사에 따른</a:t>
            </a:r>
            <a:endParaRPr lang="en-US" altLang="ko-KR" sz="1000" b="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918328" y="3334190"/>
            <a:ext cx="930837" cy="346986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재심사청구</a:t>
            </a:r>
            <a:endParaRPr lang="en-US" altLang="ko-KR" sz="1000" b="0" dirty="0">
              <a:latin typeface="+mn-ea"/>
            </a:endParaRPr>
          </a:p>
          <a:p>
            <a:pPr algn="ctr"/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보정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1578634" y="3334190"/>
            <a:ext cx="930837" cy="346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특허출원</a:t>
            </a: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5451961" y="3334190"/>
            <a:ext cx="930837" cy="346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재심사에 따른</a:t>
            </a:r>
            <a:endParaRPr lang="en-US" altLang="ko-KR" sz="1000" b="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8126499" y="3334190"/>
            <a:ext cx="930837" cy="346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 err="1">
                <a:latin typeface="+mn-ea"/>
              </a:rPr>
              <a:t>인용심결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6666601" y="3334190"/>
            <a:ext cx="930837" cy="346986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불복심판청구</a:t>
            </a: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9284098" y="3334190"/>
            <a:ext cx="930837" cy="346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일반심사에 따른</a:t>
            </a:r>
            <a:endParaRPr lang="en-US" altLang="ko-KR" sz="1000" b="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0421525" y="3334190"/>
            <a:ext cx="930837" cy="346986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n-ea"/>
              </a:rPr>
              <a:t>재심사청구</a:t>
            </a:r>
            <a:endParaRPr lang="en-US" altLang="ko-KR" sz="1000" b="0" dirty="0">
              <a:latin typeface="+mn-ea"/>
            </a:endParaRPr>
          </a:p>
          <a:p>
            <a:pPr algn="ctr"/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보정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62934" y="3930378"/>
            <a:ext cx="1444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등본송달일로부터 </a:t>
            </a:r>
            <a:r>
              <a:rPr lang="en-US" altLang="ko-KR" sz="1000" dirty="0"/>
              <a:t>3</a:t>
            </a:r>
            <a:r>
              <a:rPr lang="ko-KR" altLang="en-US" sz="1000" dirty="0"/>
              <a:t>개월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39966" y="3930378"/>
            <a:ext cx="1444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등본송달일로부터 </a:t>
            </a:r>
            <a:r>
              <a:rPr lang="en-US" altLang="ko-KR" sz="1000" dirty="0"/>
              <a:t>3</a:t>
            </a:r>
            <a:r>
              <a:rPr lang="ko-KR" altLang="en-US" sz="1000" dirty="0"/>
              <a:t>개월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02304" y="3930378"/>
            <a:ext cx="1444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등본송달일로부터 </a:t>
            </a:r>
            <a:r>
              <a:rPr lang="en-US" altLang="ko-KR" sz="1000" dirty="0"/>
              <a:t>3</a:t>
            </a:r>
            <a:r>
              <a:rPr lang="ko-KR" altLang="en-US" sz="1000" dirty="0"/>
              <a:t>개일</a:t>
            </a: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3652029" y="2871131"/>
            <a:ext cx="1463436" cy="3469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n-ea"/>
              </a:rPr>
              <a:t>일반심사에 따른</a:t>
            </a:r>
            <a:endParaRPr lang="en-US" altLang="ko-KR" sz="100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 취소</a:t>
            </a:r>
          </a:p>
        </p:txBody>
      </p:sp>
      <p:cxnSp>
        <p:nvCxnSpPr>
          <p:cNvPr id="13" name="직선 연결선 12"/>
          <p:cNvCxnSpPr>
            <a:stCxn id="43" idx="0"/>
            <a:endCxn id="68" idx="2"/>
          </p:cNvCxnSpPr>
          <p:nvPr/>
        </p:nvCxnSpPr>
        <p:spPr>
          <a:xfrm flipV="1">
            <a:off x="4383747" y="3218117"/>
            <a:ext cx="0" cy="1160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10155225" y="2871131"/>
            <a:ext cx="1463436" cy="3469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n-ea"/>
              </a:rPr>
              <a:t>일반심사에 따른</a:t>
            </a:r>
            <a:endParaRPr lang="en-US" altLang="ko-KR" sz="100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 취소</a:t>
            </a:r>
          </a:p>
        </p:txBody>
      </p:sp>
      <p:cxnSp>
        <p:nvCxnSpPr>
          <p:cNvPr id="71" name="직선 연결선 70"/>
          <p:cNvCxnSpPr>
            <a:cxnSpLocks/>
            <a:stCxn id="60" idx="0"/>
            <a:endCxn id="70" idx="2"/>
          </p:cNvCxnSpPr>
          <p:nvPr/>
        </p:nvCxnSpPr>
        <p:spPr>
          <a:xfrm flipH="1" flipV="1">
            <a:off x="10886943" y="3218117"/>
            <a:ext cx="1" cy="1160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7862016" y="2871131"/>
            <a:ext cx="1463436" cy="3469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n-ea"/>
              </a:rPr>
              <a:t>재심사에 따른</a:t>
            </a:r>
            <a:endParaRPr lang="en-US" altLang="ko-KR" sz="1000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거절결정 취소 및 환송</a:t>
            </a:r>
          </a:p>
        </p:txBody>
      </p:sp>
      <p:cxnSp>
        <p:nvCxnSpPr>
          <p:cNvPr id="76" name="직선 연결선 75"/>
          <p:cNvCxnSpPr>
            <a:cxnSpLocks/>
            <a:stCxn id="56" idx="0"/>
            <a:endCxn id="75" idx="2"/>
          </p:cNvCxnSpPr>
          <p:nvPr/>
        </p:nvCxnSpPr>
        <p:spPr>
          <a:xfrm flipV="1">
            <a:off x="8591918" y="3218117"/>
            <a:ext cx="1816" cy="1160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52" idx="2"/>
          </p:cNvCxnSpPr>
          <p:nvPr/>
        </p:nvCxnSpPr>
        <p:spPr>
          <a:xfrm flipH="1">
            <a:off x="2044052" y="3681176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H="1">
            <a:off x="3220802" y="3557351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H="1">
            <a:off x="5118614" y="3557351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 flipH="1">
            <a:off x="5917379" y="3557351"/>
            <a:ext cx="1" cy="31313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7892496" y="3382145"/>
            <a:ext cx="1" cy="3306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11654834" y="3382145"/>
            <a:ext cx="1" cy="3306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20" idx="6"/>
          </p:cNvCxnSpPr>
          <p:nvPr/>
        </p:nvCxnSpPr>
        <p:spPr>
          <a:xfrm flipV="1">
            <a:off x="1043790" y="4430479"/>
            <a:ext cx="1120571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flipV="1">
            <a:off x="914400" y="5123050"/>
            <a:ext cx="1120571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flipV="1">
            <a:off x="914400" y="5791602"/>
            <a:ext cx="1120571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V="1">
            <a:off x="914400" y="6473697"/>
            <a:ext cx="1120571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3210146" y="4430480"/>
            <a:ext cx="190531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9765099" y="4430480"/>
            <a:ext cx="190531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3210146" y="5123049"/>
            <a:ext cx="190531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5917380" y="5123049"/>
            <a:ext cx="1975116" cy="2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9749516" y="5123049"/>
            <a:ext cx="1905318" cy="2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3210146" y="5791602"/>
            <a:ext cx="1173602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5917379" y="5791602"/>
            <a:ext cx="197511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749515" y="5791602"/>
            <a:ext cx="1173602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2044053" y="6473688"/>
            <a:ext cx="3071411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353677" y="4104530"/>
            <a:ext cx="690113" cy="6518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재심사청구</a:t>
            </a:r>
          </a:p>
        </p:txBody>
      </p:sp>
      <p:sp>
        <p:nvSpPr>
          <p:cNvPr id="86" name="타원 85"/>
          <p:cNvSpPr/>
          <p:nvPr/>
        </p:nvSpPr>
        <p:spPr>
          <a:xfrm>
            <a:off x="353677" y="4797100"/>
            <a:ext cx="690113" cy="6518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심판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청구</a:t>
            </a:r>
          </a:p>
        </p:txBody>
      </p:sp>
      <p:sp>
        <p:nvSpPr>
          <p:cNvPr id="87" name="타원 86"/>
          <p:cNvSpPr/>
          <p:nvPr/>
        </p:nvSpPr>
        <p:spPr>
          <a:xfrm>
            <a:off x="353677" y="5469962"/>
            <a:ext cx="690113" cy="6518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분할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출원</a:t>
            </a:r>
          </a:p>
        </p:txBody>
      </p:sp>
      <p:sp>
        <p:nvSpPr>
          <p:cNvPr id="88" name="타원 87"/>
          <p:cNvSpPr/>
          <p:nvPr/>
        </p:nvSpPr>
        <p:spPr>
          <a:xfrm>
            <a:off x="353677" y="6147739"/>
            <a:ext cx="690113" cy="651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  <a:p>
            <a:pPr algn="ctr"/>
            <a:r>
              <a:rPr lang="ko-KR" altLang="en-US" sz="1200" dirty="0"/>
              <a:t>출원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273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918328" y="4289980"/>
            <a:ext cx="359382" cy="1019503"/>
          </a:xfrm>
          <a:prstGeom prst="round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택일</a:t>
            </a:r>
          </a:p>
        </p:txBody>
      </p:sp>
      <p:sp>
        <p:nvSpPr>
          <p:cNvPr id="57" name="모서리가 둥근 직사각형 56"/>
          <p:cNvSpPr/>
          <p:nvPr/>
        </p:nvSpPr>
        <p:spPr>
          <a:xfrm>
            <a:off x="10454464" y="4245980"/>
            <a:ext cx="359382" cy="1019503"/>
          </a:xfrm>
          <a:prstGeom prst="round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택일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C3633CC-1E81-4DBD-8F90-1AFFB0B25AC0}"/>
              </a:ext>
            </a:extLst>
          </p:cNvPr>
          <p:cNvCxnSpPr/>
          <p:nvPr/>
        </p:nvCxnSpPr>
        <p:spPr>
          <a:xfrm>
            <a:off x="2036544" y="5791602"/>
            <a:ext cx="1173602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BD9D35-FB92-42C8-BF24-FC841292EAF1}"/>
              </a:ext>
            </a:extLst>
          </p:cNvPr>
          <p:cNvSpPr txBox="1"/>
          <p:nvPr/>
        </p:nvSpPr>
        <p:spPr>
          <a:xfrm>
            <a:off x="2078840" y="5841985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보정기간내 가능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6F3C1-D249-43F7-8D7E-368B6979A7AB}"/>
              </a:ext>
            </a:extLst>
          </p:cNvPr>
          <p:cNvSpPr txBox="1"/>
          <p:nvPr/>
        </p:nvSpPr>
        <p:spPr>
          <a:xfrm>
            <a:off x="8859053" y="3917315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reset</a:t>
            </a:r>
            <a:endParaRPr lang="ko-KR" altLang="en-US" sz="14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DE567F1-088C-499C-A1DB-DD3B502D961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154847" y="3529225"/>
            <a:ext cx="4930" cy="38809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원형: 비어 있음 13">
            <a:extLst>
              <a:ext uri="{FF2B5EF4-FFF2-40B4-BE49-F238E27FC236}">
                <a16:creationId xmlns:a16="http://schemas.microsoft.com/office/drawing/2014/main" id="{80022739-2BAC-4E27-AB48-197D04D9D11E}"/>
              </a:ext>
            </a:extLst>
          </p:cNvPr>
          <p:cNvSpPr/>
          <p:nvPr/>
        </p:nvSpPr>
        <p:spPr>
          <a:xfrm>
            <a:off x="7228829" y="5567463"/>
            <a:ext cx="471387" cy="471387"/>
          </a:xfrm>
          <a:prstGeom prst="donut">
            <a:avLst>
              <a:gd name="adj" fmla="val 12304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곱하기 기호 14">
            <a:extLst>
              <a:ext uri="{FF2B5EF4-FFF2-40B4-BE49-F238E27FC236}">
                <a16:creationId xmlns:a16="http://schemas.microsoft.com/office/drawing/2014/main" id="{F925A189-C4BC-422F-B68D-AC2D1B4D5ABD}"/>
              </a:ext>
            </a:extLst>
          </p:cNvPr>
          <p:cNvSpPr/>
          <p:nvPr/>
        </p:nvSpPr>
        <p:spPr>
          <a:xfrm>
            <a:off x="4432635" y="5458735"/>
            <a:ext cx="661830" cy="727192"/>
          </a:xfrm>
          <a:prstGeom prst="mathMultiply">
            <a:avLst>
              <a:gd name="adj1" fmla="val 9466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곱하기 기호 65">
            <a:extLst>
              <a:ext uri="{FF2B5EF4-FFF2-40B4-BE49-F238E27FC236}">
                <a16:creationId xmlns:a16="http://schemas.microsoft.com/office/drawing/2014/main" id="{AD91B65C-07DC-47C0-85D9-2C68DF420211}"/>
              </a:ext>
            </a:extLst>
          </p:cNvPr>
          <p:cNvSpPr/>
          <p:nvPr/>
        </p:nvSpPr>
        <p:spPr>
          <a:xfrm>
            <a:off x="10980300" y="5458735"/>
            <a:ext cx="661830" cy="727192"/>
          </a:xfrm>
          <a:prstGeom prst="mathMultiply">
            <a:avLst>
              <a:gd name="adj1" fmla="val 9466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4">
            <a:extLst>
              <a:ext uri="{FF2B5EF4-FFF2-40B4-BE49-F238E27FC236}">
                <a16:creationId xmlns:a16="http://schemas.microsoft.com/office/drawing/2014/main" id="{45472A9A-B0AD-C234-3B81-6DFD163D59FF}"/>
              </a:ext>
            </a:extLst>
          </p:cNvPr>
          <p:cNvSpPr/>
          <p:nvPr/>
        </p:nvSpPr>
        <p:spPr>
          <a:xfrm>
            <a:off x="6156120" y="4975751"/>
            <a:ext cx="898687" cy="1019503"/>
          </a:xfrm>
          <a:prstGeom prst="round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</a:rPr>
              <a:t>동시진행중</a:t>
            </a:r>
            <a:endParaRPr lang="en-US" altLang="ko-KR" sz="105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</a:rPr>
              <a:t>협의제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altLang="ko-KR" sz="105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</a:rPr>
              <a:t>회피방안</a:t>
            </a:r>
          </a:p>
        </p:txBody>
      </p:sp>
    </p:spTree>
    <p:extLst>
      <p:ext uri="{BB962C8B-B14F-4D97-AF65-F5344CB8AC3E}">
        <p14:creationId xmlns:p14="http://schemas.microsoft.com/office/powerpoint/2010/main" val="2613556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심판청구와 재심사청구의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111" name="직선 연결선 110"/>
          <p:cNvCxnSpPr>
            <a:stCxn id="112" idx="2"/>
          </p:cNvCxnSpPr>
          <p:nvPr/>
        </p:nvCxnSpPr>
        <p:spPr>
          <a:xfrm>
            <a:off x="1524036" y="1442134"/>
            <a:ext cx="0" cy="504439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3"/>
          <p:cNvSpPr>
            <a:spLocks noChangeArrowheads="1"/>
          </p:cNvSpPr>
          <p:nvPr/>
        </p:nvSpPr>
        <p:spPr bwMode="auto">
          <a:xfrm>
            <a:off x="623394" y="1115109"/>
            <a:ext cx="1801284" cy="327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특허출원</a:t>
            </a: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623394" y="1846978"/>
            <a:ext cx="1801284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거절결정</a:t>
            </a:r>
          </a:p>
        </p:txBody>
      </p:sp>
      <p:sp>
        <p:nvSpPr>
          <p:cNvPr id="114" name="Rectangle 14"/>
          <p:cNvSpPr>
            <a:spLocks noChangeArrowheads="1"/>
          </p:cNvSpPr>
          <p:nvPr/>
        </p:nvSpPr>
        <p:spPr bwMode="auto">
          <a:xfrm>
            <a:off x="623394" y="3391594"/>
            <a:ext cx="1801284" cy="325438"/>
          </a:xfrm>
          <a:prstGeom prst="rect">
            <a:avLst/>
          </a:prstGeom>
          <a:solidFill>
            <a:schemeClr val="accent4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재심사청구</a:t>
            </a:r>
            <a:r>
              <a:rPr lang="en-US" altLang="ko-KR" sz="1200" b="0" dirty="0">
                <a:latin typeface="+mj-ea"/>
                <a:ea typeface="+mj-ea"/>
              </a:rPr>
              <a:t>(</a:t>
            </a:r>
            <a:r>
              <a:rPr lang="ko-KR" altLang="en-US" sz="1200" b="0" dirty="0">
                <a:latin typeface="+mj-ea"/>
                <a:ea typeface="+mj-ea"/>
              </a:rPr>
              <a:t>보정</a:t>
            </a:r>
            <a:r>
              <a:rPr lang="en-US" altLang="ko-KR" sz="1200" b="0" dirty="0">
                <a:latin typeface="+mj-ea"/>
                <a:ea typeface="+mj-ea"/>
              </a:rPr>
              <a:t>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15" name="Rectangle 14"/>
          <p:cNvSpPr>
            <a:spLocks noChangeArrowheads="1"/>
          </p:cNvSpPr>
          <p:nvPr/>
        </p:nvSpPr>
        <p:spPr bwMode="auto">
          <a:xfrm>
            <a:off x="623394" y="2348880"/>
            <a:ext cx="1801284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등본송달</a:t>
            </a:r>
          </a:p>
        </p:txBody>
      </p:sp>
      <p:sp>
        <p:nvSpPr>
          <p:cNvPr id="116" name="Rectangle 14"/>
          <p:cNvSpPr>
            <a:spLocks noChangeArrowheads="1"/>
          </p:cNvSpPr>
          <p:nvPr/>
        </p:nvSpPr>
        <p:spPr bwMode="auto">
          <a:xfrm>
            <a:off x="623394" y="4041820"/>
            <a:ext cx="1801284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거절결정</a:t>
            </a:r>
          </a:p>
        </p:txBody>
      </p:sp>
      <p:sp>
        <p:nvSpPr>
          <p:cNvPr id="117" name="Rectangle 14"/>
          <p:cNvSpPr>
            <a:spLocks noChangeArrowheads="1"/>
          </p:cNvSpPr>
          <p:nvPr/>
        </p:nvSpPr>
        <p:spPr bwMode="auto">
          <a:xfrm>
            <a:off x="623394" y="4543722"/>
            <a:ext cx="1801284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j-ea"/>
                <a:ea typeface="+mj-ea"/>
              </a:rPr>
              <a:t>등본송달</a:t>
            </a:r>
          </a:p>
        </p:txBody>
      </p:sp>
      <p:cxnSp>
        <p:nvCxnSpPr>
          <p:cNvPr id="118" name="꺾인 연결선 117"/>
          <p:cNvCxnSpPr>
            <a:stCxn id="115" idx="1"/>
          </p:cNvCxnSpPr>
          <p:nvPr/>
        </p:nvCxnSpPr>
        <p:spPr>
          <a:xfrm rot="10800000" flipH="1" flipV="1">
            <a:off x="623393" y="2511599"/>
            <a:ext cx="852636" cy="1313444"/>
          </a:xfrm>
          <a:prstGeom prst="bentConnector3">
            <a:avLst>
              <a:gd name="adj1" fmla="val -3574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3215680" y="2262064"/>
            <a:ext cx="2208245" cy="374848"/>
          </a:xfrm>
          <a:prstGeom prst="roundRect">
            <a:avLst>
              <a:gd name="adj" fmla="val 33303"/>
            </a:avLst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거절결정불복심판청구</a:t>
            </a:r>
          </a:p>
        </p:txBody>
      </p:sp>
      <p:cxnSp>
        <p:nvCxnSpPr>
          <p:cNvPr id="120" name="꺾인 연결선 119"/>
          <p:cNvCxnSpPr>
            <a:stCxn id="117" idx="1"/>
          </p:cNvCxnSpPr>
          <p:nvPr/>
        </p:nvCxnSpPr>
        <p:spPr>
          <a:xfrm rot="10800000" flipH="1" flipV="1">
            <a:off x="623393" y="4706441"/>
            <a:ext cx="852636" cy="1313444"/>
          </a:xfrm>
          <a:prstGeom prst="bentConnector3">
            <a:avLst>
              <a:gd name="adj1" fmla="val -3574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215680" y="2720430"/>
            <a:ext cx="2208245" cy="374848"/>
          </a:xfrm>
          <a:prstGeom prst="roundRect">
            <a:avLst>
              <a:gd name="adj" fmla="val 33303"/>
            </a:avLst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재심사청구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보정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215680" y="3179253"/>
            <a:ext cx="2208245" cy="374848"/>
          </a:xfrm>
          <a:prstGeom prst="roundRect">
            <a:avLst>
              <a:gd name="adj" fmla="val 33303"/>
            </a:avLst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분할출원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15680" y="3637619"/>
            <a:ext cx="2208245" cy="374848"/>
          </a:xfrm>
          <a:prstGeom prst="roundRect">
            <a:avLst>
              <a:gd name="adj" fmla="val 33303"/>
            </a:avLst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변경출원</a:t>
            </a:r>
          </a:p>
        </p:txBody>
      </p:sp>
      <p:cxnSp>
        <p:nvCxnSpPr>
          <p:cNvPr id="124" name="꺾인 연결선 123"/>
          <p:cNvCxnSpPr>
            <a:stCxn id="119" idx="1"/>
          </p:cNvCxnSpPr>
          <p:nvPr/>
        </p:nvCxnSpPr>
        <p:spPr>
          <a:xfrm rot="10800000" flipV="1">
            <a:off x="1656592" y="2449488"/>
            <a:ext cx="1559088" cy="818195"/>
          </a:xfrm>
          <a:prstGeom prst="bentConnector3">
            <a:avLst>
              <a:gd name="adj1" fmla="val 3475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123" idx="1"/>
          </p:cNvCxnSpPr>
          <p:nvPr/>
        </p:nvCxnSpPr>
        <p:spPr>
          <a:xfrm rot="10800000">
            <a:off x="1656592" y="3267683"/>
            <a:ext cx="1559088" cy="557360"/>
          </a:xfrm>
          <a:prstGeom prst="bentConnector3">
            <a:avLst>
              <a:gd name="adj1" fmla="val 3475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꺾인 연결선 125"/>
          <p:cNvCxnSpPr>
            <a:stCxn id="121" idx="1"/>
          </p:cNvCxnSpPr>
          <p:nvPr/>
        </p:nvCxnSpPr>
        <p:spPr>
          <a:xfrm rot="10800000" flipV="1">
            <a:off x="1656592" y="2907854"/>
            <a:ext cx="1559088" cy="359829"/>
          </a:xfrm>
          <a:prstGeom prst="bentConnector3">
            <a:avLst>
              <a:gd name="adj1" fmla="val 3475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122" idx="1"/>
          </p:cNvCxnSpPr>
          <p:nvPr/>
        </p:nvCxnSpPr>
        <p:spPr>
          <a:xfrm rot="10800000">
            <a:off x="1656592" y="3267683"/>
            <a:ext cx="1559088" cy="98994"/>
          </a:xfrm>
          <a:prstGeom prst="bentConnector3">
            <a:avLst>
              <a:gd name="adj1" fmla="val 3475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119" idx="3"/>
          </p:cNvCxnSpPr>
          <p:nvPr/>
        </p:nvCxnSpPr>
        <p:spPr>
          <a:xfrm flipH="1">
            <a:off x="1656592" y="2449489"/>
            <a:ext cx="3767333" cy="3013037"/>
          </a:xfrm>
          <a:prstGeom prst="bentConnector3">
            <a:avLst>
              <a:gd name="adj1" fmla="val -809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22" idx="3"/>
          </p:cNvCxnSpPr>
          <p:nvPr/>
        </p:nvCxnSpPr>
        <p:spPr>
          <a:xfrm flipH="1">
            <a:off x="1656592" y="3366677"/>
            <a:ext cx="3767333" cy="2095848"/>
          </a:xfrm>
          <a:prstGeom prst="bentConnector3">
            <a:avLst>
              <a:gd name="adj1" fmla="val -809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/>
          <p:cNvSpPr/>
          <p:nvPr/>
        </p:nvSpPr>
        <p:spPr>
          <a:xfrm>
            <a:off x="2597987" y="28381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1" name="TextBox 130"/>
          <p:cNvSpPr txBox="1"/>
          <p:nvPr/>
        </p:nvSpPr>
        <p:spPr>
          <a:xfrm>
            <a:off x="2196040" y="2803407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택일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4944" y="290785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</a:t>
            </a:r>
            <a:r>
              <a:rPr lang="ko-KR" altLang="en-US" sz="1200" dirty="0"/>
              <a:t>개월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4944" y="523169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</a:t>
            </a:r>
            <a:r>
              <a:rPr lang="ko-KR" altLang="en-US" sz="1200" dirty="0"/>
              <a:t>개월</a:t>
            </a:r>
          </a:p>
        </p:txBody>
      </p:sp>
      <p:graphicFrame>
        <p:nvGraphicFramePr>
          <p:cNvPr id="134" name="표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053605"/>
              </p:ext>
            </p:extLst>
          </p:nvPr>
        </p:nvGraphicFramePr>
        <p:xfrm>
          <a:off x="5999989" y="1052737"/>
          <a:ext cx="5856651" cy="511256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74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구 분</a:t>
                      </a:r>
                      <a:endParaRPr lang="ko-KR" altLang="en-US" sz="11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</a:rPr>
                        <a:t>취</a:t>
                      </a:r>
                      <a:r>
                        <a:rPr lang="ko-KR" altLang="en-US" sz="1100" dirty="0">
                          <a:effectLst/>
                        </a:rPr>
                        <a:t> 급</a:t>
                      </a:r>
                      <a:endParaRPr lang="ko-KR" altLang="en-US" sz="11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003"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심판청구서를 제출한 후 재심사청구 취지를 기재한 </a:t>
                      </a:r>
                      <a:endParaRPr lang="en-US" altLang="ko-KR" sz="11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</a:rPr>
                        <a:t>보정서를</a:t>
                      </a:r>
                      <a:r>
                        <a:rPr lang="ko-KR" altLang="en-US" sz="1100" dirty="0">
                          <a:effectLst/>
                        </a:rPr>
                        <a:t> 제출한 경우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제</a:t>
                      </a:r>
                      <a:r>
                        <a:rPr lang="en-US" altLang="ko-KR" sz="1100" dirty="0">
                          <a:effectLst/>
                        </a:rPr>
                        <a:t>67</a:t>
                      </a:r>
                      <a:r>
                        <a:rPr lang="ko-KR" altLang="en-US" sz="1100" dirty="0">
                          <a:effectLst/>
                        </a:rPr>
                        <a:t>조의</a:t>
                      </a:r>
                      <a:r>
                        <a:rPr lang="en-US" altLang="ko-KR" sz="1100" dirty="0">
                          <a:effectLst/>
                        </a:rPr>
                        <a:t>2</a:t>
                      </a:r>
                      <a:r>
                        <a:rPr lang="ko-KR" altLang="en-US" sz="1100" dirty="0">
                          <a:effectLst/>
                        </a:rPr>
                        <a:t>제</a:t>
                      </a:r>
                      <a:r>
                        <a:rPr lang="en-US" altLang="ko-KR" sz="1100" dirty="0">
                          <a:effectLst/>
                        </a:rPr>
                        <a:t>1</a:t>
                      </a:r>
                      <a:r>
                        <a:rPr lang="ko-KR" altLang="en-US" sz="1100" dirty="0" err="1">
                          <a:effectLst/>
                        </a:rPr>
                        <a:t>항제</a:t>
                      </a:r>
                      <a:r>
                        <a:rPr lang="en-US" altLang="ko-KR" sz="1100" dirty="0">
                          <a:effectLst/>
                        </a:rPr>
                        <a:t>2</a:t>
                      </a:r>
                      <a:r>
                        <a:rPr lang="ko-KR" altLang="en-US" sz="1100" dirty="0">
                          <a:effectLst/>
                        </a:rPr>
                        <a:t>호에서 재심사를 청구할 때에 이미 거절결정불복심판이 청구된 경우에는 재심사를 청구할 수 없다고 규정하고 있는바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 err="1">
                          <a:effectLst/>
                        </a:rPr>
                        <a:t>보정서</a:t>
                      </a:r>
                      <a:r>
                        <a:rPr lang="ko-KR" altLang="en-US" sz="1100" dirty="0">
                          <a:effectLst/>
                        </a:rPr>
                        <a:t> 제출 시점을 기준으로 심판청구가 계속 중인 경우에는 특허법시행규칙 제</a:t>
                      </a:r>
                      <a:r>
                        <a:rPr lang="en-US" altLang="ko-KR" sz="1100" dirty="0">
                          <a:effectLst/>
                        </a:rPr>
                        <a:t>11</a:t>
                      </a:r>
                      <a:r>
                        <a:rPr lang="ko-KR" altLang="en-US" sz="1100" dirty="0">
                          <a:effectLst/>
                        </a:rPr>
                        <a:t>조제</a:t>
                      </a:r>
                      <a:r>
                        <a:rPr lang="en-US" altLang="ko-KR" sz="1100" dirty="0">
                          <a:effectLst/>
                        </a:rPr>
                        <a:t>1</a:t>
                      </a:r>
                      <a:r>
                        <a:rPr lang="ko-KR" altLang="en-US" sz="1100" dirty="0" err="1">
                          <a:effectLst/>
                        </a:rPr>
                        <a:t>항제</a:t>
                      </a:r>
                      <a:r>
                        <a:rPr lang="en-US" altLang="ko-KR" sz="1100" dirty="0">
                          <a:effectLst/>
                        </a:rPr>
                        <a:t>19</a:t>
                      </a:r>
                      <a:r>
                        <a:rPr lang="ko-KR" altLang="en-US" sz="1100" dirty="0">
                          <a:effectLst/>
                        </a:rPr>
                        <a:t>호를 이유로 소명 기회를 부여하고 </a:t>
                      </a:r>
                      <a:r>
                        <a:rPr lang="ko-KR" altLang="en-US" sz="1100" dirty="0" err="1">
                          <a:effectLst/>
                          <a:highlight>
                            <a:srgbClr val="FFFF00"/>
                          </a:highlight>
                        </a:rPr>
                        <a:t>보정서를</a:t>
                      </a:r>
                      <a:r>
                        <a:rPr lang="ko-KR" altLang="en-US" sz="1100" dirty="0">
                          <a:effectLst/>
                          <a:highlight>
                            <a:srgbClr val="FFFF00"/>
                          </a:highlight>
                        </a:rPr>
                        <a:t> 반려</a:t>
                      </a:r>
                      <a:r>
                        <a:rPr lang="ko-KR" altLang="en-US" sz="1100" dirty="0">
                          <a:effectLst/>
                        </a:rPr>
                        <a:t>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  <a:r>
                        <a:rPr lang="ko-KR" altLang="en-US" sz="1100" dirty="0">
                          <a:effectLst/>
                        </a:rPr>
                        <a:t>이때 보정서를 반려 받은 출원인은 제</a:t>
                      </a:r>
                      <a:r>
                        <a:rPr lang="en-US" altLang="ko-KR" sz="1100" dirty="0">
                          <a:effectLst/>
                        </a:rPr>
                        <a:t>67</a:t>
                      </a:r>
                      <a:r>
                        <a:rPr lang="ko-KR" altLang="en-US" sz="1100" dirty="0">
                          <a:effectLst/>
                        </a:rPr>
                        <a:t>조의</a:t>
                      </a:r>
                      <a:r>
                        <a:rPr lang="en-US" altLang="ko-KR" sz="1100" dirty="0">
                          <a:effectLst/>
                        </a:rPr>
                        <a:t>2 </a:t>
                      </a:r>
                      <a:r>
                        <a:rPr lang="ko-KR" altLang="en-US" sz="1100" dirty="0">
                          <a:effectLst/>
                        </a:rPr>
                        <a:t>제</a:t>
                      </a:r>
                      <a:r>
                        <a:rPr lang="en-US" altLang="ko-KR" sz="1100" dirty="0">
                          <a:effectLst/>
                        </a:rPr>
                        <a:t>1</a:t>
                      </a:r>
                      <a:r>
                        <a:rPr lang="ko-KR" altLang="en-US" sz="1100" dirty="0">
                          <a:effectLst/>
                        </a:rPr>
                        <a:t>항의 기간이 지나지 않았다면 심판청구를 취하하고 보정하면서 재심사를 다시 청구할 수 있다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529"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재심사청구 취지를 기재한 </a:t>
                      </a:r>
                      <a:r>
                        <a:rPr lang="ko-KR" altLang="en-US" sz="1100" dirty="0" err="1">
                          <a:effectLst/>
                        </a:rPr>
                        <a:t>보정서를</a:t>
                      </a:r>
                      <a:r>
                        <a:rPr lang="ko-KR" altLang="en-US" sz="1100" dirty="0">
                          <a:effectLst/>
                        </a:rPr>
                        <a:t> 제출한 후 </a:t>
                      </a:r>
                      <a:endParaRPr lang="en-US" altLang="ko-KR" sz="11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심판청구서를 제출한 경우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보정서 제출에 따른 보정 및 재심사청구 절차는 적법하므로 거절결정이 취소된 것으로 보고 재심사절차를 진행한다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  <a:r>
                        <a:rPr lang="ko-KR" altLang="en-US" sz="1100" dirty="0">
                          <a:effectLst/>
                        </a:rPr>
                        <a:t>이 경우 </a:t>
                      </a:r>
                      <a:r>
                        <a:rPr lang="ko-KR" altLang="en-US" sz="1100" dirty="0">
                          <a:effectLst/>
                          <a:highlight>
                            <a:srgbClr val="FFFF00"/>
                          </a:highlight>
                        </a:rPr>
                        <a:t>심판절차는 </a:t>
                      </a:r>
                      <a:r>
                        <a:rPr lang="ko-KR" altLang="en-US" sz="1100" dirty="0" err="1">
                          <a:effectLst/>
                          <a:highlight>
                            <a:srgbClr val="FFFF00"/>
                          </a:highlight>
                        </a:rPr>
                        <a:t>심결각하</a:t>
                      </a:r>
                      <a:r>
                        <a:rPr lang="ko-KR" altLang="en-US" sz="1100" dirty="0" err="1">
                          <a:effectLst/>
                        </a:rPr>
                        <a:t>된다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0003"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심판청구서와 재심사청구 취지를 기재한 보정서가 </a:t>
                      </a:r>
                      <a:endParaRPr lang="en-US" altLang="ko-KR" sz="11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</a:rPr>
                        <a:t>동일자로</a:t>
                      </a:r>
                      <a:r>
                        <a:rPr lang="ko-KR" altLang="en-US" sz="1100" dirty="0">
                          <a:effectLst/>
                        </a:rPr>
                        <a:t> 제출된 경우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심판청구서와 보정서의 제출 시점을 확정할 수 없는바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출원인의 선택을 유도하기 위해 보정서가 늦게 제출된 것으로 보고 </a:t>
                      </a:r>
                      <a:r>
                        <a:rPr lang="ko-KR" altLang="en-US" sz="1100" dirty="0" err="1">
                          <a:effectLst/>
                        </a:rPr>
                        <a:t>보정서에</a:t>
                      </a:r>
                      <a:r>
                        <a:rPr lang="ko-KR" altLang="en-US" sz="1100" dirty="0">
                          <a:effectLst/>
                        </a:rPr>
                        <a:t> 대하여 반려이유를 즉시 통지한다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  <a:r>
                        <a:rPr lang="ko-KR" altLang="en-US" sz="1100" dirty="0">
                          <a:effectLst/>
                          <a:highlight>
                            <a:srgbClr val="FFFF00"/>
                          </a:highlight>
                        </a:rPr>
                        <a:t>반려이유통지서에서는 </a:t>
                      </a:r>
                      <a:r>
                        <a:rPr lang="ko-KR" altLang="en-US" sz="1100" dirty="0" err="1">
                          <a:effectLst/>
                          <a:highlight>
                            <a:srgbClr val="FFFF00"/>
                          </a:highlight>
                        </a:rPr>
                        <a:t>출원인이</a:t>
                      </a:r>
                      <a:r>
                        <a:rPr lang="ko-KR" altLang="en-US" sz="1100" dirty="0">
                          <a:effectLst/>
                          <a:highlight>
                            <a:srgbClr val="FFFF00"/>
                          </a:highlight>
                        </a:rPr>
                        <a:t> 거절결정불복심판이나 재심사 중 어느 하나를 선택할 수 있음을 상세히 설명</a:t>
                      </a:r>
                      <a:r>
                        <a:rPr lang="ko-KR" altLang="en-US" sz="1100" dirty="0">
                          <a:effectLst/>
                        </a:rPr>
                        <a:t>하여야 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  <a:r>
                        <a:rPr lang="ko-KR" altLang="en-US" sz="1100" dirty="0" err="1">
                          <a:effectLst/>
                        </a:rPr>
                        <a:t>출원인이</a:t>
                      </a:r>
                      <a:r>
                        <a:rPr lang="ko-KR" altLang="en-US" sz="1100" dirty="0">
                          <a:effectLst/>
                        </a:rPr>
                        <a:t> 심판청구를 취하하는 경우에는 재심사청구가 유효한 것으로 보고 재심사절차를 진행하고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반려 요청하는 경우에는 </a:t>
                      </a:r>
                      <a:r>
                        <a:rPr lang="ko-KR" altLang="en-US" sz="1100" dirty="0" err="1">
                          <a:effectLst/>
                        </a:rPr>
                        <a:t>보정서를</a:t>
                      </a:r>
                      <a:r>
                        <a:rPr lang="ko-KR" altLang="en-US" sz="1100" dirty="0">
                          <a:effectLst/>
                        </a:rPr>
                        <a:t> 즉시 반려한다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529"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</a:rPr>
                        <a:t>심판청구서와 재심사청구 취지가 기재되지 않은 </a:t>
                      </a:r>
                      <a:endParaRPr lang="en-US" altLang="ko-KR" sz="11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</a:rPr>
                        <a:t>보정서를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ko-KR" altLang="en-US" sz="1100" dirty="0" err="1">
                          <a:effectLst/>
                        </a:rPr>
                        <a:t>동일자에</a:t>
                      </a:r>
                      <a:r>
                        <a:rPr lang="ko-KR" altLang="en-US" sz="1100" dirty="0">
                          <a:effectLst/>
                        </a:rPr>
                        <a:t> 제출한 경우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</a:rPr>
                        <a:t>보정서에</a:t>
                      </a:r>
                      <a:r>
                        <a:rPr lang="ko-KR" altLang="en-US" sz="1100" dirty="0">
                          <a:effectLst/>
                        </a:rPr>
                        <a:t> 재심사청구의 취지가 기재되지 않은바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보정서는 보정이 가능한 기간 내에 제출된 것으로 볼 수 없으므로 이 법 또는 이 법에 의한 명령이 정하는 기간 이내에 제출되지 아니한 서류로 취급하여 소명 기회를 부여한 후 </a:t>
                      </a:r>
                      <a:r>
                        <a:rPr lang="ko-KR" altLang="en-US" sz="1100" dirty="0">
                          <a:effectLst/>
                          <a:highlight>
                            <a:srgbClr val="FFFF00"/>
                          </a:highlight>
                        </a:rPr>
                        <a:t>보정서를 반려</a:t>
                      </a:r>
                      <a:r>
                        <a:rPr lang="ko-KR" altLang="en-US" sz="1100" dirty="0">
                          <a:effectLst/>
                        </a:rPr>
                        <a:t>한다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86360" marR="8636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3557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양쪽 모서리가 둥근 사각형 61"/>
          <p:cNvSpPr/>
          <p:nvPr/>
        </p:nvSpPr>
        <p:spPr>
          <a:xfrm>
            <a:off x="4210619" y="3378556"/>
            <a:ext cx="2428306" cy="68084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tx2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327446" y="4059594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청구항별</a:t>
            </a:r>
            <a:r>
              <a:rPr lang="ko-KR" altLang="en-US" dirty="0"/>
              <a:t> </a:t>
            </a:r>
            <a:r>
              <a:rPr lang="ko-KR" altLang="en-US" dirty="0" err="1"/>
              <a:t>일부취하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3100"/>
          </a:xfrm>
        </p:spPr>
        <p:txBody>
          <a:bodyPr/>
          <a:lstStyle/>
          <a:p>
            <a:r>
              <a:rPr lang="en-US" altLang="ko-KR" dirty="0"/>
              <a:t>275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306064" y="3807181"/>
            <a:ext cx="989461" cy="504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문제가 되는 것은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</a:rPr>
              <a:t> 일부 취하가 허용되는지 여부이다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이에 대하여 대법원 </a:t>
            </a:r>
            <a:r>
              <a:rPr lang="en-US" altLang="ko-KR" sz="1400" dirty="0">
                <a:solidFill>
                  <a:schemeClr val="tx2"/>
                </a:solidFill>
              </a:rPr>
              <a:t>2003. 3. 25. </a:t>
            </a:r>
            <a:r>
              <a:rPr lang="ko-KR" altLang="en-US" sz="1400" dirty="0">
                <a:solidFill>
                  <a:schemeClr val="tx2"/>
                </a:solidFill>
              </a:rPr>
              <a:t>선고 </a:t>
            </a:r>
            <a:r>
              <a:rPr lang="en-US" altLang="ko-KR" sz="1400" dirty="0">
                <a:solidFill>
                  <a:schemeClr val="tx2"/>
                </a:solidFill>
              </a:rPr>
              <a:t>2001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1044 </a:t>
            </a:r>
            <a:r>
              <a:rPr lang="ko-KR" altLang="en-US" sz="1400" dirty="0">
                <a:solidFill>
                  <a:schemeClr val="tx2"/>
                </a:solidFill>
              </a:rPr>
              <a:t>판결은 “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첨부된 명세서와 도면의 보정이라는 제도 및 그 보정의 시기와 범위를 제한하는 규정을 두고 있을 뿐 특허결정이 되기 전에 특허출원의 일부를 취하할 수 있다고 규정해 놓은 바 없으며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특허법에 정해진 보정기간이 지난 후에도 특허출원의 일부 취하를 허용하는 것은 특허출원의 보정에 엄격한 시기적 제한을 두고 있는 특허법의 취지에도 반하므로 원칙적으로 </a:t>
            </a:r>
            <a:r>
              <a:rPr lang="ko-KR" altLang="en-US" sz="1400" dirty="0" err="1">
                <a:solidFill>
                  <a:schemeClr val="tx2"/>
                </a:solidFill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</a:rPr>
              <a:t> 일부 취하는 허용되지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."</a:t>
            </a:r>
            <a:r>
              <a:rPr lang="ko-KR" altLang="en-US" sz="1400" dirty="0">
                <a:solidFill>
                  <a:schemeClr val="tx2"/>
                </a:solidFill>
              </a:rPr>
              <a:t>고 하여 일부 </a:t>
            </a:r>
            <a:r>
              <a:rPr lang="ko-KR" altLang="en-US" sz="1400" dirty="0" err="1">
                <a:solidFill>
                  <a:schemeClr val="tx2"/>
                </a:solidFill>
              </a:rPr>
              <a:t>취하서를</a:t>
            </a:r>
            <a:r>
              <a:rPr lang="ko-KR" altLang="en-US" sz="1400" dirty="0">
                <a:solidFill>
                  <a:schemeClr val="tx2"/>
                </a:solidFill>
              </a:rPr>
              <a:t> 삭제보정서와 동일시하고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일부 취하를 하는 경우 보정기간의 제한을 가하여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보정기간을 지난 일부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취하서를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불수리하는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한편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특허출원을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거절결정하였다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cxnSp>
        <p:nvCxnSpPr>
          <p:cNvPr id="53" name="직선 연결선 52"/>
          <p:cNvCxnSpPr/>
          <p:nvPr/>
        </p:nvCxnSpPr>
        <p:spPr>
          <a:xfrm>
            <a:off x="0" y="215559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715889" y="3807181"/>
            <a:ext cx="989461" cy="504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7144889" y="3807181"/>
            <a:ext cx="989461" cy="504825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일부취하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2500" y="4905374"/>
            <a:ext cx="1696588" cy="5524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~20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</a:p>
        </p:txBody>
      </p:sp>
      <p:cxnSp>
        <p:nvCxnSpPr>
          <p:cNvPr id="7" name="직선 연결선 6"/>
          <p:cNvCxnSpPr>
            <a:stCxn id="5" idx="0"/>
            <a:endCxn id="91" idx="2"/>
          </p:cNvCxnSpPr>
          <p:nvPr/>
        </p:nvCxnSpPr>
        <p:spPr>
          <a:xfrm flipV="1">
            <a:off x="1800794" y="4312006"/>
            <a:ext cx="1" cy="5933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3362325" y="4905374"/>
            <a:ext cx="1696588" cy="5524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</a:t>
            </a:r>
            <a:r>
              <a:rPr lang="en-US" altLang="ko-KR" sz="1200" dirty="0">
                <a:solidFill>
                  <a:schemeClr val="tx1"/>
                </a:solidFill>
              </a:rPr>
              <a:t>: 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~10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</a:rPr>
              <a:t>: 11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~20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</a:p>
        </p:txBody>
      </p:sp>
      <p:cxnSp>
        <p:nvCxnSpPr>
          <p:cNvPr id="54" name="직선 연결선 53"/>
          <p:cNvCxnSpPr>
            <a:stCxn id="51" idx="0"/>
          </p:cNvCxnSpPr>
          <p:nvPr/>
        </p:nvCxnSpPr>
        <p:spPr>
          <a:xfrm flipV="1">
            <a:off x="4210619" y="4312006"/>
            <a:ext cx="1" cy="5933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791325" y="4905374"/>
            <a:ext cx="1696588" cy="5524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~10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56" name="직선 연결선 55"/>
          <p:cNvCxnSpPr>
            <a:stCxn id="55" idx="0"/>
          </p:cNvCxnSpPr>
          <p:nvPr/>
        </p:nvCxnSpPr>
        <p:spPr>
          <a:xfrm flipV="1">
            <a:off x="7639619" y="4312006"/>
            <a:ext cx="1" cy="5933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9211814" y="3807181"/>
            <a:ext cx="989461" cy="504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거절결정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487913" y="2873731"/>
            <a:ext cx="989461" cy="504825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불수리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11" name="꺾인 연결선 10"/>
          <p:cNvCxnSpPr>
            <a:stCxn id="49" idx="0"/>
            <a:endCxn id="58" idx="1"/>
          </p:cNvCxnSpPr>
          <p:nvPr/>
        </p:nvCxnSpPr>
        <p:spPr>
          <a:xfrm rot="5400000" flipH="1" flipV="1">
            <a:off x="7723248" y="3042517"/>
            <a:ext cx="681037" cy="848293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4519327" y="2978505"/>
            <a:ext cx="1948147" cy="552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의견제출기간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ko-KR" altLang="en-US" sz="1200" dirty="0">
                <a:solidFill>
                  <a:schemeClr val="tx1"/>
                </a:solidFill>
              </a:rPr>
              <a:t> 이내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035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직선 연결선 98"/>
          <p:cNvCxnSpPr/>
          <p:nvPr/>
        </p:nvCxnSpPr>
        <p:spPr>
          <a:xfrm>
            <a:off x="9370169" y="5497945"/>
            <a:ext cx="0" cy="9635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양쪽 모서리가 둥근 사각형 91"/>
          <p:cNvSpPr/>
          <p:nvPr/>
        </p:nvSpPr>
        <p:spPr>
          <a:xfrm>
            <a:off x="8277224" y="4994880"/>
            <a:ext cx="3848101" cy="345054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양쪽 모서리가 둥근 사각형 88"/>
          <p:cNvSpPr/>
          <p:nvPr/>
        </p:nvSpPr>
        <p:spPr>
          <a:xfrm>
            <a:off x="7496175" y="4994880"/>
            <a:ext cx="781050" cy="345054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출원공개의 시기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874" y="986046"/>
            <a:ext cx="620862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출원공개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다음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 또는 그 전이라도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400" dirty="0">
                <a:solidFill>
                  <a:schemeClr val="tx2"/>
                </a:solidFill>
              </a:rPr>
              <a:t> 신청한 경우에는 총리령으로 정하는 바에 따라 그 특허출원에 관하여 특허공보에 게재하여 출원공개를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우선권 주장의 기초가 된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둘 이상의 우선권 주장을 수반하는 특허출원의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우선권 주장의 기초가 된 출원일 중 최우선일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호까지의 어느 하나에 해당하지 아니하는 특허출원의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522" y="3250693"/>
            <a:ext cx="4919853" cy="459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특허출원일로부터 </a:t>
            </a:r>
            <a:r>
              <a:rPr lang="en-US" altLang="ko-KR" sz="2800" dirty="0"/>
              <a:t>1</a:t>
            </a:r>
            <a:r>
              <a:rPr lang="ko-KR" altLang="en-US" sz="2800" dirty="0"/>
              <a:t>년 </a:t>
            </a:r>
            <a:r>
              <a:rPr lang="en-US" altLang="ko-KR" sz="2800" dirty="0"/>
              <a:t>6</a:t>
            </a:r>
            <a:r>
              <a:rPr lang="ko-KR" altLang="en-US" sz="2800" dirty="0"/>
              <a:t>개월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523875" y="3766031"/>
            <a:ext cx="212864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704850" y="4574044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소급제도</a:t>
            </a:r>
            <a:endParaRPr lang="en-US" altLang="ko-KR" sz="1050" dirty="0"/>
          </a:p>
          <a:p>
            <a:pPr algn="ctr"/>
            <a:r>
              <a:rPr lang="en-US" altLang="ko-KR" sz="1050" dirty="0"/>
              <a:t>(7</a:t>
            </a:r>
            <a:r>
              <a:rPr lang="ko-KR" altLang="en-US" sz="1050" dirty="0"/>
              <a:t>가지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29" name="직사각형 28"/>
          <p:cNvSpPr/>
          <p:nvPr/>
        </p:nvSpPr>
        <p:spPr>
          <a:xfrm>
            <a:off x="704850" y="6207825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PCT</a:t>
            </a:r>
            <a:endParaRPr lang="ko-KR" altLang="en-US" sz="1050" dirty="0"/>
          </a:p>
        </p:txBody>
      </p:sp>
      <p:sp>
        <p:nvSpPr>
          <p:cNvPr id="30" name="직사각형 29"/>
          <p:cNvSpPr/>
          <p:nvPr/>
        </p:nvSpPr>
        <p:spPr>
          <a:xfrm>
            <a:off x="1850522" y="387596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850522" y="4614255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850522" y="534579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850522" y="4242929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850522" y="572607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공존재등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850522" y="609740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56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공존재등이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50522" y="649984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207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cxnSp>
        <p:nvCxnSpPr>
          <p:cNvPr id="37" name="꺾인 연결선 36"/>
          <p:cNvCxnSpPr>
            <a:stCxn id="28" idx="3"/>
            <a:endCxn id="30" idx="1"/>
          </p:cNvCxnSpPr>
          <p:nvPr/>
        </p:nvCxnSpPr>
        <p:spPr>
          <a:xfrm flipV="1">
            <a:off x="1500378" y="4042340"/>
            <a:ext cx="350144" cy="7245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28" idx="3"/>
            <a:endCxn id="35" idx="1"/>
          </p:cNvCxnSpPr>
          <p:nvPr/>
        </p:nvCxnSpPr>
        <p:spPr>
          <a:xfrm>
            <a:off x="1500378" y="4766858"/>
            <a:ext cx="350144" cy="14969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28" idx="3"/>
            <a:endCxn id="33" idx="1"/>
          </p:cNvCxnSpPr>
          <p:nvPr/>
        </p:nvCxnSpPr>
        <p:spPr>
          <a:xfrm flipV="1">
            <a:off x="1500378" y="4409305"/>
            <a:ext cx="350144" cy="35755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28" idx="3"/>
            <a:endCxn id="34" idx="1"/>
          </p:cNvCxnSpPr>
          <p:nvPr/>
        </p:nvCxnSpPr>
        <p:spPr>
          <a:xfrm>
            <a:off x="1500378" y="4766858"/>
            <a:ext cx="350144" cy="11255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28" idx="3"/>
            <a:endCxn id="31" idx="1"/>
          </p:cNvCxnSpPr>
          <p:nvPr/>
        </p:nvCxnSpPr>
        <p:spPr>
          <a:xfrm>
            <a:off x="1500378" y="4766858"/>
            <a:ext cx="350144" cy="137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28" idx="3"/>
            <a:endCxn id="32" idx="1"/>
          </p:cNvCxnSpPr>
          <p:nvPr/>
        </p:nvCxnSpPr>
        <p:spPr>
          <a:xfrm>
            <a:off x="1500378" y="4766858"/>
            <a:ext cx="350144" cy="7453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29" idx="3"/>
            <a:endCxn id="36" idx="1"/>
          </p:cNvCxnSpPr>
          <p:nvPr/>
        </p:nvCxnSpPr>
        <p:spPr>
          <a:xfrm>
            <a:off x="1500378" y="6400639"/>
            <a:ext cx="350144" cy="2655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28" idx="1"/>
            <a:endCxn id="29" idx="1"/>
          </p:cNvCxnSpPr>
          <p:nvPr/>
        </p:nvCxnSpPr>
        <p:spPr>
          <a:xfrm rot="10800000" flipV="1">
            <a:off x="704850" y="4766858"/>
            <a:ext cx="12700" cy="163378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자유형 44"/>
          <p:cNvSpPr/>
          <p:nvPr/>
        </p:nvSpPr>
        <p:spPr>
          <a:xfrm>
            <a:off x="366522" y="3766031"/>
            <a:ext cx="1188720" cy="1731913"/>
          </a:xfrm>
          <a:custGeom>
            <a:avLst/>
            <a:gdLst>
              <a:gd name="connsiteX0" fmla="*/ 1188720 w 1188720"/>
              <a:gd name="connsiteY0" fmla="*/ 0 h 1764792"/>
              <a:gd name="connsiteX1" fmla="*/ 1188720 w 1188720"/>
              <a:gd name="connsiteY1" fmla="*/ 265176 h 1764792"/>
              <a:gd name="connsiteX2" fmla="*/ 0 w 1188720"/>
              <a:gd name="connsiteY2" fmla="*/ 265176 h 1764792"/>
              <a:gd name="connsiteX3" fmla="*/ 0 w 1188720"/>
              <a:gd name="connsiteY3" fmla="*/ 374904 h 1764792"/>
              <a:gd name="connsiteX4" fmla="*/ 0 w 1188720"/>
              <a:gd name="connsiteY4" fmla="*/ 1764792 h 1764792"/>
              <a:gd name="connsiteX5" fmla="*/ 128016 w 1188720"/>
              <a:gd name="connsiteY5" fmla="*/ 1764792 h 1764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8720" h="1764792">
                <a:moveTo>
                  <a:pt x="1188720" y="0"/>
                </a:moveTo>
                <a:lnTo>
                  <a:pt x="1188720" y="265176"/>
                </a:lnTo>
                <a:lnTo>
                  <a:pt x="0" y="265176"/>
                </a:lnTo>
                <a:lnTo>
                  <a:pt x="0" y="374904"/>
                </a:lnTo>
                <a:lnTo>
                  <a:pt x="0" y="1764792"/>
                </a:lnTo>
                <a:lnTo>
                  <a:pt x="128016" y="1764792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46" name="직선 연결선 45"/>
          <p:cNvCxnSpPr/>
          <p:nvPr/>
        </p:nvCxnSpPr>
        <p:spPr>
          <a:xfrm>
            <a:off x="3114675" y="3766031"/>
            <a:ext cx="147637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6362700" y="986046"/>
            <a:ext cx="0" cy="56074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514725" y="4855212"/>
            <a:ext cx="1076325" cy="3856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조기공개신청</a:t>
            </a:r>
            <a:endParaRPr lang="en-US" altLang="ko-KR" sz="1050" dirty="0"/>
          </a:p>
          <a:p>
            <a:pPr algn="ctr"/>
            <a:r>
              <a:rPr lang="ko-KR" altLang="en-US" sz="1050" dirty="0"/>
              <a:t>가능</a:t>
            </a:r>
          </a:p>
        </p:txBody>
      </p:sp>
      <p:cxnSp>
        <p:nvCxnSpPr>
          <p:cNvPr id="21" name="꺾인 연결선 20"/>
          <p:cNvCxnSpPr>
            <a:cxnSpLocks/>
            <a:stCxn id="64" idx="1"/>
          </p:cNvCxnSpPr>
          <p:nvPr/>
        </p:nvCxnSpPr>
        <p:spPr>
          <a:xfrm rot="10800000" flipH="1">
            <a:off x="3514724" y="3821670"/>
            <a:ext cx="795335" cy="1226357"/>
          </a:xfrm>
          <a:prstGeom prst="bentConnector4">
            <a:avLst>
              <a:gd name="adj1" fmla="val -28743"/>
              <a:gd name="adj2" fmla="val 5786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88199" y="986046"/>
            <a:ext cx="5560926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시행규칙 제</a:t>
            </a:r>
            <a:r>
              <a:rPr lang="en-US" altLang="ko-KR" sz="1400" b="1" dirty="0">
                <a:solidFill>
                  <a:schemeClr val="accent1"/>
                </a:solidFill>
              </a:rPr>
              <a:t>44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조기공개 등의 신청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①</a:t>
            </a:r>
            <a:r>
              <a:rPr lang="ko-KR" altLang="en-US" sz="1400" dirty="0">
                <a:solidFill>
                  <a:schemeClr val="tx2"/>
                </a:solidFill>
              </a:rPr>
              <a:t>법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경과하기 전에 특허출원의 공개를 신청하려는 자는 별지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호서식의 조기공개신청서를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특허출원과 동시에 공개를 신청하려는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청구범위가 기재된 명세서가 첨부된 경우만 해당한다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취지를 기재함으로써 신청서의 제출에 갈음할 수 있다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 또는 국제특허출원의 경우에는 법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또는 법 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후가 아니면 조기공개의 신청을 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</a:t>
            </a:r>
            <a:r>
              <a:rPr lang="ko-KR" altLang="en-US" sz="1400" dirty="0">
                <a:solidFill>
                  <a:schemeClr val="tx2"/>
                </a:solidFill>
              </a:rPr>
              <a:t>특허에 관한 절차를 밟는 자가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규정에 의한 조기공개의 신청을 취하하고자 하는 경우에는 </a:t>
            </a:r>
            <a:r>
              <a:rPr lang="ko-KR" altLang="en-US" sz="1400" dirty="0">
                <a:solidFill>
                  <a:srgbClr val="FF0000"/>
                </a:solidFill>
              </a:rPr>
              <a:t>조기공개신청서를 제출한 날부터 </a:t>
            </a:r>
            <a:r>
              <a:rPr lang="en-US" altLang="ko-KR" sz="1400" dirty="0">
                <a:solidFill>
                  <a:srgbClr val="FF0000"/>
                </a:solidFill>
              </a:rPr>
              <a:t>10</a:t>
            </a:r>
            <a:r>
              <a:rPr lang="ko-KR" altLang="en-US" sz="1400" dirty="0">
                <a:solidFill>
                  <a:srgbClr val="FF0000"/>
                </a:solidFill>
              </a:rPr>
              <a:t>일 이내</a:t>
            </a:r>
            <a:r>
              <a:rPr lang="ko-KR" altLang="en-US" sz="1400" dirty="0">
                <a:solidFill>
                  <a:schemeClr val="tx2"/>
                </a:solidFill>
              </a:rPr>
              <a:t>에 별지 제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 err="1">
                <a:solidFill>
                  <a:schemeClr val="tx2"/>
                </a:solidFill>
              </a:rPr>
              <a:t>호서식의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취하서를</a:t>
            </a:r>
            <a:r>
              <a:rPr lang="ko-KR" altLang="en-US" sz="1400" dirty="0">
                <a:solidFill>
                  <a:schemeClr val="tx2"/>
                </a:solidFill>
              </a:rPr>
              <a:t>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</a:t>
            </a:r>
            <a:r>
              <a:rPr lang="ko-KR" altLang="en-US" sz="1400" dirty="0">
                <a:solidFill>
                  <a:schemeClr val="tx2"/>
                </a:solidFill>
              </a:rPr>
              <a:t>대리인이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내지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항의 규정에 의한 절차를 밟고자 하는 경우에는 그 대리권을 증명하는 서류를 첨부하여야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6955582" y="5350795"/>
            <a:ext cx="501734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6694937" y="5244023"/>
            <a:ext cx="801238" cy="253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694937" y="4491815"/>
            <a:ext cx="801238" cy="2539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694937" y="4241772"/>
            <a:ext cx="801238" cy="2539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799268" y="5244023"/>
            <a:ext cx="801238" cy="253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조기공개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8969550" y="5244023"/>
            <a:ext cx="801238" cy="2539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8969550" y="4491815"/>
            <a:ext cx="801238" cy="2539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8969550" y="4241772"/>
            <a:ext cx="801238" cy="2539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8969550" y="5497945"/>
            <a:ext cx="801238" cy="2539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우선권주장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9961443" y="5244023"/>
            <a:ext cx="801238" cy="253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0983519" y="5244023"/>
            <a:ext cx="801238" cy="2539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85" name="직선 연결선 84"/>
          <p:cNvCxnSpPr>
            <a:stCxn id="74" idx="2"/>
          </p:cNvCxnSpPr>
          <p:nvPr/>
        </p:nvCxnSpPr>
        <p:spPr>
          <a:xfrm>
            <a:off x="7095556" y="4745737"/>
            <a:ext cx="0" cy="4951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80" idx="2"/>
            <a:endCxn id="79" idx="0"/>
          </p:cNvCxnSpPr>
          <p:nvPr/>
        </p:nvCxnSpPr>
        <p:spPr>
          <a:xfrm>
            <a:off x="9370169" y="4745737"/>
            <a:ext cx="0" cy="4982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11963399" y="4847197"/>
            <a:ext cx="181273" cy="903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7496175" y="4785972"/>
            <a:ext cx="801238" cy="253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A,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9800655" y="4785972"/>
            <a:ext cx="801238" cy="253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A,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6" name="직선 연결선 95"/>
          <p:cNvCxnSpPr>
            <a:stCxn id="72" idx="2"/>
          </p:cNvCxnSpPr>
          <p:nvPr/>
        </p:nvCxnSpPr>
        <p:spPr>
          <a:xfrm>
            <a:off x="7095556" y="5497945"/>
            <a:ext cx="0" cy="9635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6703324" y="5890070"/>
            <a:ext cx="801238" cy="253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Y</a:t>
            </a:r>
            <a:r>
              <a:rPr lang="ko-KR" altLang="en-US" sz="1000" dirty="0">
                <a:solidFill>
                  <a:srgbClr val="FF0000"/>
                </a:solidFill>
              </a:rPr>
              <a:t>의</a:t>
            </a:r>
            <a:r>
              <a:rPr lang="en-US" altLang="ko-KR" sz="1000" dirty="0">
                <a:solidFill>
                  <a:srgbClr val="FF0000"/>
                </a:solidFill>
              </a:rPr>
              <a:t> 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969550" y="5890070"/>
            <a:ext cx="801238" cy="253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Y</a:t>
            </a:r>
            <a:r>
              <a:rPr lang="ko-KR" altLang="en-US" sz="1000" dirty="0">
                <a:solidFill>
                  <a:srgbClr val="FF0000"/>
                </a:solidFill>
              </a:rPr>
              <a:t>의</a:t>
            </a:r>
            <a:r>
              <a:rPr lang="en-US" altLang="ko-KR" sz="1000" dirty="0">
                <a:solidFill>
                  <a:srgbClr val="FF0000"/>
                </a:solidFill>
              </a:rPr>
              <a:t> C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2" name="직선 연결선 101"/>
          <p:cNvCxnSpPr>
            <a:stCxn id="74" idx="3"/>
            <a:endCxn id="81" idx="1"/>
          </p:cNvCxnSpPr>
          <p:nvPr/>
        </p:nvCxnSpPr>
        <p:spPr>
          <a:xfrm flipV="1">
            <a:off x="7496175" y="4368733"/>
            <a:ext cx="1473375" cy="250043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276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E03B79F-3991-4378-A195-76B9EBB783BB}"/>
              </a:ext>
            </a:extLst>
          </p:cNvPr>
          <p:cNvSpPr/>
          <p:nvPr/>
        </p:nvSpPr>
        <p:spPr>
          <a:xfrm>
            <a:off x="1850522" y="498405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9" name="꺾인 연결선 41">
            <a:extLst>
              <a:ext uri="{FF2B5EF4-FFF2-40B4-BE49-F238E27FC236}">
                <a16:creationId xmlns:a16="http://schemas.microsoft.com/office/drawing/2014/main" id="{A3F3D2C9-9FC7-4F73-9E70-FD95D96D5654}"/>
              </a:ext>
            </a:extLst>
          </p:cNvPr>
          <p:cNvCxnSpPr>
            <a:cxnSpLocks/>
            <a:stCxn id="28" idx="3"/>
            <a:endCxn id="58" idx="1"/>
          </p:cNvCxnSpPr>
          <p:nvPr/>
        </p:nvCxnSpPr>
        <p:spPr>
          <a:xfrm>
            <a:off x="1500378" y="4766858"/>
            <a:ext cx="350144" cy="3835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E90442-A209-F7BA-CC30-C19294D0D54D}"/>
              </a:ext>
            </a:extLst>
          </p:cNvPr>
          <p:cNvSpPr txBox="1"/>
          <p:nvPr/>
        </p:nvSpPr>
        <p:spPr>
          <a:xfrm>
            <a:off x="9085710" y="6168544"/>
            <a:ext cx="3039615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</a:rPr>
              <a:t>조기공개된</a:t>
            </a:r>
            <a:r>
              <a:rPr lang="ko-KR" altLang="en-US" sz="1400" dirty="0">
                <a:solidFill>
                  <a:srgbClr val="FF0000"/>
                </a:solidFill>
              </a:rPr>
              <a:t> 발명</a:t>
            </a:r>
            <a:r>
              <a:rPr lang="en-US" altLang="ko-KR" sz="1400" dirty="0">
                <a:solidFill>
                  <a:srgbClr val="FF0000"/>
                </a:solidFill>
              </a:rPr>
              <a:t>(A, B)</a:t>
            </a:r>
            <a:r>
              <a:rPr lang="ko-KR" altLang="en-US" sz="1400" dirty="0">
                <a:solidFill>
                  <a:srgbClr val="FF0000"/>
                </a:solidFill>
              </a:rPr>
              <a:t>에 의해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개량발명</a:t>
            </a:r>
            <a:r>
              <a:rPr lang="en-US" altLang="ko-KR" sz="1400" dirty="0">
                <a:solidFill>
                  <a:srgbClr val="FF0000"/>
                </a:solidFill>
              </a:rPr>
              <a:t>(C)</a:t>
            </a:r>
            <a:r>
              <a:rPr lang="ko-KR" altLang="en-US" sz="1400" dirty="0">
                <a:solidFill>
                  <a:srgbClr val="FF0000"/>
                </a:solidFill>
              </a:rPr>
              <a:t>의 진보성 위반 가능성 존재</a:t>
            </a:r>
          </a:p>
        </p:txBody>
      </p:sp>
    </p:spTree>
    <p:extLst>
      <p:ext uri="{BB962C8B-B14F-4D97-AF65-F5344CB8AC3E}">
        <p14:creationId xmlns:p14="http://schemas.microsoft.com/office/powerpoint/2010/main" val="3246771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보상금청구권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65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r>
              <a:rPr lang="ko-KR" altLang="en-US" dirty="0"/>
              <a:t>의 개념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65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출원공개의 효과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출원공개가 있은 후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발명을 업으로서 실시한 자에게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발명임을 서면으로 경고할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경고를 받거나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</a:rPr>
              <a:t> 발명임을 알고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발명을 업으로 실시한 자에게 그 경고를 받거나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</a:rPr>
              <a:t> 발명임을 알았을 때부터 특허권의 설정등록을 할 때까지의 기간 동안 그 특허발명의 실시에 대하여 </a:t>
            </a:r>
            <a:r>
              <a:rPr lang="ko-KR" altLang="en-US" sz="1400" dirty="0">
                <a:solidFill>
                  <a:srgbClr val="FF0000"/>
                </a:solidFill>
              </a:rPr>
              <a:t>합리적</a:t>
            </a:r>
            <a:r>
              <a:rPr lang="ko-KR" altLang="en-US" sz="1400" dirty="0">
                <a:solidFill>
                  <a:schemeClr val="tx2"/>
                </a:solidFill>
              </a:rPr>
              <a:t>으로 받을 수 있는 금액에 상당하는 보상금의 지급을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청구권은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대한 특허권이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</a:rPr>
              <a:t> 후에만 행사할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청구권의 행사는 특허권의 행사에 영향을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청구권을 행사하는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127</a:t>
            </a:r>
            <a:r>
              <a:rPr lang="ko-KR" altLang="en-US" sz="1400" dirty="0" err="1">
                <a:solidFill>
                  <a:schemeClr val="tx2"/>
                </a:solidFill>
              </a:rPr>
              <a:t>조ㆍ제</a:t>
            </a:r>
            <a:r>
              <a:rPr lang="en-US" altLang="ko-KR" sz="1400" dirty="0">
                <a:solidFill>
                  <a:schemeClr val="tx2"/>
                </a:solidFill>
              </a:rPr>
              <a:t>129</a:t>
            </a:r>
            <a:r>
              <a:rPr lang="ko-KR" altLang="en-US" sz="1400" dirty="0" err="1">
                <a:solidFill>
                  <a:schemeClr val="tx2"/>
                </a:solidFill>
              </a:rPr>
              <a:t>조ㆍ제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 및 「민법」 제</a:t>
            </a:r>
            <a:r>
              <a:rPr lang="en-US" altLang="ko-KR" sz="1400" dirty="0">
                <a:solidFill>
                  <a:schemeClr val="tx2"/>
                </a:solidFill>
              </a:rPr>
              <a:t>760</a:t>
            </a:r>
            <a:r>
              <a:rPr lang="ko-KR" altLang="en-US" sz="1400" dirty="0" err="1">
                <a:solidFill>
                  <a:schemeClr val="tx2"/>
                </a:solidFill>
              </a:rPr>
              <a:t>조ㆍ제</a:t>
            </a:r>
            <a:r>
              <a:rPr lang="en-US" altLang="ko-KR" sz="1400" dirty="0">
                <a:solidFill>
                  <a:schemeClr val="tx2"/>
                </a:solidFill>
              </a:rPr>
              <a:t>766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「민법」 제</a:t>
            </a:r>
            <a:r>
              <a:rPr lang="en-US" altLang="ko-KR" sz="1400" dirty="0">
                <a:solidFill>
                  <a:schemeClr val="tx2"/>
                </a:solidFill>
              </a:rPr>
              <a:t>766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피해자나 그 법정대리인이 그 손해 및 가해자를 안 날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해당 특허권의 설정등록일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따른 출원공개 후 다음 각 호의 어느 하나에 해당하는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청구권은 처음부터 발생하지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포기ㆍ무효</a:t>
            </a:r>
            <a:r>
              <a:rPr lang="ko-KR" altLang="en-US" sz="1400" dirty="0">
                <a:solidFill>
                  <a:schemeClr val="tx2"/>
                </a:solidFill>
              </a:rPr>
              <a:t>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특허출원에 대하여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특허거절결정이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특허취소결정이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특허를 무효로 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호에 따른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확정된 경우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38628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1820917" y="4151389"/>
            <a:ext cx="3017783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경고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①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800225" y="5380903"/>
            <a:ext cx="3038475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독립성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④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1820917" y="4564226"/>
            <a:ext cx="3017783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성립요건 및 보상금액</a:t>
            </a:r>
            <a:r>
              <a:rPr lang="en-US" altLang="ko-KR" sz="1100" b="0" dirty="0">
                <a:latin typeface="+mn-ea"/>
              </a:rPr>
              <a:t>(</a:t>
            </a:r>
            <a:r>
              <a:rPr lang="ko-KR" altLang="en-US" sz="1100" b="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65②)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820917" y="4977063"/>
            <a:ext cx="3017783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행사시기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③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1800225" y="5793740"/>
            <a:ext cx="3038475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준용규정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⑤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1800225" y="6206577"/>
            <a:ext cx="3038475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소멸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⑥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00050" y="4819650"/>
            <a:ext cx="838200" cy="88882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보상금</a:t>
            </a:r>
            <a:endParaRPr lang="en-US" altLang="ko-KR" dirty="0"/>
          </a:p>
          <a:p>
            <a:pPr algn="ctr"/>
            <a:r>
              <a:rPr lang="ko-KR" altLang="en-US" dirty="0"/>
              <a:t>청구권</a:t>
            </a:r>
          </a:p>
        </p:txBody>
      </p:sp>
      <p:cxnSp>
        <p:nvCxnSpPr>
          <p:cNvPr id="11" name="꺾인 연결선 10"/>
          <p:cNvCxnSpPr>
            <a:stCxn id="6" idx="3"/>
            <a:endCxn id="31" idx="1"/>
          </p:cNvCxnSpPr>
          <p:nvPr/>
        </p:nvCxnSpPr>
        <p:spPr>
          <a:xfrm flipV="1">
            <a:off x="1238250" y="4315176"/>
            <a:ext cx="582667" cy="9488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3"/>
            <a:endCxn id="29" idx="1"/>
          </p:cNvCxnSpPr>
          <p:nvPr/>
        </p:nvCxnSpPr>
        <p:spPr>
          <a:xfrm>
            <a:off x="1238250" y="5264063"/>
            <a:ext cx="561975" cy="110630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" idx="3"/>
            <a:endCxn id="26" idx="1"/>
          </p:cNvCxnSpPr>
          <p:nvPr/>
        </p:nvCxnSpPr>
        <p:spPr>
          <a:xfrm flipV="1">
            <a:off x="1238250" y="4728013"/>
            <a:ext cx="582667" cy="5360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6" idx="3"/>
            <a:endCxn id="28" idx="1"/>
          </p:cNvCxnSpPr>
          <p:nvPr/>
        </p:nvCxnSpPr>
        <p:spPr>
          <a:xfrm>
            <a:off x="1238250" y="5264063"/>
            <a:ext cx="561975" cy="6934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6" idx="3"/>
            <a:endCxn id="27" idx="1"/>
          </p:cNvCxnSpPr>
          <p:nvPr/>
        </p:nvCxnSpPr>
        <p:spPr>
          <a:xfrm flipV="1">
            <a:off x="1238250" y="5140850"/>
            <a:ext cx="582667" cy="1232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6" idx="3"/>
            <a:endCxn id="32" idx="1"/>
          </p:cNvCxnSpPr>
          <p:nvPr/>
        </p:nvCxnSpPr>
        <p:spPr>
          <a:xfrm>
            <a:off x="1238250" y="5264063"/>
            <a:ext cx="561975" cy="2806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6086475" y="4503814"/>
            <a:ext cx="1943100" cy="327573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의의</a:t>
            </a: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6062702" y="5733328"/>
            <a:ext cx="1956423" cy="327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변동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6086475" y="4916651"/>
            <a:ext cx="1943100" cy="327573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발생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성립요건</a:t>
            </a:r>
            <a:r>
              <a:rPr lang="en-US" altLang="ko-KR" sz="1100" dirty="0">
                <a:latin typeface="+mn-ea"/>
              </a:rPr>
              <a:t>) 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①</a:t>
            </a:r>
            <a:r>
              <a:rPr lang="en-US" altLang="ko-KR" sz="1100" dirty="0">
                <a:latin typeface="+mn-ea"/>
              </a:rPr>
              <a:t>②)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6086475" y="5329488"/>
            <a:ext cx="1943100" cy="327573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효력</a:t>
            </a: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6062702" y="6146165"/>
            <a:ext cx="1956423" cy="327573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소멸</a:t>
            </a:r>
            <a:r>
              <a:rPr lang="en-US" altLang="ko-KR" sz="1100" dirty="0">
                <a:latin typeface="+mn-ea"/>
              </a:rPr>
              <a:t> 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⑥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8659867" y="3979938"/>
            <a:ext cx="3017783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출원공개</a:t>
            </a: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8659867" y="4351413"/>
            <a:ext cx="3017783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경고</a:t>
            </a:r>
            <a:r>
              <a:rPr lang="en-US" altLang="ko-KR" sz="1100" b="0" dirty="0">
                <a:latin typeface="+mn-ea"/>
              </a:rPr>
              <a:t>/</a:t>
            </a:r>
            <a:r>
              <a:rPr lang="ko-KR" altLang="en-US" sz="1100" b="0" dirty="0">
                <a:latin typeface="+mn-ea"/>
              </a:rPr>
              <a:t>안 때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8659867" y="4725690"/>
            <a:ext cx="3017783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정당한 </a:t>
            </a:r>
            <a:r>
              <a:rPr lang="ko-KR" altLang="en-US" sz="1100" b="0" dirty="0" err="1">
                <a:latin typeface="+mn-ea"/>
              </a:rPr>
              <a:t>권원없는</a:t>
            </a:r>
            <a:r>
              <a:rPr lang="ko-KR" altLang="en-US" sz="1100" b="0" dirty="0">
                <a:latin typeface="+mn-ea"/>
              </a:rPr>
              <a:t> 제</a:t>
            </a:r>
            <a:r>
              <a:rPr lang="en-US" altLang="ko-KR" sz="1100" b="0" dirty="0">
                <a:latin typeface="+mn-ea"/>
              </a:rPr>
              <a:t>3</a:t>
            </a:r>
            <a:r>
              <a:rPr lang="ko-KR" altLang="en-US" sz="1100" b="0" dirty="0">
                <a:latin typeface="+mn-ea"/>
              </a:rPr>
              <a:t>자가 출원발명을 업으로 실시</a:t>
            </a: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8639176" y="5942966"/>
            <a:ext cx="3038475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독립성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④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8659868" y="5126289"/>
            <a:ext cx="3017783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보상금액</a:t>
            </a:r>
            <a:r>
              <a:rPr lang="en-US" altLang="ko-KR" sz="1100" b="0" dirty="0">
                <a:latin typeface="+mn-ea"/>
              </a:rPr>
              <a:t>(</a:t>
            </a:r>
            <a:r>
              <a:rPr lang="ko-KR" altLang="en-US" sz="1100" b="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65②)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8659868" y="5539126"/>
            <a:ext cx="3017783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행사시기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③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639176" y="6355803"/>
            <a:ext cx="3038475" cy="3275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b="0" dirty="0">
                <a:latin typeface="+mn-ea"/>
              </a:rPr>
              <a:t>보상금청구권의 준용규정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法 </a:t>
            </a:r>
            <a:r>
              <a:rPr lang="en-US" altLang="ko-KR" sz="1100" dirty="0">
                <a:latin typeface="+mn-ea"/>
              </a:rPr>
              <a:t>65</a:t>
            </a:r>
            <a:r>
              <a:rPr lang="ko-KR" altLang="en-US" sz="1100" dirty="0"/>
              <a:t>⑤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65" name="꺾인 연결선 64"/>
          <p:cNvCxnSpPr>
            <a:stCxn id="56" idx="3"/>
            <a:endCxn id="60" idx="1"/>
          </p:cNvCxnSpPr>
          <p:nvPr/>
        </p:nvCxnSpPr>
        <p:spPr>
          <a:xfrm flipV="1">
            <a:off x="8029575" y="4143725"/>
            <a:ext cx="630292" cy="9367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56" idx="3"/>
            <a:endCxn id="61" idx="1"/>
          </p:cNvCxnSpPr>
          <p:nvPr/>
        </p:nvCxnSpPr>
        <p:spPr>
          <a:xfrm flipV="1">
            <a:off x="8029575" y="4515200"/>
            <a:ext cx="630292" cy="5652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56" idx="3"/>
            <a:endCxn id="62" idx="1"/>
          </p:cNvCxnSpPr>
          <p:nvPr/>
        </p:nvCxnSpPr>
        <p:spPr>
          <a:xfrm flipV="1">
            <a:off x="8029575" y="4889477"/>
            <a:ext cx="630292" cy="1909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7" idx="3"/>
            <a:endCxn id="67" idx="1"/>
          </p:cNvCxnSpPr>
          <p:nvPr/>
        </p:nvCxnSpPr>
        <p:spPr>
          <a:xfrm flipV="1">
            <a:off x="8029575" y="5290076"/>
            <a:ext cx="630293" cy="2031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57" idx="3"/>
            <a:endCxn id="69" idx="1"/>
          </p:cNvCxnSpPr>
          <p:nvPr/>
        </p:nvCxnSpPr>
        <p:spPr>
          <a:xfrm>
            <a:off x="8029575" y="5493275"/>
            <a:ext cx="609601" cy="10263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57" idx="3"/>
            <a:endCxn id="68" idx="1"/>
          </p:cNvCxnSpPr>
          <p:nvPr/>
        </p:nvCxnSpPr>
        <p:spPr>
          <a:xfrm>
            <a:off x="8029575" y="5493275"/>
            <a:ext cx="630293" cy="2096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57" idx="3"/>
            <a:endCxn id="66" idx="1"/>
          </p:cNvCxnSpPr>
          <p:nvPr/>
        </p:nvCxnSpPr>
        <p:spPr>
          <a:xfrm>
            <a:off x="8029575" y="5493275"/>
            <a:ext cx="609601" cy="6134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277</a:t>
            </a:r>
            <a:endParaRPr lang="ko-KR" altLang="en-US" dirty="0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D196411-E23A-4EEE-BA2C-1E7F178A9927}"/>
              </a:ext>
            </a:extLst>
          </p:cNvPr>
          <p:cNvSpPr/>
          <p:nvPr/>
        </p:nvSpPr>
        <p:spPr>
          <a:xfrm>
            <a:off x="5120649" y="4631676"/>
            <a:ext cx="696685" cy="1395623"/>
          </a:xfrm>
          <a:prstGeom prst="rightArrow">
            <a:avLst>
              <a:gd name="adj1" fmla="val 83696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031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64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65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보정과 </a:t>
            </a:r>
            <a:r>
              <a:rPr lang="ko-KR" altLang="en-US" dirty="0" err="1"/>
              <a:t>재경고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출원발명임을 경고한 후 청구범위 보정을 한 경우에 </a:t>
            </a:r>
            <a:r>
              <a:rPr lang="ko-KR" altLang="en-US" sz="1400" dirty="0" err="1">
                <a:solidFill>
                  <a:schemeClr val="tx2"/>
                </a:solidFill>
              </a:rPr>
              <a:t>재경고를</a:t>
            </a:r>
            <a:r>
              <a:rPr lang="ko-KR" altLang="en-US" sz="1400" dirty="0">
                <a:solidFill>
                  <a:schemeClr val="tx2"/>
                </a:solidFill>
              </a:rPr>
              <a:t> 하여야 하는지 여부가 문제된다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보정에 의하여 청구범위가 확장 또는 변경된 경우</a:t>
            </a:r>
            <a:r>
              <a:rPr lang="ko-KR" altLang="en-US" sz="1400" dirty="0">
                <a:solidFill>
                  <a:schemeClr val="tx2"/>
                </a:solidFill>
              </a:rPr>
              <a:t>에는 그 확장 또는 변경된 내용에 대하여 보상금청구권을 행사하기 위해서는 다시 경고를 하여야 하나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보정에 의하여 청구범위가 감축 또는 삭제된 경우</a:t>
            </a:r>
            <a:r>
              <a:rPr lang="ko-KR" altLang="en-US" sz="1400" dirty="0">
                <a:solidFill>
                  <a:schemeClr val="tx2"/>
                </a:solidFill>
              </a:rPr>
              <a:t>에는 재경고를 할 필요가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84496" y="3183294"/>
            <a:ext cx="1046450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584496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출원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127546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공개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165896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경고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5861346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7699671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재경고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480846" y="3032837"/>
            <a:ext cx="989461" cy="300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584496" y="2594687"/>
            <a:ext cx="989461" cy="3009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84496" y="2293773"/>
            <a:ext cx="989461" cy="3009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861345" y="2594687"/>
            <a:ext cx="989461" cy="3009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861345" y="2293773"/>
            <a:ext cx="989461" cy="3009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812332" y="2293773"/>
            <a:ext cx="1696588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戊에게 경고</a:t>
            </a:r>
          </a:p>
        </p:txBody>
      </p:sp>
      <p:cxnSp>
        <p:nvCxnSpPr>
          <p:cNvPr id="83" name="직선 연결선 82"/>
          <p:cNvCxnSpPr>
            <a:endCxn id="63" idx="0"/>
          </p:cNvCxnSpPr>
          <p:nvPr/>
        </p:nvCxnSpPr>
        <p:spPr>
          <a:xfrm>
            <a:off x="4660627" y="2590457"/>
            <a:ext cx="0" cy="4423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 11"/>
          <p:cNvSpPr/>
          <p:nvPr/>
        </p:nvSpPr>
        <p:spPr>
          <a:xfrm>
            <a:off x="3295650" y="3162300"/>
            <a:ext cx="7753350" cy="2600325"/>
          </a:xfrm>
          <a:custGeom>
            <a:avLst/>
            <a:gdLst>
              <a:gd name="connsiteX0" fmla="*/ 0 w 7886700"/>
              <a:gd name="connsiteY0" fmla="*/ 0 h 2600325"/>
              <a:gd name="connsiteX1" fmla="*/ 0 w 7886700"/>
              <a:gd name="connsiteY1" fmla="*/ 2600325 h 2600325"/>
              <a:gd name="connsiteX2" fmla="*/ 7886700 w 7886700"/>
              <a:gd name="connsiteY2" fmla="*/ 2600325 h 26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2600325">
                <a:moveTo>
                  <a:pt x="0" y="0"/>
                </a:moveTo>
                <a:lnTo>
                  <a:pt x="0" y="2600325"/>
                </a:lnTo>
                <a:lnTo>
                  <a:pt x="7886700" y="2600325"/>
                </a:ln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자유형 84"/>
          <p:cNvSpPr/>
          <p:nvPr/>
        </p:nvSpPr>
        <p:spPr>
          <a:xfrm>
            <a:off x="3476625" y="3162301"/>
            <a:ext cx="7572375" cy="1943100"/>
          </a:xfrm>
          <a:custGeom>
            <a:avLst/>
            <a:gdLst>
              <a:gd name="connsiteX0" fmla="*/ 0 w 7886700"/>
              <a:gd name="connsiteY0" fmla="*/ 0 h 2600325"/>
              <a:gd name="connsiteX1" fmla="*/ 0 w 7886700"/>
              <a:gd name="connsiteY1" fmla="*/ 2600325 h 2600325"/>
              <a:gd name="connsiteX2" fmla="*/ 7886700 w 7886700"/>
              <a:gd name="connsiteY2" fmla="*/ 2600325 h 26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2600325">
                <a:moveTo>
                  <a:pt x="0" y="0"/>
                </a:moveTo>
                <a:lnTo>
                  <a:pt x="0" y="2600325"/>
                </a:lnTo>
                <a:lnTo>
                  <a:pt x="7886700" y="2600325"/>
                </a:ln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자유형 85"/>
          <p:cNvSpPr/>
          <p:nvPr/>
        </p:nvSpPr>
        <p:spPr>
          <a:xfrm>
            <a:off x="3648075" y="3183294"/>
            <a:ext cx="7400925" cy="1279168"/>
          </a:xfrm>
          <a:custGeom>
            <a:avLst/>
            <a:gdLst>
              <a:gd name="connsiteX0" fmla="*/ 0 w 7886700"/>
              <a:gd name="connsiteY0" fmla="*/ 0 h 2600325"/>
              <a:gd name="connsiteX1" fmla="*/ 0 w 7886700"/>
              <a:gd name="connsiteY1" fmla="*/ 2600325 h 2600325"/>
              <a:gd name="connsiteX2" fmla="*/ 7886700 w 7886700"/>
              <a:gd name="connsiteY2" fmla="*/ 2600325 h 26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2600325">
                <a:moveTo>
                  <a:pt x="0" y="0"/>
                </a:moveTo>
                <a:lnTo>
                  <a:pt x="0" y="2600325"/>
                </a:lnTo>
                <a:lnTo>
                  <a:pt x="7886700" y="2600325"/>
                </a:ln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자유형 88"/>
          <p:cNvSpPr/>
          <p:nvPr/>
        </p:nvSpPr>
        <p:spPr>
          <a:xfrm>
            <a:off x="3812332" y="3183293"/>
            <a:ext cx="3450480" cy="690561"/>
          </a:xfrm>
          <a:custGeom>
            <a:avLst/>
            <a:gdLst>
              <a:gd name="connsiteX0" fmla="*/ 0 w 7886700"/>
              <a:gd name="connsiteY0" fmla="*/ 0 h 2600325"/>
              <a:gd name="connsiteX1" fmla="*/ 0 w 7886700"/>
              <a:gd name="connsiteY1" fmla="*/ 2600325 h 2600325"/>
              <a:gd name="connsiteX2" fmla="*/ 7886700 w 7886700"/>
              <a:gd name="connsiteY2" fmla="*/ 2600325 h 26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2600325">
                <a:moveTo>
                  <a:pt x="0" y="0"/>
                </a:moveTo>
                <a:lnTo>
                  <a:pt x="0" y="2600325"/>
                </a:lnTo>
                <a:lnTo>
                  <a:pt x="7886700" y="2600325"/>
                </a:ln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4783882" y="5829300"/>
            <a:ext cx="1696588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실시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4783882" y="5143501"/>
            <a:ext cx="1696588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丙 </a:t>
            </a:r>
            <a:r>
              <a:rPr lang="en-US" altLang="ko-KR" sz="1200" dirty="0">
                <a:solidFill>
                  <a:schemeClr val="tx1"/>
                </a:solidFill>
              </a:rPr>
              <a:t>B </a:t>
            </a:r>
            <a:r>
              <a:rPr lang="ko-KR" altLang="en-US" sz="1200" dirty="0">
                <a:solidFill>
                  <a:schemeClr val="tx1"/>
                </a:solidFill>
              </a:rPr>
              <a:t>실시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4783882" y="4510087"/>
            <a:ext cx="1696588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丁 </a:t>
            </a:r>
            <a:r>
              <a:rPr lang="en-US" altLang="ko-KR" sz="1200" dirty="0">
                <a:solidFill>
                  <a:schemeClr val="tx1"/>
                </a:solidFill>
              </a:rPr>
              <a:t>C </a:t>
            </a:r>
            <a:r>
              <a:rPr lang="ko-KR" altLang="en-US" sz="1200" dirty="0">
                <a:solidFill>
                  <a:schemeClr val="tx1"/>
                </a:solidFill>
              </a:rPr>
              <a:t>실시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4783882" y="3935766"/>
            <a:ext cx="1696588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戊 </a:t>
            </a:r>
            <a:r>
              <a:rPr lang="en-US" altLang="ko-KR" sz="1200" dirty="0">
                <a:solidFill>
                  <a:schemeClr val="tx1"/>
                </a:solidFill>
              </a:rPr>
              <a:t>C </a:t>
            </a:r>
            <a:r>
              <a:rPr lang="ko-KR" altLang="en-US" sz="1200" dirty="0">
                <a:solidFill>
                  <a:schemeClr val="tx1"/>
                </a:solidFill>
              </a:rPr>
              <a:t>실시</a:t>
            </a:r>
          </a:p>
        </p:txBody>
      </p:sp>
      <p:cxnSp>
        <p:nvCxnSpPr>
          <p:cNvPr id="14" name="직선 연결선 13"/>
          <p:cNvCxnSpPr>
            <a:stCxn id="63" idx="2"/>
          </p:cNvCxnSpPr>
          <p:nvPr/>
        </p:nvCxnSpPr>
        <p:spPr>
          <a:xfrm flipH="1">
            <a:off x="4660626" y="3333751"/>
            <a:ext cx="1" cy="32099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H="1">
            <a:off x="9975576" y="3333751"/>
            <a:ext cx="1" cy="32099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 flipH="1">
            <a:off x="8194401" y="3333751"/>
            <a:ext cx="1" cy="32099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346107" y="2293773"/>
            <a:ext cx="1696588" cy="276225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丙에게 경고</a:t>
            </a:r>
          </a:p>
        </p:txBody>
      </p:sp>
      <p:cxnSp>
        <p:nvCxnSpPr>
          <p:cNvPr id="99" name="직선 연결선 98"/>
          <p:cNvCxnSpPr/>
          <p:nvPr/>
        </p:nvCxnSpPr>
        <p:spPr>
          <a:xfrm>
            <a:off x="8187778" y="2590457"/>
            <a:ext cx="0" cy="4423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660627" y="4462462"/>
            <a:ext cx="531494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4660627" y="3873854"/>
            <a:ext cx="2657474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8194402" y="5093055"/>
            <a:ext cx="180917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사각형 설명선 23"/>
          <p:cNvSpPr/>
          <p:nvPr/>
        </p:nvSpPr>
        <p:spPr>
          <a:xfrm>
            <a:off x="9315450" y="1924050"/>
            <a:ext cx="790575" cy="760248"/>
          </a:xfrm>
          <a:prstGeom prst="wedgeRoundRectCallout">
            <a:avLst>
              <a:gd name="adj1" fmla="val -71132"/>
              <a:gd name="adj2" fmla="val 1447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: </a:t>
            </a: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B : </a:t>
            </a:r>
            <a:r>
              <a:rPr lang="ko-KR" altLang="en-US" sz="1200" dirty="0">
                <a:solidFill>
                  <a:schemeClr val="tx1"/>
                </a:solidFill>
              </a:rPr>
              <a:t>추가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C : </a:t>
            </a:r>
            <a:r>
              <a:rPr lang="ko-KR" altLang="en-US" sz="1200" dirty="0">
                <a:solidFill>
                  <a:schemeClr val="tx1"/>
                </a:solidFill>
              </a:rPr>
              <a:t>유지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46559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선행기술조사의 목적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05919"/>
              </p:ext>
            </p:extLst>
          </p:nvPr>
        </p:nvGraphicFramePr>
        <p:xfrm>
          <a:off x="586036" y="1412776"/>
          <a:ext cx="11034464" cy="475252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5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9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목적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주요 내용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검색 전략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신기술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개발을 위한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조사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관련 기술분야의 개발흐름을 파악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연구개발 테마를 선정하거나 미래기술 예측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선행기술조사로 중복투자 및 중복투자 방지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 err="1"/>
                        <a:t>기술개발시</a:t>
                      </a:r>
                      <a:r>
                        <a:rPr lang="ko-KR" altLang="en-US" sz="1400" dirty="0"/>
                        <a:t> 문제점 해결을 위한 아이디어 입수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타사의 기술개발 동향 파악</a:t>
                      </a:r>
                      <a:endParaRPr lang="en-US" altLang="ko-KR" sz="14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관련성 있는 기술범위를 넓게 설정하여 조사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해결하고자 하는 과제를 중심으로 조사</a:t>
                      </a:r>
                      <a:endParaRPr lang="en-US" altLang="ko-KR" sz="14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2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특허등록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가능성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특허권 존재</a:t>
                      </a:r>
                      <a:r>
                        <a:rPr lang="ko-KR" altLang="en-US" sz="1400" baseline="0" dirty="0"/>
                        <a:t> 여부</a:t>
                      </a:r>
                      <a:r>
                        <a:rPr lang="ko-KR" altLang="en-US" sz="1400" dirty="0"/>
                        <a:t> 조사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 err="1"/>
                        <a:t>특허출원전</a:t>
                      </a:r>
                      <a:r>
                        <a:rPr lang="ko-KR" altLang="en-US" sz="1400" dirty="0"/>
                        <a:t> 선행기술조사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특허등록 가능성 판단 및 권리범위 가능 영역의 확인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무용한 특허출원의 지양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특허등록 가능성이 높아지도록 명세서 작성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신규성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진보성의 판단 기준을 고려하여 조사</a:t>
                      </a:r>
                      <a:endParaRPr lang="en-US" altLang="ko-KR" sz="1400" dirty="0"/>
                    </a:p>
                    <a:p>
                      <a:pPr marL="88900" indent="-88900"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기술의 구성요소를 특정하고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이에 상응하는 구성요소들이 공지되어 있는지를 중점적으로 조사 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6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특허분쟁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대응</a:t>
                      </a:r>
                      <a:r>
                        <a:rPr lang="ko-KR" altLang="en-US" sz="1400" baseline="0" dirty="0"/>
                        <a:t> 자료 조사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시장출시 예정 제품에 대한 특허침해 가능성</a:t>
                      </a:r>
                      <a:r>
                        <a:rPr lang="ko-KR" altLang="en-US" sz="1400" baseline="0" dirty="0"/>
                        <a:t> 있는 특허 검색</a:t>
                      </a:r>
                      <a:endParaRPr lang="en-US" altLang="ko-KR" sz="1400" baseline="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baseline="0" dirty="0"/>
                        <a:t>특허분쟁 가능성 사전 예방</a:t>
                      </a:r>
                      <a:endParaRPr lang="en-US" altLang="ko-KR" sz="1400" baseline="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baseline="0" dirty="0"/>
                        <a:t>회피설계 타진 또는 해당 권리의 무효화 추진</a:t>
                      </a:r>
                      <a:endParaRPr lang="en-US" altLang="ko-KR" sz="1400" baseline="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400" dirty="0"/>
                        <a:t>문제 특허에 대한 정보제공 또는 무효자료 조사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침해이론</a:t>
                      </a:r>
                      <a:r>
                        <a:rPr lang="en-US" altLang="ko-KR" sz="1400" dirty="0"/>
                        <a:t>(All</a:t>
                      </a:r>
                      <a:r>
                        <a:rPr lang="en-US" altLang="ko-KR" sz="1400" baseline="0" dirty="0"/>
                        <a:t> Elements Rule, </a:t>
                      </a:r>
                      <a:r>
                        <a:rPr lang="ko-KR" altLang="en-US" sz="1400" baseline="0" dirty="0" err="1"/>
                        <a:t>균등론</a:t>
                      </a:r>
                      <a:r>
                        <a:rPr lang="en-US" altLang="ko-KR" sz="1400" baseline="0" dirty="0"/>
                        <a:t>)</a:t>
                      </a:r>
                      <a:r>
                        <a:rPr lang="ko-KR" altLang="en-US" sz="1400" baseline="0" dirty="0"/>
                        <a:t>에 입각하여 침해 문제가 있는 선행기술을 중점적으로 조사</a:t>
                      </a:r>
                      <a:endParaRPr lang="en-US" altLang="ko-KR" sz="1400" baseline="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경쟁사의 포트폴리오를 분석</a:t>
                      </a:r>
                      <a:endParaRPr lang="en-US" altLang="ko-KR" sz="1400" dirty="0"/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회피설계방안을 고려하여 공지기술 조사</a:t>
                      </a:r>
                      <a:endParaRPr lang="en-US" altLang="ko-KR" sz="1400" dirty="0"/>
                    </a:p>
                    <a:p>
                      <a:pPr marL="88900" indent="-88900"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400" baseline="0" dirty="0"/>
                        <a:t>등록되지 않은 특허의 경우에는 지속적인 모니터링 방안 제시</a:t>
                      </a:r>
                      <a:endParaRPr lang="en-US" altLang="ko-KR" sz="1400" baseline="0" dirty="0"/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400" baseline="0" dirty="0"/>
                        <a:t>인용도</a:t>
                      </a:r>
                      <a:r>
                        <a:rPr lang="en-US" altLang="ko-KR" sz="1400" baseline="0" dirty="0"/>
                        <a:t>(Forward, Backward Citation)</a:t>
                      </a:r>
                      <a:r>
                        <a:rPr lang="ko-KR" altLang="en-US" sz="1400" baseline="0" dirty="0"/>
                        <a:t>를 활용하여 심도 있는 조사</a:t>
                      </a:r>
                      <a:endParaRPr lang="en-US" altLang="ko-KR" sz="1400" b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279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4795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PATENT MAP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+mn-ea"/>
              </a:rPr>
              <a:t>특허맵이란</a:t>
            </a:r>
            <a:r>
              <a:rPr lang="ko-KR" altLang="en-US" sz="1400" dirty="0">
                <a:latin typeface="+mn-ea"/>
              </a:rPr>
              <a:t> 특허정보를 분석하여 서지사항의 분류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정리하고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기술적 사항을 분석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가공하여 특허정보만이 가지고 있는 경영정보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권리정보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및 기술정보를 도표화한 것을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말한다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15215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5576"/>
              </p:ext>
            </p:extLst>
          </p:nvPr>
        </p:nvGraphicFramePr>
        <p:xfrm>
          <a:off x="320825" y="1735708"/>
          <a:ext cx="11439375" cy="2188593"/>
        </p:xfrm>
        <a:graphic>
          <a:graphicData uri="http://schemas.openxmlformats.org/drawingml/2006/table">
            <a:tbl>
              <a:tblPr firstCol="1">
                <a:tableStyleId>{8799B23B-EC83-4686-B30A-512413B5E67A}</a:tableStyleId>
              </a:tblPr>
              <a:tblGrid>
                <a:gridCol w="2100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177">
                <a:tc rowSpan="4">
                  <a:txBody>
                    <a:bodyPr/>
                    <a:lstStyle/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경영정보분석</a:t>
                      </a:r>
                      <a:endParaRPr kumimoji="0" lang="en-US" altLang="ko-KR" sz="11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경영전략 수립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경쟁사의 동향 파악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시장동향 및 상품의 변혁과 흐름파악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신규 사업방향 및 가능성 파악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자사 기술 매각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해외진출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기술도입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사업화시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주의를 요하는 권리 파악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77">
                <a:tc rowSpan="2">
                  <a:txBody>
                    <a:bodyPr/>
                    <a:lstStyle/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기술정보분석</a:t>
                      </a:r>
                      <a:endParaRPr kumimoji="0" lang="en-US" altLang="ko-KR" sz="11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연구개발전략 수립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R&amp;D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동향 파악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공백 기술 분야 파악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선행 프로젝트의 현존기술 파악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중요 특허 파악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타깃제품의 시장조사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기술 분야의 체계 파악</a:t>
                      </a:r>
                      <a:r>
                        <a:rPr kumimoji="0" lang="en-US" altLang="ko-KR" sz="11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자사의 위치 설정</a:t>
                      </a: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77">
                <a:tc rowSpan="3">
                  <a:txBody>
                    <a:bodyPr/>
                    <a:lstStyle/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권리정보분석</a:t>
                      </a:r>
                      <a:endParaRPr kumimoji="0" lang="en-US" altLang="ko-KR" sz="11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2540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특허전략 수립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정보제공</a:t>
                      </a:r>
                      <a:r>
                        <a:rPr kumimoji="0" lang="en-US" altLang="ko-KR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취소신청 및 무효심판 등의 자료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특허 관리망 형성</a:t>
                      </a: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강력한 특허권 취득을 위한 명세서 파악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910" marR="13910" marT="13922" marB="13922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 bwMode="auto">
          <a:xfrm>
            <a:off x="319906" y="5225802"/>
            <a:ext cx="720725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특허정보</a:t>
            </a:r>
          </a:p>
        </p:txBody>
      </p:sp>
      <p:sp>
        <p:nvSpPr>
          <p:cNvPr id="9" name="직사각형 8"/>
          <p:cNvSpPr/>
          <p:nvPr/>
        </p:nvSpPr>
        <p:spPr bwMode="auto">
          <a:xfrm>
            <a:off x="1328588" y="4816227"/>
            <a:ext cx="935037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b="0" dirty="0">
                <a:solidFill>
                  <a:schemeClr val="tx1"/>
                </a:solidFill>
                <a:latin typeface="+mn-ea"/>
              </a:rPr>
              <a:t>서지적 사항</a:t>
            </a:r>
          </a:p>
        </p:txBody>
      </p:sp>
      <p:sp>
        <p:nvSpPr>
          <p:cNvPr id="10" name="직사각형 9"/>
          <p:cNvSpPr/>
          <p:nvPr/>
        </p:nvSpPr>
        <p:spPr bwMode="auto">
          <a:xfrm>
            <a:off x="2336650" y="4816227"/>
            <a:ext cx="935038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분류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정리</a:t>
            </a:r>
          </a:p>
        </p:txBody>
      </p:sp>
      <p:sp>
        <p:nvSpPr>
          <p:cNvPr id="11" name="직사각형 10"/>
          <p:cNvSpPr/>
          <p:nvPr/>
        </p:nvSpPr>
        <p:spPr bwMode="auto">
          <a:xfrm>
            <a:off x="3488258" y="5225802"/>
            <a:ext cx="720725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050">
                <a:solidFill>
                  <a:schemeClr val="bg1"/>
                </a:solidFill>
                <a:latin typeface="+mn-ea"/>
              </a:rPr>
              <a:t>DATA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화</a:t>
            </a:r>
          </a:p>
        </p:txBody>
      </p:sp>
      <p:sp>
        <p:nvSpPr>
          <p:cNvPr id="12" name="직사각형 11"/>
          <p:cNvSpPr/>
          <p:nvPr/>
        </p:nvSpPr>
        <p:spPr bwMode="auto">
          <a:xfrm>
            <a:off x="4351709" y="5225802"/>
            <a:ext cx="720725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도표화</a:t>
            </a:r>
          </a:p>
        </p:txBody>
      </p:sp>
      <p:sp>
        <p:nvSpPr>
          <p:cNvPr id="13" name="직사각형 12"/>
          <p:cNvSpPr/>
          <p:nvPr/>
        </p:nvSpPr>
        <p:spPr bwMode="auto">
          <a:xfrm>
            <a:off x="1328588" y="5635377"/>
            <a:ext cx="935037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b="0" dirty="0">
                <a:solidFill>
                  <a:schemeClr val="tx1"/>
                </a:solidFill>
                <a:latin typeface="+mn-ea"/>
              </a:rPr>
              <a:t>기술적 사항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2336650" y="5635377"/>
            <a:ext cx="935038" cy="292100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분석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가공</a:t>
            </a:r>
          </a:p>
        </p:txBody>
      </p:sp>
      <p:cxnSp>
        <p:nvCxnSpPr>
          <p:cNvPr id="15" name="꺾인 연결선 14"/>
          <p:cNvCxnSpPr>
            <a:stCxn id="8" idx="3"/>
            <a:endCxn id="9" idx="1"/>
          </p:cNvCxnSpPr>
          <p:nvPr/>
        </p:nvCxnSpPr>
        <p:spPr bwMode="auto">
          <a:xfrm flipV="1">
            <a:off x="1040631" y="4962277"/>
            <a:ext cx="287957" cy="409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8" idx="3"/>
            <a:endCxn id="13" idx="1"/>
          </p:cNvCxnSpPr>
          <p:nvPr/>
        </p:nvCxnSpPr>
        <p:spPr bwMode="auto">
          <a:xfrm>
            <a:off x="1040631" y="5371852"/>
            <a:ext cx="287957" cy="409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4" idx="3"/>
            <a:endCxn id="11" idx="1"/>
          </p:cNvCxnSpPr>
          <p:nvPr/>
        </p:nvCxnSpPr>
        <p:spPr bwMode="auto">
          <a:xfrm flipV="1">
            <a:off x="3271688" y="5371852"/>
            <a:ext cx="216570" cy="409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0" idx="3"/>
            <a:endCxn id="11" idx="1"/>
          </p:cNvCxnSpPr>
          <p:nvPr/>
        </p:nvCxnSpPr>
        <p:spPr bwMode="auto">
          <a:xfrm>
            <a:off x="3271688" y="4962277"/>
            <a:ext cx="216570" cy="409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1" idx="3"/>
            <a:endCxn id="12" idx="1"/>
          </p:cNvCxnSpPr>
          <p:nvPr/>
        </p:nvCxnSpPr>
        <p:spPr bwMode="auto">
          <a:xfrm>
            <a:off x="4208983" y="5371852"/>
            <a:ext cx="142726" cy="0"/>
          </a:xfrm>
          <a:prstGeom prst="straightConnector1">
            <a:avLst/>
          </a:prstGeom>
          <a:ln w="12700"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 bwMode="auto">
          <a:xfrm>
            <a:off x="1688950" y="5225802"/>
            <a:ext cx="1295400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>
                <a:solidFill>
                  <a:schemeClr val="bg1"/>
                </a:solidFill>
                <a:latin typeface="+mn-ea"/>
              </a:rPr>
              <a:t>권리정보적 활용</a:t>
            </a:r>
            <a:endParaRPr lang="ko-KR" alt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1688950" y="6044952"/>
            <a:ext cx="1295400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기술정보적 활용</a:t>
            </a:r>
          </a:p>
        </p:txBody>
      </p:sp>
      <p:sp>
        <p:nvSpPr>
          <p:cNvPr id="22" name="직사각형 21"/>
          <p:cNvSpPr/>
          <p:nvPr/>
        </p:nvSpPr>
        <p:spPr bwMode="auto">
          <a:xfrm>
            <a:off x="1688950" y="4465389"/>
            <a:ext cx="1295400" cy="2921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경영정보적 활용</a:t>
            </a:r>
          </a:p>
        </p:txBody>
      </p:sp>
      <p:pic>
        <p:nvPicPr>
          <p:cNvPr id="23" name="Picture 9" descr="http://dornbrook.com/Blogs/Mendon/Samurai%20Risk%20Level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153" y="4067181"/>
            <a:ext cx="5225694" cy="2466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육각형 23"/>
          <p:cNvSpPr/>
          <p:nvPr/>
        </p:nvSpPr>
        <p:spPr bwMode="auto">
          <a:xfrm rot="2696538">
            <a:off x="6700383" y="4203000"/>
            <a:ext cx="203138" cy="158283"/>
          </a:xfrm>
          <a:prstGeom prst="hexagon">
            <a:avLst/>
          </a:prstGeom>
          <a:solidFill>
            <a:srgbClr val="FF0000"/>
          </a:solidFill>
          <a:ln>
            <a:headEnd type="none" w="med" len="med"/>
            <a:tailEnd type="none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5" name="육각형 24"/>
          <p:cNvSpPr/>
          <p:nvPr/>
        </p:nvSpPr>
        <p:spPr bwMode="auto">
          <a:xfrm rot="2696538">
            <a:off x="6700382" y="4647886"/>
            <a:ext cx="203138" cy="158283"/>
          </a:xfrm>
          <a:prstGeom prst="hexagon">
            <a:avLst/>
          </a:prstGeom>
          <a:solidFill>
            <a:srgbClr val="0000FF"/>
          </a:solidFill>
          <a:ln>
            <a:headEnd type="none" w="med" len="med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6" name="육각형 25"/>
          <p:cNvSpPr/>
          <p:nvPr/>
        </p:nvSpPr>
        <p:spPr bwMode="auto">
          <a:xfrm rot="2696538">
            <a:off x="6700383" y="4426265"/>
            <a:ext cx="203138" cy="158283"/>
          </a:xfrm>
          <a:prstGeom prst="hexagon">
            <a:avLst/>
          </a:prstGeom>
          <a:solidFill>
            <a:srgbClr val="FFFF00"/>
          </a:solidFill>
          <a:ln>
            <a:headEnd type="none" w="med" len="med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7" name="육각형 26"/>
          <p:cNvSpPr/>
          <p:nvPr/>
        </p:nvSpPr>
        <p:spPr bwMode="auto">
          <a:xfrm rot="2696538">
            <a:off x="6700384" y="4869507"/>
            <a:ext cx="203138" cy="158283"/>
          </a:xfrm>
          <a:prstGeom prst="hexagon">
            <a:avLst/>
          </a:prstGeom>
          <a:solidFill>
            <a:schemeClr val="bg1"/>
          </a:solidFill>
          <a:ln>
            <a:headEnd type="none" w="med" len="med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2736" y="4136700"/>
            <a:ext cx="146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High Risk region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2736" y="4360927"/>
            <a:ext cx="146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Low Risk region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42736" y="4582548"/>
            <a:ext cx="146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Public Domain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42736" y="4804169"/>
            <a:ext cx="146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Empty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2" name="육각형 31"/>
          <p:cNvSpPr/>
          <p:nvPr/>
        </p:nvSpPr>
        <p:spPr bwMode="auto">
          <a:xfrm rot="2696538">
            <a:off x="6700384" y="5093354"/>
            <a:ext cx="203138" cy="158283"/>
          </a:xfrm>
          <a:prstGeom prst="hexagon">
            <a:avLst/>
          </a:prstGeom>
          <a:solidFill>
            <a:srgbClr val="99CCFF"/>
          </a:solidFill>
          <a:ln>
            <a:headEnd type="none" w="med" len="med"/>
            <a:tailEnd type="none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2736" y="5028015"/>
            <a:ext cx="146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Not related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133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장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439326" y="3217998"/>
            <a:ext cx="970795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심사</a:t>
            </a:r>
            <a:endParaRPr lang="en-US" altLang="ko-KR" sz="2400" dirty="0"/>
          </a:p>
          <a:p>
            <a:pPr algn="ctr"/>
            <a:r>
              <a:rPr lang="en-US" altLang="ko-KR" sz="2400" dirty="0"/>
              <a:t>(</a:t>
            </a:r>
            <a:r>
              <a:rPr lang="ko-KR" altLang="en-US" sz="2400" dirty="0"/>
              <a:t>제도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9" name="직사각형 38"/>
          <p:cNvSpPr/>
          <p:nvPr/>
        </p:nvSpPr>
        <p:spPr>
          <a:xfrm>
            <a:off x="2575595" y="1555643"/>
            <a:ext cx="786730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주체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575595" y="2492110"/>
            <a:ext cx="786730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청구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575595" y="3479693"/>
            <a:ext cx="786730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진행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575595" y="4416160"/>
            <a:ext cx="786730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종료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2575595" y="5311510"/>
            <a:ext cx="786730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8" name="꺾인 연결선 7"/>
          <p:cNvCxnSpPr>
            <a:stCxn id="31" idx="3"/>
            <a:endCxn id="39" idx="1"/>
          </p:cNvCxnSpPr>
          <p:nvPr/>
        </p:nvCxnSpPr>
        <p:spPr>
          <a:xfrm flipV="1">
            <a:off x="1410121" y="1761425"/>
            <a:ext cx="1165474" cy="19268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31" idx="3"/>
            <a:endCxn id="29" idx="1"/>
          </p:cNvCxnSpPr>
          <p:nvPr/>
        </p:nvCxnSpPr>
        <p:spPr>
          <a:xfrm>
            <a:off x="1410121" y="3688311"/>
            <a:ext cx="1165474" cy="18289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31" idx="3"/>
            <a:endCxn id="26" idx="1"/>
          </p:cNvCxnSpPr>
          <p:nvPr/>
        </p:nvCxnSpPr>
        <p:spPr>
          <a:xfrm flipV="1">
            <a:off x="1410121" y="2697892"/>
            <a:ext cx="1165474" cy="9904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1" idx="3"/>
            <a:endCxn id="28" idx="1"/>
          </p:cNvCxnSpPr>
          <p:nvPr/>
        </p:nvCxnSpPr>
        <p:spPr>
          <a:xfrm>
            <a:off x="1410121" y="3688311"/>
            <a:ext cx="1165474" cy="9336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31" idx="3"/>
            <a:endCxn id="27" idx="1"/>
          </p:cNvCxnSpPr>
          <p:nvPr/>
        </p:nvCxnSpPr>
        <p:spPr>
          <a:xfrm flipV="1">
            <a:off x="1410121" y="3685475"/>
            <a:ext cx="1165474" cy="28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3876675" y="1015786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57, 68)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76675" y="1540948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전문기관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58, 58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876675" y="4000738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출원의 무효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취하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포기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제도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876675" y="4525900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특허여부결정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제도</a:t>
            </a:r>
            <a:r>
              <a:rPr lang="en-US" altLang="ko-KR" sz="1200" dirty="0">
                <a:solidFill>
                  <a:schemeClr val="tx1"/>
                </a:solidFill>
              </a:rPr>
              <a:t>)(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62, 63, 66~67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876675" y="2090773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심사청구제도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59, 60)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876675" y="2615935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우선심사제도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61)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876675" y="3292029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심사의 진행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62, 63, 63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876675" y="5121010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정보제공제도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63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876675" y="5646172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출원공개제도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64, 65)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876675" y="6181395"/>
            <a:ext cx="3438525" cy="411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타절차와의</a:t>
            </a:r>
            <a:r>
              <a:rPr lang="ko-KR" altLang="en-US" sz="1200" dirty="0">
                <a:solidFill>
                  <a:schemeClr val="tx1"/>
                </a:solidFill>
              </a:rPr>
              <a:t> 관계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78)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7823871" y="2713514"/>
            <a:ext cx="910554" cy="53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종류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7823871" y="3395966"/>
            <a:ext cx="910554" cy="53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67)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823871" y="4078577"/>
            <a:ext cx="910554" cy="53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효과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9043071" y="2494702"/>
            <a:ext cx="1430965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거절결정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62, 63)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043071" y="2956638"/>
            <a:ext cx="1430965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66)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9043072" y="4353283"/>
            <a:ext cx="888664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거절결정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9043072" y="3888365"/>
            <a:ext cx="888664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9055436" y="5101308"/>
            <a:ext cx="1510628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직권보정제도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66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9055436" y="5572480"/>
            <a:ext cx="1510628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직권재심사제도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66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9055436" y="6043932"/>
            <a:ext cx="1510628" cy="411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재심사청구제도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67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2, 67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823871" y="5215076"/>
            <a:ext cx="910554" cy="53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관련제도</a:t>
            </a:r>
          </a:p>
        </p:txBody>
      </p:sp>
      <p:cxnSp>
        <p:nvCxnSpPr>
          <p:cNvPr id="20" name="꺾인 연결선 19"/>
          <p:cNvCxnSpPr>
            <a:stCxn id="39" idx="3"/>
            <a:endCxn id="50" idx="1"/>
          </p:cNvCxnSpPr>
          <p:nvPr/>
        </p:nvCxnSpPr>
        <p:spPr>
          <a:xfrm flipV="1">
            <a:off x="3362325" y="1221568"/>
            <a:ext cx="514350" cy="5398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39" idx="3"/>
            <a:endCxn id="51" idx="1"/>
          </p:cNvCxnSpPr>
          <p:nvPr/>
        </p:nvCxnSpPr>
        <p:spPr>
          <a:xfrm flipV="1">
            <a:off x="3362325" y="1746730"/>
            <a:ext cx="514350" cy="146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6" idx="3"/>
            <a:endCxn id="54" idx="1"/>
          </p:cNvCxnSpPr>
          <p:nvPr/>
        </p:nvCxnSpPr>
        <p:spPr>
          <a:xfrm flipV="1">
            <a:off x="3362325" y="2296555"/>
            <a:ext cx="514350" cy="4013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26" idx="3"/>
            <a:endCxn id="55" idx="1"/>
          </p:cNvCxnSpPr>
          <p:nvPr/>
        </p:nvCxnSpPr>
        <p:spPr>
          <a:xfrm>
            <a:off x="3362325" y="2697892"/>
            <a:ext cx="514350" cy="123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27" idx="3"/>
            <a:endCxn id="56" idx="1"/>
          </p:cNvCxnSpPr>
          <p:nvPr/>
        </p:nvCxnSpPr>
        <p:spPr>
          <a:xfrm flipV="1">
            <a:off x="3362325" y="3497811"/>
            <a:ext cx="514350" cy="1876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28" idx="3"/>
            <a:endCxn id="52" idx="1"/>
          </p:cNvCxnSpPr>
          <p:nvPr/>
        </p:nvCxnSpPr>
        <p:spPr>
          <a:xfrm flipV="1">
            <a:off x="3362325" y="4206520"/>
            <a:ext cx="514350" cy="4154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28" idx="3"/>
            <a:endCxn id="53" idx="1"/>
          </p:cNvCxnSpPr>
          <p:nvPr/>
        </p:nvCxnSpPr>
        <p:spPr>
          <a:xfrm>
            <a:off x="3362325" y="4621942"/>
            <a:ext cx="514350" cy="1097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29" idx="3"/>
            <a:endCxn id="57" idx="1"/>
          </p:cNvCxnSpPr>
          <p:nvPr/>
        </p:nvCxnSpPr>
        <p:spPr>
          <a:xfrm flipV="1">
            <a:off x="3362325" y="5326792"/>
            <a:ext cx="514350" cy="190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29" idx="3"/>
            <a:endCxn id="58" idx="1"/>
          </p:cNvCxnSpPr>
          <p:nvPr/>
        </p:nvCxnSpPr>
        <p:spPr>
          <a:xfrm>
            <a:off x="3362325" y="5517292"/>
            <a:ext cx="514350" cy="3346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>
            <a:stCxn id="29" idx="3"/>
            <a:endCxn id="59" idx="1"/>
          </p:cNvCxnSpPr>
          <p:nvPr/>
        </p:nvCxnSpPr>
        <p:spPr>
          <a:xfrm>
            <a:off x="3362325" y="5517292"/>
            <a:ext cx="514350" cy="8698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53" idx="3"/>
            <a:endCxn id="60" idx="1"/>
          </p:cNvCxnSpPr>
          <p:nvPr/>
        </p:nvCxnSpPr>
        <p:spPr>
          <a:xfrm flipV="1">
            <a:off x="7315200" y="2980732"/>
            <a:ext cx="508671" cy="17509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53" idx="3"/>
            <a:endCxn id="70" idx="1"/>
          </p:cNvCxnSpPr>
          <p:nvPr/>
        </p:nvCxnSpPr>
        <p:spPr>
          <a:xfrm>
            <a:off x="7315200" y="4731682"/>
            <a:ext cx="508671" cy="7506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stCxn id="53" idx="3"/>
            <a:endCxn id="61" idx="1"/>
          </p:cNvCxnSpPr>
          <p:nvPr/>
        </p:nvCxnSpPr>
        <p:spPr>
          <a:xfrm flipV="1">
            <a:off x="7315200" y="3663184"/>
            <a:ext cx="508671" cy="10684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53" idx="3"/>
            <a:endCxn id="62" idx="1"/>
          </p:cNvCxnSpPr>
          <p:nvPr/>
        </p:nvCxnSpPr>
        <p:spPr>
          <a:xfrm flipV="1">
            <a:off x="7315200" y="4345795"/>
            <a:ext cx="508671" cy="3858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cxnSpLocks/>
            <a:stCxn id="60" idx="3"/>
            <a:endCxn id="63" idx="1"/>
          </p:cNvCxnSpPr>
          <p:nvPr/>
        </p:nvCxnSpPr>
        <p:spPr>
          <a:xfrm flipV="1">
            <a:off x="8734425" y="2700484"/>
            <a:ext cx="308646" cy="2802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cxnSpLocks/>
            <a:stCxn id="60" idx="3"/>
            <a:endCxn id="64" idx="1"/>
          </p:cNvCxnSpPr>
          <p:nvPr/>
        </p:nvCxnSpPr>
        <p:spPr>
          <a:xfrm>
            <a:off x="8734425" y="2980732"/>
            <a:ext cx="308646" cy="1816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62" idx="3"/>
            <a:endCxn id="65" idx="1"/>
          </p:cNvCxnSpPr>
          <p:nvPr/>
        </p:nvCxnSpPr>
        <p:spPr>
          <a:xfrm>
            <a:off x="8734425" y="4345795"/>
            <a:ext cx="308647" cy="2132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62" idx="3"/>
            <a:endCxn id="66" idx="1"/>
          </p:cNvCxnSpPr>
          <p:nvPr/>
        </p:nvCxnSpPr>
        <p:spPr>
          <a:xfrm flipV="1">
            <a:off x="8734425" y="4094147"/>
            <a:ext cx="308647" cy="2516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cxnSpLocks/>
            <a:stCxn id="70" idx="3"/>
            <a:endCxn id="69" idx="1"/>
          </p:cNvCxnSpPr>
          <p:nvPr/>
        </p:nvCxnSpPr>
        <p:spPr>
          <a:xfrm>
            <a:off x="8734425" y="5482294"/>
            <a:ext cx="321011" cy="7674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cxnSpLocks/>
            <a:stCxn id="70" idx="3"/>
            <a:endCxn id="68" idx="1"/>
          </p:cNvCxnSpPr>
          <p:nvPr/>
        </p:nvCxnSpPr>
        <p:spPr>
          <a:xfrm>
            <a:off x="8734425" y="5482294"/>
            <a:ext cx="321011" cy="2959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cxnSpLocks/>
            <a:stCxn id="70" idx="3"/>
            <a:endCxn id="67" idx="1"/>
          </p:cNvCxnSpPr>
          <p:nvPr/>
        </p:nvCxnSpPr>
        <p:spPr>
          <a:xfrm flipV="1">
            <a:off x="8734425" y="5307090"/>
            <a:ext cx="321011" cy="175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3507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869766"/>
              </p:ext>
            </p:extLst>
          </p:nvPr>
        </p:nvGraphicFramePr>
        <p:xfrm>
          <a:off x="139700" y="1020295"/>
          <a:ext cx="11963400" cy="564651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8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4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1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38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931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　제도</a:t>
                      </a:r>
                    </a:p>
                  </a:txBody>
                  <a:tcPr marL="48271" marR="48271" marT="24135" marB="241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심사청구제도</a:t>
                      </a:r>
                    </a:p>
                  </a:txBody>
                  <a:tcPr marL="48271" marR="48271" marT="24135" marB="241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우선심사제도</a:t>
                      </a:r>
                    </a:p>
                  </a:txBody>
                  <a:tcPr marL="48271" marR="48271" marT="24135" marB="241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특허여부결정제도</a:t>
                      </a:r>
                    </a:p>
                  </a:txBody>
                  <a:tcPr marL="48271" marR="48271" marT="24135" marB="241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재심사청구제도</a:t>
                      </a:r>
                    </a:p>
                  </a:txBody>
                  <a:tcPr marL="48271" marR="48271" marT="24135" marB="241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6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건</a:t>
                      </a:r>
                    </a:p>
                  </a:txBody>
                  <a:tcPr marL="48271" marR="48271" marT="24135" marB="24135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>
                          <a:solidFill>
                            <a:schemeClr val="tx1"/>
                          </a:solidFill>
                          <a:effectLst/>
                        </a:rPr>
                        <a:t>주체적</a:t>
                      </a:r>
                    </a:p>
                  </a:txBody>
                  <a:tcPr marL="48271" marR="48271" marT="24135" marB="24135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누구든지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비법인사단ㆍ재단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4)</a:t>
                      </a:r>
                      <a:endParaRPr lang="ko-KR" altLang="en-US" sz="950" kern="0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출원인은 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1)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명세서에 청구범위를 적지 아니한 경우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, 2)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외국어특허출원인데 국어번역문을 제출하지 아니한 경우 심사청구 不可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누구든지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단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국가ㆍ지방자치단체의 직무에 관한 특허출원의 경우는 국가 또는 지방자치단체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전담조직도 포함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만 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심사관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출원인 또는 그 승계인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객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적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대</a:t>
                      </a:r>
                      <a:endParaRPr lang="en-US" altLang="ko-KR" sz="95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상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적법하게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출원계속중인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발명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출원공개후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자의 무단실시의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61Ⅰ)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긴급처리가 필요하다고 인정되는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61Ⅱ)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ko-KR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재난의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예방ㆍ대응ㆍ복구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등에 필요하다고 인정되는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61Ⅲ)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타법에서 규정하고 있는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의지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심사청구된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출원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보정된 경우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47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①본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,Ⅰ-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보정된 내용 반영한 명세서 또는 도면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47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Ⅱ,Ⅲ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보정적법성을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판단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외국어특허출원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번역문 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특허여부결정등본을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송달받은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출원으로서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그 특허출원의 명세서 또는 도면을 보정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범</a:t>
                      </a:r>
                      <a:endParaRPr lang="en-US" altLang="ko-KR" sz="95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위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청구항별 불가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하나의 청구항이라도 대상인 경우 가능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7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시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적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원</a:t>
                      </a:r>
                      <a:endParaRPr lang="en-US" altLang="ko-KR" sz="95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 err="1">
                          <a:solidFill>
                            <a:schemeClr val="tx1"/>
                          </a:solidFill>
                          <a:effectLst/>
                        </a:rPr>
                        <a:t>칙</a:t>
                      </a:r>
                      <a:endParaRPr lang="ko-KR" altLang="en-US" sz="95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출원일로부터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년이내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출원공개후 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자의 무단실시의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출원공개후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그밖의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사유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거절결정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①거절이유통지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②의견서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보정서제출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③거절결정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특허결정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그 특허출원에 관하여 특허결정의 등본을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송달받은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날부터 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조에 따른 설정등록을 받기 전까지의 기간 또는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특허거절결정등본을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송달받은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날부터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개월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항에 따라 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132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에 따른 기간이 연장된 경우 그 연장된 기간을 말한다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예</a:t>
                      </a:r>
                      <a:endParaRPr lang="en-US" altLang="ko-KR" sz="95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외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조약우선권주장출원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54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),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국내우선권주장출원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 경우 소급효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×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분할ㆍ분리ㆍ변경출원ㆍ정당한권리자출원의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특례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국제특허출원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210)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92075" marR="0" indent="-920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재심사를 청구할 때에 이미 재심사에 따른 특허여부의 결정이 있는 경우</a:t>
                      </a:r>
                      <a:endParaRPr lang="en-US" altLang="ko-KR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92075" marR="0" indent="-920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거절결정불복심판청구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132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17)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가 있는 경우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176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항에 따라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특허거절결정이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취소된 경우는 제외한다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  <a:p>
                      <a:pPr marL="92075" marR="0" indent="-920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그 특허출원이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분리출원인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경우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61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절차</a:t>
                      </a:r>
                    </a:p>
                  </a:txBody>
                  <a:tcPr marL="48271" marR="48271" marT="24135" marB="24135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심사청구서 제출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심사청구사실의 게재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심사청구사실의 통지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 –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2, 42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심사청구료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납부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82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․16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①단서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우선심사의 신청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우선심사여부의 결정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우선심사 각하 불복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ko-KR" altLang="en-US" sz="950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서면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이유</a:t>
                      </a:r>
                    </a:p>
                    <a:p>
                      <a:pPr marL="71120" marR="0" indent="-71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지식재산처장이 등본 송달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-2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-20" dirty="0" err="1">
                          <a:solidFill>
                            <a:schemeClr val="tx1"/>
                          </a:solidFill>
                          <a:effectLst/>
                        </a:rPr>
                        <a:t>명세서등의</a:t>
                      </a:r>
                      <a:r>
                        <a:rPr lang="ko-KR" altLang="en-US" sz="950" kern="0" spc="-20" dirty="0">
                          <a:solidFill>
                            <a:schemeClr val="tx1"/>
                          </a:solidFill>
                          <a:effectLst/>
                        </a:rPr>
                        <a:t> 보정서에 그 취지를 병기하여 제출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-2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-20" dirty="0">
                          <a:solidFill>
                            <a:schemeClr val="tx1"/>
                          </a:solidFill>
                          <a:effectLst/>
                        </a:rPr>
                        <a:t>출원인은 재심사청구와 함께 의견서 제출 가능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148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</a:p>
                  </a:txBody>
                  <a:tcPr marL="48271" marR="48271" marT="24135" marB="24135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법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심사의 개시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①원칙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심사청구순위</a:t>
                      </a:r>
                    </a:p>
                    <a:p>
                      <a:pPr marL="115570" marR="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②예외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분할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분리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변경출원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우선심사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취하금지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우선심사 </a:t>
                      </a: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신속한 권리구제 및 권리이용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특허료납부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직권보정</a:t>
                      </a:r>
                      <a:endParaRPr lang="en-US" altLang="ko-KR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직권재심사</a:t>
                      </a:r>
                      <a:endParaRPr lang="en-US" altLang="ko-KR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재심사청구</a:t>
                      </a:r>
                    </a:p>
                    <a:p>
                      <a:pPr marL="87630" marR="0" indent="-876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공지예외적용주장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분할출원 또는 변경출원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특허여부결정은 취소된 것으로 보고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67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③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), 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재심사를 진행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출원인은 재심사에 따른 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거절결정등본송달후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개월이내에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거절결정불복심판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132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2)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을 청구하거나 분할출원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52)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可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 err="1">
                          <a:solidFill>
                            <a:schemeClr val="tx1"/>
                          </a:solidFill>
                          <a:effectLst/>
                        </a:rPr>
                        <a:t>보정각하의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 예외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51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①단서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재심사의 청구는 취하 不可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67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의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6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</a:rPr>
                        <a:t>법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출원 취하간주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⑤</a:t>
                      </a: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심사청구순서에 따라 심사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>
                          <a:solidFill>
                            <a:schemeClr val="tx1"/>
                          </a:solidFill>
                          <a:effectLst/>
                        </a:rPr>
                        <a:t>수수료의 반환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거절결정의 불복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거절결정의 확정</a:t>
                      </a:r>
                      <a:endParaRPr lang="en-US" altLang="ko-KR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재심사청구</a:t>
                      </a:r>
                    </a:p>
                  </a:txBody>
                  <a:tcPr marL="48271" marR="48271" marT="24135" marB="24135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재심사의 청구절차가 무효로 된 경우 특허여부결정은 취소되지 아니한 것으로 간주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67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③단서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  <a:endParaRPr lang="ko-KR" altLang="en-US" sz="95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950" kern="0" spc="0" dirty="0">
                          <a:solidFill>
                            <a:schemeClr val="tx1"/>
                          </a:solidFill>
                          <a:effectLst/>
                        </a:rPr>
                        <a:t>① 보정서가 제출되지 아니한 경우 ② 시기에 위반된 재심사청구의 경우 재심사 청구서는 반려</a:t>
                      </a:r>
                    </a:p>
                  </a:txBody>
                  <a:tcPr marL="48271" marR="48271" marT="24135" marB="2413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580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832503"/>
              </p:ext>
            </p:extLst>
          </p:nvPr>
        </p:nvGraphicFramePr>
        <p:xfrm>
          <a:off x="167216" y="997445"/>
          <a:ext cx="11857568" cy="57229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6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1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204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66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제도　</a:t>
                      </a:r>
                    </a:p>
                  </a:txBody>
                  <a:tcPr marL="48271" marR="48271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직권보정제도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직권재심사제도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출원취하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포기제도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정보제공제도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출원공개제도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6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48271" marR="48271" marT="36000" marB="36000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주체적</a:t>
                      </a:r>
                    </a:p>
                  </a:txBody>
                  <a:tcPr marL="48271" marR="48271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심사관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심사관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공동출원의 경우 전원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임의대리인은 특별수권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법정대리인 중 후견인은 후견감독인의 동의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누구든지 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지식재산처장에 의한 강제공개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출원인의 신청에 의한 조기공개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객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특허출원서에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첨부된 명세서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도면 또는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요약서에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명백히 잘못 기재된 내용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사소한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오탈자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이외에 명백히 잘못 기재된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기재불비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신규사항이 추가되지 않는 범위 내에서 가능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특허결정된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특허출원에 관하여 배경기술 기재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42③Ⅱ),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다항제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기재방법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42⑧)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하나의 특허출원의 범위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45)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위반을 제외한 명백한 거절이유를 발견한 경우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의사에 의한 경우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①출원전체</a:t>
                      </a:r>
                    </a:p>
                    <a:p>
                      <a:pPr marL="115570" marR="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등록료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납부시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포기 가능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215)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법률에 의한 경우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거절이유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62)(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절차적 요건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발명의 설명 중 배경기술 기재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Ⅱ),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다항제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기재방법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⑧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+ 1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특허출원의 범위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45)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제외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원칙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 계속 중인 모든 특허출원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예외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①명세서에 청구범위를 적지 아니한 경우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Ⅰ)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②국어번역문을 제출하지 아니한 경우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Ⅱ)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4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등록공고를 한 특허의 경우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Ⅲ)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④국방상 필요한 발명으로서 비밀취급이 필요한 경우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공서양속에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어긋나거나 공중의 위생을 해칠 우려가 있는 경우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청구항별로 가능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원칙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특허결정할 때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특허권이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설정등록되기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전이나 특허출원이 취하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포기되기 전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출원계속중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당해 출원이 지식재산처에 계속중인 경우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거절결정불복심판단계에서 가능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심판원장에게 제출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출원일로부터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지난 후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예외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판단시점은 모두 소급효 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월전이라도 출원인의 신청에 의하여 조기공개가 가능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173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절차</a:t>
                      </a:r>
                    </a:p>
                  </a:txBody>
                  <a:tcPr marL="48271" marR="48271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특허결정의 등본 송달과 함께 그 직권보정 사항을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특허출원인에게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통지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88900" marR="0" indent="-889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특허결정을 취소한다는 사실을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특허출원인에게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통지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3②)</a:t>
                      </a:r>
                    </a:p>
                    <a:p>
                      <a:pPr marL="88900" marR="0" indent="-889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통지 받기 전 특허권이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설정등록된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경우나 특허출원이 취하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/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포기된 경우에는 특허결정의 취소는 없었던 것으로 간주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3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③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취하</a:t>
                      </a:r>
                      <a:r>
                        <a:rPr lang="en-US" altLang="ko-KR" sz="900" kern="0" spc="-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kern="0" spc="-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포기서 제출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정보제공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심사에 참고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활용여부 및 특허여부결정 통보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전문공개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,CD-ROM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조기공개신청의경우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신청서의 제출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②외국어출원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,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국제특허출원의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경우 번역문 제출 후에 신청가능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4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③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신청일로부터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10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일 이내 취하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173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효과</a:t>
                      </a:r>
                    </a:p>
                  </a:txBody>
                  <a:tcPr marL="48271" marR="48271" marT="36000" marB="3600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출원인이 의견서를 제출하지 아니한 경우 의사에 의한 보정과 같이 취급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2③).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직권보정이 신규사항을 추가하거나 명백히 잘못되지 아니한 사항을 직권보정한 경우 그 직권보정은 처음부터 없었던 것으로 간주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2⑤)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특허결정취소 후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최초거절이유통지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63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Ⅱ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+51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Ⅱ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+47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Ⅱ괄호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2.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보정각하의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예외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51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Ⅱ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절차의 종료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등록금지적 효력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보상금청구권의 소멸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출원료등의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반환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심사의 신속성 및 정확성 향상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보상금청구권의 발생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65)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우선심사의 신청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61Ⅰ)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8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900" kern="0" spc="-8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특허출원에  관한  서류의  열람신청</a:t>
                      </a:r>
                      <a:r>
                        <a:rPr lang="en-US" altLang="ko-KR" sz="900" kern="0" spc="-8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kern="0" spc="-8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900" kern="0" spc="-8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216)</a:t>
                      </a:r>
                      <a:endParaRPr lang="ko-KR" altLang="en-US" sz="900" kern="0" spc="-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기탁된 미생물의 분양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공지기술로 활용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확대된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인정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56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</a:t>
                      </a:r>
                    </a:p>
                  </a:txBody>
                  <a:tcPr marL="48271" marR="48271" marT="36000" marB="36000" anchor="ctr"/>
                </a:tc>
                <a:tc>
                  <a:txBody>
                    <a:bodyPr/>
                    <a:lstStyle/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1.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특허료를 낼 때까지 의견서를 지식재산처장에게 제출하면 특허결정과 직권보정 취소간주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단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요약서에 대한 의견서는 직권보정만 취소간주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 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66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의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2④)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2.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직권보정 전 명세서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도면에 의하여 심사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직권보정사항이 아닌 거절이유에 대해서는 다시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거절이유통지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</a:p>
                    <a:p>
                      <a:pPr marL="68580" marR="0" indent="-685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3.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보정각하의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 예외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法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51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①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Ⅰ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913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특허를 받을 수 있는 권리와 보상금청구권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47195"/>
              </p:ext>
            </p:extLst>
          </p:nvPr>
        </p:nvGraphicFramePr>
        <p:xfrm>
          <a:off x="342899" y="1064901"/>
          <a:ext cx="11417301" cy="56661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88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9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77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</a:rPr>
                        <a:t>권리　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</a:rPr>
                        <a:t>특허를 받을 수 있는 권리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</a:rPr>
                        <a:t>보상금청구권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서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의의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발생하고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특허출원에 대한 거절결정확정이나 설정등록이 있기 전까지 인정되는 권리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출원공개가 있는 후 경고받거나 </a:t>
                      </a:r>
                      <a:r>
                        <a:rPr lang="ko-KR" altLang="en-US" sz="110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출원공개된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 발명임을 알고 그 </a:t>
                      </a:r>
                      <a:r>
                        <a:rPr lang="ko-KR" altLang="en-US" sz="11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특허출원된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 발명을 업으로서 실시한 자에게 경고받거나 알았을 때부터 설정등록을 한 때까지의 기간 동안 그 특허발명의 실시에 대하여 합리적으로 받을 수 있는 금액에 상당하는 보상금의 지급을 청구할 수 있는 권리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취지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특허권 발생이전에 발명자 또는 출원인 보호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공개로 인해 상실된 이익의 보전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성질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사권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재산권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과 공권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을 병합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해제조건부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채권적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특허권의 독립적인 권리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83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발생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출원공개가 있을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경고받거나 알고 있을 것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정당한 권원없는 제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자가 업으로서 출원발명을 실시할 것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0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효력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범위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endParaRPr lang="en-US" altLang="ko-KR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①특허부여의 요구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42)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②타인의 등록금지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발명자권</a:t>
                      </a:r>
                      <a:endParaRPr lang="en-US" altLang="ko-KR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①인격권</a:t>
                      </a:r>
                      <a:endParaRPr lang="en-US" altLang="ko-KR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②재산권</a:t>
                      </a: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보상금액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경고받거나 알았을 때부터 설정등록을 한 때까지의 기간 동안 그 특허발명의 실시에 합리적으로 받을 수 있는 금액에 상당하는 보상금의 지급을 청구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행사시기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등록 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독립성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특허권과 별개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⑤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①특허법상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간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127), 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생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129), 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자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132)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②민법상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공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760), 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소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766)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43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내용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304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변동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이전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이전가능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특받권의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 승계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38)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실시권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질권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불가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0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소멸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원인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권리능력 상실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상속인 부존재도 포함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출원계속의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 소멸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특허등록이 되지 않은 경우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특허등록이 되더라도 소급 소멸하는 경우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공개전 소멸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등록금지적 효력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공개후 소멸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100" kern="0" spc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①②③</a:t>
                      </a:r>
                      <a:endParaRPr lang="ko-KR" altLang="en-US" sz="110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고의과실○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100" kern="0" spc="0" dirty="0" err="1">
                          <a:solidFill>
                            <a:schemeClr val="tx1"/>
                          </a:solidFill>
                          <a:effectLst/>
                        </a:rPr>
                        <a:t>손배청구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고의과실</a:t>
                      </a:r>
                      <a:r>
                        <a:rPr lang="en-US" altLang="ko-KR" sz="1100" kern="0" spc="0" dirty="0">
                          <a:solidFill>
                            <a:schemeClr val="tx1"/>
                          </a:solidFill>
                          <a:effectLst/>
                        </a:rPr>
                        <a:t>×-</a:t>
                      </a: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부당이득반환청구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12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chemeClr val="tx1"/>
                          </a:solidFill>
                          <a:effectLst/>
                        </a:rPr>
                        <a:t>공유</a:t>
                      </a:r>
                      <a:endParaRPr lang="ko-KR" altLang="en-US" sz="11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dirty="0">
                          <a:solidFill>
                            <a:schemeClr val="tx1"/>
                          </a:solidFill>
                          <a:effectLst/>
                        </a:rPr>
                        <a:t>다른 공유자 동의 받아야만 지분양도 可</a:t>
                      </a:r>
                      <a:r>
                        <a:rPr lang="en-US" altLang="ko-KR" sz="1100" kern="0" spc="-2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kern="0" spc="-2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100" kern="0" spc="-20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100" kern="0" spc="-2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100" kern="0" spc="-2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kern="0" spc="-2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ko-KR" altLang="en-US" sz="11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284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28C1-6244-522F-D421-EE86E100BF16}"/>
              </a:ext>
            </a:extLst>
          </p:cNvPr>
          <p:cNvSpPr txBox="1"/>
          <p:nvPr/>
        </p:nvSpPr>
        <p:spPr>
          <a:xfrm>
            <a:off x="7944521" y="5963478"/>
            <a:ext cx="3180679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특허등록후 소급 소멸한 경우만 해당</a:t>
            </a:r>
          </a:p>
        </p:txBody>
      </p:sp>
    </p:spTree>
    <p:extLst>
      <p:ext uri="{BB962C8B-B14F-4D97-AF65-F5344CB8AC3E}">
        <p14:creationId xmlns:p14="http://schemas.microsoft.com/office/powerpoint/2010/main" val="1668983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23E3CBA9-3F87-F311-F2ED-E6B51B7B5FF7}"/>
              </a:ext>
            </a:extLst>
          </p:cNvPr>
          <p:cNvSpPr/>
          <p:nvPr/>
        </p:nvSpPr>
        <p:spPr>
          <a:xfrm rot="10800000">
            <a:off x="7337677" y="3802382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6"/>
            </a:fgClr>
            <a:bgClr>
              <a:schemeClr val="bg1"/>
            </a:bgClr>
          </a:patt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09E643B0-C43A-47AC-5131-686F4F683761}"/>
              </a:ext>
            </a:extLst>
          </p:cNvPr>
          <p:cNvSpPr/>
          <p:nvPr/>
        </p:nvSpPr>
        <p:spPr>
          <a:xfrm>
            <a:off x="4868956" y="3156553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AE9F7BE2-75B0-4E4D-4DA6-F567E8498EA0}"/>
              </a:ext>
            </a:extLst>
          </p:cNvPr>
          <p:cNvSpPr/>
          <p:nvPr/>
        </p:nvSpPr>
        <p:spPr>
          <a:xfrm rot="10800000">
            <a:off x="2357718" y="3802382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특허법의 </a:t>
            </a:r>
            <a:r>
              <a:rPr lang="en-US" altLang="ko-KR" dirty="0"/>
              <a:t>MAIN STREAM</a:t>
            </a:r>
            <a:endParaRPr lang="ko-KR" altLang="en-US" dirty="0"/>
          </a:p>
        </p:txBody>
      </p:sp>
      <p:sp>
        <p:nvSpPr>
          <p:cNvPr id="27" name="오른쪽 화살표 26"/>
          <p:cNvSpPr/>
          <p:nvPr/>
        </p:nvSpPr>
        <p:spPr bwMode="auto">
          <a:xfrm>
            <a:off x="824754" y="3530487"/>
            <a:ext cx="10703858" cy="333378"/>
          </a:xfrm>
          <a:prstGeom prst="rightArrow">
            <a:avLst>
              <a:gd name="adj1" fmla="val 61198"/>
              <a:gd name="adj2" fmla="val 7555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1400" dirty="0">
              <a:solidFill>
                <a:srgbClr val="1C1C1C"/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2" name="모서리가 둥근 사각형 설명선 31"/>
          <p:cNvSpPr/>
          <p:nvPr/>
        </p:nvSpPr>
        <p:spPr>
          <a:xfrm>
            <a:off x="1323803" y="5138327"/>
            <a:ext cx="4263133" cy="1387977"/>
          </a:xfrm>
          <a:prstGeom prst="wedgeRoundRectCallout">
            <a:avLst>
              <a:gd name="adj1" fmla="val -14054"/>
              <a:gd name="adj2" fmla="val -110736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buFont typeface="Wingdings" pitchFamily="2" charset="2"/>
              <a:buChar char="§"/>
            </a:pPr>
            <a:r>
              <a:rPr lang="ko-KR" altLang="en-US" sz="1600" dirty="0"/>
              <a:t>내가 생각한 아이디어가 특허법의 보호대상인 발명에 해당하는가</a:t>
            </a:r>
            <a:r>
              <a:rPr lang="en-US" altLang="ko-KR" sz="1600" dirty="0"/>
              <a:t>? 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발명이 되기 위한 요건은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새로운 영업방법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인간 </a:t>
            </a:r>
            <a:r>
              <a:rPr lang="en-US" altLang="ko-KR" sz="1600" dirty="0"/>
              <a:t>DNA </a:t>
            </a:r>
            <a:r>
              <a:rPr lang="ko-KR" altLang="en-US" sz="1600" dirty="0"/>
              <a:t>발견</a:t>
            </a:r>
            <a:r>
              <a:rPr lang="en-US" altLang="ko-KR" sz="1600" dirty="0"/>
              <a:t>?</a:t>
            </a:r>
          </a:p>
        </p:txBody>
      </p:sp>
      <p:sp>
        <p:nvSpPr>
          <p:cNvPr id="33" name="모서리가 둥근 사각형 설명선 32"/>
          <p:cNvSpPr/>
          <p:nvPr/>
        </p:nvSpPr>
        <p:spPr>
          <a:xfrm>
            <a:off x="2888256" y="1135994"/>
            <a:ext cx="4687293" cy="1411587"/>
          </a:xfrm>
          <a:prstGeom prst="wedgeRoundRectCallout">
            <a:avLst>
              <a:gd name="adj1" fmla="val 11152"/>
              <a:gd name="adj2" fmla="val 89676"/>
              <a:gd name="adj3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buFont typeface="Wingdings" pitchFamily="2" charset="2"/>
              <a:buChar char="§"/>
            </a:pPr>
            <a:r>
              <a:rPr lang="ko-KR" altLang="en-US" sz="1600" dirty="0"/>
              <a:t>특허출원이 </a:t>
            </a:r>
            <a:r>
              <a:rPr lang="ko-KR" altLang="en-US" sz="1600" dirty="0" err="1"/>
              <a:t>등록받을</a:t>
            </a:r>
            <a:r>
              <a:rPr lang="ko-KR" altLang="en-US" sz="1600" dirty="0"/>
              <a:t> 수 있는가</a:t>
            </a:r>
            <a:r>
              <a:rPr lang="en-US" altLang="ko-KR" sz="1600" dirty="0"/>
              <a:t>?</a:t>
            </a:r>
          </a:p>
          <a:p>
            <a:pPr marL="266700" lvl="1" indent="-88900">
              <a:buFont typeface="옥션고딕 M" charset="-127"/>
              <a:buChar char="-"/>
            </a:pPr>
            <a:r>
              <a:rPr lang="en-US" altLang="ko-KR" sz="1600" dirty="0"/>
              <a:t> </a:t>
            </a:r>
            <a:r>
              <a:rPr lang="ko-KR" altLang="en-US" sz="1600" dirty="0"/>
              <a:t>특허등록을 받기 위한 특허요건의 내용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등록가능성이 미약할 때 </a:t>
            </a:r>
            <a:r>
              <a:rPr lang="ko-KR" altLang="en-US" sz="1600" dirty="0" err="1"/>
              <a:t>출원인이</a:t>
            </a:r>
            <a:r>
              <a:rPr lang="ko-KR" altLang="en-US" sz="1600" dirty="0"/>
              <a:t> 취할 수 있는 조치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심사관의 </a:t>
            </a:r>
            <a:r>
              <a:rPr lang="en-US" altLang="ko-KR" sz="1600" dirty="0"/>
              <a:t>OA</a:t>
            </a:r>
            <a:r>
              <a:rPr lang="ko-KR" altLang="en-US" sz="1600" dirty="0"/>
              <a:t>에 대한 대응방안</a:t>
            </a:r>
            <a:r>
              <a:rPr lang="en-US" altLang="ko-KR" sz="1600" dirty="0"/>
              <a:t>?</a:t>
            </a:r>
          </a:p>
        </p:txBody>
      </p:sp>
      <p:sp>
        <p:nvSpPr>
          <p:cNvPr id="34" name="모서리가 둥근 사각형 설명선 33"/>
          <p:cNvSpPr/>
          <p:nvPr/>
        </p:nvSpPr>
        <p:spPr>
          <a:xfrm>
            <a:off x="6534855" y="4923775"/>
            <a:ext cx="4263133" cy="1395129"/>
          </a:xfrm>
          <a:prstGeom prst="wedgeRoundRectCallout">
            <a:avLst>
              <a:gd name="adj1" fmla="val -1770"/>
              <a:gd name="adj2" fmla="val -96381"/>
              <a:gd name="adj3" fmla="val 16667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buFont typeface="Wingdings" pitchFamily="2" charset="2"/>
              <a:buChar char="§"/>
            </a:pPr>
            <a:r>
              <a:rPr lang="ko-KR" altLang="en-US" sz="1600" dirty="0"/>
              <a:t>제품을 판매하는 것이 다른 사람 특허의 침해인가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침해의 성립요건은</a:t>
            </a:r>
            <a:r>
              <a:rPr lang="en-US" altLang="ko-KR" sz="1600" dirty="0"/>
              <a:t>?</a:t>
            </a:r>
          </a:p>
          <a:p>
            <a:pPr marL="355600" lvl="1" indent="-177800">
              <a:buFont typeface="옥션고딕 M" charset="-127"/>
              <a:buChar char="-"/>
            </a:pPr>
            <a:r>
              <a:rPr lang="ko-KR" altLang="en-US" sz="1600" dirty="0"/>
              <a:t>침해일 때 특허권자의 조치와 침해 피의자의 대응방안은</a:t>
            </a:r>
            <a:r>
              <a:rPr lang="en-US" altLang="ko-KR" sz="1600" dirty="0"/>
              <a:t>?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285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C98D2E-6586-8962-BB08-562DD13C3606}"/>
              </a:ext>
            </a:extLst>
          </p:cNvPr>
          <p:cNvSpPr/>
          <p:nvPr/>
        </p:nvSpPr>
        <p:spPr>
          <a:xfrm>
            <a:off x="1613120" y="3466465"/>
            <a:ext cx="1322296" cy="44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발명완성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0C4D70-567D-2B5D-C119-83C1C9D5AFD3}"/>
              </a:ext>
            </a:extLst>
          </p:cNvPr>
          <p:cNvSpPr/>
          <p:nvPr/>
        </p:nvSpPr>
        <p:spPr>
          <a:xfrm>
            <a:off x="3941174" y="3466465"/>
            <a:ext cx="1322296" cy="4482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4FA647-B494-00A1-6C63-9E235BFB1183}"/>
              </a:ext>
            </a:extLst>
          </p:cNvPr>
          <p:cNvSpPr/>
          <p:nvPr/>
        </p:nvSpPr>
        <p:spPr>
          <a:xfrm>
            <a:off x="6398558" y="3466465"/>
            <a:ext cx="1322296" cy="4482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69F3B0-C5D1-70A6-10D3-BC4F581410B4}"/>
              </a:ext>
            </a:extLst>
          </p:cNvPr>
          <p:cNvSpPr/>
          <p:nvPr/>
        </p:nvSpPr>
        <p:spPr>
          <a:xfrm>
            <a:off x="8897470" y="3466465"/>
            <a:ext cx="1322296" cy="44823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 err="1"/>
              <a:t>자실시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603306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모서리가 둥근 직사각형 72"/>
          <p:cNvSpPr/>
          <p:nvPr/>
        </p:nvSpPr>
        <p:spPr bwMode="auto">
          <a:xfrm>
            <a:off x="6106571" y="1286079"/>
            <a:ext cx="2304256" cy="432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+mn-ea"/>
              </a:rPr>
              <a:t>*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+mn-ea"/>
              </a:rPr>
              <a:t>특허여부의 결정</a:t>
            </a:r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1134533" y="3878366"/>
            <a:ext cx="3435867" cy="1692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조기권리저지방안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심사청구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우선심사신청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심사관여방안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정보제공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취소신청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80"/>
          <p:cNvSpPr/>
          <p:nvPr/>
        </p:nvSpPr>
        <p:spPr bwMode="auto">
          <a:xfrm>
            <a:off x="7258699" y="3950375"/>
            <a:ext cx="2715034" cy="248737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indent="627063"/>
            <a:r>
              <a:rPr lang="en-US" altLang="ko-KR" sz="1400" b="1" dirty="0">
                <a:latin typeface="+mn-ea"/>
              </a:rPr>
              <a:t>* </a:t>
            </a:r>
            <a:r>
              <a:rPr lang="ko-KR" altLang="en-US" sz="1400" b="1" dirty="0">
                <a:latin typeface="+mn-ea"/>
              </a:rPr>
              <a:t>조기권리방안</a:t>
            </a:r>
            <a:endParaRPr lang="en-US" altLang="ko-KR" sz="1400" b="1" dirty="0">
              <a:latin typeface="+mn-ea"/>
            </a:endParaRPr>
          </a:p>
          <a:p>
            <a:pPr indent="627063"/>
            <a:r>
              <a:rPr lang="en-US" altLang="ko-KR" sz="1200" b="0" dirty="0">
                <a:latin typeface="+mn-ea"/>
              </a:rPr>
              <a:t> - </a:t>
            </a:r>
            <a:r>
              <a:rPr lang="ko-KR" altLang="en-US" sz="1200" b="0" dirty="0">
                <a:latin typeface="+mn-ea"/>
              </a:rPr>
              <a:t>심사청구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우선심사신청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en-US" altLang="ko-KR" sz="1400" b="1" dirty="0">
                <a:latin typeface="+mn-ea"/>
              </a:rPr>
              <a:t>* </a:t>
            </a:r>
            <a:r>
              <a:rPr lang="ko-KR" altLang="en-US" sz="1400" b="1" dirty="0">
                <a:latin typeface="+mn-ea"/>
              </a:rPr>
              <a:t>출원인 이익제도 활용</a:t>
            </a:r>
            <a:endParaRPr lang="en-US" altLang="ko-KR" sz="1400" b="1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공지예외적용주장출원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정당한 권리자의 보호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보정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분할출원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en-US" altLang="ko-KR" sz="1200" dirty="0">
                <a:latin typeface="+mn-ea"/>
              </a:rPr>
              <a:t> - </a:t>
            </a:r>
            <a:r>
              <a:rPr lang="ko-KR" altLang="en-US" sz="1200" dirty="0">
                <a:latin typeface="+mn-ea"/>
              </a:rPr>
              <a:t>분리출원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변경출원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조약우선권주장출원</a:t>
            </a:r>
            <a:endParaRPr lang="en-US" altLang="ko-KR" sz="1200" b="0" dirty="0">
              <a:latin typeface="+mn-ea"/>
            </a:endParaRPr>
          </a:p>
          <a:p>
            <a:pPr indent="627063"/>
            <a:r>
              <a:rPr lang="ko-KR" altLang="en-US" sz="1200" b="0" dirty="0">
                <a:latin typeface="+mn-ea"/>
              </a:rPr>
              <a:t> </a:t>
            </a: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</a:rPr>
              <a:t>국내우선권주장출원 </a:t>
            </a:r>
          </a:p>
        </p:txBody>
      </p:sp>
      <p:sp>
        <p:nvSpPr>
          <p:cNvPr id="5" name="자유형 4"/>
          <p:cNvSpPr/>
          <p:nvPr/>
        </p:nvSpPr>
        <p:spPr>
          <a:xfrm>
            <a:off x="5286824" y="2885016"/>
            <a:ext cx="1229681" cy="1229681"/>
          </a:xfrm>
          <a:custGeom>
            <a:avLst/>
            <a:gdLst>
              <a:gd name="connsiteX0" fmla="*/ 0 w 1229681"/>
              <a:gd name="connsiteY0" fmla="*/ 614841 h 1229681"/>
              <a:gd name="connsiteX1" fmla="*/ 614841 w 1229681"/>
              <a:gd name="connsiteY1" fmla="*/ 0 h 1229681"/>
              <a:gd name="connsiteX2" fmla="*/ 1229682 w 1229681"/>
              <a:gd name="connsiteY2" fmla="*/ 614841 h 1229681"/>
              <a:gd name="connsiteX3" fmla="*/ 614841 w 1229681"/>
              <a:gd name="connsiteY3" fmla="*/ 1229682 h 1229681"/>
              <a:gd name="connsiteX4" fmla="*/ 0 w 1229681"/>
              <a:gd name="connsiteY4" fmla="*/ 614841 h 12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81" h="1229681">
                <a:moveTo>
                  <a:pt x="0" y="614841"/>
                </a:moveTo>
                <a:cubicBezTo>
                  <a:pt x="0" y="275274"/>
                  <a:pt x="275274" y="0"/>
                  <a:pt x="614841" y="0"/>
                </a:cubicBezTo>
                <a:cubicBezTo>
                  <a:pt x="954408" y="0"/>
                  <a:pt x="1229682" y="275274"/>
                  <a:pt x="1229682" y="614841"/>
                </a:cubicBezTo>
                <a:cubicBezTo>
                  <a:pt x="1229682" y="954408"/>
                  <a:pt x="954408" y="1229682"/>
                  <a:pt x="614841" y="1229682"/>
                </a:cubicBezTo>
                <a:cubicBezTo>
                  <a:pt x="275274" y="1229682"/>
                  <a:pt x="0" y="954408"/>
                  <a:pt x="0" y="61484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83" tIns="180083" rIns="180083" bIns="180083" numCol="1" spcCol="1270" anchor="ctr" anchorCtr="0">
            <a:noAutofit/>
          </a:bodyPr>
          <a:lstStyle/>
          <a:p>
            <a:pPr lvl="0" algn="ctr" defTabSz="488950" latinLnBrk="1">
              <a:spcBef>
                <a:spcPct val="0"/>
              </a:spcBef>
            </a:pPr>
            <a:r>
              <a:rPr lang="ko-KR" altLang="en-US" sz="1600" b="0" kern="1200" dirty="0">
                <a:solidFill>
                  <a:schemeClr val="bg1"/>
                </a:solidFill>
                <a:latin typeface="+mn-ea"/>
                <a:ea typeface="+mn-ea"/>
              </a:rPr>
              <a:t>특허요건</a:t>
            </a:r>
            <a:endParaRPr lang="en-US" altLang="ko-KR" sz="1600" b="0" kern="12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0" algn="ctr" defTabSz="488950" latinLnBrk="1">
              <a:spcBef>
                <a:spcPct val="0"/>
              </a:spcBef>
            </a:pP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600" b="0" kern="1200" dirty="0">
                <a:solidFill>
                  <a:schemeClr val="bg1"/>
                </a:solidFill>
                <a:latin typeface="+mn-ea"/>
                <a:ea typeface="+mn-ea"/>
              </a:rPr>
              <a:t>판단</a:t>
            </a:r>
            <a:r>
              <a:rPr lang="en-US" altLang="ko-KR" sz="1600" b="0" kern="1200" dirty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600" b="0" kern="12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자유형 5"/>
          <p:cNvSpPr/>
          <p:nvPr/>
        </p:nvSpPr>
        <p:spPr>
          <a:xfrm rot="16200000">
            <a:off x="5771014" y="2436856"/>
            <a:ext cx="261300" cy="418091"/>
          </a:xfrm>
          <a:custGeom>
            <a:avLst/>
            <a:gdLst>
              <a:gd name="connsiteX0" fmla="*/ 0 w 261300"/>
              <a:gd name="connsiteY0" fmla="*/ 83618 h 418091"/>
              <a:gd name="connsiteX1" fmla="*/ 130650 w 261300"/>
              <a:gd name="connsiteY1" fmla="*/ 83618 h 418091"/>
              <a:gd name="connsiteX2" fmla="*/ 130650 w 261300"/>
              <a:gd name="connsiteY2" fmla="*/ 0 h 418091"/>
              <a:gd name="connsiteX3" fmla="*/ 261300 w 261300"/>
              <a:gd name="connsiteY3" fmla="*/ 209046 h 418091"/>
              <a:gd name="connsiteX4" fmla="*/ 130650 w 261300"/>
              <a:gd name="connsiteY4" fmla="*/ 418091 h 418091"/>
              <a:gd name="connsiteX5" fmla="*/ 130650 w 261300"/>
              <a:gd name="connsiteY5" fmla="*/ 334473 h 418091"/>
              <a:gd name="connsiteX6" fmla="*/ 0 w 261300"/>
              <a:gd name="connsiteY6" fmla="*/ 334473 h 418091"/>
              <a:gd name="connsiteX7" fmla="*/ 0 w 261300"/>
              <a:gd name="connsiteY7" fmla="*/ 83618 h 41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300" h="418091">
                <a:moveTo>
                  <a:pt x="0" y="83618"/>
                </a:moveTo>
                <a:lnTo>
                  <a:pt x="130650" y="83618"/>
                </a:lnTo>
                <a:lnTo>
                  <a:pt x="130650" y="0"/>
                </a:lnTo>
                <a:lnTo>
                  <a:pt x="261300" y="209046"/>
                </a:lnTo>
                <a:lnTo>
                  <a:pt x="130650" y="418091"/>
                </a:lnTo>
                <a:lnTo>
                  <a:pt x="130650" y="334473"/>
                </a:lnTo>
                <a:lnTo>
                  <a:pt x="0" y="334473"/>
                </a:lnTo>
                <a:lnTo>
                  <a:pt x="0" y="83618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83617" rIns="78390" bIns="83618" numCol="1" spcCol="1270" anchor="ctr" anchorCtr="0">
            <a:noAutofit/>
          </a:bodyPr>
          <a:lstStyle/>
          <a:p>
            <a:pPr lvl="0" algn="ctr" defTabSz="4889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100" b="0" kern="1200">
              <a:latin typeface="+mn-ea"/>
              <a:ea typeface="+mn-ea"/>
            </a:endParaRPr>
          </a:p>
        </p:txBody>
      </p:sp>
      <p:sp>
        <p:nvSpPr>
          <p:cNvPr id="7" name="자유형 6"/>
          <p:cNvSpPr/>
          <p:nvPr/>
        </p:nvSpPr>
        <p:spPr>
          <a:xfrm>
            <a:off x="5286824" y="1162314"/>
            <a:ext cx="1229681" cy="1229681"/>
          </a:xfrm>
          <a:custGeom>
            <a:avLst/>
            <a:gdLst>
              <a:gd name="connsiteX0" fmla="*/ 0 w 1229681"/>
              <a:gd name="connsiteY0" fmla="*/ 614841 h 1229681"/>
              <a:gd name="connsiteX1" fmla="*/ 614841 w 1229681"/>
              <a:gd name="connsiteY1" fmla="*/ 0 h 1229681"/>
              <a:gd name="connsiteX2" fmla="*/ 1229682 w 1229681"/>
              <a:gd name="connsiteY2" fmla="*/ 614841 h 1229681"/>
              <a:gd name="connsiteX3" fmla="*/ 614841 w 1229681"/>
              <a:gd name="connsiteY3" fmla="*/ 1229682 h 1229681"/>
              <a:gd name="connsiteX4" fmla="*/ 0 w 1229681"/>
              <a:gd name="connsiteY4" fmla="*/ 614841 h 12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81" h="1229681">
                <a:moveTo>
                  <a:pt x="0" y="614841"/>
                </a:moveTo>
                <a:cubicBezTo>
                  <a:pt x="0" y="275274"/>
                  <a:pt x="275274" y="0"/>
                  <a:pt x="614841" y="0"/>
                </a:cubicBezTo>
                <a:cubicBezTo>
                  <a:pt x="954408" y="0"/>
                  <a:pt x="1229682" y="275274"/>
                  <a:pt x="1229682" y="614841"/>
                </a:cubicBezTo>
                <a:cubicBezTo>
                  <a:pt x="1229682" y="954408"/>
                  <a:pt x="954408" y="1229682"/>
                  <a:pt x="614841" y="1229682"/>
                </a:cubicBezTo>
                <a:cubicBezTo>
                  <a:pt x="275274" y="1229682"/>
                  <a:pt x="0" y="954408"/>
                  <a:pt x="0" y="614841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4053" tIns="194053" rIns="194053" bIns="194053" numCol="1" spcCol="1270" anchor="ctr" anchorCtr="0">
            <a:noAutofit/>
          </a:bodyPr>
          <a:lstStyle/>
          <a:p>
            <a:pPr lvl="0" algn="ctr" defTabSz="488950" latinLnBrk="1">
              <a:spcBef>
                <a:spcPct val="0"/>
              </a:spcBef>
            </a:pPr>
            <a:r>
              <a:rPr lang="ko-KR" altLang="en-US" sz="1600" b="0" kern="1200" dirty="0">
                <a:solidFill>
                  <a:schemeClr val="tx1"/>
                </a:solidFill>
                <a:latin typeface="+mn-ea"/>
                <a:ea typeface="+mn-ea"/>
              </a:rPr>
              <a:t>심사관</a:t>
            </a:r>
            <a:endParaRPr lang="en-US" altLang="ko-KR" sz="1600" b="0" kern="12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0" algn="ctr" defTabSz="488950" latinLnBrk="1">
              <a:spcBef>
                <a:spcPct val="0"/>
              </a:spcBef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반응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600" b="0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자유형 7"/>
          <p:cNvSpPr/>
          <p:nvPr/>
        </p:nvSpPr>
        <p:spPr>
          <a:xfrm rot="1800000">
            <a:off x="6510561" y="3717789"/>
            <a:ext cx="261300" cy="418091"/>
          </a:xfrm>
          <a:custGeom>
            <a:avLst/>
            <a:gdLst>
              <a:gd name="connsiteX0" fmla="*/ 0 w 261300"/>
              <a:gd name="connsiteY0" fmla="*/ 83618 h 418091"/>
              <a:gd name="connsiteX1" fmla="*/ 130650 w 261300"/>
              <a:gd name="connsiteY1" fmla="*/ 83618 h 418091"/>
              <a:gd name="connsiteX2" fmla="*/ 130650 w 261300"/>
              <a:gd name="connsiteY2" fmla="*/ 0 h 418091"/>
              <a:gd name="connsiteX3" fmla="*/ 261300 w 261300"/>
              <a:gd name="connsiteY3" fmla="*/ 209046 h 418091"/>
              <a:gd name="connsiteX4" fmla="*/ 130650 w 261300"/>
              <a:gd name="connsiteY4" fmla="*/ 418091 h 418091"/>
              <a:gd name="connsiteX5" fmla="*/ 130650 w 261300"/>
              <a:gd name="connsiteY5" fmla="*/ 334473 h 418091"/>
              <a:gd name="connsiteX6" fmla="*/ 0 w 261300"/>
              <a:gd name="connsiteY6" fmla="*/ 334473 h 418091"/>
              <a:gd name="connsiteX7" fmla="*/ 0 w 261300"/>
              <a:gd name="connsiteY7" fmla="*/ 83618 h 41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300" h="418091">
                <a:moveTo>
                  <a:pt x="0" y="83618"/>
                </a:moveTo>
                <a:lnTo>
                  <a:pt x="130650" y="83618"/>
                </a:lnTo>
                <a:lnTo>
                  <a:pt x="130650" y="0"/>
                </a:lnTo>
                <a:lnTo>
                  <a:pt x="261300" y="209046"/>
                </a:lnTo>
                <a:lnTo>
                  <a:pt x="130650" y="418091"/>
                </a:lnTo>
                <a:lnTo>
                  <a:pt x="130650" y="334473"/>
                </a:lnTo>
                <a:lnTo>
                  <a:pt x="0" y="334473"/>
                </a:lnTo>
                <a:lnTo>
                  <a:pt x="0" y="83618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3618" rIns="78389" bIns="83617" numCol="1" spcCol="1270" anchor="ctr" anchorCtr="0">
            <a:noAutofit/>
          </a:bodyPr>
          <a:lstStyle/>
          <a:p>
            <a:pPr lvl="0" algn="ctr" defTabSz="4889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100" b="0" kern="1200">
              <a:latin typeface="+mn-ea"/>
              <a:ea typeface="+mn-ea"/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6778727" y="3746367"/>
            <a:ext cx="1229681" cy="1229681"/>
          </a:xfrm>
          <a:custGeom>
            <a:avLst/>
            <a:gdLst>
              <a:gd name="connsiteX0" fmla="*/ 0 w 1229681"/>
              <a:gd name="connsiteY0" fmla="*/ 614841 h 1229681"/>
              <a:gd name="connsiteX1" fmla="*/ 614841 w 1229681"/>
              <a:gd name="connsiteY1" fmla="*/ 0 h 1229681"/>
              <a:gd name="connsiteX2" fmla="*/ 1229682 w 1229681"/>
              <a:gd name="connsiteY2" fmla="*/ 614841 h 1229681"/>
              <a:gd name="connsiteX3" fmla="*/ 614841 w 1229681"/>
              <a:gd name="connsiteY3" fmla="*/ 1229682 h 1229681"/>
              <a:gd name="connsiteX4" fmla="*/ 0 w 1229681"/>
              <a:gd name="connsiteY4" fmla="*/ 614841 h 12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81" h="1229681">
                <a:moveTo>
                  <a:pt x="0" y="614841"/>
                </a:moveTo>
                <a:cubicBezTo>
                  <a:pt x="0" y="275274"/>
                  <a:pt x="275274" y="0"/>
                  <a:pt x="614841" y="0"/>
                </a:cubicBezTo>
                <a:cubicBezTo>
                  <a:pt x="954408" y="0"/>
                  <a:pt x="1229682" y="275274"/>
                  <a:pt x="1229682" y="614841"/>
                </a:cubicBezTo>
                <a:cubicBezTo>
                  <a:pt x="1229682" y="954408"/>
                  <a:pt x="954408" y="1229682"/>
                  <a:pt x="614841" y="1229682"/>
                </a:cubicBezTo>
                <a:cubicBezTo>
                  <a:pt x="275274" y="1229682"/>
                  <a:pt x="0" y="954408"/>
                  <a:pt x="0" y="614841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4053" tIns="194053" rIns="194053" bIns="194053" numCol="1" spcCol="1270" anchor="ctr" anchorCtr="0">
            <a:noAutofit/>
          </a:bodyPr>
          <a:lstStyle/>
          <a:p>
            <a:pPr lvl="0" algn="ctr" defTabSz="488950" latinLnBrk="1">
              <a:spcBef>
                <a:spcPct val="0"/>
              </a:spcBef>
            </a:pPr>
            <a:r>
              <a:rPr lang="ko-KR" altLang="en-US" sz="1600" b="0" kern="1200" dirty="0">
                <a:solidFill>
                  <a:schemeClr val="tx1"/>
                </a:solidFill>
                <a:latin typeface="+mn-ea"/>
                <a:ea typeface="+mn-ea"/>
              </a:rPr>
              <a:t>출원인</a:t>
            </a:r>
            <a:endParaRPr lang="en-US" altLang="ko-KR" sz="1600" b="0" kern="12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0" algn="ctr" defTabSz="488950" latinLnBrk="1">
              <a:spcBef>
                <a:spcPct val="0"/>
              </a:spcBef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반응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600" b="0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자유형 9"/>
          <p:cNvSpPr/>
          <p:nvPr/>
        </p:nvSpPr>
        <p:spPr>
          <a:xfrm rot="19808912">
            <a:off x="5021794" y="3718887"/>
            <a:ext cx="267924" cy="418091"/>
          </a:xfrm>
          <a:custGeom>
            <a:avLst/>
            <a:gdLst>
              <a:gd name="connsiteX0" fmla="*/ 0 w 267923"/>
              <a:gd name="connsiteY0" fmla="*/ 83618 h 418091"/>
              <a:gd name="connsiteX1" fmla="*/ 133962 w 267923"/>
              <a:gd name="connsiteY1" fmla="*/ 83618 h 418091"/>
              <a:gd name="connsiteX2" fmla="*/ 133962 w 267923"/>
              <a:gd name="connsiteY2" fmla="*/ 0 h 418091"/>
              <a:gd name="connsiteX3" fmla="*/ 267923 w 267923"/>
              <a:gd name="connsiteY3" fmla="*/ 209046 h 418091"/>
              <a:gd name="connsiteX4" fmla="*/ 133962 w 267923"/>
              <a:gd name="connsiteY4" fmla="*/ 418091 h 418091"/>
              <a:gd name="connsiteX5" fmla="*/ 133962 w 267923"/>
              <a:gd name="connsiteY5" fmla="*/ 334473 h 418091"/>
              <a:gd name="connsiteX6" fmla="*/ 0 w 267923"/>
              <a:gd name="connsiteY6" fmla="*/ 334473 h 418091"/>
              <a:gd name="connsiteX7" fmla="*/ 0 w 267923"/>
              <a:gd name="connsiteY7" fmla="*/ 83618 h 41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923" h="418091">
                <a:moveTo>
                  <a:pt x="267923" y="334473"/>
                </a:moveTo>
                <a:lnTo>
                  <a:pt x="133961" y="334473"/>
                </a:lnTo>
                <a:lnTo>
                  <a:pt x="133961" y="418091"/>
                </a:lnTo>
                <a:lnTo>
                  <a:pt x="0" y="209045"/>
                </a:lnTo>
                <a:lnTo>
                  <a:pt x="133961" y="0"/>
                </a:lnTo>
                <a:lnTo>
                  <a:pt x="133961" y="83618"/>
                </a:lnTo>
                <a:lnTo>
                  <a:pt x="267923" y="83618"/>
                </a:lnTo>
                <a:lnTo>
                  <a:pt x="267923" y="33447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377" tIns="83617" rIns="0" bIns="83618" numCol="1" spcCol="1270" anchor="ctr" anchorCtr="0">
            <a:noAutofit/>
          </a:bodyPr>
          <a:lstStyle/>
          <a:p>
            <a:pPr lvl="0" algn="ctr" defTabSz="4889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100" b="0" kern="1200">
              <a:latin typeface="+mn-ea"/>
              <a:ea typeface="+mn-ea"/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3781853" y="3748717"/>
            <a:ext cx="1229681" cy="1229681"/>
          </a:xfrm>
          <a:custGeom>
            <a:avLst/>
            <a:gdLst>
              <a:gd name="connsiteX0" fmla="*/ 0 w 1229681"/>
              <a:gd name="connsiteY0" fmla="*/ 614841 h 1229681"/>
              <a:gd name="connsiteX1" fmla="*/ 614841 w 1229681"/>
              <a:gd name="connsiteY1" fmla="*/ 0 h 1229681"/>
              <a:gd name="connsiteX2" fmla="*/ 1229682 w 1229681"/>
              <a:gd name="connsiteY2" fmla="*/ 614841 h 1229681"/>
              <a:gd name="connsiteX3" fmla="*/ 614841 w 1229681"/>
              <a:gd name="connsiteY3" fmla="*/ 1229682 h 1229681"/>
              <a:gd name="connsiteX4" fmla="*/ 0 w 1229681"/>
              <a:gd name="connsiteY4" fmla="*/ 614841 h 12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9681" h="1229681">
                <a:moveTo>
                  <a:pt x="0" y="614841"/>
                </a:moveTo>
                <a:cubicBezTo>
                  <a:pt x="0" y="275274"/>
                  <a:pt x="275274" y="0"/>
                  <a:pt x="614841" y="0"/>
                </a:cubicBezTo>
                <a:cubicBezTo>
                  <a:pt x="954408" y="0"/>
                  <a:pt x="1229682" y="275274"/>
                  <a:pt x="1229682" y="614841"/>
                </a:cubicBezTo>
                <a:cubicBezTo>
                  <a:pt x="1229682" y="954408"/>
                  <a:pt x="954408" y="1229682"/>
                  <a:pt x="614841" y="1229682"/>
                </a:cubicBezTo>
                <a:cubicBezTo>
                  <a:pt x="275274" y="1229682"/>
                  <a:pt x="0" y="954408"/>
                  <a:pt x="0" y="614841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4053" tIns="194053" rIns="194053" bIns="194053" numCol="1" spcCol="1270" anchor="ctr" anchorCtr="0">
            <a:noAutofit/>
          </a:bodyPr>
          <a:lstStyle/>
          <a:p>
            <a:pPr lvl="0" algn="ctr" defTabSz="488950" latinLnBrk="1">
              <a:spcBef>
                <a:spcPct val="0"/>
              </a:spcBef>
            </a:pPr>
            <a:r>
              <a:rPr lang="ko-KR" altLang="en-US" sz="1600" b="0" kern="1200" dirty="0">
                <a:solidFill>
                  <a:schemeClr val="tx1"/>
                </a:solidFill>
                <a:latin typeface="+mn-ea"/>
                <a:ea typeface="+mn-ea"/>
              </a:rPr>
              <a:t>제</a:t>
            </a:r>
            <a:r>
              <a:rPr lang="en-US" altLang="ko-KR" sz="1600" b="0" kern="12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ko-KR" altLang="en-US" sz="1600" b="0" kern="1200" dirty="0">
                <a:solidFill>
                  <a:schemeClr val="tx1"/>
                </a:solidFill>
                <a:latin typeface="+mn-ea"/>
                <a:ea typeface="+mn-ea"/>
              </a:rPr>
              <a:t>자</a:t>
            </a:r>
            <a:endParaRPr lang="en-US" altLang="ko-KR" sz="1600" b="0" kern="12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0" algn="ctr" defTabSz="488950" latinLnBrk="1">
              <a:spcBef>
                <a:spcPct val="0"/>
              </a:spcBef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반응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600" b="0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특허출원이 </a:t>
            </a:r>
            <a:r>
              <a:rPr lang="ko-KR" altLang="en-US" dirty="0" err="1"/>
              <a:t>등록받을</a:t>
            </a:r>
            <a:r>
              <a:rPr lang="ko-KR" altLang="en-US" dirty="0"/>
              <a:t>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286</a:t>
            </a:r>
            <a:endParaRPr lang="ko-KR" altLang="en-US" dirty="0"/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3D6BAD38-9D5E-7822-56AA-E86FE7AE12DB}"/>
              </a:ext>
            </a:extLst>
          </p:cNvPr>
          <p:cNvSpPr/>
          <p:nvPr/>
        </p:nvSpPr>
        <p:spPr>
          <a:xfrm>
            <a:off x="7258699" y="3081174"/>
            <a:ext cx="4201118" cy="347826"/>
          </a:xfrm>
          <a:prstGeom prst="wedgeRoundRectCallout">
            <a:avLst>
              <a:gd name="adj1" fmla="val -50498"/>
              <a:gd name="adj2" fmla="val 136573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tx1"/>
                </a:solidFill>
              </a:rPr>
              <a:t>거절이유통지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거절결정등본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를 받은 출원인의 대응방안</a:t>
            </a:r>
          </a:p>
        </p:txBody>
      </p:sp>
    </p:spTree>
    <p:extLst>
      <p:ext uri="{BB962C8B-B14F-4D97-AF65-F5344CB8AC3E}">
        <p14:creationId xmlns:p14="http://schemas.microsoft.com/office/powerpoint/2010/main" val="53927133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55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10041</TotalTime>
  <Words>11849</Words>
  <Application>Microsoft Office PowerPoint</Application>
  <PresentationFormat>와이드스크린</PresentationFormat>
  <Paragraphs>1862</Paragraphs>
  <Slides>45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9" baseType="lpstr">
      <vt:lpstr>Rix모던명조 B</vt:lpstr>
      <vt:lpstr>Rix모던고딕 EB</vt:lpstr>
      <vt:lpstr>Rix커피향 M</vt:lpstr>
      <vt:lpstr>Frutiger LT 65 Bold</vt:lpstr>
      <vt:lpstr>Rix모던명조 L</vt:lpstr>
      <vt:lpstr>한양신명조</vt:lpstr>
      <vt:lpstr>Arial</vt:lpstr>
      <vt:lpstr>Rix모던고딕 L</vt:lpstr>
      <vt:lpstr>Wingdings</vt:lpstr>
      <vt:lpstr>Rix모던고딕 B</vt:lpstr>
      <vt:lpstr>Rix모던고딕 M</vt:lpstr>
      <vt:lpstr>Frutiger LT 75 Black</vt:lpstr>
      <vt:lpstr>옥션고딕 M</vt:lpstr>
      <vt:lpstr>Office 테마</vt:lpstr>
      <vt:lpstr>PowerPoint 프레젠테이션</vt:lpstr>
      <vt:lpstr>PowerPoint 프레젠테이션</vt:lpstr>
      <vt:lpstr>참고노트</vt:lpstr>
      <vt:lpstr>참고노트</vt:lpstr>
      <vt:lpstr>제68조</vt:lpstr>
      <vt:lpstr>제59조, 제60조</vt:lpstr>
      <vt:lpstr>제59조, 제60조</vt:lpstr>
      <vt:lpstr>제59조, 제60조</vt:lpstr>
      <vt:lpstr>제61조</vt:lpstr>
      <vt:lpstr>제59조, 제60조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제62조, 제63조</vt:lpstr>
      <vt:lpstr>제66조의2</vt:lpstr>
      <vt:lpstr>제42조, 제66조의2</vt:lpstr>
      <vt:lpstr>제42조, 제66조의2</vt:lpstr>
      <vt:lpstr>제66조의2</vt:lpstr>
      <vt:lpstr>제66조의2</vt:lpstr>
      <vt:lpstr>제66조의3</vt:lpstr>
      <vt:lpstr>제66조의3</vt:lpstr>
      <vt:lpstr>제67조의2</vt:lpstr>
      <vt:lpstr>제67조의2</vt:lpstr>
      <vt:lpstr>제62조, 제63조</vt:lpstr>
      <vt:lpstr>제47조</vt:lpstr>
      <vt:lpstr>제64조, 제65조</vt:lpstr>
      <vt:lpstr>제64조, 제65조</vt:lpstr>
      <vt:lpstr>제64조, 제65조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676</cp:revision>
  <cp:lastPrinted>2025-02-11T00:13:49Z</cp:lastPrinted>
  <dcterms:created xsi:type="dcterms:W3CDTF">2016-02-25T00:12:49Z</dcterms:created>
  <dcterms:modified xsi:type="dcterms:W3CDTF">2026-06-13T13:04:20Z</dcterms:modified>
</cp:coreProperties>
</file>