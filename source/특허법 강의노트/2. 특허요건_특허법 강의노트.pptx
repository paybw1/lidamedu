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49" embedTrueTypeFonts="1" saveSubsetFonts="1">
  <p:sldMasterIdLst>
    <p:sldMasterId id="2147483648" r:id="rId1"/>
    <p:sldMasterId id="2147483661" r:id="rId2"/>
    <p:sldMasterId id="2147483665" r:id="rId3"/>
  </p:sldMasterIdLst>
  <p:notesMasterIdLst>
    <p:notesMasterId r:id="rId101"/>
  </p:notesMasterIdLst>
  <p:sldIdLst>
    <p:sldId id="256" r:id="rId4"/>
    <p:sldId id="2071" r:id="rId5"/>
    <p:sldId id="2072" r:id="rId6"/>
    <p:sldId id="2047" r:id="rId7"/>
    <p:sldId id="283" r:id="rId8"/>
    <p:sldId id="284" r:id="rId9"/>
    <p:sldId id="376" r:id="rId10"/>
    <p:sldId id="285" r:id="rId11"/>
    <p:sldId id="287" r:id="rId12"/>
    <p:sldId id="288" r:id="rId13"/>
    <p:sldId id="289" r:id="rId14"/>
    <p:sldId id="299" r:id="rId15"/>
    <p:sldId id="290" r:id="rId16"/>
    <p:sldId id="2142" r:id="rId17"/>
    <p:sldId id="2146" r:id="rId18"/>
    <p:sldId id="379" r:id="rId19"/>
    <p:sldId id="2069" r:id="rId20"/>
    <p:sldId id="292" r:id="rId21"/>
    <p:sldId id="293" r:id="rId22"/>
    <p:sldId id="291" r:id="rId23"/>
    <p:sldId id="295" r:id="rId24"/>
    <p:sldId id="296" r:id="rId25"/>
    <p:sldId id="298" r:id="rId26"/>
    <p:sldId id="300" r:id="rId27"/>
    <p:sldId id="303" r:id="rId28"/>
    <p:sldId id="357" r:id="rId29"/>
    <p:sldId id="301" r:id="rId30"/>
    <p:sldId id="387" r:id="rId31"/>
    <p:sldId id="388" r:id="rId32"/>
    <p:sldId id="2070" r:id="rId33"/>
    <p:sldId id="302" r:id="rId34"/>
    <p:sldId id="304" r:id="rId35"/>
    <p:sldId id="305" r:id="rId36"/>
    <p:sldId id="355" r:id="rId37"/>
    <p:sldId id="787" r:id="rId38"/>
    <p:sldId id="2139" r:id="rId39"/>
    <p:sldId id="788" r:id="rId40"/>
    <p:sldId id="306" r:id="rId41"/>
    <p:sldId id="307" r:id="rId42"/>
    <p:sldId id="308" r:id="rId43"/>
    <p:sldId id="309" r:id="rId44"/>
    <p:sldId id="312" r:id="rId45"/>
    <p:sldId id="311" r:id="rId46"/>
    <p:sldId id="313" r:id="rId47"/>
    <p:sldId id="315" r:id="rId48"/>
    <p:sldId id="314" r:id="rId49"/>
    <p:sldId id="316" r:id="rId50"/>
    <p:sldId id="317" r:id="rId51"/>
    <p:sldId id="2020" r:id="rId52"/>
    <p:sldId id="321" r:id="rId53"/>
    <p:sldId id="281" r:id="rId54"/>
    <p:sldId id="318" r:id="rId55"/>
    <p:sldId id="786" r:id="rId56"/>
    <p:sldId id="2138" r:id="rId57"/>
    <p:sldId id="319" r:id="rId58"/>
    <p:sldId id="2066" r:id="rId59"/>
    <p:sldId id="2140" r:id="rId60"/>
    <p:sldId id="320" r:id="rId61"/>
    <p:sldId id="322" r:id="rId62"/>
    <p:sldId id="383" r:id="rId63"/>
    <p:sldId id="2074" r:id="rId64"/>
    <p:sldId id="323" r:id="rId65"/>
    <p:sldId id="2023" r:id="rId66"/>
    <p:sldId id="2024" r:id="rId67"/>
    <p:sldId id="380" r:id="rId68"/>
    <p:sldId id="381" r:id="rId69"/>
    <p:sldId id="324" r:id="rId70"/>
    <p:sldId id="325" r:id="rId71"/>
    <p:sldId id="789" r:id="rId72"/>
    <p:sldId id="334" r:id="rId73"/>
    <p:sldId id="790" r:id="rId74"/>
    <p:sldId id="335" r:id="rId75"/>
    <p:sldId id="382" r:id="rId76"/>
    <p:sldId id="337" r:id="rId77"/>
    <p:sldId id="2021" r:id="rId78"/>
    <p:sldId id="354" r:id="rId79"/>
    <p:sldId id="339" r:id="rId80"/>
    <p:sldId id="2141" r:id="rId81"/>
    <p:sldId id="340" r:id="rId82"/>
    <p:sldId id="342" r:id="rId83"/>
    <p:sldId id="384" r:id="rId84"/>
    <p:sldId id="344" r:id="rId85"/>
    <p:sldId id="2067" r:id="rId86"/>
    <p:sldId id="345" r:id="rId87"/>
    <p:sldId id="346" r:id="rId88"/>
    <p:sldId id="385" r:id="rId89"/>
    <p:sldId id="386" r:id="rId90"/>
    <p:sldId id="347" r:id="rId91"/>
    <p:sldId id="348" r:id="rId92"/>
    <p:sldId id="349" r:id="rId93"/>
    <p:sldId id="2022" r:id="rId94"/>
    <p:sldId id="2045" r:id="rId95"/>
    <p:sldId id="351" r:id="rId96"/>
    <p:sldId id="2064" r:id="rId97"/>
    <p:sldId id="353" r:id="rId98"/>
    <p:sldId id="356" r:id="rId99"/>
    <p:sldId id="352" r:id="rId100"/>
  </p:sldIdLst>
  <p:sldSz cx="12192000" cy="6858000"/>
  <p:notesSz cx="7104063" cy="10234613"/>
  <p:embeddedFontLst>
    <p:embeddedFont>
      <p:font typeface="Frutiger LT 65 Bold" panose="020B0800000000000000" pitchFamily="34" charset="0"/>
      <p:regular r:id="rId102"/>
    </p:embeddedFont>
    <p:embeddedFont>
      <p:font typeface="Frutiger LT 75 Black" panose="02000A03050000020004" pitchFamily="2" charset="0"/>
      <p:regular r:id="rId103"/>
    </p:embeddedFont>
    <p:embeddedFont>
      <p:font typeface="Rix모던고딕 B" panose="02020603020101020101" pitchFamily="18" charset="-127"/>
      <p:regular r:id="rId104"/>
    </p:embeddedFont>
    <p:embeddedFont>
      <p:font typeface="Rix모던고딕 EB" panose="02020603020101020101" pitchFamily="18" charset="-127"/>
      <p:regular r:id="rId105"/>
    </p:embeddedFont>
    <p:embeddedFont>
      <p:font typeface="Rix모던고딕 L" panose="02020603020101020101" pitchFamily="18" charset="-127"/>
      <p:regular r:id="rId106"/>
    </p:embeddedFont>
    <p:embeddedFont>
      <p:font typeface="Rix모던고딕 M" panose="02020603020101020101" pitchFamily="18" charset="-127"/>
      <p:regular r:id="rId107"/>
    </p:embeddedFont>
    <p:embeddedFont>
      <p:font typeface="Rix모던명조 B" panose="02020603020101020101" pitchFamily="18" charset="-127"/>
      <p:regular r:id="rId108"/>
    </p:embeddedFont>
    <p:embeddedFont>
      <p:font typeface="Rix모던명조 L" panose="02020603020101020101" pitchFamily="18" charset="-127"/>
      <p:regular r:id="rId109"/>
    </p:embeddedFont>
    <p:embeddedFont>
      <p:font typeface="Rix모던명조 M" panose="02020603020101020101" pitchFamily="18" charset="-127"/>
      <p:regular r:id="rId110"/>
    </p:embeddedFont>
    <p:embeddedFont>
      <p:font typeface="Rix커피향 M" panose="02020603020101020101" pitchFamily="18" charset="-127"/>
      <p:regular r:id="rId111"/>
    </p:embeddedFont>
    <p:embeddedFont>
      <p:font typeface="맑은 고딕" panose="020B0503020000020004" pitchFamily="50" charset="-127"/>
      <p:regular r:id="rId112"/>
      <p:bold r:id="rId113"/>
    </p:embeddedFont>
    <p:embeddedFont>
      <p:font typeface="산돌신문제비 L" panose="02030504000101010101" pitchFamily="18" charset="-127"/>
      <p:regular r:id="rId11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5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55" autoAdjust="0"/>
    <p:restoredTop sz="83972" autoAdjust="0"/>
  </p:normalViewPr>
  <p:slideViewPr>
    <p:cSldViewPr snapToGrid="0">
      <p:cViewPr varScale="1">
        <p:scale>
          <a:sx n="107" d="100"/>
          <a:sy n="107" d="100"/>
        </p:scale>
        <p:origin x="1188" y="102"/>
      </p:cViewPr>
      <p:guideLst>
        <p:guide pos="3840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09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117" Type="http://schemas.openxmlformats.org/officeDocument/2006/relationships/theme" Target="theme/theme1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12" Type="http://schemas.openxmlformats.org/officeDocument/2006/relationships/font" Target="fonts/font11.fntdata"/><Relationship Id="rId16" Type="http://schemas.openxmlformats.org/officeDocument/2006/relationships/slide" Target="slides/slide13.xml"/><Relationship Id="rId107" Type="http://schemas.openxmlformats.org/officeDocument/2006/relationships/font" Target="fonts/font6.fntdata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font" Target="fonts/font1.fntdata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113" Type="http://schemas.openxmlformats.org/officeDocument/2006/relationships/font" Target="fonts/font12.fntdata"/><Relationship Id="rId118" Type="http://schemas.openxmlformats.org/officeDocument/2006/relationships/tableStyles" Target="tableStyles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font" Target="fonts/font2.fntdata"/><Relationship Id="rId108" Type="http://schemas.openxmlformats.org/officeDocument/2006/relationships/font" Target="fonts/font7.fntdata"/><Relationship Id="rId54" Type="http://schemas.openxmlformats.org/officeDocument/2006/relationships/slide" Target="slides/slide51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49" Type="http://schemas.openxmlformats.org/officeDocument/2006/relationships/slide" Target="slides/slide46.xml"/><Relationship Id="rId114" Type="http://schemas.openxmlformats.org/officeDocument/2006/relationships/font" Target="fonts/font13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font" Target="fonts/font8.fntdata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font" Target="fonts/font3.fntdata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font" Target="fonts/font9.fntdata"/><Relationship Id="rId115" Type="http://schemas.openxmlformats.org/officeDocument/2006/relationships/presProps" Target="presProps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font" Target="fonts/font4.fntdata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116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font" Target="fonts/font10.fntdata"/><Relationship Id="rId15" Type="http://schemas.openxmlformats.org/officeDocument/2006/relationships/slide" Target="slides/slide12.xml"/><Relationship Id="rId36" Type="http://schemas.openxmlformats.org/officeDocument/2006/relationships/slide" Target="slides/slide33.xml"/><Relationship Id="rId57" Type="http://schemas.openxmlformats.org/officeDocument/2006/relationships/slide" Target="slides/slide54.xml"/><Relationship Id="rId106" Type="http://schemas.openxmlformats.org/officeDocument/2006/relationships/font" Target="fonts/font5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EEF6D8-356D-4BFE-8C3B-447B02F5EE0A}" type="doc">
      <dgm:prSet loTypeId="urn:microsoft.com/office/officeart/2005/8/layout/process2" loCatId="process" qsTypeId="urn:microsoft.com/office/officeart/2005/8/quickstyle/simple1" qsCatId="simple" csTypeId="urn:microsoft.com/office/officeart/2005/8/colors/colorful1" csCatId="colorful" phldr="1"/>
      <dgm:spPr/>
    </dgm:pt>
    <dgm:pt modelId="{1B500376-06BF-4D62-984D-2BCAD5DE622D}">
      <dgm:prSet phldrT="[텍스트]"/>
      <dgm:spPr/>
      <dgm:t>
        <a:bodyPr/>
        <a:lstStyle/>
        <a:p>
          <a:pPr latinLnBrk="1"/>
          <a:r>
            <a:rPr lang="ko-KR" altLang="en-US" dirty="0"/>
            <a:t>보상규정의 작성 및 변경</a:t>
          </a:r>
        </a:p>
      </dgm:t>
    </dgm:pt>
    <dgm:pt modelId="{6D1E23D3-35A0-4E8E-BDE3-32266361E3C3}" type="parTrans" cxnId="{1AE85C69-FDB4-4629-BBDE-841F7A43BD6B}">
      <dgm:prSet/>
      <dgm:spPr/>
      <dgm:t>
        <a:bodyPr/>
        <a:lstStyle/>
        <a:p>
          <a:pPr latinLnBrk="1"/>
          <a:endParaRPr lang="ko-KR" altLang="en-US"/>
        </a:p>
      </dgm:t>
    </dgm:pt>
    <dgm:pt modelId="{B50784FC-D17E-4291-8DE3-0E425580823B}" type="sibTrans" cxnId="{1AE85C69-FDB4-4629-BBDE-841F7A43BD6B}">
      <dgm:prSet/>
      <dgm:spPr/>
      <dgm:t>
        <a:bodyPr/>
        <a:lstStyle/>
        <a:p>
          <a:pPr latinLnBrk="1"/>
          <a:endParaRPr lang="ko-KR" altLang="en-US"/>
        </a:p>
      </dgm:t>
    </dgm:pt>
    <dgm:pt modelId="{1EC80BE8-9193-41AA-AB71-6C3CCBDB6FAA}">
      <dgm:prSet phldrT="[텍스트]"/>
      <dgm:spPr/>
      <dgm:t>
        <a:bodyPr/>
        <a:lstStyle/>
        <a:p>
          <a:pPr latinLnBrk="1"/>
          <a:r>
            <a:rPr lang="ko-KR" altLang="en-US" dirty="0"/>
            <a:t>보상사항의 통지</a:t>
          </a:r>
        </a:p>
      </dgm:t>
    </dgm:pt>
    <dgm:pt modelId="{81B82FBA-2F57-4243-B27F-F24F2B6CAEDC}" type="parTrans" cxnId="{41D1A40C-F855-423B-83E2-B702C573518C}">
      <dgm:prSet/>
      <dgm:spPr/>
      <dgm:t>
        <a:bodyPr/>
        <a:lstStyle/>
        <a:p>
          <a:pPr latinLnBrk="1"/>
          <a:endParaRPr lang="ko-KR" altLang="en-US"/>
        </a:p>
      </dgm:t>
    </dgm:pt>
    <dgm:pt modelId="{E3B10E4F-51DC-481C-A613-68270D4F4911}" type="sibTrans" cxnId="{41D1A40C-F855-423B-83E2-B702C573518C}">
      <dgm:prSet/>
      <dgm:spPr/>
      <dgm:t>
        <a:bodyPr/>
        <a:lstStyle/>
        <a:p>
          <a:pPr latinLnBrk="1"/>
          <a:endParaRPr lang="ko-KR" altLang="en-US"/>
        </a:p>
      </dgm:t>
    </dgm:pt>
    <dgm:pt modelId="{B774D765-8596-4594-853F-06A98650FEE6}">
      <dgm:prSet phldrT="[텍스트]"/>
      <dgm:spPr/>
      <dgm:t>
        <a:bodyPr/>
        <a:lstStyle/>
        <a:p>
          <a:pPr latinLnBrk="1"/>
          <a:r>
            <a:rPr lang="ko-KR" altLang="en-US" dirty="0"/>
            <a:t>보상의 효력</a:t>
          </a:r>
        </a:p>
      </dgm:t>
    </dgm:pt>
    <dgm:pt modelId="{A4F59F25-8AAE-4024-9E96-31211FBF4024}" type="parTrans" cxnId="{509084A0-003F-4170-B92D-7F921FB9CF49}">
      <dgm:prSet/>
      <dgm:spPr/>
      <dgm:t>
        <a:bodyPr/>
        <a:lstStyle/>
        <a:p>
          <a:pPr latinLnBrk="1"/>
          <a:endParaRPr lang="ko-KR" altLang="en-US"/>
        </a:p>
      </dgm:t>
    </dgm:pt>
    <dgm:pt modelId="{96CE64F8-56C7-46B0-A405-7423E3049364}" type="sibTrans" cxnId="{509084A0-003F-4170-B92D-7F921FB9CF49}">
      <dgm:prSet/>
      <dgm:spPr/>
      <dgm:t>
        <a:bodyPr/>
        <a:lstStyle/>
        <a:p>
          <a:pPr latinLnBrk="1"/>
          <a:endParaRPr lang="ko-KR" altLang="en-US"/>
        </a:p>
      </dgm:t>
    </dgm:pt>
    <dgm:pt modelId="{D96D613F-BDCE-4A6F-9DF5-658C7B3A5673}" type="pres">
      <dgm:prSet presAssocID="{A7EEF6D8-356D-4BFE-8C3B-447B02F5EE0A}" presName="linearFlow" presStyleCnt="0">
        <dgm:presLayoutVars>
          <dgm:resizeHandles val="exact"/>
        </dgm:presLayoutVars>
      </dgm:prSet>
      <dgm:spPr/>
    </dgm:pt>
    <dgm:pt modelId="{32AE926B-FEEB-49E7-BBF0-B3D9B662FFD9}" type="pres">
      <dgm:prSet presAssocID="{1B500376-06BF-4D62-984D-2BCAD5DE622D}" presName="node" presStyleLbl="node1" presStyleIdx="0" presStyleCnt="3">
        <dgm:presLayoutVars>
          <dgm:bulletEnabled val="1"/>
        </dgm:presLayoutVars>
      </dgm:prSet>
      <dgm:spPr/>
    </dgm:pt>
    <dgm:pt modelId="{90C1BA4D-619E-4FFD-8C86-77999078976F}" type="pres">
      <dgm:prSet presAssocID="{B50784FC-D17E-4291-8DE3-0E425580823B}" presName="sibTrans" presStyleLbl="sibTrans2D1" presStyleIdx="0" presStyleCnt="2"/>
      <dgm:spPr/>
    </dgm:pt>
    <dgm:pt modelId="{7F0153A7-104C-4BF2-9758-9EBDCD49C276}" type="pres">
      <dgm:prSet presAssocID="{B50784FC-D17E-4291-8DE3-0E425580823B}" presName="connectorText" presStyleLbl="sibTrans2D1" presStyleIdx="0" presStyleCnt="2"/>
      <dgm:spPr/>
    </dgm:pt>
    <dgm:pt modelId="{BD0B095D-9854-41EE-8AA4-0941E55FB5C1}" type="pres">
      <dgm:prSet presAssocID="{1EC80BE8-9193-41AA-AB71-6C3CCBDB6FAA}" presName="node" presStyleLbl="node1" presStyleIdx="1" presStyleCnt="3">
        <dgm:presLayoutVars>
          <dgm:bulletEnabled val="1"/>
        </dgm:presLayoutVars>
      </dgm:prSet>
      <dgm:spPr/>
    </dgm:pt>
    <dgm:pt modelId="{9B3DDB7F-39CD-459C-8148-0D2C28BECB46}" type="pres">
      <dgm:prSet presAssocID="{E3B10E4F-51DC-481C-A613-68270D4F4911}" presName="sibTrans" presStyleLbl="sibTrans2D1" presStyleIdx="1" presStyleCnt="2"/>
      <dgm:spPr/>
    </dgm:pt>
    <dgm:pt modelId="{B449B651-68B9-4F30-BD60-DDAED9712888}" type="pres">
      <dgm:prSet presAssocID="{E3B10E4F-51DC-481C-A613-68270D4F4911}" presName="connectorText" presStyleLbl="sibTrans2D1" presStyleIdx="1" presStyleCnt="2"/>
      <dgm:spPr/>
    </dgm:pt>
    <dgm:pt modelId="{ED743B82-D8B1-46FB-A4D4-2E51FD026FD2}" type="pres">
      <dgm:prSet presAssocID="{B774D765-8596-4594-853F-06A98650FEE6}" presName="node" presStyleLbl="node1" presStyleIdx="2" presStyleCnt="3">
        <dgm:presLayoutVars>
          <dgm:bulletEnabled val="1"/>
        </dgm:presLayoutVars>
      </dgm:prSet>
      <dgm:spPr/>
    </dgm:pt>
  </dgm:ptLst>
  <dgm:cxnLst>
    <dgm:cxn modelId="{41D1A40C-F855-423B-83E2-B702C573518C}" srcId="{A7EEF6D8-356D-4BFE-8C3B-447B02F5EE0A}" destId="{1EC80BE8-9193-41AA-AB71-6C3CCBDB6FAA}" srcOrd="1" destOrd="0" parTransId="{81B82FBA-2F57-4243-B27F-F24F2B6CAEDC}" sibTransId="{E3B10E4F-51DC-481C-A613-68270D4F4911}"/>
    <dgm:cxn modelId="{0A11523F-7AC5-41A8-9F53-ED432DDCDA86}" type="presOf" srcId="{1B500376-06BF-4D62-984D-2BCAD5DE622D}" destId="{32AE926B-FEEB-49E7-BBF0-B3D9B662FFD9}" srcOrd="0" destOrd="0" presId="urn:microsoft.com/office/officeart/2005/8/layout/process2"/>
    <dgm:cxn modelId="{A6DA3146-2E33-43F9-9C1E-C7656531D3CB}" type="presOf" srcId="{B50784FC-D17E-4291-8DE3-0E425580823B}" destId="{90C1BA4D-619E-4FFD-8C86-77999078976F}" srcOrd="0" destOrd="0" presId="urn:microsoft.com/office/officeart/2005/8/layout/process2"/>
    <dgm:cxn modelId="{1AE85C69-FDB4-4629-BBDE-841F7A43BD6B}" srcId="{A7EEF6D8-356D-4BFE-8C3B-447B02F5EE0A}" destId="{1B500376-06BF-4D62-984D-2BCAD5DE622D}" srcOrd="0" destOrd="0" parTransId="{6D1E23D3-35A0-4E8E-BDE3-32266361E3C3}" sibTransId="{B50784FC-D17E-4291-8DE3-0E425580823B}"/>
    <dgm:cxn modelId="{10F03279-B13D-4A06-A28D-F07BBFDC0405}" type="presOf" srcId="{E3B10E4F-51DC-481C-A613-68270D4F4911}" destId="{B449B651-68B9-4F30-BD60-DDAED9712888}" srcOrd="1" destOrd="0" presId="urn:microsoft.com/office/officeart/2005/8/layout/process2"/>
    <dgm:cxn modelId="{C0766186-2093-435F-BB47-2B2132B467FE}" type="presOf" srcId="{1EC80BE8-9193-41AA-AB71-6C3CCBDB6FAA}" destId="{BD0B095D-9854-41EE-8AA4-0941E55FB5C1}" srcOrd="0" destOrd="0" presId="urn:microsoft.com/office/officeart/2005/8/layout/process2"/>
    <dgm:cxn modelId="{61576D91-2379-49BF-ABEC-D643881350F6}" type="presOf" srcId="{B774D765-8596-4594-853F-06A98650FEE6}" destId="{ED743B82-D8B1-46FB-A4D4-2E51FD026FD2}" srcOrd="0" destOrd="0" presId="urn:microsoft.com/office/officeart/2005/8/layout/process2"/>
    <dgm:cxn modelId="{FCF7DB9B-C978-4847-ACBE-75307E6852C1}" type="presOf" srcId="{B50784FC-D17E-4291-8DE3-0E425580823B}" destId="{7F0153A7-104C-4BF2-9758-9EBDCD49C276}" srcOrd="1" destOrd="0" presId="urn:microsoft.com/office/officeart/2005/8/layout/process2"/>
    <dgm:cxn modelId="{509084A0-003F-4170-B92D-7F921FB9CF49}" srcId="{A7EEF6D8-356D-4BFE-8C3B-447B02F5EE0A}" destId="{B774D765-8596-4594-853F-06A98650FEE6}" srcOrd="2" destOrd="0" parTransId="{A4F59F25-8AAE-4024-9E96-31211FBF4024}" sibTransId="{96CE64F8-56C7-46B0-A405-7423E3049364}"/>
    <dgm:cxn modelId="{319E84F9-1A68-4BEF-B24C-8C00C7F670CA}" type="presOf" srcId="{A7EEF6D8-356D-4BFE-8C3B-447B02F5EE0A}" destId="{D96D613F-BDCE-4A6F-9DF5-658C7B3A5673}" srcOrd="0" destOrd="0" presId="urn:microsoft.com/office/officeart/2005/8/layout/process2"/>
    <dgm:cxn modelId="{93280FFF-1769-4C74-B53F-A2021BACA78C}" type="presOf" srcId="{E3B10E4F-51DC-481C-A613-68270D4F4911}" destId="{9B3DDB7F-39CD-459C-8148-0D2C28BECB46}" srcOrd="0" destOrd="0" presId="urn:microsoft.com/office/officeart/2005/8/layout/process2"/>
    <dgm:cxn modelId="{C6F6F978-E750-4F7D-8A97-E9FCC0D6470A}" type="presParOf" srcId="{D96D613F-BDCE-4A6F-9DF5-658C7B3A5673}" destId="{32AE926B-FEEB-49E7-BBF0-B3D9B662FFD9}" srcOrd="0" destOrd="0" presId="urn:microsoft.com/office/officeart/2005/8/layout/process2"/>
    <dgm:cxn modelId="{124B2134-B39E-49F1-A344-95168017DC88}" type="presParOf" srcId="{D96D613F-BDCE-4A6F-9DF5-658C7B3A5673}" destId="{90C1BA4D-619E-4FFD-8C86-77999078976F}" srcOrd="1" destOrd="0" presId="urn:microsoft.com/office/officeart/2005/8/layout/process2"/>
    <dgm:cxn modelId="{A3C2D0D7-7278-4292-A7BC-BBAB71A7AF16}" type="presParOf" srcId="{90C1BA4D-619E-4FFD-8C86-77999078976F}" destId="{7F0153A7-104C-4BF2-9758-9EBDCD49C276}" srcOrd="0" destOrd="0" presId="urn:microsoft.com/office/officeart/2005/8/layout/process2"/>
    <dgm:cxn modelId="{58FB4FD2-046F-40C2-9363-D0450A37F6C4}" type="presParOf" srcId="{D96D613F-BDCE-4A6F-9DF5-658C7B3A5673}" destId="{BD0B095D-9854-41EE-8AA4-0941E55FB5C1}" srcOrd="2" destOrd="0" presId="urn:microsoft.com/office/officeart/2005/8/layout/process2"/>
    <dgm:cxn modelId="{898B85D0-BD0E-45D7-9F91-F267B9DEC305}" type="presParOf" srcId="{D96D613F-BDCE-4A6F-9DF5-658C7B3A5673}" destId="{9B3DDB7F-39CD-459C-8148-0D2C28BECB46}" srcOrd="3" destOrd="0" presId="urn:microsoft.com/office/officeart/2005/8/layout/process2"/>
    <dgm:cxn modelId="{F574C437-C710-47D8-B924-24597529EF7E}" type="presParOf" srcId="{9B3DDB7F-39CD-459C-8148-0D2C28BECB46}" destId="{B449B651-68B9-4F30-BD60-DDAED9712888}" srcOrd="0" destOrd="0" presId="urn:microsoft.com/office/officeart/2005/8/layout/process2"/>
    <dgm:cxn modelId="{D62990F9-96E8-4C41-AC28-775A276570B7}" type="presParOf" srcId="{D96D613F-BDCE-4A6F-9DF5-658C7B3A5673}" destId="{ED743B82-D8B1-46FB-A4D4-2E51FD026FD2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AE926B-FEEB-49E7-BBF0-B3D9B662FFD9}">
      <dsp:nvSpPr>
        <dsp:cNvPr id="0" name=""/>
        <dsp:cNvSpPr/>
      </dsp:nvSpPr>
      <dsp:spPr>
        <a:xfrm>
          <a:off x="280558" y="0"/>
          <a:ext cx="1148237" cy="63790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보상규정의 작성 및 변경</a:t>
          </a:r>
        </a:p>
      </dsp:txBody>
      <dsp:txXfrm>
        <a:off x="299242" y="18684"/>
        <a:ext cx="1110869" cy="600541"/>
      </dsp:txXfrm>
    </dsp:sp>
    <dsp:sp modelId="{90C1BA4D-619E-4FFD-8C86-77999078976F}">
      <dsp:nvSpPr>
        <dsp:cNvPr id="0" name=""/>
        <dsp:cNvSpPr/>
      </dsp:nvSpPr>
      <dsp:spPr>
        <a:xfrm rot="5400000">
          <a:off x="735069" y="653857"/>
          <a:ext cx="239216" cy="2870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100" kern="1200"/>
        </a:p>
      </dsp:txBody>
      <dsp:txXfrm rot="-5400000">
        <a:off x="768560" y="677779"/>
        <a:ext cx="172235" cy="167451"/>
      </dsp:txXfrm>
    </dsp:sp>
    <dsp:sp modelId="{BD0B095D-9854-41EE-8AA4-0941E55FB5C1}">
      <dsp:nvSpPr>
        <dsp:cNvPr id="0" name=""/>
        <dsp:cNvSpPr/>
      </dsp:nvSpPr>
      <dsp:spPr>
        <a:xfrm>
          <a:off x="280558" y="956864"/>
          <a:ext cx="1148237" cy="63790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보상사항의 통지</a:t>
          </a:r>
        </a:p>
      </dsp:txBody>
      <dsp:txXfrm>
        <a:off x="299242" y="975548"/>
        <a:ext cx="1110869" cy="600541"/>
      </dsp:txXfrm>
    </dsp:sp>
    <dsp:sp modelId="{9B3DDB7F-39CD-459C-8148-0D2C28BECB46}">
      <dsp:nvSpPr>
        <dsp:cNvPr id="0" name=""/>
        <dsp:cNvSpPr/>
      </dsp:nvSpPr>
      <dsp:spPr>
        <a:xfrm rot="5400000">
          <a:off x="735069" y="1610722"/>
          <a:ext cx="239216" cy="2870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100" kern="1200"/>
        </a:p>
      </dsp:txBody>
      <dsp:txXfrm rot="-5400000">
        <a:off x="768560" y="1634644"/>
        <a:ext cx="172235" cy="167451"/>
      </dsp:txXfrm>
    </dsp:sp>
    <dsp:sp modelId="{ED743B82-D8B1-46FB-A4D4-2E51FD026FD2}">
      <dsp:nvSpPr>
        <dsp:cNvPr id="0" name=""/>
        <dsp:cNvSpPr/>
      </dsp:nvSpPr>
      <dsp:spPr>
        <a:xfrm>
          <a:off x="280558" y="1913729"/>
          <a:ext cx="1148237" cy="63790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보상의 효력</a:t>
          </a:r>
        </a:p>
      </dsp:txBody>
      <dsp:txXfrm>
        <a:off x="299242" y="1932413"/>
        <a:ext cx="1110869" cy="6005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78428" cy="513508"/>
          </a:xfrm>
          <a:prstGeom prst="rect">
            <a:avLst/>
          </a:prstGeom>
        </p:spPr>
        <p:txBody>
          <a:bodyPr vert="horz" lIns="94657" tIns="47329" rIns="94657" bIns="47329" rtlCol="0"/>
          <a:lstStyle>
            <a:lvl1pPr algn="l"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2"/>
            <a:ext cx="3078428" cy="513508"/>
          </a:xfrm>
          <a:prstGeom prst="rect">
            <a:avLst/>
          </a:prstGeom>
        </p:spPr>
        <p:txBody>
          <a:bodyPr vert="horz" lIns="94657" tIns="47329" rIns="94657" bIns="47329" rtlCol="0"/>
          <a:lstStyle>
            <a:lvl1pPr algn="r"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fld id="{782597F2-0C3F-472E-942C-F0680216029B}" type="datetimeFigureOut">
              <a:rPr lang="ko-KR" altLang="en-US" smtClean="0"/>
              <a:pPr/>
              <a:t>2026-05-20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57" tIns="47329" rIns="94657" bIns="47329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9"/>
          </a:xfrm>
          <a:prstGeom prst="rect">
            <a:avLst/>
          </a:prstGeom>
        </p:spPr>
        <p:txBody>
          <a:bodyPr vert="horz" lIns="94657" tIns="47329" rIns="94657" bIns="47329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8" cy="513507"/>
          </a:xfrm>
          <a:prstGeom prst="rect">
            <a:avLst/>
          </a:prstGeom>
        </p:spPr>
        <p:txBody>
          <a:bodyPr vert="horz" lIns="94657" tIns="47329" rIns="94657" bIns="47329" rtlCol="0" anchor="b"/>
          <a:lstStyle>
            <a:lvl1pPr algn="l"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8" cy="513507"/>
          </a:xfrm>
          <a:prstGeom prst="rect">
            <a:avLst/>
          </a:prstGeom>
        </p:spPr>
        <p:txBody>
          <a:bodyPr vert="horz" lIns="94657" tIns="47329" rIns="94657" bIns="47329" rtlCol="0" anchor="b"/>
          <a:lstStyle>
            <a:lvl1pPr algn="r"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fld id="{30C005C8-BD53-41EA-B159-BC12A6DFFB7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3274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C005C8-BD53-41EA-B159-BC12A6DFFB7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모던고딕 L" panose="02020603020101020101" pitchFamily="18" charset="-127"/>
                <a:ea typeface="Rix모던고딕 L" panose="02020603020101020101" pitchFamily="18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모던고딕 L" panose="02020603020101020101" pitchFamily="18" charset="-127"/>
              <a:ea typeface="Rix모던고딕 L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9184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7392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815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87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6576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88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3639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89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5357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98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99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100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103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104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1519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106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107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108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24884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109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6294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22074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89363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68942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97633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6522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74405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4476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0393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0856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671393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13755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94473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14256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08628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CE72D-2D75-40FD-B9C5-E48E40FDAF15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0" y="0"/>
            <a:ext cx="2844800" cy="923385"/>
            <a:chOff x="0" y="1206500"/>
            <a:chExt cx="2343150" cy="689865"/>
          </a:xfrm>
        </p:grpSpPr>
        <p:sp>
          <p:nvSpPr>
            <p:cNvPr id="11" name="제목 1"/>
            <p:cNvSpPr txBox="1">
              <a:spLocks/>
            </p:cNvSpPr>
            <p:nvPr userDrawn="1"/>
          </p:nvSpPr>
          <p:spPr>
            <a:xfrm>
              <a:off x="0" y="1206501"/>
              <a:ext cx="2243303" cy="689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vert="horz" lIns="180000" tIns="0" rIns="180000" bIns="0" rtlCol="0" anchor="ctr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ko-KR" altLang="en-US" sz="2400" dirty="0">
                <a:solidFill>
                  <a:schemeClr val="accent4"/>
                </a:solidFill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2243083" y="1206500"/>
              <a:ext cx="100067" cy="6898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-1" y="677165"/>
            <a:ext cx="2723309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6" name="직선 연결선 15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개체 틀 1"/>
          <p:cNvSpPr>
            <a:spLocks noGrp="1"/>
          </p:cNvSpPr>
          <p:nvPr>
            <p:ph type="title"/>
          </p:nvPr>
        </p:nvSpPr>
        <p:spPr>
          <a:xfrm>
            <a:off x="0" y="274320"/>
            <a:ext cx="2708636" cy="398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7D14E75-92C3-4B89-BE74-A6BDEFD9235C}"/>
              </a:ext>
            </a:extLst>
          </p:cNvPr>
          <p:cNvSpPr/>
          <p:nvPr userDrawn="1"/>
        </p:nvSpPr>
        <p:spPr>
          <a:xfrm>
            <a:off x="-4710" y="0"/>
            <a:ext cx="2723309" cy="2617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ko-KR" b="1" dirty="0"/>
              <a:t>CASE STUDY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988064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897E-1F52-470C-BAEF-8EC700A71E38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0" y="0"/>
            <a:ext cx="2844800" cy="923385"/>
            <a:chOff x="0" y="1206500"/>
            <a:chExt cx="2343150" cy="689865"/>
          </a:xfrm>
        </p:grpSpPr>
        <p:sp>
          <p:nvSpPr>
            <p:cNvPr id="11" name="제목 1"/>
            <p:cNvSpPr txBox="1">
              <a:spLocks/>
            </p:cNvSpPr>
            <p:nvPr userDrawn="1"/>
          </p:nvSpPr>
          <p:spPr>
            <a:xfrm>
              <a:off x="0" y="1206501"/>
              <a:ext cx="2243303" cy="689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vert="horz" lIns="180000" tIns="0" rIns="180000" bIns="0" rtlCol="0" anchor="ctr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ko-KR" altLang="en-US" sz="2400" dirty="0">
                <a:solidFill>
                  <a:schemeClr val="accent4"/>
                </a:solidFill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2243083" y="1206500"/>
              <a:ext cx="100067" cy="6898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1" y="677164"/>
            <a:ext cx="27233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6" name="직선 연결선 15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개체 틀 1"/>
          <p:cNvSpPr>
            <a:spLocks noGrp="1"/>
          </p:cNvSpPr>
          <p:nvPr>
            <p:ph type="title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15053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C7522-D46F-4EA2-96CE-BF082140555B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제목 1"/>
          <p:cNvSpPr txBox="1">
            <a:spLocks/>
          </p:cNvSpPr>
          <p:nvPr userDrawn="1"/>
        </p:nvSpPr>
        <p:spPr>
          <a:xfrm>
            <a:off x="0" y="1"/>
            <a:ext cx="2723577" cy="92338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180000" tIns="0" rIns="18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4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2723309" y="0"/>
            <a:ext cx="121491" cy="92338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0" y="677164"/>
            <a:ext cx="27233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5" name="직선 연결선 14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 userDrawn="1">
            <p:ph type="title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rgbClr val="FFFF00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7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" name="텍스트 개체 틀 21"/>
          <p:cNvSpPr>
            <a:spLocks noGrp="1"/>
          </p:cNvSpPr>
          <p:nvPr userDrawn="1"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868736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DF58-DCC8-4D77-B255-9696E376AAF6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제목 1"/>
          <p:cNvSpPr txBox="1">
            <a:spLocks/>
          </p:cNvSpPr>
          <p:nvPr userDrawn="1"/>
        </p:nvSpPr>
        <p:spPr>
          <a:xfrm>
            <a:off x="0" y="1"/>
            <a:ext cx="2723577" cy="685799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vert="horz" lIns="180000" tIns="0" rIns="18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4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2723309" y="0"/>
            <a:ext cx="121491" cy="6858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 userDrawn="1">
            <p:ph type="title" hasCustomPrompt="1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rgbClr val="FFFF00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en-US" altLang="ko-KR" dirty="0"/>
              <a:t>TEST</a:t>
            </a:r>
            <a:endParaRPr lang="ko-KR" altLang="en-US" dirty="0"/>
          </a:p>
        </p:txBody>
      </p:sp>
      <p:sp>
        <p:nvSpPr>
          <p:cNvPr id="17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" name="텍스트 개체 틀 21"/>
          <p:cNvSpPr>
            <a:spLocks noGrp="1"/>
          </p:cNvSpPr>
          <p:nvPr userDrawn="1"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51967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산돌신문제비 L" panose="02030504000101010101" charset="-127"/>
                <a:ea typeface="산돌신문제비 L" panose="02030504000101010101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산돌신문제비 L" panose="02030504000101010101" charset="-127"/>
                <a:ea typeface="산돌신문제비 L" panose="02030504000101010101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6645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산돌신문제비 L" panose="02030504000101010101" charset="-127"/>
                <a:ea typeface="산돌신문제비 L" panose="02030504000101010101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산돌신문제비 L" panose="02030504000101010101" charset="-127"/>
                <a:ea typeface="산돌신문제비 L" panose="02030504000101010101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4332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산돌신문제비 L" panose="02030504000101010101" charset="-127"/>
                <a:ea typeface="산돌신문제비 L" panose="02030504000101010101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산돌신문제비 L" panose="02030504000101010101" charset="-127"/>
                <a:ea typeface="산돌신문제비 L" panose="02030504000101010101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6267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산돌신문제비 L" panose="02030504000101010101" charset="-127"/>
                <a:ea typeface="산돌신문제비 L" panose="02030504000101010101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산돌신문제비 L" panose="02030504000101010101" charset="-127"/>
                <a:ea typeface="산돌신문제비 L" panose="02030504000101010101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567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산돌신문제비 L" panose="02030504000101010101" charset="-127"/>
                <a:ea typeface="산돌신문제비 L" panose="02030504000101010101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산돌신문제비 L" panose="02030504000101010101" charset="-127"/>
                <a:ea typeface="산돌신문제비 L" panose="02030504000101010101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191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산돌신문제비 L" panose="02030504000101010101" charset="-127"/>
                <a:ea typeface="산돌신문제비 L" panose="02030504000101010101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산돌신문제비 L" panose="02030504000101010101" charset="-127"/>
                <a:ea typeface="산돌신문제비 L" panose="02030504000101010101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1740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5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8016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산돌신문제비 L" panose="02030504000101010101" charset="-127"/>
                <a:ea typeface="산돌신문제비 L" panose="02030504000101010101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0423" y="549176"/>
            <a:ext cx="2886612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산돌신문제비 L" panose="02030504000101010101" charset="-127"/>
                <a:ea typeface="산돌신문제비 L" panose="02030504000101010101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6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8" y="1315935"/>
            <a:ext cx="6655698" cy="269882"/>
          </a:xfr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952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4" name="텍스트 개체 틀 28"/>
          <p:cNvSpPr>
            <a:spLocks noGrp="1"/>
          </p:cNvSpPr>
          <p:nvPr>
            <p:ph type="body" sz="quarter" idx="18"/>
          </p:nvPr>
        </p:nvSpPr>
        <p:spPr>
          <a:xfrm>
            <a:off x="732408" y="1742184"/>
            <a:ext cx="6655698" cy="271677"/>
          </a:xfrm>
          <a:noFill/>
          <a:ln>
            <a:noFill/>
          </a:ln>
        </p:spPr>
        <p:txBody>
          <a:bodyPr wrap="square"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1708292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E5E0D24-7585-4FA7-9EC5-459AC23046CD}"/>
              </a:ext>
            </a:extLst>
          </p:cNvPr>
          <p:cNvSpPr/>
          <p:nvPr userDrawn="1"/>
        </p:nvSpPr>
        <p:spPr>
          <a:xfrm>
            <a:off x="730881" y="544312"/>
            <a:ext cx="10826767" cy="5786884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5" dirty="0">
              <a:latin typeface="Rix커피향 M" pitchFamily="18" charset="-127"/>
              <a:ea typeface="Rix커피향 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6690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CE72D-2D75-40FD-B9C5-E48E40FDAF15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0" y="0"/>
            <a:ext cx="2844800" cy="923385"/>
            <a:chOff x="0" y="1206500"/>
            <a:chExt cx="2343150" cy="689865"/>
          </a:xfrm>
        </p:grpSpPr>
        <p:sp>
          <p:nvSpPr>
            <p:cNvPr id="11" name="제목 1"/>
            <p:cNvSpPr txBox="1">
              <a:spLocks/>
            </p:cNvSpPr>
            <p:nvPr userDrawn="1"/>
          </p:nvSpPr>
          <p:spPr>
            <a:xfrm>
              <a:off x="0" y="1206501"/>
              <a:ext cx="2243303" cy="689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vert="horz" lIns="180000" tIns="0" rIns="180000" bIns="0" rtlCol="0" anchor="ctr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ko-KR" altLang="en-US" sz="2400" dirty="0">
                <a:solidFill>
                  <a:schemeClr val="accent4"/>
                </a:solidFill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2243083" y="1206500"/>
              <a:ext cx="100067" cy="6898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-1" y="677165"/>
            <a:ext cx="2723309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6" name="직선 연결선 15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개체 틀 1"/>
          <p:cNvSpPr>
            <a:spLocks noGrp="1"/>
          </p:cNvSpPr>
          <p:nvPr>
            <p:ph type="title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5318139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CE72D-2D75-40FD-B9C5-E48E40FDAF15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0" y="0"/>
            <a:ext cx="2844800" cy="923385"/>
            <a:chOff x="0" y="1206500"/>
            <a:chExt cx="2343150" cy="689865"/>
          </a:xfrm>
        </p:grpSpPr>
        <p:sp>
          <p:nvSpPr>
            <p:cNvPr id="11" name="제목 1"/>
            <p:cNvSpPr txBox="1">
              <a:spLocks/>
            </p:cNvSpPr>
            <p:nvPr userDrawn="1"/>
          </p:nvSpPr>
          <p:spPr>
            <a:xfrm>
              <a:off x="0" y="1206501"/>
              <a:ext cx="2243303" cy="689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vert="horz" lIns="180000" tIns="0" rIns="180000" bIns="0" rtlCol="0" anchor="ctr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ko-KR" altLang="en-US" sz="2400" dirty="0">
                <a:solidFill>
                  <a:schemeClr val="accent4"/>
                </a:solidFill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2243083" y="1206500"/>
              <a:ext cx="100067" cy="6898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-1" y="677165"/>
            <a:ext cx="2723309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6" name="직선 연결선 15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개체 틀 1"/>
          <p:cNvSpPr>
            <a:spLocks noGrp="1"/>
          </p:cNvSpPr>
          <p:nvPr>
            <p:ph type="title"/>
          </p:nvPr>
        </p:nvSpPr>
        <p:spPr>
          <a:xfrm>
            <a:off x="0" y="274320"/>
            <a:ext cx="2708636" cy="398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7D14E75-92C3-4B89-BE74-A6BDEFD9235C}"/>
              </a:ext>
            </a:extLst>
          </p:cNvPr>
          <p:cNvSpPr/>
          <p:nvPr userDrawn="1"/>
        </p:nvSpPr>
        <p:spPr>
          <a:xfrm>
            <a:off x="-4710" y="0"/>
            <a:ext cx="2723309" cy="2617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ko-KR" b="1" dirty="0"/>
              <a:t>CASE STUDY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3651440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CE929-8EFF-45A1-94DE-CC72DB08EDB3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제목 1"/>
          <p:cNvSpPr txBox="1">
            <a:spLocks/>
          </p:cNvSpPr>
          <p:nvPr userDrawn="1"/>
        </p:nvSpPr>
        <p:spPr>
          <a:xfrm>
            <a:off x="0" y="1"/>
            <a:ext cx="2723577" cy="92338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180000" tIns="0" rIns="18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4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2723309" y="0"/>
            <a:ext cx="121491" cy="92338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-1" y="677165"/>
            <a:ext cx="2723309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="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="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="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="0" baseline="0" dirty="0">
                <a:solidFill>
                  <a:schemeClr val="bg2"/>
                </a:solidFill>
              </a:rPr>
              <a:t> </a:t>
            </a:r>
            <a:r>
              <a:rPr lang="en-US" altLang="ko-KR" sz="1000" b="0" dirty="0">
                <a:solidFill>
                  <a:schemeClr val="bg2"/>
                </a:solidFill>
              </a:rPr>
              <a:t>All Right</a:t>
            </a:r>
            <a:r>
              <a:rPr lang="en-US" altLang="ko-KR" sz="1000" b="0" baseline="0" dirty="0">
                <a:solidFill>
                  <a:schemeClr val="bg2"/>
                </a:solidFill>
              </a:rPr>
              <a:t>s Reserved.</a:t>
            </a:r>
            <a:endParaRPr lang="ko-KR" altLang="en-US" sz="1000" b="0" dirty="0">
              <a:solidFill>
                <a:schemeClr val="bg2"/>
              </a:solidFill>
            </a:endParaRPr>
          </a:p>
        </p:txBody>
      </p:sp>
      <p:cxnSp>
        <p:nvCxnSpPr>
          <p:cNvPr id="15" name="직선 연결선 14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 userDrawn="1">
            <p:ph type="title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rgbClr val="FFFF00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7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" name="텍스트 개체 틀 21"/>
          <p:cNvSpPr>
            <a:spLocks noGrp="1"/>
          </p:cNvSpPr>
          <p:nvPr userDrawn="1"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7570587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5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8016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0423" y="549176"/>
            <a:ext cx="2886612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6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8" y="1315935"/>
            <a:ext cx="6655698" cy="269882"/>
          </a:xfr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952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4" name="텍스트 개체 틀 28"/>
          <p:cNvSpPr>
            <a:spLocks noGrp="1"/>
          </p:cNvSpPr>
          <p:nvPr>
            <p:ph type="body" sz="quarter" idx="18"/>
          </p:nvPr>
        </p:nvSpPr>
        <p:spPr>
          <a:xfrm>
            <a:off x="732408" y="1742184"/>
            <a:ext cx="6655698" cy="271677"/>
          </a:xfrm>
          <a:noFill/>
          <a:ln>
            <a:noFill/>
          </a:ln>
        </p:spPr>
        <p:txBody>
          <a:bodyPr wrap="square"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439606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84726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5207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69A018-C336-4EBA-84EE-074C32CA2982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125200" y="0"/>
            <a:ext cx="1066800" cy="676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 b="1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/>
              </a:defRPr>
            </a:lvl1pPr>
          </a:lstStyle>
          <a:p>
            <a:fld id="{3875FC6C-1516-4DC4-8C58-3090F7D4F0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63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10015" y="275339"/>
            <a:ext cx="10971973" cy="1142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10015" y="1599511"/>
            <a:ext cx="10971973" cy="4526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10014" y="6356660"/>
            <a:ext cx="2845351" cy="3644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3">
                <a:solidFill>
                  <a:schemeClr val="tx1">
                    <a:tint val="75000"/>
                  </a:schemeClr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fld id="{DA871C45-21D4-4A4B-8C59-D313832DD3AA}" type="datetime1">
              <a:rPr lang="ko-KR" altLang="en-US" smtClean="0"/>
              <a:pPr/>
              <a:t>2026-05-20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4635" y="6356660"/>
            <a:ext cx="3862730" cy="3644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3">
                <a:solidFill>
                  <a:schemeClr val="tx1">
                    <a:tint val="75000"/>
                  </a:schemeClr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6636" y="6356660"/>
            <a:ext cx="2845351" cy="3644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3">
                <a:solidFill>
                  <a:schemeClr val="tx1">
                    <a:tint val="75000"/>
                  </a:schemeClr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9907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p:hf hdr="0" ftr="0" dt="0"/>
  <p:txStyles>
    <p:titleStyle>
      <a:lvl1pPr algn="ctr" defTabSz="916777" rtl="0" eaLnBrk="1" latinLnBrk="1" hangingPunct="1">
        <a:spcBef>
          <a:spcPct val="0"/>
        </a:spcBef>
        <a:buNone/>
        <a:defRPr sz="4411" kern="1200">
          <a:solidFill>
            <a:schemeClr val="tx1"/>
          </a:solidFill>
          <a:latin typeface="Rix모던고딕 L" panose="02020603020101020101" pitchFamily="18" charset="-127"/>
          <a:ea typeface="Rix모던고딕 L" panose="02020603020101020101" pitchFamily="18" charset="-127"/>
          <a:cs typeface="+mj-cs"/>
        </a:defRPr>
      </a:lvl1pPr>
    </p:titleStyle>
    <p:bodyStyle>
      <a:lvl1pPr marL="343792" indent="-343792" algn="l" defTabSz="916777" rtl="0" eaLnBrk="1" latinLnBrk="1" hangingPunct="1">
        <a:spcBef>
          <a:spcPct val="20000"/>
        </a:spcBef>
        <a:buFont typeface="Arial" pitchFamily="34" charset="0"/>
        <a:buChar char="•"/>
        <a:defRPr sz="3208" kern="1200">
          <a:solidFill>
            <a:schemeClr val="tx1"/>
          </a:solidFill>
          <a:latin typeface="Rix모던고딕 L" panose="02020603020101020101" pitchFamily="18" charset="-127"/>
          <a:ea typeface="Rix모던고딕 L" panose="02020603020101020101" pitchFamily="18" charset="-127"/>
          <a:cs typeface="+mn-cs"/>
        </a:defRPr>
      </a:lvl1pPr>
      <a:lvl2pPr marL="744882" indent="-286493" algn="l" defTabSz="916777" rtl="0" eaLnBrk="1" latinLnBrk="1" hangingPunct="1">
        <a:spcBef>
          <a:spcPct val="20000"/>
        </a:spcBef>
        <a:buFont typeface="Arial" pitchFamily="34" charset="0"/>
        <a:buChar char="–"/>
        <a:defRPr sz="2807" kern="1200">
          <a:solidFill>
            <a:schemeClr val="tx1"/>
          </a:solidFill>
          <a:latin typeface="Rix모던고딕 L" panose="02020603020101020101" pitchFamily="18" charset="-127"/>
          <a:ea typeface="Rix모던고딕 L" panose="02020603020101020101" pitchFamily="18" charset="-127"/>
          <a:cs typeface="+mn-cs"/>
        </a:defRPr>
      </a:lvl2pPr>
      <a:lvl3pPr marL="1145972" indent="-229194" algn="l" defTabSz="916777" rtl="0" eaLnBrk="1" latinLnBrk="1" hangingPunct="1">
        <a:spcBef>
          <a:spcPct val="20000"/>
        </a:spcBef>
        <a:buFont typeface="Arial" pitchFamily="34" charset="0"/>
        <a:buChar char="•"/>
        <a:defRPr sz="2406" kern="1200">
          <a:solidFill>
            <a:schemeClr val="tx1"/>
          </a:solidFill>
          <a:latin typeface="Rix모던고딕 L" panose="02020603020101020101" pitchFamily="18" charset="-127"/>
          <a:ea typeface="Rix모던고딕 L" panose="02020603020101020101" pitchFamily="18" charset="-127"/>
          <a:cs typeface="+mn-cs"/>
        </a:defRPr>
      </a:lvl3pPr>
      <a:lvl4pPr marL="1604361" indent="-229194" algn="l" defTabSz="916777" rtl="0" eaLnBrk="1" latinLnBrk="1" hangingPunct="1">
        <a:spcBef>
          <a:spcPct val="20000"/>
        </a:spcBef>
        <a:buFont typeface="Arial" pitchFamily="34" charset="0"/>
        <a:buChar char="–"/>
        <a:defRPr sz="2005" kern="1200">
          <a:solidFill>
            <a:schemeClr val="tx1"/>
          </a:solidFill>
          <a:latin typeface="Rix모던고딕 L" panose="02020603020101020101" pitchFamily="18" charset="-127"/>
          <a:ea typeface="Rix모던고딕 L" panose="02020603020101020101" pitchFamily="18" charset="-127"/>
          <a:cs typeface="+mn-cs"/>
        </a:defRPr>
      </a:lvl4pPr>
      <a:lvl5pPr marL="2062749" indent="-229194" algn="l" defTabSz="916777" rtl="0" eaLnBrk="1" latinLnBrk="1" hangingPunct="1">
        <a:spcBef>
          <a:spcPct val="20000"/>
        </a:spcBef>
        <a:buFont typeface="Arial" pitchFamily="34" charset="0"/>
        <a:buChar char="»"/>
        <a:defRPr sz="2005" kern="1200">
          <a:solidFill>
            <a:schemeClr val="tx1"/>
          </a:solidFill>
          <a:latin typeface="Rix모던고딕 L" panose="02020603020101020101" pitchFamily="18" charset="-127"/>
          <a:ea typeface="Rix모던고딕 L" panose="02020603020101020101" pitchFamily="18" charset="-127"/>
          <a:cs typeface="+mn-cs"/>
        </a:defRPr>
      </a:lvl5pPr>
      <a:lvl6pPr marL="2521138" indent="-229194" algn="l" defTabSz="916777" rtl="0" eaLnBrk="1" latinLnBrk="1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6pPr>
      <a:lvl7pPr marL="2979527" indent="-229194" algn="l" defTabSz="916777" rtl="0" eaLnBrk="1" latinLnBrk="1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7pPr>
      <a:lvl8pPr marL="3437915" indent="-229194" algn="l" defTabSz="916777" rtl="0" eaLnBrk="1" latinLnBrk="1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8pPr>
      <a:lvl9pPr marL="3896304" indent="-229194" algn="l" defTabSz="916777" rtl="0" eaLnBrk="1" latinLnBrk="1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6777" rtl="0" eaLnBrk="1" latinLnBrk="1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8389" algn="l" defTabSz="916777" rtl="0" eaLnBrk="1" latinLnBrk="1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6777" algn="l" defTabSz="916777" rtl="0" eaLnBrk="1" latinLnBrk="1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5166" algn="l" defTabSz="916777" rtl="0" eaLnBrk="1" latinLnBrk="1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33555" algn="l" defTabSz="916777" rtl="0" eaLnBrk="1" latinLnBrk="1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91944" algn="l" defTabSz="916777" rtl="0" eaLnBrk="1" latinLnBrk="1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50332" algn="l" defTabSz="916777" rtl="0" eaLnBrk="1" latinLnBrk="1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8721" algn="l" defTabSz="916777" rtl="0" eaLnBrk="1" latinLnBrk="1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67110" algn="l" defTabSz="916777" rtl="0" eaLnBrk="1" latinLnBrk="1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6AA719-D96A-4F3C-897B-F269EE83DF44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129210" y="0"/>
            <a:ext cx="1062789" cy="7339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 b="1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/>
              </a:defRPr>
            </a:lvl1pPr>
          </a:lstStyle>
          <a:p>
            <a:fld id="{3875FC6C-1516-4DC4-8C58-3090F7D4F00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5012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11153595" y="44623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총칙</a:t>
            </a:r>
            <a:r>
              <a:rPr lang="en-US" altLang="ko-KR" sz="2000" b="1" dirty="0">
                <a:solidFill>
                  <a:schemeClr val="bg1"/>
                </a:solidFill>
              </a:rPr>
              <a:t>/</a:t>
            </a:r>
          </a:p>
          <a:p>
            <a:pPr algn="ctr"/>
            <a:r>
              <a:rPr lang="ko-KR" altLang="en-US" sz="2000" b="1" dirty="0" err="1">
                <a:solidFill>
                  <a:schemeClr val="bg1"/>
                </a:solidFill>
              </a:rPr>
              <a:t>보칙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1153595" y="1011588"/>
            <a:ext cx="1062789" cy="96696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accent4"/>
                </a:solidFill>
              </a:rPr>
              <a:t>특허</a:t>
            </a:r>
            <a:endParaRPr lang="en-US" altLang="ko-KR" sz="2000" b="1" dirty="0">
              <a:solidFill>
                <a:schemeClr val="accent4"/>
              </a:solidFill>
            </a:endParaRPr>
          </a:p>
          <a:p>
            <a:pPr algn="ctr"/>
            <a:r>
              <a:rPr lang="ko-KR" altLang="en-US" sz="2000" b="1" dirty="0">
                <a:solidFill>
                  <a:schemeClr val="accent4"/>
                </a:solidFill>
              </a:rPr>
              <a:t>요건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1153595" y="1978552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이익</a:t>
            </a:r>
            <a:endParaRPr lang="en-US" altLang="ko-KR" sz="2000" b="1" dirty="0"/>
          </a:p>
          <a:p>
            <a:pPr algn="ctr"/>
            <a:r>
              <a:rPr lang="ko-KR" altLang="en-US" sz="2000" b="1" dirty="0"/>
              <a:t>제도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11153595" y="2945517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심사</a:t>
            </a:r>
            <a:endParaRPr lang="en-US" altLang="ko-KR" sz="2000" b="1" dirty="0"/>
          </a:p>
          <a:p>
            <a:pPr algn="ctr"/>
            <a:r>
              <a:rPr lang="en-US" altLang="ko-KR" sz="2000" b="1" dirty="0"/>
              <a:t>(</a:t>
            </a:r>
            <a:r>
              <a:rPr lang="ko-KR" altLang="en-US" sz="2000" b="1" dirty="0"/>
              <a:t>제도</a:t>
            </a:r>
            <a:r>
              <a:rPr lang="en-US" altLang="ko-KR" sz="2000" b="1" dirty="0"/>
              <a:t>)</a:t>
            </a:r>
            <a:endParaRPr lang="ko-KR" altLang="en-US" sz="2000" b="1" dirty="0"/>
          </a:p>
        </p:txBody>
      </p:sp>
      <p:sp>
        <p:nvSpPr>
          <p:cNvPr id="16" name="직사각형 15"/>
          <p:cNvSpPr/>
          <p:nvPr/>
        </p:nvSpPr>
        <p:spPr>
          <a:xfrm>
            <a:off x="11153595" y="3912483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특허권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11153595" y="4879448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심판</a:t>
            </a:r>
            <a:r>
              <a:rPr lang="en-US" altLang="ko-KR" sz="2000" b="1" dirty="0"/>
              <a:t>/</a:t>
            </a:r>
          </a:p>
          <a:p>
            <a:pPr algn="ctr"/>
            <a:r>
              <a:rPr lang="ko-KR" altLang="en-US" sz="2000" b="1" dirty="0"/>
              <a:t>소송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11153595" y="5846412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PCT</a:t>
            </a:r>
            <a:endParaRPr lang="ko-KR" altLang="en-US" sz="2000" b="1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E37D41E-3D89-E902-35BF-0973F893AB6D}"/>
              </a:ext>
            </a:extLst>
          </p:cNvPr>
          <p:cNvSpPr txBox="1">
            <a:spLocks/>
          </p:cNvSpPr>
          <p:nvPr/>
        </p:nvSpPr>
        <p:spPr>
          <a:xfrm>
            <a:off x="1961128" y="1991045"/>
            <a:ext cx="7162800" cy="1193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  <a:cs typeface="+mj-cs"/>
              </a:defRPr>
            </a:lvl1pPr>
          </a:lstStyle>
          <a:p>
            <a:r>
              <a:rPr lang="ko-KR" altLang="en-US" sz="8000" dirty="0">
                <a:solidFill>
                  <a:schemeClr val="tx1">
                    <a:lumMod val="50000"/>
                    <a:lumOff val="50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특허법 강의노트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51DE372-8E71-65CA-6DEA-73C4991909E2}"/>
              </a:ext>
            </a:extLst>
          </p:cNvPr>
          <p:cNvSpPr txBox="1">
            <a:spLocks/>
          </p:cNvSpPr>
          <p:nvPr/>
        </p:nvSpPr>
        <p:spPr>
          <a:xfrm>
            <a:off x="2185246" y="3197545"/>
            <a:ext cx="6684682" cy="10445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lIns="540000" tIns="0" rIns="54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/>
            <a:endParaRPr lang="ko-KR" altLang="en-US" sz="40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61A1773F-08CE-8EC7-8A83-6F595A08D562}"/>
              </a:ext>
            </a:extLst>
          </p:cNvPr>
          <p:cNvSpPr txBox="1">
            <a:spLocks/>
          </p:cNvSpPr>
          <p:nvPr/>
        </p:nvSpPr>
        <p:spPr>
          <a:xfrm>
            <a:off x="4565375" y="4873198"/>
            <a:ext cx="1954306" cy="6490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>
                <a:solidFill>
                  <a:schemeClr val="tx1">
                    <a:lumMod val="50000"/>
                    <a:lumOff val="50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2025</a:t>
            </a:r>
            <a:endParaRPr lang="ko-KR" altLang="en-US" sz="3600" dirty="0">
              <a:solidFill>
                <a:schemeClr val="tx1">
                  <a:lumMod val="50000"/>
                  <a:lumOff val="50000"/>
                </a:schemeClr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731BAE27-86B4-76FD-1C85-4834A32D5883}"/>
              </a:ext>
            </a:extLst>
          </p:cNvPr>
          <p:cNvSpPr txBox="1">
            <a:spLocks/>
          </p:cNvSpPr>
          <p:nvPr/>
        </p:nvSpPr>
        <p:spPr>
          <a:xfrm>
            <a:off x="2185246" y="3467433"/>
            <a:ext cx="6684682" cy="5457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 err="1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Yim</a:t>
            </a:r>
            <a:r>
              <a:rPr lang="en-US" altLang="ko-KR" sz="2800" dirty="0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, </a:t>
            </a:r>
            <a:r>
              <a:rPr lang="en-US" altLang="ko-KR" sz="2800" dirty="0" err="1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Byung-Woong</a:t>
            </a:r>
            <a:r>
              <a:rPr lang="en-US" altLang="ko-KR" sz="2800" dirty="0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All Rights Reserved.</a:t>
            </a:r>
            <a:endParaRPr lang="ko-KR" altLang="en-US" sz="2800" dirty="0">
              <a:solidFill>
                <a:schemeClr val="bg1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7436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8855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75FC6C-1516-4DC4-8C58-3090F7D4F003}" type="slidenum">
              <a:rPr kumimoji="0" lang="ko-KR" altLang="en-US" sz="3600" b="1" i="0" u="none" strike="noStrike" kern="1200" cap="none" spc="0" normalizeH="0" baseline="0" noProof="0" smtClean="0">
                <a:ln w="12700">
                  <a:solidFill>
                    <a:srgbClr val="44546A">
                      <a:satMod val="155000"/>
                    </a:srgbClr>
                  </a:solidFill>
                  <a:prstDash val="solid"/>
                </a:ln>
                <a:solidFill>
                  <a:srgbClr val="E7E6E6">
                    <a:tint val="85000"/>
                    <a:satMod val="155000"/>
                  </a:srgbClr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ko-KR" altLang="en-US" sz="3600" b="1" i="0" u="none" strike="noStrike" kern="1200" cap="none" spc="0" normalizeH="0" baseline="0" noProof="0">
              <a:ln w="12700">
                <a:solidFill>
                  <a:srgbClr val="44546A">
                    <a:satMod val="155000"/>
                  </a:srgbClr>
                </a:solidFill>
                <a:prstDash val="solid"/>
              </a:ln>
              <a:solidFill>
                <a:srgbClr val="E7E6E6">
                  <a:tint val="85000"/>
                  <a:satMod val="155000"/>
                </a:srgbClr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특허법 체계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244284" y="2152137"/>
            <a:ext cx="552862" cy="498328"/>
          </a:xfrm>
          <a:prstGeom prst="rect">
            <a:avLst/>
          </a:prstGeom>
          <a:ln w="63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총칙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/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보칙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118397" y="994294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목적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1)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2118397" y="123628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정의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118397" y="1471128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행위능력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3~5①)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118397" y="1713120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대리인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3②, 5②~10, 12)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118397" y="1945643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복수당사자 대표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11)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118397" y="2187635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재외자의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재판관할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13)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118397" y="2438415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기일과 기간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14, 15)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118397" y="2670267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특허에 관한 절차 일반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16, 28~28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5)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118397" y="290844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추후보완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17, 67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118397" y="3139884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절차의 효력의 승계 및 절차의 속행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18, 19)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118397" y="337173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절차의 정지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20~24, 78, 164)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cxnSp>
        <p:nvCxnSpPr>
          <p:cNvPr id="18" name="꺾인 연결선 17"/>
          <p:cNvCxnSpPr>
            <a:cxnSpLocks/>
            <a:stCxn id="6" idx="3"/>
            <a:endCxn id="7" idx="1"/>
          </p:cNvCxnSpPr>
          <p:nvPr/>
        </p:nvCxnSpPr>
        <p:spPr>
          <a:xfrm flipV="1">
            <a:off x="1797146" y="1085041"/>
            <a:ext cx="321251" cy="1316260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cxnSpLocks/>
            <a:stCxn id="6" idx="3"/>
            <a:endCxn id="17" idx="1"/>
          </p:cNvCxnSpPr>
          <p:nvPr/>
        </p:nvCxnSpPr>
        <p:spPr>
          <a:xfrm>
            <a:off x="1797146" y="2401301"/>
            <a:ext cx="321251" cy="106118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cxnSpLocks/>
            <a:stCxn id="6" idx="3"/>
            <a:endCxn id="8" idx="1"/>
          </p:cNvCxnSpPr>
          <p:nvPr/>
        </p:nvCxnSpPr>
        <p:spPr>
          <a:xfrm flipV="1">
            <a:off x="1797146" y="1327033"/>
            <a:ext cx="321251" cy="1074268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cxnSpLocks/>
            <a:stCxn id="6" idx="3"/>
            <a:endCxn id="9" idx="1"/>
          </p:cNvCxnSpPr>
          <p:nvPr/>
        </p:nvCxnSpPr>
        <p:spPr>
          <a:xfrm flipV="1">
            <a:off x="1797146" y="1561875"/>
            <a:ext cx="321251" cy="839426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연결선 21"/>
          <p:cNvCxnSpPr>
            <a:cxnSpLocks/>
            <a:stCxn id="6" idx="3"/>
            <a:endCxn id="13" idx="1"/>
          </p:cNvCxnSpPr>
          <p:nvPr/>
        </p:nvCxnSpPr>
        <p:spPr>
          <a:xfrm>
            <a:off x="1797146" y="2401301"/>
            <a:ext cx="321251" cy="127861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cxnSpLocks/>
            <a:stCxn id="6" idx="3"/>
            <a:endCxn id="14" idx="1"/>
          </p:cNvCxnSpPr>
          <p:nvPr/>
        </p:nvCxnSpPr>
        <p:spPr>
          <a:xfrm>
            <a:off x="1797146" y="2401301"/>
            <a:ext cx="321251" cy="359713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cxnSpLocks/>
            <a:stCxn id="6" idx="3"/>
            <a:endCxn id="15" idx="1"/>
          </p:cNvCxnSpPr>
          <p:nvPr/>
        </p:nvCxnSpPr>
        <p:spPr>
          <a:xfrm>
            <a:off x="1797146" y="2401301"/>
            <a:ext cx="321251" cy="59789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 24"/>
          <p:cNvCxnSpPr>
            <a:cxnSpLocks/>
            <a:stCxn id="6" idx="3"/>
            <a:endCxn id="16" idx="1"/>
          </p:cNvCxnSpPr>
          <p:nvPr/>
        </p:nvCxnSpPr>
        <p:spPr>
          <a:xfrm>
            <a:off x="1797146" y="2401301"/>
            <a:ext cx="321251" cy="829330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cxnSpLocks/>
            <a:stCxn id="6" idx="3"/>
            <a:endCxn id="10" idx="1"/>
          </p:cNvCxnSpPr>
          <p:nvPr/>
        </p:nvCxnSpPr>
        <p:spPr>
          <a:xfrm flipV="1">
            <a:off x="1797146" y="1803867"/>
            <a:ext cx="321251" cy="597434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 26"/>
          <p:cNvCxnSpPr>
            <a:cxnSpLocks/>
            <a:stCxn id="6" idx="3"/>
            <a:endCxn id="11" idx="1"/>
          </p:cNvCxnSpPr>
          <p:nvPr/>
        </p:nvCxnSpPr>
        <p:spPr>
          <a:xfrm flipV="1">
            <a:off x="1797146" y="2036390"/>
            <a:ext cx="321251" cy="364911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 27"/>
          <p:cNvCxnSpPr>
            <a:cxnSpLocks/>
            <a:stCxn id="6" idx="3"/>
            <a:endCxn id="12" idx="1"/>
          </p:cNvCxnSpPr>
          <p:nvPr/>
        </p:nvCxnSpPr>
        <p:spPr>
          <a:xfrm flipV="1">
            <a:off x="1797146" y="2278382"/>
            <a:ext cx="321251" cy="122919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그룹 28"/>
          <p:cNvGrpSpPr/>
          <p:nvPr/>
        </p:nvGrpSpPr>
        <p:grpSpPr>
          <a:xfrm>
            <a:off x="6536267" y="1171792"/>
            <a:ext cx="4444979" cy="2279356"/>
            <a:chOff x="3987793" y="1037128"/>
            <a:chExt cx="3733785" cy="1752532"/>
          </a:xfrm>
        </p:grpSpPr>
        <p:sp>
          <p:nvSpPr>
            <p:cNvPr id="30" name="직사각형 29"/>
            <p:cNvSpPr/>
            <p:nvPr/>
          </p:nvSpPr>
          <p:spPr>
            <a:xfrm>
              <a:off x="3987793" y="1888138"/>
              <a:ext cx="398311" cy="385993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rPr>
                <a:t>특허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rPr>
                <a:t>요건</a:t>
              </a: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4546567" y="1605364"/>
              <a:ext cx="950303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rPr>
                <a:t>특허를 받을 수 </a:t>
              </a:r>
              <a:endPara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rPr>
                <a:t>없는 발명</a:t>
              </a: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4546568" y="1990474"/>
              <a:ext cx="950302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rPr>
                <a:t>특허를 받을 수 </a:t>
              </a:r>
              <a:endPara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rPr>
                <a:t>있는 자</a:t>
              </a: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4546567" y="1205114"/>
              <a:ext cx="950303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rPr>
                <a:t>특허를 받을 수 </a:t>
              </a:r>
              <a:endPara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rPr>
                <a:t>있는 발명</a:t>
              </a: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4546568" y="2378317"/>
              <a:ext cx="950302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rPr>
                <a:t>특허를 받을 수 </a:t>
              </a:r>
              <a:endPara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rPr>
                <a:t>있는 출원</a:t>
              </a:r>
            </a:p>
          </p:txBody>
        </p:sp>
        <p:grpSp>
          <p:nvGrpSpPr>
            <p:cNvPr id="35" name="그룹 34"/>
            <p:cNvGrpSpPr/>
            <p:nvPr/>
          </p:nvGrpSpPr>
          <p:grpSpPr>
            <a:xfrm>
              <a:off x="5713090" y="1037128"/>
              <a:ext cx="2008488" cy="1752532"/>
              <a:chOff x="9836379" y="3177270"/>
              <a:chExt cx="2251744" cy="1752532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49" name="직사각형 48"/>
              <p:cNvSpPr/>
              <p:nvPr/>
            </p:nvSpPr>
            <p:spPr>
              <a:xfrm>
                <a:off x="9836379" y="3177270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협의의 특허요건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法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29)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  <p:sp>
            <p:nvSpPr>
              <p:cNvPr id="50" name="직사각형 49"/>
              <p:cNvSpPr/>
              <p:nvPr/>
            </p:nvSpPr>
            <p:spPr>
              <a:xfrm>
                <a:off x="9836379" y="3385132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선출원주의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法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36)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  <p:sp>
            <p:nvSpPr>
              <p:cNvPr id="51" name="직사각형 50"/>
              <p:cNvSpPr/>
              <p:nvPr/>
            </p:nvSpPr>
            <p:spPr>
              <a:xfrm>
                <a:off x="9836379" y="3574340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불특허발명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法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32)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  <p:sp>
            <p:nvSpPr>
              <p:cNvPr id="52" name="직사각형 51"/>
              <p:cNvSpPr/>
              <p:nvPr/>
            </p:nvSpPr>
            <p:spPr>
              <a:xfrm>
                <a:off x="9836379" y="3782202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국방상 필요한 발명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法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 41, 106)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  <p:sp>
            <p:nvSpPr>
              <p:cNvPr id="53" name="직사각형 52"/>
              <p:cNvSpPr/>
              <p:nvPr/>
            </p:nvSpPr>
            <p:spPr>
              <a:xfrm>
                <a:off x="9836379" y="3969271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출원인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法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25, 33, 44)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  <p:sp>
            <p:nvSpPr>
              <p:cNvPr id="54" name="직사각형 53"/>
              <p:cNvSpPr/>
              <p:nvPr/>
            </p:nvSpPr>
            <p:spPr>
              <a:xfrm>
                <a:off x="9836379" y="4160199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특허를 받을 수 있는 권리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法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37, 38)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  <p:sp>
            <p:nvSpPr>
              <p:cNvPr id="55" name="직사각형 54"/>
              <p:cNvSpPr/>
              <p:nvPr/>
            </p:nvSpPr>
            <p:spPr>
              <a:xfrm>
                <a:off x="9836379" y="4358676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직무발명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발진법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2, 10~19, 58)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  <p:sp>
            <p:nvSpPr>
              <p:cNvPr id="56" name="직사각형 55"/>
              <p:cNvSpPr/>
              <p:nvPr/>
            </p:nvSpPr>
            <p:spPr>
              <a:xfrm>
                <a:off x="9836379" y="4558495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특허출원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法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42~42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의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3, 43)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  <p:sp>
            <p:nvSpPr>
              <p:cNvPr id="57" name="직사각형 56"/>
              <p:cNvSpPr/>
              <p:nvPr/>
            </p:nvSpPr>
            <p:spPr>
              <a:xfrm>
                <a:off x="9836379" y="4773906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하나의 특허출원의 범위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法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45)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</p:grpSp>
        <p:cxnSp>
          <p:nvCxnSpPr>
            <p:cNvPr id="36" name="꺾인 연결선 35"/>
            <p:cNvCxnSpPr>
              <a:stCxn id="30" idx="3"/>
              <a:endCxn id="33" idx="1"/>
            </p:cNvCxnSpPr>
            <p:nvPr/>
          </p:nvCxnSpPr>
          <p:spPr>
            <a:xfrm flipV="1">
              <a:off x="4386104" y="1374002"/>
              <a:ext cx="160463" cy="707133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꺾인 연결선 36"/>
            <p:cNvCxnSpPr>
              <a:stCxn id="30" idx="3"/>
              <a:endCxn id="34" idx="1"/>
            </p:cNvCxnSpPr>
            <p:nvPr/>
          </p:nvCxnSpPr>
          <p:spPr>
            <a:xfrm>
              <a:off x="4386104" y="2081135"/>
              <a:ext cx="160464" cy="466070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꺾인 연결선 37"/>
            <p:cNvCxnSpPr>
              <a:stCxn id="30" idx="3"/>
              <a:endCxn id="31" idx="1"/>
            </p:cNvCxnSpPr>
            <p:nvPr/>
          </p:nvCxnSpPr>
          <p:spPr>
            <a:xfrm flipV="1">
              <a:off x="4386104" y="1774252"/>
              <a:ext cx="160463" cy="306883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꺾인 연결선 38"/>
            <p:cNvCxnSpPr>
              <a:stCxn id="30" idx="3"/>
              <a:endCxn id="32" idx="1"/>
            </p:cNvCxnSpPr>
            <p:nvPr/>
          </p:nvCxnSpPr>
          <p:spPr>
            <a:xfrm>
              <a:off x="4386104" y="2081135"/>
              <a:ext cx="160464" cy="7822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꺾인 연결선 39"/>
            <p:cNvCxnSpPr>
              <a:stCxn id="33" idx="3"/>
              <a:endCxn id="49" idx="1"/>
            </p:cNvCxnSpPr>
            <p:nvPr/>
          </p:nvCxnSpPr>
          <p:spPr>
            <a:xfrm flipV="1">
              <a:off x="5496870" y="1115076"/>
              <a:ext cx="216220" cy="258926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꺾인 연결선 40"/>
            <p:cNvCxnSpPr>
              <a:stCxn id="33" idx="3"/>
              <a:endCxn id="50" idx="1"/>
            </p:cNvCxnSpPr>
            <p:nvPr/>
          </p:nvCxnSpPr>
          <p:spPr>
            <a:xfrm flipV="1">
              <a:off x="5496870" y="1322938"/>
              <a:ext cx="216220" cy="5106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꺾인 연결선 41"/>
            <p:cNvCxnSpPr>
              <a:stCxn id="31" idx="3"/>
              <a:endCxn id="51" idx="1"/>
            </p:cNvCxnSpPr>
            <p:nvPr/>
          </p:nvCxnSpPr>
          <p:spPr>
            <a:xfrm flipV="1">
              <a:off x="5496870" y="1512146"/>
              <a:ext cx="216220" cy="262106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꺾인 연결선 42"/>
            <p:cNvCxnSpPr>
              <a:stCxn id="31" idx="3"/>
              <a:endCxn id="52" idx="1"/>
            </p:cNvCxnSpPr>
            <p:nvPr/>
          </p:nvCxnSpPr>
          <p:spPr>
            <a:xfrm flipV="1">
              <a:off x="5496870" y="1720008"/>
              <a:ext cx="216220" cy="5424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꺾인 연결선 43"/>
            <p:cNvCxnSpPr>
              <a:stCxn id="32" idx="3"/>
              <a:endCxn id="53" idx="1"/>
            </p:cNvCxnSpPr>
            <p:nvPr/>
          </p:nvCxnSpPr>
          <p:spPr>
            <a:xfrm flipV="1">
              <a:off x="5496870" y="1907077"/>
              <a:ext cx="216220" cy="252285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꺾인 연결선 44"/>
            <p:cNvCxnSpPr>
              <a:stCxn id="32" idx="3"/>
              <a:endCxn id="54" idx="1"/>
            </p:cNvCxnSpPr>
            <p:nvPr/>
          </p:nvCxnSpPr>
          <p:spPr>
            <a:xfrm flipV="1">
              <a:off x="5496870" y="2098005"/>
              <a:ext cx="216220" cy="6135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꺾인 연결선 45"/>
            <p:cNvCxnSpPr>
              <a:stCxn id="32" idx="3"/>
              <a:endCxn id="55" idx="1"/>
            </p:cNvCxnSpPr>
            <p:nvPr/>
          </p:nvCxnSpPr>
          <p:spPr>
            <a:xfrm>
              <a:off x="5496870" y="2159362"/>
              <a:ext cx="216220" cy="137120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꺾인 연결선 46"/>
            <p:cNvCxnSpPr>
              <a:stCxn id="34" idx="3"/>
              <a:endCxn id="56" idx="1"/>
            </p:cNvCxnSpPr>
            <p:nvPr/>
          </p:nvCxnSpPr>
          <p:spPr>
            <a:xfrm flipV="1">
              <a:off x="5496870" y="2496301"/>
              <a:ext cx="216220" cy="5090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꺾인 연결선 47"/>
            <p:cNvCxnSpPr>
              <a:stCxn id="34" idx="3"/>
              <a:endCxn id="57" idx="1"/>
            </p:cNvCxnSpPr>
            <p:nvPr/>
          </p:nvCxnSpPr>
          <p:spPr>
            <a:xfrm>
              <a:off x="5496870" y="2547205"/>
              <a:ext cx="216220" cy="16450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직사각형 58"/>
          <p:cNvSpPr/>
          <p:nvPr/>
        </p:nvSpPr>
        <p:spPr>
          <a:xfrm>
            <a:off x="906097" y="4898289"/>
            <a:ext cx="472526" cy="503727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이익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제도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2487992" y="4226191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공지예외적용주장출원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30)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2487992" y="4599179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정당한 권리자의 보호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34, 35, 99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2487992" y="4870443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보정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46, 47, 51)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2487992" y="5446506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분리출원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52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2487992" y="5717771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변경출원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53)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2487992" y="6022943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조약우선권주장출원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54)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2487992" y="6294208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국내우선권주장출원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55, 56)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1519197" y="5145136"/>
            <a:ext cx="722622" cy="4408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출원일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소급제도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1519197" y="6056851"/>
            <a:ext cx="722622" cy="4408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판단시점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소급제도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cxnSp>
        <p:nvCxnSpPr>
          <p:cNvPr id="63" name="꺾인 연결선 62"/>
          <p:cNvCxnSpPr>
            <a:stCxn id="59" idx="3"/>
            <a:endCxn id="72" idx="1"/>
          </p:cNvCxnSpPr>
          <p:nvPr/>
        </p:nvCxnSpPr>
        <p:spPr>
          <a:xfrm flipV="1">
            <a:off x="1378623" y="4327915"/>
            <a:ext cx="1109369" cy="822238"/>
          </a:xfrm>
          <a:prstGeom prst="bentConnector3">
            <a:avLst>
              <a:gd name="adj1" fmla="val 6212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59" idx="3"/>
            <a:endCxn id="62" idx="1"/>
          </p:cNvCxnSpPr>
          <p:nvPr/>
        </p:nvCxnSpPr>
        <p:spPr>
          <a:xfrm>
            <a:off x="1378623" y="5150153"/>
            <a:ext cx="140574" cy="112710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꺾인 연결선 64"/>
          <p:cNvCxnSpPr>
            <a:stCxn id="59" idx="3"/>
            <a:endCxn id="61" idx="1"/>
          </p:cNvCxnSpPr>
          <p:nvPr/>
        </p:nvCxnSpPr>
        <p:spPr>
          <a:xfrm>
            <a:off x="1378623" y="5150153"/>
            <a:ext cx="140574" cy="21538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65"/>
          <p:cNvCxnSpPr>
            <a:stCxn id="61" idx="3"/>
            <a:endCxn id="73" idx="1"/>
          </p:cNvCxnSpPr>
          <p:nvPr/>
        </p:nvCxnSpPr>
        <p:spPr>
          <a:xfrm flipV="1">
            <a:off x="2241819" y="4700903"/>
            <a:ext cx="246173" cy="664635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61" idx="3"/>
            <a:endCxn id="76" idx="1"/>
          </p:cNvCxnSpPr>
          <p:nvPr/>
        </p:nvCxnSpPr>
        <p:spPr>
          <a:xfrm>
            <a:off x="2241819" y="5365539"/>
            <a:ext cx="246173" cy="453957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연결선 67"/>
          <p:cNvCxnSpPr>
            <a:stCxn id="61" idx="3"/>
            <a:endCxn id="74" idx="1"/>
          </p:cNvCxnSpPr>
          <p:nvPr/>
        </p:nvCxnSpPr>
        <p:spPr>
          <a:xfrm flipV="1">
            <a:off x="2241819" y="4972167"/>
            <a:ext cx="246173" cy="393371"/>
          </a:xfrm>
          <a:prstGeom prst="bentConnector3">
            <a:avLst>
              <a:gd name="adj1" fmla="val 50001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꺾인 연결선 68"/>
          <p:cNvCxnSpPr>
            <a:stCxn id="61" idx="3"/>
            <a:endCxn id="75" idx="1"/>
          </p:cNvCxnSpPr>
          <p:nvPr/>
        </p:nvCxnSpPr>
        <p:spPr>
          <a:xfrm>
            <a:off x="2241819" y="5365539"/>
            <a:ext cx="246173" cy="18269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cxnSpLocks/>
            <a:stCxn id="62" idx="3"/>
            <a:endCxn id="77" idx="1"/>
          </p:cNvCxnSpPr>
          <p:nvPr/>
        </p:nvCxnSpPr>
        <p:spPr>
          <a:xfrm flipV="1">
            <a:off x="2241819" y="6124667"/>
            <a:ext cx="246173" cy="152586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cxnSpLocks/>
            <a:stCxn id="62" idx="3"/>
            <a:endCxn id="78" idx="1"/>
          </p:cNvCxnSpPr>
          <p:nvPr/>
        </p:nvCxnSpPr>
        <p:spPr>
          <a:xfrm>
            <a:off x="2241819" y="6277254"/>
            <a:ext cx="246173" cy="118678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그룹 78"/>
          <p:cNvGrpSpPr/>
          <p:nvPr/>
        </p:nvGrpSpPr>
        <p:grpSpPr>
          <a:xfrm>
            <a:off x="7001934" y="4076201"/>
            <a:ext cx="3979312" cy="2368895"/>
            <a:chOff x="7340600" y="4076201"/>
            <a:chExt cx="3640645" cy="2368895"/>
          </a:xfrm>
        </p:grpSpPr>
        <p:sp>
          <p:nvSpPr>
            <p:cNvPr id="80" name="직사각형 79"/>
            <p:cNvSpPr/>
            <p:nvPr/>
          </p:nvSpPr>
          <p:spPr>
            <a:xfrm>
              <a:off x="7340600" y="5011587"/>
              <a:ext cx="448769" cy="399529"/>
            </a:xfrm>
            <a:prstGeom prst="rect">
              <a:avLst/>
            </a:prstGeom>
            <a:ln w="3175"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rPr>
                <a:t>심사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rPr>
                <a:t>(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rPr>
                <a:t>제도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rPr>
                <a:t>)</a:t>
              </a: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endParaRPr>
            </a:p>
          </p:txBody>
        </p:sp>
        <p:grpSp>
          <p:nvGrpSpPr>
            <p:cNvPr id="81" name="그룹 80"/>
            <p:cNvGrpSpPr/>
            <p:nvPr/>
          </p:nvGrpSpPr>
          <p:grpSpPr>
            <a:xfrm>
              <a:off x="7967112" y="4305504"/>
              <a:ext cx="471444" cy="1770110"/>
              <a:chOff x="2707314" y="4441447"/>
              <a:chExt cx="786730" cy="1770110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2707314" y="4441447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주체</a:t>
                </a:r>
              </a:p>
            </p:txBody>
          </p:sp>
          <p:sp>
            <p:nvSpPr>
              <p:cNvPr id="109" name="직사각형 108"/>
              <p:cNvSpPr/>
              <p:nvPr/>
            </p:nvSpPr>
            <p:spPr>
              <a:xfrm>
                <a:off x="2707314" y="4839210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청구</a:t>
                </a:r>
              </a:p>
            </p:txBody>
          </p:sp>
          <p:sp>
            <p:nvSpPr>
              <p:cNvPr id="110" name="직사각형 109"/>
              <p:cNvSpPr/>
              <p:nvPr/>
            </p:nvSpPr>
            <p:spPr>
              <a:xfrm>
                <a:off x="2707314" y="5258685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진행</a:t>
                </a:r>
              </a:p>
            </p:txBody>
          </p:sp>
          <p:sp>
            <p:nvSpPr>
              <p:cNvPr id="111" name="직사각형 110"/>
              <p:cNvSpPr/>
              <p:nvPr/>
            </p:nvSpPr>
            <p:spPr>
              <a:xfrm>
                <a:off x="2707314" y="5656447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종료</a:t>
                </a:r>
              </a:p>
            </p:txBody>
          </p:sp>
          <p:sp>
            <p:nvSpPr>
              <p:cNvPr id="112" name="직사각형 111"/>
              <p:cNvSpPr/>
              <p:nvPr/>
            </p:nvSpPr>
            <p:spPr>
              <a:xfrm>
                <a:off x="2707314" y="6036746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관련</a:t>
                </a:r>
              </a:p>
            </p:txBody>
          </p:sp>
        </p:grpSp>
        <p:cxnSp>
          <p:nvCxnSpPr>
            <p:cNvPr id="82" name="꺾인 연결선 81"/>
            <p:cNvCxnSpPr>
              <a:stCxn id="80" idx="3"/>
              <a:endCxn id="108" idx="1"/>
            </p:cNvCxnSpPr>
            <p:nvPr/>
          </p:nvCxnSpPr>
          <p:spPr>
            <a:xfrm flipV="1">
              <a:off x="7789369" y="4392910"/>
              <a:ext cx="177743" cy="81844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꺾인 연결선 82"/>
            <p:cNvCxnSpPr>
              <a:stCxn id="80" idx="3"/>
              <a:endCxn id="112" idx="1"/>
            </p:cNvCxnSpPr>
            <p:nvPr/>
          </p:nvCxnSpPr>
          <p:spPr>
            <a:xfrm>
              <a:off x="7789369" y="5211352"/>
              <a:ext cx="177743" cy="77685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꺾인 연결선 83"/>
            <p:cNvCxnSpPr>
              <a:stCxn id="80" idx="3"/>
              <a:endCxn id="109" idx="1"/>
            </p:cNvCxnSpPr>
            <p:nvPr/>
          </p:nvCxnSpPr>
          <p:spPr>
            <a:xfrm flipV="1">
              <a:off x="7789369" y="4790673"/>
              <a:ext cx="177743" cy="420679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꺾인 연결선 84"/>
            <p:cNvCxnSpPr>
              <a:stCxn id="80" idx="3"/>
              <a:endCxn id="111" idx="1"/>
            </p:cNvCxnSpPr>
            <p:nvPr/>
          </p:nvCxnSpPr>
          <p:spPr>
            <a:xfrm>
              <a:off x="7789369" y="5211352"/>
              <a:ext cx="177743" cy="396558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꺾인 연결선 85"/>
            <p:cNvCxnSpPr>
              <a:stCxn id="80" idx="3"/>
              <a:endCxn id="110" idx="1"/>
            </p:cNvCxnSpPr>
            <p:nvPr/>
          </p:nvCxnSpPr>
          <p:spPr>
            <a:xfrm flipV="1">
              <a:off x="7789369" y="5210148"/>
              <a:ext cx="177743" cy="1204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그룹 86"/>
            <p:cNvGrpSpPr/>
            <p:nvPr/>
          </p:nvGrpSpPr>
          <p:grpSpPr>
            <a:xfrm>
              <a:off x="8563424" y="4076201"/>
              <a:ext cx="2417821" cy="2368895"/>
              <a:chOff x="3618912" y="4212144"/>
              <a:chExt cx="3438525" cy="2368895"/>
            </a:xfrm>
          </p:grpSpPr>
          <p:sp>
            <p:nvSpPr>
              <p:cNvPr id="98" name="직사각형 97"/>
              <p:cNvSpPr/>
              <p:nvPr/>
            </p:nvSpPr>
            <p:spPr>
              <a:xfrm>
                <a:off x="3618912" y="4212144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심사관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法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57</a:t>
                </a:r>
                <a:r>
                  <a:rPr kumimoji="0" lang="en-US" altLang="ko-KR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, 68)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  <p:sp>
            <p:nvSpPr>
              <p:cNvPr id="99" name="직사각형 98"/>
              <p:cNvSpPr/>
              <p:nvPr/>
            </p:nvSpPr>
            <p:spPr>
              <a:xfrm>
                <a:off x="3618912" y="4435206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전문기관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法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58, 58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의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2)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  <p:sp>
            <p:nvSpPr>
              <p:cNvPr id="100" name="직사각형 99"/>
              <p:cNvSpPr/>
              <p:nvPr/>
            </p:nvSpPr>
            <p:spPr>
              <a:xfrm>
                <a:off x="3618912" y="5479998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출원의 무효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, 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취하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, 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포기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제도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  <p:sp>
            <p:nvSpPr>
              <p:cNvPr id="101" name="직사각형 100"/>
              <p:cNvSpPr/>
              <p:nvPr/>
            </p:nvSpPr>
            <p:spPr>
              <a:xfrm>
                <a:off x="3618912" y="5703059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특허여부결정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제도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)(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法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62, 63, 66~67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의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3)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  <p:sp>
            <p:nvSpPr>
              <p:cNvPr id="102" name="직사각형 101"/>
              <p:cNvSpPr/>
              <p:nvPr/>
            </p:nvSpPr>
            <p:spPr>
              <a:xfrm>
                <a:off x="3618912" y="4668743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심사청구제도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法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59, 60)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  <p:sp>
            <p:nvSpPr>
              <p:cNvPr id="103" name="직사각형 102"/>
              <p:cNvSpPr/>
              <p:nvPr/>
            </p:nvSpPr>
            <p:spPr>
              <a:xfrm>
                <a:off x="3618912" y="4891805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우선심사제도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法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61)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  <p:sp>
            <p:nvSpPr>
              <p:cNvPr id="104" name="직사각형 103"/>
              <p:cNvSpPr/>
              <p:nvPr/>
            </p:nvSpPr>
            <p:spPr>
              <a:xfrm>
                <a:off x="3618912" y="5178975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심사의 진행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法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62, 63, 63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의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3)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  <p:sp>
            <p:nvSpPr>
              <p:cNvPr id="105" name="직사각형 104"/>
              <p:cNvSpPr/>
              <p:nvPr/>
            </p:nvSpPr>
            <p:spPr>
              <a:xfrm>
                <a:off x="3618912" y="5955831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정보제공제도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法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63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의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2)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  <p:sp>
            <p:nvSpPr>
              <p:cNvPr id="106" name="직사각형 105"/>
              <p:cNvSpPr/>
              <p:nvPr/>
            </p:nvSpPr>
            <p:spPr>
              <a:xfrm>
                <a:off x="3618912" y="6178893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출원공개제도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法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64, 65)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  <p:sp>
            <p:nvSpPr>
              <p:cNvPr id="107" name="직사각형 106"/>
              <p:cNvSpPr/>
              <p:nvPr/>
            </p:nvSpPr>
            <p:spPr>
              <a:xfrm>
                <a:off x="3618912" y="6406228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타절차와의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 관계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法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78)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</p:grpSp>
        <p:cxnSp>
          <p:nvCxnSpPr>
            <p:cNvPr id="88" name="꺾인 연결선 87"/>
            <p:cNvCxnSpPr>
              <a:stCxn id="108" idx="3"/>
              <a:endCxn id="98" idx="1"/>
            </p:cNvCxnSpPr>
            <p:nvPr/>
          </p:nvCxnSpPr>
          <p:spPr>
            <a:xfrm flipV="1">
              <a:off x="8438556" y="4163607"/>
              <a:ext cx="124868" cy="229303"/>
            </a:xfrm>
            <a:prstGeom prst="bentConnector3">
              <a:avLst>
                <a:gd name="adj1" fmla="val 50000"/>
              </a:avLst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꺾인 연결선 88"/>
            <p:cNvCxnSpPr>
              <a:stCxn id="108" idx="3"/>
              <a:endCxn id="99" idx="1"/>
            </p:cNvCxnSpPr>
            <p:nvPr/>
          </p:nvCxnSpPr>
          <p:spPr>
            <a:xfrm flipV="1">
              <a:off x="8438556" y="4386669"/>
              <a:ext cx="124868" cy="6241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꺾인 연결선 89"/>
            <p:cNvCxnSpPr>
              <a:stCxn id="109" idx="3"/>
              <a:endCxn id="102" idx="1"/>
            </p:cNvCxnSpPr>
            <p:nvPr/>
          </p:nvCxnSpPr>
          <p:spPr>
            <a:xfrm flipV="1">
              <a:off x="8438556" y="4620206"/>
              <a:ext cx="124868" cy="17046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꺾인 연결선 90"/>
            <p:cNvCxnSpPr>
              <a:stCxn id="109" idx="3"/>
              <a:endCxn id="103" idx="1"/>
            </p:cNvCxnSpPr>
            <p:nvPr/>
          </p:nvCxnSpPr>
          <p:spPr>
            <a:xfrm>
              <a:off x="8438556" y="4790673"/>
              <a:ext cx="124868" cy="52595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꺾인 연결선 91"/>
            <p:cNvCxnSpPr>
              <a:stCxn id="110" idx="3"/>
              <a:endCxn id="104" idx="1"/>
            </p:cNvCxnSpPr>
            <p:nvPr/>
          </p:nvCxnSpPr>
          <p:spPr>
            <a:xfrm flipV="1">
              <a:off x="8438556" y="5130438"/>
              <a:ext cx="124868" cy="79710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꺾인 연결선 92"/>
            <p:cNvCxnSpPr>
              <a:stCxn id="111" idx="3"/>
              <a:endCxn id="100" idx="1"/>
            </p:cNvCxnSpPr>
            <p:nvPr/>
          </p:nvCxnSpPr>
          <p:spPr>
            <a:xfrm flipV="1">
              <a:off x="8438556" y="5431461"/>
              <a:ext cx="124868" cy="176449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꺾인 연결선 93"/>
            <p:cNvCxnSpPr>
              <a:stCxn id="111" idx="3"/>
              <a:endCxn id="101" idx="1"/>
            </p:cNvCxnSpPr>
            <p:nvPr/>
          </p:nvCxnSpPr>
          <p:spPr>
            <a:xfrm>
              <a:off x="8438556" y="5607910"/>
              <a:ext cx="124868" cy="4661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꺾인 연결선 94"/>
            <p:cNvCxnSpPr>
              <a:stCxn id="112" idx="3"/>
              <a:endCxn id="105" idx="1"/>
            </p:cNvCxnSpPr>
            <p:nvPr/>
          </p:nvCxnSpPr>
          <p:spPr>
            <a:xfrm flipV="1">
              <a:off x="8438556" y="5907294"/>
              <a:ext cx="124868" cy="80915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꺾인 연결선 95"/>
            <p:cNvCxnSpPr>
              <a:stCxn id="112" idx="3"/>
              <a:endCxn id="106" idx="1"/>
            </p:cNvCxnSpPr>
            <p:nvPr/>
          </p:nvCxnSpPr>
          <p:spPr>
            <a:xfrm>
              <a:off x="8438556" y="5988209"/>
              <a:ext cx="124868" cy="14214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꺾인 연결선 96"/>
            <p:cNvCxnSpPr>
              <a:stCxn id="112" idx="3"/>
              <a:endCxn id="107" idx="1"/>
            </p:cNvCxnSpPr>
            <p:nvPr/>
          </p:nvCxnSpPr>
          <p:spPr>
            <a:xfrm>
              <a:off x="8438556" y="5988209"/>
              <a:ext cx="124868" cy="36948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직사각형 112"/>
          <p:cNvSpPr/>
          <p:nvPr/>
        </p:nvSpPr>
        <p:spPr>
          <a:xfrm>
            <a:off x="5960556" y="3393490"/>
            <a:ext cx="914400" cy="91440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특허법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체계도</a:t>
            </a:r>
          </a:p>
        </p:txBody>
      </p:sp>
      <p:sp>
        <p:nvSpPr>
          <p:cNvPr id="114" name="타원 113"/>
          <p:cNvSpPr/>
          <p:nvPr/>
        </p:nvSpPr>
        <p:spPr>
          <a:xfrm>
            <a:off x="880857" y="2219587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15" name="타원 114"/>
          <p:cNvSpPr/>
          <p:nvPr/>
        </p:nvSpPr>
        <p:spPr>
          <a:xfrm>
            <a:off x="6163733" y="2366819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16" name="타원 115"/>
          <p:cNvSpPr/>
          <p:nvPr/>
        </p:nvSpPr>
        <p:spPr>
          <a:xfrm>
            <a:off x="542670" y="5005703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17" name="타원 116"/>
          <p:cNvSpPr/>
          <p:nvPr/>
        </p:nvSpPr>
        <p:spPr>
          <a:xfrm>
            <a:off x="6647019" y="5043860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18" name="자유형 117"/>
          <p:cNvSpPr/>
          <p:nvPr/>
        </p:nvSpPr>
        <p:spPr>
          <a:xfrm>
            <a:off x="1049867" y="2582332"/>
            <a:ext cx="4893733" cy="1423457"/>
          </a:xfrm>
          <a:custGeom>
            <a:avLst/>
            <a:gdLst>
              <a:gd name="connsiteX0" fmla="*/ 4893733 w 4893733"/>
              <a:gd name="connsiteY0" fmla="*/ 1295400 h 1295400"/>
              <a:gd name="connsiteX1" fmla="*/ 4893733 w 4893733"/>
              <a:gd name="connsiteY1" fmla="*/ 1295400 h 1295400"/>
              <a:gd name="connsiteX2" fmla="*/ 0 w 4893733"/>
              <a:gd name="connsiteY2" fmla="*/ 1295400 h 1295400"/>
              <a:gd name="connsiteX3" fmla="*/ 0 w 4893733"/>
              <a:gd name="connsiteY3" fmla="*/ 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93733" h="1295400">
                <a:moveTo>
                  <a:pt x="4893733" y="1295400"/>
                </a:moveTo>
                <a:lnTo>
                  <a:pt x="4893733" y="1295400"/>
                </a:lnTo>
                <a:lnTo>
                  <a:pt x="0" y="1295400"/>
                </a:ln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19" name="자유형 118"/>
          <p:cNvSpPr/>
          <p:nvPr/>
        </p:nvSpPr>
        <p:spPr>
          <a:xfrm>
            <a:off x="718458" y="3993619"/>
            <a:ext cx="5233610" cy="997811"/>
          </a:xfrm>
          <a:custGeom>
            <a:avLst/>
            <a:gdLst>
              <a:gd name="connsiteX0" fmla="*/ 5215467 w 5215467"/>
              <a:gd name="connsiteY0" fmla="*/ 0 h 965200"/>
              <a:gd name="connsiteX1" fmla="*/ 0 w 5215467"/>
              <a:gd name="connsiteY1" fmla="*/ 0 h 965200"/>
              <a:gd name="connsiteX2" fmla="*/ 0 w 5215467"/>
              <a:gd name="connsiteY2" fmla="*/ 965200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15467" h="965200">
                <a:moveTo>
                  <a:pt x="5215467" y="0"/>
                </a:moveTo>
                <a:lnTo>
                  <a:pt x="0" y="0"/>
                </a:lnTo>
                <a:lnTo>
                  <a:pt x="0" y="96520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20" name="자유형 119"/>
          <p:cNvSpPr/>
          <p:nvPr/>
        </p:nvSpPr>
        <p:spPr>
          <a:xfrm>
            <a:off x="6383867" y="2726267"/>
            <a:ext cx="0" cy="668866"/>
          </a:xfrm>
          <a:custGeom>
            <a:avLst/>
            <a:gdLst>
              <a:gd name="connsiteX0" fmla="*/ 0 w 0"/>
              <a:gd name="connsiteY0" fmla="*/ 668866 h 668866"/>
              <a:gd name="connsiteX1" fmla="*/ 0 w 0"/>
              <a:gd name="connsiteY1" fmla="*/ 0 h 668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68866">
                <a:moveTo>
                  <a:pt x="0" y="668866"/>
                </a:move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cxnSp>
        <p:nvCxnSpPr>
          <p:cNvPr id="121" name="직선 연결선 120"/>
          <p:cNvCxnSpPr>
            <a:stCxn id="113" idx="2"/>
            <a:endCxn id="113" idx="2"/>
          </p:cNvCxnSpPr>
          <p:nvPr/>
        </p:nvCxnSpPr>
        <p:spPr>
          <a:xfrm>
            <a:off x="6417756" y="4307890"/>
            <a:ext cx="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자유형 121"/>
          <p:cNvSpPr/>
          <p:nvPr/>
        </p:nvSpPr>
        <p:spPr>
          <a:xfrm>
            <a:off x="6400800" y="4318000"/>
            <a:ext cx="262467" cy="897467"/>
          </a:xfrm>
          <a:custGeom>
            <a:avLst/>
            <a:gdLst>
              <a:gd name="connsiteX0" fmla="*/ 0 w 262467"/>
              <a:gd name="connsiteY0" fmla="*/ 0 h 897467"/>
              <a:gd name="connsiteX1" fmla="*/ 0 w 262467"/>
              <a:gd name="connsiteY1" fmla="*/ 0 h 897467"/>
              <a:gd name="connsiteX2" fmla="*/ 0 w 262467"/>
              <a:gd name="connsiteY2" fmla="*/ 897467 h 897467"/>
              <a:gd name="connsiteX3" fmla="*/ 262467 w 262467"/>
              <a:gd name="connsiteY3" fmla="*/ 897467 h 89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2467" h="897467">
                <a:moveTo>
                  <a:pt x="0" y="0"/>
                </a:moveTo>
                <a:lnTo>
                  <a:pt x="0" y="0"/>
                </a:lnTo>
                <a:lnTo>
                  <a:pt x="0" y="897467"/>
                </a:lnTo>
                <a:lnTo>
                  <a:pt x="262467" y="897467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9012F393-65ED-4311-A56D-1073EA0A0D99}"/>
              </a:ext>
            </a:extLst>
          </p:cNvPr>
          <p:cNvSpPr/>
          <p:nvPr/>
        </p:nvSpPr>
        <p:spPr>
          <a:xfrm>
            <a:off x="2487992" y="5160972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분할출원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52)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cxnSp>
        <p:nvCxnSpPr>
          <p:cNvPr id="127" name="꺾인 연결선 67">
            <a:extLst>
              <a:ext uri="{FF2B5EF4-FFF2-40B4-BE49-F238E27FC236}">
                <a16:creationId xmlns:a16="http://schemas.microsoft.com/office/drawing/2014/main" id="{E6B18D36-32CC-497B-A148-E8CED33A916F}"/>
              </a:ext>
            </a:extLst>
          </p:cNvPr>
          <p:cNvCxnSpPr>
            <a:cxnSpLocks/>
            <a:stCxn id="61" idx="3"/>
            <a:endCxn id="125" idx="1"/>
          </p:cNvCxnSpPr>
          <p:nvPr/>
        </p:nvCxnSpPr>
        <p:spPr>
          <a:xfrm flipV="1">
            <a:off x="2241819" y="5262696"/>
            <a:ext cx="246173" cy="10284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꺾인 연결선 68">
            <a:extLst>
              <a:ext uri="{FF2B5EF4-FFF2-40B4-BE49-F238E27FC236}">
                <a16:creationId xmlns:a16="http://schemas.microsoft.com/office/drawing/2014/main" id="{15731FFB-002A-4D1A-B931-E4E3AE5EC565}"/>
              </a:ext>
            </a:extLst>
          </p:cNvPr>
          <p:cNvCxnSpPr>
            <a:cxnSpLocks/>
            <a:stCxn id="61" idx="3"/>
            <a:endCxn id="125" idx="1"/>
          </p:cNvCxnSpPr>
          <p:nvPr/>
        </p:nvCxnSpPr>
        <p:spPr>
          <a:xfrm flipV="1">
            <a:off x="2241819" y="5262696"/>
            <a:ext cx="246173" cy="10284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88952097-4047-B4C7-1974-88AE224120C6}"/>
              </a:ext>
            </a:extLst>
          </p:cNvPr>
          <p:cNvSpPr/>
          <p:nvPr/>
        </p:nvSpPr>
        <p:spPr>
          <a:xfrm>
            <a:off x="2118397" y="362248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보칙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215-224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7210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특허법 체계</a:t>
            </a:r>
          </a:p>
        </p:txBody>
      </p:sp>
      <p:sp>
        <p:nvSpPr>
          <p:cNvPr id="124" name="직사각형 123"/>
          <p:cNvSpPr/>
          <p:nvPr/>
        </p:nvSpPr>
        <p:spPr>
          <a:xfrm>
            <a:off x="680604" y="2547021"/>
            <a:ext cx="545064" cy="552230"/>
          </a:xfrm>
          <a:prstGeom prst="rect">
            <a:avLst/>
          </a:prstGeom>
          <a:ln w="3175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/>
              <a:t>특허권</a:t>
            </a:r>
            <a:endParaRPr lang="ko-KR" altLang="en-US" sz="1200" dirty="0"/>
          </a:p>
        </p:txBody>
      </p:sp>
      <p:sp>
        <p:nvSpPr>
          <p:cNvPr id="125" name="직사각형 124"/>
          <p:cNvSpPr/>
          <p:nvPr/>
        </p:nvSpPr>
        <p:spPr>
          <a:xfrm>
            <a:off x="1383335" y="1239993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발생</a:t>
            </a:r>
          </a:p>
        </p:txBody>
      </p:sp>
      <p:sp>
        <p:nvSpPr>
          <p:cNvPr id="126" name="직사각형 125"/>
          <p:cNvSpPr/>
          <p:nvPr/>
        </p:nvSpPr>
        <p:spPr>
          <a:xfrm>
            <a:off x="1383335" y="1789781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효력</a:t>
            </a:r>
          </a:p>
        </p:txBody>
      </p:sp>
      <p:sp>
        <p:nvSpPr>
          <p:cNvPr id="127" name="직사각형 126"/>
          <p:cNvSpPr/>
          <p:nvPr/>
        </p:nvSpPr>
        <p:spPr>
          <a:xfrm>
            <a:off x="1383335" y="2944739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변동</a:t>
            </a:r>
          </a:p>
        </p:txBody>
      </p:sp>
      <p:sp>
        <p:nvSpPr>
          <p:cNvPr id="128" name="직사각형 127"/>
          <p:cNvSpPr/>
          <p:nvPr/>
        </p:nvSpPr>
        <p:spPr>
          <a:xfrm>
            <a:off x="1383335" y="3668083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소멸</a:t>
            </a:r>
          </a:p>
        </p:txBody>
      </p:sp>
      <p:sp>
        <p:nvSpPr>
          <p:cNvPr id="129" name="직사각형 128"/>
          <p:cNvSpPr/>
          <p:nvPr/>
        </p:nvSpPr>
        <p:spPr>
          <a:xfrm>
            <a:off x="1383335" y="4175764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관련</a:t>
            </a:r>
          </a:p>
        </p:txBody>
      </p:sp>
      <p:cxnSp>
        <p:nvCxnSpPr>
          <p:cNvPr id="130" name="꺾인 연결선 129"/>
          <p:cNvCxnSpPr>
            <a:stCxn id="124" idx="3"/>
            <a:endCxn id="125" idx="1"/>
          </p:cNvCxnSpPr>
          <p:nvPr/>
        </p:nvCxnSpPr>
        <p:spPr>
          <a:xfrm flipV="1">
            <a:off x="1225668" y="1360804"/>
            <a:ext cx="157667" cy="146233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꺾인 연결선 130"/>
          <p:cNvCxnSpPr>
            <a:stCxn id="124" idx="3"/>
            <a:endCxn id="129" idx="1"/>
          </p:cNvCxnSpPr>
          <p:nvPr/>
        </p:nvCxnSpPr>
        <p:spPr>
          <a:xfrm>
            <a:off x="1225668" y="2823136"/>
            <a:ext cx="157667" cy="147344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꺾인 연결선 131"/>
          <p:cNvCxnSpPr>
            <a:stCxn id="124" idx="3"/>
            <a:endCxn id="126" idx="1"/>
          </p:cNvCxnSpPr>
          <p:nvPr/>
        </p:nvCxnSpPr>
        <p:spPr>
          <a:xfrm flipV="1">
            <a:off x="1225668" y="1910593"/>
            <a:ext cx="157667" cy="9125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꺾인 연결선 132"/>
          <p:cNvCxnSpPr>
            <a:stCxn id="124" idx="3"/>
            <a:endCxn id="128" idx="1"/>
          </p:cNvCxnSpPr>
          <p:nvPr/>
        </p:nvCxnSpPr>
        <p:spPr>
          <a:xfrm>
            <a:off x="1225668" y="2823136"/>
            <a:ext cx="157667" cy="96575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꺾인 연결선 133"/>
          <p:cNvCxnSpPr>
            <a:stCxn id="124" idx="3"/>
            <a:endCxn id="127" idx="1"/>
          </p:cNvCxnSpPr>
          <p:nvPr/>
        </p:nvCxnSpPr>
        <p:spPr>
          <a:xfrm>
            <a:off x="1225668" y="2823136"/>
            <a:ext cx="157667" cy="24241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/>
          <p:cNvSpPr/>
          <p:nvPr/>
        </p:nvSpPr>
        <p:spPr>
          <a:xfrm>
            <a:off x="1927293" y="1027643"/>
            <a:ext cx="1744315" cy="1286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특허료의 납부 등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79~86)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6" name="직사각형 135"/>
          <p:cNvSpPr/>
          <p:nvPr/>
        </p:nvSpPr>
        <p:spPr>
          <a:xfrm>
            <a:off x="1927294" y="1199840"/>
            <a:ext cx="1744314" cy="1467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설정등록 및 등록공고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1927295" y="3385001"/>
            <a:ext cx="991185" cy="1876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질권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121~123)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1931244" y="3908454"/>
            <a:ext cx="38352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효과</a:t>
            </a:r>
          </a:p>
        </p:txBody>
      </p:sp>
      <p:sp>
        <p:nvSpPr>
          <p:cNvPr id="139" name="직사각형 138"/>
          <p:cNvSpPr/>
          <p:nvPr/>
        </p:nvSpPr>
        <p:spPr>
          <a:xfrm>
            <a:off x="1927295" y="1600786"/>
            <a:ext cx="387474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범위</a:t>
            </a:r>
          </a:p>
        </p:txBody>
      </p:sp>
      <p:sp>
        <p:nvSpPr>
          <p:cNvPr id="140" name="직사각형 139"/>
          <p:cNvSpPr/>
          <p:nvPr/>
        </p:nvSpPr>
        <p:spPr>
          <a:xfrm>
            <a:off x="1927295" y="2235641"/>
            <a:ext cx="387474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내용</a:t>
            </a:r>
          </a:p>
        </p:txBody>
      </p:sp>
      <p:sp>
        <p:nvSpPr>
          <p:cNvPr id="141" name="직사각형 140"/>
          <p:cNvSpPr/>
          <p:nvPr/>
        </p:nvSpPr>
        <p:spPr>
          <a:xfrm>
            <a:off x="1927295" y="3187241"/>
            <a:ext cx="99118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000" dirty="0" err="1">
                <a:solidFill>
                  <a:schemeClr val="tx2"/>
                </a:solidFill>
              </a:rPr>
              <a:t>실시권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42" name="직사각형 141"/>
          <p:cNvSpPr/>
          <p:nvPr/>
        </p:nvSpPr>
        <p:spPr>
          <a:xfrm>
            <a:off x="1926619" y="4143059"/>
            <a:ext cx="1355344" cy="1535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실시보고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125)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1926619" y="4320845"/>
            <a:ext cx="1355344" cy="134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집행권원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125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44" name="꺾인 연결선 143"/>
          <p:cNvCxnSpPr>
            <a:stCxn id="125" idx="3"/>
            <a:endCxn id="135" idx="1"/>
          </p:cNvCxnSpPr>
          <p:nvPr/>
        </p:nvCxnSpPr>
        <p:spPr>
          <a:xfrm flipV="1">
            <a:off x="1774346" y="1091961"/>
            <a:ext cx="152947" cy="26884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연결선 144"/>
          <p:cNvCxnSpPr>
            <a:stCxn id="125" idx="3"/>
            <a:endCxn id="136" idx="1"/>
          </p:cNvCxnSpPr>
          <p:nvPr/>
        </p:nvCxnSpPr>
        <p:spPr>
          <a:xfrm flipV="1">
            <a:off x="1774346" y="1273240"/>
            <a:ext cx="152948" cy="8756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꺾인 연결선 145"/>
          <p:cNvCxnSpPr>
            <a:stCxn id="126" idx="3"/>
            <a:endCxn id="139" idx="1"/>
          </p:cNvCxnSpPr>
          <p:nvPr/>
        </p:nvCxnSpPr>
        <p:spPr>
          <a:xfrm flipV="1">
            <a:off x="1774346" y="1680091"/>
            <a:ext cx="152949" cy="23050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꺾인 연결선 146"/>
          <p:cNvCxnSpPr>
            <a:stCxn id="126" idx="3"/>
            <a:endCxn id="140" idx="1"/>
          </p:cNvCxnSpPr>
          <p:nvPr/>
        </p:nvCxnSpPr>
        <p:spPr>
          <a:xfrm>
            <a:off x="1774346" y="1910593"/>
            <a:ext cx="152949" cy="4043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꺾인 연결선 147"/>
          <p:cNvCxnSpPr>
            <a:stCxn id="127" idx="3"/>
            <a:endCxn id="141" idx="1"/>
          </p:cNvCxnSpPr>
          <p:nvPr/>
        </p:nvCxnSpPr>
        <p:spPr>
          <a:xfrm>
            <a:off x="1774346" y="3065551"/>
            <a:ext cx="152949" cy="20099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 148"/>
          <p:cNvCxnSpPr>
            <a:stCxn id="128" idx="3"/>
            <a:endCxn id="138" idx="1"/>
          </p:cNvCxnSpPr>
          <p:nvPr/>
        </p:nvCxnSpPr>
        <p:spPr>
          <a:xfrm>
            <a:off x="1774346" y="3788895"/>
            <a:ext cx="156898" cy="19886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꺾인 연결선 149"/>
          <p:cNvCxnSpPr>
            <a:stCxn id="129" idx="3"/>
            <a:endCxn id="142" idx="1"/>
          </p:cNvCxnSpPr>
          <p:nvPr/>
        </p:nvCxnSpPr>
        <p:spPr>
          <a:xfrm flipV="1">
            <a:off x="1774346" y="4219817"/>
            <a:ext cx="152273" cy="7675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꺾인 연결선 150"/>
          <p:cNvCxnSpPr>
            <a:stCxn id="129" idx="3"/>
            <a:endCxn id="143" idx="1"/>
          </p:cNvCxnSpPr>
          <p:nvPr/>
        </p:nvCxnSpPr>
        <p:spPr>
          <a:xfrm>
            <a:off x="1774346" y="4296575"/>
            <a:ext cx="152273" cy="9135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직사각형 151"/>
          <p:cNvSpPr/>
          <p:nvPr/>
        </p:nvSpPr>
        <p:spPr>
          <a:xfrm>
            <a:off x="2490834" y="1502332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시간적</a:t>
            </a:r>
          </a:p>
        </p:txBody>
      </p:sp>
      <p:sp>
        <p:nvSpPr>
          <p:cNvPr id="153" name="직사각형 152"/>
          <p:cNvSpPr/>
          <p:nvPr/>
        </p:nvSpPr>
        <p:spPr>
          <a:xfrm>
            <a:off x="2490834" y="1753955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내용적</a:t>
            </a:r>
          </a:p>
        </p:txBody>
      </p:sp>
      <p:sp>
        <p:nvSpPr>
          <p:cNvPr id="154" name="직사각형 153"/>
          <p:cNvSpPr/>
          <p:nvPr/>
        </p:nvSpPr>
        <p:spPr>
          <a:xfrm>
            <a:off x="2490834" y="1966576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지역적</a:t>
            </a:r>
          </a:p>
        </p:txBody>
      </p:sp>
      <p:sp>
        <p:nvSpPr>
          <p:cNvPr id="155" name="직사각형 154"/>
          <p:cNvSpPr/>
          <p:nvPr/>
        </p:nvSpPr>
        <p:spPr>
          <a:xfrm>
            <a:off x="3028012" y="1406769"/>
            <a:ext cx="1665788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존속기간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3028012" y="1577847"/>
            <a:ext cx="1665790" cy="1492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존속기간의 연장</a:t>
            </a:r>
            <a:r>
              <a:rPr lang="en-US" altLang="ko-KR" sz="800" dirty="0">
                <a:solidFill>
                  <a:schemeClr val="tx2"/>
                </a:solidFill>
              </a:rPr>
              <a:t>(</a:t>
            </a:r>
            <a:r>
              <a:rPr lang="ko-KR" altLang="en-US" sz="800" dirty="0">
                <a:solidFill>
                  <a:schemeClr val="tx2"/>
                </a:solidFill>
              </a:rPr>
              <a:t>法 </a:t>
            </a:r>
            <a:r>
              <a:rPr lang="en-US" altLang="ko-KR" sz="800" dirty="0">
                <a:solidFill>
                  <a:schemeClr val="tx2"/>
                </a:solidFill>
              </a:rPr>
              <a:t>89~93, 95)</a:t>
            </a:r>
            <a:endParaRPr lang="ko-KR" altLang="en-US" sz="800" dirty="0">
              <a:solidFill>
                <a:schemeClr val="tx2"/>
              </a:solidFill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3028012" y="1745004"/>
            <a:ext cx="1665788" cy="1857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청구범위</a:t>
            </a:r>
          </a:p>
        </p:txBody>
      </p:sp>
      <p:sp>
        <p:nvSpPr>
          <p:cNvPr id="158" name="직사각형 157"/>
          <p:cNvSpPr/>
          <p:nvPr/>
        </p:nvSpPr>
        <p:spPr>
          <a:xfrm>
            <a:off x="3028011" y="1966575"/>
            <a:ext cx="1665789" cy="1586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속지주의</a:t>
            </a:r>
          </a:p>
        </p:txBody>
      </p:sp>
      <p:sp>
        <p:nvSpPr>
          <p:cNvPr id="159" name="직사각형 158"/>
          <p:cNvSpPr/>
          <p:nvPr/>
        </p:nvSpPr>
        <p:spPr>
          <a:xfrm>
            <a:off x="2500115" y="2247804"/>
            <a:ext cx="41836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의의</a:t>
            </a:r>
          </a:p>
        </p:txBody>
      </p:sp>
      <p:sp>
        <p:nvSpPr>
          <p:cNvPr id="160" name="직사각형 159"/>
          <p:cNvSpPr/>
          <p:nvPr/>
        </p:nvSpPr>
        <p:spPr>
          <a:xfrm>
            <a:off x="2500114" y="2523982"/>
            <a:ext cx="2193687" cy="1634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제한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81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3④, 96, 181/98)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1" name="직사각형 160"/>
          <p:cNvSpPr/>
          <p:nvPr/>
        </p:nvSpPr>
        <p:spPr>
          <a:xfrm>
            <a:off x="2500114" y="2714241"/>
            <a:ext cx="219368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확장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2" name="직사각형 161"/>
          <p:cNvSpPr/>
          <p:nvPr/>
        </p:nvSpPr>
        <p:spPr>
          <a:xfrm>
            <a:off x="1927295" y="2927413"/>
            <a:ext cx="1564240" cy="1938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이전 및 공유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99, 99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3" name="직사각형 162"/>
          <p:cNvSpPr/>
          <p:nvPr/>
        </p:nvSpPr>
        <p:spPr>
          <a:xfrm>
            <a:off x="3109057" y="3518950"/>
            <a:ext cx="2829345" cy="1332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강제실시권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106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2, 107~115, 138)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3109057" y="3339094"/>
            <a:ext cx="2829345" cy="1397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법정실시권</a:t>
            </a:r>
            <a:r>
              <a:rPr lang="en-US" altLang="ko-KR" sz="800" dirty="0">
                <a:solidFill>
                  <a:schemeClr val="tx2"/>
                </a:solidFill>
              </a:rPr>
              <a:t>(</a:t>
            </a:r>
            <a:r>
              <a:rPr lang="ko-KR" altLang="en-US" sz="800" dirty="0">
                <a:solidFill>
                  <a:schemeClr val="tx2"/>
                </a:solidFill>
              </a:rPr>
              <a:t>法 </a:t>
            </a:r>
            <a:r>
              <a:rPr lang="en-US" altLang="ko-KR" sz="800" dirty="0">
                <a:solidFill>
                  <a:schemeClr val="tx2"/>
                </a:solidFill>
              </a:rPr>
              <a:t>81</a:t>
            </a:r>
            <a:r>
              <a:rPr lang="ko-KR" altLang="en-US" sz="800" dirty="0">
                <a:solidFill>
                  <a:schemeClr val="tx2"/>
                </a:solidFill>
              </a:rPr>
              <a:t>의</a:t>
            </a:r>
            <a:r>
              <a:rPr lang="en-US" altLang="ko-KR" sz="800" dirty="0">
                <a:solidFill>
                  <a:schemeClr val="tx2"/>
                </a:solidFill>
              </a:rPr>
              <a:t>3, 103~105, 122, 182,183, </a:t>
            </a:r>
            <a:r>
              <a:rPr lang="ko-KR" altLang="en-US" sz="800" dirty="0" err="1">
                <a:solidFill>
                  <a:schemeClr val="tx2"/>
                </a:solidFill>
              </a:rPr>
              <a:t>발진법</a:t>
            </a:r>
            <a:r>
              <a:rPr lang="en-US" altLang="ko-KR" sz="800" dirty="0">
                <a:solidFill>
                  <a:schemeClr val="tx2"/>
                </a:solidFill>
              </a:rPr>
              <a:t>10</a:t>
            </a:r>
            <a:r>
              <a:rPr lang="ko-KR" altLang="en-US" sz="800" dirty="0">
                <a:solidFill>
                  <a:schemeClr val="tx2"/>
                </a:solidFill>
              </a:rPr>
              <a:t>①</a:t>
            </a:r>
            <a:r>
              <a:rPr lang="en-US" altLang="ko-KR" sz="800" dirty="0">
                <a:solidFill>
                  <a:schemeClr val="tx2"/>
                </a:solidFill>
              </a:rPr>
              <a:t>)</a:t>
            </a:r>
            <a:endParaRPr lang="ko-KR" altLang="en-US" sz="800" dirty="0">
              <a:solidFill>
                <a:schemeClr val="tx2"/>
              </a:solidFill>
            </a:endParaRPr>
          </a:p>
        </p:txBody>
      </p:sp>
      <p:sp>
        <p:nvSpPr>
          <p:cNvPr id="165" name="직사각형 164"/>
          <p:cNvSpPr/>
          <p:nvPr/>
        </p:nvSpPr>
        <p:spPr>
          <a:xfrm>
            <a:off x="3109057" y="3151440"/>
            <a:ext cx="2829345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일반론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100~102, 118)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6" name="직사각형 165"/>
          <p:cNvSpPr/>
          <p:nvPr/>
        </p:nvSpPr>
        <p:spPr>
          <a:xfrm>
            <a:off x="1931244" y="3709590"/>
            <a:ext cx="38352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원인</a:t>
            </a:r>
          </a:p>
        </p:txBody>
      </p:sp>
      <p:sp>
        <p:nvSpPr>
          <p:cNvPr id="167" name="직사각형 166"/>
          <p:cNvSpPr/>
          <p:nvPr/>
        </p:nvSpPr>
        <p:spPr>
          <a:xfrm>
            <a:off x="2426794" y="3883877"/>
            <a:ext cx="1721991" cy="2093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장래소멸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119, 120, 124)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8" name="직사각형 167"/>
          <p:cNvSpPr/>
          <p:nvPr/>
        </p:nvSpPr>
        <p:spPr>
          <a:xfrm>
            <a:off x="2426794" y="3698412"/>
            <a:ext cx="1721991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소급소멸</a:t>
            </a:r>
          </a:p>
        </p:txBody>
      </p:sp>
      <p:cxnSp>
        <p:nvCxnSpPr>
          <p:cNvPr id="169" name="꺾인 연결선 168"/>
          <p:cNvCxnSpPr>
            <a:stCxn id="139" idx="3"/>
            <a:endCxn id="152" idx="1"/>
          </p:cNvCxnSpPr>
          <p:nvPr/>
        </p:nvCxnSpPr>
        <p:spPr>
          <a:xfrm flipV="1">
            <a:off x="2314769" y="1581638"/>
            <a:ext cx="176065" cy="984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꺾인 연결선 169"/>
          <p:cNvCxnSpPr>
            <a:stCxn id="139" idx="3"/>
            <a:endCxn id="153" idx="1"/>
          </p:cNvCxnSpPr>
          <p:nvPr/>
        </p:nvCxnSpPr>
        <p:spPr>
          <a:xfrm>
            <a:off x="2314769" y="1680091"/>
            <a:ext cx="176065" cy="15316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꺾인 연결선 170"/>
          <p:cNvCxnSpPr>
            <a:stCxn id="139" idx="3"/>
            <a:endCxn id="154" idx="1"/>
          </p:cNvCxnSpPr>
          <p:nvPr/>
        </p:nvCxnSpPr>
        <p:spPr>
          <a:xfrm>
            <a:off x="2314769" y="1680091"/>
            <a:ext cx="176065" cy="36579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꺾인 연결선 171"/>
          <p:cNvCxnSpPr>
            <a:stCxn id="152" idx="3"/>
            <a:endCxn id="155" idx="1"/>
          </p:cNvCxnSpPr>
          <p:nvPr/>
        </p:nvCxnSpPr>
        <p:spPr>
          <a:xfrm flipV="1">
            <a:off x="2918481" y="1486075"/>
            <a:ext cx="109531" cy="9556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꺾인 연결선 172"/>
          <p:cNvCxnSpPr>
            <a:stCxn id="152" idx="3"/>
            <a:endCxn id="156" idx="1"/>
          </p:cNvCxnSpPr>
          <p:nvPr/>
        </p:nvCxnSpPr>
        <p:spPr>
          <a:xfrm>
            <a:off x="2918481" y="1581638"/>
            <a:ext cx="109531" cy="7083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/>
          <p:cNvCxnSpPr>
            <a:stCxn id="153" idx="3"/>
            <a:endCxn id="157" idx="1"/>
          </p:cNvCxnSpPr>
          <p:nvPr/>
        </p:nvCxnSpPr>
        <p:spPr>
          <a:xfrm>
            <a:off x="2918481" y="1833260"/>
            <a:ext cx="109531" cy="463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/>
          <p:cNvCxnSpPr>
            <a:stCxn id="154" idx="3"/>
            <a:endCxn id="158" idx="1"/>
          </p:cNvCxnSpPr>
          <p:nvPr/>
        </p:nvCxnSpPr>
        <p:spPr>
          <a:xfrm flipV="1">
            <a:off x="2918481" y="2045880"/>
            <a:ext cx="109530" cy="1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꺾인 연결선 175"/>
          <p:cNvCxnSpPr>
            <a:stCxn id="140" idx="3"/>
            <a:endCxn id="161" idx="1"/>
          </p:cNvCxnSpPr>
          <p:nvPr/>
        </p:nvCxnSpPr>
        <p:spPr>
          <a:xfrm>
            <a:off x="2314769" y="2314946"/>
            <a:ext cx="185345" cy="47860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꺾인 연결선 176"/>
          <p:cNvCxnSpPr>
            <a:stCxn id="140" idx="3"/>
            <a:endCxn id="159" idx="1"/>
          </p:cNvCxnSpPr>
          <p:nvPr/>
        </p:nvCxnSpPr>
        <p:spPr>
          <a:xfrm>
            <a:off x="2314769" y="2314946"/>
            <a:ext cx="185346" cy="1216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꺾인 연결선 177"/>
          <p:cNvCxnSpPr>
            <a:stCxn id="140" idx="3"/>
            <a:endCxn id="160" idx="1"/>
          </p:cNvCxnSpPr>
          <p:nvPr/>
        </p:nvCxnSpPr>
        <p:spPr>
          <a:xfrm>
            <a:off x="2314769" y="2314946"/>
            <a:ext cx="185345" cy="29073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꺾인 연결선 178"/>
          <p:cNvCxnSpPr>
            <a:stCxn id="127" idx="3"/>
            <a:endCxn id="162" idx="1"/>
          </p:cNvCxnSpPr>
          <p:nvPr/>
        </p:nvCxnSpPr>
        <p:spPr>
          <a:xfrm flipV="1">
            <a:off x="1774346" y="3024355"/>
            <a:ext cx="152949" cy="4119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꺾인 연결선 179"/>
          <p:cNvCxnSpPr>
            <a:stCxn id="127" idx="3"/>
            <a:endCxn id="137" idx="1"/>
          </p:cNvCxnSpPr>
          <p:nvPr/>
        </p:nvCxnSpPr>
        <p:spPr>
          <a:xfrm>
            <a:off x="1774346" y="3065551"/>
            <a:ext cx="152949" cy="41327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꺾인 연결선 180"/>
          <p:cNvCxnSpPr>
            <a:stCxn id="141" idx="3"/>
            <a:endCxn id="163" idx="1"/>
          </p:cNvCxnSpPr>
          <p:nvPr/>
        </p:nvCxnSpPr>
        <p:spPr>
          <a:xfrm>
            <a:off x="2918481" y="3266547"/>
            <a:ext cx="190576" cy="31904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꺾인 연결선 181"/>
          <p:cNvCxnSpPr>
            <a:stCxn id="141" idx="3"/>
            <a:endCxn id="165" idx="1"/>
          </p:cNvCxnSpPr>
          <p:nvPr/>
        </p:nvCxnSpPr>
        <p:spPr>
          <a:xfrm flipV="1">
            <a:off x="2918481" y="3230745"/>
            <a:ext cx="190576" cy="3580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꺾인 연결선 182"/>
          <p:cNvCxnSpPr>
            <a:stCxn id="141" idx="3"/>
            <a:endCxn id="164" idx="1"/>
          </p:cNvCxnSpPr>
          <p:nvPr/>
        </p:nvCxnSpPr>
        <p:spPr>
          <a:xfrm>
            <a:off x="2918481" y="3266547"/>
            <a:ext cx="190576" cy="14241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꺾인 연결선 183"/>
          <p:cNvCxnSpPr>
            <a:stCxn id="128" idx="3"/>
            <a:endCxn id="166" idx="1"/>
          </p:cNvCxnSpPr>
          <p:nvPr/>
        </p:nvCxnSpPr>
        <p:spPr>
          <a:xfrm>
            <a:off x="1774346" y="3788895"/>
            <a:ext cx="156898" cy="1270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꺾인 연결선 184"/>
          <p:cNvCxnSpPr>
            <a:stCxn id="166" idx="3"/>
            <a:endCxn id="167" idx="1"/>
          </p:cNvCxnSpPr>
          <p:nvPr/>
        </p:nvCxnSpPr>
        <p:spPr>
          <a:xfrm>
            <a:off x="2314770" y="3788895"/>
            <a:ext cx="112024" cy="19967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꺾인 연결선 185"/>
          <p:cNvCxnSpPr>
            <a:stCxn id="166" idx="3"/>
            <a:endCxn id="168" idx="1"/>
          </p:cNvCxnSpPr>
          <p:nvPr/>
        </p:nvCxnSpPr>
        <p:spPr>
          <a:xfrm flipV="1">
            <a:off x="2314770" y="3777717"/>
            <a:ext cx="112024" cy="1117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직사각형 186"/>
          <p:cNvSpPr/>
          <p:nvPr/>
        </p:nvSpPr>
        <p:spPr>
          <a:xfrm>
            <a:off x="3281962" y="2158301"/>
            <a:ext cx="1411839" cy="167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적극적 효력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94)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88" name="직사각형 187"/>
          <p:cNvSpPr/>
          <p:nvPr/>
        </p:nvSpPr>
        <p:spPr>
          <a:xfrm>
            <a:off x="3281962" y="2341797"/>
            <a:ext cx="1411839" cy="1539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소극적 효력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침해</a:t>
            </a:r>
            <a:r>
              <a:rPr lang="en-US" altLang="ko-KR" sz="1000" dirty="0">
                <a:solidFill>
                  <a:schemeClr val="tx2"/>
                </a:solidFill>
              </a:rPr>
              <a:t>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89" name="꺾인 연결선 188"/>
          <p:cNvCxnSpPr>
            <a:stCxn id="159" idx="3"/>
            <a:endCxn id="188" idx="1"/>
          </p:cNvCxnSpPr>
          <p:nvPr/>
        </p:nvCxnSpPr>
        <p:spPr>
          <a:xfrm>
            <a:off x="2918481" y="2327109"/>
            <a:ext cx="363481" cy="9165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꺾인 연결선 189"/>
          <p:cNvCxnSpPr>
            <a:stCxn id="159" idx="3"/>
            <a:endCxn id="187" idx="1"/>
          </p:cNvCxnSpPr>
          <p:nvPr/>
        </p:nvCxnSpPr>
        <p:spPr>
          <a:xfrm flipV="1">
            <a:off x="2918481" y="2242081"/>
            <a:ext cx="363481" cy="850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직사각형 190"/>
          <p:cNvSpPr/>
          <p:nvPr/>
        </p:nvSpPr>
        <p:spPr>
          <a:xfrm>
            <a:off x="4891070" y="1400340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성립요건</a:t>
            </a:r>
          </a:p>
        </p:txBody>
      </p:sp>
      <p:sp>
        <p:nvSpPr>
          <p:cNvPr id="192" name="직사각형 191"/>
          <p:cNvSpPr/>
          <p:nvPr/>
        </p:nvSpPr>
        <p:spPr>
          <a:xfrm>
            <a:off x="4891070" y="1771241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종류</a:t>
            </a:r>
          </a:p>
        </p:txBody>
      </p:sp>
      <p:sp>
        <p:nvSpPr>
          <p:cNvPr id="193" name="직사각형 192"/>
          <p:cNvSpPr/>
          <p:nvPr/>
        </p:nvSpPr>
        <p:spPr>
          <a:xfrm>
            <a:off x="4891070" y="2381537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조치</a:t>
            </a:r>
          </a:p>
        </p:txBody>
      </p:sp>
      <p:cxnSp>
        <p:nvCxnSpPr>
          <p:cNvPr id="194" name="꺾인 연결선 193"/>
          <p:cNvCxnSpPr>
            <a:stCxn id="188" idx="3"/>
            <a:endCxn id="191" idx="1"/>
          </p:cNvCxnSpPr>
          <p:nvPr/>
        </p:nvCxnSpPr>
        <p:spPr>
          <a:xfrm flipV="1">
            <a:off x="4693801" y="1479645"/>
            <a:ext cx="197269" cy="939118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꺾인 연결선 194"/>
          <p:cNvCxnSpPr>
            <a:stCxn id="188" idx="3"/>
            <a:endCxn id="193" idx="1"/>
          </p:cNvCxnSpPr>
          <p:nvPr/>
        </p:nvCxnSpPr>
        <p:spPr>
          <a:xfrm>
            <a:off x="4693801" y="2418763"/>
            <a:ext cx="197269" cy="42079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꺾인 연결선 195"/>
          <p:cNvCxnSpPr>
            <a:stCxn id="188" idx="3"/>
            <a:endCxn id="192" idx="1"/>
          </p:cNvCxnSpPr>
          <p:nvPr/>
        </p:nvCxnSpPr>
        <p:spPr>
          <a:xfrm flipV="1">
            <a:off x="4693801" y="1850546"/>
            <a:ext cx="197269" cy="568217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직사각형 196"/>
          <p:cNvSpPr/>
          <p:nvPr/>
        </p:nvSpPr>
        <p:spPr>
          <a:xfrm>
            <a:off x="5586610" y="1528907"/>
            <a:ext cx="833380" cy="3216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직접침해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 fontAlgn="base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97, 98)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98" name="직사각형 197"/>
          <p:cNvSpPr/>
          <p:nvPr/>
        </p:nvSpPr>
        <p:spPr>
          <a:xfrm>
            <a:off x="5586610" y="1904907"/>
            <a:ext cx="833380" cy="3216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간접침해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 fontAlgn="base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99" name="꺾인 연결선 198"/>
          <p:cNvCxnSpPr>
            <a:stCxn id="192" idx="3"/>
            <a:endCxn id="197" idx="1"/>
          </p:cNvCxnSpPr>
          <p:nvPr/>
        </p:nvCxnSpPr>
        <p:spPr>
          <a:xfrm flipV="1">
            <a:off x="5452482" y="1689718"/>
            <a:ext cx="134128" cy="1608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꺾인 연결선 199"/>
          <p:cNvCxnSpPr>
            <a:stCxn id="192" idx="3"/>
            <a:endCxn id="198" idx="1"/>
          </p:cNvCxnSpPr>
          <p:nvPr/>
        </p:nvCxnSpPr>
        <p:spPr>
          <a:xfrm>
            <a:off x="5452482" y="1850546"/>
            <a:ext cx="134128" cy="21517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모서리가 둥근 직사각형 200"/>
          <p:cNvSpPr/>
          <p:nvPr/>
        </p:nvSpPr>
        <p:spPr>
          <a:xfrm>
            <a:off x="5586610" y="2318465"/>
            <a:ext cx="833380" cy="300825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민사적 조치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126-132)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202" name="모서리가 둥근 직사각형 201"/>
          <p:cNvSpPr/>
          <p:nvPr/>
        </p:nvSpPr>
        <p:spPr>
          <a:xfrm>
            <a:off x="5586609" y="2663316"/>
            <a:ext cx="833381" cy="341821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형사적 조치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225-232)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203" name="꺾인 연결선 202"/>
          <p:cNvCxnSpPr>
            <a:stCxn id="193" idx="3"/>
            <a:endCxn id="201" idx="1"/>
          </p:cNvCxnSpPr>
          <p:nvPr/>
        </p:nvCxnSpPr>
        <p:spPr>
          <a:xfrm>
            <a:off x="5452482" y="2460843"/>
            <a:ext cx="134128" cy="803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꺾인 연결선 203"/>
          <p:cNvCxnSpPr>
            <a:stCxn id="193" idx="3"/>
            <a:endCxn id="202" idx="1"/>
          </p:cNvCxnSpPr>
          <p:nvPr/>
        </p:nvCxnSpPr>
        <p:spPr>
          <a:xfrm>
            <a:off x="5452482" y="2460843"/>
            <a:ext cx="134127" cy="37338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직사각형 204"/>
          <p:cNvSpPr/>
          <p:nvPr/>
        </p:nvSpPr>
        <p:spPr>
          <a:xfrm>
            <a:off x="7780806" y="2184608"/>
            <a:ext cx="555844" cy="610645"/>
          </a:xfrm>
          <a:prstGeom prst="rect">
            <a:avLst/>
          </a:prstGeom>
          <a:solidFill>
            <a:schemeClr val="accent6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심판절차 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일반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총론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06" name="직사각형 205"/>
          <p:cNvSpPr/>
          <p:nvPr/>
        </p:nvSpPr>
        <p:spPr>
          <a:xfrm>
            <a:off x="7780806" y="4163272"/>
            <a:ext cx="555844" cy="6106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심판의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종류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각론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07" name="직사각형 206"/>
          <p:cNvSpPr/>
          <p:nvPr/>
        </p:nvSpPr>
        <p:spPr>
          <a:xfrm>
            <a:off x="8500191" y="1313084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/>
              <a:t>주체</a:t>
            </a:r>
            <a:endParaRPr lang="ko-KR" altLang="en-US" sz="1000" dirty="0"/>
          </a:p>
        </p:txBody>
      </p:sp>
      <p:sp>
        <p:nvSpPr>
          <p:cNvPr id="208" name="직사각형 207"/>
          <p:cNvSpPr/>
          <p:nvPr/>
        </p:nvSpPr>
        <p:spPr>
          <a:xfrm>
            <a:off x="8500191" y="1804594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청구</a:t>
            </a:r>
          </a:p>
        </p:txBody>
      </p:sp>
      <p:sp>
        <p:nvSpPr>
          <p:cNvPr id="209" name="직사각형 208"/>
          <p:cNvSpPr/>
          <p:nvPr/>
        </p:nvSpPr>
        <p:spPr>
          <a:xfrm>
            <a:off x="8500191" y="2449052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진행</a:t>
            </a:r>
          </a:p>
        </p:txBody>
      </p:sp>
      <p:sp>
        <p:nvSpPr>
          <p:cNvPr id="210" name="직사각형 209"/>
          <p:cNvSpPr/>
          <p:nvPr/>
        </p:nvSpPr>
        <p:spPr>
          <a:xfrm>
            <a:off x="8500191" y="2977875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종료</a:t>
            </a:r>
          </a:p>
        </p:txBody>
      </p:sp>
      <p:sp>
        <p:nvSpPr>
          <p:cNvPr id="211" name="직사각형 210"/>
          <p:cNvSpPr/>
          <p:nvPr/>
        </p:nvSpPr>
        <p:spPr>
          <a:xfrm>
            <a:off x="9363869" y="80565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132</a:t>
            </a:r>
            <a:r>
              <a:rPr lang="ko-KR" altLang="en-US" sz="1000" dirty="0"/>
              <a:t>의</a:t>
            </a:r>
            <a:r>
              <a:rPr lang="en-US" altLang="ko-KR" sz="1000" dirty="0"/>
              <a:t>16, 143~153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12" name="직사각형 211"/>
          <p:cNvSpPr/>
          <p:nvPr/>
        </p:nvSpPr>
        <p:spPr>
          <a:xfrm>
            <a:off x="9363869" y="99622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당사자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139)</a:t>
            </a:r>
            <a:endParaRPr lang="ko-KR" altLang="en-US" sz="1000" dirty="0"/>
          </a:p>
        </p:txBody>
      </p:sp>
      <p:sp>
        <p:nvSpPr>
          <p:cNvPr id="213" name="직사각형 212"/>
          <p:cNvSpPr/>
          <p:nvPr/>
        </p:nvSpPr>
        <p:spPr>
          <a:xfrm>
            <a:off x="9363869" y="118351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참가인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155, 156)</a:t>
            </a:r>
            <a:endParaRPr lang="ko-KR" altLang="en-US" sz="1000" dirty="0"/>
          </a:p>
        </p:txBody>
      </p:sp>
      <p:sp>
        <p:nvSpPr>
          <p:cNvPr id="214" name="직사각형 213"/>
          <p:cNvSpPr/>
          <p:nvPr/>
        </p:nvSpPr>
        <p:spPr>
          <a:xfrm>
            <a:off x="9363869" y="1703773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청구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140, 140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15" name="직사각형 214"/>
          <p:cNvSpPr/>
          <p:nvPr/>
        </p:nvSpPr>
        <p:spPr>
          <a:xfrm>
            <a:off x="9363869" y="189435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심판청구서의 보정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140②, 140</a:t>
            </a:r>
            <a:r>
              <a:rPr lang="ko-KR" altLang="en-US" sz="1000" dirty="0"/>
              <a:t>의</a:t>
            </a:r>
            <a:r>
              <a:rPr lang="en-US" altLang="ko-KR" sz="1000" dirty="0"/>
              <a:t>2②)</a:t>
            </a:r>
          </a:p>
        </p:txBody>
      </p:sp>
      <p:sp>
        <p:nvSpPr>
          <p:cNvPr id="216" name="직사각형 215"/>
          <p:cNvSpPr/>
          <p:nvPr/>
        </p:nvSpPr>
        <p:spPr>
          <a:xfrm>
            <a:off x="9363869" y="226982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방식심리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141)</a:t>
            </a:r>
            <a:endParaRPr lang="ko-KR" altLang="en-US" sz="1000" dirty="0"/>
          </a:p>
        </p:txBody>
      </p:sp>
      <p:sp>
        <p:nvSpPr>
          <p:cNvPr id="217" name="직사각형 216"/>
          <p:cNvSpPr/>
          <p:nvPr/>
        </p:nvSpPr>
        <p:spPr>
          <a:xfrm>
            <a:off x="9363869" y="2458014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적법성 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142)</a:t>
            </a:r>
            <a:endParaRPr lang="ko-KR" altLang="en-US" sz="1000" dirty="0"/>
          </a:p>
        </p:txBody>
      </p:sp>
      <p:sp>
        <p:nvSpPr>
          <p:cNvPr id="218" name="직사각형 217"/>
          <p:cNvSpPr/>
          <p:nvPr/>
        </p:nvSpPr>
        <p:spPr>
          <a:xfrm>
            <a:off x="9363869" y="2646662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본안심리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154, 157-160)</a:t>
            </a:r>
            <a:endParaRPr lang="ko-KR" altLang="en-US" sz="1000" dirty="0"/>
          </a:p>
        </p:txBody>
      </p:sp>
      <p:sp>
        <p:nvSpPr>
          <p:cNvPr id="219" name="직사각형 218"/>
          <p:cNvSpPr/>
          <p:nvPr/>
        </p:nvSpPr>
        <p:spPr>
          <a:xfrm>
            <a:off x="9363869" y="288449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심판청구의 취하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161)</a:t>
            </a:r>
            <a:endParaRPr lang="ko-KR" altLang="en-US" sz="1000" dirty="0"/>
          </a:p>
        </p:txBody>
      </p:sp>
      <p:sp>
        <p:nvSpPr>
          <p:cNvPr id="220" name="직사각형 219"/>
          <p:cNvSpPr/>
          <p:nvPr/>
        </p:nvSpPr>
        <p:spPr>
          <a:xfrm>
            <a:off x="9363869" y="3072684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심결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162, 163)</a:t>
            </a:r>
            <a:endParaRPr lang="ko-KR" altLang="en-US" sz="1000" dirty="0"/>
          </a:p>
        </p:txBody>
      </p:sp>
      <p:sp>
        <p:nvSpPr>
          <p:cNvPr id="221" name="직사각형 220"/>
          <p:cNvSpPr/>
          <p:nvPr/>
        </p:nvSpPr>
        <p:spPr>
          <a:xfrm>
            <a:off x="8500191" y="4104276"/>
            <a:ext cx="710030" cy="1710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결정계</a:t>
            </a:r>
            <a:r>
              <a:rPr lang="ko-KR" altLang="en-US" sz="1000" dirty="0"/>
              <a:t> 심판</a:t>
            </a:r>
          </a:p>
        </p:txBody>
      </p:sp>
      <p:sp>
        <p:nvSpPr>
          <p:cNvPr id="222" name="직사각형 221"/>
          <p:cNvSpPr/>
          <p:nvPr/>
        </p:nvSpPr>
        <p:spPr>
          <a:xfrm>
            <a:off x="8500191" y="4475324"/>
            <a:ext cx="710030" cy="3642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당사자계 </a:t>
            </a:r>
            <a:endParaRPr lang="en-US" altLang="ko-KR" sz="1000" dirty="0"/>
          </a:p>
          <a:p>
            <a:pPr algn="ctr"/>
            <a:r>
              <a:rPr lang="ko-KR" altLang="en-US" sz="1000" dirty="0"/>
              <a:t>심판</a:t>
            </a:r>
          </a:p>
        </p:txBody>
      </p:sp>
      <p:sp>
        <p:nvSpPr>
          <p:cNvPr id="223" name="직사각형 222"/>
          <p:cNvSpPr/>
          <p:nvPr/>
        </p:nvSpPr>
        <p:spPr>
          <a:xfrm>
            <a:off x="8500189" y="5251229"/>
            <a:ext cx="1308145" cy="158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재심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178~185)</a:t>
            </a:r>
            <a:endParaRPr lang="ko-KR" altLang="en-US" sz="1000" dirty="0"/>
          </a:p>
        </p:txBody>
      </p:sp>
      <p:sp>
        <p:nvSpPr>
          <p:cNvPr id="224" name="직사각형 223"/>
          <p:cNvSpPr/>
          <p:nvPr/>
        </p:nvSpPr>
        <p:spPr>
          <a:xfrm>
            <a:off x="9363869" y="4012193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거절결정불복심판</a:t>
            </a:r>
            <a:r>
              <a:rPr lang="en-US" altLang="ko-KR" sz="900" dirty="0"/>
              <a:t>(</a:t>
            </a:r>
            <a:r>
              <a:rPr lang="ko-KR" altLang="en-US" sz="900" dirty="0"/>
              <a:t>法 </a:t>
            </a:r>
            <a:r>
              <a:rPr lang="en-US" altLang="ko-KR" sz="900" dirty="0"/>
              <a:t>132</a:t>
            </a:r>
            <a:r>
              <a:rPr lang="ko-KR" altLang="en-US" sz="900" dirty="0"/>
              <a:t>의</a:t>
            </a:r>
            <a:r>
              <a:rPr lang="en-US" altLang="ko-KR" sz="900" dirty="0"/>
              <a:t>17, 170~172, 176)</a:t>
            </a:r>
            <a:endParaRPr lang="ko-KR" altLang="en-US" sz="900" dirty="0"/>
          </a:p>
        </p:txBody>
      </p:sp>
      <p:sp>
        <p:nvSpPr>
          <p:cNvPr id="225" name="직사각형 224"/>
          <p:cNvSpPr/>
          <p:nvPr/>
        </p:nvSpPr>
        <p:spPr>
          <a:xfrm>
            <a:off x="9363869" y="420277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정정심판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136)</a:t>
            </a:r>
            <a:endParaRPr lang="ko-KR" altLang="en-US" sz="1000" dirty="0"/>
          </a:p>
        </p:txBody>
      </p:sp>
      <p:sp>
        <p:nvSpPr>
          <p:cNvPr id="226" name="직사각형 225"/>
          <p:cNvSpPr/>
          <p:nvPr/>
        </p:nvSpPr>
        <p:spPr>
          <a:xfrm>
            <a:off x="9363869" y="438375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무효심판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133, 134, 137)</a:t>
            </a:r>
            <a:endParaRPr lang="ko-KR" altLang="en-US" sz="1000" dirty="0"/>
          </a:p>
        </p:txBody>
      </p:sp>
      <p:sp>
        <p:nvSpPr>
          <p:cNvPr id="227" name="직사각형 226"/>
          <p:cNvSpPr/>
          <p:nvPr/>
        </p:nvSpPr>
        <p:spPr>
          <a:xfrm>
            <a:off x="9363869" y="4579753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권리범위확인심판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135)</a:t>
            </a:r>
            <a:endParaRPr lang="ko-KR" altLang="en-US" sz="1000" dirty="0"/>
          </a:p>
        </p:txBody>
      </p:sp>
      <p:sp>
        <p:nvSpPr>
          <p:cNvPr id="228" name="직사각형 227"/>
          <p:cNvSpPr/>
          <p:nvPr/>
        </p:nvSpPr>
        <p:spPr>
          <a:xfrm>
            <a:off x="9363869" y="477033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통상실시권허락심판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138)</a:t>
            </a:r>
            <a:endParaRPr lang="ko-KR" altLang="en-US" sz="1000" dirty="0"/>
          </a:p>
        </p:txBody>
      </p:sp>
      <p:cxnSp>
        <p:nvCxnSpPr>
          <p:cNvPr id="229" name="꺾인 연결선 228"/>
          <p:cNvCxnSpPr>
            <a:stCxn id="205" idx="1"/>
            <a:endCxn id="252" idx="3"/>
          </p:cNvCxnSpPr>
          <p:nvPr/>
        </p:nvCxnSpPr>
        <p:spPr>
          <a:xfrm rot="10800000" flipV="1">
            <a:off x="7557110" y="2489931"/>
            <a:ext cx="223697" cy="34727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꺾인 연결선 229"/>
          <p:cNvCxnSpPr>
            <a:stCxn id="205" idx="3"/>
            <a:endCxn id="207" idx="1"/>
          </p:cNvCxnSpPr>
          <p:nvPr/>
        </p:nvCxnSpPr>
        <p:spPr>
          <a:xfrm flipV="1">
            <a:off x="8336650" y="1398592"/>
            <a:ext cx="163541" cy="109133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꺾인 연결선 230"/>
          <p:cNvCxnSpPr>
            <a:stCxn id="205" idx="3"/>
            <a:endCxn id="210" idx="1"/>
          </p:cNvCxnSpPr>
          <p:nvPr/>
        </p:nvCxnSpPr>
        <p:spPr>
          <a:xfrm>
            <a:off x="8336650" y="2489931"/>
            <a:ext cx="163541" cy="57345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꺾인 연결선 231"/>
          <p:cNvCxnSpPr>
            <a:stCxn id="205" idx="3"/>
            <a:endCxn id="208" idx="1"/>
          </p:cNvCxnSpPr>
          <p:nvPr/>
        </p:nvCxnSpPr>
        <p:spPr>
          <a:xfrm flipV="1">
            <a:off x="8336650" y="1890102"/>
            <a:ext cx="163541" cy="59982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꺾인 연결선 232"/>
          <p:cNvCxnSpPr>
            <a:stCxn id="205" idx="3"/>
            <a:endCxn id="209" idx="1"/>
          </p:cNvCxnSpPr>
          <p:nvPr/>
        </p:nvCxnSpPr>
        <p:spPr>
          <a:xfrm>
            <a:off x="8336650" y="2489931"/>
            <a:ext cx="163541" cy="4462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꺾인 연결선 233"/>
          <p:cNvCxnSpPr>
            <a:stCxn id="207" idx="3"/>
            <a:endCxn id="211" idx="1"/>
          </p:cNvCxnSpPr>
          <p:nvPr/>
        </p:nvCxnSpPr>
        <p:spPr>
          <a:xfrm flipV="1">
            <a:off x="9210221" y="874930"/>
            <a:ext cx="153648" cy="52366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꺾인 연결선 234"/>
          <p:cNvCxnSpPr>
            <a:stCxn id="207" idx="3"/>
            <a:endCxn id="213" idx="1"/>
          </p:cNvCxnSpPr>
          <p:nvPr/>
        </p:nvCxnSpPr>
        <p:spPr>
          <a:xfrm flipV="1">
            <a:off x="9210221" y="1252790"/>
            <a:ext cx="153648" cy="14580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꺾인 연결선 235"/>
          <p:cNvCxnSpPr>
            <a:cxnSpLocks/>
            <a:stCxn id="207" idx="3"/>
            <a:endCxn id="288" idx="1"/>
          </p:cNvCxnSpPr>
          <p:nvPr/>
        </p:nvCxnSpPr>
        <p:spPr>
          <a:xfrm>
            <a:off x="9210221" y="1398592"/>
            <a:ext cx="148622" cy="11085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꺾인 연결선 236"/>
          <p:cNvCxnSpPr>
            <a:stCxn id="208" idx="3"/>
            <a:endCxn id="214" idx="1"/>
          </p:cNvCxnSpPr>
          <p:nvPr/>
        </p:nvCxnSpPr>
        <p:spPr>
          <a:xfrm flipV="1">
            <a:off x="9210221" y="1773052"/>
            <a:ext cx="153648" cy="11705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꺾인 연결선 237"/>
          <p:cNvCxnSpPr>
            <a:stCxn id="208" idx="3"/>
            <a:endCxn id="215" idx="1"/>
          </p:cNvCxnSpPr>
          <p:nvPr/>
        </p:nvCxnSpPr>
        <p:spPr>
          <a:xfrm>
            <a:off x="9210221" y="1890102"/>
            <a:ext cx="153648" cy="735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꺾인 연결선 238"/>
          <p:cNvCxnSpPr>
            <a:stCxn id="209" idx="3"/>
            <a:endCxn id="216" idx="1"/>
          </p:cNvCxnSpPr>
          <p:nvPr/>
        </p:nvCxnSpPr>
        <p:spPr>
          <a:xfrm flipV="1">
            <a:off x="9210221" y="2339108"/>
            <a:ext cx="153648" cy="19545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꺾인 연결선 239"/>
          <p:cNvCxnSpPr>
            <a:stCxn id="209" idx="3"/>
            <a:endCxn id="218" idx="1"/>
          </p:cNvCxnSpPr>
          <p:nvPr/>
        </p:nvCxnSpPr>
        <p:spPr>
          <a:xfrm>
            <a:off x="9210221" y="2534560"/>
            <a:ext cx="153648" cy="18138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꺾인 연결선 240"/>
          <p:cNvCxnSpPr>
            <a:stCxn id="209" idx="3"/>
            <a:endCxn id="217" idx="1"/>
          </p:cNvCxnSpPr>
          <p:nvPr/>
        </p:nvCxnSpPr>
        <p:spPr>
          <a:xfrm flipV="1">
            <a:off x="9210221" y="2527293"/>
            <a:ext cx="153648" cy="726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꺾인 연결선 241"/>
          <p:cNvCxnSpPr>
            <a:stCxn id="221" idx="1"/>
            <a:endCxn id="206" idx="3"/>
          </p:cNvCxnSpPr>
          <p:nvPr/>
        </p:nvCxnSpPr>
        <p:spPr>
          <a:xfrm rot="10800000" flipV="1">
            <a:off x="8336651" y="4189783"/>
            <a:ext cx="163541" cy="27881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꺾인 연결선 242"/>
          <p:cNvCxnSpPr>
            <a:stCxn id="206" idx="3"/>
            <a:endCxn id="223" idx="1"/>
          </p:cNvCxnSpPr>
          <p:nvPr/>
        </p:nvCxnSpPr>
        <p:spPr>
          <a:xfrm>
            <a:off x="8336650" y="4468595"/>
            <a:ext cx="163539" cy="86197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꺾인 연결선 243"/>
          <p:cNvCxnSpPr>
            <a:stCxn id="206" idx="3"/>
            <a:endCxn id="222" idx="1"/>
          </p:cNvCxnSpPr>
          <p:nvPr/>
        </p:nvCxnSpPr>
        <p:spPr>
          <a:xfrm>
            <a:off x="8336650" y="4468595"/>
            <a:ext cx="163541" cy="18887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꺾인 연결선 244"/>
          <p:cNvCxnSpPr>
            <a:stCxn id="210" idx="3"/>
            <a:endCxn id="219" idx="1"/>
          </p:cNvCxnSpPr>
          <p:nvPr/>
        </p:nvCxnSpPr>
        <p:spPr>
          <a:xfrm flipV="1">
            <a:off x="9210221" y="2953778"/>
            <a:ext cx="153648" cy="10960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꺾인 연결선 245"/>
          <p:cNvCxnSpPr>
            <a:stCxn id="210" idx="3"/>
            <a:endCxn id="220" idx="1"/>
          </p:cNvCxnSpPr>
          <p:nvPr/>
        </p:nvCxnSpPr>
        <p:spPr>
          <a:xfrm>
            <a:off x="9210221" y="3063383"/>
            <a:ext cx="153648" cy="7858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꺾인 연결선 246"/>
          <p:cNvCxnSpPr>
            <a:stCxn id="221" idx="3"/>
            <a:endCxn id="224" idx="1"/>
          </p:cNvCxnSpPr>
          <p:nvPr/>
        </p:nvCxnSpPr>
        <p:spPr>
          <a:xfrm flipV="1">
            <a:off x="9210221" y="4081472"/>
            <a:ext cx="153648" cy="10831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꺾인 연결선 247"/>
          <p:cNvCxnSpPr>
            <a:stCxn id="221" idx="3"/>
            <a:endCxn id="225" idx="1"/>
          </p:cNvCxnSpPr>
          <p:nvPr/>
        </p:nvCxnSpPr>
        <p:spPr>
          <a:xfrm>
            <a:off x="9210221" y="4189784"/>
            <a:ext cx="153648" cy="8226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꺾인 연결선 248"/>
          <p:cNvCxnSpPr>
            <a:stCxn id="222" idx="3"/>
            <a:endCxn id="226" idx="1"/>
          </p:cNvCxnSpPr>
          <p:nvPr/>
        </p:nvCxnSpPr>
        <p:spPr>
          <a:xfrm flipV="1">
            <a:off x="9210221" y="4453030"/>
            <a:ext cx="153648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꺾인 연결선 249"/>
          <p:cNvCxnSpPr>
            <a:stCxn id="222" idx="3"/>
            <a:endCxn id="227" idx="1"/>
          </p:cNvCxnSpPr>
          <p:nvPr/>
        </p:nvCxnSpPr>
        <p:spPr>
          <a:xfrm flipV="1">
            <a:off x="9210221" y="4649032"/>
            <a:ext cx="153648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꺾인 연결선 250"/>
          <p:cNvCxnSpPr>
            <a:stCxn id="222" idx="3"/>
            <a:endCxn id="228" idx="1"/>
          </p:cNvCxnSpPr>
          <p:nvPr/>
        </p:nvCxnSpPr>
        <p:spPr>
          <a:xfrm>
            <a:off x="9210221" y="4657467"/>
            <a:ext cx="153648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직사각형 251"/>
          <p:cNvSpPr/>
          <p:nvPr/>
        </p:nvSpPr>
        <p:spPr>
          <a:xfrm>
            <a:off x="7136327" y="2620124"/>
            <a:ext cx="420782" cy="43416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심판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제도</a:t>
            </a:r>
          </a:p>
        </p:txBody>
      </p:sp>
      <p:cxnSp>
        <p:nvCxnSpPr>
          <p:cNvPr id="253" name="꺾인 연결선 252"/>
          <p:cNvCxnSpPr>
            <a:stCxn id="252" idx="3"/>
            <a:endCxn id="206" idx="1"/>
          </p:cNvCxnSpPr>
          <p:nvPr/>
        </p:nvCxnSpPr>
        <p:spPr>
          <a:xfrm>
            <a:off x="7557109" y="2837207"/>
            <a:ext cx="223697" cy="163138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직사각형 253"/>
          <p:cNvSpPr/>
          <p:nvPr/>
        </p:nvSpPr>
        <p:spPr>
          <a:xfrm>
            <a:off x="8500189" y="5000342"/>
            <a:ext cx="2075729" cy="158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특허취소신청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132</a:t>
            </a:r>
            <a:r>
              <a:rPr lang="ko-KR" altLang="en-US" sz="1000" dirty="0"/>
              <a:t>의</a:t>
            </a:r>
            <a:r>
              <a:rPr lang="en-US" altLang="ko-KR" sz="1000" dirty="0"/>
              <a:t>2~132</a:t>
            </a:r>
            <a:r>
              <a:rPr lang="ko-KR" altLang="en-US" sz="1000" dirty="0"/>
              <a:t>의</a:t>
            </a:r>
            <a:r>
              <a:rPr lang="en-US" altLang="ko-KR" sz="1000" dirty="0"/>
              <a:t>15)</a:t>
            </a:r>
            <a:endParaRPr lang="ko-KR" altLang="en-US" sz="1000" dirty="0"/>
          </a:p>
        </p:txBody>
      </p:sp>
      <p:cxnSp>
        <p:nvCxnSpPr>
          <p:cNvPr id="255" name="꺾인 연결선 254"/>
          <p:cNvCxnSpPr>
            <a:stCxn id="206" idx="3"/>
            <a:endCxn id="254" idx="1"/>
          </p:cNvCxnSpPr>
          <p:nvPr/>
        </p:nvCxnSpPr>
        <p:spPr>
          <a:xfrm>
            <a:off x="8336650" y="4468595"/>
            <a:ext cx="163539" cy="61108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직사각형 255"/>
          <p:cNvSpPr/>
          <p:nvPr/>
        </p:nvSpPr>
        <p:spPr>
          <a:xfrm>
            <a:off x="9363869" y="2079620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중복심판청구금지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154⑧ </a:t>
            </a:r>
            <a:r>
              <a:rPr lang="ko-KR" altLang="en-US" sz="1000" dirty="0"/>
              <a:t>준용</a:t>
            </a:r>
            <a:r>
              <a:rPr lang="en-US" altLang="ko-KR" sz="1000" dirty="0"/>
              <a:t> </a:t>
            </a:r>
            <a:r>
              <a:rPr lang="ko-KR" altLang="en-US" sz="1000" dirty="0"/>
              <a:t>민소</a:t>
            </a:r>
            <a:r>
              <a:rPr lang="en-US" altLang="ko-KR" sz="1000" dirty="0"/>
              <a:t>259)</a:t>
            </a:r>
          </a:p>
        </p:txBody>
      </p:sp>
      <p:sp>
        <p:nvSpPr>
          <p:cNvPr id="257" name="직사각형 256"/>
          <p:cNvSpPr/>
          <p:nvPr/>
        </p:nvSpPr>
        <p:spPr>
          <a:xfrm>
            <a:off x="8237008" y="5752000"/>
            <a:ext cx="420212" cy="36428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PCT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58" name="직사각형 257"/>
          <p:cNvSpPr/>
          <p:nvPr/>
        </p:nvSpPr>
        <p:spPr>
          <a:xfrm>
            <a:off x="8810868" y="5660427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특허출원절차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192~198)</a:t>
            </a:r>
            <a:endParaRPr lang="ko-KR" altLang="en-US" sz="1000" dirty="0"/>
          </a:p>
        </p:txBody>
      </p:sp>
      <p:sp>
        <p:nvSpPr>
          <p:cNvPr id="259" name="직사각형 258"/>
          <p:cNvSpPr/>
          <p:nvPr/>
        </p:nvSpPr>
        <p:spPr>
          <a:xfrm>
            <a:off x="8810868" y="5856429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국제조사 및 국제예비심사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198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60" name="직사각형 259"/>
          <p:cNvSpPr/>
          <p:nvPr/>
        </p:nvSpPr>
        <p:spPr>
          <a:xfrm>
            <a:off x="8810868" y="6047007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국제특허출원에 관한 특례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199~214)</a:t>
            </a:r>
            <a:endParaRPr lang="ko-KR" altLang="en-US" sz="1000" dirty="0"/>
          </a:p>
        </p:txBody>
      </p:sp>
      <p:cxnSp>
        <p:nvCxnSpPr>
          <p:cNvPr id="261" name="꺾인 연결선 260"/>
          <p:cNvCxnSpPr>
            <a:stCxn id="257" idx="3"/>
            <a:endCxn id="258" idx="1"/>
          </p:cNvCxnSpPr>
          <p:nvPr/>
        </p:nvCxnSpPr>
        <p:spPr>
          <a:xfrm flipV="1">
            <a:off x="8657220" y="5729706"/>
            <a:ext cx="153648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꺾인 연결선 261"/>
          <p:cNvCxnSpPr>
            <a:stCxn id="257" idx="3"/>
            <a:endCxn id="259" idx="1"/>
          </p:cNvCxnSpPr>
          <p:nvPr/>
        </p:nvCxnSpPr>
        <p:spPr>
          <a:xfrm flipV="1">
            <a:off x="8657220" y="5925708"/>
            <a:ext cx="153648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꺾인 연결선 262"/>
          <p:cNvCxnSpPr>
            <a:stCxn id="257" idx="3"/>
            <a:endCxn id="260" idx="1"/>
          </p:cNvCxnSpPr>
          <p:nvPr/>
        </p:nvCxnSpPr>
        <p:spPr>
          <a:xfrm>
            <a:off x="8657220" y="5934143"/>
            <a:ext cx="153648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꺾인 연결선 263"/>
          <p:cNvCxnSpPr>
            <a:stCxn id="273" idx="3"/>
            <a:endCxn id="295" idx="1"/>
          </p:cNvCxnSpPr>
          <p:nvPr/>
        </p:nvCxnSpPr>
        <p:spPr>
          <a:xfrm flipV="1">
            <a:off x="4278775" y="4164703"/>
            <a:ext cx="168733" cy="44072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꺾인 연결선 264"/>
          <p:cNvCxnSpPr>
            <a:stCxn id="273" idx="3"/>
            <a:endCxn id="296" idx="1"/>
          </p:cNvCxnSpPr>
          <p:nvPr/>
        </p:nvCxnSpPr>
        <p:spPr>
          <a:xfrm flipV="1">
            <a:off x="4278775" y="4328505"/>
            <a:ext cx="168733" cy="27692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직사각형 265"/>
          <p:cNvSpPr/>
          <p:nvPr/>
        </p:nvSpPr>
        <p:spPr>
          <a:xfrm>
            <a:off x="612833" y="5324052"/>
            <a:ext cx="355015" cy="36428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소송</a:t>
            </a:r>
          </a:p>
        </p:txBody>
      </p:sp>
      <p:sp>
        <p:nvSpPr>
          <p:cNvPr id="267" name="직사각형 266"/>
          <p:cNvSpPr/>
          <p:nvPr/>
        </p:nvSpPr>
        <p:spPr>
          <a:xfrm>
            <a:off x="1121497" y="5232479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 err="1"/>
              <a:t>심결취소소송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186~189)</a:t>
            </a:r>
            <a:endParaRPr lang="ko-KR" altLang="en-US" sz="1000" dirty="0"/>
          </a:p>
        </p:txBody>
      </p:sp>
      <p:sp>
        <p:nvSpPr>
          <p:cNvPr id="268" name="직사각형 267"/>
          <p:cNvSpPr/>
          <p:nvPr/>
        </p:nvSpPr>
        <p:spPr>
          <a:xfrm>
            <a:off x="1121497" y="5428481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보상금</a:t>
            </a:r>
            <a:r>
              <a:rPr lang="en-US" altLang="ko-KR" sz="1000" dirty="0"/>
              <a:t>/</a:t>
            </a:r>
            <a:r>
              <a:rPr lang="ko-KR" altLang="en-US" sz="1000" dirty="0"/>
              <a:t>대가에 대한 소송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190, 191)</a:t>
            </a:r>
            <a:endParaRPr lang="ko-KR" altLang="en-US" sz="1000" dirty="0"/>
          </a:p>
        </p:txBody>
      </p:sp>
      <p:sp>
        <p:nvSpPr>
          <p:cNvPr id="269" name="직사각형 268"/>
          <p:cNvSpPr/>
          <p:nvPr/>
        </p:nvSpPr>
        <p:spPr>
          <a:xfrm>
            <a:off x="1121497" y="5619059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변리사 보수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191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cxnSp>
        <p:nvCxnSpPr>
          <p:cNvPr id="270" name="꺾인 연결선 269"/>
          <p:cNvCxnSpPr>
            <a:stCxn id="266" idx="3"/>
            <a:endCxn id="267" idx="1"/>
          </p:cNvCxnSpPr>
          <p:nvPr/>
        </p:nvCxnSpPr>
        <p:spPr>
          <a:xfrm flipV="1">
            <a:off x="967848" y="5301758"/>
            <a:ext cx="153649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꺾인 연결선 270"/>
          <p:cNvCxnSpPr>
            <a:stCxn id="266" idx="3"/>
            <a:endCxn id="268" idx="1"/>
          </p:cNvCxnSpPr>
          <p:nvPr/>
        </p:nvCxnSpPr>
        <p:spPr>
          <a:xfrm flipV="1">
            <a:off x="967848" y="5497760"/>
            <a:ext cx="153649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꺾인 연결선 271"/>
          <p:cNvCxnSpPr>
            <a:stCxn id="266" idx="3"/>
            <a:endCxn id="269" idx="1"/>
          </p:cNvCxnSpPr>
          <p:nvPr/>
        </p:nvCxnSpPr>
        <p:spPr>
          <a:xfrm>
            <a:off x="967848" y="5506195"/>
            <a:ext cx="153649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직사각형 272"/>
          <p:cNvSpPr/>
          <p:nvPr/>
        </p:nvSpPr>
        <p:spPr>
          <a:xfrm>
            <a:off x="3609544" y="4480740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accent3">
                    <a:lumMod val="50000"/>
                  </a:schemeClr>
                </a:solidFill>
              </a:rPr>
              <a:t>소송요건</a:t>
            </a:r>
            <a:endParaRPr lang="en-US" altLang="ko-KR" sz="1000" dirty="0">
              <a:solidFill>
                <a:schemeClr val="accent3">
                  <a:lumMod val="50000"/>
                </a:schemeClr>
              </a:solidFill>
            </a:endParaRPr>
          </a:p>
          <a:p>
            <a:pPr algn="ctr"/>
            <a:r>
              <a:rPr lang="en-US" altLang="ko-KR" sz="700" dirty="0">
                <a:solidFill>
                  <a:schemeClr val="accent3">
                    <a:lumMod val="50000"/>
                  </a:schemeClr>
                </a:solidFill>
              </a:rPr>
              <a:t>(</a:t>
            </a:r>
            <a:r>
              <a:rPr lang="ko-KR" altLang="en-US" sz="700" dirty="0">
                <a:solidFill>
                  <a:schemeClr val="accent3">
                    <a:lumMod val="50000"/>
                  </a:schemeClr>
                </a:solidFill>
              </a:rPr>
              <a:t>法 </a:t>
            </a:r>
            <a:r>
              <a:rPr lang="en-US" altLang="ko-KR" sz="700" dirty="0">
                <a:solidFill>
                  <a:schemeClr val="accent3">
                    <a:lumMod val="50000"/>
                  </a:schemeClr>
                </a:solidFill>
              </a:rPr>
              <a:t>186, 187)</a:t>
            </a:r>
            <a:endParaRPr lang="ko-KR" altLang="en-US" sz="7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74" name="직사각형 273"/>
          <p:cNvSpPr/>
          <p:nvPr/>
        </p:nvSpPr>
        <p:spPr>
          <a:xfrm>
            <a:off x="3609544" y="5109654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소송제기</a:t>
            </a:r>
          </a:p>
        </p:txBody>
      </p:sp>
      <p:sp>
        <p:nvSpPr>
          <p:cNvPr id="275" name="직사각형 274"/>
          <p:cNvSpPr/>
          <p:nvPr/>
        </p:nvSpPr>
        <p:spPr>
          <a:xfrm>
            <a:off x="3609544" y="5640678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소송심리</a:t>
            </a:r>
          </a:p>
        </p:txBody>
      </p:sp>
      <p:sp>
        <p:nvSpPr>
          <p:cNvPr id="276" name="직사각형 275"/>
          <p:cNvSpPr/>
          <p:nvPr/>
        </p:nvSpPr>
        <p:spPr>
          <a:xfrm>
            <a:off x="3609544" y="6249551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소송종료</a:t>
            </a:r>
          </a:p>
        </p:txBody>
      </p:sp>
      <p:cxnSp>
        <p:nvCxnSpPr>
          <p:cNvPr id="277" name="꺾인 연결선 276"/>
          <p:cNvCxnSpPr>
            <a:stCxn id="267" idx="3"/>
            <a:endCxn id="273" idx="1"/>
          </p:cNvCxnSpPr>
          <p:nvPr/>
        </p:nvCxnSpPr>
        <p:spPr>
          <a:xfrm flipV="1">
            <a:off x="3454709" y="4605428"/>
            <a:ext cx="154835" cy="696330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꺾인 연결선 277"/>
          <p:cNvCxnSpPr>
            <a:stCxn id="267" idx="3"/>
            <a:endCxn id="276" idx="1"/>
          </p:cNvCxnSpPr>
          <p:nvPr/>
        </p:nvCxnSpPr>
        <p:spPr>
          <a:xfrm>
            <a:off x="3454709" y="5301758"/>
            <a:ext cx="154835" cy="1072481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꺾인 연결선 278"/>
          <p:cNvCxnSpPr>
            <a:stCxn id="267" idx="3"/>
            <a:endCxn id="274" idx="1"/>
          </p:cNvCxnSpPr>
          <p:nvPr/>
        </p:nvCxnSpPr>
        <p:spPr>
          <a:xfrm flipV="1">
            <a:off x="3454709" y="5234342"/>
            <a:ext cx="154835" cy="6741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꺾인 연결선 279"/>
          <p:cNvCxnSpPr>
            <a:stCxn id="267" idx="3"/>
            <a:endCxn id="275" idx="1"/>
          </p:cNvCxnSpPr>
          <p:nvPr/>
        </p:nvCxnSpPr>
        <p:spPr>
          <a:xfrm>
            <a:off x="3454709" y="5301758"/>
            <a:ext cx="154835" cy="46360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꺾인 연결선 280"/>
          <p:cNvCxnSpPr>
            <a:stCxn id="273" idx="3"/>
            <a:endCxn id="297" idx="1"/>
          </p:cNvCxnSpPr>
          <p:nvPr/>
        </p:nvCxnSpPr>
        <p:spPr>
          <a:xfrm flipV="1">
            <a:off x="4278775" y="4489475"/>
            <a:ext cx="168733" cy="1159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꺾인 연결선 281"/>
          <p:cNvCxnSpPr>
            <a:stCxn id="274" idx="3"/>
            <a:endCxn id="298" idx="1"/>
          </p:cNvCxnSpPr>
          <p:nvPr/>
        </p:nvCxnSpPr>
        <p:spPr>
          <a:xfrm flipV="1">
            <a:off x="4278775" y="5070329"/>
            <a:ext cx="168733" cy="16401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꺾인 연결선 282"/>
          <p:cNvCxnSpPr>
            <a:stCxn id="274" idx="3"/>
            <a:endCxn id="299" idx="1"/>
          </p:cNvCxnSpPr>
          <p:nvPr/>
        </p:nvCxnSpPr>
        <p:spPr>
          <a:xfrm flipV="1">
            <a:off x="4278775" y="5234131"/>
            <a:ext cx="168733" cy="21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꺾인 연결선 283"/>
          <p:cNvCxnSpPr>
            <a:stCxn id="275" idx="3"/>
            <a:endCxn id="300" idx="1"/>
          </p:cNvCxnSpPr>
          <p:nvPr/>
        </p:nvCxnSpPr>
        <p:spPr>
          <a:xfrm flipV="1">
            <a:off x="4278775" y="5762383"/>
            <a:ext cx="168733" cy="298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꺾인 연결선 284"/>
          <p:cNvCxnSpPr>
            <a:cxnSpLocks/>
            <a:stCxn id="275" idx="3"/>
            <a:endCxn id="301" idx="1"/>
          </p:cNvCxnSpPr>
          <p:nvPr/>
        </p:nvCxnSpPr>
        <p:spPr>
          <a:xfrm>
            <a:off x="4278775" y="5765366"/>
            <a:ext cx="168733" cy="24859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꺾인 연결선 285"/>
          <p:cNvCxnSpPr>
            <a:stCxn id="276" idx="3"/>
            <a:endCxn id="302" idx="1"/>
          </p:cNvCxnSpPr>
          <p:nvPr/>
        </p:nvCxnSpPr>
        <p:spPr>
          <a:xfrm flipV="1">
            <a:off x="4278775" y="6284664"/>
            <a:ext cx="168733" cy="8957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꺾인 연결선 286"/>
          <p:cNvCxnSpPr>
            <a:cxnSpLocks/>
            <a:stCxn id="276" idx="3"/>
            <a:endCxn id="303" idx="1"/>
          </p:cNvCxnSpPr>
          <p:nvPr/>
        </p:nvCxnSpPr>
        <p:spPr>
          <a:xfrm>
            <a:off x="4278775" y="6374239"/>
            <a:ext cx="168733" cy="17444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직사각형 288"/>
          <p:cNvSpPr/>
          <p:nvPr/>
        </p:nvSpPr>
        <p:spPr>
          <a:xfrm>
            <a:off x="5954614" y="5228714"/>
            <a:ext cx="1396961" cy="3289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변론주의 원칙</a:t>
            </a:r>
            <a:endParaRPr lang="en-US" altLang="ko-KR" sz="1000" dirty="0"/>
          </a:p>
          <a:p>
            <a:pPr algn="ctr"/>
            <a:r>
              <a:rPr lang="en-US" altLang="ko-KR" sz="1000" dirty="0"/>
              <a:t>(</a:t>
            </a:r>
            <a:r>
              <a:rPr lang="ko-KR" altLang="en-US" sz="1000" dirty="0"/>
              <a:t>직권주의 가미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290" name="직사각형 289"/>
          <p:cNvSpPr/>
          <p:nvPr/>
        </p:nvSpPr>
        <p:spPr>
          <a:xfrm>
            <a:off x="5954614" y="5591097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위법판단의 기준시점</a:t>
            </a:r>
          </a:p>
        </p:txBody>
      </p:sp>
      <p:sp>
        <p:nvSpPr>
          <p:cNvPr id="291" name="직사각형 290"/>
          <p:cNvSpPr/>
          <p:nvPr/>
        </p:nvSpPr>
        <p:spPr>
          <a:xfrm>
            <a:off x="5954614" y="5753241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심리범위</a:t>
            </a:r>
          </a:p>
        </p:txBody>
      </p:sp>
      <p:sp>
        <p:nvSpPr>
          <p:cNvPr id="292" name="직사각형 291"/>
          <p:cNvSpPr/>
          <p:nvPr/>
        </p:nvSpPr>
        <p:spPr>
          <a:xfrm>
            <a:off x="5954614" y="5911001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주장증명책임</a:t>
            </a:r>
          </a:p>
        </p:txBody>
      </p:sp>
      <p:sp>
        <p:nvSpPr>
          <p:cNvPr id="293" name="직사각형 292"/>
          <p:cNvSpPr/>
          <p:nvPr/>
        </p:nvSpPr>
        <p:spPr>
          <a:xfrm>
            <a:off x="5954614" y="6071372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자백</a:t>
            </a:r>
          </a:p>
        </p:txBody>
      </p:sp>
      <p:sp>
        <p:nvSpPr>
          <p:cNvPr id="295" name="직사각형 294"/>
          <p:cNvSpPr/>
          <p:nvPr/>
        </p:nvSpPr>
        <p:spPr>
          <a:xfrm>
            <a:off x="4447508" y="4100527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소송물</a:t>
            </a:r>
            <a:endParaRPr lang="ko-KR" altLang="en-US" sz="1000" dirty="0"/>
          </a:p>
        </p:txBody>
      </p:sp>
      <p:sp>
        <p:nvSpPr>
          <p:cNvPr id="296" name="직사각형 295"/>
          <p:cNvSpPr/>
          <p:nvPr/>
        </p:nvSpPr>
        <p:spPr>
          <a:xfrm>
            <a:off x="4447508" y="4264329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소의 이익</a:t>
            </a:r>
          </a:p>
        </p:txBody>
      </p:sp>
      <p:sp>
        <p:nvSpPr>
          <p:cNvPr id="297" name="직사각형 296"/>
          <p:cNvSpPr/>
          <p:nvPr/>
        </p:nvSpPr>
        <p:spPr>
          <a:xfrm>
            <a:off x="4447508" y="4425299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관할</a:t>
            </a:r>
          </a:p>
        </p:txBody>
      </p:sp>
      <p:sp>
        <p:nvSpPr>
          <p:cNvPr id="298" name="직사각형 297"/>
          <p:cNvSpPr/>
          <p:nvPr/>
        </p:nvSpPr>
        <p:spPr>
          <a:xfrm>
            <a:off x="4447508" y="5006153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소장의 제출</a:t>
            </a:r>
          </a:p>
        </p:txBody>
      </p:sp>
      <p:sp>
        <p:nvSpPr>
          <p:cNvPr id="299" name="직사각형 298"/>
          <p:cNvSpPr/>
          <p:nvPr/>
        </p:nvSpPr>
        <p:spPr>
          <a:xfrm>
            <a:off x="4447508" y="5169955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심판원장에게 통지</a:t>
            </a:r>
            <a:r>
              <a:rPr lang="en-US" altLang="ko-KR" sz="600" dirty="0">
                <a:solidFill>
                  <a:schemeClr val="tx1"/>
                </a:solidFill>
              </a:rPr>
              <a:t>(</a:t>
            </a:r>
            <a:r>
              <a:rPr lang="ko-KR" altLang="en-US" sz="600" dirty="0">
                <a:solidFill>
                  <a:schemeClr val="tx1"/>
                </a:solidFill>
              </a:rPr>
              <a:t>法 </a:t>
            </a:r>
            <a:r>
              <a:rPr lang="en-US" altLang="ko-KR" sz="600" dirty="0">
                <a:solidFill>
                  <a:schemeClr val="tx1"/>
                </a:solidFill>
              </a:rPr>
              <a:t>188)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00" name="직사각형 299"/>
          <p:cNvSpPr/>
          <p:nvPr/>
        </p:nvSpPr>
        <p:spPr>
          <a:xfrm>
            <a:off x="4447508" y="5698207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본안심리</a:t>
            </a:r>
            <a:endParaRPr lang="ko-KR" altLang="en-US" sz="1000" dirty="0"/>
          </a:p>
        </p:txBody>
      </p:sp>
      <p:sp>
        <p:nvSpPr>
          <p:cNvPr id="301" name="직사각형 300"/>
          <p:cNvSpPr/>
          <p:nvPr/>
        </p:nvSpPr>
        <p:spPr>
          <a:xfrm>
            <a:off x="4447508" y="5859952"/>
            <a:ext cx="1380067" cy="3080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기술심리관의 관여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法 </a:t>
            </a:r>
            <a:r>
              <a:rPr lang="en-US" altLang="ko-KR" sz="800" dirty="0">
                <a:solidFill>
                  <a:schemeClr val="tx1"/>
                </a:solidFill>
              </a:rPr>
              <a:t>188</a:t>
            </a:r>
            <a:r>
              <a:rPr lang="ko-KR" altLang="en-US" sz="800" dirty="0">
                <a:solidFill>
                  <a:schemeClr val="tx1"/>
                </a:solidFill>
              </a:rPr>
              <a:t>의</a:t>
            </a:r>
            <a:r>
              <a:rPr lang="en-US" altLang="ko-KR" sz="8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02" name="직사각형 301"/>
          <p:cNvSpPr/>
          <p:nvPr/>
        </p:nvSpPr>
        <p:spPr>
          <a:xfrm>
            <a:off x="4447508" y="622048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당사자에 의한 종결</a:t>
            </a:r>
          </a:p>
        </p:txBody>
      </p:sp>
      <p:sp>
        <p:nvSpPr>
          <p:cNvPr id="303" name="직사각형 302"/>
          <p:cNvSpPr/>
          <p:nvPr/>
        </p:nvSpPr>
        <p:spPr>
          <a:xfrm>
            <a:off x="4447508" y="6382234"/>
            <a:ext cx="1380067" cy="3328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종국판결에 의한 종결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法 </a:t>
            </a:r>
            <a:r>
              <a:rPr lang="en-US" altLang="ko-KR" sz="800" dirty="0">
                <a:solidFill>
                  <a:schemeClr val="tx1"/>
                </a:solidFill>
              </a:rPr>
              <a:t>189)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04" name="직사각형 303"/>
          <p:cNvSpPr/>
          <p:nvPr/>
        </p:nvSpPr>
        <p:spPr>
          <a:xfrm>
            <a:off x="4447508" y="459403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당사자</a:t>
            </a:r>
          </a:p>
        </p:txBody>
      </p:sp>
      <p:sp>
        <p:nvSpPr>
          <p:cNvPr id="305" name="직사각형 304"/>
          <p:cNvSpPr/>
          <p:nvPr/>
        </p:nvSpPr>
        <p:spPr>
          <a:xfrm>
            <a:off x="4447508" y="5541835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소송요건의 심리</a:t>
            </a:r>
            <a:endParaRPr lang="en-US" altLang="ko-KR" sz="1000" dirty="0"/>
          </a:p>
        </p:txBody>
      </p:sp>
      <p:sp>
        <p:nvSpPr>
          <p:cNvPr id="306" name="직사각형 305"/>
          <p:cNvSpPr/>
          <p:nvPr/>
        </p:nvSpPr>
        <p:spPr>
          <a:xfrm>
            <a:off x="4447508" y="5338441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소장의 심사</a:t>
            </a:r>
            <a:endParaRPr lang="en-US" altLang="ko-KR" sz="1000" dirty="0"/>
          </a:p>
        </p:txBody>
      </p:sp>
      <p:sp>
        <p:nvSpPr>
          <p:cNvPr id="307" name="직사각형 306"/>
          <p:cNvSpPr/>
          <p:nvPr/>
        </p:nvSpPr>
        <p:spPr>
          <a:xfrm>
            <a:off x="4447508" y="476412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제소기간</a:t>
            </a:r>
          </a:p>
        </p:txBody>
      </p:sp>
      <p:cxnSp>
        <p:nvCxnSpPr>
          <p:cNvPr id="309" name="꺾인 연결선 308"/>
          <p:cNvCxnSpPr>
            <a:stCxn id="273" idx="3"/>
            <a:endCxn id="304" idx="1"/>
          </p:cNvCxnSpPr>
          <p:nvPr/>
        </p:nvCxnSpPr>
        <p:spPr>
          <a:xfrm>
            <a:off x="4278775" y="4605428"/>
            <a:ext cx="168733" cy="5278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꺾인 연결선 309"/>
          <p:cNvCxnSpPr>
            <a:stCxn id="273" idx="3"/>
            <a:endCxn id="307" idx="1"/>
          </p:cNvCxnSpPr>
          <p:nvPr/>
        </p:nvCxnSpPr>
        <p:spPr>
          <a:xfrm>
            <a:off x="4278775" y="4605428"/>
            <a:ext cx="168733" cy="22287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꺾인 연결선 310"/>
          <p:cNvCxnSpPr>
            <a:stCxn id="274" idx="3"/>
            <a:endCxn id="306" idx="1"/>
          </p:cNvCxnSpPr>
          <p:nvPr/>
        </p:nvCxnSpPr>
        <p:spPr>
          <a:xfrm>
            <a:off x="4278775" y="5234342"/>
            <a:ext cx="168733" cy="16827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꺾인 연결선 311"/>
          <p:cNvCxnSpPr>
            <a:stCxn id="275" idx="3"/>
            <a:endCxn id="305" idx="1"/>
          </p:cNvCxnSpPr>
          <p:nvPr/>
        </p:nvCxnSpPr>
        <p:spPr>
          <a:xfrm flipV="1">
            <a:off x="4278775" y="5606011"/>
            <a:ext cx="168733" cy="15935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꺾인 연결선 312"/>
          <p:cNvCxnSpPr>
            <a:stCxn id="300" idx="3"/>
            <a:endCxn id="289" idx="1"/>
          </p:cNvCxnSpPr>
          <p:nvPr/>
        </p:nvCxnSpPr>
        <p:spPr>
          <a:xfrm flipV="1">
            <a:off x="5827575" y="5393209"/>
            <a:ext cx="127039" cy="36917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꺾인 연결선 313"/>
          <p:cNvCxnSpPr>
            <a:stCxn id="300" idx="3"/>
            <a:endCxn id="290" idx="1"/>
          </p:cNvCxnSpPr>
          <p:nvPr/>
        </p:nvCxnSpPr>
        <p:spPr>
          <a:xfrm flipV="1">
            <a:off x="5827575" y="5655273"/>
            <a:ext cx="127039" cy="10711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꺾인 연결선 314"/>
          <p:cNvCxnSpPr>
            <a:stCxn id="300" idx="3"/>
            <a:endCxn id="291" idx="1"/>
          </p:cNvCxnSpPr>
          <p:nvPr/>
        </p:nvCxnSpPr>
        <p:spPr>
          <a:xfrm>
            <a:off x="5827575" y="5762383"/>
            <a:ext cx="127039" cy="5503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꺾인 연결선 315"/>
          <p:cNvCxnSpPr>
            <a:stCxn id="300" idx="3"/>
            <a:endCxn id="292" idx="1"/>
          </p:cNvCxnSpPr>
          <p:nvPr/>
        </p:nvCxnSpPr>
        <p:spPr>
          <a:xfrm>
            <a:off x="5827575" y="5762383"/>
            <a:ext cx="127039" cy="21279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꺾인 연결선 316"/>
          <p:cNvCxnSpPr>
            <a:endCxn id="293" idx="1"/>
          </p:cNvCxnSpPr>
          <p:nvPr/>
        </p:nvCxnSpPr>
        <p:spPr>
          <a:xfrm rot="16200000" flipH="1">
            <a:off x="5802218" y="5983152"/>
            <a:ext cx="293982" cy="10810"/>
          </a:xfrm>
          <a:prstGeom prst="bentConnector2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직사각형 317"/>
          <p:cNvSpPr/>
          <p:nvPr/>
        </p:nvSpPr>
        <p:spPr>
          <a:xfrm>
            <a:off x="6103431" y="3574465"/>
            <a:ext cx="914400" cy="91440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특허법</a:t>
            </a:r>
            <a:endParaRPr lang="en-US" altLang="ko-KR" dirty="0"/>
          </a:p>
          <a:p>
            <a:pPr algn="ctr"/>
            <a:r>
              <a:rPr lang="ko-KR" altLang="en-US" dirty="0"/>
              <a:t>체계도</a:t>
            </a:r>
          </a:p>
        </p:txBody>
      </p:sp>
      <p:sp>
        <p:nvSpPr>
          <p:cNvPr id="319" name="타원 318"/>
          <p:cNvSpPr/>
          <p:nvPr/>
        </p:nvSpPr>
        <p:spPr>
          <a:xfrm>
            <a:off x="322118" y="2686891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320" name="타원 319"/>
          <p:cNvSpPr/>
          <p:nvPr/>
        </p:nvSpPr>
        <p:spPr>
          <a:xfrm>
            <a:off x="262164" y="5316045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321" name="타원 320"/>
          <p:cNvSpPr/>
          <p:nvPr/>
        </p:nvSpPr>
        <p:spPr>
          <a:xfrm>
            <a:off x="7873581" y="5757616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322" name="타원 321"/>
          <p:cNvSpPr/>
          <p:nvPr/>
        </p:nvSpPr>
        <p:spPr>
          <a:xfrm>
            <a:off x="6772900" y="2666961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323" name="자유형 322"/>
          <p:cNvSpPr/>
          <p:nvPr/>
        </p:nvSpPr>
        <p:spPr>
          <a:xfrm>
            <a:off x="523875" y="3059642"/>
            <a:ext cx="5571067" cy="1845733"/>
          </a:xfrm>
          <a:custGeom>
            <a:avLst/>
            <a:gdLst>
              <a:gd name="connsiteX0" fmla="*/ 5571067 w 5571067"/>
              <a:gd name="connsiteY0" fmla="*/ 872066 h 1845733"/>
              <a:gd name="connsiteX1" fmla="*/ 3708400 w 5571067"/>
              <a:gd name="connsiteY1" fmla="*/ 872066 h 1845733"/>
              <a:gd name="connsiteX2" fmla="*/ 3708400 w 5571067"/>
              <a:gd name="connsiteY2" fmla="*/ 1244600 h 1845733"/>
              <a:gd name="connsiteX3" fmla="*/ 2853267 w 5571067"/>
              <a:gd name="connsiteY3" fmla="*/ 1244600 h 1845733"/>
              <a:gd name="connsiteX4" fmla="*/ 2853267 w 5571067"/>
              <a:gd name="connsiteY4" fmla="*/ 1845733 h 1845733"/>
              <a:gd name="connsiteX5" fmla="*/ 0 w 5571067"/>
              <a:gd name="connsiteY5" fmla="*/ 1845733 h 1845733"/>
              <a:gd name="connsiteX6" fmla="*/ 0 w 5571067"/>
              <a:gd name="connsiteY6" fmla="*/ 0 h 1845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71067" h="1845733">
                <a:moveTo>
                  <a:pt x="5571067" y="872066"/>
                </a:moveTo>
                <a:lnTo>
                  <a:pt x="3708400" y="872066"/>
                </a:lnTo>
                <a:lnTo>
                  <a:pt x="3708400" y="1244600"/>
                </a:lnTo>
                <a:lnTo>
                  <a:pt x="2853267" y="1244600"/>
                </a:lnTo>
                <a:lnTo>
                  <a:pt x="2853267" y="1845733"/>
                </a:lnTo>
                <a:lnTo>
                  <a:pt x="0" y="1845733"/>
                </a:ln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4" name="자유형 323"/>
          <p:cNvSpPr/>
          <p:nvPr/>
        </p:nvSpPr>
        <p:spPr>
          <a:xfrm>
            <a:off x="422275" y="4905375"/>
            <a:ext cx="84667" cy="397933"/>
          </a:xfrm>
          <a:custGeom>
            <a:avLst/>
            <a:gdLst>
              <a:gd name="connsiteX0" fmla="*/ 84667 w 84667"/>
              <a:gd name="connsiteY0" fmla="*/ 0 h 397933"/>
              <a:gd name="connsiteX1" fmla="*/ 0 w 84667"/>
              <a:gd name="connsiteY1" fmla="*/ 0 h 397933"/>
              <a:gd name="connsiteX2" fmla="*/ 0 w 84667"/>
              <a:gd name="connsiteY2" fmla="*/ 397933 h 397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667" h="397933">
                <a:moveTo>
                  <a:pt x="84667" y="0"/>
                </a:moveTo>
                <a:lnTo>
                  <a:pt x="0" y="0"/>
                </a:lnTo>
                <a:lnTo>
                  <a:pt x="0" y="397933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5" name="자유형 324"/>
          <p:cNvSpPr/>
          <p:nvPr/>
        </p:nvSpPr>
        <p:spPr>
          <a:xfrm>
            <a:off x="6569075" y="2839508"/>
            <a:ext cx="186267" cy="745067"/>
          </a:xfrm>
          <a:custGeom>
            <a:avLst/>
            <a:gdLst>
              <a:gd name="connsiteX0" fmla="*/ 0 w 186267"/>
              <a:gd name="connsiteY0" fmla="*/ 745067 h 745067"/>
              <a:gd name="connsiteX1" fmla="*/ 0 w 186267"/>
              <a:gd name="connsiteY1" fmla="*/ 745067 h 745067"/>
              <a:gd name="connsiteX2" fmla="*/ 0 w 186267"/>
              <a:gd name="connsiteY2" fmla="*/ 0 h 745067"/>
              <a:gd name="connsiteX3" fmla="*/ 186267 w 186267"/>
              <a:gd name="connsiteY3" fmla="*/ 0 h 745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267" h="745067">
                <a:moveTo>
                  <a:pt x="0" y="745067"/>
                </a:moveTo>
                <a:lnTo>
                  <a:pt x="0" y="745067"/>
                </a:lnTo>
                <a:lnTo>
                  <a:pt x="0" y="0"/>
                </a:lnTo>
                <a:lnTo>
                  <a:pt x="186267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6" name="자유형 325"/>
          <p:cNvSpPr/>
          <p:nvPr/>
        </p:nvSpPr>
        <p:spPr>
          <a:xfrm>
            <a:off x="6577542" y="4498975"/>
            <a:ext cx="1498600" cy="1244600"/>
          </a:xfrm>
          <a:custGeom>
            <a:avLst/>
            <a:gdLst>
              <a:gd name="connsiteX0" fmla="*/ 0 w 1498600"/>
              <a:gd name="connsiteY0" fmla="*/ 0 h 1244600"/>
              <a:gd name="connsiteX1" fmla="*/ 0 w 1498600"/>
              <a:gd name="connsiteY1" fmla="*/ 423333 h 1244600"/>
              <a:gd name="connsiteX2" fmla="*/ 1498600 w 1498600"/>
              <a:gd name="connsiteY2" fmla="*/ 423333 h 1244600"/>
              <a:gd name="connsiteX3" fmla="*/ 1498600 w 1498600"/>
              <a:gd name="connsiteY3" fmla="*/ 1244600 h 124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8600" h="1244600">
                <a:moveTo>
                  <a:pt x="0" y="0"/>
                </a:moveTo>
                <a:lnTo>
                  <a:pt x="0" y="423333"/>
                </a:lnTo>
                <a:lnTo>
                  <a:pt x="1498600" y="423333"/>
                </a:lnTo>
                <a:lnTo>
                  <a:pt x="1498600" y="124460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4" name="직사각형 293">
            <a:extLst>
              <a:ext uri="{FF2B5EF4-FFF2-40B4-BE49-F238E27FC236}">
                <a16:creationId xmlns:a16="http://schemas.microsoft.com/office/drawing/2014/main" id="{9B6DE0DF-BFFF-497F-9FD1-C58A8CA97621}"/>
              </a:ext>
            </a:extLst>
          </p:cNvPr>
          <p:cNvSpPr/>
          <p:nvPr/>
        </p:nvSpPr>
        <p:spPr>
          <a:xfrm>
            <a:off x="8500191" y="3384273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관련</a:t>
            </a:r>
          </a:p>
        </p:txBody>
      </p:sp>
      <p:sp>
        <p:nvSpPr>
          <p:cNvPr id="327" name="직사각형 326">
            <a:extLst>
              <a:ext uri="{FF2B5EF4-FFF2-40B4-BE49-F238E27FC236}">
                <a16:creationId xmlns:a16="http://schemas.microsoft.com/office/drawing/2014/main" id="{A6BC253F-D9C4-4A98-984C-D8D62D28E8E9}"/>
              </a:ext>
            </a:extLst>
          </p:cNvPr>
          <p:cNvSpPr/>
          <p:nvPr/>
        </p:nvSpPr>
        <p:spPr>
          <a:xfrm>
            <a:off x="9363869" y="3290897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타절차와의 관계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164)</a:t>
            </a:r>
            <a:endParaRPr lang="ko-KR" altLang="en-US" sz="1000" dirty="0"/>
          </a:p>
        </p:txBody>
      </p:sp>
      <p:sp>
        <p:nvSpPr>
          <p:cNvPr id="328" name="직사각형 327">
            <a:extLst>
              <a:ext uri="{FF2B5EF4-FFF2-40B4-BE49-F238E27FC236}">
                <a16:creationId xmlns:a16="http://schemas.microsoft.com/office/drawing/2014/main" id="{855EA2A3-2862-42AE-AC8B-FB8E8761530B}"/>
              </a:ext>
            </a:extLst>
          </p:cNvPr>
          <p:cNvSpPr/>
          <p:nvPr/>
        </p:nvSpPr>
        <p:spPr>
          <a:xfrm>
            <a:off x="9363869" y="3720622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심판비용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165, 166)</a:t>
            </a:r>
            <a:endParaRPr lang="ko-KR" altLang="en-US" sz="1000" dirty="0"/>
          </a:p>
        </p:txBody>
      </p:sp>
      <p:cxnSp>
        <p:nvCxnSpPr>
          <p:cNvPr id="329" name="꺾인 연결선 244">
            <a:extLst>
              <a:ext uri="{FF2B5EF4-FFF2-40B4-BE49-F238E27FC236}">
                <a16:creationId xmlns:a16="http://schemas.microsoft.com/office/drawing/2014/main" id="{A54F89B3-B4E9-4E0A-BB23-C1DB0F7A25D8}"/>
              </a:ext>
            </a:extLst>
          </p:cNvPr>
          <p:cNvCxnSpPr>
            <a:cxnSpLocks/>
            <a:stCxn id="294" idx="3"/>
            <a:endCxn id="308" idx="1"/>
          </p:cNvCxnSpPr>
          <p:nvPr/>
        </p:nvCxnSpPr>
        <p:spPr>
          <a:xfrm>
            <a:off x="9210221" y="3469781"/>
            <a:ext cx="151225" cy="1077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꺾인 연결선 245">
            <a:extLst>
              <a:ext uri="{FF2B5EF4-FFF2-40B4-BE49-F238E27FC236}">
                <a16:creationId xmlns:a16="http://schemas.microsoft.com/office/drawing/2014/main" id="{48543D6B-7C92-4D3D-B213-6D84DC780C17}"/>
              </a:ext>
            </a:extLst>
          </p:cNvPr>
          <p:cNvCxnSpPr>
            <a:cxnSpLocks/>
            <a:stCxn id="294" idx="3"/>
            <a:endCxn id="328" idx="1"/>
          </p:cNvCxnSpPr>
          <p:nvPr/>
        </p:nvCxnSpPr>
        <p:spPr>
          <a:xfrm>
            <a:off x="9210221" y="3469781"/>
            <a:ext cx="153648" cy="32012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B370871F-6F80-4244-8543-0634A44D09BD}"/>
              </a:ext>
            </a:extLst>
          </p:cNvPr>
          <p:cNvCxnSpPr>
            <a:stCxn id="205" idx="3"/>
            <a:endCxn id="294" idx="1"/>
          </p:cNvCxnSpPr>
          <p:nvPr/>
        </p:nvCxnSpPr>
        <p:spPr>
          <a:xfrm>
            <a:off x="8336650" y="2489931"/>
            <a:ext cx="163541" cy="97985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직사각형 287">
            <a:extLst>
              <a:ext uri="{FF2B5EF4-FFF2-40B4-BE49-F238E27FC236}">
                <a16:creationId xmlns:a16="http://schemas.microsoft.com/office/drawing/2014/main" id="{CCF75EB5-ACDA-45AD-A3D7-EAD9647556E3}"/>
              </a:ext>
            </a:extLst>
          </p:cNvPr>
          <p:cNvSpPr/>
          <p:nvPr/>
        </p:nvSpPr>
        <p:spPr>
          <a:xfrm>
            <a:off x="9358843" y="1365202"/>
            <a:ext cx="2333212" cy="2884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국선대리인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전문심리위원 및 참고인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法 </a:t>
            </a:r>
            <a:r>
              <a:rPr lang="en-US" altLang="ko-KR" sz="900" dirty="0">
                <a:solidFill>
                  <a:schemeClr val="tx1"/>
                </a:solidFill>
              </a:rPr>
              <a:t>139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2, 154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2, 154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3)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08" name="직사각형 307">
            <a:extLst>
              <a:ext uri="{FF2B5EF4-FFF2-40B4-BE49-F238E27FC236}">
                <a16:creationId xmlns:a16="http://schemas.microsoft.com/office/drawing/2014/main" id="{FBCE5317-4D8A-4C1C-92B6-ECD14431C289}"/>
              </a:ext>
            </a:extLst>
          </p:cNvPr>
          <p:cNvSpPr/>
          <p:nvPr/>
        </p:nvSpPr>
        <p:spPr>
          <a:xfrm>
            <a:off x="9361446" y="3486404"/>
            <a:ext cx="2330609" cy="1822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조정위원회 회부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164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331" name="꺾인 연결선 245">
            <a:extLst>
              <a:ext uri="{FF2B5EF4-FFF2-40B4-BE49-F238E27FC236}">
                <a16:creationId xmlns:a16="http://schemas.microsoft.com/office/drawing/2014/main" id="{8272E89B-C399-461C-82CA-028F1E621707}"/>
              </a:ext>
            </a:extLst>
          </p:cNvPr>
          <p:cNvCxnSpPr>
            <a:cxnSpLocks/>
            <a:stCxn id="294" idx="3"/>
            <a:endCxn id="327" idx="1"/>
          </p:cNvCxnSpPr>
          <p:nvPr/>
        </p:nvCxnSpPr>
        <p:spPr>
          <a:xfrm flipV="1">
            <a:off x="9210221" y="3360176"/>
            <a:ext cx="153648" cy="10960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183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거절이유</a:t>
            </a:r>
          </a:p>
        </p:txBody>
      </p:sp>
      <p:cxnSp>
        <p:nvCxnSpPr>
          <p:cNvPr id="24" name="직선 연결선 23"/>
          <p:cNvCxnSpPr/>
          <p:nvPr/>
        </p:nvCxnSpPr>
        <p:spPr>
          <a:xfrm>
            <a:off x="224116" y="2280232"/>
            <a:ext cx="452568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353503" y="2063783"/>
            <a:ext cx="1143434" cy="432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특허출원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1818175" y="2063783"/>
            <a:ext cx="1143434" cy="43289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심사청구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3262486" y="2063783"/>
            <a:ext cx="1143434" cy="43289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/>
              <a:t>실체심사</a:t>
            </a:r>
            <a:endParaRPr lang="ko-KR" altLang="en-US" sz="1400" dirty="0"/>
          </a:p>
        </p:txBody>
      </p:sp>
      <p:cxnSp>
        <p:nvCxnSpPr>
          <p:cNvPr id="11" name="꺾인 연결선 10"/>
          <p:cNvCxnSpPr>
            <a:stCxn id="25" idx="0"/>
          </p:cNvCxnSpPr>
          <p:nvPr/>
        </p:nvCxnSpPr>
        <p:spPr>
          <a:xfrm rot="16200000" flipH="1">
            <a:off x="1969631" y="1019372"/>
            <a:ext cx="114642" cy="2203465"/>
          </a:xfrm>
          <a:prstGeom prst="bentConnector4">
            <a:avLst>
              <a:gd name="adj1" fmla="val -199403"/>
              <a:gd name="adj2" fmla="val 100057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756136" y="1562418"/>
            <a:ext cx="6975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/>
              <a:t>3</a:t>
            </a:r>
            <a:r>
              <a:rPr lang="ko-KR" altLang="en-US" sz="1200" dirty="0"/>
              <a:t>년</a:t>
            </a:r>
          </a:p>
        </p:txBody>
      </p:sp>
      <p:cxnSp>
        <p:nvCxnSpPr>
          <p:cNvPr id="54" name="꺾인 연결선 53"/>
          <p:cNvCxnSpPr>
            <a:stCxn id="27" idx="2"/>
            <a:endCxn id="28" idx="2"/>
          </p:cNvCxnSpPr>
          <p:nvPr/>
        </p:nvCxnSpPr>
        <p:spPr>
          <a:xfrm rot="16200000" flipH="1">
            <a:off x="3112047" y="1774525"/>
            <a:ext cx="12700" cy="1444311"/>
          </a:xfrm>
          <a:prstGeom prst="bentConnector3">
            <a:avLst>
              <a:gd name="adj1" fmla="val 180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2539598" y="2726392"/>
            <a:ext cx="1157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/>
              <a:t>심사청구순서</a:t>
            </a:r>
            <a:endParaRPr lang="ko-KR" altLang="en-US" sz="1200" dirty="0"/>
          </a:p>
        </p:txBody>
      </p:sp>
      <p:sp>
        <p:nvSpPr>
          <p:cNvPr id="57" name="직사각형 56"/>
          <p:cNvSpPr/>
          <p:nvPr/>
        </p:nvSpPr>
        <p:spPr>
          <a:xfrm>
            <a:off x="943336" y="4115549"/>
            <a:ext cx="633756" cy="330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주체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943336" y="4520453"/>
            <a:ext cx="633756" cy="5384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객체</a:t>
            </a:r>
          </a:p>
        </p:txBody>
      </p:sp>
      <p:sp>
        <p:nvSpPr>
          <p:cNvPr id="59" name="직사각형 58"/>
          <p:cNvSpPr/>
          <p:nvPr/>
        </p:nvSpPr>
        <p:spPr>
          <a:xfrm>
            <a:off x="943336" y="5133783"/>
            <a:ext cx="633756" cy="10777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방법</a:t>
            </a:r>
          </a:p>
        </p:txBody>
      </p:sp>
      <p:cxnSp>
        <p:nvCxnSpPr>
          <p:cNvPr id="61" name="꺾인 연결선 60"/>
          <p:cNvCxnSpPr>
            <a:stCxn id="57" idx="1"/>
            <a:endCxn id="59" idx="1"/>
          </p:cNvCxnSpPr>
          <p:nvPr/>
        </p:nvCxnSpPr>
        <p:spPr>
          <a:xfrm rot="10800000" flipV="1">
            <a:off x="943336" y="4280649"/>
            <a:ext cx="12700" cy="1392014"/>
          </a:xfrm>
          <a:prstGeom prst="bentConnector3">
            <a:avLst>
              <a:gd name="adj1" fmla="val 1800000"/>
            </a:avLst>
          </a:prstGeom>
          <a:ln w="28575">
            <a:solidFill>
              <a:schemeClr val="accent5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꺾인 연결선 62"/>
          <p:cNvCxnSpPr>
            <a:stCxn id="57" idx="1"/>
            <a:endCxn id="58" idx="1"/>
          </p:cNvCxnSpPr>
          <p:nvPr/>
        </p:nvCxnSpPr>
        <p:spPr>
          <a:xfrm rot="10800000" flipV="1">
            <a:off x="943336" y="4280648"/>
            <a:ext cx="12700" cy="509015"/>
          </a:xfrm>
          <a:prstGeom prst="bentConnector3">
            <a:avLst>
              <a:gd name="adj1" fmla="val 1800000"/>
            </a:avLst>
          </a:prstGeom>
          <a:ln w="28575">
            <a:solidFill>
              <a:schemeClr val="accent5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615192" y="4117704"/>
            <a:ext cx="3023844" cy="32804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US" altLang="ko-KR" sz="1200" dirty="0"/>
              <a:t>- </a:t>
            </a:r>
            <a:r>
              <a:rPr lang="ko-KR" altLang="en-US" sz="1200" dirty="0"/>
              <a:t>심사관</a:t>
            </a:r>
            <a:endParaRPr lang="ko-KR" altLang="en-US" sz="1100" dirty="0"/>
          </a:p>
        </p:txBody>
      </p:sp>
      <p:sp>
        <p:nvSpPr>
          <p:cNvPr id="66" name="TextBox 65"/>
          <p:cNvSpPr txBox="1"/>
          <p:nvPr/>
        </p:nvSpPr>
        <p:spPr>
          <a:xfrm>
            <a:off x="1615192" y="4520454"/>
            <a:ext cx="3023844" cy="5384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US" altLang="ko-KR" sz="1200" dirty="0"/>
              <a:t>- </a:t>
            </a:r>
            <a:r>
              <a:rPr lang="ko-KR" altLang="en-US" sz="1200" dirty="0" err="1"/>
              <a:t>청구범위</a:t>
            </a:r>
            <a:r>
              <a:rPr lang="ko-KR" altLang="en-US" sz="1200" dirty="0"/>
              <a:t> 중심</a:t>
            </a:r>
            <a:endParaRPr lang="en-US" altLang="ko-KR" sz="1200" dirty="0"/>
          </a:p>
          <a:p>
            <a:r>
              <a:rPr lang="en-US" altLang="ko-KR" sz="1200" dirty="0"/>
              <a:t>- </a:t>
            </a:r>
            <a:r>
              <a:rPr lang="ko-KR" altLang="en-US" sz="1200" dirty="0"/>
              <a:t>발명의 설명</a:t>
            </a:r>
            <a:r>
              <a:rPr lang="en-US" altLang="ko-KR" sz="1200" dirty="0"/>
              <a:t>/</a:t>
            </a:r>
            <a:r>
              <a:rPr lang="ko-KR" altLang="en-US" sz="1200" dirty="0"/>
              <a:t>도면 참작 </a:t>
            </a:r>
            <a:endParaRPr lang="ko-KR" altLang="en-US" sz="1100" dirty="0"/>
          </a:p>
        </p:txBody>
      </p:sp>
      <p:sp>
        <p:nvSpPr>
          <p:cNvPr id="67" name="TextBox 66"/>
          <p:cNvSpPr txBox="1"/>
          <p:nvPr/>
        </p:nvSpPr>
        <p:spPr>
          <a:xfrm>
            <a:off x="1627892" y="5135939"/>
            <a:ext cx="3011884" cy="107597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88900" indent="-88900"/>
            <a:r>
              <a:rPr lang="en-US" altLang="ko-KR" sz="1200" dirty="0"/>
              <a:t>- </a:t>
            </a:r>
            <a:r>
              <a:rPr lang="ko-KR" altLang="en-US" sz="1200" dirty="0"/>
              <a:t>청구항</a:t>
            </a:r>
            <a:r>
              <a:rPr lang="en-US" altLang="ko-KR" sz="1200" dirty="0"/>
              <a:t>(</a:t>
            </a:r>
            <a:r>
              <a:rPr lang="ko-KR" altLang="en-US" sz="1200" dirty="0"/>
              <a:t>발명</a:t>
            </a:r>
            <a:r>
              <a:rPr lang="en-US" altLang="ko-KR" sz="1200" dirty="0"/>
              <a:t>)</a:t>
            </a:r>
            <a:r>
              <a:rPr lang="ko-KR" altLang="en-US" sz="1200" dirty="0"/>
              <a:t>별로 </a:t>
            </a:r>
            <a:r>
              <a:rPr lang="ko-KR" altLang="en-US" sz="1200" dirty="0" err="1"/>
              <a:t>제한열거적인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pPr marL="88900" indent="-88900"/>
            <a:r>
              <a:rPr lang="ko-KR" altLang="en-US" sz="1200" dirty="0">
                <a:solidFill>
                  <a:srgbClr val="FF0000"/>
                </a:solidFill>
              </a:rPr>
              <a:t>  거절이유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法 </a:t>
            </a:r>
            <a:r>
              <a:rPr lang="en-US" altLang="ko-KR" sz="1200" dirty="0">
                <a:solidFill>
                  <a:srgbClr val="FF0000"/>
                </a:solidFill>
              </a:rPr>
              <a:t>62)*</a:t>
            </a:r>
            <a:r>
              <a:rPr lang="ko-KR" altLang="en-US" sz="1200" dirty="0"/>
              <a:t>에 해당 여부를 판단하나</a:t>
            </a:r>
            <a:r>
              <a:rPr lang="en-US" altLang="ko-KR" sz="1200" dirty="0"/>
              <a:t>, </a:t>
            </a:r>
          </a:p>
          <a:p>
            <a:pPr marL="88900" indent="-88900"/>
            <a:r>
              <a:rPr lang="ko-KR" altLang="en-US" sz="1200" dirty="0"/>
              <a:t>  하나의 청구항이라도 거절이유가 있으면 </a:t>
            </a:r>
            <a:endParaRPr lang="en-US" altLang="ko-KR" sz="1200" dirty="0"/>
          </a:p>
          <a:p>
            <a:pPr marL="88900" indent="-88900"/>
            <a:r>
              <a:rPr lang="en-US" altLang="ko-KR" sz="1200" dirty="0"/>
              <a:t>  </a:t>
            </a:r>
            <a:r>
              <a:rPr lang="ko-KR" altLang="en-US" sz="1200" dirty="0"/>
              <a:t>출원 전체를 거절결정</a:t>
            </a:r>
            <a:endParaRPr lang="en-US" altLang="ko-KR" sz="1200" dirty="0"/>
          </a:p>
          <a:p>
            <a:pPr marL="88900" indent="-88900"/>
            <a:r>
              <a:rPr lang="ko-KR" altLang="en-US" sz="1100" dirty="0"/>
              <a:t> </a:t>
            </a:r>
            <a:r>
              <a:rPr lang="en-US" altLang="ko-KR" sz="1100" dirty="0"/>
              <a:t>(</a:t>
            </a:r>
            <a:r>
              <a:rPr lang="ko-KR" altLang="en-US" sz="1100" dirty="0" err="1"/>
              <a:t>출원일체의</a:t>
            </a:r>
            <a:r>
              <a:rPr lang="ko-KR" altLang="en-US" sz="1100" dirty="0"/>
              <a:t> 원칙 </a:t>
            </a:r>
            <a:r>
              <a:rPr lang="en-US" altLang="ko-KR" sz="1100" dirty="0"/>
              <a:t>– All or Nothing Rule)</a:t>
            </a:r>
          </a:p>
        </p:txBody>
      </p:sp>
      <p:sp>
        <p:nvSpPr>
          <p:cNvPr id="72" name="자유형 71"/>
          <p:cNvSpPr/>
          <p:nvPr/>
        </p:nvSpPr>
        <p:spPr>
          <a:xfrm>
            <a:off x="355600" y="2526554"/>
            <a:ext cx="3695700" cy="2260600"/>
          </a:xfrm>
          <a:custGeom>
            <a:avLst/>
            <a:gdLst>
              <a:gd name="connsiteX0" fmla="*/ 355600 w 3695700"/>
              <a:gd name="connsiteY0" fmla="*/ 2260600 h 2260600"/>
              <a:gd name="connsiteX1" fmla="*/ 0 w 3695700"/>
              <a:gd name="connsiteY1" fmla="*/ 2260600 h 2260600"/>
              <a:gd name="connsiteX2" fmla="*/ 0 w 3695700"/>
              <a:gd name="connsiteY2" fmla="*/ 749300 h 2260600"/>
              <a:gd name="connsiteX3" fmla="*/ 3695700 w 3695700"/>
              <a:gd name="connsiteY3" fmla="*/ 749300 h 2260600"/>
              <a:gd name="connsiteX4" fmla="*/ 3695700 w 3695700"/>
              <a:gd name="connsiteY4" fmla="*/ 0 h 226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5700" h="2260600">
                <a:moveTo>
                  <a:pt x="355600" y="2260600"/>
                </a:moveTo>
                <a:lnTo>
                  <a:pt x="0" y="2260600"/>
                </a:lnTo>
                <a:lnTo>
                  <a:pt x="0" y="749300"/>
                </a:lnTo>
                <a:lnTo>
                  <a:pt x="3695700" y="749300"/>
                </a:lnTo>
                <a:lnTo>
                  <a:pt x="3695700" y="0"/>
                </a:lnTo>
              </a:path>
            </a:pathLst>
          </a:custGeom>
          <a:noFill/>
          <a:ln w="28575">
            <a:solidFill>
              <a:schemeClr val="tx2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/>
          <p:cNvSpPr/>
          <p:nvPr/>
        </p:nvSpPr>
        <p:spPr>
          <a:xfrm>
            <a:off x="4966243" y="2273304"/>
            <a:ext cx="735586" cy="67832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2">
                    <a:lumMod val="10000"/>
                  </a:schemeClr>
                </a:solidFill>
              </a:rPr>
              <a:t>주체적</a:t>
            </a:r>
            <a:endParaRPr lang="en-US" altLang="ko-KR" sz="1400" dirty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2">
                    <a:lumMod val="10000"/>
                  </a:schemeClr>
                </a:solidFill>
              </a:rPr>
              <a:t>요건</a:t>
            </a:r>
          </a:p>
        </p:txBody>
      </p:sp>
      <p:sp>
        <p:nvSpPr>
          <p:cNvPr id="77" name="직사각형 76"/>
          <p:cNvSpPr/>
          <p:nvPr/>
        </p:nvSpPr>
        <p:spPr>
          <a:xfrm>
            <a:off x="4966243" y="3428469"/>
            <a:ext cx="735586" cy="67832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2">
                    <a:lumMod val="10000"/>
                  </a:schemeClr>
                </a:solidFill>
              </a:rPr>
              <a:t>실체적</a:t>
            </a:r>
            <a:endParaRPr lang="en-US" altLang="ko-KR" sz="1400" dirty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2">
                    <a:lumMod val="10000"/>
                  </a:schemeClr>
                </a:solidFill>
              </a:rPr>
              <a:t>요건</a:t>
            </a:r>
          </a:p>
        </p:txBody>
      </p:sp>
      <p:sp>
        <p:nvSpPr>
          <p:cNvPr id="78" name="직사각형 77"/>
          <p:cNvSpPr/>
          <p:nvPr/>
        </p:nvSpPr>
        <p:spPr>
          <a:xfrm>
            <a:off x="4966243" y="4606367"/>
            <a:ext cx="735586" cy="67832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2">
                    <a:lumMod val="10000"/>
                  </a:schemeClr>
                </a:solidFill>
              </a:rPr>
              <a:t>조약 </a:t>
            </a:r>
            <a:endParaRPr lang="en-US" altLang="ko-KR" sz="1400" dirty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2">
                    <a:lumMod val="10000"/>
                  </a:schemeClr>
                </a:solidFill>
              </a:rPr>
              <a:t>위반</a:t>
            </a:r>
          </a:p>
        </p:txBody>
      </p:sp>
      <p:sp>
        <p:nvSpPr>
          <p:cNvPr id="79" name="직사각형 78"/>
          <p:cNvSpPr/>
          <p:nvPr/>
        </p:nvSpPr>
        <p:spPr>
          <a:xfrm>
            <a:off x="4966243" y="5981489"/>
            <a:ext cx="735586" cy="67832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2">
                    <a:lumMod val="10000"/>
                  </a:schemeClr>
                </a:solidFill>
              </a:rPr>
              <a:t>절차적 </a:t>
            </a:r>
            <a:endParaRPr lang="en-US" altLang="ko-KR" sz="1400" dirty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2">
                    <a:lumMod val="10000"/>
                  </a:schemeClr>
                </a:solidFill>
              </a:rPr>
              <a:t>요건</a:t>
            </a:r>
          </a:p>
        </p:txBody>
      </p:sp>
      <p:grpSp>
        <p:nvGrpSpPr>
          <p:cNvPr id="84" name="그룹 83"/>
          <p:cNvGrpSpPr/>
          <p:nvPr/>
        </p:nvGrpSpPr>
        <p:grpSpPr>
          <a:xfrm>
            <a:off x="5986969" y="2076396"/>
            <a:ext cx="3112200" cy="1065736"/>
            <a:chOff x="7505746" y="1042464"/>
            <a:chExt cx="3746453" cy="3152758"/>
          </a:xfrm>
        </p:grpSpPr>
        <p:sp>
          <p:nvSpPr>
            <p:cNvPr id="80" name="직사각형 79"/>
            <p:cNvSpPr/>
            <p:nvPr/>
          </p:nvSpPr>
          <p:spPr>
            <a:xfrm>
              <a:off x="7505746" y="1042464"/>
              <a:ext cx="3746453" cy="67832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780" marR="17780" algn="just" fontAlgn="base">
                <a:lnSpc>
                  <a:spcPct val="130000"/>
                </a:lnSpc>
              </a:pPr>
              <a:r>
                <a:rPr lang="ko-KR" altLang="en-US" sz="1100" dirty="0">
                  <a:solidFill>
                    <a:schemeClr val="tx2"/>
                  </a:solidFill>
                </a:rPr>
                <a:t>외국인의 권리능력</a:t>
              </a:r>
              <a:r>
                <a:rPr lang="en-US" altLang="ko-KR" sz="1100" dirty="0">
                  <a:solidFill>
                    <a:schemeClr val="tx2"/>
                  </a:solidFill>
                </a:rPr>
                <a:t>(</a:t>
              </a:r>
              <a:r>
                <a:rPr lang="ko-KR" altLang="en-US" sz="1100" dirty="0">
                  <a:solidFill>
                    <a:schemeClr val="tx2"/>
                  </a:solidFill>
                </a:rPr>
                <a:t>法 </a:t>
              </a:r>
              <a:r>
                <a:rPr lang="en-US" altLang="ko-KR" sz="1100" dirty="0">
                  <a:solidFill>
                    <a:schemeClr val="tx2"/>
                  </a:solidFill>
                </a:rPr>
                <a:t>25)</a:t>
              </a:r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7505746" y="1867274"/>
              <a:ext cx="3746453" cy="67832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780" marR="17780" algn="just" fontAlgn="base">
                <a:lnSpc>
                  <a:spcPct val="130000"/>
                </a:lnSpc>
              </a:pPr>
              <a:r>
                <a:rPr lang="ko-KR" altLang="en-US" sz="1100" dirty="0">
                  <a:solidFill>
                    <a:schemeClr val="tx2"/>
                  </a:solidFill>
                </a:rPr>
                <a:t>특허를 받을 수 있는 권리를 가지는 자</a:t>
              </a:r>
              <a:r>
                <a:rPr lang="en-US" altLang="ko-KR" sz="1100" dirty="0">
                  <a:solidFill>
                    <a:schemeClr val="tx2"/>
                  </a:solidFill>
                </a:rPr>
                <a:t>(</a:t>
              </a:r>
              <a:r>
                <a:rPr lang="ko-KR" altLang="en-US" sz="1100" dirty="0">
                  <a:solidFill>
                    <a:schemeClr val="tx2"/>
                  </a:solidFill>
                </a:rPr>
                <a:t>法 </a:t>
              </a:r>
              <a:r>
                <a:rPr lang="en-US" altLang="ko-KR" sz="1100" dirty="0">
                  <a:solidFill>
                    <a:schemeClr val="tx2"/>
                  </a:solidFill>
                </a:rPr>
                <a:t>33</a:t>
              </a:r>
              <a:r>
                <a:rPr lang="ko-KR" altLang="en-US" sz="1100" dirty="0">
                  <a:solidFill>
                    <a:schemeClr val="tx2"/>
                  </a:solidFill>
                </a:rPr>
                <a:t>①본문</a:t>
              </a:r>
              <a:r>
                <a:rPr lang="en-US" altLang="ko-KR" sz="1100" dirty="0">
                  <a:solidFill>
                    <a:schemeClr val="tx2"/>
                  </a:solidFill>
                </a:rPr>
                <a:t>)</a:t>
              </a:r>
            </a:p>
          </p:txBody>
        </p:sp>
        <p:sp>
          <p:nvSpPr>
            <p:cNvPr id="82" name="직사각형 81"/>
            <p:cNvSpPr/>
            <p:nvPr/>
          </p:nvSpPr>
          <p:spPr>
            <a:xfrm>
              <a:off x="7505746" y="2692084"/>
              <a:ext cx="3746453" cy="67832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780" marR="17780" algn="just" fontAlgn="base">
                <a:lnSpc>
                  <a:spcPct val="130000"/>
                </a:lnSpc>
              </a:pPr>
              <a:r>
                <a:rPr lang="ko-KR" altLang="en-US" sz="1100" dirty="0">
                  <a:solidFill>
                    <a:schemeClr val="tx2"/>
                  </a:solidFill>
                </a:rPr>
                <a:t>특허를 받을 수 없는 자</a:t>
              </a:r>
              <a:r>
                <a:rPr lang="en-US" altLang="ko-KR" sz="1100" dirty="0">
                  <a:solidFill>
                    <a:schemeClr val="tx2"/>
                  </a:solidFill>
                </a:rPr>
                <a:t>(</a:t>
              </a:r>
              <a:r>
                <a:rPr lang="ko-KR" altLang="en-US" sz="1100" dirty="0">
                  <a:solidFill>
                    <a:schemeClr val="tx2"/>
                  </a:solidFill>
                </a:rPr>
                <a:t>法 </a:t>
              </a:r>
              <a:r>
                <a:rPr lang="en-US" altLang="ko-KR" sz="1100" dirty="0">
                  <a:solidFill>
                    <a:schemeClr val="tx2"/>
                  </a:solidFill>
                </a:rPr>
                <a:t>33</a:t>
              </a:r>
              <a:r>
                <a:rPr lang="ko-KR" altLang="en-US" sz="1100" dirty="0">
                  <a:solidFill>
                    <a:schemeClr val="tx2"/>
                  </a:solidFill>
                </a:rPr>
                <a:t>①단서</a:t>
              </a:r>
              <a:r>
                <a:rPr lang="en-US" altLang="ko-KR" sz="1100" dirty="0">
                  <a:solidFill>
                    <a:schemeClr val="tx2"/>
                  </a:solidFill>
                </a:rPr>
                <a:t>)</a:t>
              </a:r>
            </a:p>
          </p:txBody>
        </p:sp>
        <p:sp>
          <p:nvSpPr>
            <p:cNvPr id="83" name="직사각형 82"/>
            <p:cNvSpPr/>
            <p:nvPr/>
          </p:nvSpPr>
          <p:spPr>
            <a:xfrm>
              <a:off x="7505746" y="3516894"/>
              <a:ext cx="3746453" cy="67832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780" marR="17780" algn="just" fontAlgn="base">
                <a:lnSpc>
                  <a:spcPct val="130000"/>
                </a:lnSpc>
              </a:pPr>
              <a:r>
                <a:rPr lang="ko-KR" altLang="en-US" sz="1100" dirty="0" err="1">
                  <a:solidFill>
                    <a:schemeClr val="tx2"/>
                  </a:solidFill>
                </a:rPr>
                <a:t>공동출원</a:t>
              </a:r>
              <a:r>
                <a:rPr lang="en-US" altLang="ko-KR" sz="1100" dirty="0">
                  <a:solidFill>
                    <a:schemeClr val="tx2"/>
                  </a:solidFill>
                </a:rPr>
                <a:t>(</a:t>
              </a:r>
              <a:r>
                <a:rPr lang="ko-KR" altLang="en-US" sz="1100" dirty="0">
                  <a:solidFill>
                    <a:schemeClr val="tx2"/>
                  </a:solidFill>
                </a:rPr>
                <a:t>法 </a:t>
              </a:r>
              <a:r>
                <a:rPr lang="en-US" altLang="ko-KR" sz="1100" dirty="0">
                  <a:solidFill>
                    <a:schemeClr val="tx2"/>
                  </a:solidFill>
                </a:rPr>
                <a:t>44)</a:t>
              </a:r>
              <a:endParaRPr lang="ko-KR" altLang="en-US" sz="11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85" name="그룹 84"/>
          <p:cNvGrpSpPr/>
          <p:nvPr/>
        </p:nvGrpSpPr>
        <p:grpSpPr>
          <a:xfrm>
            <a:off x="5986969" y="3323235"/>
            <a:ext cx="3112200" cy="1065736"/>
            <a:chOff x="7505746" y="1042464"/>
            <a:chExt cx="3746453" cy="3152758"/>
          </a:xfrm>
        </p:grpSpPr>
        <p:sp>
          <p:nvSpPr>
            <p:cNvPr id="86" name="직사각형 85"/>
            <p:cNvSpPr/>
            <p:nvPr/>
          </p:nvSpPr>
          <p:spPr>
            <a:xfrm>
              <a:off x="7505746" y="1042464"/>
              <a:ext cx="3746453" cy="67832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780" marR="17780" algn="just" fontAlgn="base">
                <a:lnSpc>
                  <a:spcPct val="130000"/>
                </a:lnSpc>
              </a:pPr>
              <a:r>
                <a:rPr lang="ko-KR" altLang="en-US" sz="1100" dirty="0" err="1">
                  <a:solidFill>
                    <a:srgbClr val="FF0000"/>
                  </a:solidFill>
                </a:rPr>
                <a:t>특허요건</a:t>
              </a:r>
              <a:r>
                <a:rPr lang="en-US" altLang="ko-KR" sz="1100" dirty="0">
                  <a:solidFill>
                    <a:srgbClr val="FF0000"/>
                  </a:solidFill>
                </a:rPr>
                <a:t>(</a:t>
              </a:r>
              <a:r>
                <a:rPr lang="ko-KR" altLang="en-US" sz="1100" dirty="0">
                  <a:solidFill>
                    <a:srgbClr val="FF0000"/>
                  </a:solidFill>
                </a:rPr>
                <a:t>法 </a:t>
              </a:r>
              <a:r>
                <a:rPr lang="en-US" altLang="ko-KR" sz="1100" dirty="0">
                  <a:solidFill>
                    <a:srgbClr val="FF0000"/>
                  </a:solidFill>
                </a:rPr>
                <a:t>29)*</a:t>
              </a:r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7505746" y="1867274"/>
              <a:ext cx="3746453" cy="67832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780" marR="17780" algn="just" fontAlgn="base">
                <a:lnSpc>
                  <a:spcPct val="130000"/>
                </a:lnSpc>
              </a:pPr>
              <a:r>
                <a:rPr lang="ko-KR" altLang="en-US" sz="1100" dirty="0">
                  <a:solidFill>
                    <a:schemeClr val="tx2"/>
                  </a:solidFill>
                </a:rPr>
                <a:t>선출원주의</a:t>
              </a:r>
              <a:r>
                <a:rPr lang="en-US" altLang="ko-KR" sz="1100" dirty="0">
                  <a:solidFill>
                    <a:schemeClr val="tx2"/>
                  </a:solidFill>
                </a:rPr>
                <a:t>(</a:t>
              </a:r>
              <a:r>
                <a:rPr lang="ko-KR" altLang="en-US" sz="1100" dirty="0">
                  <a:solidFill>
                    <a:schemeClr val="tx2"/>
                  </a:solidFill>
                </a:rPr>
                <a:t>法 </a:t>
              </a:r>
              <a:r>
                <a:rPr lang="en-US" altLang="ko-KR" sz="1100" dirty="0">
                  <a:solidFill>
                    <a:schemeClr val="tx2"/>
                  </a:solidFill>
                </a:rPr>
                <a:t>36)</a:t>
              </a:r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7505746" y="2692084"/>
              <a:ext cx="3746453" cy="67832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780" marR="17780" algn="just" fontAlgn="base">
                <a:lnSpc>
                  <a:spcPct val="130000"/>
                </a:lnSpc>
              </a:pPr>
              <a:r>
                <a:rPr lang="ko-KR" altLang="en-US" sz="1100" dirty="0">
                  <a:solidFill>
                    <a:schemeClr val="tx2"/>
                  </a:solidFill>
                </a:rPr>
                <a:t>특허를 받을 수 없는 발명</a:t>
              </a:r>
              <a:r>
                <a:rPr lang="en-US" altLang="ko-KR" sz="1100" dirty="0">
                  <a:solidFill>
                    <a:schemeClr val="tx2"/>
                  </a:solidFill>
                </a:rPr>
                <a:t>(</a:t>
              </a:r>
              <a:r>
                <a:rPr lang="ko-KR" altLang="en-US" sz="1100" dirty="0">
                  <a:solidFill>
                    <a:schemeClr val="tx2"/>
                  </a:solidFill>
                </a:rPr>
                <a:t>法 </a:t>
              </a:r>
              <a:r>
                <a:rPr lang="en-US" altLang="ko-KR" sz="1100" dirty="0">
                  <a:solidFill>
                    <a:schemeClr val="tx2"/>
                  </a:solidFill>
                </a:rPr>
                <a:t>32)</a:t>
              </a:r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7505746" y="3516894"/>
              <a:ext cx="3746453" cy="67832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780" marR="17780" algn="just" fontAlgn="base">
                <a:lnSpc>
                  <a:spcPct val="130000"/>
                </a:lnSpc>
              </a:pPr>
              <a:r>
                <a:rPr lang="ko-KR" altLang="en-US" sz="1100" dirty="0">
                  <a:solidFill>
                    <a:schemeClr val="tx2"/>
                  </a:solidFill>
                </a:rPr>
                <a:t>일반적 발명의 설명 기재</a:t>
              </a:r>
              <a:r>
                <a:rPr lang="en-US" altLang="ko-KR" sz="1100" dirty="0">
                  <a:solidFill>
                    <a:schemeClr val="tx2"/>
                  </a:solidFill>
                </a:rPr>
                <a:t>(</a:t>
              </a:r>
              <a:r>
                <a:rPr lang="ko-KR" altLang="en-US" sz="1100" dirty="0">
                  <a:solidFill>
                    <a:schemeClr val="tx2"/>
                  </a:solidFill>
                </a:rPr>
                <a:t>法 </a:t>
              </a:r>
              <a:r>
                <a:rPr lang="en-US" altLang="ko-KR" sz="1100" dirty="0">
                  <a:solidFill>
                    <a:schemeClr val="tx2"/>
                  </a:solidFill>
                </a:rPr>
                <a:t>42③Ⅰ) </a:t>
              </a:r>
            </a:p>
          </p:txBody>
        </p:sp>
      </p:grpSp>
      <p:sp>
        <p:nvSpPr>
          <p:cNvPr id="92" name="직사각형 91"/>
          <p:cNvSpPr/>
          <p:nvPr/>
        </p:nvSpPr>
        <p:spPr>
          <a:xfrm>
            <a:off x="5986969" y="4440303"/>
            <a:ext cx="3112200" cy="2292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" marR="17780" algn="just" fontAlgn="base">
              <a:lnSpc>
                <a:spcPct val="130000"/>
              </a:lnSpc>
            </a:pPr>
            <a:r>
              <a:rPr lang="ko-KR" altLang="en-US" sz="1100" dirty="0" err="1">
                <a:solidFill>
                  <a:schemeClr val="tx2"/>
                </a:solidFill>
              </a:rPr>
              <a:t>청구범위</a:t>
            </a:r>
            <a:r>
              <a:rPr lang="ko-KR" altLang="en-US" sz="1100" dirty="0">
                <a:solidFill>
                  <a:schemeClr val="tx2"/>
                </a:solidFill>
              </a:rPr>
              <a:t> 기재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42④)</a:t>
            </a:r>
          </a:p>
        </p:txBody>
      </p:sp>
      <p:sp>
        <p:nvSpPr>
          <p:cNvPr id="93" name="직사각형 92"/>
          <p:cNvSpPr/>
          <p:nvPr/>
        </p:nvSpPr>
        <p:spPr>
          <a:xfrm>
            <a:off x="5986969" y="4719116"/>
            <a:ext cx="3112200" cy="2292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" marR="17780" algn="just" fontAlgn="base">
              <a:lnSpc>
                <a:spcPct val="130000"/>
              </a:lnSpc>
            </a:pPr>
            <a:r>
              <a:rPr lang="ko-KR" altLang="en-US" sz="1100" dirty="0">
                <a:solidFill>
                  <a:schemeClr val="tx2"/>
                </a:solidFill>
              </a:rPr>
              <a:t>신규사항추가금지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47</a:t>
            </a:r>
            <a:r>
              <a:rPr lang="ko-KR" altLang="en-US" sz="1100" dirty="0">
                <a:solidFill>
                  <a:schemeClr val="tx2"/>
                </a:solidFill>
              </a:rPr>
              <a:t>②</a:t>
            </a:r>
            <a:r>
              <a:rPr lang="en-US" altLang="ko-KR" sz="1100" dirty="0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94" name="직사각형 93"/>
          <p:cNvSpPr/>
          <p:nvPr/>
        </p:nvSpPr>
        <p:spPr>
          <a:xfrm>
            <a:off x="5986969" y="4997929"/>
            <a:ext cx="3112200" cy="2292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" marR="17780" algn="just" fontAlgn="base">
              <a:lnSpc>
                <a:spcPct val="130000"/>
              </a:lnSpc>
            </a:pPr>
            <a:r>
              <a:rPr lang="ko-KR" altLang="en-US" sz="1100" dirty="0" err="1">
                <a:solidFill>
                  <a:schemeClr val="tx2"/>
                </a:solidFill>
              </a:rPr>
              <a:t>분할출원의</a:t>
            </a:r>
            <a:r>
              <a:rPr lang="ko-KR" altLang="en-US" sz="1100" dirty="0">
                <a:solidFill>
                  <a:schemeClr val="tx2"/>
                </a:solidFill>
              </a:rPr>
              <a:t> 범위를 벗어난 경우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52①)</a:t>
            </a:r>
          </a:p>
        </p:txBody>
      </p:sp>
      <p:sp>
        <p:nvSpPr>
          <p:cNvPr id="95" name="직사각형 94"/>
          <p:cNvSpPr/>
          <p:nvPr/>
        </p:nvSpPr>
        <p:spPr>
          <a:xfrm>
            <a:off x="5986969" y="5276742"/>
            <a:ext cx="3112200" cy="2292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" marR="17780" algn="just" fontAlgn="base">
              <a:lnSpc>
                <a:spcPct val="130000"/>
              </a:lnSpc>
            </a:pPr>
            <a:r>
              <a:rPr lang="ko-KR" altLang="en-US" sz="1100" dirty="0">
                <a:solidFill>
                  <a:srgbClr val="FF0000"/>
                </a:solidFill>
              </a:rPr>
              <a:t>분리출원의 범위를 벗어난 경우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法 </a:t>
            </a:r>
            <a:r>
              <a:rPr lang="en-US" altLang="ko-KR" sz="1100" dirty="0">
                <a:solidFill>
                  <a:srgbClr val="FF0000"/>
                </a:solidFill>
              </a:rPr>
              <a:t>52</a:t>
            </a:r>
            <a:r>
              <a:rPr lang="ko-KR" altLang="en-US" sz="1100" dirty="0">
                <a:solidFill>
                  <a:srgbClr val="FF0000"/>
                </a:solidFill>
              </a:rPr>
              <a:t>의</a:t>
            </a:r>
            <a:r>
              <a:rPr lang="en-US" altLang="ko-KR" sz="1100" dirty="0">
                <a:solidFill>
                  <a:srgbClr val="FF0000"/>
                </a:solidFill>
              </a:rPr>
              <a:t>2①)</a:t>
            </a:r>
          </a:p>
        </p:txBody>
      </p:sp>
      <p:sp>
        <p:nvSpPr>
          <p:cNvPr id="97" name="직사각형 96"/>
          <p:cNvSpPr/>
          <p:nvPr/>
        </p:nvSpPr>
        <p:spPr>
          <a:xfrm>
            <a:off x="5986969" y="5982622"/>
            <a:ext cx="3112200" cy="2292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" marR="17780" algn="just" fontAlgn="base">
              <a:lnSpc>
                <a:spcPct val="130000"/>
              </a:lnSpc>
            </a:pPr>
            <a:r>
              <a:rPr lang="ko-KR" altLang="en-US" sz="1100" dirty="0">
                <a:solidFill>
                  <a:schemeClr val="tx2"/>
                </a:solidFill>
              </a:rPr>
              <a:t>발명의 설명 중 </a:t>
            </a:r>
            <a:r>
              <a:rPr lang="ko-KR" altLang="en-US" sz="1100" dirty="0" err="1">
                <a:solidFill>
                  <a:schemeClr val="tx2"/>
                </a:solidFill>
              </a:rPr>
              <a:t>배경기술</a:t>
            </a:r>
            <a:r>
              <a:rPr lang="ko-KR" altLang="en-US" sz="1100" dirty="0">
                <a:solidFill>
                  <a:schemeClr val="tx2"/>
                </a:solidFill>
              </a:rPr>
              <a:t> 기재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42③Ⅱ)</a:t>
            </a:r>
          </a:p>
        </p:txBody>
      </p:sp>
      <p:sp>
        <p:nvSpPr>
          <p:cNvPr id="98" name="직사각형 97"/>
          <p:cNvSpPr/>
          <p:nvPr/>
        </p:nvSpPr>
        <p:spPr>
          <a:xfrm>
            <a:off x="5986969" y="6261435"/>
            <a:ext cx="3112200" cy="2292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" marR="17780" algn="just" fontAlgn="base">
              <a:lnSpc>
                <a:spcPct val="130000"/>
              </a:lnSpc>
            </a:pPr>
            <a:r>
              <a:rPr lang="ko-KR" altLang="en-US" sz="1100" dirty="0" err="1">
                <a:solidFill>
                  <a:schemeClr val="tx2"/>
                </a:solidFill>
              </a:rPr>
              <a:t>다항제</a:t>
            </a:r>
            <a:r>
              <a:rPr lang="ko-KR" altLang="en-US" sz="1100" dirty="0">
                <a:solidFill>
                  <a:schemeClr val="tx2"/>
                </a:solidFill>
              </a:rPr>
              <a:t> </a:t>
            </a:r>
            <a:r>
              <a:rPr lang="ko-KR" altLang="en-US" sz="1100" dirty="0" err="1">
                <a:solidFill>
                  <a:schemeClr val="tx2"/>
                </a:solidFill>
              </a:rPr>
              <a:t>기재방법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42⑧)</a:t>
            </a:r>
          </a:p>
        </p:txBody>
      </p:sp>
      <p:sp>
        <p:nvSpPr>
          <p:cNvPr id="99" name="직사각형 98"/>
          <p:cNvSpPr/>
          <p:nvPr/>
        </p:nvSpPr>
        <p:spPr>
          <a:xfrm>
            <a:off x="5986969" y="6540248"/>
            <a:ext cx="3112200" cy="2292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" marR="17780" algn="just" fontAlgn="base">
              <a:lnSpc>
                <a:spcPct val="130000"/>
              </a:lnSpc>
            </a:pPr>
            <a:r>
              <a:rPr lang="ko-KR" altLang="en-US" sz="1100" dirty="0">
                <a:solidFill>
                  <a:schemeClr val="tx2"/>
                </a:solidFill>
              </a:rPr>
              <a:t>하나의 특허출원의 범위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45)</a:t>
            </a:r>
          </a:p>
        </p:txBody>
      </p:sp>
      <p:cxnSp>
        <p:nvCxnSpPr>
          <p:cNvPr id="102" name="꺾인 연결선 101"/>
          <p:cNvCxnSpPr>
            <a:stCxn id="75" idx="3"/>
            <a:endCxn id="80" idx="1"/>
          </p:cNvCxnSpPr>
          <p:nvPr/>
        </p:nvCxnSpPr>
        <p:spPr>
          <a:xfrm flipV="1">
            <a:off x="5701829" y="2191045"/>
            <a:ext cx="285140" cy="421423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꺾인 연결선 103"/>
          <p:cNvCxnSpPr>
            <a:stCxn id="75" idx="3"/>
            <a:endCxn id="83" idx="1"/>
          </p:cNvCxnSpPr>
          <p:nvPr/>
        </p:nvCxnSpPr>
        <p:spPr>
          <a:xfrm>
            <a:off x="5701829" y="2612468"/>
            <a:ext cx="285140" cy="415016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105"/>
          <p:cNvCxnSpPr>
            <a:stCxn id="75" idx="3"/>
            <a:endCxn id="81" idx="1"/>
          </p:cNvCxnSpPr>
          <p:nvPr/>
        </p:nvCxnSpPr>
        <p:spPr>
          <a:xfrm flipV="1">
            <a:off x="5701829" y="2469858"/>
            <a:ext cx="285140" cy="14261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꺾인 연결선 107"/>
          <p:cNvCxnSpPr>
            <a:stCxn id="75" idx="3"/>
            <a:endCxn id="82" idx="1"/>
          </p:cNvCxnSpPr>
          <p:nvPr/>
        </p:nvCxnSpPr>
        <p:spPr>
          <a:xfrm>
            <a:off x="5701829" y="2612468"/>
            <a:ext cx="285140" cy="136203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/>
          <p:cNvCxnSpPr>
            <a:cxnSpLocks/>
            <a:stCxn id="67" idx="3"/>
            <a:endCxn id="75" idx="1"/>
          </p:cNvCxnSpPr>
          <p:nvPr/>
        </p:nvCxnSpPr>
        <p:spPr>
          <a:xfrm flipV="1">
            <a:off x="4639776" y="2612468"/>
            <a:ext cx="326467" cy="306146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/>
          <p:cNvCxnSpPr>
            <a:cxnSpLocks/>
            <a:stCxn id="67" idx="3"/>
            <a:endCxn id="79" idx="1"/>
          </p:cNvCxnSpPr>
          <p:nvPr/>
        </p:nvCxnSpPr>
        <p:spPr>
          <a:xfrm>
            <a:off x="4639776" y="5673928"/>
            <a:ext cx="326467" cy="646725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꺾인 연결선 114"/>
          <p:cNvCxnSpPr>
            <a:cxnSpLocks/>
            <a:stCxn id="67" idx="3"/>
            <a:endCxn id="77" idx="1"/>
          </p:cNvCxnSpPr>
          <p:nvPr/>
        </p:nvCxnSpPr>
        <p:spPr>
          <a:xfrm flipV="1">
            <a:off x="4639776" y="3767633"/>
            <a:ext cx="326467" cy="190629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/>
          <p:cNvCxnSpPr>
            <a:cxnSpLocks/>
            <a:stCxn id="67" idx="3"/>
            <a:endCxn id="78" idx="1"/>
          </p:cNvCxnSpPr>
          <p:nvPr/>
        </p:nvCxnSpPr>
        <p:spPr>
          <a:xfrm flipV="1">
            <a:off x="4639776" y="4945531"/>
            <a:ext cx="326467" cy="728397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꺾인 연결선 118"/>
          <p:cNvCxnSpPr>
            <a:stCxn id="79" idx="3"/>
            <a:endCxn id="97" idx="1"/>
          </p:cNvCxnSpPr>
          <p:nvPr/>
        </p:nvCxnSpPr>
        <p:spPr>
          <a:xfrm flipV="1">
            <a:off x="5701829" y="6097271"/>
            <a:ext cx="285140" cy="22338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꺾인 연결선 120"/>
          <p:cNvCxnSpPr>
            <a:stCxn id="79" idx="3"/>
            <a:endCxn id="99" idx="1"/>
          </p:cNvCxnSpPr>
          <p:nvPr/>
        </p:nvCxnSpPr>
        <p:spPr>
          <a:xfrm>
            <a:off x="5701829" y="6320653"/>
            <a:ext cx="285140" cy="334244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꺾인 연결선 122"/>
          <p:cNvCxnSpPr>
            <a:stCxn id="79" idx="3"/>
            <a:endCxn id="98" idx="1"/>
          </p:cNvCxnSpPr>
          <p:nvPr/>
        </p:nvCxnSpPr>
        <p:spPr>
          <a:xfrm>
            <a:off x="5701829" y="6320653"/>
            <a:ext cx="285140" cy="5543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꺾인 연결선 124"/>
          <p:cNvCxnSpPr>
            <a:stCxn id="77" idx="3"/>
            <a:endCxn id="86" idx="1"/>
          </p:cNvCxnSpPr>
          <p:nvPr/>
        </p:nvCxnSpPr>
        <p:spPr>
          <a:xfrm flipV="1">
            <a:off x="5701829" y="3437884"/>
            <a:ext cx="285140" cy="32974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꺾인 연결선 126"/>
          <p:cNvCxnSpPr>
            <a:stCxn id="77" idx="3"/>
            <a:endCxn id="95" idx="1"/>
          </p:cNvCxnSpPr>
          <p:nvPr/>
        </p:nvCxnSpPr>
        <p:spPr>
          <a:xfrm>
            <a:off x="5701829" y="3767633"/>
            <a:ext cx="285140" cy="1623758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꺾인 연결선 128"/>
          <p:cNvCxnSpPr>
            <a:stCxn id="77" idx="3"/>
            <a:endCxn id="87" idx="1"/>
          </p:cNvCxnSpPr>
          <p:nvPr/>
        </p:nvCxnSpPr>
        <p:spPr>
          <a:xfrm flipV="1">
            <a:off x="5701829" y="3716697"/>
            <a:ext cx="285140" cy="50936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꺾인 연결선 130"/>
          <p:cNvCxnSpPr>
            <a:stCxn id="77" idx="3"/>
            <a:endCxn id="94" idx="1"/>
          </p:cNvCxnSpPr>
          <p:nvPr/>
        </p:nvCxnSpPr>
        <p:spPr>
          <a:xfrm>
            <a:off x="5701829" y="3767633"/>
            <a:ext cx="285140" cy="134494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꺾인 연결선 132"/>
          <p:cNvCxnSpPr>
            <a:stCxn id="77" idx="3"/>
            <a:endCxn id="93" idx="1"/>
          </p:cNvCxnSpPr>
          <p:nvPr/>
        </p:nvCxnSpPr>
        <p:spPr>
          <a:xfrm>
            <a:off x="5701829" y="3767633"/>
            <a:ext cx="285140" cy="106613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꺾인 연결선 134"/>
          <p:cNvCxnSpPr>
            <a:stCxn id="77" idx="3"/>
            <a:endCxn id="88" idx="1"/>
          </p:cNvCxnSpPr>
          <p:nvPr/>
        </p:nvCxnSpPr>
        <p:spPr>
          <a:xfrm>
            <a:off x="5701829" y="3767633"/>
            <a:ext cx="285140" cy="227877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꺾인 연결선 136"/>
          <p:cNvCxnSpPr>
            <a:stCxn id="77" idx="3"/>
            <a:endCxn id="89" idx="1"/>
          </p:cNvCxnSpPr>
          <p:nvPr/>
        </p:nvCxnSpPr>
        <p:spPr>
          <a:xfrm>
            <a:off x="5701829" y="3767633"/>
            <a:ext cx="285140" cy="50669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꺾인 연결선 138"/>
          <p:cNvCxnSpPr>
            <a:stCxn id="77" idx="3"/>
            <a:endCxn id="92" idx="1"/>
          </p:cNvCxnSpPr>
          <p:nvPr/>
        </p:nvCxnSpPr>
        <p:spPr>
          <a:xfrm>
            <a:off x="5701829" y="3767633"/>
            <a:ext cx="285140" cy="78731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/>
          <p:cNvSpPr/>
          <p:nvPr/>
        </p:nvSpPr>
        <p:spPr>
          <a:xfrm>
            <a:off x="9312882" y="2940875"/>
            <a:ext cx="2493635" cy="2292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" marR="17780" algn="just" fontAlgn="base">
              <a:lnSpc>
                <a:spcPct val="130000"/>
              </a:lnSpc>
            </a:pPr>
            <a:r>
              <a:rPr lang="ko-KR" altLang="en-US" sz="1100" dirty="0">
                <a:solidFill>
                  <a:schemeClr val="tx2"/>
                </a:solidFill>
              </a:rPr>
              <a:t>산업상 이용가능성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29</a:t>
            </a:r>
            <a:r>
              <a:rPr lang="ko-KR" altLang="en-US" sz="1100" dirty="0">
                <a:solidFill>
                  <a:schemeClr val="tx2"/>
                </a:solidFill>
              </a:rPr>
              <a:t>①본문</a:t>
            </a:r>
            <a:r>
              <a:rPr lang="en-US" altLang="ko-KR" sz="1100" dirty="0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70" name="직사각형 69"/>
          <p:cNvSpPr/>
          <p:nvPr/>
        </p:nvSpPr>
        <p:spPr>
          <a:xfrm>
            <a:off x="9312882" y="3219688"/>
            <a:ext cx="2493635" cy="2292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" marR="17780" algn="just" fontAlgn="base">
              <a:lnSpc>
                <a:spcPct val="130000"/>
              </a:lnSpc>
            </a:pPr>
            <a:r>
              <a:rPr lang="ko-KR" altLang="en-US" sz="1100" dirty="0">
                <a:solidFill>
                  <a:schemeClr val="tx2"/>
                </a:solidFill>
              </a:rPr>
              <a:t>신규성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29</a:t>
            </a:r>
            <a:r>
              <a:rPr lang="ko-KR" altLang="en-US" sz="1100" dirty="0">
                <a:solidFill>
                  <a:schemeClr val="tx2"/>
                </a:solidFill>
              </a:rPr>
              <a:t>①각호</a:t>
            </a:r>
            <a:r>
              <a:rPr lang="en-US" altLang="ko-KR" sz="1100" dirty="0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71" name="직사각형 70"/>
          <p:cNvSpPr/>
          <p:nvPr/>
        </p:nvSpPr>
        <p:spPr>
          <a:xfrm>
            <a:off x="9312882" y="3498501"/>
            <a:ext cx="2493635" cy="2292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" marR="17780" algn="just" fontAlgn="base">
              <a:lnSpc>
                <a:spcPct val="130000"/>
              </a:lnSpc>
            </a:pPr>
            <a:r>
              <a:rPr lang="ko-KR" altLang="en-US" sz="1100" dirty="0">
                <a:solidFill>
                  <a:schemeClr val="tx2"/>
                </a:solidFill>
              </a:rPr>
              <a:t>진보성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29</a:t>
            </a:r>
            <a:r>
              <a:rPr lang="ko-KR" altLang="en-US" sz="1100" dirty="0">
                <a:solidFill>
                  <a:schemeClr val="tx2"/>
                </a:solidFill>
              </a:rPr>
              <a:t>②</a:t>
            </a:r>
            <a:r>
              <a:rPr lang="en-US" altLang="ko-KR" sz="1100" dirty="0">
                <a:solidFill>
                  <a:schemeClr val="tx2"/>
                </a:solidFill>
              </a:rPr>
              <a:t>) </a:t>
            </a:r>
          </a:p>
        </p:txBody>
      </p:sp>
      <p:sp>
        <p:nvSpPr>
          <p:cNvPr id="73" name="직사각형 72"/>
          <p:cNvSpPr/>
          <p:nvPr/>
        </p:nvSpPr>
        <p:spPr>
          <a:xfrm>
            <a:off x="9312882" y="3777314"/>
            <a:ext cx="2493635" cy="2292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" marR="17780" algn="just" fontAlgn="base">
              <a:lnSpc>
                <a:spcPct val="130000"/>
              </a:lnSpc>
            </a:pPr>
            <a:r>
              <a:rPr lang="ko-KR" altLang="en-US" sz="1100" dirty="0">
                <a:solidFill>
                  <a:schemeClr val="tx2"/>
                </a:solidFill>
              </a:rPr>
              <a:t>확대된 </a:t>
            </a:r>
            <a:r>
              <a:rPr lang="ko-KR" altLang="en-US" sz="1100" dirty="0" err="1">
                <a:solidFill>
                  <a:schemeClr val="tx2"/>
                </a:solidFill>
              </a:rPr>
              <a:t>선출원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29</a:t>
            </a:r>
            <a:r>
              <a:rPr lang="ko-KR" altLang="en-US" sz="1100" dirty="0">
                <a:solidFill>
                  <a:schemeClr val="tx2"/>
                </a:solidFill>
              </a:rPr>
              <a:t>③④⑤⑥⑦</a:t>
            </a:r>
            <a:r>
              <a:rPr lang="en-US" altLang="ko-KR" sz="1100" dirty="0">
                <a:solidFill>
                  <a:schemeClr val="tx2"/>
                </a:solidFill>
              </a:rPr>
              <a:t>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cxnSp>
        <p:nvCxnSpPr>
          <p:cNvPr id="10" name="꺾인 연결선 9"/>
          <p:cNvCxnSpPr>
            <a:stCxn id="86" idx="3"/>
            <a:endCxn id="69" idx="1"/>
          </p:cNvCxnSpPr>
          <p:nvPr/>
        </p:nvCxnSpPr>
        <p:spPr>
          <a:xfrm flipV="1">
            <a:off x="9099169" y="3055524"/>
            <a:ext cx="213713" cy="38236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꺾인 연결선 12"/>
          <p:cNvCxnSpPr>
            <a:stCxn id="86" idx="3"/>
            <a:endCxn id="70" idx="1"/>
          </p:cNvCxnSpPr>
          <p:nvPr/>
        </p:nvCxnSpPr>
        <p:spPr>
          <a:xfrm flipV="1">
            <a:off x="9099169" y="3334337"/>
            <a:ext cx="213713" cy="103547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꺾인 연결선 14"/>
          <p:cNvCxnSpPr>
            <a:stCxn id="86" idx="3"/>
            <a:endCxn id="71" idx="1"/>
          </p:cNvCxnSpPr>
          <p:nvPr/>
        </p:nvCxnSpPr>
        <p:spPr>
          <a:xfrm>
            <a:off x="9099169" y="3437884"/>
            <a:ext cx="213713" cy="175266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꺾인 연결선 16"/>
          <p:cNvCxnSpPr>
            <a:stCxn id="86" idx="3"/>
            <a:endCxn id="73" idx="1"/>
          </p:cNvCxnSpPr>
          <p:nvPr/>
        </p:nvCxnSpPr>
        <p:spPr>
          <a:xfrm>
            <a:off x="9099169" y="3437884"/>
            <a:ext cx="213713" cy="45407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7875" y="986046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특허법상 협의의 특허요건은 제</a:t>
            </a:r>
            <a:r>
              <a:rPr lang="en-US" altLang="ko-KR" sz="1400" dirty="0">
                <a:solidFill>
                  <a:schemeClr val="tx2"/>
                </a:solidFill>
              </a:rPr>
              <a:t>29</a:t>
            </a:r>
            <a:r>
              <a:rPr lang="ko-KR" altLang="en-US" sz="1400" dirty="0">
                <a:solidFill>
                  <a:schemeClr val="tx2"/>
                </a:solidFill>
              </a:rPr>
              <a:t>조에서 규정하고 있는 산업상 이용가능성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신규성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진보성 및 확대된 선출원을 의미하고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광의의 특허요건은 제</a:t>
            </a:r>
            <a:r>
              <a:rPr lang="en-US" altLang="ko-KR" sz="1400" dirty="0">
                <a:solidFill>
                  <a:schemeClr val="tx2"/>
                </a:solidFill>
              </a:rPr>
              <a:t>62</a:t>
            </a:r>
            <a:r>
              <a:rPr lang="ko-KR" altLang="en-US" sz="1400" dirty="0">
                <a:solidFill>
                  <a:schemeClr val="tx2"/>
                </a:solidFill>
              </a:rPr>
              <a:t>조에서 규정하고 있는 </a:t>
            </a:r>
            <a:r>
              <a:rPr lang="ko-KR" altLang="en-US" sz="1400" dirty="0" err="1">
                <a:solidFill>
                  <a:schemeClr val="tx2"/>
                </a:solidFill>
              </a:rPr>
              <a:t>거절이유에</a:t>
            </a:r>
            <a:r>
              <a:rPr lang="ko-KR" altLang="en-US" sz="1400" dirty="0">
                <a:solidFill>
                  <a:schemeClr val="tx2"/>
                </a:solidFill>
              </a:rPr>
              <a:t> 해당하지 아니한 것을 의미하는데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일반적으로 </a:t>
            </a:r>
            <a:r>
              <a:rPr lang="ko-KR" altLang="en-US" sz="1400" dirty="0" err="1">
                <a:highlight>
                  <a:srgbClr val="FFFF00"/>
                </a:highlight>
              </a:rPr>
              <a:t>특허요건이라</a:t>
            </a:r>
            <a:r>
              <a:rPr lang="ko-KR" altLang="en-US" sz="1400" dirty="0">
                <a:highlight>
                  <a:srgbClr val="FFFF00"/>
                </a:highlight>
              </a:rPr>
              <a:t> 함은 후자를 지칭</a:t>
            </a:r>
            <a:r>
              <a:rPr lang="ko-KR" altLang="en-US" sz="1400" dirty="0">
                <a:solidFill>
                  <a:schemeClr val="tx2"/>
                </a:solidFill>
              </a:rPr>
              <a:t>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</p:txBody>
      </p:sp>
      <p:cxnSp>
        <p:nvCxnSpPr>
          <p:cNvPr id="96" name="직선 연결선 95"/>
          <p:cNvCxnSpPr/>
          <p:nvPr/>
        </p:nvCxnSpPr>
        <p:spPr>
          <a:xfrm>
            <a:off x="0" y="151703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53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0E71461-B905-09CE-6BED-7A1F5AD0CC99}"/>
              </a:ext>
            </a:extLst>
          </p:cNvPr>
          <p:cNvSpPr/>
          <p:nvPr/>
        </p:nvSpPr>
        <p:spPr>
          <a:xfrm>
            <a:off x="5986969" y="5565257"/>
            <a:ext cx="3112200" cy="2292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" marR="17780" algn="just" fontAlgn="base">
              <a:lnSpc>
                <a:spcPct val="130000"/>
              </a:lnSpc>
            </a:pPr>
            <a:r>
              <a:rPr lang="ko-KR" altLang="en-US" sz="1100" dirty="0" err="1">
                <a:solidFill>
                  <a:schemeClr val="tx2"/>
                </a:solidFill>
              </a:rPr>
              <a:t>변경출원의</a:t>
            </a:r>
            <a:r>
              <a:rPr lang="ko-KR" altLang="en-US" sz="1100" dirty="0">
                <a:solidFill>
                  <a:schemeClr val="tx2"/>
                </a:solidFill>
              </a:rPr>
              <a:t> 범위를 벗어난 경우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53①)</a:t>
            </a:r>
          </a:p>
        </p:txBody>
      </p:sp>
      <p:cxnSp>
        <p:nvCxnSpPr>
          <p:cNvPr id="7" name="꺾인 연결선 126">
            <a:extLst>
              <a:ext uri="{FF2B5EF4-FFF2-40B4-BE49-F238E27FC236}">
                <a16:creationId xmlns:a16="http://schemas.microsoft.com/office/drawing/2014/main" id="{8251359D-52BA-6A12-21AD-C2E0C41C527A}"/>
              </a:ext>
            </a:extLst>
          </p:cNvPr>
          <p:cNvCxnSpPr>
            <a:cxnSpLocks/>
            <a:stCxn id="77" idx="3"/>
            <a:endCxn id="6" idx="1"/>
          </p:cNvCxnSpPr>
          <p:nvPr/>
        </p:nvCxnSpPr>
        <p:spPr>
          <a:xfrm>
            <a:off x="5701829" y="3767633"/>
            <a:ext cx="285140" cy="1912273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1921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/>
          <p:cNvSpPr txBox="1"/>
          <p:nvPr/>
        </p:nvSpPr>
        <p:spPr>
          <a:xfrm>
            <a:off x="1657610" y="1031403"/>
            <a:ext cx="4707334" cy="206399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ko-KR" altLang="en-US" sz="2800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896595" y="4038068"/>
            <a:ext cx="906753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항본문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기술적 사상 </a:t>
            </a:r>
            <a:r>
              <a:rPr lang="en-US" altLang="ko-KR" dirty="0"/>
              <a:t>vs </a:t>
            </a:r>
            <a:r>
              <a:rPr lang="ko-KR" altLang="en-US" dirty="0"/>
              <a:t>이용가능성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54</a:t>
            </a:fld>
            <a:endParaRPr lang="ko-KR" altLang="en-US"/>
          </a:p>
        </p:txBody>
      </p:sp>
      <p:cxnSp>
        <p:nvCxnSpPr>
          <p:cNvPr id="46" name="직선 연결선 45"/>
          <p:cNvCxnSpPr/>
          <p:nvPr/>
        </p:nvCxnSpPr>
        <p:spPr>
          <a:xfrm>
            <a:off x="0" y="323826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2227129" y="3821619"/>
            <a:ext cx="1143434" cy="432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사상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착상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9" name="직사각형 8"/>
          <p:cNvSpPr/>
          <p:nvPr/>
        </p:nvSpPr>
        <p:spPr>
          <a:xfrm>
            <a:off x="4471731" y="3821619"/>
            <a:ext cx="1143434" cy="43289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기술적 사상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6624255" y="3821619"/>
            <a:ext cx="1143434" cy="43289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기술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구현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5" name="직사각형 14"/>
          <p:cNvSpPr/>
          <p:nvPr/>
        </p:nvSpPr>
        <p:spPr>
          <a:xfrm>
            <a:off x="10116315" y="3821619"/>
            <a:ext cx="1563496" cy="4328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2">
                    <a:lumMod val="50000"/>
                  </a:schemeClr>
                </a:solidFill>
              </a:rPr>
              <a:t>발명의 </a:t>
            </a:r>
            <a:r>
              <a:rPr lang="ko-KR" altLang="en-US" sz="1600" dirty="0" err="1">
                <a:solidFill>
                  <a:schemeClr val="tx2">
                    <a:lumMod val="50000"/>
                  </a:schemeClr>
                </a:solidFill>
              </a:rPr>
              <a:t>완성과정</a:t>
            </a:r>
            <a:endParaRPr lang="ko-KR" alt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6" name="타원 5"/>
          <p:cNvSpPr/>
          <p:nvPr/>
        </p:nvSpPr>
        <p:spPr>
          <a:xfrm>
            <a:off x="718840" y="3439283"/>
            <a:ext cx="848413" cy="47134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2">
                    <a:lumMod val="10000"/>
                  </a:schemeClr>
                </a:solidFill>
              </a:rPr>
              <a:t>추상적</a:t>
            </a:r>
          </a:p>
        </p:txBody>
      </p:sp>
      <p:sp>
        <p:nvSpPr>
          <p:cNvPr id="19" name="타원 18"/>
          <p:cNvSpPr/>
          <p:nvPr/>
        </p:nvSpPr>
        <p:spPr>
          <a:xfrm>
            <a:off x="8974738" y="3439283"/>
            <a:ext cx="848413" cy="47134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2">
                    <a:lumMod val="10000"/>
                  </a:schemeClr>
                </a:solidFill>
              </a:rPr>
              <a:t>구체적</a:t>
            </a:r>
          </a:p>
        </p:txBody>
      </p:sp>
      <p:cxnSp>
        <p:nvCxnSpPr>
          <p:cNvPr id="20" name="직선 연결선 19"/>
          <p:cNvCxnSpPr/>
          <p:nvPr/>
        </p:nvCxnSpPr>
        <p:spPr>
          <a:xfrm flipH="1">
            <a:off x="3956837" y="4389512"/>
            <a:ext cx="1" cy="5122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3633671" y="3714902"/>
            <a:ext cx="646331" cy="64633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ko-KR" altLang="en-US" sz="3600" dirty="0">
                <a:solidFill>
                  <a:schemeClr val="tx2"/>
                </a:solidFill>
              </a:rPr>
              <a:t>❶</a:t>
            </a:r>
            <a:endParaRPr lang="ko-KR" altLang="en-US" sz="3600" dirty="0"/>
          </a:p>
        </p:txBody>
      </p:sp>
      <p:sp>
        <p:nvSpPr>
          <p:cNvPr id="26" name="TextBox 25"/>
          <p:cNvSpPr txBox="1"/>
          <p:nvPr/>
        </p:nvSpPr>
        <p:spPr>
          <a:xfrm>
            <a:off x="3352684" y="4766885"/>
            <a:ext cx="1241045" cy="53860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특허출원</a:t>
            </a:r>
            <a:endParaRPr lang="en-US" altLang="ko-KR" dirty="0"/>
          </a:p>
          <a:p>
            <a:pPr algn="ctr"/>
            <a:r>
              <a:rPr lang="en-US" altLang="ko-KR" sz="1050" dirty="0"/>
              <a:t>(</a:t>
            </a:r>
            <a:r>
              <a:rPr lang="ko-KR" altLang="en-US" sz="1050" dirty="0"/>
              <a:t>수지상 세포 사건</a:t>
            </a:r>
            <a:r>
              <a:rPr lang="en-US" altLang="ko-KR" sz="1050" dirty="0"/>
              <a:t>)</a:t>
            </a:r>
            <a:endParaRPr lang="ko-KR" altLang="en-US" sz="1050" dirty="0"/>
          </a:p>
        </p:txBody>
      </p:sp>
      <p:cxnSp>
        <p:nvCxnSpPr>
          <p:cNvPr id="29" name="직선 연결선 28"/>
          <p:cNvCxnSpPr/>
          <p:nvPr/>
        </p:nvCxnSpPr>
        <p:spPr>
          <a:xfrm flipH="1">
            <a:off x="6151985" y="4389512"/>
            <a:ext cx="1" cy="5122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5828819" y="3714902"/>
            <a:ext cx="646331" cy="64633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sz="3600" dirty="0">
                <a:solidFill>
                  <a:schemeClr val="tx2"/>
                </a:solidFill>
              </a:rPr>
              <a:t>❷</a:t>
            </a:r>
            <a:endParaRPr lang="ko-KR" altLang="en-US" sz="3600" dirty="0"/>
          </a:p>
        </p:txBody>
      </p:sp>
      <p:sp>
        <p:nvSpPr>
          <p:cNvPr id="31" name="TextBox 30"/>
          <p:cNvSpPr txBox="1"/>
          <p:nvPr/>
        </p:nvSpPr>
        <p:spPr>
          <a:xfrm>
            <a:off x="5648652" y="4766885"/>
            <a:ext cx="101822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dirty="0"/>
              <a:t>특허출원</a:t>
            </a:r>
          </a:p>
        </p:txBody>
      </p:sp>
      <p:cxnSp>
        <p:nvCxnSpPr>
          <p:cNvPr id="32" name="직선 연결선 31"/>
          <p:cNvCxnSpPr/>
          <p:nvPr/>
        </p:nvCxnSpPr>
        <p:spPr>
          <a:xfrm flipH="1">
            <a:off x="8328737" y="4389512"/>
            <a:ext cx="1" cy="5122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/>
          <p:cNvSpPr/>
          <p:nvPr/>
        </p:nvSpPr>
        <p:spPr>
          <a:xfrm>
            <a:off x="8005571" y="3714902"/>
            <a:ext cx="646331" cy="64633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ko-KR" altLang="en-US" sz="3600" dirty="0">
                <a:solidFill>
                  <a:schemeClr val="tx2"/>
                </a:solidFill>
              </a:rPr>
              <a:t>❸</a:t>
            </a:r>
            <a:endParaRPr lang="ko-KR" altLang="en-US" sz="3600" dirty="0"/>
          </a:p>
        </p:txBody>
      </p:sp>
      <p:sp>
        <p:nvSpPr>
          <p:cNvPr id="34" name="TextBox 33"/>
          <p:cNvSpPr txBox="1"/>
          <p:nvPr/>
        </p:nvSpPr>
        <p:spPr>
          <a:xfrm>
            <a:off x="7825404" y="4766885"/>
            <a:ext cx="101822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dirty="0"/>
              <a:t>특허출원</a:t>
            </a:r>
          </a:p>
        </p:txBody>
      </p:sp>
      <p:sp>
        <p:nvSpPr>
          <p:cNvPr id="35" name="직사각형 34"/>
          <p:cNvSpPr/>
          <p:nvPr/>
        </p:nvSpPr>
        <p:spPr bwMode="auto">
          <a:xfrm>
            <a:off x="348791" y="5760839"/>
            <a:ext cx="11519555" cy="975339"/>
          </a:xfrm>
          <a:prstGeom prst="rect">
            <a:avLst/>
          </a:prstGeom>
          <a:ln>
            <a:solidFill>
              <a:schemeClr val="accent3"/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tIns="72000" bIns="72000" rtlCol="0" anchor="ctr"/>
          <a:lstStyle/>
          <a:p>
            <a:r>
              <a:rPr lang="ko-KR" altLang="en-US" sz="1200" dirty="0"/>
              <a:t>특허출원발명의 </a:t>
            </a:r>
            <a:r>
              <a:rPr lang="ko-KR" altLang="en-US" sz="1200" dirty="0">
                <a:solidFill>
                  <a:srgbClr val="FF0000"/>
                </a:solidFill>
              </a:rPr>
              <a:t>출원일 당시 </a:t>
            </a:r>
            <a:r>
              <a:rPr lang="ko-KR" altLang="en-US" sz="1200" dirty="0"/>
              <a:t>수지상 세포는 혈액 </a:t>
            </a:r>
            <a:r>
              <a:rPr lang="ko-KR" altLang="en-US" sz="1200" dirty="0" err="1"/>
              <a:t>단핵세포의</a:t>
            </a:r>
            <a:r>
              <a:rPr lang="ko-KR" altLang="en-US" sz="1200" dirty="0"/>
              <a:t> </a:t>
            </a:r>
            <a:r>
              <a:rPr lang="en-US" altLang="ko-KR" sz="1200" dirty="0"/>
              <a:t>0.5% </a:t>
            </a:r>
            <a:r>
              <a:rPr lang="ko-KR" altLang="en-US" sz="1200" dirty="0"/>
              <a:t>미만으로 존재하고 분리된 후에는 수일 내로 사멸하기 때문에 연구하기가 쉽지 아니하여 혈액으로부터 충분한 양의 수지상 세포를 분리해 내는 것은 기술적으로 쉽지 않고</a:t>
            </a:r>
            <a:r>
              <a:rPr lang="en-US" altLang="ko-KR" sz="1200" dirty="0"/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출원일 이후 </a:t>
            </a:r>
            <a:r>
              <a:rPr lang="ko-KR" altLang="en-US" sz="1200" dirty="0"/>
              <a:t>기술의 발전에 따라 사람의 혈액으로부터 수지상 세포를 추출하고 이를 이용하여 면역반응을 유발시키는 기술이 임상적으로 실시되고 있다는 것이므로</a:t>
            </a:r>
            <a:r>
              <a:rPr lang="en-US" altLang="ko-KR" sz="1200" dirty="0"/>
              <a:t>, </a:t>
            </a:r>
            <a:r>
              <a:rPr lang="ko-KR" altLang="en-US" sz="1200" dirty="0"/>
              <a:t>결국 출원발명의 출원일 당시를 기준으로 수지상 세포를 사람의 혈액으로부터 분리하여 </a:t>
            </a:r>
            <a:r>
              <a:rPr lang="ko-KR" altLang="en-US" sz="1200" dirty="0" err="1"/>
              <a:t>출원발명에</a:t>
            </a:r>
            <a:r>
              <a:rPr lang="ko-KR" altLang="en-US" sz="1200" dirty="0"/>
              <a:t> 사용하는 기술이 장래에 산업상 이용가능성이 있다고 보기는 어렵다</a:t>
            </a:r>
            <a:r>
              <a:rPr lang="en-US" altLang="ko-KR" sz="1200" dirty="0"/>
              <a:t>.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36" name="모서리가 둥근 직사각형 35"/>
          <p:cNvSpPr/>
          <p:nvPr/>
        </p:nvSpPr>
        <p:spPr bwMode="auto">
          <a:xfrm>
            <a:off x="348791" y="5470524"/>
            <a:ext cx="4680521" cy="288032"/>
          </a:xfrm>
          <a:prstGeom prst="roundRect">
            <a:avLst>
              <a:gd name="adj" fmla="val 0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accent3"/>
            </a:solidFill>
            <a:headEnd type="none" w="med" len="med"/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대법원 </a:t>
            </a:r>
            <a:r>
              <a:rPr lang="en-US" altLang="ko-KR" sz="1200" dirty="0"/>
              <a:t>2003. 3. 14.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2001</a:t>
            </a:r>
            <a:r>
              <a:rPr lang="ko-KR" altLang="en-US" sz="1200" dirty="0"/>
              <a:t>후</a:t>
            </a:r>
            <a:r>
              <a:rPr lang="en-US" altLang="ko-KR" sz="1200" dirty="0"/>
              <a:t>2801 </a:t>
            </a:r>
            <a:r>
              <a:rPr lang="ko-KR" altLang="en-US" sz="1200" dirty="0"/>
              <a:t>판결</a:t>
            </a:r>
            <a:r>
              <a:rPr lang="en-US" altLang="ko-KR" sz="1200" dirty="0"/>
              <a:t>【</a:t>
            </a:r>
            <a:r>
              <a:rPr lang="ko-KR" altLang="en-US" sz="1200" dirty="0" err="1"/>
              <a:t>거절사정</a:t>
            </a:r>
            <a:r>
              <a:rPr lang="en-US" altLang="ko-KR" sz="1200" dirty="0"/>
              <a:t>(</a:t>
            </a:r>
            <a:r>
              <a:rPr lang="ko-KR" altLang="en-US" sz="1200" dirty="0" err="1"/>
              <a:t>특</a:t>
            </a:r>
            <a:r>
              <a:rPr lang="en-US" altLang="ko-KR" sz="1200" dirty="0"/>
              <a:t>)】</a:t>
            </a:r>
            <a:endParaRPr lang="ko-KR" altLang="en-US" sz="1200" dirty="0"/>
          </a:p>
        </p:txBody>
      </p:sp>
      <p:sp>
        <p:nvSpPr>
          <p:cNvPr id="2" name="TextBox 1"/>
          <p:cNvSpPr txBox="1"/>
          <p:nvPr/>
        </p:nvSpPr>
        <p:spPr>
          <a:xfrm>
            <a:off x="247191" y="1031403"/>
            <a:ext cx="1360786" cy="20741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2800" dirty="0"/>
              <a:t>제</a:t>
            </a:r>
            <a:r>
              <a:rPr lang="en-US" altLang="ko-KR" sz="2800" dirty="0"/>
              <a:t>29</a:t>
            </a:r>
            <a:r>
              <a:rPr lang="ko-KR" altLang="en-US" sz="2800" dirty="0"/>
              <a:t>조</a:t>
            </a:r>
            <a:endParaRPr lang="en-US" altLang="ko-KR" sz="2800" dirty="0"/>
          </a:p>
          <a:p>
            <a:pPr algn="ctr"/>
            <a:r>
              <a:rPr lang="ko-KR" altLang="en-US" sz="2800" dirty="0"/>
              <a:t>제</a:t>
            </a:r>
            <a:r>
              <a:rPr lang="en-US" altLang="ko-KR" sz="2800" dirty="0"/>
              <a:t>1</a:t>
            </a:r>
            <a:r>
              <a:rPr lang="ko-KR" altLang="en-US" sz="2800" dirty="0"/>
              <a:t>항</a:t>
            </a:r>
            <a:endParaRPr lang="en-US" altLang="ko-KR" sz="2800" dirty="0"/>
          </a:p>
          <a:p>
            <a:pPr algn="ctr"/>
            <a:r>
              <a:rPr lang="ko-KR" altLang="en-US" sz="2800" dirty="0"/>
              <a:t>본문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59351" y="1124469"/>
            <a:ext cx="4233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산업상 이용할 수 있는 발명</a:t>
            </a:r>
          </a:p>
        </p:txBody>
      </p:sp>
      <p:cxnSp>
        <p:nvCxnSpPr>
          <p:cNvPr id="10" name="직선 연결선 9"/>
          <p:cNvCxnSpPr/>
          <p:nvPr/>
        </p:nvCxnSpPr>
        <p:spPr>
          <a:xfrm>
            <a:off x="2101299" y="1647689"/>
            <a:ext cx="309282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5334036" y="1647689"/>
            <a:ext cx="6621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38955" y="2001026"/>
            <a:ext cx="2550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협의</a:t>
            </a:r>
            <a:r>
              <a:rPr lang="en-US" altLang="ko-KR" dirty="0"/>
              <a:t>) </a:t>
            </a:r>
            <a:r>
              <a:rPr lang="ko-KR" altLang="en-US" dirty="0"/>
              <a:t>산업상 이용가능성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92068" y="2001026"/>
            <a:ext cx="1499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발명의 </a:t>
            </a:r>
            <a:r>
              <a:rPr lang="ko-KR" altLang="en-US" dirty="0" err="1"/>
              <a:t>성립성</a:t>
            </a:r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369544" y="200102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2982354" y="2672128"/>
            <a:ext cx="2550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광의</a:t>
            </a:r>
            <a:r>
              <a:rPr lang="en-US" altLang="ko-KR" dirty="0">
                <a:solidFill>
                  <a:srgbClr val="FF0000"/>
                </a:solidFill>
              </a:rPr>
              <a:t>) </a:t>
            </a:r>
            <a:r>
              <a:rPr lang="ko-KR" altLang="en-US" dirty="0">
                <a:solidFill>
                  <a:srgbClr val="FF0000"/>
                </a:solidFill>
              </a:rPr>
              <a:t>산업상 이용가능성</a:t>
            </a:r>
          </a:p>
        </p:txBody>
      </p:sp>
      <p:cxnSp>
        <p:nvCxnSpPr>
          <p:cNvPr id="28" name="꺾인 연결선 27"/>
          <p:cNvCxnSpPr>
            <a:stCxn id="13" idx="2"/>
            <a:endCxn id="39" idx="0"/>
          </p:cNvCxnSpPr>
          <p:nvPr/>
        </p:nvCxnSpPr>
        <p:spPr>
          <a:xfrm rot="16200000" flipH="1">
            <a:off x="3535118" y="1949543"/>
            <a:ext cx="301770" cy="114339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꺾인 연결선 40"/>
          <p:cNvCxnSpPr>
            <a:stCxn id="38" idx="2"/>
            <a:endCxn id="39" idx="0"/>
          </p:cNvCxnSpPr>
          <p:nvPr/>
        </p:nvCxnSpPr>
        <p:spPr>
          <a:xfrm rot="5400000">
            <a:off x="4698783" y="1929279"/>
            <a:ext cx="301770" cy="118392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표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185219"/>
              </p:ext>
            </p:extLst>
          </p:nvPr>
        </p:nvGraphicFramePr>
        <p:xfrm>
          <a:off x="6476785" y="1031403"/>
          <a:ext cx="5491186" cy="2084716"/>
        </p:xfrm>
        <a:graphic>
          <a:graphicData uri="http://schemas.openxmlformats.org/drawingml/2006/table">
            <a:tbl>
              <a:tblPr firstRow="1">
                <a:tableStyleId>{69CF1AB2-1976-4502-BF36-3FF5EA218861}</a:tableStyleId>
              </a:tblPr>
              <a:tblGrid>
                <a:gridCol w="2745593">
                  <a:extLst>
                    <a:ext uri="{9D8B030D-6E8A-4147-A177-3AD203B41FA5}">
                      <a16:colId xmlns:a16="http://schemas.microsoft.com/office/drawing/2014/main" val="734753533"/>
                    </a:ext>
                  </a:extLst>
                </a:gridCol>
                <a:gridCol w="2745593">
                  <a:extLst>
                    <a:ext uri="{9D8B030D-6E8A-4147-A177-3AD203B41FA5}">
                      <a16:colId xmlns:a16="http://schemas.microsoft.com/office/drawing/2014/main" val="3868350455"/>
                    </a:ext>
                  </a:extLst>
                </a:gridCol>
              </a:tblGrid>
              <a:tr h="3833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발명의 </a:t>
                      </a:r>
                      <a:r>
                        <a:rPr lang="ko-KR" altLang="en-US" dirty="0" err="1"/>
                        <a:t>성립성의</a:t>
                      </a:r>
                      <a:r>
                        <a:rPr lang="ko-KR" altLang="en-US" dirty="0"/>
                        <a:t> 관점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산업상 이용가능성의 관점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754866"/>
                  </a:ext>
                </a:extLst>
              </a:tr>
              <a:tr h="6616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발명의 기술적 사상이면 되지 꼭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기술이어야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하는 것은 아니다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발명이 즉시 이용되어야 하는 것은 아니며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장래에 이용될 가능성만 있으면 된다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7226398"/>
                  </a:ext>
                </a:extLst>
              </a:tr>
              <a:tr h="103973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발명의 기술적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사상이어야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하며 사상이어서는 안된다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발명의 산업적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실시화가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장래에 있어도 좋다는 의미일 뿐 장래 관련 기술의 발전에 따라 기술적으로 보완되어 장래에 비로소 산업상 이용가능성이 생겨나는 경우까지 포함하는 것은 아니다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428338"/>
                  </a:ext>
                </a:extLst>
              </a:tr>
            </a:tbl>
          </a:graphicData>
        </a:graphic>
      </p:graphicFrame>
      <p:cxnSp>
        <p:nvCxnSpPr>
          <p:cNvPr id="54" name="꺾인 연결선 53"/>
          <p:cNvCxnSpPr>
            <a:stCxn id="25" idx="2"/>
            <a:endCxn id="13" idx="0"/>
          </p:cNvCxnSpPr>
          <p:nvPr/>
        </p:nvCxnSpPr>
        <p:spPr>
          <a:xfrm rot="5400000">
            <a:off x="3418647" y="1343347"/>
            <a:ext cx="353337" cy="96202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꺾인 연결선 55"/>
          <p:cNvCxnSpPr>
            <a:endCxn id="38" idx="0"/>
          </p:cNvCxnSpPr>
          <p:nvPr/>
        </p:nvCxnSpPr>
        <p:spPr>
          <a:xfrm rot="5400000">
            <a:off x="5351731" y="1737591"/>
            <a:ext cx="353337" cy="173533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6970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항본문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의료업의 판단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55</a:t>
            </a:fld>
            <a:endParaRPr lang="ko-KR" altLang="en-US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D0C1CB4B-F913-4E0A-B584-60EEAF7ABE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506326"/>
              </p:ext>
            </p:extLst>
          </p:nvPr>
        </p:nvGraphicFramePr>
        <p:xfrm>
          <a:off x="1336391" y="2822022"/>
          <a:ext cx="9609517" cy="2253135"/>
        </p:xfrm>
        <a:graphic>
          <a:graphicData uri="http://schemas.openxmlformats.org/drawingml/2006/table">
            <a:tbl>
              <a:tblPr/>
              <a:tblGrid>
                <a:gridCol w="3067438">
                  <a:extLst>
                    <a:ext uri="{9D8B030D-6E8A-4147-A177-3AD203B41FA5}">
                      <a16:colId xmlns:a16="http://schemas.microsoft.com/office/drawing/2014/main" val="3467885255"/>
                    </a:ext>
                  </a:extLst>
                </a:gridCol>
                <a:gridCol w="1321246">
                  <a:extLst>
                    <a:ext uri="{9D8B030D-6E8A-4147-A177-3AD203B41FA5}">
                      <a16:colId xmlns:a16="http://schemas.microsoft.com/office/drawing/2014/main" val="2176955321"/>
                    </a:ext>
                  </a:extLst>
                </a:gridCol>
                <a:gridCol w="1017561">
                  <a:extLst>
                    <a:ext uri="{9D8B030D-6E8A-4147-A177-3AD203B41FA5}">
                      <a16:colId xmlns:a16="http://schemas.microsoft.com/office/drawing/2014/main" val="3839028592"/>
                    </a:ext>
                  </a:extLst>
                </a:gridCol>
                <a:gridCol w="4203272">
                  <a:extLst>
                    <a:ext uri="{9D8B030D-6E8A-4147-A177-3AD203B41FA5}">
                      <a16:colId xmlns:a16="http://schemas.microsoft.com/office/drawing/2014/main" val="4260659783"/>
                    </a:ext>
                  </a:extLst>
                </a:gridCol>
              </a:tblGrid>
              <a:tr h="45959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산업상 이용가능성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의료업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비의료업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  <a:r>
                        <a:rPr lang="en-US" altLang="ko-KR" sz="16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6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</a:t>
                      </a:r>
                      <a:r>
                        <a:rPr lang="ko-KR" altLang="en-US" sz="16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 위반 여부는 별개</a:t>
                      </a:r>
                      <a:r>
                        <a:rPr lang="en-US" altLang="ko-KR" sz="16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6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115365"/>
                  </a:ext>
                </a:extLst>
              </a:tr>
              <a:tr h="89677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인체를 직접적인 구성요소로 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하는 경우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불인정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인정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단 발명을 실행할 때 필연적으로 신체를 손상하거나 신체의 자유를 비인도적으로 구속하는 경우 </a:t>
                      </a:r>
                      <a:r>
                        <a:rPr lang="ko-KR" altLang="en-US" sz="16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불특허발명에</a:t>
                      </a:r>
                      <a:r>
                        <a:rPr lang="ko-KR" altLang="en-US" sz="16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해당 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4422285"/>
                  </a:ext>
                </a:extLst>
              </a:tr>
              <a:tr h="89677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인체를 직접적인 구성요소로 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하지 아니하는 경우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인정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인정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393845"/>
                  </a:ext>
                </a:extLst>
              </a:tr>
            </a:tbl>
          </a:graphicData>
        </a:graphic>
      </p:graphicFrame>
      <p:sp>
        <p:nvSpPr>
          <p:cNvPr id="16" name="말풍선: 모서리가 둥근 사각형 15">
            <a:extLst>
              <a:ext uri="{FF2B5EF4-FFF2-40B4-BE49-F238E27FC236}">
                <a16:creationId xmlns:a16="http://schemas.microsoft.com/office/drawing/2014/main" id="{84C0FC24-0E75-4BB3-B807-D236B423746B}"/>
              </a:ext>
            </a:extLst>
          </p:cNvPr>
          <p:cNvSpPr/>
          <p:nvPr/>
        </p:nvSpPr>
        <p:spPr>
          <a:xfrm>
            <a:off x="232473" y="1596306"/>
            <a:ext cx="4819973" cy="1071256"/>
          </a:xfrm>
          <a:prstGeom prst="wedgeRoundRectCallout">
            <a:avLst>
              <a:gd name="adj1" fmla="val 40438"/>
              <a:gd name="adj2" fmla="val 143910"/>
              <a:gd name="adj3" fmla="val 16667"/>
            </a:avLst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2"/>
                </a:solidFill>
              </a:rPr>
              <a:t>인간을 대상으로 하는 수술방법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치료방법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진단방법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2"/>
                </a:solidFill>
              </a:rPr>
              <a:t>혈액투석방법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2"/>
                </a:solidFill>
              </a:rPr>
              <a:t>온구기를 사용하여 사람의 등 부위의 경혈과 배 부위의 경혈을 자극하는 방법</a:t>
            </a:r>
          </a:p>
        </p:txBody>
      </p:sp>
      <p:sp>
        <p:nvSpPr>
          <p:cNvPr id="43" name="말풍선: 모서리가 둥근 사각형 42">
            <a:extLst>
              <a:ext uri="{FF2B5EF4-FFF2-40B4-BE49-F238E27FC236}">
                <a16:creationId xmlns:a16="http://schemas.microsoft.com/office/drawing/2014/main" id="{2AB76D06-146A-4336-9D4A-68A594A8950C}"/>
              </a:ext>
            </a:extLst>
          </p:cNvPr>
          <p:cNvSpPr/>
          <p:nvPr/>
        </p:nvSpPr>
        <p:spPr>
          <a:xfrm>
            <a:off x="495945" y="5218983"/>
            <a:ext cx="11353874" cy="1518205"/>
          </a:xfrm>
          <a:prstGeom prst="wedgeRoundRectCallout">
            <a:avLst>
              <a:gd name="adj1" fmla="val -9715"/>
              <a:gd name="adj2" fmla="val -75934"/>
              <a:gd name="adj3" fmla="val 16667"/>
            </a:avLst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2"/>
                </a:solidFill>
              </a:rPr>
              <a:t>사람으로부터 자연적으로 배출된 것</a:t>
            </a:r>
            <a:r>
              <a:rPr lang="en-US" altLang="ko-KR" sz="1200" dirty="0">
                <a:solidFill>
                  <a:schemeClr val="tx2"/>
                </a:solidFill>
              </a:rPr>
              <a:t>/</a:t>
            </a:r>
            <a:r>
              <a:rPr lang="ko-KR" altLang="en-US" sz="1200" dirty="0">
                <a:solidFill>
                  <a:schemeClr val="tx2"/>
                </a:solidFill>
              </a:rPr>
              <a:t>채취된 것을 처리하는 방법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2"/>
                </a:solidFill>
              </a:rPr>
              <a:t>인체를 직접적인 구성요소로 하지 아니한 의료행위에 사용하는 </a:t>
            </a:r>
            <a:r>
              <a:rPr lang="ko-KR" altLang="en-US" sz="1200" dirty="0" err="1">
                <a:solidFill>
                  <a:schemeClr val="tx2"/>
                </a:solidFill>
              </a:rPr>
              <a:t>의료기기ㆍ장치</a:t>
            </a:r>
            <a:r>
              <a:rPr lang="ko-KR" altLang="en-US" sz="1200" dirty="0">
                <a:solidFill>
                  <a:schemeClr val="tx2"/>
                </a:solidFill>
              </a:rPr>
              <a:t> 및 의약품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혈액투석장치</a:t>
            </a:r>
            <a:r>
              <a:rPr lang="en-US" altLang="ko-KR" sz="1200" dirty="0">
                <a:solidFill>
                  <a:schemeClr val="tx2"/>
                </a:solidFill>
              </a:rPr>
              <a:t>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2"/>
                </a:solidFill>
              </a:rPr>
              <a:t>사람의 등과 배 부위의 경혈을 자극하는 </a:t>
            </a:r>
            <a:r>
              <a:rPr lang="ko-KR" altLang="en-US" sz="1200" dirty="0" err="1">
                <a:solidFill>
                  <a:schemeClr val="tx2"/>
                </a:solidFill>
              </a:rPr>
              <a:t>온구기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2"/>
                </a:solidFill>
              </a:rPr>
              <a:t>인간 이외의 동물에 한정함을 청구범위에 명시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2"/>
                </a:solidFill>
              </a:rPr>
              <a:t>진단방법이라고 할지라도 의사의 임상적 판단을 포함하지 아니한 경우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2"/>
                </a:solidFill>
              </a:rPr>
              <a:t>의료기기의 작동방법 또는 의료기기를 이용한 측정방법 발명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다만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그 구성에 인체와 의료기기 간의 상호작용이 인체에 직접적이면서 일시적이 아닌 영향을 주는 경우 또는 실질적인 의료행위를 포함하는 경우를 제외</a:t>
            </a:r>
            <a:r>
              <a:rPr lang="en-US" altLang="ko-KR" sz="1200" dirty="0">
                <a:solidFill>
                  <a:schemeClr val="tx2"/>
                </a:solidFill>
              </a:rPr>
              <a:t>)</a:t>
            </a:r>
            <a:endParaRPr lang="ko-KR" altLang="en-US" sz="1200" dirty="0">
              <a:solidFill>
                <a:schemeClr val="tx2"/>
              </a:solidFill>
            </a:endParaRPr>
          </a:p>
        </p:txBody>
      </p:sp>
      <p:sp>
        <p:nvSpPr>
          <p:cNvPr id="45" name="말풍선: 모서리가 둥근 사각형 44">
            <a:extLst>
              <a:ext uri="{FF2B5EF4-FFF2-40B4-BE49-F238E27FC236}">
                <a16:creationId xmlns:a16="http://schemas.microsoft.com/office/drawing/2014/main" id="{6AE6840E-7749-4246-B581-34A55EE4B57F}"/>
              </a:ext>
            </a:extLst>
          </p:cNvPr>
          <p:cNvSpPr/>
          <p:nvPr/>
        </p:nvSpPr>
        <p:spPr>
          <a:xfrm>
            <a:off x="8704053" y="2218110"/>
            <a:ext cx="2125312" cy="449451"/>
          </a:xfrm>
          <a:prstGeom prst="wedgeRoundRectCallout">
            <a:avLst>
              <a:gd name="adj1" fmla="val -150509"/>
              <a:gd name="adj2" fmla="val 287955"/>
              <a:gd name="adj3" fmla="val 16667"/>
            </a:avLst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2"/>
                </a:solidFill>
              </a:rPr>
              <a:t>모발의 웨이브방법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3CF8121-668C-446B-A262-730354446CF2}"/>
              </a:ext>
            </a:extLst>
          </p:cNvPr>
          <p:cNvSpPr/>
          <p:nvPr/>
        </p:nvSpPr>
        <p:spPr>
          <a:xfrm>
            <a:off x="4701397" y="2811388"/>
            <a:ext cx="2044460" cy="509782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2329E31-DEC5-4EAF-9148-ADB98F099D6C}"/>
              </a:ext>
            </a:extLst>
          </p:cNvPr>
          <p:cNvSpPr/>
          <p:nvPr/>
        </p:nvSpPr>
        <p:spPr>
          <a:xfrm>
            <a:off x="5555411" y="1068035"/>
            <a:ext cx="1423361" cy="6037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치료</a:t>
            </a:r>
            <a:r>
              <a:rPr lang="en-US" altLang="ko-KR" sz="1200" dirty="0">
                <a:solidFill>
                  <a:srgbClr val="FF0000"/>
                </a:solidFill>
              </a:rPr>
              <a:t>/</a:t>
            </a:r>
            <a:r>
              <a:rPr lang="ko-KR" altLang="en-US" sz="1200" dirty="0" err="1">
                <a:solidFill>
                  <a:srgbClr val="FF0000"/>
                </a:solidFill>
              </a:rPr>
              <a:t>비치료</a:t>
            </a:r>
            <a:r>
              <a:rPr lang="ko-KR" altLang="en-US" sz="1200" dirty="0">
                <a:solidFill>
                  <a:srgbClr val="FF0000"/>
                </a:solidFill>
              </a:rPr>
              <a:t> 효과 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혼재된 경우</a:t>
            </a:r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9CA518BD-6F6C-4318-8A57-7E0AE9655D78}"/>
              </a:ext>
            </a:extLst>
          </p:cNvPr>
          <p:cNvCxnSpPr>
            <a:cxnSpLocks/>
            <a:stCxn id="2" idx="0"/>
            <a:endCxn id="6" idx="2"/>
          </p:cNvCxnSpPr>
          <p:nvPr/>
        </p:nvCxnSpPr>
        <p:spPr>
          <a:xfrm rot="5400000" flipH="1" flipV="1">
            <a:off x="5425578" y="1969875"/>
            <a:ext cx="1139562" cy="543465"/>
          </a:xfrm>
          <a:prstGeom prst="bentConnector3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A3D28216-58E4-456D-BEB2-D8982A631F48}"/>
              </a:ext>
            </a:extLst>
          </p:cNvPr>
          <p:cNvSpPr/>
          <p:nvPr/>
        </p:nvSpPr>
        <p:spPr>
          <a:xfrm>
            <a:off x="7146987" y="1596305"/>
            <a:ext cx="4826477" cy="353683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그렇지 아니하면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산업상 이용가능성 불인정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42B8B56-098C-4B24-AC23-5CF608CE818C}"/>
              </a:ext>
            </a:extLst>
          </p:cNvPr>
          <p:cNvSpPr/>
          <p:nvPr/>
        </p:nvSpPr>
        <p:spPr>
          <a:xfrm>
            <a:off x="7146987" y="915196"/>
            <a:ext cx="4826477" cy="603791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rgbClr val="FF0000"/>
                </a:solidFill>
              </a:rPr>
              <a:t>① 분리가능 </a:t>
            </a:r>
            <a:r>
              <a:rPr lang="en-US" altLang="ko-KR" sz="1200">
                <a:solidFill>
                  <a:srgbClr val="FF0000"/>
                </a:solidFill>
              </a:rPr>
              <a:t>&amp; </a:t>
            </a:r>
            <a:r>
              <a:rPr lang="en-US" altLang="ko-KR" sz="1200" dirty="0">
                <a:solidFill>
                  <a:srgbClr val="FF0000"/>
                </a:solidFill>
              </a:rPr>
              <a:t>② </a:t>
            </a:r>
            <a:r>
              <a:rPr lang="ko-KR" altLang="en-US" sz="1200" dirty="0">
                <a:solidFill>
                  <a:srgbClr val="FF0000"/>
                </a:solidFill>
              </a:rPr>
              <a:t>청구항이 비치료적 용도 한정 </a:t>
            </a:r>
            <a:r>
              <a:rPr lang="en-US" altLang="ko-KR" sz="1200" dirty="0">
                <a:solidFill>
                  <a:srgbClr val="FF0000"/>
                </a:solidFill>
              </a:rPr>
              <a:t>&amp; ③ </a:t>
            </a:r>
            <a:r>
              <a:rPr lang="ko-KR" altLang="en-US" sz="1200" dirty="0">
                <a:solidFill>
                  <a:srgbClr val="FF0000"/>
                </a:solidFill>
              </a:rPr>
              <a:t>치료 효과가 </a:t>
            </a:r>
            <a:r>
              <a:rPr lang="ko-KR" altLang="en-US" sz="1200" dirty="0" err="1">
                <a:solidFill>
                  <a:srgbClr val="FF0000"/>
                </a:solidFill>
              </a:rPr>
              <a:t>비치료</a:t>
            </a:r>
            <a:r>
              <a:rPr lang="ko-KR" altLang="en-US" sz="1200" dirty="0">
                <a:solidFill>
                  <a:srgbClr val="FF0000"/>
                </a:solidFill>
              </a:rPr>
              <a:t> 효과를 달성하기 위한 과정에서 부수적인 효과인 경우 산업상 이용가능성 인정</a:t>
            </a:r>
            <a:r>
              <a:rPr lang="en-US" altLang="ko-KR" sz="1200" dirty="0">
                <a:solidFill>
                  <a:srgbClr val="FF0000"/>
                </a:solidFill>
              </a:rPr>
              <a:t> 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1DB5241E-0AD9-45C3-B6DC-39CD4EB1D3B2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6978772" y="1369931"/>
            <a:ext cx="168215" cy="40321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EC70ECFC-BE1A-4C5E-9414-10FCFB1AD7D9}"/>
              </a:ext>
            </a:extLst>
          </p:cNvPr>
          <p:cNvCxnSpPr>
            <a:stCxn id="6" idx="3"/>
            <a:endCxn id="14" idx="1"/>
          </p:cNvCxnSpPr>
          <p:nvPr/>
        </p:nvCxnSpPr>
        <p:spPr>
          <a:xfrm flipV="1">
            <a:off x="6978772" y="1217092"/>
            <a:ext cx="168215" cy="15283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말풍선: 모서리가 둥근 사각형 6">
            <a:extLst>
              <a:ext uri="{FF2B5EF4-FFF2-40B4-BE49-F238E27FC236}">
                <a16:creationId xmlns:a16="http://schemas.microsoft.com/office/drawing/2014/main" id="{A7E2491E-BE75-BE8D-75BD-5E7328079DAD}"/>
              </a:ext>
            </a:extLst>
          </p:cNvPr>
          <p:cNvSpPr/>
          <p:nvPr/>
        </p:nvSpPr>
        <p:spPr>
          <a:xfrm>
            <a:off x="1303572" y="1005712"/>
            <a:ext cx="3895999" cy="364220"/>
          </a:xfrm>
          <a:prstGeom prst="wedgeRoundRectCallout">
            <a:avLst>
              <a:gd name="adj1" fmla="val 58117"/>
              <a:gd name="adj2" fmla="val 30536"/>
              <a:gd name="adj3" fmla="val 16667"/>
            </a:avLst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2"/>
                </a:solidFill>
              </a:rPr>
              <a:t>오케스트라 연주기법에 의한 피부미용법</a:t>
            </a:r>
          </a:p>
        </p:txBody>
      </p:sp>
    </p:spTree>
    <p:extLst>
      <p:ext uri="{BB962C8B-B14F-4D97-AF65-F5344CB8AC3E}">
        <p14:creationId xmlns:p14="http://schemas.microsoft.com/office/powerpoint/2010/main" val="3057175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화살표 연결선 5"/>
          <p:cNvCxnSpPr>
            <a:stCxn id="72" idx="3"/>
            <a:endCxn id="67" idx="1"/>
          </p:cNvCxnSpPr>
          <p:nvPr/>
        </p:nvCxnSpPr>
        <p:spPr>
          <a:xfrm>
            <a:off x="4286900" y="4011751"/>
            <a:ext cx="4618004" cy="431800"/>
          </a:xfrm>
          <a:prstGeom prst="straightConnector1">
            <a:avLst/>
          </a:prstGeom>
          <a:ln w="57150">
            <a:solidFill>
              <a:schemeClr val="accent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자유형 15"/>
          <p:cNvSpPr/>
          <p:nvPr/>
        </p:nvSpPr>
        <p:spPr>
          <a:xfrm>
            <a:off x="1612900" y="2777122"/>
            <a:ext cx="7797800" cy="664577"/>
          </a:xfrm>
          <a:custGeom>
            <a:avLst/>
            <a:gdLst>
              <a:gd name="connsiteX0" fmla="*/ 7797800 w 7797800"/>
              <a:gd name="connsiteY0" fmla="*/ 1066800 h 1104900"/>
              <a:gd name="connsiteX1" fmla="*/ 7327900 w 7797800"/>
              <a:gd name="connsiteY1" fmla="*/ 0 h 1104900"/>
              <a:gd name="connsiteX2" fmla="*/ 0 w 7797800"/>
              <a:gd name="connsiteY2" fmla="*/ 0 h 1104900"/>
              <a:gd name="connsiteX3" fmla="*/ 0 w 7797800"/>
              <a:gd name="connsiteY3" fmla="*/ 1104900 h 110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7800" h="1104900">
                <a:moveTo>
                  <a:pt x="7797800" y="1066800"/>
                </a:moveTo>
                <a:lnTo>
                  <a:pt x="7327900" y="0"/>
                </a:lnTo>
                <a:lnTo>
                  <a:pt x="0" y="0"/>
                </a:lnTo>
                <a:lnTo>
                  <a:pt x="0" y="1104900"/>
                </a:lnTo>
              </a:path>
            </a:pathLst>
          </a:custGeom>
          <a:pattFill prst="smGrid">
            <a:fgClr>
              <a:schemeClr val="accent2">
                <a:lumMod val="40000"/>
                <a:lumOff val="6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항각호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신규성의 개념</a:t>
            </a:r>
          </a:p>
        </p:txBody>
      </p:sp>
      <p:cxnSp>
        <p:nvCxnSpPr>
          <p:cNvPr id="52" name="직선 연결선 51"/>
          <p:cNvCxnSpPr/>
          <p:nvPr/>
        </p:nvCxnSpPr>
        <p:spPr>
          <a:xfrm>
            <a:off x="1595095" y="3466568"/>
            <a:ext cx="906753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/>
          <p:cNvSpPr/>
          <p:nvPr/>
        </p:nvSpPr>
        <p:spPr>
          <a:xfrm>
            <a:off x="8016544" y="3250119"/>
            <a:ext cx="2626056" cy="4328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특허출원일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  <p:cxnSp>
        <p:nvCxnSpPr>
          <p:cNvPr id="65" name="직선 연결선 64"/>
          <p:cNvCxnSpPr/>
          <p:nvPr/>
        </p:nvCxnSpPr>
        <p:spPr>
          <a:xfrm flipH="1">
            <a:off x="9408237" y="3818012"/>
            <a:ext cx="1" cy="5122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904904" y="4258885"/>
            <a:ext cx="101822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특허출원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2802" y="3751758"/>
            <a:ext cx="4459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</a:t>
            </a:r>
            <a:r>
              <a:rPr lang="ko-KR" altLang="en-US" sz="1400" dirty="0"/>
              <a:t>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439655" y="3751758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24</a:t>
            </a:r>
            <a:r>
              <a:rPr lang="ko-KR" altLang="en-US" sz="1400" dirty="0"/>
              <a:t>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08237" y="3751758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14</a:t>
            </a:r>
            <a:r>
              <a:rPr lang="ko-KR" altLang="en-US" sz="1400" dirty="0"/>
              <a:t>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14225" y="2391196"/>
            <a:ext cx="129073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dirty="0"/>
              <a:t>특허출원 전</a:t>
            </a:r>
          </a:p>
        </p:txBody>
      </p:sp>
      <p:cxnSp>
        <p:nvCxnSpPr>
          <p:cNvPr id="71" name="직선 연결선 70"/>
          <p:cNvCxnSpPr/>
          <p:nvPr/>
        </p:nvCxnSpPr>
        <p:spPr>
          <a:xfrm>
            <a:off x="3438314" y="3520063"/>
            <a:ext cx="1" cy="81020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2579381" y="3827085"/>
            <a:ext cx="170751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국내외 </a:t>
            </a:r>
            <a:r>
              <a:rPr lang="ko-KR" altLang="en-US" dirty="0" err="1"/>
              <a:t>공지기술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1428380" y="2476500"/>
            <a:ext cx="203200" cy="1104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/>
          <p:cNvSpPr txBox="1"/>
          <p:nvPr/>
        </p:nvSpPr>
        <p:spPr>
          <a:xfrm>
            <a:off x="3712540" y="4565280"/>
            <a:ext cx="289444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dirty="0"/>
              <a:t>공지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712540" y="4994567"/>
            <a:ext cx="289444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dirty="0" err="1"/>
              <a:t>공연실시</a:t>
            </a:r>
            <a:endParaRPr lang="ko-KR" altLang="en-US" sz="1400" dirty="0"/>
          </a:p>
        </p:txBody>
      </p:sp>
      <p:sp>
        <p:nvSpPr>
          <p:cNvPr id="75" name="TextBox 74"/>
          <p:cNvSpPr txBox="1"/>
          <p:nvPr/>
        </p:nvSpPr>
        <p:spPr>
          <a:xfrm>
            <a:off x="3712540" y="5397087"/>
            <a:ext cx="289444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dirty="0"/>
              <a:t>반포된 간행물 게재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712540" y="5826374"/>
            <a:ext cx="289444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/>
              <a:t>전기통신회선을 통하여 공중 이용가능</a:t>
            </a:r>
            <a:endParaRPr lang="ko-KR" altLang="en-US" sz="1400" dirty="0"/>
          </a:p>
        </p:txBody>
      </p:sp>
      <p:cxnSp>
        <p:nvCxnSpPr>
          <p:cNvPr id="23" name="꺾인 연결선 22"/>
          <p:cNvCxnSpPr>
            <a:stCxn id="72" idx="2"/>
            <a:endCxn id="76" idx="1"/>
          </p:cNvCxnSpPr>
          <p:nvPr/>
        </p:nvCxnSpPr>
        <p:spPr>
          <a:xfrm rot="16200000" flipH="1">
            <a:off x="2665529" y="4964028"/>
            <a:ext cx="1814623" cy="279399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꺾인 연결선 76"/>
          <p:cNvCxnSpPr>
            <a:stCxn id="72" idx="2"/>
            <a:endCxn id="73" idx="1"/>
          </p:cNvCxnSpPr>
          <p:nvPr/>
        </p:nvCxnSpPr>
        <p:spPr>
          <a:xfrm rot="16200000" flipH="1">
            <a:off x="3296076" y="4333481"/>
            <a:ext cx="553529" cy="279399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꺾인 연결선 78"/>
          <p:cNvCxnSpPr>
            <a:stCxn id="72" idx="2"/>
            <a:endCxn id="74" idx="1"/>
          </p:cNvCxnSpPr>
          <p:nvPr/>
        </p:nvCxnSpPr>
        <p:spPr>
          <a:xfrm rot="16200000" flipH="1">
            <a:off x="3081432" y="4548125"/>
            <a:ext cx="982816" cy="279399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꺾인 연결선 80"/>
          <p:cNvCxnSpPr>
            <a:stCxn id="72" idx="2"/>
            <a:endCxn id="75" idx="1"/>
          </p:cNvCxnSpPr>
          <p:nvPr/>
        </p:nvCxnSpPr>
        <p:spPr>
          <a:xfrm rot="16200000" flipH="1">
            <a:off x="2880172" y="4749385"/>
            <a:ext cx="1385336" cy="279399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29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 err="1">
                <a:solidFill>
                  <a:schemeClr val="accent1"/>
                </a:solidFill>
              </a:rPr>
              <a:t>특허요건</a:t>
            </a:r>
            <a:r>
              <a:rPr lang="en-US" altLang="ko-KR" sz="1400" b="1" dirty="0">
                <a:solidFill>
                  <a:schemeClr val="accent1"/>
                </a:solidFill>
              </a:rPr>
              <a:t>)</a:t>
            </a:r>
            <a:r>
              <a:rPr lang="en-US" altLang="ko-KR" sz="1400" dirty="0">
                <a:solidFill>
                  <a:schemeClr val="tx2"/>
                </a:solidFill>
              </a:rPr>
              <a:t> ① </a:t>
            </a:r>
            <a:r>
              <a:rPr lang="ko-KR" altLang="en-US" sz="1400" dirty="0">
                <a:solidFill>
                  <a:schemeClr val="tx2"/>
                </a:solidFill>
              </a:rPr>
              <a:t>산업상 이용할 수 있는 </a:t>
            </a:r>
            <a:r>
              <a:rPr lang="ko-KR" altLang="en-US" sz="1400" dirty="0" err="1">
                <a:solidFill>
                  <a:schemeClr val="tx2"/>
                </a:solidFill>
              </a:rPr>
              <a:t>발명으로서</a:t>
            </a:r>
            <a:r>
              <a:rPr lang="ko-KR" altLang="en-US" sz="1400" dirty="0">
                <a:solidFill>
                  <a:schemeClr val="tx2"/>
                </a:solidFill>
              </a:rPr>
              <a:t> 다음 각 호의 어느 하나에 해당하는 것을 제외하고는 그 발명에 대하여 특허를 받을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특허출원 전에 국내 또는 국외에서 공지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公知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되었거나 공연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公然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히 실시된 발명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특허출원 전에 국내 또는 국외에서 반포된 간행물에 게재되었거나 전기통신회선을 통하여 공중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公衆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이 이용할 수 있는 발명</a:t>
            </a:r>
          </a:p>
        </p:txBody>
      </p:sp>
      <p:cxnSp>
        <p:nvCxnSpPr>
          <p:cNvPr id="91" name="직선 연결선 90"/>
          <p:cNvCxnSpPr/>
          <p:nvPr/>
        </p:nvCxnSpPr>
        <p:spPr>
          <a:xfrm>
            <a:off x="0" y="174563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6042295" y="3871770"/>
            <a:ext cx="1324402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동일성</a:t>
            </a:r>
            <a:endParaRPr lang="en-US" altLang="ko-KR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객관적 </a:t>
            </a:r>
            <a:r>
              <a:rPr lang="ko-KR" altLang="en-US" sz="1400" dirty="0" err="1"/>
              <a:t>창작성</a:t>
            </a:r>
            <a:r>
              <a:rPr lang="en-US" altLang="ko-KR" sz="1400" dirty="0"/>
              <a:t>)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56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C84BD2-1575-8450-B9EA-225AA57E0B98}"/>
              </a:ext>
            </a:extLst>
          </p:cNvPr>
          <p:cNvSpPr txBox="1"/>
          <p:nvPr/>
        </p:nvSpPr>
        <p:spPr>
          <a:xfrm>
            <a:off x="8992097" y="4648900"/>
            <a:ext cx="832279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청구범위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청구항</a:t>
            </a:r>
            <a:r>
              <a:rPr lang="en-US" altLang="ko-KR" sz="1400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8970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항각호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심사실무상</a:t>
            </a:r>
            <a:r>
              <a:rPr lang="ko-KR" altLang="en-US" dirty="0"/>
              <a:t> 간행물 </a:t>
            </a:r>
            <a:r>
              <a:rPr lang="ko-KR" altLang="en-US" dirty="0" err="1"/>
              <a:t>반포시기의</a:t>
            </a:r>
            <a:r>
              <a:rPr lang="ko-KR" altLang="en-US" dirty="0"/>
              <a:t> 결정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875" y="986046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간행물의 발행시기가 기재되어 있지 아니한 경우에는 </a:t>
            </a:r>
            <a:r>
              <a:rPr lang="en-US" altLang="ko-KR" sz="1400" dirty="0">
                <a:solidFill>
                  <a:schemeClr val="tx2"/>
                </a:solidFill>
              </a:rPr>
              <a:t>ⅰ) </a:t>
            </a:r>
            <a:r>
              <a:rPr lang="ko-KR" altLang="en-US" sz="1400" dirty="0">
                <a:solidFill>
                  <a:schemeClr val="tx2"/>
                </a:solidFill>
              </a:rPr>
              <a:t>외국간행물로서 국내에 입수된 시기가 분명한 때에는 그 입수된 시기로부터 </a:t>
            </a:r>
            <a:r>
              <a:rPr lang="ko-KR" altLang="en-US" sz="1400" dirty="0" err="1">
                <a:solidFill>
                  <a:schemeClr val="tx2"/>
                </a:solidFill>
              </a:rPr>
              <a:t>발행국에서</a:t>
            </a:r>
            <a:r>
              <a:rPr lang="ko-KR" altLang="en-US" sz="1400" dirty="0">
                <a:solidFill>
                  <a:schemeClr val="tx2"/>
                </a:solidFill>
              </a:rPr>
              <a:t> 국내에 입수되는데 소요되는 통상의 기간을 소급한 시기에 반포된 것으로 추정하고</a:t>
            </a:r>
            <a:r>
              <a:rPr lang="en-US" altLang="ko-KR" sz="1400" dirty="0">
                <a:solidFill>
                  <a:schemeClr val="tx2"/>
                </a:solidFill>
              </a:rPr>
              <a:t>, ⅱ) </a:t>
            </a:r>
            <a:r>
              <a:rPr lang="ko-KR" altLang="en-US" sz="1400" dirty="0">
                <a:solidFill>
                  <a:schemeClr val="tx2"/>
                </a:solidFill>
              </a:rPr>
              <a:t>해당 간행물에 대하여 </a:t>
            </a:r>
            <a:r>
              <a:rPr lang="ko-KR" altLang="en-US" sz="1400" dirty="0" err="1">
                <a:solidFill>
                  <a:schemeClr val="tx2"/>
                </a:solidFill>
              </a:rPr>
              <a:t>서평ㆍ발췌</a:t>
            </a:r>
            <a:r>
              <a:rPr lang="ko-KR" altLang="en-US" sz="1400" dirty="0">
                <a:solidFill>
                  <a:schemeClr val="tx2"/>
                </a:solidFill>
              </a:rPr>
              <a:t> 카탈로그 등을 게재한 간행물이 있으면 그 발행시기로부터 해당 간행물의 </a:t>
            </a:r>
            <a:r>
              <a:rPr lang="ko-KR" altLang="en-US" sz="1400" dirty="0" err="1">
                <a:solidFill>
                  <a:schemeClr val="tx2"/>
                </a:solidFill>
              </a:rPr>
              <a:t>반포시기를</a:t>
            </a:r>
            <a:r>
              <a:rPr lang="ko-KR" altLang="en-US" sz="1400" dirty="0">
                <a:solidFill>
                  <a:schemeClr val="tx2"/>
                </a:solidFill>
              </a:rPr>
              <a:t> 추정하며</a:t>
            </a:r>
            <a:r>
              <a:rPr lang="en-US" altLang="ko-KR" sz="1400" dirty="0">
                <a:solidFill>
                  <a:schemeClr val="tx2"/>
                </a:solidFill>
              </a:rPr>
              <a:t>, ⅲ) </a:t>
            </a:r>
            <a:r>
              <a:rPr lang="ko-KR" altLang="en-US" sz="1400" dirty="0">
                <a:solidFill>
                  <a:schemeClr val="tx2"/>
                </a:solidFill>
              </a:rPr>
              <a:t>해당 간행물에 관하여 중판 또는 재판 등이 있고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여기에 초판의 발행시기가 기재되어 있을 때에는 그 초판의 발행일을 </a:t>
            </a:r>
            <a:r>
              <a:rPr lang="ko-KR" altLang="en-US" sz="1400" dirty="0" err="1">
                <a:solidFill>
                  <a:schemeClr val="tx2"/>
                </a:solidFill>
              </a:rPr>
              <a:t>반포시기로</a:t>
            </a:r>
            <a:r>
              <a:rPr lang="ko-KR" altLang="en-US" sz="1400" dirty="0">
                <a:solidFill>
                  <a:schemeClr val="tx2"/>
                </a:solidFill>
              </a:rPr>
              <a:t> 추정한다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 재판의 경우에는 재판과 초판의 인용하는 부분의 내용이 상호 일치할 것을 전제로 한다</a:t>
            </a:r>
            <a:r>
              <a:rPr lang="en-US" altLang="ko-KR" sz="1400" dirty="0">
                <a:solidFill>
                  <a:schemeClr val="tx2"/>
                </a:solidFill>
              </a:rPr>
              <a:t>. ⅳ) </a:t>
            </a:r>
            <a:r>
              <a:rPr lang="ko-KR" altLang="en-US" sz="1400" dirty="0">
                <a:solidFill>
                  <a:schemeClr val="tx2"/>
                </a:solidFill>
              </a:rPr>
              <a:t>그 밖에 적당한 근거가 있으면 그것으로부터 </a:t>
            </a:r>
            <a:r>
              <a:rPr lang="ko-KR" altLang="en-US" sz="1400" dirty="0" err="1">
                <a:solidFill>
                  <a:schemeClr val="tx2"/>
                </a:solidFill>
              </a:rPr>
              <a:t>반포시기를</a:t>
            </a:r>
            <a:r>
              <a:rPr lang="ko-KR" altLang="en-US" sz="1400" dirty="0">
                <a:solidFill>
                  <a:schemeClr val="tx2"/>
                </a:solidFill>
              </a:rPr>
              <a:t> 추정 또는 인정한다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이와 같은 추정은 반증에 의하면 얼마든지 번복될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91" name="직선 연결선 90"/>
          <p:cNvCxnSpPr/>
          <p:nvPr/>
        </p:nvCxnSpPr>
        <p:spPr>
          <a:xfrm>
            <a:off x="0" y="216473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290626" y="4359385"/>
            <a:ext cx="357513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 flipH="1">
            <a:off x="3173068" y="4418729"/>
            <a:ext cx="1" cy="5122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680324" y="4796102"/>
            <a:ext cx="1018228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/>
              <a:t>국내입수</a:t>
            </a:r>
            <a:endParaRPr lang="ko-KR" altLang="en-US" sz="1050" dirty="0"/>
          </a:p>
        </p:txBody>
      </p:sp>
      <p:sp>
        <p:nvSpPr>
          <p:cNvPr id="9" name="자유형 8"/>
          <p:cNvSpPr/>
          <p:nvPr/>
        </p:nvSpPr>
        <p:spPr>
          <a:xfrm>
            <a:off x="1705431" y="3890779"/>
            <a:ext cx="1485900" cy="449720"/>
          </a:xfrm>
          <a:custGeom>
            <a:avLst/>
            <a:gdLst>
              <a:gd name="connsiteX0" fmla="*/ 1485900 w 1485900"/>
              <a:gd name="connsiteY0" fmla="*/ 437020 h 449720"/>
              <a:gd name="connsiteX1" fmla="*/ 1143000 w 1485900"/>
              <a:gd name="connsiteY1" fmla="*/ 56020 h 449720"/>
              <a:gd name="connsiteX2" fmla="*/ 393700 w 1485900"/>
              <a:gd name="connsiteY2" fmla="*/ 43320 h 449720"/>
              <a:gd name="connsiteX3" fmla="*/ 0 w 1485900"/>
              <a:gd name="connsiteY3" fmla="*/ 449720 h 449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5900" h="449720">
                <a:moveTo>
                  <a:pt x="1485900" y="437020"/>
                </a:moveTo>
                <a:cubicBezTo>
                  <a:pt x="1405466" y="279328"/>
                  <a:pt x="1325033" y="121637"/>
                  <a:pt x="1143000" y="56020"/>
                </a:cubicBezTo>
                <a:cubicBezTo>
                  <a:pt x="960967" y="-9597"/>
                  <a:pt x="584200" y="-22297"/>
                  <a:pt x="393700" y="43320"/>
                </a:cubicBezTo>
                <a:cubicBezTo>
                  <a:pt x="203200" y="108937"/>
                  <a:pt x="101600" y="279328"/>
                  <a:pt x="0" y="449720"/>
                </a:cubicBez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1870338" y="3502561"/>
            <a:ext cx="1156087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입수소요기간</a:t>
            </a:r>
            <a:endParaRPr lang="ko-KR" altLang="en-US" sz="900" dirty="0"/>
          </a:p>
        </p:txBody>
      </p:sp>
      <p:cxnSp>
        <p:nvCxnSpPr>
          <p:cNvPr id="11" name="직선 연결선 10"/>
          <p:cNvCxnSpPr>
            <a:endCxn id="9" idx="3"/>
          </p:cNvCxnSpPr>
          <p:nvPr/>
        </p:nvCxnSpPr>
        <p:spPr>
          <a:xfrm>
            <a:off x="290626" y="4340499"/>
            <a:ext cx="1414805" cy="0"/>
          </a:xfrm>
          <a:prstGeom prst="line">
            <a:avLst/>
          </a:prstGeom>
          <a:ln w="571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>
            <a:endCxn id="54" idx="0"/>
          </p:cNvCxnSpPr>
          <p:nvPr/>
        </p:nvCxnSpPr>
        <p:spPr>
          <a:xfrm>
            <a:off x="1663038" y="4389057"/>
            <a:ext cx="16995" cy="80629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990581" y="5195347"/>
            <a:ext cx="137890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FF0000"/>
                </a:solidFill>
              </a:rPr>
              <a:t>반포 추정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59" name="직선 연결선 58"/>
          <p:cNvCxnSpPr/>
          <p:nvPr/>
        </p:nvCxnSpPr>
        <p:spPr>
          <a:xfrm>
            <a:off x="4137933" y="2713404"/>
            <a:ext cx="0" cy="394697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4412681" y="4359385"/>
            <a:ext cx="306127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 flipH="1">
            <a:off x="6061411" y="4418729"/>
            <a:ext cx="1" cy="5122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/>
          <p:cNvCxnSpPr/>
          <p:nvPr/>
        </p:nvCxnSpPr>
        <p:spPr>
          <a:xfrm>
            <a:off x="4412681" y="4340499"/>
            <a:ext cx="1665103" cy="0"/>
          </a:xfrm>
          <a:prstGeom prst="line">
            <a:avLst/>
          </a:prstGeom>
          <a:ln w="571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4432364" y="3307444"/>
            <a:ext cx="2568332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>
                <a:solidFill>
                  <a:srgbClr val="FF0000"/>
                </a:solidFill>
              </a:rPr>
              <a:t>B </a:t>
            </a:r>
            <a:r>
              <a:rPr lang="ko-KR" altLang="en-US" sz="2400" dirty="0">
                <a:solidFill>
                  <a:srgbClr val="FF0000"/>
                </a:solidFill>
              </a:rPr>
              <a:t>간행물 반포 추정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082617" y="5558572"/>
            <a:ext cx="1957587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B </a:t>
            </a:r>
            <a:r>
              <a:rPr lang="ko-KR" altLang="en-US" sz="1600" dirty="0"/>
              <a:t>간행물은 쓰레기다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cxnSp>
        <p:nvCxnSpPr>
          <p:cNvPr id="85" name="직선 연결선 84"/>
          <p:cNvCxnSpPr>
            <a:endCxn id="83" idx="2"/>
          </p:cNvCxnSpPr>
          <p:nvPr/>
        </p:nvCxnSpPr>
        <p:spPr>
          <a:xfrm flipH="1" flipV="1">
            <a:off x="5716530" y="3769109"/>
            <a:ext cx="361254" cy="537592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/>
          <p:cNvCxnSpPr/>
          <p:nvPr/>
        </p:nvCxnSpPr>
        <p:spPr>
          <a:xfrm>
            <a:off x="7882619" y="2713404"/>
            <a:ext cx="0" cy="394697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아래쪽 화살표 설명선 44"/>
          <p:cNvSpPr/>
          <p:nvPr/>
        </p:nvSpPr>
        <p:spPr>
          <a:xfrm>
            <a:off x="5245232" y="4930985"/>
            <a:ext cx="1634541" cy="555017"/>
          </a:xfrm>
          <a:prstGeom prst="downArrowCallout">
            <a:avLst>
              <a:gd name="adj1" fmla="val 155756"/>
              <a:gd name="adj2" fmla="val 95608"/>
              <a:gd name="adj3" fmla="val 25000"/>
              <a:gd name="adj4" fmla="val 6497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 </a:t>
            </a:r>
            <a:r>
              <a:rPr lang="ko-KR" altLang="en-US" dirty="0">
                <a:solidFill>
                  <a:schemeClr val="tx1"/>
                </a:solidFill>
              </a:rPr>
              <a:t>간행물 반포</a:t>
            </a:r>
          </a:p>
        </p:txBody>
      </p:sp>
      <p:cxnSp>
        <p:nvCxnSpPr>
          <p:cNvPr id="87" name="직선 연결선 86"/>
          <p:cNvCxnSpPr/>
          <p:nvPr/>
        </p:nvCxnSpPr>
        <p:spPr>
          <a:xfrm>
            <a:off x="7996466" y="4359385"/>
            <a:ext cx="357513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/>
          <p:cNvCxnSpPr/>
          <p:nvPr/>
        </p:nvCxnSpPr>
        <p:spPr>
          <a:xfrm flipH="1">
            <a:off x="10878908" y="4418729"/>
            <a:ext cx="1" cy="5122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8928693" y="4037905"/>
            <a:ext cx="880370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2017.5.1</a:t>
            </a:r>
            <a:endParaRPr lang="ko-KR" altLang="en-US" sz="900" dirty="0"/>
          </a:p>
        </p:txBody>
      </p:sp>
      <p:cxnSp>
        <p:nvCxnSpPr>
          <p:cNvPr id="95" name="직선 연결선 94"/>
          <p:cNvCxnSpPr>
            <a:stCxn id="93" idx="0"/>
          </p:cNvCxnSpPr>
          <p:nvPr/>
        </p:nvCxnSpPr>
        <p:spPr>
          <a:xfrm flipH="1" flipV="1">
            <a:off x="9364006" y="3627909"/>
            <a:ext cx="4872" cy="409996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8021922" y="3133527"/>
            <a:ext cx="2656496" cy="67710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FF0000"/>
                </a:solidFill>
              </a:rPr>
              <a:t>반포 추정</a:t>
            </a:r>
            <a:endParaRPr lang="en-US" altLang="ko-KR" sz="24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단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초판과 재판의 </a:t>
            </a:r>
            <a:r>
              <a:rPr lang="ko-KR" altLang="en-US" sz="1400" dirty="0" err="1">
                <a:solidFill>
                  <a:srgbClr val="FF0000"/>
                </a:solidFill>
              </a:rPr>
              <a:t>인용부분</a:t>
            </a:r>
            <a:r>
              <a:rPr lang="ko-KR" altLang="en-US" sz="1400" dirty="0">
                <a:solidFill>
                  <a:srgbClr val="FF0000"/>
                </a:solidFill>
              </a:rPr>
              <a:t> 일치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98" name="아래쪽 화살표 설명선 97"/>
          <p:cNvSpPr/>
          <p:nvPr/>
        </p:nvSpPr>
        <p:spPr>
          <a:xfrm>
            <a:off x="10079900" y="4930985"/>
            <a:ext cx="1634541" cy="555017"/>
          </a:xfrm>
          <a:prstGeom prst="downArrowCallout">
            <a:avLst>
              <a:gd name="adj1" fmla="val 155756"/>
              <a:gd name="adj2" fmla="val 95608"/>
              <a:gd name="adj3" fmla="val 25000"/>
              <a:gd name="adj4" fmla="val 6497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재판 발행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996078" y="5644550"/>
            <a:ext cx="2020105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600" dirty="0" err="1"/>
              <a:t>초판발행일</a:t>
            </a:r>
            <a:r>
              <a:rPr lang="en-US" altLang="ko-KR" sz="1600" dirty="0"/>
              <a:t>: 2017.5.1</a:t>
            </a:r>
            <a:endParaRPr lang="ko-KR" altLang="en-US" sz="16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57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4BC3-6C1E-27F0-2DF7-C69C1FEBF86A}"/>
              </a:ext>
            </a:extLst>
          </p:cNvPr>
          <p:cNvSpPr txBox="1"/>
          <p:nvPr/>
        </p:nvSpPr>
        <p:spPr>
          <a:xfrm>
            <a:off x="163267" y="2293598"/>
            <a:ext cx="4112023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>
                <a:highlight>
                  <a:srgbClr val="FFFF00"/>
                </a:highlight>
              </a:rPr>
              <a:t>최대한 늦게 반포된 것으로 추정 또는 간주</a:t>
            </a:r>
          </a:p>
        </p:txBody>
      </p:sp>
    </p:spTree>
    <p:extLst>
      <p:ext uri="{BB962C8B-B14F-4D97-AF65-F5344CB8AC3E}">
        <p14:creationId xmlns:p14="http://schemas.microsoft.com/office/powerpoint/2010/main" val="3740674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항각호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특허출원 및 </a:t>
            </a:r>
            <a:r>
              <a:rPr lang="ko-KR" altLang="en-US" dirty="0" err="1"/>
              <a:t>출원공개의</a:t>
            </a:r>
            <a:r>
              <a:rPr lang="ko-KR" altLang="en-US" dirty="0"/>
              <a:t> </a:t>
            </a:r>
            <a:r>
              <a:rPr lang="ko-KR" altLang="en-US" dirty="0" err="1"/>
              <a:t>공지기술</a:t>
            </a:r>
            <a:r>
              <a:rPr lang="ko-KR" altLang="en-US" dirty="0"/>
              <a:t> 지위 인정 여부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875" y="986046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/>
              <a:t>甲 출원</a:t>
            </a:r>
            <a:r>
              <a:rPr lang="en-US" altLang="ko-KR" sz="1400" dirty="0"/>
              <a:t>(X)</a:t>
            </a:r>
            <a:r>
              <a:rPr lang="ko-KR" altLang="en-US" sz="1400" dirty="0"/>
              <a:t>은</a:t>
            </a:r>
            <a:r>
              <a:rPr lang="en-US" altLang="ko-KR" sz="1400" dirty="0"/>
              <a:t> </a:t>
            </a:r>
            <a:r>
              <a:rPr lang="ko-KR" altLang="en-US" sz="1400" dirty="0"/>
              <a:t>발명의 내용을 포함하고 있어 정보성이 있으나 </a:t>
            </a:r>
            <a:r>
              <a:rPr lang="ko-KR" altLang="en-US" sz="1400" dirty="0">
                <a:highlight>
                  <a:srgbClr val="FFFF00"/>
                </a:highlight>
              </a:rPr>
              <a:t>지식재산처 직원이 비밀유지의무가 있는 특정인</a:t>
            </a:r>
            <a:r>
              <a:rPr lang="ko-KR" altLang="en-US" sz="1400" dirty="0"/>
              <a:t>이기 때문에 공개성이 없어 간행물이라 할 수 없다</a:t>
            </a:r>
            <a:r>
              <a:rPr lang="en-US" altLang="ko-KR" sz="1400" dirty="0"/>
              <a:t>. </a:t>
            </a:r>
            <a:r>
              <a:rPr lang="ko-KR" altLang="en-US" sz="1400" dirty="0"/>
              <a:t>한편 甲 출원</a:t>
            </a:r>
            <a:r>
              <a:rPr lang="en-US" altLang="ko-KR" sz="1400" dirty="0"/>
              <a:t>(X)</a:t>
            </a:r>
            <a:r>
              <a:rPr lang="ko-KR" altLang="en-US" sz="1400" dirty="0"/>
              <a:t>의 </a:t>
            </a:r>
            <a:r>
              <a:rPr lang="ko-KR" altLang="en-US" sz="1400" dirty="0" err="1"/>
              <a:t>출원공개는</a:t>
            </a:r>
            <a:r>
              <a:rPr lang="ko-KR" altLang="en-US" sz="1400" dirty="0"/>
              <a:t> 출원된 내용을 </a:t>
            </a:r>
            <a:r>
              <a:rPr lang="ko-KR" altLang="en-US" sz="1400" dirty="0" err="1"/>
              <a:t>공개공보에</a:t>
            </a:r>
            <a:r>
              <a:rPr lang="ko-KR" altLang="en-US" sz="1400" dirty="0"/>
              <a:t> 게재하여 일반 공중에게 발명의 내용을 알리는 것이기 때문에 </a:t>
            </a:r>
            <a:r>
              <a:rPr lang="ko-KR" altLang="en-US" sz="1400" dirty="0" err="1">
                <a:highlight>
                  <a:srgbClr val="FFFF00"/>
                </a:highlight>
              </a:rPr>
              <a:t>정보성과</a:t>
            </a:r>
            <a:r>
              <a:rPr lang="ko-KR" altLang="en-US" sz="1400" dirty="0">
                <a:highlight>
                  <a:srgbClr val="FFFF00"/>
                </a:highlight>
              </a:rPr>
              <a:t> </a:t>
            </a:r>
            <a:r>
              <a:rPr lang="ko-KR" altLang="en-US" sz="1400" dirty="0" err="1">
                <a:highlight>
                  <a:srgbClr val="FFFF00"/>
                </a:highlight>
              </a:rPr>
              <a:t>공개성이</a:t>
            </a:r>
            <a:r>
              <a:rPr lang="ko-KR" altLang="en-US" sz="1400" dirty="0">
                <a:highlight>
                  <a:srgbClr val="FFFF00"/>
                </a:highlight>
              </a:rPr>
              <a:t> 있어</a:t>
            </a:r>
            <a:r>
              <a:rPr lang="ko-KR" altLang="en-US" sz="1400" dirty="0"/>
              <a:t> 간행물이라 할 수 있다</a:t>
            </a:r>
            <a:r>
              <a:rPr lang="en-US" altLang="ko-KR" sz="1400" dirty="0"/>
              <a:t>. </a:t>
            </a:r>
            <a:r>
              <a:rPr lang="ko-KR" altLang="en-US" sz="1400" dirty="0"/>
              <a:t>따라서 乙의 출원</a:t>
            </a:r>
            <a:r>
              <a:rPr lang="en-US" altLang="ko-KR" sz="1400" dirty="0"/>
              <a:t>(Y)</a:t>
            </a:r>
            <a:r>
              <a:rPr lang="ko-KR" altLang="en-US" sz="1400" dirty="0"/>
              <a:t>은 특허출원</a:t>
            </a:r>
            <a:r>
              <a:rPr lang="en-US" altLang="ko-KR" sz="1400" dirty="0"/>
              <a:t>(Y) </a:t>
            </a:r>
            <a:r>
              <a:rPr lang="ko-KR" altLang="en-US" sz="1400" dirty="0"/>
              <a:t>전에 </a:t>
            </a:r>
            <a:r>
              <a:rPr lang="ko-KR" altLang="en-US" sz="1400" dirty="0" err="1"/>
              <a:t>공지기술이</a:t>
            </a:r>
            <a:r>
              <a:rPr lang="ko-KR" altLang="en-US" sz="1400" dirty="0"/>
              <a:t> 없어 신규성이 상실되지 아니하지만</a:t>
            </a:r>
            <a:r>
              <a:rPr lang="en-US" altLang="ko-KR" sz="1400" dirty="0"/>
              <a:t>, </a:t>
            </a:r>
            <a:r>
              <a:rPr lang="ko-KR" altLang="en-US" sz="1400" dirty="0"/>
              <a:t>丙의 출원</a:t>
            </a:r>
            <a:r>
              <a:rPr lang="en-US" altLang="ko-KR" sz="1400" dirty="0"/>
              <a:t>(Z)</a:t>
            </a:r>
            <a:r>
              <a:rPr lang="ko-KR" altLang="en-US" sz="1400" dirty="0"/>
              <a:t>은 특허출원</a:t>
            </a:r>
            <a:r>
              <a:rPr lang="en-US" altLang="ko-KR" sz="1400" dirty="0"/>
              <a:t>(Z) </a:t>
            </a:r>
            <a:r>
              <a:rPr lang="ko-KR" altLang="en-US" sz="1400" dirty="0"/>
              <a:t>전에 甲 출원의 공개</a:t>
            </a:r>
            <a:r>
              <a:rPr lang="en-US" altLang="ko-KR" sz="1400" dirty="0"/>
              <a:t>(X)</a:t>
            </a:r>
            <a:r>
              <a:rPr lang="ko-KR" altLang="en-US" sz="1400" dirty="0"/>
              <a:t>에 의한 </a:t>
            </a:r>
            <a:r>
              <a:rPr lang="ko-KR" altLang="en-US" sz="1400" dirty="0" err="1"/>
              <a:t>공지기술이</a:t>
            </a:r>
            <a:r>
              <a:rPr lang="ko-KR" altLang="en-US" sz="1400" dirty="0"/>
              <a:t> 있고</a:t>
            </a:r>
            <a:r>
              <a:rPr lang="en-US" altLang="ko-KR" sz="1400" dirty="0"/>
              <a:t>, </a:t>
            </a:r>
            <a:r>
              <a:rPr lang="ko-KR" altLang="en-US" sz="1400" dirty="0"/>
              <a:t>그 </a:t>
            </a:r>
            <a:r>
              <a:rPr lang="ko-KR" altLang="en-US" sz="1400" dirty="0" err="1"/>
              <a:t>공지기술과</a:t>
            </a:r>
            <a:r>
              <a:rPr lang="ko-KR" altLang="en-US" sz="1400" dirty="0"/>
              <a:t> 丙의 출원</a:t>
            </a:r>
            <a:r>
              <a:rPr lang="en-US" altLang="ko-KR" sz="1400" dirty="0"/>
              <a:t>(Z)</a:t>
            </a:r>
            <a:r>
              <a:rPr lang="ko-KR" altLang="en-US" sz="1400" dirty="0"/>
              <a:t>의 </a:t>
            </a:r>
            <a:r>
              <a:rPr lang="ko-KR" altLang="en-US" sz="1400" dirty="0" err="1"/>
              <a:t>청구범위에</a:t>
            </a:r>
            <a:r>
              <a:rPr lang="ko-KR" altLang="en-US" sz="1400" dirty="0"/>
              <a:t> 기재된 발명인 </a:t>
            </a:r>
            <a:r>
              <a:rPr lang="en-US" altLang="ko-KR" sz="1400" dirty="0"/>
              <a:t>C</a:t>
            </a:r>
            <a:r>
              <a:rPr lang="ko-KR" altLang="en-US" sz="1400" dirty="0"/>
              <a:t>가 동일성이 있어 신규성이 상실된다</a:t>
            </a:r>
            <a:r>
              <a:rPr lang="en-US" altLang="ko-KR" sz="1400" dirty="0"/>
              <a:t>. </a:t>
            </a:r>
            <a:r>
              <a:rPr lang="ko-KR" altLang="en-US" sz="1400" dirty="0"/>
              <a:t>물론</a:t>
            </a:r>
            <a:r>
              <a:rPr lang="en-US" altLang="ko-KR" sz="1400" dirty="0"/>
              <a:t>, </a:t>
            </a:r>
            <a:r>
              <a:rPr lang="ko-KR" altLang="en-US" sz="1400" dirty="0"/>
              <a:t>乙의 출원</a:t>
            </a:r>
            <a:r>
              <a:rPr lang="en-US" altLang="ko-KR" sz="1400" dirty="0"/>
              <a:t>(Y)</a:t>
            </a:r>
            <a:r>
              <a:rPr lang="ko-KR" altLang="en-US" sz="1400" dirty="0"/>
              <a:t>은 신규성이 상실되지는 아니하지만 확대된 </a:t>
            </a:r>
            <a:r>
              <a:rPr lang="ko-KR" altLang="en-US" sz="1400" dirty="0" err="1"/>
              <a:t>선출원</a:t>
            </a:r>
            <a:r>
              <a:rPr lang="ko-KR" altLang="en-US" sz="1400" dirty="0"/>
              <a:t> 위반으로 특허를 받을 수 없다</a:t>
            </a:r>
            <a:r>
              <a:rPr lang="en-US" altLang="ko-KR" sz="1400" dirty="0"/>
              <a:t>. </a:t>
            </a:r>
            <a:endParaRPr lang="ko-KR" altLang="en-US" sz="1400" dirty="0"/>
          </a:p>
        </p:txBody>
      </p:sp>
      <p:cxnSp>
        <p:nvCxnSpPr>
          <p:cNvPr id="91" name="직선 연결선 90"/>
          <p:cNvCxnSpPr/>
          <p:nvPr/>
        </p:nvCxnSpPr>
        <p:spPr>
          <a:xfrm>
            <a:off x="0" y="216473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4238171" y="4203442"/>
            <a:ext cx="7547429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4643091" y="4479065"/>
            <a:ext cx="1467422" cy="3453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甲 특허출원</a:t>
            </a:r>
            <a:r>
              <a:rPr lang="en-US" altLang="ko-KR" sz="1400" dirty="0">
                <a:solidFill>
                  <a:schemeClr val="tx1"/>
                </a:solidFill>
              </a:rPr>
              <a:t>(X)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5" name="직선 화살표 연결선 4"/>
          <p:cNvCxnSpPr>
            <a:stCxn id="31" idx="0"/>
          </p:cNvCxnSpPr>
          <p:nvPr/>
        </p:nvCxnSpPr>
        <p:spPr>
          <a:xfrm flipV="1">
            <a:off x="5376802" y="4203443"/>
            <a:ext cx="0" cy="27562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그룹 49"/>
          <p:cNvGrpSpPr/>
          <p:nvPr/>
        </p:nvGrpSpPr>
        <p:grpSpPr>
          <a:xfrm>
            <a:off x="4643091" y="4895929"/>
            <a:ext cx="1467422" cy="612001"/>
            <a:chOff x="2814293" y="4469336"/>
            <a:chExt cx="1177134" cy="696098"/>
          </a:xfrm>
        </p:grpSpPr>
        <p:sp>
          <p:nvSpPr>
            <p:cNvPr id="36" name="직사각형 35"/>
            <p:cNvSpPr/>
            <p:nvPr/>
          </p:nvSpPr>
          <p:spPr>
            <a:xfrm>
              <a:off x="2814293" y="4469336"/>
              <a:ext cx="1177134" cy="34804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1"/>
                  </a:solidFill>
                </a:rPr>
                <a:t>A</a:t>
              </a:r>
              <a:endParaRPr lang="ko-KR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2814293" y="4817385"/>
              <a:ext cx="1177134" cy="348049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1"/>
                  </a:solidFill>
                </a:rPr>
                <a:t>A, B, C</a:t>
              </a:r>
              <a:endParaRPr lang="ko-KR" altLang="en-US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39" name="직사각형 38"/>
          <p:cNvSpPr/>
          <p:nvPr/>
        </p:nvSpPr>
        <p:spPr>
          <a:xfrm>
            <a:off x="477494" y="3351150"/>
            <a:ext cx="1177134" cy="34804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출원서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477494" y="3815607"/>
            <a:ext cx="1177134" cy="34804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명세서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477494" y="4308322"/>
            <a:ext cx="1177134" cy="34804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필요한 도면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477494" y="4772779"/>
            <a:ext cx="1177134" cy="34804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요약서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1957951" y="3815607"/>
            <a:ext cx="1785259" cy="3191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발명의 설명</a:t>
            </a:r>
            <a:r>
              <a:rPr lang="en-US" altLang="ko-KR" sz="1400" dirty="0">
                <a:solidFill>
                  <a:schemeClr val="tx1"/>
                </a:solidFill>
              </a:rPr>
              <a:t>: A, B, C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1957951" y="4308321"/>
            <a:ext cx="1785259" cy="375251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bg1"/>
                </a:solidFill>
              </a:rPr>
              <a:t>청구범위</a:t>
            </a:r>
            <a:r>
              <a:rPr lang="en-US" altLang="ko-KR" sz="1400" dirty="0">
                <a:solidFill>
                  <a:schemeClr val="bg1"/>
                </a:solidFill>
              </a:rPr>
              <a:t>: A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cxnSp>
        <p:nvCxnSpPr>
          <p:cNvPr id="8" name="꺾인 연결선 7"/>
          <p:cNvCxnSpPr>
            <a:stCxn id="39" idx="1"/>
            <a:endCxn id="42" idx="1"/>
          </p:cNvCxnSpPr>
          <p:nvPr/>
        </p:nvCxnSpPr>
        <p:spPr>
          <a:xfrm rot="10800000" flipV="1">
            <a:off x="477494" y="3525174"/>
            <a:ext cx="12700" cy="1421629"/>
          </a:xfrm>
          <a:prstGeom prst="bentConnector3">
            <a:avLst>
              <a:gd name="adj1" fmla="val 180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 11"/>
          <p:cNvCxnSpPr>
            <a:stCxn id="39" idx="1"/>
            <a:endCxn id="40" idx="1"/>
          </p:cNvCxnSpPr>
          <p:nvPr/>
        </p:nvCxnSpPr>
        <p:spPr>
          <a:xfrm rot="10800000" flipV="1">
            <a:off x="477494" y="3525174"/>
            <a:ext cx="12700" cy="464457"/>
          </a:xfrm>
          <a:prstGeom prst="bentConnector3">
            <a:avLst>
              <a:gd name="adj1" fmla="val 180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꺾인 연결선 13"/>
          <p:cNvCxnSpPr>
            <a:stCxn id="39" idx="1"/>
            <a:endCxn id="41" idx="1"/>
          </p:cNvCxnSpPr>
          <p:nvPr/>
        </p:nvCxnSpPr>
        <p:spPr>
          <a:xfrm rot="10800000" flipV="1">
            <a:off x="477494" y="3525175"/>
            <a:ext cx="12700" cy="957172"/>
          </a:xfrm>
          <a:prstGeom prst="bentConnector3">
            <a:avLst>
              <a:gd name="adj1" fmla="val 180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stCxn id="40" idx="3"/>
            <a:endCxn id="44" idx="1"/>
          </p:cNvCxnSpPr>
          <p:nvPr/>
        </p:nvCxnSpPr>
        <p:spPr>
          <a:xfrm>
            <a:off x="1654628" y="3989632"/>
            <a:ext cx="303323" cy="50631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>
            <a:cxnSpLocks/>
            <a:stCxn id="40" idx="3"/>
            <a:endCxn id="38" idx="1"/>
          </p:cNvCxnSpPr>
          <p:nvPr/>
        </p:nvCxnSpPr>
        <p:spPr>
          <a:xfrm>
            <a:off x="1654628" y="3989632"/>
            <a:ext cx="2988463" cy="1365299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>
            <a:cxnSpLocks/>
            <a:stCxn id="44" idx="3"/>
            <a:endCxn id="36" idx="1"/>
          </p:cNvCxnSpPr>
          <p:nvPr/>
        </p:nvCxnSpPr>
        <p:spPr>
          <a:xfrm>
            <a:off x="3743210" y="4495947"/>
            <a:ext cx="899881" cy="552983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/>
          <p:cNvSpPr/>
          <p:nvPr/>
        </p:nvSpPr>
        <p:spPr>
          <a:xfrm>
            <a:off x="7763662" y="4479065"/>
            <a:ext cx="1467424" cy="3453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甲 </a:t>
            </a:r>
            <a:r>
              <a:rPr lang="ko-KR" altLang="en-US" sz="1400" dirty="0" err="1">
                <a:solidFill>
                  <a:schemeClr val="tx1"/>
                </a:solidFill>
              </a:rPr>
              <a:t>출원공개</a:t>
            </a:r>
            <a:r>
              <a:rPr lang="en-US" altLang="ko-KR" sz="1400" dirty="0">
                <a:solidFill>
                  <a:schemeClr val="tx1"/>
                </a:solidFill>
              </a:rPr>
              <a:t>(X)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64" name="직선 화살표 연결선 63"/>
          <p:cNvCxnSpPr>
            <a:stCxn id="63" idx="0"/>
          </p:cNvCxnSpPr>
          <p:nvPr/>
        </p:nvCxnSpPr>
        <p:spPr>
          <a:xfrm flipV="1">
            <a:off x="8497374" y="4203443"/>
            <a:ext cx="0" cy="27562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/>
          <p:cNvSpPr/>
          <p:nvPr/>
        </p:nvSpPr>
        <p:spPr>
          <a:xfrm>
            <a:off x="6283205" y="3593189"/>
            <a:ext cx="1467422" cy="3453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乙 특허출원</a:t>
            </a:r>
            <a:r>
              <a:rPr lang="en-US" altLang="ko-KR" sz="1400" dirty="0">
                <a:solidFill>
                  <a:schemeClr val="tx1"/>
                </a:solidFill>
              </a:rPr>
              <a:t>(Y)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76" name="직선 화살표 연결선 75"/>
          <p:cNvCxnSpPr>
            <a:stCxn id="75" idx="2"/>
          </p:cNvCxnSpPr>
          <p:nvPr/>
        </p:nvCxnSpPr>
        <p:spPr>
          <a:xfrm>
            <a:off x="7016916" y="3938546"/>
            <a:ext cx="0" cy="24339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그룹 76"/>
          <p:cNvGrpSpPr/>
          <p:nvPr/>
        </p:nvGrpSpPr>
        <p:grpSpPr>
          <a:xfrm>
            <a:off x="6283205" y="2900880"/>
            <a:ext cx="1467422" cy="612001"/>
            <a:chOff x="2814293" y="4469336"/>
            <a:chExt cx="1177134" cy="696098"/>
          </a:xfrm>
          <a:solidFill>
            <a:schemeClr val="bg1"/>
          </a:solidFill>
        </p:grpSpPr>
        <p:sp>
          <p:nvSpPr>
            <p:cNvPr id="79" name="직사각형 78"/>
            <p:cNvSpPr/>
            <p:nvPr/>
          </p:nvSpPr>
          <p:spPr>
            <a:xfrm>
              <a:off x="2814293" y="4469336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B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2814293" y="4817385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B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89" name="직사각형 88"/>
          <p:cNvSpPr/>
          <p:nvPr/>
        </p:nvSpPr>
        <p:spPr>
          <a:xfrm>
            <a:off x="9535886" y="3593189"/>
            <a:ext cx="1467422" cy="3453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丙 특허출원</a:t>
            </a:r>
            <a:r>
              <a:rPr lang="en-US" altLang="ko-KR" sz="1400" dirty="0">
                <a:solidFill>
                  <a:schemeClr val="tx1"/>
                </a:solidFill>
              </a:rPr>
              <a:t>(Z)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92" name="직선 화살표 연결선 91"/>
          <p:cNvCxnSpPr>
            <a:stCxn id="89" idx="2"/>
          </p:cNvCxnSpPr>
          <p:nvPr/>
        </p:nvCxnSpPr>
        <p:spPr>
          <a:xfrm>
            <a:off x="10269597" y="3938546"/>
            <a:ext cx="0" cy="24339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그룹 93"/>
          <p:cNvGrpSpPr/>
          <p:nvPr/>
        </p:nvGrpSpPr>
        <p:grpSpPr>
          <a:xfrm>
            <a:off x="9535886" y="2900880"/>
            <a:ext cx="1467422" cy="612001"/>
            <a:chOff x="2814293" y="4469336"/>
            <a:chExt cx="1177134" cy="696098"/>
          </a:xfrm>
          <a:solidFill>
            <a:schemeClr val="bg1"/>
          </a:solidFill>
        </p:grpSpPr>
        <p:sp>
          <p:nvSpPr>
            <p:cNvPr id="96" name="직사각형 95"/>
            <p:cNvSpPr/>
            <p:nvPr/>
          </p:nvSpPr>
          <p:spPr>
            <a:xfrm>
              <a:off x="2814293" y="4469336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C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00" name="직사각형 99"/>
            <p:cNvSpPr/>
            <p:nvPr/>
          </p:nvSpPr>
          <p:spPr>
            <a:xfrm>
              <a:off x="2814293" y="4817385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C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71" name="꺾인 연결선 70"/>
          <p:cNvCxnSpPr>
            <a:stCxn id="40" idx="3"/>
            <a:endCxn id="43" idx="1"/>
          </p:cNvCxnSpPr>
          <p:nvPr/>
        </p:nvCxnSpPr>
        <p:spPr>
          <a:xfrm flipV="1">
            <a:off x="1654628" y="3975190"/>
            <a:ext cx="303323" cy="1444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4021821" y="2513105"/>
            <a:ext cx="0" cy="394697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7016916" y="5481877"/>
            <a:ext cx="1707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간행물인지 여부</a:t>
            </a:r>
            <a:endParaRPr lang="en-US" altLang="ko-KR" dirty="0">
              <a:solidFill>
                <a:srgbClr val="FF0000"/>
              </a:solidFill>
            </a:endParaRPr>
          </a:p>
        </p:txBody>
      </p:sp>
      <p:cxnSp>
        <p:nvCxnSpPr>
          <p:cNvPr id="102" name="직선 화살표 연결선 101"/>
          <p:cNvCxnSpPr>
            <a:stCxn id="81" idx="0"/>
            <a:endCxn id="31" idx="3"/>
          </p:cNvCxnSpPr>
          <p:nvPr/>
        </p:nvCxnSpPr>
        <p:spPr>
          <a:xfrm flipH="1" flipV="1">
            <a:off x="6110513" y="4651744"/>
            <a:ext cx="1760163" cy="830133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/>
          <p:cNvCxnSpPr>
            <a:stCxn id="81" idx="0"/>
            <a:endCxn id="63" idx="2"/>
          </p:cNvCxnSpPr>
          <p:nvPr/>
        </p:nvCxnSpPr>
        <p:spPr>
          <a:xfrm flipV="1">
            <a:off x="7870676" y="4824422"/>
            <a:ext cx="626698" cy="657455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6328847" y="5099794"/>
            <a:ext cx="136287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No(</a:t>
            </a:r>
            <a:r>
              <a:rPr lang="ko-KR" altLang="en-US" sz="1200" dirty="0" err="1"/>
              <a:t>공개성이</a:t>
            </a:r>
            <a:r>
              <a:rPr lang="ko-KR" altLang="en-US" sz="1200" dirty="0"/>
              <a:t> 없음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07" name="TextBox 106"/>
          <p:cNvSpPr txBox="1"/>
          <p:nvPr/>
        </p:nvSpPr>
        <p:spPr>
          <a:xfrm>
            <a:off x="8070398" y="5101831"/>
            <a:ext cx="42697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Yes</a:t>
            </a:r>
            <a:endParaRPr lang="ko-KR" altLang="en-US" sz="1200" dirty="0"/>
          </a:p>
        </p:txBody>
      </p:sp>
      <p:sp>
        <p:nvSpPr>
          <p:cNvPr id="108" name="자유형 107"/>
          <p:cNvSpPr/>
          <p:nvPr/>
        </p:nvSpPr>
        <p:spPr>
          <a:xfrm>
            <a:off x="4426857" y="2702295"/>
            <a:ext cx="2583543" cy="201935"/>
          </a:xfrm>
          <a:custGeom>
            <a:avLst/>
            <a:gdLst>
              <a:gd name="connsiteX0" fmla="*/ 2583543 w 2583543"/>
              <a:gd name="connsiteY0" fmla="*/ 406400 h 406400"/>
              <a:gd name="connsiteX1" fmla="*/ 2583543 w 2583543"/>
              <a:gd name="connsiteY1" fmla="*/ 0 h 406400"/>
              <a:gd name="connsiteX2" fmla="*/ 0 w 2583543"/>
              <a:gd name="connsiteY2" fmla="*/ 0 h 40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83543" h="406400">
                <a:moveTo>
                  <a:pt x="2583543" y="406400"/>
                </a:moveTo>
                <a:lnTo>
                  <a:pt x="2583543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자유형 108"/>
          <p:cNvSpPr/>
          <p:nvPr/>
        </p:nvSpPr>
        <p:spPr>
          <a:xfrm>
            <a:off x="4426857" y="2569029"/>
            <a:ext cx="5849257" cy="345357"/>
          </a:xfrm>
          <a:custGeom>
            <a:avLst/>
            <a:gdLst>
              <a:gd name="connsiteX0" fmla="*/ 5849257 w 5849257"/>
              <a:gd name="connsiteY0" fmla="*/ 856342 h 856342"/>
              <a:gd name="connsiteX1" fmla="*/ 5849257 w 5849257"/>
              <a:gd name="connsiteY1" fmla="*/ 0 h 856342"/>
              <a:gd name="connsiteX2" fmla="*/ 0 w 5849257"/>
              <a:gd name="connsiteY2" fmla="*/ 0 h 856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49257" h="856342">
                <a:moveTo>
                  <a:pt x="5849257" y="856342"/>
                </a:moveTo>
                <a:lnTo>
                  <a:pt x="5849257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TextBox 109"/>
          <p:cNvSpPr txBox="1"/>
          <p:nvPr/>
        </p:nvSpPr>
        <p:spPr>
          <a:xfrm>
            <a:off x="4826463" y="2735893"/>
            <a:ext cx="123623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乙의 특허출원 전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884451" y="2624712"/>
            <a:ext cx="123623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丙의 특허출원 전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58</a:t>
            </a:fld>
            <a:endParaRPr lang="ko-KR" altLang="en-US"/>
          </a:p>
        </p:txBody>
      </p:sp>
      <p:cxnSp>
        <p:nvCxnSpPr>
          <p:cNvPr id="48" name="직선 화살표 연결선 47"/>
          <p:cNvCxnSpPr>
            <a:cxnSpLocks/>
            <a:stCxn id="41" idx="3"/>
            <a:endCxn id="38" idx="1"/>
          </p:cNvCxnSpPr>
          <p:nvPr/>
        </p:nvCxnSpPr>
        <p:spPr>
          <a:xfrm>
            <a:off x="1654628" y="4482347"/>
            <a:ext cx="2988463" cy="872584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5088354-6D9E-4316-97EA-CB9C4E68BF81}"/>
              </a:ext>
            </a:extLst>
          </p:cNvPr>
          <p:cNvSpPr txBox="1"/>
          <p:nvPr/>
        </p:nvSpPr>
        <p:spPr>
          <a:xfrm>
            <a:off x="4193151" y="6009368"/>
            <a:ext cx="7706406" cy="64633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丙 출원 기준</a:t>
            </a:r>
            <a:r>
              <a:rPr lang="en-US" altLang="ko-KR" dirty="0"/>
              <a:t>: </a:t>
            </a:r>
            <a:r>
              <a:rPr lang="ko-KR" altLang="en-US" dirty="0"/>
              <a:t>일반적으로 丙 출원일로부터 </a:t>
            </a:r>
            <a:r>
              <a:rPr lang="en-US" altLang="ko-KR" dirty="0"/>
              <a:t>1</a:t>
            </a:r>
            <a:r>
              <a:rPr lang="ko-KR" altLang="en-US" dirty="0"/>
              <a:t>년 </a:t>
            </a:r>
            <a:r>
              <a:rPr lang="en-US" altLang="ko-KR" dirty="0"/>
              <a:t>6</a:t>
            </a:r>
            <a:r>
              <a:rPr lang="ko-KR" altLang="en-US" dirty="0"/>
              <a:t>개월전에 출원된 것</a:t>
            </a:r>
            <a:r>
              <a:rPr lang="en-US" altLang="ko-KR" dirty="0"/>
              <a:t>(</a:t>
            </a:r>
            <a:r>
              <a:rPr lang="ko-KR" altLang="en-US" dirty="0"/>
              <a:t>甲 출원</a:t>
            </a:r>
            <a:r>
              <a:rPr lang="en-US" altLang="ko-KR" dirty="0"/>
              <a:t>)</a:t>
            </a:r>
            <a:r>
              <a:rPr lang="ko-KR" altLang="en-US" dirty="0"/>
              <a:t>만 검색을 할 수 있으며</a:t>
            </a:r>
            <a:r>
              <a:rPr lang="en-US" altLang="ko-KR" dirty="0"/>
              <a:t>, </a:t>
            </a:r>
            <a:r>
              <a:rPr lang="ko-KR" altLang="en-US" dirty="0"/>
              <a:t>그 사이에 있는 출원된 것</a:t>
            </a:r>
            <a:r>
              <a:rPr lang="en-US" altLang="ko-KR" dirty="0"/>
              <a:t>(</a:t>
            </a:r>
            <a:r>
              <a:rPr lang="ko-KR" altLang="en-US" dirty="0"/>
              <a:t>乙 출원</a:t>
            </a:r>
            <a:r>
              <a:rPr lang="en-US" altLang="ko-KR" dirty="0"/>
              <a:t>)</a:t>
            </a:r>
            <a:r>
              <a:rPr lang="ko-KR" altLang="en-US" dirty="0"/>
              <a:t>은 비밀상태를 유지함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42019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항각호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특허출원 전 </a:t>
            </a:r>
            <a:r>
              <a:rPr lang="en-US" altLang="ko-KR" dirty="0"/>
              <a:t>vs </a:t>
            </a:r>
            <a:r>
              <a:rPr lang="ko-KR" altLang="en-US" dirty="0"/>
              <a:t>특허출원일 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875" y="986046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특허출원을 </a:t>
            </a:r>
            <a:r>
              <a:rPr lang="en-US" altLang="ko-KR" sz="1400" dirty="0">
                <a:solidFill>
                  <a:schemeClr val="tx2"/>
                </a:solidFill>
              </a:rPr>
              <a:t>2014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6</a:t>
            </a:r>
            <a:r>
              <a:rPr lang="ko-KR" altLang="en-US" sz="1400" dirty="0">
                <a:solidFill>
                  <a:schemeClr val="tx2"/>
                </a:solidFill>
              </a:rPr>
              <a:t>월 </a:t>
            </a:r>
            <a:r>
              <a:rPr lang="en-US" altLang="ko-KR" sz="1400" dirty="0">
                <a:solidFill>
                  <a:schemeClr val="tx2"/>
                </a:solidFill>
              </a:rPr>
              <a:t>11</a:t>
            </a:r>
            <a:r>
              <a:rPr lang="ko-KR" altLang="en-US" sz="1400" dirty="0">
                <a:solidFill>
                  <a:schemeClr val="tx2"/>
                </a:solidFill>
              </a:rPr>
              <a:t>일 오전 </a:t>
            </a:r>
            <a:r>
              <a:rPr lang="en-US" altLang="ko-KR" sz="1400" dirty="0">
                <a:solidFill>
                  <a:schemeClr val="tx2"/>
                </a:solidFill>
              </a:rPr>
              <a:t>10</a:t>
            </a:r>
            <a:r>
              <a:rPr lang="ko-KR" altLang="en-US" sz="1400" dirty="0">
                <a:solidFill>
                  <a:schemeClr val="tx2"/>
                </a:solidFill>
              </a:rPr>
              <a:t>시에 한 경우 특허출원 전이란 </a:t>
            </a:r>
            <a:r>
              <a:rPr lang="en-US" altLang="ko-KR" sz="1400" dirty="0">
                <a:solidFill>
                  <a:schemeClr val="tx2"/>
                </a:solidFill>
              </a:rPr>
              <a:t>2014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6</a:t>
            </a:r>
            <a:r>
              <a:rPr lang="ko-KR" altLang="en-US" sz="1400" dirty="0">
                <a:solidFill>
                  <a:schemeClr val="tx2"/>
                </a:solidFill>
              </a:rPr>
              <a:t>월 </a:t>
            </a:r>
            <a:r>
              <a:rPr lang="en-US" altLang="ko-KR" sz="1400" dirty="0">
                <a:solidFill>
                  <a:schemeClr val="tx2"/>
                </a:solidFill>
              </a:rPr>
              <a:t>11</a:t>
            </a:r>
            <a:r>
              <a:rPr lang="ko-KR" altLang="en-US" sz="1400" dirty="0">
                <a:solidFill>
                  <a:schemeClr val="tx2"/>
                </a:solidFill>
              </a:rPr>
              <a:t>일 </a:t>
            </a:r>
            <a:r>
              <a:rPr lang="en-US" altLang="ko-KR" sz="1400" dirty="0">
                <a:solidFill>
                  <a:schemeClr val="tx2"/>
                </a:solidFill>
              </a:rPr>
              <a:t>10</a:t>
            </a:r>
            <a:r>
              <a:rPr lang="ko-KR" altLang="en-US" sz="1400" dirty="0">
                <a:solidFill>
                  <a:schemeClr val="tx2"/>
                </a:solidFill>
              </a:rPr>
              <a:t>시 전을 의미하고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특허출원일 전이란 </a:t>
            </a:r>
            <a:r>
              <a:rPr lang="en-US" altLang="ko-KR" sz="1400" dirty="0">
                <a:solidFill>
                  <a:schemeClr val="tx2"/>
                </a:solidFill>
              </a:rPr>
              <a:t>2014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6</a:t>
            </a:r>
            <a:r>
              <a:rPr lang="ko-KR" altLang="en-US" sz="1400" dirty="0">
                <a:solidFill>
                  <a:schemeClr val="tx2"/>
                </a:solidFill>
              </a:rPr>
              <a:t>월 </a:t>
            </a:r>
            <a:r>
              <a:rPr lang="en-US" altLang="ko-KR" sz="1400" dirty="0">
                <a:solidFill>
                  <a:schemeClr val="tx2"/>
                </a:solidFill>
              </a:rPr>
              <a:t>11</a:t>
            </a:r>
            <a:r>
              <a:rPr lang="ko-KR" altLang="en-US" sz="1400" dirty="0">
                <a:solidFill>
                  <a:schemeClr val="tx2"/>
                </a:solidFill>
              </a:rPr>
              <a:t>일 전을 의미한다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즉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특허출원 전은 </a:t>
            </a:r>
            <a:r>
              <a:rPr lang="en-US" altLang="ko-KR" sz="1400" dirty="0">
                <a:highlight>
                  <a:srgbClr val="FFFF00"/>
                </a:highlight>
              </a:rPr>
              <a:t>2014</a:t>
            </a:r>
            <a:r>
              <a:rPr lang="ko-KR" altLang="en-US" sz="1400" dirty="0">
                <a:highlight>
                  <a:srgbClr val="FFFF00"/>
                </a:highlight>
              </a:rPr>
              <a:t>년 </a:t>
            </a:r>
            <a:r>
              <a:rPr lang="en-US" altLang="ko-KR" sz="1400" dirty="0">
                <a:highlight>
                  <a:srgbClr val="FFFF00"/>
                </a:highlight>
              </a:rPr>
              <a:t>6</a:t>
            </a:r>
            <a:r>
              <a:rPr lang="ko-KR" altLang="en-US" sz="1400" dirty="0">
                <a:highlight>
                  <a:srgbClr val="FFFF00"/>
                </a:highlight>
              </a:rPr>
              <a:t>월 </a:t>
            </a:r>
            <a:r>
              <a:rPr lang="en-US" altLang="ko-KR" sz="1400" dirty="0">
                <a:highlight>
                  <a:srgbClr val="FFFF00"/>
                </a:highlight>
              </a:rPr>
              <a:t>11</a:t>
            </a:r>
            <a:r>
              <a:rPr lang="ko-KR" altLang="en-US" sz="1400" dirty="0">
                <a:highlight>
                  <a:srgbClr val="FFFF00"/>
                </a:highlight>
              </a:rPr>
              <a:t>일 오전 </a:t>
            </a:r>
            <a:r>
              <a:rPr lang="en-US" altLang="ko-KR" sz="1400" dirty="0">
                <a:highlight>
                  <a:srgbClr val="FFFF00"/>
                </a:highlight>
              </a:rPr>
              <a:t>0</a:t>
            </a:r>
            <a:r>
              <a:rPr lang="ko-KR" altLang="en-US" sz="1400" dirty="0">
                <a:highlight>
                  <a:srgbClr val="FFFF00"/>
                </a:highlight>
              </a:rPr>
              <a:t>시부터 오전 </a:t>
            </a:r>
            <a:r>
              <a:rPr lang="en-US" altLang="ko-KR" sz="1400" dirty="0">
                <a:highlight>
                  <a:srgbClr val="FFFF00"/>
                </a:highlight>
              </a:rPr>
              <a:t>10</a:t>
            </a:r>
            <a:r>
              <a:rPr lang="ko-KR" altLang="en-US" sz="1400" dirty="0">
                <a:highlight>
                  <a:srgbClr val="FFFF00"/>
                </a:highlight>
              </a:rPr>
              <a:t>시 전까지를 포함하는 의미</a:t>
            </a:r>
            <a:r>
              <a:rPr lang="ko-KR" altLang="en-US" sz="1400" dirty="0">
                <a:solidFill>
                  <a:schemeClr val="tx2"/>
                </a:solidFill>
              </a:rPr>
              <a:t>라는 점에서 특허출원일 전과 구별된다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91" name="직선 연결선 90"/>
          <p:cNvCxnSpPr/>
          <p:nvPr/>
        </p:nvCxnSpPr>
        <p:spPr>
          <a:xfrm>
            <a:off x="0" y="1511602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/>
          <p:cNvSpPr/>
          <p:nvPr/>
        </p:nvSpPr>
        <p:spPr>
          <a:xfrm>
            <a:off x="188686" y="3608614"/>
            <a:ext cx="203200" cy="1104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/>
          <p:cNvGrpSpPr/>
          <p:nvPr/>
        </p:nvGrpSpPr>
        <p:grpSpPr>
          <a:xfrm>
            <a:off x="1553317" y="2269919"/>
            <a:ext cx="8911485" cy="3568665"/>
            <a:chOff x="1553317" y="2269919"/>
            <a:chExt cx="8911485" cy="3568665"/>
          </a:xfrm>
        </p:grpSpPr>
        <p:sp>
          <p:nvSpPr>
            <p:cNvPr id="15" name="자유형 14"/>
            <p:cNvSpPr/>
            <p:nvPr/>
          </p:nvSpPr>
          <p:spPr>
            <a:xfrm>
              <a:off x="1582060" y="2656111"/>
              <a:ext cx="4934857" cy="914400"/>
            </a:xfrm>
            <a:custGeom>
              <a:avLst/>
              <a:gdLst>
                <a:gd name="connsiteX0" fmla="*/ 4934857 w 4934857"/>
                <a:gd name="connsiteY0" fmla="*/ 914400 h 914400"/>
                <a:gd name="connsiteX1" fmla="*/ 4238171 w 4934857"/>
                <a:gd name="connsiteY1" fmla="*/ 0 h 914400"/>
                <a:gd name="connsiteX2" fmla="*/ 0 w 4934857"/>
                <a:gd name="connsiteY2" fmla="*/ 0 h 914400"/>
                <a:gd name="connsiteX3" fmla="*/ 0 w 4934857"/>
                <a:gd name="connsiteY3" fmla="*/ 91440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4857" h="914400">
                  <a:moveTo>
                    <a:pt x="4934857" y="914400"/>
                  </a:moveTo>
                  <a:lnTo>
                    <a:pt x="4238171" y="0"/>
                  </a:lnTo>
                  <a:lnTo>
                    <a:pt x="0" y="0"/>
                  </a:lnTo>
                  <a:lnTo>
                    <a:pt x="0" y="914400"/>
                  </a:lnTo>
                </a:path>
              </a:pathLst>
            </a:custGeom>
            <a:pattFill prst="ltUpDiag">
              <a:fgClr>
                <a:schemeClr val="accent2"/>
              </a:fgClr>
              <a:bgClr>
                <a:schemeClr val="bg1"/>
              </a:bgClr>
            </a:patt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자유형 10"/>
            <p:cNvSpPr/>
            <p:nvPr/>
          </p:nvSpPr>
          <p:spPr>
            <a:xfrm>
              <a:off x="6226629" y="2641596"/>
              <a:ext cx="3991429" cy="943429"/>
            </a:xfrm>
            <a:custGeom>
              <a:avLst/>
              <a:gdLst>
                <a:gd name="connsiteX0" fmla="*/ 0 w 4180115"/>
                <a:gd name="connsiteY0" fmla="*/ 914400 h 943429"/>
                <a:gd name="connsiteX1" fmla="*/ 711200 w 4180115"/>
                <a:gd name="connsiteY1" fmla="*/ 0 h 943429"/>
                <a:gd name="connsiteX2" fmla="*/ 4180115 w 4180115"/>
                <a:gd name="connsiteY2" fmla="*/ 0 h 943429"/>
                <a:gd name="connsiteX3" fmla="*/ 4180115 w 4180115"/>
                <a:gd name="connsiteY3" fmla="*/ 943429 h 943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80115" h="943429">
                  <a:moveTo>
                    <a:pt x="0" y="914400"/>
                  </a:moveTo>
                  <a:lnTo>
                    <a:pt x="711200" y="0"/>
                  </a:lnTo>
                  <a:lnTo>
                    <a:pt x="4180115" y="0"/>
                  </a:lnTo>
                  <a:lnTo>
                    <a:pt x="4180115" y="943429"/>
                  </a:lnTo>
                </a:path>
              </a:pathLst>
            </a:custGeom>
            <a:pattFill prst="narHorz">
              <a:fgClr>
                <a:schemeClr val="accent4"/>
              </a:fgClr>
              <a:bgClr>
                <a:schemeClr val="bg1"/>
              </a:bgClr>
            </a:patt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779316" y="4056552"/>
              <a:ext cx="4459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0</a:t>
              </a:r>
              <a:r>
                <a:rPr lang="ko-KR" altLang="en-US" sz="1400" dirty="0"/>
                <a:t>시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406169" y="4056552"/>
              <a:ext cx="5453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24</a:t>
              </a:r>
              <a:r>
                <a:rPr lang="ko-KR" altLang="en-US" sz="1400" dirty="0"/>
                <a:t>시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374751" y="4056552"/>
              <a:ext cx="5453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10</a:t>
              </a:r>
              <a:r>
                <a:rPr lang="ko-KR" altLang="en-US" sz="1400" dirty="0"/>
                <a:t>시</a:t>
              </a:r>
            </a:p>
          </p:txBody>
        </p:sp>
        <p:cxnSp>
          <p:nvCxnSpPr>
            <p:cNvPr id="56" name="직선 연결선 55"/>
            <p:cNvCxnSpPr>
              <a:stCxn id="49" idx="2"/>
              <a:endCxn id="57" idx="0"/>
            </p:cNvCxnSpPr>
            <p:nvPr/>
          </p:nvCxnSpPr>
          <p:spPr>
            <a:xfrm>
              <a:off x="6325113" y="4034971"/>
              <a:ext cx="6096" cy="143428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ot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5822095" y="5469252"/>
              <a:ext cx="1018227" cy="36933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특허출원</a:t>
              </a:r>
            </a:p>
          </p:txBody>
        </p:sp>
        <p:sp>
          <p:nvSpPr>
            <p:cNvPr id="16" name="자유형 15"/>
            <p:cNvSpPr/>
            <p:nvPr/>
          </p:nvSpPr>
          <p:spPr>
            <a:xfrm>
              <a:off x="7634516" y="3585028"/>
              <a:ext cx="2569028" cy="957943"/>
            </a:xfrm>
            <a:custGeom>
              <a:avLst/>
              <a:gdLst>
                <a:gd name="connsiteX0" fmla="*/ 0 w 2569028"/>
                <a:gd name="connsiteY0" fmla="*/ 0 h 957943"/>
                <a:gd name="connsiteX1" fmla="*/ 711200 w 2569028"/>
                <a:gd name="connsiteY1" fmla="*/ 957943 h 957943"/>
                <a:gd name="connsiteX2" fmla="*/ 2569028 w 2569028"/>
                <a:gd name="connsiteY2" fmla="*/ 957943 h 957943"/>
                <a:gd name="connsiteX3" fmla="*/ 2569028 w 2569028"/>
                <a:gd name="connsiteY3" fmla="*/ 14514 h 957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9028" h="957943">
                  <a:moveTo>
                    <a:pt x="0" y="0"/>
                  </a:moveTo>
                  <a:lnTo>
                    <a:pt x="711200" y="957943"/>
                  </a:lnTo>
                  <a:lnTo>
                    <a:pt x="2569028" y="957943"/>
                  </a:lnTo>
                  <a:lnTo>
                    <a:pt x="2569028" y="14514"/>
                  </a:lnTo>
                </a:path>
              </a:pathLst>
            </a:custGeom>
            <a:pattFill prst="pct40">
              <a:fgClr>
                <a:schemeClr val="accent6">
                  <a:lumMod val="50000"/>
                </a:schemeClr>
              </a:fgClr>
              <a:bgClr>
                <a:schemeClr val="bg1"/>
              </a:bgClr>
            </a:patt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자유형 16"/>
            <p:cNvSpPr/>
            <p:nvPr/>
          </p:nvSpPr>
          <p:spPr>
            <a:xfrm>
              <a:off x="1596571" y="3570513"/>
              <a:ext cx="3396343" cy="1016000"/>
            </a:xfrm>
            <a:custGeom>
              <a:avLst/>
              <a:gdLst>
                <a:gd name="connsiteX0" fmla="*/ 3396343 w 3396343"/>
                <a:gd name="connsiteY0" fmla="*/ 0 h 1016000"/>
                <a:gd name="connsiteX1" fmla="*/ 2699657 w 3396343"/>
                <a:gd name="connsiteY1" fmla="*/ 1016000 h 1016000"/>
                <a:gd name="connsiteX2" fmla="*/ 0 w 3396343"/>
                <a:gd name="connsiteY2" fmla="*/ 1016000 h 1016000"/>
                <a:gd name="connsiteX3" fmla="*/ 0 w 3396343"/>
                <a:gd name="connsiteY3" fmla="*/ 43543 h 1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96343" h="1016000">
                  <a:moveTo>
                    <a:pt x="3396343" y="0"/>
                  </a:moveTo>
                  <a:lnTo>
                    <a:pt x="2699657" y="1016000"/>
                  </a:lnTo>
                  <a:lnTo>
                    <a:pt x="0" y="1016000"/>
                  </a:lnTo>
                  <a:lnTo>
                    <a:pt x="0" y="43543"/>
                  </a:lnTo>
                </a:path>
              </a:pathLst>
            </a:custGeom>
            <a:pattFill prst="narHorz">
              <a:fgClr>
                <a:schemeClr val="accent3"/>
              </a:fgClr>
              <a:bgClr>
                <a:schemeClr val="bg1"/>
              </a:bgClr>
            </a:patt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직사각형 67"/>
            <p:cNvSpPr/>
            <p:nvPr/>
          </p:nvSpPr>
          <p:spPr>
            <a:xfrm>
              <a:off x="10203545" y="2466137"/>
              <a:ext cx="57028" cy="20768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연결선 47"/>
            <p:cNvCxnSpPr/>
            <p:nvPr/>
          </p:nvCxnSpPr>
          <p:spPr>
            <a:xfrm>
              <a:off x="1580580" y="3568165"/>
              <a:ext cx="8884222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직사각형 68"/>
            <p:cNvSpPr/>
            <p:nvPr/>
          </p:nvSpPr>
          <p:spPr>
            <a:xfrm>
              <a:off x="1553317" y="2466137"/>
              <a:ext cx="57028" cy="20768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5012085" y="3351715"/>
              <a:ext cx="2626056" cy="6832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>
                  <a:solidFill>
                    <a:schemeClr val="tx1"/>
                  </a:solidFill>
                </a:rPr>
                <a:t>특허출원일</a:t>
              </a:r>
              <a:endParaRPr lang="en-US" altLang="ko-KR" sz="20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(2014.6.11)</a:t>
              </a:r>
              <a:endParaRPr lang="ko-KR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7951511" y="2269919"/>
              <a:ext cx="129073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특허출원 후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2681433" y="2269919"/>
              <a:ext cx="129073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특허출원 전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2362119" y="4639215"/>
              <a:ext cx="149912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특허출원일 전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8460625" y="4639215"/>
              <a:ext cx="149912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특허출원일 후</a:t>
              </a:r>
            </a:p>
          </p:txBody>
        </p:sp>
      </p:grp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4274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항각호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특허출원 전 공지와 증거 자료의 작성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60</a:t>
            </a:fld>
            <a:endParaRPr lang="ko-KR" altLang="en-US"/>
          </a:p>
        </p:txBody>
      </p:sp>
      <p:cxnSp>
        <p:nvCxnSpPr>
          <p:cNvPr id="56" name="직선 연결선 55"/>
          <p:cNvCxnSpPr>
            <a:cxnSpLocks/>
          </p:cNvCxnSpPr>
          <p:nvPr/>
        </p:nvCxnSpPr>
        <p:spPr>
          <a:xfrm flipH="1" flipV="1">
            <a:off x="3444174" y="5476601"/>
            <a:ext cx="1" cy="25685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935061" y="5096739"/>
            <a:ext cx="101822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특허출원</a:t>
            </a:r>
          </a:p>
        </p:txBody>
      </p:sp>
      <p:cxnSp>
        <p:nvCxnSpPr>
          <p:cNvPr id="48" name="직선 연결선 47"/>
          <p:cNvCxnSpPr/>
          <p:nvPr/>
        </p:nvCxnSpPr>
        <p:spPr>
          <a:xfrm>
            <a:off x="1303176" y="5818679"/>
            <a:ext cx="8884222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>
            <a:cxnSpLocks/>
          </p:cNvCxnSpPr>
          <p:nvPr/>
        </p:nvCxnSpPr>
        <p:spPr>
          <a:xfrm>
            <a:off x="2222842" y="5863398"/>
            <a:ext cx="0" cy="37723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922118" y="6195608"/>
            <a:ext cx="60144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공지</a:t>
            </a:r>
            <a:endParaRPr lang="en-US" altLang="ko-KR" dirty="0"/>
          </a:p>
        </p:txBody>
      </p:sp>
      <p:cxnSp>
        <p:nvCxnSpPr>
          <p:cNvPr id="39" name="직선 연결선 38"/>
          <p:cNvCxnSpPr>
            <a:cxnSpLocks/>
          </p:cNvCxnSpPr>
          <p:nvPr/>
        </p:nvCxnSpPr>
        <p:spPr>
          <a:xfrm>
            <a:off x="4432782" y="5863398"/>
            <a:ext cx="3" cy="37723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410710" y="6247368"/>
            <a:ext cx="204415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공지 증거 자료 작성</a:t>
            </a:r>
          </a:p>
        </p:txBody>
      </p:sp>
      <p:cxnSp>
        <p:nvCxnSpPr>
          <p:cNvPr id="43" name="직선 연결선 42"/>
          <p:cNvCxnSpPr>
            <a:cxnSpLocks/>
          </p:cNvCxnSpPr>
          <p:nvPr/>
        </p:nvCxnSpPr>
        <p:spPr>
          <a:xfrm flipH="1" flipV="1">
            <a:off x="5961034" y="5543172"/>
            <a:ext cx="2942" cy="19028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454860" y="5131243"/>
            <a:ext cx="101822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심사청구</a:t>
            </a:r>
          </a:p>
        </p:txBody>
      </p:sp>
      <p:cxnSp>
        <p:nvCxnSpPr>
          <p:cNvPr id="45" name="직선 연결선 44"/>
          <p:cNvCxnSpPr>
            <a:cxnSpLocks/>
          </p:cNvCxnSpPr>
          <p:nvPr/>
        </p:nvCxnSpPr>
        <p:spPr>
          <a:xfrm flipV="1">
            <a:off x="8199616" y="5543172"/>
            <a:ext cx="0" cy="19028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459670" y="5031017"/>
            <a:ext cx="1479892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 err="1">
                <a:solidFill>
                  <a:schemeClr val="accent2"/>
                </a:solidFill>
              </a:rPr>
              <a:t>실체심사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307440" y="4015774"/>
            <a:ext cx="5757824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5">
                    <a:lumMod val="50000"/>
                  </a:schemeClr>
                </a:solidFill>
              </a:rPr>
              <a:t>특허출원 후에 작성된 증거 자료에 의하여 </a:t>
            </a:r>
            <a:r>
              <a:rPr lang="ko-KR" altLang="en-US" dirty="0" err="1">
                <a:solidFill>
                  <a:schemeClr val="accent5">
                    <a:lumMod val="50000"/>
                  </a:schemeClr>
                </a:solidFill>
              </a:rPr>
              <a:t>특허출원된</a:t>
            </a:r>
            <a:r>
              <a:rPr lang="ko-KR" altLang="en-US" dirty="0">
                <a:solidFill>
                  <a:schemeClr val="accent5">
                    <a:lumMod val="50000"/>
                  </a:schemeClr>
                </a:solidFill>
              </a:rPr>
              <a:t> 발명의 신규성 판단 가능</a:t>
            </a:r>
          </a:p>
        </p:txBody>
      </p:sp>
      <p:sp>
        <p:nvSpPr>
          <p:cNvPr id="18" name="아래쪽 화살표 17"/>
          <p:cNvSpPr/>
          <p:nvPr/>
        </p:nvSpPr>
        <p:spPr>
          <a:xfrm>
            <a:off x="7828905" y="4701892"/>
            <a:ext cx="719191" cy="349321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B1583C3-A449-4097-A0F8-7A671F4CEDDD}"/>
              </a:ext>
            </a:extLst>
          </p:cNvPr>
          <p:cNvGrpSpPr/>
          <p:nvPr/>
        </p:nvGrpSpPr>
        <p:grpSpPr>
          <a:xfrm>
            <a:off x="0" y="985031"/>
            <a:ext cx="12191999" cy="2852980"/>
            <a:chOff x="0" y="964867"/>
            <a:chExt cx="12191999" cy="285298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3CF2E2A-225A-44AD-8E5F-2006B5EC99DD}"/>
                </a:ext>
              </a:extLst>
            </p:cNvPr>
            <p:cNvSpPr txBox="1"/>
            <p:nvPr/>
          </p:nvSpPr>
          <p:spPr>
            <a:xfrm>
              <a:off x="77875" y="1341693"/>
              <a:ext cx="11936323" cy="2462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/>
              <a:r>
                <a:rPr lang="en-US" altLang="ko-KR" sz="1400" dirty="0"/>
                <a:t>[1] </a:t>
              </a:r>
              <a:r>
                <a:rPr lang="ko-KR" altLang="en-US" sz="1400" dirty="0"/>
                <a:t>구 특허법</a:t>
              </a:r>
              <a:r>
                <a:rPr lang="en-US" altLang="ko-KR" sz="1400" dirty="0"/>
                <a:t>(2001. 2. 3. </a:t>
              </a:r>
              <a:r>
                <a:rPr lang="ko-KR" altLang="en-US" sz="1400" dirty="0"/>
                <a:t>법률 제</a:t>
              </a:r>
              <a:r>
                <a:rPr lang="en-US" altLang="ko-KR" sz="1400" dirty="0"/>
                <a:t>6411</a:t>
              </a:r>
              <a:r>
                <a:rPr lang="ko-KR" altLang="en-US" sz="1400" dirty="0"/>
                <a:t>호로 개정되기 전의 것</a:t>
              </a:r>
              <a:r>
                <a:rPr lang="en-US" altLang="ko-KR" sz="1400" dirty="0"/>
                <a:t>) </a:t>
              </a:r>
              <a:r>
                <a:rPr lang="ko-KR" altLang="en-US" sz="1400" dirty="0"/>
                <a:t>제</a:t>
              </a:r>
              <a:r>
                <a:rPr lang="en-US" altLang="ko-KR" sz="1400" dirty="0"/>
                <a:t>29</a:t>
              </a:r>
              <a:r>
                <a:rPr lang="ko-KR" altLang="en-US" sz="1400" dirty="0"/>
                <a:t>조 제</a:t>
              </a:r>
              <a:r>
                <a:rPr lang="en-US" altLang="ko-KR" sz="1400" dirty="0"/>
                <a:t>1</a:t>
              </a:r>
              <a:r>
                <a:rPr lang="ko-KR" altLang="en-US" sz="1400" dirty="0"/>
                <a:t>항 제</a:t>
              </a:r>
              <a:r>
                <a:rPr lang="en-US" altLang="ko-KR" sz="1400" dirty="0"/>
                <a:t>1</a:t>
              </a:r>
              <a:r>
                <a:rPr lang="ko-KR" altLang="en-US" sz="1400" dirty="0"/>
                <a:t>호 소정의 ‘특허출원 전에 국내에서 공지되었거나 공연히 실시된 </a:t>
              </a:r>
              <a:r>
                <a:rPr lang="ko-KR" altLang="en-US" sz="1400" dirty="0" err="1"/>
                <a:t>발명’에서</a:t>
              </a:r>
              <a:r>
                <a:rPr lang="ko-KR" altLang="en-US" sz="1400" dirty="0"/>
                <a:t> </a:t>
              </a:r>
              <a:r>
                <a:rPr lang="ko-KR" altLang="en-US" sz="1400" dirty="0">
                  <a:highlight>
                    <a:srgbClr val="FFFF00"/>
                  </a:highlight>
                </a:rPr>
                <a:t>‘특허출원 </a:t>
              </a:r>
              <a:r>
                <a:rPr lang="ko-KR" altLang="en-US" sz="1400" dirty="0" err="1">
                  <a:highlight>
                    <a:srgbClr val="FFFF00"/>
                  </a:highlight>
                </a:rPr>
                <a:t>전’의</a:t>
              </a:r>
              <a:r>
                <a:rPr lang="ko-KR" altLang="en-US" sz="1400" dirty="0">
                  <a:highlight>
                    <a:srgbClr val="FFFF00"/>
                  </a:highlight>
                </a:rPr>
                <a:t> 의미는 발명의 공지 또는 공연 실시된 시점이 특허출원 전이라는 의미이지 그 공지 또는 공연 실시된 사실을 인정하기 위한 증거가 특허출원 전에 작성된 것을 의미하는 것은 아니므로</a:t>
              </a:r>
              <a:r>
                <a:rPr lang="en-US" altLang="ko-KR" sz="1400" dirty="0">
                  <a:highlight>
                    <a:srgbClr val="FFFF00"/>
                  </a:highlight>
                </a:rPr>
                <a:t>,</a:t>
              </a:r>
              <a:r>
                <a:rPr lang="en-US" altLang="ko-KR" sz="1400" dirty="0"/>
                <a:t> </a:t>
              </a:r>
              <a:r>
                <a:rPr lang="ko-KR" altLang="en-US" sz="1400" dirty="0"/>
                <a:t>법원은 특허출원 후에 작성된 문건들에 기초하여 어떤 발명 또는 기술이 특허출원 전에 공지 또는 공연 실시된 것인지 여부를 인정할 수 있다</a:t>
              </a:r>
              <a:r>
                <a:rPr lang="en-US" altLang="ko-KR" sz="1400" dirty="0"/>
                <a:t>.</a:t>
              </a:r>
            </a:p>
            <a:p>
              <a:pPr fontAlgn="base"/>
              <a:r>
                <a:rPr lang="en-US" altLang="ko-KR" sz="1400" dirty="0"/>
                <a:t>[2]</a:t>
              </a:r>
              <a:r>
                <a:rPr lang="ko-KR" altLang="en-US" sz="1400" dirty="0"/>
                <a:t> 의견서 제출기회를 부여하는 구 특허법</a:t>
              </a:r>
              <a:r>
                <a:rPr lang="en-US" altLang="ko-KR" sz="1400" dirty="0"/>
                <a:t>(2001. 2. 3. </a:t>
              </a:r>
              <a:r>
                <a:rPr lang="ko-KR" altLang="en-US" sz="1400" dirty="0"/>
                <a:t>법률 제</a:t>
              </a:r>
              <a:r>
                <a:rPr lang="en-US" altLang="ko-KR" sz="1400" dirty="0"/>
                <a:t>6411</a:t>
              </a:r>
              <a:r>
                <a:rPr lang="ko-KR" altLang="en-US" sz="1400" dirty="0"/>
                <a:t>호로 개정되기 전의 것</a:t>
              </a:r>
              <a:r>
                <a:rPr lang="en-US" altLang="ko-KR" sz="1400" dirty="0"/>
                <a:t>) </a:t>
              </a:r>
              <a:r>
                <a:rPr lang="ko-KR" altLang="en-US" sz="1400" dirty="0"/>
                <a:t>제</a:t>
              </a:r>
              <a:r>
                <a:rPr lang="en-US" altLang="ko-KR" sz="1400" dirty="0"/>
                <a:t>136</a:t>
              </a:r>
              <a:r>
                <a:rPr lang="ko-KR" altLang="en-US" sz="1400" dirty="0"/>
                <a:t>조 제</a:t>
              </a:r>
              <a:r>
                <a:rPr lang="en-US" altLang="ko-KR" sz="1400" dirty="0"/>
                <a:t>4</a:t>
              </a:r>
              <a:r>
                <a:rPr lang="ko-KR" altLang="en-US" sz="1400" dirty="0"/>
                <a:t>항은 정정청구에 대한 심사의 적정을 기하고 심사제도의 신용을 유지하기 위한 공익상의 요구에 기인하는 이른바 </a:t>
              </a:r>
              <a:r>
                <a:rPr lang="ko-KR" altLang="en-US" sz="1400" dirty="0" err="1"/>
                <a:t>강행규정이므로</a:t>
              </a:r>
              <a:r>
                <a:rPr lang="en-US" altLang="ko-KR" sz="1400" dirty="0"/>
                <a:t>, </a:t>
              </a:r>
              <a:r>
                <a:rPr lang="ko-KR" altLang="en-US" sz="1400" dirty="0"/>
                <a:t>정정심판이나 그 </a:t>
              </a:r>
              <a:r>
                <a:rPr lang="ko-KR" altLang="en-US" sz="1400" dirty="0" err="1"/>
                <a:t>심결취소소송에서</a:t>
              </a:r>
              <a:r>
                <a:rPr lang="ko-KR" altLang="en-US" sz="1400" dirty="0"/>
                <a:t> 정정의견제출통지서를 통하여 심판청구인에게 의견서 제출 기회를 부여한 바 없는 사유를 들어 정정심판청구를 기각하는 </a:t>
              </a:r>
              <a:r>
                <a:rPr lang="ko-KR" altLang="en-US" sz="1400" dirty="0" err="1"/>
                <a:t>심결을</a:t>
              </a:r>
              <a:r>
                <a:rPr lang="ko-KR" altLang="en-US" sz="1400" dirty="0"/>
                <a:t> 하거나 </a:t>
              </a:r>
              <a:r>
                <a:rPr lang="ko-KR" altLang="en-US" sz="1400" dirty="0" err="1"/>
                <a:t>심결취소청구를</a:t>
              </a:r>
              <a:r>
                <a:rPr lang="ko-KR" altLang="en-US" sz="1400" dirty="0"/>
                <a:t> 기각하는 것은 위법하나</a:t>
              </a:r>
              <a:r>
                <a:rPr lang="en-US" altLang="ko-KR" sz="1400" dirty="0"/>
                <a:t>, </a:t>
              </a:r>
              <a:r>
                <a:rPr lang="ko-KR" altLang="en-US" sz="1400" dirty="0"/>
                <a:t>정정의견제출통지서에 기재된 사유와 다른 별개의 새로운 사유가 아니고 </a:t>
              </a:r>
              <a:r>
                <a:rPr lang="ko-KR" altLang="en-US" sz="1400" dirty="0">
                  <a:highlight>
                    <a:srgbClr val="FFFF00"/>
                  </a:highlight>
                </a:rPr>
                <a:t>주된 취지에 있어서 정정의견제출통지서에 기재된 사유와 실질적으로 동일한 사유로 정정심판을 기각하는 </a:t>
              </a:r>
              <a:r>
                <a:rPr lang="ko-KR" altLang="en-US" sz="1400" dirty="0" err="1">
                  <a:highlight>
                    <a:srgbClr val="FFFF00"/>
                  </a:highlight>
                </a:rPr>
                <a:t>심결을</a:t>
              </a:r>
              <a:r>
                <a:rPr lang="ko-KR" altLang="en-US" sz="1400" dirty="0">
                  <a:highlight>
                    <a:srgbClr val="FFFF00"/>
                  </a:highlight>
                </a:rPr>
                <a:t> 하거나 그 </a:t>
              </a:r>
              <a:r>
                <a:rPr lang="ko-KR" altLang="en-US" sz="1400" dirty="0" err="1">
                  <a:highlight>
                    <a:srgbClr val="FFFF00"/>
                  </a:highlight>
                </a:rPr>
                <a:t>심결에</a:t>
              </a:r>
              <a:r>
                <a:rPr lang="ko-KR" altLang="en-US" sz="1400" dirty="0">
                  <a:highlight>
                    <a:srgbClr val="FFFF00"/>
                  </a:highlight>
                </a:rPr>
                <a:t> 대한 취소청구를 기각하는 것은 허용</a:t>
              </a:r>
              <a:r>
                <a:rPr lang="ko-KR" altLang="en-US" sz="1400" dirty="0"/>
                <a:t>된다</a:t>
              </a:r>
              <a:r>
                <a:rPr lang="en-US" altLang="ko-KR" sz="1400" dirty="0"/>
                <a:t>.</a:t>
              </a:r>
            </a:p>
            <a:p>
              <a:pPr fontAlgn="base"/>
              <a:r>
                <a:rPr lang="en-US" altLang="ko-KR" sz="1400" dirty="0"/>
                <a:t>[3] </a:t>
              </a:r>
              <a:r>
                <a:rPr lang="ko-KR" altLang="en-US" sz="1400" dirty="0"/>
                <a:t>정정의견제출통지서에 기재된 증거가 </a:t>
              </a:r>
              <a:r>
                <a:rPr lang="ko-KR" altLang="en-US" sz="1400" dirty="0" err="1"/>
                <a:t>아니라도</a:t>
              </a:r>
              <a:r>
                <a:rPr lang="ko-KR" altLang="en-US" sz="1400" dirty="0"/>
                <a:t> </a:t>
              </a:r>
              <a:r>
                <a:rPr lang="ko-KR" altLang="en-US" sz="1400" dirty="0" err="1">
                  <a:highlight>
                    <a:srgbClr val="FFFF00"/>
                  </a:highlight>
                </a:rPr>
                <a:t>정정거절이유를</a:t>
              </a:r>
              <a:r>
                <a:rPr lang="ko-KR" altLang="en-US" sz="1400" dirty="0">
                  <a:highlight>
                    <a:srgbClr val="FFFF00"/>
                  </a:highlight>
                </a:rPr>
                <a:t> 보충</a:t>
              </a:r>
              <a:r>
                <a:rPr lang="ko-KR" altLang="en-US" sz="1400" dirty="0"/>
                <a:t>하는 것이라면 새로운 </a:t>
              </a:r>
              <a:r>
                <a:rPr lang="ko-KR" altLang="en-US" sz="1400" dirty="0" err="1"/>
                <a:t>정정거절이유라고</a:t>
              </a:r>
              <a:r>
                <a:rPr lang="ko-KR" altLang="en-US" sz="1400" dirty="0"/>
                <a:t> 할 수 없으므로</a:t>
              </a:r>
              <a:r>
                <a:rPr lang="en-US" altLang="ko-KR" sz="1400" dirty="0"/>
                <a:t>, </a:t>
              </a:r>
              <a:r>
                <a:rPr lang="ko-KR" altLang="en-US" sz="1400" dirty="0"/>
                <a:t>특허법원이 그 증거를 채용하여 정정청구를 기각한 </a:t>
              </a:r>
              <a:r>
                <a:rPr lang="ko-KR" altLang="en-US" sz="1400" dirty="0" err="1"/>
                <a:t>심결이</a:t>
              </a:r>
              <a:r>
                <a:rPr lang="ko-KR" altLang="en-US" sz="1400" dirty="0"/>
                <a:t> 정당하다는 사유의 하나로 삼았다고 하여 심리범위를 일탈하였다고 할 수 없다</a:t>
              </a:r>
              <a:r>
                <a:rPr lang="en-US" altLang="ko-KR" sz="1400" dirty="0"/>
                <a:t>.</a:t>
              </a:r>
              <a:endParaRPr lang="ko-KR" altLang="en-US" sz="1400" dirty="0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08FE81B0-4EAC-43BC-A432-3F1ED8B60173}"/>
                </a:ext>
              </a:extLst>
            </p:cNvPr>
            <p:cNvSpPr/>
            <p:nvPr/>
          </p:nvSpPr>
          <p:spPr>
            <a:xfrm>
              <a:off x="113937" y="964867"/>
              <a:ext cx="5100068" cy="34623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none" tIns="0" bIns="0">
              <a:spAutoFit/>
            </a:bodyPr>
            <a:lstStyle/>
            <a:p>
              <a:r>
                <a:rPr lang="ko-KR" altLang="en-US" sz="1600" dirty="0"/>
                <a:t>대법원 </a:t>
              </a:r>
              <a:r>
                <a:rPr lang="en-US" altLang="ko-KR" sz="1600" dirty="0"/>
                <a:t>2007. 4. 27. </a:t>
              </a:r>
              <a:r>
                <a:rPr lang="ko-KR" altLang="en-US" sz="1600" dirty="0"/>
                <a:t>선고 </a:t>
              </a:r>
              <a:r>
                <a:rPr lang="en-US" altLang="ko-KR" sz="1600" dirty="0"/>
                <a:t>2006</a:t>
              </a:r>
              <a:r>
                <a:rPr lang="ko-KR" altLang="en-US" sz="1600" dirty="0"/>
                <a:t>후</a:t>
              </a:r>
              <a:r>
                <a:rPr lang="en-US" altLang="ko-KR" sz="1600" dirty="0"/>
                <a:t>2660 </a:t>
              </a:r>
              <a:r>
                <a:rPr lang="ko-KR" altLang="en-US" sz="1600" dirty="0"/>
                <a:t>판결 </a:t>
              </a:r>
              <a:r>
                <a:rPr lang="en-US" altLang="ko-KR" sz="1600" dirty="0"/>
                <a:t>【</a:t>
              </a:r>
              <a:r>
                <a:rPr lang="ko-KR" altLang="en-US" sz="1600" dirty="0"/>
                <a:t>정정</a:t>
              </a:r>
              <a:r>
                <a:rPr lang="en-US" altLang="ko-KR" sz="1600" dirty="0"/>
                <a:t>(</a:t>
              </a:r>
              <a:r>
                <a:rPr lang="ko-KR" altLang="en-US" sz="1600" dirty="0" err="1"/>
                <a:t>특</a:t>
              </a:r>
              <a:r>
                <a:rPr lang="en-US" altLang="ko-KR" sz="1600" dirty="0"/>
                <a:t>)】</a:t>
              </a:r>
              <a:endParaRPr lang="ko-KR" altLang="en-US" sz="1600" dirty="0"/>
            </a:p>
          </p:txBody>
        </p: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9A069B6-FEAB-4319-9DED-B2FB8A167478}"/>
                </a:ext>
              </a:extLst>
            </p:cNvPr>
            <p:cNvCxnSpPr/>
            <p:nvPr/>
          </p:nvCxnSpPr>
          <p:spPr>
            <a:xfrm>
              <a:off x="0" y="3817847"/>
              <a:ext cx="12191999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8289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항각호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동일성의 유형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61</a:t>
            </a:fld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FA977EE-34D8-4F4D-9639-E06A8258554B}"/>
              </a:ext>
            </a:extLst>
          </p:cNvPr>
          <p:cNvSpPr/>
          <p:nvPr/>
        </p:nvSpPr>
        <p:spPr>
          <a:xfrm>
            <a:off x="5310399" y="1710752"/>
            <a:ext cx="354792" cy="444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27ADE674-B031-4A66-AF15-FCCDEB979558}"/>
              </a:ext>
            </a:extLst>
          </p:cNvPr>
          <p:cNvCxnSpPr>
            <a:cxnSpLocks/>
          </p:cNvCxnSpPr>
          <p:nvPr/>
        </p:nvCxnSpPr>
        <p:spPr>
          <a:xfrm flipV="1">
            <a:off x="1315672" y="1832948"/>
            <a:ext cx="0" cy="3709114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CF6E71B-7D59-4817-8E88-733FE04D38C6}"/>
              </a:ext>
            </a:extLst>
          </p:cNvPr>
          <p:cNvSpPr/>
          <p:nvPr/>
        </p:nvSpPr>
        <p:spPr>
          <a:xfrm>
            <a:off x="774498" y="1191593"/>
            <a:ext cx="10823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dirty="0"/>
              <a:t>발명창작 </a:t>
            </a:r>
            <a:endParaRPr lang="en-US" altLang="ko-KR" dirty="0"/>
          </a:p>
          <a:p>
            <a:pPr algn="ctr"/>
            <a:r>
              <a:rPr lang="ko-KR" altLang="en-US" dirty="0"/>
              <a:t>수준</a:t>
            </a: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F7DF9243-1995-4590-997D-0863D5DCCB57}"/>
              </a:ext>
            </a:extLst>
          </p:cNvPr>
          <p:cNvSpPr/>
          <p:nvPr/>
        </p:nvSpPr>
        <p:spPr>
          <a:xfrm>
            <a:off x="1106122" y="4931908"/>
            <a:ext cx="393700" cy="393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2"/>
                </a:solidFill>
                <a:latin typeface="+mj-ea"/>
                <a:ea typeface="+mj-ea"/>
              </a:rPr>
              <a:t>1</a:t>
            </a:r>
            <a:endParaRPr lang="ko-KR" altLang="en-US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45839D75-B55F-49CE-8A91-39809EA7A513}"/>
              </a:ext>
            </a:extLst>
          </p:cNvPr>
          <p:cNvSpPr/>
          <p:nvPr/>
        </p:nvSpPr>
        <p:spPr>
          <a:xfrm>
            <a:off x="1118822" y="4395957"/>
            <a:ext cx="393700" cy="3937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2"/>
                </a:solidFill>
                <a:latin typeface="+mj-ea"/>
                <a:ea typeface="+mj-ea"/>
              </a:rPr>
              <a:t>2</a:t>
            </a:r>
            <a:endParaRPr lang="ko-KR" altLang="en-US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40EB0E8E-659F-4DC3-A994-476E3FF30CB6}"/>
              </a:ext>
            </a:extLst>
          </p:cNvPr>
          <p:cNvSpPr/>
          <p:nvPr/>
        </p:nvSpPr>
        <p:spPr>
          <a:xfrm>
            <a:off x="1118822" y="3852624"/>
            <a:ext cx="393700" cy="3937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2"/>
                </a:solidFill>
                <a:latin typeface="+mj-ea"/>
                <a:ea typeface="+mj-ea"/>
              </a:rPr>
              <a:t>3</a:t>
            </a:r>
            <a:endParaRPr lang="ko-KR" altLang="en-US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8475122-F576-49CF-A719-FA9A5E5DB001}"/>
              </a:ext>
            </a:extLst>
          </p:cNvPr>
          <p:cNvSpPr/>
          <p:nvPr/>
        </p:nvSpPr>
        <p:spPr>
          <a:xfrm>
            <a:off x="1106122" y="3308030"/>
            <a:ext cx="393700" cy="3937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ko-KR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438C1D5F-B0DD-4505-932B-FE7BCC944C86}"/>
              </a:ext>
            </a:extLst>
          </p:cNvPr>
          <p:cNvSpPr/>
          <p:nvPr/>
        </p:nvSpPr>
        <p:spPr>
          <a:xfrm>
            <a:off x="1118822" y="2724041"/>
            <a:ext cx="393700" cy="3937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5</a:t>
            </a:r>
            <a:endParaRPr lang="ko-KR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0D213575-549D-4B89-B17D-2C3971D872D5}"/>
              </a:ext>
            </a:extLst>
          </p:cNvPr>
          <p:cNvSpPr/>
          <p:nvPr/>
        </p:nvSpPr>
        <p:spPr>
          <a:xfrm>
            <a:off x="1106122" y="2148902"/>
            <a:ext cx="393700" cy="393700"/>
          </a:xfrm>
          <a:prstGeom prst="ellipse">
            <a:avLst/>
          </a:prstGeom>
          <a:solidFill>
            <a:schemeClr val="tx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6</a:t>
            </a:r>
            <a:endParaRPr lang="ko-KR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02CD782-A44F-4DB6-B225-B1D3908465CB}"/>
              </a:ext>
            </a:extLst>
          </p:cNvPr>
          <p:cNvSpPr/>
          <p:nvPr/>
        </p:nvSpPr>
        <p:spPr>
          <a:xfrm>
            <a:off x="1607772" y="5853040"/>
            <a:ext cx="4323128" cy="3882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보정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우선권주장출원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정정심판 등 소급효 인정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E0F7ADD-F1A9-469D-B19E-CBE9130CA40B}"/>
              </a:ext>
            </a:extLst>
          </p:cNvPr>
          <p:cNvSpPr/>
          <p:nvPr/>
        </p:nvSpPr>
        <p:spPr>
          <a:xfrm>
            <a:off x="7830295" y="5853040"/>
            <a:ext cx="4328745" cy="3882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신규성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확대된 </a:t>
            </a:r>
            <a:r>
              <a:rPr lang="ko-KR" altLang="en-US" sz="1400" dirty="0" err="1">
                <a:solidFill>
                  <a:schemeClr val="tx1"/>
                </a:solidFill>
              </a:rPr>
              <a:t>선출원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43C140E-AEA5-4C3C-9AE1-44A5A52263A5}"/>
              </a:ext>
            </a:extLst>
          </p:cNvPr>
          <p:cNvSpPr/>
          <p:nvPr/>
        </p:nvSpPr>
        <p:spPr>
          <a:xfrm>
            <a:off x="1630017" y="4943693"/>
            <a:ext cx="4143323" cy="4009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 anchor="ctr">
            <a:noAutofit/>
          </a:bodyPr>
          <a:lstStyle/>
          <a:p>
            <a:r>
              <a:rPr lang="ko-KR" altLang="en-US" sz="1200" dirty="0">
                <a:solidFill>
                  <a:srgbClr val="000000"/>
                </a:solidFill>
                <a:latin typeface="Rix모던명조 M" panose="02020603020101020101" pitchFamily="18" charset="-127"/>
              </a:rPr>
              <a:t>문언적으로 완전히 일치하는 단계</a:t>
            </a:r>
            <a:r>
              <a:rPr lang="en-US" altLang="ko-KR" sz="1200" b="1" dirty="0">
                <a:solidFill>
                  <a:srgbClr val="FF0000"/>
                </a:solidFill>
                <a:latin typeface="Rix모던명조 M" panose="02020603020101020101" pitchFamily="18" charset="-127"/>
              </a:rPr>
              <a:t>(</a:t>
            </a:r>
            <a:r>
              <a:rPr lang="ko-KR" altLang="en-US" sz="1200" b="1" dirty="0" err="1">
                <a:solidFill>
                  <a:srgbClr val="FF0000"/>
                </a:solidFill>
                <a:latin typeface="Rix모던명조 M" panose="02020603020101020101" pitchFamily="18" charset="-127"/>
              </a:rPr>
              <a:t>문언적</a:t>
            </a:r>
            <a:r>
              <a:rPr lang="ko-KR" altLang="en-US" sz="1200" b="1" dirty="0">
                <a:solidFill>
                  <a:srgbClr val="FF0000"/>
                </a:solidFill>
                <a:latin typeface="Rix모던명조 M" panose="02020603020101020101" pitchFamily="18" charset="-127"/>
              </a:rPr>
              <a:t> 동일</a:t>
            </a:r>
            <a:r>
              <a:rPr lang="en-US" altLang="ko-KR" sz="1200" b="1" dirty="0">
                <a:solidFill>
                  <a:srgbClr val="FF0000"/>
                </a:solidFill>
                <a:latin typeface="Rix모던명조 M" panose="02020603020101020101" pitchFamily="18" charset="-127"/>
              </a:rPr>
              <a:t>)</a:t>
            </a:r>
            <a:r>
              <a:rPr lang="ko-KR" altLang="en-US" sz="1200" dirty="0">
                <a:solidFill>
                  <a:srgbClr val="000000"/>
                </a:solidFill>
                <a:latin typeface="Rix모던명조 M" panose="02020603020101020101" pitchFamily="18" charset="-127"/>
              </a:rPr>
              <a:t> </a:t>
            </a:r>
            <a:endParaRPr lang="ko-KR" altLang="en-US" sz="12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3030A7E-A67F-4B38-9DE5-FB182A493CAA}"/>
              </a:ext>
            </a:extLst>
          </p:cNvPr>
          <p:cNvSpPr/>
          <p:nvPr/>
        </p:nvSpPr>
        <p:spPr>
          <a:xfrm>
            <a:off x="1630017" y="4395957"/>
            <a:ext cx="4143323" cy="4009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 anchor="ctr">
            <a:noAutofit/>
          </a:bodyPr>
          <a:lstStyle/>
          <a:p>
            <a:pPr algn="just"/>
            <a:r>
              <a:rPr lang="ko-KR" altLang="en-US" sz="1200" dirty="0">
                <a:solidFill>
                  <a:srgbClr val="000000"/>
                </a:solidFill>
                <a:latin typeface="Rix모던명조 M" panose="02020603020101020101" pitchFamily="18" charset="-127"/>
              </a:rPr>
              <a:t>문언적으로 일치하지는 않으나 그 기술구성 및 내용은 일치하는 단계</a:t>
            </a:r>
            <a:r>
              <a:rPr lang="en-US" altLang="ko-KR" sz="1200" b="1" dirty="0">
                <a:solidFill>
                  <a:srgbClr val="FF0000"/>
                </a:solidFill>
                <a:latin typeface="Rix모던명조 M" panose="02020603020101020101" pitchFamily="18" charset="-127"/>
              </a:rPr>
              <a:t>(</a:t>
            </a:r>
            <a:r>
              <a:rPr lang="ko-KR" altLang="en-US" sz="1200" b="1" dirty="0">
                <a:solidFill>
                  <a:srgbClr val="FF0000"/>
                </a:solidFill>
                <a:latin typeface="Rix모던명조 M" panose="02020603020101020101" pitchFamily="18" charset="-127"/>
              </a:rPr>
              <a:t>내재적 동일성</a:t>
            </a:r>
            <a:r>
              <a:rPr lang="en-US" altLang="ko-KR" sz="1200" b="1" dirty="0">
                <a:solidFill>
                  <a:srgbClr val="FF0000"/>
                </a:solidFill>
                <a:latin typeface="Rix모던명조 M" panose="02020603020101020101" pitchFamily="18" charset="-127"/>
              </a:rPr>
              <a:t>)</a:t>
            </a:r>
            <a:r>
              <a:rPr lang="ko-KR" altLang="en-US" sz="1200" dirty="0">
                <a:solidFill>
                  <a:srgbClr val="000000"/>
                </a:solidFill>
                <a:latin typeface="Rix모던명조 M" panose="02020603020101020101" pitchFamily="18" charset="-127"/>
              </a:rPr>
              <a:t> 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2762741-6AD9-4F22-B5A3-642CDD558CB1}"/>
              </a:ext>
            </a:extLst>
          </p:cNvPr>
          <p:cNvSpPr/>
          <p:nvPr/>
        </p:nvSpPr>
        <p:spPr>
          <a:xfrm>
            <a:off x="1630017" y="3845359"/>
            <a:ext cx="4143323" cy="4009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 anchor="ctr">
            <a:noAutofit/>
          </a:bodyPr>
          <a:lstStyle/>
          <a:p>
            <a:r>
              <a:rPr lang="ko-KR" altLang="en-US" sz="1200" spc="-50" dirty="0">
                <a:solidFill>
                  <a:srgbClr val="000000"/>
                </a:solidFill>
                <a:latin typeface="Rix모던명조 M" panose="02020603020101020101" pitchFamily="18" charset="-127"/>
              </a:rPr>
              <a:t>기술구성 및 내용에 일부 차이가 있으나 그 차이에도 불구하고 양 발명을 실질적으로 동일하다고 볼 수 있는 단계</a:t>
            </a:r>
            <a:r>
              <a:rPr lang="en-US" altLang="ko-KR" sz="1200" b="1" spc="-50" dirty="0">
                <a:solidFill>
                  <a:srgbClr val="FF0000"/>
                </a:solidFill>
                <a:latin typeface="Rix모던명조 M" panose="02020603020101020101" pitchFamily="18" charset="-127"/>
              </a:rPr>
              <a:t>(</a:t>
            </a:r>
            <a:r>
              <a:rPr lang="ko-KR" altLang="en-US" sz="1200" b="1" spc="-50" dirty="0">
                <a:solidFill>
                  <a:srgbClr val="FF0000"/>
                </a:solidFill>
                <a:latin typeface="Rix모던명조 M" panose="02020603020101020101" pitchFamily="18" charset="-127"/>
              </a:rPr>
              <a:t>실질적 동일성</a:t>
            </a:r>
            <a:r>
              <a:rPr lang="en-US" altLang="ko-KR" sz="1200" b="1" spc="-50" dirty="0">
                <a:solidFill>
                  <a:srgbClr val="FF0000"/>
                </a:solidFill>
                <a:latin typeface="Rix모던명조 M" panose="02020603020101020101" pitchFamily="18" charset="-127"/>
              </a:rPr>
              <a:t>)</a:t>
            </a:r>
            <a:endParaRPr lang="ko-KR" altLang="en-US" sz="1200" b="1" spc="-50" dirty="0">
              <a:solidFill>
                <a:srgbClr val="FF0000"/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17C98224-098E-42E2-841C-03845B8BC7F3}"/>
              </a:ext>
            </a:extLst>
          </p:cNvPr>
          <p:cNvSpPr/>
          <p:nvPr/>
        </p:nvSpPr>
        <p:spPr>
          <a:xfrm>
            <a:off x="1630017" y="3272648"/>
            <a:ext cx="4143323" cy="4009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 anchor="ctr">
            <a:noAutofit/>
          </a:bodyPr>
          <a:lstStyle/>
          <a:p>
            <a:pPr algn="just"/>
            <a:r>
              <a:rPr lang="ko-KR" altLang="en-US" sz="1200" dirty="0">
                <a:solidFill>
                  <a:srgbClr val="000000"/>
                </a:solidFill>
                <a:latin typeface="Rix모던명조 M" panose="02020603020101020101" pitchFamily="18" charset="-127"/>
              </a:rPr>
              <a:t>실질적으로 동일하다고 볼 수는 없으나 당해 발명이 선행발명으로부터 극히 용이하게 발명할 수 있는 단계</a:t>
            </a:r>
            <a:r>
              <a:rPr lang="en-US" altLang="ko-KR" sz="1200" b="1" dirty="0">
                <a:solidFill>
                  <a:srgbClr val="FF0000"/>
                </a:solidFill>
                <a:latin typeface="Rix모던명조 M" panose="02020603020101020101" pitchFamily="18" charset="-127"/>
              </a:rPr>
              <a:t>(</a:t>
            </a:r>
            <a:r>
              <a:rPr lang="ko-KR" altLang="en-US" sz="1200" b="1" dirty="0">
                <a:solidFill>
                  <a:srgbClr val="FF0000"/>
                </a:solidFill>
                <a:latin typeface="Rix모던명조 M" panose="02020603020101020101" pitchFamily="18" charset="-127"/>
              </a:rPr>
              <a:t>극히 용이성</a:t>
            </a:r>
            <a:r>
              <a:rPr lang="en-US" altLang="ko-KR" sz="1200" b="1" dirty="0">
                <a:solidFill>
                  <a:srgbClr val="FF0000"/>
                </a:solidFill>
                <a:latin typeface="Rix모던명조 M" panose="02020603020101020101" pitchFamily="18" charset="-127"/>
              </a:rPr>
              <a:t>)</a:t>
            </a:r>
            <a:endParaRPr lang="en-US" altLang="ko-KR" sz="1200" b="1" dirty="0">
              <a:solidFill>
                <a:srgbClr val="FF0000"/>
              </a:solidFill>
              <a:latin typeface="Rix모던고딕 M" panose="02020603020101020101" pitchFamily="18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A0A7A7C-9BB7-43DE-92CF-192DDD555527}"/>
              </a:ext>
            </a:extLst>
          </p:cNvPr>
          <p:cNvSpPr/>
          <p:nvPr/>
        </p:nvSpPr>
        <p:spPr>
          <a:xfrm>
            <a:off x="1630017" y="2724041"/>
            <a:ext cx="4143323" cy="4009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 anchor="ctr">
            <a:noAutofit/>
          </a:bodyPr>
          <a:lstStyle/>
          <a:p>
            <a:pPr algn="just"/>
            <a:r>
              <a:rPr lang="ko-KR" altLang="en-US" sz="1200" spc="-40" dirty="0">
                <a:solidFill>
                  <a:srgbClr val="000000"/>
                </a:solidFill>
                <a:latin typeface="Rix모던명조 M" panose="02020603020101020101" pitchFamily="18" charset="-127"/>
              </a:rPr>
              <a:t>극히 용이하게 발명할 수는 없으나 용이하게 발명할 수 있는 단계</a:t>
            </a:r>
            <a:endParaRPr lang="en-US" altLang="ko-KR" sz="1200" spc="-40" dirty="0">
              <a:solidFill>
                <a:srgbClr val="000000"/>
              </a:solidFill>
              <a:latin typeface="Rix모던명조 M" panose="02020603020101020101" pitchFamily="18" charset="-127"/>
            </a:endParaRPr>
          </a:p>
          <a:p>
            <a:pPr algn="just"/>
            <a:r>
              <a:rPr lang="en-US" altLang="ko-KR" sz="1200" b="1" dirty="0">
                <a:solidFill>
                  <a:srgbClr val="FF0000"/>
                </a:solidFill>
                <a:latin typeface="Rix모던명조 M" panose="02020603020101020101" pitchFamily="18" charset="-127"/>
              </a:rPr>
              <a:t>(</a:t>
            </a:r>
            <a:r>
              <a:rPr lang="ko-KR" altLang="en-US" sz="1200" b="1" dirty="0">
                <a:solidFill>
                  <a:srgbClr val="FF0000"/>
                </a:solidFill>
                <a:latin typeface="Rix모던명조 M" panose="02020603020101020101" pitchFamily="18" charset="-127"/>
              </a:rPr>
              <a:t>용이성</a:t>
            </a:r>
            <a:r>
              <a:rPr lang="en-US" altLang="ko-KR" sz="1200" b="1" dirty="0">
                <a:solidFill>
                  <a:srgbClr val="FF0000"/>
                </a:solidFill>
                <a:latin typeface="Rix모던명조 M" panose="02020603020101020101" pitchFamily="18" charset="-127"/>
              </a:rPr>
              <a:t>)</a:t>
            </a:r>
            <a:endParaRPr lang="en-US" altLang="ko-KR" sz="1200" b="1" dirty="0">
              <a:solidFill>
                <a:srgbClr val="FF0000"/>
              </a:solidFill>
              <a:latin typeface="Rix모던고딕 M" panose="02020603020101020101" pitchFamily="18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E0D05E2F-18C1-4AB9-A153-9BDA46198C7F}"/>
              </a:ext>
            </a:extLst>
          </p:cNvPr>
          <p:cNvSpPr/>
          <p:nvPr/>
        </p:nvSpPr>
        <p:spPr>
          <a:xfrm>
            <a:off x="1630017" y="2161086"/>
            <a:ext cx="4143323" cy="4009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 anchor="ctr">
            <a:noAutofit/>
          </a:bodyPr>
          <a:lstStyle/>
          <a:p>
            <a:r>
              <a:rPr lang="ko-KR" altLang="en-US" sz="1200" dirty="0">
                <a:solidFill>
                  <a:srgbClr val="000000"/>
                </a:solidFill>
                <a:latin typeface="Rix모던명조 M" panose="02020603020101020101" pitchFamily="18" charset="-127"/>
              </a:rPr>
              <a:t>용이하게 발명할 수 없는 단계</a:t>
            </a:r>
            <a:r>
              <a:rPr lang="en-US" altLang="ko-KR" sz="1200" b="1" dirty="0">
                <a:solidFill>
                  <a:srgbClr val="FF0000"/>
                </a:solidFill>
                <a:latin typeface="Rix모던명조 M" panose="02020603020101020101" pitchFamily="18" charset="-127"/>
              </a:rPr>
              <a:t>(</a:t>
            </a:r>
            <a:r>
              <a:rPr lang="ko-KR" altLang="en-US" sz="1200" b="1" dirty="0">
                <a:solidFill>
                  <a:srgbClr val="FF0000"/>
                </a:solidFill>
                <a:latin typeface="Rix모던명조 M" panose="02020603020101020101" pitchFamily="18" charset="-127"/>
              </a:rPr>
              <a:t>비용이성</a:t>
            </a:r>
            <a:r>
              <a:rPr lang="en-US" altLang="ko-KR" sz="1200" b="1" dirty="0">
                <a:solidFill>
                  <a:srgbClr val="FF0000"/>
                </a:solidFill>
                <a:latin typeface="Rix모던명조 M" panose="02020603020101020101" pitchFamily="18" charset="-127"/>
              </a:rPr>
              <a:t>)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B5138CF3-779D-4747-A728-F663018ECC5D}"/>
              </a:ext>
            </a:extLst>
          </p:cNvPr>
          <p:cNvSpPr/>
          <p:nvPr/>
        </p:nvSpPr>
        <p:spPr>
          <a:xfrm>
            <a:off x="6061673" y="3315858"/>
            <a:ext cx="1285104" cy="3882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발명의 범주가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다른 경우</a:t>
            </a:r>
          </a:p>
        </p:txBody>
      </p: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B3D06153-2E09-4882-BA51-2971DAC5B982}"/>
              </a:ext>
            </a:extLst>
          </p:cNvPr>
          <p:cNvCxnSpPr>
            <a:cxnSpLocks/>
            <a:stCxn id="58" idx="3"/>
            <a:endCxn id="75" idx="1"/>
          </p:cNvCxnSpPr>
          <p:nvPr/>
        </p:nvCxnSpPr>
        <p:spPr>
          <a:xfrm>
            <a:off x="5773340" y="4045842"/>
            <a:ext cx="288333" cy="42272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연결선: 꺾임 63">
            <a:extLst>
              <a:ext uri="{FF2B5EF4-FFF2-40B4-BE49-F238E27FC236}">
                <a16:creationId xmlns:a16="http://schemas.microsoft.com/office/drawing/2014/main" id="{6C2FD3A1-ED28-4058-98EA-46A932F4D23C}"/>
              </a:ext>
            </a:extLst>
          </p:cNvPr>
          <p:cNvCxnSpPr>
            <a:stCxn id="58" idx="3"/>
            <a:endCxn id="62" idx="1"/>
          </p:cNvCxnSpPr>
          <p:nvPr/>
        </p:nvCxnSpPr>
        <p:spPr>
          <a:xfrm flipV="1">
            <a:off x="5773340" y="3509964"/>
            <a:ext cx="288333" cy="53587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9BCB3616-3EBE-4BF5-99C7-256A8608FBF8}"/>
              </a:ext>
            </a:extLst>
          </p:cNvPr>
          <p:cNvCxnSpPr>
            <a:stCxn id="58" idx="3"/>
            <a:endCxn id="76" idx="1"/>
          </p:cNvCxnSpPr>
          <p:nvPr/>
        </p:nvCxnSpPr>
        <p:spPr>
          <a:xfrm flipV="1">
            <a:off x="5773340" y="3955083"/>
            <a:ext cx="288333" cy="9075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B0738DE1-5686-4556-B209-7FB5250D6263}"/>
              </a:ext>
            </a:extLst>
          </p:cNvPr>
          <p:cNvCxnSpPr>
            <a:cxnSpLocks/>
          </p:cNvCxnSpPr>
          <p:nvPr/>
        </p:nvCxnSpPr>
        <p:spPr>
          <a:xfrm>
            <a:off x="5778406" y="2164520"/>
            <a:ext cx="5387658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4ECEA560-FC2E-4825-B473-EFCF3361F276}"/>
              </a:ext>
            </a:extLst>
          </p:cNvPr>
          <p:cNvCxnSpPr>
            <a:cxnSpLocks/>
          </p:cNvCxnSpPr>
          <p:nvPr/>
        </p:nvCxnSpPr>
        <p:spPr>
          <a:xfrm>
            <a:off x="5778406" y="2722390"/>
            <a:ext cx="5387658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B42755BD-1815-472B-81B8-1CA8EFF7EECF}"/>
              </a:ext>
            </a:extLst>
          </p:cNvPr>
          <p:cNvCxnSpPr>
            <a:cxnSpLocks/>
          </p:cNvCxnSpPr>
          <p:nvPr/>
        </p:nvCxnSpPr>
        <p:spPr>
          <a:xfrm>
            <a:off x="5751237" y="3852624"/>
            <a:ext cx="5387658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828D56CB-67D6-4CB2-AD05-09DE68A2EFEC}"/>
              </a:ext>
            </a:extLst>
          </p:cNvPr>
          <p:cNvCxnSpPr>
            <a:cxnSpLocks/>
          </p:cNvCxnSpPr>
          <p:nvPr/>
        </p:nvCxnSpPr>
        <p:spPr>
          <a:xfrm>
            <a:off x="5773340" y="4404333"/>
            <a:ext cx="5387658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50FE500E-1F47-4EF6-A3DD-3860E0B622FC}"/>
              </a:ext>
            </a:extLst>
          </p:cNvPr>
          <p:cNvCxnSpPr>
            <a:cxnSpLocks/>
          </p:cNvCxnSpPr>
          <p:nvPr/>
        </p:nvCxnSpPr>
        <p:spPr>
          <a:xfrm>
            <a:off x="5778406" y="5344658"/>
            <a:ext cx="5387658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4C5FA1FE-0D27-4DA2-8202-FE2090626299}"/>
              </a:ext>
            </a:extLst>
          </p:cNvPr>
          <p:cNvCxnSpPr>
            <a:cxnSpLocks/>
          </p:cNvCxnSpPr>
          <p:nvPr/>
        </p:nvCxnSpPr>
        <p:spPr>
          <a:xfrm flipV="1">
            <a:off x="7927546" y="4395957"/>
            <a:ext cx="0" cy="929651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82062616-518E-4801-81BD-A9BC447267D1}"/>
              </a:ext>
            </a:extLst>
          </p:cNvPr>
          <p:cNvCxnSpPr>
            <a:cxnSpLocks/>
          </p:cNvCxnSpPr>
          <p:nvPr/>
        </p:nvCxnSpPr>
        <p:spPr>
          <a:xfrm flipV="1">
            <a:off x="8668952" y="3845360"/>
            <a:ext cx="0" cy="1499298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59C367FC-1A64-42A3-82B1-DE77689C393B}"/>
              </a:ext>
            </a:extLst>
          </p:cNvPr>
          <p:cNvCxnSpPr>
            <a:cxnSpLocks/>
          </p:cNvCxnSpPr>
          <p:nvPr/>
        </p:nvCxnSpPr>
        <p:spPr>
          <a:xfrm flipV="1">
            <a:off x="9435071" y="2721982"/>
            <a:ext cx="0" cy="2603626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AC36A4F1-E43A-4225-BA4A-9738CD96FDB8}"/>
              </a:ext>
            </a:extLst>
          </p:cNvPr>
          <p:cNvCxnSpPr>
            <a:cxnSpLocks/>
          </p:cNvCxnSpPr>
          <p:nvPr/>
        </p:nvCxnSpPr>
        <p:spPr>
          <a:xfrm flipV="1">
            <a:off x="10225904" y="2148902"/>
            <a:ext cx="0" cy="3176706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A52DA801-EE96-478A-861B-21DAF1B795B4}"/>
              </a:ext>
            </a:extLst>
          </p:cNvPr>
          <p:cNvSpPr/>
          <p:nvPr/>
        </p:nvSpPr>
        <p:spPr>
          <a:xfrm>
            <a:off x="6061673" y="4212001"/>
            <a:ext cx="1285104" cy="51312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발명의 구성 일부가 변경된 경우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63FA6E6-E715-4B58-B830-E07837345ED6}"/>
              </a:ext>
            </a:extLst>
          </p:cNvPr>
          <p:cNvSpPr/>
          <p:nvPr/>
        </p:nvSpPr>
        <p:spPr>
          <a:xfrm>
            <a:off x="6061673" y="3760977"/>
            <a:ext cx="1285104" cy="3882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발명의 범위가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 다른 경우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09DFAD8F-B2EF-430B-85ED-C81CBE890D41}"/>
              </a:ext>
            </a:extLst>
          </p:cNvPr>
          <p:cNvSpPr/>
          <p:nvPr/>
        </p:nvSpPr>
        <p:spPr>
          <a:xfrm>
            <a:off x="7591161" y="4710423"/>
            <a:ext cx="704704" cy="348037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</a:t>
            </a:r>
            <a:r>
              <a:rPr lang="ko-KR" altLang="en-US" sz="1400" dirty="0"/>
              <a:t>유형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1030B629-6F80-4553-9932-F186809C22C0}"/>
              </a:ext>
            </a:extLst>
          </p:cNvPr>
          <p:cNvSpPr/>
          <p:nvPr/>
        </p:nvSpPr>
        <p:spPr>
          <a:xfrm>
            <a:off x="8312716" y="4230315"/>
            <a:ext cx="704704" cy="348037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B</a:t>
            </a:r>
            <a:r>
              <a:rPr lang="ko-KR" altLang="en-US" sz="1400" dirty="0"/>
              <a:t>유형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1349F4C5-27B8-484E-A2D6-218E837D1278}"/>
              </a:ext>
            </a:extLst>
          </p:cNvPr>
          <p:cNvSpPr/>
          <p:nvPr/>
        </p:nvSpPr>
        <p:spPr>
          <a:xfrm>
            <a:off x="9082719" y="3315858"/>
            <a:ext cx="704704" cy="348037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C</a:t>
            </a:r>
            <a:r>
              <a:rPr lang="ko-KR" altLang="en-US" sz="1400" dirty="0"/>
              <a:t>유형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E80DB301-43C2-4C3E-B667-5D37B4BE640A}"/>
              </a:ext>
            </a:extLst>
          </p:cNvPr>
          <p:cNvSpPr/>
          <p:nvPr/>
        </p:nvSpPr>
        <p:spPr>
          <a:xfrm>
            <a:off x="9873552" y="2450719"/>
            <a:ext cx="704704" cy="348037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</a:t>
            </a:r>
            <a:r>
              <a:rPr lang="ko-KR" altLang="en-US" sz="1400" dirty="0"/>
              <a:t>유형</a:t>
            </a: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54876DF7-BFA3-4E13-94C6-EC2230FE1696}"/>
              </a:ext>
            </a:extLst>
          </p:cNvPr>
          <p:cNvSpPr/>
          <p:nvPr/>
        </p:nvSpPr>
        <p:spPr>
          <a:xfrm>
            <a:off x="854512" y="5879411"/>
            <a:ext cx="704704" cy="348037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</a:t>
            </a:r>
            <a:r>
              <a:rPr lang="ko-KR" altLang="en-US" sz="1400" dirty="0"/>
              <a:t>유형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B3681720-4689-4654-9644-1A5CBDFB5854}"/>
              </a:ext>
            </a:extLst>
          </p:cNvPr>
          <p:cNvSpPr/>
          <p:nvPr/>
        </p:nvSpPr>
        <p:spPr>
          <a:xfrm>
            <a:off x="549712" y="1073345"/>
            <a:ext cx="11044166" cy="46737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DB6F5ECE-3C61-4C36-9B76-C9BF03EDCBC2}"/>
              </a:ext>
            </a:extLst>
          </p:cNvPr>
          <p:cNvSpPr/>
          <p:nvPr/>
        </p:nvSpPr>
        <p:spPr>
          <a:xfrm>
            <a:off x="7035137" y="5879411"/>
            <a:ext cx="704704" cy="348037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B</a:t>
            </a:r>
            <a:r>
              <a:rPr lang="ko-KR" altLang="en-US" sz="1400" dirty="0"/>
              <a:t>유형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F0B9F256-3F04-4B55-9727-D61607BA73C1}"/>
              </a:ext>
            </a:extLst>
          </p:cNvPr>
          <p:cNvSpPr/>
          <p:nvPr/>
        </p:nvSpPr>
        <p:spPr>
          <a:xfrm>
            <a:off x="1607772" y="6335544"/>
            <a:ext cx="4323128" cy="3882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선출원주의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9E54CE7C-8C1A-40F6-87C9-3B061930E4B6}"/>
              </a:ext>
            </a:extLst>
          </p:cNvPr>
          <p:cNvSpPr/>
          <p:nvPr/>
        </p:nvSpPr>
        <p:spPr>
          <a:xfrm>
            <a:off x="7830295" y="6335544"/>
            <a:ext cx="4328745" cy="3882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무권리자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허위표시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CEF5F959-C0D2-4999-B6A8-FF693E4C11A7}"/>
              </a:ext>
            </a:extLst>
          </p:cNvPr>
          <p:cNvSpPr/>
          <p:nvPr/>
        </p:nvSpPr>
        <p:spPr>
          <a:xfrm>
            <a:off x="854512" y="6361915"/>
            <a:ext cx="704704" cy="348037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C</a:t>
            </a:r>
            <a:r>
              <a:rPr lang="ko-KR" altLang="en-US" sz="1400" dirty="0"/>
              <a:t>유형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50FAEF3C-F999-4776-B9B4-AD158F2F5FDC}"/>
              </a:ext>
            </a:extLst>
          </p:cNvPr>
          <p:cNvSpPr/>
          <p:nvPr/>
        </p:nvSpPr>
        <p:spPr>
          <a:xfrm>
            <a:off x="7035137" y="6361915"/>
            <a:ext cx="704704" cy="348037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</a:t>
            </a:r>
            <a:r>
              <a:rPr lang="ko-KR" altLang="en-US" sz="1400" dirty="0"/>
              <a:t>유형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A3712B5-25A6-25EE-47B4-60B1945DA7EA}"/>
              </a:ext>
            </a:extLst>
          </p:cNvPr>
          <p:cNvCxnSpPr>
            <a:stCxn id="75" idx="3"/>
          </p:cNvCxnSpPr>
          <p:nvPr/>
        </p:nvCxnSpPr>
        <p:spPr>
          <a:xfrm flipV="1">
            <a:off x="7346777" y="4320988"/>
            <a:ext cx="949088" cy="147577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269875D2-E3AA-90B0-960D-DF86D14B00BE}"/>
              </a:ext>
            </a:extLst>
          </p:cNvPr>
          <p:cNvCxnSpPr>
            <a:cxnSpLocks/>
            <a:stCxn id="75" idx="3"/>
            <a:endCxn id="79" idx="1"/>
          </p:cNvCxnSpPr>
          <p:nvPr/>
        </p:nvCxnSpPr>
        <p:spPr>
          <a:xfrm flipV="1">
            <a:off x="7346777" y="3489877"/>
            <a:ext cx="1735942" cy="978688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034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FB63A-50F1-B76D-2BF8-125E15A6D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BD7A54D-66D3-F5B7-711B-5FA5CF211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항각호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CE7C8A-821D-62DA-97BD-2CB6A79D35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동일성의 유형</a:t>
            </a:r>
            <a:r>
              <a:rPr lang="en-US" altLang="ko-KR" dirty="0">
                <a:solidFill>
                  <a:srgbClr val="525252"/>
                </a:solidFill>
              </a:rPr>
              <a:t>(A, B </a:t>
            </a:r>
            <a:r>
              <a:rPr lang="ko-KR" altLang="en-US" dirty="0">
                <a:solidFill>
                  <a:srgbClr val="525252"/>
                </a:solidFill>
              </a:rPr>
              <a:t>유형</a:t>
            </a:r>
            <a:r>
              <a:rPr lang="en-US" altLang="ko-KR" dirty="0">
                <a:solidFill>
                  <a:srgbClr val="525252"/>
                </a:solidFill>
              </a:rPr>
              <a:t>)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2054A69-E7C4-3322-2398-EE0A9EA0919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776856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62</a:t>
            </a:fld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975873C-DAFF-8681-E59B-BF11F98AB0F3}"/>
              </a:ext>
            </a:extLst>
          </p:cNvPr>
          <p:cNvSpPr/>
          <p:nvPr/>
        </p:nvSpPr>
        <p:spPr>
          <a:xfrm>
            <a:off x="634504" y="1074882"/>
            <a:ext cx="347025" cy="138891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보정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981472-F4E2-92B1-AF06-13967CDEDA51}"/>
              </a:ext>
            </a:extLst>
          </p:cNvPr>
          <p:cNvSpPr txBox="1"/>
          <p:nvPr/>
        </p:nvSpPr>
        <p:spPr>
          <a:xfrm>
            <a:off x="55628" y="1083453"/>
            <a:ext cx="440005" cy="41478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</a:t>
            </a:r>
            <a:endParaRPr lang="ko-KR" altLang="en-US" sz="1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AEB94CF-DF44-5C49-F8E4-093CC9DDA25E}"/>
              </a:ext>
            </a:extLst>
          </p:cNvPr>
          <p:cNvSpPr/>
          <p:nvPr/>
        </p:nvSpPr>
        <p:spPr>
          <a:xfrm>
            <a:off x="1011010" y="1074883"/>
            <a:ext cx="5186590" cy="138891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100" dirty="0">
                <a:solidFill>
                  <a:schemeClr val="tx1"/>
                </a:solidFill>
              </a:rPr>
              <a:t>제</a:t>
            </a:r>
            <a:r>
              <a:rPr lang="en-US" altLang="ko-KR" sz="1100" dirty="0">
                <a:solidFill>
                  <a:schemeClr val="tx1"/>
                </a:solidFill>
              </a:rPr>
              <a:t>47</a:t>
            </a:r>
            <a:r>
              <a:rPr lang="ko-KR" altLang="en-US" sz="1100" dirty="0">
                <a:solidFill>
                  <a:schemeClr val="tx1"/>
                </a:solidFill>
              </a:rPr>
              <a:t>조 제</a:t>
            </a:r>
            <a:r>
              <a:rPr lang="en-US" altLang="ko-KR" sz="1100" dirty="0">
                <a:solidFill>
                  <a:schemeClr val="tx1"/>
                </a:solidFill>
              </a:rPr>
              <a:t>2</a:t>
            </a:r>
            <a:r>
              <a:rPr lang="ko-KR" altLang="en-US" sz="1100" dirty="0">
                <a:solidFill>
                  <a:schemeClr val="tx1"/>
                </a:solidFill>
              </a:rPr>
              <a:t>항에서 최초로 첨부된 명세서 또는 도면에 기재된 </a:t>
            </a:r>
            <a:r>
              <a:rPr lang="ko-KR" altLang="en-US" sz="1100" dirty="0">
                <a:solidFill>
                  <a:srgbClr val="FF0000"/>
                </a:solidFill>
              </a:rPr>
              <a:t>사항이란 최초 명세서 등에 명시적으로 기재되어 있는 사항이거나 또는 명시적인 기재가 없더라도 그 발명이 속하는 기술분야에서 통상의 지식을 가진 사람이라면 출원시의 </a:t>
            </a:r>
            <a:r>
              <a:rPr lang="ko-KR" altLang="en-US" sz="1100" dirty="0" err="1">
                <a:solidFill>
                  <a:srgbClr val="FF0000"/>
                </a:solidFill>
              </a:rPr>
              <a:t>기술상식에</a:t>
            </a:r>
            <a:r>
              <a:rPr lang="ko-KR" altLang="en-US" sz="1100" dirty="0">
                <a:solidFill>
                  <a:srgbClr val="FF0000"/>
                </a:solidFill>
              </a:rPr>
              <a:t> 비추어 보아 보정된 사항이 최초 명세서 등에 기재되어 있는 것과 마찬가지라고 이해할 수 있는 </a:t>
            </a:r>
            <a:r>
              <a:rPr lang="ko-KR" altLang="en-US" sz="1100" dirty="0" err="1">
                <a:solidFill>
                  <a:srgbClr val="FF0000"/>
                </a:solidFill>
              </a:rPr>
              <a:t>사항</a:t>
            </a:r>
            <a:r>
              <a:rPr lang="ko-KR" altLang="en-US" sz="1100" dirty="0" err="1">
                <a:solidFill>
                  <a:schemeClr val="tx1"/>
                </a:solidFill>
              </a:rPr>
              <a:t>이어야</a:t>
            </a:r>
            <a:r>
              <a:rPr lang="ko-KR" altLang="en-US" sz="1100" dirty="0">
                <a:solidFill>
                  <a:schemeClr val="tx1"/>
                </a:solidFill>
              </a:rPr>
              <a:t> 한다</a:t>
            </a:r>
            <a:r>
              <a:rPr lang="en-US" altLang="ko-KR" sz="1100" dirty="0">
                <a:solidFill>
                  <a:schemeClr val="tx1"/>
                </a:solidFill>
              </a:rPr>
              <a:t>. </a:t>
            </a:r>
            <a:r>
              <a:rPr lang="ko-KR" altLang="en-US" sz="1100" dirty="0">
                <a:solidFill>
                  <a:schemeClr val="tx1"/>
                </a:solidFill>
              </a:rPr>
              <a:t>또한</a:t>
            </a:r>
            <a:r>
              <a:rPr lang="en-US" altLang="ko-KR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highlight>
                  <a:srgbClr val="00FFFF"/>
                </a:highlight>
              </a:rPr>
              <a:t>보정된 사항이 </a:t>
            </a:r>
            <a:r>
              <a:rPr lang="ko-KR" altLang="en-US" sz="1100" dirty="0" err="1">
                <a:solidFill>
                  <a:schemeClr val="tx1"/>
                </a:solidFill>
                <a:highlight>
                  <a:srgbClr val="00FFFF"/>
                </a:highlight>
              </a:rPr>
              <a:t>주지관용기술이더라도</a:t>
            </a:r>
            <a:r>
              <a:rPr lang="ko-KR" altLang="en-US" sz="1100" dirty="0">
                <a:solidFill>
                  <a:schemeClr val="tx1"/>
                </a:solidFill>
                <a:highlight>
                  <a:srgbClr val="00FFFF"/>
                </a:highlight>
              </a:rPr>
              <a:t> 그것이 통상의 기술자가 최초 명세서 및 도면에 기재되어 있는 것과 마찬가지라고 이해할 수 있는 사항이 아니라면</a:t>
            </a:r>
            <a:r>
              <a:rPr lang="en-US" altLang="ko-KR" sz="1100" dirty="0">
                <a:solidFill>
                  <a:schemeClr val="tx1"/>
                </a:solidFill>
                <a:highlight>
                  <a:srgbClr val="00FFFF"/>
                </a:highlight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highlight>
                  <a:srgbClr val="00FFFF"/>
                </a:highlight>
              </a:rPr>
              <a:t>이를 추가하는 보정은 최초 명세서 및 도면에 기재된 사항의 범위를 벗어난 것이어서 허용될 수 없다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대법원 </a:t>
            </a:r>
            <a:r>
              <a:rPr lang="en-US" altLang="ko-KR" sz="1100" dirty="0">
                <a:solidFill>
                  <a:schemeClr val="tx1"/>
                </a:solidFill>
              </a:rPr>
              <a:t>2007. 2. 8. </a:t>
            </a:r>
            <a:r>
              <a:rPr lang="ko-KR" altLang="en-US" sz="1100" dirty="0">
                <a:solidFill>
                  <a:schemeClr val="tx1"/>
                </a:solidFill>
              </a:rPr>
              <a:t>선고 </a:t>
            </a:r>
            <a:r>
              <a:rPr lang="en-US" altLang="ko-KR" sz="1100" dirty="0">
                <a:solidFill>
                  <a:schemeClr val="tx1"/>
                </a:solidFill>
              </a:rPr>
              <a:t>2005</a:t>
            </a:r>
            <a:r>
              <a:rPr lang="ko-KR" altLang="en-US" sz="1100" dirty="0">
                <a:solidFill>
                  <a:schemeClr val="tx1"/>
                </a:solidFill>
              </a:rPr>
              <a:t>후</a:t>
            </a:r>
            <a:r>
              <a:rPr lang="en-US" altLang="ko-KR" sz="1100" dirty="0">
                <a:solidFill>
                  <a:schemeClr val="tx1"/>
                </a:solidFill>
              </a:rPr>
              <a:t>3130 </a:t>
            </a:r>
            <a:r>
              <a:rPr lang="ko-KR" altLang="en-US" sz="1100" dirty="0">
                <a:solidFill>
                  <a:schemeClr val="tx1"/>
                </a:solidFill>
              </a:rPr>
              <a:t>판결</a:t>
            </a:r>
            <a:r>
              <a:rPr lang="en-US" altLang="ko-KR" sz="1100" dirty="0">
                <a:solidFill>
                  <a:schemeClr val="tx1"/>
                </a:solidFill>
              </a:rPr>
              <a:t>). 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E85F50F-08CF-00C2-A563-9E578F3EF957}"/>
              </a:ext>
            </a:extLst>
          </p:cNvPr>
          <p:cNvSpPr/>
          <p:nvPr/>
        </p:nvSpPr>
        <p:spPr>
          <a:xfrm>
            <a:off x="1011010" y="2529609"/>
            <a:ext cx="5186590" cy="27662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100" dirty="0">
                <a:solidFill>
                  <a:schemeClr val="tx1"/>
                </a:solidFill>
              </a:rPr>
              <a:t>그런데 이와 같은 국내 우선권 제도에 의하여 실제 특허출원일보다 앞서 우선권 </a:t>
            </a:r>
            <a:r>
              <a:rPr lang="ko-KR" altLang="en-US" sz="1100" dirty="0" err="1">
                <a:solidFill>
                  <a:schemeClr val="tx1"/>
                </a:solidFill>
              </a:rPr>
              <a:t>주장일에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특허출원된</a:t>
            </a:r>
            <a:r>
              <a:rPr lang="ko-KR" altLang="en-US" sz="1100" dirty="0">
                <a:solidFill>
                  <a:schemeClr val="tx1"/>
                </a:solidFill>
              </a:rPr>
              <a:t> 것으로 보아 그 </a:t>
            </a:r>
            <a:r>
              <a:rPr lang="ko-KR" altLang="en-US" sz="1100" dirty="0" err="1">
                <a:solidFill>
                  <a:schemeClr val="tx1"/>
                </a:solidFill>
              </a:rPr>
              <a:t>특허요건을</a:t>
            </a:r>
            <a:r>
              <a:rPr lang="ko-KR" altLang="en-US" sz="1100" dirty="0">
                <a:solidFill>
                  <a:schemeClr val="tx1"/>
                </a:solidFill>
              </a:rPr>
              <a:t> 심사함으로써 우선권 </a:t>
            </a:r>
            <a:r>
              <a:rPr lang="ko-KR" altLang="en-US" sz="1100" dirty="0" err="1">
                <a:solidFill>
                  <a:schemeClr val="tx1"/>
                </a:solidFill>
              </a:rPr>
              <a:t>주장일과</a:t>
            </a:r>
            <a:r>
              <a:rPr lang="ko-KR" altLang="en-US" sz="1100" dirty="0">
                <a:solidFill>
                  <a:schemeClr val="tx1"/>
                </a:solidFill>
              </a:rPr>
              <a:t> 우선권 주장을 수반하는 특허출원일 사이에 특허출원을 한 사람 등 제</a:t>
            </a:r>
            <a:r>
              <a:rPr lang="en-US" altLang="ko-KR" sz="1100" dirty="0">
                <a:solidFill>
                  <a:schemeClr val="tx1"/>
                </a:solidFill>
              </a:rPr>
              <a:t>3</a:t>
            </a:r>
            <a:r>
              <a:rPr lang="ko-KR" altLang="en-US" sz="1100" dirty="0">
                <a:solidFill>
                  <a:schemeClr val="tx1"/>
                </a:solidFill>
              </a:rPr>
              <a:t>자의 이익을 부당하게 침해하는 결과가 일어날 수 있음은 특허법 제</a:t>
            </a:r>
            <a:r>
              <a:rPr lang="en-US" altLang="ko-KR" sz="1100" dirty="0">
                <a:solidFill>
                  <a:schemeClr val="tx1"/>
                </a:solidFill>
              </a:rPr>
              <a:t>47</a:t>
            </a:r>
            <a:r>
              <a:rPr lang="ko-KR" altLang="en-US" sz="1100" dirty="0">
                <a:solidFill>
                  <a:schemeClr val="tx1"/>
                </a:solidFill>
              </a:rPr>
              <a:t>조 제</a:t>
            </a:r>
            <a:r>
              <a:rPr lang="en-US" altLang="ko-KR" sz="1100" dirty="0">
                <a:solidFill>
                  <a:schemeClr val="tx1"/>
                </a:solidFill>
              </a:rPr>
              <a:t>1</a:t>
            </a:r>
            <a:r>
              <a:rPr lang="ko-KR" altLang="en-US" sz="1100" dirty="0">
                <a:solidFill>
                  <a:schemeClr val="tx1"/>
                </a:solidFill>
              </a:rPr>
              <a:t>항의 규정에 의한 명세서 또는 도면의 보정이 받아들여져 그 효과가 출원 시로 소급하는 경우와 별다른 차이가 없으므로</a:t>
            </a:r>
            <a:r>
              <a:rPr lang="en-US" altLang="ko-KR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</a:rPr>
              <a:t>이러한 보정의 경우와 같은 관점에서</a:t>
            </a:r>
            <a:r>
              <a:rPr lang="en-US" altLang="ko-KR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</a:rPr>
              <a:t>우선권 </a:t>
            </a:r>
            <a:r>
              <a:rPr lang="ko-KR" altLang="en-US" sz="1100" dirty="0" err="1">
                <a:solidFill>
                  <a:schemeClr val="tx1"/>
                </a:solidFill>
              </a:rPr>
              <a:t>주장일에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특허출원된</a:t>
            </a:r>
            <a:r>
              <a:rPr lang="ko-KR" altLang="en-US" sz="1100" dirty="0">
                <a:solidFill>
                  <a:schemeClr val="tx1"/>
                </a:solidFill>
              </a:rPr>
              <a:t> 것으로 보아 </a:t>
            </a:r>
            <a:r>
              <a:rPr lang="ko-KR" altLang="en-US" sz="1100" dirty="0" err="1">
                <a:solidFill>
                  <a:schemeClr val="tx1"/>
                </a:solidFill>
              </a:rPr>
              <a:t>특허요건을</a:t>
            </a:r>
            <a:r>
              <a:rPr lang="ko-KR" altLang="en-US" sz="1100" dirty="0">
                <a:solidFill>
                  <a:schemeClr val="tx1"/>
                </a:solidFill>
              </a:rPr>
              <a:t> 심사하는 발명의 범위를 제한할 필요가 있다</a:t>
            </a:r>
            <a:r>
              <a:rPr lang="en-US" altLang="ko-KR" sz="1100" dirty="0">
                <a:solidFill>
                  <a:schemeClr val="tx1"/>
                </a:solidFill>
              </a:rPr>
              <a:t>. </a:t>
            </a:r>
            <a:r>
              <a:rPr lang="ko-KR" altLang="en-US" sz="1100" dirty="0">
                <a:solidFill>
                  <a:schemeClr val="tx1"/>
                </a:solidFill>
              </a:rPr>
              <a:t>따라서 특허법 제</a:t>
            </a:r>
            <a:r>
              <a:rPr lang="en-US" altLang="ko-KR" sz="1100" dirty="0">
                <a:solidFill>
                  <a:schemeClr val="tx1"/>
                </a:solidFill>
              </a:rPr>
              <a:t>55</a:t>
            </a:r>
            <a:r>
              <a:rPr lang="ko-KR" altLang="en-US" sz="1100" dirty="0">
                <a:solidFill>
                  <a:schemeClr val="tx1"/>
                </a:solidFill>
              </a:rPr>
              <a:t>조 제</a:t>
            </a:r>
            <a:r>
              <a:rPr lang="en-US" altLang="ko-KR" sz="1100" dirty="0">
                <a:solidFill>
                  <a:schemeClr val="tx1"/>
                </a:solidFill>
              </a:rPr>
              <a:t>3</a:t>
            </a:r>
            <a:r>
              <a:rPr lang="ko-KR" altLang="en-US" sz="1100" dirty="0">
                <a:solidFill>
                  <a:schemeClr val="tx1"/>
                </a:solidFill>
              </a:rPr>
              <a:t>항에 따라 </a:t>
            </a:r>
            <a:r>
              <a:rPr lang="ko-KR" altLang="en-US" sz="1100" dirty="0" err="1">
                <a:solidFill>
                  <a:schemeClr val="tx1"/>
                </a:solidFill>
              </a:rPr>
              <a:t>특허요건</a:t>
            </a:r>
            <a:r>
              <a:rPr lang="ko-KR" altLang="en-US" sz="1100" dirty="0">
                <a:solidFill>
                  <a:schemeClr val="tx1"/>
                </a:solidFill>
              </a:rPr>
              <a:t> 적용의 기준일이 우선권 </a:t>
            </a:r>
            <a:r>
              <a:rPr lang="ko-KR" altLang="en-US" sz="1100" dirty="0" err="1">
                <a:solidFill>
                  <a:schemeClr val="tx1"/>
                </a:solidFill>
              </a:rPr>
              <a:t>주장일로</a:t>
            </a:r>
            <a:r>
              <a:rPr lang="ko-KR" altLang="en-US" sz="1100" dirty="0">
                <a:solidFill>
                  <a:schemeClr val="tx1"/>
                </a:solidFill>
              </a:rPr>
              <a:t> 소급하는 발명은 특허법 제</a:t>
            </a:r>
            <a:r>
              <a:rPr lang="en-US" altLang="ko-KR" sz="1100" dirty="0">
                <a:solidFill>
                  <a:schemeClr val="tx1"/>
                </a:solidFill>
              </a:rPr>
              <a:t>47</a:t>
            </a:r>
            <a:r>
              <a:rPr lang="ko-KR" altLang="en-US" sz="1100" dirty="0">
                <a:solidFill>
                  <a:schemeClr val="tx1"/>
                </a:solidFill>
              </a:rPr>
              <a:t>조 제</a:t>
            </a:r>
            <a:r>
              <a:rPr lang="en-US" altLang="ko-KR" sz="1100" dirty="0">
                <a:solidFill>
                  <a:schemeClr val="tx1"/>
                </a:solidFill>
              </a:rPr>
              <a:t>2</a:t>
            </a:r>
            <a:r>
              <a:rPr lang="ko-KR" altLang="en-US" sz="1100" dirty="0">
                <a:solidFill>
                  <a:schemeClr val="tx1"/>
                </a:solidFill>
              </a:rPr>
              <a:t>항과 마찬가지로 우선권 주장을 수반하는 </a:t>
            </a:r>
            <a:r>
              <a:rPr lang="ko-KR" altLang="en-US" sz="1100" dirty="0" err="1">
                <a:solidFill>
                  <a:schemeClr val="tx1"/>
                </a:solidFill>
              </a:rPr>
              <a:t>특허출원된</a:t>
            </a:r>
            <a:r>
              <a:rPr lang="ko-KR" altLang="en-US" sz="1100" dirty="0">
                <a:solidFill>
                  <a:schemeClr val="tx1"/>
                </a:solidFill>
              </a:rPr>
              <a:t> 발명 가운데 우선권 주장의 기초가 된 </a:t>
            </a:r>
            <a:r>
              <a:rPr lang="ko-KR" altLang="en-US" sz="1100" dirty="0" err="1">
                <a:solidFill>
                  <a:schemeClr val="tx1"/>
                </a:solidFill>
              </a:rPr>
              <a:t>선출원의</a:t>
            </a:r>
            <a:r>
              <a:rPr lang="ko-KR" altLang="en-US" sz="1100" dirty="0">
                <a:solidFill>
                  <a:schemeClr val="tx1"/>
                </a:solidFill>
              </a:rPr>
              <a:t> 최초 명세서 등에 기재된 사항의 범위 안에 있는 것으로 한정된다고 봄이 타당하다</a:t>
            </a:r>
            <a:r>
              <a:rPr lang="en-US" altLang="ko-KR" sz="1100" dirty="0">
                <a:solidFill>
                  <a:schemeClr val="tx1"/>
                </a:solidFill>
              </a:rPr>
              <a:t>. </a:t>
            </a:r>
            <a:r>
              <a:rPr lang="ko-KR" altLang="en-US" sz="1100" dirty="0">
                <a:solidFill>
                  <a:schemeClr val="tx1"/>
                </a:solidFill>
              </a:rPr>
              <a:t>그리고 여기서 ‘우선권 주장의 기초가 된 </a:t>
            </a:r>
            <a:r>
              <a:rPr lang="ko-KR" altLang="en-US" sz="1100" dirty="0" err="1">
                <a:solidFill>
                  <a:schemeClr val="tx1"/>
                </a:solidFill>
              </a:rPr>
              <a:t>선출원의</a:t>
            </a:r>
            <a:r>
              <a:rPr lang="ko-KR" altLang="en-US" sz="1100" dirty="0">
                <a:solidFill>
                  <a:schemeClr val="tx1"/>
                </a:solidFill>
              </a:rPr>
              <a:t> 최초 명세서 등에 기재된 </a:t>
            </a:r>
            <a:r>
              <a:rPr lang="ko-KR" altLang="en-US" sz="1100" dirty="0" err="1">
                <a:solidFill>
                  <a:schemeClr val="tx1"/>
                </a:solidFill>
              </a:rPr>
              <a:t>사항’이란</a:t>
            </a:r>
            <a:r>
              <a:rPr lang="en-US" altLang="ko-KR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</a:rPr>
              <a:t>우선권 주장의 기초가 된 </a:t>
            </a:r>
            <a:r>
              <a:rPr lang="ko-KR" altLang="en-US" sz="1100" dirty="0" err="1">
                <a:solidFill>
                  <a:srgbClr val="FF0000"/>
                </a:solidFill>
              </a:rPr>
              <a:t>선출원의</a:t>
            </a:r>
            <a:r>
              <a:rPr lang="ko-KR" altLang="en-US" sz="1100" dirty="0">
                <a:solidFill>
                  <a:srgbClr val="FF0000"/>
                </a:solidFill>
              </a:rPr>
              <a:t> 최초 명세서 등에 명시적으로 기재되어 있는 사항이거나 또는 명시적인 기재가 없더라도 그 발명이 속하는 기술분야에서 통상의 지식을 가진 사람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이하 ‘통상의 </a:t>
            </a:r>
            <a:r>
              <a:rPr lang="ko-KR" altLang="en-US" sz="1100" dirty="0" err="1">
                <a:solidFill>
                  <a:srgbClr val="FF0000"/>
                </a:solidFill>
              </a:rPr>
              <a:t>기술자’라</a:t>
            </a:r>
            <a:r>
              <a:rPr lang="ko-KR" altLang="en-US" sz="1100" dirty="0">
                <a:solidFill>
                  <a:srgbClr val="FF0000"/>
                </a:solidFill>
              </a:rPr>
              <a:t> 한다</a:t>
            </a:r>
            <a:r>
              <a:rPr lang="en-US" altLang="ko-KR" sz="1100" dirty="0">
                <a:solidFill>
                  <a:srgbClr val="FF0000"/>
                </a:solidFill>
              </a:rPr>
              <a:t>)</a:t>
            </a:r>
            <a:r>
              <a:rPr lang="ko-KR" altLang="en-US" sz="1100" dirty="0">
                <a:solidFill>
                  <a:srgbClr val="FF0000"/>
                </a:solidFill>
              </a:rPr>
              <a:t>이라면 </a:t>
            </a:r>
            <a:r>
              <a:rPr lang="ko-KR" altLang="en-US" sz="1100" dirty="0">
                <a:solidFill>
                  <a:srgbClr val="FF0000"/>
                </a:solidFill>
                <a:highlight>
                  <a:srgbClr val="00FFFF"/>
                </a:highlight>
              </a:rPr>
              <a:t>우선권 주장일 당시</a:t>
            </a:r>
            <a:r>
              <a:rPr lang="ko-KR" altLang="en-US" sz="1100" dirty="0">
                <a:solidFill>
                  <a:srgbClr val="FF0000"/>
                </a:solidFill>
              </a:rPr>
              <a:t>의 </a:t>
            </a:r>
            <a:r>
              <a:rPr lang="ko-KR" altLang="en-US" sz="1100" dirty="0" err="1">
                <a:solidFill>
                  <a:srgbClr val="FF0000"/>
                </a:solidFill>
              </a:rPr>
              <a:t>기술상식에</a:t>
            </a:r>
            <a:r>
              <a:rPr lang="ko-KR" altLang="en-US" sz="1100" dirty="0">
                <a:solidFill>
                  <a:srgbClr val="FF0000"/>
                </a:solidFill>
              </a:rPr>
              <a:t> 비추어 보아 우선권 주장을 수반하는 </a:t>
            </a:r>
            <a:r>
              <a:rPr lang="ko-KR" altLang="en-US" sz="1100" dirty="0" err="1">
                <a:solidFill>
                  <a:srgbClr val="FF0000"/>
                </a:solidFill>
              </a:rPr>
              <a:t>특허출원된</a:t>
            </a:r>
            <a:r>
              <a:rPr lang="ko-KR" altLang="en-US" sz="1100" dirty="0">
                <a:solidFill>
                  <a:srgbClr val="FF0000"/>
                </a:solidFill>
              </a:rPr>
              <a:t> 발명이 </a:t>
            </a:r>
            <a:r>
              <a:rPr lang="ko-KR" altLang="en-US" sz="1100" dirty="0" err="1">
                <a:solidFill>
                  <a:srgbClr val="FF0000"/>
                </a:solidFill>
              </a:rPr>
              <a:t>선출원의</a:t>
            </a:r>
            <a:r>
              <a:rPr lang="ko-KR" altLang="en-US" sz="1100" dirty="0">
                <a:solidFill>
                  <a:srgbClr val="FF0000"/>
                </a:solidFill>
              </a:rPr>
              <a:t> 최초 명세서 등에 기재되어 있는 것과 마찬가지라고 이해할 수 있는 </a:t>
            </a:r>
            <a:r>
              <a:rPr lang="ko-KR" altLang="en-US" sz="1100" dirty="0" err="1">
                <a:solidFill>
                  <a:srgbClr val="FF0000"/>
                </a:solidFill>
              </a:rPr>
              <a:t>사항</a:t>
            </a:r>
            <a:r>
              <a:rPr lang="ko-KR" altLang="en-US" sz="1100" dirty="0" err="1">
                <a:solidFill>
                  <a:schemeClr val="tx1"/>
                </a:solidFill>
              </a:rPr>
              <a:t>이어야</a:t>
            </a:r>
            <a:r>
              <a:rPr lang="ko-KR" altLang="en-US" sz="1100" dirty="0">
                <a:solidFill>
                  <a:schemeClr val="tx1"/>
                </a:solidFill>
              </a:rPr>
              <a:t> 한다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대법원 </a:t>
            </a:r>
            <a:r>
              <a:rPr lang="en-US" altLang="ko-KR" sz="1100" dirty="0">
                <a:solidFill>
                  <a:schemeClr val="tx1"/>
                </a:solidFill>
              </a:rPr>
              <a:t>2015. 1. 15. </a:t>
            </a:r>
            <a:r>
              <a:rPr lang="ko-KR" altLang="en-US" sz="1100" dirty="0">
                <a:solidFill>
                  <a:schemeClr val="tx1"/>
                </a:solidFill>
              </a:rPr>
              <a:t>선고 </a:t>
            </a:r>
            <a:r>
              <a:rPr lang="en-US" altLang="ko-KR" sz="1100" dirty="0">
                <a:solidFill>
                  <a:schemeClr val="tx1"/>
                </a:solidFill>
              </a:rPr>
              <a:t>2012</a:t>
            </a:r>
            <a:r>
              <a:rPr lang="ko-KR" altLang="en-US" sz="1100" dirty="0">
                <a:solidFill>
                  <a:schemeClr val="tx1"/>
                </a:solidFill>
              </a:rPr>
              <a:t>후</a:t>
            </a:r>
            <a:r>
              <a:rPr lang="en-US" altLang="ko-KR" sz="1100" dirty="0">
                <a:solidFill>
                  <a:schemeClr val="tx1"/>
                </a:solidFill>
              </a:rPr>
              <a:t>2999).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7326ABD-A50D-7305-E5BD-D27CEE5B2125}"/>
              </a:ext>
            </a:extLst>
          </p:cNvPr>
          <p:cNvSpPr/>
          <p:nvPr/>
        </p:nvSpPr>
        <p:spPr>
          <a:xfrm>
            <a:off x="634504" y="2529609"/>
            <a:ext cx="347025" cy="27662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우선권주장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출원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DB84D5E-118C-69A6-7679-F46C7C68A32D}"/>
              </a:ext>
            </a:extLst>
          </p:cNvPr>
          <p:cNvSpPr/>
          <p:nvPr/>
        </p:nvSpPr>
        <p:spPr>
          <a:xfrm>
            <a:off x="1011010" y="5353627"/>
            <a:ext cx="5186590" cy="13900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특허발명의 명세서 또는 도면의 정정은 그 명세서 또는 도면에 기재된 사항의 범위 이내에서 할 수 있다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특허법 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136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조 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항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).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여기서 ‘명세서 또는 도면에 기재된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사항’이라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함은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거기에 명시적으로 기재되어 있는 것뿐만 아니라 기재되어 있지는 않지만 출원시의 기술상식으로 볼 때 그 발명이 속하는 기술분야에서 통상의 지식을 가진 사람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이하 ‘통상의 </a:t>
            </a:r>
            <a:r>
              <a:rPr lang="ko-KR" altLang="en-US" sz="1100" dirty="0" err="1">
                <a:solidFill>
                  <a:srgbClr val="FF0000"/>
                </a:solidFill>
                <a:latin typeface="+mn-ea"/>
              </a:rPr>
              <a:t>기술자’라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 한다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이면 명시적으로 기재되어 있는 내용 자체로부터 그와 같은 기재가 있는 것과 마찬가지라고 명확하게 이해할 수 있는 사항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을 포함하지만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highlight>
                  <a:srgbClr val="00FFFF"/>
                </a:highlight>
                <a:latin typeface="+mn-ea"/>
              </a:rPr>
              <a:t>상위개념을 하위개념으로 정정하였다고 하더라도 그러한 사항의 범위를 넘는 </a:t>
            </a:r>
            <a:r>
              <a:rPr lang="ko-KR" altLang="en-US" sz="1100" dirty="0" err="1">
                <a:solidFill>
                  <a:schemeClr val="tx1"/>
                </a:solidFill>
                <a:highlight>
                  <a:srgbClr val="00FFFF"/>
                </a:highlight>
                <a:latin typeface="+mn-ea"/>
              </a:rPr>
              <a:t>신규사항을</a:t>
            </a:r>
            <a:r>
              <a:rPr lang="ko-KR" altLang="en-US" sz="1100" dirty="0">
                <a:solidFill>
                  <a:schemeClr val="tx1"/>
                </a:solidFill>
                <a:highlight>
                  <a:srgbClr val="00FFFF"/>
                </a:highlight>
                <a:latin typeface="+mn-ea"/>
              </a:rPr>
              <a:t> 추가하여 특허발명의 명세서 또는 도면을 정정하는 것은 허용될 수 없다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kern="100" spc="-100" dirty="0">
                <a:solidFill>
                  <a:srgbClr val="000000"/>
                </a:solidFill>
                <a:latin typeface="+mn-ea"/>
              </a:rPr>
              <a:t>대법원 </a:t>
            </a:r>
            <a:r>
              <a:rPr lang="en-US" altLang="ko-KR" sz="1100" kern="100" spc="-100" dirty="0">
                <a:solidFill>
                  <a:srgbClr val="000000"/>
                </a:solidFill>
                <a:latin typeface="+mn-ea"/>
              </a:rPr>
              <a:t>2014. 2. 27. </a:t>
            </a:r>
            <a:r>
              <a:rPr lang="ko-KR" altLang="en-US" sz="1100" kern="100" spc="-100" dirty="0">
                <a:solidFill>
                  <a:srgbClr val="000000"/>
                </a:solidFill>
                <a:latin typeface="+mn-ea"/>
              </a:rPr>
              <a:t>선고 </a:t>
            </a:r>
            <a:r>
              <a:rPr lang="en-US" altLang="ko-KR" sz="1100" kern="100" spc="-100" dirty="0">
                <a:solidFill>
                  <a:srgbClr val="000000"/>
                </a:solidFill>
                <a:latin typeface="+mn-ea"/>
              </a:rPr>
              <a:t>2012</a:t>
            </a:r>
            <a:r>
              <a:rPr lang="ko-KR" altLang="en-US" sz="1100" kern="100" spc="-100" dirty="0">
                <a:solidFill>
                  <a:srgbClr val="000000"/>
                </a:solidFill>
                <a:latin typeface="+mn-ea"/>
              </a:rPr>
              <a:t>후</a:t>
            </a:r>
            <a:r>
              <a:rPr lang="en-US" altLang="ko-KR" sz="1100" kern="100" spc="-100" dirty="0">
                <a:solidFill>
                  <a:srgbClr val="000000"/>
                </a:solidFill>
                <a:latin typeface="+mn-ea"/>
              </a:rPr>
              <a:t>3404 </a:t>
            </a:r>
            <a:r>
              <a:rPr lang="ko-KR" altLang="en-US" sz="1100" kern="100" spc="-100" dirty="0">
                <a:solidFill>
                  <a:srgbClr val="000000"/>
                </a:solidFill>
                <a:latin typeface="+mn-ea"/>
              </a:rPr>
              <a:t>판결 </a:t>
            </a:r>
            <a:r>
              <a:rPr lang="en-US" altLang="ko-KR" sz="1100" kern="100" spc="-100" dirty="0">
                <a:solidFill>
                  <a:srgbClr val="000000"/>
                </a:solidFill>
                <a:latin typeface="+mn-ea"/>
              </a:rPr>
              <a:t>)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AA4CF28-1FAB-190C-F06F-47CE22FCE23F}"/>
              </a:ext>
            </a:extLst>
          </p:cNvPr>
          <p:cNvSpPr/>
          <p:nvPr/>
        </p:nvSpPr>
        <p:spPr>
          <a:xfrm>
            <a:off x="634504" y="5350514"/>
            <a:ext cx="347025" cy="13931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정정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심판</a:t>
            </a:r>
          </a:p>
        </p:txBody>
      </p:sp>
      <p:cxnSp>
        <p:nvCxnSpPr>
          <p:cNvPr id="19" name="꺾인 연결선 9">
            <a:extLst>
              <a:ext uri="{FF2B5EF4-FFF2-40B4-BE49-F238E27FC236}">
                <a16:creationId xmlns:a16="http://schemas.microsoft.com/office/drawing/2014/main" id="{4E1D4F53-3343-0A6C-DE6F-0AACA37C2ED7}"/>
              </a:ext>
            </a:extLst>
          </p:cNvPr>
          <p:cNvCxnSpPr>
            <a:cxnSpLocks/>
            <a:stCxn id="13" idx="6"/>
            <a:endCxn id="12" idx="1"/>
          </p:cNvCxnSpPr>
          <p:nvPr/>
        </p:nvCxnSpPr>
        <p:spPr>
          <a:xfrm>
            <a:off x="495633" y="1290843"/>
            <a:ext cx="138871" cy="478498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1">
            <a:extLst>
              <a:ext uri="{FF2B5EF4-FFF2-40B4-BE49-F238E27FC236}">
                <a16:creationId xmlns:a16="http://schemas.microsoft.com/office/drawing/2014/main" id="{9E5F2201-5683-DC68-0956-FAD494D7330F}"/>
              </a:ext>
            </a:extLst>
          </p:cNvPr>
          <p:cNvCxnSpPr>
            <a:cxnSpLocks/>
            <a:stCxn id="13" idx="6"/>
            <a:endCxn id="16" idx="1"/>
          </p:cNvCxnSpPr>
          <p:nvPr/>
        </p:nvCxnSpPr>
        <p:spPr>
          <a:xfrm>
            <a:off x="495633" y="1290843"/>
            <a:ext cx="138871" cy="262191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2">
            <a:extLst>
              <a:ext uri="{FF2B5EF4-FFF2-40B4-BE49-F238E27FC236}">
                <a16:creationId xmlns:a16="http://schemas.microsoft.com/office/drawing/2014/main" id="{20CE3F7A-F48F-3D9C-B464-5F9A4E63A4F3}"/>
              </a:ext>
            </a:extLst>
          </p:cNvPr>
          <p:cNvCxnSpPr>
            <a:cxnSpLocks/>
            <a:stCxn id="13" idx="6"/>
            <a:endCxn id="18" idx="1"/>
          </p:cNvCxnSpPr>
          <p:nvPr/>
        </p:nvCxnSpPr>
        <p:spPr>
          <a:xfrm>
            <a:off x="495633" y="1290843"/>
            <a:ext cx="138871" cy="475626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F054490-684F-4472-5383-7F37D7F3087D}"/>
              </a:ext>
            </a:extLst>
          </p:cNvPr>
          <p:cNvSpPr/>
          <p:nvPr/>
        </p:nvSpPr>
        <p:spPr>
          <a:xfrm>
            <a:off x="6904381" y="1090246"/>
            <a:ext cx="347025" cy="21980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신규성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01302F-86A4-5236-4420-60BBC9400DCC}"/>
              </a:ext>
            </a:extLst>
          </p:cNvPr>
          <p:cNvSpPr txBox="1"/>
          <p:nvPr/>
        </p:nvSpPr>
        <p:spPr>
          <a:xfrm>
            <a:off x="6267449" y="1116772"/>
            <a:ext cx="440005" cy="414780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en-US" altLang="ko-KR" sz="1400" dirty="0">
                <a:solidFill>
                  <a:srgbClr val="FFFF00"/>
                </a:solidFill>
              </a:rPr>
              <a:t>B</a:t>
            </a:r>
            <a:endParaRPr lang="ko-KR" altLang="en-US" sz="1400" dirty="0">
              <a:solidFill>
                <a:srgbClr val="FFFF00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A2E0739-1BFF-D031-0F66-F5B66C9FEF2C}"/>
              </a:ext>
            </a:extLst>
          </p:cNvPr>
          <p:cNvSpPr/>
          <p:nvPr/>
        </p:nvSpPr>
        <p:spPr>
          <a:xfrm>
            <a:off x="7312558" y="1090245"/>
            <a:ext cx="4784191" cy="2204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특허법 제</a:t>
            </a:r>
            <a:r>
              <a:rPr lang="en-US" altLang="ko-KR" sz="1100" dirty="0">
                <a:solidFill>
                  <a:schemeClr val="tx1"/>
                </a:solidFill>
              </a:rPr>
              <a:t>29</a:t>
            </a:r>
            <a:r>
              <a:rPr lang="ko-KR" altLang="en-US" sz="1100" dirty="0">
                <a:solidFill>
                  <a:schemeClr val="tx1"/>
                </a:solidFill>
              </a:rPr>
              <a:t>조 제</a:t>
            </a:r>
            <a:r>
              <a:rPr lang="en-US" altLang="ko-KR" sz="1100" dirty="0">
                <a:solidFill>
                  <a:schemeClr val="tx1"/>
                </a:solidFill>
              </a:rPr>
              <a:t>1</a:t>
            </a:r>
            <a:r>
              <a:rPr lang="ko-KR" altLang="en-US" sz="1100" dirty="0">
                <a:solidFill>
                  <a:schemeClr val="tx1"/>
                </a:solidFill>
              </a:rPr>
              <a:t>항의 발명의 동일성 여부의 판단은 특허청구범위에 기재된 양 </a:t>
            </a:r>
            <a:r>
              <a:rPr lang="ko-KR" altLang="en-US" sz="1100" dirty="0">
                <a:solidFill>
                  <a:srgbClr val="FF0000"/>
                </a:solidFill>
              </a:rPr>
              <a:t>발명의 기술적 구성이 동일한가 여부에 의하여 판단하되 그 효과도 참작하여야 할 것인바</a:t>
            </a:r>
            <a:r>
              <a:rPr lang="en-US" altLang="ko-KR" sz="1100" dirty="0">
                <a:solidFill>
                  <a:srgbClr val="FF0000"/>
                </a:solidFill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</a:rPr>
              <a:t>기술적 구성에 차이가 있더라도 그 차이가 과제 해결을 위한 구체적 수단에서 주지 </a:t>
            </a:r>
            <a:r>
              <a:rPr lang="ko-KR" altLang="en-US" sz="1100" dirty="0" err="1">
                <a:solidFill>
                  <a:srgbClr val="FF0000"/>
                </a:solidFill>
              </a:rPr>
              <a:t>관용기술의</a:t>
            </a:r>
            <a:r>
              <a:rPr lang="ko-KR" altLang="en-US" sz="1100" dirty="0">
                <a:solidFill>
                  <a:srgbClr val="FF0000"/>
                </a:solidFill>
              </a:rPr>
              <a:t> 부가</a:t>
            </a:r>
            <a:r>
              <a:rPr lang="en-US" altLang="ko-KR" sz="1100" dirty="0">
                <a:solidFill>
                  <a:srgbClr val="FF0000"/>
                </a:solidFill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</a:rPr>
              <a:t>삭제</a:t>
            </a:r>
            <a:r>
              <a:rPr lang="en-US" altLang="ko-KR" sz="1100" dirty="0">
                <a:solidFill>
                  <a:srgbClr val="FF0000"/>
                </a:solidFill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</a:rPr>
              <a:t>변경 등으로 새로운 효과의 발생이 없는 정도의 미세한 차이에 불과하다면 양 발명은 서로 동일하다는 </a:t>
            </a:r>
            <a:r>
              <a:rPr lang="ko-KR" altLang="en-US" sz="1100" dirty="0">
                <a:solidFill>
                  <a:schemeClr val="tx1"/>
                </a:solidFill>
              </a:rPr>
              <a:t>법리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대법원 </a:t>
            </a:r>
            <a:r>
              <a:rPr lang="en-US" altLang="ko-KR" sz="1100" dirty="0">
                <a:solidFill>
                  <a:schemeClr val="tx1"/>
                </a:solidFill>
              </a:rPr>
              <a:t>2001. 6. 1. </a:t>
            </a:r>
            <a:r>
              <a:rPr lang="ko-KR" altLang="en-US" sz="1100" dirty="0">
                <a:solidFill>
                  <a:schemeClr val="tx1"/>
                </a:solidFill>
              </a:rPr>
              <a:t>선고 </a:t>
            </a:r>
            <a:r>
              <a:rPr lang="en-US" altLang="ko-KR" sz="1100" dirty="0">
                <a:solidFill>
                  <a:schemeClr val="tx1"/>
                </a:solidFill>
              </a:rPr>
              <a:t>98</a:t>
            </a:r>
            <a:r>
              <a:rPr lang="ko-KR" altLang="en-US" sz="1100" dirty="0">
                <a:solidFill>
                  <a:schemeClr val="tx1"/>
                </a:solidFill>
              </a:rPr>
              <a:t>후</a:t>
            </a:r>
            <a:r>
              <a:rPr lang="en-US" altLang="ko-KR" sz="1100" dirty="0">
                <a:solidFill>
                  <a:schemeClr val="tx1"/>
                </a:solidFill>
              </a:rPr>
              <a:t>1013 </a:t>
            </a:r>
            <a:r>
              <a:rPr lang="ko-KR" altLang="en-US" sz="1100" dirty="0">
                <a:solidFill>
                  <a:schemeClr val="tx1"/>
                </a:solidFill>
              </a:rPr>
              <a:t>판결</a:t>
            </a:r>
            <a:r>
              <a:rPr lang="en-US" altLang="ko-KR" sz="1100" dirty="0">
                <a:solidFill>
                  <a:schemeClr val="tx1"/>
                </a:solidFill>
              </a:rPr>
              <a:t>, 2004. 3. 12. </a:t>
            </a:r>
            <a:r>
              <a:rPr lang="ko-KR" altLang="en-US" sz="1100" dirty="0">
                <a:solidFill>
                  <a:schemeClr val="tx1"/>
                </a:solidFill>
              </a:rPr>
              <a:t>선고 </a:t>
            </a:r>
            <a:r>
              <a:rPr lang="en-US" altLang="ko-KR" sz="1100" dirty="0">
                <a:solidFill>
                  <a:schemeClr val="tx1"/>
                </a:solidFill>
              </a:rPr>
              <a:t>2002</a:t>
            </a:r>
            <a:r>
              <a:rPr lang="ko-KR" altLang="en-US" sz="1100" dirty="0">
                <a:solidFill>
                  <a:schemeClr val="tx1"/>
                </a:solidFill>
              </a:rPr>
              <a:t>후</a:t>
            </a:r>
            <a:r>
              <a:rPr lang="en-US" altLang="ko-KR" sz="1100" dirty="0">
                <a:solidFill>
                  <a:schemeClr val="tx1"/>
                </a:solidFill>
              </a:rPr>
              <a:t>2778 </a:t>
            </a:r>
            <a:r>
              <a:rPr lang="ko-KR" altLang="en-US" sz="1100" dirty="0">
                <a:solidFill>
                  <a:schemeClr val="tx1"/>
                </a:solidFill>
              </a:rPr>
              <a:t>판결 등 참조</a:t>
            </a:r>
            <a:r>
              <a:rPr lang="en-US" altLang="ko-KR" sz="1100" dirty="0">
                <a:solidFill>
                  <a:schemeClr val="tx1"/>
                </a:solidFill>
              </a:rPr>
              <a:t>)</a:t>
            </a:r>
            <a:r>
              <a:rPr lang="ko-KR" altLang="en-US" sz="1100" dirty="0">
                <a:solidFill>
                  <a:schemeClr val="tx1"/>
                </a:solidFill>
              </a:rPr>
              <a:t>와 기록에 나타난 이 사건 </a:t>
            </a:r>
            <a:r>
              <a:rPr lang="ko-KR" altLang="en-US" sz="1100" dirty="0" err="1">
                <a:solidFill>
                  <a:schemeClr val="tx1"/>
                </a:solidFill>
              </a:rPr>
              <a:t>특허발명이</a:t>
            </a:r>
            <a:r>
              <a:rPr lang="ko-KR" altLang="en-US" sz="1100" dirty="0">
                <a:solidFill>
                  <a:schemeClr val="tx1"/>
                </a:solidFill>
              </a:rPr>
              <a:t> 해결하고자 하는 과제 및 효과 등을 종합하면</a:t>
            </a:r>
            <a:r>
              <a:rPr lang="en-US" altLang="ko-KR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</a:rPr>
              <a:t>이 사건 특허발명과 선행발명에서 차이가 나는 부분은 그 기술적 사상에 영향을 미치지 않는 단순한 설계변경에 해당하거나 그 </a:t>
            </a:r>
            <a:r>
              <a:rPr lang="ko-KR" altLang="en-US" sz="1100" dirty="0" err="1">
                <a:solidFill>
                  <a:schemeClr val="tx1"/>
                </a:solidFill>
              </a:rPr>
              <a:t>과제해결을</a:t>
            </a:r>
            <a:r>
              <a:rPr lang="ko-KR" altLang="en-US" sz="1100" dirty="0">
                <a:solidFill>
                  <a:schemeClr val="tx1"/>
                </a:solidFill>
              </a:rPr>
              <a:t> 위한 미세한 차이에 지나지 아니하므로 양 발명은 실질적으로 동일하다고 본 원심의 인정과 판단은 정당하고</a:t>
            </a:r>
            <a:r>
              <a:rPr lang="en-US" altLang="ko-KR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</a:rPr>
              <a:t>거기에 상고이유에서 주장하는 바와 같은 발명의 </a:t>
            </a:r>
            <a:r>
              <a:rPr lang="ko-KR" altLang="en-US" sz="1100" dirty="0" err="1">
                <a:solidFill>
                  <a:schemeClr val="tx1"/>
                </a:solidFill>
              </a:rPr>
              <a:t>신규성에</a:t>
            </a:r>
            <a:r>
              <a:rPr lang="ko-KR" altLang="en-US" sz="1100" dirty="0">
                <a:solidFill>
                  <a:schemeClr val="tx1"/>
                </a:solidFill>
              </a:rPr>
              <a:t> 관한 법리오해나 진보성에 관한 법리오해 등의 위법이 없다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대법원 </a:t>
            </a:r>
            <a:r>
              <a:rPr lang="en-US" altLang="ko-KR" sz="1100" dirty="0">
                <a:solidFill>
                  <a:schemeClr val="tx1"/>
                </a:solidFill>
              </a:rPr>
              <a:t>2004. 10. 15. </a:t>
            </a:r>
            <a:r>
              <a:rPr lang="ko-KR" altLang="en-US" sz="1100" dirty="0">
                <a:solidFill>
                  <a:schemeClr val="tx1"/>
                </a:solidFill>
              </a:rPr>
              <a:t>선고 </a:t>
            </a:r>
            <a:r>
              <a:rPr lang="en-US" altLang="ko-KR" sz="1100" dirty="0">
                <a:solidFill>
                  <a:schemeClr val="tx1"/>
                </a:solidFill>
              </a:rPr>
              <a:t>2003</a:t>
            </a:r>
            <a:r>
              <a:rPr lang="ko-KR" altLang="en-US" sz="1100" dirty="0">
                <a:solidFill>
                  <a:schemeClr val="tx1"/>
                </a:solidFill>
              </a:rPr>
              <a:t>후</a:t>
            </a:r>
            <a:r>
              <a:rPr lang="en-US" altLang="ko-KR" sz="1100" dirty="0">
                <a:solidFill>
                  <a:schemeClr val="tx1"/>
                </a:solidFill>
              </a:rPr>
              <a:t>472 </a:t>
            </a:r>
            <a:r>
              <a:rPr lang="ko-KR" altLang="en-US" sz="1100" dirty="0">
                <a:solidFill>
                  <a:schemeClr val="tx1"/>
                </a:solidFill>
              </a:rPr>
              <a:t>판결</a:t>
            </a:r>
            <a:r>
              <a:rPr lang="en-US" altLang="ko-KR" sz="1100" dirty="0">
                <a:solidFill>
                  <a:schemeClr val="tx1"/>
                </a:solidFill>
              </a:rPr>
              <a:t>).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EDA0597-7949-E3D0-C6BD-4C00E92FD96A}"/>
              </a:ext>
            </a:extLst>
          </p:cNvPr>
          <p:cNvSpPr/>
          <p:nvPr/>
        </p:nvSpPr>
        <p:spPr>
          <a:xfrm>
            <a:off x="7312558" y="3349936"/>
            <a:ext cx="4784191" cy="15363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fontAlgn="base"/>
            <a:r>
              <a:rPr lang="ko-KR" altLang="en-US" sz="1100" dirty="0">
                <a:solidFill>
                  <a:srgbClr val="FF0000"/>
                </a:solidFill>
              </a:rPr>
              <a:t>발명의 동일성은 발명의 진보성과는 구별되는 것으로서 두 발명의 기술적 구성이 동일한지 여부에 따르되 발명의 효과도 참작해서 판단해야 한다</a:t>
            </a:r>
            <a:r>
              <a:rPr lang="en-US" altLang="ko-KR" sz="1100" dirty="0">
                <a:solidFill>
                  <a:srgbClr val="FF0000"/>
                </a:solidFill>
              </a:rPr>
              <a:t>. </a:t>
            </a:r>
            <a:r>
              <a:rPr lang="ko-KR" altLang="en-US" sz="1100" dirty="0">
                <a:solidFill>
                  <a:srgbClr val="FF0000"/>
                </a:solidFill>
              </a:rPr>
              <a:t>두 발명의 기술적 구성에 차이가 있더라도 그 차이가 과제해결을 위한 구체적 수단에서 </a:t>
            </a:r>
            <a:r>
              <a:rPr lang="ko-KR" altLang="en-US" sz="1100" dirty="0" err="1">
                <a:solidFill>
                  <a:srgbClr val="FF0000"/>
                </a:solidFill>
              </a:rPr>
              <a:t>주지관용기술의</a:t>
            </a:r>
            <a:r>
              <a:rPr lang="ko-KR" altLang="en-US" sz="1100" dirty="0">
                <a:solidFill>
                  <a:srgbClr val="FF0000"/>
                </a:solidFill>
              </a:rPr>
              <a:t> </a:t>
            </a:r>
            <a:r>
              <a:rPr lang="ko-KR" altLang="en-US" sz="1100" dirty="0" err="1">
                <a:solidFill>
                  <a:srgbClr val="FF0000"/>
                </a:solidFill>
              </a:rPr>
              <a:t>부가ㆍ삭제ㆍ변경</a:t>
            </a:r>
            <a:r>
              <a:rPr lang="ko-KR" altLang="en-US" sz="1100" dirty="0">
                <a:solidFill>
                  <a:srgbClr val="FF0000"/>
                </a:solidFill>
              </a:rPr>
              <a:t> 등에 지나지 않아 새로운 효과가 발생하지 않는 정도의 미세한 차이가 있을 뿐이라면 두 발명은 서로 실질적으로 동일하다고 할 수 있다</a:t>
            </a:r>
            <a:r>
              <a:rPr lang="en-US" altLang="ko-KR" sz="1100" dirty="0">
                <a:solidFill>
                  <a:srgbClr val="FF0000"/>
                </a:solidFill>
              </a:rPr>
              <a:t>. </a:t>
            </a:r>
            <a:r>
              <a:rPr lang="ko-KR" altLang="en-US" sz="1100" dirty="0">
                <a:solidFill>
                  <a:srgbClr val="FF0000"/>
                </a:solidFill>
                <a:highlight>
                  <a:srgbClr val="00FFFF"/>
                </a:highlight>
              </a:rPr>
              <a:t>그러나 두 발명의 기술적 구성의 차이가 위와 같은 정도를 벗어난다면 설령 그 차이가 그 발명이 속하는 기술분야에서 통상의 지식을 가진 사람</a:t>
            </a:r>
            <a:r>
              <a:rPr lang="en-US" altLang="ko-KR" sz="1100" dirty="0">
                <a:solidFill>
                  <a:srgbClr val="FF0000"/>
                </a:solidFill>
                <a:highlight>
                  <a:srgbClr val="00FFFF"/>
                </a:highlight>
              </a:rPr>
              <a:t>(</a:t>
            </a:r>
            <a:r>
              <a:rPr lang="ko-KR" altLang="en-US" sz="1100" dirty="0">
                <a:solidFill>
                  <a:srgbClr val="FF0000"/>
                </a:solidFill>
                <a:highlight>
                  <a:srgbClr val="00FFFF"/>
                </a:highlight>
              </a:rPr>
              <a:t>이하 ‘통상의 </a:t>
            </a:r>
            <a:r>
              <a:rPr lang="ko-KR" altLang="en-US" sz="1100" dirty="0" err="1">
                <a:solidFill>
                  <a:srgbClr val="FF0000"/>
                </a:solidFill>
                <a:highlight>
                  <a:srgbClr val="00FFFF"/>
                </a:highlight>
              </a:rPr>
              <a:t>기술자’라</a:t>
            </a:r>
            <a:r>
              <a:rPr lang="ko-KR" altLang="en-US" sz="1100" dirty="0">
                <a:solidFill>
                  <a:srgbClr val="FF0000"/>
                </a:solidFill>
                <a:highlight>
                  <a:srgbClr val="00FFFF"/>
                </a:highlight>
              </a:rPr>
              <a:t> 한다</a:t>
            </a:r>
            <a:r>
              <a:rPr lang="en-US" altLang="ko-KR" sz="1100" dirty="0">
                <a:solidFill>
                  <a:srgbClr val="FF0000"/>
                </a:solidFill>
                <a:highlight>
                  <a:srgbClr val="00FFFF"/>
                </a:highlight>
              </a:rPr>
              <a:t>)</a:t>
            </a:r>
            <a:r>
              <a:rPr lang="ko-KR" altLang="en-US" sz="1100" dirty="0">
                <a:solidFill>
                  <a:srgbClr val="FF0000"/>
                </a:solidFill>
                <a:highlight>
                  <a:srgbClr val="00FFFF"/>
                </a:highlight>
              </a:rPr>
              <a:t>이 용이하게 도출할 수 있는 범위 내라고 하더라도 두 발명이 동일하다고 할 수 없다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대법원 </a:t>
            </a:r>
            <a:r>
              <a:rPr lang="en-US" altLang="ko-KR" sz="1100" dirty="0">
                <a:solidFill>
                  <a:schemeClr val="tx1"/>
                </a:solidFill>
              </a:rPr>
              <a:t>2011. 4. 28. </a:t>
            </a:r>
            <a:r>
              <a:rPr lang="ko-KR" altLang="en-US" sz="1100" dirty="0">
                <a:solidFill>
                  <a:schemeClr val="tx1"/>
                </a:solidFill>
              </a:rPr>
              <a:t>선고 </a:t>
            </a:r>
            <a:r>
              <a:rPr lang="en-US" altLang="ko-KR" sz="1100" dirty="0">
                <a:solidFill>
                  <a:schemeClr val="tx1"/>
                </a:solidFill>
              </a:rPr>
              <a:t>2010</a:t>
            </a:r>
            <a:r>
              <a:rPr lang="ko-KR" altLang="en-US" sz="1100" dirty="0">
                <a:solidFill>
                  <a:schemeClr val="tx1"/>
                </a:solidFill>
              </a:rPr>
              <a:t>후</a:t>
            </a:r>
            <a:r>
              <a:rPr lang="en-US" altLang="ko-KR" sz="1100" dirty="0">
                <a:solidFill>
                  <a:schemeClr val="tx1"/>
                </a:solidFill>
              </a:rPr>
              <a:t>2179 </a:t>
            </a:r>
            <a:r>
              <a:rPr lang="ko-KR" altLang="en-US" sz="1100" dirty="0">
                <a:solidFill>
                  <a:schemeClr val="tx1"/>
                </a:solidFill>
              </a:rPr>
              <a:t>판결 등 참조</a:t>
            </a:r>
            <a:r>
              <a:rPr lang="en-US" altLang="ko-KR" sz="1100" dirty="0">
                <a:solidFill>
                  <a:schemeClr val="tx1"/>
                </a:solidFill>
              </a:rPr>
              <a:t>).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80F385F-DFD8-40E4-0C9E-DAC16AB35A1E}"/>
              </a:ext>
            </a:extLst>
          </p:cNvPr>
          <p:cNvSpPr/>
          <p:nvPr/>
        </p:nvSpPr>
        <p:spPr>
          <a:xfrm>
            <a:off x="6904381" y="3349936"/>
            <a:ext cx="347025" cy="32957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확대된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선출원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3C13905-A10B-9B3F-C912-CEF5150D8312}"/>
              </a:ext>
            </a:extLst>
          </p:cNvPr>
          <p:cNvSpPr/>
          <p:nvPr/>
        </p:nvSpPr>
        <p:spPr>
          <a:xfrm>
            <a:off x="7312558" y="4936481"/>
            <a:ext cx="4784191" cy="17092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fontAlgn="base">
              <a:tabLst>
                <a:tab pos="408940" algn="l"/>
                <a:tab pos="624840" algn="l"/>
                <a:tab pos="4561840" algn="r"/>
                <a:tab pos="408940" algn="l"/>
                <a:tab pos="624840" algn="l"/>
                <a:tab pos="4561840" algn="r"/>
              </a:tabLst>
            </a:pPr>
            <a:r>
              <a:rPr lang="ko-KR" altLang="en-US" sz="1100" kern="0" dirty="0" err="1">
                <a:solidFill>
                  <a:schemeClr val="tx1"/>
                </a:solidFill>
                <a:latin typeface="+mn-ea"/>
              </a:rPr>
              <a:t>특허출원한</a:t>
            </a:r>
            <a:r>
              <a:rPr lang="ko-KR" altLang="en-US" sz="1100" kern="0" dirty="0">
                <a:solidFill>
                  <a:schemeClr val="tx1"/>
                </a:solidFill>
                <a:latin typeface="+mn-ea"/>
              </a:rPr>
              <a:t> 발명이 그보다 먼저 출원된 다른 발명의 특허출원서에 최초로 첨부된 명세서에 기재된 특허청구범위나 발명의 상세한 설명 또는 도면의 내용과 동일성이 인정될 경우에는 </a:t>
            </a:r>
            <a:r>
              <a:rPr lang="ko-KR" altLang="en-US" sz="1100" kern="0" dirty="0" err="1">
                <a:solidFill>
                  <a:schemeClr val="tx1"/>
                </a:solidFill>
                <a:latin typeface="+mn-ea"/>
              </a:rPr>
              <a:t>선출원된</a:t>
            </a:r>
            <a:r>
              <a:rPr lang="ko-KR" altLang="en-US" sz="1100" kern="0" dirty="0">
                <a:solidFill>
                  <a:schemeClr val="tx1"/>
                </a:solidFill>
                <a:latin typeface="+mn-ea"/>
              </a:rPr>
              <a:t> 발명이 나중에 공개된 경우에도 특허를 받을 수 없다</a:t>
            </a:r>
            <a:r>
              <a:rPr lang="en-US" altLang="ko-KR" sz="1100" kern="0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1100" kern="0" dirty="0">
                <a:solidFill>
                  <a:schemeClr val="tx1"/>
                </a:solidFill>
                <a:latin typeface="+mn-ea"/>
              </a:rPr>
              <a:t>이 경우 </a:t>
            </a:r>
            <a:r>
              <a:rPr lang="ko-KR" altLang="en-US" sz="1100" kern="0" dirty="0">
                <a:solidFill>
                  <a:srgbClr val="FF0000"/>
                </a:solidFill>
                <a:latin typeface="+mn-ea"/>
              </a:rPr>
              <a:t>전후로 출원된 양 발명의 </a:t>
            </a:r>
            <a:r>
              <a:rPr lang="ko-KR" altLang="en-US" sz="1100" kern="0" dirty="0">
                <a:solidFill>
                  <a:srgbClr val="FF0000"/>
                </a:solidFill>
                <a:highlight>
                  <a:srgbClr val="00FFFF"/>
                </a:highlight>
                <a:latin typeface="+mn-ea"/>
              </a:rPr>
              <a:t>기술적 구성이 전면적으로 일치하는 경우는 물론 부분적으로만 일치하더라도 그 차이가 발명의 포섭 범위를 달리한 데 지나지 아니하는 때</a:t>
            </a:r>
            <a:r>
              <a:rPr lang="ko-KR" altLang="en-US" sz="1100" kern="0" dirty="0">
                <a:solidFill>
                  <a:srgbClr val="FF0000"/>
                </a:solidFill>
                <a:latin typeface="+mn-ea"/>
              </a:rPr>
              <a:t>에는 양 발명은 특별한 사정이 없는 한 실질적 동일성이 있다 할 것이다</a:t>
            </a:r>
            <a:r>
              <a:rPr lang="en-US" altLang="ko-KR" sz="1100" kern="0" dirty="0">
                <a:solidFill>
                  <a:srgbClr val="FF0000"/>
                </a:solidFill>
                <a:latin typeface="+mn-ea"/>
              </a:rPr>
              <a:t>. </a:t>
            </a:r>
            <a:r>
              <a:rPr lang="ko-KR" altLang="en-US" sz="1100" kern="0" dirty="0">
                <a:solidFill>
                  <a:srgbClr val="FF0000"/>
                </a:solidFill>
                <a:latin typeface="+mn-ea"/>
              </a:rPr>
              <a:t>또한 양 발명의 구성의 차이가 그 기술분야에서 통상의 지식을 가진 사람에게는 이미 널리 알려져 활용되고 있는 기술을 부가</a:t>
            </a:r>
            <a:r>
              <a:rPr lang="en-US" altLang="ko-KR" sz="1100" kern="0" dirty="0">
                <a:solidFill>
                  <a:srgbClr val="FF0000"/>
                </a:solidFill>
                <a:latin typeface="+mn-ea"/>
              </a:rPr>
              <a:t>․</a:t>
            </a:r>
            <a:r>
              <a:rPr lang="ko-KR" altLang="en-US" sz="1100" kern="0" dirty="0">
                <a:solidFill>
                  <a:srgbClr val="FF0000"/>
                </a:solidFill>
                <a:latin typeface="+mn-ea"/>
              </a:rPr>
              <a:t>삭제</a:t>
            </a:r>
            <a:r>
              <a:rPr lang="en-US" altLang="ko-KR" sz="1100" kern="0" dirty="0">
                <a:solidFill>
                  <a:srgbClr val="FF0000"/>
                </a:solidFill>
                <a:latin typeface="+mn-ea"/>
              </a:rPr>
              <a:t>․</a:t>
            </a:r>
            <a:r>
              <a:rPr lang="ko-KR" altLang="en-US" sz="1100" kern="0" dirty="0">
                <a:solidFill>
                  <a:srgbClr val="FF0000"/>
                </a:solidFill>
                <a:latin typeface="+mn-ea"/>
              </a:rPr>
              <a:t>변경한 것에 지나지 아니하여 새로운 </a:t>
            </a:r>
            <a:r>
              <a:rPr lang="ko-KR" altLang="en-US" sz="1100" kern="0" dirty="0" err="1">
                <a:solidFill>
                  <a:srgbClr val="FF0000"/>
                </a:solidFill>
                <a:latin typeface="+mn-ea"/>
              </a:rPr>
              <a:t>작용효과가</a:t>
            </a:r>
            <a:r>
              <a:rPr lang="ko-KR" altLang="en-US" sz="1100" kern="0" dirty="0">
                <a:solidFill>
                  <a:srgbClr val="FF0000"/>
                </a:solidFill>
                <a:latin typeface="+mn-ea"/>
              </a:rPr>
              <a:t> 발생한다고 보기 어려운 경우에도 마찬가지라 할 것이다</a:t>
            </a:r>
            <a:r>
              <a:rPr lang="en-US" altLang="ko-KR" sz="1100" kern="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대법원 </a:t>
            </a:r>
            <a:r>
              <a:rPr lang="en-US" altLang="ko-KR" sz="1100" dirty="0">
                <a:solidFill>
                  <a:schemeClr val="tx1"/>
                </a:solidFill>
              </a:rPr>
              <a:t>2013. 2. 28. </a:t>
            </a:r>
            <a:r>
              <a:rPr lang="ko-KR" altLang="en-US" sz="1100" dirty="0">
                <a:solidFill>
                  <a:schemeClr val="tx1"/>
                </a:solidFill>
              </a:rPr>
              <a:t>선고 </a:t>
            </a:r>
            <a:r>
              <a:rPr lang="en-US" altLang="ko-KR" sz="1100" dirty="0">
                <a:solidFill>
                  <a:schemeClr val="tx1"/>
                </a:solidFill>
              </a:rPr>
              <a:t>2012</a:t>
            </a:r>
            <a:r>
              <a:rPr lang="ko-KR" altLang="en-US" sz="1100" dirty="0">
                <a:solidFill>
                  <a:schemeClr val="tx1"/>
                </a:solidFill>
              </a:rPr>
              <a:t>후</a:t>
            </a:r>
            <a:r>
              <a:rPr lang="en-US" altLang="ko-KR" sz="1100" dirty="0">
                <a:solidFill>
                  <a:schemeClr val="tx1"/>
                </a:solidFill>
              </a:rPr>
              <a:t>726 </a:t>
            </a:r>
            <a:r>
              <a:rPr lang="ko-KR" altLang="en-US" sz="1100" dirty="0">
                <a:solidFill>
                  <a:schemeClr val="tx1"/>
                </a:solidFill>
              </a:rPr>
              <a:t>판결</a:t>
            </a:r>
            <a:r>
              <a:rPr lang="en-US" altLang="ko-KR" sz="1100" dirty="0">
                <a:solidFill>
                  <a:schemeClr val="tx1"/>
                </a:solidFill>
              </a:rPr>
              <a:t>)</a:t>
            </a:r>
            <a:r>
              <a:rPr lang="en-US" altLang="ko-KR" sz="1100" kern="0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100" kern="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6" name="꺾인 연결선 5">
            <a:extLst>
              <a:ext uri="{FF2B5EF4-FFF2-40B4-BE49-F238E27FC236}">
                <a16:creationId xmlns:a16="http://schemas.microsoft.com/office/drawing/2014/main" id="{DFDCE16D-33DE-7F0E-5EAB-5D02F2D11881}"/>
              </a:ext>
            </a:extLst>
          </p:cNvPr>
          <p:cNvCxnSpPr>
            <a:cxnSpLocks/>
            <a:stCxn id="30" idx="6"/>
            <a:endCxn id="29" idx="1"/>
          </p:cNvCxnSpPr>
          <p:nvPr/>
        </p:nvCxnSpPr>
        <p:spPr>
          <a:xfrm>
            <a:off x="6707454" y="1324162"/>
            <a:ext cx="196927" cy="865098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꺾인 연결선 7">
            <a:extLst>
              <a:ext uri="{FF2B5EF4-FFF2-40B4-BE49-F238E27FC236}">
                <a16:creationId xmlns:a16="http://schemas.microsoft.com/office/drawing/2014/main" id="{B0011AB3-8DAD-92B6-C5A4-C3EDFA583590}"/>
              </a:ext>
            </a:extLst>
          </p:cNvPr>
          <p:cNvCxnSpPr>
            <a:cxnSpLocks/>
            <a:stCxn id="30" idx="6"/>
            <a:endCxn id="33" idx="1"/>
          </p:cNvCxnSpPr>
          <p:nvPr/>
        </p:nvCxnSpPr>
        <p:spPr>
          <a:xfrm>
            <a:off x="6707454" y="1324162"/>
            <a:ext cx="196927" cy="367367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말풍선: 모서리가 둥근 사각형 90">
            <a:extLst>
              <a:ext uri="{FF2B5EF4-FFF2-40B4-BE49-F238E27FC236}">
                <a16:creationId xmlns:a16="http://schemas.microsoft.com/office/drawing/2014/main" id="{D71C52A0-8BC8-4187-F32E-BD4F8F942DE9}"/>
              </a:ext>
            </a:extLst>
          </p:cNvPr>
          <p:cNvSpPr/>
          <p:nvPr/>
        </p:nvSpPr>
        <p:spPr>
          <a:xfrm>
            <a:off x="6904381" y="746666"/>
            <a:ext cx="4392269" cy="288386"/>
          </a:xfrm>
          <a:prstGeom prst="wedgeRoundRectCallout">
            <a:avLst>
              <a:gd name="adj1" fmla="val -19370"/>
              <a:gd name="adj2" fmla="val 151826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accent2"/>
                </a:solidFill>
              </a:rPr>
              <a:t>실질적 동일성 중 구성이 변경된 경우</a:t>
            </a:r>
            <a:r>
              <a:rPr lang="en-US" altLang="ko-KR" sz="1400" dirty="0">
                <a:solidFill>
                  <a:schemeClr val="accent2"/>
                </a:solidFill>
              </a:rPr>
              <a:t>: </a:t>
            </a:r>
            <a:r>
              <a:rPr lang="ko-KR" altLang="en-US" sz="1400" dirty="0">
                <a:solidFill>
                  <a:schemeClr val="accent2"/>
                </a:solidFill>
              </a:rPr>
              <a:t>진보성 판단과 차이</a:t>
            </a:r>
          </a:p>
        </p:txBody>
      </p:sp>
      <p:sp>
        <p:nvSpPr>
          <p:cNvPr id="92" name="말풍선: 모서리가 둥근 사각형 91">
            <a:extLst>
              <a:ext uri="{FF2B5EF4-FFF2-40B4-BE49-F238E27FC236}">
                <a16:creationId xmlns:a16="http://schemas.microsoft.com/office/drawing/2014/main" id="{1B353247-E9F1-C665-5DA1-50A3DAF7EFA9}"/>
              </a:ext>
            </a:extLst>
          </p:cNvPr>
          <p:cNvSpPr/>
          <p:nvPr/>
        </p:nvSpPr>
        <p:spPr>
          <a:xfrm>
            <a:off x="9209430" y="6501536"/>
            <a:ext cx="2887319" cy="288386"/>
          </a:xfrm>
          <a:prstGeom prst="wedgeRoundRectCallout">
            <a:avLst>
              <a:gd name="adj1" fmla="val -25968"/>
              <a:gd name="adj2" fmla="val -300666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accent2"/>
                </a:solidFill>
              </a:rPr>
              <a:t>실질적 동일성 중 범위가 다른 경우</a:t>
            </a:r>
          </a:p>
        </p:txBody>
      </p:sp>
    </p:spTree>
    <p:extLst>
      <p:ext uri="{BB962C8B-B14F-4D97-AF65-F5344CB8AC3E}">
        <p14:creationId xmlns:p14="http://schemas.microsoft.com/office/powerpoint/2010/main" val="3495440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10FD4-B29E-34BA-8AAE-77FFAE72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8C515BA-234C-06DB-FF9F-586E68C0D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항각호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D3DA03-FFF0-19E1-B9BC-68BE58ED5B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동일성의 유형</a:t>
            </a:r>
            <a:r>
              <a:rPr lang="en-US" altLang="ko-KR" dirty="0">
                <a:solidFill>
                  <a:srgbClr val="525252"/>
                </a:solidFill>
              </a:rPr>
              <a:t>(C, D </a:t>
            </a:r>
            <a:r>
              <a:rPr lang="ko-KR" altLang="en-US" dirty="0">
                <a:solidFill>
                  <a:srgbClr val="525252"/>
                </a:solidFill>
              </a:rPr>
              <a:t>유형</a:t>
            </a:r>
            <a:r>
              <a:rPr lang="en-US" altLang="ko-KR" dirty="0">
                <a:solidFill>
                  <a:srgbClr val="525252"/>
                </a:solidFill>
              </a:rPr>
              <a:t>)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9158BD-A2F2-9892-5D23-C029B078782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776856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63</a:t>
            </a:fld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FA2B38E-FCDE-5C35-0B08-292E6E91D1B6}"/>
              </a:ext>
            </a:extLst>
          </p:cNvPr>
          <p:cNvSpPr/>
          <p:nvPr/>
        </p:nvSpPr>
        <p:spPr>
          <a:xfrm>
            <a:off x="634504" y="1074882"/>
            <a:ext cx="347025" cy="2804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선출원주의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D4743D-99D2-82F1-8289-66A0CBBDAF33}"/>
              </a:ext>
            </a:extLst>
          </p:cNvPr>
          <p:cNvSpPr txBox="1"/>
          <p:nvPr/>
        </p:nvSpPr>
        <p:spPr>
          <a:xfrm>
            <a:off x="55628" y="1064403"/>
            <a:ext cx="440005" cy="41478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</a:t>
            </a:r>
            <a:endParaRPr lang="ko-KR" altLang="en-US" sz="1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C022171-6157-FABF-84BF-86C17FA765E7}"/>
              </a:ext>
            </a:extLst>
          </p:cNvPr>
          <p:cNvSpPr/>
          <p:nvPr/>
        </p:nvSpPr>
        <p:spPr>
          <a:xfrm>
            <a:off x="1011010" y="1074883"/>
            <a:ext cx="5004664" cy="11143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100" dirty="0">
                <a:solidFill>
                  <a:schemeClr val="tx1"/>
                </a:solidFill>
              </a:rPr>
              <a:t>구 특허법</a:t>
            </a:r>
            <a:r>
              <a:rPr lang="en-US" altLang="ko-KR" sz="1100" dirty="0">
                <a:solidFill>
                  <a:schemeClr val="tx1"/>
                </a:solidFill>
              </a:rPr>
              <a:t>(2001. 2. 3. </a:t>
            </a:r>
            <a:r>
              <a:rPr lang="ko-KR" altLang="en-US" sz="1100" dirty="0">
                <a:solidFill>
                  <a:schemeClr val="tx1"/>
                </a:solidFill>
              </a:rPr>
              <a:t>법률 제</a:t>
            </a:r>
            <a:r>
              <a:rPr lang="en-US" altLang="ko-KR" sz="1100" dirty="0">
                <a:solidFill>
                  <a:schemeClr val="tx1"/>
                </a:solidFill>
              </a:rPr>
              <a:t>6411</a:t>
            </a:r>
            <a:r>
              <a:rPr lang="ko-KR" altLang="en-US" sz="1100" dirty="0">
                <a:solidFill>
                  <a:schemeClr val="tx1"/>
                </a:solidFill>
              </a:rPr>
              <a:t>호로 개정되기 전의 것</a:t>
            </a:r>
            <a:r>
              <a:rPr lang="en-US" altLang="ko-KR" sz="1100" dirty="0">
                <a:solidFill>
                  <a:schemeClr val="tx1"/>
                </a:solidFill>
              </a:rPr>
              <a:t>) </a:t>
            </a:r>
            <a:r>
              <a:rPr lang="ko-KR" altLang="en-US" sz="1100" dirty="0">
                <a:solidFill>
                  <a:schemeClr val="tx1"/>
                </a:solidFill>
              </a:rPr>
              <a:t>제</a:t>
            </a:r>
            <a:r>
              <a:rPr lang="en-US" altLang="ko-KR" sz="1100" dirty="0">
                <a:solidFill>
                  <a:schemeClr val="tx1"/>
                </a:solidFill>
              </a:rPr>
              <a:t>36</a:t>
            </a:r>
            <a:r>
              <a:rPr lang="ko-KR" altLang="en-US" sz="1100" dirty="0">
                <a:solidFill>
                  <a:schemeClr val="tx1"/>
                </a:solidFill>
              </a:rPr>
              <a:t>조를 적용하기 위한 전제로서 두 발명이 서로 동일한 발명인지 여부는 </a:t>
            </a:r>
            <a:r>
              <a:rPr lang="ko-KR" altLang="en-US" sz="1100" dirty="0">
                <a:solidFill>
                  <a:srgbClr val="FF0000"/>
                </a:solidFill>
              </a:rPr>
              <a:t>대비되는 두 발명의 실체를 파악하여 따져 보아야 할 것이지 표현양식에 따른 차이에 따라 판단할 것은 아니므로</a:t>
            </a:r>
            <a:r>
              <a:rPr lang="en-US" altLang="ko-KR" sz="1100" dirty="0">
                <a:solidFill>
                  <a:srgbClr val="FF0000"/>
                </a:solidFill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</a:rPr>
              <a:t>대비되는 두 발명이 각각 물건의 발명과 방법의 발명으로 서로 발명의 범주가 다르다고 하여 곧바로 동일한 발명이 아니라고 단정할 수 없다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대법원 </a:t>
            </a:r>
            <a:r>
              <a:rPr lang="en-US" altLang="ko-KR" sz="1100" dirty="0">
                <a:solidFill>
                  <a:schemeClr val="tx1"/>
                </a:solidFill>
              </a:rPr>
              <a:t>2007. 1. 12. </a:t>
            </a:r>
            <a:r>
              <a:rPr lang="ko-KR" altLang="en-US" sz="1100" dirty="0">
                <a:solidFill>
                  <a:schemeClr val="tx1"/>
                </a:solidFill>
              </a:rPr>
              <a:t>선고 </a:t>
            </a:r>
            <a:r>
              <a:rPr lang="en-US" altLang="ko-KR" sz="1100" dirty="0">
                <a:solidFill>
                  <a:schemeClr val="tx1"/>
                </a:solidFill>
              </a:rPr>
              <a:t>2005</a:t>
            </a:r>
            <a:r>
              <a:rPr lang="ko-KR" altLang="en-US" sz="1100" dirty="0">
                <a:solidFill>
                  <a:schemeClr val="tx1"/>
                </a:solidFill>
              </a:rPr>
              <a:t>후</a:t>
            </a:r>
            <a:r>
              <a:rPr lang="en-US" altLang="ko-KR" sz="1100" dirty="0">
                <a:solidFill>
                  <a:schemeClr val="tx1"/>
                </a:solidFill>
              </a:rPr>
              <a:t>3017 </a:t>
            </a:r>
            <a:r>
              <a:rPr lang="ko-KR" altLang="en-US" sz="1100" dirty="0">
                <a:solidFill>
                  <a:schemeClr val="tx1"/>
                </a:solidFill>
              </a:rPr>
              <a:t>판결</a:t>
            </a:r>
            <a:r>
              <a:rPr lang="en-US" altLang="ko-KR" sz="1100" dirty="0">
                <a:solidFill>
                  <a:schemeClr val="tx1"/>
                </a:solidFill>
              </a:rPr>
              <a:t>).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438FDA0-8D6C-33E9-95CC-48F475B3C4A0}"/>
              </a:ext>
            </a:extLst>
          </p:cNvPr>
          <p:cNvSpPr/>
          <p:nvPr/>
        </p:nvSpPr>
        <p:spPr>
          <a:xfrm>
            <a:off x="1011010" y="2234334"/>
            <a:ext cx="5004664" cy="164514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100" dirty="0">
                <a:solidFill>
                  <a:schemeClr val="tx1"/>
                </a:solidFill>
              </a:rPr>
              <a:t>구 특허법</a:t>
            </a:r>
            <a:r>
              <a:rPr lang="en-US" altLang="ko-KR" sz="1100" dirty="0">
                <a:solidFill>
                  <a:schemeClr val="tx1"/>
                </a:solidFill>
              </a:rPr>
              <a:t>(1990. 1. 13. </a:t>
            </a:r>
            <a:r>
              <a:rPr lang="ko-KR" altLang="en-US" sz="1100" dirty="0">
                <a:solidFill>
                  <a:schemeClr val="tx1"/>
                </a:solidFill>
              </a:rPr>
              <a:t>법률 제</a:t>
            </a:r>
            <a:r>
              <a:rPr lang="en-US" altLang="ko-KR" sz="1100" dirty="0">
                <a:solidFill>
                  <a:schemeClr val="tx1"/>
                </a:solidFill>
              </a:rPr>
              <a:t>42307</a:t>
            </a:r>
            <a:r>
              <a:rPr lang="ko-KR" altLang="en-US" sz="1100" dirty="0">
                <a:solidFill>
                  <a:schemeClr val="tx1"/>
                </a:solidFill>
              </a:rPr>
              <a:t>호로 전문 개정되기 전의 것</a:t>
            </a:r>
            <a:r>
              <a:rPr lang="en-US" altLang="ko-KR" sz="1100" dirty="0">
                <a:solidFill>
                  <a:schemeClr val="tx1"/>
                </a:solidFill>
              </a:rPr>
              <a:t>) </a:t>
            </a:r>
            <a:r>
              <a:rPr lang="ko-KR" altLang="en-US" sz="1100" dirty="0">
                <a:solidFill>
                  <a:schemeClr val="tx1"/>
                </a:solidFill>
              </a:rPr>
              <a:t>제</a:t>
            </a:r>
            <a:r>
              <a:rPr lang="en-US" altLang="ko-KR" sz="1100" dirty="0">
                <a:solidFill>
                  <a:schemeClr val="tx1"/>
                </a:solidFill>
              </a:rPr>
              <a:t>11</a:t>
            </a:r>
            <a:r>
              <a:rPr lang="ko-KR" altLang="en-US" sz="1100" dirty="0">
                <a:solidFill>
                  <a:schemeClr val="tx1"/>
                </a:solidFill>
              </a:rPr>
              <a:t>조 제</a:t>
            </a:r>
            <a:r>
              <a:rPr lang="en-US" altLang="ko-KR" sz="1100" dirty="0">
                <a:solidFill>
                  <a:schemeClr val="tx1"/>
                </a:solidFill>
              </a:rPr>
              <a:t>1</a:t>
            </a:r>
            <a:r>
              <a:rPr lang="ko-KR" altLang="en-US" sz="1100" dirty="0">
                <a:solidFill>
                  <a:schemeClr val="tx1"/>
                </a:solidFill>
              </a:rPr>
              <a:t>항은 동일한 발명에 대하여는 최선출원에 한하여 특허를 받을 수 있다고 규정하여 동일한 발명에 대한 중복등록을 방지하기 위하여 선원주의를 채택하고 있는바</a:t>
            </a:r>
            <a:r>
              <a:rPr lang="en-US" altLang="ko-KR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</a:rPr>
              <a:t>전후로 출원된 양 발명이 동일하다고 함은 그 기술적 구성이 전면적으로 일치하는 경우는 물론 그 범위에 차이가 있을 뿐 부분적으로 일치하는 경우라도 특별한 사정이 없는 한</a:t>
            </a:r>
            <a:r>
              <a:rPr lang="en-US" altLang="ko-KR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</a:rPr>
              <a:t>양 발명은 동일하고</a:t>
            </a:r>
            <a:r>
              <a:rPr lang="en-US" altLang="ko-KR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</a:rPr>
              <a:t>비록 양 발명의 구성에 상이점이 있어도 그 기술분야에 통상의 지식을 가진 자가 보통으로 채용하는 정도의 변경에 지나지 아니하고 발명의 목적과 작용효과에 특별한 차이를 일으키지 아니하는 경우</a:t>
            </a:r>
            <a:r>
              <a:rPr lang="ko-KR" altLang="en-US" sz="1100" dirty="0">
                <a:solidFill>
                  <a:schemeClr val="tx1"/>
                </a:solidFill>
              </a:rPr>
              <a:t>에는 양 발명은 역시 동일한 발명이다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대법원 </a:t>
            </a:r>
            <a:r>
              <a:rPr lang="en-US" altLang="ko-KR" sz="1100" dirty="0">
                <a:solidFill>
                  <a:schemeClr val="tx1"/>
                </a:solidFill>
              </a:rPr>
              <a:t>2009. 9. 24. </a:t>
            </a:r>
            <a:r>
              <a:rPr lang="ko-KR" altLang="en-US" sz="1100" dirty="0">
                <a:solidFill>
                  <a:schemeClr val="tx1"/>
                </a:solidFill>
              </a:rPr>
              <a:t>선고 </a:t>
            </a:r>
            <a:r>
              <a:rPr lang="en-US" altLang="ko-KR" sz="1100" dirty="0">
                <a:solidFill>
                  <a:schemeClr val="tx1"/>
                </a:solidFill>
              </a:rPr>
              <a:t>2007</a:t>
            </a:r>
            <a:r>
              <a:rPr lang="ko-KR" altLang="en-US" sz="1100" dirty="0">
                <a:solidFill>
                  <a:schemeClr val="tx1"/>
                </a:solidFill>
              </a:rPr>
              <a:t>후</a:t>
            </a:r>
            <a:r>
              <a:rPr lang="en-US" altLang="ko-KR" sz="1100" dirty="0">
                <a:solidFill>
                  <a:schemeClr val="tx1"/>
                </a:solidFill>
              </a:rPr>
              <a:t>2827 </a:t>
            </a:r>
            <a:r>
              <a:rPr lang="ko-KR" altLang="en-US" sz="1100" dirty="0">
                <a:solidFill>
                  <a:schemeClr val="tx1"/>
                </a:solidFill>
              </a:rPr>
              <a:t>판결</a:t>
            </a:r>
            <a:r>
              <a:rPr lang="en-US" altLang="ko-KR" sz="1100" dirty="0">
                <a:solidFill>
                  <a:schemeClr val="tx1"/>
                </a:solidFill>
              </a:rPr>
              <a:t>).</a:t>
            </a:r>
          </a:p>
        </p:txBody>
      </p:sp>
      <p:cxnSp>
        <p:nvCxnSpPr>
          <p:cNvPr id="19" name="꺾인 연결선 9">
            <a:extLst>
              <a:ext uri="{FF2B5EF4-FFF2-40B4-BE49-F238E27FC236}">
                <a16:creationId xmlns:a16="http://schemas.microsoft.com/office/drawing/2014/main" id="{90154E4F-736B-F86C-D771-4884F1073D14}"/>
              </a:ext>
            </a:extLst>
          </p:cNvPr>
          <p:cNvCxnSpPr>
            <a:cxnSpLocks/>
            <a:stCxn id="13" idx="6"/>
            <a:endCxn id="12" idx="1"/>
          </p:cNvCxnSpPr>
          <p:nvPr/>
        </p:nvCxnSpPr>
        <p:spPr>
          <a:xfrm>
            <a:off x="495633" y="1271793"/>
            <a:ext cx="138871" cy="120539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CBF175C-77A5-3277-DD97-20893EF9F18D}"/>
              </a:ext>
            </a:extLst>
          </p:cNvPr>
          <p:cNvSpPr/>
          <p:nvPr/>
        </p:nvSpPr>
        <p:spPr>
          <a:xfrm>
            <a:off x="6799606" y="1090245"/>
            <a:ext cx="347025" cy="25733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허위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표시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1CF478-181B-82EE-BB2A-6543625565CE}"/>
              </a:ext>
            </a:extLst>
          </p:cNvPr>
          <p:cNvSpPr txBox="1"/>
          <p:nvPr/>
        </p:nvSpPr>
        <p:spPr>
          <a:xfrm>
            <a:off x="6213528" y="1087215"/>
            <a:ext cx="440005" cy="4147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en-US" altLang="ko-KR" sz="1400" dirty="0">
                <a:solidFill>
                  <a:srgbClr val="FFFF00"/>
                </a:solidFill>
              </a:rPr>
              <a:t>D</a:t>
            </a:r>
            <a:endParaRPr lang="ko-KR" altLang="en-US" sz="1400" dirty="0">
              <a:solidFill>
                <a:srgbClr val="FFFF00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9D15D28-58F8-0ED6-4CE3-B8F7E5C21724}"/>
              </a:ext>
            </a:extLst>
          </p:cNvPr>
          <p:cNvSpPr/>
          <p:nvPr/>
        </p:nvSpPr>
        <p:spPr>
          <a:xfrm>
            <a:off x="7239610" y="1090244"/>
            <a:ext cx="4790465" cy="25733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특허법 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224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조 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호는 같은 조 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호의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특허된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것이 아닌 물건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특허출원 중이 아닌 물건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특허된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것이 아닌 방법이나 특허출원 중이 아닌 방법에 의하여 생산한 물건을 생산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․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사용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․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양도하기 위하여 광고 등에 그 물건이 특허나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특허출원된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것 또는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특허된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방법이나 특허출원 중인 방법에 따라 생산한 것으로 표시하거나 이와 혼동하기 쉬운 표시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이하 ‘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특허된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것 등으로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표시’라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를 하는 행위를 금지하고 있다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위 규정의 취지는 특허로 인한 거래상의 유리함과 특허에 관한 공중의 신뢰를 악용하여 공중을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오인시키는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행위를 처벌함으로써 거래의 안전을 보호하는 데에 있다고 할 것이다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이러한 취지에 비추어 볼 때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dirty="0" err="1">
                <a:solidFill>
                  <a:srgbClr val="FF0000"/>
                </a:solidFill>
                <a:latin typeface="+mn-ea"/>
              </a:rPr>
              <a:t>특허된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 것 등으로 표시한 물건의 기술적 구성이 청구범위에 기재된 발명의 구성을 일부 변경한 것이라고 하더라도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그러한 변경이 해당 기술분야에서 통상의 지식을 가진 사람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이하 ‘통상의 </a:t>
            </a:r>
            <a:r>
              <a:rPr lang="ko-KR" altLang="en-US" sz="1100" dirty="0" err="1">
                <a:solidFill>
                  <a:srgbClr val="FF0000"/>
                </a:solidFill>
                <a:latin typeface="+mn-ea"/>
              </a:rPr>
              <a:t>기술자’라고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 한다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이 보통 채용하는 정도로 기술적 구성을 부가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․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삭제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․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변경한 것에 지나지 아니하고 그로 인하여 발명의 효과에 특별한 차이가 생기지도 아니하는 등 공중을 </a:t>
            </a:r>
            <a:r>
              <a:rPr lang="ko-KR" altLang="en-US" sz="1100" dirty="0" err="1">
                <a:solidFill>
                  <a:srgbClr val="FF0000"/>
                </a:solidFill>
                <a:latin typeface="+mn-ea"/>
              </a:rPr>
              <a:t>오인시킬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 정도에 이르지 아니한 경우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에는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위 물건에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특허된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것 등으로 표시를 하는 행위가 위 규정에서 금지하는 표시행위에 해당한다고 볼 수 없다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kern="100" spc="-100" dirty="0">
                <a:solidFill>
                  <a:schemeClr val="tx1"/>
                </a:solidFill>
                <a:latin typeface="+mn-ea"/>
              </a:rPr>
              <a:t>대법원 </a:t>
            </a:r>
            <a:r>
              <a:rPr lang="en-US" altLang="ko-KR" sz="1100" kern="100" spc="-100" dirty="0">
                <a:solidFill>
                  <a:schemeClr val="tx1"/>
                </a:solidFill>
                <a:latin typeface="+mn-ea"/>
              </a:rPr>
              <a:t>2015. 8. 13. </a:t>
            </a:r>
            <a:r>
              <a:rPr lang="ko-KR" altLang="en-US" sz="1100" kern="100" spc="-100" dirty="0">
                <a:solidFill>
                  <a:schemeClr val="tx1"/>
                </a:solidFill>
                <a:latin typeface="+mn-ea"/>
              </a:rPr>
              <a:t>선고 </a:t>
            </a:r>
            <a:r>
              <a:rPr lang="en-US" altLang="ko-KR" sz="1100" kern="100" spc="-100" dirty="0">
                <a:solidFill>
                  <a:schemeClr val="tx1"/>
                </a:solidFill>
                <a:latin typeface="+mn-ea"/>
              </a:rPr>
              <a:t>2013</a:t>
            </a:r>
            <a:r>
              <a:rPr lang="ko-KR" altLang="en-US" sz="1100" kern="100" spc="-100" dirty="0">
                <a:solidFill>
                  <a:schemeClr val="tx1"/>
                </a:solidFill>
                <a:latin typeface="+mn-ea"/>
              </a:rPr>
              <a:t>도</a:t>
            </a:r>
            <a:r>
              <a:rPr lang="en-US" altLang="ko-KR" sz="1100" kern="100" spc="-100" dirty="0">
                <a:solidFill>
                  <a:schemeClr val="tx1"/>
                </a:solidFill>
                <a:latin typeface="+mn-ea"/>
              </a:rPr>
              <a:t>10265 </a:t>
            </a:r>
            <a:r>
              <a:rPr lang="ko-KR" altLang="en-US" sz="1100" kern="100" spc="-100" dirty="0">
                <a:solidFill>
                  <a:schemeClr val="tx1"/>
                </a:solidFill>
                <a:latin typeface="+mn-ea"/>
              </a:rPr>
              <a:t>판결 </a:t>
            </a:r>
            <a:r>
              <a:rPr lang="en-US" altLang="ko-KR" sz="1100" kern="100" spc="-100" dirty="0">
                <a:solidFill>
                  <a:schemeClr val="tx1"/>
                </a:solidFill>
                <a:latin typeface="+mn-ea"/>
              </a:rPr>
              <a:t>)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32B48AF-F502-25D7-F3D8-C0BB890D9A92}"/>
              </a:ext>
            </a:extLst>
          </p:cNvPr>
          <p:cNvSpPr/>
          <p:nvPr/>
        </p:nvSpPr>
        <p:spPr>
          <a:xfrm>
            <a:off x="7239610" y="3724133"/>
            <a:ext cx="4790465" cy="12288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fontAlgn="base">
              <a:tabLst>
                <a:tab pos="408940" algn="l"/>
                <a:tab pos="624840" algn="l"/>
                <a:tab pos="4561840" algn="r"/>
                <a:tab pos="408940" algn="l"/>
                <a:tab pos="624840" algn="l"/>
                <a:tab pos="4561840" algn="r"/>
              </a:tabLst>
            </a:pPr>
            <a:r>
              <a:rPr lang="ko-KR" altLang="en-US" sz="1100" kern="0" dirty="0">
                <a:solidFill>
                  <a:schemeClr val="tx1"/>
                </a:solidFill>
                <a:latin typeface="+mn-ea"/>
              </a:rPr>
              <a:t>발명자가 아닌 사람으로서 특허를 받을 수 있는 권리의 승계인이 아닌 사람</a:t>
            </a:r>
            <a:r>
              <a:rPr lang="en-US" altLang="ko-KR" sz="1100" kern="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kern="0" dirty="0">
                <a:solidFill>
                  <a:schemeClr val="tx1"/>
                </a:solidFill>
                <a:latin typeface="+mn-ea"/>
              </a:rPr>
              <a:t>이하 ‘</a:t>
            </a:r>
            <a:r>
              <a:rPr lang="ko-KR" altLang="en-US" sz="1100" kern="0" dirty="0" err="1">
                <a:solidFill>
                  <a:schemeClr val="tx1"/>
                </a:solidFill>
                <a:latin typeface="+mn-ea"/>
              </a:rPr>
              <a:t>무권리자’라</a:t>
            </a:r>
            <a:r>
              <a:rPr lang="ko-KR" altLang="en-US" sz="1100" kern="0" dirty="0">
                <a:solidFill>
                  <a:schemeClr val="tx1"/>
                </a:solidFill>
                <a:latin typeface="+mn-ea"/>
              </a:rPr>
              <a:t> 한다</a:t>
            </a:r>
            <a:r>
              <a:rPr lang="en-US" altLang="ko-KR" sz="1100" kern="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100" kern="0" dirty="0">
                <a:solidFill>
                  <a:schemeClr val="tx1"/>
                </a:solidFill>
                <a:latin typeface="+mn-ea"/>
              </a:rPr>
              <a:t>이 </a:t>
            </a:r>
            <a:r>
              <a:rPr lang="ko-KR" altLang="en-US" sz="1100" kern="0" dirty="0">
                <a:solidFill>
                  <a:srgbClr val="FF0000"/>
                </a:solidFill>
                <a:latin typeface="+mn-ea"/>
              </a:rPr>
              <a:t>발명자가 한 발명의 구성을 일부 변경함으로써 그 기술적 구성이 발명자의 발명과 상이하게 되었더라도</a:t>
            </a:r>
            <a:r>
              <a:rPr lang="en-US" altLang="ko-KR" sz="1100" kern="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100" kern="0" dirty="0">
                <a:solidFill>
                  <a:srgbClr val="FF0000"/>
                </a:solidFill>
                <a:latin typeface="+mn-ea"/>
              </a:rPr>
              <a:t>변경이 그 기술분야에서 통상의 지식을 가진 사람이 보통으로 채용하는 정도의 기술적 구성의 </a:t>
            </a:r>
            <a:r>
              <a:rPr lang="ko-KR" altLang="en-US" sz="1100" kern="0" dirty="0" err="1">
                <a:solidFill>
                  <a:srgbClr val="FF0000"/>
                </a:solidFill>
                <a:latin typeface="+mn-ea"/>
              </a:rPr>
              <a:t>부가⋅삭제⋅변경에</a:t>
            </a:r>
            <a:r>
              <a:rPr lang="ko-KR" altLang="en-US" sz="1100" kern="0" dirty="0">
                <a:solidFill>
                  <a:srgbClr val="FF0000"/>
                </a:solidFill>
                <a:latin typeface="+mn-ea"/>
              </a:rPr>
              <a:t> 지나지 않고 그로 인하여 발명의 작용효과에 특별한 차이를 일으키지 않는 등 기술적 사상의 창작에 실질적으로 기여하지 않은 경우</a:t>
            </a:r>
            <a:r>
              <a:rPr lang="ko-KR" altLang="en-US" sz="1100" kern="0" dirty="0">
                <a:solidFill>
                  <a:schemeClr val="tx1"/>
                </a:solidFill>
                <a:latin typeface="+mn-ea"/>
              </a:rPr>
              <a:t>에 그 특허발명은 무권리자의 특허출원에 해당하여 등록이 무효이다</a:t>
            </a:r>
            <a:r>
              <a:rPr lang="en-US" altLang="ko-KR" sz="1100" kern="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kern="100" spc="-100" dirty="0">
                <a:solidFill>
                  <a:schemeClr val="tx1"/>
                </a:solidFill>
                <a:latin typeface="+mn-ea"/>
              </a:rPr>
              <a:t>대법원 </a:t>
            </a:r>
            <a:r>
              <a:rPr lang="en-US" altLang="ko-KR" sz="1100" kern="100" spc="-100" dirty="0">
                <a:solidFill>
                  <a:schemeClr val="tx1"/>
                </a:solidFill>
                <a:latin typeface="+mn-ea"/>
              </a:rPr>
              <a:t>2011. 9. 29. </a:t>
            </a:r>
            <a:r>
              <a:rPr lang="ko-KR" altLang="en-US" sz="1100" kern="100" spc="-100" dirty="0">
                <a:solidFill>
                  <a:schemeClr val="tx1"/>
                </a:solidFill>
                <a:latin typeface="+mn-ea"/>
              </a:rPr>
              <a:t>선고 </a:t>
            </a:r>
            <a:r>
              <a:rPr lang="en-US" altLang="ko-KR" sz="1100" kern="100" spc="-100" dirty="0">
                <a:solidFill>
                  <a:schemeClr val="tx1"/>
                </a:solidFill>
                <a:latin typeface="+mn-ea"/>
              </a:rPr>
              <a:t>2009</a:t>
            </a:r>
            <a:r>
              <a:rPr lang="ko-KR" altLang="en-US" sz="1100" kern="100" spc="-100" dirty="0">
                <a:solidFill>
                  <a:schemeClr val="tx1"/>
                </a:solidFill>
                <a:latin typeface="+mn-ea"/>
              </a:rPr>
              <a:t>후</a:t>
            </a:r>
            <a:r>
              <a:rPr lang="en-US" altLang="ko-KR" sz="1100" kern="100" spc="-100" dirty="0">
                <a:solidFill>
                  <a:schemeClr val="tx1"/>
                </a:solidFill>
                <a:latin typeface="+mn-ea"/>
              </a:rPr>
              <a:t>2463 </a:t>
            </a:r>
            <a:r>
              <a:rPr lang="ko-KR" altLang="en-US" sz="1100" kern="100" spc="-100" dirty="0">
                <a:solidFill>
                  <a:schemeClr val="tx1"/>
                </a:solidFill>
                <a:latin typeface="+mn-ea"/>
              </a:rPr>
              <a:t>판결 </a:t>
            </a:r>
            <a:r>
              <a:rPr lang="en-US" altLang="ko-KR" sz="1100" kern="100" spc="-100" dirty="0">
                <a:solidFill>
                  <a:schemeClr val="tx1"/>
                </a:solidFill>
                <a:latin typeface="+mn-ea"/>
              </a:rPr>
              <a:t>)</a:t>
            </a:r>
            <a:r>
              <a:rPr lang="en-US" altLang="ko-KR" sz="1100" kern="0" dirty="0">
                <a:solidFill>
                  <a:schemeClr val="tx1"/>
                </a:solidFill>
                <a:latin typeface="+mn-ea"/>
              </a:rPr>
              <a:t>. </a:t>
            </a:r>
            <a:endParaRPr lang="ko-KR" altLang="en-US" sz="1100" kern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4605478-99C2-D9EC-5EED-7547C494350E}"/>
              </a:ext>
            </a:extLst>
          </p:cNvPr>
          <p:cNvSpPr/>
          <p:nvPr/>
        </p:nvSpPr>
        <p:spPr>
          <a:xfrm>
            <a:off x="6799606" y="3724133"/>
            <a:ext cx="347025" cy="12288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무권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리자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36" name="꺾인 연결선 5">
            <a:extLst>
              <a:ext uri="{FF2B5EF4-FFF2-40B4-BE49-F238E27FC236}">
                <a16:creationId xmlns:a16="http://schemas.microsoft.com/office/drawing/2014/main" id="{4F022FEA-4FB2-47B9-4552-C743B98A2AD8}"/>
              </a:ext>
            </a:extLst>
          </p:cNvPr>
          <p:cNvCxnSpPr>
            <a:cxnSpLocks/>
            <a:stCxn id="30" idx="6"/>
            <a:endCxn id="29" idx="1"/>
          </p:cNvCxnSpPr>
          <p:nvPr/>
        </p:nvCxnSpPr>
        <p:spPr>
          <a:xfrm>
            <a:off x="6653533" y="1294605"/>
            <a:ext cx="146073" cy="1082294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꺾인 연결선 7">
            <a:extLst>
              <a:ext uri="{FF2B5EF4-FFF2-40B4-BE49-F238E27FC236}">
                <a16:creationId xmlns:a16="http://schemas.microsoft.com/office/drawing/2014/main" id="{251A3920-7310-1E41-C7D8-548BBDDD2028}"/>
              </a:ext>
            </a:extLst>
          </p:cNvPr>
          <p:cNvCxnSpPr>
            <a:cxnSpLocks/>
            <a:stCxn id="30" idx="6"/>
            <a:endCxn id="33" idx="1"/>
          </p:cNvCxnSpPr>
          <p:nvPr/>
        </p:nvCxnSpPr>
        <p:spPr>
          <a:xfrm>
            <a:off x="6653533" y="1294605"/>
            <a:ext cx="146073" cy="304396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말풍선: 모서리가 둥근 사각형 23">
            <a:extLst>
              <a:ext uri="{FF2B5EF4-FFF2-40B4-BE49-F238E27FC236}">
                <a16:creationId xmlns:a16="http://schemas.microsoft.com/office/drawing/2014/main" id="{366246DA-29C6-B68B-50DB-2787FAB0B31B}"/>
              </a:ext>
            </a:extLst>
          </p:cNvPr>
          <p:cNvSpPr/>
          <p:nvPr/>
        </p:nvSpPr>
        <p:spPr>
          <a:xfrm>
            <a:off x="6015674" y="5167740"/>
            <a:ext cx="3601694" cy="294667"/>
          </a:xfrm>
          <a:prstGeom prst="wedgeRoundRectCallout">
            <a:avLst>
              <a:gd name="adj1" fmla="val -15100"/>
              <a:gd name="adj2" fmla="val -181763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accent2"/>
                </a:solidFill>
              </a:rPr>
              <a:t>진보성 </a:t>
            </a:r>
            <a:r>
              <a:rPr lang="en-US" altLang="ko-KR" sz="1400" dirty="0">
                <a:solidFill>
                  <a:schemeClr val="accent2"/>
                </a:solidFill>
              </a:rPr>
              <a:t>× + </a:t>
            </a:r>
            <a:r>
              <a:rPr lang="ko-KR" altLang="en-US" sz="1400" dirty="0">
                <a:solidFill>
                  <a:schemeClr val="accent2"/>
                </a:solidFill>
              </a:rPr>
              <a:t>등 </a:t>
            </a:r>
            <a:r>
              <a:rPr lang="en-US" altLang="ko-KR" sz="1400" dirty="0">
                <a:solidFill>
                  <a:schemeClr val="accent2"/>
                </a:solidFill>
              </a:rPr>
              <a:t>+ </a:t>
            </a:r>
            <a:r>
              <a:rPr lang="ko-KR" altLang="en-US" sz="1400" dirty="0">
                <a:solidFill>
                  <a:schemeClr val="accent2"/>
                </a:solidFill>
              </a:rPr>
              <a:t>기술적 사상의 창작 기여 </a:t>
            </a:r>
            <a:r>
              <a:rPr lang="en-US" altLang="ko-KR" sz="1400" dirty="0">
                <a:solidFill>
                  <a:schemeClr val="accent2"/>
                </a:solidFill>
              </a:rPr>
              <a:t>×</a:t>
            </a:r>
            <a:endParaRPr lang="ko-KR" altLang="en-US" sz="1400" dirty="0">
              <a:solidFill>
                <a:schemeClr val="accent2"/>
              </a:solidFill>
            </a:endParaRPr>
          </a:p>
        </p:txBody>
      </p:sp>
      <p:sp>
        <p:nvSpPr>
          <p:cNvPr id="25" name="말풍선: 모서리가 둥근 사각형 24">
            <a:extLst>
              <a:ext uri="{FF2B5EF4-FFF2-40B4-BE49-F238E27FC236}">
                <a16:creationId xmlns:a16="http://schemas.microsoft.com/office/drawing/2014/main" id="{B5228C61-D6B7-8738-A1DE-7C2173948017}"/>
              </a:ext>
            </a:extLst>
          </p:cNvPr>
          <p:cNvSpPr/>
          <p:nvPr/>
        </p:nvSpPr>
        <p:spPr>
          <a:xfrm>
            <a:off x="7432053" y="659593"/>
            <a:ext cx="3601694" cy="294667"/>
          </a:xfrm>
          <a:prstGeom prst="wedgeRoundRectCallout">
            <a:avLst>
              <a:gd name="adj1" fmla="val 10211"/>
              <a:gd name="adj2" fmla="val 502997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accent2"/>
                </a:solidFill>
              </a:rPr>
              <a:t>진보성 </a:t>
            </a:r>
            <a:r>
              <a:rPr lang="en-US" altLang="ko-KR" sz="1400" dirty="0">
                <a:solidFill>
                  <a:schemeClr val="accent2"/>
                </a:solidFill>
              </a:rPr>
              <a:t>× + </a:t>
            </a:r>
            <a:r>
              <a:rPr lang="ko-KR" altLang="en-US" sz="1400" dirty="0">
                <a:solidFill>
                  <a:schemeClr val="accent2"/>
                </a:solidFill>
              </a:rPr>
              <a:t>등 </a:t>
            </a:r>
            <a:r>
              <a:rPr lang="en-US" altLang="ko-KR" sz="1400" dirty="0">
                <a:solidFill>
                  <a:schemeClr val="accent2"/>
                </a:solidFill>
              </a:rPr>
              <a:t>+ </a:t>
            </a:r>
            <a:r>
              <a:rPr lang="ko-KR" altLang="en-US" sz="1400" dirty="0">
                <a:solidFill>
                  <a:schemeClr val="accent2"/>
                </a:solidFill>
              </a:rPr>
              <a:t>공중 오인 </a:t>
            </a:r>
            <a:r>
              <a:rPr lang="en-US" altLang="ko-KR" sz="1400" dirty="0">
                <a:solidFill>
                  <a:schemeClr val="accent2"/>
                </a:solidFill>
              </a:rPr>
              <a:t>×</a:t>
            </a:r>
            <a:endParaRPr lang="ko-KR" altLang="en-US" sz="1400" dirty="0">
              <a:solidFill>
                <a:schemeClr val="accent2"/>
              </a:solidFill>
            </a:endParaRPr>
          </a:p>
        </p:txBody>
      </p:sp>
      <p:sp>
        <p:nvSpPr>
          <p:cNvPr id="26" name="말풍선: 모서리가 둥근 사각형 25">
            <a:extLst>
              <a:ext uri="{FF2B5EF4-FFF2-40B4-BE49-F238E27FC236}">
                <a16:creationId xmlns:a16="http://schemas.microsoft.com/office/drawing/2014/main" id="{405A4B8A-738D-D385-F192-1EE73E25BC1E}"/>
              </a:ext>
            </a:extLst>
          </p:cNvPr>
          <p:cNvSpPr/>
          <p:nvPr/>
        </p:nvSpPr>
        <p:spPr>
          <a:xfrm>
            <a:off x="981529" y="4014138"/>
            <a:ext cx="4907558" cy="288386"/>
          </a:xfrm>
          <a:prstGeom prst="wedgeRoundRectCallout">
            <a:avLst>
              <a:gd name="adj1" fmla="val -15100"/>
              <a:gd name="adj2" fmla="val -181763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accent2"/>
                </a:solidFill>
              </a:rPr>
              <a:t>실질적 동일성 중 구성이 변경된 경우</a:t>
            </a:r>
            <a:r>
              <a:rPr lang="en-US" altLang="ko-KR" sz="1400" dirty="0">
                <a:solidFill>
                  <a:schemeClr val="accent2"/>
                </a:solidFill>
              </a:rPr>
              <a:t>: </a:t>
            </a:r>
            <a:r>
              <a:rPr lang="ko-KR" altLang="en-US" sz="1400" dirty="0">
                <a:solidFill>
                  <a:schemeClr val="accent2"/>
                </a:solidFill>
              </a:rPr>
              <a:t>진보성 판단에 준하여 판단</a:t>
            </a:r>
          </a:p>
        </p:txBody>
      </p:sp>
      <p:sp>
        <p:nvSpPr>
          <p:cNvPr id="27" name="말풍선: 모서리가 둥근 사각형 26">
            <a:extLst>
              <a:ext uri="{FF2B5EF4-FFF2-40B4-BE49-F238E27FC236}">
                <a16:creationId xmlns:a16="http://schemas.microsoft.com/office/drawing/2014/main" id="{0DDB1A28-8AA8-3B53-4067-AB1C048A887D}"/>
              </a:ext>
            </a:extLst>
          </p:cNvPr>
          <p:cNvSpPr/>
          <p:nvPr/>
        </p:nvSpPr>
        <p:spPr>
          <a:xfrm>
            <a:off x="3917409" y="672846"/>
            <a:ext cx="2736124" cy="294667"/>
          </a:xfrm>
          <a:prstGeom prst="wedgeRoundRectCallout">
            <a:avLst>
              <a:gd name="adj1" fmla="val -42921"/>
              <a:gd name="adj2" fmla="val 148051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accent2"/>
                </a:solidFill>
              </a:rPr>
              <a:t>실질적 동일성 중 범주가 다른 경우</a:t>
            </a:r>
            <a:endParaRPr lang="ko-KR" altLang="en-US" sz="1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7411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항각호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동일성의</a:t>
            </a:r>
            <a:r>
              <a:rPr lang="en-US" altLang="ko-KR" dirty="0"/>
              <a:t> </a:t>
            </a:r>
            <a:r>
              <a:rPr lang="ko-KR" altLang="en-US" dirty="0"/>
              <a:t>유형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64</a:t>
            </a:fld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3C3125-9274-4CEB-BCF6-72027120C5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012595"/>
              </p:ext>
            </p:extLst>
          </p:nvPr>
        </p:nvGraphicFramePr>
        <p:xfrm>
          <a:off x="311276" y="1020240"/>
          <a:ext cx="11588624" cy="4805790"/>
        </p:xfrm>
        <a:graphic>
          <a:graphicData uri="http://schemas.openxmlformats.org/drawingml/2006/table">
            <a:tbl>
              <a:tblPr/>
              <a:tblGrid>
                <a:gridCol w="704724">
                  <a:extLst>
                    <a:ext uri="{9D8B030D-6E8A-4147-A177-3AD203B41FA5}">
                      <a16:colId xmlns:a16="http://schemas.microsoft.com/office/drawing/2014/main" val="3155735300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153185332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116165727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490334408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726362088"/>
                    </a:ext>
                  </a:extLst>
                </a:gridCol>
                <a:gridCol w="2959100">
                  <a:extLst>
                    <a:ext uri="{9D8B030D-6E8A-4147-A177-3AD203B41FA5}">
                      <a16:colId xmlns:a16="http://schemas.microsoft.com/office/drawing/2014/main" val="1629682187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463305122"/>
                    </a:ext>
                  </a:extLst>
                </a:gridCol>
              </a:tblGrid>
              <a:tr h="480579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인용대상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본원발명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동일성 인정여부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6302035"/>
                  </a:ext>
                </a:extLst>
              </a:tr>
              <a:tr h="480579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문언적 동일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a+b(</a:t>
                      </a: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직접 기재</a:t>
                      </a:r>
                      <a:r>
                        <a:rPr lang="en-US" altLang="ko-KR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kern="0" spc="-6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a+b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6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4425306"/>
                  </a:ext>
                </a:extLst>
              </a:tr>
              <a:tr h="480579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내재적 동일성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6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a+b</a:t>
                      </a:r>
                      <a:r>
                        <a:rPr lang="en-US" altLang="ko-KR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직접 기재와 마찬가지</a:t>
                      </a:r>
                      <a:r>
                        <a:rPr lang="en-US" altLang="ko-KR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a+b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6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95561"/>
                  </a:ext>
                </a:extLst>
              </a:tr>
              <a:tr h="480579">
                <a:tc rowSpan="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실질적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동일성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범주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물건발명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제법발명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일반적 불인정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6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8945453"/>
                  </a:ext>
                </a:extLst>
              </a:tr>
              <a:tr h="4805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제법발명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물건발명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일반적 인정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6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6098350"/>
                  </a:ext>
                </a:extLst>
              </a:tr>
              <a:tr h="4805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범위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부가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a+b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a+b+c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일반적 불인정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결합발명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6215270"/>
                  </a:ext>
                </a:extLst>
              </a:tr>
              <a:tr h="4805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6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a+b+c</a:t>
                      </a:r>
                      <a:endParaRPr lang="en-US" sz="12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a+b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일반적 인정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6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9506727"/>
                  </a:ext>
                </a:extLst>
              </a:tr>
              <a:tr h="4805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한정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6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A+b</a:t>
                      </a:r>
                      <a:endParaRPr lang="ko-KR" altLang="en-US" sz="12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(A</a:t>
                      </a:r>
                      <a:r>
                        <a:rPr lang="ko-KR" altLang="en-US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는 </a:t>
                      </a:r>
                      <a:r>
                        <a:rPr lang="en-US" altLang="ko-KR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  <a:r>
                        <a:rPr lang="ko-KR" altLang="en-US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 상위개념</a:t>
                      </a:r>
                      <a:r>
                        <a:rPr lang="en-US" altLang="ko-KR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a+b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일반적 불인정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선택발명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3595802"/>
                  </a:ext>
                </a:extLst>
              </a:tr>
              <a:tr h="4805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a+b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A+b</a:t>
                      </a:r>
                      <a:endParaRPr lang="ko-KR" altLang="en-US" sz="1200" kern="0" spc="-6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(A</a:t>
                      </a: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는 </a:t>
                      </a:r>
                      <a:r>
                        <a:rPr lang="en-US" altLang="ko-KR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 상위개념</a:t>
                      </a:r>
                      <a:r>
                        <a:rPr lang="en-US" altLang="ko-KR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kern="0" spc="-6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일반적 인정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6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628130"/>
                  </a:ext>
                </a:extLst>
              </a:tr>
              <a:tr h="4805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구성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변경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a+b1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a+b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일반적 불인정</a:t>
                      </a:r>
                      <a:r>
                        <a:rPr lang="en-US" altLang="ko-KR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*</a:t>
                      </a:r>
                      <a:endParaRPr lang="ko-KR" altLang="en-US" sz="12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2388181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6347DFBA-8777-43FA-A37A-98C1EE5E7655}"/>
              </a:ext>
            </a:extLst>
          </p:cNvPr>
          <p:cNvSpPr/>
          <p:nvPr/>
        </p:nvSpPr>
        <p:spPr>
          <a:xfrm>
            <a:off x="225488" y="5842651"/>
            <a:ext cx="11760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fontAlgn="base">
              <a:buFont typeface="Arial" panose="020B0604020202020204" pitchFamily="34" charset="0"/>
              <a:buChar char="•"/>
            </a:pPr>
            <a:r>
              <a:rPr lang="ko-KR" altLang="en-US" sz="1200" kern="0" spc="-60" dirty="0">
                <a:latin typeface="+mn-ea"/>
              </a:rPr>
              <a:t>협의의 동일성</a:t>
            </a:r>
            <a:r>
              <a:rPr lang="en-US" altLang="ko-KR" sz="1200" kern="0" spc="-60" dirty="0">
                <a:latin typeface="+mn-ea"/>
              </a:rPr>
              <a:t>(</a:t>
            </a:r>
            <a:r>
              <a:rPr lang="ko-KR" altLang="en-US" sz="1200" kern="0" spc="-60" dirty="0">
                <a:latin typeface="+mn-ea"/>
              </a:rPr>
              <a:t>신규성</a:t>
            </a:r>
            <a:r>
              <a:rPr lang="en-US" altLang="ko-KR" sz="1200" kern="0" spc="-60" dirty="0">
                <a:latin typeface="+mn-ea"/>
              </a:rPr>
              <a:t>, </a:t>
            </a:r>
            <a:r>
              <a:rPr lang="ko-KR" altLang="en-US" sz="1200" kern="0" spc="-60" dirty="0">
                <a:latin typeface="+mn-ea"/>
              </a:rPr>
              <a:t>확대된 선출원의 지위</a:t>
            </a:r>
            <a:r>
              <a:rPr lang="en-US" altLang="ko-KR" sz="1200" kern="0" spc="-60" dirty="0">
                <a:latin typeface="+mn-ea"/>
              </a:rPr>
              <a:t>): </a:t>
            </a:r>
            <a:r>
              <a:rPr lang="ko-KR" altLang="en-US" sz="1200" kern="0" dirty="0">
                <a:latin typeface="+mn-ea"/>
              </a:rPr>
              <a:t>과제해결을 위한 구체적 수단에서 </a:t>
            </a:r>
            <a:r>
              <a:rPr lang="ko-KR" altLang="en-US" sz="1200" kern="0" dirty="0" err="1">
                <a:solidFill>
                  <a:srgbClr val="FF0000"/>
                </a:solidFill>
                <a:latin typeface="+mn-ea"/>
              </a:rPr>
              <a:t>주지관용기술의</a:t>
            </a:r>
            <a:r>
              <a:rPr lang="ko-KR" altLang="en-US" sz="1200" kern="0" dirty="0">
                <a:solidFill>
                  <a:srgbClr val="FF0000"/>
                </a:solidFill>
                <a:latin typeface="+mn-ea"/>
              </a:rPr>
              <a:t> 단순한 부가</a:t>
            </a:r>
            <a:r>
              <a:rPr lang="en-US" altLang="ko-KR" sz="1200" kern="0" spc="-6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200" kern="0" dirty="0">
                <a:solidFill>
                  <a:srgbClr val="FF0000"/>
                </a:solidFill>
                <a:latin typeface="+mn-ea"/>
              </a:rPr>
              <a:t>전환</a:t>
            </a:r>
            <a:r>
              <a:rPr lang="en-US" altLang="ko-KR" sz="1200" kern="0" spc="-6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200" kern="0" dirty="0">
                <a:solidFill>
                  <a:srgbClr val="FF0000"/>
                </a:solidFill>
                <a:latin typeface="+mn-ea"/>
              </a:rPr>
              <a:t>삭제</a:t>
            </a:r>
            <a:r>
              <a:rPr lang="ko-KR" altLang="en-US" sz="1200" kern="0" dirty="0">
                <a:latin typeface="+mn-ea"/>
              </a:rPr>
              <a:t> 등에 불과하여 </a:t>
            </a:r>
            <a:r>
              <a:rPr lang="ko-KR" altLang="en-US" sz="1200" kern="0" dirty="0">
                <a:solidFill>
                  <a:srgbClr val="FF0000"/>
                </a:solidFill>
                <a:latin typeface="+mn-ea"/>
              </a:rPr>
              <a:t>새로운 효과</a:t>
            </a:r>
            <a:r>
              <a:rPr lang="ko-KR" altLang="en-US" sz="1200" kern="0" dirty="0">
                <a:latin typeface="+mn-ea"/>
              </a:rPr>
              <a:t> 발생이 없고</a:t>
            </a:r>
            <a:r>
              <a:rPr lang="en-US" altLang="ko-KR" sz="1200" kern="0" spc="-60" dirty="0">
                <a:latin typeface="+mn-ea"/>
              </a:rPr>
              <a:t>, </a:t>
            </a:r>
            <a:r>
              <a:rPr lang="ko-KR" altLang="en-US" sz="1200" kern="0" dirty="0">
                <a:latin typeface="+mn-ea"/>
              </a:rPr>
              <a:t>발명 간의 차이가 발명의 사상에 실질적인 영향을 미치지 않는 비본질적 사항에 불과한 경우를 말한다</a:t>
            </a:r>
            <a:r>
              <a:rPr lang="en-US" altLang="ko-KR" sz="1200" kern="0" dirty="0">
                <a:latin typeface="+mn-ea"/>
              </a:rPr>
              <a:t>.</a:t>
            </a:r>
          </a:p>
          <a:p>
            <a:pPr marL="171450" indent="-171450" algn="just" fontAlgn="base">
              <a:buFont typeface="Arial" panose="020B0604020202020204" pitchFamily="34" charset="0"/>
              <a:buChar char="•"/>
            </a:pPr>
            <a:r>
              <a:rPr lang="ko-KR" altLang="en-US" sz="1200" kern="0" spc="-60" dirty="0">
                <a:latin typeface="+mn-ea"/>
              </a:rPr>
              <a:t>광의의 동일성</a:t>
            </a:r>
            <a:r>
              <a:rPr lang="en-US" altLang="ko-KR" sz="1200" kern="0" spc="-60" dirty="0">
                <a:latin typeface="+mn-ea"/>
              </a:rPr>
              <a:t>(</a:t>
            </a:r>
            <a:r>
              <a:rPr lang="ko-KR" altLang="en-US" sz="1200" kern="0" spc="-60" dirty="0">
                <a:latin typeface="+mn-ea"/>
              </a:rPr>
              <a:t>선출원주의</a:t>
            </a:r>
            <a:r>
              <a:rPr lang="en-US" altLang="ko-KR" sz="1200" kern="0" spc="-60" dirty="0">
                <a:latin typeface="+mn-ea"/>
              </a:rPr>
              <a:t>): </a:t>
            </a:r>
            <a:r>
              <a:rPr lang="ko-KR" altLang="en-US" sz="1200" kern="0" dirty="0">
                <a:latin typeface="+mn-ea"/>
              </a:rPr>
              <a:t>그 변경이 목적달성을 위한 구체화 수단으로서 </a:t>
            </a:r>
            <a:r>
              <a:rPr lang="ko-KR" altLang="en-US" sz="1200" kern="0" dirty="0">
                <a:solidFill>
                  <a:srgbClr val="FF0000"/>
                </a:solidFill>
                <a:latin typeface="+mn-ea"/>
              </a:rPr>
              <a:t>통상의 기술자에 의하여 일반적으로 채용될 수 있는 정도의 기술수단의 단순한 치환</a:t>
            </a:r>
            <a:r>
              <a:rPr lang="en-US" altLang="ko-KR" sz="1200" kern="0" spc="-6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200" kern="0" dirty="0">
                <a:solidFill>
                  <a:srgbClr val="FF0000"/>
                </a:solidFill>
                <a:latin typeface="+mn-ea"/>
              </a:rPr>
              <a:t>부가 또는 삭제 등</a:t>
            </a:r>
            <a:r>
              <a:rPr lang="ko-KR" altLang="en-US" sz="1200" kern="0" dirty="0">
                <a:latin typeface="+mn-ea"/>
              </a:rPr>
              <a:t>에 해당하는 것이고 그 변경에 의하여 발명의 목적 및 </a:t>
            </a:r>
            <a:r>
              <a:rPr lang="ko-KR" altLang="en-US" sz="1200" kern="0" dirty="0">
                <a:solidFill>
                  <a:srgbClr val="FF0000"/>
                </a:solidFill>
                <a:latin typeface="+mn-ea"/>
              </a:rPr>
              <a:t>효과에 각별한 차이</a:t>
            </a:r>
            <a:r>
              <a:rPr lang="ko-KR" altLang="en-US" sz="1200" kern="0" dirty="0">
                <a:latin typeface="+mn-ea"/>
              </a:rPr>
              <a:t>가 생기지 않는 경우를 말한다</a:t>
            </a:r>
            <a:r>
              <a:rPr lang="en-US" altLang="ko-KR" sz="1200" kern="0" spc="-60" dirty="0">
                <a:latin typeface="+mn-ea"/>
              </a:rPr>
              <a:t>.</a:t>
            </a:r>
            <a:endParaRPr lang="ko-KR" altLang="en-US" sz="1200" kern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82253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항각호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발명의 범주가 다른 경우 동일성의 판단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65</a:t>
            </a:fld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CF2E2A-225A-44AD-8E5F-2006B5EC99DD}"/>
              </a:ext>
            </a:extLst>
          </p:cNvPr>
          <p:cNvSpPr txBox="1"/>
          <p:nvPr/>
        </p:nvSpPr>
        <p:spPr>
          <a:xfrm>
            <a:off x="77875" y="1361857"/>
            <a:ext cx="119363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200" dirty="0"/>
              <a:t>물건의 발명에서 이와 동일한 발명이 그 출원 전에 공지되었거나 공연히 실시되었음이 인정되면 그 발명의 신규성은 부정된다</a:t>
            </a:r>
            <a:r>
              <a:rPr lang="en-US" altLang="ko-KR" sz="1200" dirty="0"/>
              <a:t>. </a:t>
            </a:r>
            <a:r>
              <a:rPr lang="ko-KR" altLang="en-US" sz="1200" dirty="0">
                <a:highlight>
                  <a:srgbClr val="FFFF00"/>
                </a:highlight>
              </a:rPr>
              <a:t>특허발명에서 구성요소로 특정된 물건의 구성이나 속성이 선행발명에 명시적으로 개시되어 있지 않은 경우라도 선행발명에 개시된 물건이 특허발명과 동일한 구성이나 속성을 갖는다는 점이 인정된다면</a:t>
            </a:r>
            <a:r>
              <a:rPr lang="en-US" altLang="ko-KR" sz="1200" dirty="0"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이는 선행발명에 내재된 구성 또는 속성으로 볼 수 있다</a:t>
            </a:r>
            <a:r>
              <a:rPr lang="en-US" altLang="ko-KR" sz="1200" dirty="0">
                <a:highlight>
                  <a:srgbClr val="FFFF00"/>
                </a:highlight>
              </a:rPr>
              <a:t>.</a:t>
            </a:r>
            <a:r>
              <a:rPr lang="en-US" altLang="ko-KR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/>
              <a:t>이와 같은 경우 특허발명이 해당 구성 또는 속성으로 인한 물질의 새로운 용도를 특허의 대상으로 한다는 등의 특별한 사정이 없는 한 공지된 물건에 원래부터 존재하였던 내재된 구성 또는 속성을 발견한 것에 불과하므로 신규성이 부정된다</a:t>
            </a:r>
            <a:r>
              <a:rPr lang="en-US" altLang="ko-KR" sz="1200" dirty="0"/>
              <a:t>. </a:t>
            </a:r>
            <a:r>
              <a:rPr lang="ko-KR" altLang="en-US" sz="1200" dirty="0">
                <a:highlight>
                  <a:srgbClr val="FFFF00"/>
                </a:highlight>
              </a:rPr>
              <a:t>이는 그 발명이 속하는 기술분야에서 통상의 지식을 가진 사람</a:t>
            </a:r>
            <a:r>
              <a:rPr lang="en-US" altLang="ko-KR" sz="1200" dirty="0">
                <a:highlight>
                  <a:srgbClr val="FFFF00"/>
                </a:highlight>
              </a:rPr>
              <a:t>(</a:t>
            </a:r>
            <a:r>
              <a:rPr lang="ko-KR" altLang="en-US" sz="1200" dirty="0">
                <a:highlight>
                  <a:srgbClr val="FFFF00"/>
                </a:highlight>
              </a:rPr>
              <a:t>이하 ‘통상의 </a:t>
            </a:r>
            <a:r>
              <a:rPr lang="ko-KR" altLang="en-US" sz="1200" dirty="0" err="1">
                <a:highlight>
                  <a:srgbClr val="FFFF00"/>
                </a:highlight>
              </a:rPr>
              <a:t>기술자’라고</a:t>
            </a:r>
            <a:r>
              <a:rPr lang="ko-KR" altLang="en-US" sz="1200" dirty="0">
                <a:highlight>
                  <a:srgbClr val="FFFF00"/>
                </a:highlight>
              </a:rPr>
              <a:t> 한다</a:t>
            </a:r>
            <a:r>
              <a:rPr lang="en-US" altLang="ko-KR" sz="1200" dirty="0">
                <a:highlight>
                  <a:srgbClr val="FFFF00"/>
                </a:highlight>
              </a:rPr>
              <a:t>)</a:t>
            </a:r>
            <a:r>
              <a:rPr lang="ko-KR" altLang="en-US" sz="1200" dirty="0">
                <a:highlight>
                  <a:srgbClr val="FFFF00"/>
                </a:highlight>
              </a:rPr>
              <a:t>이 출원 당시에 그 구성이나 속성을 인식할 수 없었던 경우에도 마찬가지이다</a:t>
            </a:r>
            <a:r>
              <a:rPr lang="en-US" altLang="ko-KR" sz="1200" dirty="0">
                <a:highlight>
                  <a:srgbClr val="FFFF00"/>
                </a:highlight>
              </a:rPr>
              <a:t>.</a:t>
            </a:r>
            <a:r>
              <a:rPr lang="en-US" altLang="ko-KR" sz="1200" dirty="0"/>
              <a:t> </a:t>
            </a:r>
            <a:r>
              <a:rPr lang="ko-KR" altLang="en-US" sz="1200" dirty="0"/>
              <a:t>또한 공지된 물건의 내재된 구성 또는 속성을 파악하기 위하여 출원일 이후 공지된 자료를 증거로 사용할 수 있다</a:t>
            </a:r>
            <a:r>
              <a:rPr lang="en-US" altLang="ko-KR" sz="1200" dirty="0"/>
              <a:t>.</a:t>
            </a:r>
          </a:p>
          <a:p>
            <a:pPr fontAlgn="base"/>
            <a:r>
              <a:rPr lang="ko-KR" altLang="en-US" sz="1200" dirty="0"/>
              <a:t>한편</a:t>
            </a:r>
            <a:r>
              <a:rPr lang="en-US" altLang="ko-KR" sz="1200" dirty="0"/>
              <a:t>, </a:t>
            </a:r>
            <a:r>
              <a:rPr lang="ko-KR" altLang="en-US" sz="1200" dirty="0"/>
              <a:t>선행발명에 개시된 물건이 특허발명과 동일한 구성 또는 속성을 가질 수도 있다는 가능성 또는 개연성만으로는 두 발명을 동일하다고 할 수 없고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필연적으로 그와 같은 구성 또는 속성을 가진다는 점이 증명되어야 한다</a:t>
            </a:r>
            <a:r>
              <a:rPr lang="en-US" altLang="ko-KR" sz="1200" dirty="0">
                <a:highlight>
                  <a:srgbClr val="FFFF00"/>
                </a:highlight>
              </a:rPr>
              <a:t>.</a:t>
            </a:r>
            <a:r>
              <a:rPr lang="en-US" altLang="ko-KR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/>
              <a:t>즉</a:t>
            </a:r>
            <a:r>
              <a:rPr lang="en-US" altLang="ko-KR" sz="1200" dirty="0"/>
              <a:t>, </a:t>
            </a:r>
            <a:r>
              <a:rPr lang="ko-KR" altLang="en-US" sz="1200" dirty="0"/>
              <a:t>선행발명이 공지된 물건 그 자체일 경우에는 그 물건과 특허발명의 구성을 대비하여 양 발명이 동일한지 판단할 수 있으나</a:t>
            </a:r>
            <a:r>
              <a:rPr lang="en-US" altLang="ko-KR" sz="1200" dirty="0"/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선행발명이 특정 제조방법에 의해 제작된 물건에 관한 공지된 문헌인 경우</a:t>
            </a:r>
            <a:r>
              <a:rPr lang="en-US" altLang="ko-KR" sz="1200" dirty="0"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선행발명에 개시된 물건은 선행발명에 개시된 제조방법에 따라 제조된 물건이므로</a:t>
            </a:r>
            <a:r>
              <a:rPr lang="en-US" altLang="ko-KR" sz="1200" dirty="0"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선행발명에 개시된 제조방법에 따랐을 경우 우연한 결과일 수도 있는 한 </a:t>
            </a:r>
            <a:r>
              <a:rPr lang="ko-KR" altLang="en-US" sz="1200" dirty="0" err="1">
                <a:highlight>
                  <a:srgbClr val="FFFF00"/>
                </a:highlight>
              </a:rPr>
              <a:t>실시례가</a:t>
            </a:r>
            <a:r>
              <a:rPr lang="ko-KR" altLang="en-US" sz="1200" dirty="0">
                <a:highlight>
                  <a:srgbClr val="FFFF00"/>
                </a:highlight>
              </a:rPr>
              <a:t> 위와 같은 구성 또는 속성을 가진다는 점을 넘어 그 결과물이 필연적으로 해당 구성 또는 속성을 가진다는 점이 증명되어야 선행발명과 특허발명이 동일하다고 할 수 있다</a:t>
            </a:r>
            <a:r>
              <a:rPr lang="en-US" altLang="ko-KR" sz="1200" dirty="0">
                <a:highlight>
                  <a:srgbClr val="FFFF00"/>
                </a:highlight>
              </a:rPr>
              <a:t>.</a:t>
            </a:r>
            <a:endParaRPr lang="ko-KR" altLang="en-US" sz="1200" dirty="0">
              <a:highlight>
                <a:srgbClr val="FFFF00"/>
              </a:highlight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8FE81B0-4EAC-43BC-A432-3F1ED8B60173}"/>
              </a:ext>
            </a:extLst>
          </p:cNvPr>
          <p:cNvSpPr/>
          <p:nvPr/>
        </p:nvSpPr>
        <p:spPr>
          <a:xfrm>
            <a:off x="113937" y="985031"/>
            <a:ext cx="5780008" cy="346234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bIns="0">
            <a:spAutoFit/>
          </a:bodyPr>
          <a:lstStyle/>
          <a:p>
            <a:r>
              <a:rPr lang="ko-KR" altLang="en-US" sz="1600" dirty="0"/>
              <a:t>대법원 </a:t>
            </a:r>
            <a:r>
              <a:rPr lang="en-US" altLang="ko-KR" sz="1600" dirty="0"/>
              <a:t>2021. 12. 30. </a:t>
            </a:r>
            <a:r>
              <a:rPr lang="ko-KR" altLang="en-US" sz="1600" dirty="0"/>
              <a:t>선고 </a:t>
            </a:r>
            <a:r>
              <a:rPr lang="en-US" altLang="ko-KR" sz="1600" dirty="0"/>
              <a:t>2017</a:t>
            </a:r>
            <a:r>
              <a:rPr lang="ko-KR" altLang="en-US" sz="1600" dirty="0"/>
              <a:t>후</a:t>
            </a:r>
            <a:r>
              <a:rPr lang="en-US" altLang="ko-KR" sz="1600" dirty="0"/>
              <a:t>1304 </a:t>
            </a:r>
            <a:r>
              <a:rPr lang="ko-KR" altLang="en-US" sz="1600" dirty="0"/>
              <a:t>판결 </a:t>
            </a:r>
            <a:r>
              <a:rPr lang="en-US" altLang="ko-KR" sz="1600" dirty="0"/>
              <a:t>【</a:t>
            </a:r>
            <a:r>
              <a:rPr lang="ko-KR" altLang="en-US" sz="1600" dirty="0"/>
              <a:t>등록무효</a:t>
            </a:r>
            <a:r>
              <a:rPr lang="en-US" altLang="ko-KR" sz="1600" dirty="0"/>
              <a:t>(</a:t>
            </a:r>
            <a:r>
              <a:rPr lang="ko-KR" altLang="en-US" sz="1600" dirty="0" err="1"/>
              <a:t>특</a:t>
            </a:r>
            <a:r>
              <a:rPr lang="en-US" altLang="ko-KR" sz="1600" dirty="0"/>
              <a:t>)】	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E9A069B6-FEAB-4319-9DED-B2FB8A167478}"/>
              </a:ext>
            </a:extLst>
          </p:cNvPr>
          <p:cNvCxnSpPr/>
          <p:nvPr/>
        </p:nvCxnSpPr>
        <p:spPr>
          <a:xfrm>
            <a:off x="0" y="3116183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52F79AA-4C45-4075-8E67-8E46444B0693}"/>
              </a:ext>
            </a:extLst>
          </p:cNvPr>
          <p:cNvSpPr txBox="1"/>
          <p:nvPr/>
        </p:nvSpPr>
        <p:spPr>
          <a:xfrm>
            <a:off x="1675" y="3146775"/>
            <a:ext cx="61333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200" dirty="0"/>
              <a:t>(1) </a:t>
            </a:r>
            <a:r>
              <a:rPr lang="ko-KR" altLang="en-US" sz="1200" dirty="0"/>
              <a:t>선행발명 </a:t>
            </a:r>
            <a:r>
              <a:rPr lang="en-US" altLang="ko-KR" sz="1200" dirty="0"/>
              <a:t>1</a:t>
            </a:r>
            <a:r>
              <a:rPr lang="ko-KR" altLang="en-US" sz="1200" dirty="0"/>
              <a:t>은 “</a:t>
            </a:r>
            <a:r>
              <a:rPr lang="ko-KR" altLang="en-US" sz="1200" dirty="0">
                <a:solidFill>
                  <a:srgbClr val="FF0000"/>
                </a:solidFill>
              </a:rPr>
              <a:t>에어로졸 </a:t>
            </a:r>
            <a:r>
              <a:rPr lang="ko-KR" altLang="en-US" sz="1200" dirty="0" err="1">
                <a:solidFill>
                  <a:srgbClr val="FF0000"/>
                </a:solidFill>
              </a:rPr>
              <a:t>디포지션</a:t>
            </a:r>
            <a:r>
              <a:rPr lang="ko-KR" altLang="en-US" sz="1200" dirty="0">
                <a:solidFill>
                  <a:srgbClr val="FF0000"/>
                </a:solidFill>
              </a:rPr>
              <a:t> 방법</a:t>
            </a:r>
            <a:r>
              <a:rPr lang="ko-KR" altLang="en-US" sz="1200" dirty="0"/>
              <a:t>에 의해 형성된 </a:t>
            </a:r>
            <a:r>
              <a:rPr lang="en-US" altLang="ko-KR" sz="1200" dirty="0"/>
              <a:t>PZT </a:t>
            </a:r>
            <a:r>
              <a:rPr lang="ko-KR" altLang="en-US" sz="1200" dirty="0"/>
              <a:t>후막의 미세구조 및 전기적 </a:t>
            </a:r>
            <a:r>
              <a:rPr lang="ko-KR" altLang="en-US" sz="1200" dirty="0" err="1"/>
              <a:t>특성”이라는</a:t>
            </a:r>
            <a:r>
              <a:rPr lang="ko-KR" altLang="en-US" sz="1200" dirty="0"/>
              <a:t> 제목의 논문으로</a:t>
            </a:r>
            <a:r>
              <a:rPr lang="en-US" altLang="ko-KR" sz="1200" dirty="0"/>
              <a:t>, </a:t>
            </a:r>
            <a:r>
              <a:rPr lang="ko-KR" altLang="en-US" sz="1200" dirty="0"/>
              <a:t>공지된 물건 그 자체가 아니라 공지된 문헌이어서</a:t>
            </a:r>
            <a:r>
              <a:rPr lang="en-US" altLang="ko-KR" sz="1200" dirty="0"/>
              <a:t>, </a:t>
            </a:r>
            <a:r>
              <a:rPr lang="ko-KR" altLang="en-US" sz="1200" dirty="0"/>
              <a:t>선행발명 </a:t>
            </a:r>
            <a:r>
              <a:rPr lang="en-US" altLang="ko-KR" sz="1200" dirty="0"/>
              <a:t>1</a:t>
            </a:r>
            <a:r>
              <a:rPr lang="ko-KR" altLang="en-US" sz="1200" dirty="0"/>
              <a:t>에서 대비대상이 되는 것은 선행발명 </a:t>
            </a:r>
            <a:r>
              <a:rPr lang="en-US" altLang="ko-KR" sz="1200" dirty="0"/>
              <a:t>1</a:t>
            </a:r>
            <a:r>
              <a:rPr lang="ko-KR" altLang="en-US" sz="1200" dirty="0"/>
              <a:t>에 제시된 제조방법에 의하여 제조된 막 형상 구조물이다</a:t>
            </a:r>
            <a:r>
              <a:rPr lang="en-US" altLang="ko-KR" sz="1200" dirty="0"/>
              <a:t>.</a:t>
            </a:r>
          </a:p>
          <a:p>
            <a:pPr algn="just"/>
            <a:r>
              <a:rPr lang="en-US" altLang="ko-KR" sz="1200" dirty="0"/>
              <a:t>(2) </a:t>
            </a:r>
            <a:r>
              <a:rPr lang="ko-KR" altLang="en-US" sz="1200" dirty="0"/>
              <a:t>이 사건 제</a:t>
            </a:r>
            <a:r>
              <a:rPr lang="en-US" altLang="ko-KR" sz="1200" dirty="0"/>
              <a:t>1</a:t>
            </a:r>
            <a:r>
              <a:rPr lang="ko-KR" altLang="en-US" sz="1200" dirty="0"/>
              <a:t>항 발명과 선행발명 </a:t>
            </a:r>
            <a:r>
              <a:rPr lang="en-US" altLang="ko-KR" sz="1200" dirty="0"/>
              <a:t>1</a:t>
            </a:r>
            <a:r>
              <a:rPr lang="ko-KR" altLang="en-US" sz="1200" dirty="0"/>
              <a:t>은 모두 </a:t>
            </a:r>
            <a:r>
              <a:rPr lang="ko-KR" altLang="en-US" sz="1200" dirty="0" err="1"/>
              <a:t>취성</a:t>
            </a:r>
            <a:r>
              <a:rPr lang="ko-KR" altLang="en-US" sz="1200" dirty="0"/>
              <a:t> 재료 미립자를 상온에서 </a:t>
            </a:r>
            <a:r>
              <a:rPr lang="ko-KR" altLang="en-US" sz="1200" dirty="0" err="1"/>
              <a:t>고속분사하여</a:t>
            </a:r>
            <a:r>
              <a:rPr lang="ko-KR" altLang="en-US" sz="1200" dirty="0"/>
              <a:t> 기재 표면에 충돌시킴으로써 미립자를 변형 또는 </a:t>
            </a:r>
            <a:r>
              <a:rPr lang="ko-KR" altLang="en-US" sz="1200" dirty="0" err="1"/>
              <a:t>파쇄하여</a:t>
            </a:r>
            <a:r>
              <a:rPr lang="ko-KR" altLang="en-US" sz="1200" dirty="0"/>
              <a:t> 제작된 막 형상구조물에 관한 것이라는 점에서 공통되고</a:t>
            </a:r>
            <a:r>
              <a:rPr lang="en-US" altLang="ko-KR" sz="1200" dirty="0"/>
              <a:t>, </a:t>
            </a:r>
            <a:r>
              <a:rPr lang="ko-KR" altLang="en-US" sz="1200" dirty="0"/>
              <a:t>그 결과 입자간 결합력이 더 높은 복합 구</a:t>
            </a:r>
            <a:r>
              <a:rPr lang="ko-KR" altLang="en-US" sz="1200" b="0" i="0" u="none" strike="noStrike" baseline="0" dirty="0">
                <a:latin typeface="CourtBT"/>
              </a:rPr>
              <a:t>조물이 형성된다</a:t>
            </a:r>
            <a:r>
              <a:rPr lang="en-US" altLang="ko-KR" sz="1200" b="0" i="0" u="none" strike="noStrike" baseline="0" dirty="0">
                <a:latin typeface="CourtBT"/>
              </a:rPr>
              <a:t>.</a:t>
            </a:r>
          </a:p>
          <a:p>
            <a:pPr algn="just"/>
            <a:r>
              <a:rPr lang="en-US" altLang="ko-KR" sz="1200" b="0" i="0" u="none" strike="noStrike" baseline="0" dirty="0">
                <a:latin typeface="CourtBT"/>
              </a:rPr>
              <a:t>(3) </a:t>
            </a:r>
            <a:r>
              <a:rPr lang="ko-KR" altLang="en-US" sz="1200" b="0" i="0" u="none" strike="noStrike" baseline="0" dirty="0">
                <a:latin typeface="CourtBT"/>
              </a:rPr>
              <a:t>다만</a:t>
            </a:r>
            <a:r>
              <a:rPr lang="en-US" altLang="ko-KR" sz="1200" b="0" i="0" u="none" strike="noStrike" baseline="0" dirty="0">
                <a:latin typeface="CourtBT"/>
              </a:rPr>
              <a:t>, </a:t>
            </a:r>
            <a:r>
              <a:rPr lang="ko-KR" altLang="en-US" sz="1200" b="0" i="0" u="none" strike="noStrike" baseline="0" dirty="0">
                <a:latin typeface="CourtBT"/>
              </a:rPr>
              <a:t>이 사건 제</a:t>
            </a:r>
            <a:r>
              <a:rPr lang="en-US" altLang="ko-KR" sz="1200" b="0" i="0" u="none" strike="noStrike" baseline="0" dirty="0">
                <a:latin typeface="CourtBT"/>
              </a:rPr>
              <a:t>1</a:t>
            </a:r>
            <a:r>
              <a:rPr lang="ko-KR" altLang="en-US" sz="1200" b="0" i="0" u="none" strike="noStrike" baseline="0" dirty="0">
                <a:latin typeface="CourtBT"/>
              </a:rPr>
              <a:t>항 발명은 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‘</a:t>
            </a:r>
            <a:r>
              <a:rPr lang="ko-KR" altLang="en-US" sz="1200" b="0" i="0" u="none" strike="noStrike" baseline="0" dirty="0" err="1">
                <a:solidFill>
                  <a:srgbClr val="FF0000"/>
                </a:solidFill>
                <a:latin typeface="CourtBT"/>
              </a:rPr>
              <a:t>결정끼리의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 계면에 유리층으로 된 입계층이 존재하지 않는 </a:t>
            </a:r>
            <a:r>
              <a:rPr lang="ko-KR" altLang="en-US" sz="1200" b="0" i="0" u="none" strike="noStrike" baseline="0" dirty="0" err="1">
                <a:solidFill>
                  <a:srgbClr val="FF0000"/>
                </a:solidFill>
                <a:latin typeface="CourtBT"/>
              </a:rPr>
              <a:t>것</a:t>
            </a:r>
            <a:r>
              <a:rPr lang="ko-KR" altLang="en-US" sz="1200" b="0" i="0" u="none" strike="noStrike" baseline="0" dirty="0" err="1">
                <a:latin typeface="CourtBT"/>
              </a:rPr>
              <a:t>’을</a:t>
            </a:r>
            <a:r>
              <a:rPr lang="ko-KR" altLang="en-US" sz="1200" b="0" i="0" u="none" strike="noStrike" baseline="0" dirty="0">
                <a:latin typeface="CourtBT"/>
              </a:rPr>
              <a:t> 구성요소로 하는 반면</a:t>
            </a:r>
            <a:r>
              <a:rPr lang="en-US" altLang="ko-KR" sz="1200" b="0" i="0" u="none" strike="noStrike" baseline="0" dirty="0">
                <a:latin typeface="CourtBT"/>
              </a:rPr>
              <a:t>, </a:t>
            </a:r>
            <a:r>
              <a:rPr lang="ko-KR" altLang="en-US" sz="1200" b="0" i="0" u="none" strike="noStrike" baseline="0" dirty="0">
                <a:latin typeface="CourtBT"/>
              </a:rPr>
              <a:t>선행발명 </a:t>
            </a:r>
            <a:r>
              <a:rPr lang="en-US" altLang="ko-KR" sz="1200" b="0" i="0" u="none" strike="noStrike" baseline="0" dirty="0">
                <a:latin typeface="CourtBT"/>
              </a:rPr>
              <a:t>1</a:t>
            </a:r>
            <a:r>
              <a:rPr lang="ko-KR" altLang="en-US" sz="1200" b="0" i="0" u="none" strike="noStrike" baseline="0" dirty="0">
                <a:latin typeface="CourtBT"/>
              </a:rPr>
              <a:t>에는 이에 대응하는 기재가 없고</a:t>
            </a:r>
            <a:r>
              <a:rPr lang="en-US" altLang="ko-KR" sz="1200" b="0" i="0" u="none" strike="noStrike" baseline="0" dirty="0">
                <a:latin typeface="CourtBT"/>
              </a:rPr>
              <a:t>(</a:t>
            </a:r>
            <a:r>
              <a:rPr lang="ko-KR" altLang="en-US" sz="1200" b="0" i="0" u="none" strike="noStrike" baseline="0" dirty="0">
                <a:latin typeface="CourtBT"/>
              </a:rPr>
              <a:t>차이점 </a:t>
            </a:r>
            <a:r>
              <a:rPr lang="en-US" altLang="ko-KR" sz="1200" b="0" i="0" u="none" strike="noStrike" baseline="0" dirty="0">
                <a:latin typeface="CourtBT"/>
              </a:rPr>
              <a:t>1), </a:t>
            </a:r>
            <a:r>
              <a:rPr lang="ko-KR" altLang="en-US" sz="1200" b="0" i="0" u="none" strike="noStrike" baseline="0" dirty="0">
                <a:latin typeface="CourtBT"/>
              </a:rPr>
              <a:t>이 사건 제</a:t>
            </a:r>
            <a:r>
              <a:rPr lang="en-US" altLang="ko-KR" sz="1200" b="0" i="0" u="none" strike="noStrike" baseline="0" dirty="0">
                <a:latin typeface="CourtBT"/>
              </a:rPr>
              <a:t>1</a:t>
            </a:r>
            <a:r>
              <a:rPr lang="ko-KR" altLang="en-US" sz="1200" b="0" i="0" u="none" strike="noStrike" baseline="0" dirty="0">
                <a:latin typeface="CourtBT"/>
              </a:rPr>
              <a:t>항 발명은 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‘구조물의 일부가 기재 표면으로 먹어 들어간 </a:t>
            </a:r>
            <a:r>
              <a:rPr lang="ko-KR" altLang="en-US" sz="1200" b="0" i="0" u="none" strike="noStrike" baseline="0" dirty="0" err="1">
                <a:solidFill>
                  <a:srgbClr val="FF0000"/>
                </a:solidFill>
                <a:latin typeface="CourtBT"/>
              </a:rPr>
              <a:t>앵커부</a:t>
            </a:r>
            <a:r>
              <a:rPr lang="ko-KR" altLang="en-US" sz="1200" b="0" i="0" u="none" strike="noStrike" baseline="0" dirty="0" err="1">
                <a:latin typeface="CourtBT"/>
              </a:rPr>
              <a:t>’를</a:t>
            </a:r>
            <a:r>
              <a:rPr lang="ko-KR" altLang="en-US" sz="1200" b="0" i="0" u="none" strike="noStrike" baseline="0" dirty="0">
                <a:latin typeface="CourtBT"/>
              </a:rPr>
              <a:t> 구성요소로 하는데</a:t>
            </a:r>
            <a:r>
              <a:rPr lang="en-US" altLang="ko-KR" sz="1200" b="0" i="0" u="none" strike="noStrike" baseline="0" dirty="0">
                <a:latin typeface="CourtBT"/>
              </a:rPr>
              <a:t>, </a:t>
            </a:r>
            <a:r>
              <a:rPr lang="ko-KR" altLang="en-US" sz="1200" b="0" i="0" u="none" strike="noStrike" baseline="0" dirty="0">
                <a:latin typeface="CourtBT"/>
              </a:rPr>
              <a:t>선행발명 </a:t>
            </a:r>
            <a:r>
              <a:rPr lang="en-US" altLang="ko-KR" sz="1200" b="0" i="0" u="none" strike="noStrike" baseline="0" dirty="0">
                <a:latin typeface="CourtBT"/>
              </a:rPr>
              <a:t>1</a:t>
            </a:r>
            <a:r>
              <a:rPr lang="ko-KR" altLang="en-US" sz="1200" b="0" i="0" u="none" strike="noStrike" baseline="0" dirty="0">
                <a:latin typeface="CourtBT"/>
              </a:rPr>
              <a:t>에는 ‘</a:t>
            </a:r>
            <a:r>
              <a:rPr lang="en-US" altLang="ko-KR" sz="1200" b="0" i="0" u="none" strike="noStrike" baseline="0" dirty="0">
                <a:latin typeface="CourtBT"/>
              </a:rPr>
              <a:t>100-150nm </a:t>
            </a:r>
            <a:r>
              <a:rPr lang="ko-KR" altLang="en-US" sz="1200" b="0" i="0" u="none" strike="noStrike" baseline="0" dirty="0">
                <a:latin typeface="CourtBT"/>
              </a:rPr>
              <a:t>두께의 손상층은 </a:t>
            </a:r>
            <a:r>
              <a:rPr lang="ko-KR" altLang="en-US" sz="1200" b="0" i="0" u="none" strike="noStrike" baseline="0" dirty="0" err="1">
                <a:latin typeface="CourtBT"/>
              </a:rPr>
              <a:t>증착되는</a:t>
            </a:r>
            <a:r>
              <a:rPr lang="ko-KR" altLang="en-US" sz="1200" b="0" i="0" u="none" strike="noStrike" baseline="0" dirty="0">
                <a:latin typeface="CourtBT"/>
              </a:rPr>
              <a:t> </a:t>
            </a:r>
            <a:r>
              <a:rPr lang="ko-KR" altLang="en-US" sz="1200" b="0" i="0" u="none" strike="noStrike" baseline="0" dirty="0" err="1">
                <a:latin typeface="CourtBT"/>
              </a:rPr>
              <a:t>동안초미세</a:t>
            </a:r>
            <a:r>
              <a:rPr lang="ko-KR" altLang="en-US" sz="1200" b="0" i="0" u="none" strike="noStrike" baseline="0" dirty="0">
                <a:latin typeface="CourtBT"/>
              </a:rPr>
              <a:t> </a:t>
            </a:r>
            <a:r>
              <a:rPr lang="en-US" altLang="ko-KR" sz="1200" b="0" i="0" u="none" strike="noStrike" baseline="0" dirty="0">
                <a:latin typeface="CourtBT"/>
              </a:rPr>
              <a:t>PZT </a:t>
            </a:r>
            <a:r>
              <a:rPr lang="ko-KR" altLang="en-US" sz="1200" b="0" i="0" u="none" strike="noStrike" baseline="0" dirty="0">
                <a:latin typeface="CourtBT"/>
              </a:rPr>
              <a:t>입자들의 기계적 충격</a:t>
            </a:r>
            <a:r>
              <a:rPr lang="en-US" altLang="ko-KR" sz="1200" b="0" i="0" u="none" strike="noStrike" baseline="0" dirty="0">
                <a:latin typeface="CourtBT"/>
              </a:rPr>
              <a:t>(anchor)</a:t>
            </a:r>
            <a:r>
              <a:rPr lang="ko-KR" altLang="en-US" sz="1200" b="0" i="0" u="none" strike="noStrike" baseline="0" dirty="0">
                <a:latin typeface="CourtBT"/>
              </a:rPr>
              <a:t>부로 되어 있다’고 기재되어 있다</a:t>
            </a:r>
            <a:r>
              <a:rPr lang="en-US" altLang="ko-KR" sz="1200" b="0" i="0" u="none" strike="noStrike" baseline="0" dirty="0">
                <a:latin typeface="CourtBT"/>
              </a:rPr>
              <a:t>(</a:t>
            </a:r>
            <a:r>
              <a:rPr lang="ko-KR" altLang="en-US" sz="1200" b="0" i="0" u="none" strike="noStrike" baseline="0" dirty="0">
                <a:latin typeface="CourtBT"/>
              </a:rPr>
              <a:t>차이점 </a:t>
            </a:r>
            <a:r>
              <a:rPr lang="en-US" altLang="ko-KR" sz="1200" b="0" i="0" u="none" strike="noStrike" baseline="0" dirty="0">
                <a:latin typeface="CourtBT"/>
              </a:rPr>
              <a:t>2).</a:t>
            </a:r>
          </a:p>
          <a:p>
            <a:pPr algn="just"/>
            <a:r>
              <a:rPr lang="en-US" altLang="ko-KR" sz="1200" b="0" i="0" u="none" strike="noStrike" baseline="0" dirty="0">
                <a:solidFill>
                  <a:srgbClr val="FF0000"/>
                </a:solidFill>
                <a:latin typeface="CourtBT"/>
              </a:rPr>
              <a:t>(4) 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차이점 </a:t>
            </a:r>
            <a:r>
              <a:rPr lang="en-US" altLang="ko-KR" sz="1200" b="0" i="0" u="none" strike="noStrike" baseline="0" dirty="0">
                <a:solidFill>
                  <a:srgbClr val="FF0000"/>
                </a:solidFill>
                <a:latin typeface="CourtBT"/>
              </a:rPr>
              <a:t>1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에 대하여</a:t>
            </a:r>
          </a:p>
          <a:p>
            <a:pPr algn="just"/>
            <a:r>
              <a:rPr lang="en-US" altLang="ko-KR" sz="1200" b="0" i="0" u="none" strike="noStrike" baseline="0" dirty="0">
                <a:latin typeface="CourtBT"/>
              </a:rPr>
              <a:t>(</a:t>
            </a:r>
            <a:r>
              <a:rPr lang="ko-KR" altLang="en-US" sz="1200" b="0" i="0" u="none" strike="noStrike" baseline="0" dirty="0">
                <a:latin typeface="CourtBT"/>
              </a:rPr>
              <a:t>가</a:t>
            </a:r>
            <a:r>
              <a:rPr lang="en-US" altLang="ko-KR" sz="1200" b="0" i="0" u="none" strike="noStrike" baseline="0" dirty="0">
                <a:latin typeface="CourtBT"/>
              </a:rPr>
              <a:t>) </a:t>
            </a:r>
            <a:r>
              <a:rPr lang="ko-KR" altLang="en-US" sz="1200" b="0" i="0" u="none" strike="noStrike" baseline="0" dirty="0">
                <a:latin typeface="CourtBT"/>
              </a:rPr>
              <a:t>이 사건 제</a:t>
            </a:r>
            <a:r>
              <a:rPr lang="en-US" altLang="ko-KR" sz="1200" b="0" i="0" u="none" strike="noStrike" baseline="0" dirty="0">
                <a:latin typeface="CourtBT"/>
              </a:rPr>
              <a:t>1</a:t>
            </a:r>
            <a:r>
              <a:rPr lang="ko-KR" altLang="en-US" sz="1200" b="0" i="0" u="none" strike="noStrike" baseline="0" dirty="0">
                <a:latin typeface="CourtBT"/>
              </a:rPr>
              <a:t>항 발명의 명세서에는 사전처리를 통하여 </a:t>
            </a:r>
            <a:r>
              <a:rPr lang="ko-KR" altLang="en-US" sz="1200" b="0" i="0" u="none" strike="noStrike" baseline="0" dirty="0" err="1">
                <a:latin typeface="CourtBT"/>
              </a:rPr>
              <a:t>취성</a:t>
            </a:r>
            <a:r>
              <a:rPr lang="ko-KR" altLang="en-US" sz="1200" b="0" i="0" u="none" strike="noStrike" baseline="0" dirty="0">
                <a:latin typeface="CourtBT"/>
              </a:rPr>
              <a:t> 재료 미립자에 내부 변형을 부여하는 것이 바람직하다는 내용이 기재되어 있으나</a:t>
            </a:r>
            <a:r>
              <a:rPr lang="en-US" altLang="ko-KR" sz="1200" b="0" i="0" u="none" strike="noStrike" baseline="0" dirty="0">
                <a:latin typeface="CourtBT"/>
              </a:rPr>
              <a:t>, </a:t>
            </a:r>
            <a:r>
              <a:rPr lang="ko-KR" altLang="en-US" sz="1200" b="0" i="0" u="none" strike="noStrike" baseline="0" dirty="0">
                <a:latin typeface="CourtBT"/>
              </a:rPr>
              <a:t>선행발명 </a:t>
            </a:r>
            <a:r>
              <a:rPr lang="en-US" altLang="ko-KR" sz="1200" b="0" i="0" u="none" strike="noStrike" baseline="0" dirty="0">
                <a:latin typeface="CourtBT"/>
              </a:rPr>
              <a:t>1</a:t>
            </a:r>
            <a:r>
              <a:rPr lang="ko-KR" altLang="en-US" sz="1200" b="0" i="0" u="none" strike="noStrike" baseline="0" dirty="0">
                <a:latin typeface="CourtBT"/>
              </a:rPr>
              <a:t>에는 이에 관한 언급이 없고</a:t>
            </a:r>
            <a:r>
              <a:rPr lang="en-US" altLang="ko-KR" sz="1200" b="0" i="0" u="none" strike="noStrike" baseline="0" dirty="0">
                <a:latin typeface="CourtBT"/>
              </a:rPr>
              <a:t>, </a:t>
            </a:r>
            <a:r>
              <a:rPr lang="ko-KR" altLang="en-US" sz="1200" b="0" i="0" u="none" strike="noStrike" baseline="0" dirty="0">
                <a:latin typeface="CourtBT"/>
              </a:rPr>
              <a:t>이 사건 제</a:t>
            </a:r>
            <a:r>
              <a:rPr lang="en-US" altLang="ko-KR" sz="1200" b="0" i="0" u="none" strike="noStrike" baseline="0" dirty="0">
                <a:latin typeface="CourtBT"/>
              </a:rPr>
              <a:t>1</a:t>
            </a:r>
            <a:r>
              <a:rPr lang="ko-KR" altLang="en-US" sz="1200" b="0" i="0" u="none" strike="noStrike" baseline="0" dirty="0">
                <a:latin typeface="CourtBT"/>
              </a:rPr>
              <a:t>항 발명은 ‘원료 미립자의 파쇄로부터 </a:t>
            </a:r>
            <a:r>
              <a:rPr lang="ko-KR" altLang="en-US" sz="1200" b="0" i="0" u="none" strike="noStrike" baseline="0" dirty="0" err="1">
                <a:latin typeface="CourtBT"/>
              </a:rPr>
              <a:t>재결합까지가</a:t>
            </a:r>
            <a:r>
              <a:rPr lang="ko-KR" altLang="en-US" sz="1200" b="0" i="0" u="none" strike="noStrike" baseline="0" dirty="0">
                <a:latin typeface="CourtBT"/>
              </a:rPr>
              <a:t> 순간적으로 행해지기 때문에 결합 시에 미세 단편 입자들의 표면 부근에서 원자의 확산이 거의 일어나지 않고</a:t>
            </a:r>
            <a:r>
              <a:rPr lang="en-US" altLang="ko-KR" sz="1200" b="0" i="0" u="none" strike="noStrike" baseline="0" dirty="0">
                <a:latin typeface="CourtBT"/>
              </a:rPr>
              <a:t>, </a:t>
            </a:r>
            <a:r>
              <a:rPr lang="ko-KR" altLang="en-US" sz="1200" b="0" i="0" u="none" strike="noStrike" baseline="0" dirty="0">
                <a:latin typeface="CourtBT"/>
              </a:rPr>
              <a:t>따라서 </a:t>
            </a:r>
            <a:r>
              <a:rPr lang="ko-KR" altLang="en-US" sz="1200" b="0" i="0" u="none" strike="noStrike" baseline="0" dirty="0" err="1">
                <a:latin typeface="CourtBT"/>
              </a:rPr>
              <a:t>결정자끼리의</a:t>
            </a:r>
            <a:r>
              <a:rPr lang="ko-KR" altLang="en-US" sz="1200" b="0" i="0" u="none" strike="noStrike" baseline="0" dirty="0">
                <a:latin typeface="CourtBT"/>
              </a:rPr>
              <a:t> 계면의 원자 배열에 흐트러짐이 없으며</a:t>
            </a:r>
            <a:r>
              <a:rPr lang="en-US" altLang="ko-KR" sz="1200" b="0" i="0" u="none" strike="noStrike" baseline="0" dirty="0">
                <a:latin typeface="CourtBT"/>
              </a:rPr>
              <a:t>, </a:t>
            </a:r>
            <a:r>
              <a:rPr lang="ko-KR" altLang="en-US" sz="1200" b="0" i="0" u="none" strike="noStrike" baseline="0" dirty="0" err="1">
                <a:latin typeface="CourtBT"/>
              </a:rPr>
              <a:t>용해층인</a:t>
            </a:r>
            <a:r>
              <a:rPr lang="ko-KR" altLang="en-US" sz="1200" b="0" i="0" u="none" strike="noStrike" baseline="0" dirty="0">
                <a:latin typeface="CourtBT"/>
              </a:rPr>
              <a:t> </a:t>
            </a:r>
            <a:r>
              <a:rPr lang="ko-KR" altLang="en-US" sz="1200" b="0" i="0" u="none" strike="noStrike" baseline="0" dirty="0" err="1">
                <a:latin typeface="CourtBT"/>
              </a:rPr>
              <a:t>입계층</a:t>
            </a:r>
            <a:r>
              <a:rPr lang="en-US" altLang="ko-KR" sz="1200" b="0" i="0" u="none" strike="noStrike" baseline="0" dirty="0">
                <a:latin typeface="CourtBT"/>
              </a:rPr>
              <a:t>(</a:t>
            </a:r>
            <a:r>
              <a:rPr lang="ko-KR" altLang="en-US" sz="1200" b="0" i="0" u="none" strike="noStrike" baseline="0" dirty="0" err="1">
                <a:latin typeface="CourtBT"/>
              </a:rPr>
              <a:t>유리층</a:t>
            </a:r>
            <a:r>
              <a:rPr lang="en-US" altLang="ko-KR" sz="1200" b="0" i="0" u="none" strike="noStrike" baseline="0" dirty="0">
                <a:latin typeface="CourtBT"/>
              </a:rPr>
              <a:t>)</a:t>
            </a:r>
            <a:r>
              <a:rPr lang="ko-KR" altLang="en-US" sz="1200" b="0" i="0" u="none" strike="noStrike" baseline="0" dirty="0">
                <a:latin typeface="CourtBT"/>
              </a:rPr>
              <a:t>은 거의 형성되지 </a:t>
            </a:r>
            <a:r>
              <a:rPr lang="ko-KR" altLang="en-US" sz="1200" b="0" i="0" u="none" strike="noStrike" baseline="0" dirty="0" err="1">
                <a:latin typeface="CourtBT"/>
              </a:rPr>
              <a:t>않는다’고</a:t>
            </a:r>
            <a:r>
              <a:rPr lang="ko-KR" altLang="en-US" sz="1200" b="0" i="0" u="none" strike="noStrike" baseline="0" dirty="0">
                <a:latin typeface="CourtBT"/>
              </a:rPr>
              <a:t> 그 결합 원리를 설명하는 반면</a:t>
            </a:r>
            <a:r>
              <a:rPr lang="en-US" altLang="ko-KR" sz="1200" b="0" i="0" u="none" strike="noStrike" baseline="0" dirty="0">
                <a:latin typeface="CourtBT"/>
              </a:rPr>
              <a:t>, 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선행발명 </a:t>
            </a:r>
            <a:r>
              <a:rPr lang="en-US" altLang="ko-KR" sz="1200" b="0" i="0" u="none" strike="noStrike" baseline="0" dirty="0">
                <a:solidFill>
                  <a:srgbClr val="FF0000"/>
                </a:solidFill>
                <a:latin typeface="CourtBT"/>
              </a:rPr>
              <a:t>1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은 위와 같은 우수한 효과를 내는 실제 결합 메커니즘은 규명되지 않았다고 하고 있다</a:t>
            </a:r>
            <a:r>
              <a:rPr lang="en-US" altLang="ko-KR" sz="1200" b="0" i="0" u="none" strike="noStrike" baseline="0" dirty="0">
                <a:solidFill>
                  <a:srgbClr val="FF0000"/>
                </a:solidFill>
                <a:latin typeface="CourtBT"/>
              </a:rPr>
              <a:t>.</a:t>
            </a:r>
          </a:p>
          <a:p>
            <a:pPr algn="just"/>
            <a:r>
              <a:rPr lang="en-US" altLang="ko-KR" sz="1200" b="0" i="0" u="none" strike="noStrike" baseline="0" dirty="0">
                <a:latin typeface="CourtBT"/>
              </a:rPr>
              <a:t>(</a:t>
            </a:r>
            <a:r>
              <a:rPr lang="ko-KR" altLang="en-US" sz="1200" b="0" i="0" u="none" strike="noStrike" baseline="0" dirty="0">
                <a:latin typeface="CourtBT"/>
              </a:rPr>
              <a:t>나</a:t>
            </a:r>
            <a:r>
              <a:rPr lang="en-US" altLang="ko-KR" sz="1200" b="0" i="0" u="none" strike="noStrike" baseline="0" dirty="0">
                <a:latin typeface="CourtBT"/>
              </a:rPr>
              <a:t>) </a:t>
            </a:r>
            <a:r>
              <a:rPr lang="ko-KR" altLang="en-US" sz="1200" b="0" i="0" u="none" strike="noStrike" baseline="0" dirty="0">
                <a:latin typeface="CourtBT"/>
              </a:rPr>
              <a:t>한편</a:t>
            </a:r>
            <a:r>
              <a:rPr lang="en-US" altLang="ko-KR" sz="1200" b="0" i="0" u="none" strike="noStrike" baseline="0" dirty="0">
                <a:latin typeface="CourtBT"/>
              </a:rPr>
              <a:t>, </a:t>
            </a:r>
            <a:r>
              <a:rPr lang="ko-KR" altLang="en-US" sz="1200" b="0" i="0" u="none" strike="noStrike" baseline="0" dirty="0">
                <a:latin typeface="CourtBT"/>
              </a:rPr>
              <a:t>이 사건 특허발명의 공동발명자 중 </a:t>
            </a:r>
            <a:r>
              <a:rPr lang="en-US" altLang="ko-KR" sz="1200" b="0" i="0" u="none" strike="noStrike" baseline="0" dirty="0">
                <a:latin typeface="CourtBT"/>
              </a:rPr>
              <a:t>1</a:t>
            </a:r>
            <a:r>
              <a:rPr lang="ko-KR" altLang="en-US" sz="1200" b="0" i="0" u="none" strike="noStrike" baseline="0" dirty="0">
                <a:latin typeface="CourtBT"/>
              </a:rPr>
              <a:t>인인 소외인이 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이 사건 특허발명의 우선일인 </a:t>
            </a:r>
            <a:r>
              <a:rPr lang="en-US" altLang="ko-KR" sz="1200" b="0" i="0" u="none" strike="noStrike" baseline="0" dirty="0">
                <a:solidFill>
                  <a:srgbClr val="FF0000"/>
                </a:solidFill>
                <a:latin typeface="CourtBT"/>
              </a:rPr>
              <a:t>1999. 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F2071B-5AAB-44E2-AB08-E3089C232D78}"/>
              </a:ext>
            </a:extLst>
          </p:cNvPr>
          <p:cNvSpPr txBox="1"/>
          <p:nvPr/>
        </p:nvSpPr>
        <p:spPr>
          <a:xfrm>
            <a:off x="6095999" y="3146775"/>
            <a:ext cx="61333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200" b="0" i="0" u="none" strike="noStrike" baseline="0" dirty="0">
                <a:solidFill>
                  <a:srgbClr val="FF0000"/>
                </a:solidFill>
                <a:latin typeface="CourtBT"/>
              </a:rPr>
              <a:t>10. 12. 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이후인 </a:t>
            </a:r>
            <a:r>
              <a:rPr lang="en-US" altLang="ko-KR" sz="1200" b="0" i="0" u="none" strike="noStrike" baseline="0" dirty="0">
                <a:solidFill>
                  <a:srgbClr val="FF0000"/>
                </a:solidFill>
                <a:latin typeface="CourtBT"/>
              </a:rPr>
              <a:t>2002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년경 공동저자</a:t>
            </a:r>
            <a:r>
              <a:rPr lang="ko-KR" altLang="en-US" sz="1200" b="0" i="0" u="none" strike="noStrike" baseline="0" dirty="0">
                <a:latin typeface="CourtBT"/>
              </a:rPr>
              <a:t>로 발표한 선행발명 </a:t>
            </a:r>
            <a:r>
              <a:rPr lang="en-US" altLang="ko-KR" sz="1200" b="0" i="0" u="none" strike="noStrike" baseline="0" dirty="0">
                <a:latin typeface="CourtBT"/>
              </a:rPr>
              <a:t>1</a:t>
            </a:r>
            <a:r>
              <a:rPr lang="ko-KR" altLang="en-US" sz="1200" b="0" i="0" u="none" strike="noStrike" baseline="0" dirty="0">
                <a:latin typeface="CourtBT"/>
              </a:rPr>
              <a:t>과 동일한 제막 방식의 막 형상 구조물에 관한 논문 “미립자</a:t>
            </a:r>
            <a:r>
              <a:rPr lang="en-US" altLang="ko-KR" sz="1200" b="0" i="0" u="none" strike="noStrike" baseline="0" dirty="0">
                <a:latin typeface="CourtBT"/>
              </a:rPr>
              <a:t>, </a:t>
            </a:r>
            <a:r>
              <a:rPr lang="ko-KR" altLang="en-US" sz="1200" b="0" i="0" u="none" strike="noStrike" baseline="0" dirty="0">
                <a:latin typeface="CourtBT"/>
              </a:rPr>
              <a:t>초미립자의 충돌 고화 현상을 이용한 세라믹 박막 형성 기술”</a:t>
            </a:r>
            <a:r>
              <a:rPr lang="en-US" altLang="ko-KR" sz="1200" b="0" i="0" u="none" strike="noStrike" baseline="0" dirty="0">
                <a:latin typeface="CourtBT"/>
              </a:rPr>
              <a:t>(</a:t>
            </a:r>
            <a:r>
              <a:rPr lang="ko-KR" altLang="en-US" sz="1200" b="0" i="0" u="none" strike="noStrike" baseline="0" dirty="0">
                <a:latin typeface="CourtBT"/>
              </a:rPr>
              <a:t>갑 제</a:t>
            </a:r>
            <a:r>
              <a:rPr lang="en-US" altLang="ko-KR" sz="1200" b="0" i="0" u="none" strike="noStrike" baseline="0" dirty="0">
                <a:latin typeface="CourtBT"/>
              </a:rPr>
              <a:t>12</a:t>
            </a:r>
            <a:r>
              <a:rPr lang="ko-KR" altLang="en-US" sz="1200" b="0" i="0" u="none" strike="noStrike" baseline="0" dirty="0" err="1">
                <a:latin typeface="CourtBT"/>
              </a:rPr>
              <a:t>호증</a:t>
            </a:r>
            <a:r>
              <a:rPr lang="en-US" altLang="ko-KR" sz="1200" b="0" i="0" u="none" strike="noStrike" baseline="0" dirty="0">
                <a:latin typeface="CourtBT"/>
              </a:rPr>
              <a:t>)</a:t>
            </a:r>
            <a:r>
              <a:rPr lang="ko-KR" altLang="en-US" sz="1200" b="0" i="0" u="none" strike="noStrike" baseline="0" dirty="0">
                <a:latin typeface="CourtBT"/>
              </a:rPr>
              <a:t>에서는</a:t>
            </a:r>
            <a:r>
              <a:rPr lang="en-US" altLang="ko-KR" sz="1200" b="0" i="0" u="none" strike="noStrike" baseline="0" dirty="0">
                <a:latin typeface="CourtBT"/>
              </a:rPr>
              <a:t>, </a:t>
            </a:r>
            <a:r>
              <a:rPr lang="ko-KR" altLang="en-US" sz="1200" b="0" i="0" u="none" strike="noStrike" baseline="0" dirty="0">
                <a:latin typeface="CourtBT"/>
              </a:rPr>
              <a:t>선행발명 </a:t>
            </a:r>
            <a:r>
              <a:rPr lang="en-US" altLang="ko-KR" sz="1200" b="0" i="0" u="none" strike="noStrike" baseline="0" dirty="0">
                <a:latin typeface="CourtBT"/>
              </a:rPr>
              <a:t>1</a:t>
            </a:r>
            <a:r>
              <a:rPr lang="ko-KR" altLang="en-US" sz="1200" b="0" i="0" u="none" strike="noStrike" baseline="0" dirty="0">
                <a:latin typeface="CourtBT"/>
              </a:rPr>
              <a:t>의 막 형상 구조물에 대한 </a:t>
            </a:r>
            <a:r>
              <a:rPr lang="en-US" altLang="ko-KR" sz="1200" b="0" i="0" u="none" strike="noStrike" baseline="0" dirty="0">
                <a:latin typeface="CourtBT"/>
              </a:rPr>
              <a:t>TEM(</a:t>
            </a:r>
            <a:r>
              <a:rPr lang="ko-KR" altLang="en-US" sz="1200" b="0" i="0" u="none" strike="noStrike" baseline="0" dirty="0">
                <a:latin typeface="CourtBT"/>
              </a:rPr>
              <a:t>투과전자현미경</a:t>
            </a:r>
            <a:r>
              <a:rPr lang="en-US" altLang="ko-KR" sz="1200" b="0" i="0" u="none" strike="noStrike" baseline="0" dirty="0">
                <a:latin typeface="CourtBT"/>
              </a:rPr>
              <a:t>) </a:t>
            </a:r>
            <a:r>
              <a:rPr lang="ko-KR" altLang="en-US" sz="1200" b="0" i="0" u="none" strike="noStrike" baseline="0" dirty="0">
                <a:latin typeface="CourtBT"/>
              </a:rPr>
              <a:t>촬영 사진과 이보다 더 개선된 방식인 </a:t>
            </a:r>
            <a:r>
              <a:rPr lang="en-US" altLang="ko-KR" sz="1200" b="0" i="0" u="none" strike="noStrike" baseline="0" dirty="0">
                <a:latin typeface="CourtBT"/>
              </a:rPr>
              <a:t>HR TEM(</a:t>
            </a:r>
            <a:r>
              <a:rPr lang="ko-KR" altLang="en-US" sz="1200" b="0" i="0" u="none" strike="noStrike" baseline="0" dirty="0">
                <a:latin typeface="CourtBT"/>
              </a:rPr>
              <a:t>고분해능 투과전자현미경</a:t>
            </a:r>
            <a:r>
              <a:rPr lang="en-US" altLang="ko-KR" sz="1200" b="0" i="0" u="none" strike="noStrike" baseline="0" dirty="0">
                <a:latin typeface="CourtBT"/>
              </a:rPr>
              <a:t>) </a:t>
            </a:r>
            <a:r>
              <a:rPr lang="ko-KR" altLang="en-US" sz="1200" b="0" i="0" u="none" strike="noStrike" baseline="0" dirty="0">
                <a:latin typeface="CourtBT"/>
              </a:rPr>
              <a:t>촬영 사진을 개시하고</a:t>
            </a:r>
            <a:r>
              <a:rPr lang="en-US" altLang="ko-KR" sz="1200" b="0" i="0" u="none" strike="noStrike" baseline="0" dirty="0">
                <a:latin typeface="CourtBT"/>
              </a:rPr>
              <a:t>[</a:t>
            </a:r>
            <a:r>
              <a:rPr lang="ko-KR" altLang="en-US" sz="1200" b="0" i="0" u="none" strike="noStrike" baseline="0" dirty="0">
                <a:latin typeface="CourtBT"/>
              </a:rPr>
              <a:t>도</a:t>
            </a:r>
            <a:r>
              <a:rPr lang="en-US" altLang="ko-KR" sz="1200" b="0" i="0" u="none" strike="noStrike" baseline="0" dirty="0">
                <a:latin typeface="CourtBT"/>
              </a:rPr>
              <a:t>6(a),(b)] ‘</a:t>
            </a:r>
            <a:r>
              <a:rPr lang="ko-KR" altLang="en-US" sz="1200" b="0" i="0" u="none" strike="noStrike" baseline="0" dirty="0">
                <a:latin typeface="CourtBT"/>
              </a:rPr>
              <a:t>이들은 가열 없이 </a:t>
            </a:r>
            <a:r>
              <a:rPr lang="en-US" altLang="ko-KR" sz="1200" b="0" i="0" u="none" strike="noStrike" baseline="0" dirty="0">
                <a:latin typeface="CourtBT"/>
              </a:rPr>
              <a:t>Si </a:t>
            </a:r>
            <a:r>
              <a:rPr lang="ko-KR" altLang="en-US" sz="1200" b="0" i="0" u="none" strike="noStrike" baseline="0" dirty="0">
                <a:latin typeface="CourtBT"/>
              </a:rPr>
              <a:t>기판 상에 실온 </a:t>
            </a:r>
            <a:r>
              <a:rPr lang="ko-KR" altLang="en-US" sz="1200" b="0" i="0" u="none" strike="noStrike" baseline="0" dirty="0" err="1">
                <a:latin typeface="CourtBT"/>
              </a:rPr>
              <a:t>성막된</a:t>
            </a:r>
            <a:r>
              <a:rPr lang="ko-KR" altLang="en-US" sz="1200" b="0" i="0" u="none" strike="noStrike" baseline="0" dirty="0">
                <a:latin typeface="CourtBT"/>
              </a:rPr>
              <a:t> </a:t>
            </a:r>
            <a:r>
              <a:rPr lang="en-US" altLang="ko-KR" sz="1200" b="0" i="0" u="none" strike="noStrike" baseline="0" dirty="0">
                <a:latin typeface="CourtBT"/>
              </a:rPr>
              <a:t>PZT </a:t>
            </a:r>
            <a:r>
              <a:rPr lang="ko-KR" altLang="en-US" sz="1200" b="0" i="0" u="none" strike="noStrike" baseline="0" dirty="0">
                <a:latin typeface="CourtBT"/>
              </a:rPr>
              <a:t>후막의 열처리 전후의 </a:t>
            </a:r>
            <a:r>
              <a:rPr lang="en-US" altLang="ko-KR" sz="1200" b="0" i="0" u="none" strike="noStrike" baseline="0" dirty="0">
                <a:latin typeface="CourtBT"/>
              </a:rPr>
              <a:t>TEM </a:t>
            </a:r>
            <a:r>
              <a:rPr lang="ko-KR" altLang="en-US" sz="1200" b="0" i="0" u="none" strike="noStrike" baseline="0" dirty="0">
                <a:latin typeface="CourtBT"/>
              </a:rPr>
              <a:t>이미지이다</a:t>
            </a:r>
            <a:r>
              <a:rPr lang="en-US" altLang="ko-KR" sz="1200" b="0" i="0" u="none" strike="noStrike" baseline="0" dirty="0">
                <a:latin typeface="CourtBT"/>
              </a:rPr>
              <a:t>. </a:t>
            </a:r>
            <a:r>
              <a:rPr lang="ko-KR" altLang="en-US" sz="1200" b="0" i="0" u="none" strike="noStrike" baseline="0" dirty="0">
                <a:latin typeface="CourtBT"/>
              </a:rPr>
              <a:t>막 안에 원료분말의 형태는 관찰되지 않고</a:t>
            </a:r>
            <a:r>
              <a:rPr lang="en-US" altLang="ko-KR" sz="1200" b="0" i="0" u="none" strike="noStrike" baseline="0" dirty="0">
                <a:latin typeface="CourtBT"/>
              </a:rPr>
              <a:t>, </a:t>
            </a:r>
            <a:r>
              <a:rPr lang="ko-KR" altLang="en-US" sz="1200" b="0" i="0" u="none" strike="noStrike" baseline="0" dirty="0">
                <a:latin typeface="CourtBT"/>
              </a:rPr>
              <a:t>각각의 결정은 서로 결합되어 치밀한 막을 형성하고 있다</a:t>
            </a:r>
            <a:r>
              <a:rPr lang="en-US" altLang="ko-KR" sz="1200" b="0" i="0" u="none" strike="noStrike" baseline="0" dirty="0">
                <a:latin typeface="CourtBT"/>
              </a:rPr>
              <a:t>. </a:t>
            </a:r>
            <a:r>
              <a:rPr lang="ko-KR" altLang="en-US" sz="1200" b="0" i="0" u="none" strike="noStrike" baseline="0" dirty="0">
                <a:latin typeface="CourtBT"/>
              </a:rPr>
              <a:t>또한 막 안에는 원료분말에 가까운 크기의 결정자가 부분적으로 보이지만</a:t>
            </a:r>
            <a:r>
              <a:rPr lang="en-US" altLang="ko-KR" sz="1200" b="0" i="0" u="none" strike="noStrike" baseline="0" dirty="0">
                <a:latin typeface="CourtBT"/>
              </a:rPr>
              <a:t>, HR TEM </a:t>
            </a:r>
            <a:r>
              <a:rPr lang="ko-KR" altLang="en-US" sz="1200" b="0" i="0" u="none" strike="noStrike" baseline="0" dirty="0">
                <a:latin typeface="CourtBT"/>
              </a:rPr>
              <a:t>이미지 또는 </a:t>
            </a:r>
            <a:r>
              <a:rPr lang="ko-KR" altLang="en-US" sz="1200" b="0" i="0" u="none" strike="noStrike" baseline="0" dirty="0" err="1">
                <a:latin typeface="CourtBT"/>
              </a:rPr>
              <a:t>전자선회절</a:t>
            </a:r>
            <a:r>
              <a:rPr lang="ko-KR" altLang="en-US" sz="1200" b="0" i="0" u="none" strike="noStrike" baseline="0" dirty="0">
                <a:latin typeface="CourtBT"/>
              </a:rPr>
              <a:t> </a:t>
            </a:r>
            <a:r>
              <a:rPr lang="ko-KR" altLang="en-US" sz="1200" b="0" i="0" u="none" strike="noStrike" baseline="0" dirty="0" err="1">
                <a:latin typeface="CourtBT"/>
              </a:rPr>
              <a:t>이미지로부터도</a:t>
            </a:r>
            <a:r>
              <a:rPr lang="ko-KR" altLang="en-US" sz="1200" b="0" i="0" u="none" strike="noStrike" baseline="0" dirty="0">
                <a:latin typeface="CourtBT"/>
              </a:rPr>
              <a:t> 결정자 간</a:t>
            </a:r>
            <a:r>
              <a:rPr lang="en-US" altLang="ko-KR" sz="1200" b="0" i="0" u="none" strike="noStrike" baseline="0" dirty="0">
                <a:latin typeface="CourtBT"/>
              </a:rPr>
              <a:t>, </a:t>
            </a:r>
            <a:r>
              <a:rPr lang="ko-KR" altLang="en-US" sz="1200" b="0" i="0" u="none" strike="noStrike" baseline="0" dirty="0">
                <a:latin typeface="CourtBT"/>
              </a:rPr>
              <a:t>입자 간에 </a:t>
            </a:r>
            <a:r>
              <a:rPr lang="ko-KR" altLang="en-US" sz="1200" b="0" i="0" u="none" strike="noStrike" baseline="0" dirty="0" err="1">
                <a:latin typeface="CourtBT"/>
              </a:rPr>
              <a:t>비정질층이나</a:t>
            </a:r>
            <a:r>
              <a:rPr lang="ko-KR" altLang="en-US" sz="1200" b="0" i="0" u="none" strike="noStrike" baseline="0" dirty="0">
                <a:latin typeface="CourtBT"/>
              </a:rPr>
              <a:t> 상이한 모양은 거의 볼 수 없었고</a:t>
            </a:r>
            <a:r>
              <a:rPr lang="en-US" altLang="ko-KR" sz="1200" b="0" i="0" u="none" strike="noStrike" baseline="0" dirty="0">
                <a:latin typeface="CourtBT"/>
              </a:rPr>
              <a:t>, </a:t>
            </a:r>
            <a:r>
              <a:rPr lang="ko-KR" altLang="en-US" sz="1200" b="0" i="0" u="none" strike="noStrike" baseline="0" dirty="0">
                <a:latin typeface="CourtBT"/>
              </a:rPr>
              <a:t>전체적으로 </a:t>
            </a:r>
            <a:r>
              <a:rPr lang="en-US" altLang="ko-KR" sz="1200" b="0" i="0" u="none" strike="noStrike" baseline="0" dirty="0">
                <a:latin typeface="CourtBT"/>
              </a:rPr>
              <a:t>20nm </a:t>
            </a:r>
            <a:r>
              <a:rPr lang="ko-KR" altLang="en-US" sz="1200" b="0" i="0" u="none" strike="noStrike" baseline="0" dirty="0">
                <a:latin typeface="CourtBT"/>
              </a:rPr>
              <a:t>이하의 미세결정으로 구성되어 있다’고 설명하고 있다</a:t>
            </a:r>
            <a:r>
              <a:rPr lang="en-US" altLang="ko-KR" sz="1200" b="0" i="0" u="none" strike="noStrike" baseline="0" dirty="0">
                <a:latin typeface="CourtBT"/>
              </a:rPr>
              <a:t>. 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즉</a:t>
            </a:r>
            <a:r>
              <a:rPr lang="en-US" altLang="ko-KR" sz="1200" b="0" i="0" u="none" strike="noStrike" baseline="0" dirty="0">
                <a:solidFill>
                  <a:srgbClr val="FF0000"/>
                </a:solidFill>
                <a:latin typeface="CourtBT"/>
              </a:rPr>
              <a:t>, 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위 논문에 의하면 선행발명 </a:t>
            </a:r>
            <a:r>
              <a:rPr lang="en-US" altLang="ko-KR" sz="1200" b="0" i="0" u="none" strike="noStrike" baseline="0" dirty="0">
                <a:solidFill>
                  <a:srgbClr val="FF0000"/>
                </a:solidFill>
                <a:latin typeface="CourtBT"/>
              </a:rPr>
              <a:t>1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에 개시된 사진의 막 형상 구조물 역시 결정자 사이의 계면에 </a:t>
            </a:r>
            <a:r>
              <a:rPr lang="ko-KR" altLang="en-US" sz="1200" b="0" i="0" u="none" strike="noStrike" baseline="0" dirty="0" err="1">
                <a:solidFill>
                  <a:srgbClr val="FF0000"/>
                </a:solidFill>
                <a:latin typeface="CourtBT"/>
              </a:rPr>
              <a:t>비정질층인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 입계층이 존재하지 않는다는 것이다</a:t>
            </a:r>
            <a:r>
              <a:rPr lang="en-US" altLang="ko-KR" sz="1200" b="0" i="0" u="none" strike="noStrike" baseline="0" dirty="0">
                <a:solidFill>
                  <a:srgbClr val="FF0000"/>
                </a:solidFill>
                <a:latin typeface="CourtBT"/>
              </a:rPr>
              <a:t>.</a:t>
            </a:r>
          </a:p>
          <a:p>
            <a:pPr algn="just"/>
            <a:r>
              <a:rPr lang="en-US" altLang="ko-KR" sz="1200" b="0" i="0" u="none" strike="noStrike" baseline="0" dirty="0">
                <a:latin typeface="CourtBT"/>
              </a:rPr>
              <a:t>(</a:t>
            </a:r>
            <a:r>
              <a:rPr lang="ko-KR" altLang="en-US" sz="1200" b="0" i="0" u="none" strike="noStrike" baseline="0" dirty="0">
                <a:latin typeface="CourtBT"/>
              </a:rPr>
              <a:t>다</a:t>
            </a:r>
            <a:r>
              <a:rPr lang="en-US" altLang="ko-KR" sz="1200" b="0" i="0" u="none" strike="noStrike" baseline="0" dirty="0">
                <a:latin typeface="CourtBT"/>
              </a:rPr>
              <a:t>) 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그런데 위 논문에 의하면 선행발명 </a:t>
            </a:r>
            <a:r>
              <a:rPr lang="en-US" altLang="ko-KR" sz="1200" b="0" i="0" u="none" strike="noStrike" baseline="0" dirty="0">
                <a:solidFill>
                  <a:srgbClr val="FF0000"/>
                </a:solidFill>
                <a:latin typeface="CourtBT"/>
              </a:rPr>
              <a:t>1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에 기재된 제조방법을 따른 하나의 </a:t>
            </a:r>
            <a:r>
              <a:rPr lang="ko-KR" altLang="en-US" sz="1200" b="0" i="0" u="none" strike="noStrike" baseline="0" dirty="0" err="1">
                <a:solidFill>
                  <a:srgbClr val="FF0000"/>
                </a:solidFill>
                <a:latin typeface="CourtBT"/>
              </a:rPr>
              <a:t>실시례가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 유리층으로 된 입계층이 존재하지 않는 구성을 가진다는 점은 알 수 있지만</a:t>
            </a:r>
            <a:r>
              <a:rPr lang="en-US" altLang="ko-KR" sz="1200" b="0" i="0" u="none" strike="noStrike" baseline="0" dirty="0">
                <a:solidFill>
                  <a:srgbClr val="FF0000"/>
                </a:solidFill>
                <a:latin typeface="CourtBT"/>
              </a:rPr>
              <a:t>, 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더 나아가 선행발명 </a:t>
            </a:r>
            <a:r>
              <a:rPr lang="en-US" altLang="ko-KR" sz="1200" b="0" i="0" u="none" strike="noStrike" baseline="0" dirty="0">
                <a:solidFill>
                  <a:srgbClr val="FF0000"/>
                </a:solidFill>
                <a:latin typeface="CourtBT"/>
              </a:rPr>
              <a:t>1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에 기재된 제조방법을 따랐을 때 필연적으로 </a:t>
            </a:r>
            <a:r>
              <a:rPr lang="ko-KR" altLang="en-US" sz="1200" b="0" i="0" u="none" strike="noStrike" baseline="0" dirty="0" err="1">
                <a:solidFill>
                  <a:srgbClr val="FF0000"/>
                </a:solidFill>
                <a:latin typeface="CourtBT"/>
              </a:rPr>
              <a:t>비정질층이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 존재하지 않는 결과물에 도달할 것인지를 알 수 있는 자료는 없다</a:t>
            </a:r>
            <a:r>
              <a:rPr lang="en-US" altLang="ko-KR" sz="1200" b="0" i="0" u="none" strike="noStrike" baseline="0" dirty="0">
                <a:solidFill>
                  <a:srgbClr val="FF0000"/>
                </a:solidFill>
                <a:latin typeface="CourtBT"/>
              </a:rPr>
              <a:t>.</a:t>
            </a:r>
            <a:r>
              <a:rPr lang="en-US" altLang="ko-KR" sz="1200" b="0" i="0" u="none" strike="noStrike" baseline="0" dirty="0">
                <a:latin typeface="CourtBT"/>
              </a:rPr>
              <a:t> </a:t>
            </a:r>
            <a:r>
              <a:rPr lang="ko-KR" altLang="en-US" sz="1200" b="0" i="0" u="none" strike="noStrike" baseline="0" dirty="0">
                <a:latin typeface="CourtBT"/>
              </a:rPr>
              <a:t>오히려</a:t>
            </a:r>
            <a:r>
              <a:rPr lang="en-US" altLang="ko-KR" sz="1200" b="0" i="0" u="none" strike="noStrike" baseline="0" dirty="0">
                <a:latin typeface="CourtBT"/>
              </a:rPr>
              <a:t>, </a:t>
            </a:r>
            <a:r>
              <a:rPr lang="ko-KR" altLang="en-US" sz="1200" b="0" i="0" u="none" strike="noStrike" baseline="0" dirty="0">
                <a:latin typeface="CourtBT"/>
              </a:rPr>
              <a:t>선행발명 </a:t>
            </a:r>
            <a:r>
              <a:rPr lang="en-US" altLang="ko-KR" sz="1200" b="0" i="0" u="none" strike="noStrike" baseline="0" dirty="0">
                <a:latin typeface="CourtBT"/>
              </a:rPr>
              <a:t>1</a:t>
            </a:r>
            <a:r>
              <a:rPr lang="ko-KR" altLang="en-US" sz="1200" b="0" i="0" u="none" strike="noStrike" baseline="0" dirty="0">
                <a:latin typeface="CourtBT"/>
              </a:rPr>
              <a:t>은 원료 미립자의 사전처리 공정을 언급하고 있지 않은 반면</a:t>
            </a:r>
            <a:r>
              <a:rPr lang="en-US" altLang="ko-KR" sz="1200" b="0" i="0" u="none" strike="noStrike" baseline="0" dirty="0">
                <a:latin typeface="CourtBT"/>
              </a:rPr>
              <a:t>, </a:t>
            </a:r>
            <a:r>
              <a:rPr lang="ko-KR" altLang="en-US" sz="1200" b="0" i="0" u="none" strike="noStrike" baseline="0" dirty="0">
                <a:latin typeface="CourtBT"/>
              </a:rPr>
              <a:t>이 사건 제</a:t>
            </a:r>
            <a:r>
              <a:rPr lang="en-US" altLang="ko-KR" sz="1200" b="0" i="0" u="none" strike="noStrike" baseline="0" dirty="0">
                <a:latin typeface="CourtBT"/>
              </a:rPr>
              <a:t>1</a:t>
            </a:r>
            <a:r>
              <a:rPr lang="ko-KR" altLang="en-US" sz="1200" b="0" i="0" u="none" strike="noStrike" baseline="0" dirty="0">
                <a:latin typeface="CourtBT"/>
              </a:rPr>
              <a:t>항 발명의 명세서에서는 사전처리를 통한 내부 변형의 중요성을 강조하고 있을 뿐만 아니라 적절한 내부 변형의 정도</a:t>
            </a:r>
            <a:r>
              <a:rPr lang="en-US" altLang="ko-KR" sz="1200" b="0" i="0" u="none" strike="noStrike" baseline="0" dirty="0">
                <a:latin typeface="CourtBT"/>
              </a:rPr>
              <a:t>(0.25~2.0%)</a:t>
            </a:r>
            <a:r>
              <a:rPr lang="ko-KR" altLang="en-US" sz="1200" b="0" i="0" u="none" strike="noStrike" baseline="0" dirty="0">
                <a:latin typeface="CourtBT"/>
              </a:rPr>
              <a:t>와 방법 등까지 기재하는 등으로 </a:t>
            </a:r>
            <a:r>
              <a:rPr lang="ko-KR" altLang="en-US" sz="1200" b="0" i="0" u="none" strike="noStrike" baseline="0" dirty="0" err="1">
                <a:solidFill>
                  <a:srgbClr val="FF0000"/>
                </a:solidFill>
                <a:latin typeface="CourtBT"/>
              </a:rPr>
              <a:t>비정질층이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 </a:t>
            </a:r>
            <a:r>
              <a:rPr lang="ko-KR" altLang="en-US" sz="1200" b="0" i="0" u="none" strike="noStrike" baseline="0" dirty="0" err="1">
                <a:solidFill>
                  <a:srgbClr val="FF0000"/>
                </a:solidFill>
                <a:latin typeface="CourtBT"/>
              </a:rPr>
              <a:t>부존재하는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 복합 구조물을 성공적으로 제조하기 위한 제조방법을 더 구체적으로 공개</a:t>
            </a:r>
            <a:r>
              <a:rPr lang="ko-KR" altLang="en-US" sz="1200" b="0" i="0" u="none" strike="noStrike" baseline="0" dirty="0">
                <a:latin typeface="CourtBT"/>
              </a:rPr>
              <a:t>하고 있다</a:t>
            </a:r>
            <a:r>
              <a:rPr lang="en-US" altLang="ko-KR" sz="1200" b="0" i="0" u="none" strike="noStrike" baseline="0" dirty="0">
                <a:latin typeface="CourtBT"/>
              </a:rPr>
              <a:t>.</a:t>
            </a:r>
          </a:p>
          <a:p>
            <a:pPr algn="just"/>
            <a:r>
              <a:rPr lang="en-US" altLang="ko-KR" sz="1200" b="0" i="0" u="none" strike="noStrike" baseline="0" dirty="0">
                <a:latin typeface="CourtBT"/>
              </a:rPr>
              <a:t>(</a:t>
            </a:r>
            <a:r>
              <a:rPr lang="ko-KR" altLang="en-US" sz="1200" b="0" i="0" u="none" strike="noStrike" baseline="0" dirty="0">
                <a:latin typeface="CourtBT"/>
              </a:rPr>
              <a:t>라</a:t>
            </a:r>
            <a:r>
              <a:rPr lang="en-US" altLang="ko-KR" sz="1200" b="0" i="0" u="none" strike="noStrike" baseline="0" dirty="0">
                <a:latin typeface="CourtBT"/>
              </a:rPr>
              <a:t>) </a:t>
            </a:r>
            <a:r>
              <a:rPr lang="ko-KR" altLang="en-US" sz="1200" b="0" i="0" u="none" strike="noStrike" baseline="0" dirty="0">
                <a:latin typeface="CourtBT"/>
              </a:rPr>
              <a:t>이러한 점에 비추어 보면</a:t>
            </a:r>
            <a:r>
              <a:rPr lang="en-US" altLang="ko-KR" sz="1200" b="0" i="0" u="none" strike="noStrike" baseline="0" dirty="0">
                <a:latin typeface="CourtBT"/>
              </a:rPr>
              <a:t>, </a:t>
            </a:r>
            <a:r>
              <a:rPr lang="ko-KR" altLang="en-US" sz="1200" b="0" i="0" u="none" strike="noStrike" baseline="0" dirty="0" err="1">
                <a:solidFill>
                  <a:srgbClr val="FF0000"/>
                </a:solidFill>
                <a:latin typeface="CourtBT"/>
              </a:rPr>
              <a:t>비정질층의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 부존재가 선행발명 </a:t>
            </a:r>
            <a:r>
              <a:rPr lang="en-US" altLang="ko-KR" sz="1200" b="0" i="0" u="none" strike="noStrike" baseline="0" dirty="0">
                <a:solidFill>
                  <a:srgbClr val="FF0000"/>
                </a:solidFill>
                <a:latin typeface="CourtBT"/>
              </a:rPr>
              <a:t>1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에 개시된 막 형상 구조물의 내재된 구성이라는 점이 증명되었다고 보기 어려우므로</a:t>
            </a:r>
            <a:r>
              <a:rPr lang="en-US" altLang="ko-KR" sz="1200" b="0" i="0" u="none" strike="noStrike" baseline="0" dirty="0">
                <a:solidFill>
                  <a:srgbClr val="FF0000"/>
                </a:solidFill>
                <a:latin typeface="CourtBT"/>
              </a:rPr>
              <a:t>, 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두 발명이 동일하다고 할 수 없다</a:t>
            </a:r>
            <a:r>
              <a:rPr lang="en-US" altLang="ko-KR" sz="1200" b="0" i="0" u="none" strike="noStrike" baseline="0" dirty="0">
                <a:solidFill>
                  <a:srgbClr val="FF0000"/>
                </a:solidFill>
                <a:latin typeface="CourtBT"/>
              </a:rPr>
              <a:t>. </a:t>
            </a:r>
            <a:r>
              <a:rPr lang="ko-KR" altLang="en-US" sz="1200" b="0" i="0" u="none" strike="noStrike" baseline="0" dirty="0">
                <a:latin typeface="CourtBT"/>
              </a:rPr>
              <a:t>따라서 차이점 </a:t>
            </a:r>
            <a:r>
              <a:rPr lang="en-US" altLang="ko-KR" sz="1200" b="0" i="0" u="none" strike="noStrike" baseline="0" dirty="0">
                <a:latin typeface="CourtBT"/>
              </a:rPr>
              <a:t>2</a:t>
            </a:r>
            <a:r>
              <a:rPr lang="ko-KR" altLang="en-US" sz="1200" b="0" i="0" u="none" strike="noStrike" baseline="0" dirty="0">
                <a:latin typeface="CourtBT"/>
              </a:rPr>
              <a:t>에 관하여 나아가 살필 필요 없이 이 사건 제</a:t>
            </a:r>
            <a:r>
              <a:rPr lang="en-US" altLang="ko-KR" sz="1200" b="0" i="0" u="none" strike="noStrike" baseline="0" dirty="0">
                <a:latin typeface="CourtBT"/>
              </a:rPr>
              <a:t>1</a:t>
            </a:r>
            <a:r>
              <a:rPr lang="ko-KR" altLang="en-US" sz="1200" b="0" i="0" u="none" strike="noStrike" baseline="0" dirty="0">
                <a:latin typeface="CourtBT"/>
              </a:rPr>
              <a:t>항 발명의 신규성이 부정되지 않는다</a:t>
            </a:r>
            <a:r>
              <a:rPr lang="en-US" altLang="ko-KR" sz="1200" b="0" i="0" u="none" strike="noStrike" baseline="0" dirty="0">
                <a:latin typeface="CourtBT"/>
              </a:rPr>
              <a:t>.</a:t>
            </a:r>
            <a:endParaRPr lang="ko-KR" altLang="en-US" sz="1200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3993A9D-1453-4E1C-B42F-561CCEFEB5F5}"/>
              </a:ext>
            </a:extLst>
          </p:cNvPr>
          <p:cNvCxnSpPr/>
          <p:nvPr/>
        </p:nvCxnSpPr>
        <p:spPr>
          <a:xfrm>
            <a:off x="6105524" y="3146775"/>
            <a:ext cx="0" cy="3711225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92358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1806167" y="2503605"/>
            <a:ext cx="2867432" cy="356336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항각호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발명의 범위가 다른 경우</a:t>
            </a:r>
            <a:r>
              <a:rPr lang="en-US" altLang="ko-KR" dirty="0"/>
              <a:t>(</a:t>
            </a:r>
            <a:r>
              <a:rPr lang="ko-KR" altLang="en-US" dirty="0"/>
              <a:t>상하위개념발명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0" name="TextBox 89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선행기술이</a:t>
            </a:r>
            <a:r>
              <a:rPr lang="ko-KR" altLang="en-US" sz="1400" dirty="0">
                <a:solidFill>
                  <a:schemeClr val="tx2"/>
                </a:solidFill>
              </a:rPr>
              <a:t> 출원발명과의 관계에서 하위개념이 되는 유형은 </a:t>
            </a:r>
            <a:r>
              <a:rPr lang="ko-KR" altLang="en-US" sz="1400" dirty="0">
                <a:highlight>
                  <a:srgbClr val="FFFF00"/>
                </a:highlight>
              </a:rPr>
              <a:t>구성요소를 한정하거나</a:t>
            </a:r>
            <a:r>
              <a:rPr lang="en-US" altLang="ko-KR" sz="1400" dirty="0"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highlight>
                  <a:srgbClr val="FFFF00"/>
                </a:highlight>
              </a:rPr>
              <a:t>내적 부가</a:t>
            </a:r>
            <a:r>
              <a:rPr lang="en-US" altLang="ko-KR" sz="1400" dirty="0">
                <a:highlight>
                  <a:srgbClr val="FFFF00"/>
                </a:highlight>
              </a:rPr>
              <a:t>), </a:t>
            </a:r>
            <a:r>
              <a:rPr lang="ko-KR" altLang="en-US" sz="1400" dirty="0">
                <a:highlight>
                  <a:srgbClr val="FFFF00"/>
                </a:highlight>
              </a:rPr>
              <a:t>구성요소를 부가</a:t>
            </a:r>
            <a:r>
              <a:rPr lang="en-US" altLang="ko-KR" sz="1400" dirty="0"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highlight>
                  <a:srgbClr val="FFFF00"/>
                </a:highlight>
              </a:rPr>
              <a:t>외적 부가</a:t>
            </a:r>
            <a:r>
              <a:rPr lang="en-US" altLang="ko-KR" sz="1400" dirty="0">
                <a:highlight>
                  <a:srgbClr val="FFFF00"/>
                </a:highlight>
              </a:rPr>
              <a:t>)</a:t>
            </a:r>
            <a:r>
              <a:rPr lang="ko-KR" altLang="en-US" sz="1400" dirty="0">
                <a:highlight>
                  <a:srgbClr val="FFFF00"/>
                </a:highlight>
              </a:rPr>
              <a:t>한 발명</a:t>
            </a:r>
            <a:r>
              <a:rPr lang="ko-KR" altLang="en-US" sz="1400" dirty="0">
                <a:solidFill>
                  <a:schemeClr val="tx2"/>
                </a:solidFill>
              </a:rPr>
              <a:t>이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구체적인 예로는 구성요소를 한정한 </a:t>
            </a:r>
            <a:r>
              <a:rPr lang="ko-KR" altLang="en-US" sz="1400" dirty="0" err="1">
                <a:solidFill>
                  <a:schemeClr val="tx2"/>
                </a:solidFill>
              </a:rPr>
              <a:t>선택발명과</a:t>
            </a:r>
            <a:r>
              <a:rPr lang="ko-KR" altLang="en-US" sz="1400" dirty="0">
                <a:solidFill>
                  <a:schemeClr val="tx2"/>
                </a:solidFill>
              </a:rPr>
              <a:t> 구성요소를 부가한 </a:t>
            </a:r>
            <a:r>
              <a:rPr lang="ko-KR" altLang="en-US" sz="1400" dirty="0" err="1">
                <a:solidFill>
                  <a:schemeClr val="tx2"/>
                </a:solidFill>
              </a:rPr>
              <a:t>결합발명을</a:t>
            </a:r>
            <a:r>
              <a:rPr lang="ko-KR" altLang="en-US" sz="1400" dirty="0">
                <a:solidFill>
                  <a:schemeClr val="tx2"/>
                </a:solidFill>
              </a:rPr>
              <a:t> 들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특히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구성요소를 더 많이 부가하면 할수록 </a:t>
            </a:r>
            <a:r>
              <a:rPr lang="ko-KR" altLang="en-US" sz="1400" dirty="0" err="1">
                <a:solidFill>
                  <a:schemeClr val="tx2"/>
                </a:solidFill>
              </a:rPr>
              <a:t>권리범위가</a:t>
            </a:r>
            <a:r>
              <a:rPr lang="ko-KR" altLang="en-US" sz="1400" dirty="0">
                <a:solidFill>
                  <a:schemeClr val="tx2"/>
                </a:solidFill>
              </a:rPr>
              <a:t> 좁아지게 되는 것을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>
                <a:highlight>
                  <a:srgbClr val="FFFF00"/>
                </a:highlight>
              </a:rPr>
              <a:t>다기재협범위의 원칙이라고 </a:t>
            </a:r>
            <a:r>
              <a:rPr lang="ko-KR" altLang="en-US" sz="1400" dirty="0">
                <a:solidFill>
                  <a:schemeClr val="tx2"/>
                </a:solidFill>
              </a:rPr>
              <a:t>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이는 등록 후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구성요소완비의 원칙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(All Element Rule)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에 의하여 침해 여부를 판단</a:t>
            </a:r>
            <a:r>
              <a:rPr lang="ko-KR" altLang="en-US" sz="1400" dirty="0">
                <a:solidFill>
                  <a:schemeClr val="tx2"/>
                </a:solidFill>
              </a:rPr>
              <a:t>할 때 하나의 구성요소라도 삭제하면 비침해가 되기 때문이다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</a:p>
        </p:txBody>
      </p:sp>
      <p:cxnSp>
        <p:nvCxnSpPr>
          <p:cNvPr id="91" name="직선 연결선 90"/>
          <p:cNvCxnSpPr/>
          <p:nvPr/>
        </p:nvCxnSpPr>
        <p:spPr>
          <a:xfrm>
            <a:off x="0" y="1729324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타원 4"/>
          <p:cNvSpPr/>
          <p:nvPr/>
        </p:nvSpPr>
        <p:spPr>
          <a:xfrm>
            <a:off x="2090056" y="3178627"/>
            <a:ext cx="2334986" cy="2334986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/>
          <p:cNvSpPr/>
          <p:nvPr/>
        </p:nvSpPr>
        <p:spPr>
          <a:xfrm>
            <a:off x="2625271" y="3742870"/>
            <a:ext cx="1264556" cy="12065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/>
          <p:cNvCxnSpPr/>
          <p:nvPr/>
        </p:nvCxnSpPr>
        <p:spPr>
          <a:xfrm flipV="1">
            <a:off x="3257549" y="2631522"/>
            <a:ext cx="0" cy="1125862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497397" y="2586077"/>
            <a:ext cx="809837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동일성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19998" y="4679774"/>
            <a:ext cx="1290738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하위개념발명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19998" y="5344336"/>
            <a:ext cx="1290738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상위개념발명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7582808" y="2503605"/>
            <a:ext cx="2867432" cy="176359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/>
          <p:cNvSpPr/>
          <p:nvPr/>
        </p:nvSpPr>
        <p:spPr>
          <a:xfrm>
            <a:off x="7582808" y="4377397"/>
            <a:ext cx="2867432" cy="168957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타원 52"/>
          <p:cNvSpPr/>
          <p:nvPr/>
        </p:nvSpPr>
        <p:spPr>
          <a:xfrm>
            <a:off x="8468130" y="2856830"/>
            <a:ext cx="1070210" cy="1096786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4" name="타원 53"/>
          <p:cNvSpPr/>
          <p:nvPr/>
        </p:nvSpPr>
        <p:spPr>
          <a:xfrm>
            <a:off x="8713439" y="3121866"/>
            <a:ext cx="579592" cy="56671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cxnSp>
        <p:nvCxnSpPr>
          <p:cNvPr id="55" name="직선 화살표 연결선 54"/>
          <p:cNvCxnSpPr/>
          <p:nvPr/>
        </p:nvCxnSpPr>
        <p:spPr>
          <a:xfrm flipV="1">
            <a:off x="9003235" y="2599845"/>
            <a:ext cx="0" cy="528838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9203152" y="2512518"/>
            <a:ext cx="670376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동일성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11022" y="3561947"/>
            <a:ext cx="1191352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라이트 </a:t>
            </a:r>
            <a:r>
              <a:rPr lang="en-US" altLang="ko-KR" sz="1200" dirty="0"/>
              <a:t>+ </a:t>
            </a:r>
            <a:r>
              <a:rPr lang="ko-KR" altLang="en-US" sz="1200" dirty="0"/>
              <a:t>자전거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11021" y="3874104"/>
            <a:ext cx="598241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자전거</a:t>
            </a:r>
          </a:p>
        </p:txBody>
      </p:sp>
      <p:sp>
        <p:nvSpPr>
          <p:cNvPr id="60" name="타원 59"/>
          <p:cNvSpPr/>
          <p:nvPr/>
        </p:nvSpPr>
        <p:spPr>
          <a:xfrm>
            <a:off x="8468130" y="4672763"/>
            <a:ext cx="1070210" cy="1096786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61" name="타원 60"/>
          <p:cNvSpPr/>
          <p:nvPr/>
        </p:nvSpPr>
        <p:spPr>
          <a:xfrm>
            <a:off x="8713439" y="4937799"/>
            <a:ext cx="579593" cy="56671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cxnSp>
        <p:nvCxnSpPr>
          <p:cNvPr id="62" name="직선 화살표 연결선 61"/>
          <p:cNvCxnSpPr/>
          <p:nvPr/>
        </p:nvCxnSpPr>
        <p:spPr>
          <a:xfrm flipV="1">
            <a:off x="9003235" y="4415778"/>
            <a:ext cx="0" cy="528838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9157760" y="4412400"/>
            <a:ext cx="670376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동일성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11022" y="5377880"/>
            <a:ext cx="829073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구리</a:t>
            </a:r>
            <a:r>
              <a:rPr lang="en-US" altLang="ko-KR" sz="1200" dirty="0"/>
              <a:t>(</a:t>
            </a:r>
            <a:r>
              <a:rPr lang="ko-KR" altLang="en-US" sz="1200" dirty="0" err="1"/>
              <a:t>리벳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65" name="TextBox 64"/>
          <p:cNvSpPr txBox="1"/>
          <p:nvPr/>
        </p:nvSpPr>
        <p:spPr>
          <a:xfrm>
            <a:off x="8711021" y="5690037"/>
            <a:ext cx="966931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금속</a:t>
            </a:r>
            <a:r>
              <a:rPr lang="en-US" altLang="ko-KR" sz="1200" dirty="0"/>
              <a:t>(</a:t>
            </a:r>
            <a:r>
              <a:rPr lang="ko-KR" altLang="en-US" sz="1200" dirty="0" err="1"/>
              <a:t>체결구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4" name="직사각형 13"/>
          <p:cNvSpPr/>
          <p:nvPr/>
        </p:nvSpPr>
        <p:spPr>
          <a:xfrm>
            <a:off x="3364685" y="4084069"/>
            <a:ext cx="792750" cy="313584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선행기술</a:t>
            </a:r>
          </a:p>
        </p:txBody>
      </p:sp>
      <p:sp>
        <p:nvSpPr>
          <p:cNvPr id="66" name="직사각형 65"/>
          <p:cNvSpPr/>
          <p:nvPr/>
        </p:nvSpPr>
        <p:spPr>
          <a:xfrm>
            <a:off x="2147169" y="3274540"/>
            <a:ext cx="792750" cy="31358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출원발명</a:t>
            </a:r>
            <a:endParaRPr lang="ko-KR" altLang="en-US" sz="1200" dirty="0"/>
          </a:p>
        </p:txBody>
      </p:sp>
      <p:sp>
        <p:nvSpPr>
          <p:cNvPr id="15" name="오각형 14"/>
          <p:cNvSpPr/>
          <p:nvPr/>
        </p:nvSpPr>
        <p:spPr>
          <a:xfrm>
            <a:off x="5457370" y="3009404"/>
            <a:ext cx="1378857" cy="824317"/>
          </a:xfrm>
          <a:prstGeom prst="homePlate">
            <a:avLst>
              <a:gd name="adj" fmla="val 2534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외적 부가</a:t>
            </a:r>
          </a:p>
        </p:txBody>
      </p:sp>
      <p:sp>
        <p:nvSpPr>
          <p:cNvPr id="67" name="오각형 66"/>
          <p:cNvSpPr/>
          <p:nvPr/>
        </p:nvSpPr>
        <p:spPr>
          <a:xfrm>
            <a:off x="5457370" y="4865720"/>
            <a:ext cx="1378857" cy="824317"/>
          </a:xfrm>
          <a:prstGeom prst="homePlate">
            <a:avLst>
              <a:gd name="adj" fmla="val 2534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내적 부가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5513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항각호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신규성 판단의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90" name="TextBox 89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청구항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과 </a:t>
            </a:r>
            <a:r>
              <a:rPr lang="ko-KR" altLang="en-US" sz="1400" dirty="0" err="1">
                <a:solidFill>
                  <a:schemeClr val="tx2"/>
                </a:solidFill>
              </a:rPr>
              <a:t>청구항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에 기재된 발명은 </a:t>
            </a:r>
            <a:r>
              <a:rPr lang="ko-KR" altLang="en-US" sz="1400" dirty="0" err="1">
                <a:solidFill>
                  <a:schemeClr val="tx2"/>
                </a:solidFill>
              </a:rPr>
              <a:t>다기재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협범위의</a:t>
            </a:r>
            <a:r>
              <a:rPr lang="ko-KR" altLang="en-US" sz="1400" dirty="0">
                <a:solidFill>
                  <a:schemeClr val="tx2"/>
                </a:solidFill>
              </a:rPr>
              <a:t> 원칙에 따라 공지기술보다 상위개념이기 때문에 </a:t>
            </a:r>
            <a:r>
              <a:rPr lang="ko-KR" altLang="en-US" sz="1400" dirty="0" err="1">
                <a:solidFill>
                  <a:schemeClr val="tx2"/>
                </a:solidFill>
              </a:rPr>
              <a:t>공지기술과</a:t>
            </a:r>
            <a:r>
              <a:rPr lang="ko-KR" altLang="en-US" sz="1400" dirty="0">
                <a:solidFill>
                  <a:schemeClr val="tx2"/>
                </a:solidFill>
              </a:rPr>
              <a:t> 동일성이 있어 신규성이 상실되나 </a:t>
            </a:r>
            <a:r>
              <a:rPr lang="ko-KR" altLang="en-US" sz="1400" dirty="0" err="1">
                <a:solidFill>
                  <a:schemeClr val="tx2"/>
                </a:solidFill>
              </a:rPr>
              <a:t>청구항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에 기재된 발명은 공지기술보다 하위개념이기 때문에 </a:t>
            </a:r>
            <a:r>
              <a:rPr lang="ko-KR" altLang="en-US" sz="1400" dirty="0" err="1">
                <a:solidFill>
                  <a:schemeClr val="tx2"/>
                </a:solidFill>
              </a:rPr>
              <a:t>공지기술과</a:t>
            </a:r>
            <a:r>
              <a:rPr lang="ko-KR" altLang="en-US" sz="1400" dirty="0">
                <a:solidFill>
                  <a:schemeClr val="tx2"/>
                </a:solidFill>
              </a:rPr>
              <a:t> 동일성이 없어 신규성이 상실되지 아니한다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출원일체의</a:t>
            </a:r>
            <a:r>
              <a:rPr lang="ko-KR" altLang="en-US" sz="1400" dirty="0">
                <a:solidFill>
                  <a:schemeClr val="tx2"/>
                </a:solidFill>
              </a:rPr>
              <a:t> 원칙</a:t>
            </a:r>
            <a:r>
              <a:rPr lang="en-US" altLang="ko-KR" sz="1400" dirty="0">
                <a:solidFill>
                  <a:schemeClr val="tx2"/>
                </a:solidFill>
              </a:rPr>
              <a:t>(All or Nothing Rule)</a:t>
            </a:r>
            <a:r>
              <a:rPr lang="ko-KR" altLang="en-US" sz="1400" dirty="0">
                <a:solidFill>
                  <a:schemeClr val="tx2"/>
                </a:solidFill>
              </a:rPr>
              <a:t>에 의하여 </a:t>
            </a:r>
            <a:r>
              <a:rPr lang="ko-KR" altLang="en-US" sz="1400" dirty="0" err="1">
                <a:solidFill>
                  <a:schemeClr val="tx2"/>
                </a:solidFill>
              </a:rPr>
              <a:t>청구항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과 </a:t>
            </a:r>
            <a:r>
              <a:rPr lang="ko-KR" altLang="en-US" sz="1400" dirty="0" err="1">
                <a:solidFill>
                  <a:schemeClr val="tx2"/>
                </a:solidFill>
              </a:rPr>
              <a:t>청구항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를 삭제보정하지 아니한 경우 출원 전체가 특허를 받을 수 없게 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91" name="직선 연결선 90"/>
          <p:cNvCxnSpPr/>
          <p:nvPr/>
        </p:nvCxnSpPr>
        <p:spPr>
          <a:xfrm>
            <a:off x="0" y="1729324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>
            <a:off x="316404" y="4742543"/>
            <a:ext cx="4784463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37718" y="5024724"/>
            <a:ext cx="832279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공지기술</a:t>
            </a:r>
            <a:endParaRPr lang="ko-KR" altLang="en-US" sz="1400" dirty="0"/>
          </a:p>
        </p:txBody>
      </p:sp>
      <p:sp>
        <p:nvSpPr>
          <p:cNvPr id="41" name="TextBox 40"/>
          <p:cNvSpPr txBox="1"/>
          <p:nvPr/>
        </p:nvSpPr>
        <p:spPr>
          <a:xfrm>
            <a:off x="3240260" y="5625357"/>
            <a:ext cx="832279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출원발명</a:t>
            </a:r>
            <a:endParaRPr lang="ko-KR" altLang="en-US" sz="14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3AA9AEF-0A50-4E82-3AB3-FEC9E424FD8A}"/>
              </a:ext>
            </a:extLst>
          </p:cNvPr>
          <p:cNvGrpSpPr/>
          <p:nvPr/>
        </p:nvGrpSpPr>
        <p:grpSpPr>
          <a:xfrm>
            <a:off x="602126" y="2230499"/>
            <a:ext cx="3754056" cy="1936377"/>
            <a:chOff x="602126" y="2230499"/>
            <a:chExt cx="3754056" cy="1936377"/>
          </a:xfrm>
        </p:grpSpPr>
        <p:sp>
          <p:nvSpPr>
            <p:cNvPr id="44" name="직사각형 43"/>
            <p:cNvSpPr/>
            <p:nvPr/>
          </p:nvSpPr>
          <p:spPr>
            <a:xfrm>
              <a:off x="602126" y="2230499"/>
              <a:ext cx="3651538" cy="1936377"/>
            </a:xfrm>
            <a:prstGeom prst="rect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>
              <a:off x="1428958" y="3126548"/>
              <a:ext cx="688525" cy="69123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타원 41"/>
            <p:cNvSpPr/>
            <p:nvPr/>
          </p:nvSpPr>
          <p:spPr>
            <a:xfrm>
              <a:off x="2752637" y="3126548"/>
              <a:ext cx="688525" cy="69123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자유형 12"/>
            <p:cNvSpPr/>
            <p:nvPr/>
          </p:nvSpPr>
          <p:spPr>
            <a:xfrm>
              <a:off x="1769333" y="2868364"/>
              <a:ext cx="1338808" cy="622678"/>
            </a:xfrm>
            <a:custGeom>
              <a:avLst/>
              <a:gdLst>
                <a:gd name="connsiteX0" fmla="*/ 0 w 1586753"/>
                <a:gd name="connsiteY0" fmla="*/ 735106 h 735106"/>
                <a:gd name="connsiteX1" fmla="*/ 1586753 w 1586753"/>
                <a:gd name="connsiteY1" fmla="*/ 735106 h 735106"/>
                <a:gd name="connsiteX2" fmla="*/ 1326777 w 1586753"/>
                <a:gd name="connsiteY2" fmla="*/ 0 h 735106"/>
                <a:gd name="connsiteX3" fmla="*/ 26894 w 1586753"/>
                <a:gd name="connsiteY3" fmla="*/ 0 h 735106"/>
                <a:gd name="connsiteX4" fmla="*/ 0 w 1586753"/>
                <a:gd name="connsiteY4" fmla="*/ 735106 h 735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86753" h="735106">
                  <a:moveTo>
                    <a:pt x="0" y="735106"/>
                  </a:moveTo>
                  <a:lnTo>
                    <a:pt x="1586753" y="735106"/>
                  </a:lnTo>
                  <a:lnTo>
                    <a:pt x="1326777" y="0"/>
                  </a:lnTo>
                  <a:lnTo>
                    <a:pt x="26894" y="0"/>
                  </a:lnTo>
                  <a:lnTo>
                    <a:pt x="0" y="735106"/>
                  </a:lnTo>
                  <a:close/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7" name="직선 연결선 16"/>
            <p:cNvCxnSpPr>
              <a:stCxn id="13" idx="3"/>
            </p:cNvCxnSpPr>
            <p:nvPr/>
          </p:nvCxnSpPr>
          <p:spPr>
            <a:xfrm flipH="1" flipV="1">
              <a:off x="1625619" y="2534244"/>
              <a:ext cx="166405" cy="334120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>
              <a:stCxn id="13" idx="3"/>
            </p:cNvCxnSpPr>
            <p:nvPr/>
          </p:nvCxnSpPr>
          <p:spPr>
            <a:xfrm flipV="1">
              <a:off x="1792024" y="2541747"/>
              <a:ext cx="219353" cy="326617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모서리가 둥근 직사각형 19"/>
            <p:cNvSpPr/>
            <p:nvPr/>
          </p:nvSpPr>
          <p:spPr>
            <a:xfrm>
              <a:off x="1625619" y="2929114"/>
              <a:ext cx="158630" cy="146083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자유형 20"/>
            <p:cNvSpPr/>
            <p:nvPr/>
          </p:nvSpPr>
          <p:spPr>
            <a:xfrm>
              <a:off x="2245858" y="3248046"/>
              <a:ext cx="378194" cy="470805"/>
            </a:xfrm>
            <a:custGeom>
              <a:avLst/>
              <a:gdLst>
                <a:gd name="connsiteX0" fmla="*/ 0 w 448235"/>
                <a:gd name="connsiteY0" fmla="*/ 555811 h 555811"/>
                <a:gd name="connsiteX1" fmla="*/ 233082 w 448235"/>
                <a:gd name="connsiteY1" fmla="*/ 555811 h 555811"/>
                <a:gd name="connsiteX2" fmla="*/ 233082 w 448235"/>
                <a:gd name="connsiteY2" fmla="*/ 0 h 555811"/>
                <a:gd name="connsiteX3" fmla="*/ 448235 w 448235"/>
                <a:gd name="connsiteY3" fmla="*/ 0 h 555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8235" h="555811">
                  <a:moveTo>
                    <a:pt x="0" y="555811"/>
                  </a:moveTo>
                  <a:lnTo>
                    <a:pt x="233082" y="555811"/>
                  </a:lnTo>
                  <a:lnTo>
                    <a:pt x="233082" y="0"/>
                  </a:lnTo>
                  <a:lnTo>
                    <a:pt x="448235" y="0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모서리가 둥근 직사각형 51"/>
            <p:cNvSpPr/>
            <p:nvPr/>
          </p:nvSpPr>
          <p:spPr>
            <a:xfrm>
              <a:off x="2351752" y="2750001"/>
              <a:ext cx="272300" cy="12116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1844972" y="3437887"/>
              <a:ext cx="1188160" cy="10450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117378" y="2362093"/>
              <a:ext cx="635154" cy="22159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핸들</a:t>
              </a:r>
              <a:r>
                <a:rPr lang="en-US" altLang="ko-KR" sz="1100" dirty="0"/>
                <a:t>(a)</a:t>
              </a:r>
              <a:endParaRPr lang="ko-KR" altLang="en-US" sz="1100" dirty="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2821805" y="2383990"/>
              <a:ext cx="799678" cy="22159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안장</a:t>
              </a:r>
              <a:r>
                <a:rPr lang="en-US" altLang="ko-KR" sz="1100" dirty="0"/>
                <a:t>(e)</a:t>
              </a:r>
              <a:endParaRPr lang="ko-KR" altLang="en-US" sz="1100" dirty="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3304924" y="2761377"/>
              <a:ext cx="610457" cy="22159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바디</a:t>
              </a:r>
              <a:r>
                <a:rPr lang="en-US" altLang="ko-KR" sz="1100" dirty="0"/>
                <a:t>(b)</a:t>
              </a:r>
              <a:endParaRPr lang="ko-KR" altLang="en-US" sz="1100" dirty="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3582783" y="3273346"/>
              <a:ext cx="773399" cy="2215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바퀴</a:t>
              </a:r>
              <a:r>
                <a:rPr lang="en-US" altLang="ko-KR" sz="1100" dirty="0"/>
                <a:t>(c)</a:t>
              </a:r>
              <a:endParaRPr lang="ko-KR" altLang="en-US" sz="1100" dirty="0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2450294" y="3836962"/>
              <a:ext cx="582208" cy="22159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/>
                <a:t>폐달</a:t>
              </a:r>
              <a:r>
                <a:rPr lang="en-US" altLang="ko-KR" sz="1100" dirty="0"/>
                <a:t>(d)</a:t>
              </a:r>
              <a:endParaRPr lang="ko-KR" altLang="en-US" sz="1100" dirty="0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623809" y="2639202"/>
              <a:ext cx="7106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라이트</a:t>
              </a:r>
              <a:r>
                <a:rPr lang="en-US" altLang="ko-KR" sz="1100" dirty="0"/>
                <a:t>(f)</a:t>
              </a:r>
              <a:endParaRPr lang="ko-KR" altLang="en-US" sz="1100" dirty="0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769438" y="3876015"/>
              <a:ext cx="680856" cy="26161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기어</a:t>
              </a:r>
              <a:r>
                <a:rPr lang="en-US" altLang="ko-KR" sz="1100" dirty="0"/>
                <a:t>(g)</a:t>
              </a:r>
              <a:endParaRPr lang="ko-KR" altLang="en-US" sz="1100" dirty="0"/>
            </a:p>
          </p:txBody>
        </p:sp>
        <p:sp>
          <p:nvSpPr>
            <p:cNvPr id="26" name="자유형 25"/>
            <p:cNvSpPr/>
            <p:nvPr/>
          </p:nvSpPr>
          <p:spPr>
            <a:xfrm>
              <a:off x="1701258" y="2288179"/>
              <a:ext cx="486368" cy="359970"/>
            </a:xfrm>
            <a:custGeom>
              <a:avLst/>
              <a:gdLst>
                <a:gd name="connsiteX0" fmla="*/ 0 w 576443"/>
                <a:gd name="connsiteY0" fmla="*/ 424965 h 424965"/>
                <a:gd name="connsiteX1" fmla="*/ 304800 w 576443"/>
                <a:gd name="connsiteY1" fmla="*/ 3624 h 424965"/>
                <a:gd name="connsiteX2" fmla="*/ 537882 w 576443"/>
                <a:gd name="connsiteY2" fmla="*/ 209812 h 424965"/>
                <a:gd name="connsiteX3" fmla="*/ 573741 w 576443"/>
                <a:gd name="connsiteY3" fmla="*/ 191882 h 424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6443" h="424965">
                  <a:moveTo>
                    <a:pt x="0" y="424965"/>
                  </a:moveTo>
                  <a:cubicBezTo>
                    <a:pt x="107576" y="232224"/>
                    <a:pt x="215153" y="39483"/>
                    <a:pt x="304800" y="3624"/>
                  </a:cubicBezTo>
                  <a:cubicBezTo>
                    <a:pt x="394447" y="-32235"/>
                    <a:pt x="537882" y="209812"/>
                    <a:pt x="537882" y="209812"/>
                  </a:cubicBezTo>
                  <a:cubicBezTo>
                    <a:pt x="582706" y="241188"/>
                    <a:pt x="578223" y="216535"/>
                    <a:pt x="573741" y="191882"/>
                  </a:cubicBezTo>
                </a:path>
              </a:pathLst>
            </a:custGeom>
            <a:noFill/>
            <a:ln>
              <a:solidFill>
                <a:schemeClr val="accent2">
                  <a:lumMod val="50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자유형 26"/>
            <p:cNvSpPr/>
            <p:nvPr/>
          </p:nvSpPr>
          <p:spPr>
            <a:xfrm>
              <a:off x="2934171" y="2811309"/>
              <a:ext cx="416014" cy="211636"/>
            </a:xfrm>
            <a:custGeom>
              <a:avLst/>
              <a:gdLst>
                <a:gd name="connsiteX0" fmla="*/ 0 w 493059"/>
                <a:gd name="connsiteY0" fmla="*/ 174934 h 249848"/>
                <a:gd name="connsiteX1" fmla="*/ 17929 w 493059"/>
                <a:gd name="connsiteY1" fmla="*/ 94251 h 249848"/>
                <a:gd name="connsiteX2" fmla="*/ 107576 w 493059"/>
                <a:gd name="connsiteY2" fmla="*/ 4604 h 249848"/>
                <a:gd name="connsiteX3" fmla="*/ 358588 w 493059"/>
                <a:gd name="connsiteY3" fmla="*/ 246651 h 249848"/>
                <a:gd name="connsiteX4" fmla="*/ 493059 w 493059"/>
                <a:gd name="connsiteY4" fmla="*/ 121146 h 249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3059" h="249848">
                  <a:moveTo>
                    <a:pt x="0" y="174934"/>
                  </a:moveTo>
                  <a:cubicBezTo>
                    <a:pt x="0" y="148786"/>
                    <a:pt x="0" y="122639"/>
                    <a:pt x="17929" y="94251"/>
                  </a:cubicBezTo>
                  <a:cubicBezTo>
                    <a:pt x="35858" y="65863"/>
                    <a:pt x="50800" y="-20796"/>
                    <a:pt x="107576" y="4604"/>
                  </a:cubicBezTo>
                  <a:cubicBezTo>
                    <a:pt x="164352" y="30004"/>
                    <a:pt x="294341" y="227227"/>
                    <a:pt x="358588" y="246651"/>
                  </a:cubicBezTo>
                  <a:cubicBezTo>
                    <a:pt x="422835" y="266075"/>
                    <a:pt x="457947" y="193610"/>
                    <a:pt x="493059" y="121146"/>
                  </a:cubicBezTo>
                </a:path>
              </a:pathLst>
            </a:custGeom>
            <a:noFill/>
            <a:ln>
              <a:solidFill>
                <a:schemeClr val="accent2">
                  <a:lumMod val="50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자유형 27"/>
            <p:cNvSpPr/>
            <p:nvPr/>
          </p:nvSpPr>
          <p:spPr>
            <a:xfrm>
              <a:off x="3418260" y="3121108"/>
              <a:ext cx="529472" cy="286404"/>
            </a:xfrm>
            <a:custGeom>
              <a:avLst/>
              <a:gdLst>
                <a:gd name="connsiteX0" fmla="*/ 0 w 627529"/>
                <a:gd name="connsiteY0" fmla="*/ 338116 h 338116"/>
                <a:gd name="connsiteX1" fmla="*/ 143435 w 627529"/>
                <a:gd name="connsiteY1" fmla="*/ 6422 h 338116"/>
                <a:gd name="connsiteX2" fmla="*/ 304800 w 627529"/>
                <a:gd name="connsiteY2" fmla="*/ 113999 h 338116"/>
                <a:gd name="connsiteX3" fmla="*/ 528918 w 627529"/>
                <a:gd name="connsiteY3" fmla="*/ 51246 h 338116"/>
                <a:gd name="connsiteX4" fmla="*/ 627529 w 627529"/>
                <a:gd name="connsiteY4" fmla="*/ 167787 h 338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7529" h="338116">
                  <a:moveTo>
                    <a:pt x="0" y="338116"/>
                  </a:moveTo>
                  <a:cubicBezTo>
                    <a:pt x="46317" y="190945"/>
                    <a:pt x="92635" y="43775"/>
                    <a:pt x="143435" y="6422"/>
                  </a:cubicBezTo>
                  <a:cubicBezTo>
                    <a:pt x="194235" y="-30931"/>
                    <a:pt x="240553" y="106528"/>
                    <a:pt x="304800" y="113999"/>
                  </a:cubicBezTo>
                  <a:cubicBezTo>
                    <a:pt x="369047" y="121470"/>
                    <a:pt x="475130" y="42281"/>
                    <a:pt x="528918" y="51246"/>
                  </a:cubicBezTo>
                  <a:cubicBezTo>
                    <a:pt x="582706" y="60211"/>
                    <a:pt x="605117" y="113999"/>
                    <a:pt x="627529" y="167787"/>
                  </a:cubicBezTo>
                </a:path>
              </a:pathLst>
            </a:custGeom>
            <a:noFill/>
            <a:ln>
              <a:solidFill>
                <a:schemeClr val="accent2">
                  <a:lumMod val="50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자유형 28"/>
            <p:cNvSpPr/>
            <p:nvPr/>
          </p:nvSpPr>
          <p:spPr>
            <a:xfrm>
              <a:off x="2457647" y="3627728"/>
              <a:ext cx="153370" cy="205028"/>
            </a:xfrm>
            <a:custGeom>
              <a:avLst/>
              <a:gdLst>
                <a:gd name="connsiteX0" fmla="*/ 0 w 191051"/>
                <a:gd name="connsiteY0" fmla="*/ 0 h 242047"/>
                <a:gd name="connsiteX1" fmla="*/ 188259 w 191051"/>
                <a:gd name="connsiteY1" fmla="*/ 53788 h 242047"/>
                <a:gd name="connsiteX2" fmla="*/ 116541 w 191051"/>
                <a:gd name="connsiteY2" fmla="*/ 188259 h 242047"/>
                <a:gd name="connsiteX3" fmla="*/ 170330 w 191051"/>
                <a:gd name="connsiteY3" fmla="*/ 242047 h 242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1051" h="242047">
                  <a:moveTo>
                    <a:pt x="0" y="0"/>
                  </a:moveTo>
                  <a:cubicBezTo>
                    <a:pt x="84417" y="11205"/>
                    <a:pt x="168835" y="22411"/>
                    <a:pt x="188259" y="53788"/>
                  </a:cubicBezTo>
                  <a:cubicBezTo>
                    <a:pt x="207683" y="85165"/>
                    <a:pt x="119529" y="156883"/>
                    <a:pt x="116541" y="188259"/>
                  </a:cubicBezTo>
                  <a:cubicBezTo>
                    <a:pt x="113553" y="219635"/>
                    <a:pt x="141941" y="230841"/>
                    <a:pt x="170330" y="242047"/>
                  </a:cubicBezTo>
                </a:path>
              </a:pathLst>
            </a:custGeom>
            <a:noFill/>
            <a:ln>
              <a:solidFill>
                <a:schemeClr val="accent2">
                  <a:lumMod val="50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자유형 29"/>
            <p:cNvSpPr/>
            <p:nvPr/>
          </p:nvSpPr>
          <p:spPr>
            <a:xfrm>
              <a:off x="2487902" y="2587400"/>
              <a:ext cx="597547" cy="144280"/>
            </a:xfrm>
            <a:custGeom>
              <a:avLst/>
              <a:gdLst>
                <a:gd name="connsiteX0" fmla="*/ 0 w 708212"/>
                <a:gd name="connsiteY0" fmla="*/ 170330 h 170330"/>
                <a:gd name="connsiteX1" fmla="*/ 268941 w 708212"/>
                <a:gd name="connsiteY1" fmla="*/ 26894 h 170330"/>
                <a:gd name="connsiteX2" fmla="*/ 475130 w 708212"/>
                <a:gd name="connsiteY2" fmla="*/ 161365 h 170330"/>
                <a:gd name="connsiteX3" fmla="*/ 708212 w 708212"/>
                <a:gd name="connsiteY3" fmla="*/ 0 h 170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8212" h="170330">
                  <a:moveTo>
                    <a:pt x="0" y="170330"/>
                  </a:moveTo>
                  <a:cubicBezTo>
                    <a:pt x="94876" y="99359"/>
                    <a:pt x="189753" y="28388"/>
                    <a:pt x="268941" y="26894"/>
                  </a:cubicBezTo>
                  <a:cubicBezTo>
                    <a:pt x="348129" y="25400"/>
                    <a:pt x="401918" y="165847"/>
                    <a:pt x="475130" y="161365"/>
                  </a:cubicBezTo>
                  <a:cubicBezTo>
                    <a:pt x="548342" y="156883"/>
                    <a:pt x="628277" y="78441"/>
                    <a:pt x="708212" y="0"/>
                  </a:cubicBezTo>
                </a:path>
              </a:pathLst>
            </a:custGeom>
            <a:noFill/>
            <a:ln>
              <a:solidFill>
                <a:schemeClr val="accent2">
                  <a:lumMod val="50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자유형 31"/>
            <p:cNvSpPr/>
            <p:nvPr/>
          </p:nvSpPr>
          <p:spPr>
            <a:xfrm>
              <a:off x="1050764" y="2836513"/>
              <a:ext cx="567291" cy="206710"/>
            </a:xfrm>
            <a:custGeom>
              <a:avLst/>
              <a:gdLst>
                <a:gd name="connsiteX0" fmla="*/ 672353 w 672353"/>
                <a:gd name="connsiteY0" fmla="*/ 154143 h 244032"/>
                <a:gd name="connsiteX1" fmla="*/ 519953 w 672353"/>
                <a:gd name="connsiteY1" fmla="*/ 1743 h 244032"/>
                <a:gd name="connsiteX2" fmla="*/ 179294 w 672353"/>
                <a:gd name="connsiteY2" fmla="*/ 243791 h 244032"/>
                <a:gd name="connsiteX3" fmla="*/ 0 w 672353"/>
                <a:gd name="connsiteY3" fmla="*/ 37602 h 244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2353" h="244032">
                  <a:moveTo>
                    <a:pt x="672353" y="154143"/>
                  </a:moveTo>
                  <a:cubicBezTo>
                    <a:pt x="637241" y="70472"/>
                    <a:pt x="602129" y="-13198"/>
                    <a:pt x="519953" y="1743"/>
                  </a:cubicBezTo>
                  <a:cubicBezTo>
                    <a:pt x="437777" y="16684"/>
                    <a:pt x="265953" y="237815"/>
                    <a:pt x="179294" y="243791"/>
                  </a:cubicBezTo>
                  <a:cubicBezTo>
                    <a:pt x="92635" y="249767"/>
                    <a:pt x="46317" y="143684"/>
                    <a:pt x="0" y="37602"/>
                  </a:cubicBezTo>
                </a:path>
              </a:pathLst>
            </a:custGeom>
            <a:noFill/>
            <a:ln>
              <a:solidFill>
                <a:schemeClr val="accent2">
                  <a:lumMod val="50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자유형 33"/>
            <p:cNvSpPr/>
            <p:nvPr/>
          </p:nvSpPr>
          <p:spPr>
            <a:xfrm>
              <a:off x="2109650" y="3551792"/>
              <a:ext cx="98389" cy="341714"/>
            </a:xfrm>
            <a:custGeom>
              <a:avLst/>
              <a:gdLst>
                <a:gd name="connsiteX0" fmla="*/ 116610 w 116610"/>
                <a:gd name="connsiteY0" fmla="*/ 0 h 403412"/>
                <a:gd name="connsiteX1" fmla="*/ 69 w 116610"/>
                <a:gd name="connsiteY1" fmla="*/ 161365 h 403412"/>
                <a:gd name="connsiteX2" fmla="*/ 98681 w 116610"/>
                <a:gd name="connsiteY2" fmla="*/ 268941 h 403412"/>
                <a:gd name="connsiteX3" fmla="*/ 44892 w 116610"/>
                <a:gd name="connsiteY3" fmla="*/ 403412 h 403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610" h="403412">
                  <a:moveTo>
                    <a:pt x="116610" y="0"/>
                  </a:moveTo>
                  <a:cubicBezTo>
                    <a:pt x="59833" y="58271"/>
                    <a:pt x="3057" y="116542"/>
                    <a:pt x="69" y="161365"/>
                  </a:cubicBezTo>
                  <a:cubicBezTo>
                    <a:pt x="-2919" y="206188"/>
                    <a:pt x="91210" y="228600"/>
                    <a:pt x="98681" y="268941"/>
                  </a:cubicBezTo>
                  <a:cubicBezTo>
                    <a:pt x="106151" y="309282"/>
                    <a:pt x="75521" y="356347"/>
                    <a:pt x="44892" y="403412"/>
                  </a:cubicBezTo>
                </a:path>
              </a:pathLst>
            </a:custGeom>
            <a:noFill/>
            <a:ln>
              <a:solidFill>
                <a:schemeClr val="accent2">
                  <a:lumMod val="50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6" name="직사각형 45"/>
          <p:cNvSpPr/>
          <p:nvPr/>
        </p:nvSpPr>
        <p:spPr>
          <a:xfrm>
            <a:off x="602126" y="1954305"/>
            <a:ext cx="1507524" cy="276193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자전거 구성요소</a:t>
            </a:r>
          </a:p>
        </p:txBody>
      </p:sp>
      <p:cxnSp>
        <p:nvCxnSpPr>
          <p:cNvPr id="73" name="직선 화살표 연결선 72"/>
          <p:cNvCxnSpPr>
            <a:stCxn id="39" idx="0"/>
          </p:cNvCxnSpPr>
          <p:nvPr/>
        </p:nvCxnSpPr>
        <p:spPr>
          <a:xfrm flipH="1" flipV="1">
            <a:off x="1253857" y="4742543"/>
            <a:ext cx="1" cy="28218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/>
          <p:cNvCxnSpPr>
            <a:stCxn id="41" idx="0"/>
          </p:cNvCxnSpPr>
          <p:nvPr/>
        </p:nvCxnSpPr>
        <p:spPr>
          <a:xfrm flipV="1">
            <a:off x="3656400" y="4782627"/>
            <a:ext cx="0" cy="84273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/>
          <p:cNvSpPr/>
          <p:nvPr/>
        </p:nvSpPr>
        <p:spPr>
          <a:xfrm>
            <a:off x="315965" y="5352934"/>
            <a:ext cx="2156360" cy="27699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altLang="ko-KR" sz="1200" dirty="0"/>
              <a:t>a, b, c, d, e, f</a:t>
            </a:r>
            <a:r>
              <a:rPr lang="ko-KR" altLang="en-US" sz="1200" dirty="0"/>
              <a:t>로 구성된 자전거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917227" y="5973217"/>
            <a:ext cx="4336444" cy="64633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altLang="ko-KR" sz="1200" dirty="0"/>
              <a:t>1. a, b, c </a:t>
            </a:r>
            <a:r>
              <a:rPr lang="ko-KR" altLang="en-US" sz="1200" dirty="0"/>
              <a:t>및 </a:t>
            </a:r>
            <a:r>
              <a:rPr lang="en-US" altLang="ko-KR" sz="1200" dirty="0"/>
              <a:t>d</a:t>
            </a:r>
            <a:r>
              <a:rPr lang="ko-KR" altLang="en-US" sz="1200" dirty="0"/>
              <a:t>를 포함하는 것을 특징으로 하는 자전거</a:t>
            </a:r>
            <a:endParaRPr lang="en-US" altLang="ko-KR" sz="1200" dirty="0"/>
          </a:p>
          <a:p>
            <a:r>
              <a:rPr lang="en-US" altLang="ko-KR" sz="1200" dirty="0"/>
              <a:t>2. </a:t>
            </a:r>
            <a:r>
              <a:rPr lang="ko-KR" altLang="en-US" sz="1200" dirty="0"/>
              <a:t>제</a:t>
            </a:r>
            <a:r>
              <a:rPr lang="en-US" altLang="ko-KR" sz="1200" dirty="0"/>
              <a:t>1</a:t>
            </a:r>
            <a:r>
              <a:rPr lang="ko-KR" altLang="en-US" sz="1200" dirty="0"/>
              <a:t>항에 있어서</a:t>
            </a:r>
            <a:r>
              <a:rPr lang="en-US" altLang="ko-KR" sz="1200" dirty="0"/>
              <a:t>, e</a:t>
            </a:r>
            <a:r>
              <a:rPr lang="ko-KR" altLang="en-US" sz="1200" dirty="0"/>
              <a:t>를 더 포함하는 것을 특징으로 하는 자전거</a:t>
            </a:r>
            <a:endParaRPr lang="en-US" altLang="ko-KR" sz="1200" dirty="0"/>
          </a:p>
          <a:p>
            <a:r>
              <a:rPr lang="en-US" altLang="ko-KR" sz="1200" dirty="0"/>
              <a:t>3. </a:t>
            </a:r>
            <a:r>
              <a:rPr lang="ko-KR" altLang="en-US" sz="1200" dirty="0"/>
              <a:t>제</a:t>
            </a:r>
            <a:r>
              <a:rPr lang="en-US" altLang="ko-KR" sz="1200" dirty="0"/>
              <a:t>2</a:t>
            </a:r>
            <a:r>
              <a:rPr lang="ko-KR" altLang="en-US" sz="1200" dirty="0"/>
              <a:t>항에 있어서</a:t>
            </a:r>
            <a:r>
              <a:rPr lang="en-US" altLang="ko-KR" sz="1200" dirty="0"/>
              <a:t>, f</a:t>
            </a:r>
            <a:r>
              <a:rPr lang="ko-KR" altLang="en-US" sz="1200" dirty="0"/>
              <a:t>와 </a:t>
            </a:r>
            <a:r>
              <a:rPr lang="en-US" altLang="ko-KR" sz="1200" dirty="0"/>
              <a:t>g</a:t>
            </a:r>
            <a:r>
              <a:rPr lang="ko-KR" altLang="en-US" sz="1200" dirty="0"/>
              <a:t>를 더 포함하는 것을 특징으로 하는 자전거</a:t>
            </a:r>
          </a:p>
        </p:txBody>
      </p:sp>
      <p:cxnSp>
        <p:nvCxnSpPr>
          <p:cNvPr id="82" name="직선 연결선 81"/>
          <p:cNvCxnSpPr/>
          <p:nvPr/>
        </p:nvCxnSpPr>
        <p:spPr>
          <a:xfrm>
            <a:off x="5787868" y="1891562"/>
            <a:ext cx="0" cy="485886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그룹 96"/>
          <p:cNvGrpSpPr/>
          <p:nvPr/>
        </p:nvGrpSpPr>
        <p:grpSpPr>
          <a:xfrm>
            <a:off x="7477521" y="1950561"/>
            <a:ext cx="3343153" cy="4528011"/>
            <a:chOff x="391885" y="2626850"/>
            <a:chExt cx="2334986" cy="3162536"/>
          </a:xfrm>
        </p:grpSpPr>
        <p:sp>
          <p:nvSpPr>
            <p:cNvPr id="98" name="타원 97"/>
            <p:cNvSpPr/>
            <p:nvPr/>
          </p:nvSpPr>
          <p:spPr>
            <a:xfrm>
              <a:off x="391885" y="3454400"/>
              <a:ext cx="2334986" cy="233498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타원 98"/>
            <p:cNvSpPr/>
            <p:nvPr/>
          </p:nvSpPr>
          <p:spPr>
            <a:xfrm>
              <a:off x="927100" y="4018643"/>
              <a:ext cx="1264556" cy="12065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0" name="직선 화살표 연결선 99"/>
            <p:cNvCxnSpPr/>
            <p:nvPr/>
          </p:nvCxnSpPr>
          <p:spPr>
            <a:xfrm flipV="1">
              <a:off x="1559378" y="2907295"/>
              <a:ext cx="0" cy="1125862"/>
            </a:xfrm>
            <a:prstGeom prst="straightConnector1">
              <a:avLst/>
            </a:prstGeom>
            <a:ln w="76200"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직사각형 100"/>
            <p:cNvSpPr/>
            <p:nvPr/>
          </p:nvSpPr>
          <p:spPr>
            <a:xfrm>
              <a:off x="1666514" y="4359842"/>
              <a:ext cx="792750" cy="313584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/>
                <a:t>공지기술</a:t>
              </a:r>
              <a:endParaRPr lang="ko-KR" altLang="en-US" sz="1200" dirty="0"/>
            </a:p>
          </p:txBody>
        </p:sp>
        <p:sp>
          <p:nvSpPr>
            <p:cNvPr id="102" name="직사각형 101"/>
            <p:cNvSpPr/>
            <p:nvPr/>
          </p:nvSpPr>
          <p:spPr>
            <a:xfrm>
              <a:off x="450489" y="3319158"/>
              <a:ext cx="792750" cy="313584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/>
                <a:t>청구항</a:t>
              </a:r>
              <a:r>
                <a:rPr lang="ko-KR" altLang="en-US" sz="1200" dirty="0"/>
                <a:t> </a:t>
              </a:r>
              <a:r>
                <a:rPr lang="en-US" altLang="ko-KR" sz="1200" dirty="0"/>
                <a:t>1</a:t>
              </a:r>
            </a:p>
            <a:p>
              <a:pPr algn="ctr"/>
              <a:r>
                <a:rPr lang="en-US" altLang="ko-KR" sz="1200" dirty="0"/>
                <a:t>(</a:t>
              </a:r>
              <a:r>
                <a:rPr lang="ko-KR" altLang="en-US" sz="1200" dirty="0" err="1"/>
                <a:t>독립항</a:t>
              </a:r>
              <a:r>
                <a:rPr lang="en-US" altLang="ko-KR" sz="1200" dirty="0"/>
                <a:t>)</a:t>
              </a:r>
              <a:endParaRPr lang="ko-KR" altLang="en-US" sz="1200" dirty="0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1594756" y="2626850"/>
              <a:ext cx="809837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rgbClr val="FF0000"/>
                  </a:solidFill>
                </a:rPr>
                <a:t>동일성</a:t>
              </a:r>
            </a:p>
          </p:txBody>
        </p:sp>
        <p:sp>
          <p:nvSpPr>
            <p:cNvPr id="104" name="타원 103"/>
            <p:cNvSpPr/>
            <p:nvPr/>
          </p:nvSpPr>
          <p:spPr>
            <a:xfrm>
              <a:off x="668189" y="3734939"/>
              <a:ext cx="1809518" cy="1809518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타원 104"/>
            <p:cNvSpPr/>
            <p:nvPr/>
          </p:nvSpPr>
          <p:spPr>
            <a:xfrm>
              <a:off x="1249899" y="4322359"/>
              <a:ext cx="618958" cy="618958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직사각형 105"/>
            <p:cNvSpPr/>
            <p:nvPr/>
          </p:nvSpPr>
          <p:spPr>
            <a:xfrm>
              <a:off x="1622168" y="3696324"/>
              <a:ext cx="792750" cy="31358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/>
                <a:t>청구항</a:t>
              </a:r>
              <a:r>
                <a:rPr lang="en-US" altLang="ko-KR" sz="1200" dirty="0"/>
                <a:t>2</a:t>
              </a:r>
            </a:p>
            <a:p>
              <a:pPr algn="ctr"/>
              <a:r>
                <a:rPr lang="en-US" altLang="ko-KR" sz="1200" dirty="0"/>
                <a:t>(</a:t>
              </a:r>
              <a:r>
                <a:rPr lang="ko-KR" altLang="en-US" sz="1200" dirty="0" err="1"/>
                <a:t>종속항</a:t>
              </a:r>
              <a:r>
                <a:rPr lang="en-US" altLang="ko-KR" sz="1200" dirty="0"/>
                <a:t>)</a:t>
              </a:r>
              <a:endParaRPr lang="ko-KR" altLang="en-US" sz="1200" dirty="0"/>
            </a:p>
          </p:txBody>
        </p:sp>
        <p:sp>
          <p:nvSpPr>
            <p:cNvPr id="107" name="직사각형 106"/>
            <p:cNvSpPr/>
            <p:nvPr/>
          </p:nvSpPr>
          <p:spPr>
            <a:xfrm>
              <a:off x="1176573" y="4750198"/>
              <a:ext cx="792750" cy="31358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/>
                <a:t>청구항</a:t>
              </a:r>
              <a:r>
                <a:rPr lang="en-US" altLang="ko-KR" sz="1200" dirty="0"/>
                <a:t>3</a:t>
              </a:r>
            </a:p>
            <a:p>
              <a:pPr algn="ctr"/>
              <a:r>
                <a:rPr lang="en-US" altLang="ko-KR" sz="1200" dirty="0"/>
                <a:t>(</a:t>
              </a:r>
              <a:r>
                <a:rPr lang="ko-KR" altLang="en-US" sz="1200" dirty="0" err="1"/>
                <a:t>종속항</a:t>
              </a:r>
              <a:r>
                <a:rPr lang="en-US" altLang="ko-KR" sz="1200" dirty="0"/>
                <a:t>)</a:t>
              </a:r>
              <a:endParaRPr lang="ko-KR" altLang="en-US" sz="1200" dirty="0"/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0438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항각호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독립항과</a:t>
            </a:r>
            <a:r>
              <a:rPr lang="ko-KR" altLang="en-US" dirty="0"/>
              <a:t> </a:t>
            </a:r>
            <a:r>
              <a:rPr lang="ko-KR" altLang="en-US" dirty="0" err="1"/>
              <a:t>종속항의</a:t>
            </a:r>
            <a:r>
              <a:rPr lang="ko-KR" altLang="en-US" dirty="0"/>
              <a:t> 관계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875" y="986046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종속항이란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독립항을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한정하거나 부가하여 구체화한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청구항</a:t>
            </a:r>
            <a:r>
              <a:rPr lang="ko-KR" altLang="en-US" sz="1400" dirty="0" err="1">
                <a:solidFill>
                  <a:schemeClr val="tx2"/>
                </a:solidFill>
              </a:rPr>
              <a:t>을</a:t>
            </a:r>
            <a:r>
              <a:rPr lang="ko-KR" altLang="en-US" sz="1400" dirty="0">
                <a:solidFill>
                  <a:schemeClr val="tx2"/>
                </a:solidFill>
              </a:rPr>
              <a:t> 말하기 때문에</a:t>
            </a:r>
            <a:r>
              <a:rPr lang="en-US" altLang="ko-KR" sz="1400" dirty="0">
                <a:solidFill>
                  <a:schemeClr val="tx2"/>
                </a:solidFill>
              </a:rPr>
              <a:t>,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종속항은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독립항과의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관계에서 하위개념발명</a:t>
            </a:r>
            <a:r>
              <a:rPr lang="ko-KR" altLang="en-US" sz="1400" dirty="0">
                <a:solidFill>
                  <a:schemeClr val="tx2"/>
                </a:solidFill>
              </a:rPr>
              <a:t>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따라서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독립항의</a:t>
            </a:r>
            <a:r>
              <a:rPr lang="ko-KR" altLang="en-US" sz="1400" dirty="0">
                <a:solidFill>
                  <a:schemeClr val="tx2"/>
                </a:solidFill>
              </a:rPr>
              <a:t> 신규성이 있는 경우 </a:t>
            </a:r>
            <a:r>
              <a:rPr lang="ko-KR" altLang="en-US" sz="1400" dirty="0" err="1">
                <a:solidFill>
                  <a:schemeClr val="tx2"/>
                </a:solidFill>
              </a:rPr>
              <a:t>종속항은</a:t>
            </a:r>
            <a:r>
              <a:rPr lang="ko-KR" altLang="en-US" sz="1400" dirty="0">
                <a:solidFill>
                  <a:schemeClr val="tx2"/>
                </a:solidFill>
              </a:rPr>
              <a:t> 당연히 신규성이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반대로 </a:t>
            </a:r>
            <a:r>
              <a:rPr lang="ko-KR" altLang="en-US" sz="1400" dirty="0" err="1">
                <a:solidFill>
                  <a:schemeClr val="tx2"/>
                </a:solidFill>
              </a:rPr>
              <a:t>독립항의</a:t>
            </a:r>
            <a:r>
              <a:rPr lang="ko-KR" altLang="en-US" sz="1400" dirty="0">
                <a:solidFill>
                  <a:schemeClr val="tx2"/>
                </a:solidFill>
              </a:rPr>
              <a:t> 신규성이 없는 경우 </a:t>
            </a:r>
            <a:r>
              <a:rPr lang="ko-KR" altLang="en-US" sz="1400" dirty="0" err="1">
                <a:solidFill>
                  <a:schemeClr val="tx2"/>
                </a:solidFill>
              </a:rPr>
              <a:t>종속항은</a:t>
            </a:r>
            <a:r>
              <a:rPr lang="ko-KR" altLang="en-US" sz="1400" dirty="0">
                <a:solidFill>
                  <a:schemeClr val="tx2"/>
                </a:solidFill>
              </a:rPr>
              <a:t> 개별적으로 신규성 여부를 판단하여야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91" name="직선 연결선 90"/>
          <p:cNvCxnSpPr/>
          <p:nvPr/>
        </p:nvCxnSpPr>
        <p:spPr>
          <a:xfrm>
            <a:off x="-27160" y="149709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/>
          <p:cNvCxnSpPr/>
          <p:nvPr/>
        </p:nvCxnSpPr>
        <p:spPr>
          <a:xfrm>
            <a:off x="6126386" y="2023637"/>
            <a:ext cx="0" cy="453636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/>
        </p:nvGrpSpPr>
        <p:grpSpPr>
          <a:xfrm>
            <a:off x="7658073" y="1950561"/>
            <a:ext cx="3343153" cy="4528011"/>
            <a:chOff x="391885" y="2626850"/>
            <a:chExt cx="2334986" cy="3162536"/>
          </a:xfrm>
        </p:grpSpPr>
        <p:sp>
          <p:nvSpPr>
            <p:cNvPr id="80" name="타원 79"/>
            <p:cNvSpPr/>
            <p:nvPr/>
          </p:nvSpPr>
          <p:spPr>
            <a:xfrm>
              <a:off x="391885" y="3454400"/>
              <a:ext cx="2334986" cy="233498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타원 80"/>
            <p:cNvSpPr/>
            <p:nvPr/>
          </p:nvSpPr>
          <p:spPr>
            <a:xfrm>
              <a:off x="927100" y="4018643"/>
              <a:ext cx="1264556" cy="12065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2" name="직선 화살표 연결선 81"/>
            <p:cNvCxnSpPr/>
            <p:nvPr/>
          </p:nvCxnSpPr>
          <p:spPr>
            <a:xfrm flipV="1">
              <a:off x="1559378" y="2907295"/>
              <a:ext cx="0" cy="1125862"/>
            </a:xfrm>
            <a:prstGeom prst="straightConnector1">
              <a:avLst/>
            </a:prstGeom>
            <a:ln w="76200"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직사각형 85"/>
            <p:cNvSpPr/>
            <p:nvPr/>
          </p:nvSpPr>
          <p:spPr>
            <a:xfrm>
              <a:off x="1666514" y="4359842"/>
              <a:ext cx="792750" cy="313584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선행기술</a:t>
              </a:r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450489" y="3319158"/>
              <a:ext cx="792750" cy="313584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/>
                <a:t>독립항</a:t>
              </a:r>
              <a:endParaRPr lang="ko-KR" altLang="en-US" sz="1200" dirty="0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1594756" y="2626850"/>
              <a:ext cx="809837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rgbClr val="FF0000"/>
                  </a:solidFill>
                </a:rPr>
                <a:t>동일성</a:t>
              </a:r>
            </a:p>
          </p:txBody>
        </p:sp>
        <p:sp>
          <p:nvSpPr>
            <p:cNvPr id="89" name="타원 88"/>
            <p:cNvSpPr/>
            <p:nvPr/>
          </p:nvSpPr>
          <p:spPr>
            <a:xfrm>
              <a:off x="668189" y="3734939"/>
              <a:ext cx="1809518" cy="1809518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타원 91"/>
            <p:cNvSpPr/>
            <p:nvPr/>
          </p:nvSpPr>
          <p:spPr>
            <a:xfrm>
              <a:off x="1249899" y="4322359"/>
              <a:ext cx="618958" cy="618958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직사각형 92"/>
            <p:cNvSpPr/>
            <p:nvPr/>
          </p:nvSpPr>
          <p:spPr>
            <a:xfrm>
              <a:off x="1622168" y="3696324"/>
              <a:ext cx="792750" cy="31358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/>
                <a:t>종속항</a:t>
              </a:r>
              <a:r>
                <a:rPr lang="en-US" altLang="ko-KR" sz="1200" dirty="0"/>
                <a:t>1</a:t>
              </a:r>
              <a:endParaRPr lang="ko-KR" altLang="en-US" sz="1200" dirty="0"/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1176573" y="4750198"/>
              <a:ext cx="792750" cy="31358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/>
                <a:t>종속항</a:t>
              </a:r>
              <a:r>
                <a:rPr lang="en-US" altLang="ko-KR" sz="1200" dirty="0"/>
                <a:t>2</a:t>
              </a:r>
              <a:endParaRPr lang="ko-KR" altLang="en-US" sz="1200" dirty="0"/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1469416" y="1914953"/>
            <a:ext cx="3258705" cy="4413633"/>
            <a:chOff x="3048978" y="2626850"/>
            <a:chExt cx="2334986" cy="3162536"/>
          </a:xfrm>
        </p:grpSpPr>
        <p:sp>
          <p:nvSpPr>
            <p:cNvPr id="95" name="타원 94"/>
            <p:cNvSpPr/>
            <p:nvPr/>
          </p:nvSpPr>
          <p:spPr>
            <a:xfrm>
              <a:off x="3048978" y="3454400"/>
              <a:ext cx="2334986" cy="233498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타원 95"/>
            <p:cNvSpPr/>
            <p:nvPr/>
          </p:nvSpPr>
          <p:spPr>
            <a:xfrm>
              <a:off x="3584193" y="4018643"/>
              <a:ext cx="1264556" cy="12065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7" name="직선 화살표 연결선 96"/>
            <p:cNvCxnSpPr>
              <a:stCxn id="95" idx="0"/>
            </p:cNvCxnSpPr>
            <p:nvPr/>
          </p:nvCxnSpPr>
          <p:spPr>
            <a:xfrm flipV="1">
              <a:off x="4216471" y="2907295"/>
              <a:ext cx="0" cy="547105"/>
            </a:xfrm>
            <a:prstGeom prst="straightConnector1">
              <a:avLst/>
            </a:prstGeom>
            <a:ln w="76200"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직사각형 97"/>
            <p:cNvSpPr/>
            <p:nvPr/>
          </p:nvSpPr>
          <p:spPr>
            <a:xfrm>
              <a:off x="4323607" y="4359842"/>
              <a:ext cx="792750" cy="31358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/>
                <a:t>종속항</a:t>
              </a:r>
              <a:r>
                <a:rPr lang="en-US" altLang="ko-KR" sz="1200" dirty="0"/>
                <a:t>1</a:t>
              </a:r>
              <a:endParaRPr lang="ko-KR" altLang="en-US" sz="1200" dirty="0"/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3107582" y="3319158"/>
              <a:ext cx="792750" cy="313584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선행기술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4251849" y="2626850"/>
              <a:ext cx="809837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rgbClr val="FF0000"/>
                  </a:solidFill>
                </a:rPr>
                <a:t>동일성</a:t>
              </a:r>
            </a:p>
          </p:txBody>
        </p:sp>
        <p:sp>
          <p:nvSpPr>
            <p:cNvPr id="101" name="타원 100"/>
            <p:cNvSpPr/>
            <p:nvPr/>
          </p:nvSpPr>
          <p:spPr>
            <a:xfrm>
              <a:off x="3325282" y="3734939"/>
              <a:ext cx="1809518" cy="1809518"/>
            </a:xfrm>
            <a:prstGeom prst="ellipse">
              <a:avLst/>
            </a:prstGeom>
            <a:noFill/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타원 101"/>
            <p:cNvSpPr/>
            <p:nvPr/>
          </p:nvSpPr>
          <p:spPr>
            <a:xfrm>
              <a:off x="3906992" y="4322359"/>
              <a:ext cx="618958" cy="618958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직사각형 102"/>
            <p:cNvSpPr/>
            <p:nvPr/>
          </p:nvSpPr>
          <p:spPr>
            <a:xfrm>
              <a:off x="4308289" y="3623754"/>
              <a:ext cx="792750" cy="313584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/>
                <a:t>독립항</a:t>
              </a:r>
              <a:endParaRPr lang="ko-KR" altLang="en-US" sz="1200" dirty="0"/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3833666" y="4750198"/>
              <a:ext cx="792750" cy="31358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/>
                <a:t>종속항</a:t>
              </a:r>
              <a:r>
                <a:rPr lang="en-US" altLang="ko-KR" sz="1200" dirty="0"/>
                <a:t>2</a:t>
              </a:r>
              <a:endParaRPr lang="ko-KR" altLang="en-US" sz="1200" dirty="0"/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298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화살표 연결선 8"/>
          <p:cNvCxnSpPr>
            <a:stCxn id="72" idx="3"/>
            <a:endCxn id="67" idx="1"/>
          </p:cNvCxnSpPr>
          <p:nvPr/>
        </p:nvCxnSpPr>
        <p:spPr>
          <a:xfrm>
            <a:off x="3955205" y="3599373"/>
            <a:ext cx="4618004" cy="431800"/>
          </a:xfrm>
          <a:prstGeom prst="straightConnector1">
            <a:avLst/>
          </a:prstGeom>
          <a:ln w="57150">
            <a:solidFill>
              <a:schemeClr val="accent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자유형 15"/>
          <p:cNvSpPr/>
          <p:nvPr/>
        </p:nvSpPr>
        <p:spPr>
          <a:xfrm>
            <a:off x="1281205" y="2364744"/>
            <a:ext cx="7797800" cy="664577"/>
          </a:xfrm>
          <a:custGeom>
            <a:avLst/>
            <a:gdLst>
              <a:gd name="connsiteX0" fmla="*/ 7797800 w 7797800"/>
              <a:gd name="connsiteY0" fmla="*/ 1066800 h 1104900"/>
              <a:gd name="connsiteX1" fmla="*/ 7327900 w 7797800"/>
              <a:gd name="connsiteY1" fmla="*/ 0 h 1104900"/>
              <a:gd name="connsiteX2" fmla="*/ 0 w 7797800"/>
              <a:gd name="connsiteY2" fmla="*/ 0 h 1104900"/>
              <a:gd name="connsiteX3" fmla="*/ 0 w 7797800"/>
              <a:gd name="connsiteY3" fmla="*/ 1104900 h 110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7800" h="1104900">
                <a:moveTo>
                  <a:pt x="7797800" y="1066800"/>
                </a:moveTo>
                <a:lnTo>
                  <a:pt x="7327900" y="0"/>
                </a:lnTo>
                <a:lnTo>
                  <a:pt x="0" y="0"/>
                </a:lnTo>
                <a:lnTo>
                  <a:pt x="0" y="1104900"/>
                </a:lnTo>
              </a:path>
            </a:pathLst>
          </a:custGeom>
          <a:pattFill prst="smGrid">
            <a:fgClr>
              <a:schemeClr val="accent2">
                <a:lumMod val="40000"/>
                <a:lumOff val="6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진보성의 개념</a:t>
            </a:r>
          </a:p>
        </p:txBody>
      </p:sp>
      <p:cxnSp>
        <p:nvCxnSpPr>
          <p:cNvPr id="52" name="직선 연결선 51"/>
          <p:cNvCxnSpPr/>
          <p:nvPr/>
        </p:nvCxnSpPr>
        <p:spPr>
          <a:xfrm>
            <a:off x="1263400" y="3054190"/>
            <a:ext cx="906753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/>
          <p:cNvSpPr/>
          <p:nvPr/>
        </p:nvSpPr>
        <p:spPr>
          <a:xfrm>
            <a:off x="7684849" y="2837741"/>
            <a:ext cx="2626056" cy="4328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특허출원일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  <p:cxnSp>
        <p:nvCxnSpPr>
          <p:cNvPr id="65" name="직선 연결선 64"/>
          <p:cNvCxnSpPr/>
          <p:nvPr/>
        </p:nvCxnSpPr>
        <p:spPr>
          <a:xfrm flipH="1">
            <a:off x="9076542" y="3405634"/>
            <a:ext cx="1" cy="5122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573209" y="3846507"/>
            <a:ext cx="101822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특허출원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81107" y="3339380"/>
            <a:ext cx="4459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</a:t>
            </a:r>
            <a:r>
              <a:rPr lang="ko-KR" altLang="en-US" sz="1400" dirty="0"/>
              <a:t>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07960" y="3339380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24</a:t>
            </a:r>
            <a:r>
              <a:rPr lang="ko-KR" altLang="en-US" sz="1400" dirty="0"/>
              <a:t>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76542" y="3339380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14</a:t>
            </a:r>
            <a:r>
              <a:rPr lang="ko-KR" altLang="en-US" sz="1400" dirty="0"/>
              <a:t>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82530" y="1978818"/>
            <a:ext cx="129073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dirty="0"/>
              <a:t>특허출원 전</a:t>
            </a:r>
          </a:p>
        </p:txBody>
      </p:sp>
      <p:cxnSp>
        <p:nvCxnSpPr>
          <p:cNvPr id="71" name="직선 연결선 70"/>
          <p:cNvCxnSpPr/>
          <p:nvPr/>
        </p:nvCxnSpPr>
        <p:spPr>
          <a:xfrm>
            <a:off x="3106619" y="3107685"/>
            <a:ext cx="1" cy="81020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2247686" y="3414707"/>
            <a:ext cx="170751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국내외 </a:t>
            </a:r>
            <a:r>
              <a:rPr lang="ko-KR" altLang="en-US" dirty="0" err="1"/>
              <a:t>공지기술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1087720" y="2064122"/>
            <a:ext cx="203200" cy="1104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/>
          <p:cNvSpPr txBox="1"/>
          <p:nvPr/>
        </p:nvSpPr>
        <p:spPr>
          <a:xfrm>
            <a:off x="3380845" y="4152902"/>
            <a:ext cx="288548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dirty="0"/>
              <a:t>공지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80845" y="4582189"/>
            <a:ext cx="288548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dirty="0" err="1"/>
              <a:t>공연실시</a:t>
            </a:r>
            <a:endParaRPr lang="ko-KR" altLang="en-US" sz="1400" dirty="0"/>
          </a:p>
        </p:txBody>
      </p:sp>
      <p:sp>
        <p:nvSpPr>
          <p:cNvPr id="75" name="TextBox 74"/>
          <p:cNvSpPr txBox="1"/>
          <p:nvPr/>
        </p:nvSpPr>
        <p:spPr>
          <a:xfrm>
            <a:off x="3380845" y="4984709"/>
            <a:ext cx="288548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dirty="0"/>
              <a:t>반포된 간행물 게재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80845" y="5413996"/>
            <a:ext cx="288548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/>
              <a:t>전기통신회선을 통하여 공중 이용가능</a:t>
            </a:r>
            <a:endParaRPr lang="ko-KR" altLang="en-US" sz="1400" dirty="0"/>
          </a:p>
        </p:txBody>
      </p:sp>
      <p:cxnSp>
        <p:nvCxnSpPr>
          <p:cNvPr id="23" name="꺾인 연결선 22"/>
          <p:cNvCxnSpPr>
            <a:stCxn id="72" idx="2"/>
            <a:endCxn id="76" idx="1"/>
          </p:cNvCxnSpPr>
          <p:nvPr/>
        </p:nvCxnSpPr>
        <p:spPr>
          <a:xfrm rot="16200000" flipH="1">
            <a:off x="2333834" y="4551650"/>
            <a:ext cx="1814623" cy="279399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꺾인 연결선 76"/>
          <p:cNvCxnSpPr>
            <a:stCxn id="72" idx="2"/>
            <a:endCxn id="73" idx="1"/>
          </p:cNvCxnSpPr>
          <p:nvPr/>
        </p:nvCxnSpPr>
        <p:spPr>
          <a:xfrm rot="16200000" flipH="1">
            <a:off x="2964381" y="3921103"/>
            <a:ext cx="553529" cy="279399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꺾인 연결선 78"/>
          <p:cNvCxnSpPr>
            <a:stCxn id="72" idx="2"/>
            <a:endCxn id="74" idx="1"/>
          </p:cNvCxnSpPr>
          <p:nvPr/>
        </p:nvCxnSpPr>
        <p:spPr>
          <a:xfrm rot="16200000" flipH="1">
            <a:off x="2749737" y="4135747"/>
            <a:ext cx="982816" cy="279399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꺾인 연결선 80"/>
          <p:cNvCxnSpPr>
            <a:stCxn id="72" idx="2"/>
            <a:endCxn id="75" idx="1"/>
          </p:cNvCxnSpPr>
          <p:nvPr/>
        </p:nvCxnSpPr>
        <p:spPr>
          <a:xfrm rot="16200000" flipH="1">
            <a:off x="2548477" y="4337007"/>
            <a:ext cx="1385336" cy="279399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7875" y="986046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29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 err="1">
                <a:solidFill>
                  <a:schemeClr val="accent1"/>
                </a:solidFill>
              </a:rPr>
              <a:t>특허요건</a:t>
            </a:r>
            <a:r>
              <a:rPr lang="en-US" altLang="ko-KR" sz="1400" b="1" dirty="0">
                <a:solidFill>
                  <a:schemeClr val="accent1"/>
                </a:solidFill>
              </a:rPr>
              <a:t>)</a:t>
            </a:r>
            <a:r>
              <a:rPr lang="en-US" altLang="ko-KR" sz="1400" dirty="0">
                <a:solidFill>
                  <a:schemeClr val="tx2"/>
                </a:solidFill>
              </a:rPr>
              <a:t> </a:t>
            </a:r>
            <a:r>
              <a:rPr lang="ko-KR" altLang="en-US" sz="1400" dirty="0">
                <a:solidFill>
                  <a:schemeClr val="tx2"/>
                </a:solidFill>
              </a:rPr>
              <a:t>② 특허출원 전에 그 발명이 속하는 기술분야에서 통상의 지식을 가진 사람이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각 호의 어느 하나에 해당하는 발명에 의하여 쉽게 발명할 수 있으면 그 발명에 대해서는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항에도 불구하고 특허를 받을 수 없다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91" name="직선 연결선 90"/>
          <p:cNvCxnSpPr/>
          <p:nvPr/>
        </p:nvCxnSpPr>
        <p:spPr>
          <a:xfrm>
            <a:off x="0" y="1503592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100246" y="4766855"/>
            <a:ext cx="421301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통상의 기술자의 입장에서 판단</a:t>
            </a:r>
            <a:endParaRPr lang="en-US" altLang="ko-KR" dirty="0"/>
          </a:p>
          <a:p>
            <a:r>
              <a:rPr lang="en-US" altLang="ko-KR" sz="1400" dirty="0"/>
              <a:t>(</a:t>
            </a:r>
            <a:r>
              <a:rPr lang="ko-KR" altLang="en-US" sz="1400" dirty="0"/>
              <a:t>그 발명이 속하는 기술분야에서 통상의 지식을 가진 자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7" name="자유형 6"/>
          <p:cNvSpPr/>
          <p:nvPr/>
        </p:nvSpPr>
        <p:spPr>
          <a:xfrm>
            <a:off x="6364940" y="3962400"/>
            <a:ext cx="1488141" cy="770965"/>
          </a:xfrm>
          <a:custGeom>
            <a:avLst/>
            <a:gdLst>
              <a:gd name="connsiteX0" fmla="*/ 0 w 1524000"/>
              <a:gd name="connsiteY0" fmla="*/ 0 h 717177"/>
              <a:gd name="connsiteX1" fmla="*/ 340659 w 1524000"/>
              <a:gd name="connsiteY1" fmla="*/ 331694 h 717177"/>
              <a:gd name="connsiteX2" fmla="*/ 1102659 w 1524000"/>
              <a:gd name="connsiteY2" fmla="*/ 215153 h 717177"/>
              <a:gd name="connsiteX3" fmla="*/ 1524000 w 1524000"/>
              <a:gd name="connsiteY3" fmla="*/ 717177 h 717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0" h="717177">
                <a:moveTo>
                  <a:pt x="0" y="0"/>
                </a:moveTo>
                <a:cubicBezTo>
                  <a:pt x="78441" y="147917"/>
                  <a:pt x="156883" y="295835"/>
                  <a:pt x="340659" y="331694"/>
                </a:cubicBezTo>
                <a:cubicBezTo>
                  <a:pt x="524436" y="367553"/>
                  <a:pt x="905436" y="150906"/>
                  <a:pt x="1102659" y="215153"/>
                </a:cubicBezTo>
                <a:cubicBezTo>
                  <a:pt x="1299882" y="279400"/>
                  <a:pt x="1411941" y="498288"/>
                  <a:pt x="1524000" y="717177"/>
                </a:cubicBezTo>
              </a:path>
            </a:pathLst>
          </a:custGeom>
          <a:noFill/>
          <a:ln>
            <a:solidFill>
              <a:schemeClr val="accent5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313290" y="4328769"/>
            <a:ext cx="13740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심사의 객관성 부여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53081" y="5595241"/>
            <a:ext cx="598241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자연인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53081" y="5930492"/>
            <a:ext cx="3546439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국내의 기술수준만을 고려하여 결정하는 것이 바람직함</a:t>
            </a:r>
          </a:p>
        </p:txBody>
      </p:sp>
      <p:cxnSp>
        <p:nvCxnSpPr>
          <p:cNvPr id="10" name="꺾인 연결선 9"/>
          <p:cNvCxnSpPr>
            <a:endCxn id="32" idx="1"/>
          </p:cNvCxnSpPr>
          <p:nvPr/>
        </p:nvCxnSpPr>
        <p:spPr>
          <a:xfrm rot="16200000" flipH="1">
            <a:off x="7523260" y="5403919"/>
            <a:ext cx="382111" cy="277532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 11"/>
          <p:cNvCxnSpPr>
            <a:cxnSpLocks/>
            <a:endCxn id="33" idx="1"/>
          </p:cNvCxnSpPr>
          <p:nvPr/>
        </p:nvCxnSpPr>
        <p:spPr>
          <a:xfrm rot="16200000" flipH="1">
            <a:off x="7308412" y="5524323"/>
            <a:ext cx="717364" cy="371974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833888" y="3490214"/>
            <a:ext cx="1324402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용이성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주관적 </a:t>
            </a:r>
            <a:r>
              <a:rPr lang="ko-KR" altLang="en-US" sz="1400" dirty="0" err="1"/>
              <a:t>창작성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69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8AD2BD-706A-4BCE-4954-5C48FAE80EA5}"/>
              </a:ext>
            </a:extLst>
          </p:cNvPr>
          <p:cNvSpPr txBox="1"/>
          <p:nvPr/>
        </p:nvSpPr>
        <p:spPr>
          <a:xfrm>
            <a:off x="8660402" y="4243660"/>
            <a:ext cx="832279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청구범위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청구항</a:t>
            </a:r>
            <a:r>
              <a:rPr lang="en-US" altLang="ko-KR" sz="1400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02843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통상의 기술자의 개념과 사후적 고찰 금지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통상의 </a:t>
            </a:r>
            <a:r>
              <a:rPr lang="ko-KR" altLang="en-US" sz="1400" dirty="0" err="1">
                <a:solidFill>
                  <a:schemeClr val="tx2"/>
                </a:solidFill>
              </a:rPr>
              <a:t>기술자란</a:t>
            </a:r>
            <a:r>
              <a:rPr lang="ko-KR" altLang="en-US" sz="1400" dirty="0">
                <a:solidFill>
                  <a:schemeClr val="tx2"/>
                </a:solidFill>
              </a:rPr>
              <a:t> 심사관이 진보성 판단에 객관성을 부여하기 위해 가정한 상상의 인물로서 자연인이다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심사관은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해당 발명의 출원 전의 상태</a:t>
            </a:r>
            <a:r>
              <a:rPr lang="ko-KR" altLang="en-US" sz="1400" dirty="0">
                <a:solidFill>
                  <a:schemeClr val="tx2"/>
                </a:solidFill>
              </a:rPr>
              <a:t>로 돌아가서 해당 발명의 지식을 알지 못한다는 상태에서 발명의 진보성 여부를 따져보아야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그 이유는 통상의 기술자로서 해당 발명의 이론을 알고 난 후에는 공지기술로부터 해당 특허의 </a:t>
            </a:r>
            <a:r>
              <a:rPr lang="ko-KR" altLang="en-US" sz="1400" dirty="0" err="1">
                <a:solidFill>
                  <a:schemeClr val="tx2"/>
                </a:solidFill>
              </a:rPr>
              <a:t>발명적</a:t>
            </a:r>
            <a:r>
              <a:rPr lang="ko-KR" altLang="en-US" sz="1400" dirty="0">
                <a:solidFill>
                  <a:schemeClr val="tx2"/>
                </a:solidFill>
              </a:rPr>
              <a:t> 해결을 손쉽게 이끌어 낼 수 있는 경우가 극히 많기 때문이다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91" name="직선 연결선 90"/>
          <p:cNvCxnSpPr/>
          <p:nvPr/>
        </p:nvCxnSpPr>
        <p:spPr>
          <a:xfrm>
            <a:off x="0" y="1727701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 flipV="1">
            <a:off x="753036" y="2639674"/>
            <a:ext cx="0" cy="307564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>
            <a:off x="753036" y="5715319"/>
            <a:ext cx="471543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 flipH="1">
            <a:off x="323626" y="2598981"/>
            <a:ext cx="429410" cy="582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수준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1452283" y="3769832"/>
            <a:ext cx="358588" cy="1945488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/>
          <p:cNvSpPr/>
          <p:nvPr/>
        </p:nvSpPr>
        <p:spPr>
          <a:xfrm>
            <a:off x="2394872" y="4052371"/>
            <a:ext cx="358588" cy="166294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/>
          <p:cNvSpPr/>
          <p:nvPr/>
        </p:nvSpPr>
        <p:spPr>
          <a:xfrm>
            <a:off x="3337461" y="3382349"/>
            <a:ext cx="358588" cy="2332970"/>
          </a:xfrm>
          <a:prstGeom prst="rect">
            <a:avLst/>
          </a:prstGeom>
          <a:solidFill>
            <a:schemeClr val="accent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/>
          <p:cNvSpPr/>
          <p:nvPr/>
        </p:nvSpPr>
        <p:spPr>
          <a:xfrm>
            <a:off x="4627085" y="4464072"/>
            <a:ext cx="358588" cy="12512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/>
          <p:cNvSpPr txBox="1"/>
          <p:nvPr/>
        </p:nvSpPr>
        <p:spPr>
          <a:xfrm flipH="1">
            <a:off x="1237577" y="5771497"/>
            <a:ext cx="752587" cy="277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발명</a:t>
            </a:r>
          </a:p>
        </p:txBody>
      </p:sp>
      <p:sp>
        <p:nvSpPr>
          <p:cNvPr id="47" name="TextBox 46"/>
          <p:cNvSpPr txBox="1"/>
          <p:nvPr/>
        </p:nvSpPr>
        <p:spPr>
          <a:xfrm flipH="1">
            <a:off x="2169908" y="5771497"/>
            <a:ext cx="752587" cy="471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심사관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甲</a:t>
            </a:r>
          </a:p>
        </p:txBody>
      </p:sp>
      <p:sp>
        <p:nvSpPr>
          <p:cNvPr id="48" name="TextBox 47"/>
          <p:cNvSpPr txBox="1"/>
          <p:nvPr/>
        </p:nvSpPr>
        <p:spPr>
          <a:xfrm flipH="1">
            <a:off x="3140461" y="5771497"/>
            <a:ext cx="752587" cy="471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심사관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乙</a:t>
            </a:r>
          </a:p>
        </p:txBody>
      </p:sp>
      <p:sp>
        <p:nvSpPr>
          <p:cNvPr id="49" name="TextBox 48"/>
          <p:cNvSpPr txBox="1"/>
          <p:nvPr/>
        </p:nvSpPr>
        <p:spPr>
          <a:xfrm flipH="1">
            <a:off x="4430085" y="5771497"/>
            <a:ext cx="752587" cy="471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통상의</a:t>
            </a:r>
            <a:endParaRPr lang="en-US" altLang="ko-KR" sz="1400" dirty="0"/>
          </a:p>
          <a:p>
            <a:pPr algn="ctr"/>
            <a:r>
              <a:rPr lang="ko-KR" altLang="en-US" sz="1400" dirty="0"/>
              <a:t>기술자</a:t>
            </a:r>
          </a:p>
        </p:txBody>
      </p:sp>
      <p:sp>
        <p:nvSpPr>
          <p:cNvPr id="20" name="타원 19"/>
          <p:cNvSpPr/>
          <p:nvPr/>
        </p:nvSpPr>
        <p:spPr>
          <a:xfrm>
            <a:off x="1586753" y="3737529"/>
            <a:ext cx="89648" cy="8072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/>
          <p:cNvSpPr/>
          <p:nvPr/>
        </p:nvSpPr>
        <p:spPr>
          <a:xfrm>
            <a:off x="2529342" y="4009313"/>
            <a:ext cx="89648" cy="8072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타원 52"/>
          <p:cNvSpPr/>
          <p:nvPr/>
        </p:nvSpPr>
        <p:spPr>
          <a:xfrm>
            <a:off x="3471930" y="3339291"/>
            <a:ext cx="89648" cy="8072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타원 53"/>
          <p:cNvSpPr/>
          <p:nvPr/>
        </p:nvSpPr>
        <p:spPr>
          <a:xfrm>
            <a:off x="4761554" y="4432114"/>
            <a:ext cx="89648" cy="8072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/>
          <p:cNvCxnSpPr>
            <a:stCxn id="51" idx="1"/>
          </p:cNvCxnSpPr>
          <p:nvPr/>
        </p:nvCxnSpPr>
        <p:spPr>
          <a:xfrm flipH="1" flipV="1">
            <a:off x="1739154" y="3818255"/>
            <a:ext cx="803317" cy="20288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>
            <a:stCxn id="53" idx="2"/>
            <a:endCxn id="20" idx="7"/>
          </p:cNvCxnSpPr>
          <p:nvPr/>
        </p:nvCxnSpPr>
        <p:spPr>
          <a:xfrm flipH="1">
            <a:off x="1663272" y="3379654"/>
            <a:ext cx="1808658" cy="36969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853037" y="3786309"/>
            <a:ext cx="670376" cy="2771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비용이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349146" y="3464130"/>
            <a:ext cx="508473" cy="2771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용이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055250" y="4181989"/>
            <a:ext cx="7377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비용이</a:t>
            </a:r>
          </a:p>
        </p:txBody>
      </p:sp>
      <p:sp>
        <p:nvSpPr>
          <p:cNvPr id="37" name="자유형 36"/>
          <p:cNvSpPr/>
          <p:nvPr/>
        </p:nvSpPr>
        <p:spPr>
          <a:xfrm>
            <a:off x="1703295" y="3907065"/>
            <a:ext cx="3056965" cy="573152"/>
          </a:xfrm>
          <a:custGeom>
            <a:avLst/>
            <a:gdLst>
              <a:gd name="connsiteX0" fmla="*/ 3056965 w 3056965"/>
              <a:gd name="connsiteY0" fmla="*/ 636494 h 636494"/>
              <a:gd name="connsiteX1" fmla="*/ 502023 w 3056965"/>
              <a:gd name="connsiteY1" fmla="*/ 636494 h 636494"/>
              <a:gd name="connsiteX2" fmla="*/ 0 w 3056965"/>
              <a:gd name="connsiteY2" fmla="*/ 0 h 636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56965" h="636494">
                <a:moveTo>
                  <a:pt x="3056965" y="636494"/>
                </a:moveTo>
                <a:lnTo>
                  <a:pt x="502023" y="63649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/>
          <p:cNvSpPr/>
          <p:nvPr/>
        </p:nvSpPr>
        <p:spPr>
          <a:xfrm>
            <a:off x="2097742" y="2513143"/>
            <a:ext cx="1911225" cy="388027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/>
          <p:cNvSpPr txBox="1"/>
          <p:nvPr/>
        </p:nvSpPr>
        <p:spPr>
          <a:xfrm>
            <a:off x="2067673" y="2525817"/>
            <a:ext cx="1980029" cy="3325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심사의 객관성 저해</a:t>
            </a:r>
          </a:p>
        </p:txBody>
      </p:sp>
      <p:cxnSp>
        <p:nvCxnSpPr>
          <p:cNvPr id="41" name="꺾인 연결선 40"/>
          <p:cNvCxnSpPr/>
          <p:nvPr/>
        </p:nvCxnSpPr>
        <p:spPr>
          <a:xfrm rot="16200000" flipH="1">
            <a:off x="3706285" y="3321764"/>
            <a:ext cx="1413032" cy="807671"/>
          </a:xfrm>
          <a:prstGeom prst="bentConnector3">
            <a:avLst>
              <a:gd name="adj1" fmla="val 869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4126511" y="2738107"/>
            <a:ext cx="553357" cy="3048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가정</a:t>
            </a:r>
          </a:p>
        </p:txBody>
      </p:sp>
      <p:cxnSp>
        <p:nvCxnSpPr>
          <p:cNvPr id="83" name="직선 연결선 82"/>
          <p:cNvCxnSpPr/>
          <p:nvPr/>
        </p:nvCxnSpPr>
        <p:spPr>
          <a:xfrm>
            <a:off x="6126386" y="1921267"/>
            <a:ext cx="0" cy="472158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/>
          <p:cNvCxnSpPr/>
          <p:nvPr/>
        </p:nvCxnSpPr>
        <p:spPr>
          <a:xfrm flipV="1">
            <a:off x="7058600" y="2639674"/>
            <a:ext cx="0" cy="307564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/>
          <p:cNvCxnSpPr/>
          <p:nvPr/>
        </p:nvCxnSpPr>
        <p:spPr>
          <a:xfrm>
            <a:off x="7058600" y="5715319"/>
            <a:ext cx="471543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 flipH="1">
            <a:off x="6629190" y="2598981"/>
            <a:ext cx="429410" cy="582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수준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9263918" y="3769832"/>
            <a:ext cx="358588" cy="1945488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/>
          <p:cNvSpPr txBox="1"/>
          <p:nvPr/>
        </p:nvSpPr>
        <p:spPr>
          <a:xfrm flipH="1">
            <a:off x="9067142" y="5771497"/>
            <a:ext cx="752587" cy="277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발명</a:t>
            </a:r>
          </a:p>
        </p:txBody>
      </p:sp>
      <p:sp>
        <p:nvSpPr>
          <p:cNvPr id="98" name="타원 97"/>
          <p:cNvSpPr/>
          <p:nvPr/>
        </p:nvSpPr>
        <p:spPr>
          <a:xfrm>
            <a:off x="9398388" y="3737529"/>
            <a:ext cx="89648" cy="8072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화살표 연결선 102"/>
          <p:cNvCxnSpPr>
            <a:stCxn id="114" idx="7"/>
          </p:cNvCxnSpPr>
          <p:nvPr/>
        </p:nvCxnSpPr>
        <p:spPr>
          <a:xfrm flipV="1">
            <a:off x="8094626" y="3812649"/>
            <a:ext cx="1241009" cy="47756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9973823" y="4219441"/>
            <a:ext cx="508473" cy="2771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용이</a:t>
            </a:r>
          </a:p>
        </p:txBody>
      </p:sp>
      <p:sp>
        <p:nvSpPr>
          <p:cNvPr id="113" name="직사각형 112"/>
          <p:cNvSpPr/>
          <p:nvPr/>
        </p:nvSpPr>
        <p:spPr>
          <a:xfrm>
            <a:off x="7883637" y="4310696"/>
            <a:ext cx="358588" cy="13996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타원 113"/>
          <p:cNvSpPr/>
          <p:nvPr/>
        </p:nvSpPr>
        <p:spPr>
          <a:xfrm>
            <a:off x="8018107" y="4278392"/>
            <a:ext cx="89648" cy="8072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직사각형 114"/>
          <p:cNvSpPr/>
          <p:nvPr/>
        </p:nvSpPr>
        <p:spPr>
          <a:xfrm>
            <a:off x="10778669" y="3764225"/>
            <a:ext cx="358588" cy="19454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타원 115"/>
          <p:cNvSpPr/>
          <p:nvPr/>
        </p:nvSpPr>
        <p:spPr>
          <a:xfrm>
            <a:off x="10913139" y="3731922"/>
            <a:ext cx="89648" cy="8072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자유형 59"/>
          <p:cNvSpPr/>
          <p:nvPr/>
        </p:nvSpPr>
        <p:spPr>
          <a:xfrm>
            <a:off x="9520518" y="3826340"/>
            <a:ext cx="1425388" cy="379410"/>
          </a:xfrm>
          <a:custGeom>
            <a:avLst/>
            <a:gdLst>
              <a:gd name="connsiteX0" fmla="*/ 1425388 w 1425388"/>
              <a:gd name="connsiteY0" fmla="*/ 0 h 421341"/>
              <a:gd name="connsiteX1" fmla="*/ 1183341 w 1425388"/>
              <a:gd name="connsiteY1" fmla="*/ 421341 h 421341"/>
              <a:gd name="connsiteX2" fmla="*/ 268941 w 1425388"/>
              <a:gd name="connsiteY2" fmla="*/ 421341 h 421341"/>
              <a:gd name="connsiteX3" fmla="*/ 0 w 1425388"/>
              <a:gd name="connsiteY3" fmla="*/ 26894 h 421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5388" h="421341">
                <a:moveTo>
                  <a:pt x="1425388" y="0"/>
                </a:moveTo>
                <a:lnTo>
                  <a:pt x="1183341" y="421341"/>
                </a:lnTo>
                <a:lnTo>
                  <a:pt x="268941" y="421341"/>
                </a:lnTo>
                <a:lnTo>
                  <a:pt x="0" y="26894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TextBox 116"/>
          <p:cNvSpPr txBox="1"/>
          <p:nvPr/>
        </p:nvSpPr>
        <p:spPr>
          <a:xfrm>
            <a:off x="8318720" y="3784870"/>
            <a:ext cx="670376" cy="2771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비용이</a:t>
            </a:r>
          </a:p>
        </p:txBody>
      </p:sp>
      <p:sp>
        <p:nvSpPr>
          <p:cNvPr id="118" name="TextBox 117"/>
          <p:cNvSpPr txBox="1"/>
          <p:nvPr/>
        </p:nvSpPr>
        <p:spPr>
          <a:xfrm flipH="1">
            <a:off x="7686637" y="5771497"/>
            <a:ext cx="752587" cy="471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통상의</a:t>
            </a:r>
            <a:endParaRPr lang="en-US" altLang="ko-KR" sz="1400" dirty="0"/>
          </a:p>
          <a:p>
            <a:pPr algn="ctr"/>
            <a:r>
              <a:rPr lang="ko-KR" altLang="en-US" sz="1400" dirty="0"/>
              <a:t>기술자</a:t>
            </a:r>
            <a:endParaRPr lang="en-US" altLang="ko-KR" sz="1400" dirty="0"/>
          </a:p>
        </p:txBody>
      </p:sp>
      <p:sp>
        <p:nvSpPr>
          <p:cNvPr id="119" name="TextBox 118"/>
          <p:cNvSpPr txBox="1"/>
          <p:nvPr/>
        </p:nvSpPr>
        <p:spPr>
          <a:xfrm flipH="1">
            <a:off x="10581669" y="5771497"/>
            <a:ext cx="752587" cy="471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통상의</a:t>
            </a:r>
            <a:endParaRPr lang="en-US" altLang="ko-KR" sz="1400" dirty="0"/>
          </a:p>
          <a:p>
            <a:pPr algn="ctr"/>
            <a:r>
              <a:rPr lang="ko-KR" altLang="en-US" sz="1400" dirty="0"/>
              <a:t>기술자</a:t>
            </a:r>
          </a:p>
        </p:txBody>
      </p:sp>
      <p:sp>
        <p:nvSpPr>
          <p:cNvPr id="120" name="TextBox 119"/>
          <p:cNvSpPr txBox="1"/>
          <p:nvPr/>
        </p:nvSpPr>
        <p:spPr>
          <a:xfrm flipH="1">
            <a:off x="7223907" y="6393415"/>
            <a:ext cx="1678046" cy="2494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발명의 지식을 알기 전</a:t>
            </a:r>
            <a:endParaRPr lang="en-US" altLang="ko-KR" sz="1200" dirty="0"/>
          </a:p>
        </p:txBody>
      </p:sp>
      <p:sp>
        <p:nvSpPr>
          <p:cNvPr id="121" name="TextBox 120"/>
          <p:cNvSpPr txBox="1"/>
          <p:nvPr/>
        </p:nvSpPr>
        <p:spPr>
          <a:xfrm flipH="1">
            <a:off x="10066338" y="6393415"/>
            <a:ext cx="1793968" cy="2494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발명의 지식을 알고 난 후</a:t>
            </a:r>
            <a:endParaRPr lang="en-US" altLang="ko-KR" sz="1200" dirty="0"/>
          </a:p>
        </p:txBody>
      </p:sp>
      <p:cxnSp>
        <p:nvCxnSpPr>
          <p:cNvPr id="62" name="직선 화살표 연결선 61"/>
          <p:cNvCxnSpPr>
            <a:stCxn id="120" idx="0"/>
            <a:endCxn id="118" idx="2"/>
          </p:cNvCxnSpPr>
          <p:nvPr/>
        </p:nvCxnSpPr>
        <p:spPr>
          <a:xfrm flipV="1">
            <a:off x="8062930" y="6242647"/>
            <a:ext cx="0" cy="15076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/>
          <p:cNvCxnSpPr>
            <a:stCxn id="121" idx="0"/>
            <a:endCxn id="119" idx="2"/>
          </p:cNvCxnSpPr>
          <p:nvPr/>
        </p:nvCxnSpPr>
        <p:spPr>
          <a:xfrm flipH="1" flipV="1">
            <a:off x="10957962" y="6242647"/>
            <a:ext cx="5360" cy="15076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5"/>
          <p:cNvSpPr>
            <a:spLocks noChangeArrowheads="1"/>
          </p:cNvSpPr>
          <p:nvPr/>
        </p:nvSpPr>
        <p:spPr bwMode="auto">
          <a:xfrm>
            <a:off x="195260" y="1938584"/>
            <a:ext cx="2153886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통상의 기술자의 개념</a:t>
            </a:r>
          </a:p>
        </p:txBody>
      </p:sp>
      <p:sp>
        <p:nvSpPr>
          <p:cNvPr id="126" name="Rectangle 5"/>
          <p:cNvSpPr>
            <a:spLocks noChangeArrowheads="1"/>
          </p:cNvSpPr>
          <p:nvPr/>
        </p:nvSpPr>
        <p:spPr bwMode="auto">
          <a:xfrm>
            <a:off x="6359193" y="1938584"/>
            <a:ext cx="2080032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>
                <a:solidFill>
                  <a:schemeClr val="bg1"/>
                </a:solidFill>
                <a:latin typeface="+mj-ea"/>
                <a:ea typeface="+mj-ea"/>
              </a:rPr>
              <a:t>사후적 고찰의 금지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6803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용이성의 판단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진보성 유무를 가늠하는 창작의 난이도는 그 구성의 차이와 </a:t>
            </a:r>
            <a:r>
              <a:rPr lang="ko-KR" altLang="en-US" sz="1400" dirty="0" err="1">
                <a:solidFill>
                  <a:schemeClr val="tx2"/>
                </a:solidFill>
              </a:rPr>
              <a:t>작용효과를</a:t>
            </a:r>
            <a:r>
              <a:rPr lang="ko-KR" altLang="en-US" sz="1400" dirty="0">
                <a:solidFill>
                  <a:schemeClr val="tx2"/>
                </a:solidFill>
              </a:rPr>
              <a:t> 고려하여 판단하여야 하는 것이므로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특허된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기술의 구성이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선행기술과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차이가 있을 뿐 아니라 그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작용효과에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있어서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선행기술과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비교하여 현저하게 향상 진보된 것</a:t>
            </a:r>
            <a:r>
              <a:rPr lang="ko-KR" altLang="en-US" sz="1400" dirty="0">
                <a:solidFill>
                  <a:schemeClr val="tx2"/>
                </a:solidFill>
              </a:rPr>
              <a:t>인 때에는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기술의 </a:t>
            </a:r>
            <a:r>
              <a:rPr lang="ko-KR" altLang="en-US" sz="1400" dirty="0" err="1">
                <a:solidFill>
                  <a:schemeClr val="tx2"/>
                </a:solidFill>
              </a:rPr>
              <a:t>진보발전을</a:t>
            </a:r>
            <a:r>
              <a:rPr lang="ko-KR" altLang="en-US" sz="1400" dirty="0">
                <a:solidFill>
                  <a:schemeClr val="tx2"/>
                </a:solidFill>
              </a:rPr>
              <a:t> 도모하는 특허제도의 목적에 비추어 특허발명의 진보성을 인정하여야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즉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구성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요소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의 곤란성과 효과의 </a:t>
            </a:r>
            <a:r>
              <a:rPr lang="ko-KR" altLang="en-US" sz="1400" dirty="0" err="1">
                <a:solidFill>
                  <a:schemeClr val="tx2"/>
                </a:solidFill>
              </a:rPr>
              <a:t>현저성에</a:t>
            </a:r>
            <a:r>
              <a:rPr lang="ko-KR" altLang="en-US" sz="1400" dirty="0">
                <a:solidFill>
                  <a:schemeClr val="tx2"/>
                </a:solidFill>
              </a:rPr>
              <a:t> 따라 용이성을 판단하고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91" name="직선 연결선 90"/>
          <p:cNvCxnSpPr/>
          <p:nvPr/>
        </p:nvCxnSpPr>
        <p:spPr>
          <a:xfrm>
            <a:off x="0" y="1727701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그룹 69"/>
          <p:cNvGrpSpPr/>
          <p:nvPr/>
        </p:nvGrpSpPr>
        <p:grpSpPr>
          <a:xfrm>
            <a:off x="6778063" y="2169495"/>
            <a:ext cx="4965298" cy="4225066"/>
            <a:chOff x="5979556" y="2169495"/>
            <a:chExt cx="5763805" cy="4225066"/>
          </a:xfrm>
        </p:grpSpPr>
        <p:sp>
          <p:nvSpPr>
            <p:cNvPr id="2" name="순서도: 판단 1"/>
            <p:cNvSpPr/>
            <p:nvPr/>
          </p:nvSpPr>
          <p:spPr>
            <a:xfrm>
              <a:off x="7939340" y="3133622"/>
              <a:ext cx="1741383" cy="934948"/>
            </a:xfrm>
            <a:prstGeom prst="flowChartDecision">
              <a:avLst/>
            </a:prstGeom>
            <a:solidFill>
              <a:schemeClr val="accent5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chemeClr val="bg1"/>
                  </a:solidFill>
                </a:rPr>
                <a:t>구성의 곤란성</a:t>
              </a:r>
            </a:p>
          </p:txBody>
        </p:sp>
        <p:sp>
          <p:nvSpPr>
            <p:cNvPr id="55" name="순서도: 판단 54"/>
            <p:cNvSpPr/>
            <p:nvPr/>
          </p:nvSpPr>
          <p:spPr>
            <a:xfrm>
              <a:off x="7939340" y="4570356"/>
              <a:ext cx="1741383" cy="934948"/>
            </a:xfrm>
            <a:prstGeom prst="flowChartDecision">
              <a:avLst/>
            </a:prstGeom>
            <a:solidFill>
              <a:schemeClr val="accent4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bg1"/>
                  </a:solidFill>
                </a:rPr>
                <a:t>효과의 </a:t>
              </a:r>
              <a:r>
                <a:rPr lang="ko-KR" altLang="en-US" sz="1600" dirty="0" err="1">
                  <a:solidFill>
                    <a:schemeClr val="bg1"/>
                  </a:solidFill>
                </a:rPr>
                <a:t>현저성</a:t>
              </a:r>
              <a:endParaRPr lang="ko-KR" altLang="en-US" sz="1600" dirty="0">
                <a:solidFill>
                  <a:schemeClr val="bg1"/>
                </a:solidFill>
              </a:endParaRPr>
            </a:p>
          </p:txBody>
        </p:sp>
        <p:cxnSp>
          <p:nvCxnSpPr>
            <p:cNvPr id="6" name="직선 화살표 연결선 5"/>
            <p:cNvCxnSpPr>
              <a:stCxn id="2" idx="2"/>
              <a:endCxn id="55" idx="0"/>
            </p:cNvCxnSpPr>
            <p:nvPr/>
          </p:nvCxnSpPr>
          <p:spPr>
            <a:xfrm>
              <a:off x="8810031" y="4068570"/>
              <a:ext cx="0" cy="501786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직사각형 6"/>
            <p:cNvSpPr/>
            <p:nvPr/>
          </p:nvSpPr>
          <p:spPr>
            <a:xfrm>
              <a:off x="10397077" y="3349376"/>
              <a:ext cx="1089093" cy="51370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진보성 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인정</a:t>
              </a:r>
            </a:p>
          </p:txBody>
        </p:sp>
        <p:cxnSp>
          <p:nvCxnSpPr>
            <p:cNvPr id="9" name="직선 화살표 연결선 8"/>
            <p:cNvCxnSpPr>
              <a:stCxn id="2" idx="3"/>
              <a:endCxn id="7" idx="1"/>
            </p:cNvCxnSpPr>
            <p:nvPr/>
          </p:nvCxnSpPr>
          <p:spPr>
            <a:xfrm>
              <a:off x="9680723" y="3601096"/>
              <a:ext cx="716355" cy="5134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9686547" y="3283134"/>
              <a:ext cx="2420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Yes</a:t>
              </a:r>
              <a:endParaRPr lang="ko-KR" altLang="en-US" sz="1200" dirty="0"/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5979556" y="3349376"/>
              <a:ext cx="1089093" cy="51370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진보성 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부정</a:t>
              </a:r>
            </a:p>
          </p:txBody>
        </p:sp>
        <p:cxnSp>
          <p:nvCxnSpPr>
            <p:cNvPr id="65" name="직선 화살표 연결선 64"/>
            <p:cNvCxnSpPr>
              <a:stCxn id="2" idx="1"/>
              <a:endCxn id="63" idx="3"/>
            </p:cNvCxnSpPr>
            <p:nvPr/>
          </p:nvCxnSpPr>
          <p:spPr>
            <a:xfrm flipH="1">
              <a:off x="7068649" y="3601096"/>
              <a:ext cx="870691" cy="5134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/>
            <p:cNvSpPr txBox="1"/>
            <p:nvPr/>
          </p:nvSpPr>
          <p:spPr>
            <a:xfrm>
              <a:off x="7634431" y="3283134"/>
              <a:ext cx="2209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No</a:t>
              </a:r>
              <a:endParaRPr lang="ko-KR" altLang="en-US" sz="1200" dirty="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8825181" y="4119940"/>
              <a:ext cx="5344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/>
                <a:t>모호</a:t>
              </a:r>
            </a:p>
          </p:txBody>
        </p:sp>
        <p:cxnSp>
          <p:nvCxnSpPr>
            <p:cNvPr id="18" name="꺾인 연결선 17"/>
            <p:cNvCxnSpPr>
              <a:stCxn id="55" idx="3"/>
              <a:endCxn id="7" idx="2"/>
            </p:cNvCxnSpPr>
            <p:nvPr/>
          </p:nvCxnSpPr>
          <p:spPr>
            <a:xfrm flipV="1">
              <a:off x="9680723" y="3863084"/>
              <a:ext cx="1260901" cy="1174746"/>
            </a:xfrm>
            <a:prstGeom prst="bentConnector2">
              <a:avLst/>
            </a:prstGeom>
            <a:ln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꺾인 연결선 25"/>
            <p:cNvCxnSpPr>
              <a:stCxn id="55" idx="1"/>
              <a:endCxn id="63" idx="2"/>
            </p:cNvCxnSpPr>
            <p:nvPr/>
          </p:nvCxnSpPr>
          <p:spPr>
            <a:xfrm rot="10800000">
              <a:off x="6524102" y="3863084"/>
              <a:ext cx="1415237" cy="1174746"/>
            </a:xfrm>
            <a:prstGeom prst="bentConnector2">
              <a:avLst/>
            </a:prstGeom>
            <a:ln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9686547" y="4740417"/>
              <a:ext cx="2420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Yes</a:t>
              </a:r>
              <a:endParaRPr lang="ko-KR" altLang="en-US" sz="1200" dirty="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634431" y="4730685"/>
              <a:ext cx="2209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No</a:t>
              </a:r>
              <a:endParaRPr lang="ko-KR" altLang="en-US" sz="1200" dirty="0"/>
            </a:p>
          </p:txBody>
        </p:sp>
        <p:sp>
          <p:nvSpPr>
            <p:cNvPr id="29" name="모서리가 둥근 사각형 설명선 28"/>
            <p:cNvSpPr/>
            <p:nvPr/>
          </p:nvSpPr>
          <p:spPr>
            <a:xfrm>
              <a:off x="6078313" y="2169495"/>
              <a:ext cx="5665048" cy="610069"/>
            </a:xfrm>
            <a:prstGeom prst="wedgeRoundRectCallout">
              <a:avLst>
                <a:gd name="adj1" fmla="val -4827"/>
                <a:gd name="adj2" fmla="val 115794"/>
                <a:gd name="adj3" fmla="val 16667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>
                <a:buAutoNum type="arabicPeriod"/>
              </a:pPr>
              <a:r>
                <a:rPr lang="en-US" altLang="ko-KR" sz="1200" dirty="0">
                  <a:solidFill>
                    <a:schemeClr val="bg1">
                      <a:lumMod val="50000"/>
                    </a:schemeClr>
                  </a:solidFill>
                </a:rPr>
                <a:t>TSM Test: Teaching(</a:t>
              </a:r>
              <a:r>
                <a:rPr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교시</a:t>
              </a:r>
              <a:r>
                <a:rPr lang="en-US" altLang="ko-KR" sz="1200" dirty="0">
                  <a:solidFill>
                    <a:schemeClr val="bg1">
                      <a:lumMod val="50000"/>
                    </a:schemeClr>
                  </a:solidFill>
                </a:rPr>
                <a:t>), Suggesting(</a:t>
              </a:r>
              <a:r>
                <a:rPr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암시</a:t>
              </a:r>
              <a:r>
                <a:rPr lang="en-US" altLang="ko-KR" sz="1200" dirty="0">
                  <a:solidFill>
                    <a:schemeClr val="bg1">
                      <a:lumMod val="50000"/>
                    </a:schemeClr>
                  </a:solidFill>
                </a:rPr>
                <a:t>), Motivation(</a:t>
              </a:r>
              <a:r>
                <a:rPr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동기</a:t>
              </a:r>
              <a:r>
                <a:rPr lang="en-US" altLang="ko-KR" sz="1200" dirty="0">
                  <a:solidFill>
                    <a:schemeClr val="bg1">
                      <a:lumMod val="50000"/>
                    </a:schemeClr>
                  </a:solidFill>
                </a:rPr>
                <a:t>)</a:t>
              </a:r>
            </a:p>
            <a:p>
              <a:pPr marL="342900" indent="-342900">
                <a:buAutoNum type="arabicPeriod"/>
              </a:pPr>
              <a:r>
                <a:rPr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통상의 창작능력발휘 고려</a:t>
              </a:r>
            </a:p>
          </p:txBody>
        </p:sp>
        <p:sp>
          <p:nvSpPr>
            <p:cNvPr id="81" name="모서리가 둥근 사각형 설명선 80"/>
            <p:cNvSpPr/>
            <p:nvPr/>
          </p:nvSpPr>
          <p:spPr>
            <a:xfrm>
              <a:off x="8911951" y="5813674"/>
              <a:ext cx="2214957" cy="580887"/>
            </a:xfrm>
            <a:prstGeom prst="wedgeRoundRectCallout">
              <a:avLst>
                <a:gd name="adj1" fmla="val -38104"/>
                <a:gd name="adj2" fmla="val -123652"/>
                <a:gd name="adj3" fmla="val 16667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>
                <a:buAutoNum type="arabicPeriod"/>
              </a:pPr>
              <a:r>
                <a:rPr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이질적인 효과</a:t>
              </a:r>
              <a:endParaRPr lang="en-US" altLang="ko-KR" sz="12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marL="342900" indent="-342900">
                <a:buAutoNum type="arabicPeriod"/>
              </a:pPr>
              <a:r>
                <a:rPr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동질의 우수한 효과</a:t>
              </a:r>
            </a:p>
          </p:txBody>
        </p:sp>
      </p:grpSp>
      <p:cxnSp>
        <p:nvCxnSpPr>
          <p:cNvPr id="82" name="직선 연결선 81"/>
          <p:cNvCxnSpPr/>
          <p:nvPr/>
        </p:nvCxnSpPr>
        <p:spPr>
          <a:xfrm>
            <a:off x="6598995" y="1921267"/>
            <a:ext cx="0" cy="472158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/>
          <p:cNvSpPr/>
          <p:nvPr/>
        </p:nvSpPr>
        <p:spPr>
          <a:xfrm>
            <a:off x="991194" y="2580592"/>
            <a:ext cx="919791" cy="34804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출원서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991194" y="3045049"/>
            <a:ext cx="919791" cy="34804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명세서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991194" y="3537764"/>
            <a:ext cx="919791" cy="34804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필요한 도면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991194" y="4002221"/>
            <a:ext cx="919791" cy="34804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요약서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2142884" y="2007361"/>
            <a:ext cx="631136" cy="46716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발명의 설명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2142884" y="4935090"/>
            <a:ext cx="631136" cy="47361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청구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범위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97" name="꺾인 연결선 96"/>
          <p:cNvCxnSpPr>
            <a:stCxn id="103" idx="3"/>
            <a:endCxn id="94" idx="1"/>
          </p:cNvCxnSpPr>
          <p:nvPr/>
        </p:nvCxnSpPr>
        <p:spPr>
          <a:xfrm>
            <a:off x="719190" y="3158885"/>
            <a:ext cx="272004" cy="101736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꺾인 연결선 98"/>
          <p:cNvCxnSpPr>
            <a:stCxn id="103" idx="3"/>
            <a:endCxn id="89" idx="1"/>
          </p:cNvCxnSpPr>
          <p:nvPr/>
        </p:nvCxnSpPr>
        <p:spPr>
          <a:xfrm>
            <a:off x="719190" y="3158885"/>
            <a:ext cx="272004" cy="60189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꺾인 연결선 99"/>
          <p:cNvCxnSpPr>
            <a:stCxn id="103" idx="3"/>
            <a:endCxn id="92" idx="1"/>
          </p:cNvCxnSpPr>
          <p:nvPr/>
        </p:nvCxnSpPr>
        <p:spPr>
          <a:xfrm>
            <a:off x="719190" y="3158885"/>
            <a:ext cx="272004" cy="55290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꺾인 연결선 100"/>
          <p:cNvCxnSpPr>
            <a:stCxn id="89" idx="3"/>
          </p:cNvCxnSpPr>
          <p:nvPr/>
        </p:nvCxnSpPr>
        <p:spPr>
          <a:xfrm>
            <a:off x="1910985" y="3219074"/>
            <a:ext cx="231899" cy="187559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꺾인 연결선 101"/>
          <p:cNvCxnSpPr>
            <a:stCxn id="89" idx="3"/>
            <a:endCxn id="95" idx="1"/>
          </p:cNvCxnSpPr>
          <p:nvPr/>
        </p:nvCxnSpPr>
        <p:spPr>
          <a:xfrm flipV="1">
            <a:off x="1910985" y="2240945"/>
            <a:ext cx="231899" cy="978129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/>
          <p:cNvSpPr/>
          <p:nvPr/>
        </p:nvSpPr>
        <p:spPr>
          <a:xfrm>
            <a:off x="2950152" y="2007361"/>
            <a:ext cx="1236668" cy="3191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발명의 명칭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2950152" y="2435451"/>
            <a:ext cx="1236668" cy="3191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기술분야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950152" y="2864681"/>
            <a:ext cx="1236668" cy="3191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배경기술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2950152" y="3293911"/>
            <a:ext cx="1236668" cy="3191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발명의 내용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2950152" y="3725429"/>
            <a:ext cx="1236668" cy="45081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도면의 간단한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설명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10" name="직사각형 109"/>
          <p:cNvSpPr/>
          <p:nvPr/>
        </p:nvSpPr>
        <p:spPr>
          <a:xfrm>
            <a:off x="2950409" y="4289259"/>
            <a:ext cx="1236668" cy="4614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실시를 위한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구체적인 내용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11" name="직사각형 110"/>
          <p:cNvSpPr/>
          <p:nvPr/>
        </p:nvSpPr>
        <p:spPr>
          <a:xfrm>
            <a:off x="4812011" y="3295051"/>
            <a:ext cx="1236668" cy="3191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해결과제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4812011" y="3724281"/>
            <a:ext cx="1236668" cy="3191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해결수단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4812011" y="4153511"/>
            <a:ext cx="1236668" cy="319165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효과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2950152" y="4935091"/>
            <a:ext cx="1236668" cy="42809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청구항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(A</a:t>
            </a:r>
            <a:r>
              <a:rPr lang="ko-KR" altLang="en-US" sz="1200" dirty="0">
                <a:solidFill>
                  <a:schemeClr val="tx1"/>
                </a:solidFill>
              </a:rPr>
              <a:t>발명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2950152" y="5496742"/>
            <a:ext cx="1236668" cy="45199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청구항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(B</a:t>
            </a:r>
            <a:r>
              <a:rPr lang="ko-KR" altLang="en-US" sz="1200" dirty="0">
                <a:solidFill>
                  <a:schemeClr val="tx1"/>
                </a:solidFill>
              </a:rPr>
              <a:t>발명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2950152" y="6069811"/>
            <a:ext cx="1236668" cy="4702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청구항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(C</a:t>
            </a:r>
            <a:r>
              <a:rPr lang="ko-KR" altLang="en-US" sz="1200" dirty="0">
                <a:solidFill>
                  <a:schemeClr val="tx1"/>
                </a:solidFill>
              </a:rPr>
              <a:t>발명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4146595" y="4935091"/>
            <a:ext cx="2376073" cy="42809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200" dirty="0">
                <a:solidFill>
                  <a:schemeClr val="tx1"/>
                </a:solidFill>
              </a:rPr>
              <a:t>a, b, c  </a:t>
            </a:r>
            <a:r>
              <a:rPr lang="ko-KR" altLang="en-US" sz="1200" dirty="0">
                <a:solidFill>
                  <a:schemeClr val="tx1"/>
                </a:solidFill>
              </a:rPr>
              <a:t>를 포함하는 자전거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4146595" y="5508695"/>
            <a:ext cx="2376073" cy="42809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200" dirty="0">
                <a:solidFill>
                  <a:schemeClr val="tx1"/>
                </a:solidFill>
              </a:rPr>
              <a:t>a, b, c, d  </a:t>
            </a:r>
            <a:r>
              <a:rPr lang="ko-KR" altLang="en-US" sz="1200" dirty="0">
                <a:solidFill>
                  <a:schemeClr val="tx1"/>
                </a:solidFill>
              </a:rPr>
              <a:t>를 포함하는 자전거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30" name="직사각형 129"/>
          <p:cNvSpPr/>
          <p:nvPr/>
        </p:nvSpPr>
        <p:spPr>
          <a:xfrm>
            <a:off x="4146595" y="6069810"/>
            <a:ext cx="2376073" cy="4702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200" dirty="0">
                <a:solidFill>
                  <a:schemeClr val="tx1"/>
                </a:solidFill>
              </a:rPr>
              <a:t>a, b, c, d, e  </a:t>
            </a:r>
            <a:r>
              <a:rPr lang="ko-KR" altLang="en-US" sz="1200" dirty="0">
                <a:solidFill>
                  <a:schemeClr val="tx1"/>
                </a:solidFill>
              </a:rPr>
              <a:t>를 포함하는 자전거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72" name="꺾인 연결선 71"/>
          <p:cNvCxnSpPr>
            <a:stCxn id="95" idx="3"/>
            <a:endCxn id="105" idx="1"/>
          </p:cNvCxnSpPr>
          <p:nvPr/>
        </p:nvCxnSpPr>
        <p:spPr>
          <a:xfrm flipV="1">
            <a:off x="2774020" y="2166944"/>
            <a:ext cx="176132" cy="7400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꺾인 연결선 73"/>
          <p:cNvCxnSpPr>
            <a:stCxn id="95" idx="3"/>
            <a:endCxn id="110" idx="1"/>
          </p:cNvCxnSpPr>
          <p:nvPr/>
        </p:nvCxnSpPr>
        <p:spPr>
          <a:xfrm>
            <a:off x="2774020" y="2240945"/>
            <a:ext cx="176389" cy="227903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꺾인 연결선 78"/>
          <p:cNvCxnSpPr>
            <a:stCxn id="95" idx="3"/>
            <a:endCxn id="106" idx="1"/>
          </p:cNvCxnSpPr>
          <p:nvPr/>
        </p:nvCxnSpPr>
        <p:spPr>
          <a:xfrm>
            <a:off x="2774020" y="2240945"/>
            <a:ext cx="176132" cy="35408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꺾인 연결선 131"/>
          <p:cNvCxnSpPr>
            <a:stCxn id="95" idx="3"/>
            <a:endCxn id="109" idx="1"/>
          </p:cNvCxnSpPr>
          <p:nvPr/>
        </p:nvCxnSpPr>
        <p:spPr>
          <a:xfrm>
            <a:off x="2774020" y="2240945"/>
            <a:ext cx="176132" cy="170989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꺾인 연결선 133"/>
          <p:cNvCxnSpPr>
            <a:stCxn id="95" idx="3"/>
            <a:endCxn id="107" idx="1"/>
          </p:cNvCxnSpPr>
          <p:nvPr/>
        </p:nvCxnSpPr>
        <p:spPr>
          <a:xfrm>
            <a:off x="2774020" y="2240945"/>
            <a:ext cx="176132" cy="78331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꺾인 연결선 135"/>
          <p:cNvCxnSpPr>
            <a:stCxn id="95" idx="3"/>
            <a:endCxn id="108" idx="1"/>
          </p:cNvCxnSpPr>
          <p:nvPr/>
        </p:nvCxnSpPr>
        <p:spPr>
          <a:xfrm>
            <a:off x="2774020" y="2240945"/>
            <a:ext cx="176132" cy="121254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꺾인 연결선 137"/>
          <p:cNvCxnSpPr>
            <a:stCxn id="111" idx="1"/>
            <a:endCxn id="108" idx="3"/>
          </p:cNvCxnSpPr>
          <p:nvPr/>
        </p:nvCxnSpPr>
        <p:spPr>
          <a:xfrm rot="10800000">
            <a:off x="4186821" y="3453494"/>
            <a:ext cx="625191" cy="114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꺾인 연결선 139"/>
          <p:cNvCxnSpPr>
            <a:stCxn id="108" idx="3"/>
            <a:endCxn id="122" idx="1"/>
          </p:cNvCxnSpPr>
          <p:nvPr/>
        </p:nvCxnSpPr>
        <p:spPr>
          <a:xfrm>
            <a:off x="4186820" y="3453494"/>
            <a:ext cx="625191" cy="85960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꺾인 연결선 141"/>
          <p:cNvCxnSpPr>
            <a:stCxn id="108" idx="3"/>
            <a:endCxn id="112" idx="1"/>
          </p:cNvCxnSpPr>
          <p:nvPr/>
        </p:nvCxnSpPr>
        <p:spPr>
          <a:xfrm>
            <a:off x="4186820" y="3453494"/>
            <a:ext cx="625191" cy="43037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꺾인 연결선 143"/>
          <p:cNvCxnSpPr>
            <a:stCxn id="96" idx="3"/>
            <a:endCxn id="127" idx="1"/>
          </p:cNvCxnSpPr>
          <p:nvPr/>
        </p:nvCxnSpPr>
        <p:spPr>
          <a:xfrm>
            <a:off x="2774020" y="5171899"/>
            <a:ext cx="176132" cy="113306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꺾인 연결선 145"/>
          <p:cNvCxnSpPr>
            <a:stCxn id="96" idx="3"/>
            <a:endCxn id="123" idx="1"/>
          </p:cNvCxnSpPr>
          <p:nvPr/>
        </p:nvCxnSpPr>
        <p:spPr>
          <a:xfrm flipV="1">
            <a:off x="2774020" y="5149136"/>
            <a:ext cx="176132" cy="22763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꺾인 연결선 147"/>
          <p:cNvCxnSpPr>
            <a:stCxn id="96" idx="3"/>
            <a:endCxn id="124" idx="1"/>
          </p:cNvCxnSpPr>
          <p:nvPr/>
        </p:nvCxnSpPr>
        <p:spPr>
          <a:xfrm>
            <a:off x="2774020" y="5171899"/>
            <a:ext cx="176132" cy="55084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직사각형 148"/>
          <p:cNvSpPr/>
          <p:nvPr/>
        </p:nvSpPr>
        <p:spPr>
          <a:xfrm>
            <a:off x="4263881" y="4621726"/>
            <a:ext cx="1037579" cy="2072492"/>
          </a:xfrm>
          <a:prstGeom prst="rect">
            <a:avLst/>
          </a:prstGeom>
          <a:noFill/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TextBox 149"/>
          <p:cNvSpPr txBox="1"/>
          <p:nvPr/>
        </p:nvSpPr>
        <p:spPr>
          <a:xfrm>
            <a:off x="4258920" y="4647007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구성</a:t>
            </a:r>
            <a:r>
              <a:rPr lang="en-US" altLang="ko-KR" sz="1600" dirty="0">
                <a:solidFill>
                  <a:srgbClr val="FF0000"/>
                </a:solidFill>
              </a:rPr>
              <a:t>(</a:t>
            </a:r>
            <a:r>
              <a:rPr lang="ko-KR" altLang="en-US" sz="1600" dirty="0">
                <a:solidFill>
                  <a:srgbClr val="FF0000"/>
                </a:solidFill>
              </a:rPr>
              <a:t>요소</a:t>
            </a:r>
            <a:r>
              <a:rPr lang="en-US" altLang="ko-KR" sz="1600" dirty="0">
                <a:solidFill>
                  <a:srgbClr val="FF0000"/>
                </a:solidFill>
              </a:rPr>
              <a:t>) - </a:t>
            </a:r>
            <a:r>
              <a:rPr lang="ko-KR" altLang="en-US" sz="1600" dirty="0">
                <a:solidFill>
                  <a:srgbClr val="FF0000"/>
                </a:solidFill>
              </a:rPr>
              <a:t>해결수단</a:t>
            </a:r>
          </a:p>
        </p:txBody>
      </p:sp>
      <p:sp>
        <p:nvSpPr>
          <p:cNvPr id="103" name="직사각형 102"/>
          <p:cNvSpPr/>
          <p:nvPr/>
        </p:nvSpPr>
        <p:spPr>
          <a:xfrm>
            <a:off x="170341" y="2922076"/>
            <a:ext cx="548849" cy="47361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출원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서류</a:t>
            </a:r>
          </a:p>
        </p:txBody>
      </p:sp>
      <p:cxnSp>
        <p:nvCxnSpPr>
          <p:cNvPr id="56" name="꺾인 연결선 55"/>
          <p:cNvCxnSpPr>
            <a:stCxn id="88" idx="1"/>
            <a:endCxn id="103" idx="3"/>
          </p:cNvCxnSpPr>
          <p:nvPr/>
        </p:nvCxnSpPr>
        <p:spPr>
          <a:xfrm rot="10800000" flipV="1">
            <a:off x="719190" y="2754617"/>
            <a:ext cx="272004" cy="404268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7596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의견서에 개진된 효과의 참작 여부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72</a:t>
            </a:fld>
            <a:endParaRPr lang="ko-KR" altLang="en-US"/>
          </a:p>
        </p:txBody>
      </p:sp>
      <p:sp>
        <p:nvSpPr>
          <p:cNvPr id="90" name="TextBox 89"/>
          <p:cNvSpPr txBox="1"/>
          <p:nvPr/>
        </p:nvSpPr>
        <p:spPr>
          <a:xfrm>
            <a:off x="77875" y="986046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효과의 현저성은 특허발명의 명세서에 기재되어 통상의 기술자가 인식하거나 추론할 수 있는 효과를 중심으로 판단하여야 한다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대법원 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2021. 4. 8.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선고 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2019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후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10609).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특허발명의 유리한 효과가 발명의 설명에 기재되어 있지 아니하더라도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통상의 기술자가 발명의 설명의 기재로부터 유리한 효과를 추론</a:t>
            </a:r>
            <a:r>
              <a:rPr lang="ko-KR" altLang="en-US" sz="1400" dirty="0">
                <a:solidFill>
                  <a:schemeClr val="tx2"/>
                </a:solidFill>
              </a:rPr>
              <a:t>할 수 있을 때에는 출원일 이후에 의견서 등에서 </a:t>
            </a:r>
            <a:r>
              <a:rPr lang="ko-KR" altLang="en-US" sz="1400" dirty="0" err="1">
                <a:solidFill>
                  <a:schemeClr val="tx2"/>
                </a:solidFill>
              </a:rPr>
              <a:t>주장ㆍ증명하는</a:t>
            </a:r>
            <a:r>
              <a:rPr lang="ko-KR" altLang="en-US" sz="1400" dirty="0">
                <a:solidFill>
                  <a:schemeClr val="tx2"/>
                </a:solidFill>
              </a:rPr>
              <a:t> 그 효과도 참작하여 진보성을 판단한다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대법원 </a:t>
            </a:r>
            <a:r>
              <a:rPr lang="en-US" altLang="ko-KR" sz="1400" dirty="0">
                <a:solidFill>
                  <a:schemeClr val="tx2"/>
                </a:solidFill>
              </a:rPr>
              <a:t>2002. 8. 23. </a:t>
            </a:r>
            <a:r>
              <a:rPr lang="ko-KR" altLang="en-US" sz="1400" dirty="0">
                <a:solidFill>
                  <a:schemeClr val="tx2"/>
                </a:solidFill>
              </a:rPr>
              <a:t>선고 </a:t>
            </a:r>
            <a:r>
              <a:rPr lang="en-US" altLang="ko-KR" sz="1400" dirty="0">
                <a:solidFill>
                  <a:schemeClr val="tx2"/>
                </a:solidFill>
              </a:rPr>
              <a:t>2000</a:t>
            </a:r>
            <a:r>
              <a:rPr lang="ko-KR" altLang="en-US" sz="1400" dirty="0">
                <a:solidFill>
                  <a:schemeClr val="tx2"/>
                </a:solidFill>
              </a:rPr>
              <a:t>후</a:t>
            </a:r>
            <a:r>
              <a:rPr lang="en-US" altLang="ko-KR" sz="1400" dirty="0">
                <a:solidFill>
                  <a:schemeClr val="tx2"/>
                </a:solidFill>
              </a:rPr>
              <a:t>3234)</a:t>
            </a:r>
            <a:r>
              <a:rPr lang="en-US" altLang="ko-KR" sz="1400" b="1" dirty="0">
                <a:solidFill>
                  <a:schemeClr val="tx2"/>
                </a:solidFill>
              </a:rPr>
              <a:t>.</a:t>
            </a:r>
            <a:r>
              <a:rPr lang="en-US" altLang="ko-KR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그러나 발명의 설명에 기재되어 있지 않고 발명의 설명 또는 도면의 기재로부터 통상의 기술자가 미루어 짐작할 수 없는 경우에는 의견서 등에서 </a:t>
            </a:r>
            <a:r>
              <a:rPr lang="ko-KR" altLang="en-US" sz="1400" dirty="0" err="1">
                <a:solidFill>
                  <a:schemeClr val="tx2"/>
                </a:solidFill>
              </a:rPr>
              <a:t>주장ㆍ증명하는</a:t>
            </a:r>
            <a:r>
              <a:rPr lang="ko-KR" altLang="en-US" sz="1400" dirty="0">
                <a:solidFill>
                  <a:schemeClr val="tx2"/>
                </a:solidFill>
              </a:rPr>
              <a:t> 효과는 참작해서는 아니 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91" name="직선 연결선 90"/>
          <p:cNvCxnSpPr/>
          <p:nvPr/>
        </p:nvCxnSpPr>
        <p:spPr>
          <a:xfrm>
            <a:off x="0" y="194015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>
            <a:cxnSpLocks/>
            <a:endCxn id="23" idx="2"/>
          </p:cNvCxnSpPr>
          <p:nvPr/>
        </p:nvCxnSpPr>
        <p:spPr>
          <a:xfrm flipV="1">
            <a:off x="2570882" y="2970691"/>
            <a:ext cx="0" cy="23289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061768" y="2601359"/>
            <a:ext cx="101822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특허출원</a:t>
            </a:r>
          </a:p>
        </p:txBody>
      </p:sp>
      <p:cxnSp>
        <p:nvCxnSpPr>
          <p:cNvPr id="24" name="직선 연결선 23"/>
          <p:cNvCxnSpPr/>
          <p:nvPr/>
        </p:nvCxnSpPr>
        <p:spPr>
          <a:xfrm>
            <a:off x="820298" y="3231999"/>
            <a:ext cx="8884222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>
            <a:cxnSpLocks/>
            <a:endCxn id="27" idx="0"/>
          </p:cNvCxnSpPr>
          <p:nvPr/>
        </p:nvCxnSpPr>
        <p:spPr>
          <a:xfrm>
            <a:off x="1739964" y="3276718"/>
            <a:ext cx="0" cy="23410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230850" y="3510823"/>
            <a:ext cx="101822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/>
              <a:t>공지기술</a:t>
            </a:r>
            <a:endParaRPr lang="en-US" altLang="ko-KR" dirty="0"/>
          </a:p>
        </p:txBody>
      </p:sp>
      <p:cxnSp>
        <p:nvCxnSpPr>
          <p:cNvPr id="31" name="직선 연결선 30"/>
          <p:cNvCxnSpPr>
            <a:cxnSpLocks/>
            <a:endCxn id="32" idx="2"/>
          </p:cNvCxnSpPr>
          <p:nvPr/>
        </p:nvCxnSpPr>
        <p:spPr>
          <a:xfrm flipV="1">
            <a:off x="3683127" y="2970691"/>
            <a:ext cx="0" cy="23289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174013" y="2601359"/>
            <a:ext cx="101822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심사청구</a:t>
            </a:r>
          </a:p>
        </p:txBody>
      </p:sp>
      <p:cxnSp>
        <p:nvCxnSpPr>
          <p:cNvPr id="33" name="직선 연결선 32"/>
          <p:cNvCxnSpPr>
            <a:cxnSpLocks/>
            <a:endCxn id="34" idx="0"/>
          </p:cNvCxnSpPr>
          <p:nvPr/>
        </p:nvCxnSpPr>
        <p:spPr>
          <a:xfrm>
            <a:off x="7778387" y="3276718"/>
            <a:ext cx="0" cy="33702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038441" y="3613740"/>
            <a:ext cx="1479892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 err="1">
                <a:solidFill>
                  <a:schemeClr val="accent2"/>
                </a:solidFill>
              </a:rPr>
              <a:t>실체심사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838308" y="4312818"/>
            <a:ext cx="6074475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5">
                    <a:lumMod val="50000"/>
                  </a:schemeClr>
                </a:solidFill>
              </a:rPr>
              <a:t>통상의 기술자가 </a:t>
            </a:r>
            <a:r>
              <a:rPr lang="en-US" altLang="ko-KR" dirty="0">
                <a:solidFill>
                  <a:schemeClr val="accent5">
                    <a:lumMod val="50000"/>
                  </a:schemeClr>
                </a:solidFill>
              </a:rPr>
              <a:t>B</a:t>
            </a:r>
            <a:r>
              <a:rPr lang="ko-KR" altLang="en-US" dirty="0">
                <a:solidFill>
                  <a:schemeClr val="accent5">
                    <a:lumMod val="50000"/>
                  </a:schemeClr>
                </a:solidFill>
              </a:rPr>
              <a:t>효과를 발명의 설명의 </a:t>
            </a:r>
            <a:r>
              <a:rPr lang="ko-KR" altLang="en-US" dirty="0" err="1">
                <a:solidFill>
                  <a:schemeClr val="accent5">
                    <a:lumMod val="50000"/>
                  </a:schemeClr>
                </a:solidFill>
              </a:rPr>
              <a:t>기재로부터</a:t>
            </a:r>
            <a:r>
              <a:rPr lang="ko-KR" altLang="en-US" dirty="0">
                <a:solidFill>
                  <a:schemeClr val="accent5">
                    <a:lumMod val="50000"/>
                  </a:schemeClr>
                </a:solidFill>
              </a:rPr>
              <a:t> 추론할 수 있을 때에 한해서만 </a:t>
            </a:r>
            <a:r>
              <a:rPr lang="en-US" altLang="ko-KR" dirty="0">
                <a:solidFill>
                  <a:schemeClr val="accent5">
                    <a:lumMod val="50000"/>
                  </a:schemeClr>
                </a:solidFill>
              </a:rPr>
              <a:t>B</a:t>
            </a:r>
            <a:r>
              <a:rPr lang="ko-KR" altLang="en-US" dirty="0">
                <a:solidFill>
                  <a:schemeClr val="accent5">
                    <a:lumMod val="50000"/>
                  </a:schemeClr>
                </a:solidFill>
              </a:rPr>
              <a:t>효과의 </a:t>
            </a:r>
            <a:r>
              <a:rPr lang="ko-KR" altLang="en-US" dirty="0" err="1">
                <a:solidFill>
                  <a:schemeClr val="accent5">
                    <a:lumMod val="50000"/>
                  </a:schemeClr>
                </a:solidFill>
              </a:rPr>
              <a:t>현저성을</a:t>
            </a:r>
            <a:r>
              <a:rPr lang="ko-KR" altLang="en-US" dirty="0">
                <a:solidFill>
                  <a:schemeClr val="accent5">
                    <a:lumMod val="50000"/>
                  </a:schemeClr>
                </a:solidFill>
              </a:rPr>
              <a:t> 진보성 판단에서 고려 </a:t>
            </a:r>
          </a:p>
        </p:txBody>
      </p:sp>
      <p:sp>
        <p:nvSpPr>
          <p:cNvPr id="36" name="아래쪽 화살표 35"/>
          <p:cNvSpPr/>
          <p:nvPr/>
        </p:nvSpPr>
        <p:spPr>
          <a:xfrm rot="10800000">
            <a:off x="7410531" y="4071077"/>
            <a:ext cx="719191" cy="216064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9" name="직선 연결선 38"/>
          <p:cNvCxnSpPr>
            <a:cxnSpLocks/>
            <a:endCxn id="40" idx="0"/>
          </p:cNvCxnSpPr>
          <p:nvPr/>
        </p:nvCxnSpPr>
        <p:spPr>
          <a:xfrm>
            <a:off x="4226317" y="3276718"/>
            <a:ext cx="1" cy="23410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717204" y="3510823"/>
            <a:ext cx="101822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/>
              <a:t>실체심사</a:t>
            </a:r>
            <a:endParaRPr lang="en-US" altLang="ko-KR" dirty="0"/>
          </a:p>
        </p:txBody>
      </p:sp>
      <p:cxnSp>
        <p:nvCxnSpPr>
          <p:cNvPr id="41" name="직선 연결선 40"/>
          <p:cNvCxnSpPr>
            <a:cxnSpLocks/>
            <a:endCxn id="42" idx="0"/>
          </p:cNvCxnSpPr>
          <p:nvPr/>
        </p:nvCxnSpPr>
        <p:spPr>
          <a:xfrm>
            <a:off x="5467121" y="3276718"/>
            <a:ext cx="0" cy="23410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749616" y="3510823"/>
            <a:ext cx="143500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거절이유통지</a:t>
            </a:r>
            <a:endParaRPr lang="en-US" altLang="ko-KR" dirty="0"/>
          </a:p>
        </p:txBody>
      </p:sp>
      <p:cxnSp>
        <p:nvCxnSpPr>
          <p:cNvPr id="43" name="직선 연결선 42"/>
          <p:cNvCxnSpPr>
            <a:cxnSpLocks/>
            <a:endCxn id="44" idx="2"/>
          </p:cNvCxnSpPr>
          <p:nvPr/>
        </p:nvCxnSpPr>
        <p:spPr>
          <a:xfrm flipV="1">
            <a:off x="6349009" y="2970691"/>
            <a:ext cx="0" cy="23289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944090" y="2601359"/>
            <a:ext cx="80983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의견서</a:t>
            </a:r>
          </a:p>
        </p:txBody>
      </p:sp>
      <p:sp>
        <p:nvSpPr>
          <p:cNvPr id="12" name="모서리가 둥근 사각형 설명선 11"/>
          <p:cNvSpPr/>
          <p:nvPr/>
        </p:nvSpPr>
        <p:spPr>
          <a:xfrm>
            <a:off x="2236427" y="1993501"/>
            <a:ext cx="2017080" cy="446388"/>
          </a:xfrm>
          <a:prstGeom prst="wedgeRoundRectCallout">
            <a:avLst>
              <a:gd name="adj1" fmla="val -35778"/>
              <a:gd name="adj2" fmla="val 80357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발명은 </a:t>
            </a:r>
            <a:r>
              <a:rPr lang="en-US" altLang="ko-KR" sz="1400" dirty="0">
                <a:solidFill>
                  <a:schemeClr val="tx1"/>
                </a:solidFill>
              </a:rPr>
              <a:t>A </a:t>
            </a:r>
            <a:r>
              <a:rPr lang="ko-KR" altLang="en-US" sz="1400" dirty="0">
                <a:solidFill>
                  <a:schemeClr val="tx1"/>
                </a:solidFill>
              </a:rPr>
              <a:t>효과가 있다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8" name="모서리가 둥근 사각형 설명선 47"/>
          <p:cNvSpPr/>
          <p:nvPr/>
        </p:nvSpPr>
        <p:spPr>
          <a:xfrm>
            <a:off x="5672679" y="1993501"/>
            <a:ext cx="4693955" cy="446388"/>
          </a:xfrm>
          <a:prstGeom prst="wedgeRoundRectCallout">
            <a:avLst>
              <a:gd name="adj1" fmla="val -36216"/>
              <a:gd name="adj2" fmla="val 89563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발명은 </a:t>
            </a:r>
            <a:r>
              <a:rPr lang="en-US" altLang="ko-KR" sz="1400" dirty="0">
                <a:solidFill>
                  <a:schemeClr val="tx1"/>
                </a:solidFill>
              </a:rPr>
              <a:t>B </a:t>
            </a:r>
            <a:r>
              <a:rPr lang="ko-KR" altLang="en-US" sz="1400" dirty="0">
                <a:solidFill>
                  <a:schemeClr val="tx1"/>
                </a:solidFill>
              </a:rPr>
              <a:t>효과도 있기 때문에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효과의 </a:t>
            </a:r>
            <a:r>
              <a:rPr lang="ko-KR" altLang="en-US" sz="1400" dirty="0" err="1">
                <a:solidFill>
                  <a:schemeClr val="tx1"/>
                </a:solidFill>
              </a:rPr>
              <a:t>현저성이</a:t>
            </a:r>
            <a:r>
              <a:rPr lang="ko-KR" altLang="en-US" sz="1400" dirty="0">
                <a:solidFill>
                  <a:schemeClr val="tx1"/>
                </a:solidFill>
              </a:rPr>
              <a:t> 인정된다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9" name="모서리가 둥근 사각형 설명선 48"/>
          <p:cNvSpPr/>
          <p:nvPr/>
        </p:nvSpPr>
        <p:spPr>
          <a:xfrm>
            <a:off x="2570882" y="4199808"/>
            <a:ext cx="2896237" cy="446388"/>
          </a:xfrm>
          <a:prstGeom prst="wedgeRoundRectCallout">
            <a:avLst>
              <a:gd name="adj1" fmla="val 42812"/>
              <a:gd name="adj2" fmla="val -110678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공지기술에 의하여 진보성 위반이다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600EB62-E45B-4AAA-8245-72294726EAC1}"/>
              </a:ext>
            </a:extLst>
          </p:cNvPr>
          <p:cNvSpPr/>
          <p:nvPr/>
        </p:nvSpPr>
        <p:spPr>
          <a:xfrm>
            <a:off x="341014" y="5234840"/>
            <a:ext cx="5331665" cy="116955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endParaRPr lang="en-US" altLang="ko-KR" sz="1400" dirty="0"/>
          </a:p>
          <a:p>
            <a:pPr algn="just"/>
            <a:r>
              <a:rPr lang="ko-KR" altLang="en-US" sz="1400" dirty="0"/>
              <a:t>만일</a:t>
            </a:r>
            <a:r>
              <a:rPr lang="en-US" altLang="ko-KR" sz="1400" dirty="0"/>
              <a:t>, </a:t>
            </a:r>
            <a:r>
              <a:rPr lang="ko-KR" altLang="en-US" sz="1400" dirty="0"/>
              <a:t>선택발명의 효과가 </a:t>
            </a:r>
            <a:r>
              <a:rPr lang="ko-KR" altLang="en-US" sz="1400" dirty="0" err="1"/>
              <a:t>효과가</a:t>
            </a:r>
            <a:r>
              <a:rPr lang="ko-KR" altLang="en-US" sz="1400" dirty="0"/>
              <a:t> 의심스러울 때에는 그 기재내용의 범위를 넘지 않는 한도에서 출원일 이후에 추가적인 실험 자료를 제출하는 등의 방법으로 그 효과를 구체적으로 주장</a:t>
            </a:r>
            <a:r>
              <a:rPr lang="en-US" altLang="ko-KR" sz="1400" dirty="0"/>
              <a:t>·</a:t>
            </a:r>
            <a:r>
              <a:rPr lang="ko-KR" altLang="en-US" sz="1400" dirty="0"/>
              <a:t>증명하는 것이 허용된다</a:t>
            </a:r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대법원 </a:t>
            </a:r>
            <a:r>
              <a:rPr lang="en-US" altLang="ko-KR" sz="1400" dirty="0">
                <a:solidFill>
                  <a:srgbClr val="FF0000"/>
                </a:solidFill>
              </a:rPr>
              <a:t>2021. 4. 8. </a:t>
            </a:r>
            <a:r>
              <a:rPr lang="ko-KR" altLang="en-US" sz="1400" dirty="0">
                <a:solidFill>
                  <a:srgbClr val="FF0000"/>
                </a:solidFill>
              </a:rPr>
              <a:t>선고 </a:t>
            </a:r>
            <a:r>
              <a:rPr lang="en-US" altLang="ko-KR" sz="1400" dirty="0">
                <a:solidFill>
                  <a:srgbClr val="FF0000"/>
                </a:solidFill>
              </a:rPr>
              <a:t>2019</a:t>
            </a:r>
            <a:r>
              <a:rPr lang="ko-KR" altLang="en-US" sz="1400" dirty="0">
                <a:solidFill>
                  <a:srgbClr val="FF0000"/>
                </a:solidFill>
              </a:rPr>
              <a:t>후</a:t>
            </a:r>
            <a:r>
              <a:rPr lang="en-US" altLang="ko-KR" sz="1400" dirty="0">
                <a:solidFill>
                  <a:srgbClr val="FF0000"/>
                </a:solidFill>
              </a:rPr>
              <a:t>10609)</a:t>
            </a:r>
            <a:endParaRPr lang="ko-KR" altLang="en-US" sz="14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9B84452-ABB7-4EEE-929A-4DFAD5818468}"/>
              </a:ext>
            </a:extLst>
          </p:cNvPr>
          <p:cNvSpPr/>
          <p:nvPr/>
        </p:nvSpPr>
        <p:spPr>
          <a:xfrm>
            <a:off x="6162393" y="5216910"/>
            <a:ext cx="5750389" cy="160043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endParaRPr lang="en-US" altLang="ko-KR" sz="1400" dirty="0"/>
          </a:p>
          <a:p>
            <a:r>
              <a:rPr lang="ko-KR" altLang="en-US" sz="1400" dirty="0"/>
              <a:t>수치한정한 범위 전체에서 이질적이거나 양적으로 현저한 효과가 있어야 한다는 점이</a:t>
            </a:r>
            <a:r>
              <a:rPr lang="en-US" altLang="ko-KR" sz="1400" dirty="0"/>
              <a:t>, </a:t>
            </a:r>
            <a:r>
              <a:rPr lang="ko-KR" altLang="en-US" sz="1400" dirty="0"/>
              <a:t>출원 명세서에 당해 기술 분야에서 통상의 지식을 가진 자가 명세서 기재 자체를 통하여 인식할 수 있을 정도로 기재되어 있지 않은 이상 추후 </a:t>
            </a:r>
            <a:r>
              <a:rPr lang="ko-KR" altLang="en-US" sz="1400" dirty="0">
                <a:solidFill>
                  <a:srgbClr val="FF0000"/>
                </a:solidFill>
              </a:rPr>
              <a:t>실험자료</a:t>
            </a:r>
            <a:r>
              <a:rPr lang="ko-KR" altLang="en-US" sz="1400" dirty="0"/>
              <a:t>에 의하여 인정되거나 확인되는 수치한정의 기술적 의의를 가지고서 당해 수치한정 발명의 진보성 여부를 판단할 수는 없다</a:t>
            </a:r>
            <a:r>
              <a:rPr lang="en-US" altLang="ko-KR" sz="1400" dirty="0"/>
              <a:t>(</a:t>
            </a:r>
            <a:r>
              <a:rPr lang="ko-KR" altLang="en-US" sz="1400" dirty="0"/>
              <a:t>특허법원 </a:t>
            </a:r>
            <a:r>
              <a:rPr lang="en-US" altLang="ko-KR" sz="1400" dirty="0"/>
              <a:t>2009. 5. 22.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2008</a:t>
            </a:r>
            <a:r>
              <a:rPr lang="ko-KR" altLang="en-US" sz="1400" dirty="0"/>
              <a:t>허</a:t>
            </a:r>
            <a:r>
              <a:rPr lang="en-US" altLang="ko-KR" sz="1400" dirty="0"/>
              <a:t>1722).</a:t>
            </a:r>
            <a:endParaRPr lang="ko-KR" altLang="en-US" sz="1400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4318E90-13A5-B3EC-E5EC-32FECB33763F}"/>
              </a:ext>
            </a:extLst>
          </p:cNvPr>
          <p:cNvSpPr/>
          <p:nvPr/>
        </p:nvSpPr>
        <p:spPr>
          <a:xfrm>
            <a:off x="457199" y="5045745"/>
            <a:ext cx="1282765" cy="342329"/>
          </a:xfrm>
          <a:prstGeom prst="roundRect">
            <a:avLst>
              <a:gd name="adj" fmla="val 50000"/>
            </a:avLst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긍정</a:t>
            </a:r>
            <a:r>
              <a:rPr lang="en-US" altLang="ko-KR" sz="1400" dirty="0"/>
              <a:t> CASE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F56226B-4D4C-132E-A00B-318135382923}"/>
              </a:ext>
            </a:extLst>
          </p:cNvPr>
          <p:cNvSpPr/>
          <p:nvPr/>
        </p:nvSpPr>
        <p:spPr>
          <a:xfrm>
            <a:off x="6247791" y="5045745"/>
            <a:ext cx="1282765" cy="342329"/>
          </a:xfrm>
          <a:prstGeom prst="roundRect">
            <a:avLst>
              <a:gd name="adj" fmla="val 50000"/>
            </a:avLst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부정 </a:t>
            </a:r>
            <a:r>
              <a:rPr lang="en-US" altLang="ko-KR" sz="1400" dirty="0"/>
              <a:t>CASE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785643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신규성과</a:t>
            </a:r>
            <a:r>
              <a:rPr lang="en-US" altLang="ko-KR" dirty="0"/>
              <a:t> </a:t>
            </a:r>
            <a:r>
              <a:rPr lang="ko-KR" altLang="en-US" dirty="0"/>
              <a:t>진보성 판단의 비교</a:t>
            </a:r>
          </a:p>
        </p:txBody>
      </p:sp>
      <p:sp>
        <p:nvSpPr>
          <p:cNvPr id="22" name="자유형 21"/>
          <p:cNvSpPr/>
          <p:nvPr/>
        </p:nvSpPr>
        <p:spPr>
          <a:xfrm>
            <a:off x="1400256" y="1722880"/>
            <a:ext cx="5086168" cy="503258"/>
          </a:xfrm>
          <a:custGeom>
            <a:avLst/>
            <a:gdLst>
              <a:gd name="connsiteX0" fmla="*/ 7797800 w 7797800"/>
              <a:gd name="connsiteY0" fmla="*/ 1066800 h 1104900"/>
              <a:gd name="connsiteX1" fmla="*/ 7327900 w 7797800"/>
              <a:gd name="connsiteY1" fmla="*/ 0 h 1104900"/>
              <a:gd name="connsiteX2" fmla="*/ 0 w 7797800"/>
              <a:gd name="connsiteY2" fmla="*/ 0 h 1104900"/>
              <a:gd name="connsiteX3" fmla="*/ 0 w 7797800"/>
              <a:gd name="connsiteY3" fmla="*/ 1104900 h 110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7800" h="1104900">
                <a:moveTo>
                  <a:pt x="7797800" y="1066800"/>
                </a:moveTo>
                <a:lnTo>
                  <a:pt x="7327900" y="0"/>
                </a:lnTo>
                <a:lnTo>
                  <a:pt x="0" y="0"/>
                </a:lnTo>
                <a:lnTo>
                  <a:pt x="0" y="1104900"/>
                </a:lnTo>
              </a:path>
            </a:pathLst>
          </a:custGeom>
          <a:pattFill prst="smGrid">
            <a:fgClr>
              <a:schemeClr val="accent2">
                <a:lumMod val="40000"/>
                <a:lumOff val="6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cxnSp>
        <p:nvCxnSpPr>
          <p:cNvPr id="23" name="직선 연결선 22"/>
          <p:cNvCxnSpPr/>
          <p:nvPr/>
        </p:nvCxnSpPr>
        <p:spPr>
          <a:xfrm>
            <a:off x="1388642" y="2244971"/>
            <a:ext cx="591436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5577076" y="2081062"/>
            <a:ext cx="1712863" cy="3278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특허출원일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cxnSp>
        <p:nvCxnSpPr>
          <p:cNvPr id="25" name="직선 연결선 24"/>
          <p:cNvCxnSpPr/>
          <p:nvPr/>
        </p:nvCxnSpPr>
        <p:spPr>
          <a:xfrm flipH="1">
            <a:off x="6484818" y="2511106"/>
            <a:ext cx="1" cy="38791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929467" y="2844962"/>
            <a:ext cx="1117152" cy="3385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특허출원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4184" y="2460934"/>
            <a:ext cx="265784" cy="209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0</a:t>
            </a:r>
            <a:r>
              <a:rPr lang="ko-KR" altLang="en-US" sz="1200" dirty="0"/>
              <a:t>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7567" y="2460934"/>
            <a:ext cx="321199" cy="209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24</a:t>
            </a:r>
            <a:r>
              <a:rPr lang="ko-KR" altLang="en-US" sz="1200" dirty="0"/>
              <a:t>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4818" y="2460934"/>
            <a:ext cx="321199" cy="209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14</a:t>
            </a:r>
            <a:r>
              <a:rPr lang="ko-KR" altLang="en-US" sz="1200" dirty="0"/>
              <a:t>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8342" y="1389537"/>
            <a:ext cx="759293" cy="25637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특허출원 전</a:t>
            </a:r>
          </a:p>
        </p:txBody>
      </p:sp>
      <p:cxnSp>
        <p:nvCxnSpPr>
          <p:cNvPr id="32" name="직선 연결선 31"/>
          <p:cNvCxnSpPr/>
          <p:nvPr/>
        </p:nvCxnSpPr>
        <p:spPr>
          <a:xfrm>
            <a:off x="1974455" y="2285480"/>
            <a:ext cx="1" cy="61353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197952" y="2517976"/>
            <a:ext cx="1555578" cy="3385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국내외 </a:t>
            </a:r>
            <a:r>
              <a:rPr lang="ko-KR" altLang="en-US" sz="1600" dirty="0" err="1"/>
              <a:t>공지기술</a:t>
            </a:r>
            <a:endParaRPr lang="ko-KR" altLang="en-US" sz="1600" dirty="0"/>
          </a:p>
        </p:txBody>
      </p:sp>
      <p:sp>
        <p:nvSpPr>
          <p:cNvPr id="34" name="직사각형 33"/>
          <p:cNvSpPr/>
          <p:nvPr/>
        </p:nvSpPr>
        <p:spPr>
          <a:xfrm>
            <a:off x="1274054" y="1495230"/>
            <a:ext cx="132539" cy="8366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35" name="TextBox 34"/>
          <p:cNvSpPr txBox="1"/>
          <p:nvPr/>
        </p:nvSpPr>
        <p:spPr>
          <a:xfrm>
            <a:off x="262874" y="3395477"/>
            <a:ext cx="1611927" cy="2796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200" dirty="0"/>
              <a:t>공지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2874" y="3720559"/>
            <a:ext cx="1611927" cy="2796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200" dirty="0" err="1"/>
              <a:t>공연실시</a:t>
            </a:r>
            <a:endParaRPr lang="ko-KR" alt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262874" y="4045920"/>
            <a:ext cx="1611927" cy="2796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200" dirty="0"/>
              <a:t>반포된 간행물 게재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2874" y="4350454"/>
            <a:ext cx="1611927" cy="44394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200"/>
              <a:t>전기통신회선을 통하여 공중 이용가능</a:t>
            </a:r>
            <a:endParaRPr lang="ko-KR" altLang="en-US" sz="1200" dirty="0"/>
          </a:p>
        </p:txBody>
      </p:sp>
      <p:cxnSp>
        <p:nvCxnSpPr>
          <p:cNvPr id="39" name="꺾인 연결선 38"/>
          <p:cNvCxnSpPr>
            <a:stCxn id="33" idx="2"/>
            <a:endCxn id="38" idx="3"/>
          </p:cNvCxnSpPr>
          <p:nvPr/>
        </p:nvCxnSpPr>
        <p:spPr>
          <a:xfrm rot="5400000">
            <a:off x="1067324" y="3664007"/>
            <a:ext cx="1715895" cy="100940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꺾인 연결선 39"/>
          <p:cNvCxnSpPr>
            <a:stCxn id="33" idx="2"/>
            <a:endCxn id="35" idx="3"/>
          </p:cNvCxnSpPr>
          <p:nvPr/>
        </p:nvCxnSpPr>
        <p:spPr>
          <a:xfrm rot="5400000">
            <a:off x="1585877" y="3145454"/>
            <a:ext cx="678788" cy="100940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꺾인 연결선 40"/>
          <p:cNvCxnSpPr>
            <a:stCxn id="33" idx="2"/>
            <a:endCxn id="36" idx="3"/>
          </p:cNvCxnSpPr>
          <p:nvPr/>
        </p:nvCxnSpPr>
        <p:spPr>
          <a:xfrm rot="5400000">
            <a:off x="1423336" y="3307995"/>
            <a:ext cx="1003870" cy="100940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>
            <a:stCxn id="33" idx="2"/>
            <a:endCxn id="37" idx="3"/>
          </p:cNvCxnSpPr>
          <p:nvPr/>
        </p:nvCxnSpPr>
        <p:spPr>
          <a:xfrm rot="5400000">
            <a:off x="1260656" y="3470675"/>
            <a:ext cx="1329231" cy="100940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369773" y="5237116"/>
            <a:ext cx="3592697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통상의 기술자의 입장에서 판단</a:t>
            </a:r>
            <a:endParaRPr lang="en-US" altLang="ko-KR" sz="1600" dirty="0"/>
          </a:p>
          <a:p>
            <a:r>
              <a:rPr lang="en-US" altLang="ko-KR" sz="1200" dirty="0"/>
              <a:t>(</a:t>
            </a:r>
            <a:r>
              <a:rPr lang="ko-KR" altLang="en-US" sz="1200" dirty="0"/>
              <a:t>그 발명이 속하는 기술분야에서 통상의 지식을 가진 자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45" name="자유형 44"/>
          <p:cNvSpPr/>
          <p:nvPr/>
        </p:nvSpPr>
        <p:spPr>
          <a:xfrm>
            <a:off x="4739318" y="4616245"/>
            <a:ext cx="970650" cy="583822"/>
          </a:xfrm>
          <a:custGeom>
            <a:avLst/>
            <a:gdLst>
              <a:gd name="connsiteX0" fmla="*/ 0 w 1524000"/>
              <a:gd name="connsiteY0" fmla="*/ 0 h 717177"/>
              <a:gd name="connsiteX1" fmla="*/ 340659 w 1524000"/>
              <a:gd name="connsiteY1" fmla="*/ 331694 h 717177"/>
              <a:gd name="connsiteX2" fmla="*/ 1102659 w 1524000"/>
              <a:gd name="connsiteY2" fmla="*/ 215153 h 717177"/>
              <a:gd name="connsiteX3" fmla="*/ 1524000 w 1524000"/>
              <a:gd name="connsiteY3" fmla="*/ 717177 h 717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0" h="717177">
                <a:moveTo>
                  <a:pt x="0" y="0"/>
                </a:moveTo>
                <a:cubicBezTo>
                  <a:pt x="78441" y="147917"/>
                  <a:pt x="156883" y="295835"/>
                  <a:pt x="340659" y="331694"/>
                </a:cubicBezTo>
                <a:cubicBezTo>
                  <a:pt x="524436" y="367553"/>
                  <a:pt x="905436" y="150906"/>
                  <a:pt x="1102659" y="215153"/>
                </a:cubicBezTo>
                <a:cubicBezTo>
                  <a:pt x="1299882" y="279400"/>
                  <a:pt x="1411941" y="498288"/>
                  <a:pt x="1524000" y="717177"/>
                </a:cubicBezTo>
              </a:path>
            </a:pathLst>
          </a:custGeom>
          <a:noFill/>
          <a:ln>
            <a:solidFill>
              <a:schemeClr val="accent5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6" name="TextBox 45"/>
          <p:cNvSpPr txBox="1"/>
          <p:nvPr/>
        </p:nvSpPr>
        <p:spPr>
          <a:xfrm>
            <a:off x="5599251" y="4754046"/>
            <a:ext cx="831437" cy="198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심사의 객관성 부여</a:t>
            </a:r>
          </a:p>
        </p:txBody>
      </p:sp>
      <p:sp>
        <p:nvSpPr>
          <p:cNvPr id="87" name="자유형 86"/>
          <p:cNvSpPr/>
          <p:nvPr/>
        </p:nvSpPr>
        <p:spPr>
          <a:xfrm>
            <a:off x="2609636" y="2852565"/>
            <a:ext cx="3729519" cy="801384"/>
          </a:xfrm>
          <a:custGeom>
            <a:avLst/>
            <a:gdLst>
              <a:gd name="connsiteX0" fmla="*/ 0 w 3595955"/>
              <a:gd name="connsiteY0" fmla="*/ 0 h 801384"/>
              <a:gd name="connsiteX1" fmla="*/ 0 w 3595955"/>
              <a:gd name="connsiteY1" fmla="*/ 801384 h 801384"/>
              <a:gd name="connsiteX2" fmla="*/ 3595955 w 3595955"/>
              <a:gd name="connsiteY2" fmla="*/ 801384 h 801384"/>
              <a:gd name="connsiteX3" fmla="*/ 3595955 w 3595955"/>
              <a:gd name="connsiteY3" fmla="*/ 349321 h 801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95955" h="801384">
                <a:moveTo>
                  <a:pt x="0" y="0"/>
                </a:moveTo>
                <a:lnTo>
                  <a:pt x="0" y="801384"/>
                </a:lnTo>
                <a:lnTo>
                  <a:pt x="3595955" y="801384"/>
                </a:lnTo>
                <a:lnTo>
                  <a:pt x="3595955" y="349321"/>
                </a:lnTo>
              </a:path>
            </a:pathLst>
          </a:custGeom>
          <a:ln w="3810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자유형 87"/>
          <p:cNvSpPr/>
          <p:nvPr/>
        </p:nvSpPr>
        <p:spPr>
          <a:xfrm>
            <a:off x="2400640" y="2844962"/>
            <a:ext cx="4244777" cy="1559001"/>
          </a:xfrm>
          <a:custGeom>
            <a:avLst/>
            <a:gdLst>
              <a:gd name="connsiteX0" fmla="*/ 0 w 4458985"/>
              <a:gd name="connsiteY0" fmla="*/ 0 h 1551398"/>
              <a:gd name="connsiteX1" fmla="*/ 0 w 4458985"/>
              <a:gd name="connsiteY1" fmla="*/ 1551398 h 1551398"/>
              <a:gd name="connsiteX2" fmla="*/ 4458985 w 4458985"/>
              <a:gd name="connsiteY2" fmla="*/ 1551398 h 1551398"/>
              <a:gd name="connsiteX3" fmla="*/ 4458985 w 4458985"/>
              <a:gd name="connsiteY3" fmla="*/ 369870 h 1551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8985" h="1551398">
                <a:moveTo>
                  <a:pt x="0" y="0"/>
                </a:moveTo>
                <a:lnTo>
                  <a:pt x="0" y="1551398"/>
                </a:lnTo>
                <a:lnTo>
                  <a:pt x="4458985" y="1551398"/>
                </a:lnTo>
                <a:lnTo>
                  <a:pt x="4458985" y="369870"/>
                </a:lnTo>
              </a:path>
            </a:pathLst>
          </a:custGeom>
          <a:ln w="3810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3496068" y="3337081"/>
            <a:ext cx="151998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동일성</a:t>
            </a:r>
            <a:endParaRPr lang="en-US" altLang="ko-KR" sz="16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객관적 </a:t>
            </a:r>
            <a:r>
              <a:rPr lang="ko-KR" altLang="en-US" sz="1200" dirty="0" err="1"/>
              <a:t>창작성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92" name="TextBox 91"/>
          <p:cNvSpPr txBox="1"/>
          <p:nvPr/>
        </p:nvSpPr>
        <p:spPr>
          <a:xfrm>
            <a:off x="3496068" y="4230826"/>
            <a:ext cx="151998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용이성</a:t>
            </a:r>
            <a:endParaRPr lang="en-US" altLang="ko-KR" sz="16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주관적 </a:t>
            </a:r>
            <a:r>
              <a:rPr lang="ko-KR" altLang="en-US" sz="1200" dirty="0" err="1"/>
              <a:t>창작성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93" name="TextBox 92"/>
          <p:cNvSpPr txBox="1"/>
          <p:nvPr/>
        </p:nvSpPr>
        <p:spPr>
          <a:xfrm>
            <a:off x="2455359" y="2950226"/>
            <a:ext cx="389850" cy="26161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</a:rPr>
              <a:t>1</a:t>
            </a:r>
            <a:r>
              <a:rPr lang="ko-KR" altLang="en-US" sz="1100" dirty="0">
                <a:solidFill>
                  <a:schemeClr val="bg1"/>
                </a:solidFill>
              </a:rPr>
              <a:t>개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79078" y="3792966"/>
            <a:ext cx="681597" cy="26161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</a:rPr>
              <a:t>1</a:t>
            </a:r>
            <a:r>
              <a:rPr lang="ko-KR" altLang="en-US" sz="1100" dirty="0">
                <a:solidFill>
                  <a:schemeClr val="bg1"/>
                </a:solidFill>
              </a:rPr>
              <a:t>개 이상</a:t>
            </a:r>
          </a:p>
        </p:txBody>
      </p:sp>
      <p:cxnSp>
        <p:nvCxnSpPr>
          <p:cNvPr id="95" name="직선 연결선 94"/>
          <p:cNvCxnSpPr/>
          <p:nvPr/>
        </p:nvCxnSpPr>
        <p:spPr>
          <a:xfrm>
            <a:off x="8150393" y="965675"/>
            <a:ext cx="0" cy="5712527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8322564" y="1312813"/>
            <a:ext cx="1633095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/>
              <a:t>출원발명의 특정</a:t>
            </a:r>
            <a:endParaRPr lang="ko-KR" altLang="en-US" sz="1400" dirty="0"/>
          </a:p>
        </p:txBody>
      </p:sp>
      <p:sp>
        <p:nvSpPr>
          <p:cNvPr id="99" name="TextBox 98"/>
          <p:cNvSpPr txBox="1"/>
          <p:nvPr/>
        </p:nvSpPr>
        <p:spPr>
          <a:xfrm>
            <a:off x="8322564" y="1823327"/>
            <a:ext cx="1633095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공지기술의 특정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322564" y="2294168"/>
            <a:ext cx="1633095" cy="4924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구성</a:t>
            </a:r>
            <a:r>
              <a:rPr lang="en-US" altLang="ko-KR" sz="1400" dirty="0"/>
              <a:t>/</a:t>
            </a:r>
            <a:r>
              <a:rPr lang="ko-KR" altLang="en-US" sz="1400" dirty="0"/>
              <a:t>효과의 비교</a:t>
            </a:r>
            <a:endParaRPr lang="en-US" altLang="ko-KR" sz="14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차이 구성 추출</a:t>
            </a:r>
            <a:r>
              <a:rPr lang="en-US" altLang="ko-KR" sz="1200" dirty="0"/>
              <a:t>)</a:t>
            </a:r>
            <a:endParaRPr lang="ko-KR" altLang="en-US" sz="1400" dirty="0"/>
          </a:p>
        </p:txBody>
      </p:sp>
      <p:sp>
        <p:nvSpPr>
          <p:cNvPr id="101" name="TextBox 100"/>
          <p:cNvSpPr txBox="1"/>
          <p:nvPr/>
        </p:nvSpPr>
        <p:spPr>
          <a:xfrm>
            <a:off x="8322564" y="2962156"/>
            <a:ext cx="1633095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동일성</a:t>
            </a:r>
            <a:r>
              <a:rPr lang="en-US" altLang="ko-KR" sz="1400" dirty="0"/>
              <a:t>/</a:t>
            </a:r>
            <a:r>
              <a:rPr lang="ko-KR" altLang="en-US" sz="1400" dirty="0"/>
              <a:t>용이성 판단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167619" y="2763667"/>
            <a:ext cx="816547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동일성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167619" y="3216772"/>
            <a:ext cx="816547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용이성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197651" y="2602387"/>
            <a:ext cx="816547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/>
              <a:t>문언적</a:t>
            </a:r>
            <a:endParaRPr lang="ko-KR" altLang="en-US" sz="1400" dirty="0"/>
          </a:p>
        </p:txBody>
      </p:sp>
      <p:sp>
        <p:nvSpPr>
          <p:cNvPr id="105" name="TextBox 104"/>
          <p:cNvSpPr txBox="1"/>
          <p:nvPr/>
        </p:nvSpPr>
        <p:spPr>
          <a:xfrm>
            <a:off x="11197651" y="3001952"/>
            <a:ext cx="816547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내재적</a:t>
            </a:r>
          </a:p>
        </p:txBody>
      </p:sp>
      <p:cxnSp>
        <p:nvCxnSpPr>
          <p:cNvPr id="108" name="직선 연결선 107"/>
          <p:cNvCxnSpPr>
            <a:stCxn id="98" idx="2"/>
            <a:endCxn id="99" idx="0"/>
          </p:cNvCxnSpPr>
          <p:nvPr/>
        </p:nvCxnSpPr>
        <p:spPr>
          <a:xfrm>
            <a:off x="9139112" y="1620590"/>
            <a:ext cx="0" cy="20273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/>
          <p:cNvCxnSpPr>
            <a:stCxn id="99" idx="2"/>
            <a:endCxn id="100" idx="0"/>
          </p:cNvCxnSpPr>
          <p:nvPr/>
        </p:nvCxnSpPr>
        <p:spPr>
          <a:xfrm>
            <a:off x="9139112" y="2131104"/>
            <a:ext cx="0" cy="1630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/>
          <p:cNvCxnSpPr>
            <a:endCxn id="101" idx="0"/>
          </p:cNvCxnSpPr>
          <p:nvPr/>
        </p:nvCxnSpPr>
        <p:spPr>
          <a:xfrm>
            <a:off x="9139112" y="2797151"/>
            <a:ext cx="0" cy="16500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꺾인 연결선 129"/>
          <p:cNvCxnSpPr>
            <a:stCxn id="101" idx="3"/>
            <a:endCxn id="102" idx="1"/>
          </p:cNvCxnSpPr>
          <p:nvPr/>
        </p:nvCxnSpPr>
        <p:spPr>
          <a:xfrm flipV="1">
            <a:off x="9955659" y="2917556"/>
            <a:ext cx="211960" cy="19848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꺾인 연결선 131"/>
          <p:cNvCxnSpPr>
            <a:stCxn id="101" idx="3"/>
            <a:endCxn id="103" idx="1"/>
          </p:cNvCxnSpPr>
          <p:nvPr/>
        </p:nvCxnSpPr>
        <p:spPr>
          <a:xfrm>
            <a:off x="9955659" y="3116045"/>
            <a:ext cx="211960" cy="254616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꺾인 연결선 133"/>
          <p:cNvCxnSpPr>
            <a:stCxn id="102" idx="3"/>
            <a:endCxn id="104" idx="1"/>
          </p:cNvCxnSpPr>
          <p:nvPr/>
        </p:nvCxnSpPr>
        <p:spPr>
          <a:xfrm flipV="1">
            <a:off x="10984166" y="2756276"/>
            <a:ext cx="213485" cy="16128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꺾인 연결선 137"/>
          <p:cNvCxnSpPr>
            <a:stCxn id="102" idx="3"/>
            <a:endCxn id="105" idx="1"/>
          </p:cNvCxnSpPr>
          <p:nvPr/>
        </p:nvCxnSpPr>
        <p:spPr>
          <a:xfrm>
            <a:off x="10984166" y="2917556"/>
            <a:ext cx="213485" cy="23828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9" name="표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474288"/>
              </p:ext>
            </p:extLst>
          </p:nvPr>
        </p:nvGraphicFramePr>
        <p:xfrm>
          <a:off x="8424905" y="4181396"/>
          <a:ext cx="3589293" cy="1325368"/>
        </p:xfrm>
        <a:graphic>
          <a:graphicData uri="http://schemas.openxmlformats.org/drawingml/2006/table">
            <a:tbl>
              <a:tblPr firstRow="1">
                <a:tableStyleId>{8799B23B-EC83-4686-B30A-512413B5E67A}</a:tableStyleId>
              </a:tblPr>
              <a:tblGrid>
                <a:gridCol w="11964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6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64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4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효과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4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실질적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동일성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주지관용기술의 부가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삭제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변경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새로운 효과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4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용이성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곤란성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현저한 효과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73</a:t>
            </a:fld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2894584-DE0E-48F1-92A6-75B7C2B320B1}"/>
              </a:ext>
            </a:extLst>
          </p:cNvPr>
          <p:cNvSpPr txBox="1"/>
          <p:nvPr/>
        </p:nvSpPr>
        <p:spPr>
          <a:xfrm>
            <a:off x="11197651" y="3412970"/>
            <a:ext cx="816547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실질적</a:t>
            </a:r>
          </a:p>
        </p:txBody>
      </p:sp>
      <p:cxnSp>
        <p:nvCxnSpPr>
          <p:cNvPr id="55" name="꺾인 연결선 137">
            <a:extLst>
              <a:ext uri="{FF2B5EF4-FFF2-40B4-BE49-F238E27FC236}">
                <a16:creationId xmlns:a16="http://schemas.microsoft.com/office/drawing/2014/main" id="{BEBDD66C-B91C-4C20-B43C-58CBCD2619FE}"/>
              </a:ext>
            </a:extLst>
          </p:cNvPr>
          <p:cNvCxnSpPr>
            <a:cxnSpLocks/>
            <a:stCxn id="102" idx="3"/>
            <a:endCxn id="54" idx="1"/>
          </p:cNvCxnSpPr>
          <p:nvPr/>
        </p:nvCxnSpPr>
        <p:spPr>
          <a:xfrm>
            <a:off x="10984166" y="2917556"/>
            <a:ext cx="213485" cy="649303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말풍선: 모서리가 둥근 사각형 4">
            <a:extLst>
              <a:ext uri="{FF2B5EF4-FFF2-40B4-BE49-F238E27FC236}">
                <a16:creationId xmlns:a16="http://schemas.microsoft.com/office/drawing/2014/main" id="{D66D1E81-4984-46A7-AEBD-58B98FF7364F}"/>
              </a:ext>
            </a:extLst>
          </p:cNvPr>
          <p:cNvSpPr/>
          <p:nvPr/>
        </p:nvSpPr>
        <p:spPr>
          <a:xfrm>
            <a:off x="8784174" y="5864847"/>
            <a:ext cx="2199992" cy="597528"/>
          </a:xfrm>
          <a:prstGeom prst="wedgeRoundRectCallout">
            <a:avLst>
              <a:gd name="adj1" fmla="val 7322"/>
              <a:gd name="adj2" fmla="val -121031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통상의 기술자가 채용하는 정도의 구성의 변경</a:t>
            </a:r>
          </a:p>
        </p:txBody>
      </p:sp>
    </p:spTree>
    <p:extLst>
      <p:ext uri="{BB962C8B-B14F-4D97-AF65-F5344CB8AC3E}">
        <p14:creationId xmlns:p14="http://schemas.microsoft.com/office/powerpoint/2010/main" val="8581860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동일성과 용이성 판단 실무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062860"/>
              </p:ext>
            </p:extLst>
          </p:nvPr>
        </p:nvGraphicFramePr>
        <p:xfrm>
          <a:off x="316950" y="1252778"/>
          <a:ext cx="3197775" cy="2585797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639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95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95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438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출원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발명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인용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대상</a:t>
                      </a:r>
                      <a:r>
                        <a:rPr lang="en-US" altLang="ko-KR" sz="1200" kern="0" spc="-100" dirty="0">
                          <a:effectLst/>
                        </a:rPr>
                        <a:t>1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인용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대상</a:t>
                      </a:r>
                      <a:r>
                        <a:rPr lang="en-US" altLang="ko-KR" sz="1200" kern="0" spc="-100" dirty="0">
                          <a:effectLst/>
                        </a:rPr>
                        <a:t>2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인용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대상</a:t>
                      </a:r>
                      <a:r>
                        <a:rPr lang="en-US" altLang="ko-KR" sz="1200" kern="0" spc="-100" dirty="0">
                          <a:effectLst/>
                        </a:rPr>
                        <a:t>3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조합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00" dirty="0">
                          <a:effectLst/>
                        </a:rPr>
                        <a:t>(</a:t>
                      </a:r>
                      <a:r>
                        <a:rPr lang="en-US" sz="1200" kern="0" spc="-100" dirty="0">
                          <a:effectLst/>
                        </a:rPr>
                        <a:t>OR)</a:t>
                      </a:r>
                      <a:endParaRPr 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9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A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B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9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C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 dirty="0">
                          <a:effectLst/>
                        </a:rPr>
                        <a:t>×</a:t>
                      </a:r>
                      <a:endParaRPr 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9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D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094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설명</a:t>
                      </a:r>
                      <a:endParaRPr lang="ko-KR" altLang="en-US" sz="1200" b="1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gridSpan="4">
                  <a:txBody>
                    <a:bodyPr/>
                    <a:lstStyle/>
                    <a:p>
                      <a:pPr marL="85725" marR="17780" lvl="0" indent="-85725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en-US" altLang="ko-KR" sz="1200" kern="0" spc="-50" dirty="0">
                          <a:effectLst/>
                        </a:rPr>
                        <a:t>-</a:t>
                      </a:r>
                      <a:r>
                        <a:rPr lang="en-US" altLang="ko-KR" sz="1200" kern="0" spc="-50" baseline="0" dirty="0">
                          <a:effectLst/>
                        </a:rPr>
                        <a:t> </a:t>
                      </a:r>
                      <a:r>
                        <a:rPr lang="ko-KR" altLang="en-US" sz="1200" kern="0" spc="-50" dirty="0">
                          <a:effectLst/>
                        </a:rPr>
                        <a:t>인용대상</a:t>
                      </a:r>
                      <a:r>
                        <a:rPr lang="en-US" altLang="ko-KR" sz="1200" kern="0" spc="-50" dirty="0">
                          <a:effectLst/>
                        </a:rPr>
                        <a:t>2</a:t>
                      </a:r>
                      <a:r>
                        <a:rPr lang="ko-KR" altLang="en-US" sz="1200" kern="0" spc="-50" dirty="0">
                          <a:effectLst/>
                        </a:rPr>
                        <a:t>에 출원발명의 구성요소가 모두 포함되어 있기 때문에 동일성이 있음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720373"/>
              </p:ext>
            </p:extLst>
          </p:nvPr>
        </p:nvGraphicFramePr>
        <p:xfrm>
          <a:off x="3660563" y="1253651"/>
          <a:ext cx="4320540" cy="2592324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606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15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1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538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출원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발명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인용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대상</a:t>
                      </a:r>
                      <a:r>
                        <a:rPr lang="en-US" altLang="ko-KR" sz="1200" kern="0" spc="-100" dirty="0">
                          <a:effectLst/>
                        </a:rPr>
                        <a:t>1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인용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대상</a:t>
                      </a:r>
                      <a:r>
                        <a:rPr lang="en-US" altLang="ko-KR" sz="1200" kern="0" spc="-100" dirty="0">
                          <a:effectLst/>
                        </a:rPr>
                        <a:t>2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인용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대상</a:t>
                      </a:r>
                      <a:r>
                        <a:rPr lang="en-US" altLang="ko-KR" sz="1200" kern="0" spc="-100" dirty="0">
                          <a:effectLst/>
                        </a:rPr>
                        <a:t>3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조합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00" dirty="0">
                          <a:effectLst/>
                        </a:rPr>
                        <a:t>(</a:t>
                      </a:r>
                      <a:r>
                        <a:rPr lang="en-US" sz="1200" kern="0" spc="-100" dirty="0">
                          <a:effectLst/>
                        </a:rPr>
                        <a:t>OR)</a:t>
                      </a:r>
                      <a:endParaRPr 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40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 dirty="0">
                          <a:effectLst/>
                        </a:rPr>
                        <a:t>A</a:t>
                      </a:r>
                      <a:endParaRPr 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 dirty="0">
                          <a:effectLst/>
                        </a:rPr>
                        <a:t>×</a:t>
                      </a:r>
                      <a:endParaRPr 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40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B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40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C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40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 dirty="0">
                          <a:effectLst/>
                        </a:rPr>
                        <a:t>D</a:t>
                      </a:r>
                      <a:endParaRPr 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818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설명</a:t>
                      </a:r>
                      <a:endParaRPr lang="ko-KR" altLang="en-US" sz="1200" b="1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gridSpan="4">
                  <a:txBody>
                    <a:bodyPr/>
                    <a:lstStyle/>
                    <a:p>
                      <a:pPr marL="85725" marR="17780" lvl="0" indent="-85725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en-US" altLang="ko-KR" sz="1200" kern="0" spc="-50" dirty="0">
                          <a:effectLst/>
                        </a:rPr>
                        <a:t>- </a:t>
                      </a:r>
                      <a:r>
                        <a:rPr lang="ko-KR" altLang="en-US" sz="1200" kern="0" spc="-50" dirty="0">
                          <a:effectLst/>
                        </a:rPr>
                        <a:t>인용대상 </a:t>
                      </a:r>
                      <a:r>
                        <a:rPr lang="en-US" altLang="ko-KR" sz="1200" kern="0" spc="-50" dirty="0">
                          <a:effectLst/>
                        </a:rPr>
                        <a:t>1 </a:t>
                      </a:r>
                      <a:r>
                        <a:rPr lang="ko-KR" altLang="en-US" sz="1200" kern="0" spc="-50" dirty="0">
                          <a:effectLst/>
                        </a:rPr>
                        <a:t>내지 </a:t>
                      </a:r>
                      <a:r>
                        <a:rPr lang="en-US" altLang="ko-KR" sz="1200" kern="0" spc="-50" dirty="0">
                          <a:effectLst/>
                        </a:rPr>
                        <a:t>3 </a:t>
                      </a:r>
                      <a:r>
                        <a:rPr lang="ko-KR" altLang="en-US" sz="1200" kern="0" spc="-50" dirty="0">
                          <a:effectLst/>
                        </a:rPr>
                        <a:t>각각에 출원발명의 구성요소가 모두 포함되어 있지 않기 때문에 동일성이 없음</a:t>
                      </a:r>
                    </a:p>
                    <a:p>
                      <a:pPr marL="85725" marR="17780" lvl="0" indent="-85725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en-US" altLang="ko-KR" sz="1200" kern="0" spc="-50" dirty="0">
                          <a:effectLst/>
                        </a:rPr>
                        <a:t>- </a:t>
                      </a:r>
                      <a:r>
                        <a:rPr lang="ko-KR" altLang="en-US" sz="1200" kern="0" spc="-50" dirty="0">
                          <a:effectLst/>
                        </a:rPr>
                        <a:t>인용대상 </a:t>
                      </a:r>
                      <a:r>
                        <a:rPr lang="en-US" altLang="ko-KR" sz="1200" kern="0" spc="-50" dirty="0">
                          <a:effectLst/>
                        </a:rPr>
                        <a:t>1 </a:t>
                      </a:r>
                      <a:r>
                        <a:rPr lang="ko-KR" altLang="en-US" sz="1200" kern="0" spc="-50" dirty="0">
                          <a:effectLst/>
                        </a:rPr>
                        <a:t>내지 </a:t>
                      </a:r>
                      <a:r>
                        <a:rPr lang="en-US" altLang="ko-KR" sz="1200" kern="0" spc="-50" dirty="0">
                          <a:effectLst/>
                        </a:rPr>
                        <a:t>3</a:t>
                      </a:r>
                      <a:r>
                        <a:rPr lang="ko-KR" altLang="en-US" sz="1200" kern="0" spc="-50" dirty="0">
                          <a:effectLst/>
                        </a:rPr>
                        <a:t>을 조합하면 출원발명의 구성요소가 모두 포함되어 있기 때문에 용이성이 있음</a:t>
                      </a:r>
                    </a:p>
                    <a:p>
                      <a:pPr marL="85725" marR="17780" lvl="0" indent="-85725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en-US" altLang="ko-KR" sz="1200" kern="0" spc="-50" dirty="0">
                          <a:effectLst/>
                        </a:rPr>
                        <a:t>- </a:t>
                      </a:r>
                      <a:r>
                        <a:rPr lang="ko-KR" altLang="en-US" sz="1200" kern="0" spc="-50" dirty="0">
                          <a:effectLst/>
                        </a:rPr>
                        <a:t>단</a:t>
                      </a:r>
                      <a:r>
                        <a:rPr lang="en-US" altLang="ko-KR" sz="1200" kern="0" spc="-50" dirty="0">
                          <a:effectLst/>
                        </a:rPr>
                        <a:t>, </a:t>
                      </a:r>
                      <a:r>
                        <a:rPr lang="ko-KR" altLang="en-US" sz="1200" kern="0" spc="-50" dirty="0">
                          <a:effectLst/>
                        </a:rPr>
                        <a:t>출원발명의 구성의 결합에 특유의 과제해결원리에 기초한 결합관계가 있다면 그 결합관계 역시 구성으로 파악해야 함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507976"/>
              </p:ext>
            </p:extLst>
          </p:nvPr>
        </p:nvGraphicFramePr>
        <p:xfrm>
          <a:off x="8133080" y="1259747"/>
          <a:ext cx="3754120" cy="2588353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750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0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0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08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 dirty="0">
                          <a:effectLst/>
                        </a:rPr>
                        <a:t>출원</a:t>
                      </a:r>
                      <a:endParaRPr lang="en-US" altLang="ko-KR" sz="1200" b="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 dirty="0">
                          <a:effectLst/>
                        </a:rPr>
                        <a:t>발명</a:t>
                      </a:r>
                      <a:endParaRPr lang="ko-KR" altLang="en-US" sz="1200" b="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 dirty="0">
                          <a:effectLst/>
                        </a:rPr>
                        <a:t>인용</a:t>
                      </a:r>
                      <a:endParaRPr lang="en-US" altLang="ko-KR" sz="1200" b="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 dirty="0">
                          <a:effectLst/>
                        </a:rPr>
                        <a:t>대상</a:t>
                      </a:r>
                      <a:r>
                        <a:rPr lang="en-US" altLang="ko-KR" sz="1200" b="0" kern="0" spc="-100" dirty="0">
                          <a:effectLst/>
                        </a:rPr>
                        <a:t>1</a:t>
                      </a:r>
                      <a:endParaRPr lang="ko-KR" altLang="en-US" sz="1200" b="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 dirty="0">
                          <a:effectLst/>
                        </a:rPr>
                        <a:t>인용</a:t>
                      </a:r>
                      <a:endParaRPr lang="en-US" altLang="ko-KR" sz="1200" b="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 dirty="0">
                          <a:effectLst/>
                        </a:rPr>
                        <a:t>대상</a:t>
                      </a:r>
                      <a:r>
                        <a:rPr lang="en-US" altLang="ko-KR" sz="1200" b="0" kern="0" spc="-100" dirty="0">
                          <a:effectLst/>
                        </a:rPr>
                        <a:t>2</a:t>
                      </a:r>
                      <a:endParaRPr lang="ko-KR" altLang="en-US" sz="1200" b="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 dirty="0">
                          <a:effectLst/>
                        </a:rPr>
                        <a:t>인용</a:t>
                      </a:r>
                      <a:endParaRPr lang="en-US" altLang="ko-KR" sz="1200" b="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 dirty="0">
                          <a:effectLst/>
                        </a:rPr>
                        <a:t>대상</a:t>
                      </a:r>
                      <a:r>
                        <a:rPr lang="en-US" altLang="ko-KR" sz="1200" b="0" kern="0" spc="-100" dirty="0">
                          <a:effectLst/>
                        </a:rPr>
                        <a:t>3</a:t>
                      </a:r>
                      <a:endParaRPr lang="ko-KR" altLang="en-US" sz="1200" b="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 dirty="0">
                          <a:effectLst/>
                        </a:rPr>
                        <a:t>조합</a:t>
                      </a:r>
                      <a:endParaRPr lang="en-US" altLang="ko-KR" sz="1200" b="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0" spc="-100" dirty="0">
                          <a:effectLst/>
                        </a:rPr>
                        <a:t>(</a:t>
                      </a:r>
                      <a:r>
                        <a:rPr lang="en-US" sz="1200" b="0" kern="0" spc="-100" dirty="0">
                          <a:effectLst/>
                        </a:rPr>
                        <a:t>OR)</a:t>
                      </a:r>
                      <a:endParaRPr lang="en-US" sz="1200" b="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-100">
                          <a:effectLst/>
                        </a:rPr>
                        <a:t>A</a:t>
                      </a:r>
                      <a:endParaRPr lang="en-US" sz="1200" b="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>
                          <a:effectLst/>
                        </a:rPr>
                        <a:t>○</a:t>
                      </a:r>
                      <a:endParaRPr lang="ko-KR" altLang="en-US" sz="1200" b="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-100">
                          <a:effectLst/>
                        </a:rPr>
                        <a:t>×</a:t>
                      </a:r>
                      <a:endParaRPr lang="en-US" sz="1200" b="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>
                          <a:effectLst/>
                        </a:rPr>
                        <a:t>○</a:t>
                      </a:r>
                      <a:endParaRPr lang="ko-KR" altLang="en-US" sz="1200" b="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>
                          <a:effectLst/>
                        </a:rPr>
                        <a:t>○</a:t>
                      </a:r>
                      <a:endParaRPr lang="ko-KR" altLang="en-US" sz="1200" b="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-100">
                          <a:effectLst/>
                        </a:rPr>
                        <a:t>B</a:t>
                      </a:r>
                      <a:endParaRPr lang="en-US" sz="1200" b="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>
                          <a:effectLst/>
                        </a:rPr>
                        <a:t>○</a:t>
                      </a:r>
                      <a:endParaRPr lang="ko-KR" altLang="en-US" sz="1200" b="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>
                          <a:effectLst/>
                        </a:rPr>
                        <a:t>○</a:t>
                      </a:r>
                      <a:endParaRPr lang="ko-KR" altLang="en-US" sz="1200" b="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-100">
                          <a:effectLst/>
                        </a:rPr>
                        <a:t>×</a:t>
                      </a:r>
                      <a:endParaRPr lang="en-US" sz="1200" b="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>
                          <a:effectLst/>
                        </a:rPr>
                        <a:t>○</a:t>
                      </a:r>
                      <a:endParaRPr lang="ko-KR" altLang="en-US" sz="1200" b="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-100" dirty="0">
                          <a:effectLst/>
                        </a:rPr>
                        <a:t>C</a:t>
                      </a:r>
                      <a:endParaRPr lang="en-US" sz="1200" b="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-100" dirty="0">
                          <a:effectLst/>
                        </a:rPr>
                        <a:t>×</a:t>
                      </a:r>
                      <a:endParaRPr lang="en-US" sz="1200" b="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-100" dirty="0">
                          <a:effectLst/>
                        </a:rPr>
                        <a:t>×</a:t>
                      </a:r>
                      <a:endParaRPr lang="en-US" sz="1200" b="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-100" dirty="0">
                          <a:effectLst/>
                        </a:rPr>
                        <a:t>×</a:t>
                      </a:r>
                      <a:endParaRPr lang="en-US" sz="1200" b="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-100" dirty="0">
                          <a:effectLst/>
                        </a:rPr>
                        <a:t>×</a:t>
                      </a:r>
                      <a:endParaRPr lang="en-US" sz="1200" b="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-100">
                          <a:effectLst/>
                        </a:rPr>
                        <a:t>D</a:t>
                      </a:r>
                      <a:endParaRPr lang="en-US" sz="1200" b="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-100" dirty="0">
                          <a:effectLst/>
                        </a:rPr>
                        <a:t>×</a:t>
                      </a:r>
                      <a:endParaRPr lang="en-US" sz="1200" b="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 dirty="0">
                          <a:effectLst/>
                        </a:rPr>
                        <a:t>○</a:t>
                      </a:r>
                      <a:endParaRPr lang="ko-KR" altLang="en-US" sz="1200" b="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-100" dirty="0">
                          <a:effectLst/>
                        </a:rPr>
                        <a:t>×</a:t>
                      </a:r>
                      <a:endParaRPr lang="en-US" sz="1200" b="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 dirty="0">
                          <a:effectLst/>
                        </a:rPr>
                        <a:t>○</a:t>
                      </a:r>
                      <a:endParaRPr lang="ko-KR" altLang="en-US" sz="1200" b="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1200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 dirty="0">
                          <a:effectLst/>
                        </a:rPr>
                        <a:t>설명</a:t>
                      </a:r>
                      <a:endParaRPr lang="ko-KR" altLang="en-US" sz="1200" b="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gridSpan="4">
                  <a:txBody>
                    <a:bodyPr/>
                    <a:lstStyle/>
                    <a:p>
                      <a:pPr marL="85725" marR="17780" lvl="0" indent="-85725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en-US" altLang="ko-KR" sz="1200" b="0" kern="0" spc="-50" dirty="0">
                          <a:effectLst/>
                        </a:rPr>
                        <a:t>- </a:t>
                      </a:r>
                      <a:r>
                        <a:rPr lang="ko-KR" altLang="en-US" sz="1200" b="0" kern="0" spc="-50" dirty="0">
                          <a:effectLst/>
                        </a:rPr>
                        <a:t>인용대상 </a:t>
                      </a:r>
                      <a:r>
                        <a:rPr lang="en-US" altLang="ko-KR" sz="1200" b="0" kern="0" spc="-50" dirty="0">
                          <a:effectLst/>
                        </a:rPr>
                        <a:t>1 </a:t>
                      </a:r>
                      <a:r>
                        <a:rPr lang="ko-KR" altLang="en-US" sz="1200" b="0" kern="0" spc="-50" dirty="0">
                          <a:effectLst/>
                        </a:rPr>
                        <a:t>내지 </a:t>
                      </a:r>
                      <a:r>
                        <a:rPr lang="en-US" altLang="ko-KR" sz="1200" b="0" kern="0" spc="-50" dirty="0">
                          <a:effectLst/>
                        </a:rPr>
                        <a:t>3 </a:t>
                      </a:r>
                      <a:r>
                        <a:rPr lang="ko-KR" altLang="en-US" sz="1200" b="0" kern="0" spc="-50" dirty="0">
                          <a:effectLst/>
                        </a:rPr>
                        <a:t>각각에 출원발명의 구성요소가 모두 포함되어 있지 않기 때문에 동일성이 없음</a:t>
                      </a:r>
                    </a:p>
                    <a:p>
                      <a:pPr marL="85725" marR="17780" lvl="0" indent="-85725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en-US" altLang="ko-KR" sz="1200" b="0" kern="0" spc="-50" dirty="0">
                          <a:effectLst/>
                        </a:rPr>
                        <a:t>- </a:t>
                      </a:r>
                      <a:r>
                        <a:rPr lang="ko-KR" altLang="en-US" sz="1200" b="0" kern="0" spc="-50" dirty="0">
                          <a:effectLst/>
                        </a:rPr>
                        <a:t>인용대상 </a:t>
                      </a:r>
                      <a:r>
                        <a:rPr lang="en-US" altLang="ko-KR" sz="1200" b="0" kern="0" spc="-50" dirty="0">
                          <a:effectLst/>
                        </a:rPr>
                        <a:t>1 </a:t>
                      </a:r>
                      <a:r>
                        <a:rPr lang="ko-KR" altLang="en-US" sz="1200" b="0" kern="0" spc="-50" dirty="0">
                          <a:effectLst/>
                        </a:rPr>
                        <a:t>내지 </a:t>
                      </a:r>
                      <a:r>
                        <a:rPr lang="en-US" altLang="ko-KR" sz="1200" b="0" kern="0" spc="-50" dirty="0">
                          <a:effectLst/>
                        </a:rPr>
                        <a:t>3</a:t>
                      </a:r>
                      <a:r>
                        <a:rPr lang="ko-KR" altLang="en-US" sz="1200" b="0" kern="0" spc="-50" dirty="0">
                          <a:effectLst/>
                        </a:rPr>
                        <a:t>을 조합하더라도 출원발명의 구성요소가 모두 포함되어 있지 않기 때문에 용이성이 없음</a:t>
                      </a:r>
                      <a:endParaRPr lang="ko-KR" altLang="en-US" sz="1200" b="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916645"/>
              </p:ext>
            </p:extLst>
          </p:nvPr>
        </p:nvGraphicFramePr>
        <p:xfrm>
          <a:off x="332405" y="4143375"/>
          <a:ext cx="4320540" cy="2409825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864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1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069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출원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발명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인용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대상</a:t>
                      </a:r>
                      <a:r>
                        <a:rPr lang="en-US" altLang="ko-KR" sz="1200" kern="0" spc="-100" dirty="0">
                          <a:effectLst/>
                        </a:rPr>
                        <a:t>1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인용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대상</a:t>
                      </a:r>
                      <a:r>
                        <a:rPr lang="en-US" altLang="ko-KR" sz="1200" kern="0" spc="-100" dirty="0">
                          <a:effectLst/>
                        </a:rPr>
                        <a:t>2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인용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대상</a:t>
                      </a:r>
                      <a:r>
                        <a:rPr lang="en-US" altLang="ko-KR" sz="1200" kern="0" spc="-100" dirty="0">
                          <a:effectLst/>
                        </a:rPr>
                        <a:t>3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조합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00" dirty="0">
                          <a:effectLst/>
                        </a:rPr>
                        <a:t>(</a:t>
                      </a:r>
                      <a:r>
                        <a:rPr lang="en-US" sz="1200" kern="0" spc="-100" dirty="0">
                          <a:effectLst/>
                        </a:rPr>
                        <a:t>OR)</a:t>
                      </a:r>
                      <a:endParaRPr 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A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B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C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△(C1)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△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D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347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설명</a:t>
                      </a:r>
                      <a:endParaRPr lang="ko-KR" altLang="en-US" sz="1200" b="1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gridSpan="4">
                  <a:txBody>
                    <a:bodyPr/>
                    <a:lstStyle/>
                    <a:p>
                      <a:pPr marL="85725" marR="17780" lvl="0" indent="-85725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en-US" altLang="ko-KR" sz="1200" kern="0" spc="-50" dirty="0">
                          <a:effectLst/>
                        </a:rPr>
                        <a:t>- C1</a:t>
                      </a:r>
                      <a:r>
                        <a:rPr lang="ko-KR" altLang="en-US" sz="1200" kern="0" spc="-50" dirty="0">
                          <a:effectLst/>
                        </a:rPr>
                        <a:t>에서 </a:t>
                      </a:r>
                      <a:r>
                        <a:rPr lang="en-US" altLang="ko-KR" sz="1200" kern="0" spc="-50" dirty="0">
                          <a:effectLst/>
                        </a:rPr>
                        <a:t>C</a:t>
                      </a:r>
                      <a:r>
                        <a:rPr lang="ko-KR" altLang="en-US" sz="1200" kern="0" spc="-50" dirty="0">
                          <a:effectLst/>
                        </a:rPr>
                        <a:t>를 도출하는 것에 대한 곤란성이 없고 효과의 </a:t>
                      </a:r>
                      <a:r>
                        <a:rPr lang="ko-KR" altLang="en-US" sz="1200" kern="0" spc="-50" dirty="0" err="1">
                          <a:effectLst/>
                        </a:rPr>
                        <a:t>현저성이</a:t>
                      </a:r>
                      <a:r>
                        <a:rPr lang="ko-KR" altLang="en-US" sz="1200" kern="0" spc="-50" dirty="0">
                          <a:effectLst/>
                        </a:rPr>
                        <a:t> 없다면 용이함</a:t>
                      </a:r>
                    </a:p>
                    <a:p>
                      <a:pPr marL="0" marR="17780" lvl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en-US" altLang="ko-KR" sz="1200" kern="0" spc="-50" dirty="0">
                          <a:effectLst/>
                        </a:rPr>
                        <a:t>-</a:t>
                      </a:r>
                      <a:r>
                        <a:rPr lang="en-US" altLang="ko-KR" sz="1200" kern="0" spc="-50" baseline="0" dirty="0">
                          <a:effectLst/>
                        </a:rPr>
                        <a:t>   </a:t>
                      </a:r>
                      <a:r>
                        <a:rPr lang="ko-KR" altLang="en-US" sz="1200" kern="0" spc="-50" baseline="0" dirty="0">
                          <a:effectLst/>
                        </a:rPr>
                        <a:t>그</a:t>
                      </a:r>
                      <a:r>
                        <a:rPr lang="ko-KR" altLang="en-US" sz="1200" kern="0" spc="-50" dirty="0">
                          <a:effectLst/>
                        </a:rPr>
                        <a:t>렇지 아니하면 용이성이 없어서 </a:t>
                      </a:r>
                      <a:r>
                        <a:rPr lang="ko-KR" altLang="en-US" sz="1200" kern="0" spc="-50" dirty="0" err="1">
                          <a:effectLst/>
                        </a:rPr>
                        <a:t>등록가능함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380116"/>
              </p:ext>
            </p:extLst>
          </p:nvPr>
        </p:nvGraphicFramePr>
        <p:xfrm>
          <a:off x="4775364" y="4142285"/>
          <a:ext cx="5096425" cy="2409444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019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9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2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92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309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출원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발명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인용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대상</a:t>
                      </a:r>
                      <a:r>
                        <a:rPr lang="en-US" altLang="ko-KR" sz="1200" kern="0" spc="-100" dirty="0">
                          <a:effectLst/>
                        </a:rPr>
                        <a:t>1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인용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대상</a:t>
                      </a:r>
                      <a:r>
                        <a:rPr lang="en-US" altLang="ko-KR" sz="1200" kern="0" spc="-100" dirty="0">
                          <a:effectLst/>
                        </a:rPr>
                        <a:t>2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인용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대상</a:t>
                      </a:r>
                      <a:r>
                        <a:rPr lang="en-US" altLang="ko-KR" sz="1200" kern="0" spc="-100" dirty="0">
                          <a:effectLst/>
                        </a:rPr>
                        <a:t>3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조합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00" dirty="0">
                          <a:effectLst/>
                        </a:rPr>
                        <a:t>(</a:t>
                      </a:r>
                      <a:r>
                        <a:rPr lang="en-US" sz="1200" kern="0" spc="-100" dirty="0">
                          <a:effectLst/>
                        </a:rPr>
                        <a:t>OR)</a:t>
                      </a:r>
                      <a:endParaRPr 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51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 dirty="0">
                          <a:effectLst/>
                        </a:rPr>
                        <a:t>A</a:t>
                      </a:r>
                      <a:endParaRPr 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51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B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51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C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 dirty="0">
                          <a:effectLst/>
                        </a:rPr>
                        <a:t>△(C1)</a:t>
                      </a:r>
                      <a:endParaRPr 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△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051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D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086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설명</a:t>
                      </a:r>
                      <a:endParaRPr lang="ko-KR" altLang="en-US" sz="1200" b="1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gridSpan="4">
                  <a:txBody>
                    <a:bodyPr/>
                    <a:lstStyle/>
                    <a:p>
                      <a:pPr marL="85725" marR="17780" lvl="0" indent="-85725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en-US" altLang="ko-KR" sz="1200" kern="0" spc="-50" dirty="0">
                          <a:effectLst/>
                        </a:rPr>
                        <a:t>-  C1</a:t>
                      </a:r>
                      <a:r>
                        <a:rPr lang="ko-KR" altLang="en-US" sz="1200" kern="0" spc="-50" dirty="0">
                          <a:effectLst/>
                        </a:rPr>
                        <a:t>과 </a:t>
                      </a:r>
                      <a:r>
                        <a:rPr lang="en-US" altLang="ko-KR" sz="1200" kern="0" spc="-50" dirty="0">
                          <a:effectLst/>
                        </a:rPr>
                        <a:t>C</a:t>
                      </a:r>
                      <a:r>
                        <a:rPr lang="ko-KR" altLang="en-US" sz="1200" kern="0" spc="-50" dirty="0">
                          <a:effectLst/>
                        </a:rPr>
                        <a:t>의 차이가 주지관용기술의 부가</a:t>
                      </a:r>
                      <a:r>
                        <a:rPr lang="en-US" altLang="ko-KR" sz="1200" kern="0" spc="-50" dirty="0">
                          <a:effectLst/>
                        </a:rPr>
                        <a:t>, </a:t>
                      </a:r>
                      <a:r>
                        <a:rPr lang="ko-KR" altLang="en-US" sz="1200" kern="0" spc="-50" dirty="0">
                          <a:effectLst/>
                        </a:rPr>
                        <a:t>삭제</a:t>
                      </a:r>
                      <a:r>
                        <a:rPr lang="en-US" altLang="ko-KR" sz="1200" kern="0" spc="-50" dirty="0">
                          <a:effectLst/>
                        </a:rPr>
                        <a:t>, </a:t>
                      </a:r>
                      <a:r>
                        <a:rPr lang="ko-KR" altLang="en-US" sz="1200" kern="0" spc="-50" dirty="0">
                          <a:effectLst/>
                        </a:rPr>
                        <a:t>변경 등에 불과하여 그 차이로 인하여 새로운 효과가 발생하지 않는다면 동일성이 있음</a:t>
                      </a:r>
                    </a:p>
                    <a:p>
                      <a:pPr marL="85725" marR="17780" lvl="0" indent="-85725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en-US" altLang="ko-KR" sz="1200" kern="0" spc="-110" dirty="0">
                          <a:effectLst/>
                        </a:rPr>
                        <a:t>-  C1</a:t>
                      </a:r>
                      <a:r>
                        <a:rPr lang="ko-KR" altLang="en-US" sz="1200" kern="0" spc="-110" dirty="0">
                          <a:effectLst/>
                        </a:rPr>
                        <a:t>에서 </a:t>
                      </a:r>
                      <a:r>
                        <a:rPr lang="en-US" altLang="ko-KR" sz="1200" kern="0" spc="-110" dirty="0">
                          <a:effectLst/>
                        </a:rPr>
                        <a:t>C</a:t>
                      </a:r>
                      <a:r>
                        <a:rPr lang="ko-KR" altLang="en-US" sz="1200" kern="0" spc="-110" dirty="0">
                          <a:effectLst/>
                        </a:rPr>
                        <a:t>를 도출하는 것에 대한 곤란성이 없고 효과의 </a:t>
                      </a:r>
                      <a:r>
                        <a:rPr lang="ko-KR" altLang="en-US" sz="1200" kern="0" spc="-110" dirty="0" err="1">
                          <a:effectLst/>
                        </a:rPr>
                        <a:t>현저성이</a:t>
                      </a:r>
                      <a:r>
                        <a:rPr lang="ko-KR" altLang="en-US" sz="1200" kern="0" spc="-110" dirty="0">
                          <a:effectLst/>
                        </a:rPr>
                        <a:t> 없다면 용이함</a:t>
                      </a:r>
                    </a:p>
                    <a:p>
                      <a:pPr marL="0" marR="17780" lvl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en-US" altLang="ko-KR" sz="1200" kern="0" spc="-50" dirty="0">
                          <a:effectLst/>
                        </a:rPr>
                        <a:t>-  </a:t>
                      </a:r>
                      <a:r>
                        <a:rPr lang="ko-KR" altLang="en-US" sz="1200" kern="0" spc="-50" dirty="0">
                          <a:effectLst/>
                        </a:rPr>
                        <a:t>그렇지 아니하면 용이성이 없어서 </a:t>
                      </a:r>
                      <a:r>
                        <a:rPr lang="ko-KR" altLang="en-US" sz="1200" kern="0" spc="-50" dirty="0" err="1">
                          <a:effectLst/>
                        </a:rPr>
                        <a:t>등록가능함</a:t>
                      </a:r>
                      <a:endParaRPr lang="en-US" altLang="ko-KR" sz="1200" kern="0" spc="-50" dirty="0">
                        <a:effectLst/>
                      </a:endParaRPr>
                    </a:p>
                    <a:p>
                      <a:pPr marL="0" marR="17780" lvl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2254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결합발명의 진보성 판단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75</a:t>
            </a:fld>
            <a:endParaRPr lang="ko-KR" altLang="en-US"/>
          </a:p>
        </p:txBody>
      </p:sp>
      <p:sp>
        <p:nvSpPr>
          <p:cNvPr id="90" name="TextBox 89"/>
          <p:cNvSpPr txBox="1"/>
          <p:nvPr/>
        </p:nvSpPr>
        <p:spPr>
          <a:xfrm>
            <a:off x="77875" y="986046"/>
            <a:ext cx="119363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청구항에 기재된 발명은 전체로서 고려되어야 하며 구성요소 각각이 공지 또는 자명하다고 하여 청구항에 기재된 발명의 진보성을 부정할 수 없다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즉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진보성 판단의 기초가 되는 기술적 구성의 곤란성을 평가할 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과제해결원리를 배제한 채 청구항에 기재된 구성을 하나하나 분해한 후 선행기술의 대응 구성요소로부터 도출이 곤란한지만을 따져서는 아니 되고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특유의 과제해결원리에 기초하여 그 발명에 채용된 특유한 구성요소들과 나머지 구성요소들 사이의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결합관계를 포함하여 유기적으로 결합된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전체</a:t>
            </a:r>
            <a:r>
              <a:rPr lang="ko-KR" altLang="en-US" sz="1400" dirty="0" err="1">
                <a:solidFill>
                  <a:schemeClr val="tx2"/>
                </a:solidFill>
              </a:rPr>
              <a:t>로서의</a:t>
            </a:r>
            <a:r>
              <a:rPr lang="ko-KR" altLang="en-US" sz="1400" dirty="0">
                <a:solidFill>
                  <a:schemeClr val="tx2"/>
                </a:solidFill>
              </a:rPr>
              <a:t> 구성의 곤란성을 살펴보아야 하며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이 때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결합된 전체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구성으로서의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발명이 갖는 특유한 효과도 함께 고려</a:t>
            </a:r>
            <a:r>
              <a:rPr lang="ko-KR" altLang="en-US" sz="1400" dirty="0">
                <a:solidFill>
                  <a:schemeClr val="tx2"/>
                </a:solidFill>
              </a:rPr>
              <a:t>하여야 한다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대법원 </a:t>
            </a:r>
            <a:r>
              <a:rPr lang="en-US" altLang="ko-KR" sz="1400" dirty="0">
                <a:solidFill>
                  <a:schemeClr val="tx2"/>
                </a:solidFill>
              </a:rPr>
              <a:t>2021. 4. 8. </a:t>
            </a:r>
            <a:r>
              <a:rPr lang="ko-KR" altLang="en-US" sz="1400" dirty="0">
                <a:solidFill>
                  <a:schemeClr val="tx2"/>
                </a:solidFill>
              </a:rPr>
              <a:t>선고 </a:t>
            </a:r>
            <a:r>
              <a:rPr lang="en-US" altLang="ko-KR" sz="1400" dirty="0">
                <a:solidFill>
                  <a:schemeClr val="tx2"/>
                </a:solidFill>
              </a:rPr>
              <a:t>2019</a:t>
            </a:r>
            <a:r>
              <a:rPr lang="ko-KR" altLang="en-US" sz="1400" dirty="0">
                <a:solidFill>
                  <a:schemeClr val="tx2"/>
                </a:solidFill>
              </a:rPr>
              <a:t>후</a:t>
            </a:r>
            <a:r>
              <a:rPr lang="en-US" altLang="ko-KR" sz="1400" dirty="0">
                <a:solidFill>
                  <a:schemeClr val="tx2"/>
                </a:solidFill>
              </a:rPr>
              <a:t>10609). </a:t>
            </a:r>
            <a:r>
              <a:rPr lang="ko-KR" altLang="en-US" sz="1400" dirty="0"/>
              <a:t>구체적으로</a:t>
            </a:r>
            <a:r>
              <a:rPr lang="en-US" altLang="ko-KR" sz="1400" dirty="0"/>
              <a:t>, </a:t>
            </a:r>
            <a:r>
              <a:rPr lang="ko-KR" altLang="en-US" sz="1400" dirty="0"/>
              <a:t>여러 공지기술을 인용하여 특허의 진보성을 판단할 때 그 인용되는 공지기술을 조합 또는 결합하면 해당 특허발명에 이를 수 있다는 교시</a:t>
            </a:r>
            <a:r>
              <a:rPr lang="en-US" altLang="ko-KR" sz="1400" dirty="0"/>
              <a:t>(teaching), </a:t>
            </a:r>
            <a:r>
              <a:rPr lang="ko-KR" altLang="en-US" sz="1400" dirty="0"/>
              <a:t>암시</a:t>
            </a:r>
            <a:r>
              <a:rPr lang="en-US" altLang="ko-KR" sz="1400" dirty="0"/>
              <a:t>(suggesting), </a:t>
            </a:r>
            <a:r>
              <a:rPr lang="ko-KR" altLang="en-US" sz="1400" dirty="0"/>
              <a:t>동기</a:t>
            </a:r>
            <a:r>
              <a:rPr lang="en-US" altLang="ko-KR" sz="1400" dirty="0"/>
              <a:t>(motivation) </a:t>
            </a:r>
            <a:r>
              <a:rPr lang="ko-KR" altLang="en-US" sz="1400" dirty="0"/>
              <a:t>등이 공지기술에 제시되어 있거나 그렇지 않더라도 해당 특허 출원 당시의 기술수준</a:t>
            </a:r>
            <a:r>
              <a:rPr lang="en-US" altLang="ko-KR" sz="1400" dirty="0"/>
              <a:t>, </a:t>
            </a:r>
            <a:r>
              <a:rPr lang="ko-KR" altLang="en-US" sz="1400" dirty="0"/>
              <a:t>기술상식</a:t>
            </a:r>
            <a:r>
              <a:rPr lang="en-US" altLang="ko-KR" sz="1400" dirty="0"/>
              <a:t>, </a:t>
            </a:r>
            <a:r>
              <a:rPr lang="ko-KR" altLang="en-US" sz="1400" dirty="0"/>
              <a:t>해당 기술분야의 기본적인 과제</a:t>
            </a:r>
            <a:r>
              <a:rPr lang="en-US" altLang="ko-KR" sz="1400" dirty="0"/>
              <a:t>, </a:t>
            </a:r>
            <a:r>
              <a:rPr lang="ko-KR" altLang="en-US" sz="1400" dirty="0"/>
              <a:t>발전경향</a:t>
            </a:r>
            <a:r>
              <a:rPr lang="en-US" altLang="ko-KR" sz="1400" dirty="0"/>
              <a:t>, </a:t>
            </a:r>
            <a:r>
              <a:rPr lang="ko-KR" altLang="en-US" sz="1400" dirty="0"/>
              <a:t>해당 업계의 요구 등에 비추어 통상의 기술자가 쉽게 그와 같은 조합 또는 결합에 이를 수 있다고 인정할 수 있는 경우에는 </a:t>
            </a:r>
            <a:r>
              <a:rPr lang="ko-KR" altLang="en-US" sz="1400" dirty="0" err="1"/>
              <a:t>주합발명으로서</a:t>
            </a:r>
            <a:r>
              <a:rPr lang="ko-KR" altLang="en-US" sz="1400" dirty="0"/>
              <a:t> 진보성이 부정된다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2007. 9. 6.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2005</a:t>
            </a:r>
            <a:r>
              <a:rPr lang="ko-KR" altLang="en-US" sz="1400" dirty="0"/>
              <a:t>후</a:t>
            </a:r>
            <a:r>
              <a:rPr lang="en-US" altLang="ko-KR" sz="1400" dirty="0"/>
              <a:t>3277 </a:t>
            </a:r>
            <a:r>
              <a:rPr lang="ko-KR" altLang="en-US" sz="1400" dirty="0"/>
              <a:t>참고</a:t>
            </a:r>
            <a:r>
              <a:rPr lang="en-US" altLang="ko-KR" sz="1400" dirty="0"/>
              <a:t>).</a:t>
            </a:r>
            <a:endParaRPr lang="ko-KR" altLang="en-US" sz="1400" dirty="0"/>
          </a:p>
          <a:p>
            <a:pPr fontAlgn="base"/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91" name="직선 연결선 90"/>
          <p:cNvCxnSpPr/>
          <p:nvPr/>
        </p:nvCxnSpPr>
        <p:spPr>
          <a:xfrm>
            <a:off x="0" y="2813931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90430" y="4798042"/>
            <a:ext cx="5655606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781611" y="4560369"/>
            <a:ext cx="987897" cy="4550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공지기술</a:t>
            </a:r>
            <a:r>
              <a:rPr lang="en-US" altLang="ko-KR" sz="140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 err="1">
                <a:solidFill>
                  <a:schemeClr val="tx1"/>
                </a:solidFill>
              </a:rPr>
              <a:t>라이트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2509346" y="4560369"/>
            <a:ext cx="987897" cy="4550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공지기술</a:t>
            </a:r>
            <a:r>
              <a:rPr lang="en-US" altLang="ko-KR" sz="1400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자전거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4195392" y="4560369"/>
            <a:ext cx="1167718" cy="4550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특허출원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 err="1">
                <a:solidFill>
                  <a:schemeClr val="tx1"/>
                </a:solidFill>
              </a:rPr>
              <a:t>라이트</a:t>
            </a:r>
            <a:r>
              <a:rPr lang="en-US" altLang="ko-KR" sz="1200" dirty="0">
                <a:solidFill>
                  <a:schemeClr val="tx1"/>
                </a:solidFill>
              </a:rPr>
              <a:t>+</a:t>
            </a:r>
            <a:r>
              <a:rPr lang="ko-KR" altLang="en-US" sz="1200" dirty="0">
                <a:solidFill>
                  <a:schemeClr val="tx1"/>
                </a:solidFill>
              </a:rPr>
              <a:t>자전거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2753762" y="3715012"/>
            <a:ext cx="779381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동일성 </a:t>
            </a:r>
            <a:r>
              <a:rPr lang="en-US" altLang="ko-KR" sz="1200" dirty="0"/>
              <a:t>×</a:t>
            </a:r>
            <a:endParaRPr lang="ko-KR" altLang="en-US" sz="1200" dirty="0"/>
          </a:p>
        </p:txBody>
      </p:sp>
      <p:sp>
        <p:nvSpPr>
          <p:cNvPr id="14" name="자유형 13"/>
          <p:cNvSpPr/>
          <p:nvPr/>
        </p:nvSpPr>
        <p:spPr>
          <a:xfrm>
            <a:off x="1284270" y="3987974"/>
            <a:ext cx="3626777" cy="575353"/>
          </a:xfrm>
          <a:custGeom>
            <a:avLst/>
            <a:gdLst>
              <a:gd name="connsiteX0" fmla="*/ 0 w 3626777"/>
              <a:gd name="connsiteY0" fmla="*/ 575353 h 575353"/>
              <a:gd name="connsiteX1" fmla="*/ 0 w 3626777"/>
              <a:gd name="connsiteY1" fmla="*/ 0 h 575353"/>
              <a:gd name="connsiteX2" fmla="*/ 3626777 w 3626777"/>
              <a:gd name="connsiteY2" fmla="*/ 0 h 575353"/>
              <a:gd name="connsiteX3" fmla="*/ 3626777 w 3626777"/>
              <a:gd name="connsiteY3" fmla="*/ 534256 h 575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6777" h="575353">
                <a:moveTo>
                  <a:pt x="0" y="575353"/>
                </a:moveTo>
                <a:lnTo>
                  <a:pt x="0" y="0"/>
                </a:lnTo>
                <a:lnTo>
                  <a:pt x="3626777" y="0"/>
                </a:lnTo>
                <a:lnTo>
                  <a:pt x="3626777" y="534256"/>
                </a:lnTo>
              </a:path>
            </a:pathLst>
          </a:cu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자유형 14"/>
          <p:cNvSpPr/>
          <p:nvPr/>
        </p:nvSpPr>
        <p:spPr>
          <a:xfrm>
            <a:off x="2989780" y="4306473"/>
            <a:ext cx="1633591" cy="267128"/>
          </a:xfrm>
          <a:custGeom>
            <a:avLst/>
            <a:gdLst>
              <a:gd name="connsiteX0" fmla="*/ 0 w 1633591"/>
              <a:gd name="connsiteY0" fmla="*/ 267128 h 267128"/>
              <a:gd name="connsiteX1" fmla="*/ 0 w 1633591"/>
              <a:gd name="connsiteY1" fmla="*/ 0 h 267128"/>
              <a:gd name="connsiteX2" fmla="*/ 1633591 w 1633591"/>
              <a:gd name="connsiteY2" fmla="*/ 0 h 267128"/>
              <a:gd name="connsiteX3" fmla="*/ 1633591 w 1633591"/>
              <a:gd name="connsiteY3" fmla="*/ 184935 h 267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3591" h="267128">
                <a:moveTo>
                  <a:pt x="0" y="267128"/>
                </a:moveTo>
                <a:lnTo>
                  <a:pt x="0" y="0"/>
                </a:lnTo>
                <a:lnTo>
                  <a:pt x="1633591" y="0"/>
                </a:lnTo>
                <a:lnTo>
                  <a:pt x="1633591" y="184935"/>
                </a:lnTo>
              </a:path>
            </a:pathLst>
          </a:cu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/>
          <p:cNvSpPr txBox="1"/>
          <p:nvPr/>
        </p:nvSpPr>
        <p:spPr>
          <a:xfrm>
            <a:off x="3508618" y="4033915"/>
            <a:ext cx="779381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동일성 </a:t>
            </a:r>
            <a:r>
              <a:rPr lang="en-US" altLang="ko-KR" sz="1200" dirty="0"/>
              <a:t>×</a:t>
            </a:r>
            <a:endParaRPr lang="ko-KR" altLang="en-US" sz="1200" dirty="0"/>
          </a:p>
        </p:txBody>
      </p:sp>
      <p:cxnSp>
        <p:nvCxnSpPr>
          <p:cNvPr id="17" name="꺾인 연결선 16"/>
          <p:cNvCxnSpPr>
            <a:stCxn id="47" idx="2"/>
            <a:endCxn id="68" idx="2"/>
          </p:cNvCxnSpPr>
          <p:nvPr/>
        </p:nvCxnSpPr>
        <p:spPr>
          <a:xfrm rot="16200000" flipH="1">
            <a:off x="2139427" y="4151523"/>
            <a:ext cx="12700" cy="1727735"/>
          </a:xfrm>
          <a:prstGeom prst="bentConnector3">
            <a:avLst>
              <a:gd name="adj1" fmla="val 180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자유형 17"/>
          <p:cNvSpPr/>
          <p:nvPr/>
        </p:nvSpPr>
        <p:spPr>
          <a:xfrm>
            <a:off x="2126751" y="5178057"/>
            <a:ext cx="2671280" cy="161694"/>
          </a:xfrm>
          <a:custGeom>
            <a:avLst/>
            <a:gdLst>
              <a:gd name="connsiteX0" fmla="*/ 0 w 2671280"/>
              <a:gd name="connsiteY0" fmla="*/ 195209 h 493160"/>
              <a:gd name="connsiteX1" fmla="*/ 0 w 2671280"/>
              <a:gd name="connsiteY1" fmla="*/ 493160 h 493160"/>
              <a:gd name="connsiteX2" fmla="*/ 2671280 w 2671280"/>
              <a:gd name="connsiteY2" fmla="*/ 493160 h 493160"/>
              <a:gd name="connsiteX3" fmla="*/ 2671280 w 2671280"/>
              <a:gd name="connsiteY3" fmla="*/ 0 h 493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71280" h="493160">
                <a:moveTo>
                  <a:pt x="0" y="195209"/>
                </a:moveTo>
                <a:lnTo>
                  <a:pt x="0" y="493160"/>
                </a:lnTo>
                <a:lnTo>
                  <a:pt x="2671280" y="493160"/>
                </a:lnTo>
                <a:lnTo>
                  <a:pt x="2671280" y="0"/>
                </a:lnTo>
              </a:path>
            </a:pathLst>
          </a:cu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/>
          <p:cNvSpPr txBox="1"/>
          <p:nvPr/>
        </p:nvSpPr>
        <p:spPr>
          <a:xfrm>
            <a:off x="3181446" y="5099428"/>
            <a:ext cx="779381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용이성 △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273976" y="2889998"/>
            <a:ext cx="3455543" cy="83099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tx2"/>
                </a:solidFill>
              </a:rPr>
              <a:t>◆ </a:t>
            </a:r>
            <a:r>
              <a:rPr lang="ko-KR" altLang="en-US" sz="1200" dirty="0" err="1">
                <a:solidFill>
                  <a:schemeClr val="tx2"/>
                </a:solidFill>
              </a:rPr>
              <a:t>신규성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法 </a:t>
            </a:r>
            <a:r>
              <a:rPr lang="en-US" altLang="ko-KR" sz="1200" dirty="0">
                <a:solidFill>
                  <a:schemeClr val="tx2"/>
                </a:solidFill>
              </a:rPr>
              <a:t>29①</a:t>
            </a:r>
            <a:r>
              <a:rPr lang="ko-KR" altLang="en-US" sz="1200" dirty="0">
                <a:solidFill>
                  <a:schemeClr val="tx2"/>
                </a:solidFill>
              </a:rPr>
              <a:t>각호</a:t>
            </a:r>
            <a:r>
              <a:rPr lang="en-US" altLang="ko-KR" sz="1200" dirty="0">
                <a:solidFill>
                  <a:schemeClr val="tx2"/>
                </a:solidFill>
              </a:rPr>
              <a:t>) </a:t>
            </a:r>
            <a:r>
              <a:rPr lang="ko-KR" altLang="en-US" sz="1200" dirty="0">
                <a:solidFill>
                  <a:schemeClr val="tx2"/>
                </a:solidFill>
              </a:rPr>
              <a:t>판단</a:t>
            </a:r>
          </a:p>
          <a:p>
            <a:r>
              <a:rPr lang="ko-KR" altLang="en-US" sz="1200" dirty="0">
                <a:solidFill>
                  <a:schemeClr val="tx2"/>
                </a:solidFill>
              </a:rPr>
              <a:t>  </a:t>
            </a:r>
            <a:r>
              <a:rPr lang="en-US" altLang="ko-KR" sz="1200" dirty="0">
                <a:solidFill>
                  <a:schemeClr val="tx2"/>
                </a:solidFill>
              </a:rPr>
              <a:t>- </a:t>
            </a:r>
            <a:r>
              <a:rPr lang="ko-KR" altLang="en-US" sz="1200" dirty="0">
                <a:solidFill>
                  <a:schemeClr val="tx2"/>
                </a:solidFill>
              </a:rPr>
              <a:t>공지기술과 일대일 </a:t>
            </a:r>
            <a:r>
              <a:rPr lang="ko-KR" altLang="en-US" sz="1200" dirty="0" err="1">
                <a:solidFill>
                  <a:schemeClr val="tx2"/>
                </a:solidFill>
              </a:rPr>
              <a:t>매칭</a:t>
            </a:r>
            <a:endParaRPr lang="ko-KR" altLang="en-US" sz="1200" dirty="0">
              <a:solidFill>
                <a:schemeClr val="tx2"/>
              </a:solidFill>
            </a:endParaRPr>
          </a:p>
          <a:p>
            <a:pPr marL="174625" indent="-174625"/>
            <a:r>
              <a:rPr lang="ko-KR" altLang="en-US" sz="1200" dirty="0">
                <a:solidFill>
                  <a:schemeClr val="tx2"/>
                </a:solidFill>
              </a:rPr>
              <a:t>  </a:t>
            </a:r>
            <a:r>
              <a:rPr lang="en-US" altLang="ko-KR" sz="1200" dirty="0">
                <a:solidFill>
                  <a:schemeClr val="tx2"/>
                </a:solidFill>
              </a:rPr>
              <a:t>- </a:t>
            </a:r>
            <a:r>
              <a:rPr lang="ko-KR" altLang="en-US" sz="1200" dirty="0">
                <a:solidFill>
                  <a:schemeClr val="tx2"/>
                </a:solidFill>
              </a:rPr>
              <a:t>상위개념이 공지기술이고 하위개념이 출원발명인 경우 일반적으로 동일성이 없어 </a:t>
            </a:r>
            <a:r>
              <a:rPr lang="ko-KR" altLang="en-US" sz="1200" dirty="0" err="1">
                <a:solidFill>
                  <a:schemeClr val="tx2"/>
                </a:solidFill>
              </a:rPr>
              <a:t>신규성</a:t>
            </a:r>
            <a:r>
              <a:rPr lang="ko-KR" altLang="en-US" sz="1200" dirty="0">
                <a:solidFill>
                  <a:schemeClr val="tx2"/>
                </a:solidFill>
              </a:rPr>
              <a:t> 상실</a:t>
            </a:r>
            <a:r>
              <a:rPr lang="en-US" altLang="ko-KR" sz="1200" dirty="0">
                <a:solidFill>
                  <a:schemeClr val="tx2"/>
                </a:solidFill>
              </a:rPr>
              <a:t>×</a:t>
            </a:r>
            <a:endParaRPr lang="ko-KR" altLang="en-US" sz="1200" dirty="0">
              <a:solidFill>
                <a:schemeClr val="tx2"/>
              </a:solidFill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1769509" y="5436917"/>
            <a:ext cx="4246262" cy="120032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tx2"/>
                </a:solidFill>
              </a:rPr>
              <a:t>◆ 진보성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法 </a:t>
            </a:r>
            <a:r>
              <a:rPr lang="en-US" altLang="ko-KR" sz="1200" dirty="0">
                <a:solidFill>
                  <a:schemeClr val="tx2"/>
                </a:solidFill>
              </a:rPr>
              <a:t>29②) </a:t>
            </a:r>
            <a:r>
              <a:rPr lang="ko-KR" altLang="en-US" sz="1200" dirty="0">
                <a:solidFill>
                  <a:schemeClr val="tx2"/>
                </a:solidFill>
              </a:rPr>
              <a:t>판단</a:t>
            </a:r>
          </a:p>
          <a:p>
            <a:r>
              <a:rPr lang="ko-KR" altLang="en-US" sz="1200" dirty="0">
                <a:solidFill>
                  <a:schemeClr val="tx2"/>
                </a:solidFill>
              </a:rPr>
              <a:t>  </a:t>
            </a:r>
            <a:r>
              <a:rPr lang="en-US" altLang="ko-KR" sz="1200" dirty="0">
                <a:solidFill>
                  <a:schemeClr val="tx2"/>
                </a:solidFill>
              </a:rPr>
              <a:t>-</a:t>
            </a:r>
            <a:r>
              <a:rPr lang="ko-KR" altLang="en-US" sz="1200" dirty="0">
                <a:solidFill>
                  <a:schemeClr val="tx2"/>
                </a:solidFill>
              </a:rPr>
              <a:t> 둘 이상의 공지기술을 조합가능</a:t>
            </a:r>
          </a:p>
          <a:p>
            <a:pPr marL="174625" indent="-174625"/>
            <a:r>
              <a:rPr lang="ko-KR" altLang="en-US" sz="1200" dirty="0">
                <a:solidFill>
                  <a:schemeClr val="tx2"/>
                </a:solidFill>
              </a:rPr>
              <a:t>  </a:t>
            </a:r>
            <a:r>
              <a:rPr lang="en-US" altLang="ko-KR" sz="1200" dirty="0">
                <a:solidFill>
                  <a:schemeClr val="tx2"/>
                </a:solidFill>
              </a:rPr>
              <a:t>-</a:t>
            </a:r>
            <a:r>
              <a:rPr lang="ko-KR" altLang="en-US" sz="1200" dirty="0">
                <a:solidFill>
                  <a:schemeClr val="tx2"/>
                </a:solidFill>
              </a:rPr>
              <a:t> 공지기술 </a:t>
            </a:r>
            <a:r>
              <a:rPr lang="en-US" altLang="ko-KR" sz="1200" dirty="0">
                <a:solidFill>
                  <a:schemeClr val="tx2"/>
                </a:solidFill>
              </a:rPr>
              <a:t>A</a:t>
            </a:r>
            <a:r>
              <a:rPr lang="ko-KR" altLang="en-US" sz="1200" dirty="0">
                <a:solidFill>
                  <a:schemeClr val="tx2"/>
                </a:solidFill>
              </a:rPr>
              <a:t>와 공지기술 </a:t>
            </a:r>
            <a:r>
              <a:rPr lang="en-US" altLang="ko-KR" sz="1200" dirty="0">
                <a:solidFill>
                  <a:schemeClr val="tx2"/>
                </a:solidFill>
              </a:rPr>
              <a:t>B</a:t>
            </a:r>
            <a:r>
              <a:rPr lang="ko-KR" altLang="en-US" sz="1200" dirty="0">
                <a:solidFill>
                  <a:schemeClr val="tx2"/>
                </a:solidFill>
              </a:rPr>
              <a:t>의 결합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채택의 곤란성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효과의 </a:t>
            </a:r>
            <a:r>
              <a:rPr lang="ko-KR" altLang="en-US" sz="1200" dirty="0" err="1">
                <a:solidFill>
                  <a:schemeClr val="tx2"/>
                </a:solidFill>
              </a:rPr>
              <a:t>현저성</a:t>
            </a:r>
            <a:r>
              <a:rPr lang="ko-KR" altLang="en-US" sz="1200" dirty="0">
                <a:solidFill>
                  <a:schemeClr val="tx2"/>
                </a:solidFill>
              </a:rPr>
              <a:t> ○ → 진보성 인정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조합발명 </a:t>
            </a:r>
            <a:r>
              <a:rPr lang="en-US" altLang="ko-KR" sz="1200" dirty="0">
                <a:solidFill>
                  <a:schemeClr val="tx2"/>
                </a:solidFill>
              </a:rPr>
              <a:t>- Combination)</a:t>
            </a:r>
          </a:p>
          <a:p>
            <a:pPr marL="174625" indent="-174625"/>
            <a:r>
              <a:rPr lang="en-US" altLang="ko-KR" sz="1200" dirty="0">
                <a:solidFill>
                  <a:schemeClr val="tx2"/>
                </a:solidFill>
              </a:rPr>
              <a:t>  - </a:t>
            </a:r>
            <a:r>
              <a:rPr lang="ko-KR" altLang="en-US" sz="1200" dirty="0">
                <a:solidFill>
                  <a:schemeClr val="tx2"/>
                </a:solidFill>
              </a:rPr>
              <a:t>공지기술 </a:t>
            </a:r>
            <a:r>
              <a:rPr lang="en-US" altLang="ko-KR" sz="1200" dirty="0">
                <a:solidFill>
                  <a:schemeClr val="tx2"/>
                </a:solidFill>
              </a:rPr>
              <a:t>A</a:t>
            </a:r>
            <a:r>
              <a:rPr lang="ko-KR" altLang="en-US" sz="1200" dirty="0">
                <a:solidFill>
                  <a:schemeClr val="tx2"/>
                </a:solidFill>
              </a:rPr>
              <a:t>와 공지기술 </a:t>
            </a:r>
            <a:r>
              <a:rPr lang="en-US" altLang="ko-KR" sz="1200" dirty="0">
                <a:solidFill>
                  <a:schemeClr val="tx2"/>
                </a:solidFill>
              </a:rPr>
              <a:t>B</a:t>
            </a:r>
            <a:r>
              <a:rPr lang="ko-KR" altLang="en-US" sz="1200" dirty="0">
                <a:solidFill>
                  <a:schemeClr val="tx2"/>
                </a:solidFill>
              </a:rPr>
              <a:t>의 결합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채택의 곤란성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효과의 </a:t>
            </a:r>
            <a:r>
              <a:rPr lang="ko-KR" altLang="en-US" sz="1200" dirty="0" err="1">
                <a:solidFill>
                  <a:schemeClr val="tx2"/>
                </a:solidFill>
              </a:rPr>
              <a:t>현저성</a:t>
            </a:r>
            <a:r>
              <a:rPr lang="ko-KR" altLang="en-US" sz="1200" dirty="0">
                <a:solidFill>
                  <a:schemeClr val="tx2"/>
                </a:solidFill>
              </a:rPr>
              <a:t> </a:t>
            </a:r>
            <a:r>
              <a:rPr lang="en-US" altLang="ko-KR" sz="1200" dirty="0">
                <a:solidFill>
                  <a:schemeClr val="tx2"/>
                </a:solidFill>
              </a:rPr>
              <a:t>× → </a:t>
            </a:r>
            <a:r>
              <a:rPr lang="ko-KR" altLang="en-US" sz="1200" dirty="0">
                <a:solidFill>
                  <a:schemeClr val="tx2"/>
                </a:solidFill>
              </a:rPr>
              <a:t>진보성 부정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 err="1">
                <a:solidFill>
                  <a:schemeClr val="tx2"/>
                </a:solidFill>
              </a:rPr>
              <a:t>주합발명</a:t>
            </a:r>
            <a:r>
              <a:rPr lang="ko-KR" altLang="en-US" sz="1200" dirty="0">
                <a:solidFill>
                  <a:schemeClr val="tx2"/>
                </a:solidFill>
              </a:rPr>
              <a:t> </a:t>
            </a:r>
            <a:r>
              <a:rPr lang="en-US" altLang="ko-KR" sz="1200" dirty="0">
                <a:solidFill>
                  <a:schemeClr val="tx2"/>
                </a:solidFill>
              </a:rPr>
              <a:t>- Aggregation)</a:t>
            </a:r>
            <a:endParaRPr lang="ko-KR" altLang="en-US" sz="1200" dirty="0">
              <a:solidFill>
                <a:schemeClr val="tx2"/>
              </a:solidFill>
            </a:endParaRPr>
          </a:p>
        </p:txBody>
      </p:sp>
      <p:cxnSp>
        <p:nvCxnSpPr>
          <p:cNvPr id="75" name="직선 연결선 74"/>
          <p:cNvCxnSpPr>
            <a:cxnSpLocks/>
          </p:cNvCxnSpPr>
          <p:nvPr/>
        </p:nvCxnSpPr>
        <p:spPr>
          <a:xfrm>
            <a:off x="6598995" y="2889998"/>
            <a:ext cx="0" cy="375285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7" name="Group 180"/>
          <p:cNvGraphicFramePr>
            <a:graphicFrameLocks/>
          </p:cNvGraphicFramePr>
          <p:nvPr/>
        </p:nvGraphicFramePr>
        <p:xfrm>
          <a:off x="6893959" y="2889998"/>
          <a:ext cx="4952145" cy="3603554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215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5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50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2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구성요소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95329" marR="95329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공지기술</a:t>
                      </a: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95329" marR="95329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공지기술</a:t>
                      </a: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95329" marR="95329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분석</a:t>
                      </a: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(OR)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95329" marR="95329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라이트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(A)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95329" marR="9532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95329" marR="9532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95329" marR="9532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95329" marR="9532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결합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(B)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95329" marR="9532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△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95329" marR="9532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95329" marR="9532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effectLst/>
                        </a:rPr>
                        <a:t>△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329" marR="9532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자전거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(C)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95329" marR="9532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95329" marR="9532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95329" marR="9532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95329" marR="9532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93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소결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95329" marR="95329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신규성은 인정되나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진보성 인정 여부는 불명확함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95329" marR="95329"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5329" marR="95329" anchor="ctr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95398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선택발명의 신규성</a:t>
            </a:r>
            <a:r>
              <a:rPr lang="en-US" altLang="ko-KR" dirty="0"/>
              <a:t>, </a:t>
            </a:r>
            <a:r>
              <a:rPr lang="ko-KR" altLang="en-US" dirty="0"/>
              <a:t>진보성 판단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76</a:t>
            </a:fld>
            <a:endParaRPr lang="ko-KR" altLang="en-US"/>
          </a:p>
        </p:txBody>
      </p:sp>
      <p:sp>
        <p:nvSpPr>
          <p:cNvPr id="90" name="TextBox 89"/>
          <p:cNvSpPr txBox="1"/>
          <p:nvPr/>
        </p:nvSpPr>
        <p:spPr>
          <a:xfrm>
            <a:off x="1339913" y="2060127"/>
            <a:ext cx="10578707" cy="78483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 fontAlgn="base"/>
            <a:r>
              <a:rPr lang="ko-KR" altLang="en-US" sz="1100" dirty="0">
                <a:solidFill>
                  <a:schemeClr val="tx2"/>
                </a:solidFill>
              </a:rPr>
              <a:t>선행 또는 공지의 발명에 구성요건이 상위개념으로 기재되어 있고 위 상위개념에 포함되는 하위개념만을 구성요건 중의 전부 또는 일부로 하는 이른바 선택발명의 신규성을 부정하기 위해서는 선행발명</a:t>
            </a:r>
            <a:r>
              <a:rPr lang="en-US" altLang="ko-KR" sz="11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(@)</a:t>
            </a:r>
            <a:r>
              <a:rPr lang="ko-KR" altLang="en-US" sz="1100" dirty="0">
                <a:solidFill>
                  <a:schemeClr val="tx2"/>
                </a:solidFill>
              </a:rPr>
              <a:t>이 선택발명을 구성하는 하위개념을 </a:t>
            </a:r>
            <a:r>
              <a:rPr lang="ko-KR" altLang="en-US" sz="1100" dirty="0">
                <a:solidFill>
                  <a:srgbClr val="FF0000"/>
                </a:solidFill>
              </a:rPr>
              <a:t>구체적으로 개시</a:t>
            </a:r>
            <a:r>
              <a:rPr lang="ko-KR" altLang="en-US" sz="1100" dirty="0">
                <a:solidFill>
                  <a:schemeClr val="tx2"/>
                </a:solidFill>
              </a:rPr>
              <a:t>하고 있어야 하고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>
                <a:solidFill>
                  <a:schemeClr val="tx2"/>
                </a:solidFill>
              </a:rPr>
              <a:t>이에는 선행발명을 기재한 선행문헌에 </a:t>
            </a:r>
            <a:r>
              <a:rPr lang="ko-KR" altLang="en-US" sz="1100" dirty="0">
                <a:solidFill>
                  <a:srgbClr val="FF0000"/>
                </a:solidFill>
              </a:rPr>
              <a:t>선택발명에 대한 </a:t>
            </a:r>
            <a:r>
              <a:rPr lang="ko-KR" altLang="en-US" sz="1100" dirty="0" err="1">
                <a:solidFill>
                  <a:srgbClr val="FF0000"/>
                </a:solidFill>
              </a:rPr>
              <a:t>문언적인</a:t>
            </a:r>
            <a:r>
              <a:rPr lang="ko-KR" altLang="en-US" sz="1100" dirty="0">
                <a:solidFill>
                  <a:srgbClr val="FF0000"/>
                </a:solidFill>
              </a:rPr>
              <a:t> 기재가 존재</a:t>
            </a:r>
            <a:r>
              <a:rPr lang="ko-KR" altLang="en-US" sz="1100" dirty="0">
                <a:solidFill>
                  <a:schemeClr val="tx2"/>
                </a:solidFill>
              </a:rPr>
              <a:t>하는 경우 외에도 </a:t>
            </a:r>
            <a:r>
              <a:rPr lang="ko-KR" altLang="en-US" sz="1100" dirty="0">
                <a:solidFill>
                  <a:srgbClr val="FF0000"/>
                </a:solidFill>
              </a:rPr>
              <a:t>그 발명이 속하는 기술분야에서 통상의 지식을 가진 자가 선행문헌의 기재 내용과 출원시의 기술 상식에 기초하여 선행문헌으로부터 직접적으로 선택발명의 존재를 인식할 수 있는 경우</a:t>
            </a:r>
            <a:r>
              <a:rPr lang="ko-KR" altLang="en-US" sz="1100" dirty="0">
                <a:solidFill>
                  <a:schemeClr val="tx2"/>
                </a:solidFill>
              </a:rPr>
              <a:t>도 포함된다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대법원 </a:t>
            </a:r>
            <a:r>
              <a:rPr lang="en-US" altLang="ko-KR" sz="1100" dirty="0">
                <a:solidFill>
                  <a:schemeClr val="tx2"/>
                </a:solidFill>
              </a:rPr>
              <a:t>2009. 10. 15. </a:t>
            </a:r>
            <a:r>
              <a:rPr lang="ko-KR" altLang="en-US" sz="1100" dirty="0">
                <a:solidFill>
                  <a:schemeClr val="tx2"/>
                </a:solidFill>
              </a:rPr>
              <a:t>선고 </a:t>
            </a:r>
            <a:r>
              <a:rPr lang="en-US" altLang="ko-KR" sz="1100" dirty="0">
                <a:solidFill>
                  <a:schemeClr val="tx2"/>
                </a:solidFill>
              </a:rPr>
              <a:t>2008</a:t>
            </a:r>
            <a:r>
              <a:rPr lang="ko-KR" altLang="en-US" sz="1100" dirty="0">
                <a:solidFill>
                  <a:schemeClr val="tx2"/>
                </a:solidFill>
              </a:rPr>
              <a:t>후</a:t>
            </a:r>
            <a:r>
              <a:rPr lang="en-US" altLang="ko-KR" sz="1100" dirty="0">
                <a:solidFill>
                  <a:schemeClr val="tx2"/>
                </a:solidFill>
              </a:rPr>
              <a:t>736, 743 </a:t>
            </a:r>
            <a:r>
              <a:rPr lang="ko-KR" altLang="en-US" sz="1100" dirty="0">
                <a:solidFill>
                  <a:schemeClr val="tx2"/>
                </a:solidFill>
              </a:rPr>
              <a:t>판결 참조</a:t>
            </a:r>
            <a:r>
              <a:rPr lang="en-US" altLang="ko-KR" sz="1100" dirty="0">
                <a:solidFill>
                  <a:schemeClr val="tx2"/>
                </a:solidFill>
              </a:rPr>
              <a:t>).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CE5BD75-FE62-410E-BBE2-0BD79FB081E7}"/>
              </a:ext>
            </a:extLst>
          </p:cNvPr>
          <p:cNvSpPr/>
          <p:nvPr/>
        </p:nvSpPr>
        <p:spPr>
          <a:xfrm>
            <a:off x="273381" y="2083092"/>
            <a:ext cx="892552" cy="89255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신규성</a:t>
            </a:r>
            <a:endParaRPr lang="en-US" altLang="ko-KR" dirty="0"/>
          </a:p>
          <a:p>
            <a:pPr algn="ctr"/>
            <a:r>
              <a:rPr lang="ko-KR" altLang="en-US" dirty="0"/>
              <a:t>요건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ADECC240-A040-4630-9423-C918FB652AAA}"/>
              </a:ext>
            </a:extLst>
          </p:cNvPr>
          <p:cNvSpPr/>
          <p:nvPr/>
        </p:nvSpPr>
        <p:spPr>
          <a:xfrm>
            <a:off x="273380" y="3837494"/>
            <a:ext cx="892552" cy="89255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진보성</a:t>
            </a:r>
            <a:endParaRPr lang="en-US" altLang="ko-KR" dirty="0"/>
          </a:p>
          <a:p>
            <a:pPr algn="ctr"/>
            <a:r>
              <a:rPr lang="ko-KR" altLang="en-US" dirty="0"/>
              <a:t>요건</a:t>
            </a:r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F997D670-A28A-4943-A0B4-CEFB3EC541E0}"/>
              </a:ext>
            </a:extLst>
          </p:cNvPr>
          <p:cNvCxnSpPr>
            <a:cxnSpLocks/>
            <a:stCxn id="5" idx="3"/>
            <a:endCxn id="90" idx="1"/>
          </p:cNvCxnSpPr>
          <p:nvPr/>
        </p:nvCxnSpPr>
        <p:spPr>
          <a:xfrm flipV="1">
            <a:off x="1165933" y="2452542"/>
            <a:ext cx="173980" cy="7682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81B8823-AF4B-4925-8C48-75770D6AD6AD}"/>
              </a:ext>
            </a:extLst>
          </p:cNvPr>
          <p:cNvSpPr txBox="1"/>
          <p:nvPr/>
        </p:nvSpPr>
        <p:spPr>
          <a:xfrm>
            <a:off x="1339913" y="2856026"/>
            <a:ext cx="10578707" cy="144655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 fontAlgn="base"/>
            <a:r>
              <a:rPr lang="ko-KR" altLang="en-US" sz="1100" dirty="0">
                <a:solidFill>
                  <a:schemeClr val="tx2"/>
                </a:solidFill>
              </a:rPr>
              <a:t>선택발명에 포함되는 </a:t>
            </a:r>
            <a:r>
              <a:rPr lang="ko-KR" altLang="en-US" sz="1100" dirty="0">
                <a:solidFill>
                  <a:schemeClr val="tx2"/>
                </a:solidFill>
                <a:highlight>
                  <a:srgbClr val="FFFF00"/>
                </a:highlight>
              </a:rPr>
              <a:t>하위개념들 모두</a:t>
            </a:r>
            <a:r>
              <a:rPr lang="en-US" altLang="ko-KR" sz="1100" dirty="0">
                <a:solidFill>
                  <a:schemeClr val="tx2"/>
                </a:solidFill>
                <a:highlight>
                  <a:srgbClr val="FFFF00"/>
                </a:highlight>
              </a:rPr>
              <a:t>(</a:t>
            </a:r>
            <a:r>
              <a:rPr lang="en-US" altLang="ko-KR" sz="1100" dirty="0" err="1">
                <a:solidFill>
                  <a:schemeClr val="tx2"/>
                </a:solidFill>
                <a:highlight>
                  <a:srgbClr val="FFFF00"/>
                </a:highlight>
              </a:rPr>
              <a:t>a1</a:t>
            </a:r>
            <a:r>
              <a:rPr lang="en-US" altLang="ko-KR" sz="1100" dirty="0">
                <a:solidFill>
                  <a:schemeClr val="tx2"/>
                </a:solidFill>
                <a:highlight>
                  <a:srgbClr val="FFFF00"/>
                </a:highlight>
              </a:rPr>
              <a:t>, </a:t>
            </a:r>
            <a:r>
              <a:rPr lang="en-US" altLang="ko-KR" sz="1100" dirty="0" err="1">
                <a:solidFill>
                  <a:schemeClr val="tx2"/>
                </a:solidFill>
                <a:highlight>
                  <a:srgbClr val="FFFF00"/>
                </a:highlight>
              </a:rPr>
              <a:t>a2</a:t>
            </a:r>
            <a:r>
              <a:rPr lang="en-US" altLang="ko-KR" sz="1100" dirty="0">
                <a:solidFill>
                  <a:schemeClr val="tx2"/>
                </a:solidFill>
                <a:highlight>
                  <a:srgbClr val="FFFF00"/>
                </a:highlight>
              </a:rPr>
              <a:t>, </a:t>
            </a:r>
            <a:r>
              <a:rPr lang="en-US" altLang="ko-KR" sz="1100" dirty="0" err="1">
                <a:solidFill>
                  <a:schemeClr val="tx2"/>
                </a:solidFill>
                <a:highlight>
                  <a:srgbClr val="FFFF00"/>
                </a:highlight>
              </a:rPr>
              <a:t>a3</a:t>
            </a:r>
            <a:r>
              <a:rPr lang="en-US" altLang="ko-KR" sz="1100" dirty="0">
                <a:solidFill>
                  <a:schemeClr val="tx2"/>
                </a:solidFill>
                <a:highlight>
                  <a:srgbClr val="FFFF00"/>
                </a:highlight>
              </a:rPr>
              <a:t>)</a:t>
            </a:r>
            <a:r>
              <a:rPr lang="ko-KR" altLang="en-US" sz="1100" dirty="0">
                <a:solidFill>
                  <a:schemeClr val="tx2"/>
                </a:solidFill>
              </a:rPr>
              <a:t>가 공지된 상위개념인 선행발명과 비교하여 구성의 곤란성이 인정되어야 한다</a:t>
            </a:r>
            <a:r>
              <a:rPr lang="en-US" altLang="ko-KR" sz="1100" dirty="0">
                <a:solidFill>
                  <a:schemeClr val="tx2"/>
                </a:solidFill>
              </a:rPr>
              <a:t>. </a:t>
            </a:r>
            <a:r>
              <a:rPr lang="ko-KR" altLang="en-US" sz="1100" dirty="0">
                <a:solidFill>
                  <a:schemeClr val="tx2"/>
                </a:solidFill>
              </a:rPr>
              <a:t>구성의 곤란성이 인정되는지 여부와 관련해서는 </a:t>
            </a:r>
            <a:r>
              <a:rPr lang="en-US" altLang="ko-KR" sz="1100" dirty="0">
                <a:solidFill>
                  <a:schemeClr val="tx2"/>
                </a:solidFill>
              </a:rPr>
              <a:t>ⅰ) </a:t>
            </a:r>
            <a:r>
              <a:rPr lang="ko-KR" altLang="en-US" sz="1100" dirty="0">
                <a:solidFill>
                  <a:schemeClr val="tx2"/>
                </a:solidFill>
              </a:rPr>
              <a:t>상위개념의 크기</a:t>
            </a:r>
            <a:r>
              <a:rPr lang="en-US" altLang="ko-KR" sz="1100" dirty="0">
                <a:solidFill>
                  <a:schemeClr val="tx2"/>
                </a:solidFill>
              </a:rPr>
              <a:t>, ⅱ) </a:t>
            </a:r>
            <a:r>
              <a:rPr lang="ko-KR" altLang="en-US" sz="1100" dirty="0">
                <a:solidFill>
                  <a:schemeClr val="tx2"/>
                </a:solidFill>
              </a:rPr>
              <a:t>선행발명이 선택발명을 선택할 동기를 제공하거나 선행발명에 암시가 있는지 여부</a:t>
            </a:r>
            <a:r>
              <a:rPr lang="en-US" altLang="ko-KR" sz="1100" dirty="0">
                <a:solidFill>
                  <a:schemeClr val="tx2"/>
                </a:solidFill>
              </a:rPr>
              <a:t>, ⅲ) </a:t>
            </a:r>
            <a:r>
              <a:rPr lang="ko-KR" altLang="en-US" sz="1100" dirty="0">
                <a:solidFill>
                  <a:schemeClr val="tx2"/>
                </a:solidFill>
              </a:rPr>
              <a:t>선행발명에 기재된 하위개념발명과 선택발명이 구조적으로 유사한지 여부 등이 고려되어야 한다</a:t>
            </a:r>
            <a:r>
              <a:rPr lang="en-US" altLang="ko-KR" sz="1100" dirty="0">
                <a:solidFill>
                  <a:schemeClr val="tx2"/>
                </a:solidFill>
              </a:rPr>
              <a:t>. </a:t>
            </a:r>
            <a:r>
              <a:rPr lang="ko-KR" altLang="en-US" sz="1100" dirty="0">
                <a:solidFill>
                  <a:schemeClr val="tx2"/>
                </a:solidFill>
              </a:rPr>
              <a:t>예를 들어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>
                <a:solidFill>
                  <a:schemeClr val="tx2"/>
                </a:solidFill>
              </a:rPr>
              <a:t>선행발명에 발명을 이루는 구성요소 중 일부를 두 개 이상의 치환기로 하나 이상 선택할 수 있도록 기재하는 이른바 </a:t>
            </a:r>
            <a:r>
              <a:rPr lang="ko-KR" altLang="en-US" sz="1100" dirty="0" err="1">
                <a:solidFill>
                  <a:schemeClr val="tx2"/>
                </a:solidFill>
              </a:rPr>
              <a:t>마쿠쉬</a:t>
            </a:r>
            <a:r>
              <a:rPr lang="en-US" altLang="ko-KR" sz="1100" dirty="0">
                <a:solidFill>
                  <a:schemeClr val="tx2"/>
                </a:solidFill>
              </a:rPr>
              <a:t>(Markush) </a:t>
            </a:r>
            <a:r>
              <a:rPr lang="ko-KR" altLang="en-US" sz="1100" dirty="0">
                <a:solidFill>
                  <a:schemeClr val="tx2"/>
                </a:solidFill>
              </a:rPr>
              <a:t>형식으로 기재된 화학식과 그 치환기의 범위 내에 이론상 포함되기만 할 뿐 구체적으로 개시되지 않은 화합물을 청구범위로 하는 특허발명의 경우에도 진보성 판단을 위하여 구성의 곤란성을 따져보아야 한다</a:t>
            </a:r>
            <a:r>
              <a:rPr lang="en-US" altLang="ko-KR" sz="1100" dirty="0">
                <a:solidFill>
                  <a:schemeClr val="tx2"/>
                </a:solidFill>
              </a:rPr>
              <a:t>. </a:t>
            </a:r>
            <a:r>
              <a:rPr lang="ko-KR" altLang="en-US" sz="1100" dirty="0">
                <a:solidFill>
                  <a:schemeClr val="tx2"/>
                </a:solidFill>
              </a:rPr>
              <a:t>위와 같은 특허발명의 구성의 곤란성을 판단할 때에는 </a:t>
            </a:r>
            <a:r>
              <a:rPr lang="ko-KR" altLang="en-US" sz="1100" dirty="0">
                <a:solidFill>
                  <a:srgbClr val="FF0000"/>
                </a:solidFill>
              </a:rPr>
              <a:t>선행발명에 </a:t>
            </a:r>
            <a:r>
              <a:rPr lang="ko-KR" altLang="en-US" sz="1100" dirty="0" err="1">
                <a:solidFill>
                  <a:srgbClr val="FF0000"/>
                </a:solidFill>
              </a:rPr>
              <a:t>마쿠쉬</a:t>
            </a:r>
            <a:r>
              <a:rPr lang="ko-KR" altLang="en-US" sz="1100" dirty="0">
                <a:solidFill>
                  <a:srgbClr val="FF0000"/>
                </a:solidFill>
              </a:rPr>
              <a:t> 형식 등으로 기재된 화학식과 그 치환기의 범위 내에 이론상 포함될 수 있는 화합물의 개수</a:t>
            </a:r>
            <a:r>
              <a:rPr lang="en-US" altLang="ko-KR" sz="1100" dirty="0">
                <a:solidFill>
                  <a:srgbClr val="FF0000"/>
                </a:solidFill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</a:rPr>
              <a:t>통상의 기술자가 선행발명에 </a:t>
            </a:r>
            <a:r>
              <a:rPr lang="ko-KR" altLang="en-US" sz="1100" dirty="0" err="1">
                <a:solidFill>
                  <a:srgbClr val="FF0000"/>
                </a:solidFill>
              </a:rPr>
              <a:t>마쿠쉬</a:t>
            </a:r>
            <a:r>
              <a:rPr lang="ko-KR" altLang="en-US" sz="1100" dirty="0">
                <a:solidFill>
                  <a:srgbClr val="FF0000"/>
                </a:solidFill>
              </a:rPr>
              <a:t> 형식 등으로 기재된 화합물 중에서 특정한 화합물이나 특정 치환기를 우선적으로 또는 쉽게 선택할 사정이나 동기 또는 암시의 유무</a:t>
            </a:r>
            <a:r>
              <a:rPr lang="en-US" altLang="ko-KR" sz="1100" dirty="0">
                <a:solidFill>
                  <a:srgbClr val="FF0000"/>
                </a:solidFill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</a:rPr>
              <a:t>선행발명에 구체적으로 기재된 화합물과 특허발명의 구조적 유사성 등을 종합적으로 고려</a:t>
            </a:r>
            <a:r>
              <a:rPr lang="ko-KR" altLang="en-US" sz="1100" dirty="0">
                <a:solidFill>
                  <a:schemeClr val="tx2"/>
                </a:solidFill>
              </a:rPr>
              <a:t>하여야 한다</a:t>
            </a:r>
            <a:r>
              <a:rPr lang="en-US" altLang="ko-KR" sz="1100" dirty="0">
                <a:solidFill>
                  <a:schemeClr val="tx2"/>
                </a:solidFill>
              </a:rPr>
              <a:t>.  </a:t>
            </a:r>
            <a:r>
              <a:rPr lang="ko-KR" altLang="en-US" sz="1100" dirty="0">
                <a:solidFill>
                  <a:srgbClr val="FF0000"/>
                </a:solidFill>
              </a:rPr>
              <a:t>다만</a:t>
            </a:r>
            <a:r>
              <a:rPr lang="en-US" altLang="ko-KR" sz="1100" dirty="0">
                <a:solidFill>
                  <a:srgbClr val="FF0000"/>
                </a:solidFill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</a:rPr>
              <a:t>구성의 곤란성을 따져 보지 않고 효과의 </a:t>
            </a:r>
            <a:r>
              <a:rPr lang="ko-KR" altLang="en-US" sz="1100" dirty="0" err="1">
                <a:solidFill>
                  <a:srgbClr val="FF0000"/>
                </a:solidFill>
              </a:rPr>
              <a:t>현저성</a:t>
            </a:r>
            <a:r>
              <a:rPr lang="ko-KR" altLang="en-US" sz="1100" dirty="0">
                <a:solidFill>
                  <a:srgbClr val="FF0000"/>
                </a:solidFill>
              </a:rPr>
              <a:t> 유무만으로 진보성을 판단해서는 안 된다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대법원 </a:t>
            </a:r>
            <a:r>
              <a:rPr lang="en-US" altLang="ko-KR" sz="1100" dirty="0">
                <a:solidFill>
                  <a:schemeClr val="tx2"/>
                </a:solidFill>
              </a:rPr>
              <a:t>2021. 4. 8. </a:t>
            </a:r>
            <a:r>
              <a:rPr lang="ko-KR" altLang="en-US" sz="1100" dirty="0">
                <a:solidFill>
                  <a:schemeClr val="tx2"/>
                </a:solidFill>
              </a:rPr>
              <a:t>선고 </a:t>
            </a:r>
            <a:r>
              <a:rPr lang="en-US" altLang="ko-KR" sz="1100" dirty="0">
                <a:solidFill>
                  <a:schemeClr val="tx2"/>
                </a:solidFill>
              </a:rPr>
              <a:t>2019</a:t>
            </a:r>
            <a:r>
              <a:rPr lang="ko-KR" altLang="en-US" sz="1100" dirty="0">
                <a:solidFill>
                  <a:schemeClr val="tx2"/>
                </a:solidFill>
              </a:rPr>
              <a:t>후</a:t>
            </a:r>
            <a:r>
              <a:rPr lang="en-US" altLang="ko-KR" sz="1100" dirty="0">
                <a:solidFill>
                  <a:schemeClr val="tx2"/>
                </a:solidFill>
              </a:rPr>
              <a:t>10609).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5C208C6-C8B4-4480-9979-D91AB9BFDED1}"/>
              </a:ext>
            </a:extLst>
          </p:cNvPr>
          <p:cNvSpPr txBox="1"/>
          <p:nvPr/>
        </p:nvSpPr>
        <p:spPr>
          <a:xfrm>
            <a:off x="1339913" y="5824568"/>
            <a:ext cx="10578707" cy="93871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 fontAlgn="base"/>
            <a:r>
              <a:rPr lang="ko-KR" altLang="en-US" sz="1100" dirty="0">
                <a:solidFill>
                  <a:schemeClr val="tx2"/>
                </a:solidFill>
              </a:rPr>
              <a:t>효과의 현저성에 의해 진보성을 판단할 때</a:t>
            </a:r>
            <a:r>
              <a:rPr lang="en-US" altLang="ko-KR" sz="1100" dirty="0">
                <a:solidFill>
                  <a:schemeClr val="tx2"/>
                </a:solidFill>
              </a:rPr>
              <a:t> </a:t>
            </a:r>
            <a:r>
              <a:rPr lang="ko-KR" altLang="en-US" sz="1100" dirty="0">
                <a:solidFill>
                  <a:schemeClr val="tx2"/>
                </a:solidFill>
              </a:rPr>
              <a:t>선택발명에 여러 효과가 있는 경우에 선행발명과 비교하여 이질적이거나 양적으로 현저한 효과를 갖는다고 하기 위해서는 </a:t>
            </a:r>
            <a:r>
              <a:rPr lang="ko-KR" altLang="en-US" sz="1100" dirty="0">
                <a:solidFill>
                  <a:schemeClr val="tx2"/>
                </a:solidFill>
                <a:highlight>
                  <a:srgbClr val="FFFF00"/>
                </a:highlight>
              </a:rPr>
              <a:t>선택발명</a:t>
            </a:r>
            <a:r>
              <a:rPr lang="en-US" altLang="ko-KR" sz="1100" dirty="0">
                <a:solidFill>
                  <a:schemeClr val="tx2"/>
                </a:solidFill>
                <a:highlight>
                  <a:srgbClr val="FFFF00"/>
                </a:highlight>
              </a:rPr>
              <a:t>(</a:t>
            </a:r>
            <a:r>
              <a:rPr lang="en-US" altLang="ko-KR" sz="1100" dirty="0" err="1">
                <a:solidFill>
                  <a:schemeClr val="tx2"/>
                </a:solidFill>
                <a:highlight>
                  <a:srgbClr val="FFFF00"/>
                </a:highlight>
              </a:rPr>
              <a:t>a1</a:t>
            </a:r>
            <a:r>
              <a:rPr lang="en-US" altLang="ko-KR" sz="1100" dirty="0">
                <a:solidFill>
                  <a:schemeClr val="tx2"/>
                </a:solidFill>
                <a:highlight>
                  <a:srgbClr val="FFFF00"/>
                </a:highlight>
              </a:rPr>
              <a:t>)</a:t>
            </a:r>
            <a:r>
              <a:rPr lang="ko-KR" altLang="en-US" sz="1100" dirty="0">
                <a:solidFill>
                  <a:schemeClr val="tx2"/>
                </a:solidFill>
                <a:highlight>
                  <a:srgbClr val="FFFF00"/>
                </a:highlight>
              </a:rPr>
              <a:t>의 모든 종류의 효과</a:t>
            </a:r>
            <a:r>
              <a:rPr lang="en-US" altLang="ko-KR" sz="1100" dirty="0">
                <a:solidFill>
                  <a:schemeClr val="tx2"/>
                </a:solidFill>
                <a:highlight>
                  <a:srgbClr val="FFFF00"/>
                </a:highlight>
              </a:rPr>
              <a:t>(</a:t>
            </a:r>
            <a:r>
              <a:rPr lang="en-US" altLang="ko-KR" sz="1100" dirty="0" err="1">
                <a:solidFill>
                  <a:schemeClr val="tx2"/>
                </a:solidFill>
                <a:highlight>
                  <a:srgbClr val="FFFF00"/>
                </a:highlight>
              </a:rPr>
              <a:t>e1</a:t>
            </a:r>
            <a:r>
              <a:rPr lang="en-US" altLang="ko-KR" sz="1100" dirty="0">
                <a:solidFill>
                  <a:schemeClr val="tx2"/>
                </a:solidFill>
                <a:highlight>
                  <a:srgbClr val="FFFF00"/>
                </a:highlight>
              </a:rPr>
              <a:t>, </a:t>
            </a:r>
            <a:r>
              <a:rPr lang="en-US" altLang="ko-KR" sz="1100" dirty="0" err="1">
                <a:solidFill>
                  <a:schemeClr val="tx2"/>
                </a:solidFill>
                <a:highlight>
                  <a:srgbClr val="FFFF00"/>
                </a:highlight>
              </a:rPr>
              <a:t>e2</a:t>
            </a:r>
            <a:r>
              <a:rPr lang="en-US" altLang="ko-KR" sz="1100" dirty="0">
                <a:solidFill>
                  <a:schemeClr val="tx2"/>
                </a:solidFill>
                <a:highlight>
                  <a:srgbClr val="FFFF00"/>
                </a:highlight>
              </a:rPr>
              <a:t>, </a:t>
            </a:r>
            <a:r>
              <a:rPr lang="en-US" altLang="ko-KR" sz="1100" dirty="0" err="1">
                <a:solidFill>
                  <a:schemeClr val="tx2"/>
                </a:solidFill>
                <a:highlight>
                  <a:srgbClr val="FFFF00"/>
                </a:highlight>
              </a:rPr>
              <a:t>e3</a:t>
            </a:r>
            <a:r>
              <a:rPr lang="en-US" altLang="ko-KR" sz="1100" dirty="0">
                <a:solidFill>
                  <a:schemeClr val="tx2"/>
                </a:solidFill>
                <a:highlight>
                  <a:srgbClr val="FFFF00"/>
                </a:highlight>
              </a:rPr>
              <a:t>)</a:t>
            </a:r>
            <a:r>
              <a:rPr lang="ko-KR" altLang="en-US" sz="1100" dirty="0">
                <a:solidFill>
                  <a:schemeClr val="tx2"/>
                </a:solidFill>
                <a:highlight>
                  <a:srgbClr val="FFFF00"/>
                </a:highlight>
              </a:rPr>
              <a:t>가 아니라 </a:t>
            </a:r>
            <a:r>
              <a:rPr lang="ko-KR" altLang="en-US" sz="1100" dirty="0">
                <a:solidFill>
                  <a:srgbClr val="FF0000"/>
                </a:solidFill>
                <a:highlight>
                  <a:srgbClr val="FFFF00"/>
                </a:highlight>
              </a:rPr>
              <a:t>그 중 일부</a:t>
            </a:r>
            <a:r>
              <a:rPr lang="en-US" altLang="ko-KR" sz="1100" dirty="0">
                <a:solidFill>
                  <a:srgbClr val="FF0000"/>
                </a:solidFill>
                <a:highlight>
                  <a:srgbClr val="FFFF00"/>
                </a:highlight>
              </a:rPr>
              <a:t>(</a:t>
            </a:r>
            <a:r>
              <a:rPr lang="en-US" altLang="ko-KR" sz="1100" dirty="0" err="1">
                <a:solidFill>
                  <a:srgbClr val="FF0000"/>
                </a:solidFill>
                <a:highlight>
                  <a:srgbClr val="FFFF00"/>
                </a:highlight>
              </a:rPr>
              <a:t>e3</a:t>
            </a:r>
            <a:r>
              <a:rPr lang="en-US" altLang="ko-KR" sz="1100" dirty="0">
                <a:solidFill>
                  <a:srgbClr val="FF0000"/>
                </a:solidFill>
                <a:highlight>
                  <a:srgbClr val="FFFF00"/>
                </a:highlight>
              </a:rPr>
              <a:t>)</a:t>
            </a:r>
            <a:r>
              <a:rPr lang="ko-KR" altLang="en-US" sz="1100" dirty="0">
                <a:solidFill>
                  <a:srgbClr val="FF0000"/>
                </a:solidFill>
                <a:highlight>
                  <a:srgbClr val="FFFF00"/>
                </a:highlight>
              </a:rPr>
              <a:t>라도</a:t>
            </a:r>
            <a:r>
              <a:rPr lang="ko-KR" altLang="en-US" sz="1100" dirty="0">
                <a:solidFill>
                  <a:srgbClr val="FF0000"/>
                </a:solidFill>
              </a:rPr>
              <a:t> 선행발명과 비교하여 그러한 효과를 갖는다고 인정</a:t>
            </a:r>
            <a:r>
              <a:rPr lang="ko-KR" altLang="en-US" sz="1100" dirty="0">
                <a:solidFill>
                  <a:schemeClr val="tx2"/>
                </a:solidFill>
              </a:rPr>
              <a:t>되면 충분하다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대법원 </a:t>
            </a:r>
            <a:r>
              <a:rPr lang="en-US" altLang="ko-KR" sz="1100" dirty="0">
                <a:solidFill>
                  <a:schemeClr val="tx2"/>
                </a:solidFill>
              </a:rPr>
              <a:t>2012. 8. 23. </a:t>
            </a:r>
            <a:r>
              <a:rPr lang="ko-KR" altLang="en-US" sz="1100" dirty="0">
                <a:solidFill>
                  <a:schemeClr val="tx2"/>
                </a:solidFill>
              </a:rPr>
              <a:t>선고 </a:t>
            </a:r>
            <a:r>
              <a:rPr lang="en-US" altLang="ko-KR" sz="1100" dirty="0">
                <a:solidFill>
                  <a:schemeClr val="tx2"/>
                </a:solidFill>
              </a:rPr>
              <a:t>2010</a:t>
            </a:r>
            <a:r>
              <a:rPr lang="ko-KR" altLang="en-US" sz="1100" dirty="0">
                <a:solidFill>
                  <a:schemeClr val="tx2"/>
                </a:solidFill>
              </a:rPr>
              <a:t>후</a:t>
            </a:r>
            <a:r>
              <a:rPr lang="en-US" altLang="ko-KR" sz="1100" dirty="0">
                <a:solidFill>
                  <a:schemeClr val="tx2"/>
                </a:solidFill>
              </a:rPr>
              <a:t>3424 </a:t>
            </a:r>
            <a:r>
              <a:rPr lang="ko-KR" altLang="en-US" sz="1100" dirty="0">
                <a:solidFill>
                  <a:schemeClr val="tx2"/>
                </a:solidFill>
              </a:rPr>
              <a:t>참조</a:t>
            </a:r>
            <a:r>
              <a:rPr lang="en-US" altLang="ko-KR" sz="1100" dirty="0">
                <a:solidFill>
                  <a:schemeClr val="tx2"/>
                </a:solidFill>
              </a:rPr>
              <a:t>). </a:t>
            </a:r>
            <a:r>
              <a:rPr lang="ko-KR" altLang="en-US" sz="1100" dirty="0">
                <a:solidFill>
                  <a:schemeClr val="tx2"/>
                </a:solidFill>
              </a:rPr>
              <a:t>한편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>
                <a:solidFill>
                  <a:schemeClr val="tx2"/>
                </a:solidFill>
              </a:rPr>
              <a:t>선택발명에 포함되는 </a:t>
            </a:r>
            <a:r>
              <a:rPr lang="ko-KR" altLang="en-US" sz="1100" dirty="0">
                <a:solidFill>
                  <a:srgbClr val="FF0000"/>
                </a:solidFill>
              </a:rPr>
              <a:t>하위개념의 실시형태 중 가장 열등한 것의 효과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en-US" altLang="ko-KR" sz="1100" dirty="0" err="1">
                <a:solidFill>
                  <a:srgbClr val="FF0000"/>
                </a:solidFill>
              </a:rPr>
              <a:t>a1</a:t>
            </a:r>
            <a:r>
              <a:rPr lang="en-US" altLang="ko-KR" sz="1100" dirty="0">
                <a:solidFill>
                  <a:srgbClr val="FF0000"/>
                </a:solidFill>
              </a:rPr>
              <a:t> &gt; </a:t>
            </a:r>
            <a:r>
              <a:rPr lang="en-US" altLang="ko-KR" sz="1100" dirty="0" err="1">
                <a:solidFill>
                  <a:srgbClr val="FF0000"/>
                </a:solidFill>
              </a:rPr>
              <a:t>a2</a:t>
            </a:r>
            <a:r>
              <a:rPr lang="en-US" altLang="ko-KR" sz="1100" dirty="0">
                <a:solidFill>
                  <a:srgbClr val="FF0000"/>
                </a:solidFill>
              </a:rPr>
              <a:t> &gt;</a:t>
            </a:r>
            <a:r>
              <a:rPr lang="ko-KR" altLang="en-US" sz="1100" dirty="0">
                <a:solidFill>
                  <a:srgbClr val="FF0000"/>
                </a:solidFill>
              </a:rPr>
              <a:t>가 선행발명에 개시된 실시형태 중 가장 우수한 것의 효과와 비교</a:t>
            </a:r>
            <a:r>
              <a:rPr lang="ko-KR" altLang="en-US" sz="1100" dirty="0">
                <a:solidFill>
                  <a:schemeClr val="tx2"/>
                </a:solidFill>
              </a:rPr>
              <a:t>하여 현저하다는 관계가 인정되지 않는다면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>
                <a:solidFill>
                  <a:schemeClr val="tx2"/>
                </a:solidFill>
              </a:rPr>
              <a:t>선택발명에 포함되는 하위개념의 실시형태 중 일부의 효과가 선행발명에 개시된 실시형태 중 일부의 효과보다 뛰어나 보인다고 하여 선택발명의 진보성이 부정되지 아니한다고 볼 수는 없다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대법원 </a:t>
            </a:r>
            <a:r>
              <a:rPr lang="en-US" altLang="ko-KR" sz="1100" dirty="0">
                <a:solidFill>
                  <a:schemeClr val="tx2"/>
                </a:solidFill>
              </a:rPr>
              <a:t>2016. 1. 28. </a:t>
            </a:r>
            <a:r>
              <a:rPr lang="ko-KR" altLang="en-US" sz="1100" dirty="0">
                <a:solidFill>
                  <a:schemeClr val="tx2"/>
                </a:solidFill>
              </a:rPr>
              <a:t>선고 </a:t>
            </a:r>
            <a:r>
              <a:rPr lang="en-US" altLang="ko-KR" sz="1100" dirty="0">
                <a:solidFill>
                  <a:schemeClr val="tx2"/>
                </a:solidFill>
              </a:rPr>
              <a:t>2013</a:t>
            </a:r>
            <a:r>
              <a:rPr lang="ko-KR" altLang="en-US" sz="1100" dirty="0">
                <a:solidFill>
                  <a:schemeClr val="tx2"/>
                </a:solidFill>
              </a:rPr>
              <a:t>후</a:t>
            </a:r>
            <a:r>
              <a:rPr lang="en-US" altLang="ko-KR" sz="1100" dirty="0">
                <a:solidFill>
                  <a:schemeClr val="tx2"/>
                </a:solidFill>
              </a:rPr>
              <a:t>1887).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0C033831-69A1-41CB-B59A-CD0D4C493B0A}"/>
              </a:ext>
            </a:extLst>
          </p:cNvPr>
          <p:cNvCxnSpPr>
            <a:stCxn id="67" idx="3"/>
            <a:endCxn id="70" idx="1"/>
          </p:cNvCxnSpPr>
          <p:nvPr/>
        </p:nvCxnSpPr>
        <p:spPr>
          <a:xfrm>
            <a:off x="1165932" y="4283770"/>
            <a:ext cx="173981" cy="201015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1EF758D0-2E0F-43CF-B43C-8461B9736372}"/>
              </a:ext>
            </a:extLst>
          </p:cNvPr>
          <p:cNvCxnSpPr>
            <a:stCxn id="67" idx="3"/>
            <a:endCxn id="68" idx="1"/>
          </p:cNvCxnSpPr>
          <p:nvPr/>
        </p:nvCxnSpPr>
        <p:spPr>
          <a:xfrm flipV="1">
            <a:off x="1165932" y="3579301"/>
            <a:ext cx="173981" cy="70446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2DB60878-6ABA-4DEA-9778-F57B55800A62}"/>
              </a:ext>
            </a:extLst>
          </p:cNvPr>
          <p:cNvCxnSpPr>
            <a:cxnSpLocks/>
            <a:stCxn id="67" idx="3"/>
          </p:cNvCxnSpPr>
          <p:nvPr/>
        </p:nvCxnSpPr>
        <p:spPr>
          <a:xfrm>
            <a:off x="1165932" y="4283770"/>
            <a:ext cx="173981" cy="5026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Line 5">
            <a:extLst>
              <a:ext uri="{FF2B5EF4-FFF2-40B4-BE49-F238E27FC236}">
                <a16:creationId xmlns:a16="http://schemas.microsoft.com/office/drawing/2014/main" id="{04250376-DFCC-4474-A196-26E2687E570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337" y="1689547"/>
            <a:ext cx="1146427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6030FBF3-5972-4B17-B130-B131F5CE9CD4}"/>
              </a:ext>
            </a:extLst>
          </p:cNvPr>
          <p:cNvSpPr/>
          <p:nvPr/>
        </p:nvSpPr>
        <p:spPr>
          <a:xfrm>
            <a:off x="1958674" y="159845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78DAD14A-ADE9-4DEE-9E9A-7B74C38B6F91}"/>
              </a:ext>
            </a:extLst>
          </p:cNvPr>
          <p:cNvCxnSpPr>
            <a:cxnSpLocks/>
            <a:stCxn id="45" idx="2"/>
            <a:endCxn id="37" idx="0"/>
          </p:cNvCxnSpPr>
          <p:nvPr/>
        </p:nvCxnSpPr>
        <p:spPr>
          <a:xfrm flipH="1">
            <a:off x="2036043" y="1475550"/>
            <a:ext cx="1" cy="12290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FFDE3FA-9E38-4358-994E-06A931F2ACDE}"/>
              </a:ext>
            </a:extLst>
          </p:cNvPr>
          <p:cNvSpPr txBox="1"/>
          <p:nvPr/>
        </p:nvSpPr>
        <p:spPr>
          <a:xfrm>
            <a:off x="1112988" y="1009041"/>
            <a:ext cx="1846112" cy="4665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공지기술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 +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다른 기재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(@)</a:t>
            </a: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EDA6E673-3817-45B3-8494-D28F35A84460}"/>
              </a:ext>
            </a:extLst>
          </p:cNvPr>
          <p:cNvSpPr/>
          <p:nvPr/>
        </p:nvSpPr>
        <p:spPr>
          <a:xfrm>
            <a:off x="7039382" y="1598450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D2A410B7-1993-4C31-A33E-90D83D9D6160}"/>
              </a:ext>
            </a:extLst>
          </p:cNvPr>
          <p:cNvCxnSpPr>
            <a:cxnSpLocks/>
            <a:stCxn id="57" idx="2"/>
            <a:endCxn id="55" idx="0"/>
          </p:cNvCxnSpPr>
          <p:nvPr/>
        </p:nvCxnSpPr>
        <p:spPr>
          <a:xfrm>
            <a:off x="7116751" y="1475550"/>
            <a:ext cx="0" cy="12290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B92700F-36BD-4CDC-B22E-F409E956A946}"/>
              </a:ext>
            </a:extLst>
          </p:cNvPr>
          <p:cNvSpPr txBox="1"/>
          <p:nvPr/>
        </p:nvSpPr>
        <p:spPr>
          <a:xfrm>
            <a:off x="6086475" y="1009041"/>
            <a:ext cx="2060552" cy="4665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특허출원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(a1, a2, a3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중 어느 하나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883B48F-FB83-42BC-A0F8-B4728BFFFD1A}"/>
              </a:ext>
            </a:extLst>
          </p:cNvPr>
          <p:cNvSpPr txBox="1"/>
          <p:nvPr/>
        </p:nvSpPr>
        <p:spPr>
          <a:xfrm>
            <a:off x="395337" y="1786646"/>
            <a:ext cx="4600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* A</a:t>
            </a:r>
            <a:r>
              <a:rPr lang="ko-KR" altLang="en-US" sz="1400" dirty="0"/>
              <a:t>가 상위개념이고</a:t>
            </a:r>
            <a:r>
              <a:rPr lang="en-US" altLang="ko-KR" sz="1400" dirty="0"/>
              <a:t>, a1, a2, a3</a:t>
            </a:r>
            <a:r>
              <a:rPr lang="ko-KR" altLang="en-US" sz="1400" dirty="0"/>
              <a:t>가 </a:t>
            </a:r>
            <a:r>
              <a:rPr lang="en-US" altLang="ko-KR" sz="1400" dirty="0"/>
              <a:t>A</a:t>
            </a:r>
            <a:r>
              <a:rPr lang="ko-KR" altLang="en-US" sz="1400" dirty="0"/>
              <a:t>를 한정한 하위개념발명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743C338-EC88-4375-83D8-EA16C3B2832E}"/>
              </a:ext>
            </a:extLst>
          </p:cNvPr>
          <p:cNvSpPr txBox="1"/>
          <p:nvPr/>
        </p:nvSpPr>
        <p:spPr>
          <a:xfrm>
            <a:off x="8903269" y="700242"/>
            <a:ext cx="1624163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noAutofit/>
          </a:bodyPr>
          <a:lstStyle/>
          <a:p>
            <a:r>
              <a:rPr lang="en-US" altLang="ko-KR" sz="1200" dirty="0"/>
              <a:t>a1</a:t>
            </a:r>
            <a:r>
              <a:rPr lang="ko-KR" altLang="en-US" sz="1200" dirty="0"/>
              <a:t>의</a:t>
            </a:r>
            <a:r>
              <a:rPr lang="en-US" altLang="ko-KR" sz="1200" dirty="0"/>
              <a:t> </a:t>
            </a:r>
            <a:r>
              <a:rPr lang="ko-KR" altLang="en-US" sz="1200" dirty="0"/>
              <a:t>효과</a:t>
            </a:r>
            <a:r>
              <a:rPr lang="en-US" altLang="ko-KR" sz="1200" dirty="0"/>
              <a:t>: e1, e2, </a:t>
            </a:r>
            <a:r>
              <a:rPr lang="en-US" altLang="ko-KR" sz="1200" dirty="0">
                <a:solidFill>
                  <a:srgbClr val="FF0000"/>
                </a:solidFill>
              </a:rPr>
              <a:t>e3</a:t>
            </a:r>
            <a:r>
              <a:rPr lang="ko-KR" altLang="en-US" sz="1200" dirty="0"/>
              <a:t> </a:t>
            </a:r>
            <a:endParaRPr lang="en-US" altLang="ko-KR" sz="12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C52EBF2-73BD-448C-83D8-33BBADFB0ABF}"/>
              </a:ext>
            </a:extLst>
          </p:cNvPr>
          <p:cNvSpPr txBox="1"/>
          <p:nvPr/>
        </p:nvSpPr>
        <p:spPr>
          <a:xfrm>
            <a:off x="8903268" y="1000929"/>
            <a:ext cx="1624163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noAutofit/>
          </a:bodyPr>
          <a:lstStyle/>
          <a:p>
            <a:r>
              <a:rPr lang="en-US" altLang="ko-KR" sz="1200" dirty="0"/>
              <a:t>a2</a:t>
            </a:r>
            <a:r>
              <a:rPr lang="ko-KR" altLang="en-US" sz="1200" dirty="0"/>
              <a:t>의 효과</a:t>
            </a:r>
            <a:r>
              <a:rPr lang="en-US" altLang="ko-KR" sz="1200" dirty="0"/>
              <a:t>: </a:t>
            </a:r>
            <a:r>
              <a:rPr lang="en-US" altLang="ko-KR" sz="1200" dirty="0">
                <a:solidFill>
                  <a:srgbClr val="FF0000"/>
                </a:solidFill>
              </a:rPr>
              <a:t>e4</a:t>
            </a:r>
            <a:r>
              <a:rPr lang="en-US" altLang="ko-KR" sz="1200" dirty="0"/>
              <a:t>, e5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AEF3563-B7C3-4AD3-9FD3-646D35A7B853}"/>
              </a:ext>
            </a:extLst>
          </p:cNvPr>
          <p:cNvSpPr txBox="1"/>
          <p:nvPr/>
        </p:nvSpPr>
        <p:spPr>
          <a:xfrm>
            <a:off x="8903268" y="1294516"/>
            <a:ext cx="1624163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noAutofit/>
          </a:bodyPr>
          <a:lstStyle/>
          <a:p>
            <a:r>
              <a:rPr lang="en-US" altLang="ko-KR" sz="1200" dirty="0"/>
              <a:t>a3</a:t>
            </a:r>
            <a:r>
              <a:rPr lang="ko-KR" altLang="en-US" sz="1200" dirty="0"/>
              <a:t>의 효과</a:t>
            </a:r>
            <a:r>
              <a:rPr lang="en-US" altLang="ko-KR" sz="1200" dirty="0"/>
              <a:t>: e6, </a:t>
            </a:r>
            <a:r>
              <a:rPr lang="en-US" altLang="ko-KR" sz="1200" dirty="0">
                <a:solidFill>
                  <a:srgbClr val="FF0000"/>
                </a:solidFill>
              </a:rPr>
              <a:t>e7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E208696B-BEC9-4E8B-8C2B-C6F71C3B24C3}"/>
              </a:ext>
            </a:extLst>
          </p:cNvPr>
          <p:cNvCxnSpPr>
            <a:stCxn id="57" idx="3"/>
            <a:endCxn id="74" idx="1"/>
          </p:cNvCxnSpPr>
          <p:nvPr/>
        </p:nvCxnSpPr>
        <p:spPr>
          <a:xfrm flipV="1">
            <a:off x="8147027" y="838742"/>
            <a:ext cx="756242" cy="40355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연결선: 꺾임 77">
            <a:extLst>
              <a:ext uri="{FF2B5EF4-FFF2-40B4-BE49-F238E27FC236}">
                <a16:creationId xmlns:a16="http://schemas.microsoft.com/office/drawing/2014/main" id="{CA0AEB06-1117-4F0F-86E2-C4440CE3296A}"/>
              </a:ext>
            </a:extLst>
          </p:cNvPr>
          <p:cNvCxnSpPr>
            <a:stCxn id="57" idx="3"/>
            <a:endCxn id="76" idx="1"/>
          </p:cNvCxnSpPr>
          <p:nvPr/>
        </p:nvCxnSpPr>
        <p:spPr>
          <a:xfrm>
            <a:off x="8147027" y="1242296"/>
            <a:ext cx="756241" cy="19072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연결선: 꺾임 79">
            <a:extLst>
              <a:ext uri="{FF2B5EF4-FFF2-40B4-BE49-F238E27FC236}">
                <a16:creationId xmlns:a16="http://schemas.microsoft.com/office/drawing/2014/main" id="{80C08688-0A4E-4061-93DA-FB96196C025A}"/>
              </a:ext>
            </a:extLst>
          </p:cNvPr>
          <p:cNvCxnSpPr>
            <a:stCxn id="57" idx="3"/>
            <a:endCxn id="75" idx="1"/>
          </p:cNvCxnSpPr>
          <p:nvPr/>
        </p:nvCxnSpPr>
        <p:spPr>
          <a:xfrm flipV="1">
            <a:off x="8147027" y="1139429"/>
            <a:ext cx="756241" cy="10286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2352F02-1A69-42B6-ACC7-5F1F6D138B22}"/>
              </a:ext>
            </a:extLst>
          </p:cNvPr>
          <p:cNvSpPr txBox="1"/>
          <p:nvPr/>
        </p:nvSpPr>
        <p:spPr>
          <a:xfrm>
            <a:off x="1339913" y="4342313"/>
            <a:ext cx="10578707" cy="144655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 fontAlgn="base"/>
            <a:r>
              <a:rPr lang="ko-KR" altLang="en-US" sz="1100" dirty="0">
                <a:solidFill>
                  <a:schemeClr val="tx2"/>
                </a:solidFill>
              </a:rPr>
              <a:t>선택발명의 진보성을 판단할 때에는 그 발명이 갖는 특유한 효과도 함께 고려하여야 한다</a:t>
            </a:r>
            <a:r>
              <a:rPr lang="en-US" altLang="ko-KR" sz="1100" dirty="0">
                <a:solidFill>
                  <a:schemeClr val="tx2"/>
                </a:solidFill>
              </a:rPr>
              <a:t>. </a:t>
            </a:r>
            <a:r>
              <a:rPr lang="ko-KR" altLang="en-US" sz="1100" dirty="0">
                <a:solidFill>
                  <a:schemeClr val="tx2"/>
                </a:solidFill>
              </a:rPr>
              <a:t>선행발명에 이론적으로 포함되는 수많은 화합물 중 특정한 화합물을 선택할 동기나 암시 등이 선행발명에 개시되어 있지 않은 경우에도 그것이 아무런 기술적 의의가 없는 임의의 선택에 불과한 경우라면 그와 같은 선택에 어려움이 있다고 볼 수 없는데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>
                <a:solidFill>
                  <a:schemeClr val="tx2"/>
                </a:solidFill>
              </a:rPr>
              <a:t>발명의 효과는 선택의 동기가 없어 구성이 곤란한 경우인지 임의의 선택에 불과한 경우인지를 구별할 수 있는 중요한 표지가 될 수 있기 때문이다</a:t>
            </a:r>
            <a:r>
              <a:rPr lang="en-US" altLang="ko-KR" sz="1100" dirty="0">
                <a:solidFill>
                  <a:schemeClr val="tx2"/>
                </a:solidFill>
              </a:rPr>
              <a:t>. </a:t>
            </a:r>
            <a:r>
              <a:rPr lang="ko-KR" altLang="en-US" sz="1100" dirty="0">
                <a:solidFill>
                  <a:schemeClr val="tx2"/>
                </a:solidFill>
              </a:rPr>
              <a:t>또한 화학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>
                <a:solidFill>
                  <a:schemeClr val="tx2"/>
                </a:solidFill>
              </a:rPr>
              <a:t>의약 등의 기술분야에 속하는 발명은 구성만으로 효과의 예측이 쉽지 않으므로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 err="1">
                <a:solidFill>
                  <a:schemeClr val="tx2"/>
                </a:solidFill>
              </a:rPr>
              <a:t>선행발명으로부터</a:t>
            </a:r>
            <a:r>
              <a:rPr lang="ko-KR" altLang="en-US" sz="1100" dirty="0">
                <a:solidFill>
                  <a:schemeClr val="tx2"/>
                </a:solidFill>
              </a:rPr>
              <a:t> 특허발명의 구성요소들이 쉽게 도출되는지를 판단할 때 발명의 효과를 참작할 필요가 있고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>
                <a:solidFill>
                  <a:schemeClr val="tx2"/>
                </a:solidFill>
              </a:rPr>
              <a:t>발명의 효과가 선행발명에 비하여 현저하다면 구성의 곤란성을 추론하는 유력한 자료가 될 것이다</a:t>
            </a:r>
            <a:r>
              <a:rPr lang="en-US" altLang="ko-KR" sz="1100" dirty="0">
                <a:solidFill>
                  <a:schemeClr val="tx2"/>
                </a:solidFill>
              </a:rPr>
              <a:t>. </a:t>
            </a:r>
            <a:r>
              <a:rPr lang="ko-KR" altLang="en-US" sz="1100" dirty="0">
                <a:solidFill>
                  <a:srgbClr val="FF0000"/>
                </a:solidFill>
              </a:rPr>
              <a:t>나아가 구성의 곤란성 여부의 판단이 불분명한 경우라고 하더라도</a:t>
            </a:r>
            <a:r>
              <a:rPr lang="en-US" altLang="ko-KR" sz="1100" dirty="0">
                <a:solidFill>
                  <a:srgbClr val="FF0000"/>
                </a:solidFill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</a:rPr>
              <a:t>특허발명이 선행발명에 비하여 이질적이거나 양적으로 현저한 효과를 가지고 있다면 진보성이 부정되지 않는다</a:t>
            </a:r>
            <a:r>
              <a:rPr lang="en-US" altLang="ko-KR" sz="1100" dirty="0">
                <a:solidFill>
                  <a:srgbClr val="FF0000"/>
                </a:solidFill>
              </a:rPr>
              <a:t>. </a:t>
            </a:r>
            <a:r>
              <a:rPr lang="ko-KR" altLang="en-US" sz="1100" dirty="0">
                <a:solidFill>
                  <a:srgbClr val="FF0000"/>
                </a:solidFill>
              </a:rPr>
              <a:t>효과의 현저성은 특허발명의 명세서에 기재되어 통상의 기술자가 인식하거나 추론할 수 있는 효과를 중심으로 판단하여야 하고</a:t>
            </a:r>
            <a:r>
              <a:rPr lang="en-US" altLang="ko-KR" sz="1100" dirty="0">
                <a:solidFill>
                  <a:srgbClr val="FF0000"/>
                </a:solidFill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</a:rPr>
              <a:t>만일 그 효과가 의심스러울 때에는 그 기재내용의 범위를 넘지 않는 한도에서 출원일 이후에 추가적인 실험 자료를 제출하는 등의 방법으로 그 효과를 구체적으로 주장</a:t>
            </a:r>
            <a:r>
              <a:rPr lang="en-US" altLang="ko-KR" sz="1100" dirty="0">
                <a:solidFill>
                  <a:srgbClr val="FF0000"/>
                </a:solidFill>
              </a:rPr>
              <a:t>·</a:t>
            </a:r>
            <a:r>
              <a:rPr lang="ko-KR" altLang="en-US" sz="1100" dirty="0">
                <a:solidFill>
                  <a:srgbClr val="FF0000"/>
                </a:solidFill>
              </a:rPr>
              <a:t>증명하는 것이 허용된다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대법원 </a:t>
            </a:r>
            <a:r>
              <a:rPr lang="en-US" altLang="ko-KR" sz="1100" dirty="0">
                <a:solidFill>
                  <a:srgbClr val="FF0000"/>
                </a:solidFill>
              </a:rPr>
              <a:t>2021. 4. 8. </a:t>
            </a:r>
            <a:r>
              <a:rPr lang="ko-KR" altLang="en-US" sz="1100" dirty="0">
                <a:solidFill>
                  <a:srgbClr val="FF0000"/>
                </a:solidFill>
              </a:rPr>
              <a:t>선고 </a:t>
            </a:r>
            <a:r>
              <a:rPr lang="en-US" altLang="ko-KR" sz="1100" dirty="0">
                <a:solidFill>
                  <a:srgbClr val="FF0000"/>
                </a:solidFill>
              </a:rPr>
              <a:t>2019</a:t>
            </a:r>
            <a:r>
              <a:rPr lang="ko-KR" altLang="en-US" sz="1100" dirty="0">
                <a:solidFill>
                  <a:srgbClr val="FF0000"/>
                </a:solidFill>
              </a:rPr>
              <a:t>후</a:t>
            </a:r>
            <a:r>
              <a:rPr lang="en-US" altLang="ko-KR" sz="1100" dirty="0">
                <a:solidFill>
                  <a:srgbClr val="FF0000"/>
                </a:solidFill>
              </a:rPr>
              <a:t>10609).</a:t>
            </a:r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848FE7E5-A0D9-4086-A81B-466D392B5409}"/>
              </a:ext>
            </a:extLst>
          </p:cNvPr>
          <p:cNvCxnSpPr>
            <a:stCxn id="67" idx="3"/>
            <a:endCxn id="32" idx="1"/>
          </p:cNvCxnSpPr>
          <p:nvPr/>
        </p:nvCxnSpPr>
        <p:spPr>
          <a:xfrm>
            <a:off x="1165932" y="4283770"/>
            <a:ext cx="173981" cy="78181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8507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수치한정발명의 신규성</a:t>
            </a:r>
            <a:r>
              <a:rPr lang="en-US" altLang="ko-KR" dirty="0"/>
              <a:t>, </a:t>
            </a:r>
            <a:r>
              <a:rPr lang="ko-KR" altLang="en-US" dirty="0"/>
              <a:t>진보성 판단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77</a:t>
            </a:fld>
            <a:endParaRPr lang="ko-KR" altLang="en-US"/>
          </a:p>
        </p:txBody>
      </p:sp>
      <p:sp>
        <p:nvSpPr>
          <p:cNvPr id="90" name="TextBox 89"/>
          <p:cNvSpPr txBox="1"/>
          <p:nvPr/>
        </p:nvSpPr>
        <p:spPr>
          <a:xfrm>
            <a:off x="1339913" y="2844233"/>
            <a:ext cx="10578707" cy="189282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 fontAlgn="base"/>
            <a:r>
              <a:rPr lang="ko-KR" altLang="en-US" sz="1300" dirty="0">
                <a:solidFill>
                  <a:schemeClr val="tx2"/>
                </a:solidFill>
              </a:rPr>
              <a:t>구성요소의 범위를 수치로써 한정하여 표현한 발명이 그 출원 전에 공지된 발명과 사이에 수치한정의 유무 또는 범위에서만 차이</a:t>
            </a:r>
            <a:r>
              <a:rPr lang="en-US" altLang="ko-KR" sz="1300" dirty="0">
                <a:solidFill>
                  <a:schemeClr val="tx2"/>
                </a:solidFill>
                <a:highlight>
                  <a:srgbClr val="FFFF00"/>
                </a:highlight>
              </a:rPr>
              <a:t>(D1, D2)</a:t>
            </a:r>
            <a:r>
              <a:rPr lang="ko-KR" altLang="en-US" sz="1300" dirty="0">
                <a:solidFill>
                  <a:schemeClr val="tx2"/>
                </a:solidFill>
              </a:rPr>
              <a:t>가 있는 경우에는</a:t>
            </a:r>
            <a:r>
              <a:rPr lang="en-US" altLang="ko-KR" sz="1300" dirty="0">
                <a:solidFill>
                  <a:schemeClr val="tx2"/>
                </a:solidFill>
              </a:rPr>
              <a:t>, </a:t>
            </a:r>
            <a:r>
              <a:rPr lang="ko-KR" altLang="en-US" sz="1300" dirty="0">
                <a:solidFill>
                  <a:srgbClr val="FF0000"/>
                </a:solidFill>
              </a:rPr>
              <a:t>그 한정된 수치범위가 공지된 발명</a:t>
            </a:r>
            <a:r>
              <a:rPr lang="en-US" altLang="ko-KR" sz="1300" dirty="0">
                <a:solidFill>
                  <a:srgbClr val="FF0000"/>
                </a:solidFill>
                <a:highlight>
                  <a:srgbClr val="FFFF00"/>
                </a:highlight>
              </a:rPr>
              <a:t>(@)</a:t>
            </a:r>
            <a:r>
              <a:rPr lang="ko-KR" altLang="en-US" sz="1300" dirty="0">
                <a:solidFill>
                  <a:srgbClr val="FF0000"/>
                </a:solidFill>
              </a:rPr>
              <a:t>에 구체적으로 개시되어 있거나</a:t>
            </a:r>
            <a:r>
              <a:rPr lang="en-US" altLang="ko-KR" sz="1300" dirty="0">
                <a:solidFill>
                  <a:srgbClr val="FF0000"/>
                </a:solidFill>
              </a:rPr>
              <a:t>, </a:t>
            </a:r>
            <a:r>
              <a:rPr lang="ko-KR" altLang="en-US" sz="1300" dirty="0">
                <a:solidFill>
                  <a:srgbClr val="FF0000"/>
                </a:solidFill>
              </a:rPr>
              <a:t>그렇지 않더라도 그러한 수치한정</a:t>
            </a:r>
            <a:r>
              <a:rPr lang="en-US" altLang="ko-KR" sz="1300" dirty="0">
                <a:solidFill>
                  <a:srgbClr val="FF0000"/>
                </a:solidFill>
                <a:highlight>
                  <a:srgbClr val="FFFF00"/>
                </a:highlight>
              </a:rPr>
              <a:t>(D2)</a:t>
            </a:r>
            <a:r>
              <a:rPr lang="ko-KR" altLang="en-US" sz="1300" dirty="0">
                <a:solidFill>
                  <a:srgbClr val="FF0000"/>
                </a:solidFill>
              </a:rPr>
              <a:t>이 그 발명이 속하는 기술분야에서 통상의 지식을 가진 자</a:t>
            </a:r>
            <a:r>
              <a:rPr lang="en-US" altLang="ko-KR" sz="1300" dirty="0">
                <a:solidFill>
                  <a:srgbClr val="FF0000"/>
                </a:solidFill>
              </a:rPr>
              <a:t>(</a:t>
            </a:r>
            <a:r>
              <a:rPr lang="ko-KR" altLang="en-US" sz="1300" dirty="0">
                <a:solidFill>
                  <a:srgbClr val="FF0000"/>
                </a:solidFill>
              </a:rPr>
              <a:t>이하 ‘통상의 </a:t>
            </a:r>
            <a:r>
              <a:rPr lang="ko-KR" altLang="en-US" sz="1300" dirty="0" err="1">
                <a:solidFill>
                  <a:srgbClr val="FF0000"/>
                </a:solidFill>
              </a:rPr>
              <a:t>기술자’라고</a:t>
            </a:r>
            <a:r>
              <a:rPr lang="ko-KR" altLang="en-US" sz="1300" dirty="0">
                <a:solidFill>
                  <a:srgbClr val="FF0000"/>
                </a:solidFill>
              </a:rPr>
              <a:t> 한다</a:t>
            </a:r>
            <a:r>
              <a:rPr lang="en-US" altLang="ko-KR" sz="1300" dirty="0">
                <a:solidFill>
                  <a:srgbClr val="FF0000"/>
                </a:solidFill>
              </a:rPr>
              <a:t>)</a:t>
            </a:r>
            <a:r>
              <a:rPr lang="ko-KR" altLang="en-US" sz="1300" dirty="0">
                <a:solidFill>
                  <a:srgbClr val="FF0000"/>
                </a:solidFill>
              </a:rPr>
              <a:t>가 적절히 선택할 수 있는 주지</a:t>
            </a:r>
            <a:r>
              <a:rPr lang="en-US" altLang="ko-KR" sz="1300" dirty="0">
                <a:solidFill>
                  <a:srgbClr val="FF0000"/>
                </a:solidFill>
              </a:rPr>
              <a:t>·</a:t>
            </a:r>
            <a:r>
              <a:rPr lang="ko-KR" altLang="en-US" sz="1300" dirty="0">
                <a:solidFill>
                  <a:srgbClr val="FF0000"/>
                </a:solidFill>
              </a:rPr>
              <a:t>관용의 수단에 불과하고 이에 따른 새로운 효과도 발생하지 않는다면 그 신규성이 부정된다</a:t>
            </a:r>
            <a:r>
              <a:rPr lang="en-US" altLang="ko-KR" sz="1300" dirty="0">
                <a:solidFill>
                  <a:srgbClr val="FF0000"/>
                </a:solidFill>
              </a:rPr>
              <a:t>. </a:t>
            </a:r>
            <a:r>
              <a:rPr lang="ko-KR" altLang="en-US" sz="1300" dirty="0">
                <a:solidFill>
                  <a:srgbClr val="FF0000"/>
                </a:solidFill>
              </a:rPr>
              <a:t>그리고 한정된 수치범위가 공지된 발명</a:t>
            </a:r>
            <a:r>
              <a:rPr lang="en-US" altLang="ko-KR" sz="1300" dirty="0">
                <a:solidFill>
                  <a:srgbClr val="FF0000"/>
                </a:solidFill>
                <a:highlight>
                  <a:srgbClr val="FFFF00"/>
                </a:highlight>
              </a:rPr>
              <a:t>(@)</a:t>
            </a:r>
            <a:r>
              <a:rPr lang="ko-KR" altLang="en-US" sz="1300" dirty="0">
                <a:solidFill>
                  <a:srgbClr val="FF0000"/>
                </a:solidFill>
              </a:rPr>
              <a:t>에 구체적으로 개시되어 있다는 것에는</a:t>
            </a:r>
            <a:r>
              <a:rPr lang="en-US" altLang="ko-KR" sz="1300" dirty="0">
                <a:solidFill>
                  <a:srgbClr val="FF0000"/>
                </a:solidFill>
              </a:rPr>
              <a:t>, </a:t>
            </a:r>
            <a:r>
              <a:rPr lang="ko-KR" altLang="en-US" sz="1300" dirty="0">
                <a:solidFill>
                  <a:srgbClr val="FF0000"/>
                </a:solidFill>
              </a:rPr>
              <a:t>그 수치범위 내의 수치가 공지된 발명을 기재한 선행문헌의 실시 예 등에 나타나 있는 경우 등과 같이 </a:t>
            </a:r>
            <a:r>
              <a:rPr lang="ko-KR" altLang="en-US" sz="1300" dirty="0" err="1">
                <a:solidFill>
                  <a:srgbClr val="FF0000"/>
                </a:solidFill>
              </a:rPr>
              <a:t>문언적인</a:t>
            </a:r>
            <a:r>
              <a:rPr lang="ko-KR" altLang="en-US" sz="1300" dirty="0">
                <a:solidFill>
                  <a:srgbClr val="FF0000"/>
                </a:solidFill>
              </a:rPr>
              <a:t> 기재가 존재하는 경우 외에도 통상의 기술자가 선행문헌의 기재 내용과 출원시의 기술상식에 기초하여 선행문헌으로부터 직접적으로 그 수치범위를 인식할 수 있는 경우도 포함된다</a:t>
            </a:r>
            <a:r>
              <a:rPr lang="en-US" altLang="ko-KR" sz="1300" dirty="0">
                <a:solidFill>
                  <a:srgbClr val="FF0000"/>
                </a:solidFill>
              </a:rPr>
              <a:t>. </a:t>
            </a:r>
            <a:r>
              <a:rPr lang="ko-KR" altLang="en-US" sz="1300" dirty="0">
                <a:solidFill>
                  <a:schemeClr val="tx2"/>
                </a:solidFill>
              </a:rPr>
              <a:t>한편 수치한정</a:t>
            </a:r>
            <a:r>
              <a:rPr lang="en-US" altLang="ko-KR" sz="1300" dirty="0">
                <a:solidFill>
                  <a:srgbClr val="FF0000"/>
                </a:solidFill>
                <a:highlight>
                  <a:srgbClr val="FFFF00"/>
                </a:highlight>
              </a:rPr>
              <a:t>(D2)</a:t>
            </a:r>
            <a:r>
              <a:rPr lang="ko-KR" altLang="en-US" sz="1300" dirty="0">
                <a:solidFill>
                  <a:schemeClr val="tx2"/>
                </a:solidFill>
              </a:rPr>
              <a:t>이 공지된 발명과는 상이한 과제를 달성하기 위한 </a:t>
            </a:r>
            <a:r>
              <a:rPr lang="ko-KR" altLang="en-US" sz="1300" dirty="0" err="1">
                <a:solidFill>
                  <a:schemeClr val="tx2"/>
                </a:solidFill>
              </a:rPr>
              <a:t>기술수단으로서의</a:t>
            </a:r>
            <a:r>
              <a:rPr lang="ko-KR" altLang="en-US" sz="1300" dirty="0">
                <a:solidFill>
                  <a:schemeClr val="tx2"/>
                </a:solidFill>
              </a:rPr>
              <a:t> 의의를 가지고 그 효과도 이질적인 경우나 공지된 발명과 비교하여 한정된 수치범위 내외에서 현저한 효과의 차이가 생기는 경우 등에는</a:t>
            </a:r>
            <a:r>
              <a:rPr lang="en-US" altLang="ko-KR" sz="1300" dirty="0">
                <a:solidFill>
                  <a:schemeClr val="tx2"/>
                </a:solidFill>
              </a:rPr>
              <a:t>, </a:t>
            </a:r>
            <a:r>
              <a:rPr lang="ko-KR" altLang="en-US" sz="1300" dirty="0">
                <a:solidFill>
                  <a:schemeClr val="tx2"/>
                </a:solidFill>
              </a:rPr>
              <a:t>그 수치범위가 공지된 발명에 구체적으로 개시되어 있다고 할 수 없음은 물론</a:t>
            </a:r>
            <a:r>
              <a:rPr lang="en-US" altLang="ko-KR" sz="1300" dirty="0">
                <a:solidFill>
                  <a:schemeClr val="tx2"/>
                </a:solidFill>
              </a:rPr>
              <a:t>, </a:t>
            </a:r>
            <a:r>
              <a:rPr lang="ko-KR" altLang="en-US" sz="1300" dirty="0">
                <a:solidFill>
                  <a:schemeClr val="tx2"/>
                </a:solidFill>
              </a:rPr>
              <a:t>그 수치한정이 통상의 기술자가 적절히 선택할 수 있는 주지</a:t>
            </a:r>
            <a:r>
              <a:rPr lang="en-US" altLang="ko-KR" sz="1300" dirty="0">
                <a:solidFill>
                  <a:schemeClr val="tx2"/>
                </a:solidFill>
              </a:rPr>
              <a:t>·</a:t>
            </a:r>
            <a:r>
              <a:rPr lang="ko-KR" altLang="en-US" sz="1300" dirty="0">
                <a:solidFill>
                  <a:schemeClr val="tx2"/>
                </a:solidFill>
              </a:rPr>
              <a:t>관용의 수단에 불과하다고 볼 수도 없다</a:t>
            </a:r>
            <a:r>
              <a:rPr lang="en-US" altLang="ko-KR" sz="1300" dirty="0">
                <a:solidFill>
                  <a:schemeClr val="tx2"/>
                </a:solidFill>
              </a:rPr>
              <a:t>(</a:t>
            </a:r>
            <a:r>
              <a:rPr lang="ko-KR" altLang="en-US" sz="1300" dirty="0">
                <a:solidFill>
                  <a:schemeClr val="tx2"/>
                </a:solidFill>
              </a:rPr>
              <a:t>대법원 </a:t>
            </a:r>
            <a:r>
              <a:rPr lang="en-US" altLang="ko-KR" sz="1300" dirty="0">
                <a:solidFill>
                  <a:schemeClr val="tx2"/>
                </a:solidFill>
              </a:rPr>
              <a:t>2013. 5. 24. </a:t>
            </a:r>
            <a:r>
              <a:rPr lang="ko-KR" altLang="en-US" sz="1300" dirty="0">
                <a:solidFill>
                  <a:schemeClr val="tx2"/>
                </a:solidFill>
              </a:rPr>
              <a:t>선고 </a:t>
            </a:r>
            <a:r>
              <a:rPr lang="en-US" altLang="ko-KR" sz="1300" dirty="0">
                <a:solidFill>
                  <a:schemeClr val="tx2"/>
                </a:solidFill>
              </a:rPr>
              <a:t>2011</a:t>
            </a:r>
            <a:r>
              <a:rPr lang="ko-KR" altLang="en-US" sz="1300" dirty="0">
                <a:solidFill>
                  <a:schemeClr val="tx2"/>
                </a:solidFill>
              </a:rPr>
              <a:t>후</a:t>
            </a:r>
            <a:r>
              <a:rPr lang="en-US" altLang="ko-KR" sz="1300" dirty="0">
                <a:solidFill>
                  <a:schemeClr val="tx2"/>
                </a:solidFill>
              </a:rPr>
              <a:t>2015).</a:t>
            </a:r>
            <a:endParaRPr lang="ko-KR" altLang="en-US" sz="1300" dirty="0">
              <a:solidFill>
                <a:schemeClr val="tx2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CE5BD75-FE62-410E-BBE2-0BD79FB081E7}"/>
              </a:ext>
            </a:extLst>
          </p:cNvPr>
          <p:cNvSpPr/>
          <p:nvPr/>
        </p:nvSpPr>
        <p:spPr>
          <a:xfrm>
            <a:off x="273381" y="2848148"/>
            <a:ext cx="892552" cy="89255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신규성</a:t>
            </a:r>
            <a:endParaRPr lang="en-US" altLang="ko-KR" dirty="0"/>
          </a:p>
          <a:p>
            <a:pPr algn="ctr"/>
            <a:r>
              <a:rPr lang="ko-KR" altLang="en-US" dirty="0"/>
              <a:t>요건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ADECC240-A040-4630-9423-C918FB652AAA}"/>
              </a:ext>
            </a:extLst>
          </p:cNvPr>
          <p:cNvSpPr/>
          <p:nvPr/>
        </p:nvSpPr>
        <p:spPr>
          <a:xfrm>
            <a:off x="273380" y="4840115"/>
            <a:ext cx="892552" cy="89255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진보성</a:t>
            </a:r>
            <a:endParaRPr lang="en-US" altLang="ko-KR" dirty="0"/>
          </a:p>
          <a:p>
            <a:pPr algn="ctr"/>
            <a:r>
              <a:rPr lang="ko-KR" altLang="en-US" dirty="0"/>
              <a:t>요건</a:t>
            </a:r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F997D670-A28A-4943-A0B4-CEFB3EC541E0}"/>
              </a:ext>
            </a:extLst>
          </p:cNvPr>
          <p:cNvCxnSpPr>
            <a:cxnSpLocks/>
            <a:stCxn id="5" idx="3"/>
            <a:endCxn id="90" idx="1"/>
          </p:cNvCxnSpPr>
          <p:nvPr/>
        </p:nvCxnSpPr>
        <p:spPr>
          <a:xfrm>
            <a:off x="1165933" y="3294424"/>
            <a:ext cx="173980" cy="49622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C5C208C6-C8B4-4480-9979-D91AB9BFDED1}"/>
              </a:ext>
            </a:extLst>
          </p:cNvPr>
          <p:cNvSpPr txBox="1"/>
          <p:nvPr/>
        </p:nvSpPr>
        <p:spPr>
          <a:xfrm>
            <a:off x="1339913" y="4837558"/>
            <a:ext cx="10578707" cy="89255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 fontAlgn="base"/>
            <a:r>
              <a:rPr lang="ko-KR" altLang="en-US" sz="1300" dirty="0">
                <a:solidFill>
                  <a:schemeClr val="tx2"/>
                </a:solidFill>
              </a:rPr>
              <a:t>그 출원 전에 공지된 발명이 가지는 구성요소의 범위를 수치로써 한정하여 표현한 경우에는 그 특허발명에 진보성을 인정할 수 있는 </a:t>
            </a:r>
            <a:r>
              <a:rPr lang="ko-KR" altLang="en-US" sz="1300" dirty="0">
                <a:solidFill>
                  <a:srgbClr val="FF0000"/>
                </a:solidFill>
              </a:rPr>
              <a:t>다른 구성요소가 부가</a:t>
            </a:r>
            <a:r>
              <a:rPr lang="en-US" altLang="ko-KR" sz="1300" dirty="0">
                <a:solidFill>
                  <a:srgbClr val="FF0000"/>
                </a:solidFill>
              </a:rPr>
              <a:t>(E)</a:t>
            </a:r>
            <a:r>
              <a:rPr lang="ko-KR" altLang="en-US" sz="1300" dirty="0">
                <a:solidFill>
                  <a:schemeClr val="tx2"/>
                </a:solidFill>
              </a:rPr>
              <a:t>되어 있어서 그 특허발명에서의 </a:t>
            </a:r>
            <a:r>
              <a:rPr lang="ko-KR" altLang="en-US" sz="1300" dirty="0">
                <a:solidFill>
                  <a:srgbClr val="FF0000"/>
                </a:solidFill>
              </a:rPr>
              <a:t>수치한정</a:t>
            </a:r>
            <a:r>
              <a:rPr lang="en-US" altLang="ko-KR" sz="1300" dirty="0">
                <a:solidFill>
                  <a:srgbClr val="FF0000"/>
                </a:solidFill>
                <a:highlight>
                  <a:srgbClr val="FFFF00"/>
                </a:highlight>
              </a:rPr>
              <a:t>(D2)</a:t>
            </a:r>
            <a:r>
              <a:rPr lang="ko-KR" altLang="en-US" sz="1300" dirty="0">
                <a:solidFill>
                  <a:schemeClr val="tx2"/>
                </a:solidFill>
              </a:rPr>
              <a:t>이 보충적인 사항에 불과한 것이 아닌 이상</a:t>
            </a:r>
            <a:r>
              <a:rPr lang="en-US" altLang="ko-KR" sz="1300" dirty="0">
                <a:solidFill>
                  <a:schemeClr val="tx2"/>
                </a:solidFill>
              </a:rPr>
              <a:t>, </a:t>
            </a:r>
            <a:r>
              <a:rPr lang="ko-KR" altLang="en-US" sz="1300" dirty="0">
                <a:solidFill>
                  <a:schemeClr val="tx2"/>
                </a:solidFill>
              </a:rPr>
              <a:t>그 특허발명이 그 기술분야에서 통상의 지식을 가진 사람이 통상적이고 반복적인 실험을 통하여 적절히 선택할 수 있는 정도의 단순한 수치한정으로서</a:t>
            </a:r>
            <a:r>
              <a:rPr lang="en-US" altLang="ko-KR" sz="1300" dirty="0">
                <a:solidFill>
                  <a:schemeClr val="tx2"/>
                </a:solidFill>
              </a:rPr>
              <a:t>, </a:t>
            </a:r>
            <a:r>
              <a:rPr lang="ko-KR" altLang="en-US" sz="1300" dirty="0">
                <a:solidFill>
                  <a:srgbClr val="FF0000"/>
                </a:solidFill>
              </a:rPr>
              <a:t>공지된 발명과 비교하여 이질적인 효과나 한정된 수치범위 내외에서 현저한 효과 차이</a:t>
            </a:r>
            <a:r>
              <a:rPr lang="ko-KR" altLang="en-US" sz="1300" dirty="0">
                <a:solidFill>
                  <a:schemeClr val="tx2"/>
                </a:solidFill>
              </a:rPr>
              <a:t>가 생기지 않는 것이라면 진보성이 부정된다</a:t>
            </a:r>
            <a:r>
              <a:rPr lang="en-US" altLang="ko-KR" sz="1300" dirty="0">
                <a:solidFill>
                  <a:schemeClr val="tx2"/>
                </a:solidFill>
              </a:rPr>
              <a:t>(</a:t>
            </a:r>
            <a:r>
              <a:rPr lang="ko-KR" altLang="en-US" sz="1300" dirty="0">
                <a:solidFill>
                  <a:schemeClr val="tx2"/>
                </a:solidFill>
              </a:rPr>
              <a:t>대법원 </a:t>
            </a:r>
            <a:r>
              <a:rPr lang="en-US" altLang="ko-KR" sz="1300" dirty="0">
                <a:solidFill>
                  <a:schemeClr val="tx2"/>
                </a:solidFill>
              </a:rPr>
              <a:t>2023. 7. 13. </a:t>
            </a:r>
            <a:r>
              <a:rPr lang="ko-KR" altLang="en-US" sz="1300" dirty="0">
                <a:solidFill>
                  <a:schemeClr val="tx2"/>
                </a:solidFill>
              </a:rPr>
              <a:t>선고 </a:t>
            </a:r>
            <a:r>
              <a:rPr lang="en-US" altLang="ko-KR" sz="1300" dirty="0">
                <a:solidFill>
                  <a:schemeClr val="tx2"/>
                </a:solidFill>
              </a:rPr>
              <a:t>2022</a:t>
            </a:r>
            <a:r>
              <a:rPr lang="ko-KR" altLang="en-US" sz="1300" dirty="0">
                <a:solidFill>
                  <a:schemeClr val="tx2"/>
                </a:solidFill>
              </a:rPr>
              <a:t>후</a:t>
            </a:r>
            <a:r>
              <a:rPr lang="en-US" altLang="ko-KR" sz="1300" dirty="0">
                <a:solidFill>
                  <a:schemeClr val="tx2"/>
                </a:solidFill>
              </a:rPr>
              <a:t>10180).</a:t>
            </a:r>
            <a:endParaRPr lang="ko-KR" altLang="en-US" sz="1300" dirty="0">
              <a:solidFill>
                <a:schemeClr val="tx2"/>
              </a:solidFill>
            </a:endParaRPr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2DB60878-6ABA-4DEA-9778-F57B55800A62}"/>
              </a:ext>
            </a:extLst>
          </p:cNvPr>
          <p:cNvCxnSpPr>
            <a:cxnSpLocks/>
            <a:stCxn id="67" idx="3"/>
            <a:endCxn id="70" idx="1"/>
          </p:cNvCxnSpPr>
          <p:nvPr/>
        </p:nvCxnSpPr>
        <p:spPr>
          <a:xfrm flipV="1">
            <a:off x="1165932" y="5283834"/>
            <a:ext cx="173981" cy="255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Line 5">
            <a:extLst>
              <a:ext uri="{FF2B5EF4-FFF2-40B4-BE49-F238E27FC236}">
                <a16:creationId xmlns:a16="http://schemas.microsoft.com/office/drawing/2014/main" id="{04250376-DFCC-4474-A196-26E2687E570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337" y="2386061"/>
            <a:ext cx="11523282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6030FBF3-5972-4B17-B130-B131F5CE9CD4}"/>
              </a:ext>
            </a:extLst>
          </p:cNvPr>
          <p:cNvSpPr/>
          <p:nvPr/>
        </p:nvSpPr>
        <p:spPr>
          <a:xfrm>
            <a:off x="2549554" y="2303673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FDE3FA-9E38-4358-994E-06A931F2ACDE}"/>
              </a:ext>
            </a:extLst>
          </p:cNvPr>
          <p:cNvSpPr txBox="1"/>
          <p:nvPr/>
        </p:nvSpPr>
        <p:spPr>
          <a:xfrm>
            <a:off x="1121113" y="1085813"/>
            <a:ext cx="3011618" cy="3689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공지기술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A+B+C+D1 +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다른 기재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(@)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EDA6E673-3817-45B3-8494-D28F35A84460}"/>
              </a:ext>
            </a:extLst>
          </p:cNvPr>
          <p:cNvSpPr/>
          <p:nvPr/>
        </p:nvSpPr>
        <p:spPr>
          <a:xfrm>
            <a:off x="8097219" y="2303673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D2A410B7-1993-4C31-A33E-90D83D9D6160}"/>
              </a:ext>
            </a:extLst>
          </p:cNvPr>
          <p:cNvCxnSpPr>
            <a:cxnSpLocks/>
            <a:stCxn id="57" idx="2"/>
          </p:cNvCxnSpPr>
          <p:nvPr/>
        </p:nvCxnSpPr>
        <p:spPr>
          <a:xfrm>
            <a:off x="8174588" y="2080757"/>
            <a:ext cx="0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B92700F-36BD-4CDC-B22E-F409E956A946}"/>
              </a:ext>
            </a:extLst>
          </p:cNvPr>
          <p:cNvSpPr txBox="1"/>
          <p:nvPr/>
        </p:nvSpPr>
        <p:spPr>
          <a:xfrm>
            <a:off x="7144312" y="1614248"/>
            <a:ext cx="2060552" cy="4665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출원발명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A+B+C+D2+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(E)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FA6267-EE0F-45B6-9EEE-9BB4F88A27F6}"/>
              </a:ext>
            </a:extLst>
          </p:cNvPr>
          <p:cNvSpPr txBox="1"/>
          <p:nvPr/>
        </p:nvSpPr>
        <p:spPr>
          <a:xfrm>
            <a:off x="1121113" y="1584012"/>
            <a:ext cx="3011618" cy="4557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공지기술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A+B+D1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공지기술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2: B+C+D1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A8BCC56A-221B-428F-B1D8-BD2CADDEF934}"/>
              </a:ext>
            </a:extLst>
          </p:cNvPr>
          <p:cNvCxnSpPr>
            <a:cxnSpLocks/>
            <a:endCxn id="57" idx="1"/>
          </p:cNvCxnSpPr>
          <p:nvPr/>
        </p:nvCxnSpPr>
        <p:spPr>
          <a:xfrm>
            <a:off x="4151184" y="1270264"/>
            <a:ext cx="2993128" cy="577239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71B1C68-7150-42E6-85EC-7B951E696EE2}"/>
              </a:ext>
            </a:extLst>
          </p:cNvPr>
          <p:cNvCxnSpPr>
            <a:cxnSpLocks/>
            <a:endCxn id="57" idx="1"/>
          </p:cNvCxnSpPr>
          <p:nvPr/>
        </p:nvCxnSpPr>
        <p:spPr>
          <a:xfrm>
            <a:off x="4151184" y="1811912"/>
            <a:ext cx="2993128" cy="35591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0ABBC43-232C-40F7-AAB8-722C324A9507}"/>
              </a:ext>
            </a:extLst>
          </p:cNvPr>
          <p:cNvSpPr txBox="1"/>
          <p:nvPr/>
        </p:nvSpPr>
        <p:spPr>
          <a:xfrm>
            <a:off x="4515066" y="1306471"/>
            <a:ext cx="226536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CASE1: </a:t>
            </a:r>
            <a:r>
              <a:rPr lang="ko-KR" altLang="en-US" sz="1400" dirty="0"/>
              <a:t>신규성</a:t>
            </a:r>
            <a:r>
              <a:rPr lang="en-US" altLang="ko-KR" sz="1400" dirty="0"/>
              <a:t>, </a:t>
            </a:r>
            <a:r>
              <a:rPr lang="ko-KR" altLang="en-US" sz="1400" dirty="0"/>
              <a:t>진보성 판단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A4C187-B560-4186-84B9-9B5FA9F0E774}"/>
              </a:ext>
            </a:extLst>
          </p:cNvPr>
          <p:cNvSpPr txBox="1"/>
          <p:nvPr/>
        </p:nvSpPr>
        <p:spPr>
          <a:xfrm>
            <a:off x="4515066" y="1705787"/>
            <a:ext cx="168026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CASE2: </a:t>
            </a:r>
            <a:r>
              <a:rPr lang="ko-KR" altLang="en-US" sz="1400" dirty="0"/>
              <a:t>진보성 판단</a:t>
            </a: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84900DA3-4CEB-42BD-9AE2-28A55B9F3F3A}"/>
              </a:ext>
            </a:extLst>
          </p:cNvPr>
          <p:cNvCxnSpPr>
            <a:cxnSpLocks/>
            <a:stCxn id="33" idx="2"/>
            <a:endCxn id="37" idx="0"/>
          </p:cNvCxnSpPr>
          <p:nvPr/>
        </p:nvCxnSpPr>
        <p:spPr>
          <a:xfrm>
            <a:off x="2626922" y="2039811"/>
            <a:ext cx="1" cy="26386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6ED2A9BA-DF12-48CE-A89D-16001C1FCB9C}"/>
              </a:ext>
            </a:extLst>
          </p:cNvPr>
          <p:cNvSpPr txBox="1"/>
          <p:nvPr/>
        </p:nvSpPr>
        <p:spPr>
          <a:xfrm>
            <a:off x="1339912" y="5774580"/>
            <a:ext cx="10578707" cy="69249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 fontAlgn="base"/>
            <a:r>
              <a:rPr lang="ko-KR" altLang="en-US" sz="1300" dirty="0">
                <a:solidFill>
                  <a:schemeClr val="tx2"/>
                </a:solidFill>
              </a:rPr>
              <a:t>수치한정한 범위 전체</a:t>
            </a:r>
            <a:r>
              <a:rPr lang="en-US" altLang="ko-KR" sz="1300" dirty="0">
                <a:solidFill>
                  <a:srgbClr val="FF0000"/>
                </a:solidFill>
                <a:highlight>
                  <a:srgbClr val="FFFF00"/>
                </a:highlight>
              </a:rPr>
              <a:t>(D2)</a:t>
            </a:r>
            <a:r>
              <a:rPr lang="ko-KR" altLang="en-US" sz="1300" dirty="0">
                <a:solidFill>
                  <a:schemeClr val="tx2"/>
                </a:solidFill>
              </a:rPr>
              <a:t>에서 이질적이거나 양적으로 현저한 효과가 있어야 한다는 점이</a:t>
            </a:r>
            <a:r>
              <a:rPr lang="en-US" altLang="ko-KR" sz="1300" dirty="0">
                <a:solidFill>
                  <a:schemeClr val="tx2"/>
                </a:solidFill>
              </a:rPr>
              <a:t>, </a:t>
            </a:r>
            <a:r>
              <a:rPr lang="ko-KR" altLang="en-US" sz="1300" dirty="0">
                <a:solidFill>
                  <a:schemeClr val="tx2"/>
                </a:solidFill>
              </a:rPr>
              <a:t>출원 명세서에 당해 기술 분야에서 </a:t>
            </a:r>
            <a:r>
              <a:rPr lang="ko-KR" altLang="en-US" sz="1300" dirty="0">
                <a:solidFill>
                  <a:srgbClr val="FF0000"/>
                </a:solidFill>
              </a:rPr>
              <a:t>통상의 지식을 가진 자가 명세서 기재 자체를 통하여 인식할 수 있을 정도로 기재되어 있지 않은 이상 추후 실험자료에 의하여 인정되거나 확인되는 수치한정의 기술적 의의를 가지고서 당해 수치한정 발명의 진보성 여부를 판단할 수는 없다</a:t>
            </a:r>
            <a:r>
              <a:rPr lang="en-US" altLang="ko-KR" sz="1300" dirty="0">
                <a:solidFill>
                  <a:srgbClr val="FF0000"/>
                </a:solidFill>
              </a:rPr>
              <a:t>(</a:t>
            </a:r>
            <a:r>
              <a:rPr lang="ko-KR" altLang="en-US" sz="1300" dirty="0">
                <a:solidFill>
                  <a:srgbClr val="FF0000"/>
                </a:solidFill>
              </a:rPr>
              <a:t>특허법원 </a:t>
            </a:r>
            <a:r>
              <a:rPr lang="en-US" altLang="ko-KR" sz="1300" dirty="0">
                <a:solidFill>
                  <a:srgbClr val="FF0000"/>
                </a:solidFill>
              </a:rPr>
              <a:t>2009. 5. 22. </a:t>
            </a:r>
            <a:r>
              <a:rPr lang="ko-KR" altLang="en-US" sz="1300" dirty="0">
                <a:solidFill>
                  <a:srgbClr val="FF0000"/>
                </a:solidFill>
              </a:rPr>
              <a:t>선고 </a:t>
            </a:r>
            <a:r>
              <a:rPr lang="en-US" altLang="ko-KR" sz="1300" dirty="0">
                <a:solidFill>
                  <a:srgbClr val="FF0000"/>
                </a:solidFill>
              </a:rPr>
              <a:t>2008</a:t>
            </a:r>
            <a:r>
              <a:rPr lang="ko-KR" altLang="en-US" sz="1300" dirty="0">
                <a:solidFill>
                  <a:srgbClr val="FF0000"/>
                </a:solidFill>
              </a:rPr>
              <a:t>허</a:t>
            </a:r>
            <a:r>
              <a:rPr lang="en-US" altLang="ko-KR" sz="1300" dirty="0">
                <a:solidFill>
                  <a:srgbClr val="FF0000"/>
                </a:solidFill>
              </a:rPr>
              <a:t>1722).</a:t>
            </a:r>
            <a:endParaRPr lang="ko-KR" altLang="en-US" sz="1300" dirty="0">
              <a:solidFill>
                <a:srgbClr val="FF0000"/>
              </a:solidFill>
            </a:endParaRPr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4EBC7EAF-15EE-25F6-2849-508D11871332}"/>
              </a:ext>
            </a:extLst>
          </p:cNvPr>
          <p:cNvCxnSpPr>
            <a:cxnSpLocks/>
            <a:stCxn id="67" idx="3"/>
            <a:endCxn id="47" idx="1"/>
          </p:cNvCxnSpPr>
          <p:nvPr/>
        </p:nvCxnSpPr>
        <p:spPr>
          <a:xfrm>
            <a:off x="1165932" y="5286391"/>
            <a:ext cx="173980" cy="83443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말풍선: 모서리가 둥근 사각형 5">
            <a:extLst>
              <a:ext uri="{FF2B5EF4-FFF2-40B4-BE49-F238E27FC236}">
                <a16:creationId xmlns:a16="http://schemas.microsoft.com/office/drawing/2014/main" id="{070F6DF0-62DD-4470-3B01-2756C6735E45}"/>
              </a:ext>
            </a:extLst>
          </p:cNvPr>
          <p:cNvSpPr/>
          <p:nvPr/>
        </p:nvSpPr>
        <p:spPr>
          <a:xfrm>
            <a:off x="8467109" y="1328247"/>
            <a:ext cx="1670331" cy="317582"/>
          </a:xfrm>
          <a:prstGeom prst="wedgeRoundRectCallout">
            <a:avLst>
              <a:gd name="adj1" fmla="val -36931"/>
              <a:gd name="adj2" fmla="val 10484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진보성이 있는 구성요소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94095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파라미터발명의</a:t>
            </a:r>
            <a:r>
              <a:rPr lang="ko-KR" altLang="en-US" dirty="0"/>
              <a:t> 신규성</a:t>
            </a:r>
            <a:r>
              <a:rPr lang="en-US" altLang="ko-KR" dirty="0"/>
              <a:t>, </a:t>
            </a:r>
            <a:r>
              <a:rPr lang="ko-KR" altLang="en-US" dirty="0"/>
              <a:t>진보성 판단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78</a:t>
            </a:fld>
            <a:endParaRPr lang="ko-KR" altLang="en-US"/>
          </a:p>
        </p:txBody>
      </p:sp>
      <p:sp>
        <p:nvSpPr>
          <p:cNvPr id="90" name="TextBox 89"/>
          <p:cNvSpPr txBox="1"/>
          <p:nvPr/>
        </p:nvSpPr>
        <p:spPr>
          <a:xfrm>
            <a:off x="1339913" y="2666897"/>
            <a:ext cx="10578707" cy="129266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 fontAlgn="base"/>
            <a:r>
              <a:rPr lang="ko-KR" altLang="en-US" sz="1300" dirty="0">
                <a:solidFill>
                  <a:srgbClr val="FF0000"/>
                </a:solidFill>
              </a:rPr>
              <a:t>새롭게 창출한 물리적</a:t>
            </a:r>
            <a:r>
              <a:rPr lang="en-US" altLang="ko-KR" sz="1300" dirty="0">
                <a:solidFill>
                  <a:srgbClr val="FF0000"/>
                </a:solidFill>
              </a:rPr>
              <a:t>, </a:t>
            </a:r>
            <a:r>
              <a:rPr lang="ko-KR" altLang="en-US" sz="1300" dirty="0">
                <a:solidFill>
                  <a:srgbClr val="FF0000"/>
                </a:solidFill>
              </a:rPr>
              <a:t>화학적</a:t>
            </a:r>
            <a:r>
              <a:rPr lang="en-US" altLang="ko-KR" sz="1300" dirty="0">
                <a:solidFill>
                  <a:srgbClr val="FF0000"/>
                </a:solidFill>
              </a:rPr>
              <a:t>, </a:t>
            </a:r>
            <a:r>
              <a:rPr lang="ko-KR" altLang="en-US" sz="1300" dirty="0">
                <a:solidFill>
                  <a:srgbClr val="FF0000"/>
                </a:solidFill>
              </a:rPr>
              <a:t>생물학적 특성 값을 이용하거나 복수의 변수 사이의 상관관계를 이용하여 발명의 구성요소를 특정한 이른바 ‘파라미터 </a:t>
            </a:r>
            <a:r>
              <a:rPr lang="ko-KR" altLang="en-US" sz="1300" dirty="0" err="1">
                <a:solidFill>
                  <a:srgbClr val="FF0000"/>
                </a:solidFill>
              </a:rPr>
              <a:t>발명’</a:t>
            </a:r>
            <a:r>
              <a:rPr lang="ko-KR" altLang="en-US" sz="1300" dirty="0" err="1">
                <a:solidFill>
                  <a:schemeClr val="tx2"/>
                </a:solidFill>
              </a:rPr>
              <a:t>과</a:t>
            </a:r>
            <a:r>
              <a:rPr lang="ko-KR" altLang="en-US" sz="1300" dirty="0">
                <a:solidFill>
                  <a:schemeClr val="tx2"/>
                </a:solidFill>
              </a:rPr>
              <a:t> 이와 다른 성질 또는 특성 등에 의해 물건 또는 방법을 특정하고 있는 선행발명을 대비할 때</a:t>
            </a:r>
            <a:r>
              <a:rPr lang="en-US" altLang="ko-KR" sz="1300" dirty="0">
                <a:solidFill>
                  <a:schemeClr val="tx2"/>
                </a:solidFill>
              </a:rPr>
              <a:t>, </a:t>
            </a:r>
            <a:r>
              <a:rPr lang="ko-KR" altLang="en-US" sz="1300" dirty="0">
                <a:solidFill>
                  <a:srgbClr val="FF0000"/>
                </a:solidFill>
              </a:rPr>
              <a:t>특허발명의 청구범위에 기재된 성질 또는 특성이 다른 정의 또는 시험</a:t>
            </a:r>
            <a:r>
              <a:rPr lang="en-US" altLang="ko-KR" sz="1300" dirty="0">
                <a:solidFill>
                  <a:srgbClr val="FF0000"/>
                </a:solidFill>
              </a:rPr>
              <a:t>·</a:t>
            </a:r>
            <a:r>
              <a:rPr lang="ko-KR" altLang="en-US" sz="1300" dirty="0">
                <a:solidFill>
                  <a:srgbClr val="FF0000"/>
                </a:solidFill>
              </a:rPr>
              <a:t>측정방법에 의한 것으로 환산이 가능하여 환산해 본 결과 선행발명의 대응되는 것과 동일하거나 또는 특허발명의 명세서의 상세한 설명에 기재된 실시형태와 선행발명의 구체적 실시형태가 동일한 경우에는</a:t>
            </a:r>
            <a:r>
              <a:rPr lang="en-US" altLang="ko-KR" sz="1300" dirty="0">
                <a:solidFill>
                  <a:srgbClr val="FF0000"/>
                </a:solidFill>
              </a:rPr>
              <a:t>, </a:t>
            </a:r>
            <a:r>
              <a:rPr lang="ko-KR" altLang="en-US" sz="1300" dirty="0">
                <a:solidFill>
                  <a:srgbClr val="FF0000"/>
                </a:solidFill>
              </a:rPr>
              <a:t>달리 특별한 사정이 없는 한 </a:t>
            </a:r>
            <a:r>
              <a:rPr lang="ko-KR" altLang="en-US" sz="1300" dirty="0">
                <a:solidFill>
                  <a:schemeClr val="tx2"/>
                </a:solidFill>
              </a:rPr>
              <a:t>양 발명은 발명에 대한 기술적인 표현만 달리할 뿐 실질적으로는 동일한 것으로 보아야 할 것이므로</a:t>
            </a:r>
            <a:r>
              <a:rPr lang="en-US" altLang="ko-KR" sz="1300" dirty="0">
                <a:solidFill>
                  <a:schemeClr val="tx2"/>
                </a:solidFill>
              </a:rPr>
              <a:t>, </a:t>
            </a:r>
            <a:r>
              <a:rPr lang="ko-KR" altLang="en-US" sz="1300" dirty="0">
                <a:solidFill>
                  <a:schemeClr val="tx2"/>
                </a:solidFill>
              </a:rPr>
              <a:t>이러한 특허발명은 신규성이 부정된다</a:t>
            </a:r>
            <a:r>
              <a:rPr lang="en-US" altLang="ko-KR" sz="1300" dirty="0">
                <a:solidFill>
                  <a:schemeClr val="tx2"/>
                </a:solidFill>
              </a:rPr>
              <a:t>. </a:t>
            </a:r>
            <a:r>
              <a:rPr lang="ko-KR" altLang="en-US" sz="1300" dirty="0">
                <a:solidFill>
                  <a:srgbClr val="FF0000"/>
                </a:solidFill>
              </a:rPr>
              <a:t>반면</a:t>
            </a:r>
            <a:r>
              <a:rPr lang="en-US" altLang="ko-KR" sz="1300" dirty="0">
                <a:solidFill>
                  <a:srgbClr val="FF0000"/>
                </a:solidFill>
              </a:rPr>
              <a:t>, </a:t>
            </a:r>
            <a:r>
              <a:rPr lang="ko-KR" altLang="en-US" sz="1300" dirty="0">
                <a:solidFill>
                  <a:srgbClr val="FF0000"/>
                </a:solidFill>
              </a:rPr>
              <a:t>위와 같은 방법 등을 통하여 양 발명이 실질적으로 동일하다는 점이 증명되지 않으면</a:t>
            </a:r>
            <a:r>
              <a:rPr lang="en-US" altLang="ko-KR" sz="1300" dirty="0">
                <a:solidFill>
                  <a:srgbClr val="FF0000"/>
                </a:solidFill>
              </a:rPr>
              <a:t>, </a:t>
            </a:r>
            <a:r>
              <a:rPr lang="ko-KR" altLang="en-US" sz="1300" dirty="0">
                <a:solidFill>
                  <a:srgbClr val="FF0000"/>
                </a:solidFill>
              </a:rPr>
              <a:t>신규성이 부정된다고 할 수 없다</a:t>
            </a:r>
            <a:r>
              <a:rPr lang="en-US" altLang="ko-KR" sz="1300" dirty="0">
                <a:solidFill>
                  <a:schemeClr val="tx2"/>
                </a:solidFill>
              </a:rPr>
              <a:t>(</a:t>
            </a:r>
            <a:r>
              <a:rPr lang="ko-KR" altLang="en-US" sz="1300" dirty="0">
                <a:solidFill>
                  <a:schemeClr val="tx2"/>
                </a:solidFill>
              </a:rPr>
              <a:t>대법원 </a:t>
            </a:r>
            <a:r>
              <a:rPr lang="en-US" altLang="ko-KR" sz="1300" dirty="0">
                <a:solidFill>
                  <a:schemeClr val="tx2"/>
                </a:solidFill>
              </a:rPr>
              <a:t>2021. 12. 30. </a:t>
            </a:r>
            <a:r>
              <a:rPr lang="ko-KR" altLang="en-US" sz="1300" dirty="0">
                <a:solidFill>
                  <a:schemeClr val="tx2"/>
                </a:solidFill>
              </a:rPr>
              <a:t>선고 </a:t>
            </a:r>
            <a:r>
              <a:rPr lang="en-US" altLang="ko-KR" sz="1300" dirty="0">
                <a:solidFill>
                  <a:schemeClr val="tx2"/>
                </a:solidFill>
              </a:rPr>
              <a:t>2017</a:t>
            </a:r>
            <a:r>
              <a:rPr lang="ko-KR" altLang="en-US" sz="1300" dirty="0">
                <a:solidFill>
                  <a:schemeClr val="tx2"/>
                </a:solidFill>
              </a:rPr>
              <a:t>후</a:t>
            </a:r>
            <a:r>
              <a:rPr lang="en-US" altLang="ko-KR" sz="1300" dirty="0">
                <a:solidFill>
                  <a:schemeClr val="tx2"/>
                </a:solidFill>
              </a:rPr>
              <a:t>1298 </a:t>
            </a:r>
            <a:r>
              <a:rPr lang="ko-KR" altLang="en-US" sz="1300" dirty="0">
                <a:solidFill>
                  <a:schemeClr val="tx2"/>
                </a:solidFill>
              </a:rPr>
              <a:t>판결</a:t>
            </a:r>
            <a:r>
              <a:rPr lang="en-US" altLang="ko-KR" sz="1300" dirty="0">
                <a:solidFill>
                  <a:schemeClr val="tx2"/>
                </a:solidFill>
              </a:rPr>
              <a:t>).</a:t>
            </a:r>
            <a:endParaRPr lang="ko-KR" altLang="en-US" sz="1300" dirty="0">
              <a:solidFill>
                <a:schemeClr val="tx2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CE5BD75-FE62-410E-BBE2-0BD79FB081E7}"/>
              </a:ext>
            </a:extLst>
          </p:cNvPr>
          <p:cNvSpPr/>
          <p:nvPr/>
        </p:nvSpPr>
        <p:spPr>
          <a:xfrm>
            <a:off x="273381" y="2670812"/>
            <a:ext cx="892552" cy="89255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신규성</a:t>
            </a:r>
            <a:endParaRPr lang="en-US" altLang="ko-KR" dirty="0"/>
          </a:p>
          <a:p>
            <a:pPr algn="ctr"/>
            <a:r>
              <a:rPr lang="ko-KR" altLang="en-US" dirty="0"/>
              <a:t>요건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ADECC240-A040-4630-9423-C918FB652AAA}"/>
              </a:ext>
            </a:extLst>
          </p:cNvPr>
          <p:cNvSpPr/>
          <p:nvPr/>
        </p:nvSpPr>
        <p:spPr>
          <a:xfrm>
            <a:off x="273380" y="3961119"/>
            <a:ext cx="892552" cy="89255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진보성</a:t>
            </a:r>
            <a:endParaRPr lang="en-US" altLang="ko-KR" dirty="0"/>
          </a:p>
          <a:p>
            <a:pPr algn="ctr"/>
            <a:r>
              <a:rPr lang="ko-KR" altLang="en-US" dirty="0"/>
              <a:t>요건</a:t>
            </a:r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F997D670-A28A-4943-A0B4-CEFB3EC541E0}"/>
              </a:ext>
            </a:extLst>
          </p:cNvPr>
          <p:cNvCxnSpPr>
            <a:cxnSpLocks/>
            <a:stCxn id="5" idx="3"/>
            <a:endCxn id="90" idx="1"/>
          </p:cNvCxnSpPr>
          <p:nvPr/>
        </p:nvCxnSpPr>
        <p:spPr>
          <a:xfrm>
            <a:off x="1165933" y="3117088"/>
            <a:ext cx="173980" cy="19614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C5C208C6-C8B4-4480-9979-D91AB9BFDED1}"/>
              </a:ext>
            </a:extLst>
          </p:cNvPr>
          <p:cNvSpPr txBox="1"/>
          <p:nvPr/>
        </p:nvSpPr>
        <p:spPr>
          <a:xfrm>
            <a:off x="1339913" y="4101998"/>
            <a:ext cx="10578707" cy="109260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 fontAlgn="base"/>
            <a:r>
              <a:rPr lang="ko-KR" altLang="en-US" sz="1300" dirty="0">
                <a:solidFill>
                  <a:schemeClr val="tx2"/>
                </a:solidFill>
              </a:rPr>
              <a:t>파라미터 발명이 공지된 발명과 파라미터에 의해 한정된 구성에서만 차이가 있는 경우</a:t>
            </a:r>
            <a:r>
              <a:rPr lang="en-US" altLang="ko-KR" sz="1300" dirty="0">
                <a:solidFill>
                  <a:schemeClr val="tx2"/>
                </a:solidFill>
              </a:rPr>
              <a:t>, </a:t>
            </a:r>
            <a:r>
              <a:rPr lang="ko-KR" altLang="en-US" sz="1300" dirty="0">
                <a:solidFill>
                  <a:schemeClr val="tx2"/>
                </a:solidFill>
              </a:rPr>
              <a:t>발명의 명세서 기재 및 출원 당시 통상의 기술자의 기술 수준을 종합하여 보았을 때 파라미터가 공지된 발명과는 </a:t>
            </a:r>
            <a:r>
              <a:rPr lang="ko-KR" altLang="en-US" sz="1300" dirty="0">
                <a:solidFill>
                  <a:srgbClr val="FF0000"/>
                </a:solidFill>
              </a:rPr>
              <a:t>상이한 과제를 해결하기 위한 </a:t>
            </a:r>
            <a:r>
              <a:rPr lang="ko-KR" altLang="en-US" sz="1300" dirty="0" err="1">
                <a:solidFill>
                  <a:srgbClr val="FF0000"/>
                </a:solidFill>
              </a:rPr>
              <a:t>기술수단으로서의</a:t>
            </a:r>
            <a:r>
              <a:rPr lang="ko-KR" altLang="en-US" sz="1300" dirty="0">
                <a:solidFill>
                  <a:srgbClr val="FF0000"/>
                </a:solidFill>
              </a:rPr>
              <a:t> 의의를 가지고</a:t>
            </a:r>
            <a:r>
              <a:rPr lang="en-US" altLang="ko-KR" sz="1300" dirty="0">
                <a:solidFill>
                  <a:srgbClr val="FF0000"/>
                </a:solidFill>
              </a:rPr>
              <a:t>, </a:t>
            </a:r>
            <a:r>
              <a:rPr lang="ko-KR" altLang="en-US" sz="1300" dirty="0">
                <a:solidFill>
                  <a:srgbClr val="FF0000"/>
                </a:solidFill>
              </a:rPr>
              <a:t>그로 인해 특유한 효과를 갖는다고 인정되는 경우</a:t>
            </a:r>
            <a:r>
              <a:rPr lang="ko-KR" altLang="en-US" sz="1300" dirty="0">
                <a:solidFill>
                  <a:schemeClr val="tx2"/>
                </a:solidFill>
              </a:rPr>
              <a:t>에는 진보성이 부정되지 않는다</a:t>
            </a:r>
            <a:r>
              <a:rPr lang="en-US" altLang="ko-KR" sz="1300" dirty="0">
                <a:solidFill>
                  <a:schemeClr val="tx2"/>
                </a:solidFill>
              </a:rPr>
              <a:t>. </a:t>
            </a:r>
            <a:r>
              <a:rPr lang="ko-KR" altLang="en-US" sz="1300" dirty="0">
                <a:solidFill>
                  <a:schemeClr val="tx2"/>
                </a:solidFill>
              </a:rPr>
              <a:t>한편</a:t>
            </a:r>
            <a:r>
              <a:rPr lang="en-US" altLang="ko-KR" sz="1300" dirty="0">
                <a:solidFill>
                  <a:schemeClr val="tx2"/>
                </a:solidFill>
              </a:rPr>
              <a:t>, </a:t>
            </a:r>
            <a:r>
              <a:rPr lang="ko-KR" altLang="en-US" sz="1300" dirty="0">
                <a:solidFill>
                  <a:schemeClr val="tx2"/>
                </a:solidFill>
              </a:rPr>
              <a:t>파라미터의 도입 자체에 대하여는 위와 같은 기술적 의의를 인정할 수 없더라도 </a:t>
            </a:r>
            <a:r>
              <a:rPr lang="ko-KR" altLang="en-US" sz="1300" dirty="0">
                <a:solidFill>
                  <a:srgbClr val="FF0000"/>
                </a:solidFill>
              </a:rPr>
              <a:t>발명이 새롭게 도입한 파라미터를 수치로 한정하는 형태를 취하고 있는 경우에는</a:t>
            </a:r>
            <a:r>
              <a:rPr lang="en-US" altLang="ko-KR" sz="1300" dirty="0">
                <a:solidFill>
                  <a:srgbClr val="FF0000"/>
                </a:solidFill>
              </a:rPr>
              <a:t>, </a:t>
            </a:r>
            <a:r>
              <a:rPr lang="ko-KR" altLang="en-US" sz="1300" dirty="0">
                <a:solidFill>
                  <a:srgbClr val="FF0000"/>
                </a:solidFill>
              </a:rPr>
              <a:t>한정된 수치범위 내외에서 현저한 효과의 차이가 생기거나</a:t>
            </a:r>
            <a:r>
              <a:rPr lang="en-US" altLang="ko-KR" sz="1300" dirty="0">
                <a:solidFill>
                  <a:srgbClr val="FF0000"/>
                </a:solidFill>
              </a:rPr>
              <a:t>, </a:t>
            </a:r>
            <a:r>
              <a:rPr lang="ko-KR" altLang="en-US" sz="1300" dirty="0">
                <a:solidFill>
                  <a:srgbClr val="FF0000"/>
                </a:solidFill>
              </a:rPr>
              <a:t>그 수치한정이 공지된 발명과는 상이한 과제를 달성하기 위한 </a:t>
            </a:r>
            <a:r>
              <a:rPr lang="ko-KR" altLang="en-US" sz="1300" dirty="0" err="1">
                <a:solidFill>
                  <a:srgbClr val="FF0000"/>
                </a:solidFill>
              </a:rPr>
              <a:t>기술수단으로서의</a:t>
            </a:r>
            <a:r>
              <a:rPr lang="ko-KR" altLang="en-US" sz="1300" dirty="0">
                <a:solidFill>
                  <a:srgbClr val="FF0000"/>
                </a:solidFill>
              </a:rPr>
              <a:t> 의의를 가지고 그 효과도 이질적인 경우라면</a:t>
            </a:r>
            <a:r>
              <a:rPr lang="en-US" altLang="ko-KR" sz="1300" dirty="0">
                <a:solidFill>
                  <a:srgbClr val="FF0000"/>
                </a:solidFill>
              </a:rPr>
              <a:t>, </a:t>
            </a:r>
            <a:r>
              <a:rPr lang="ko-KR" altLang="en-US" sz="1300" dirty="0">
                <a:solidFill>
                  <a:schemeClr val="tx2"/>
                </a:solidFill>
              </a:rPr>
              <a:t>진보성이 부정되지 않는다</a:t>
            </a:r>
            <a:r>
              <a:rPr lang="en-US" altLang="ko-KR" sz="1300" dirty="0">
                <a:solidFill>
                  <a:schemeClr val="tx2"/>
                </a:solidFill>
              </a:rPr>
              <a:t>(</a:t>
            </a:r>
            <a:r>
              <a:rPr lang="ko-KR" altLang="en-US" sz="1300" dirty="0">
                <a:solidFill>
                  <a:schemeClr val="tx2"/>
                </a:solidFill>
              </a:rPr>
              <a:t>대법원 </a:t>
            </a:r>
            <a:r>
              <a:rPr lang="en-US" altLang="ko-KR" sz="1300" dirty="0">
                <a:solidFill>
                  <a:schemeClr val="tx2"/>
                </a:solidFill>
              </a:rPr>
              <a:t>2021. 12. 30. </a:t>
            </a:r>
            <a:r>
              <a:rPr lang="ko-KR" altLang="en-US" sz="1300" dirty="0">
                <a:solidFill>
                  <a:schemeClr val="tx2"/>
                </a:solidFill>
              </a:rPr>
              <a:t>선고 </a:t>
            </a:r>
            <a:r>
              <a:rPr lang="en-US" altLang="ko-KR" sz="1300" dirty="0">
                <a:solidFill>
                  <a:schemeClr val="tx2"/>
                </a:solidFill>
              </a:rPr>
              <a:t>2017</a:t>
            </a:r>
            <a:r>
              <a:rPr lang="ko-KR" altLang="en-US" sz="1300" dirty="0">
                <a:solidFill>
                  <a:schemeClr val="tx2"/>
                </a:solidFill>
              </a:rPr>
              <a:t>후</a:t>
            </a:r>
            <a:r>
              <a:rPr lang="en-US" altLang="ko-KR" sz="1300" dirty="0">
                <a:solidFill>
                  <a:schemeClr val="tx2"/>
                </a:solidFill>
              </a:rPr>
              <a:t>1298 </a:t>
            </a:r>
            <a:r>
              <a:rPr lang="ko-KR" altLang="en-US" sz="1300" dirty="0">
                <a:solidFill>
                  <a:schemeClr val="tx2"/>
                </a:solidFill>
              </a:rPr>
              <a:t>판결</a:t>
            </a:r>
            <a:r>
              <a:rPr lang="en-US" altLang="ko-KR" sz="1300" dirty="0">
                <a:solidFill>
                  <a:schemeClr val="tx2"/>
                </a:solidFill>
              </a:rPr>
              <a:t>).</a:t>
            </a:r>
            <a:endParaRPr lang="ko-KR" altLang="en-US" sz="1300" dirty="0">
              <a:solidFill>
                <a:schemeClr val="tx2"/>
              </a:solidFill>
            </a:endParaRPr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2DB60878-6ABA-4DEA-9778-F57B55800A62}"/>
              </a:ext>
            </a:extLst>
          </p:cNvPr>
          <p:cNvCxnSpPr>
            <a:cxnSpLocks/>
            <a:stCxn id="67" idx="3"/>
            <a:endCxn id="70" idx="1"/>
          </p:cNvCxnSpPr>
          <p:nvPr/>
        </p:nvCxnSpPr>
        <p:spPr>
          <a:xfrm>
            <a:off x="1165932" y="4407395"/>
            <a:ext cx="173981" cy="24090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Line 5">
            <a:extLst>
              <a:ext uri="{FF2B5EF4-FFF2-40B4-BE49-F238E27FC236}">
                <a16:creationId xmlns:a16="http://schemas.microsoft.com/office/drawing/2014/main" id="{79818389-E90F-472B-8D0A-77A41819FD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337" y="2287446"/>
            <a:ext cx="11523282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7F48D8BA-8C9A-4814-A7D5-381B1B18ED5C}"/>
              </a:ext>
            </a:extLst>
          </p:cNvPr>
          <p:cNvSpPr/>
          <p:nvPr/>
        </p:nvSpPr>
        <p:spPr>
          <a:xfrm>
            <a:off x="1958674" y="220505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9165F994-8C67-420E-A6D8-006A081122E9}"/>
              </a:ext>
            </a:extLst>
          </p:cNvPr>
          <p:cNvSpPr/>
          <p:nvPr/>
        </p:nvSpPr>
        <p:spPr>
          <a:xfrm>
            <a:off x="7039382" y="2205058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DB6D2C57-74E3-4442-AE1B-EC2DFACB6056}"/>
              </a:ext>
            </a:extLst>
          </p:cNvPr>
          <p:cNvCxnSpPr>
            <a:cxnSpLocks/>
            <a:stCxn id="34" idx="2"/>
            <a:endCxn id="31" idx="0"/>
          </p:cNvCxnSpPr>
          <p:nvPr/>
        </p:nvCxnSpPr>
        <p:spPr>
          <a:xfrm>
            <a:off x="7116751" y="1939012"/>
            <a:ext cx="0" cy="26604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8002E2F-4C9B-4400-8E46-60F6AB8A23BE}"/>
              </a:ext>
            </a:extLst>
          </p:cNvPr>
          <p:cNvSpPr txBox="1"/>
          <p:nvPr/>
        </p:nvSpPr>
        <p:spPr>
          <a:xfrm>
            <a:off x="3659448" y="1472503"/>
            <a:ext cx="6914606" cy="4665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단부와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 err="1">
                <a:solidFill>
                  <a:srgbClr val="FF0000"/>
                </a:solidFill>
                <a:latin typeface="+mn-ea"/>
              </a:rPr>
              <a:t>최외부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사이의 거리는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평균 막 두께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의 </a:t>
            </a:r>
            <a:r>
              <a:rPr lang="en-US" altLang="ko-KR" sz="12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10</a:t>
            </a:r>
            <a:r>
              <a:rPr lang="ko-KR" altLang="en-US" sz="12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배 이상 </a:t>
            </a:r>
            <a:r>
              <a:rPr lang="en-US" altLang="ko-KR" sz="12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10,000</a:t>
            </a:r>
            <a:r>
              <a:rPr lang="ko-KR" altLang="en-US" sz="12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배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이하인 것을 특징으로 하는 복합구조물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B12C08-BAB3-47A7-AC67-67BE1CE236C6}"/>
              </a:ext>
            </a:extLst>
          </p:cNvPr>
          <p:cNvSpPr txBox="1"/>
          <p:nvPr/>
        </p:nvSpPr>
        <p:spPr>
          <a:xfrm>
            <a:off x="978739" y="1485397"/>
            <a:ext cx="2114608" cy="4557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공지기술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복합구조물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0DC0D733-FF9B-495C-B246-C3EFB589230F}"/>
              </a:ext>
            </a:extLst>
          </p:cNvPr>
          <p:cNvCxnSpPr>
            <a:cxnSpLocks/>
            <a:stCxn id="35" idx="2"/>
          </p:cNvCxnSpPr>
          <p:nvPr/>
        </p:nvCxnSpPr>
        <p:spPr>
          <a:xfrm>
            <a:off x="2036043" y="1941196"/>
            <a:ext cx="10557" cy="26386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8B7F0C7-2622-4D42-8801-7194CC3AC437}"/>
              </a:ext>
            </a:extLst>
          </p:cNvPr>
          <p:cNvSpPr txBox="1"/>
          <p:nvPr/>
        </p:nvSpPr>
        <p:spPr>
          <a:xfrm>
            <a:off x="1339911" y="5194605"/>
            <a:ext cx="10578707" cy="1034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tabLst>
                <a:tab pos="85725" algn="l"/>
                <a:tab pos="320675" algn="l"/>
                <a:tab pos="320675" algn="l"/>
              </a:tabLst>
            </a:pPr>
            <a:r>
              <a:rPr lang="en-US" altLang="ko-KR" sz="1200" kern="0" spc="-30" dirty="0">
                <a:solidFill>
                  <a:schemeClr val="tx2"/>
                </a:solidFill>
                <a:effectLst/>
                <a:latin typeface="+mn-ea"/>
              </a:rPr>
              <a:t>* </a:t>
            </a:r>
            <a:r>
              <a:rPr lang="ko-KR" altLang="en-US" sz="1200" kern="0" spc="-30" dirty="0">
                <a:solidFill>
                  <a:schemeClr val="tx2"/>
                </a:solidFill>
                <a:effectLst/>
                <a:latin typeface="+mn-ea"/>
              </a:rPr>
              <a:t>분석기기 등의 발달로 인해 특정 파라미터를 발견해 내기 용이하게 되어 파라미터 발명의 출원이 증가함</a:t>
            </a:r>
            <a:endParaRPr lang="en-US" altLang="ko-KR" sz="1200" kern="0" spc="-30" dirty="0">
              <a:solidFill>
                <a:schemeClr val="tx2"/>
              </a:solidFill>
              <a:effectLst/>
              <a:latin typeface="+mn-ea"/>
            </a:endParaRPr>
          </a:p>
          <a:p>
            <a:pPr marL="85725" marR="0" indent="-85725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tabLst>
                <a:tab pos="85725" algn="l"/>
                <a:tab pos="320675" algn="l"/>
                <a:tab pos="320675" algn="l"/>
              </a:tabLst>
            </a:pPr>
            <a:r>
              <a:rPr lang="en-US" altLang="ko-KR" sz="1200" kern="0" spc="-30" dirty="0">
                <a:solidFill>
                  <a:schemeClr val="tx2"/>
                </a:solidFill>
                <a:effectLst/>
                <a:latin typeface="+mn-ea"/>
              </a:rPr>
              <a:t>* </a:t>
            </a:r>
            <a:r>
              <a:rPr lang="ko-KR" altLang="en-US" sz="1200" kern="0" spc="-30" dirty="0">
                <a:solidFill>
                  <a:schemeClr val="tx2"/>
                </a:solidFill>
                <a:effectLst/>
                <a:latin typeface="+mn-ea"/>
              </a:rPr>
              <a:t>파라미터 발명은 물질의 구조를 특정하여 청구범위를 기재하는 것이 아니라</a:t>
            </a:r>
            <a:r>
              <a:rPr lang="en-US" altLang="ko-KR" sz="1200" kern="0" spc="-30" dirty="0">
                <a:solidFill>
                  <a:schemeClr val="tx2"/>
                </a:solidFill>
                <a:effectLst/>
                <a:latin typeface="+mn-ea"/>
              </a:rPr>
              <a:t>, </a:t>
            </a:r>
            <a:r>
              <a:rPr lang="ko-KR" altLang="en-US" sz="1200" kern="0" spc="-30" dirty="0">
                <a:solidFill>
                  <a:schemeClr val="tx2"/>
                </a:solidFill>
                <a:effectLst/>
                <a:latin typeface="+mn-ea"/>
              </a:rPr>
              <a:t>그 물질이 갖는 물성이나 특성에 대한 파라미터를 사용하여 청구범위가 특정되므로 권리범위를 넓게 설정할 수 있고</a:t>
            </a:r>
            <a:r>
              <a:rPr lang="en-US" altLang="ko-KR" sz="1200" kern="0" spc="-30" dirty="0">
                <a:solidFill>
                  <a:schemeClr val="tx2"/>
                </a:solidFill>
                <a:effectLst/>
                <a:latin typeface="+mn-ea"/>
              </a:rPr>
              <a:t>, </a:t>
            </a:r>
            <a:r>
              <a:rPr lang="ko-KR" altLang="en-US" sz="1200" kern="0" spc="-30" dirty="0">
                <a:solidFill>
                  <a:schemeClr val="tx2"/>
                </a:solidFill>
                <a:effectLst/>
                <a:latin typeface="+mn-ea"/>
              </a:rPr>
              <a:t>권리침해의 주장 및 증명이 쉬움</a:t>
            </a:r>
            <a:endParaRPr lang="en-US" altLang="ko-KR" sz="1200" kern="0" spc="-30" dirty="0">
              <a:solidFill>
                <a:schemeClr val="tx2"/>
              </a:solidFill>
              <a:effectLst/>
              <a:latin typeface="+mn-ea"/>
            </a:endParaRPr>
          </a:p>
          <a:p>
            <a:pPr marR="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tabLst>
                <a:tab pos="85725" algn="l"/>
                <a:tab pos="320675" algn="l"/>
                <a:tab pos="320675" algn="l"/>
              </a:tabLst>
            </a:pPr>
            <a:r>
              <a:rPr lang="en-US" altLang="ko-KR" sz="1200" kern="0" spc="-30" dirty="0">
                <a:solidFill>
                  <a:schemeClr val="tx2"/>
                </a:solidFill>
                <a:effectLst/>
                <a:latin typeface="+mn-ea"/>
              </a:rPr>
              <a:t>* </a:t>
            </a:r>
            <a:r>
              <a:rPr lang="ko-KR" altLang="en-US" sz="1200" kern="0" spc="-30" dirty="0">
                <a:solidFill>
                  <a:schemeClr val="tx2"/>
                </a:solidFill>
                <a:effectLst/>
                <a:latin typeface="+mn-ea"/>
              </a:rPr>
              <a:t>또한</a:t>
            </a:r>
            <a:r>
              <a:rPr lang="en-US" altLang="ko-KR" sz="1200" kern="0" spc="-30" dirty="0">
                <a:solidFill>
                  <a:schemeClr val="tx2"/>
                </a:solidFill>
                <a:effectLst/>
                <a:latin typeface="+mn-ea"/>
              </a:rPr>
              <a:t>, </a:t>
            </a:r>
            <a:r>
              <a:rPr lang="ko-KR" altLang="en-US" sz="1200" kern="0" spc="-30" dirty="0">
                <a:solidFill>
                  <a:schemeClr val="tx2"/>
                </a:solidFill>
                <a:effectLst/>
                <a:latin typeface="+mn-ea"/>
              </a:rPr>
              <a:t>새로이 창작된 파라미터를 이용하는 경우 그 파라미터에 대응되는 선행기술을 찾고 확인하기 어렵기 때문에 현실적으로 등록가능성이 높음</a:t>
            </a:r>
          </a:p>
        </p:txBody>
      </p:sp>
      <p:sp>
        <p:nvSpPr>
          <p:cNvPr id="6" name="말풍선: 모서리가 둥근 사각형 5">
            <a:extLst>
              <a:ext uri="{FF2B5EF4-FFF2-40B4-BE49-F238E27FC236}">
                <a16:creationId xmlns:a16="http://schemas.microsoft.com/office/drawing/2014/main" id="{08C2DDAD-3305-23C2-DCD4-31F4CC19AA03}"/>
              </a:ext>
            </a:extLst>
          </p:cNvPr>
          <p:cNvSpPr/>
          <p:nvPr/>
        </p:nvSpPr>
        <p:spPr>
          <a:xfrm>
            <a:off x="7463061" y="1057835"/>
            <a:ext cx="909974" cy="317582"/>
          </a:xfrm>
          <a:prstGeom prst="wedgeRoundRectCallout">
            <a:avLst>
              <a:gd name="adj1" fmla="val -36931"/>
              <a:gd name="adj2" fmla="val 10484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수치한정</a:t>
            </a:r>
          </a:p>
        </p:txBody>
      </p:sp>
      <p:sp>
        <p:nvSpPr>
          <p:cNvPr id="8" name="말풍선: 모서리가 둥근 사각형 7">
            <a:extLst>
              <a:ext uri="{FF2B5EF4-FFF2-40B4-BE49-F238E27FC236}">
                <a16:creationId xmlns:a16="http://schemas.microsoft.com/office/drawing/2014/main" id="{825BE50C-4C88-7CFE-7B8A-DAE08C986910}"/>
              </a:ext>
            </a:extLst>
          </p:cNvPr>
          <p:cNvSpPr/>
          <p:nvPr/>
        </p:nvSpPr>
        <p:spPr>
          <a:xfrm>
            <a:off x="4441955" y="1057835"/>
            <a:ext cx="909974" cy="317582"/>
          </a:xfrm>
          <a:prstGeom prst="wedgeRoundRectCallout">
            <a:avLst>
              <a:gd name="adj1" fmla="val -36931"/>
              <a:gd name="adj2" fmla="val 104842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파라미터</a:t>
            </a:r>
          </a:p>
        </p:txBody>
      </p:sp>
    </p:spTree>
    <p:extLst>
      <p:ext uri="{BB962C8B-B14F-4D97-AF65-F5344CB8AC3E}">
        <p14:creationId xmlns:p14="http://schemas.microsoft.com/office/powerpoint/2010/main" val="17524577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자유형 163"/>
          <p:cNvSpPr/>
          <p:nvPr/>
        </p:nvSpPr>
        <p:spPr>
          <a:xfrm>
            <a:off x="7387119" y="3164440"/>
            <a:ext cx="4130211" cy="565079"/>
          </a:xfrm>
          <a:custGeom>
            <a:avLst/>
            <a:gdLst>
              <a:gd name="connsiteX0" fmla="*/ 0 w 4130211"/>
              <a:gd name="connsiteY0" fmla="*/ 565079 h 565079"/>
              <a:gd name="connsiteX1" fmla="*/ 318499 w 4130211"/>
              <a:gd name="connsiteY1" fmla="*/ 0 h 565079"/>
              <a:gd name="connsiteX2" fmla="*/ 4130211 w 4130211"/>
              <a:gd name="connsiteY2" fmla="*/ 0 h 565079"/>
              <a:gd name="connsiteX3" fmla="*/ 4130211 w 4130211"/>
              <a:gd name="connsiteY3" fmla="*/ 554805 h 56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30211" h="565079">
                <a:moveTo>
                  <a:pt x="0" y="565079"/>
                </a:moveTo>
                <a:lnTo>
                  <a:pt x="318499" y="0"/>
                </a:lnTo>
                <a:lnTo>
                  <a:pt x="4130211" y="0"/>
                </a:lnTo>
                <a:lnTo>
                  <a:pt x="4130211" y="554805"/>
                </a:lnTo>
              </a:path>
            </a:pathLst>
          </a:custGeom>
          <a:pattFill prst="dotGrid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공지기술의 지위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875" y="986046"/>
            <a:ext cx="119363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국내외에서 공지된 후부터 공지기술의 지위가 인정</a:t>
            </a:r>
            <a:r>
              <a:rPr lang="ko-KR" altLang="en-US" sz="1400" dirty="0"/>
              <a:t>되어 이와 동일한 발명은 </a:t>
            </a:r>
            <a:r>
              <a:rPr lang="ko-KR" altLang="en-US" sz="1400" dirty="0" err="1"/>
              <a:t>신규성</a:t>
            </a:r>
            <a:r>
              <a:rPr lang="en-US" altLang="ko-KR" sz="1400" dirty="0"/>
              <a:t> </a:t>
            </a:r>
            <a:r>
              <a:rPr lang="ko-KR" altLang="en-US" sz="1400" dirty="0"/>
              <a:t>위반으로</a:t>
            </a:r>
            <a:r>
              <a:rPr lang="en-US" altLang="ko-KR" sz="1400" dirty="0"/>
              <a:t>, </a:t>
            </a:r>
            <a:r>
              <a:rPr lang="ko-KR" altLang="en-US" sz="1400" dirty="0"/>
              <a:t>이로부터 용이한 발명은 진보성 위반으로 특허를 받을 수 없게 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cxnSp>
        <p:nvCxnSpPr>
          <p:cNvPr id="91" name="직선 연결선 90"/>
          <p:cNvCxnSpPr/>
          <p:nvPr/>
        </p:nvCxnSpPr>
        <p:spPr>
          <a:xfrm>
            <a:off x="0" y="129619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자유형 21"/>
          <p:cNvSpPr/>
          <p:nvPr/>
        </p:nvSpPr>
        <p:spPr>
          <a:xfrm>
            <a:off x="922113" y="3205999"/>
            <a:ext cx="3913707" cy="503258"/>
          </a:xfrm>
          <a:custGeom>
            <a:avLst/>
            <a:gdLst>
              <a:gd name="connsiteX0" fmla="*/ 7797800 w 7797800"/>
              <a:gd name="connsiteY0" fmla="*/ 1066800 h 1104900"/>
              <a:gd name="connsiteX1" fmla="*/ 7327900 w 7797800"/>
              <a:gd name="connsiteY1" fmla="*/ 0 h 1104900"/>
              <a:gd name="connsiteX2" fmla="*/ 0 w 7797800"/>
              <a:gd name="connsiteY2" fmla="*/ 0 h 1104900"/>
              <a:gd name="connsiteX3" fmla="*/ 0 w 7797800"/>
              <a:gd name="connsiteY3" fmla="*/ 1104900 h 110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7800" h="1104900">
                <a:moveTo>
                  <a:pt x="7797800" y="1066800"/>
                </a:moveTo>
                <a:lnTo>
                  <a:pt x="7327900" y="0"/>
                </a:lnTo>
                <a:lnTo>
                  <a:pt x="0" y="0"/>
                </a:lnTo>
                <a:lnTo>
                  <a:pt x="0" y="1104900"/>
                </a:lnTo>
              </a:path>
            </a:pathLst>
          </a:custGeom>
          <a:pattFill prst="smGrid">
            <a:fgClr>
              <a:schemeClr val="accent2">
                <a:lumMod val="40000"/>
                <a:lumOff val="6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cxnSp>
        <p:nvCxnSpPr>
          <p:cNvPr id="23" name="직선 연결선 22"/>
          <p:cNvCxnSpPr/>
          <p:nvPr/>
        </p:nvCxnSpPr>
        <p:spPr>
          <a:xfrm>
            <a:off x="913176" y="3728090"/>
            <a:ext cx="455098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4136095" y="3564181"/>
            <a:ext cx="1318015" cy="3278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특허출원일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cxnSp>
        <p:nvCxnSpPr>
          <p:cNvPr id="25" name="직선 연결선 24"/>
          <p:cNvCxnSpPr>
            <a:stCxn id="24" idx="2"/>
            <a:endCxn id="27" idx="0"/>
          </p:cNvCxnSpPr>
          <p:nvPr/>
        </p:nvCxnSpPr>
        <p:spPr>
          <a:xfrm>
            <a:off x="4795103" y="3891998"/>
            <a:ext cx="11142" cy="43608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951429" y="4328081"/>
            <a:ext cx="1709632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특허출원</a:t>
            </a:r>
            <a:endParaRPr lang="en-US" altLang="ko-KR" sz="1600" dirty="0"/>
          </a:p>
          <a:p>
            <a:pPr algn="ctr"/>
            <a:r>
              <a:rPr lang="en-US" altLang="ko-KR" sz="1200" dirty="0"/>
              <a:t>(2017</a:t>
            </a:r>
            <a:r>
              <a:rPr lang="ko-KR" altLang="en-US" sz="1200" dirty="0"/>
              <a:t>년 </a:t>
            </a:r>
            <a:r>
              <a:rPr lang="en-US" altLang="ko-KR" sz="1200" dirty="0"/>
              <a:t>4</a:t>
            </a:r>
            <a:r>
              <a:rPr lang="ko-KR" altLang="en-US" sz="1200" dirty="0"/>
              <a:t>월 </a:t>
            </a:r>
            <a:r>
              <a:rPr lang="en-US" altLang="ko-KR" sz="1200" dirty="0"/>
              <a:t>8</a:t>
            </a:r>
            <a:r>
              <a:rPr lang="ko-KR" altLang="en-US" sz="1200" dirty="0"/>
              <a:t>일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4033837" y="3944053"/>
            <a:ext cx="204516" cy="209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0</a:t>
            </a:r>
            <a:r>
              <a:rPr lang="ko-KR" altLang="en-US" sz="1200" dirty="0"/>
              <a:t>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52252" y="3944053"/>
            <a:ext cx="247156" cy="209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24</a:t>
            </a:r>
            <a:r>
              <a:rPr lang="ko-KR" altLang="en-US" sz="1200" dirty="0"/>
              <a:t>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34584" y="3944053"/>
            <a:ext cx="247156" cy="209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14</a:t>
            </a:r>
            <a:r>
              <a:rPr lang="ko-KR" altLang="en-US" sz="1200" dirty="0"/>
              <a:t>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28854" y="2872656"/>
            <a:ext cx="584261" cy="25637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특허출원 전</a:t>
            </a:r>
          </a:p>
        </p:txBody>
      </p:sp>
      <p:cxnSp>
        <p:nvCxnSpPr>
          <p:cNvPr id="32" name="직선 연결선 31"/>
          <p:cNvCxnSpPr/>
          <p:nvPr/>
        </p:nvCxnSpPr>
        <p:spPr>
          <a:xfrm>
            <a:off x="1363948" y="3768599"/>
            <a:ext cx="1" cy="61353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49017" y="4001095"/>
            <a:ext cx="1831842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국내외 공지기술</a:t>
            </a:r>
            <a:endParaRPr lang="en-US" altLang="ko-KR" sz="1600" dirty="0"/>
          </a:p>
          <a:p>
            <a:pPr algn="ctr"/>
            <a:r>
              <a:rPr lang="en-US" altLang="ko-KR" sz="1200" dirty="0"/>
              <a:t>(2017</a:t>
            </a:r>
            <a:r>
              <a:rPr lang="ko-KR" altLang="en-US" sz="1200" dirty="0"/>
              <a:t>년 </a:t>
            </a:r>
            <a:r>
              <a:rPr lang="en-US" altLang="ko-KR" sz="1200" dirty="0"/>
              <a:t>4</a:t>
            </a:r>
            <a:r>
              <a:rPr lang="ko-KR" altLang="en-US" sz="1200" dirty="0"/>
              <a:t>월 </a:t>
            </a:r>
            <a:r>
              <a:rPr lang="en-US" altLang="ko-KR" sz="1200" dirty="0"/>
              <a:t>5</a:t>
            </a:r>
            <a:r>
              <a:rPr lang="ko-KR" altLang="en-US" sz="1200" dirty="0"/>
              <a:t>일 </a:t>
            </a:r>
            <a:r>
              <a:rPr lang="en-US" altLang="ko-KR" sz="1200" dirty="0"/>
              <a:t>10</a:t>
            </a:r>
            <a:r>
              <a:rPr lang="ko-KR" altLang="en-US" sz="1200" dirty="0"/>
              <a:t>시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34" name="직사각형 33"/>
          <p:cNvSpPr/>
          <p:nvPr/>
        </p:nvSpPr>
        <p:spPr>
          <a:xfrm>
            <a:off x="825003" y="2978349"/>
            <a:ext cx="101986" cy="8366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cxnSp>
        <p:nvCxnSpPr>
          <p:cNvPr id="141" name="직선 연결선 140"/>
          <p:cNvCxnSpPr/>
          <p:nvPr/>
        </p:nvCxnSpPr>
        <p:spPr>
          <a:xfrm>
            <a:off x="6046036" y="1556911"/>
            <a:ext cx="0" cy="5106256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/>
          <p:cNvCxnSpPr/>
          <p:nvPr/>
        </p:nvCxnSpPr>
        <p:spPr>
          <a:xfrm>
            <a:off x="7067396" y="3728090"/>
            <a:ext cx="455098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/>
          <p:cNvCxnSpPr/>
          <p:nvPr/>
        </p:nvCxnSpPr>
        <p:spPr>
          <a:xfrm>
            <a:off x="10988804" y="3768599"/>
            <a:ext cx="1" cy="61353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10136471" y="4173971"/>
            <a:ext cx="1709632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특허출원</a:t>
            </a:r>
            <a:endParaRPr lang="en-US" altLang="ko-KR" sz="1600" dirty="0"/>
          </a:p>
          <a:p>
            <a:pPr algn="ctr"/>
            <a:r>
              <a:rPr lang="en-US" altLang="ko-KR" sz="1200" dirty="0"/>
              <a:t>(2017</a:t>
            </a:r>
            <a:r>
              <a:rPr lang="ko-KR" altLang="en-US" sz="1200" dirty="0"/>
              <a:t>년 </a:t>
            </a:r>
            <a:r>
              <a:rPr lang="en-US" altLang="ko-KR" sz="1200" dirty="0"/>
              <a:t>4</a:t>
            </a:r>
            <a:r>
              <a:rPr lang="ko-KR" altLang="en-US" sz="1200" dirty="0"/>
              <a:t>월 </a:t>
            </a:r>
            <a:r>
              <a:rPr lang="en-US" altLang="ko-KR" sz="1200" dirty="0"/>
              <a:t>8</a:t>
            </a:r>
            <a:r>
              <a:rPr lang="ko-KR" altLang="en-US" sz="1200" dirty="0"/>
              <a:t>일 </a:t>
            </a:r>
            <a:r>
              <a:rPr lang="en-US" altLang="ko-KR" sz="1200" dirty="0"/>
              <a:t>14</a:t>
            </a:r>
            <a:r>
              <a:rPr lang="ko-KR" altLang="en-US" sz="1200" dirty="0"/>
              <a:t>시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51" name="TextBox 150"/>
          <p:cNvSpPr txBox="1"/>
          <p:nvPr/>
        </p:nvSpPr>
        <p:spPr>
          <a:xfrm>
            <a:off x="8683074" y="2821286"/>
            <a:ext cx="795411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공지 후</a:t>
            </a:r>
          </a:p>
        </p:txBody>
      </p:sp>
      <p:cxnSp>
        <p:nvCxnSpPr>
          <p:cNvPr id="152" name="직선 연결선 151"/>
          <p:cNvCxnSpPr>
            <a:stCxn id="155" idx="2"/>
            <a:endCxn id="153" idx="0"/>
          </p:cNvCxnSpPr>
          <p:nvPr/>
        </p:nvCxnSpPr>
        <p:spPr>
          <a:xfrm>
            <a:off x="7497212" y="3891998"/>
            <a:ext cx="1398" cy="66389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6582689" y="4555891"/>
            <a:ext cx="1831842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국내외 공지기술</a:t>
            </a:r>
            <a:endParaRPr lang="en-US" altLang="ko-KR" sz="1600" dirty="0"/>
          </a:p>
          <a:p>
            <a:pPr algn="ctr"/>
            <a:r>
              <a:rPr lang="en-US" altLang="ko-KR" sz="1200" dirty="0"/>
              <a:t>(2017</a:t>
            </a:r>
            <a:r>
              <a:rPr lang="ko-KR" altLang="en-US" sz="1200" dirty="0"/>
              <a:t>년 </a:t>
            </a:r>
            <a:r>
              <a:rPr lang="en-US" altLang="ko-KR" sz="1200" dirty="0"/>
              <a:t>4</a:t>
            </a:r>
            <a:r>
              <a:rPr lang="ko-KR" altLang="en-US" sz="1200" dirty="0"/>
              <a:t>월 </a:t>
            </a:r>
            <a:r>
              <a:rPr lang="en-US" altLang="ko-KR" sz="1200" dirty="0"/>
              <a:t>5</a:t>
            </a:r>
            <a:r>
              <a:rPr lang="ko-KR" altLang="en-US" sz="1200" dirty="0"/>
              <a:t>일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55" name="직사각형 154"/>
          <p:cNvSpPr/>
          <p:nvPr/>
        </p:nvSpPr>
        <p:spPr>
          <a:xfrm>
            <a:off x="6838204" y="3564181"/>
            <a:ext cx="1318015" cy="3278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공지일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735946" y="3944053"/>
            <a:ext cx="204516" cy="209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0</a:t>
            </a:r>
            <a:r>
              <a:rPr lang="ko-KR" altLang="en-US" sz="1200" dirty="0"/>
              <a:t>시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054361" y="3944053"/>
            <a:ext cx="247156" cy="209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24</a:t>
            </a:r>
            <a:r>
              <a:rPr lang="ko-KR" altLang="en-US" sz="1200" dirty="0"/>
              <a:t>시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536693" y="394405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10</a:t>
            </a:r>
            <a:r>
              <a:rPr lang="ko-KR" altLang="en-US" sz="1200" dirty="0"/>
              <a:t>시</a:t>
            </a:r>
          </a:p>
        </p:txBody>
      </p:sp>
      <p:sp>
        <p:nvSpPr>
          <p:cNvPr id="166" name="직사각형 165"/>
          <p:cNvSpPr/>
          <p:nvPr/>
        </p:nvSpPr>
        <p:spPr>
          <a:xfrm>
            <a:off x="11517330" y="3195262"/>
            <a:ext cx="101054" cy="472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2212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자유형 163"/>
          <p:cNvSpPr/>
          <p:nvPr/>
        </p:nvSpPr>
        <p:spPr>
          <a:xfrm>
            <a:off x="316446" y="3552836"/>
            <a:ext cx="2811427" cy="565079"/>
          </a:xfrm>
          <a:custGeom>
            <a:avLst/>
            <a:gdLst>
              <a:gd name="connsiteX0" fmla="*/ 0 w 4130211"/>
              <a:gd name="connsiteY0" fmla="*/ 565079 h 565079"/>
              <a:gd name="connsiteX1" fmla="*/ 318499 w 4130211"/>
              <a:gd name="connsiteY1" fmla="*/ 0 h 565079"/>
              <a:gd name="connsiteX2" fmla="*/ 4130211 w 4130211"/>
              <a:gd name="connsiteY2" fmla="*/ 0 h 565079"/>
              <a:gd name="connsiteX3" fmla="*/ 4130211 w 4130211"/>
              <a:gd name="connsiteY3" fmla="*/ 554805 h 56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30211" h="565079">
                <a:moveTo>
                  <a:pt x="0" y="565079"/>
                </a:moveTo>
                <a:lnTo>
                  <a:pt x="318499" y="0"/>
                </a:lnTo>
                <a:lnTo>
                  <a:pt x="4130211" y="0"/>
                </a:lnTo>
                <a:lnTo>
                  <a:pt x="4130211" y="554805"/>
                </a:lnTo>
              </a:path>
            </a:pathLst>
          </a:custGeom>
          <a:pattFill prst="dotGrid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4" name="도넛 43"/>
          <p:cNvSpPr/>
          <p:nvPr/>
        </p:nvSpPr>
        <p:spPr>
          <a:xfrm>
            <a:off x="1722159" y="2989780"/>
            <a:ext cx="856654" cy="825047"/>
          </a:xfrm>
          <a:prstGeom prst="donut">
            <a:avLst>
              <a:gd name="adj" fmla="val 1540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선출원의</a:t>
            </a:r>
            <a:r>
              <a:rPr lang="ko-KR" altLang="en-US" dirty="0"/>
              <a:t> 지위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875" y="986046"/>
            <a:ext cx="119363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선출원주의에서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선후출원의 판단은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선출원의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지위가 있음을 전제</a:t>
            </a:r>
            <a:r>
              <a:rPr lang="ko-KR" altLang="en-US" sz="1400" dirty="0">
                <a:solidFill>
                  <a:schemeClr val="tx2"/>
                </a:solidFill>
              </a:rPr>
              <a:t>로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예를 들어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甲이 </a:t>
            </a:r>
            <a:r>
              <a:rPr lang="en-US" altLang="ko-KR" sz="1400" dirty="0">
                <a:solidFill>
                  <a:schemeClr val="tx2"/>
                </a:solidFill>
              </a:rPr>
              <a:t>A </a:t>
            </a:r>
            <a:r>
              <a:rPr lang="ko-KR" altLang="en-US" sz="1400" dirty="0">
                <a:solidFill>
                  <a:schemeClr val="tx2"/>
                </a:solidFill>
              </a:rPr>
              <a:t>발명을 먼저 출원하고 乙이 </a:t>
            </a:r>
            <a:r>
              <a:rPr lang="en-US" altLang="ko-KR" sz="1400" dirty="0">
                <a:solidFill>
                  <a:schemeClr val="tx2"/>
                </a:solidFill>
              </a:rPr>
              <a:t>A </a:t>
            </a:r>
            <a:r>
              <a:rPr lang="ko-KR" altLang="en-US" sz="1400" dirty="0">
                <a:solidFill>
                  <a:schemeClr val="tx2"/>
                </a:solidFill>
              </a:rPr>
              <a:t>발명을 나중에 출원했다고 하더라도 甲의 출원이 무효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포기 등으로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지위가 없어졌다면 乙의 출원은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선출원주의에</a:t>
            </a:r>
            <a:r>
              <a:rPr lang="ko-KR" altLang="en-US" sz="1400" dirty="0">
                <a:solidFill>
                  <a:schemeClr val="tx2"/>
                </a:solidFill>
              </a:rPr>
              <a:t> 위반되지 아니한다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ⅰ)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특허출원 또는 실용신안등록출원이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무효ㆍ취하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또는 포기되거나 특허거절결정이나 거절한다는 취지의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심결이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확정된 경우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ⅱ)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발명자 또는 고안자가 아닌 자로서 특허를 받을 수 있는 권리 또는 실용신안등록을 받을 수 있는 권리의 승계인이 아닌 자가 한 특허출원 또는 실용신안등록출원</a:t>
            </a:r>
            <a:r>
              <a:rPr lang="ko-KR" altLang="en-US" sz="1400" dirty="0">
                <a:solidFill>
                  <a:schemeClr val="tx2"/>
                </a:solidFill>
              </a:rPr>
              <a:t>의 경우에는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지위가 없다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36④⑤). </a:t>
            </a:r>
            <a:r>
              <a:rPr lang="ko-KR" altLang="en-US" sz="1400" dirty="0">
                <a:solidFill>
                  <a:schemeClr val="tx2"/>
                </a:solidFill>
              </a:rPr>
              <a:t>그러나 </a:t>
            </a:r>
            <a:r>
              <a:rPr lang="ko-KR" altLang="en-US" sz="1400" dirty="0" err="1">
                <a:solidFill>
                  <a:schemeClr val="tx2"/>
                </a:solidFill>
              </a:rPr>
              <a:t>동일자</a:t>
            </a:r>
            <a:r>
              <a:rPr lang="ko-KR" altLang="en-US" sz="1400" dirty="0">
                <a:solidFill>
                  <a:schemeClr val="tx2"/>
                </a:solidFill>
              </a:rPr>
              <a:t> 출원에 대하여 제</a:t>
            </a:r>
            <a:r>
              <a:rPr lang="en-US" altLang="ko-KR" sz="1400" dirty="0">
                <a:solidFill>
                  <a:schemeClr val="tx2"/>
                </a:solidFill>
              </a:rPr>
              <a:t>36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 err="1">
                <a:solidFill>
                  <a:schemeClr val="tx2"/>
                </a:solidFill>
              </a:rPr>
              <a:t>항단서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항에 따라 준용되는 경우를 포함한다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 따른 협의 </a:t>
            </a:r>
            <a:r>
              <a:rPr lang="ko-KR" altLang="en-US" sz="1400" dirty="0" err="1">
                <a:solidFill>
                  <a:schemeClr val="tx2"/>
                </a:solidFill>
              </a:rPr>
              <a:t>불성립</a:t>
            </a:r>
            <a:r>
              <a:rPr lang="ko-KR" altLang="en-US" sz="1400" dirty="0">
                <a:solidFill>
                  <a:schemeClr val="tx2"/>
                </a:solidFill>
              </a:rPr>
              <a:t> 등으로 특허거절결정이나 거절한다는 취지의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경우에는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지위가 인정된다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36④</a:t>
            </a:r>
            <a:r>
              <a:rPr lang="ko-KR" altLang="en-US" sz="1400" dirty="0">
                <a:solidFill>
                  <a:schemeClr val="tx2"/>
                </a:solidFill>
              </a:rPr>
              <a:t>단서</a:t>
            </a:r>
            <a:r>
              <a:rPr lang="en-US" altLang="ko-KR" sz="1400" dirty="0">
                <a:solidFill>
                  <a:schemeClr val="tx2"/>
                </a:solidFill>
              </a:rPr>
              <a:t>).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91" name="직선 연결선 90"/>
          <p:cNvCxnSpPr/>
          <p:nvPr/>
        </p:nvCxnSpPr>
        <p:spPr>
          <a:xfrm>
            <a:off x="0" y="235352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3569970" y="2640458"/>
            <a:ext cx="0" cy="402270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/>
          <p:cNvCxnSpPr>
            <a:stCxn id="164" idx="0"/>
          </p:cNvCxnSpPr>
          <p:nvPr/>
        </p:nvCxnSpPr>
        <p:spPr>
          <a:xfrm>
            <a:off x="316446" y="4117915"/>
            <a:ext cx="305187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1479171" y="3244654"/>
            <a:ext cx="141417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A </a:t>
            </a:r>
            <a:r>
              <a:rPr lang="ko-KR" altLang="en-US" sz="1200" dirty="0" err="1"/>
              <a:t>선출원의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cxnSp>
        <p:nvCxnSpPr>
          <p:cNvPr id="152" name="직선 연결선 151"/>
          <p:cNvCxnSpPr>
            <a:stCxn id="155" idx="2"/>
            <a:endCxn id="153" idx="0"/>
          </p:cNvCxnSpPr>
          <p:nvPr/>
        </p:nvCxnSpPr>
        <p:spPr>
          <a:xfrm>
            <a:off x="1229440" y="4259846"/>
            <a:ext cx="9427" cy="66389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758849" y="4923739"/>
            <a:ext cx="960036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특허출원</a:t>
            </a:r>
            <a:r>
              <a:rPr lang="en-US" altLang="ko-KR" sz="1200" dirty="0"/>
              <a:t>(X)</a:t>
            </a:r>
            <a:endParaRPr lang="ko-KR" altLang="en-US" sz="1050" dirty="0"/>
          </a:p>
        </p:txBody>
      </p:sp>
      <p:sp>
        <p:nvSpPr>
          <p:cNvPr id="155" name="직사각형 154"/>
          <p:cNvSpPr/>
          <p:nvPr/>
        </p:nvSpPr>
        <p:spPr>
          <a:xfrm>
            <a:off x="403729" y="3932029"/>
            <a:ext cx="1651422" cy="3278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특허출원일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96231" y="4311901"/>
            <a:ext cx="3898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0</a:t>
            </a:r>
            <a:r>
              <a:rPr lang="ko-KR" altLang="en-US" sz="1100" dirty="0"/>
              <a:t>시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897413" y="4311901"/>
            <a:ext cx="4683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24</a:t>
            </a:r>
            <a:r>
              <a:rPr lang="ko-KR" altLang="en-US" sz="1100" dirty="0"/>
              <a:t>시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209491" y="4311901"/>
            <a:ext cx="4683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12</a:t>
            </a:r>
            <a:r>
              <a:rPr lang="ko-KR" altLang="en-US" sz="1100" dirty="0"/>
              <a:t>시</a:t>
            </a:r>
          </a:p>
        </p:txBody>
      </p:sp>
      <p:sp>
        <p:nvSpPr>
          <p:cNvPr id="166" name="직사각형 165"/>
          <p:cNvSpPr/>
          <p:nvPr/>
        </p:nvSpPr>
        <p:spPr>
          <a:xfrm>
            <a:off x="3043948" y="3552836"/>
            <a:ext cx="90962" cy="5239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grpSp>
        <p:nvGrpSpPr>
          <p:cNvPr id="36" name="그룹 35"/>
          <p:cNvGrpSpPr/>
          <p:nvPr/>
        </p:nvGrpSpPr>
        <p:grpSpPr>
          <a:xfrm>
            <a:off x="759363" y="5306205"/>
            <a:ext cx="962796" cy="459001"/>
            <a:chOff x="2814293" y="4469336"/>
            <a:chExt cx="1177134" cy="696098"/>
          </a:xfrm>
          <a:solidFill>
            <a:schemeClr val="bg1"/>
          </a:solidFill>
        </p:grpSpPr>
        <p:sp>
          <p:nvSpPr>
            <p:cNvPr id="37" name="직사각형 36"/>
            <p:cNvSpPr/>
            <p:nvPr/>
          </p:nvSpPr>
          <p:spPr>
            <a:xfrm>
              <a:off x="2814293" y="4469336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2814293" y="4817385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A, B, C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직사각형 8"/>
          <p:cNvSpPr/>
          <p:nvPr/>
        </p:nvSpPr>
        <p:spPr>
          <a:xfrm>
            <a:off x="297950" y="3819964"/>
            <a:ext cx="98281" cy="460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5" name="자유형 44"/>
          <p:cNvSpPr/>
          <p:nvPr/>
        </p:nvSpPr>
        <p:spPr>
          <a:xfrm>
            <a:off x="4324965" y="3568032"/>
            <a:ext cx="2811427" cy="565079"/>
          </a:xfrm>
          <a:custGeom>
            <a:avLst/>
            <a:gdLst>
              <a:gd name="connsiteX0" fmla="*/ 0 w 4130211"/>
              <a:gd name="connsiteY0" fmla="*/ 565079 h 565079"/>
              <a:gd name="connsiteX1" fmla="*/ 318499 w 4130211"/>
              <a:gd name="connsiteY1" fmla="*/ 0 h 565079"/>
              <a:gd name="connsiteX2" fmla="*/ 4130211 w 4130211"/>
              <a:gd name="connsiteY2" fmla="*/ 0 h 565079"/>
              <a:gd name="connsiteX3" fmla="*/ 4130211 w 4130211"/>
              <a:gd name="connsiteY3" fmla="*/ 554805 h 56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30211" h="565079">
                <a:moveTo>
                  <a:pt x="0" y="565079"/>
                </a:moveTo>
                <a:lnTo>
                  <a:pt x="318499" y="0"/>
                </a:lnTo>
                <a:lnTo>
                  <a:pt x="4130211" y="0"/>
                </a:lnTo>
                <a:lnTo>
                  <a:pt x="4130211" y="554805"/>
                </a:lnTo>
              </a:path>
            </a:pathLst>
          </a:custGeom>
          <a:pattFill prst="dotGrid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cxnSp>
        <p:nvCxnSpPr>
          <p:cNvPr id="46" name="직선 연결선 45"/>
          <p:cNvCxnSpPr>
            <a:stCxn id="45" idx="0"/>
          </p:cNvCxnSpPr>
          <p:nvPr/>
        </p:nvCxnSpPr>
        <p:spPr>
          <a:xfrm>
            <a:off x="4324965" y="4133111"/>
            <a:ext cx="305187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>
            <a:endCxn id="49" idx="0"/>
          </p:cNvCxnSpPr>
          <p:nvPr/>
        </p:nvCxnSpPr>
        <p:spPr>
          <a:xfrm>
            <a:off x="4331836" y="4133111"/>
            <a:ext cx="1" cy="30239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867044" y="4435509"/>
            <a:ext cx="929585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특허출원</a:t>
            </a:r>
            <a:r>
              <a:rPr lang="en-US" altLang="ko-KR" sz="1200" dirty="0"/>
              <a:t>(X)</a:t>
            </a:r>
            <a:endParaRPr lang="ko-KR" altLang="en-US" sz="1050" dirty="0"/>
          </a:p>
        </p:txBody>
      </p:sp>
      <p:sp>
        <p:nvSpPr>
          <p:cNvPr id="54" name="직사각형 53"/>
          <p:cNvSpPr/>
          <p:nvPr/>
        </p:nvSpPr>
        <p:spPr>
          <a:xfrm>
            <a:off x="7093563" y="3568032"/>
            <a:ext cx="90962" cy="5239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grpSp>
        <p:nvGrpSpPr>
          <p:cNvPr id="55" name="그룹 54"/>
          <p:cNvGrpSpPr/>
          <p:nvPr/>
        </p:nvGrpSpPr>
        <p:grpSpPr>
          <a:xfrm>
            <a:off x="3867602" y="4817975"/>
            <a:ext cx="932256" cy="612001"/>
            <a:chOff x="2814293" y="4469336"/>
            <a:chExt cx="1177134" cy="696098"/>
          </a:xfrm>
          <a:solidFill>
            <a:schemeClr val="bg1"/>
          </a:solidFill>
        </p:grpSpPr>
        <p:sp>
          <p:nvSpPr>
            <p:cNvPr id="56" name="직사각형 55"/>
            <p:cNvSpPr/>
            <p:nvPr/>
          </p:nvSpPr>
          <p:spPr>
            <a:xfrm>
              <a:off x="2814293" y="4469336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2814293" y="4817385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A, B, C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65" name="직선 연결선 64"/>
          <p:cNvCxnSpPr>
            <a:endCxn id="66" idx="0"/>
          </p:cNvCxnSpPr>
          <p:nvPr/>
        </p:nvCxnSpPr>
        <p:spPr>
          <a:xfrm>
            <a:off x="5492183" y="4133111"/>
            <a:ext cx="1" cy="30239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105681" y="4435509"/>
            <a:ext cx="773005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취하</a:t>
            </a:r>
            <a:r>
              <a:rPr lang="en-US" altLang="ko-KR" sz="1200" dirty="0"/>
              <a:t>(X)</a:t>
            </a:r>
            <a:endParaRPr lang="ko-KR" altLang="en-US" sz="1050" dirty="0"/>
          </a:p>
        </p:txBody>
      </p:sp>
      <p:cxnSp>
        <p:nvCxnSpPr>
          <p:cNvPr id="71" name="직선 연결선 70"/>
          <p:cNvCxnSpPr>
            <a:endCxn id="72" idx="0"/>
          </p:cNvCxnSpPr>
          <p:nvPr/>
        </p:nvCxnSpPr>
        <p:spPr>
          <a:xfrm>
            <a:off x="2792552" y="4180987"/>
            <a:ext cx="0" cy="44480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2312534" y="4625793"/>
            <a:ext cx="960036" cy="2769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특허출원</a:t>
            </a:r>
            <a:r>
              <a:rPr lang="en-US" altLang="ko-KR" sz="1200" dirty="0"/>
              <a:t>(Y)</a:t>
            </a:r>
            <a:endParaRPr lang="ko-KR" altLang="en-US" sz="1050" dirty="0"/>
          </a:p>
        </p:txBody>
      </p:sp>
      <p:grpSp>
        <p:nvGrpSpPr>
          <p:cNvPr id="74" name="그룹 73"/>
          <p:cNvGrpSpPr/>
          <p:nvPr/>
        </p:nvGrpSpPr>
        <p:grpSpPr>
          <a:xfrm>
            <a:off x="2313048" y="5008259"/>
            <a:ext cx="962796" cy="459001"/>
            <a:chOff x="2814293" y="4469336"/>
            <a:chExt cx="1177134" cy="696098"/>
          </a:xfrm>
          <a:solidFill>
            <a:schemeClr val="bg1"/>
          </a:solidFill>
        </p:grpSpPr>
        <p:sp>
          <p:nvSpPr>
            <p:cNvPr id="75" name="직사각형 74"/>
            <p:cNvSpPr/>
            <p:nvPr/>
          </p:nvSpPr>
          <p:spPr>
            <a:xfrm>
              <a:off x="2814293" y="4469336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2814293" y="4817385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79" name="아래쪽 화살표 78"/>
          <p:cNvSpPr/>
          <p:nvPr/>
        </p:nvSpPr>
        <p:spPr>
          <a:xfrm>
            <a:off x="2472021" y="5520688"/>
            <a:ext cx="647368" cy="349321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1" name="TextBox 40"/>
          <p:cNvSpPr txBox="1"/>
          <p:nvPr/>
        </p:nvSpPr>
        <p:spPr>
          <a:xfrm>
            <a:off x="2376359" y="5954344"/>
            <a:ext cx="8386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제</a:t>
            </a:r>
            <a:r>
              <a:rPr lang="en-US" altLang="ko-KR" sz="1600" dirty="0">
                <a:solidFill>
                  <a:srgbClr val="FF0000"/>
                </a:solidFill>
              </a:rPr>
              <a:t>36</a:t>
            </a:r>
            <a:r>
              <a:rPr lang="ko-KR" altLang="en-US" sz="1600" dirty="0">
                <a:solidFill>
                  <a:srgbClr val="FF0000"/>
                </a:solidFill>
              </a:rPr>
              <a:t>조 </a:t>
            </a:r>
            <a:endParaRPr lang="en-US" altLang="ko-KR" sz="16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위반○</a:t>
            </a:r>
          </a:p>
        </p:txBody>
      </p:sp>
      <p:cxnSp>
        <p:nvCxnSpPr>
          <p:cNvPr id="81" name="직선 연결선 80"/>
          <p:cNvCxnSpPr>
            <a:endCxn id="82" idx="0"/>
          </p:cNvCxnSpPr>
          <p:nvPr/>
        </p:nvCxnSpPr>
        <p:spPr>
          <a:xfrm>
            <a:off x="6606170" y="4144591"/>
            <a:ext cx="0" cy="44480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6126152" y="4589397"/>
            <a:ext cx="960036" cy="2769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특허출원</a:t>
            </a:r>
            <a:r>
              <a:rPr lang="en-US" altLang="ko-KR" sz="1200" dirty="0"/>
              <a:t>(Y)</a:t>
            </a:r>
            <a:endParaRPr lang="ko-KR" altLang="en-US" sz="1050" dirty="0"/>
          </a:p>
        </p:txBody>
      </p:sp>
      <p:grpSp>
        <p:nvGrpSpPr>
          <p:cNvPr id="83" name="그룹 82"/>
          <p:cNvGrpSpPr/>
          <p:nvPr/>
        </p:nvGrpSpPr>
        <p:grpSpPr>
          <a:xfrm>
            <a:off x="6126666" y="4971863"/>
            <a:ext cx="962796" cy="459001"/>
            <a:chOff x="2814293" y="4469336"/>
            <a:chExt cx="1177134" cy="696098"/>
          </a:xfrm>
          <a:solidFill>
            <a:schemeClr val="bg1"/>
          </a:solidFill>
        </p:grpSpPr>
        <p:sp>
          <p:nvSpPr>
            <p:cNvPr id="84" name="직사각형 83"/>
            <p:cNvSpPr/>
            <p:nvPr/>
          </p:nvSpPr>
          <p:spPr>
            <a:xfrm>
              <a:off x="2814293" y="4469336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85" name="직사각형 84"/>
            <p:cNvSpPr/>
            <p:nvPr/>
          </p:nvSpPr>
          <p:spPr>
            <a:xfrm>
              <a:off x="2814293" y="4817385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86" name="아래쪽 화살표 85"/>
          <p:cNvSpPr/>
          <p:nvPr/>
        </p:nvSpPr>
        <p:spPr>
          <a:xfrm>
            <a:off x="6285638" y="5484292"/>
            <a:ext cx="647368" cy="349321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87" name="TextBox 86"/>
          <p:cNvSpPr txBox="1"/>
          <p:nvPr/>
        </p:nvSpPr>
        <p:spPr>
          <a:xfrm>
            <a:off x="6189977" y="5917948"/>
            <a:ext cx="8386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제</a:t>
            </a:r>
            <a:r>
              <a:rPr lang="en-US" altLang="ko-KR" sz="1600" dirty="0">
                <a:solidFill>
                  <a:srgbClr val="FF0000"/>
                </a:solidFill>
              </a:rPr>
              <a:t>36</a:t>
            </a:r>
            <a:r>
              <a:rPr lang="ko-KR" altLang="en-US" sz="1600" dirty="0">
                <a:solidFill>
                  <a:srgbClr val="FF0000"/>
                </a:solidFill>
              </a:rPr>
              <a:t>조 </a:t>
            </a:r>
            <a:endParaRPr lang="en-US" altLang="ko-KR" sz="16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위반</a:t>
            </a:r>
            <a:r>
              <a:rPr lang="en-US" altLang="ko-KR" sz="1600" dirty="0">
                <a:solidFill>
                  <a:srgbClr val="FF0000"/>
                </a:solidFill>
              </a:rPr>
              <a:t>×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cxnSp>
        <p:nvCxnSpPr>
          <p:cNvPr id="88" name="직선 연결선 87"/>
          <p:cNvCxnSpPr/>
          <p:nvPr/>
        </p:nvCxnSpPr>
        <p:spPr>
          <a:xfrm>
            <a:off x="7689911" y="2640458"/>
            <a:ext cx="0" cy="402270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곱셈 기호 58"/>
          <p:cNvSpPr/>
          <p:nvPr/>
        </p:nvSpPr>
        <p:spPr>
          <a:xfrm>
            <a:off x="5229546" y="2856218"/>
            <a:ext cx="1125671" cy="1154811"/>
          </a:xfrm>
          <a:prstGeom prst="mathMultiply">
            <a:avLst>
              <a:gd name="adj1" fmla="val 1530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5043787" y="3290672"/>
            <a:ext cx="141417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A </a:t>
            </a:r>
            <a:r>
              <a:rPr lang="ko-KR" altLang="en-US" sz="1200" dirty="0" err="1"/>
              <a:t>선출원의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sp>
        <p:nvSpPr>
          <p:cNvPr id="110" name="자유형 109"/>
          <p:cNvSpPr/>
          <p:nvPr/>
        </p:nvSpPr>
        <p:spPr>
          <a:xfrm>
            <a:off x="8569066" y="3568032"/>
            <a:ext cx="2811427" cy="565079"/>
          </a:xfrm>
          <a:custGeom>
            <a:avLst/>
            <a:gdLst>
              <a:gd name="connsiteX0" fmla="*/ 0 w 4130211"/>
              <a:gd name="connsiteY0" fmla="*/ 565079 h 565079"/>
              <a:gd name="connsiteX1" fmla="*/ 318499 w 4130211"/>
              <a:gd name="connsiteY1" fmla="*/ 0 h 565079"/>
              <a:gd name="connsiteX2" fmla="*/ 4130211 w 4130211"/>
              <a:gd name="connsiteY2" fmla="*/ 0 h 565079"/>
              <a:gd name="connsiteX3" fmla="*/ 4130211 w 4130211"/>
              <a:gd name="connsiteY3" fmla="*/ 554805 h 56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30211" h="565079">
                <a:moveTo>
                  <a:pt x="0" y="565079"/>
                </a:moveTo>
                <a:lnTo>
                  <a:pt x="318499" y="0"/>
                </a:lnTo>
                <a:lnTo>
                  <a:pt x="4130211" y="0"/>
                </a:lnTo>
                <a:lnTo>
                  <a:pt x="4130211" y="554805"/>
                </a:lnTo>
              </a:path>
            </a:pathLst>
          </a:custGeom>
          <a:pattFill prst="dotGrid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cxnSp>
        <p:nvCxnSpPr>
          <p:cNvPr id="111" name="직선 연결선 110"/>
          <p:cNvCxnSpPr>
            <a:stCxn id="110" idx="0"/>
          </p:cNvCxnSpPr>
          <p:nvPr/>
        </p:nvCxnSpPr>
        <p:spPr>
          <a:xfrm>
            <a:off x="8569066" y="4133111"/>
            <a:ext cx="305187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/>
          <p:cNvCxnSpPr>
            <a:endCxn id="113" idx="0"/>
          </p:cNvCxnSpPr>
          <p:nvPr/>
        </p:nvCxnSpPr>
        <p:spPr>
          <a:xfrm>
            <a:off x="8575937" y="4133111"/>
            <a:ext cx="1" cy="30239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8111145" y="4435509"/>
            <a:ext cx="929585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특허출원</a:t>
            </a:r>
            <a:r>
              <a:rPr lang="en-US" altLang="ko-KR" sz="1200" dirty="0"/>
              <a:t>(X)</a:t>
            </a:r>
            <a:endParaRPr lang="ko-KR" altLang="en-US" sz="1050" dirty="0"/>
          </a:p>
        </p:txBody>
      </p:sp>
      <p:sp>
        <p:nvSpPr>
          <p:cNvPr id="114" name="직사각형 113"/>
          <p:cNvSpPr/>
          <p:nvPr/>
        </p:nvSpPr>
        <p:spPr>
          <a:xfrm>
            <a:off x="11337664" y="3568032"/>
            <a:ext cx="90962" cy="5239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grpSp>
        <p:nvGrpSpPr>
          <p:cNvPr id="115" name="그룹 114"/>
          <p:cNvGrpSpPr/>
          <p:nvPr/>
        </p:nvGrpSpPr>
        <p:grpSpPr>
          <a:xfrm>
            <a:off x="8111703" y="4817975"/>
            <a:ext cx="932256" cy="612001"/>
            <a:chOff x="2814293" y="4469336"/>
            <a:chExt cx="1177134" cy="696098"/>
          </a:xfrm>
          <a:solidFill>
            <a:schemeClr val="bg1"/>
          </a:solidFill>
        </p:grpSpPr>
        <p:sp>
          <p:nvSpPr>
            <p:cNvPr id="116" name="직사각형 115"/>
            <p:cNvSpPr/>
            <p:nvPr/>
          </p:nvSpPr>
          <p:spPr>
            <a:xfrm>
              <a:off x="2814293" y="4469336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17" name="직사각형 116"/>
            <p:cNvSpPr/>
            <p:nvPr/>
          </p:nvSpPr>
          <p:spPr>
            <a:xfrm>
              <a:off x="2814293" y="4817385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A, B, C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18" name="직선 연결선 117"/>
          <p:cNvCxnSpPr>
            <a:endCxn id="119" idx="0"/>
          </p:cNvCxnSpPr>
          <p:nvPr/>
        </p:nvCxnSpPr>
        <p:spPr>
          <a:xfrm>
            <a:off x="9856399" y="4180987"/>
            <a:ext cx="0" cy="25452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9192061" y="4435509"/>
            <a:ext cx="1328676" cy="4385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거절결정확정</a:t>
            </a:r>
            <a:r>
              <a:rPr lang="en-US" altLang="ko-KR" sz="1200" dirty="0"/>
              <a:t>(X,Z)</a:t>
            </a:r>
          </a:p>
          <a:p>
            <a:pPr algn="ctr"/>
            <a:r>
              <a:rPr lang="en-US" altLang="ko-KR" sz="1050" dirty="0"/>
              <a:t>(</a:t>
            </a:r>
            <a:r>
              <a:rPr lang="ko-KR" altLang="en-US" sz="1050" dirty="0" err="1"/>
              <a:t>협의불성립</a:t>
            </a:r>
            <a:r>
              <a:rPr lang="en-US" altLang="ko-KR" sz="1050" dirty="0"/>
              <a:t>)</a:t>
            </a:r>
            <a:endParaRPr lang="ko-KR" altLang="en-US" sz="900" dirty="0"/>
          </a:p>
        </p:txBody>
      </p:sp>
      <p:cxnSp>
        <p:nvCxnSpPr>
          <p:cNvPr id="120" name="직선 연결선 119"/>
          <p:cNvCxnSpPr>
            <a:endCxn id="121" idx="0"/>
          </p:cNvCxnSpPr>
          <p:nvPr/>
        </p:nvCxnSpPr>
        <p:spPr>
          <a:xfrm>
            <a:off x="11107121" y="4144591"/>
            <a:ext cx="0" cy="44480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10627103" y="4589397"/>
            <a:ext cx="960036" cy="2769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특허출원</a:t>
            </a:r>
            <a:r>
              <a:rPr lang="en-US" altLang="ko-KR" sz="1200" dirty="0"/>
              <a:t>(Y)</a:t>
            </a:r>
            <a:endParaRPr lang="ko-KR" altLang="en-US" sz="1050" dirty="0"/>
          </a:p>
        </p:txBody>
      </p:sp>
      <p:grpSp>
        <p:nvGrpSpPr>
          <p:cNvPr id="122" name="그룹 121"/>
          <p:cNvGrpSpPr/>
          <p:nvPr/>
        </p:nvGrpSpPr>
        <p:grpSpPr>
          <a:xfrm>
            <a:off x="10627617" y="4971863"/>
            <a:ext cx="962796" cy="459001"/>
            <a:chOff x="2814293" y="4469336"/>
            <a:chExt cx="1177134" cy="696098"/>
          </a:xfrm>
          <a:solidFill>
            <a:schemeClr val="bg1"/>
          </a:solidFill>
        </p:grpSpPr>
        <p:sp>
          <p:nvSpPr>
            <p:cNvPr id="123" name="직사각형 122"/>
            <p:cNvSpPr/>
            <p:nvPr/>
          </p:nvSpPr>
          <p:spPr>
            <a:xfrm>
              <a:off x="2814293" y="4469336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24" name="직사각형 123"/>
            <p:cNvSpPr/>
            <p:nvPr/>
          </p:nvSpPr>
          <p:spPr>
            <a:xfrm>
              <a:off x="2814293" y="4817385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125" name="아래쪽 화살표 124"/>
          <p:cNvSpPr/>
          <p:nvPr/>
        </p:nvSpPr>
        <p:spPr>
          <a:xfrm>
            <a:off x="10786589" y="5484292"/>
            <a:ext cx="647368" cy="349321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26" name="TextBox 125"/>
          <p:cNvSpPr txBox="1"/>
          <p:nvPr/>
        </p:nvSpPr>
        <p:spPr>
          <a:xfrm>
            <a:off x="10690928" y="5917948"/>
            <a:ext cx="8386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제</a:t>
            </a:r>
            <a:r>
              <a:rPr lang="en-US" altLang="ko-KR" sz="1600" dirty="0">
                <a:solidFill>
                  <a:srgbClr val="FF0000"/>
                </a:solidFill>
              </a:rPr>
              <a:t>36</a:t>
            </a:r>
            <a:r>
              <a:rPr lang="ko-KR" altLang="en-US" sz="1600" dirty="0">
                <a:solidFill>
                  <a:srgbClr val="FF0000"/>
                </a:solidFill>
              </a:rPr>
              <a:t>조 </a:t>
            </a:r>
            <a:endParaRPr lang="en-US" altLang="ko-KR" sz="16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위반 ○</a:t>
            </a:r>
          </a:p>
        </p:txBody>
      </p:sp>
      <p:cxnSp>
        <p:nvCxnSpPr>
          <p:cNvPr id="129" name="직선 연결선 128"/>
          <p:cNvCxnSpPr>
            <a:stCxn id="110" idx="0"/>
            <a:endCxn id="130" idx="0"/>
          </p:cNvCxnSpPr>
          <p:nvPr/>
        </p:nvCxnSpPr>
        <p:spPr>
          <a:xfrm flipV="1">
            <a:off x="8569066" y="3201759"/>
            <a:ext cx="6872" cy="9313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8111145" y="3201759"/>
            <a:ext cx="929585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특허출원</a:t>
            </a:r>
            <a:r>
              <a:rPr lang="en-US" altLang="ko-KR" sz="1200" dirty="0"/>
              <a:t>(Z)</a:t>
            </a:r>
            <a:endParaRPr lang="ko-KR" altLang="en-US" sz="1050" dirty="0"/>
          </a:p>
        </p:txBody>
      </p:sp>
      <p:grpSp>
        <p:nvGrpSpPr>
          <p:cNvPr id="131" name="그룹 130"/>
          <p:cNvGrpSpPr/>
          <p:nvPr/>
        </p:nvGrpSpPr>
        <p:grpSpPr>
          <a:xfrm>
            <a:off x="8111703" y="2526003"/>
            <a:ext cx="932256" cy="612001"/>
            <a:chOff x="2814293" y="4469336"/>
            <a:chExt cx="1177134" cy="696098"/>
          </a:xfrm>
          <a:solidFill>
            <a:schemeClr val="bg1"/>
          </a:solidFill>
        </p:grpSpPr>
        <p:sp>
          <p:nvSpPr>
            <p:cNvPr id="132" name="직사각형 131"/>
            <p:cNvSpPr/>
            <p:nvPr/>
          </p:nvSpPr>
          <p:spPr>
            <a:xfrm>
              <a:off x="2814293" y="4469336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33" name="직사각형 132"/>
            <p:cNvSpPr/>
            <p:nvPr/>
          </p:nvSpPr>
          <p:spPr>
            <a:xfrm>
              <a:off x="2814293" y="4817385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A, B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139" name="도넛 138"/>
          <p:cNvSpPr/>
          <p:nvPr/>
        </p:nvSpPr>
        <p:spPr>
          <a:xfrm>
            <a:off x="9546452" y="2989780"/>
            <a:ext cx="856654" cy="825047"/>
          </a:xfrm>
          <a:prstGeom prst="donut">
            <a:avLst>
              <a:gd name="adj" fmla="val 1540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9287888" y="3290672"/>
            <a:ext cx="158569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A </a:t>
            </a:r>
            <a:r>
              <a:rPr lang="ko-KR" altLang="en-US" sz="1200" dirty="0" err="1"/>
              <a:t>선출원의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(X,Z)</a:t>
            </a:r>
            <a:endParaRPr lang="ko-KR" altLang="en-US" sz="12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80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85743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선출원주의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36</a:t>
            </a:r>
            <a:r>
              <a:rPr lang="ko-KR" altLang="en-US" dirty="0"/>
              <a:t>조</a:t>
            </a:r>
            <a:r>
              <a:rPr lang="en-US" altLang="ko-KR" dirty="0"/>
              <a:t>)</a:t>
            </a:r>
            <a:r>
              <a:rPr lang="ko-KR" altLang="en-US"/>
              <a:t>의 법조문</a:t>
            </a:r>
            <a:endParaRPr lang="ko-KR" altLang="en-US" dirty="0"/>
          </a:p>
        </p:txBody>
      </p:sp>
      <p:sp>
        <p:nvSpPr>
          <p:cNvPr id="77" name="직사각형 76"/>
          <p:cNvSpPr/>
          <p:nvPr/>
        </p:nvSpPr>
        <p:spPr>
          <a:xfrm>
            <a:off x="634521" y="4829547"/>
            <a:ext cx="1429725" cy="65617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선출원주의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ctr"/>
            <a:r>
              <a:rPr lang="en-US" altLang="ko-KR" sz="1600" dirty="0">
                <a:solidFill>
                  <a:schemeClr val="bg1"/>
                </a:solidFill>
              </a:rPr>
              <a:t>(</a:t>
            </a:r>
            <a:r>
              <a:rPr lang="ko-KR" altLang="en-US" sz="1600" dirty="0">
                <a:solidFill>
                  <a:schemeClr val="bg1"/>
                </a:solidFill>
              </a:rPr>
              <a:t>法 </a:t>
            </a:r>
            <a:r>
              <a:rPr lang="en-US" altLang="ko-KR" sz="1600" dirty="0">
                <a:solidFill>
                  <a:schemeClr val="bg1"/>
                </a:solidFill>
              </a:rPr>
              <a:t>36)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2848603" y="4324360"/>
            <a:ext cx="1833936" cy="3945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" marR="17780" algn="ctr" fontAlgn="base">
              <a:lnSpc>
                <a:spcPct val="130000"/>
              </a:lnSpc>
            </a:pPr>
            <a:r>
              <a:rPr lang="ko-KR" altLang="en-US" sz="1200" dirty="0" err="1">
                <a:solidFill>
                  <a:schemeClr val="tx1"/>
                </a:solidFill>
              </a:rPr>
              <a:t>이일출원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2848603" y="4959626"/>
            <a:ext cx="1833936" cy="3945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" marR="17780" algn="ctr" fontAlgn="base">
              <a:lnSpc>
                <a:spcPct val="13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동일출원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2848603" y="5565443"/>
            <a:ext cx="1833936" cy="3945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" marR="17780" algn="ctr" fontAlgn="base"/>
            <a:r>
              <a:rPr lang="ko-KR" altLang="en-US" sz="1200" dirty="0" err="1">
                <a:solidFill>
                  <a:schemeClr val="tx1"/>
                </a:solidFill>
              </a:rPr>
              <a:t>선출원의</a:t>
            </a:r>
            <a:r>
              <a:rPr lang="ko-KR" altLang="en-US" sz="1200" dirty="0">
                <a:solidFill>
                  <a:schemeClr val="tx1"/>
                </a:solidFill>
              </a:rPr>
              <a:t> 지위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17780" marR="17780" algn="ctr" fontAlgn="base"/>
            <a:r>
              <a:rPr lang="ko-KR" altLang="en-US" sz="1200" dirty="0">
                <a:solidFill>
                  <a:schemeClr val="tx1"/>
                </a:solidFill>
              </a:rPr>
              <a:t>인정 여부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7" name="꺾인 연결선 6"/>
          <p:cNvCxnSpPr>
            <a:cxnSpLocks/>
            <a:stCxn id="77" idx="3"/>
            <a:endCxn id="80" idx="1"/>
          </p:cNvCxnSpPr>
          <p:nvPr/>
        </p:nvCxnSpPr>
        <p:spPr>
          <a:xfrm flipV="1">
            <a:off x="2064246" y="4521646"/>
            <a:ext cx="784357" cy="635986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꺾인 연결선 9"/>
          <p:cNvCxnSpPr>
            <a:cxnSpLocks/>
            <a:stCxn id="77" idx="3"/>
            <a:endCxn id="89" idx="1"/>
          </p:cNvCxnSpPr>
          <p:nvPr/>
        </p:nvCxnSpPr>
        <p:spPr>
          <a:xfrm flipV="1">
            <a:off x="2064246" y="5156912"/>
            <a:ext cx="784357" cy="72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 11"/>
          <p:cNvCxnSpPr>
            <a:cxnSpLocks/>
            <a:stCxn id="77" idx="3"/>
            <a:endCxn id="92" idx="1"/>
          </p:cNvCxnSpPr>
          <p:nvPr/>
        </p:nvCxnSpPr>
        <p:spPr>
          <a:xfrm>
            <a:off x="2064246" y="5157632"/>
            <a:ext cx="784357" cy="605097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/>
          <p:cNvSpPr/>
          <p:nvPr/>
        </p:nvSpPr>
        <p:spPr>
          <a:xfrm>
            <a:off x="4995905" y="5565442"/>
            <a:ext cx="1833936" cy="3945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" marR="17780" algn="ctr" fontAlgn="base"/>
            <a:r>
              <a:rPr lang="ko-KR" altLang="en-US" sz="1200" dirty="0" err="1">
                <a:solidFill>
                  <a:schemeClr val="tx1"/>
                </a:solidFill>
              </a:rPr>
              <a:t>선출원</a:t>
            </a:r>
            <a:r>
              <a:rPr lang="ko-KR" altLang="en-US" sz="1200" dirty="0">
                <a:solidFill>
                  <a:schemeClr val="tx1"/>
                </a:solidFill>
              </a:rPr>
              <a:t> 지위가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17780" marR="17780" algn="ctr" fontAlgn="base"/>
            <a:r>
              <a:rPr lang="ko-KR" altLang="en-US" sz="1200" dirty="0">
                <a:solidFill>
                  <a:schemeClr val="tx1"/>
                </a:solidFill>
              </a:rPr>
              <a:t>없는 경우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4995905" y="6171258"/>
            <a:ext cx="1833936" cy="3945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" marR="17780" algn="ctr" fontAlgn="base"/>
            <a:r>
              <a:rPr lang="ko-KR" altLang="en-US" sz="1200" dirty="0" err="1">
                <a:solidFill>
                  <a:schemeClr val="tx1"/>
                </a:solidFill>
              </a:rPr>
              <a:t>선출원의</a:t>
            </a:r>
            <a:r>
              <a:rPr lang="ko-KR" altLang="en-US" sz="1200" dirty="0">
                <a:solidFill>
                  <a:schemeClr val="tx1"/>
                </a:solidFill>
              </a:rPr>
              <a:t> 지위가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17780" marR="17780" algn="ctr" fontAlgn="base"/>
            <a:r>
              <a:rPr lang="ko-KR" altLang="en-US" sz="1200" dirty="0">
                <a:solidFill>
                  <a:schemeClr val="tx1"/>
                </a:solidFill>
              </a:rPr>
              <a:t>있는 경우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22" name="꺾인 연결선 21"/>
          <p:cNvCxnSpPr>
            <a:stCxn id="92" idx="3"/>
            <a:endCxn id="100" idx="1"/>
          </p:cNvCxnSpPr>
          <p:nvPr/>
        </p:nvCxnSpPr>
        <p:spPr>
          <a:xfrm>
            <a:off x="4682539" y="5762728"/>
            <a:ext cx="313366" cy="605816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stCxn id="92" idx="3"/>
            <a:endCxn id="99" idx="1"/>
          </p:cNvCxnSpPr>
          <p:nvPr/>
        </p:nvCxnSpPr>
        <p:spPr>
          <a:xfrm flipV="1">
            <a:off x="4682539" y="5762728"/>
            <a:ext cx="313366" cy="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직사각형 105"/>
          <p:cNvSpPr/>
          <p:nvPr/>
        </p:nvSpPr>
        <p:spPr>
          <a:xfrm>
            <a:off x="4810967" y="4324360"/>
            <a:ext cx="3786030" cy="394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3530" marR="17780" indent="-285750" fontAlgn="base">
              <a:lnSpc>
                <a:spcPct val="130000"/>
              </a:lnSpc>
              <a:buFont typeface="Wingdings" pitchFamily="2" charset="2"/>
              <a:buChar char="§"/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최선의 출원인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36①③)</a:t>
            </a:r>
          </a:p>
        </p:txBody>
      </p:sp>
      <p:sp>
        <p:nvSpPr>
          <p:cNvPr id="107" name="직사각형 106"/>
          <p:cNvSpPr/>
          <p:nvPr/>
        </p:nvSpPr>
        <p:spPr>
          <a:xfrm>
            <a:off x="4810967" y="4959625"/>
            <a:ext cx="3786030" cy="394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3530" marR="17780" indent="-285750" fontAlgn="base">
              <a:buFont typeface="Wingdings" pitchFamily="2" charset="2"/>
              <a:buChar char="§"/>
            </a:pPr>
            <a:r>
              <a:rPr lang="ko-KR" altLang="en-US" sz="1200" dirty="0" err="1">
                <a:solidFill>
                  <a:schemeClr val="bg2">
                    <a:lumMod val="50000"/>
                  </a:schemeClr>
                </a:solidFill>
              </a:rPr>
              <a:t>협의제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36②③)</a:t>
            </a:r>
          </a:p>
          <a:p>
            <a:pPr marL="303530" marR="17780" indent="-285750" fontAlgn="base">
              <a:buFont typeface="Wingdings" pitchFamily="2" charset="2"/>
              <a:buChar char="§"/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협의명령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36⑥)</a:t>
            </a:r>
          </a:p>
        </p:txBody>
      </p:sp>
      <p:sp>
        <p:nvSpPr>
          <p:cNvPr id="108" name="직사각형 107"/>
          <p:cNvSpPr/>
          <p:nvPr/>
        </p:nvSpPr>
        <p:spPr>
          <a:xfrm>
            <a:off x="6958269" y="5565441"/>
            <a:ext cx="4649055" cy="394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3530" marR="17780" indent="-285750" fontAlgn="base">
              <a:buFont typeface="Wingdings" pitchFamily="2" charset="2"/>
              <a:buChar char="§"/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출원의 </a:t>
            </a:r>
            <a:r>
              <a:rPr lang="ko-KR" altLang="en-US" sz="1200" dirty="0" err="1">
                <a:solidFill>
                  <a:schemeClr val="bg2">
                    <a:lumMod val="50000"/>
                  </a:schemeClr>
                </a:solidFill>
              </a:rPr>
              <a:t>무효ㆍ취하ㆍ포기ㆍ거절결정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 확정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36④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본문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)</a:t>
            </a:r>
          </a:p>
          <a:p>
            <a:pPr marL="303530" marR="17780" indent="-285750" fontAlgn="base">
              <a:buFont typeface="Wingdings" pitchFamily="2" charset="2"/>
              <a:buChar char="§"/>
            </a:pPr>
            <a:r>
              <a:rPr lang="ko-KR" altLang="en-US" sz="1200" dirty="0" err="1">
                <a:solidFill>
                  <a:schemeClr val="bg2">
                    <a:lumMod val="50000"/>
                  </a:schemeClr>
                </a:solidFill>
              </a:rPr>
              <a:t>무권리자출원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36⑤)</a:t>
            </a:r>
          </a:p>
        </p:txBody>
      </p:sp>
      <p:sp>
        <p:nvSpPr>
          <p:cNvPr id="109" name="직사각형 108"/>
          <p:cNvSpPr/>
          <p:nvPr/>
        </p:nvSpPr>
        <p:spPr>
          <a:xfrm>
            <a:off x="6958269" y="6171257"/>
            <a:ext cx="4649055" cy="394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3530" marR="17780" indent="-285750" fontAlgn="base">
              <a:buFont typeface="Wingdings" pitchFamily="2" charset="2"/>
              <a:buChar char="§"/>
            </a:pPr>
            <a:r>
              <a:rPr lang="ko-KR" altLang="en-US" sz="1200" dirty="0" err="1">
                <a:solidFill>
                  <a:schemeClr val="bg2">
                    <a:lumMod val="50000"/>
                  </a:schemeClr>
                </a:solidFill>
              </a:rPr>
              <a:t>협의불성립으로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 거절결정 확정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36④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단서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875" y="986046"/>
            <a:ext cx="1193632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36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 err="1">
                <a:solidFill>
                  <a:schemeClr val="accent1"/>
                </a:solidFill>
              </a:rPr>
              <a:t>선출원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동일한 발명에 대하여 다른 날에 둘 이상의 특허출원이 있는 경우에는 먼저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특허출원한</a:t>
            </a:r>
            <a:r>
              <a:rPr lang="ko-KR" altLang="en-US" sz="1400" dirty="0">
                <a:solidFill>
                  <a:schemeClr val="tx2"/>
                </a:solidFill>
              </a:rPr>
              <a:t> 자만이 그 발명에 대하여 특허를 받을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동일한 발명에 대하여 같은 날에 둘 이상의 특허출원이 있는 경우에는 특허출원인 간에 협의하여 정한 하나의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특허출원인만이</a:t>
            </a:r>
            <a:r>
              <a:rPr lang="ko-KR" altLang="en-US" sz="1400" dirty="0">
                <a:solidFill>
                  <a:schemeClr val="tx2"/>
                </a:solidFill>
              </a:rPr>
              <a:t> 그 발명에 대하여 특허를 받을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협의가 성립하지 아니하거나 협의를 할 수 없는 경우에는 어느 특허출원인도 그 발명에 대하여 특허를 받을 수 없다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특허출원된</a:t>
            </a:r>
            <a:r>
              <a:rPr lang="ko-KR" altLang="en-US" sz="1400" dirty="0">
                <a:solidFill>
                  <a:schemeClr val="tx2"/>
                </a:solidFill>
              </a:rPr>
              <a:t> 발명과 </a:t>
            </a:r>
            <a:r>
              <a:rPr lang="ko-KR" altLang="en-US" sz="1400" dirty="0" err="1">
                <a:solidFill>
                  <a:schemeClr val="tx2"/>
                </a:solidFill>
              </a:rPr>
              <a:t>실용신안등록출원된</a:t>
            </a:r>
            <a:r>
              <a:rPr lang="ko-KR" altLang="en-US" sz="1400" dirty="0">
                <a:solidFill>
                  <a:schemeClr val="tx2"/>
                </a:solidFill>
              </a:rPr>
              <a:t> 고안이 동일한 경우 그 특허출원과 실용신안등록출원이 다른 날에 출원된 것이면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항을 준용하고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그 특허출원과 실용신안등록출원이 같은 날에 출원된 것이면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항을 준용한다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④ </a:t>
            </a:r>
            <a:r>
              <a:rPr lang="ko-KR" altLang="en-US" sz="1400" dirty="0">
                <a:solidFill>
                  <a:schemeClr val="tx2"/>
                </a:solidFill>
              </a:rPr>
              <a:t>특허출원 또는 실용신안등록출원이 다음 각 호의 어느 하나에 해당하는 경우 그 특허출원 또는 실용신안등록출원은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항부터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항까지의 규정을 적용할 때에는 처음부터 없었던 것으로 본다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 단서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항에 따라 준용되는 경우를 포함한다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 해당하여 그 특허출원 또는 실용신안등록출원에 대하여 거절결정이나 거절한다는 취지의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경우에는 그러하지 아니하다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포기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무효 또는 취하된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거절결정이나 거절한다는 취지의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경우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⑤ 발명자 또는 고안자가 아닌 자로서 특허를 받을 수 있는 권리 또는 실용신안등록을 받을 수 있는 권리의 승계인이 아닌 자가 한 특허출원 또는 실용신안등록출원은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항부터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항까지의 규정을 적용할 때에는 처음부터 없었던 것으로 본다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⑥ </a:t>
            </a:r>
            <a:r>
              <a:rPr lang="ko-KR" altLang="en-US" sz="1400" dirty="0">
                <a:solidFill>
                  <a:schemeClr val="tx2"/>
                </a:solidFill>
              </a:rPr>
              <a:t>지식재산처장은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항의 경우에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특허출원인에게</a:t>
            </a:r>
            <a:r>
              <a:rPr lang="ko-KR" altLang="en-US" sz="1400" dirty="0">
                <a:solidFill>
                  <a:schemeClr val="tx2"/>
                </a:solidFill>
              </a:rPr>
              <a:t> 기간을 정하여 협의의 결과를 신고할 것을 명하고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그 기간에 신고가 없으면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따른 협의는 성립되지 아니한 것으로 본다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0" y="409555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81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5505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자유형 153"/>
          <p:cNvSpPr/>
          <p:nvPr/>
        </p:nvSpPr>
        <p:spPr>
          <a:xfrm>
            <a:off x="8490864" y="3737372"/>
            <a:ext cx="2811427" cy="565079"/>
          </a:xfrm>
          <a:custGeom>
            <a:avLst/>
            <a:gdLst>
              <a:gd name="connsiteX0" fmla="*/ 0 w 4130211"/>
              <a:gd name="connsiteY0" fmla="*/ 565079 h 565079"/>
              <a:gd name="connsiteX1" fmla="*/ 318499 w 4130211"/>
              <a:gd name="connsiteY1" fmla="*/ 0 h 565079"/>
              <a:gd name="connsiteX2" fmla="*/ 4130211 w 4130211"/>
              <a:gd name="connsiteY2" fmla="*/ 0 h 565079"/>
              <a:gd name="connsiteX3" fmla="*/ 4130211 w 4130211"/>
              <a:gd name="connsiteY3" fmla="*/ 554805 h 56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30211" h="565079">
                <a:moveTo>
                  <a:pt x="0" y="565079"/>
                </a:moveTo>
                <a:lnTo>
                  <a:pt x="318499" y="0"/>
                </a:lnTo>
                <a:lnTo>
                  <a:pt x="4130211" y="0"/>
                </a:lnTo>
                <a:lnTo>
                  <a:pt x="4130211" y="554805"/>
                </a:lnTo>
              </a:path>
            </a:pathLst>
          </a:custGeom>
          <a:pattFill prst="dotGrid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185" name="도넛 184"/>
          <p:cNvSpPr/>
          <p:nvPr/>
        </p:nvSpPr>
        <p:spPr>
          <a:xfrm>
            <a:off x="9461782" y="3243790"/>
            <a:ext cx="856654" cy="825047"/>
          </a:xfrm>
          <a:prstGeom prst="donut">
            <a:avLst>
              <a:gd name="adj" fmla="val 1540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08" name="자유형 107"/>
          <p:cNvSpPr/>
          <p:nvPr/>
        </p:nvSpPr>
        <p:spPr>
          <a:xfrm>
            <a:off x="4367597" y="3737372"/>
            <a:ext cx="2811427" cy="565079"/>
          </a:xfrm>
          <a:custGeom>
            <a:avLst/>
            <a:gdLst>
              <a:gd name="connsiteX0" fmla="*/ 0 w 4130211"/>
              <a:gd name="connsiteY0" fmla="*/ 565079 h 565079"/>
              <a:gd name="connsiteX1" fmla="*/ 318499 w 4130211"/>
              <a:gd name="connsiteY1" fmla="*/ 0 h 565079"/>
              <a:gd name="connsiteX2" fmla="*/ 4130211 w 4130211"/>
              <a:gd name="connsiteY2" fmla="*/ 0 h 565079"/>
              <a:gd name="connsiteX3" fmla="*/ 4130211 w 4130211"/>
              <a:gd name="connsiteY3" fmla="*/ 554805 h 56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30211" h="565079">
                <a:moveTo>
                  <a:pt x="0" y="565079"/>
                </a:moveTo>
                <a:lnTo>
                  <a:pt x="318499" y="0"/>
                </a:lnTo>
                <a:lnTo>
                  <a:pt x="4130211" y="0"/>
                </a:lnTo>
                <a:lnTo>
                  <a:pt x="4130211" y="554805"/>
                </a:lnTo>
              </a:path>
            </a:pathLst>
          </a:custGeom>
          <a:pattFill prst="dotGrid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cxnSp>
        <p:nvCxnSpPr>
          <p:cNvPr id="94" name="직선 연결선 93"/>
          <p:cNvCxnSpPr>
            <a:stCxn id="105" idx="2"/>
          </p:cNvCxnSpPr>
          <p:nvPr/>
        </p:nvCxnSpPr>
        <p:spPr>
          <a:xfrm>
            <a:off x="4309001" y="4301931"/>
            <a:ext cx="2909391" cy="52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/>
          <p:cNvCxnSpPr>
            <a:endCxn id="106" idx="6"/>
          </p:cNvCxnSpPr>
          <p:nvPr/>
        </p:nvCxnSpPr>
        <p:spPr>
          <a:xfrm>
            <a:off x="4355717" y="4301931"/>
            <a:ext cx="94324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자유형 44"/>
          <p:cNvSpPr/>
          <p:nvPr/>
        </p:nvSpPr>
        <p:spPr>
          <a:xfrm>
            <a:off x="625032" y="3737372"/>
            <a:ext cx="2811427" cy="565079"/>
          </a:xfrm>
          <a:custGeom>
            <a:avLst/>
            <a:gdLst>
              <a:gd name="connsiteX0" fmla="*/ 0 w 4130211"/>
              <a:gd name="connsiteY0" fmla="*/ 565079 h 565079"/>
              <a:gd name="connsiteX1" fmla="*/ 318499 w 4130211"/>
              <a:gd name="connsiteY1" fmla="*/ 0 h 565079"/>
              <a:gd name="connsiteX2" fmla="*/ 4130211 w 4130211"/>
              <a:gd name="connsiteY2" fmla="*/ 0 h 565079"/>
              <a:gd name="connsiteX3" fmla="*/ 4130211 w 4130211"/>
              <a:gd name="connsiteY3" fmla="*/ 554805 h 56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30211" h="565079">
                <a:moveTo>
                  <a:pt x="0" y="565079"/>
                </a:moveTo>
                <a:lnTo>
                  <a:pt x="318499" y="0"/>
                </a:lnTo>
                <a:lnTo>
                  <a:pt x="4130211" y="0"/>
                </a:lnTo>
                <a:lnTo>
                  <a:pt x="4130211" y="554805"/>
                </a:lnTo>
              </a:path>
            </a:pathLst>
          </a:custGeom>
          <a:pattFill prst="dotGrid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cxnSp>
        <p:nvCxnSpPr>
          <p:cNvPr id="46" name="직선 연결선 45"/>
          <p:cNvCxnSpPr>
            <a:stCxn id="89" idx="6"/>
          </p:cNvCxnSpPr>
          <p:nvPr/>
        </p:nvCxnSpPr>
        <p:spPr>
          <a:xfrm>
            <a:off x="691797" y="4301931"/>
            <a:ext cx="2792795" cy="52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특허의 무효와 포기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82</a:t>
            </a:fld>
            <a:endParaRPr lang="ko-KR" altLang="en-US"/>
          </a:p>
        </p:txBody>
      </p:sp>
      <p:sp>
        <p:nvSpPr>
          <p:cNvPr id="90" name="TextBox 89"/>
          <p:cNvSpPr txBox="1"/>
          <p:nvPr/>
        </p:nvSpPr>
        <p:spPr>
          <a:xfrm>
            <a:off x="77875" y="986046"/>
            <a:ext cx="1193632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대법원 </a:t>
            </a:r>
            <a:r>
              <a:rPr lang="en-US" altLang="ko-KR" sz="1400" dirty="0">
                <a:solidFill>
                  <a:schemeClr val="tx2"/>
                </a:solidFill>
              </a:rPr>
              <a:t>1990. 8. 14. </a:t>
            </a:r>
            <a:r>
              <a:rPr lang="ko-KR" altLang="en-US" sz="1400" dirty="0">
                <a:solidFill>
                  <a:schemeClr val="tx2"/>
                </a:solidFill>
              </a:rPr>
              <a:t>선고 </a:t>
            </a:r>
            <a:r>
              <a:rPr lang="en-US" altLang="ko-KR" sz="1400" dirty="0">
                <a:solidFill>
                  <a:schemeClr val="tx2"/>
                </a:solidFill>
              </a:rPr>
              <a:t>89</a:t>
            </a:r>
            <a:r>
              <a:rPr lang="ko-KR" altLang="en-US" sz="1400" dirty="0">
                <a:solidFill>
                  <a:schemeClr val="tx2"/>
                </a:solidFill>
              </a:rPr>
              <a:t>후</a:t>
            </a:r>
            <a:r>
              <a:rPr lang="en-US" altLang="ko-KR" sz="1400" dirty="0">
                <a:solidFill>
                  <a:schemeClr val="tx2"/>
                </a:solidFill>
              </a:rPr>
              <a:t>1103 </a:t>
            </a:r>
            <a:r>
              <a:rPr lang="ko-KR" altLang="en-US" sz="1400" dirty="0">
                <a:solidFill>
                  <a:schemeClr val="tx2"/>
                </a:solidFill>
              </a:rPr>
              <a:t>판결에서는 “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동일인이 동일고안에 대하여 같은 날에 경합출원을 하여 모두 등록된 경우에 그 후 어느 한쪽의 등록이 무효로 확정되었다면 나머지 등록을 유지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존속시켜 주는 것이 타당하고 당초에 경합출원이었다는 사실만으로 나머지 등록까지 모두 무효로 볼 것이 아니다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라고 판시하였고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대법원 </a:t>
            </a:r>
            <a:r>
              <a:rPr lang="en-US" altLang="ko-KR" sz="1400" dirty="0">
                <a:solidFill>
                  <a:schemeClr val="tx2"/>
                </a:solidFill>
              </a:rPr>
              <a:t>2007. 1. 12. </a:t>
            </a:r>
            <a:r>
              <a:rPr lang="ko-KR" altLang="en-US" sz="1400" dirty="0">
                <a:solidFill>
                  <a:schemeClr val="tx2"/>
                </a:solidFill>
              </a:rPr>
              <a:t>선고 </a:t>
            </a:r>
            <a:r>
              <a:rPr lang="en-US" altLang="ko-KR" sz="1400" dirty="0">
                <a:solidFill>
                  <a:schemeClr val="tx2"/>
                </a:solidFill>
              </a:rPr>
              <a:t>2005</a:t>
            </a:r>
            <a:r>
              <a:rPr lang="ko-KR" altLang="en-US" sz="1400" dirty="0">
                <a:solidFill>
                  <a:schemeClr val="tx2"/>
                </a:solidFill>
              </a:rPr>
              <a:t>후</a:t>
            </a:r>
            <a:r>
              <a:rPr lang="en-US" altLang="ko-KR" sz="1400" dirty="0">
                <a:solidFill>
                  <a:schemeClr val="tx2"/>
                </a:solidFill>
              </a:rPr>
              <a:t>3017 </a:t>
            </a:r>
            <a:r>
              <a:rPr lang="ko-KR" altLang="en-US" sz="1400" dirty="0">
                <a:solidFill>
                  <a:schemeClr val="tx2"/>
                </a:solidFill>
              </a:rPr>
              <a:t>판결에서는 “특허권이나 </a:t>
            </a:r>
            <a:r>
              <a:rPr lang="ko-KR" altLang="en-US" sz="1400" dirty="0" err="1">
                <a:solidFill>
                  <a:schemeClr val="tx2"/>
                </a:solidFill>
              </a:rPr>
              <a:t>실용신안권의</a:t>
            </a:r>
            <a:r>
              <a:rPr lang="ko-KR" altLang="en-US" sz="1400" dirty="0">
                <a:solidFill>
                  <a:schemeClr val="tx2"/>
                </a:solidFill>
              </a:rPr>
              <a:t> 포기에 의하여 경합출원의 하자가 치유되어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자에 대한 관계에서 특허권의 효력을 주장할 수 있다고 보는 것은 명문의 근거가 없을 뿐만 아니라 권리자가 포기의 대상과 시기를 임의로 선택할 수 있어 권리관계가 불확정한 상태에 놓이게 되는 등 법적 안정성을 해칠 우려가 있는 점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특허권이나 </a:t>
            </a:r>
            <a:r>
              <a:rPr lang="ko-KR" altLang="en-US" sz="1400" dirty="0" err="1">
                <a:solidFill>
                  <a:schemeClr val="tx2"/>
                </a:solidFill>
              </a:rPr>
              <a:t>실용신안권의</a:t>
            </a:r>
            <a:r>
              <a:rPr lang="ko-KR" altLang="en-US" sz="1400" dirty="0">
                <a:solidFill>
                  <a:schemeClr val="tx2"/>
                </a:solidFill>
              </a:rPr>
              <a:t> 포기는 그 출원의 포기와는 달리 소급효가 없음에도 결과적으로 그 포기에 소급효를 인정하는 셈이 되어 부당하며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나아가 특허권 등의 포기는 등록만으로 이루어져 대외적인 공시방법으로는 충분하지 아니한 점 등을 종합하여 보면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출원이 경합된 상태에서 등록된 특허권이나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실용신안권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중 어느 하나에 대하여 사후 권리자가 그 권리를 포기하였다고 하더라도 경합출원으로 인한 하자가 치유된다고 보기는 어렵다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고 판시하여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특허권의 무효와 포기에 대하여 달리 취급하고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91" name="직선 연결선 90"/>
          <p:cNvCxnSpPr/>
          <p:nvPr/>
        </p:nvCxnSpPr>
        <p:spPr>
          <a:xfrm>
            <a:off x="0" y="280626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3705442" y="2984740"/>
            <a:ext cx="0" cy="3678427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>
            <a:endCxn id="49" idx="0"/>
          </p:cNvCxnSpPr>
          <p:nvPr/>
        </p:nvCxnSpPr>
        <p:spPr>
          <a:xfrm>
            <a:off x="631903" y="4353253"/>
            <a:ext cx="1" cy="30239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47807" y="4655651"/>
            <a:ext cx="768194" cy="2462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특허출원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3393630" y="3737372"/>
            <a:ext cx="90962" cy="5239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grpSp>
        <p:nvGrpSpPr>
          <p:cNvPr id="55" name="그룹 54"/>
          <p:cNvGrpSpPr/>
          <p:nvPr/>
        </p:nvGrpSpPr>
        <p:grpSpPr>
          <a:xfrm>
            <a:off x="248597" y="5038117"/>
            <a:ext cx="770400" cy="459001"/>
            <a:chOff x="2814293" y="4469336"/>
            <a:chExt cx="1177134" cy="696098"/>
          </a:xfrm>
          <a:solidFill>
            <a:schemeClr val="bg1"/>
          </a:solidFill>
        </p:grpSpPr>
        <p:sp>
          <p:nvSpPr>
            <p:cNvPr id="56" name="직사각형 55"/>
            <p:cNvSpPr/>
            <p:nvPr/>
          </p:nvSpPr>
          <p:spPr>
            <a:xfrm>
              <a:off x="2814293" y="4469336"/>
              <a:ext cx="1177134" cy="348049"/>
            </a:xfrm>
            <a:prstGeom prst="rect">
              <a:avLst/>
            </a:prstGeom>
            <a:grp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A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2814293" y="4817385"/>
              <a:ext cx="1177134" cy="348049"/>
            </a:xfrm>
            <a:prstGeom prst="rect">
              <a:avLst/>
            </a:prstGeom>
            <a:grp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A, B, C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65" name="직선 연결선 64"/>
          <p:cNvCxnSpPr>
            <a:endCxn id="66" idx="0"/>
          </p:cNvCxnSpPr>
          <p:nvPr/>
        </p:nvCxnSpPr>
        <p:spPr>
          <a:xfrm>
            <a:off x="2235029" y="4357005"/>
            <a:ext cx="1" cy="30239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676060" y="4659403"/>
            <a:ext cx="1117940" cy="246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출원 무효</a:t>
            </a:r>
            <a:r>
              <a:rPr lang="en-US" altLang="ko-KR" sz="1000" dirty="0"/>
              <a:t>, </a:t>
            </a:r>
            <a:r>
              <a:rPr lang="ko-KR" altLang="en-US" sz="1000" dirty="0"/>
              <a:t>포기</a:t>
            </a:r>
          </a:p>
        </p:txBody>
      </p:sp>
      <p:cxnSp>
        <p:nvCxnSpPr>
          <p:cNvPr id="88" name="직선 연결선 87"/>
          <p:cNvCxnSpPr/>
          <p:nvPr/>
        </p:nvCxnSpPr>
        <p:spPr>
          <a:xfrm>
            <a:off x="7689911" y="2984740"/>
            <a:ext cx="0" cy="3678427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곱셈 기호 58"/>
          <p:cNvSpPr/>
          <p:nvPr/>
        </p:nvSpPr>
        <p:spPr>
          <a:xfrm>
            <a:off x="1529613" y="3118695"/>
            <a:ext cx="1125671" cy="1154811"/>
          </a:xfrm>
          <a:prstGeom prst="mathMultiply">
            <a:avLst>
              <a:gd name="adj1" fmla="val 1530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47" name="TextBox 46"/>
          <p:cNvSpPr txBox="1"/>
          <p:nvPr/>
        </p:nvSpPr>
        <p:spPr>
          <a:xfrm>
            <a:off x="1343854" y="3460012"/>
            <a:ext cx="1124026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A </a:t>
            </a:r>
            <a:r>
              <a:rPr lang="ko-KR" altLang="en-US" sz="1100" dirty="0" err="1"/>
              <a:t>선출원의</a:t>
            </a:r>
            <a:r>
              <a:rPr lang="ko-KR" altLang="en-US" sz="1100" dirty="0"/>
              <a:t> 지위</a:t>
            </a:r>
          </a:p>
        </p:txBody>
      </p:sp>
      <p:sp>
        <p:nvSpPr>
          <p:cNvPr id="89" name="Rectangle 14"/>
          <p:cNvSpPr>
            <a:spLocks noChangeArrowheads="1"/>
          </p:cNvSpPr>
          <p:nvPr/>
        </p:nvSpPr>
        <p:spPr bwMode="auto">
          <a:xfrm flipV="1">
            <a:off x="575201" y="4239477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2" name="Rectangle 14"/>
          <p:cNvSpPr>
            <a:spLocks noChangeArrowheads="1"/>
          </p:cNvSpPr>
          <p:nvPr/>
        </p:nvSpPr>
        <p:spPr bwMode="auto">
          <a:xfrm flipV="1">
            <a:off x="2176731" y="4239477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7127430" y="3737372"/>
            <a:ext cx="90962" cy="5239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103" name="곱셈 기호 102"/>
          <p:cNvSpPr/>
          <p:nvPr/>
        </p:nvSpPr>
        <p:spPr>
          <a:xfrm>
            <a:off x="5263413" y="3118695"/>
            <a:ext cx="1125671" cy="1154811"/>
          </a:xfrm>
          <a:prstGeom prst="mathMultiply">
            <a:avLst>
              <a:gd name="adj1" fmla="val 1530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104" name="TextBox 103"/>
          <p:cNvSpPr txBox="1"/>
          <p:nvPr/>
        </p:nvSpPr>
        <p:spPr>
          <a:xfrm>
            <a:off x="5277350" y="3460012"/>
            <a:ext cx="1124026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/>
              <a:t>A </a:t>
            </a:r>
            <a:r>
              <a:rPr lang="ko-KR" altLang="en-US" sz="1100" dirty="0" err="1"/>
              <a:t>선출원의</a:t>
            </a:r>
            <a:r>
              <a:rPr lang="ko-KR" altLang="en-US" sz="1100" dirty="0"/>
              <a:t> 지위</a:t>
            </a:r>
          </a:p>
        </p:txBody>
      </p:sp>
      <p:cxnSp>
        <p:nvCxnSpPr>
          <p:cNvPr id="109" name="직선 연결선 108"/>
          <p:cNvCxnSpPr>
            <a:endCxn id="127" idx="0"/>
          </p:cNvCxnSpPr>
          <p:nvPr/>
        </p:nvCxnSpPr>
        <p:spPr>
          <a:xfrm>
            <a:off x="4367596" y="4353253"/>
            <a:ext cx="1" cy="30239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3983500" y="4655651"/>
            <a:ext cx="768194" cy="2462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특허출원</a:t>
            </a:r>
          </a:p>
        </p:txBody>
      </p:sp>
      <p:grpSp>
        <p:nvGrpSpPr>
          <p:cNvPr id="134" name="그룹 133"/>
          <p:cNvGrpSpPr/>
          <p:nvPr/>
        </p:nvGrpSpPr>
        <p:grpSpPr>
          <a:xfrm>
            <a:off x="3984290" y="5038117"/>
            <a:ext cx="770400" cy="459001"/>
            <a:chOff x="2814293" y="4469336"/>
            <a:chExt cx="1177134" cy="696098"/>
          </a:xfrm>
          <a:solidFill>
            <a:schemeClr val="bg1"/>
          </a:solidFill>
        </p:grpSpPr>
        <p:sp>
          <p:nvSpPr>
            <p:cNvPr id="135" name="직사각형 134"/>
            <p:cNvSpPr/>
            <p:nvPr/>
          </p:nvSpPr>
          <p:spPr>
            <a:xfrm>
              <a:off x="2814293" y="4469336"/>
              <a:ext cx="1177134" cy="348049"/>
            </a:xfrm>
            <a:prstGeom prst="rect">
              <a:avLst/>
            </a:prstGeom>
            <a:grp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A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36" name="직사각형 135"/>
            <p:cNvSpPr/>
            <p:nvPr/>
          </p:nvSpPr>
          <p:spPr>
            <a:xfrm>
              <a:off x="2814293" y="4817385"/>
              <a:ext cx="1177134" cy="348049"/>
            </a:xfrm>
            <a:prstGeom prst="rect">
              <a:avLst/>
            </a:prstGeom>
            <a:grp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A, B, C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37" name="직선 연결선 136"/>
          <p:cNvCxnSpPr>
            <a:endCxn id="138" idx="0"/>
          </p:cNvCxnSpPr>
          <p:nvPr/>
        </p:nvCxnSpPr>
        <p:spPr>
          <a:xfrm>
            <a:off x="5233810" y="4353253"/>
            <a:ext cx="1" cy="30239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4849714" y="4655651"/>
            <a:ext cx="768194" cy="2462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설정등록</a:t>
            </a:r>
          </a:p>
        </p:txBody>
      </p:sp>
      <p:sp>
        <p:nvSpPr>
          <p:cNvPr id="143" name="Rectangle 14"/>
          <p:cNvSpPr>
            <a:spLocks noChangeArrowheads="1"/>
          </p:cNvSpPr>
          <p:nvPr/>
        </p:nvSpPr>
        <p:spPr bwMode="auto">
          <a:xfrm flipV="1">
            <a:off x="5892609" y="4240443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5" name="Rectangle 14"/>
          <p:cNvSpPr>
            <a:spLocks noChangeArrowheads="1"/>
          </p:cNvSpPr>
          <p:nvPr/>
        </p:nvSpPr>
        <p:spPr bwMode="auto">
          <a:xfrm flipV="1">
            <a:off x="6765977" y="4240443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46" name="직선 연결선 145"/>
          <p:cNvCxnSpPr>
            <a:endCxn id="147" idx="0"/>
          </p:cNvCxnSpPr>
          <p:nvPr/>
        </p:nvCxnSpPr>
        <p:spPr>
          <a:xfrm>
            <a:off x="5951205" y="4365351"/>
            <a:ext cx="0" cy="73155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5567108" y="5096901"/>
            <a:ext cx="768194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무효심판</a:t>
            </a:r>
            <a:endParaRPr lang="en-US" altLang="ko-KR" sz="1000" dirty="0"/>
          </a:p>
          <a:p>
            <a:pPr algn="ctr"/>
            <a:r>
              <a:rPr lang="ko-KR" altLang="en-US" sz="1000" dirty="0"/>
              <a:t>청구</a:t>
            </a:r>
          </a:p>
        </p:txBody>
      </p:sp>
      <p:cxnSp>
        <p:nvCxnSpPr>
          <p:cNvPr id="148" name="직선 연결선 147"/>
          <p:cNvCxnSpPr>
            <a:stCxn id="145" idx="0"/>
          </p:cNvCxnSpPr>
          <p:nvPr/>
        </p:nvCxnSpPr>
        <p:spPr>
          <a:xfrm flipH="1">
            <a:off x="6817419" y="4365351"/>
            <a:ext cx="6856" cy="73155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6440178" y="5096901"/>
            <a:ext cx="768194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/>
              <a:t>무효심결</a:t>
            </a:r>
            <a:endParaRPr lang="en-US" altLang="ko-KR" sz="1000" dirty="0"/>
          </a:p>
          <a:p>
            <a:pPr algn="ctr"/>
            <a:r>
              <a:rPr lang="ko-KR" altLang="en-US" sz="1000" dirty="0"/>
              <a:t>확정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4711188" y="5984495"/>
            <a:ext cx="2725310" cy="60016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 dirty="0"/>
              <a:t>특허를 무효로 한다는 </a:t>
            </a:r>
            <a:r>
              <a:rPr lang="ko-KR" altLang="en-US" sz="1100" dirty="0" err="1"/>
              <a:t>심결이</a:t>
            </a:r>
            <a:r>
              <a:rPr lang="ko-KR" altLang="en-US" sz="1100" dirty="0"/>
              <a:t> 확정된 경우에는 그 특허권은 처음부터 없었던 것으로 본다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133</a:t>
            </a:r>
            <a:r>
              <a:rPr lang="ko-KR" altLang="en-US" sz="1100" dirty="0"/>
              <a:t>③</a:t>
            </a:r>
            <a:r>
              <a:rPr lang="en-US" altLang="ko-KR" sz="1100" dirty="0"/>
              <a:t>).</a:t>
            </a:r>
            <a:endParaRPr lang="ko-KR" altLang="en-US" sz="1100" dirty="0"/>
          </a:p>
        </p:txBody>
      </p:sp>
      <p:cxnSp>
        <p:nvCxnSpPr>
          <p:cNvPr id="28" name="꺾인 연결선 27"/>
          <p:cNvCxnSpPr>
            <a:stCxn id="24" idx="0"/>
            <a:endCxn id="150" idx="2"/>
          </p:cNvCxnSpPr>
          <p:nvPr/>
        </p:nvCxnSpPr>
        <p:spPr>
          <a:xfrm rot="5400000" flipH="1" flipV="1">
            <a:off x="6205317" y="5365537"/>
            <a:ext cx="487484" cy="75043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158"/>
          <p:cNvCxnSpPr>
            <a:stCxn id="162" idx="2"/>
          </p:cNvCxnSpPr>
          <p:nvPr/>
        </p:nvCxnSpPr>
        <p:spPr>
          <a:xfrm>
            <a:off x="8432268" y="4301931"/>
            <a:ext cx="2909391" cy="52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직사각형 159"/>
          <p:cNvSpPr/>
          <p:nvPr/>
        </p:nvSpPr>
        <p:spPr>
          <a:xfrm>
            <a:off x="11250697" y="3737372"/>
            <a:ext cx="90962" cy="5239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161" name="TextBox 160"/>
          <p:cNvSpPr txBox="1"/>
          <p:nvPr/>
        </p:nvSpPr>
        <p:spPr>
          <a:xfrm>
            <a:off x="9316531" y="3460012"/>
            <a:ext cx="1124026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A </a:t>
            </a:r>
            <a:r>
              <a:rPr lang="ko-KR" altLang="en-US" sz="1100" dirty="0" err="1"/>
              <a:t>선출원의</a:t>
            </a:r>
            <a:r>
              <a:rPr lang="ko-KR" altLang="en-US" sz="1100" dirty="0"/>
              <a:t> 지위</a:t>
            </a:r>
          </a:p>
        </p:txBody>
      </p:sp>
      <p:cxnSp>
        <p:nvCxnSpPr>
          <p:cNvPr id="165" name="직선 연결선 164"/>
          <p:cNvCxnSpPr>
            <a:endCxn id="167" idx="0"/>
          </p:cNvCxnSpPr>
          <p:nvPr/>
        </p:nvCxnSpPr>
        <p:spPr>
          <a:xfrm>
            <a:off x="8490863" y="4353253"/>
            <a:ext cx="1" cy="30239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8106767" y="4655651"/>
            <a:ext cx="768194" cy="2462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특허출원</a:t>
            </a:r>
          </a:p>
        </p:txBody>
      </p:sp>
      <p:grpSp>
        <p:nvGrpSpPr>
          <p:cNvPr id="168" name="그룹 167"/>
          <p:cNvGrpSpPr/>
          <p:nvPr/>
        </p:nvGrpSpPr>
        <p:grpSpPr>
          <a:xfrm>
            <a:off x="8107557" y="5038117"/>
            <a:ext cx="770400" cy="459001"/>
            <a:chOff x="2814293" y="4469336"/>
            <a:chExt cx="1177134" cy="696098"/>
          </a:xfrm>
          <a:solidFill>
            <a:schemeClr val="bg1"/>
          </a:solidFill>
        </p:grpSpPr>
        <p:sp>
          <p:nvSpPr>
            <p:cNvPr id="169" name="직사각형 168"/>
            <p:cNvSpPr/>
            <p:nvPr/>
          </p:nvSpPr>
          <p:spPr>
            <a:xfrm>
              <a:off x="2814293" y="4469336"/>
              <a:ext cx="1177134" cy="348049"/>
            </a:xfrm>
            <a:prstGeom prst="rect">
              <a:avLst/>
            </a:prstGeom>
            <a:grp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A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70" name="직사각형 169"/>
            <p:cNvSpPr/>
            <p:nvPr/>
          </p:nvSpPr>
          <p:spPr>
            <a:xfrm>
              <a:off x="2814293" y="4817385"/>
              <a:ext cx="1177134" cy="348049"/>
            </a:xfrm>
            <a:prstGeom prst="rect">
              <a:avLst/>
            </a:prstGeom>
            <a:grp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A, B, C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71" name="직선 연결선 170"/>
          <p:cNvCxnSpPr>
            <a:endCxn id="172" idx="0"/>
          </p:cNvCxnSpPr>
          <p:nvPr/>
        </p:nvCxnSpPr>
        <p:spPr>
          <a:xfrm>
            <a:off x="9357077" y="4353253"/>
            <a:ext cx="1" cy="30239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8972981" y="4655651"/>
            <a:ext cx="768194" cy="2462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설정등록</a:t>
            </a:r>
          </a:p>
        </p:txBody>
      </p:sp>
      <p:sp>
        <p:nvSpPr>
          <p:cNvPr id="173" name="Rectangle 14"/>
          <p:cNvSpPr>
            <a:spLocks noChangeArrowheads="1"/>
          </p:cNvSpPr>
          <p:nvPr/>
        </p:nvSpPr>
        <p:spPr bwMode="auto">
          <a:xfrm flipV="1">
            <a:off x="10405358" y="4240443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77" name="직선 연결선 176"/>
          <p:cNvCxnSpPr/>
          <p:nvPr/>
        </p:nvCxnSpPr>
        <p:spPr>
          <a:xfrm flipH="1">
            <a:off x="10456457" y="4353253"/>
            <a:ext cx="6856" cy="73155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Box 177"/>
          <p:cNvSpPr txBox="1"/>
          <p:nvPr/>
        </p:nvSpPr>
        <p:spPr>
          <a:xfrm>
            <a:off x="10072359" y="5096901"/>
            <a:ext cx="768194" cy="246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특허 포기</a:t>
            </a:r>
          </a:p>
        </p:txBody>
      </p:sp>
      <p:sp>
        <p:nvSpPr>
          <p:cNvPr id="179" name="직사각형 178"/>
          <p:cNvSpPr/>
          <p:nvPr/>
        </p:nvSpPr>
        <p:spPr>
          <a:xfrm>
            <a:off x="8834455" y="5984495"/>
            <a:ext cx="1687499" cy="26161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 dirty="0"/>
              <a:t>특허권이 장래를 향해 소멸</a:t>
            </a:r>
          </a:p>
        </p:txBody>
      </p:sp>
      <p:cxnSp>
        <p:nvCxnSpPr>
          <p:cNvPr id="180" name="꺾인 연결선 179"/>
          <p:cNvCxnSpPr>
            <a:stCxn id="179" idx="0"/>
            <a:endCxn id="178" idx="2"/>
          </p:cNvCxnSpPr>
          <p:nvPr/>
        </p:nvCxnSpPr>
        <p:spPr>
          <a:xfrm rot="5400000" flipH="1" flipV="1">
            <a:off x="9746644" y="5274684"/>
            <a:ext cx="641373" cy="77825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4"/>
          <p:cNvSpPr>
            <a:spLocks noChangeArrowheads="1"/>
          </p:cNvSpPr>
          <p:nvPr/>
        </p:nvSpPr>
        <p:spPr bwMode="auto">
          <a:xfrm flipV="1">
            <a:off x="4309001" y="4239477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6" name="Rectangle 14"/>
          <p:cNvSpPr>
            <a:spLocks noChangeArrowheads="1"/>
          </p:cNvSpPr>
          <p:nvPr/>
        </p:nvSpPr>
        <p:spPr bwMode="auto">
          <a:xfrm flipV="1">
            <a:off x="5182369" y="4239477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82" name="직선 연결선 181"/>
          <p:cNvCxnSpPr>
            <a:endCxn id="173" idx="2"/>
          </p:cNvCxnSpPr>
          <p:nvPr/>
        </p:nvCxnSpPr>
        <p:spPr>
          <a:xfrm>
            <a:off x="8492757" y="4301931"/>
            <a:ext cx="1912601" cy="966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Rectangle 14"/>
          <p:cNvSpPr>
            <a:spLocks noChangeArrowheads="1"/>
          </p:cNvSpPr>
          <p:nvPr/>
        </p:nvSpPr>
        <p:spPr bwMode="auto">
          <a:xfrm flipV="1">
            <a:off x="8432268" y="4239477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63" name="Rectangle 14"/>
          <p:cNvSpPr>
            <a:spLocks noChangeArrowheads="1"/>
          </p:cNvSpPr>
          <p:nvPr/>
        </p:nvSpPr>
        <p:spPr bwMode="auto">
          <a:xfrm flipV="1">
            <a:off x="9305636" y="4239477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83" name="직사각형 182"/>
          <p:cNvSpPr/>
          <p:nvPr/>
        </p:nvSpPr>
        <p:spPr>
          <a:xfrm>
            <a:off x="977021" y="5853691"/>
            <a:ext cx="1687499" cy="26161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100" dirty="0">
                <a:solidFill>
                  <a:schemeClr val="accent3">
                    <a:lumMod val="50000"/>
                  </a:schemeClr>
                </a:solidFill>
              </a:rPr>
              <a:t>특허출원이 소급 소멸</a:t>
            </a:r>
          </a:p>
        </p:txBody>
      </p:sp>
      <p:cxnSp>
        <p:nvCxnSpPr>
          <p:cNvPr id="184" name="꺾인 연결선 183"/>
          <p:cNvCxnSpPr>
            <a:stCxn id="183" idx="0"/>
            <a:endCxn id="66" idx="2"/>
          </p:cNvCxnSpPr>
          <p:nvPr/>
        </p:nvCxnSpPr>
        <p:spPr>
          <a:xfrm rot="5400000" flipH="1" flipV="1">
            <a:off x="1553867" y="5172529"/>
            <a:ext cx="948067" cy="414259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94778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36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solidFill>
                  <a:srgbClr val="525252"/>
                </a:solidFill>
              </a:rPr>
              <a:t>동일자</a:t>
            </a:r>
            <a:r>
              <a:rPr lang="ko-KR" altLang="en-US" dirty="0">
                <a:solidFill>
                  <a:srgbClr val="525252"/>
                </a:solidFill>
              </a:rPr>
              <a:t> 출원의 실질적 동일성과 특허의 무효</a:t>
            </a:r>
            <a:r>
              <a:rPr lang="en-US" altLang="ko-KR" dirty="0">
                <a:solidFill>
                  <a:srgbClr val="525252"/>
                </a:solidFill>
              </a:rPr>
              <a:t>/</a:t>
            </a:r>
            <a:r>
              <a:rPr lang="ko-KR" altLang="en-US" dirty="0">
                <a:solidFill>
                  <a:srgbClr val="525252"/>
                </a:solidFill>
              </a:rPr>
              <a:t>포기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83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7875" y="1341693"/>
            <a:ext cx="119363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400" dirty="0"/>
              <a:t>[1] </a:t>
            </a:r>
            <a:r>
              <a:rPr lang="ko-KR" altLang="en-US" sz="1400" dirty="0"/>
              <a:t>구 특허법</a:t>
            </a:r>
            <a:r>
              <a:rPr lang="en-US" altLang="ko-KR" sz="1400" dirty="0"/>
              <a:t>(2001. 2. 3. </a:t>
            </a:r>
            <a:r>
              <a:rPr lang="ko-KR" altLang="en-US" sz="1400" dirty="0"/>
              <a:t>법률 제</a:t>
            </a:r>
            <a:r>
              <a:rPr lang="en-US" altLang="ko-KR" sz="1400" dirty="0"/>
              <a:t>6411</a:t>
            </a:r>
            <a:r>
              <a:rPr lang="ko-KR" altLang="en-US" sz="1400" dirty="0"/>
              <a:t>호로 개정되기 전의 것</a:t>
            </a:r>
            <a:r>
              <a:rPr lang="en-US" altLang="ko-KR" sz="1400" dirty="0"/>
              <a:t>) </a:t>
            </a:r>
            <a:r>
              <a:rPr lang="ko-KR" altLang="en-US" sz="1400" dirty="0"/>
              <a:t>제</a:t>
            </a:r>
            <a:r>
              <a:rPr lang="en-US" altLang="ko-KR" sz="1400" dirty="0"/>
              <a:t>36</a:t>
            </a:r>
            <a:r>
              <a:rPr lang="ko-KR" altLang="en-US" sz="1400" dirty="0"/>
              <a:t>조를 적용하기 위한 전제로서 두 발명이 서로 동일한 발명인지 여부는 대비되는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두 발명의 실체를 파악하여 따져보아야 할 것이지 표현양식에 따른 차이에 따라 판단할 것은 아니므로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/>
              <a:t>대비되는 두 발명이 각각 물건의 발명과 방법의 발명으로 서로 발명의 범주가 다르다고 하여 곧바로 동일한 발명이 아니라고 단정할 수 없다</a:t>
            </a:r>
            <a:r>
              <a:rPr lang="en-US" altLang="ko-KR" sz="1400" dirty="0"/>
              <a:t>.</a:t>
            </a:r>
          </a:p>
          <a:p>
            <a:pPr fontAlgn="base"/>
            <a:r>
              <a:rPr lang="en-US" altLang="ko-KR" sz="1400" dirty="0"/>
              <a:t>[2] </a:t>
            </a:r>
            <a:r>
              <a:rPr lang="ko-KR" altLang="en-US" sz="1400" dirty="0"/>
              <a:t>구 특허법</a:t>
            </a:r>
            <a:r>
              <a:rPr lang="en-US" altLang="ko-KR" sz="1400" dirty="0"/>
              <a:t>(2001. 2. 3. </a:t>
            </a:r>
            <a:r>
              <a:rPr lang="ko-KR" altLang="en-US" sz="1400" dirty="0"/>
              <a:t>법률 제</a:t>
            </a:r>
            <a:r>
              <a:rPr lang="en-US" altLang="ko-KR" sz="1400" dirty="0"/>
              <a:t>6411</a:t>
            </a:r>
            <a:r>
              <a:rPr lang="ko-KR" altLang="en-US" sz="1400" dirty="0"/>
              <a:t>호로 개정되기 전의 것</a:t>
            </a:r>
            <a:r>
              <a:rPr lang="en-US" altLang="ko-KR" sz="1400" dirty="0"/>
              <a:t>) </a:t>
            </a:r>
            <a:r>
              <a:rPr lang="ko-KR" altLang="en-US" sz="1400" dirty="0"/>
              <a:t>제</a:t>
            </a:r>
            <a:r>
              <a:rPr lang="en-US" altLang="ko-KR" sz="1400" dirty="0"/>
              <a:t>36</a:t>
            </a:r>
            <a:r>
              <a:rPr lang="ko-KR" altLang="en-US" sz="1400" dirty="0"/>
              <a:t>조 제</a:t>
            </a:r>
            <a:r>
              <a:rPr lang="en-US" altLang="ko-KR" sz="1400" dirty="0"/>
              <a:t>3</a:t>
            </a:r>
            <a:r>
              <a:rPr lang="ko-KR" altLang="en-US" sz="1400" dirty="0"/>
              <a:t>항 등의 적용에 있어 특허권이나 실용신안권의 포기에 의하여 경합출원의 하자가 치유되어 제</a:t>
            </a:r>
            <a:r>
              <a:rPr lang="en-US" altLang="ko-KR" sz="1400" dirty="0"/>
              <a:t>3</a:t>
            </a:r>
            <a:r>
              <a:rPr lang="ko-KR" altLang="en-US" sz="1400" dirty="0"/>
              <a:t>자에 대한 관계에서 특허권의 효력을 주장할 수 있다고 보는 것은 </a:t>
            </a:r>
            <a:r>
              <a:rPr lang="en-US" altLang="ko-KR" sz="1400" dirty="0">
                <a:highlight>
                  <a:srgbClr val="FFFF00"/>
                </a:highlight>
              </a:rPr>
              <a:t>1) </a:t>
            </a:r>
            <a:r>
              <a:rPr lang="ko-KR" altLang="en-US" sz="1400" dirty="0">
                <a:highlight>
                  <a:srgbClr val="FFFF00"/>
                </a:highlight>
              </a:rPr>
              <a:t>명문의 근거가 없을 뿐만 아니라 </a:t>
            </a:r>
            <a:r>
              <a:rPr lang="en-US" altLang="ko-KR" sz="1400" dirty="0">
                <a:highlight>
                  <a:srgbClr val="FFFF00"/>
                </a:highlight>
              </a:rPr>
              <a:t>2) </a:t>
            </a:r>
            <a:r>
              <a:rPr lang="ko-KR" altLang="en-US" sz="1400" dirty="0">
                <a:highlight>
                  <a:srgbClr val="FFFF00"/>
                </a:highlight>
              </a:rPr>
              <a:t>권리자가 포기의 대상과 시기를 임의로 선택할 수 있어 권리관계가 불확정한 상태에 놓이게 되는 등 법적 안정성을 해칠 우려가 있는 점</a:t>
            </a:r>
            <a:r>
              <a:rPr lang="en-US" altLang="ko-KR" sz="1400" dirty="0">
                <a:highlight>
                  <a:srgbClr val="FFFF00"/>
                </a:highlight>
              </a:rPr>
              <a:t>, 3) </a:t>
            </a:r>
            <a:r>
              <a:rPr lang="ko-KR" altLang="en-US" sz="1400" dirty="0">
                <a:highlight>
                  <a:srgbClr val="FFFF00"/>
                </a:highlight>
              </a:rPr>
              <a:t>특허권이나 실용신안권의 포기는 그 출원의 포기와는 달리 소급효가 없음에도 결과적으로 그 포기에 소급효를 인정하는 셈이 되어 부당하며</a:t>
            </a:r>
            <a:r>
              <a:rPr lang="en-US" altLang="ko-KR" sz="1400" dirty="0">
                <a:highlight>
                  <a:srgbClr val="FFFF00"/>
                </a:highlight>
              </a:rPr>
              <a:t>, 4) </a:t>
            </a:r>
            <a:r>
              <a:rPr lang="ko-KR" altLang="en-US" sz="1400" dirty="0">
                <a:highlight>
                  <a:srgbClr val="FFFF00"/>
                </a:highlight>
              </a:rPr>
              <a:t>나아가 특허권 등의 포기는 등록만으로 이루어져 대외적인 공시방법으로는 충분하지 아니한 점</a:t>
            </a:r>
            <a:r>
              <a:rPr lang="ko-KR" altLang="en-US" sz="1400" dirty="0"/>
              <a:t> 등을 종합하여 보면</a:t>
            </a:r>
            <a:r>
              <a:rPr lang="en-US" altLang="ko-KR" sz="1400" dirty="0"/>
              <a:t>, </a:t>
            </a:r>
            <a:r>
              <a:rPr lang="ko-KR" altLang="en-US" sz="1400" dirty="0"/>
              <a:t>출원이 경합된 상태에서 등록된 특허권이나 실용신안권 중 어느 하나에 대하여 사후 권리자가 그 권리를 포기하였다고 하더라도 경합출원으로 인한 하자가 치유된다고 보기는 어렵다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20" name="Line 5">
            <a:extLst>
              <a:ext uri="{FF2B5EF4-FFF2-40B4-BE49-F238E27FC236}">
                <a16:creationId xmlns:a16="http://schemas.microsoft.com/office/drawing/2014/main" id="{ACCDA59F-2AF7-4FC8-9236-82288B8FB7B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658" y="4587933"/>
            <a:ext cx="11001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4A9B38-9CBF-428C-922A-DB33022A9147}"/>
              </a:ext>
            </a:extLst>
          </p:cNvPr>
          <p:cNvSpPr txBox="1"/>
          <p:nvPr/>
        </p:nvSpPr>
        <p:spPr>
          <a:xfrm>
            <a:off x="1142399" y="4844108"/>
            <a:ext cx="114732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특허출원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(X)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D7DE53CC-C4D9-422B-AF3A-7B30A9EA5F60}"/>
              </a:ext>
            </a:extLst>
          </p:cNvPr>
          <p:cNvSpPr/>
          <p:nvPr/>
        </p:nvSpPr>
        <p:spPr>
          <a:xfrm>
            <a:off x="1645488" y="4501084"/>
            <a:ext cx="141148" cy="14716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08FCD3A-E182-4831-A770-42918078B18B}"/>
              </a:ext>
            </a:extLst>
          </p:cNvPr>
          <p:cNvCxnSpPr>
            <a:cxnSpLocks/>
            <a:stCxn id="21" idx="0"/>
            <a:endCxn id="22" idx="4"/>
          </p:cNvCxnSpPr>
          <p:nvPr/>
        </p:nvCxnSpPr>
        <p:spPr>
          <a:xfrm flipH="1" flipV="1">
            <a:off x="1716062" y="4648252"/>
            <a:ext cx="1" cy="195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61FAB89-FCF5-43F0-95FF-6883B7A962C2}"/>
              </a:ext>
            </a:extLst>
          </p:cNvPr>
          <p:cNvSpPr txBox="1"/>
          <p:nvPr/>
        </p:nvSpPr>
        <p:spPr>
          <a:xfrm>
            <a:off x="3166859" y="4844108"/>
            <a:ext cx="720266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등록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(X)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287B676-6868-44D3-B4DB-53B7D46E69F1}"/>
              </a:ext>
            </a:extLst>
          </p:cNvPr>
          <p:cNvSpPr/>
          <p:nvPr/>
        </p:nvSpPr>
        <p:spPr>
          <a:xfrm>
            <a:off x="3449622" y="449399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616A2BCD-A858-4187-8094-DEF1E330CA4D}"/>
              </a:ext>
            </a:extLst>
          </p:cNvPr>
          <p:cNvCxnSpPr>
            <a:cxnSpLocks/>
            <a:stCxn id="27" idx="0"/>
            <a:endCxn id="28" idx="4"/>
          </p:cNvCxnSpPr>
          <p:nvPr/>
        </p:nvCxnSpPr>
        <p:spPr>
          <a:xfrm flipH="1" flipV="1">
            <a:off x="3526991" y="4655337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타원 62">
            <a:extLst>
              <a:ext uri="{FF2B5EF4-FFF2-40B4-BE49-F238E27FC236}">
                <a16:creationId xmlns:a16="http://schemas.microsoft.com/office/drawing/2014/main" id="{C2461AB7-FD80-4C84-8E9E-04501376A5BE}"/>
              </a:ext>
            </a:extLst>
          </p:cNvPr>
          <p:cNvSpPr/>
          <p:nvPr/>
        </p:nvSpPr>
        <p:spPr>
          <a:xfrm>
            <a:off x="5237730" y="4493999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EDFEB377-469E-485F-ACD4-4A671E6F66DA}"/>
              </a:ext>
            </a:extLst>
          </p:cNvPr>
          <p:cNvCxnSpPr>
            <a:cxnSpLocks/>
            <a:stCxn id="65" idx="0"/>
            <a:endCxn id="63" idx="4"/>
          </p:cNvCxnSpPr>
          <p:nvPr/>
        </p:nvCxnSpPr>
        <p:spPr>
          <a:xfrm flipV="1">
            <a:off x="5315099" y="4655337"/>
            <a:ext cx="0" cy="20309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559BA8A2-1A64-4952-B4D2-C4C6B791FA0D}"/>
              </a:ext>
            </a:extLst>
          </p:cNvPr>
          <p:cNvSpPr txBox="1"/>
          <p:nvPr/>
        </p:nvSpPr>
        <p:spPr>
          <a:xfrm>
            <a:off x="4686597" y="4858427"/>
            <a:ext cx="1257004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乙의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무효심판청구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(X)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83D1C3A-9892-4861-9E7D-128450D07D78}"/>
              </a:ext>
            </a:extLst>
          </p:cNvPr>
          <p:cNvSpPr/>
          <p:nvPr/>
        </p:nvSpPr>
        <p:spPr>
          <a:xfrm>
            <a:off x="113937" y="964867"/>
            <a:ext cx="5365671" cy="346234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bIns="0">
            <a:spAutoFit/>
          </a:bodyPr>
          <a:lstStyle/>
          <a:p>
            <a:r>
              <a:rPr lang="ko-KR" altLang="en-US" sz="1600" dirty="0"/>
              <a:t>대법원 </a:t>
            </a:r>
            <a:r>
              <a:rPr lang="en-US" altLang="ko-KR" sz="1600" dirty="0"/>
              <a:t>2007. 1. 12. </a:t>
            </a:r>
            <a:r>
              <a:rPr lang="ko-KR" altLang="en-US" sz="1600" dirty="0"/>
              <a:t>선고 </a:t>
            </a:r>
            <a:r>
              <a:rPr lang="en-US" altLang="ko-KR" sz="1600" dirty="0"/>
              <a:t>2005</a:t>
            </a:r>
            <a:r>
              <a:rPr lang="ko-KR" altLang="en-US" sz="1600" dirty="0"/>
              <a:t>후</a:t>
            </a:r>
            <a:r>
              <a:rPr lang="en-US" altLang="ko-KR" sz="1600" dirty="0"/>
              <a:t>3017 </a:t>
            </a:r>
            <a:r>
              <a:rPr lang="ko-KR" altLang="en-US" sz="1600" dirty="0"/>
              <a:t>판결</a:t>
            </a:r>
            <a:r>
              <a:rPr lang="en-US" altLang="ko-KR" sz="1600" dirty="0"/>
              <a:t>【</a:t>
            </a:r>
            <a:r>
              <a:rPr lang="ko-KR" altLang="en-US" sz="1600" dirty="0"/>
              <a:t>등록무효</a:t>
            </a:r>
            <a:r>
              <a:rPr lang="en-US" altLang="ko-KR" sz="1600" dirty="0"/>
              <a:t>(</a:t>
            </a:r>
            <a:r>
              <a:rPr lang="ko-KR" altLang="en-US" sz="1600" dirty="0" err="1"/>
              <a:t>특</a:t>
            </a:r>
            <a:r>
              <a:rPr lang="en-US" altLang="ko-KR" sz="1600" dirty="0"/>
              <a:t>)】</a:t>
            </a:r>
            <a:endParaRPr lang="ko-KR" altLang="en-US" sz="1600" dirty="0"/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85DA65B5-3277-4ADF-95AF-47AB4FD658B7}"/>
              </a:ext>
            </a:extLst>
          </p:cNvPr>
          <p:cNvCxnSpPr/>
          <p:nvPr/>
        </p:nvCxnSpPr>
        <p:spPr>
          <a:xfrm>
            <a:off x="0" y="3369279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AC2CAAE-BD39-4990-A867-53F268370BFC}"/>
              </a:ext>
            </a:extLst>
          </p:cNvPr>
          <p:cNvSpPr txBox="1"/>
          <p:nvPr/>
        </p:nvSpPr>
        <p:spPr>
          <a:xfrm>
            <a:off x="737141" y="5282520"/>
            <a:ext cx="1957842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로스트 왁스 주조용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폐왁스의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재생방법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52B0388-8969-4B15-B793-E3C1AF7D164D}"/>
              </a:ext>
            </a:extLst>
          </p:cNvPr>
          <p:cNvCxnSpPr>
            <a:stCxn id="37" idx="0"/>
            <a:endCxn id="21" idx="2"/>
          </p:cNvCxnSpPr>
          <p:nvPr/>
        </p:nvCxnSpPr>
        <p:spPr>
          <a:xfrm flipV="1">
            <a:off x="1716062" y="5121107"/>
            <a:ext cx="1" cy="16141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6A6D92F-3456-4E35-B7C3-B37DA01DD08F}"/>
              </a:ext>
            </a:extLst>
          </p:cNvPr>
          <p:cNvSpPr txBox="1"/>
          <p:nvPr/>
        </p:nvSpPr>
        <p:spPr>
          <a:xfrm>
            <a:off x="1192779" y="4073203"/>
            <a:ext cx="1046568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실용출원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(Y)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01AE4F-6B2F-4B0E-8606-3513BF249DF8}"/>
              </a:ext>
            </a:extLst>
          </p:cNvPr>
          <p:cNvSpPr txBox="1"/>
          <p:nvPr/>
        </p:nvSpPr>
        <p:spPr>
          <a:xfrm>
            <a:off x="737141" y="3471288"/>
            <a:ext cx="1957842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로스트 왁스 주조용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폐왁스의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재생장치</a:t>
            </a: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D6F989D6-AFAD-4BD5-8F37-C28FC01F67B4}"/>
              </a:ext>
            </a:extLst>
          </p:cNvPr>
          <p:cNvCxnSpPr>
            <a:cxnSpLocks/>
            <a:stCxn id="42" idx="2"/>
            <a:endCxn id="41" idx="0"/>
          </p:cNvCxnSpPr>
          <p:nvPr/>
        </p:nvCxnSpPr>
        <p:spPr>
          <a:xfrm>
            <a:off x="1716062" y="3932953"/>
            <a:ext cx="1" cy="1402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C513C404-2A87-4E14-85E8-C3CA1D0A05C6}"/>
              </a:ext>
            </a:extLst>
          </p:cNvPr>
          <p:cNvCxnSpPr>
            <a:cxnSpLocks/>
            <a:stCxn id="41" idx="2"/>
            <a:endCxn id="22" idx="0"/>
          </p:cNvCxnSpPr>
          <p:nvPr/>
        </p:nvCxnSpPr>
        <p:spPr>
          <a:xfrm flipH="1">
            <a:off x="1716062" y="4350202"/>
            <a:ext cx="1" cy="15088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44130F92-BFED-41BE-80C0-B40193DAF13B}"/>
              </a:ext>
            </a:extLst>
          </p:cNvPr>
          <p:cNvSpPr txBox="1"/>
          <p:nvPr/>
        </p:nvSpPr>
        <p:spPr>
          <a:xfrm>
            <a:off x="2477708" y="4061040"/>
            <a:ext cx="667476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등록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(Y)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7B735FDE-534D-4C32-A88C-0033E968BCF4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2811446" y="4338039"/>
            <a:ext cx="0" cy="15596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타원 71">
            <a:extLst>
              <a:ext uri="{FF2B5EF4-FFF2-40B4-BE49-F238E27FC236}">
                <a16:creationId xmlns:a16="http://schemas.microsoft.com/office/drawing/2014/main" id="{675BF3F3-C91C-4F21-A764-A7281904A65E}"/>
              </a:ext>
            </a:extLst>
          </p:cNvPr>
          <p:cNvSpPr/>
          <p:nvPr/>
        </p:nvSpPr>
        <p:spPr>
          <a:xfrm>
            <a:off x="2738063" y="449399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DAD79FE-4685-490A-A61E-4F240A3AE857}"/>
              </a:ext>
            </a:extLst>
          </p:cNvPr>
          <p:cNvSpPr txBox="1"/>
          <p:nvPr/>
        </p:nvSpPr>
        <p:spPr>
          <a:xfrm>
            <a:off x="4027618" y="4061040"/>
            <a:ext cx="667476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포기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(Y)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CADE4A9E-C751-4A2C-8B9C-17E5820A27EC}"/>
              </a:ext>
            </a:extLst>
          </p:cNvPr>
          <p:cNvCxnSpPr>
            <a:cxnSpLocks/>
            <a:stCxn id="73" idx="2"/>
          </p:cNvCxnSpPr>
          <p:nvPr/>
        </p:nvCxnSpPr>
        <p:spPr>
          <a:xfrm>
            <a:off x="4361356" y="4338039"/>
            <a:ext cx="0" cy="15596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타원 74">
            <a:extLst>
              <a:ext uri="{FF2B5EF4-FFF2-40B4-BE49-F238E27FC236}">
                <a16:creationId xmlns:a16="http://schemas.microsoft.com/office/drawing/2014/main" id="{8D5F350E-3E73-431E-B0DA-76A12135E575}"/>
              </a:ext>
            </a:extLst>
          </p:cNvPr>
          <p:cNvSpPr/>
          <p:nvPr/>
        </p:nvSpPr>
        <p:spPr>
          <a:xfrm>
            <a:off x="4287973" y="449399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EA0F166C-73C2-4228-BDE4-CAA5D7881981}"/>
              </a:ext>
            </a:extLst>
          </p:cNvPr>
          <p:cNvSpPr/>
          <p:nvPr/>
        </p:nvSpPr>
        <p:spPr>
          <a:xfrm>
            <a:off x="6314818" y="4493999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D2B1C9FE-8D7C-43D8-8F84-85BC9AF0C919}"/>
              </a:ext>
            </a:extLst>
          </p:cNvPr>
          <p:cNvCxnSpPr>
            <a:cxnSpLocks/>
            <a:stCxn id="78" idx="0"/>
            <a:endCxn id="76" idx="4"/>
          </p:cNvCxnSpPr>
          <p:nvPr/>
        </p:nvCxnSpPr>
        <p:spPr>
          <a:xfrm flipV="1">
            <a:off x="6392187" y="4655337"/>
            <a:ext cx="0" cy="20309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6438682B-790F-402A-8545-CAD2FC4B1F85}"/>
              </a:ext>
            </a:extLst>
          </p:cNvPr>
          <p:cNvSpPr txBox="1"/>
          <p:nvPr/>
        </p:nvSpPr>
        <p:spPr>
          <a:xfrm>
            <a:off x="6015060" y="4858427"/>
            <a:ext cx="754254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(X)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784455AA-DE5D-4168-B07C-4DAA9F22CFC0}"/>
              </a:ext>
            </a:extLst>
          </p:cNvPr>
          <p:cNvSpPr/>
          <p:nvPr/>
        </p:nvSpPr>
        <p:spPr>
          <a:xfrm>
            <a:off x="7551363" y="4493999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63814A67-DFB5-4FB5-A6D8-4FDE28A00532}"/>
              </a:ext>
            </a:extLst>
          </p:cNvPr>
          <p:cNvCxnSpPr>
            <a:cxnSpLocks/>
            <a:stCxn id="93" idx="0"/>
            <a:endCxn id="84" idx="4"/>
          </p:cNvCxnSpPr>
          <p:nvPr/>
        </p:nvCxnSpPr>
        <p:spPr>
          <a:xfrm flipV="1">
            <a:off x="7628732" y="4655337"/>
            <a:ext cx="0" cy="20309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7A82D6E7-94E1-4D7A-BE0F-E4A86DF18AE7}"/>
              </a:ext>
            </a:extLst>
          </p:cNvPr>
          <p:cNvSpPr txBox="1"/>
          <p:nvPr/>
        </p:nvSpPr>
        <p:spPr>
          <a:xfrm>
            <a:off x="6869605" y="4858427"/>
            <a:ext cx="1518254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乙의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심결취소소송제기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(X)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605601D7-A620-442B-9D2B-1EDBBF7D1A62}"/>
              </a:ext>
            </a:extLst>
          </p:cNvPr>
          <p:cNvSpPr/>
          <p:nvPr/>
        </p:nvSpPr>
        <p:spPr>
          <a:xfrm>
            <a:off x="8815071" y="4493999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03BA267D-D576-40B9-AE81-D6CDD7B30C4B}"/>
              </a:ext>
            </a:extLst>
          </p:cNvPr>
          <p:cNvCxnSpPr>
            <a:cxnSpLocks/>
            <a:stCxn id="97" idx="0"/>
            <a:endCxn id="95" idx="4"/>
          </p:cNvCxnSpPr>
          <p:nvPr/>
        </p:nvCxnSpPr>
        <p:spPr>
          <a:xfrm flipV="1">
            <a:off x="8892440" y="4655337"/>
            <a:ext cx="0" cy="20309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5B1E8417-EE45-41D8-AA52-2B2FD1584DB8}"/>
              </a:ext>
            </a:extLst>
          </p:cNvPr>
          <p:cNvSpPr txBox="1"/>
          <p:nvPr/>
        </p:nvSpPr>
        <p:spPr>
          <a:xfrm>
            <a:off x="8515313" y="4858427"/>
            <a:ext cx="754254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인용판결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(X)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5A211B6B-4B83-4475-BC09-A41F7D1360F6}"/>
              </a:ext>
            </a:extLst>
          </p:cNvPr>
          <p:cNvSpPr/>
          <p:nvPr/>
        </p:nvSpPr>
        <p:spPr>
          <a:xfrm>
            <a:off x="9668112" y="4493999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904B8374-B68D-43D2-87E8-8A6113BBD27D}"/>
              </a:ext>
            </a:extLst>
          </p:cNvPr>
          <p:cNvCxnSpPr>
            <a:cxnSpLocks/>
            <a:stCxn id="100" idx="0"/>
            <a:endCxn id="98" idx="4"/>
          </p:cNvCxnSpPr>
          <p:nvPr/>
        </p:nvCxnSpPr>
        <p:spPr>
          <a:xfrm flipV="1">
            <a:off x="9745481" y="4655337"/>
            <a:ext cx="0" cy="20309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1A5608C0-33C9-44C8-B175-F35BA9A093BD}"/>
              </a:ext>
            </a:extLst>
          </p:cNvPr>
          <p:cNvSpPr txBox="1"/>
          <p:nvPr/>
        </p:nvSpPr>
        <p:spPr>
          <a:xfrm>
            <a:off x="9370958" y="4858427"/>
            <a:ext cx="749046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甲의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상고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(X)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53743B83-8563-4876-A9C6-AE220FB3E0B6}"/>
              </a:ext>
            </a:extLst>
          </p:cNvPr>
          <p:cNvSpPr/>
          <p:nvPr/>
        </p:nvSpPr>
        <p:spPr>
          <a:xfrm>
            <a:off x="10502612" y="4493999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4AB14D99-378A-4EE2-AB6C-22EC0B080725}"/>
              </a:ext>
            </a:extLst>
          </p:cNvPr>
          <p:cNvCxnSpPr>
            <a:cxnSpLocks/>
            <a:stCxn id="103" idx="0"/>
            <a:endCxn id="101" idx="4"/>
          </p:cNvCxnSpPr>
          <p:nvPr/>
        </p:nvCxnSpPr>
        <p:spPr>
          <a:xfrm flipV="1">
            <a:off x="10579981" y="4655337"/>
            <a:ext cx="0" cy="20309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3FB62375-65F0-4A2E-B76F-E3A9E3691CF6}"/>
              </a:ext>
            </a:extLst>
          </p:cNvPr>
          <p:cNvSpPr txBox="1"/>
          <p:nvPr/>
        </p:nvSpPr>
        <p:spPr>
          <a:xfrm>
            <a:off x="10202854" y="4858427"/>
            <a:ext cx="754254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기각판결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(X)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" name="말풍선: 모서리가 둥근 사각형 46">
            <a:extLst>
              <a:ext uri="{FF2B5EF4-FFF2-40B4-BE49-F238E27FC236}">
                <a16:creationId xmlns:a16="http://schemas.microsoft.com/office/drawing/2014/main" id="{C7B0F6DC-3155-4D54-98EC-5B8D2D2AC288}"/>
              </a:ext>
            </a:extLst>
          </p:cNvPr>
          <p:cNvSpPr/>
          <p:nvPr/>
        </p:nvSpPr>
        <p:spPr>
          <a:xfrm>
            <a:off x="4234543" y="5511765"/>
            <a:ext cx="6890657" cy="325727"/>
          </a:xfrm>
          <a:prstGeom prst="wedgeRoundRectCallout">
            <a:avLst>
              <a:gd name="adj1" fmla="val -20126"/>
              <a:gd name="adj2" fmla="val -104785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실질적 동일성이 있으나 어느 한 권리를 유지하고 나머지 권리를 포기한 경우 협의가 이루어진 것으로 봐야 함</a:t>
            </a:r>
          </a:p>
        </p:txBody>
      </p:sp>
      <p:sp>
        <p:nvSpPr>
          <p:cNvPr id="104" name="말풍선: 모서리가 둥근 사각형 103">
            <a:extLst>
              <a:ext uri="{FF2B5EF4-FFF2-40B4-BE49-F238E27FC236}">
                <a16:creationId xmlns:a16="http://schemas.microsoft.com/office/drawing/2014/main" id="{43373A3F-398A-41D9-84F5-BAC68481A06C}"/>
              </a:ext>
            </a:extLst>
          </p:cNvPr>
          <p:cNvSpPr/>
          <p:nvPr/>
        </p:nvSpPr>
        <p:spPr>
          <a:xfrm>
            <a:off x="4768477" y="3597428"/>
            <a:ext cx="7245715" cy="528840"/>
          </a:xfrm>
          <a:prstGeom prst="wedgeRoundRectCallout">
            <a:avLst>
              <a:gd name="adj1" fmla="val 26554"/>
              <a:gd name="adj2" fmla="val 169028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1"/>
                </a:solidFill>
              </a:rPr>
              <a:t>실질적 동일성이 있으며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사후적으로 포기하더라도 제</a:t>
            </a:r>
            <a:r>
              <a:rPr lang="en-US" altLang="ko-KR" sz="1200" dirty="0">
                <a:solidFill>
                  <a:schemeClr val="tx1"/>
                </a:solidFill>
              </a:rPr>
              <a:t>36</a:t>
            </a:r>
            <a:r>
              <a:rPr lang="ko-KR" altLang="en-US" sz="1200" dirty="0">
                <a:solidFill>
                  <a:schemeClr val="tx1"/>
                </a:solidFill>
              </a:rPr>
              <a:t>조의 협의에 해당하지 않고 무효사유가 치유되지 않음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1"/>
                </a:solidFill>
              </a:rPr>
              <a:t>등록무효와 달리 소급효가 없어 포기하기 전까지는 권리가 유효하게 중복된 상태이므로 등록무효와 달리 봐야 함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66AA437-29DE-465D-A1C1-A1E305F9D763}"/>
              </a:ext>
            </a:extLst>
          </p:cNvPr>
          <p:cNvSpPr/>
          <p:nvPr/>
        </p:nvSpPr>
        <p:spPr>
          <a:xfrm>
            <a:off x="113937" y="5923623"/>
            <a:ext cx="11987867" cy="90024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rgbClr val="FF0000"/>
                </a:solidFill>
              </a:rPr>
              <a:t>(</a:t>
            </a:r>
            <a:r>
              <a:rPr lang="ko-KR" altLang="en-US" sz="1050" b="1" dirty="0">
                <a:solidFill>
                  <a:srgbClr val="FF0000"/>
                </a:solidFill>
              </a:rPr>
              <a:t>실질적 동일성의 비판</a:t>
            </a:r>
            <a:r>
              <a:rPr lang="en-US" altLang="ko-KR" sz="1050" b="1" dirty="0">
                <a:solidFill>
                  <a:srgbClr val="FF0000"/>
                </a:solidFill>
              </a:rPr>
              <a:t>) </a:t>
            </a:r>
            <a:r>
              <a:rPr lang="ko-KR" altLang="en-US" sz="1050" dirty="0"/>
              <a:t>출원인이 서로 상이하다고 판단하여 별개의 출원으로 출원한 복수의 발명을 그 구성의 차이에도 불구하고 </a:t>
            </a:r>
            <a:r>
              <a:rPr lang="en-US" altLang="ko-KR" sz="1050" dirty="0"/>
              <a:t>'</a:t>
            </a:r>
            <a:r>
              <a:rPr lang="ko-KR" altLang="en-US" sz="1050" dirty="0"/>
              <a:t>실질적으로 </a:t>
            </a:r>
            <a:r>
              <a:rPr lang="ko-KR" altLang="en-US" sz="1050" dirty="0" err="1"/>
              <a:t>동일’하다고</a:t>
            </a:r>
            <a:r>
              <a:rPr lang="ko-KR" altLang="en-US" sz="1050" dirty="0"/>
              <a:t> 판단하여 모두 무효로 하는 것은</a:t>
            </a:r>
            <a:r>
              <a:rPr lang="en-US" altLang="ko-KR" sz="1050" dirty="0"/>
              <a:t>, 1) </a:t>
            </a:r>
            <a:r>
              <a:rPr lang="ko-KR" altLang="en-US" sz="1050" dirty="0"/>
              <a:t>이와 같은 복수의 출원을 하나의 출원서에 복수의 청구항으로 기재하여 출원하는 경우라면 모두 유효하게 등록될 수 있었을 것이라는 점과</a:t>
            </a:r>
            <a:r>
              <a:rPr lang="en-US" altLang="ko-KR" sz="1050" dirty="0"/>
              <a:t>, 2) </a:t>
            </a:r>
            <a:r>
              <a:rPr lang="ko-KR" altLang="en-US" sz="1050" dirty="0"/>
              <a:t>유사한 복수의 발명을 출원일을 달리하여 출원하는 경우에는 독점권을 부당하게 연장시키는 효과가 발생할 수도 있으나</a:t>
            </a:r>
            <a:r>
              <a:rPr lang="en-US" altLang="ko-KR" sz="1050" dirty="0"/>
              <a:t>, </a:t>
            </a:r>
            <a:r>
              <a:rPr lang="ko-KR" altLang="en-US" sz="1050" dirty="0"/>
              <a:t>출원일이 동일하므로 유사한 복수의 발명을 출원하여 독점권을 향유할 수 있는 기간을 부당하게 연장하는 점이 없다는 점</a:t>
            </a:r>
            <a:r>
              <a:rPr lang="en-US" altLang="ko-KR" sz="1050" dirty="0"/>
              <a:t>,  3) </a:t>
            </a:r>
            <a:r>
              <a:rPr lang="ko-KR" altLang="en-US" sz="1050" dirty="0"/>
              <a:t>특히 발명의 범주의 차이에도 불구하고 동일하다고 판단한 경우에서 물건의 발명과 방법의 발명은 특허권자가 누릴 수 있는 권리의 내용에 있어 큰 차이가 있다는 점</a:t>
            </a:r>
            <a:r>
              <a:rPr lang="en-US" altLang="ko-KR" sz="1050" dirty="0"/>
              <a:t>, 4) </a:t>
            </a:r>
            <a:r>
              <a:rPr lang="ko-KR" altLang="en-US" sz="1050" dirty="0"/>
              <a:t>선후출원 판단시의 실질적 동일성 개념의 적용은 미국에서 선출원에 비하여 진보성이 부정되는 후출원이 등록이 되지 아니하는 점과 일견 유사한 점이 있으나 미국에서도 이 경우 기간의 포기서</a:t>
            </a:r>
            <a:r>
              <a:rPr lang="en-US" altLang="ko-KR" sz="1050" dirty="0"/>
              <a:t>(terminal disclaimer) </a:t>
            </a:r>
            <a:r>
              <a:rPr lang="ko-KR" altLang="en-US" sz="1050" dirty="0"/>
              <a:t>제출로 동일인의 경우 경합발명이 모두 등록이 가능하다는 점을 상기하면</a:t>
            </a:r>
            <a:r>
              <a:rPr lang="en-US" altLang="ko-KR" sz="1050" dirty="0"/>
              <a:t>, </a:t>
            </a:r>
            <a:r>
              <a:rPr lang="ko-KR" altLang="en-US" sz="1050" dirty="0"/>
              <a:t>상기와 같은 결과는 매우 부당한 것이라고 생각된다</a:t>
            </a:r>
            <a:r>
              <a:rPr lang="en-US" altLang="ko-KR" sz="1050" dirty="0"/>
              <a:t>.</a:t>
            </a:r>
            <a:endParaRPr lang="ko-KR" altLang="en-US" sz="1050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DE3E196-FEFA-4997-9849-3AF2F2D1B258}"/>
              </a:ext>
            </a:extLst>
          </p:cNvPr>
          <p:cNvSpPr/>
          <p:nvPr/>
        </p:nvSpPr>
        <p:spPr>
          <a:xfrm>
            <a:off x="10871617" y="4729162"/>
            <a:ext cx="325720" cy="32572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3FB1E980-9301-43C2-A78E-8FE7D74A1C02}"/>
              </a:ext>
            </a:extLst>
          </p:cNvPr>
          <p:cNvSpPr/>
          <p:nvPr/>
        </p:nvSpPr>
        <p:spPr>
          <a:xfrm>
            <a:off x="11197337" y="4729162"/>
            <a:ext cx="325720" cy="32572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87679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279509F-5216-C035-D723-7AE32CE13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84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C7D3C623-9D3B-4267-DB69-C16E8FFB4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9B69469-AEBC-2300-B16E-10C8409A7E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판례의 논거들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A7EC58-1263-F08A-6927-74620DBF8306}"/>
              </a:ext>
            </a:extLst>
          </p:cNvPr>
          <p:cNvSpPr txBox="1"/>
          <p:nvPr/>
        </p:nvSpPr>
        <p:spPr>
          <a:xfrm>
            <a:off x="820135" y="1837768"/>
            <a:ext cx="2420470" cy="107328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2000" dirty="0" err="1"/>
              <a:t>문언적</a:t>
            </a:r>
            <a:r>
              <a:rPr lang="ko-KR" altLang="en-US" sz="2000" dirty="0"/>
              <a:t> 해석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7B546E-7BD6-2894-CCA8-0D278B1C4D8E}"/>
              </a:ext>
            </a:extLst>
          </p:cNvPr>
          <p:cNvSpPr txBox="1"/>
          <p:nvPr/>
        </p:nvSpPr>
        <p:spPr>
          <a:xfrm>
            <a:off x="820135" y="3040484"/>
            <a:ext cx="2420470" cy="107328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2000" dirty="0"/>
              <a:t>법규정</a:t>
            </a:r>
            <a:r>
              <a:rPr lang="en-US" altLang="ko-KR" sz="2000" dirty="0"/>
              <a:t>(</a:t>
            </a:r>
            <a:r>
              <a:rPr lang="ko-KR" altLang="en-US" sz="2000" dirty="0"/>
              <a:t>법리</a:t>
            </a:r>
            <a:r>
              <a:rPr lang="en-US" altLang="ko-KR" sz="2000" dirty="0"/>
              <a:t>)</a:t>
            </a:r>
            <a:r>
              <a:rPr lang="ko-KR" altLang="en-US" sz="2000" dirty="0"/>
              <a:t>의 </a:t>
            </a:r>
            <a:endParaRPr lang="en-US" altLang="ko-KR" sz="2000" dirty="0"/>
          </a:p>
          <a:p>
            <a:pPr algn="ctr"/>
            <a:r>
              <a:rPr lang="ko-KR" altLang="en-US" sz="2000" dirty="0"/>
              <a:t>취지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97B07C-DF73-0249-52E3-FDDA6092DCB6}"/>
              </a:ext>
            </a:extLst>
          </p:cNvPr>
          <p:cNvSpPr txBox="1"/>
          <p:nvPr/>
        </p:nvSpPr>
        <p:spPr>
          <a:xfrm>
            <a:off x="820135" y="4225272"/>
            <a:ext cx="2420470" cy="107328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2000" dirty="0"/>
              <a:t>특허법의 목적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F44F88-A4EE-DDF7-E483-20FEAA423288}"/>
              </a:ext>
            </a:extLst>
          </p:cNvPr>
          <p:cNvSpPr txBox="1"/>
          <p:nvPr/>
        </p:nvSpPr>
        <p:spPr>
          <a:xfrm>
            <a:off x="820135" y="5426134"/>
            <a:ext cx="2420470" cy="107328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2000" dirty="0"/>
              <a:t>다른 법률과의 </a:t>
            </a:r>
            <a:endParaRPr lang="en-US" altLang="ko-KR" sz="2000" dirty="0"/>
          </a:p>
          <a:p>
            <a:pPr algn="ctr"/>
            <a:r>
              <a:rPr lang="ko-KR" altLang="en-US" sz="2000" dirty="0"/>
              <a:t>형평성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9877A0C-4DCB-7FAE-71C5-7AFEB8A512F9}"/>
              </a:ext>
            </a:extLst>
          </p:cNvPr>
          <p:cNvCxnSpPr>
            <a:cxnSpLocks/>
          </p:cNvCxnSpPr>
          <p:nvPr/>
        </p:nvCxnSpPr>
        <p:spPr>
          <a:xfrm>
            <a:off x="3527477" y="1649506"/>
            <a:ext cx="0" cy="5047129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766129A-BFD1-6064-DE0C-FA82F6BBAFD6}"/>
              </a:ext>
            </a:extLst>
          </p:cNvPr>
          <p:cNvSpPr txBox="1"/>
          <p:nvPr/>
        </p:nvSpPr>
        <p:spPr>
          <a:xfrm>
            <a:off x="3724700" y="1070641"/>
            <a:ext cx="6333785" cy="36933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FFFF00"/>
                </a:solidFill>
              </a:rPr>
              <a:t>(2005</a:t>
            </a:r>
            <a:r>
              <a:rPr lang="ko-KR" altLang="en-US" sz="1800" dirty="0">
                <a:solidFill>
                  <a:srgbClr val="FFFF00"/>
                </a:solidFill>
              </a:rPr>
              <a:t>후</a:t>
            </a:r>
            <a:r>
              <a:rPr lang="en-US" altLang="ko-KR" sz="1800" dirty="0">
                <a:solidFill>
                  <a:srgbClr val="FFFF00"/>
                </a:solidFill>
              </a:rPr>
              <a:t>3017) </a:t>
            </a:r>
            <a:r>
              <a:rPr lang="ko-KR" altLang="en-US" dirty="0">
                <a:solidFill>
                  <a:srgbClr val="FFFF00"/>
                </a:solidFill>
              </a:rPr>
              <a:t>특허권의 포기에 대해서는 선출원의 지위가 인정됨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93E9CD-DED6-D614-0788-65D77B9DA38D}"/>
              </a:ext>
            </a:extLst>
          </p:cNvPr>
          <p:cNvSpPr txBox="1"/>
          <p:nvPr/>
        </p:nvSpPr>
        <p:spPr>
          <a:xfrm>
            <a:off x="3724699" y="1830108"/>
            <a:ext cx="7923961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제</a:t>
            </a:r>
            <a:r>
              <a:rPr lang="en-US" altLang="ko-KR" sz="1600" dirty="0">
                <a:solidFill>
                  <a:srgbClr val="FF0000"/>
                </a:solidFill>
              </a:rPr>
              <a:t>36</a:t>
            </a:r>
            <a:r>
              <a:rPr lang="ko-KR" altLang="en-US" sz="1600" dirty="0">
                <a:solidFill>
                  <a:srgbClr val="FF0000"/>
                </a:solidFill>
              </a:rPr>
              <a:t>조</a:t>
            </a:r>
            <a:r>
              <a:rPr lang="ko-KR" altLang="en-US" sz="1600" dirty="0"/>
              <a:t>에 선출원의 지위 불인정 사유로 규정되어 있지 않음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17043D-FCA1-CA67-B640-77B32CF95921}"/>
              </a:ext>
            </a:extLst>
          </p:cNvPr>
          <p:cNvSpPr txBox="1"/>
          <p:nvPr/>
        </p:nvSpPr>
        <p:spPr>
          <a:xfrm>
            <a:off x="3724700" y="2214593"/>
            <a:ext cx="7923964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제</a:t>
            </a:r>
            <a:r>
              <a:rPr lang="en-US" altLang="ko-KR" sz="1600" dirty="0">
                <a:solidFill>
                  <a:srgbClr val="FF0000"/>
                </a:solidFill>
              </a:rPr>
              <a:t>120</a:t>
            </a:r>
            <a:r>
              <a:rPr lang="ko-KR" altLang="en-US" sz="1600" dirty="0">
                <a:solidFill>
                  <a:srgbClr val="FF0000"/>
                </a:solidFill>
              </a:rPr>
              <a:t>조</a:t>
            </a:r>
            <a:r>
              <a:rPr lang="ko-KR" altLang="en-US" sz="1600" dirty="0"/>
              <a:t>에 의한 특허권의 포기는 특허권의 포기는 출원의 포기와 달리 소급효가 인정되지 않음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47F3E3-803A-EE43-5B73-CAD0D62256A7}"/>
              </a:ext>
            </a:extLst>
          </p:cNvPr>
          <p:cNvSpPr txBox="1"/>
          <p:nvPr/>
        </p:nvSpPr>
        <p:spPr>
          <a:xfrm>
            <a:off x="3724699" y="2593806"/>
            <a:ext cx="7923963" cy="5847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제</a:t>
            </a:r>
            <a:r>
              <a:rPr lang="en-US" altLang="ko-KR" sz="1600" dirty="0"/>
              <a:t>120</a:t>
            </a:r>
            <a:r>
              <a:rPr lang="ko-KR" altLang="en-US" sz="1600" dirty="0"/>
              <a:t>조에 의한 특허권의 포기는 </a:t>
            </a:r>
            <a:r>
              <a:rPr lang="ko-KR" altLang="en-US" sz="1600" dirty="0">
                <a:solidFill>
                  <a:srgbClr val="FF0000"/>
                </a:solidFill>
              </a:rPr>
              <a:t>제</a:t>
            </a:r>
            <a:r>
              <a:rPr lang="en-US" altLang="ko-KR" sz="1600" dirty="0">
                <a:solidFill>
                  <a:srgbClr val="FF0000"/>
                </a:solidFill>
              </a:rPr>
              <a:t>101</a:t>
            </a:r>
            <a:r>
              <a:rPr lang="ko-KR" altLang="en-US" sz="1600" dirty="0">
                <a:solidFill>
                  <a:srgbClr val="FF0000"/>
                </a:solidFill>
              </a:rPr>
              <a:t>조제</a:t>
            </a:r>
            <a:r>
              <a:rPr lang="en-US" altLang="ko-KR" sz="1600" dirty="0">
                <a:solidFill>
                  <a:srgbClr val="FF0000"/>
                </a:solidFill>
              </a:rPr>
              <a:t>1</a:t>
            </a:r>
            <a:r>
              <a:rPr lang="ko-KR" altLang="en-US" sz="1600" dirty="0" err="1">
                <a:solidFill>
                  <a:srgbClr val="FF0000"/>
                </a:solidFill>
              </a:rPr>
              <a:t>항제</a:t>
            </a:r>
            <a:r>
              <a:rPr lang="en-US" altLang="ko-KR" sz="1600" dirty="0">
                <a:solidFill>
                  <a:srgbClr val="FF0000"/>
                </a:solidFill>
              </a:rPr>
              <a:t>1</a:t>
            </a:r>
            <a:r>
              <a:rPr lang="ko-KR" altLang="en-US" sz="1600" dirty="0">
                <a:solidFill>
                  <a:srgbClr val="FF0000"/>
                </a:solidFill>
              </a:rPr>
              <a:t>호</a:t>
            </a:r>
            <a:r>
              <a:rPr lang="ko-KR" altLang="en-US" sz="1600" dirty="0"/>
              <a:t>에 따라 등록이 </a:t>
            </a:r>
            <a:r>
              <a:rPr lang="ko-KR" altLang="en-US" sz="1600" dirty="0" err="1"/>
              <a:t>효력발생요건인데</a:t>
            </a:r>
            <a:endParaRPr lang="en-US" altLang="ko-KR" sz="1600" dirty="0"/>
          </a:p>
          <a:p>
            <a:r>
              <a:rPr lang="ko-KR" altLang="en-US" sz="1600" dirty="0"/>
              <a:t>대외적인 공시방법으로 충분하지 않음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409775-5262-4FE1-37B0-B8CBDC34003E}"/>
              </a:ext>
            </a:extLst>
          </p:cNvPr>
          <p:cNvSpPr txBox="1"/>
          <p:nvPr/>
        </p:nvSpPr>
        <p:spPr>
          <a:xfrm>
            <a:off x="3724700" y="3345319"/>
            <a:ext cx="7923962" cy="5847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제</a:t>
            </a:r>
            <a:r>
              <a:rPr lang="en-US" altLang="ko-KR" sz="1600" dirty="0"/>
              <a:t>120</a:t>
            </a:r>
            <a:r>
              <a:rPr lang="ko-KR" altLang="en-US" sz="1600" dirty="0"/>
              <a:t>조에 의한 특허권의 포기는 특허권자가 시기와 대상을 임의로 정할 수 있어서 법적 안정성을 해침</a:t>
            </a:r>
          </a:p>
        </p:txBody>
      </p:sp>
    </p:spTree>
    <p:extLst>
      <p:ext uri="{BB962C8B-B14F-4D97-AF65-F5344CB8AC3E}">
        <p14:creationId xmlns:p14="http://schemas.microsoft.com/office/powerpoint/2010/main" val="20160564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36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발명의 범주가 다른 경우의 선출원주의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85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7875" y="1341693"/>
            <a:ext cx="1193632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400" dirty="0"/>
              <a:t>[1] </a:t>
            </a:r>
            <a:r>
              <a:rPr lang="ko-KR" altLang="en-US" sz="1400" dirty="0"/>
              <a:t>구 특허법</a:t>
            </a:r>
            <a:r>
              <a:rPr lang="en-US" altLang="ko-KR" sz="1400" dirty="0"/>
              <a:t>(1990.1.13.</a:t>
            </a:r>
            <a:r>
              <a:rPr lang="ko-KR" altLang="en-US" sz="1400" dirty="0"/>
              <a:t>법률 제</a:t>
            </a:r>
            <a:r>
              <a:rPr lang="en-US" altLang="ko-KR" sz="1400" dirty="0"/>
              <a:t>42307</a:t>
            </a:r>
            <a:r>
              <a:rPr lang="ko-KR" altLang="en-US" sz="1400" dirty="0"/>
              <a:t>호로 전부 개정되기 전의 것</a:t>
            </a:r>
            <a:r>
              <a:rPr lang="en-US" altLang="ko-KR" sz="1400" dirty="0"/>
              <a:t>)</a:t>
            </a:r>
            <a:r>
              <a:rPr lang="ko-KR" altLang="en-US" sz="1400" dirty="0"/>
              <a:t>제</a:t>
            </a:r>
            <a:r>
              <a:rPr lang="en-US" altLang="ko-KR" sz="1400" dirty="0"/>
              <a:t>11</a:t>
            </a:r>
            <a:r>
              <a:rPr lang="ko-KR" altLang="en-US" sz="1400" dirty="0"/>
              <a:t>조 제</a:t>
            </a:r>
            <a:r>
              <a:rPr lang="en-US" altLang="ko-KR" sz="1400" dirty="0"/>
              <a:t>1</a:t>
            </a:r>
            <a:r>
              <a:rPr lang="ko-KR" altLang="en-US" sz="1400" dirty="0"/>
              <a:t>항 은 동일한 발명에 대하여는 최선출원에 한하여 특허를 받을 수 있다고 규정하여 동일한 발명에 대한 중복등록을 방지하기 위하여 선출원주의를 채택하고 있다</a:t>
            </a:r>
            <a:r>
              <a:rPr lang="en-US" altLang="ko-KR" sz="1400" dirty="0"/>
              <a:t>. </a:t>
            </a:r>
            <a:r>
              <a:rPr lang="ko-KR" altLang="en-US" sz="1400" dirty="0"/>
              <a:t>전후로 출원된 양 발명이 동일하다고 함은 그 기술적 구성이 전면적으로 일치하는 경우는 물론 그 범위에 차이가 있을 뿐 부분적으로 일치하는 경우라도 특별한 사정이 없는 한</a:t>
            </a:r>
            <a:r>
              <a:rPr lang="en-US" altLang="ko-KR" sz="1400" dirty="0"/>
              <a:t>, </a:t>
            </a:r>
            <a:r>
              <a:rPr lang="ko-KR" altLang="en-US" sz="1400" dirty="0"/>
              <a:t>양발명은 동일하고</a:t>
            </a:r>
            <a:r>
              <a:rPr lang="en-US" altLang="ko-KR" sz="1400" dirty="0"/>
              <a:t>,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비록 양 발명의 구성에 상이점이 있어도 그 기술분야에 통상의 지식을 가진 자가 보통으로 채용하는 정도의 변경에 지나지 아니하고 발명의 목적과 작용 효과에 특별한 차이를 일으키지 아니하는 경우</a:t>
            </a:r>
            <a:r>
              <a:rPr lang="ko-KR" altLang="en-US" sz="1400" dirty="0"/>
              <a:t>에는 양 발명은 역시 동일한 발명이다</a:t>
            </a:r>
            <a:r>
              <a:rPr lang="en-US" altLang="ko-KR" sz="1400" dirty="0"/>
              <a:t>.  </a:t>
            </a:r>
          </a:p>
          <a:p>
            <a:pPr fontAlgn="base"/>
            <a:r>
              <a:rPr lang="en-US" altLang="ko-KR" sz="1400" dirty="0"/>
              <a:t>[2] </a:t>
            </a:r>
            <a:r>
              <a:rPr lang="ko-KR" altLang="en-US" sz="1400" dirty="0"/>
              <a:t>구 특허법</a:t>
            </a:r>
            <a:r>
              <a:rPr lang="en-US" altLang="ko-KR" sz="1400" dirty="0"/>
              <a:t>(1990.1.13.</a:t>
            </a:r>
            <a:r>
              <a:rPr lang="ko-KR" altLang="en-US" sz="1400" dirty="0"/>
              <a:t>법률 제</a:t>
            </a:r>
            <a:r>
              <a:rPr lang="en-US" altLang="ko-KR" sz="1400" dirty="0"/>
              <a:t>42307</a:t>
            </a:r>
            <a:r>
              <a:rPr lang="ko-KR" altLang="en-US" sz="1400" dirty="0"/>
              <a:t>호로 전부 개정되기 전의 것</a:t>
            </a:r>
            <a:r>
              <a:rPr lang="en-US" altLang="ko-KR" sz="1400" dirty="0"/>
              <a:t>)</a:t>
            </a:r>
            <a:r>
              <a:rPr lang="ko-KR" altLang="en-US" sz="1400" dirty="0"/>
              <a:t>제</a:t>
            </a:r>
            <a:r>
              <a:rPr lang="en-US" altLang="ko-KR" sz="1400" dirty="0"/>
              <a:t>11</a:t>
            </a:r>
            <a:r>
              <a:rPr lang="ko-KR" altLang="en-US" sz="1400" dirty="0"/>
              <a:t>조 제</a:t>
            </a:r>
            <a:r>
              <a:rPr lang="en-US" altLang="ko-KR" sz="1400" dirty="0"/>
              <a:t>1</a:t>
            </a:r>
            <a:r>
              <a:rPr lang="ko-KR" altLang="en-US" sz="1400" dirty="0"/>
              <a:t>항을 적용하기 위한 전제로서 두 발명이 서로 동일한 발명인지 여부를 판단함에 있어서는 대비되는 두 발명의 실체를 파악하여 따져보아야 할 것이지 표현양식에 따른 차이가 있는지 여부에 따라 판단할 것은 아니므로</a:t>
            </a:r>
            <a:r>
              <a:rPr lang="en-US" altLang="ko-KR" sz="1400" dirty="0"/>
              <a:t>,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대비되는 두 발명이 각각 물건의 발명과 방법의 발명으로 서로 발명의 범주가 다르다는 사정만으로 곧바로 동일한 발명이 아니라고 단정할 수 없다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.</a:t>
            </a:r>
            <a:r>
              <a:rPr lang="en-US" altLang="ko-KR" sz="1400" dirty="0"/>
              <a:t>  </a:t>
            </a:r>
          </a:p>
          <a:p>
            <a:pPr fontAlgn="base"/>
            <a:r>
              <a:rPr lang="en-US" altLang="ko-KR" sz="1400" dirty="0"/>
              <a:t>[3] </a:t>
            </a:r>
            <a:r>
              <a:rPr lang="ko-KR" altLang="en-US" sz="1400" dirty="0"/>
              <a:t>등록된 특허발명이 그 출원 전에 국내에서 공지되었거나 공연히 실시된 발명으로서 신규성이 없는 경우에는 그에 대한 등록무효심판이 없어도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그 권리범위를 인정 할 수 없으며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,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/>
              <a:t>특허무효사유에 있어서 신규성 결여와 선출원주의 위반은 특허발명 내지 </a:t>
            </a:r>
            <a:r>
              <a:rPr lang="ko-KR" altLang="en-US" sz="1400" dirty="0" err="1"/>
              <a:t>후출원발명과</a:t>
            </a:r>
            <a:r>
              <a:rPr lang="ko-KR" altLang="en-US" sz="1400" dirty="0"/>
              <a:t> 선행발명 내지 선출원발명의 동일성 여부가 문제된다는 점에서 다르지 않으므로</a:t>
            </a:r>
            <a:r>
              <a:rPr lang="en-US" altLang="ko-KR" sz="1400" dirty="0"/>
              <a:t>, </a:t>
            </a:r>
            <a:r>
              <a:rPr lang="ko-KR" altLang="en-US" sz="1400" dirty="0"/>
              <a:t>위 법리는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후출원발명에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선출원주의 위반의 무효사유가 있는 경우에도 그대로 적용</a:t>
            </a:r>
            <a:r>
              <a:rPr lang="ko-KR" altLang="en-US" sz="1400" dirty="0"/>
              <a:t>된다</a:t>
            </a:r>
            <a:r>
              <a:rPr lang="en-US" altLang="ko-KR" sz="1400" dirty="0"/>
              <a:t>. </a:t>
            </a:r>
          </a:p>
        </p:txBody>
      </p:sp>
      <p:sp>
        <p:nvSpPr>
          <p:cNvPr id="20" name="Line 5">
            <a:extLst>
              <a:ext uri="{FF2B5EF4-FFF2-40B4-BE49-F238E27FC236}">
                <a16:creationId xmlns:a16="http://schemas.microsoft.com/office/drawing/2014/main" id="{ACCDA59F-2AF7-4FC8-9236-82288B8FB7B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658" y="4563258"/>
            <a:ext cx="11001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4A9B38-9CBF-428C-922A-DB33022A9147}"/>
              </a:ext>
            </a:extLst>
          </p:cNvPr>
          <p:cNvSpPr txBox="1"/>
          <p:nvPr/>
        </p:nvSpPr>
        <p:spPr>
          <a:xfrm>
            <a:off x="1530399" y="4819433"/>
            <a:ext cx="114732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특허출원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(X)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D7DE53CC-C4D9-422B-AF3A-7B30A9EA5F60}"/>
              </a:ext>
            </a:extLst>
          </p:cNvPr>
          <p:cNvSpPr/>
          <p:nvPr/>
        </p:nvSpPr>
        <p:spPr>
          <a:xfrm>
            <a:off x="2033488" y="4476409"/>
            <a:ext cx="141148" cy="14716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08FCD3A-E182-4831-A770-42918078B18B}"/>
              </a:ext>
            </a:extLst>
          </p:cNvPr>
          <p:cNvCxnSpPr>
            <a:cxnSpLocks/>
            <a:stCxn id="21" idx="0"/>
            <a:endCxn id="22" idx="4"/>
          </p:cNvCxnSpPr>
          <p:nvPr/>
        </p:nvCxnSpPr>
        <p:spPr>
          <a:xfrm flipH="1" flipV="1">
            <a:off x="2104062" y="4623577"/>
            <a:ext cx="1" cy="195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61FAB89-FCF5-43F0-95FF-6883B7A962C2}"/>
              </a:ext>
            </a:extLst>
          </p:cNvPr>
          <p:cNvSpPr txBox="1"/>
          <p:nvPr/>
        </p:nvSpPr>
        <p:spPr>
          <a:xfrm>
            <a:off x="5944560" y="4819433"/>
            <a:ext cx="720266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등록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(X)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287B676-6868-44D3-B4DB-53B7D46E69F1}"/>
              </a:ext>
            </a:extLst>
          </p:cNvPr>
          <p:cNvSpPr/>
          <p:nvPr/>
        </p:nvSpPr>
        <p:spPr>
          <a:xfrm>
            <a:off x="6227323" y="446932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616A2BCD-A858-4187-8094-DEF1E330CA4D}"/>
              </a:ext>
            </a:extLst>
          </p:cNvPr>
          <p:cNvCxnSpPr>
            <a:cxnSpLocks/>
            <a:stCxn id="27" idx="0"/>
            <a:endCxn id="28" idx="4"/>
          </p:cNvCxnSpPr>
          <p:nvPr/>
        </p:nvCxnSpPr>
        <p:spPr>
          <a:xfrm flipH="1" flipV="1">
            <a:off x="6304692" y="463066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83D1C3A-9892-4861-9E7D-128450D07D78}"/>
              </a:ext>
            </a:extLst>
          </p:cNvPr>
          <p:cNvSpPr/>
          <p:nvPr/>
        </p:nvSpPr>
        <p:spPr>
          <a:xfrm>
            <a:off x="113937" y="964867"/>
            <a:ext cx="5969374" cy="346234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bIns="0">
            <a:spAutoFit/>
          </a:bodyPr>
          <a:lstStyle/>
          <a:p>
            <a:r>
              <a:rPr lang="ko-KR" altLang="en-US" sz="1600" dirty="0"/>
              <a:t>대법원 </a:t>
            </a:r>
            <a:r>
              <a:rPr lang="en-US" altLang="ko-KR" sz="1600" dirty="0"/>
              <a:t>2009. 9. 24. </a:t>
            </a:r>
            <a:r>
              <a:rPr lang="ko-KR" altLang="en-US" sz="1600" dirty="0"/>
              <a:t>선고 </a:t>
            </a:r>
            <a:r>
              <a:rPr lang="en-US" altLang="ko-KR" sz="1600" dirty="0"/>
              <a:t>2007</a:t>
            </a:r>
            <a:r>
              <a:rPr lang="ko-KR" altLang="en-US" sz="1600" dirty="0"/>
              <a:t>후</a:t>
            </a:r>
            <a:r>
              <a:rPr lang="en-US" altLang="ko-KR" sz="1600" dirty="0"/>
              <a:t>2827 </a:t>
            </a:r>
            <a:r>
              <a:rPr lang="ko-KR" altLang="en-US" sz="1600" dirty="0"/>
              <a:t>판결 </a:t>
            </a:r>
            <a:r>
              <a:rPr lang="en-US" altLang="ko-KR" sz="1600" dirty="0"/>
              <a:t>【</a:t>
            </a:r>
            <a:r>
              <a:rPr lang="ko-KR" altLang="en-US" sz="1600" dirty="0"/>
              <a:t>권리범위확인</a:t>
            </a:r>
            <a:r>
              <a:rPr lang="en-US" altLang="ko-KR" sz="1600" dirty="0"/>
              <a:t>(</a:t>
            </a:r>
            <a:r>
              <a:rPr lang="ko-KR" altLang="en-US" sz="1600" dirty="0" err="1"/>
              <a:t>특</a:t>
            </a:r>
            <a:r>
              <a:rPr lang="en-US" altLang="ko-KR" sz="1600" dirty="0"/>
              <a:t>)】</a:t>
            </a:r>
            <a:endParaRPr lang="ko-KR" altLang="en-US" sz="1600" dirty="0"/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85DA65B5-3277-4ADF-95AF-47AB4FD658B7}"/>
              </a:ext>
            </a:extLst>
          </p:cNvPr>
          <p:cNvCxnSpPr/>
          <p:nvPr/>
        </p:nvCxnSpPr>
        <p:spPr>
          <a:xfrm>
            <a:off x="0" y="3848905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AC2CAAE-BD39-4990-A867-53F268370BFC}"/>
              </a:ext>
            </a:extLst>
          </p:cNvPr>
          <p:cNvSpPr txBox="1"/>
          <p:nvPr/>
        </p:nvSpPr>
        <p:spPr>
          <a:xfrm>
            <a:off x="472884" y="5257845"/>
            <a:ext cx="3262356" cy="83099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/>
              <a:t>암로디핀</a:t>
            </a:r>
            <a:r>
              <a:rPr lang="ko-KR" altLang="en-US" sz="1200" dirty="0"/>
              <a:t> 염기를 불활성 용매 중에서 </a:t>
            </a:r>
            <a:r>
              <a:rPr lang="ko-KR" altLang="en-US" sz="1200" dirty="0" err="1"/>
              <a:t>벤젠설폰산</a:t>
            </a:r>
            <a:r>
              <a:rPr lang="ko-KR" altLang="en-US" sz="1200" dirty="0"/>
              <a:t> 또는 그의 암모늄염의 용액과 반응시킨 후 </a:t>
            </a:r>
            <a:r>
              <a:rPr lang="ko-KR" altLang="en-US" sz="1200" dirty="0" err="1"/>
              <a:t>암로디핀의</a:t>
            </a:r>
            <a:r>
              <a:rPr lang="ko-KR" altLang="en-US" sz="1200" dirty="0"/>
              <a:t> </a:t>
            </a:r>
            <a:r>
              <a:rPr lang="ko-KR" altLang="en-US" sz="1200" dirty="0" err="1"/>
              <a:t>베실레이트염을</a:t>
            </a:r>
            <a:r>
              <a:rPr lang="ko-KR" altLang="en-US" sz="1200" dirty="0"/>
              <a:t> 회수함을 특징으로 하여 </a:t>
            </a:r>
            <a:r>
              <a:rPr lang="ko-KR" altLang="en-US" sz="1200" dirty="0" err="1"/>
              <a:t>암로디핀의</a:t>
            </a:r>
            <a:r>
              <a:rPr lang="ko-KR" altLang="en-US" sz="1200" dirty="0"/>
              <a:t> </a:t>
            </a:r>
            <a:r>
              <a:rPr lang="ko-KR" altLang="en-US" sz="1200" dirty="0" err="1"/>
              <a:t>베실레이트염을</a:t>
            </a:r>
            <a:r>
              <a:rPr lang="ko-KR" altLang="en-US" sz="1200" dirty="0"/>
              <a:t> 제조하는 방법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52B0388-8969-4B15-B793-E3C1AF7D164D}"/>
              </a:ext>
            </a:extLst>
          </p:cNvPr>
          <p:cNvCxnSpPr>
            <a:cxnSpLocks/>
            <a:stCxn id="37" idx="0"/>
            <a:endCxn id="21" idx="2"/>
          </p:cNvCxnSpPr>
          <p:nvPr/>
        </p:nvCxnSpPr>
        <p:spPr>
          <a:xfrm flipV="1">
            <a:off x="2104062" y="5096432"/>
            <a:ext cx="1" cy="16141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999B311-108C-4360-B404-112176F90F45}"/>
              </a:ext>
            </a:extLst>
          </p:cNvPr>
          <p:cNvSpPr txBox="1"/>
          <p:nvPr/>
        </p:nvSpPr>
        <p:spPr>
          <a:xfrm>
            <a:off x="4202166" y="4819433"/>
            <a:ext cx="1147328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특허출원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(Y)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79A5A288-5FA6-46E6-BC75-43B7FB32100D}"/>
              </a:ext>
            </a:extLst>
          </p:cNvPr>
          <p:cNvSpPr/>
          <p:nvPr/>
        </p:nvSpPr>
        <p:spPr>
          <a:xfrm>
            <a:off x="4705255" y="4476409"/>
            <a:ext cx="141148" cy="14716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DA0317E4-1917-4596-8F89-DE15A2F8693F}"/>
              </a:ext>
            </a:extLst>
          </p:cNvPr>
          <p:cNvCxnSpPr>
            <a:cxnSpLocks/>
            <a:stCxn id="60" idx="0"/>
            <a:endCxn id="61" idx="4"/>
          </p:cNvCxnSpPr>
          <p:nvPr/>
        </p:nvCxnSpPr>
        <p:spPr>
          <a:xfrm flipH="1" flipV="1">
            <a:off x="4775829" y="4623577"/>
            <a:ext cx="1" cy="195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AB666DEF-976A-4485-BF11-5BA2FC8164BF}"/>
              </a:ext>
            </a:extLst>
          </p:cNvPr>
          <p:cNvSpPr txBox="1"/>
          <p:nvPr/>
        </p:nvSpPr>
        <p:spPr>
          <a:xfrm>
            <a:off x="6800987" y="4819433"/>
            <a:ext cx="720266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등록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(Y)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040A2FA9-1AF7-4118-BB3B-0B51F886A91A}"/>
              </a:ext>
            </a:extLst>
          </p:cNvPr>
          <p:cNvSpPr/>
          <p:nvPr/>
        </p:nvSpPr>
        <p:spPr>
          <a:xfrm>
            <a:off x="7083750" y="4469324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CCD9C98D-7A02-461F-9633-FD964C654F46}"/>
              </a:ext>
            </a:extLst>
          </p:cNvPr>
          <p:cNvCxnSpPr>
            <a:cxnSpLocks/>
            <a:stCxn id="66" idx="0"/>
            <a:endCxn id="67" idx="4"/>
          </p:cNvCxnSpPr>
          <p:nvPr/>
        </p:nvCxnSpPr>
        <p:spPr>
          <a:xfrm flipH="1" flipV="1">
            <a:off x="7161119" y="463066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625C9412-C9FA-4CF0-85C6-81EC37FF4FAA}"/>
              </a:ext>
            </a:extLst>
          </p:cNvPr>
          <p:cNvSpPr txBox="1"/>
          <p:nvPr/>
        </p:nvSpPr>
        <p:spPr>
          <a:xfrm>
            <a:off x="3815093" y="5257845"/>
            <a:ext cx="1921472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/>
              <a:t>암로디핀의</a:t>
            </a:r>
            <a:r>
              <a:rPr lang="ko-KR" altLang="en-US" sz="1200" dirty="0"/>
              <a:t> </a:t>
            </a:r>
            <a:r>
              <a:rPr lang="ko-KR" altLang="en-US" sz="1200" dirty="0" err="1"/>
              <a:t>베실레이트염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C90EFF77-743B-4320-AE0C-1C6DCE726A20}"/>
              </a:ext>
            </a:extLst>
          </p:cNvPr>
          <p:cNvCxnSpPr>
            <a:cxnSpLocks/>
            <a:stCxn id="69" idx="0"/>
            <a:endCxn id="60" idx="2"/>
          </p:cNvCxnSpPr>
          <p:nvPr/>
        </p:nvCxnSpPr>
        <p:spPr>
          <a:xfrm flipV="1">
            <a:off x="4775829" y="5096432"/>
            <a:ext cx="1" cy="16141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2663F233-3270-46CE-AC7E-08B18F89A077}"/>
              </a:ext>
            </a:extLst>
          </p:cNvPr>
          <p:cNvSpPr txBox="1"/>
          <p:nvPr/>
        </p:nvSpPr>
        <p:spPr>
          <a:xfrm>
            <a:off x="7890138" y="4819433"/>
            <a:ext cx="1996288" cy="276999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丙 소극적 권리범위 청구</a:t>
            </a:r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(Y)</a:t>
            </a:r>
            <a:endParaRPr lang="ko-KR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45C73ACC-334A-47F7-A7E9-DE32779A3F74}"/>
              </a:ext>
            </a:extLst>
          </p:cNvPr>
          <p:cNvSpPr/>
          <p:nvPr/>
        </p:nvSpPr>
        <p:spPr>
          <a:xfrm>
            <a:off x="8810912" y="4469324"/>
            <a:ext cx="154738" cy="161338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B4CD380B-A1C4-419A-9CC1-854A74D308A3}"/>
              </a:ext>
            </a:extLst>
          </p:cNvPr>
          <p:cNvCxnSpPr>
            <a:cxnSpLocks/>
            <a:stCxn id="71" idx="0"/>
            <a:endCxn id="79" idx="4"/>
          </p:cNvCxnSpPr>
          <p:nvPr/>
        </p:nvCxnSpPr>
        <p:spPr>
          <a:xfrm flipH="1" flipV="1">
            <a:off x="8888281" y="463066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F40A7C9-79E0-4CEF-BF03-743C0BCA5657}"/>
              </a:ext>
            </a:extLst>
          </p:cNvPr>
          <p:cNvSpPr txBox="1"/>
          <p:nvPr/>
        </p:nvSpPr>
        <p:spPr>
          <a:xfrm>
            <a:off x="10263880" y="4819433"/>
            <a:ext cx="1054150" cy="276999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+mn-ea"/>
              </a:rPr>
              <a:t>인용심결</a:t>
            </a:r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(Y)</a:t>
            </a:r>
            <a:endParaRPr lang="ko-KR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21FD8562-30CC-4973-89CD-B5CFF7EACBD8}"/>
              </a:ext>
            </a:extLst>
          </p:cNvPr>
          <p:cNvSpPr/>
          <p:nvPr/>
        </p:nvSpPr>
        <p:spPr>
          <a:xfrm>
            <a:off x="10713585" y="4469324"/>
            <a:ext cx="154738" cy="161338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D9358921-39CF-44C3-848A-E5A513D013F5}"/>
              </a:ext>
            </a:extLst>
          </p:cNvPr>
          <p:cNvCxnSpPr>
            <a:cxnSpLocks/>
            <a:stCxn id="30" idx="0"/>
            <a:endCxn id="31" idx="4"/>
          </p:cNvCxnSpPr>
          <p:nvPr/>
        </p:nvCxnSpPr>
        <p:spPr>
          <a:xfrm flipH="1" flipV="1">
            <a:off x="10790954" y="463066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타원 6">
            <a:extLst>
              <a:ext uri="{FF2B5EF4-FFF2-40B4-BE49-F238E27FC236}">
                <a16:creationId xmlns:a16="http://schemas.microsoft.com/office/drawing/2014/main" id="{DD021D7D-C776-42D1-B61D-4C80C7620963}"/>
              </a:ext>
            </a:extLst>
          </p:cNvPr>
          <p:cNvSpPr/>
          <p:nvPr/>
        </p:nvSpPr>
        <p:spPr>
          <a:xfrm>
            <a:off x="8515935" y="5678279"/>
            <a:ext cx="317241" cy="31724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5578F54A-B0BE-45C2-B4A0-6C10BA0FAEC2}"/>
              </a:ext>
            </a:extLst>
          </p:cNvPr>
          <p:cNvSpPr/>
          <p:nvPr/>
        </p:nvSpPr>
        <p:spPr>
          <a:xfrm>
            <a:off x="6040793" y="6090894"/>
            <a:ext cx="317241" cy="31724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80CC6B1A-8D2B-4433-8056-9DE2E8F54A4A}"/>
              </a:ext>
            </a:extLst>
          </p:cNvPr>
          <p:cNvSpPr/>
          <p:nvPr/>
        </p:nvSpPr>
        <p:spPr>
          <a:xfrm>
            <a:off x="10661601" y="5126582"/>
            <a:ext cx="317241" cy="31724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0CCFF819-37C6-A7B9-828E-D848FC01DF9A}"/>
              </a:ext>
            </a:extLst>
          </p:cNvPr>
          <p:cNvCxnSpPr>
            <a:endCxn id="69" idx="2"/>
          </p:cNvCxnSpPr>
          <p:nvPr/>
        </p:nvCxnSpPr>
        <p:spPr>
          <a:xfrm flipV="1">
            <a:off x="3735240" y="5534844"/>
            <a:ext cx="1040589" cy="272584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49CA73D-A044-AB92-2E4C-FF2E84C33EAB}"/>
              </a:ext>
            </a:extLst>
          </p:cNvPr>
          <p:cNvSpPr txBox="1"/>
          <p:nvPr/>
        </p:nvSpPr>
        <p:spPr>
          <a:xfrm>
            <a:off x="4749077" y="5728058"/>
            <a:ext cx="383149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- </a:t>
            </a:r>
            <a:r>
              <a:rPr lang="ko-KR" altLang="en-US" sz="1100" dirty="0">
                <a:solidFill>
                  <a:srgbClr val="FF0000"/>
                </a:solidFill>
              </a:rPr>
              <a:t>제법에 의해 생산된 물건발명과 </a:t>
            </a:r>
            <a:r>
              <a:rPr lang="ko-KR" altLang="en-US" sz="1100" dirty="0" err="1">
                <a:solidFill>
                  <a:srgbClr val="FF0000"/>
                </a:solidFill>
              </a:rPr>
              <a:t>후출원</a:t>
            </a:r>
            <a:r>
              <a:rPr lang="ko-KR" altLang="en-US" sz="1100" dirty="0">
                <a:solidFill>
                  <a:srgbClr val="FF0000"/>
                </a:solidFill>
              </a:rPr>
              <a:t> 물건발명의 구성의 상이</a:t>
            </a:r>
            <a:endParaRPr lang="en-US" altLang="ko-KR" sz="1100" dirty="0">
              <a:solidFill>
                <a:srgbClr val="FF0000"/>
              </a:solidFill>
            </a:endParaRPr>
          </a:p>
          <a:p>
            <a:endParaRPr lang="en-US" altLang="ko-KR" sz="1100" dirty="0">
              <a:solidFill>
                <a:srgbClr val="FF0000"/>
              </a:solidFill>
            </a:endParaRPr>
          </a:p>
          <a:p>
            <a:r>
              <a:rPr lang="en-US" altLang="ko-KR" sz="1100" dirty="0">
                <a:solidFill>
                  <a:srgbClr val="FF0000"/>
                </a:solidFill>
              </a:rPr>
              <a:t>- </a:t>
            </a:r>
            <a:r>
              <a:rPr lang="ko-KR" altLang="en-US" sz="1100" dirty="0">
                <a:solidFill>
                  <a:srgbClr val="FF0000"/>
                </a:solidFill>
              </a:rPr>
              <a:t>제법발명</a:t>
            </a:r>
            <a:r>
              <a:rPr lang="en-US" altLang="ko-KR" sz="1100" dirty="0">
                <a:solidFill>
                  <a:srgbClr val="FF0000"/>
                </a:solidFill>
              </a:rPr>
              <a:t>-</a:t>
            </a:r>
            <a:r>
              <a:rPr lang="ko-KR" altLang="en-US" sz="1100" dirty="0">
                <a:solidFill>
                  <a:srgbClr val="FF0000"/>
                </a:solidFill>
              </a:rPr>
              <a:t>물건발명</a:t>
            </a:r>
            <a:endParaRPr lang="en-US" altLang="ko-KR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5201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자유형 10"/>
          <p:cNvSpPr/>
          <p:nvPr/>
        </p:nvSpPr>
        <p:spPr>
          <a:xfrm>
            <a:off x="3719244" y="3914453"/>
            <a:ext cx="6256746" cy="832207"/>
          </a:xfrm>
          <a:custGeom>
            <a:avLst/>
            <a:gdLst>
              <a:gd name="connsiteX0" fmla="*/ 0 w 6318607"/>
              <a:gd name="connsiteY0" fmla="*/ 832207 h 832207"/>
              <a:gd name="connsiteX1" fmla="*/ 277402 w 6318607"/>
              <a:gd name="connsiteY1" fmla="*/ 0 h 832207"/>
              <a:gd name="connsiteX2" fmla="*/ 6010382 w 6318607"/>
              <a:gd name="connsiteY2" fmla="*/ 0 h 832207"/>
              <a:gd name="connsiteX3" fmla="*/ 6318607 w 6318607"/>
              <a:gd name="connsiteY3" fmla="*/ 791110 h 832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18607" h="832207">
                <a:moveTo>
                  <a:pt x="0" y="832207"/>
                </a:moveTo>
                <a:lnTo>
                  <a:pt x="277402" y="0"/>
                </a:lnTo>
                <a:lnTo>
                  <a:pt x="6010382" y="0"/>
                </a:lnTo>
                <a:lnTo>
                  <a:pt x="6318607" y="791110"/>
                </a:lnTo>
              </a:path>
            </a:pathLst>
          </a:custGeom>
          <a:pattFill prst="ltHorz">
            <a:fgClr>
              <a:schemeClr val="accent2"/>
            </a:fgClr>
            <a:bgClr>
              <a:schemeClr val="bg1"/>
            </a:bgClr>
          </a:pattFill>
          <a:ln>
            <a:solidFill>
              <a:schemeClr val="accent4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3</a:t>
            </a:r>
            <a:r>
              <a:rPr lang="ko-KR" altLang="en-US" dirty="0"/>
              <a:t>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확대된 선출원의 개념</a:t>
            </a:r>
          </a:p>
        </p:txBody>
      </p:sp>
      <p:cxnSp>
        <p:nvCxnSpPr>
          <p:cNvPr id="52" name="직선 연결선 51"/>
          <p:cNvCxnSpPr/>
          <p:nvPr/>
        </p:nvCxnSpPr>
        <p:spPr>
          <a:xfrm>
            <a:off x="1656739" y="4750837"/>
            <a:ext cx="906753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7875" y="986046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29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 err="1">
                <a:solidFill>
                  <a:schemeClr val="accent1"/>
                </a:solidFill>
              </a:rPr>
              <a:t>특허요건</a:t>
            </a:r>
            <a:r>
              <a:rPr lang="en-US" altLang="ko-KR" sz="1400" b="1" dirty="0">
                <a:solidFill>
                  <a:schemeClr val="accent1"/>
                </a:solidFill>
              </a:rPr>
              <a:t>)</a:t>
            </a:r>
            <a:r>
              <a:rPr lang="en-US" altLang="ko-KR" sz="1400" dirty="0">
                <a:solidFill>
                  <a:schemeClr val="tx2"/>
                </a:solidFill>
              </a:rPr>
              <a:t> </a:t>
            </a:r>
            <a:r>
              <a:rPr lang="ko-KR" altLang="en-US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특허출원한</a:t>
            </a:r>
            <a:r>
              <a:rPr lang="ko-KR" altLang="en-US" sz="1400" dirty="0">
                <a:solidFill>
                  <a:schemeClr val="tx2"/>
                </a:solidFill>
              </a:rPr>
              <a:t> 발명이 다음 각 호의 요건을 모두 갖춘 다른 특허출원의 </a:t>
            </a:r>
            <a:r>
              <a:rPr lang="ko-KR" altLang="en-US" sz="1400" dirty="0" err="1">
                <a:solidFill>
                  <a:schemeClr val="tx2"/>
                </a:solidFill>
              </a:rPr>
              <a:t>출원서에</a:t>
            </a:r>
            <a:r>
              <a:rPr lang="ko-KR" altLang="en-US" sz="1400" dirty="0">
                <a:solidFill>
                  <a:schemeClr val="tx2"/>
                </a:solidFill>
              </a:rPr>
              <a:t> 최초로 첨부한 명세서 또는 도면에 기재된 발명과 동일한 경우에 그 발명은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항에도 불구하고 특허를 받을 수 없다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그 특허출원의 발명자와 다른 특허출원의 발명자가 같거나 그 특허출원을 출원한 때의 </a:t>
            </a:r>
            <a:r>
              <a:rPr lang="ko-KR" altLang="en-US" sz="1400" dirty="0" err="1">
                <a:solidFill>
                  <a:schemeClr val="tx2"/>
                </a:solidFill>
              </a:rPr>
              <a:t>출원인과</a:t>
            </a:r>
            <a:r>
              <a:rPr lang="ko-KR" altLang="en-US" sz="1400" dirty="0">
                <a:solidFill>
                  <a:schemeClr val="tx2"/>
                </a:solidFill>
              </a:rPr>
              <a:t> 다른 특허출원의 </a:t>
            </a:r>
            <a:r>
              <a:rPr lang="ko-KR" altLang="en-US" sz="1400" dirty="0" err="1">
                <a:solidFill>
                  <a:schemeClr val="tx2"/>
                </a:solidFill>
              </a:rPr>
              <a:t>출원인이</a:t>
            </a:r>
            <a:r>
              <a:rPr lang="ko-KR" altLang="en-US" sz="1400" dirty="0">
                <a:solidFill>
                  <a:schemeClr val="tx2"/>
                </a:solidFill>
              </a:rPr>
              <a:t> 같은 경우에는 그러하지 아니하다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  1. </a:t>
            </a:r>
            <a:r>
              <a:rPr lang="ko-KR" altLang="en-US" sz="1400" dirty="0">
                <a:solidFill>
                  <a:schemeClr val="tx2"/>
                </a:solidFill>
              </a:rPr>
              <a:t>그 특허출원일 전에 출원된 특허출원일 것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  </a:t>
            </a:r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그 특허출원 후 제</a:t>
            </a:r>
            <a:r>
              <a:rPr lang="en-US" altLang="ko-KR" sz="1400" dirty="0">
                <a:solidFill>
                  <a:schemeClr val="tx2"/>
                </a:solidFill>
              </a:rPr>
              <a:t>64</a:t>
            </a:r>
            <a:r>
              <a:rPr lang="ko-KR" altLang="en-US" sz="1400" dirty="0">
                <a:solidFill>
                  <a:schemeClr val="tx2"/>
                </a:solidFill>
              </a:rPr>
              <a:t>조에 따라 출원공개되거나 제</a:t>
            </a:r>
            <a:r>
              <a:rPr lang="en-US" altLang="ko-KR" sz="1400" dirty="0">
                <a:solidFill>
                  <a:schemeClr val="tx2"/>
                </a:solidFill>
              </a:rPr>
              <a:t>87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항에 따라 </a:t>
            </a:r>
            <a:r>
              <a:rPr lang="ko-KR" altLang="en-US" sz="1400" dirty="0" err="1">
                <a:solidFill>
                  <a:schemeClr val="tx2"/>
                </a:solidFill>
              </a:rPr>
              <a:t>등록공고된</a:t>
            </a:r>
            <a:r>
              <a:rPr lang="ko-KR" altLang="en-US" sz="1400" dirty="0">
                <a:solidFill>
                  <a:schemeClr val="tx2"/>
                </a:solidFill>
              </a:rPr>
              <a:t> 특허출원일 것</a:t>
            </a:r>
          </a:p>
        </p:txBody>
      </p:sp>
      <p:cxnSp>
        <p:nvCxnSpPr>
          <p:cNvPr id="91" name="직선 연결선 90"/>
          <p:cNvCxnSpPr/>
          <p:nvPr/>
        </p:nvCxnSpPr>
        <p:spPr>
          <a:xfrm>
            <a:off x="0" y="215660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1167003" y="4534388"/>
            <a:ext cx="2626056" cy="4328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특허출원일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  <p:cxnSp>
        <p:nvCxnSpPr>
          <p:cNvPr id="29" name="직선 연결선 28"/>
          <p:cNvCxnSpPr>
            <a:stCxn id="28" idx="0"/>
            <a:endCxn id="30" idx="2"/>
          </p:cNvCxnSpPr>
          <p:nvPr/>
        </p:nvCxnSpPr>
        <p:spPr>
          <a:xfrm flipV="1">
            <a:off x="2480031" y="3558936"/>
            <a:ext cx="5856" cy="9754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66237" y="3251159"/>
            <a:ext cx="1439300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다른 특허출원</a:t>
            </a:r>
            <a:r>
              <a:rPr lang="en-US" altLang="ko-KR" sz="1400" dirty="0"/>
              <a:t>(X)</a:t>
            </a:r>
            <a:endParaRPr lang="ko-KR" altLang="en-US" sz="1400" dirty="0"/>
          </a:p>
        </p:txBody>
      </p:sp>
      <p:sp>
        <p:nvSpPr>
          <p:cNvPr id="31" name="TextBox 30"/>
          <p:cNvSpPr txBox="1"/>
          <p:nvPr/>
        </p:nvSpPr>
        <p:spPr>
          <a:xfrm>
            <a:off x="963261" y="4240562"/>
            <a:ext cx="4459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</a:t>
            </a:r>
            <a:r>
              <a:rPr lang="ko-KR" altLang="en-US" sz="1400" dirty="0"/>
              <a:t>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90114" y="4240562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24</a:t>
            </a:r>
            <a:r>
              <a:rPr lang="ko-KR" altLang="en-US" sz="1400" dirty="0"/>
              <a:t>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58696" y="4240562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10</a:t>
            </a:r>
            <a:r>
              <a:rPr lang="ko-KR" altLang="en-US" sz="1400" dirty="0"/>
              <a:t>시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8584297" y="4534388"/>
            <a:ext cx="2626056" cy="4328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err="1">
                <a:solidFill>
                  <a:schemeClr val="tx1"/>
                </a:solidFill>
              </a:rPr>
              <a:t>출원공개일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  <p:cxnSp>
        <p:nvCxnSpPr>
          <p:cNvPr id="38" name="직선 연결선 37"/>
          <p:cNvCxnSpPr>
            <a:stCxn id="37" idx="0"/>
            <a:endCxn id="39" idx="2"/>
          </p:cNvCxnSpPr>
          <p:nvPr/>
        </p:nvCxnSpPr>
        <p:spPr>
          <a:xfrm flipV="1">
            <a:off x="9897325" y="3558936"/>
            <a:ext cx="5856" cy="9754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285029" y="3251159"/>
            <a:ext cx="1236304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/>
              <a:t>출원공개</a:t>
            </a:r>
            <a:r>
              <a:rPr lang="en-US" altLang="ko-KR" sz="1400" dirty="0"/>
              <a:t>(X)</a:t>
            </a:r>
            <a:endParaRPr lang="ko-KR" altLang="en-US" sz="1400" dirty="0"/>
          </a:p>
        </p:txBody>
      </p:sp>
      <p:sp>
        <p:nvSpPr>
          <p:cNvPr id="40" name="TextBox 39"/>
          <p:cNvSpPr txBox="1"/>
          <p:nvPr/>
        </p:nvSpPr>
        <p:spPr>
          <a:xfrm>
            <a:off x="8380555" y="4240562"/>
            <a:ext cx="4459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</a:t>
            </a:r>
            <a:r>
              <a:rPr lang="ko-KR" altLang="en-US" sz="1400" dirty="0"/>
              <a:t>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07408" y="4240562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24</a:t>
            </a:r>
            <a:r>
              <a:rPr lang="ko-KR" altLang="en-US" sz="1400" dirty="0"/>
              <a:t>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75990" y="4240562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14</a:t>
            </a:r>
            <a:r>
              <a:rPr lang="ko-KR" altLang="en-US" sz="1400" dirty="0"/>
              <a:t>시</a:t>
            </a:r>
          </a:p>
        </p:txBody>
      </p:sp>
      <p:cxnSp>
        <p:nvCxnSpPr>
          <p:cNvPr id="46" name="직선 연결선 45"/>
          <p:cNvCxnSpPr>
            <a:endCxn id="47" idx="0"/>
          </p:cNvCxnSpPr>
          <p:nvPr/>
        </p:nvCxnSpPr>
        <p:spPr>
          <a:xfrm>
            <a:off x="6606170" y="4812408"/>
            <a:ext cx="0" cy="44480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876592" y="5257214"/>
            <a:ext cx="1459156" cy="307777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 그 특허출원</a:t>
            </a:r>
            <a:r>
              <a:rPr lang="en-US" altLang="ko-KR" sz="1400" dirty="0"/>
              <a:t>(Y)</a:t>
            </a:r>
            <a:endParaRPr lang="ko-KR" altLang="en-US" sz="1100" dirty="0"/>
          </a:p>
        </p:txBody>
      </p:sp>
      <p:sp>
        <p:nvSpPr>
          <p:cNvPr id="49" name="직사각형 48"/>
          <p:cNvSpPr/>
          <p:nvPr/>
        </p:nvSpPr>
        <p:spPr>
          <a:xfrm>
            <a:off x="1766234" y="2716546"/>
            <a:ext cx="1439304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766234" y="2946047"/>
            <a:ext cx="1439304" cy="2295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5876591" y="5636430"/>
            <a:ext cx="1459158" cy="2295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5876591" y="5865931"/>
            <a:ext cx="1459158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1" name="구부러진 연결선 20"/>
          <p:cNvCxnSpPr>
            <a:stCxn id="50" idx="3"/>
            <a:endCxn id="54" idx="1"/>
          </p:cNvCxnSpPr>
          <p:nvPr/>
        </p:nvCxnSpPr>
        <p:spPr>
          <a:xfrm>
            <a:off x="3205538" y="3060797"/>
            <a:ext cx="2671053" cy="2690383"/>
          </a:xfrm>
          <a:prstGeom prst="curvedConnector3">
            <a:avLst>
              <a:gd name="adj1" fmla="val 50001"/>
            </a:avLst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633026" y="3210966"/>
            <a:ext cx="151998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동일성</a:t>
            </a:r>
            <a:endParaRPr lang="en-US" altLang="ko-KR" sz="16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객관적 </a:t>
            </a:r>
            <a:r>
              <a:rPr lang="ko-KR" altLang="en-US" sz="1200" dirty="0" err="1"/>
              <a:t>창작성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86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5271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3</a:t>
            </a:r>
            <a:r>
              <a:rPr lang="ko-KR" altLang="en-US" dirty="0"/>
              <a:t>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시기적 기준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875" y="1229205"/>
            <a:ext cx="4607141" cy="12204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r>
              <a:rPr lang="ko-KR" altLang="en-US" sz="1600" dirty="0">
                <a:solidFill>
                  <a:schemeClr val="tx2"/>
                </a:solidFill>
              </a:rPr>
              <a:t>그 특허출원일</a:t>
            </a:r>
            <a:r>
              <a:rPr lang="en-US" altLang="ko-KR" sz="1600" dirty="0">
                <a:solidFill>
                  <a:schemeClr val="tx2"/>
                </a:solidFill>
              </a:rPr>
              <a:t>(Y) </a:t>
            </a:r>
            <a:r>
              <a:rPr lang="ko-KR" altLang="en-US" sz="1600" dirty="0">
                <a:solidFill>
                  <a:schemeClr val="tx2"/>
                </a:solidFill>
              </a:rPr>
              <a:t>전에 출원된 다른 특허출원</a:t>
            </a:r>
            <a:r>
              <a:rPr lang="en-US" altLang="ko-KR" sz="1600" dirty="0">
                <a:solidFill>
                  <a:schemeClr val="tx2"/>
                </a:solidFill>
              </a:rPr>
              <a:t>(X)</a:t>
            </a:r>
            <a:r>
              <a:rPr lang="ko-KR" altLang="en-US" sz="1600" dirty="0">
                <a:solidFill>
                  <a:schemeClr val="tx2"/>
                </a:solidFill>
              </a:rPr>
              <a:t>일 것</a:t>
            </a:r>
            <a:endParaRPr lang="en-US" altLang="ko-KR" sz="16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600" dirty="0">
                <a:solidFill>
                  <a:schemeClr val="tx2"/>
                </a:solidFill>
              </a:rPr>
              <a:t>= </a:t>
            </a:r>
            <a:r>
              <a:rPr lang="ko-KR" altLang="en-US" sz="1600" dirty="0">
                <a:solidFill>
                  <a:schemeClr val="tx2"/>
                </a:solidFill>
              </a:rPr>
              <a:t>다른 특허출원일</a:t>
            </a:r>
            <a:r>
              <a:rPr lang="en-US" altLang="ko-KR" sz="1600" dirty="0">
                <a:solidFill>
                  <a:schemeClr val="tx2"/>
                </a:solidFill>
              </a:rPr>
              <a:t>(X) </a:t>
            </a:r>
            <a:r>
              <a:rPr lang="ko-KR" altLang="en-US" sz="1600" dirty="0">
                <a:solidFill>
                  <a:schemeClr val="tx2"/>
                </a:solidFill>
              </a:rPr>
              <a:t>후 그 특허출원</a:t>
            </a:r>
            <a:r>
              <a:rPr lang="en-US" altLang="ko-KR" sz="1600" dirty="0">
                <a:solidFill>
                  <a:schemeClr val="tx2"/>
                </a:solidFill>
              </a:rPr>
              <a:t>(Y)</a:t>
            </a:r>
            <a:r>
              <a:rPr lang="ko-KR" altLang="en-US" sz="1600" dirty="0">
                <a:solidFill>
                  <a:schemeClr val="tx2"/>
                </a:solidFill>
              </a:rPr>
              <a:t>이 있을 것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21174" y="2879217"/>
            <a:ext cx="4607141" cy="12351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r>
              <a:rPr lang="ko-KR" altLang="en-US" sz="1600" dirty="0">
                <a:solidFill>
                  <a:schemeClr val="tx2"/>
                </a:solidFill>
              </a:rPr>
              <a:t>그 특허출원</a:t>
            </a:r>
            <a:r>
              <a:rPr lang="en-US" altLang="ko-KR" sz="1600" dirty="0">
                <a:solidFill>
                  <a:schemeClr val="tx2"/>
                </a:solidFill>
              </a:rPr>
              <a:t>(Y) </a:t>
            </a:r>
            <a:r>
              <a:rPr lang="ko-KR" altLang="en-US" sz="1600" dirty="0">
                <a:solidFill>
                  <a:schemeClr val="tx2"/>
                </a:solidFill>
              </a:rPr>
              <a:t>후에 </a:t>
            </a:r>
            <a:r>
              <a:rPr lang="ko-KR" altLang="en-US" sz="1600" dirty="0" err="1">
                <a:solidFill>
                  <a:schemeClr val="tx2"/>
                </a:solidFill>
              </a:rPr>
              <a:t>출원공개나</a:t>
            </a:r>
            <a:r>
              <a:rPr lang="ko-KR" altLang="en-US" sz="1600" dirty="0">
                <a:solidFill>
                  <a:schemeClr val="tx2"/>
                </a:solidFill>
              </a:rPr>
              <a:t> </a:t>
            </a:r>
            <a:r>
              <a:rPr lang="ko-KR" altLang="en-US" sz="1600" dirty="0" err="1">
                <a:solidFill>
                  <a:schemeClr val="tx2"/>
                </a:solidFill>
              </a:rPr>
              <a:t>등록공고된</a:t>
            </a:r>
            <a:r>
              <a:rPr lang="ko-KR" altLang="en-US" sz="1600" dirty="0">
                <a:solidFill>
                  <a:schemeClr val="tx2"/>
                </a:solidFill>
              </a:rPr>
              <a:t> 다른 특허출원</a:t>
            </a:r>
            <a:r>
              <a:rPr lang="en-US" altLang="ko-KR" sz="1600" dirty="0">
                <a:solidFill>
                  <a:schemeClr val="tx2"/>
                </a:solidFill>
              </a:rPr>
              <a:t>(X)</a:t>
            </a:r>
            <a:r>
              <a:rPr lang="ko-KR" altLang="en-US" sz="1600" dirty="0">
                <a:solidFill>
                  <a:schemeClr val="tx2"/>
                </a:solidFill>
              </a:rPr>
              <a:t>일 것</a:t>
            </a:r>
            <a:endParaRPr lang="en-US" altLang="ko-KR" sz="16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600" dirty="0">
                <a:solidFill>
                  <a:schemeClr val="tx2"/>
                </a:solidFill>
              </a:rPr>
              <a:t>= </a:t>
            </a:r>
            <a:r>
              <a:rPr lang="ko-KR" altLang="en-US" sz="1600" dirty="0">
                <a:solidFill>
                  <a:schemeClr val="tx2"/>
                </a:solidFill>
              </a:rPr>
              <a:t>다른 특허출원</a:t>
            </a:r>
            <a:r>
              <a:rPr lang="en-US" altLang="ko-KR" sz="1600" dirty="0">
                <a:solidFill>
                  <a:schemeClr val="tx2"/>
                </a:solidFill>
              </a:rPr>
              <a:t>(X)</a:t>
            </a:r>
            <a:r>
              <a:rPr lang="ko-KR" altLang="en-US" sz="1600" dirty="0">
                <a:solidFill>
                  <a:schemeClr val="tx2"/>
                </a:solidFill>
              </a:rPr>
              <a:t>의 </a:t>
            </a:r>
            <a:r>
              <a:rPr lang="ko-KR" altLang="en-US" sz="1600" dirty="0" err="1">
                <a:solidFill>
                  <a:schemeClr val="tx2"/>
                </a:solidFill>
              </a:rPr>
              <a:t>출원공개나</a:t>
            </a:r>
            <a:r>
              <a:rPr lang="ko-KR" altLang="en-US" sz="1600" dirty="0">
                <a:solidFill>
                  <a:schemeClr val="tx2"/>
                </a:solidFill>
              </a:rPr>
              <a:t> </a:t>
            </a:r>
            <a:r>
              <a:rPr lang="ko-KR" altLang="en-US" sz="1600" dirty="0" err="1">
                <a:solidFill>
                  <a:schemeClr val="tx2"/>
                </a:solidFill>
              </a:rPr>
              <a:t>등록공고</a:t>
            </a:r>
            <a:r>
              <a:rPr lang="ko-KR" altLang="en-US" sz="1600" dirty="0">
                <a:solidFill>
                  <a:schemeClr val="tx2"/>
                </a:solidFill>
              </a:rPr>
              <a:t> 전에 그 특허출원</a:t>
            </a:r>
            <a:r>
              <a:rPr lang="en-US" altLang="ko-KR" sz="1600" dirty="0">
                <a:solidFill>
                  <a:schemeClr val="tx2"/>
                </a:solidFill>
              </a:rPr>
              <a:t>(Y)</a:t>
            </a:r>
            <a:r>
              <a:rPr lang="ko-KR" altLang="en-US" sz="1600" dirty="0">
                <a:solidFill>
                  <a:schemeClr val="tx2"/>
                </a:solidFill>
              </a:rPr>
              <a:t>이 있을 것</a:t>
            </a:r>
          </a:p>
        </p:txBody>
      </p:sp>
      <p:sp>
        <p:nvSpPr>
          <p:cNvPr id="61" name="자유형 60"/>
          <p:cNvSpPr/>
          <p:nvPr/>
        </p:nvSpPr>
        <p:spPr>
          <a:xfrm>
            <a:off x="5323839" y="1372889"/>
            <a:ext cx="1474364" cy="364501"/>
          </a:xfrm>
          <a:custGeom>
            <a:avLst/>
            <a:gdLst>
              <a:gd name="connsiteX0" fmla="*/ 7797800 w 7797800"/>
              <a:gd name="connsiteY0" fmla="*/ 1066800 h 1104900"/>
              <a:gd name="connsiteX1" fmla="*/ 7327900 w 7797800"/>
              <a:gd name="connsiteY1" fmla="*/ 0 h 1104900"/>
              <a:gd name="connsiteX2" fmla="*/ 0 w 7797800"/>
              <a:gd name="connsiteY2" fmla="*/ 0 h 1104900"/>
              <a:gd name="connsiteX3" fmla="*/ 0 w 7797800"/>
              <a:gd name="connsiteY3" fmla="*/ 1104900 h 110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7800" h="1104900">
                <a:moveTo>
                  <a:pt x="7797800" y="1066800"/>
                </a:moveTo>
                <a:lnTo>
                  <a:pt x="7327900" y="0"/>
                </a:lnTo>
                <a:lnTo>
                  <a:pt x="0" y="0"/>
                </a:lnTo>
                <a:lnTo>
                  <a:pt x="0" y="1104900"/>
                </a:lnTo>
              </a:path>
            </a:pathLst>
          </a:custGeom>
          <a:pattFill prst="dkVert">
            <a:fgClr>
              <a:schemeClr val="accent5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cxnSp>
        <p:nvCxnSpPr>
          <p:cNvPr id="62" name="직선 연결선 61"/>
          <p:cNvCxnSpPr/>
          <p:nvPr/>
        </p:nvCxnSpPr>
        <p:spPr>
          <a:xfrm>
            <a:off x="5334222" y="1751031"/>
            <a:ext cx="260530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/>
          <p:cNvSpPr/>
          <p:nvPr/>
        </p:nvSpPr>
        <p:spPr>
          <a:xfrm>
            <a:off x="6760767" y="1632314"/>
            <a:ext cx="1169836" cy="2374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그 특허출원일</a:t>
            </a:r>
          </a:p>
        </p:txBody>
      </p:sp>
      <p:cxnSp>
        <p:nvCxnSpPr>
          <p:cNvPr id="65" name="직선 연결선 64"/>
          <p:cNvCxnSpPr>
            <a:stCxn id="64" idx="2"/>
            <a:endCxn id="66" idx="0"/>
          </p:cNvCxnSpPr>
          <p:nvPr/>
        </p:nvCxnSpPr>
        <p:spPr>
          <a:xfrm>
            <a:off x="7345685" y="1869746"/>
            <a:ext cx="9890" cy="31584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780547" y="2185594"/>
            <a:ext cx="1150056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그 특허출원</a:t>
            </a:r>
            <a:r>
              <a:rPr lang="en-US" altLang="ko-KR" sz="1200" dirty="0"/>
              <a:t>(Y) 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36736" y="1111171"/>
            <a:ext cx="1441420" cy="20062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그 특허출원일</a:t>
            </a:r>
            <a:r>
              <a:rPr lang="en-US" altLang="ko-KR" sz="1200" dirty="0"/>
              <a:t>(Y)</a:t>
            </a:r>
            <a:r>
              <a:rPr lang="ko-KR" altLang="en-US" sz="1200" dirty="0"/>
              <a:t> 전</a:t>
            </a:r>
          </a:p>
        </p:txBody>
      </p:sp>
      <p:cxnSp>
        <p:nvCxnSpPr>
          <p:cNvPr id="71" name="직선 연결선 70"/>
          <p:cNvCxnSpPr>
            <a:endCxn id="72" idx="0"/>
          </p:cNvCxnSpPr>
          <p:nvPr/>
        </p:nvCxnSpPr>
        <p:spPr>
          <a:xfrm>
            <a:off x="5731975" y="1780371"/>
            <a:ext cx="878" cy="16839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111412" y="1948763"/>
            <a:ext cx="124288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다른 특허출원</a:t>
            </a:r>
            <a:r>
              <a:rPr lang="en-US" altLang="ko-KR" sz="1200" dirty="0"/>
              <a:t>(X)  </a:t>
            </a:r>
            <a:endParaRPr lang="ko-KR" altLang="en-US" sz="1200" dirty="0"/>
          </a:p>
        </p:txBody>
      </p:sp>
      <p:sp>
        <p:nvSpPr>
          <p:cNvPr id="73" name="직사각형 72"/>
          <p:cNvSpPr/>
          <p:nvPr/>
        </p:nvSpPr>
        <p:spPr>
          <a:xfrm>
            <a:off x="5317455" y="1118710"/>
            <a:ext cx="90520" cy="6060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9" name="직사각형 8"/>
          <p:cNvSpPr/>
          <p:nvPr/>
        </p:nvSpPr>
        <p:spPr>
          <a:xfrm>
            <a:off x="5013789" y="1037689"/>
            <a:ext cx="3082247" cy="157757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5" name="자유형 14"/>
          <p:cNvSpPr/>
          <p:nvPr/>
        </p:nvSpPr>
        <p:spPr>
          <a:xfrm>
            <a:off x="10078948" y="1394875"/>
            <a:ext cx="1479479" cy="349745"/>
          </a:xfrm>
          <a:custGeom>
            <a:avLst/>
            <a:gdLst>
              <a:gd name="connsiteX0" fmla="*/ 0 w 1479479"/>
              <a:gd name="connsiteY0" fmla="*/ 482885 h 482885"/>
              <a:gd name="connsiteX1" fmla="*/ 215758 w 1479479"/>
              <a:gd name="connsiteY1" fmla="*/ 0 h 482885"/>
              <a:gd name="connsiteX2" fmla="*/ 1479479 w 1479479"/>
              <a:gd name="connsiteY2" fmla="*/ 0 h 482885"/>
              <a:gd name="connsiteX3" fmla="*/ 1479479 w 1479479"/>
              <a:gd name="connsiteY3" fmla="*/ 472611 h 482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9479" h="482885">
                <a:moveTo>
                  <a:pt x="0" y="482885"/>
                </a:moveTo>
                <a:lnTo>
                  <a:pt x="215758" y="0"/>
                </a:lnTo>
                <a:lnTo>
                  <a:pt x="1479479" y="0"/>
                </a:lnTo>
                <a:lnTo>
                  <a:pt x="1479479" y="472611"/>
                </a:lnTo>
              </a:path>
            </a:pathLst>
          </a:custGeom>
          <a:pattFill prst="dkHorz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6" name="직선 연결선 85"/>
          <p:cNvCxnSpPr/>
          <p:nvPr/>
        </p:nvCxnSpPr>
        <p:spPr>
          <a:xfrm>
            <a:off x="9170767" y="1751031"/>
            <a:ext cx="260530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/>
          <p:cNvCxnSpPr>
            <a:endCxn id="89" idx="0"/>
          </p:cNvCxnSpPr>
          <p:nvPr/>
        </p:nvCxnSpPr>
        <p:spPr>
          <a:xfrm>
            <a:off x="11182230" y="1780371"/>
            <a:ext cx="9890" cy="1819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10617092" y="1962355"/>
            <a:ext cx="1150056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그 특허출원</a:t>
            </a:r>
            <a:r>
              <a:rPr lang="en-US" altLang="ko-KR" sz="1200" dirty="0"/>
              <a:t>(Y)  </a:t>
            </a:r>
          </a:p>
        </p:txBody>
      </p:sp>
      <p:cxnSp>
        <p:nvCxnSpPr>
          <p:cNvPr id="93" name="직선 연결선 92"/>
          <p:cNvCxnSpPr>
            <a:stCxn id="97" idx="2"/>
            <a:endCxn id="94" idx="0"/>
          </p:cNvCxnSpPr>
          <p:nvPr/>
        </p:nvCxnSpPr>
        <p:spPr>
          <a:xfrm>
            <a:off x="9568354" y="1869746"/>
            <a:ext cx="1044" cy="34690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8947957" y="2216652"/>
            <a:ext cx="124288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다른 특허출원</a:t>
            </a:r>
            <a:r>
              <a:rPr lang="en-US" altLang="ko-KR" sz="1200" dirty="0"/>
              <a:t>(X)  </a:t>
            </a:r>
            <a:endParaRPr lang="ko-KR" altLang="en-US" sz="1200" dirty="0"/>
          </a:p>
        </p:txBody>
      </p:sp>
      <p:sp>
        <p:nvSpPr>
          <p:cNvPr id="95" name="직사각형 94"/>
          <p:cNvSpPr/>
          <p:nvPr/>
        </p:nvSpPr>
        <p:spPr>
          <a:xfrm>
            <a:off x="9154000" y="1118710"/>
            <a:ext cx="90520" cy="6060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96" name="직사각형 95"/>
          <p:cNvSpPr/>
          <p:nvPr/>
        </p:nvSpPr>
        <p:spPr>
          <a:xfrm>
            <a:off x="8850334" y="1037689"/>
            <a:ext cx="3082247" cy="157757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97" name="직사각형 96"/>
          <p:cNvSpPr/>
          <p:nvPr/>
        </p:nvSpPr>
        <p:spPr>
          <a:xfrm>
            <a:off x="8983436" y="1632314"/>
            <a:ext cx="1169836" cy="2374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다른 특허출원일</a:t>
            </a:r>
          </a:p>
        </p:txBody>
      </p:sp>
      <p:sp>
        <p:nvSpPr>
          <p:cNvPr id="98" name="직사각형 97"/>
          <p:cNvSpPr/>
          <p:nvPr/>
        </p:nvSpPr>
        <p:spPr>
          <a:xfrm>
            <a:off x="11485085" y="1118710"/>
            <a:ext cx="90520" cy="6060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92" name="TextBox 91"/>
          <p:cNvSpPr txBox="1"/>
          <p:nvPr/>
        </p:nvSpPr>
        <p:spPr>
          <a:xfrm>
            <a:off x="10118501" y="1140936"/>
            <a:ext cx="1579278" cy="20062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다른 특허출원일</a:t>
            </a:r>
            <a:r>
              <a:rPr lang="en-US" altLang="ko-KR" sz="1200" dirty="0"/>
              <a:t>(X)</a:t>
            </a:r>
            <a:r>
              <a:rPr lang="ko-KR" altLang="en-US" sz="1200" dirty="0"/>
              <a:t> 후</a:t>
            </a:r>
          </a:p>
        </p:txBody>
      </p:sp>
      <p:sp>
        <p:nvSpPr>
          <p:cNvPr id="17" name="오른쪽 화살표 16"/>
          <p:cNvSpPr/>
          <p:nvPr/>
        </p:nvSpPr>
        <p:spPr>
          <a:xfrm>
            <a:off x="8301519" y="1436522"/>
            <a:ext cx="421241" cy="823484"/>
          </a:xfrm>
          <a:prstGeom prst="rightArrow">
            <a:avLst>
              <a:gd name="adj1" fmla="val 73495"/>
              <a:gd name="adj2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자유형 109"/>
          <p:cNvSpPr/>
          <p:nvPr/>
        </p:nvSpPr>
        <p:spPr>
          <a:xfrm>
            <a:off x="795895" y="3065203"/>
            <a:ext cx="1990073" cy="349745"/>
          </a:xfrm>
          <a:custGeom>
            <a:avLst/>
            <a:gdLst>
              <a:gd name="connsiteX0" fmla="*/ 0 w 1479479"/>
              <a:gd name="connsiteY0" fmla="*/ 482885 h 482885"/>
              <a:gd name="connsiteX1" fmla="*/ 215758 w 1479479"/>
              <a:gd name="connsiteY1" fmla="*/ 0 h 482885"/>
              <a:gd name="connsiteX2" fmla="*/ 1479479 w 1479479"/>
              <a:gd name="connsiteY2" fmla="*/ 0 h 482885"/>
              <a:gd name="connsiteX3" fmla="*/ 1479479 w 1479479"/>
              <a:gd name="connsiteY3" fmla="*/ 472611 h 482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9479" h="482885">
                <a:moveTo>
                  <a:pt x="0" y="482885"/>
                </a:moveTo>
                <a:lnTo>
                  <a:pt x="215758" y="0"/>
                </a:lnTo>
                <a:lnTo>
                  <a:pt x="1479479" y="0"/>
                </a:lnTo>
                <a:lnTo>
                  <a:pt x="1479479" y="472611"/>
                </a:lnTo>
              </a:path>
            </a:pathLst>
          </a:custGeom>
          <a:pattFill prst="dkVert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1" name="직선 연결선 110"/>
          <p:cNvCxnSpPr/>
          <p:nvPr/>
        </p:nvCxnSpPr>
        <p:spPr>
          <a:xfrm>
            <a:off x="398308" y="3421358"/>
            <a:ext cx="260530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/>
          <p:cNvCxnSpPr>
            <a:endCxn id="113" idx="0"/>
          </p:cNvCxnSpPr>
          <p:nvPr/>
        </p:nvCxnSpPr>
        <p:spPr>
          <a:xfrm>
            <a:off x="2409771" y="3450698"/>
            <a:ext cx="9890" cy="1819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1844633" y="3632682"/>
            <a:ext cx="1150056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/>
              <a:t>출원공개</a:t>
            </a:r>
            <a:r>
              <a:rPr lang="en-US" altLang="ko-KR" sz="1200" dirty="0"/>
              <a:t>/</a:t>
            </a:r>
          </a:p>
          <a:p>
            <a:pPr algn="ctr"/>
            <a:r>
              <a:rPr lang="ko-KR" altLang="en-US" sz="1200" dirty="0"/>
              <a:t>등록공고</a:t>
            </a:r>
            <a:r>
              <a:rPr lang="en-US" altLang="ko-KR" sz="1200"/>
              <a:t>(X) </a:t>
            </a:r>
            <a:endParaRPr lang="en-US" altLang="ko-KR" sz="1200" dirty="0"/>
          </a:p>
        </p:txBody>
      </p:sp>
      <p:cxnSp>
        <p:nvCxnSpPr>
          <p:cNvPr id="114" name="직선 연결선 113"/>
          <p:cNvCxnSpPr>
            <a:stCxn id="118" idx="2"/>
            <a:endCxn id="115" idx="0"/>
          </p:cNvCxnSpPr>
          <p:nvPr/>
        </p:nvCxnSpPr>
        <p:spPr>
          <a:xfrm>
            <a:off x="795895" y="3540073"/>
            <a:ext cx="1044" cy="34690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175498" y="3886979"/>
            <a:ext cx="124288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그 특허출원</a:t>
            </a:r>
            <a:r>
              <a:rPr lang="en-US" altLang="ko-KR" sz="1200" dirty="0"/>
              <a:t>(Y) </a:t>
            </a:r>
            <a:endParaRPr lang="ko-KR" altLang="en-US" sz="1200" dirty="0"/>
          </a:p>
        </p:txBody>
      </p:sp>
      <p:sp>
        <p:nvSpPr>
          <p:cNvPr id="116" name="직사각형 115"/>
          <p:cNvSpPr/>
          <p:nvPr/>
        </p:nvSpPr>
        <p:spPr>
          <a:xfrm>
            <a:off x="381541" y="2789037"/>
            <a:ext cx="90520" cy="6060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17" name="직사각형 116"/>
          <p:cNvSpPr/>
          <p:nvPr/>
        </p:nvSpPr>
        <p:spPr>
          <a:xfrm>
            <a:off x="77875" y="2708016"/>
            <a:ext cx="3082247" cy="157757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18" name="직사각형 117"/>
          <p:cNvSpPr/>
          <p:nvPr/>
        </p:nvSpPr>
        <p:spPr>
          <a:xfrm>
            <a:off x="210977" y="3302641"/>
            <a:ext cx="1169836" cy="2374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특허출원일</a:t>
            </a:r>
          </a:p>
        </p:txBody>
      </p:sp>
      <p:sp>
        <p:nvSpPr>
          <p:cNvPr id="119" name="직사각형 118"/>
          <p:cNvSpPr/>
          <p:nvPr/>
        </p:nvSpPr>
        <p:spPr>
          <a:xfrm>
            <a:off x="2712626" y="2789037"/>
            <a:ext cx="90520" cy="6060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20" name="TextBox 119"/>
          <p:cNvSpPr txBox="1"/>
          <p:nvPr/>
        </p:nvSpPr>
        <p:spPr>
          <a:xfrm>
            <a:off x="1253575" y="2811263"/>
            <a:ext cx="1303562" cy="2349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그 특허출원</a:t>
            </a:r>
            <a:r>
              <a:rPr lang="en-US" altLang="ko-KR" sz="1200" dirty="0"/>
              <a:t>(Y)</a:t>
            </a:r>
            <a:r>
              <a:rPr lang="ko-KR" altLang="en-US" sz="1200" dirty="0"/>
              <a:t> 후</a:t>
            </a:r>
          </a:p>
        </p:txBody>
      </p:sp>
      <p:sp>
        <p:nvSpPr>
          <p:cNvPr id="121" name="오른쪽 화살표 120"/>
          <p:cNvSpPr/>
          <p:nvPr/>
        </p:nvSpPr>
        <p:spPr>
          <a:xfrm>
            <a:off x="3365605" y="3106850"/>
            <a:ext cx="421241" cy="823484"/>
          </a:xfrm>
          <a:prstGeom prst="rightArrow">
            <a:avLst>
              <a:gd name="adj1" fmla="val 73495"/>
              <a:gd name="adj2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자유형 121"/>
          <p:cNvSpPr/>
          <p:nvPr/>
        </p:nvSpPr>
        <p:spPr>
          <a:xfrm>
            <a:off x="4249838" y="3045981"/>
            <a:ext cx="1965683" cy="364501"/>
          </a:xfrm>
          <a:custGeom>
            <a:avLst/>
            <a:gdLst>
              <a:gd name="connsiteX0" fmla="*/ 7797800 w 7797800"/>
              <a:gd name="connsiteY0" fmla="*/ 1066800 h 1104900"/>
              <a:gd name="connsiteX1" fmla="*/ 7327900 w 7797800"/>
              <a:gd name="connsiteY1" fmla="*/ 0 h 1104900"/>
              <a:gd name="connsiteX2" fmla="*/ 0 w 7797800"/>
              <a:gd name="connsiteY2" fmla="*/ 0 h 1104900"/>
              <a:gd name="connsiteX3" fmla="*/ 0 w 7797800"/>
              <a:gd name="connsiteY3" fmla="*/ 1104900 h 110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7800" h="1104900">
                <a:moveTo>
                  <a:pt x="7797800" y="1066800"/>
                </a:moveTo>
                <a:lnTo>
                  <a:pt x="7327900" y="0"/>
                </a:lnTo>
                <a:lnTo>
                  <a:pt x="0" y="0"/>
                </a:lnTo>
                <a:lnTo>
                  <a:pt x="0" y="1104900"/>
                </a:lnTo>
              </a:path>
            </a:pathLst>
          </a:custGeom>
          <a:pattFill prst="ltHorz">
            <a:fgClr>
              <a:schemeClr val="accent2"/>
            </a:fgClr>
            <a:bgClr>
              <a:schemeClr val="bg1"/>
            </a:bgClr>
          </a:patt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cxnSp>
        <p:nvCxnSpPr>
          <p:cNvPr id="123" name="직선 연결선 122"/>
          <p:cNvCxnSpPr/>
          <p:nvPr/>
        </p:nvCxnSpPr>
        <p:spPr>
          <a:xfrm>
            <a:off x="4260222" y="3424123"/>
            <a:ext cx="260530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직사각형 123"/>
          <p:cNvSpPr/>
          <p:nvPr/>
        </p:nvSpPr>
        <p:spPr>
          <a:xfrm>
            <a:off x="5376876" y="3305406"/>
            <a:ext cx="1579950" cy="2374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출원공개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 err="1">
                <a:solidFill>
                  <a:schemeClr val="tx1"/>
                </a:solidFill>
              </a:rPr>
              <a:t>등록공고일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4324377" y="2784262"/>
            <a:ext cx="1733167" cy="2349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출원공개</a:t>
            </a:r>
            <a:r>
              <a:rPr lang="en-US" altLang="ko-KR" sz="1200" dirty="0"/>
              <a:t>/</a:t>
            </a:r>
            <a:r>
              <a:rPr lang="ko-KR" altLang="en-US" sz="1200" dirty="0" err="1"/>
              <a:t>등록공고</a:t>
            </a:r>
            <a:r>
              <a:rPr lang="en-US" altLang="ko-KR" sz="1200" dirty="0"/>
              <a:t>(X) </a:t>
            </a:r>
            <a:r>
              <a:rPr lang="ko-KR" altLang="en-US" sz="1200" dirty="0"/>
              <a:t>전</a:t>
            </a:r>
          </a:p>
        </p:txBody>
      </p:sp>
      <p:cxnSp>
        <p:nvCxnSpPr>
          <p:cNvPr id="128" name="직선 연결선 127"/>
          <p:cNvCxnSpPr>
            <a:endCxn id="129" idx="0"/>
          </p:cNvCxnSpPr>
          <p:nvPr/>
        </p:nvCxnSpPr>
        <p:spPr>
          <a:xfrm>
            <a:off x="4657975" y="3453462"/>
            <a:ext cx="878" cy="16839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4037412" y="3621855"/>
            <a:ext cx="124288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그 특허출원</a:t>
            </a:r>
            <a:r>
              <a:rPr lang="en-US" altLang="ko-KR" sz="1200" dirty="0"/>
              <a:t>(Y) </a:t>
            </a:r>
            <a:endParaRPr lang="ko-KR" altLang="en-US" sz="1200" dirty="0"/>
          </a:p>
        </p:txBody>
      </p:sp>
      <p:sp>
        <p:nvSpPr>
          <p:cNvPr id="130" name="직사각형 129"/>
          <p:cNvSpPr/>
          <p:nvPr/>
        </p:nvSpPr>
        <p:spPr>
          <a:xfrm>
            <a:off x="4243455" y="2791802"/>
            <a:ext cx="90520" cy="6060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31" name="직사각형 130"/>
          <p:cNvSpPr/>
          <p:nvPr/>
        </p:nvSpPr>
        <p:spPr>
          <a:xfrm>
            <a:off x="3939789" y="2710781"/>
            <a:ext cx="3082247" cy="157757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cxnSp>
        <p:nvCxnSpPr>
          <p:cNvPr id="132" name="직선 연결선 131"/>
          <p:cNvCxnSpPr>
            <a:endCxn id="133" idx="0"/>
          </p:cNvCxnSpPr>
          <p:nvPr/>
        </p:nvCxnSpPr>
        <p:spPr>
          <a:xfrm>
            <a:off x="6215522" y="3537855"/>
            <a:ext cx="9890" cy="18198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5650384" y="3719840"/>
            <a:ext cx="1150056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/>
              <a:t>출원공개</a:t>
            </a:r>
            <a:r>
              <a:rPr lang="en-US" altLang="ko-KR" sz="1200" dirty="0"/>
              <a:t>/</a:t>
            </a:r>
          </a:p>
          <a:p>
            <a:pPr algn="ctr"/>
            <a:r>
              <a:rPr lang="ko-KR" altLang="en-US" sz="1200" dirty="0" err="1"/>
              <a:t>등록공고</a:t>
            </a:r>
            <a:r>
              <a:rPr lang="en-US" altLang="ko-KR" sz="1200" dirty="0"/>
              <a:t>(X) </a:t>
            </a:r>
          </a:p>
        </p:txBody>
      </p:sp>
      <p:cxnSp>
        <p:nvCxnSpPr>
          <p:cNvPr id="134" name="직선 연결선 133"/>
          <p:cNvCxnSpPr/>
          <p:nvPr/>
        </p:nvCxnSpPr>
        <p:spPr>
          <a:xfrm flipV="1">
            <a:off x="77875" y="4410732"/>
            <a:ext cx="12014808" cy="1743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자유형 134"/>
          <p:cNvSpPr/>
          <p:nvPr/>
        </p:nvSpPr>
        <p:spPr>
          <a:xfrm>
            <a:off x="3719244" y="4798036"/>
            <a:ext cx="6256746" cy="832207"/>
          </a:xfrm>
          <a:custGeom>
            <a:avLst/>
            <a:gdLst>
              <a:gd name="connsiteX0" fmla="*/ 0 w 6318607"/>
              <a:gd name="connsiteY0" fmla="*/ 832207 h 832207"/>
              <a:gd name="connsiteX1" fmla="*/ 277402 w 6318607"/>
              <a:gd name="connsiteY1" fmla="*/ 0 h 832207"/>
              <a:gd name="connsiteX2" fmla="*/ 6010382 w 6318607"/>
              <a:gd name="connsiteY2" fmla="*/ 0 h 832207"/>
              <a:gd name="connsiteX3" fmla="*/ 6318607 w 6318607"/>
              <a:gd name="connsiteY3" fmla="*/ 791110 h 832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18607" h="832207">
                <a:moveTo>
                  <a:pt x="0" y="832207"/>
                </a:moveTo>
                <a:lnTo>
                  <a:pt x="277402" y="0"/>
                </a:lnTo>
                <a:lnTo>
                  <a:pt x="6010382" y="0"/>
                </a:lnTo>
                <a:lnTo>
                  <a:pt x="6318607" y="791110"/>
                </a:lnTo>
              </a:path>
            </a:pathLst>
          </a:custGeom>
          <a:pattFill prst="ltHorz">
            <a:fgClr>
              <a:schemeClr val="accent2"/>
            </a:fgClr>
            <a:bgClr>
              <a:schemeClr val="bg1"/>
            </a:bgClr>
          </a:pattFill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6" name="직선 연결선 135"/>
          <p:cNvCxnSpPr/>
          <p:nvPr/>
        </p:nvCxnSpPr>
        <p:spPr>
          <a:xfrm>
            <a:off x="1656739" y="5634420"/>
            <a:ext cx="906753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직사각형 136"/>
          <p:cNvSpPr/>
          <p:nvPr/>
        </p:nvSpPr>
        <p:spPr>
          <a:xfrm>
            <a:off x="1167003" y="5417971"/>
            <a:ext cx="2626056" cy="4328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다른 특허출원일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  <p:cxnSp>
        <p:nvCxnSpPr>
          <p:cNvPr id="138" name="직선 연결선 137"/>
          <p:cNvCxnSpPr>
            <a:stCxn id="137" idx="2"/>
            <a:endCxn id="139" idx="2"/>
          </p:cNvCxnSpPr>
          <p:nvPr/>
        </p:nvCxnSpPr>
        <p:spPr>
          <a:xfrm>
            <a:off x="2480031" y="5850869"/>
            <a:ext cx="5856" cy="61993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1766237" y="6163027"/>
            <a:ext cx="1439300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다른 특허출원</a:t>
            </a:r>
            <a:r>
              <a:rPr lang="en-US" altLang="ko-KR" sz="1400" dirty="0"/>
              <a:t>(X)</a:t>
            </a:r>
            <a:endParaRPr lang="ko-KR" altLang="en-US" sz="1400" dirty="0"/>
          </a:p>
        </p:txBody>
      </p:sp>
      <p:sp>
        <p:nvSpPr>
          <p:cNvPr id="143" name="직사각형 142"/>
          <p:cNvSpPr/>
          <p:nvPr/>
        </p:nvSpPr>
        <p:spPr>
          <a:xfrm>
            <a:off x="8584297" y="5417971"/>
            <a:ext cx="2626056" cy="4328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err="1">
                <a:solidFill>
                  <a:schemeClr val="tx1"/>
                </a:solidFill>
              </a:rPr>
              <a:t>출원공개</a:t>
            </a:r>
            <a:r>
              <a:rPr lang="en-US" altLang="ko-KR" sz="2000" dirty="0">
                <a:solidFill>
                  <a:schemeClr val="tx1"/>
                </a:solidFill>
              </a:rPr>
              <a:t>/</a:t>
            </a:r>
            <a:r>
              <a:rPr lang="ko-KR" altLang="en-US" sz="2000" dirty="0" err="1">
                <a:solidFill>
                  <a:schemeClr val="tx1"/>
                </a:solidFill>
              </a:rPr>
              <a:t>등록공고일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  <p:cxnSp>
        <p:nvCxnSpPr>
          <p:cNvPr id="144" name="직선 연결선 143"/>
          <p:cNvCxnSpPr>
            <a:stCxn id="143" idx="2"/>
            <a:endCxn id="145" idx="2"/>
          </p:cNvCxnSpPr>
          <p:nvPr/>
        </p:nvCxnSpPr>
        <p:spPr>
          <a:xfrm>
            <a:off x="9897325" y="5850869"/>
            <a:ext cx="5856" cy="61993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8915755" y="6163027"/>
            <a:ext cx="1974852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/>
              <a:t>출원공개</a:t>
            </a:r>
            <a:r>
              <a:rPr lang="en-US" altLang="ko-KR" sz="1400" dirty="0"/>
              <a:t>/</a:t>
            </a:r>
            <a:r>
              <a:rPr lang="ko-KR" altLang="en-US" sz="1400" dirty="0" err="1"/>
              <a:t>등록공고</a:t>
            </a:r>
            <a:r>
              <a:rPr lang="en-US" altLang="ko-KR" sz="1400" dirty="0"/>
              <a:t>(X)</a:t>
            </a:r>
            <a:endParaRPr lang="ko-KR" altLang="en-US" sz="1400" dirty="0"/>
          </a:p>
        </p:txBody>
      </p:sp>
      <p:cxnSp>
        <p:nvCxnSpPr>
          <p:cNvPr id="149" name="직선 연결선 148"/>
          <p:cNvCxnSpPr>
            <a:endCxn id="150" idx="0"/>
          </p:cNvCxnSpPr>
          <p:nvPr/>
        </p:nvCxnSpPr>
        <p:spPr>
          <a:xfrm>
            <a:off x="6606170" y="5675443"/>
            <a:ext cx="0" cy="44480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5876592" y="6120249"/>
            <a:ext cx="1459156" cy="307777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 그 특허출원</a:t>
            </a:r>
            <a:r>
              <a:rPr lang="en-US" altLang="ko-KR" sz="1400" dirty="0"/>
              <a:t>(Y)</a:t>
            </a:r>
            <a:endParaRPr lang="ko-KR" altLang="en-US" sz="11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87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94558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3</a:t>
            </a:r>
            <a:r>
              <a:rPr lang="ko-KR" altLang="en-US" dirty="0"/>
              <a:t>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객체적 기준</a:t>
            </a:r>
          </a:p>
        </p:txBody>
      </p:sp>
      <p:sp>
        <p:nvSpPr>
          <p:cNvPr id="63" name="직사각형 62"/>
          <p:cNvSpPr/>
          <p:nvPr/>
        </p:nvSpPr>
        <p:spPr>
          <a:xfrm>
            <a:off x="298061" y="1150706"/>
            <a:ext cx="5506837" cy="10274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최초란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 출원할 때 처음으로 첨부된 것을 기준으로 한다는 의미이며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보정을 했을 때 </a:t>
            </a:r>
            <a:r>
              <a:rPr lang="ko-KR" altLang="en-US" sz="1400" dirty="0" err="1">
                <a:solidFill>
                  <a:srgbClr val="FF0000"/>
                </a:solidFill>
              </a:rPr>
              <a:t>판단대상을</a:t>
            </a:r>
            <a:r>
              <a:rPr lang="ko-KR" altLang="en-US" sz="1400" dirty="0">
                <a:solidFill>
                  <a:srgbClr val="FF0000"/>
                </a:solidFill>
              </a:rPr>
              <a:t> 결정하는 기준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이 된다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구체적으로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최초 단어가 있으면 보정과 상관없이 가장 처음 첨부된 것을 기준으로 판단하고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최초 단어가 없으면 보정했을 때 가장 나중 것을 기준으로 판단한다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67" name="직선 연결선 66"/>
          <p:cNvCxnSpPr/>
          <p:nvPr/>
        </p:nvCxnSpPr>
        <p:spPr>
          <a:xfrm>
            <a:off x="6097412" y="965770"/>
            <a:ext cx="0" cy="536311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/>
          <p:cNvCxnSpPr/>
          <p:nvPr/>
        </p:nvCxnSpPr>
        <p:spPr>
          <a:xfrm>
            <a:off x="521738" y="4557866"/>
            <a:ext cx="4029711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1643864" y="3037227"/>
            <a:ext cx="0" cy="2085654"/>
          </a:xfrm>
          <a:prstGeom prst="line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/>
          <p:cNvCxnSpPr/>
          <p:nvPr/>
        </p:nvCxnSpPr>
        <p:spPr>
          <a:xfrm>
            <a:off x="3472664" y="3037227"/>
            <a:ext cx="0" cy="2085654"/>
          </a:xfrm>
          <a:prstGeom prst="line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667817" y="4116015"/>
            <a:ext cx="4027470" cy="0"/>
          </a:xfrm>
          <a:prstGeom prst="line">
            <a:avLst/>
          </a:prstGeom>
          <a:ln w="38100">
            <a:solidFill>
              <a:schemeClr val="accent4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/>
        </p:nvCxnSpPr>
        <p:spPr>
          <a:xfrm>
            <a:off x="667817" y="3674226"/>
            <a:ext cx="4027470" cy="0"/>
          </a:xfrm>
          <a:prstGeom prst="line">
            <a:avLst/>
          </a:prstGeom>
          <a:ln w="38100">
            <a:solidFill>
              <a:schemeClr val="accent4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/>
          <p:cNvSpPr/>
          <p:nvPr/>
        </p:nvSpPr>
        <p:spPr>
          <a:xfrm>
            <a:off x="1055925" y="3458468"/>
            <a:ext cx="1185426" cy="44220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최초 </a:t>
            </a:r>
            <a:r>
              <a:rPr lang="ko-KR" altLang="en-US" sz="1100" dirty="0" err="1">
                <a:solidFill>
                  <a:schemeClr val="tx1"/>
                </a:solidFill>
              </a:rPr>
              <a:t>청구범위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1055925" y="3900674"/>
            <a:ext cx="1185426" cy="4422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최초 명세서</a:t>
            </a:r>
            <a:r>
              <a:rPr lang="en-US" altLang="ko-KR" sz="1100" dirty="0">
                <a:solidFill>
                  <a:schemeClr val="tx1"/>
                </a:solidFill>
              </a:rPr>
              <a:t>/</a:t>
            </a:r>
            <a:r>
              <a:rPr lang="ko-KR" altLang="en-US" sz="1100" dirty="0">
                <a:solidFill>
                  <a:schemeClr val="tx1"/>
                </a:solidFill>
              </a:rPr>
              <a:t>도면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2884571" y="3458468"/>
            <a:ext cx="1185426" cy="44220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청구범위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2884571" y="3900674"/>
            <a:ext cx="1185426" cy="4422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명세서</a:t>
            </a:r>
            <a:r>
              <a:rPr lang="en-US" altLang="ko-KR" sz="1100" dirty="0">
                <a:solidFill>
                  <a:schemeClr val="tx1"/>
                </a:solidFill>
              </a:rPr>
              <a:t>/</a:t>
            </a:r>
            <a:r>
              <a:rPr lang="ko-KR" altLang="en-US" sz="1100" dirty="0">
                <a:solidFill>
                  <a:schemeClr val="tx1"/>
                </a:solidFill>
              </a:rPr>
              <a:t>도면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055928" y="4418489"/>
            <a:ext cx="1185422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특허출원</a:t>
            </a:r>
            <a:r>
              <a:rPr lang="en-US" altLang="ko-KR" sz="1400" dirty="0"/>
              <a:t>(X)</a:t>
            </a:r>
            <a:endParaRPr lang="ko-KR" altLang="en-US" sz="1400" dirty="0"/>
          </a:p>
        </p:txBody>
      </p:sp>
      <p:sp>
        <p:nvSpPr>
          <p:cNvPr id="76" name="TextBox 75"/>
          <p:cNvSpPr txBox="1"/>
          <p:nvPr/>
        </p:nvSpPr>
        <p:spPr>
          <a:xfrm>
            <a:off x="2884574" y="4418489"/>
            <a:ext cx="1185422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보정</a:t>
            </a:r>
            <a:r>
              <a:rPr lang="en-US" altLang="ko-KR" sz="1400" dirty="0"/>
              <a:t>(X)</a:t>
            </a:r>
            <a:endParaRPr lang="ko-KR" altLang="en-US" sz="1400" dirty="0"/>
          </a:p>
        </p:txBody>
      </p:sp>
      <p:sp>
        <p:nvSpPr>
          <p:cNvPr id="84" name="TextBox 83"/>
          <p:cNvSpPr txBox="1"/>
          <p:nvPr/>
        </p:nvSpPr>
        <p:spPr>
          <a:xfrm>
            <a:off x="883874" y="2817441"/>
            <a:ext cx="151998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최초 존재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2696619" y="2817441"/>
            <a:ext cx="151998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최초 </a:t>
            </a:r>
            <a:r>
              <a:rPr lang="ko-KR" altLang="en-US" sz="1600" dirty="0" err="1">
                <a:solidFill>
                  <a:srgbClr val="FF0000"/>
                </a:solidFill>
              </a:rPr>
              <a:t>부존재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4513045" y="3536287"/>
            <a:ext cx="125105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rgbClr val="FF0000"/>
                </a:solidFill>
              </a:rPr>
              <a:t>청구범위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4513045" y="3951374"/>
            <a:ext cx="125105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명세서</a:t>
            </a:r>
            <a:r>
              <a:rPr lang="en-US" altLang="ko-KR" sz="1600" dirty="0">
                <a:solidFill>
                  <a:srgbClr val="FF0000"/>
                </a:solidFill>
              </a:rPr>
              <a:t>/</a:t>
            </a:r>
            <a:r>
              <a:rPr lang="ko-KR" altLang="en-US" sz="1600" dirty="0">
                <a:solidFill>
                  <a:srgbClr val="FF0000"/>
                </a:solidFill>
              </a:rPr>
              <a:t>도면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cxnSp>
        <p:nvCxnSpPr>
          <p:cNvPr id="147" name="직선 연결선 146"/>
          <p:cNvCxnSpPr/>
          <p:nvPr/>
        </p:nvCxnSpPr>
        <p:spPr>
          <a:xfrm>
            <a:off x="6618312" y="2172361"/>
            <a:ext cx="539217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직사각형 147"/>
          <p:cNvSpPr/>
          <p:nvPr/>
        </p:nvSpPr>
        <p:spPr>
          <a:xfrm>
            <a:off x="6453860" y="1376737"/>
            <a:ext cx="839823" cy="2411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A, B(★2)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1" name="직사각형 150"/>
          <p:cNvSpPr/>
          <p:nvPr/>
        </p:nvSpPr>
        <p:spPr>
          <a:xfrm>
            <a:off x="6453860" y="1613463"/>
            <a:ext cx="839823" cy="24117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A, B, C(★1)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2" name="직사각형 151"/>
          <p:cNvSpPr/>
          <p:nvPr/>
        </p:nvSpPr>
        <p:spPr>
          <a:xfrm>
            <a:off x="7574718" y="1376737"/>
            <a:ext cx="839823" cy="2411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C(▲2)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3" name="직사각형 152"/>
          <p:cNvSpPr/>
          <p:nvPr/>
        </p:nvSpPr>
        <p:spPr>
          <a:xfrm>
            <a:off x="7574718" y="1613463"/>
            <a:ext cx="839823" cy="24117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B, C(▲1)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6453862" y="2032984"/>
            <a:ext cx="839820" cy="261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甲 출원</a:t>
            </a:r>
            <a:r>
              <a:rPr lang="en-US" altLang="ko-KR" sz="1100" dirty="0"/>
              <a:t>(X)</a:t>
            </a:r>
            <a:endParaRPr lang="ko-KR" altLang="en-US" sz="1100" dirty="0"/>
          </a:p>
        </p:txBody>
      </p:sp>
      <p:sp>
        <p:nvSpPr>
          <p:cNvPr id="155" name="TextBox 154"/>
          <p:cNvSpPr txBox="1"/>
          <p:nvPr/>
        </p:nvSpPr>
        <p:spPr>
          <a:xfrm>
            <a:off x="7574720" y="2032984"/>
            <a:ext cx="839820" cy="261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乙 출원</a:t>
            </a:r>
            <a:r>
              <a:rPr lang="en-US" altLang="ko-KR" sz="1100" dirty="0"/>
              <a:t>(Y)</a:t>
            </a:r>
            <a:endParaRPr lang="ko-KR" altLang="en-US" sz="1100" dirty="0"/>
          </a:p>
        </p:txBody>
      </p:sp>
      <p:sp>
        <p:nvSpPr>
          <p:cNvPr id="156" name="직사각형 155"/>
          <p:cNvSpPr/>
          <p:nvPr/>
        </p:nvSpPr>
        <p:spPr>
          <a:xfrm>
            <a:off x="8658633" y="1376737"/>
            <a:ext cx="839823" cy="2411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C(■2)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8658633" y="1613463"/>
            <a:ext cx="839823" cy="24117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B, C(■1)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8" name="직사각형 157"/>
          <p:cNvSpPr/>
          <p:nvPr/>
        </p:nvSpPr>
        <p:spPr>
          <a:xfrm>
            <a:off x="9779491" y="1376737"/>
            <a:ext cx="839823" cy="2411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B(◆2)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9" name="직사각형 158"/>
          <p:cNvSpPr/>
          <p:nvPr/>
        </p:nvSpPr>
        <p:spPr>
          <a:xfrm>
            <a:off x="9779491" y="1613463"/>
            <a:ext cx="839823" cy="24117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B(◆1)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8658635" y="2032984"/>
            <a:ext cx="839820" cy="261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보정</a:t>
            </a:r>
            <a:r>
              <a:rPr lang="en-US" altLang="ko-KR" sz="1100" dirty="0"/>
              <a:t>(X)</a:t>
            </a:r>
            <a:endParaRPr lang="ko-KR" altLang="en-US" sz="1100" dirty="0"/>
          </a:p>
        </p:txBody>
      </p:sp>
      <p:sp>
        <p:nvSpPr>
          <p:cNvPr id="161" name="TextBox 160"/>
          <p:cNvSpPr txBox="1"/>
          <p:nvPr/>
        </p:nvSpPr>
        <p:spPr>
          <a:xfrm>
            <a:off x="9779493" y="2032984"/>
            <a:ext cx="839820" cy="261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보정</a:t>
            </a:r>
            <a:r>
              <a:rPr lang="en-US" altLang="ko-KR" sz="1100" dirty="0"/>
              <a:t>(Y)</a:t>
            </a:r>
            <a:endParaRPr lang="ko-KR" altLang="en-US" sz="1100" dirty="0"/>
          </a:p>
        </p:txBody>
      </p:sp>
      <p:sp>
        <p:nvSpPr>
          <p:cNvPr id="164" name="TextBox 163"/>
          <p:cNvSpPr txBox="1"/>
          <p:nvPr/>
        </p:nvSpPr>
        <p:spPr>
          <a:xfrm>
            <a:off x="10872804" y="2032984"/>
            <a:ext cx="839820" cy="261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공개</a:t>
            </a:r>
            <a:r>
              <a:rPr lang="en-US" altLang="ko-KR" sz="1100" dirty="0"/>
              <a:t>(X)</a:t>
            </a:r>
            <a:endParaRPr lang="ko-KR" altLang="en-US" sz="1100" dirty="0"/>
          </a:p>
        </p:txBody>
      </p:sp>
      <p:graphicFrame>
        <p:nvGraphicFramePr>
          <p:cNvPr id="165" name="표 1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481310"/>
              </p:ext>
            </p:extLst>
          </p:nvPr>
        </p:nvGraphicFramePr>
        <p:xfrm>
          <a:off x="6453860" y="2789426"/>
          <a:ext cx="5556630" cy="903845"/>
        </p:xfrm>
        <a:graphic>
          <a:graphicData uri="http://schemas.openxmlformats.org/drawingml/2006/table">
            <a:tbl>
              <a:tblPr firstRow="1">
                <a:tableStyleId>{8799B23B-EC83-4686-B30A-512413B5E67A}</a:tableStyleId>
              </a:tblPr>
              <a:tblGrid>
                <a:gridCol w="1852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2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2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1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판단대상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선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다른</a:t>
                      </a:r>
                      <a:r>
                        <a:rPr lang="en-US" altLang="ko-KR" sz="1200" dirty="0"/>
                        <a:t>) </a:t>
                      </a:r>
                      <a:r>
                        <a:rPr lang="ko-KR" altLang="en-US" sz="1200" dirty="0"/>
                        <a:t>출원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후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그</a:t>
                      </a:r>
                      <a:r>
                        <a:rPr lang="en-US" altLang="ko-KR" sz="1200" dirty="0"/>
                        <a:t>) </a:t>
                      </a:r>
                      <a:r>
                        <a:rPr lang="ko-KR" altLang="en-US" sz="1200" dirty="0"/>
                        <a:t>출원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2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선출원주의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청구범위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(■2)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/>
                        <a:t>청구범위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(◆2)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1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확대된 </a:t>
                      </a:r>
                      <a:r>
                        <a:rPr lang="ko-KR" altLang="en-US" sz="1200" dirty="0" err="1"/>
                        <a:t>선출원의</a:t>
                      </a:r>
                      <a:r>
                        <a:rPr lang="ko-KR" altLang="en-US" sz="1200" dirty="0"/>
                        <a:t> 지위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최초 명세서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도면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(★1)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/>
                        <a:t>청구범위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(◆2)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6" name="직사각형 165"/>
          <p:cNvSpPr/>
          <p:nvPr/>
        </p:nvSpPr>
        <p:spPr>
          <a:xfrm>
            <a:off x="6453860" y="4232199"/>
            <a:ext cx="5556630" cy="15679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X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출원의 최초 명세서 또는 도면은 ★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1,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최초 </a:t>
            </a:r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청구범위는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 ★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를 의미하고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명세서 또는 도면은 ■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1, </a:t>
            </a:r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청구범위는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 ■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를 의미한다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. Y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출원의 등록가능성과 관련하여서는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Y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출원의 </a:t>
            </a:r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청구범위에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 기재된 발명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(◆2)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이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X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출원과 관련하여 확대된 </a:t>
            </a:r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선출원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선출원주의에 위반되는지 여부가 문제이다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확대된 </a:t>
            </a:r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선출원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 위반 여부는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X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출원의 최초 명세서 또는 도면에 기재된 발명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(★1)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과 비교하여 동일성이 있는지 판단하고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선출원주의 위반 여부는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X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출원의 </a:t>
            </a:r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청구범위에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 기재된 발명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(■2)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과 비교하여 동일성이 있는지 판단한다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모서리가 둥근 사각형 설명선 1"/>
          <p:cNvSpPr/>
          <p:nvPr/>
        </p:nvSpPr>
        <p:spPr>
          <a:xfrm>
            <a:off x="2963333" y="5232384"/>
            <a:ext cx="2841565" cy="770466"/>
          </a:xfrm>
          <a:prstGeom prst="wedgeRoundRectCallout">
            <a:avLst>
              <a:gd name="adj1" fmla="val -17483"/>
              <a:gd name="adj2" fmla="val -115476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보충</a:t>
            </a:r>
            <a:r>
              <a:rPr lang="en-US" altLang="ko-KR" sz="1200" dirty="0">
                <a:solidFill>
                  <a:schemeClr val="tx1"/>
                </a:solidFill>
              </a:rPr>
              <a:t>+</a:t>
            </a:r>
            <a:r>
              <a:rPr lang="ko-KR" altLang="en-US" sz="1200" dirty="0">
                <a:solidFill>
                  <a:schemeClr val="tx1"/>
                </a:solidFill>
              </a:rPr>
              <a:t>정정의 </a:t>
            </a:r>
            <a:r>
              <a:rPr lang="ko-KR" altLang="en-US" sz="1200" dirty="0" err="1">
                <a:solidFill>
                  <a:schemeClr val="tx1"/>
                </a:solidFill>
              </a:rPr>
              <a:t>줄임말로서</a:t>
            </a:r>
            <a:r>
              <a:rPr lang="ko-KR" altLang="en-US" sz="1200" dirty="0">
                <a:solidFill>
                  <a:schemeClr val="tx1"/>
                </a:solidFill>
              </a:rPr>
              <a:t> 보정을 한 경우 보정한 내용대로 출원한 것으로 간주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050" dirty="0">
                <a:solidFill>
                  <a:schemeClr val="tx1"/>
                </a:solidFill>
              </a:rPr>
              <a:t>(</a:t>
            </a:r>
            <a:r>
              <a:rPr lang="ko-KR" altLang="en-US" sz="1050" dirty="0">
                <a:solidFill>
                  <a:schemeClr val="tx1"/>
                </a:solidFill>
              </a:rPr>
              <a:t>소급효가 인정</a:t>
            </a:r>
            <a:r>
              <a:rPr lang="en-US" altLang="ko-KR" sz="1050" dirty="0">
                <a:solidFill>
                  <a:schemeClr val="tx1"/>
                </a:solidFill>
              </a:rPr>
              <a:t>)</a:t>
            </a:r>
            <a:r>
              <a:rPr lang="ko-KR" altLang="en-US" sz="1050" dirty="0">
                <a:solidFill>
                  <a:schemeClr val="tx1"/>
                </a:solidFill>
              </a:rPr>
              <a:t> 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88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0652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직선 연결선 84"/>
          <p:cNvCxnSpPr>
            <a:stCxn id="88" idx="2"/>
          </p:cNvCxnSpPr>
          <p:nvPr/>
        </p:nvCxnSpPr>
        <p:spPr>
          <a:xfrm>
            <a:off x="8175465" y="4529147"/>
            <a:ext cx="0" cy="1974203"/>
          </a:xfrm>
          <a:prstGeom prst="line">
            <a:avLst/>
          </a:prstGeom>
          <a:ln w="5715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3</a:t>
            </a:r>
            <a:r>
              <a:rPr lang="ko-KR" altLang="en-US" dirty="0"/>
              <a:t>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적용의 예외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3</a:t>
            </a:r>
            <a:r>
              <a:rPr lang="ko-KR" altLang="en-US" dirty="0" err="1"/>
              <a:t>항단서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7" name="Rectangle 5"/>
          <p:cNvSpPr>
            <a:spLocks noChangeArrowheads="1"/>
          </p:cNvSpPr>
          <p:nvPr/>
        </p:nvSpPr>
        <p:spPr bwMode="auto">
          <a:xfrm>
            <a:off x="195260" y="1106383"/>
            <a:ext cx="2153886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발명자 동일</a:t>
            </a:r>
          </a:p>
        </p:txBody>
      </p:sp>
      <p:cxnSp>
        <p:nvCxnSpPr>
          <p:cNvPr id="147" name="직선 연결선 146"/>
          <p:cNvCxnSpPr/>
          <p:nvPr/>
        </p:nvCxnSpPr>
        <p:spPr>
          <a:xfrm>
            <a:off x="714031" y="3939876"/>
            <a:ext cx="441194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>
            <a:endCxn id="40" idx="0"/>
          </p:cNvCxnSpPr>
          <p:nvPr/>
        </p:nvCxnSpPr>
        <p:spPr>
          <a:xfrm>
            <a:off x="1196412" y="3973792"/>
            <a:ext cx="4050" cy="36303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14031" y="4336824"/>
            <a:ext cx="972861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 </a:t>
            </a:r>
            <a:r>
              <a:rPr lang="en-US" altLang="ko-KR" sz="1200" dirty="0"/>
              <a:t>A, B </a:t>
            </a:r>
            <a:r>
              <a:rPr lang="ko-KR" altLang="en-US" sz="1200" dirty="0"/>
              <a:t>발명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3341673" y="4741210"/>
            <a:ext cx="850393" cy="229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3341673" y="4970711"/>
            <a:ext cx="850393" cy="229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22632" y="4336824"/>
            <a:ext cx="1093846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乙에게 </a:t>
            </a:r>
            <a:r>
              <a:rPr lang="en-US" altLang="ko-KR" sz="1200" dirty="0"/>
              <a:t>B </a:t>
            </a:r>
            <a:r>
              <a:rPr lang="ko-KR" altLang="en-US" sz="1200" dirty="0"/>
              <a:t>양도</a:t>
            </a:r>
          </a:p>
        </p:txBody>
      </p:sp>
      <p:cxnSp>
        <p:nvCxnSpPr>
          <p:cNvPr id="12" name="직선 연결선 11"/>
          <p:cNvCxnSpPr>
            <a:endCxn id="13" idx="0"/>
          </p:cNvCxnSpPr>
          <p:nvPr/>
        </p:nvCxnSpPr>
        <p:spPr>
          <a:xfrm>
            <a:off x="3766870" y="4025068"/>
            <a:ext cx="0" cy="3117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41674" y="4336824"/>
            <a:ext cx="85039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 출원</a:t>
            </a:r>
            <a:r>
              <a:rPr lang="en-US" altLang="ko-KR" sz="1200" dirty="0"/>
              <a:t>(Y)</a:t>
            </a:r>
            <a:endParaRPr lang="ko-KR" altLang="en-US" sz="1200" dirty="0"/>
          </a:p>
        </p:txBody>
      </p:sp>
      <p:cxnSp>
        <p:nvCxnSpPr>
          <p:cNvPr id="14" name="직선 연결선 13"/>
          <p:cNvCxnSpPr>
            <a:endCxn id="11" idx="0"/>
          </p:cNvCxnSpPr>
          <p:nvPr/>
        </p:nvCxnSpPr>
        <p:spPr>
          <a:xfrm flipH="1">
            <a:off x="2369555" y="3973792"/>
            <a:ext cx="6176" cy="36303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415307" y="3322101"/>
            <a:ext cx="850392" cy="276999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乙 출원</a:t>
            </a:r>
            <a:r>
              <a:rPr lang="en-US" altLang="ko-KR" sz="1200" dirty="0">
                <a:solidFill>
                  <a:schemeClr val="bg1"/>
                </a:solidFill>
              </a:rPr>
              <a:t>(X)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18" name="직선 연결선 17"/>
          <p:cNvCxnSpPr>
            <a:endCxn id="17" idx="2"/>
          </p:cNvCxnSpPr>
          <p:nvPr/>
        </p:nvCxnSpPr>
        <p:spPr>
          <a:xfrm flipV="1">
            <a:off x="2840503" y="3599100"/>
            <a:ext cx="0" cy="29818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92066" y="3322101"/>
            <a:ext cx="850392" cy="276999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乙공개</a:t>
            </a:r>
            <a:r>
              <a:rPr lang="en-US" altLang="ko-KR" sz="1200" dirty="0">
                <a:solidFill>
                  <a:schemeClr val="bg1"/>
                </a:solidFill>
              </a:rPr>
              <a:t>(X)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23" name="직선 연결선 22"/>
          <p:cNvCxnSpPr>
            <a:endCxn id="22" idx="2"/>
          </p:cNvCxnSpPr>
          <p:nvPr/>
        </p:nvCxnSpPr>
        <p:spPr>
          <a:xfrm flipV="1">
            <a:off x="4617262" y="3599100"/>
            <a:ext cx="0" cy="29818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2415307" y="2764201"/>
            <a:ext cx="850393" cy="229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415307" y="2993702"/>
            <a:ext cx="850393" cy="229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모서리가 둥근 사각형 설명선 9"/>
          <p:cNvSpPr/>
          <p:nvPr/>
        </p:nvSpPr>
        <p:spPr>
          <a:xfrm>
            <a:off x="3102124" y="1909576"/>
            <a:ext cx="2392743" cy="592106"/>
          </a:xfrm>
          <a:prstGeom prst="wedgeRoundRectCallout">
            <a:avLst>
              <a:gd name="adj1" fmla="val -42595"/>
              <a:gd name="adj2" fmla="val 153660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r>
              <a:rPr lang="ko-KR" altLang="en-US" sz="1200" dirty="0">
                <a:solidFill>
                  <a:schemeClr val="tx1"/>
                </a:solidFill>
              </a:rPr>
              <a:t>와</a:t>
            </a:r>
            <a:r>
              <a:rPr lang="en-US" altLang="ko-KR" sz="1200" dirty="0">
                <a:solidFill>
                  <a:schemeClr val="tx1"/>
                </a:solidFill>
              </a:rPr>
              <a:t> B</a:t>
            </a:r>
            <a:r>
              <a:rPr lang="ko-KR" altLang="en-US" sz="1200" dirty="0">
                <a:solidFill>
                  <a:schemeClr val="tx1"/>
                </a:solidFill>
              </a:rPr>
              <a:t>가 관련기술로서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불가피하게 </a:t>
            </a:r>
            <a:r>
              <a:rPr lang="en-US" altLang="ko-KR" sz="1200" dirty="0">
                <a:solidFill>
                  <a:schemeClr val="tx1"/>
                </a:solidFill>
              </a:rPr>
              <a:t>A</a:t>
            </a:r>
            <a:r>
              <a:rPr lang="ko-KR" altLang="en-US" sz="1200" dirty="0">
                <a:solidFill>
                  <a:schemeClr val="tx1"/>
                </a:solidFill>
              </a:rPr>
              <a:t>도 설명</a:t>
            </a:r>
          </a:p>
        </p:txBody>
      </p:sp>
      <p:sp>
        <p:nvSpPr>
          <p:cNvPr id="33" name="모서리가 둥근 사각형 설명선 32"/>
          <p:cNvSpPr/>
          <p:nvPr/>
        </p:nvSpPr>
        <p:spPr>
          <a:xfrm>
            <a:off x="1196412" y="5542607"/>
            <a:ext cx="2023855" cy="592106"/>
          </a:xfrm>
          <a:prstGeom prst="wedgeRoundRectCallout">
            <a:avLst>
              <a:gd name="adj1" fmla="val 53990"/>
              <a:gd name="adj2" fmla="val -166710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  <a:r>
              <a:rPr lang="en-US" altLang="ko-KR" sz="1200" dirty="0">
                <a:solidFill>
                  <a:schemeClr val="tx1"/>
                </a:solidFill>
              </a:rPr>
              <a:t>(Y)</a:t>
            </a:r>
            <a:r>
              <a:rPr lang="ko-KR" altLang="en-US" sz="1200" dirty="0">
                <a:solidFill>
                  <a:schemeClr val="tx1"/>
                </a:solidFill>
              </a:rPr>
              <a:t>의 발명자가 출원</a:t>
            </a:r>
            <a:r>
              <a:rPr lang="en-US" altLang="ko-KR" sz="1200" dirty="0">
                <a:solidFill>
                  <a:schemeClr val="tx1"/>
                </a:solidFill>
              </a:rPr>
              <a:t>(X)</a:t>
            </a:r>
            <a:r>
              <a:rPr lang="ko-KR" altLang="en-US" sz="1200" dirty="0">
                <a:solidFill>
                  <a:schemeClr val="tx1"/>
                </a:solidFill>
              </a:rPr>
              <a:t>의 발명자와 동일</a:t>
            </a:r>
          </a:p>
        </p:txBody>
      </p:sp>
      <p:cxnSp>
        <p:nvCxnSpPr>
          <p:cNvPr id="34" name="직선 연결선 33"/>
          <p:cNvCxnSpPr/>
          <p:nvPr/>
        </p:nvCxnSpPr>
        <p:spPr>
          <a:xfrm>
            <a:off x="6097412" y="965770"/>
            <a:ext cx="0" cy="536311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5"/>
          <p:cNvSpPr>
            <a:spLocks noChangeArrowheads="1"/>
          </p:cNvSpPr>
          <p:nvPr/>
        </p:nvSpPr>
        <p:spPr bwMode="auto">
          <a:xfrm>
            <a:off x="6284959" y="1106383"/>
            <a:ext cx="2954519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그 </a:t>
            </a:r>
            <a:r>
              <a:rPr lang="ko-KR" altLang="en-US" sz="1600" b="0" dirty="0" err="1">
                <a:solidFill>
                  <a:schemeClr val="bg1"/>
                </a:solidFill>
                <a:latin typeface="+mj-ea"/>
                <a:ea typeface="+mj-ea"/>
              </a:rPr>
              <a:t>특허출원</a:t>
            </a:r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한</a:t>
            </a:r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 때의 출원인 동일</a:t>
            </a:r>
          </a:p>
        </p:txBody>
      </p:sp>
      <p:cxnSp>
        <p:nvCxnSpPr>
          <p:cNvPr id="36" name="직선 연결선 35"/>
          <p:cNvCxnSpPr/>
          <p:nvPr/>
        </p:nvCxnSpPr>
        <p:spPr>
          <a:xfrm>
            <a:off x="6766003" y="3389393"/>
            <a:ext cx="5018647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7233384" y="2270509"/>
            <a:ext cx="850393" cy="229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7233384" y="2500010"/>
            <a:ext cx="850393" cy="229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47" name="직선 연결선 46"/>
          <p:cNvCxnSpPr/>
          <p:nvPr/>
        </p:nvCxnSpPr>
        <p:spPr>
          <a:xfrm flipH="1" flipV="1">
            <a:off x="7658581" y="3122617"/>
            <a:ext cx="6994" cy="2556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233385" y="2823250"/>
            <a:ext cx="85039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 출원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sp>
        <p:nvSpPr>
          <p:cNvPr id="58" name="직사각형 57"/>
          <p:cNvSpPr/>
          <p:nvPr/>
        </p:nvSpPr>
        <p:spPr>
          <a:xfrm>
            <a:off x="8724497" y="2270509"/>
            <a:ext cx="850393" cy="229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8724497" y="2500010"/>
            <a:ext cx="850393" cy="229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60" name="직선 연결선 59"/>
          <p:cNvCxnSpPr/>
          <p:nvPr/>
        </p:nvCxnSpPr>
        <p:spPr>
          <a:xfrm flipH="1" flipV="1">
            <a:off x="9149694" y="3122617"/>
            <a:ext cx="6994" cy="2556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724498" y="2823250"/>
            <a:ext cx="850392" cy="276999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甲 출원</a:t>
            </a:r>
            <a:r>
              <a:rPr lang="en-US" altLang="ko-KR" sz="1200" dirty="0">
                <a:solidFill>
                  <a:schemeClr val="bg1"/>
                </a:solidFill>
              </a:rPr>
              <a:t>(Y)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64" name="직선 연결선 63"/>
          <p:cNvCxnSpPr/>
          <p:nvPr/>
        </p:nvCxnSpPr>
        <p:spPr>
          <a:xfrm flipH="1" flipV="1">
            <a:off x="10544339" y="3122617"/>
            <a:ext cx="6994" cy="2556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0119143" y="2823250"/>
            <a:ext cx="85039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 공개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sp>
        <p:nvSpPr>
          <p:cNvPr id="66" name="모서리가 둥근 사각형 설명선 65"/>
          <p:cNvSpPr/>
          <p:nvPr/>
        </p:nvSpPr>
        <p:spPr>
          <a:xfrm>
            <a:off x="9395552" y="1593495"/>
            <a:ext cx="2389098" cy="592106"/>
          </a:xfrm>
          <a:prstGeom prst="wedgeRoundRectCallout">
            <a:avLst>
              <a:gd name="adj1" fmla="val -41862"/>
              <a:gd name="adj2" fmla="val 88752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  <a:r>
              <a:rPr lang="en-US" altLang="ko-KR" sz="1200" dirty="0">
                <a:solidFill>
                  <a:schemeClr val="tx1"/>
                </a:solidFill>
              </a:rPr>
              <a:t>(X)</a:t>
            </a:r>
            <a:r>
              <a:rPr lang="ko-KR" altLang="en-US" sz="1200" dirty="0">
                <a:solidFill>
                  <a:schemeClr val="tx1"/>
                </a:solidFill>
              </a:rPr>
              <a:t>의 발명의 설명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도면에만 기재된 </a:t>
            </a:r>
            <a:r>
              <a:rPr lang="en-US" altLang="ko-KR" sz="1200" dirty="0">
                <a:solidFill>
                  <a:schemeClr val="tx1"/>
                </a:solidFill>
              </a:rPr>
              <a:t>B</a:t>
            </a:r>
            <a:r>
              <a:rPr lang="ko-KR" altLang="en-US" sz="1200" dirty="0">
                <a:solidFill>
                  <a:schemeClr val="tx1"/>
                </a:solidFill>
              </a:rPr>
              <a:t>를 보호받고자 출원</a:t>
            </a:r>
            <a:r>
              <a:rPr lang="en-US" altLang="ko-KR" sz="1200" dirty="0">
                <a:solidFill>
                  <a:schemeClr val="tx1"/>
                </a:solidFill>
              </a:rPr>
              <a:t>(Y) </a:t>
            </a:r>
          </a:p>
          <a:p>
            <a:pPr algn="just"/>
            <a:r>
              <a:rPr lang="ko-KR" altLang="en-US" sz="1200" dirty="0">
                <a:solidFill>
                  <a:schemeClr val="tx1"/>
                </a:solidFill>
              </a:rPr>
              <a:t>진행했을 때 출원인 동일</a:t>
            </a:r>
          </a:p>
        </p:txBody>
      </p:sp>
      <p:cxnSp>
        <p:nvCxnSpPr>
          <p:cNvPr id="67" name="직선 연결선 66"/>
          <p:cNvCxnSpPr/>
          <p:nvPr/>
        </p:nvCxnSpPr>
        <p:spPr>
          <a:xfrm>
            <a:off x="6774549" y="5284018"/>
            <a:ext cx="5018647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/>
          <p:cNvSpPr/>
          <p:nvPr/>
        </p:nvSpPr>
        <p:spPr>
          <a:xfrm>
            <a:off x="6489894" y="4165134"/>
            <a:ext cx="850393" cy="229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6489894" y="4394635"/>
            <a:ext cx="850393" cy="229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70" name="직선 연결선 69"/>
          <p:cNvCxnSpPr/>
          <p:nvPr/>
        </p:nvCxnSpPr>
        <p:spPr>
          <a:xfrm flipH="1" flipV="1">
            <a:off x="6915091" y="5017242"/>
            <a:ext cx="6994" cy="2556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489895" y="4717875"/>
            <a:ext cx="85039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 출원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sp>
        <p:nvSpPr>
          <p:cNvPr id="72" name="직사각형 71"/>
          <p:cNvSpPr/>
          <p:nvPr/>
        </p:nvSpPr>
        <p:spPr>
          <a:xfrm>
            <a:off x="7750269" y="5600826"/>
            <a:ext cx="850393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7750269" y="5830327"/>
            <a:ext cx="850393" cy="229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74" name="직선 연결선 73"/>
          <p:cNvCxnSpPr>
            <a:endCxn id="72" idx="0"/>
          </p:cNvCxnSpPr>
          <p:nvPr/>
        </p:nvCxnSpPr>
        <p:spPr>
          <a:xfrm>
            <a:off x="8175465" y="5295148"/>
            <a:ext cx="1" cy="30567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7750270" y="6153567"/>
            <a:ext cx="850392" cy="276999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r>
              <a:rPr lang="en-US" altLang="ko-KR" sz="1200" dirty="0">
                <a:solidFill>
                  <a:schemeClr val="bg1"/>
                </a:solidFill>
              </a:rPr>
              <a:t>(Y)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76" name="직선 연결선 75"/>
          <p:cNvCxnSpPr/>
          <p:nvPr/>
        </p:nvCxnSpPr>
        <p:spPr>
          <a:xfrm flipH="1" flipV="1">
            <a:off x="9339375" y="5017242"/>
            <a:ext cx="6994" cy="2556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10623337" y="4717875"/>
            <a:ext cx="85039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ym typeface="Wingdings" panose="05000000000000000000" pitchFamily="2" charset="2"/>
              </a:rPr>
              <a:t>乙</a:t>
            </a:r>
            <a:r>
              <a:rPr lang="ko-KR" altLang="en-US" sz="1200" dirty="0"/>
              <a:t> 공개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sp>
        <p:nvSpPr>
          <p:cNvPr id="78" name="모서리가 둥근 사각형 설명선 77"/>
          <p:cNvSpPr/>
          <p:nvPr/>
        </p:nvSpPr>
        <p:spPr>
          <a:xfrm>
            <a:off x="9148506" y="3869081"/>
            <a:ext cx="2644690" cy="592106"/>
          </a:xfrm>
          <a:prstGeom prst="wedgeRoundRectCallout">
            <a:avLst>
              <a:gd name="adj1" fmla="val -61552"/>
              <a:gd name="adj2" fmla="val 3598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200" dirty="0">
                <a:solidFill>
                  <a:schemeClr val="tx1"/>
                </a:solidFill>
              </a:rPr>
              <a:t>그 출원</a:t>
            </a:r>
            <a:r>
              <a:rPr lang="en-US" altLang="ko-KR" sz="1200" dirty="0">
                <a:solidFill>
                  <a:schemeClr val="tx1"/>
                </a:solidFill>
              </a:rPr>
              <a:t>(Y)</a:t>
            </a:r>
            <a:r>
              <a:rPr lang="ko-KR" altLang="en-US" sz="1200" dirty="0">
                <a:solidFill>
                  <a:schemeClr val="tx1"/>
                </a:solidFill>
              </a:rPr>
              <a:t>할 때 </a:t>
            </a:r>
            <a:r>
              <a:rPr lang="en-US" altLang="ko-KR" sz="1200" dirty="0">
                <a:solidFill>
                  <a:schemeClr val="tx1"/>
                </a:solidFill>
              </a:rPr>
              <a:t>X</a:t>
            </a:r>
            <a:r>
              <a:rPr lang="ko-KR" altLang="en-US" sz="1200" dirty="0">
                <a:solidFill>
                  <a:schemeClr val="tx1"/>
                </a:solidFill>
              </a:rPr>
              <a:t>의 </a:t>
            </a:r>
            <a:r>
              <a:rPr lang="ko-KR" altLang="en-US" sz="1200" dirty="0" err="1">
                <a:solidFill>
                  <a:schemeClr val="tx1"/>
                </a:solidFill>
              </a:rPr>
              <a:t>출원인이</a:t>
            </a:r>
            <a:r>
              <a:rPr lang="ko-KR" altLang="en-US" sz="1200" dirty="0">
                <a:solidFill>
                  <a:schemeClr val="tx1"/>
                </a:solidFill>
              </a:rPr>
              <a:t> 甲이기 때문에 </a:t>
            </a:r>
            <a:r>
              <a:rPr lang="en-US" altLang="ko-KR" sz="1200" dirty="0">
                <a:solidFill>
                  <a:schemeClr val="tx1"/>
                </a:solidFill>
              </a:rPr>
              <a:t>Y</a:t>
            </a:r>
            <a:r>
              <a:rPr lang="ko-KR" altLang="en-US" sz="1200" dirty="0" err="1">
                <a:solidFill>
                  <a:schemeClr val="tx1"/>
                </a:solidFill>
              </a:rPr>
              <a:t>출원인도</a:t>
            </a:r>
            <a:r>
              <a:rPr lang="ko-KR" altLang="en-US" sz="1200" dirty="0">
                <a:solidFill>
                  <a:schemeClr val="tx1"/>
                </a:solidFill>
              </a:rPr>
              <a:t> 甲이어야 함</a:t>
            </a:r>
          </a:p>
        </p:txBody>
      </p:sp>
      <p:cxnSp>
        <p:nvCxnSpPr>
          <p:cNvPr id="79" name="직선 연결선 78"/>
          <p:cNvCxnSpPr/>
          <p:nvPr/>
        </p:nvCxnSpPr>
        <p:spPr>
          <a:xfrm flipH="1" flipV="1">
            <a:off x="11039988" y="5017242"/>
            <a:ext cx="6994" cy="2556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8363974" y="4717875"/>
            <a:ext cx="1967890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</a:t>
            </a:r>
            <a:r>
              <a:rPr lang="en-US" altLang="ko-KR" sz="1200" dirty="0">
                <a:sym typeface="Wingdings" panose="05000000000000000000" pitchFamily="2" charset="2"/>
              </a:rPr>
              <a:t></a:t>
            </a:r>
            <a:r>
              <a:rPr lang="ko-KR" altLang="en-US" sz="1200" dirty="0">
                <a:sym typeface="Wingdings" panose="05000000000000000000" pitchFamily="2" charset="2"/>
              </a:rPr>
              <a:t>乙</a:t>
            </a:r>
            <a:r>
              <a:rPr lang="ko-KR" altLang="en-US" sz="1200" dirty="0"/>
              <a:t> 출원인변경신고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sp>
        <p:nvSpPr>
          <p:cNvPr id="88" name="TextBox 87"/>
          <p:cNvSpPr txBox="1"/>
          <p:nvPr/>
        </p:nvSpPr>
        <p:spPr>
          <a:xfrm>
            <a:off x="7498036" y="3882816"/>
            <a:ext cx="13548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그 출원할 때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그 </a:t>
            </a:r>
            <a:r>
              <a:rPr lang="ko-KR" altLang="en-US" dirty="0" err="1">
                <a:solidFill>
                  <a:srgbClr val="FF0000"/>
                </a:solidFill>
              </a:rPr>
              <a:t>출원시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89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9133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그 출원 지위 </a:t>
            </a:r>
            <a:r>
              <a:rPr lang="en-US" altLang="ko-KR" dirty="0"/>
              <a:t>vs </a:t>
            </a:r>
            <a:r>
              <a:rPr lang="ko-KR" altLang="en-US" dirty="0"/>
              <a:t>다른</a:t>
            </a:r>
            <a:r>
              <a:rPr lang="en-US" altLang="ko-KR" dirty="0"/>
              <a:t> </a:t>
            </a:r>
            <a:r>
              <a:rPr lang="ko-KR" altLang="en-US" dirty="0"/>
              <a:t>출원 지위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6206" y="2393357"/>
            <a:ext cx="864838" cy="6862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 fontAlgn="base"/>
            <a:r>
              <a:rPr lang="ko-KR" altLang="en-US" sz="2400" dirty="0">
                <a:solidFill>
                  <a:schemeClr val="tx2"/>
                </a:solidFill>
              </a:rPr>
              <a:t>출원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421162" y="2393357"/>
            <a:ext cx="864838" cy="68626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 fontAlgn="base"/>
            <a:r>
              <a:rPr lang="ko-KR" altLang="en-US" sz="2400" dirty="0">
                <a:solidFill>
                  <a:schemeClr val="tx2"/>
                </a:solidFill>
              </a:rPr>
              <a:t>등록</a:t>
            </a:r>
          </a:p>
        </p:txBody>
      </p:sp>
      <p:cxnSp>
        <p:nvCxnSpPr>
          <p:cNvPr id="6" name="직선 화살표 연결선 5"/>
          <p:cNvCxnSpPr>
            <a:stCxn id="74" idx="3"/>
            <a:endCxn id="100" idx="1"/>
          </p:cNvCxnSpPr>
          <p:nvPr/>
        </p:nvCxnSpPr>
        <p:spPr>
          <a:xfrm>
            <a:off x="1081044" y="2736488"/>
            <a:ext cx="34011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2708635" y="1816692"/>
            <a:ext cx="3606439" cy="482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 fontAlgn="base"/>
            <a:r>
              <a:rPr lang="ko-KR" altLang="en-US" sz="1400" dirty="0">
                <a:solidFill>
                  <a:schemeClr val="tx2"/>
                </a:solidFill>
              </a:rPr>
              <a:t>그 출원의 지위</a:t>
            </a:r>
            <a:endParaRPr lang="en-US" altLang="ko-KR" sz="1400" dirty="0">
              <a:solidFill>
                <a:schemeClr val="tx2"/>
              </a:solidFill>
            </a:endParaRPr>
          </a:p>
          <a:p>
            <a:pPr algn="ctr" fontAlgn="base"/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내 출원이 </a:t>
            </a:r>
            <a:r>
              <a:rPr lang="ko-KR" altLang="en-US" sz="1200" dirty="0" err="1">
                <a:solidFill>
                  <a:schemeClr val="tx2"/>
                </a:solidFill>
              </a:rPr>
              <a:t>등록받을</a:t>
            </a:r>
            <a:r>
              <a:rPr lang="ko-KR" altLang="en-US" sz="1200" dirty="0">
                <a:solidFill>
                  <a:schemeClr val="tx2"/>
                </a:solidFill>
              </a:rPr>
              <a:t> 수 있는가</a:t>
            </a:r>
            <a:r>
              <a:rPr lang="en-US" altLang="ko-KR" sz="1200" dirty="0">
                <a:solidFill>
                  <a:schemeClr val="tx2"/>
                </a:solidFill>
              </a:rPr>
              <a:t>?)</a:t>
            </a:r>
            <a:endParaRPr lang="ko-KR" altLang="en-US" sz="1200" dirty="0">
              <a:solidFill>
                <a:schemeClr val="tx2"/>
              </a:solidFill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2708636" y="3203955"/>
            <a:ext cx="3606438" cy="482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 fontAlgn="base"/>
            <a:r>
              <a:rPr lang="ko-KR" altLang="en-US" sz="1400" dirty="0">
                <a:solidFill>
                  <a:schemeClr val="tx2"/>
                </a:solidFill>
              </a:rPr>
              <a:t>다른 출원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인용대상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의 지위</a:t>
            </a:r>
            <a:endParaRPr lang="en-US" altLang="ko-KR" sz="1400" dirty="0">
              <a:solidFill>
                <a:schemeClr val="tx2"/>
              </a:solidFill>
            </a:endParaRPr>
          </a:p>
          <a:p>
            <a:pPr algn="ctr" fontAlgn="base"/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내 출원에 의하여 등록을 금지시킬 수 있는가</a:t>
            </a:r>
            <a:r>
              <a:rPr lang="en-US" altLang="ko-KR" sz="1200" dirty="0">
                <a:solidFill>
                  <a:schemeClr val="tx2"/>
                </a:solidFill>
              </a:rPr>
              <a:t>?)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6623411" y="2910316"/>
            <a:ext cx="1872889" cy="30986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 fontAlgn="base"/>
            <a:r>
              <a:rPr lang="ko-KR" altLang="en-US" sz="1400" dirty="0" err="1">
                <a:solidFill>
                  <a:schemeClr val="tx2"/>
                </a:solidFill>
              </a:rPr>
              <a:t>공지기술의</a:t>
            </a:r>
            <a:r>
              <a:rPr lang="ko-KR" altLang="en-US" sz="1400" dirty="0">
                <a:solidFill>
                  <a:schemeClr val="tx2"/>
                </a:solidFill>
              </a:rPr>
              <a:t> 지위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623411" y="3321950"/>
            <a:ext cx="1872889" cy="30986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 fontAlgn="base"/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지위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23411" y="3724364"/>
            <a:ext cx="1872889" cy="30986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 fontAlgn="base"/>
            <a:r>
              <a:rPr lang="ko-KR" altLang="en-US" sz="1400" dirty="0">
                <a:solidFill>
                  <a:schemeClr val="tx2"/>
                </a:solidFill>
              </a:rPr>
              <a:t>확대된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지위</a:t>
            </a:r>
          </a:p>
        </p:txBody>
      </p:sp>
      <p:cxnSp>
        <p:nvCxnSpPr>
          <p:cNvPr id="19" name="꺾인 연결선 18"/>
          <p:cNvCxnSpPr>
            <a:stCxn id="100" idx="3"/>
            <a:endCxn id="101" idx="1"/>
          </p:cNvCxnSpPr>
          <p:nvPr/>
        </p:nvCxnSpPr>
        <p:spPr>
          <a:xfrm flipV="1">
            <a:off x="2286000" y="2058168"/>
            <a:ext cx="422635" cy="67832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stCxn id="100" idx="3"/>
            <a:endCxn id="103" idx="1"/>
          </p:cNvCxnSpPr>
          <p:nvPr/>
        </p:nvCxnSpPr>
        <p:spPr>
          <a:xfrm>
            <a:off x="2286000" y="2736488"/>
            <a:ext cx="422636" cy="708943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stCxn id="103" idx="3"/>
            <a:endCxn id="107" idx="1"/>
          </p:cNvCxnSpPr>
          <p:nvPr/>
        </p:nvCxnSpPr>
        <p:spPr>
          <a:xfrm flipV="1">
            <a:off x="6315074" y="3065249"/>
            <a:ext cx="308337" cy="38018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꺾인 연결선 29"/>
          <p:cNvCxnSpPr>
            <a:stCxn id="103" idx="3"/>
            <a:endCxn id="109" idx="1"/>
          </p:cNvCxnSpPr>
          <p:nvPr/>
        </p:nvCxnSpPr>
        <p:spPr>
          <a:xfrm>
            <a:off x="6315074" y="3445431"/>
            <a:ext cx="308337" cy="3145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꺾인 연결선 31"/>
          <p:cNvCxnSpPr>
            <a:stCxn id="103" idx="3"/>
            <a:endCxn id="111" idx="1"/>
          </p:cNvCxnSpPr>
          <p:nvPr/>
        </p:nvCxnSpPr>
        <p:spPr>
          <a:xfrm>
            <a:off x="6315074" y="3445431"/>
            <a:ext cx="308337" cy="433866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8296275" y="1332925"/>
            <a:ext cx="3429000" cy="3098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 fontAlgn="base"/>
            <a:r>
              <a:rPr lang="ko-KR" altLang="en-US" sz="3600" dirty="0" err="1">
                <a:solidFill>
                  <a:srgbClr val="FF0000"/>
                </a:solidFill>
              </a:rPr>
              <a:t>등록금지적</a:t>
            </a:r>
            <a:r>
              <a:rPr lang="ko-KR" altLang="en-US" sz="3600" dirty="0">
                <a:solidFill>
                  <a:srgbClr val="FF0000"/>
                </a:solidFill>
              </a:rPr>
              <a:t> 효력</a:t>
            </a:r>
          </a:p>
        </p:txBody>
      </p:sp>
      <p:sp>
        <p:nvSpPr>
          <p:cNvPr id="36" name="왼쪽 화살표 35"/>
          <p:cNvSpPr/>
          <p:nvPr/>
        </p:nvSpPr>
        <p:spPr>
          <a:xfrm rot="19261059">
            <a:off x="8090262" y="1876549"/>
            <a:ext cx="723900" cy="915418"/>
          </a:xfrm>
          <a:prstGeom prst="lef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90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AD97CAA-B593-422B-8F18-7DF43CF333F0}"/>
              </a:ext>
            </a:extLst>
          </p:cNvPr>
          <p:cNvGrpSpPr/>
          <p:nvPr/>
        </p:nvGrpSpPr>
        <p:grpSpPr>
          <a:xfrm>
            <a:off x="1293785" y="4756784"/>
            <a:ext cx="9442580" cy="1653770"/>
            <a:chOff x="1026367" y="1057733"/>
            <a:chExt cx="9442580" cy="1653770"/>
          </a:xfrm>
        </p:grpSpPr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73DD0464-661C-42C0-B4BE-212E48F351BE}"/>
                </a:ext>
              </a:extLst>
            </p:cNvPr>
            <p:cNvCxnSpPr/>
            <p:nvPr/>
          </p:nvCxnSpPr>
          <p:spPr>
            <a:xfrm>
              <a:off x="1803326" y="1777108"/>
              <a:ext cx="8064896" cy="0"/>
            </a:xfrm>
            <a:prstGeom prst="straightConnector1">
              <a:avLst/>
            </a:prstGeom>
            <a:ln w="762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4C63D3A5-3C1B-4B8C-8560-59610295F138}"/>
                </a:ext>
              </a:extLst>
            </p:cNvPr>
            <p:cNvSpPr/>
            <p:nvPr/>
          </p:nvSpPr>
          <p:spPr>
            <a:xfrm>
              <a:off x="5105161" y="1057733"/>
              <a:ext cx="1245202" cy="36004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bg1">
                      <a:lumMod val="95000"/>
                    </a:schemeClr>
                  </a:solidFill>
                </a:rPr>
                <a:t>특허출원</a:t>
              </a:r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CFF23956-1EC0-4FAC-B21B-EC126AFB0A1F}"/>
                </a:ext>
              </a:extLst>
            </p:cNvPr>
            <p:cNvSpPr/>
            <p:nvPr/>
          </p:nvSpPr>
          <p:spPr>
            <a:xfrm>
              <a:off x="1026367" y="1959430"/>
              <a:ext cx="4721290" cy="569166"/>
            </a:xfrm>
            <a:custGeom>
              <a:avLst/>
              <a:gdLst>
                <a:gd name="csX0" fmla="*/ 4721290 w 4721290"/>
                <a:gd name="csY0" fmla="*/ 0 h 569166"/>
                <a:gd name="csX1" fmla="*/ 4392386 w 4721290"/>
                <a:gd name="csY1" fmla="*/ 267508 h 569166"/>
                <a:gd name="csX2" fmla="*/ 4021494 w 4721290"/>
                <a:gd name="csY2" fmla="*/ 569166 h 569166"/>
                <a:gd name="csX3" fmla="*/ 3431675 w 4721290"/>
                <a:gd name="csY3" fmla="*/ 569166 h 569166"/>
                <a:gd name="csX4" fmla="*/ 2721211 w 4721290"/>
                <a:gd name="csY4" fmla="*/ 569166 h 569166"/>
                <a:gd name="csX5" fmla="*/ 2131392 w 4721290"/>
                <a:gd name="csY5" fmla="*/ 569166 h 569166"/>
                <a:gd name="csX6" fmla="*/ 1581788 w 4721290"/>
                <a:gd name="csY6" fmla="*/ 569166 h 569166"/>
                <a:gd name="csX7" fmla="*/ 831109 w 4721290"/>
                <a:gd name="csY7" fmla="*/ 569166 h 569166"/>
                <a:gd name="csX8" fmla="*/ 0 w 4721290"/>
                <a:gd name="csY8" fmla="*/ 569166 h 5691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721290" h="569166" extrusionOk="0">
                  <a:moveTo>
                    <a:pt x="4721290" y="0"/>
                  </a:moveTo>
                  <a:cubicBezTo>
                    <a:pt x="4575297" y="95535"/>
                    <a:pt x="4513131" y="150027"/>
                    <a:pt x="4392386" y="267508"/>
                  </a:cubicBezTo>
                  <a:cubicBezTo>
                    <a:pt x="4271641" y="384989"/>
                    <a:pt x="4166567" y="445411"/>
                    <a:pt x="4021494" y="569166"/>
                  </a:cubicBezTo>
                  <a:cubicBezTo>
                    <a:pt x="3835215" y="571127"/>
                    <a:pt x="3618634" y="587290"/>
                    <a:pt x="3431675" y="569166"/>
                  </a:cubicBezTo>
                  <a:cubicBezTo>
                    <a:pt x="3244716" y="551042"/>
                    <a:pt x="3073856" y="552040"/>
                    <a:pt x="2721211" y="569166"/>
                  </a:cubicBezTo>
                  <a:cubicBezTo>
                    <a:pt x="2368566" y="586292"/>
                    <a:pt x="2408101" y="596949"/>
                    <a:pt x="2131392" y="569166"/>
                  </a:cubicBezTo>
                  <a:cubicBezTo>
                    <a:pt x="1854683" y="541383"/>
                    <a:pt x="1828199" y="589824"/>
                    <a:pt x="1581788" y="569166"/>
                  </a:cubicBezTo>
                  <a:cubicBezTo>
                    <a:pt x="1335377" y="548508"/>
                    <a:pt x="1108845" y="533010"/>
                    <a:pt x="831109" y="569166"/>
                  </a:cubicBezTo>
                  <a:cubicBezTo>
                    <a:pt x="553373" y="605322"/>
                    <a:pt x="349229" y="551185"/>
                    <a:pt x="0" y="569166"/>
                  </a:cubicBezTo>
                </a:path>
              </a:pathLst>
            </a:custGeom>
            <a:noFill/>
            <a:ln w="28575">
              <a:prstDash val="sysDot"/>
              <a:tailEnd type="triangle"/>
              <a:extLst>
                <a:ext uri="{C807C97D-BFC1-408E-A445-0C87EB9F89A2}">
                  <ask:lineSketchStyleProps xmlns:ask="http://schemas.microsoft.com/office/drawing/2018/sketchyshapes" sd="2802881777">
                    <a:custGeom>
                      <a:avLst/>
                      <a:gdLst>
                        <a:gd name="connsiteX0" fmla="*/ 4721290 w 4721290"/>
                        <a:gd name="connsiteY0" fmla="*/ 0 h 625151"/>
                        <a:gd name="connsiteX1" fmla="*/ 4021494 w 4721290"/>
                        <a:gd name="connsiteY1" fmla="*/ 625151 h 625151"/>
                        <a:gd name="connsiteX2" fmla="*/ 0 w 4721290"/>
                        <a:gd name="connsiteY2" fmla="*/ 625151 h 62515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4721290" h="625151">
                          <a:moveTo>
                            <a:pt x="4721290" y="0"/>
                          </a:moveTo>
                          <a:lnTo>
                            <a:pt x="4021494" y="625151"/>
                          </a:lnTo>
                          <a:lnTo>
                            <a:pt x="0" y="625151"/>
                          </a:lnTo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자유형: 도형 6">
              <a:extLst>
                <a:ext uri="{FF2B5EF4-FFF2-40B4-BE49-F238E27FC236}">
                  <a16:creationId xmlns:a16="http://schemas.microsoft.com/office/drawing/2014/main" id="{5F93293E-FEC5-4AD1-AF77-EC9640750454}"/>
                </a:ext>
              </a:extLst>
            </p:cNvPr>
            <p:cNvSpPr/>
            <p:nvPr/>
          </p:nvSpPr>
          <p:spPr>
            <a:xfrm>
              <a:off x="5756988" y="1968759"/>
              <a:ext cx="4711959" cy="559837"/>
            </a:xfrm>
            <a:custGeom>
              <a:avLst/>
              <a:gdLst>
                <a:gd name="csX0" fmla="*/ 0 w 4711959"/>
                <a:gd name="csY0" fmla="*/ 0 h 559837"/>
                <a:gd name="csX1" fmla="*/ 263123 w 4711959"/>
                <a:gd name="csY1" fmla="*/ 263123 h 559837"/>
                <a:gd name="csX2" fmla="*/ 559837 w 4711959"/>
                <a:gd name="csY2" fmla="*/ 559837 h 559837"/>
                <a:gd name="csX3" fmla="*/ 1127294 w 4711959"/>
                <a:gd name="csY3" fmla="*/ 559837 h 559837"/>
                <a:gd name="csX4" fmla="*/ 1819314 w 4711959"/>
                <a:gd name="csY4" fmla="*/ 559837 h 559837"/>
                <a:gd name="csX5" fmla="*/ 2428292 w 4711959"/>
                <a:gd name="csY5" fmla="*/ 559837 h 559837"/>
                <a:gd name="csX6" fmla="*/ 3078791 w 4711959"/>
                <a:gd name="csY6" fmla="*/ 559837 h 559837"/>
                <a:gd name="csX7" fmla="*/ 3853854 w 4711959"/>
                <a:gd name="csY7" fmla="*/ 559837 h 559837"/>
                <a:gd name="csX8" fmla="*/ 4711959 w 4711959"/>
                <a:gd name="csY8" fmla="*/ 559837 h 5598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711959" h="559837" extrusionOk="0">
                  <a:moveTo>
                    <a:pt x="0" y="0"/>
                  </a:moveTo>
                  <a:cubicBezTo>
                    <a:pt x="128555" y="123173"/>
                    <a:pt x="186359" y="176707"/>
                    <a:pt x="263123" y="263123"/>
                  </a:cubicBezTo>
                  <a:cubicBezTo>
                    <a:pt x="339887" y="349539"/>
                    <a:pt x="472934" y="447947"/>
                    <a:pt x="559837" y="559837"/>
                  </a:cubicBezTo>
                  <a:cubicBezTo>
                    <a:pt x="688711" y="533784"/>
                    <a:pt x="890160" y="582479"/>
                    <a:pt x="1127294" y="559837"/>
                  </a:cubicBezTo>
                  <a:cubicBezTo>
                    <a:pt x="1364428" y="537195"/>
                    <a:pt x="1602260" y="534757"/>
                    <a:pt x="1819314" y="559837"/>
                  </a:cubicBezTo>
                  <a:cubicBezTo>
                    <a:pt x="2036368" y="584917"/>
                    <a:pt x="2294894" y="579304"/>
                    <a:pt x="2428292" y="559837"/>
                  </a:cubicBezTo>
                  <a:cubicBezTo>
                    <a:pt x="2561690" y="540370"/>
                    <a:pt x="2876937" y="529698"/>
                    <a:pt x="3078791" y="559837"/>
                  </a:cubicBezTo>
                  <a:cubicBezTo>
                    <a:pt x="3280645" y="589976"/>
                    <a:pt x="3652456" y="555001"/>
                    <a:pt x="3853854" y="559837"/>
                  </a:cubicBezTo>
                  <a:cubicBezTo>
                    <a:pt x="4055252" y="564673"/>
                    <a:pt x="4285360" y="594155"/>
                    <a:pt x="4711959" y="559837"/>
                  </a:cubicBezTo>
                </a:path>
              </a:pathLst>
            </a:custGeom>
            <a:noFill/>
            <a:ln w="28575">
              <a:prstDash val="sysDot"/>
              <a:tailEnd type="triangle"/>
              <a:extLst>
                <a:ext uri="{C807C97D-BFC1-408E-A445-0C87EB9F89A2}">
                  <ask:lineSketchStyleProps xmlns:ask="http://schemas.microsoft.com/office/drawing/2018/sketchyshapes" sd="3483464521">
                    <a:custGeom>
                      <a:avLst/>
                      <a:gdLst>
                        <a:gd name="connsiteX0" fmla="*/ 0 w 4711959"/>
                        <a:gd name="connsiteY0" fmla="*/ 0 h 559837"/>
                        <a:gd name="connsiteX1" fmla="*/ 559837 w 4711959"/>
                        <a:gd name="connsiteY1" fmla="*/ 559837 h 559837"/>
                        <a:gd name="connsiteX2" fmla="*/ 4711959 w 4711959"/>
                        <a:gd name="connsiteY2" fmla="*/ 559837 h 55983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4711959" h="559837">
                          <a:moveTo>
                            <a:pt x="0" y="0"/>
                          </a:moveTo>
                          <a:lnTo>
                            <a:pt x="559837" y="559837"/>
                          </a:lnTo>
                          <a:lnTo>
                            <a:pt x="4711959" y="559837"/>
                          </a:lnTo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C781033-007D-4D16-8561-409449C80A5C}"/>
                </a:ext>
              </a:extLst>
            </p:cNvPr>
            <p:cNvSpPr txBox="1"/>
            <p:nvPr/>
          </p:nvSpPr>
          <p:spPr>
            <a:xfrm>
              <a:off x="2006082" y="2342171"/>
              <a:ext cx="154080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그 출원의 지위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08E5332-538F-4346-B0DF-40DD81775E10}"/>
                </a:ext>
              </a:extLst>
            </p:cNvPr>
            <p:cNvSpPr txBox="1"/>
            <p:nvPr/>
          </p:nvSpPr>
          <p:spPr>
            <a:xfrm>
              <a:off x="7725897" y="2342171"/>
              <a:ext cx="174919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다른 출원의 지위</a:t>
              </a:r>
            </a:p>
          </p:txBody>
        </p:sp>
      </p:grp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C791F33-BB75-4701-A830-F3EA5F4BD5D0}"/>
              </a:ext>
            </a:extLst>
          </p:cNvPr>
          <p:cNvCxnSpPr/>
          <p:nvPr/>
        </p:nvCxnSpPr>
        <p:spPr>
          <a:xfrm>
            <a:off x="74645" y="4376057"/>
            <a:ext cx="11859208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1A2E151A-2F3D-4710-8375-EFE3323F96F0}"/>
              </a:ext>
            </a:extLst>
          </p:cNvPr>
          <p:cNvCxnSpPr>
            <a:stCxn id="22" idx="2"/>
          </p:cNvCxnSpPr>
          <p:nvPr/>
        </p:nvCxnSpPr>
        <p:spPr>
          <a:xfrm>
            <a:off x="5995180" y="5116824"/>
            <a:ext cx="0" cy="26605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타원 12">
            <a:extLst>
              <a:ext uri="{FF2B5EF4-FFF2-40B4-BE49-F238E27FC236}">
                <a16:creationId xmlns:a16="http://schemas.microsoft.com/office/drawing/2014/main" id="{412C7731-B558-4F68-BD64-7839EE311535}"/>
              </a:ext>
            </a:extLst>
          </p:cNvPr>
          <p:cNvSpPr/>
          <p:nvPr/>
        </p:nvSpPr>
        <p:spPr>
          <a:xfrm>
            <a:off x="5897949" y="5399233"/>
            <a:ext cx="194461" cy="1944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E582A1-3E61-414A-AD34-DC4237A37A4C}"/>
              </a:ext>
            </a:extLst>
          </p:cNvPr>
          <p:cNvSpPr txBox="1"/>
          <p:nvPr/>
        </p:nvSpPr>
        <p:spPr>
          <a:xfrm>
            <a:off x="6321569" y="1907446"/>
            <a:ext cx="12530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청구범위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BF3D8C-91F2-4454-BE74-A63E1FCFC133}"/>
              </a:ext>
            </a:extLst>
          </p:cNvPr>
          <p:cNvSpPr txBox="1"/>
          <p:nvPr/>
        </p:nvSpPr>
        <p:spPr>
          <a:xfrm>
            <a:off x="8496300" y="2921625"/>
            <a:ext cx="2274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최초 명세서 또는 도면</a:t>
            </a:r>
            <a:endParaRPr lang="ko-KR" altLang="en-US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8F6B4D-383A-4429-B3C2-F7390414B558}"/>
              </a:ext>
            </a:extLst>
          </p:cNvPr>
          <p:cNvSpPr txBox="1"/>
          <p:nvPr/>
        </p:nvSpPr>
        <p:spPr>
          <a:xfrm>
            <a:off x="8496300" y="3321950"/>
            <a:ext cx="2274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청구범위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AB5BC0C-C40F-4C4F-90C1-4321FADF1801}"/>
              </a:ext>
            </a:extLst>
          </p:cNvPr>
          <p:cNvSpPr txBox="1"/>
          <p:nvPr/>
        </p:nvSpPr>
        <p:spPr>
          <a:xfrm>
            <a:off x="8496300" y="3734724"/>
            <a:ext cx="2274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최초 명세서 또는 도면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40780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출원발명의 등록금지적 효력</a:t>
            </a:r>
            <a:r>
              <a:rPr lang="en-US" altLang="ko-KR" dirty="0"/>
              <a:t>(</a:t>
            </a:r>
            <a:r>
              <a:rPr lang="ko-KR" altLang="en-US" dirty="0"/>
              <a:t>다른</a:t>
            </a:r>
            <a:r>
              <a:rPr lang="en-US" altLang="ko-KR" dirty="0"/>
              <a:t> </a:t>
            </a:r>
            <a:r>
              <a:rPr lang="ko-KR" altLang="en-US" dirty="0"/>
              <a:t>출원의 지위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558249"/>
              </p:ext>
            </p:extLst>
          </p:nvPr>
        </p:nvGraphicFramePr>
        <p:xfrm>
          <a:off x="341419" y="1065165"/>
          <a:ext cx="11536256" cy="1677924"/>
        </p:xfrm>
        <a:graphic>
          <a:graphicData uri="http://schemas.openxmlformats.org/drawingml/2006/table">
            <a:tbl>
              <a:tblPr/>
              <a:tblGrid>
                <a:gridCol w="1697845">
                  <a:extLst>
                    <a:ext uri="{9D8B030D-6E8A-4147-A177-3AD203B41FA5}">
                      <a16:colId xmlns:a16="http://schemas.microsoft.com/office/drawing/2014/main" val="1938038473"/>
                    </a:ext>
                  </a:extLst>
                </a:gridCol>
                <a:gridCol w="2668749">
                  <a:extLst>
                    <a:ext uri="{9D8B030D-6E8A-4147-A177-3AD203B41FA5}">
                      <a16:colId xmlns:a16="http://schemas.microsoft.com/office/drawing/2014/main" val="721845093"/>
                    </a:ext>
                  </a:extLst>
                </a:gridCol>
                <a:gridCol w="3774309">
                  <a:extLst>
                    <a:ext uri="{9D8B030D-6E8A-4147-A177-3AD203B41FA5}">
                      <a16:colId xmlns:a16="http://schemas.microsoft.com/office/drawing/2014/main" val="1556334561"/>
                    </a:ext>
                  </a:extLst>
                </a:gridCol>
                <a:gridCol w="3395353">
                  <a:extLst>
                    <a:ext uri="{9D8B030D-6E8A-4147-A177-3AD203B41FA5}">
                      <a16:colId xmlns:a16="http://schemas.microsoft.com/office/drawing/2014/main" val="3907008119"/>
                    </a:ext>
                  </a:extLst>
                </a:gridCol>
              </a:tblGrid>
              <a:tr h="1943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다른 출원의 지위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공지기술의</a:t>
                      </a:r>
                      <a:r>
                        <a:rPr lang="ko-KR" altLang="en-US" sz="105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지위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선출원의</a:t>
                      </a:r>
                      <a:r>
                        <a:rPr lang="ko-KR" altLang="en-US" sz="105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지위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확대된 </a:t>
                      </a:r>
                      <a:r>
                        <a:rPr lang="ko-KR" altLang="en-US" sz="105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선출원의</a:t>
                      </a:r>
                      <a:r>
                        <a:rPr lang="ko-KR" altLang="en-US" sz="105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지위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852261"/>
                  </a:ext>
                </a:extLst>
              </a:tr>
              <a:tr h="3581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시기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출원공개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또는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설정등록된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후부터 발생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216)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출원한 날부터 발생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출원한 날의 다음날부터 발생하여 출원공개 또는 등록공고 전까지 인정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6872430"/>
                  </a:ext>
                </a:extLst>
              </a:tr>
              <a:tr h="1943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범위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최초 명세서 또는 도면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청구범위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최초 명세서 또는 도면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6722737"/>
                  </a:ext>
                </a:extLst>
              </a:tr>
              <a:tr h="1943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지역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국제주의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국내주의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국내주의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7946965"/>
                  </a:ext>
                </a:extLst>
              </a:tr>
              <a:tr h="1943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판단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동일성과 용이성 판단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동일성 판단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동일성 판단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845314"/>
                  </a:ext>
                </a:extLst>
              </a:tr>
              <a:tr h="3581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비고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출원이 무효</a:t>
                      </a:r>
                      <a:r>
                        <a:rPr lang="en-US" altLang="ko-KR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취하</a:t>
                      </a:r>
                      <a:r>
                        <a:rPr lang="en-US" altLang="ko-KR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포기</a:t>
                      </a:r>
                      <a:r>
                        <a:rPr lang="en-US" altLang="ko-KR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거절결정확정</a:t>
                      </a:r>
                      <a:r>
                        <a:rPr lang="en-US" altLang="ko-KR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협의불성립으로 거절결정이 확정된 경우는 제외</a:t>
                      </a:r>
                      <a:r>
                        <a:rPr lang="en-US" altLang="ko-KR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된 경우나 무권리자 출원의 경우 부적용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발명자나 그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특허출원할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때의 출원인 동일의 경우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부적용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4889861"/>
                  </a:ext>
                </a:extLst>
              </a:tr>
            </a:tbl>
          </a:graphicData>
        </a:graphic>
      </p:graphicFrame>
      <p:cxnSp>
        <p:nvCxnSpPr>
          <p:cNvPr id="114" name="직선 연결선 113"/>
          <p:cNvCxnSpPr/>
          <p:nvPr/>
        </p:nvCxnSpPr>
        <p:spPr>
          <a:xfrm flipV="1">
            <a:off x="133350" y="2915711"/>
            <a:ext cx="11963400" cy="2857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자유형 115"/>
          <p:cNvSpPr/>
          <p:nvPr/>
        </p:nvSpPr>
        <p:spPr>
          <a:xfrm flipV="1">
            <a:off x="2595414" y="4554427"/>
            <a:ext cx="3240360" cy="717277"/>
          </a:xfrm>
          <a:custGeom>
            <a:avLst/>
            <a:gdLst>
              <a:gd name="connsiteX0" fmla="*/ 0 w 3612445"/>
              <a:gd name="connsiteY0" fmla="*/ 699911 h 711200"/>
              <a:gd name="connsiteX1" fmla="*/ 688623 w 3612445"/>
              <a:gd name="connsiteY1" fmla="*/ 11289 h 711200"/>
              <a:gd name="connsiteX2" fmla="*/ 2889956 w 3612445"/>
              <a:gd name="connsiteY2" fmla="*/ 0 h 711200"/>
              <a:gd name="connsiteX3" fmla="*/ 3612445 w 3612445"/>
              <a:gd name="connsiteY3" fmla="*/ 71120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2445" h="711200">
                <a:moveTo>
                  <a:pt x="0" y="699911"/>
                </a:moveTo>
                <a:lnTo>
                  <a:pt x="688623" y="11289"/>
                </a:lnTo>
                <a:lnTo>
                  <a:pt x="2889956" y="0"/>
                </a:lnTo>
                <a:lnTo>
                  <a:pt x="3612445" y="711200"/>
                </a:lnTo>
              </a:path>
            </a:pathLst>
          </a:cu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자유형 117"/>
          <p:cNvSpPr/>
          <p:nvPr/>
        </p:nvSpPr>
        <p:spPr>
          <a:xfrm flipV="1">
            <a:off x="5547741" y="4565719"/>
            <a:ext cx="3938939" cy="711802"/>
          </a:xfrm>
          <a:custGeom>
            <a:avLst/>
            <a:gdLst>
              <a:gd name="connsiteX0" fmla="*/ 0 w 3680178"/>
              <a:gd name="connsiteY0" fmla="*/ 699911 h 733778"/>
              <a:gd name="connsiteX1" fmla="*/ 722489 w 3680178"/>
              <a:gd name="connsiteY1" fmla="*/ 0 h 733778"/>
              <a:gd name="connsiteX2" fmla="*/ 3680178 w 3680178"/>
              <a:gd name="connsiteY2" fmla="*/ 0 h 733778"/>
              <a:gd name="connsiteX3" fmla="*/ 3680178 w 3680178"/>
              <a:gd name="connsiteY3" fmla="*/ 733778 h 733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80178" h="733778">
                <a:moveTo>
                  <a:pt x="0" y="699911"/>
                </a:moveTo>
                <a:lnTo>
                  <a:pt x="722489" y="0"/>
                </a:lnTo>
                <a:lnTo>
                  <a:pt x="3680178" y="0"/>
                </a:lnTo>
                <a:lnTo>
                  <a:pt x="3680178" y="733778"/>
                </a:lnTo>
              </a:path>
            </a:pathLst>
          </a:custGeom>
          <a:pattFill prst="ltVert">
            <a:fgClr>
              <a:schemeClr val="accent3">
                <a:lumMod val="50000"/>
              </a:schemeClr>
            </a:fgClr>
            <a:bgClr>
              <a:schemeClr val="bg1"/>
            </a:bgClr>
          </a:patt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자유형 119"/>
          <p:cNvSpPr/>
          <p:nvPr/>
        </p:nvSpPr>
        <p:spPr>
          <a:xfrm flipV="1">
            <a:off x="1378188" y="3808907"/>
            <a:ext cx="8223012" cy="720493"/>
          </a:xfrm>
          <a:custGeom>
            <a:avLst/>
            <a:gdLst>
              <a:gd name="connsiteX0" fmla="*/ 0 w 7303911"/>
              <a:gd name="connsiteY0" fmla="*/ 33867 h 722489"/>
              <a:gd name="connsiteX1" fmla="*/ 722489 w 7303911"/>
              <a:gd name="connsiteY1" fmla="*/ 722489 h 722489"/>
              <a:gd name="connsiteX2" fmla="*/ 7303911 w 7303911"/>
              <a:gd name="connsiteY2" fmla="*/ 722489 h 722489"/>
              <a:gd name="connsiteX3" fmla="*/ 7303911 w 7303911"/>
              <a:gd name="connsiteY3" fmla="*/ 0 h 722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03911" h="722489">
                <a:moveTo>
                  <a:pt x="0" y="33867"/>
                </a:moveTo>
                <a:lnTo>
                  <a:pt x="722489" y="722489"/>
                </a:lnTo>
                <a:lnTo>
                  <a:pt x="7303911" y="722489"/>
                </a:lnTo>
                <a:lnTo>
                  <a:pt x="7303911" y="0"/>
                </a:lnTo>
              </a:path>
            </a:pathLst>
          </a:custGeom>
          <a:pattFill prst="pct5">
            <a:fgClr>
              <a:schemeClr val="accent5">
                <a:lumMod val="50000"/>
              </a:schemeClr>
            </a:fgClr>
            <a:bgClr>
              <a:schemeClr val="bg1"/>
            </a:bgClr>
          </a:patt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2" name="직선 화살표 연결선 121"/>
          <p:cNvCxnSpPr/>
          <p:nvPr/>
        </p:nvCxnSpPr>
        <p:spPr>
          <a:xfrm>
            <a:off x="1803326" y="4551608"/>
            <a:ext cx="8064896" cy="0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직사각형 123"/>
          <p:cNvSpPr/>
          <p:nvPr/>
        </p:nvSpPr>
        <p:spPr>
          <a:xfrm>
            <a:off x="1515294" y="4371588"/>
            <a:ext cx="1080120" cy="36004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특허출원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(x)</a:t>
            </a:r>
            <a:endParaRPr lang="ko-KR" alt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5105161" y="4371588"/>
            <a:ext cx="1245202" cy="36004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출원공개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(x)*</a:t>
            </a:r>
            <a:endParaRPr lang="ko-KR" alt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2925162" y="5055664"/>
            <a:ext cx="2374368" cy="10772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accent2"/>
                </a:solidFill>
              </a:rPr>
              <a:t>확대된 </a:t>
            </a:r>
            <a:r>
              <a:rPr lang="ko-KR" altLang="en-US" sz="1600" b="1" dirty="0" err="1">
                <a:solidFill>
                  <a:schemeClr val="accent2"/>
                </a:solidFill>
              </a:rPr>
              <a:t>선출원의</a:t>
            </a:r>
            <a:r>
              <a:rPr lang="ko-KR" altLang="en-US" sz="1600" b="1" dirty="0">
                <a:solidFill>
                  <a:schemeClr val="accent2"/>
                </a:solidFill>
              </a:rPr>
              <a:t> 지위</a:t>
            </a:r>
            <a:endParaRPr lang="en-US" altLang="ko-KR" sz="1600" b="1" dirty="0">
              <a:solidFill>
                <a:schemeClr val="accent2"/>
              </a:solidFill>
            </a:endParaRPr>
          </a:p>
          <a:p>
            <a:r>
              <a:rPr lang="ko-KR" altLang="en-US" sz="1200" dirty="0"/>
              <a:t> </a:t>
            </a:r>
            <a:r>
              <a:rPr lang="en-US" altLang="ko-KR" sz="1200" dirty="0"/>
              <a:t>- </a:t>
            </a:r>
            <a:r>
              <a:rPr lang="ko-KR" altLang="en-US" sz="1200" dirty="0"/>
              <a:t>범위</a:t>
            </a:r>
            <a:r>
              <a:rPr lang="en-US" altLang="ko-KR" sz="1200" dirty="0"/>
              <a:t>: </a:t>
            </a:r>
            <a:r>
              <a:rPr lang="ko-KR" altLang="en-US" sz="1200" dirty="0"/>
              <a:t>최초 명세서 또는 도면</a:t>
            </a:r>
            <a:endParaRPr lang="en-US" altLang="ko-KR" sz="1200" dirty="0"/>
          </a:p>
          <a:p>
            <a:r>
              <a:rPr lang="en-US" altLang="ko-KR" sz="1200" dirty="0"/>
              <a:t> - </a:t>
            </a:r>
            <a:r>
              <a:rPr lang="ko-KR" altLang="en-US" sz="1200" dirty="0"/>
              <a:t>지역</a:t>
            </a:r>
            <a:r>
              <a:rPr lang="en-US" altLang="ko-KR" sz="1200" dirty="0"/>
              <a:t>: </a:t>
            </a:r>
            <a:r>
              <a:rPr lang="ko-KR" altLang="en-US" sz="1200" dirty="0"/>
              <a:t>국내</a:t>
            </a:r>
            <a:endParaRPr lang="en-US" altLang="ko-KR" sz="1200" dirty="0"/>
          </a:p>
          <a:p>
            <a:r>
              <a:rPr lang="en-US" altLang="ko-KR" sz="1200" dirty="0"/>
              <a:t> - </a:t>
            </a:r>
            <a:r>
              <a:rPr lang="ko-KR" altLang="en-US" sz="1200" dirty="0"/>
              <a:t>판단</a:t>
            </a:r>
            <a:r>
              <a:rPr lang="en-US" altLang="ko-KR" sz="1200" dirty="0"/>
              <a:t>: </a:t>
            </a:r>
            <a:r>
              <a:rPr lang="ko-KR" altLang="en-US" sz="1200" dirty="0"/>
              <a:t>동일성</a:t>
            </a:r>
            <a:endParaRPr lang="en-US" altLang="ko-KR" sz="1200" dirty="0"/>
          </a:p>
          <a:p>
            <a:r>
              <a:rPr lang="en-US" altLang="ko-KR" sz="1200" dirty="0"/>
              <a:t> - </a:t>
            </a:r>
            <a:r>
              <a:rPr lang="ko-KR" altLang="en-US" sz="1200" dirty="0"/>
              <a:t>비고</a:t>
            </a:r>
            <a:r>
              <a:rPr lang="en-US" altLang="ko-KR" sz="1200" dirty="0"/>
              <a:t>: </a:t>
            </a:r>
            <a:r>
              <a:rPr lang="ko-KR" altLang="en-US" sz="1200" dirty="0"/>
              <a:t>발명자</a:t>
            </a:r>
            <a:r>
              <a:rPr lang="en-US" altLang="ko-KR" sz="1200" dirty="0"/>
              <a:t>, </a:t>
            </a:r>
            <a:r>
              <a:rPr lang="ko-KR" altLang="en-US" sz="1200" dirty="0"/>
              <a:t>출원인 동일 부적용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134339" y="5055664"/>
            <a:ext cx="3114638" cy="10772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chemeClr val="accent3">
                    <a:lumMod val="50000"/>
                  </a:schemeClr>
                </a:solidFill>
              </a:rPr>
              <a:t>공지기술</a:t>
            </a:r>
            <a:r>
              <a:rPr lang="en-US" altLang="ko-KR" sz="1600" b="1" dirty="0">
                <a:solidFill>
                  <a:schemeClr val="accent3">
                    <a:lumMod val="50000"/>
                  </a:schemeClr>
                </a:solidFill>
              </a:rPr>
              <a:t>**</a:t>
            </a:r>
            <a:r>
              <a:rPr lang="ko-KR" altLang="en-US" sz="1600" b="1" dirty="0">
                <a:solidFill>
                  <a:schemeClr val="accent3">
                    <a:lumMod val="50000"/>
                  </a:schemeClr>
                </a:solidFill>
              </a:rPr>
              <a:t>의 지위</a:t>
            </a:r>
            <a:r>
              <a:rPr lang="en-US" altLang="ko-KR" sz="1600" b="1" dirty="0">
                <a:solidFill>
                  <a:schemeClr val="accent3">
                    <a:lumMod val="50000"/>
                  </a:schemeClr>
                </a:solidFill>
              </a:rPr>
              <a:t>(</a:t>
            </a:r>
            <a:r>
              <a:rPr lang="ko-KR" altLang="en-US" sz="1600" b="1" dirty="0" err="1">
                <a:solidFill>
                  <a:schemeClr val="accent3">
                    <a:lumMod val="50000"/>
                  </a:schemeClr>
                </a:solidFill>
              </a:rPr>
              <a:t>신규성</a:t>
            </a:r>
            <a:r>
              <a:rPr lang="en-US" altLang="ko-KR" sz="1600" b="1" dirty="0">
                <a:solidFill>
                  <a:schemeClr val="accent3">
                    <a:lumMod val="50000"/>
                  </a:schemeClr>
                </a:solidFill>
              </a:rPr>
              <a:t>,</a:t>
            </a:r>
            <a:r>
              <a:rPr lang="ko-KR" altLang="en-US" sz="1600" b="1" dirty="0">
                <a:solidFill>
                  <a:schemeClr val="accent3">
                    <a:lumMod val="50000"/>
                  </a:schemeClr>
                </a:solidFill>
              </a:rPr>
              <a:t>진보성</a:t>
            </a:r>
            <a:r>
              <a:rPr lang="en-US" altLang="ko-KR" sz="1600" b="1" dirty="0">
                <a:solidFill>
                  <a:schemeClr val="accent3">
                    <a:lumMod val="50000"/>
                  </a:schemeClr>
                </a:solidFill>
              </a:rPr>
              <a:t>)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endParaRPr lang="en-US" altLang="ko-KR" sz="1200" b="1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altLang="ko-KR" sz="1200" dirty="0"/>
              <a:t> - </a:t>
            </a:r>
            <a:r>
              <a:rPr lang="ko-KR" altLang="en-US" sz="1200" dirty="0"/>
              <a:t>범위</a:t>
            </a:r>
            <a:r>
              <a:rPr lang="en-US" altLang="ko-KR" sz="1200" dirty="0"/>
              <a:t>: </a:t>
            </a:r>
            <a:r>
              <a:rPr lang="ko-KR" altLang="en-US" sz="1200" dirty="0"/>
              <a:t>최초 명세서 또는 도면</a:t>
            </a:r>
            <a:endParaRPr lang="en-US" altLang="ko-KR" sz="1200" dirty="0"/>
          </a:p>
          <a:p>
            <a:r>
              <a:rPr lang="en-US" altLang="ko-KR" sz="1200" dirty="0"/>
              <a:t> - </a:t>
            </a:r>
            <a:r>
              <a:rPr lang="ko-KR" altLang="en-US" sz="1200" dirty="0"/>
              <a:t>지역</a:t>
            </a:r>
            <a:r>
              <a:rPr lang="en-US" altLang="ko-KR" sz="1200" dirty="0"/>
              <a:t>: </a:t>
            </a:r>
            <a:r>
              <a:rPr lang="ko-KR" altLang="en-US" sz="1200" dirty="0"/>
              <a:t>국내</a:t>
            </a:r>
            <a:r>
              <a:rPr lang="en-US" altLang="ko-KR" sz="1200" dirty="0"/>
              <a:t>/</a:t>
            </a:r>
            <a:r>
              <a:rPr lang="ko-KR" altLang="en-US" sz="1200" dirty="0"/>
              <a:t>국외</a:t>
            </a:r>
            <a:endParaRPr lang="en-US" altLang="ko-KR" sz="1200" dirty="0"/>
          </a:p>
          <a:p>
            <a:r>
              <a:rPr lang="en-US" altLang="ko-KR" sz="1200" dirty="0"/>
              <a:t> - </a:t>
            </a:r>
            <a:r>
              <a:rPr lang="ko-KR" altLang="en-US" sz="1200" dirty="0"/>
              <a:t>판단</a:t>
            </a:r>
            <a:r>
              <a:rPr lang="en-US" altLang="ko-KR" sz="1200" dirty="0"/>
              <a:t>: </a:t>
            </a:r>
            <a:r>
              <a:rPr lang="ko-KR" altLang="en-US" sz="1200" dirty="0"/>
              <a:t>동일성</a:t>
            </a:r>
            <a:r>
              <a:rPr lang="en-US" altLang="ko-KR" sz="1200" dirty="0"/>
              <a:t>/</a:t>
            </a:r>
            <a:r>
              <a:rPr lang="ko-KR" altLang="en-US" sz="1200" dirty="0"/>
              <a:t>용이성</a:t>
            </a:r>
            <a:endParaRPr lang="en-US" altLang="ko-KR" sz="1200" dirty="0"/>
          </a:p>
          <a:p>
            <a:r>
              <a:rPr lang="en-US" altLang="ko-KR" sz="1200" dirty="0"/>
              <a:t> - </a:t>
            </a:r>
            <a:r>
              <a:rPr lang="ko-KR" altLang="en-US" sz="1200" dirty="0"/>
              <a:t>비고</a:t>
            </a:r>
            <a:r>
              <a:rPr lang="en-US" altLang="ko-KR" sz="1200" dirty="0"/>
              <a:t>: </a:t>
            </a:r>
            <a:endParaRPr lang="ko-KR" altLang="en-US" sz="1200" dirty="0"/>
          </a:p>
        </p:txBody>
      </p:sp>
      <p:sp>
        <p:nvSpPr>
          <p:cNvPr id="132" name="TextBox 131"/>
          <p:cNvSpPr txBox="1"/>
          <p:nvPr/>
        </p:nvSpPr>
        <p:spPr>
          <a:xfrm>
            <a:off x="3572449" y="3043753"/>
            <a:ext cx="4580100" cy="10772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1600" b="1" dirty="0" err="1">
                <a:solidFill>
                  <a:schemeClr val="accent2"/>
                </a:solidFill>
              </a:rPr>
              <a:t>선출원의</a:t>
            </a:r>
            <a:r>
              <a:rPr lang="ko-KR" altLang="en-US" sz="1600" b="1" dirty="0">
                <a:solidFill>
                  <a:schemeClr val="accent2"/>
                </a:solidFill>
              </a:rPr>
              <a:t> 지위</a:t>
            </a:r>
            <a:endParaRPr lang="en-US" altLang="ko-KR" sz="1600" b="1" dirty="0">
              <a:solidFill>
                <a:schemeClr val="accent2"/>
              </a:solidFill>
            </a:endParaRPr>
          </a:p>
          <a:p>
            <a:r>
              <a:rPr lang="ko-KR" altLang="en-US" sz="1200" dirty="0"/>
              <a:t> </a:t>
            </a:r>
            <a:r>
              <a:rPr lang="en-US" altLang="ko-KR" sz="1200" dirty="0"/>
              <a:t>- </a:t>
            </a:r>
            <a:r>
              <a:rPr lang="ko-KR" altLang="en-US" sz="1200" dirty="0"/>
              <a:t>범위</a:t>
            </a:r>
            <a:r>
              <a:rPr lang="en-US" altLang="ko-KR" sz="1200" dirty="0"/>
              <a:t>: </a:t>
            </a:r>
            <a:r>
              <a:rPr lang="ko-KR" altLang="en-US" sz="1200" dirty="0"/>
              <a:t>청구범위</a:t>
            </a:r>
            <a:endParaRPr lang="en-US" altLang="ko-KR" sz="1200" dirty="0"/>
          </a:p>
          <a:p>
            <a:r>
              <a:rPr lang="en-US" altLang="ko-KR" sz="1200" dirty="0"/>
              <a:t> - </a:t>
            </a:r>
            <a:r>
              <a:rPr lang="ko-KR" altLang="en-US" sz="1200" dirty="0"/>
              <a:t>지역</a:t>
            </a:r>
            <a:r>
              <a:rPr lang="en-US" altLang="ko-KR" sz="1200" dirty="0"/>
              <a:t>: </a:t>
            </a:r>
            <a:r>
              <a:rPr lang="ko-KR" altLang="en-US" sz="1200" dirty="0"/>
              <a:t>국내</a:t>
            </a:r>
            <a:endParaRPr lang="en-US" altLang="ko-KR" sz="1200" dirty="0"/>
          </a:p>
          <a:p>
            <a:r>
              <a:rPr lang="en-US" altLang="ko-KR" sz="1200" dirty="0"/>
              <a:t> - </a:t>
            </a:r>
            <a:r>
              <a:rPr lang="ko-KR" altLang="en-US" sz="1200" dirty="0"/>
              <a:t>판단</a:t>
            </a:r>
            <a:r>
              <a:rPr lang="en-US" altLang="ko-KR" sz="1200" dirty="0"/>
              <a:t>: </a:t>
            </a:r>
            <a:r>
              <a:rPr lang="ko-KR" altLang="en-US" sz="1200" dirty="0"/>
              <a:t>동일성</a:t>
            </a:r>
            <a:endParaRPr lang="en-US" altLang="ko-KR" sz="1200" dirty="0"/>
          </a:p>
          <a:p>
            <a:r>
              <a:rPr lang="en-US" altLang="ko-KR" sz="1200" dirty="0"/>
              <a:t> - </a:t>
            </a:r>
            <a:r>
              <a:rPr lang="ko-KR" altLang="en-US" sz="1200" dirty="0"/>
              <a:t>비고</a:t>
            </a:r>
            <a:r>
              <a:rPr lang="en-US" altLang="ko-KR" sz="1200" dirty="0"/>
              <a:t>: </a:t>
            </a:r>
            <a:r>
              <a:rPr lang="ko-KR" altLang="en-US" sz="1200" dirty="0"/>
              <a:t>출원의 무효</a:t>
            </a:r>
            <a:r>
              <a:rPr lang="en-US" altLang="ko-KR" sz="1200" dirty="0"/>
              <a:t>, </a:t>
            </a:r>
            <a:r>
              <a:rPr lang="ko-KR" altLang="en-US" sz="1200" dirty="0"/>
              <a:t>취하</a:t>
            </a:r>
            <a:r>
              <a:rPr lang="en-US" altLang="ko-KR" sz="1200" dirty="0"/>
              <a:t>, </a:t>
            </a:r>
            <a:r>
              <a:rPr lang="ko-KR" altLang="en-US" sz="1200" dirty="0"/>
              <a:t>포기</a:t>
            </a:r>
            <a:r>
              <a:rPr lang="en-US" altLang="ko-KR" sz="1200" dirty="0"/>
              <a:t>, </a:t>
            </a:r>
            <a:r>
              <a:rPr lang="ko-KR" altLang="en-US" sz="1200" dirty="0"/>
              <a:t>거절결정확정</a:t>
            </a:r>
            <a:r>
              <a:rPr lang="en-US" altLang="ko-KR" sz="1200" dirty="0"/>
              <a:t>/</a:t>
            </a:r>
            <a:r>
              <a:rPr lang="ko-KR" altLang="en-US" sz="1200" dirty="0" err="1"/>
              <a:t>무권리자</a:t>
            </a:r>
            <a:r>
              <a:rPr lang="ko-KR" altLang="en-US" sz="1200" dirty="0"/>
              <a:t> 출원은</a:t>
            </a:r>
            <a:r>
              <a:rPr lang="en-US" altLang="ko-KR" sz="1200" dirty="0"/>
              <a:t> </a:t>
            </a:r>
            <a:r>
              <a:rPr lang="ko-KR" altLang="en-US" sz="1200" dirty="0"/>
              <a:t>부적용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7489" y="6256707"/>
            <a:ext cx="11949261" cy="573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* 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출원공개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(x)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는 일반적으로 특허출원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(x)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한 날로부터 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1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년 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6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개월이 지난 후이나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, 1) 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조기공개신청을 하거나 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2) 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그 전에 </a:t>
            </a:r>
            <a:r>
              <a:rPr lang="ko-KR" altLang="en-US" sz="1100" dirty="0" err="1">
                <a:solidFill>
                  <a:schemeClr val="tx2">
                    <a:lumMod val="75000"/>
                  </a:schemeClr>
                </a:solidFill>
              </a:rPr>
              <a:t>실체심사하여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 등록된 경우에는 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1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년 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6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개월 전에 공개될 수도 있다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** </a:t>
            </a:r>
            <a:r>
              <a:rPr lang="ko-KR" altLang="en-US" sz="1100" dirty="0" err="1">
                <a:solidFill>
                  <a:schemeClr val="tx2">
                    <a:lumMod val="75000"/>
                  </a:schemeClr>
                </a:solidFill>
              </a:rPr>
              <a:t>공지기술의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 지위는 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1) 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공지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, 2) 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공연실시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, 3) 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반포된 간행물에 게재 또는 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4) 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전기통신회선을 통하여 공중이 </a:t>
            </a:r>
            <a:r>
              <a:rPr lang="ko-KR" altLang="en-US" sz="1100" dirty="0" err="1">
                <a:solidFill>
                  <a:schemeClr val="tx2">
                    <a:lumMod val="75000"/>
                  </a:schemeClr>
                </a:solidFill>
              </a:rPr>
              <a:t>이용가능하게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 된 경우에 인정이 된다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. 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그 중에서 출원공개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(x)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는 반포된 간행물에 게재에 해당한다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. </a:t>
            </a:r>
          </a:p>
          <a:p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     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다만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특허출원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(x)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자체는 공개되지 않기 때문에 공지기술의 지위를 갖지 않는다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1228725" y="3944411"/>
            <a:ext cx="286569" cy="11112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직사각형 135"/>
          <p:cNvSpPr/>
          <p:nvPr/>
        </p:nvSpPr>
        <p:spPr>
          <a:xfrm>
            <a:off x="9506151" y="3806740"/>
            <a:ext cx="188059" cy="699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직사각형 137"/>
          <p:cNvSpPr/>
          <p:nvPr/>
        </p:nvSpPr>
        <p:spPr>
          <a:xfrm>
            <a:off x="9506151" y="4593774"/>
            <a:ext cx="188059" cy="699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91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17783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출원발명의 </a:t>
            </a:r>
            <a:r>
              <a:rPr lang="ko-KR" altLang="en-US" dirty="0" err="1"/>
              <a:t>등록금지적</a:t>
            </a:r>
            <a:r>
              <a:rPr lang="ko-KR" altLang="en-US" dirty="0"/>
              <a:t> 효력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195260" y="1106383"/>
            <a:ext cx="952235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시기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809281" y="2815926"/>
            <a:ext cx="5059913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722298" y="1645585"/>
            <a:ext cx="850393" cy="229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22298" y="1875086"/>
            <a:ext cx="850393" cy="229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6" name="직선 연결선 25"/>
          <p:cNvCxnSpPr>
            <a:stCxn id="40" idx="0"/>
            <a:endCxn id="27" idx="2"/>
          </p:cNvCxnSpPr>
          <p:nvPr/>
        </p:nvCxnSpPr>
        <p:spPr>
          <a:xfrm flipV="1">
            <a:off x="1147495" y="2480223"/>
            <a:ext cx="0" cy="22095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22299" y="2203224"/>
            <a:ext cx="85039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 출원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sp>
        <p:nvSpPr>
          <p:cNvPr id="40" name="직사각형 39"/>
          <p:cNvSpPr/>
          <p:nvPr/>
        </p:nvSpPr>
        <p:spPr>
          <a:xfrm>
            <a:off x="542389" y="2701176"/>
            <a:ext cx="121021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출원일</a:t>
            </a:r>
          </a:p>
        </p:txBody>
      </p:sp>
      <p:cxnSp>
        <p:nvCxnSpPr>
          <p:cNvPr id="44" name="직선 연결선 43"/>
          <p:cNvCxnSpPr>
            <a:stCxn id="46" idx="0"/>
            <a:endCxn id="45" idx="2"/>
          </p:cNvCxnSpPr>
          <p:nvPr/>
        </p:nvCxnSpPr>
        <p:spPr>
          <a:xfrm flipV="1">
            <a:off x="4096131" y="2480223"/>
            <a:ext cx="0" cy="22095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670935" y="2203224"/>
            <a:ext cx="85039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 공개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sp>
        <p:nvSpPr>
          <p:cNvPr id="46" name="직사각형 45"/>
          <p:cNvSpPr/>
          <p:nvPr/>
        </p:nvSpPr>
        <p:spPr>
          <a:xfrm>
            <a:off x="3491025" y="2701176"/>
            <a:ext cx="121021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공개일</a:t>
            </a:r>
          </a:p>
        </p:txBody>
      </p:sp>
      <p:cxnSp>
        <p:nvCxnSpPr>
          <p:cNvPr id="48" name="직선 연결선 47"/>
          <p:cNvCxnSpPr/>
          <p:nvPr/>
        </p:nvCxnSpPr>
        <p:spPr>
          <a:xfrm>
            <a:off x="6097412" y="965770"/>
            <a:ext cx="0" cy="536311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/>
          <p:cNvCxnSpPr>
            <a:endCxn id="55" idx="2"/>
          </p:cNvCxnSpPr>
          <p:nvPr/>
        </p:nvCxnSpPr>
        <p:spPr>
          <a:xfrm>
            <a:off x="620457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/>
          <p:cNvSpPr/>
          <p:nvPr/>
        </p:nvSpPr>
        <p:spPr>
          <a:xfrm>
            <a:off x="195260" y="3538153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195260" y="4049756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B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(7)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57" name="직선 연결선 56"/>
          <p:cNvCxnSpPr>
            <a:endCxn id="59" idx="2"/>
          </p:cNvCxnSpPr>
          <p:nvPr/>
        </p:nvCxnSpPr>
        <p:spPr>
          <a:xfrm>
            <a:off x="1605532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/>
          <p:cNvSpPr/>
          <p:nvPr/>
        </p:nvSpPr>
        <p:spPr>
          <a:xfrm>
            <a:off x="1180335" y="3538153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(2)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1180335" y="4049756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B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(8)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60" name="직선 연결선 59"/>
          <p:cNvCxnSpPr>
            <a:endCxn id="62" idx="2"/>
          </p:cNvCxnSpPr>
          <p:nvPr/>
        </p:nvCxnSpPr>
        <p:spPr>
          <a:xfrm>
            <a:off x="2653798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/>
          <p:cNvSpPr/>
          <p:nvPr/>
        </p:nvSpPr>
        <p:spPr>
          <a:xfrm>
            <a:off x="2228601" y="3538153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(3)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2228601" y="4049756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(9)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63" name="직선 연결선 62"/>
          <p:cNvCxnSpPr>
            <a:endCxn id="65" idx="2"/>
          </p:cNvCxnSpPr>
          <p:nvPr/>
        </p:nvCxnSpPr>
        <p:spPr>
          <a:xfrm>
            <a:off x="3624778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/>
          <p:cNvSpPr/>
          <p:nvPr/>
        </p:nvSpPr>
        <p:spPr>
          <a:xfrm>
            <a:off x="3199581" y="3538153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(4)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3199581" y="4049756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(10)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66" name="직선 연결선 65"/>
          <p:cNvCxnSpPr>
            <a:endCxn id="68" idx="2"/>
          </p:cNvCxnSpPr>
          <p:nvPr/>
        </p:nvCxnSpPr>
        <p:spPr>
          <a:xfrm>
            <a:off x="4548932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/>
          <p:cNvSpPr/>
          <p:nvPr/>
        </p:nvSpPr>
        <p:spPr>
          <a:xfrm>
            <a:off x="4123735" y="3538153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(5)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4123735" y="4049756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(11)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69" name="직선 연결선 68"/>
          <p:cNvCxnSpPr>
            <a:endCxn id="71" idx="2"/>
          </p:cNvCxnSpPr>
          <p:nvPr/>
        </p:nvCxnSpPr>
        <p:spPr>
          <a:xfrm>
            <a:off x="5443998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/>
          <p:cNvSpPr/>
          <p:nvPr/>
        </p:nvSpPr>
        <p:spPr>
          <a:xfrm>
            <a:off x="5018801" y="3538153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(6)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5018801" y="4049756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(12)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41" name="표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836216"/>
              </p:ext>
            </p:extLst>
          </p:nvPr>
        </p:nvGraphicFramePr>
        <p:xfrm>
          <a:off x="133350" y="4791391"/>
          <a:ext cx="5791209" cy="15595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40233">
                  <a:extLst>
                    <a:ext uri="{9D8B030D-6E8A-4147-A177-3AD203B41FA5}">
                      <a16:colId xmlns:a16="http://schemas.microsoft.com/office/drawing/2014/main" val="2616795804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940597772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1509181753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2111996257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310433508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278951296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682422079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2294019505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923538741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838919691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997937256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4201534290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2893869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(2)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(3)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(4)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(5)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(6)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(7)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(8)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(9)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(10)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(11)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(12)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596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신규성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ko-KR" altLang="en-US" sz="1000" dirty="0"/>
                        <a:t>위반</a:t>
                      </a:r>
                      <a:endParaRPr lang="en-US" altLang="ko-KR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332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선출원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ko-KR" altLang="en-US" sz="1000" dirty="0"/>
                        <a:t>위반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r>
                        <a:rPr lang="ko-KR" altLang="en-US" sz="900" dirty="0"/>
                        <a:t>협의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협의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054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확선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ko-KR" altLang="en-US" sz="1000" dirty="0"/>
                        <a:t>위반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270503"/>
                  </a:ext>
                </a:extLst>
              </a:tr>
            </a:tbl>
          </a:graphicData>
        </a:graphic>
      </p:graphicFrame>
      <p:sp>
        <p:nvSpPr>
          <p:cNvPr id="42" name="Rectangle 5"/>
          <p:cNvSpPr>
            <a:spLocks noChangeArrowheads="1"/>
          </p:cNvSpPr>
          <p:nvPr/>
        </p:nvSpPr>
        <p:spPr bwMode="auto">
          <a:xfrm>
            <a:off x="6409793" y="1106383"/>
            <a:ext cx="952235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범위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92" name="직선 연결선 91"/>
          <p:cNvCxnSpPr/>
          <p:nvPr/>
        </p:nvCxnSpPr>
        <p:spPr>
          <a:xfrm>
            <a:off x="6905281" y="2815926"/>
            <a:ext cx="5059913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/>
          <p:cNvSpPr/>
          <p:nvPr/>
        </p:nvSpPr>
        <p:spPr>
          <a:xfrm>
            <a:off x="6818298" y="1645585"/>
            <a:ext cx="850393" cy="229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6818298" y="1875086"/>
            <a:ext cx="850393" cy="229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5" name="직선 연결선 94"/>
          <p:cNvCxnSpPr>
            <a:stCxn id="97" idx="0"/>
            <a:endCxn id="96" idx="2"/>
          </p:cNvCxnSpPr>
          <p:nvPr/>
        </p:nvCxnSpPr>
        <p:spPr>
          <a:xfrm flipV="1">
            <a:off x="7243495" y="2480223"/>
            <a:ext cx="0" cy="22095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6818299" y="2203224"/>
            <a:ext cx="85039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 출원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sp>
        <p:nvSpPr>
          <p:cNvPr id="97" name="직사각형 96"/>
          <p:cNvSpPr/>
          <p:nvPr/>
        </p:nvSpPr>
        <p:spPr>
          <a:xfrm>
            <a:off x="6638389" y="2701176"/>
            <a:ext cx="121021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출원일</a:t>
            </a:r>
          </a:p>
        </p:txBody>
      </p:sp>
      <p:cxnSp>
        <p:nvCxnSpPr>
          <p:cNvPr id="98" name="직선 연결선 97"/>
          <p:cNvCxnSpPr>
            <a:stCxn id="100" idx="0"/>
            <a:endCxn id="99" idx="2"/>
          </p:cNvCxnSpPr>
          <p:nvPr/>
        </p:nvCxnSpPr>
        <p:spPr>
          <a:xfrm flipV="1">
            <a:off x="10192131" y="2480223"/>
            <a:ext cx="0" cy="22095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9766935" y="2203224"/>
            <a:ext cx="85039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 공개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sp>
        <p:nvSpPr>
          <p:cNvPr id="100" name="직사각형 99"/>
          <p:cNvSpPr/>
          <p:nvPr/>
        </p:nvSpPr>
        <p:spPr>
          <a:xfrm>
            <a:off x="9587025" y="2701176"/>
            <a:ext cx="121021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공개일</a:t>
            </a:r>
          </a:p>
        </p:txBody>
      </p:sp>
      <p:cxnSp>
        <p:nvCxnSpPr>
          <p:cNvPr id="101" name="직선 연결선 100"/>
          <p:cNvCxnSpPr>
            <a:endCxn id="103" idx="2"/>
          </p:cNvCxnSpPr>
          <p:nvPr/>
        </p:nvCxnSpPr>
        <p:spPr>
          <a:xfrm>
            <a:off x="6716457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/>
          <p:cNvSpPr/>
          <p:nvPr/>
        </p:nvSpPr>
        <p:spPr>
          <a:xfrm>
            <a:off x="6291260" y="3538153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A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(1)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6291260" y="4049756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(7)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04" name="직선 연결선 103"/>
          <p:cNvCxnSpPr>
            <a:endCxn id="106" idx="2"/>
          </p:cNvCxnSpPr>
          <p:nvPr/>
        </p:nvCxnSpPr>
        <p:spPr>
          <a:xfrm>
            <a:off x="7701532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/>
          <p:cNvSpPr/>
          <p:nvPr/>
        </p:nvSpPr>
        <p:spPr>
          <a:xfrm>
            <a:off x="7276335" y="3538153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A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(2)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7276335" y="4049756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(8)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07" name="직선 연결선 106"/>
          <p:cNvCxnSpPr>
            <a:endCxn id="109" idx="2"/>
          </p:cNvCxnSpPr>
          <p:nvPr/>
        </p:nvCxnSpPr>
        <p:spPr>
          <a:xfrm>
            <a:off x="8749798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/>
          <p:cNvSpPr/>
          <p:nvPr/>
        </p:nvSpPr>
        <p:spPr>
          <a:xfrm>
            <a:off x="8324601" y="3538153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(3)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8324601" y="4049756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(9)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10" name="직선 연결선 109"/>
          <p:cNvCxnSpPr>
            <a:endCxn id="112" idx="2"/>
          </p:cNvCxnSpPr>
          <p:nvPr/>
        </p:nvCxnSpPr>
        <p:spPr>
          <a:xfrm>
            <a:off x="9720778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직사각형 110"/>
          <p:cNvSpPr/>
          <p:nvPr/>
        </p:nvSpPr>
        <p:spPr>
          <a:xfrm>
            <a:off x="9295581" y="3538153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(4)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9295581" y="4049756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(10)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13" name="직선 연결선 112"/>
          <p:cNvCxnSpPr>
            <a:endCxn id="115" idx="2"/>
          </p:cNvCxnSpPr>
          <p:nvPr/>
        </p:nvCxnSpPr>
        <p:spPr>
          <a:xfrm>
            <a:off x="10644932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직사각형 113"/>
          <p:cNvSpPr/>
          <p:nvPr/>
        </p:nvSpPr>
        <p:spPr>
          <a:xfrm>
            <a:off x="10219735" y="3538153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(5)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5" name="직사각형 114"/>
          <p:cNvSpPr/>
          <p:nvPr/>
        </p:nvSpPr>
        <p:spPr>
          <a:xfrm>
            <a:off x="10219735" y="4049756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(11)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16" name="직선 연결선 115"/>
          <p:cNvCxnSpPr>
            <a:endCxn id="118" idx="2"/>
          </p:cNvCxnSpPr>
          <p:nvPr/>
        </p:nvCxnSpPr>
        <p:spPr>
          <a:xfrm>
            <a:off x="11539998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직사각형 116"/>
          <p:cNvSpPr/>
          <p:nvPr/>
        </p:nvSpPr>
        <p:spPr>
          <a:xfrm>
            <a:off x="11114801" y="3538153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(6)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11114801" y="4049756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(12)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119" name="표 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70739"/>
              </p:ext>
            </p:extLst>
          </p:nvPr>
        </p:nvGraphicFramePr>
        <p:xfrm>
          <a:off x="6229350" y="4791391"/>
          <a:ext cx="5791209" cy="15595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40233">
                  <a:extLst>
                    <a:ext uri="{9D8B030D-6E8A-4147-A177-3AD203B41FA5}">
                      <a16:colId xmlns:a16="http://schemas.microsoft.com/office/drawing/2014/main" val="2616795804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940597772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1509181753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2111996257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310433508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278951296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682422079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2294019505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923538741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838919691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997937256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4201534290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2893869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(2)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(3)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(4)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(5)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(6)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(7)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(8)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(9)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(10)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(11)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(12)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596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신규성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ko-KR" altLang="en-US" sz="1000" dirty="0"/>
                        <a:t>위반</a:t>
                      </a:r>
                      <a:endParaRPr lang="en-US" altLang="ko-KR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332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선출원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ko-KR" altLang="en-US" sz="1000" dirty="0"/>
                        <a:t>위반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r>
                        <a:rPr lang="ko-KR" altLang="en-US" sz="900" dirty="0"/>
                        <a:t>협의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r>
                        <a:rPr lang="ko-KR" altLang="en-US" sz="900" dirty="0"/>
                        <a:t>협의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054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확선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ko-KR" altLang="en-US" sz="1000" dirty="0"/>
                        <a:t>위반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270503"/>
                  </a:ext>
                </a:extLst>
              </a:tr>
            </a:tbl>
          </a:graphicData>
        </a:graphic>
      </p:graphicFrame>
      <p:sp>
        <p:nvSpPr>
          <p:cNvPr id="120" name="직사각형 119"/>
          <p:cNvSpPr/>
          <p:nvPr/>
        </p:nvSpPr>
        <p:spPr>
          <a:xfrm>
            <a:off x="8584844" y="1645585"/>
            <a:ext cx="850393" cy="229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8584844" y="1875086"/>
            <a:ext cx="850393" cy="229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22" name="직선 연결선 121"/>
          <p:cNvCxnSpPr>
            <a:endCxn id="123" idx="2"/>
          </p:cNvCxnSpPr>
          <p:nvPr/>
        </p:nvCxnSpPr>
        <p:spPr>
          <a:xfrm flipV="1">
            <a:off x="9010041" y="2480223"/>
            <a:ext cx="0" cy="22095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8584845" y="2203224"/>
            <a:ext cx="85039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 보정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cxnSp>
        <p:nvCxnSpPr>
          <p:cNvPr id="11" name="직선 화살표 연결선 10"/>
          <p:cNvCxnSpPr>
            <a:stCxn id="123" idx="1"/>
            <a:endCxn id="96" idx="3"/>
          </p:cNvCxnSpPr>
          <p:nvPr/>
        </p:nvCxnSpPr>
        <p:spPr>
          <a:xfrm flipH="1">
            <a:off x="7668691" y="2341724"/>
            <a:ext cx="916154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7361005" y="2016116"/>
            <a:ext cx="15199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rgbClr val="FF0000"/>
                </a:solidFill>
              </a:rPr>
              <a:t>소급효</a:t>
            </a:r>
            <a:endParaRPr lang="en-US" altLang="ko-KR" sz="1100" dirty="0">
              <a:solidFill>
                <a:srgbClr val="FF0000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92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0562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출원발명의 </a:t>
            </a:r>
            <a:r>
              <a:rPr lang="ko-KR" altLang="en-US" dirty="0" err="1"/>
              <a:t>등록금지적</a:t>
            </a:r>
            <a:r>
              <a:rPr lang="ko-KR" altLang="en-US" dirty="0"/>
              <a:t> 효력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195260" y="1106383"/>
            <a:ext cx="952235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지역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809281" y="2815926"/>
            <a:ext cx="5059913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722298" y="1645585"/>
            <a:ext cx="850393" cy="229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22298" y="1875086"/>
            <a:ext cx="850393" cy="229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6" name="직선 연결선 25"/>
          <p:cNvCxnSpPr>
            <a:stCxn id="40" idx="0"/>
            <a:endCxn id="27" idx="2"/>
          </p:cNvCxnSpPr>
          <p:nvPr/>
        </p:nvCxnSpPr>
        <p:spPr>
          <a:xfrm flipV="1">
            <a:off x="1147495" y="2480223"/>
            <a:ext cx="0" cy="22095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2389" y="2203224"/>
            <a:ext cx="121021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 일본출원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sp>
        <p:nvSpPr>
          <p:cNvPr id="40" name="직사각형 39"/>
          <p:cNvSpPr/>
          <p:nvPr/>
        </p:nvSpPr>
        <p:spPr>
          <a:xfrm>
            <a:off x="542389" y="2701176"/>
            <a:ext cx="121021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출원일</a:t>
            </a:r>
          </a:p>
        </p:txBody>
      </p:sp>
      <p:cxnSp>
        <p:nvCxnSpPr>
          <p:cNvPr id="44" name="직선 연결선 43"/>
          <p:cNvCxnSpPr>
            <a:stCxn id="46" idx="0"/>
            <a:endCxn id="45" idx="2"/>
          </p:cNvCxnSpPr>
          <p:nvPr/>
        </p:nvCxnSpPr>
        <p:spPr>
          <a:xfrm flipV="1">
            <a:off x="4096131" y="2480223"/>
            <a:ext cx="0" cy="22095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491025" y="2203224"/>
            <a:ext cx="121021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 일본공개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sp>
        <p:nvSpPr>
          <p:cNvPr id="46" name="직사각형 45"/>
          <p:cNvSpPr/>
          <p:nvPr/>
        </p:nvSpPr>
        <p:spPr>
          <a:xfrm>
            <a:off x="3491025" y="2701176"/>
            <a:ext cx="121021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공개일</a:t>
            </a:r>
          </a:p>
        </p:txBody>
      </p:sp>
      <p:cxnSp>
        <p:nvCxnSpPr>
          <p:cNvPr id="48" name="직선 연결선 47"/>
          <p:cNvCxnSpPr/>
          <p:nvPr/>
        </p:nvCxnSpPr>
        <p:spPr>
          <a:xfrm>
            <a:off x="6097412" y="965770"/>
            <a:ext cx="0" cy="536311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/>
          <p:cNvCxnSpPr>
            <a:endCxn id="55" idx="2"/>
          </p:cNvCxnSpPr>
          <p:nvPr/>
        </p:nvCxnSpPr>
        <p:spPr>
          <a:xfrm>
            <a:off x="620457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/>
          <p:cNvSpPr/>
          <p:nvPr/>
        </p:nvSpPr>
        <p:spPr>
          <a:xfrm>
            <a:off x="195260" y="3538153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A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(1)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195260" y="4049756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B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(7)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57" name="직선 연결선 56"/>
          <p:cNvCxnSpPr>
            <a:endCxn id="59" idx="2"/>
          </p:cNvCxnSpPr>
          <p:nvPr/>
        </p:nvCxnSpPr>
        <p:spPr>
          <a:xfrm>
            <a:off x="1605532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/>
          <p:cNvSpPr/>
          <p:nvPr/>
        </p:nvSpPr>
        <p:spPr>
          <a:xfrm>
            <a:off x="1180335" y="3538153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A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(2)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1180335" y="4049756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B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(8)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60" name="직선 연결선 59"/>
          <p:cNvCxnSpPr>
            <a:endCxn id="62" idx="2"/>
          </p:cNvCxnSpPr>
          <p:nvPr/>
        </p:nvCxnSpPr>
        <p:spPr>
          <a:xfrm>
            <a:off x="2653798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/>
          <p:cNvSpPr/>
          <p:nvPr/>
        </p:nvSpPr>
        <p:spPr>
          <a:xfrm>
            <a:off x="2228601" y="3538153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A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(3)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2228601" y="4049756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B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(9)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63" name="직선 연결선 62"/>
          <p:cNvCxnSpPr>
            <a:endCxn id="65" idx="2"/>
          </p:cNvCxnSpPr>
          <p:nvPr/>
        </p:nvCxnSpPr>
        <p:spPr>
          <a:xfrm>
            <a:off x="3624778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/>
          <p:cNvSpPr/>
          <p:nvPr/>
        </p:nvSpPr>
        <p:spPr>
          <a:xfrm>
            <a:off x="3199581" y="3538153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A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(4)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3199581" y="4049756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B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(10)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66" name="직선 연결선 65"/>
          <p:cNvCxnSpPr>
            <a:endCxn id="68" idx="2"/>
          </p:cNvCxnSpPr>
          <p:nvPr/>
        </p:nvCxnSpPr>
        <p:spPr>
          <a:xfrm>
            <a:off x="4548932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/>
          <p:cNvSpPr/>
          <p:nvPr/>
        </p:nvSpPr>
        <p:spPr>
          <a:xfrm>
            <a:off x="4123735" y="3538153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(5)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4123735" y="4049756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(11)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69" name="직선 연결선 68"/>
          <p:cNvCxnSpPr>
            <a:endCxn id="71" idx="2"/>
          </p:cNvCxnSpPr>
          <p:nvPr/>
        </p:nvCxnSpPr>
        <p:spPr>
          <a:xfrm>
            <a:off x="5443998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/>
          <p:cNvSpPr/>
          <p:nvPr/>
        </p:nvSpPr>
        <p:spPr>
          <a:xfrm>
            <a:off x="5018801" y="3538153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(6)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5018801" y="4049756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(12)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41" name="표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169242"/>
              </p:ext>
            </p:extLst>
          </p:nvPr>
        </p:nvGraphicFramePr>
        <p:xfrm>
          <a:off x="133350" y="4791391"/>
          <a:ext cx="5791209" cy="15595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40233">
                  <a:extLst>
                    <a:ext uri="{9D8B030D-6E8A-4147-A177-3AD203B41FA5}">
                      <a16:colId xmlns:a16="http://schemas.microsoft.com/office/drawing/2014/main" val="2616795804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940597772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1509181753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2111996257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310433508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278951296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682422079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2294019505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923538741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838919691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997937256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4201534290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2893869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(2)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(3)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(4)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(5)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(6)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(7)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(8)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(9)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(10)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(11)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(12)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596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신규성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ko-KR" altLang="en-US" sz="1000" dirty="0"/>
                        <a:t>위반</a:t>
                      </a:r>
                      <a:endParaRPr lang="en-US" altLang="ko-KR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332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선출원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ko-KR" altLang="en-US" sz="1000" dirty="0"/>
                        <a:t>위반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054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확선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ko-KR" altLang="en-US" sz="1000" dirty="0"/>
                        <a:t>위반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270503"/>
                  </a:ext>
                </a:extLst>
              </a:tr>
            </a:tbl>
          </a:graphicData>
        </a:graphic>
      </p:graphicFrame>
      <p:sp>
        <p:nvSpPr>
          <p:cNvPr id="42" name="Rectangle 5"/>
          <p:cNvSpPr>
            <a:spLocks noChangeArrowheads="1"/>
          </p:cNvSpPr>
          <p:nvPr/>
        </p:nvSpPr>
        <p:spPr bwMode="auto">
          <a:xfrm>
            <a:off x="6409793" y="1106383"/>
            <a:ext cx="952235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판단</a:t>
            </a:r>
          </a:p>
        </p:txBody>
      </p:sp>
      <p:cxnSp>
        <p:nvCxnSpPr>
          <p:cNvPr id="92" name="직선 연결선 91"/>
          <p:cNvCxnSpPr/>
          <p:nvPr/>
        </p:nvCxnSpPr>
        <p:spPr>
          <a:xfrm>
            <a:off x="6905281" y="2815926"/>
            <a:ext cx="5059913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/>
          <p:cNvSpPr/>
          <p:nvPr/>
        </p:nvSpPr>
        <p:spPr>
          <a:xfrm>
            <a:off x="6818298" y="1645585"/>
            <a:ext cx="850393" cy="229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6818298" y="1875086"/>
            <a:ext cx="850393" cy="229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5" name="직선 연결선 94"/>
          <p:cNvCxnSpPr>
            <a:stCxn id="97" idx="0"/>
            <a:endCxn id="96" idx="2"/>
          </p:cNvCxnSpPr>
          <p:nvPr/>
        </p:nvCxnSpPr>
        <p:spPr>
          <a:xfrm flipV="1">
            <a:off x="7243495" y="2480223"/>
            <a:ext cx="0" cy="22095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6818299" y="2203224"/>
            <a:ext cx="85039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 출원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sp>
        <p:nvSpPr>
          <p:cNvPr id="97" name="직사각형 96"/>
          <p:cNvSpPr/>
          <p:nvPr/>
        </p:nvSpPr>
        <p:spPr>
          <a:xfrm>
            <a:off x="6638389" y="2701176"/>
            <a:ext cx="121021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출원일</a:t>
            </a:r>
          </a:p>
        </p:txBody>
      </p:sp>
      <p:cxnSp>
        <p:nvCxnSpPr>
          <p:cNvPr id="98" name="직선 연결선 97"/>
          <p:cNvCxnSpPr>
            <a:stCxn id="100" idx="0"/>
            <a:endCxn id="99" idx="2"/>
          </p:cNvCxnSpPr>
          <p:nvPr/>
        </p:nvCxnSpPr>
        <p:spPr>
          <a:xfrm flipV="1">
            <a:off x="10192131" y="2480223"/>
            <a:ext cx="0" cy="22095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9766935" y="2203224"/>
            <a:ext cx="85039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 공개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sp>
        <p:nvSpPr>
          <p:cNvPr id="100" name="직사각형 99"/>
          <p:cNvSpPr/>
          <p:nvPr/>
        </p:nvSpPr>
        <p:spPr>
          <a:xfrm>
            <a:off x="9587025" y="2701176"/>
            <a:ext cx="121021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공개일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6716457" y="2930677"/>
            <a:ext cx="4823541" cy="834732"/>
            <a:chOff x="6716457" y="2930676"/>
            <a:chExt cx="4823541" cy="1573591"/>
          </a:xfrm>
        </p:grpSpPr>
        <p:cxnSp>
          <p:nvCxnSpPr>
            <p:cNvPr id="101" name="직선 연결선 100"/>
            <p:cNvCxnSpPr/>
            <p:nvPr/>
          </p:nvCxnSpPr>
          <p:spPr>
            <a:xfrm>
              <a:off x="6716457" y="2930676"/>
              <a:ext cx="0" cy="157359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ot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직선 연결선 103"/>
            <p:cNvCxnSpPr/>
            <p:nvPr/>
          </p:nvCxnSpPr>
          <p:spPr>
            <a:xfrm>
              <a:off x="7701532" y="2930676"/>
              <a:ext cx="0" cy="157359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ot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직선 연결선 106"/>
            <p:cNvCxnSpPr/>
            <p:nvPr/>
          </p:nvCxnSpPr>
          <p:spPr>
            <a:xfrm>
              <a:off x="8749798" y="2930676"/>
              <a:ext cx="0" cy="157359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ot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직선 연결선 109"/>
            <p:cNvCxnSpPr/>
            <p:nvPr/>
          </p:nvCxnSpPr>
          <p:spPr>
            <a:xfrm>
              <a:off x="9720778" y="2930676"/>
              <a:ext cx="0" cy="157359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ot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직선 연결선 112"/>
            <p:cNvCxnSpPr/>
            <p:nvPr/>
          </p:nvCxnSpPr>
          <p:spPr>
            <a:xfrm>
              <a:off x="10644932" y="2930676"/>
              <a:ext cx="0" cy="157359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ot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직선 연결선 115"/>
            <p:cNvCxnSpPr/>
            <p:nvPr/>
          </p:nvCxnSpPr>
          <p:spPr>
            <a:xfrm>
              <a:off x="11539998" y="2930676"/>
              <a:ext cx="0" cy="157359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ot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9" name="표 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113850"/>
              </p:ext>
            </p:extLst>
          </p:nvPr>
        </p:nvGraphicFramePr>
        <p:xfrm>
          <a:off x="6229350" y="4791391"/>
          <a:ext cx="5581647" cy="1537491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59265">
                  <a:extLst>
                    <a:ext uri="{9D8B030D-6E8A-4147-A177-3AD203B41FA5}">
                      <a16:colId xmlns:a16="http://schemas.microsoft.com/office/drawing/2014/main" val="2616795804"/>
                    </a:ext>
                  </a:extLst>
                </a:gridCol>
                <a:gridCol w="670397">
                  <a:extLst>
                    <a:ext uri="{9D8B030D-6E8A-4147-A177-3AD203B41FA5}">
                      <a16:colId xmlns:a16="http://schemas.microsoft.com/office/drawing/2014/main" val="3940597772"/>
                    </a:ext>
                  </a:extLst>
                </a:gridCol>
                <a:gridCol w="670397">
                  <a:extLst>
                    <a:ext uri="{9D8B030D-6E8A-4147-A177-3AD203B41FA5}">
                      <a16:colId xmlns:a16="http://schemas.microsoft.com/office/drawing/2014/main" val="1509181753"/>
                    </a:ext>
                  </a:extLst>
                </a:gridCol>
                <a:gridCol w="670397">
                  <a:extLst>
                    <a:ext uri="{9D8B030D-6E8A-4147-A177-3AD203B41FA5}">
                      <a16:colId xmlns:a16="http://schemas.microsoft.com/office/drawing/2014/main" val="2111996257"/>
                    </a:ext>
                  </a:extLst>
                </a:gridCol>
                <a:gridCol w="670397">
                  <a:extLst>
                    <a:ext uri="{9D8B030D-6E8A-4147-A177-3AD203B41FA5}">
                      <a16:colId xmlns:a16="http://schemas.microsoft.com/office/drawing/2014/main" val="3310433508"/>
                    </a:ext>
                  </a:extLst>
                </a:gridCol>
                <a:gridCol w="670397">
                  <a:extLst>
                    <a:ext uri="{9D8B030D-6E8A-4147-A177-3AD203B41FA5}">
                      <a16:colId xmlns:a16="http://schemas.microsoft.com/office/drawing/2014/main" val="3278951296"/>
                    </a:ext>
                  </a:extLst>
                </a:gridCol>
                <a:gridCol w="670397">
                  <a:extLst>
                    <a:ext uri="{9D8B030D-6E8A-4147-A177-3AD203B41FA5}">
                      <a16:colId xmlns:a16="http://schemas.microsoft.com/office/drawing/2014/main" val="682422079"/>
                    </a:ext>
                  </a:extLst>
                </a:gridCol>
              </a:tblGrid>
              <a:tr h="283434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(2)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(3)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(4)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(5)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(6)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596863"/>
                  </a:ext>
                </a:extLst>
              </a:tr>
              <a:tr h="3235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신규성</a:t>
                      </a:r>
                      <a:r>
                        <a:rPr lang="ko-KR" altLang="en-US" sz="1000" dirty="0"/>
                        <a:t> 위반</a:t>
                      </a:r>
                      <a:endParaRPr lang="en-US" altLang="ko-KR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332382"/>
                  </a:ext>
                </a:extLst>
              </a:tr>
              <a:tr h="28343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진보성 위반</a:t>
                      </a:r>
                      <a:endParaRPr lang="en-US" altLang="ko-KR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5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선출원</a:t>
                      </a:r>
                      <a:r>
                        <a:rPr lang="ko-KR" altLang="en-US" sz="1000" dirty="0"/>
                        <a:t> 위반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054708"/>
                  </a:ext>
                </a:extLst>
              </a:tr>
              <a:tr h="3235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확선</a:t>
                      </a:r>
                      <a:r>
                        <a:rPr lang="ko-KR" altLang="en-US" sz="1000" dirty="0"/>
                        <a:t> 위반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270503"/>
                  </a:ext>
                </a:extLst>
              </a:tr>
            </a:tbl>
          </a:graphicData>
        </a:graphic>
      </p:graphicFrame>
      <p:sp>
        <p:nvSpPr>
          <p:cNvPr id="72" name="TextBox 71"/>
          <p:cNvSpPr txBox="1"/>
          <p:nvPr/>
        </p:nvSpPr>
        <p:spPr>
          <a:xfrm>
            <a:off x="1752601" y="1203375"/>
            <a:ext cx="4250265" cy="671710"/>
          </a:xfrm>
          <a:prstGeom prst="wedgeRoundRectCallout">
            <a:avLst>
              <a:gd name="adj1" fmla="val -62594"/>
              <a:gd name="adj2" fmla="val -37077"/>
              <a:gd name="adj3" fmla="val 16667"/>
            </a:avLst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외국에서 시장조사를 하던 중 괜찮은 아이템을 발견했는데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</a:p>
          <a:p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국내에서 조사해 보니 아무도 특허등록을 해 놓지 않은 상태이다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국내에서 특허를 받을 수 있는 방법은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9793" y="4191000"/>
            <a:ext cx="15969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* B’</a:t>
            </a:r>
            <a:r>
              <a:rPr lang="ko-KR" altLang="en-US" sz="1200" dirty="0"/>
              <a:t>는 </a:t>
            </a:r>
            <a:r>
              <a:rPr lang="en-US" altLang="ko-KR" sz="1200" dirty="0"/>
              <a:t>B</a:t>
            </a:r>
            <a:r>
              <a:rPr lang="ko-KR" altLang="en-US" sz="1200" dirty="0"/>
              <a:t>로부터 용이함</a:t>
            </a:r>
          </a:p>
        </p:txBody>
      </p:sp>
      <p:sp>
        <p:nvSpPr>
          <p:cNvPr id="102" name="직사각형 101"/>
          <p:cNvSpPr/>
          <p:nvPr/>
        </p:nvSpPr>
        <p:spPr>
          <a:xfrm>
            <a:off x="6291260" y="3538153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B’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(1)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05" name="직사각형 104"/>
          <p:cNvSpPr/>
          <p:nvPr/>
        </p:nvSpPr>
        <p:spPr>
          <a:xfrm>
            <a:off x="7276335" y="3538153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B’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(2)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8324601" y="3538153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B’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(3)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11" name="직사각형 110"/>
          <p:cNvSpPr/>
          <p:nvPr/>
        </p:nvSpPr>
        <p:spPr>
          <a:xfrm>
            <a:off x="9295581" y="3538153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B’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(4)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10219735" y="3538153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B’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(5)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11114801" y="3538153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B’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(6)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93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72004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출원 절차의 종료와 등록금지적 효력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875" y="986046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출원공개 전 출원의 무효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취하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포기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거절결정 확정에 의하여 출원 절차가 종료되면 등록금지적 효력이 남지 않는다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출원공개 후 출원 절차가 종료되면 공지기술의 지위와 확대된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지위가 남지만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지위는 남지 않게 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0" y="1514954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278489"/>
              </p:ext>
            </p:extLst>
          </p:nvPr>
        </p:nvGraphicFramePr>
        <p:xfrm>
          <a:off x="431505" y="2769712"/>
          <a:ext cx="4690828" cy="2676746"/>
        </p:xfrm>
        <a:graphic>
          <a:graphicData uri="http://schemas.openxmlformats.org/drawingml/2006/table">
            <a:tbl>
              <a:tblPr/>
              <a:tblGrid>
                <a:gridCol w="956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4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3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30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9946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시기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선출원의</a:t>
                      </a:r>
                      <a:r>
                        <a:rPr lang="ko-KR" altLang="en-US" sz="1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altLang="ko-KR" sz="14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지위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확대된 </a:t>
                      </a:r>
                      <a:r>
                        <a:rPr lang="ko-KR" altLang="en-US" sz="1400" b="1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선출원의</a:t>
                      </a:r>
                      <a:r>
                        <a:rPr lang="ko-KR" altLang="en-US" sz="1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altLang="ko-KR" sz="14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지위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공지기술의 지위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64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공개 전 </a:t>
                      </a:r>
                      <a:endParaRPr lang="en-US" altLang="ko-KR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소멸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불인정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불인정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불인정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64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공개 후 </a:t>
                      </a:r>
                      <a:endParaRPr lang="en-US" altLang="ko-KR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소멸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불인정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인정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인정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" name="그룹 10"/>
          <p:cNvGrpSpPr/>
          <p:nvPr/>
        </p:nvGrpSpPr>
        <p:grpSpPr>
          <a:xfrm>
            <a:off x="6419052" y="1819056"/>
            <a:ext cx="2757925" cy="4866416"/>
            <a:chOff x="1778000" y="3217333"/>
            <a:chExt cx="4343400" cy="3081867"/>
          </a:xfrm>
        </p:grpSpPr>
        <p:cxnSp>
          <p:nvCxnSpPr>
            <p:cNvPr id="8" name="직선 연결선 7"/>
            <p:cNvCxnSpPr/>
            <p:nvPr/>
          </p:nvCxnSpPr>
          <p:spPr>
            <a:xfrm>
              <a:off x="1778000" y="3217333"/>
              <a:ext cx="0" cy="3081867"/>
            </a:xfrm>
            <a:prstGeom prst="line">
              <a:avLst/>
            </a:prstGeom>
            <a:ln w="28575">
              <a:solidFill>
                <a:schemeClr val="accent4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/>
            <p:cNvCxnSpPr/>
            <p:nvPr/>
          </p:nvCxnSpPr>
          <p:spPr>
            <a:xfrm>
              <a:off x="6121400" y="3217333"/>
              <a:ext cx="0" cy="3081867"/>
            </a:xfrm>
            <a:prstGeom prst="line">
              <a:avLst/>
            </a:prstGeom>
            <a:ln w="28575">
              <a:solidFill>
                <a:schemeClr val="accent4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직선 연결선 9"/>
          <p:cNvCxnSpPr/>
          <p:nvPr/>
        </p:nvCxnSpPr>
        <p:spPr>
          <a:xfrm>
            <a:off x="6354277" y="3066046"/>
            <a:ext cx="5507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 flipV="1">
            <a:off x="6438252" y="2021787"/>
            <a:ext cx="2717802" cy="8935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365492" y="1867898"/>
            <a:ext cx="91004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년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월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타원 31"/>
          <p:cNvSpPr/>
          <p:nvPr/>
        </p:nvSpPr>
        <p:spPr>
          <a:xfrm>
            <a:off x="9020344" y="2913644"/>
            <a:ext cx="313266" cy="313266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8808927" y="3281943"/>
            <a:ext cx="7360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출원공개</a:t>
            </a:r>
          </a:p>
        </p:txBody>
      </p:sp>
      <p:sp>
        <p:nvSpPr>
          <p:cNvPr id="19" name="자유형 18"/>
          <p:cNvSpPr/>
          <p:nvPr/>
        </p:nvSpPr>
        <p:spPr>
          <a:xfrm>
            <a:off x="6579919" y="2566512"/>
            <a:ext cx="5281445" cy="474134"/>
          </a:xfrm>
          <a:custGeom>
            <a:avLst/>
            <a:gdLst>
              <a:gd name="connsiteX0" fmla="*/ 0 w 8449733"/>
              <a:gd name="connsiteY0" fmla="*/ 474134 h 474134"/>
              <a:gd name="connsiteX1" fmla="*/ 186266 w 8449733"/>
              <a:gd name="connsiteY1" fmla="*/ 8467 h 474134"/>
              <a:gd name="connsiteX2" fmla="*/ 3869266 w 8449733"/>
              <a:gd name="connsiteY2" fmla="*/ 8467 h 474134"/>
              <a:gd name="connsiteX3" fmla="*/ 4174066 w 8449733"/>
              <a:gd name="connsiteY3" fmla="*/ 338667 h 474134"/>
              <a:gd name="connsiteX4" fmla="*/ 4461933 w 8449733"/>
              <a:gd name="connsiteY4" fmla="*/ 0 h 474134"/>
              <a:gd name="connsiteX5" fmla="*/ 8449733 w 8449733"/>
              <a:gd name="connsiteY5" fmla="*/ 0 h 474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9733" h="474134">
                <a:moveTo>
                  <a:pt x="0" y="474134"/>
                </a:moveTo>
                <a:lnTo>
                  <a:pt x="186266" y="8467"/>
                </a:lnTo>
                <a:lnTo>
                  <a:pt x="3869266" y="8467"/>
                </a:lnTo>
                <a:lnTo>
                  <a:pt x="4174066" y="338667"/>
                </a:lnTo>
                <a:lnTo>
                  <a:pt x="4461933" y="0"/>
                </a:lnTo>
                <a:lnTo>
                  <a:pt x="8449733" y="0"/>
                </a:lnTo>
              </a:path>
            </a:pathLst>
          </a:custGeom>
          <a:ln w="381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자유형 19"/>
          <p:cNvSpPr/>
          <p:nvPr/>
        </p:nvSpPr>
        <p:spPr>
          <a:xfrm>
            <a:off x="6275107" y="3150712"/>
            <a:ext cx="5586257" cy="465667"/>
          </a:xfrm>
          <a:custGeom>
            <a:avLst/>
            <a:gdLst>
              <a:gd name="connsiteX0" fmla="*/ 0 w 8466667"/>
              <a:gd name="connsiteY0" fmla="*/ 0 h 465667"/>
              <a:gd name="connsiteX1" fmla="*/ 228600 w 8466667"/>
              <a:gd name="connsiteY1" fmla="*/ 465667 h 465667"/>
              <a:gd name="connsiteX2" fmla="*/ 8466667 w 8466667"/>
              <a:gd name="connsiteY2" fmla="*/ 465667 h 465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66667" h="465667">
                <a:moveTo>
                  <a:pt x="0" y="0"/>
                </a:moveTo>
                <a:lnTo>
                  <a:pt x="228600" y="465667"/>
                </a:lnTo>
                <a:lnTo>
                  <a:pt x="8466667" y="465667"/>
                </a:lnTo>
              </a:path>
            </a:pathLst>
          </a:cu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5" name="직선 연결선 54"/>
          <p:cNvCxnSpPr/>
          <p:nvPr/>
        </p:nvCxnSpPr>
        <p:spPr>
          <a:xfrm>
            <a:off x="6354277" y="4498031"/>
            <a:ext cx="500518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타원 55"/>
          <p:cNvSpPr/>
          <p:nvPr/>
        </p:nvSpPr>
        <p:spPr>
          <a:xfrm>
            <a:off x="6266652" y="4345629"/>
            <a:ext cx="313266" cy="313266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타원 56"/>
          <p:cNvSpPr/>
          <p:nvPr/>
        </p:nvSpPr>
        <p:spPr>
          <a:xfrm>
            <a:off x="9020344" y="4345629"/>
            <a:ext cx="313266" cy="313266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/>
          <p:cNvSpPr txBox="1"/>
          <p:nvPr/>
        </p:nvSpPr>
        <p:spPr>
          <a:xfrm>
            <a:off x="8808927" y="4713928"/>
            <a:ext cx="7360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출원공개</a:t>
            </a:r>
          </a:p>
        </p:txBody>
      </p:sp>
      <p:sp>
        <p:nvSpPr>
          <p:cNvPr id="60" name="자유형 59"/>
          <p:cNvSpPr/>
          <p:nvPr/>
        </p:nvSpPr>
        <p:spPr>
          <a:xfrm>
            <a:off x="6579919" y="3998497"/>
            <a:ext cx="5281445" cy="474134"/>
          </a:xfrm>
          <a:custGeom>
            <a:avLst/>
            <a:gdLst>
              <a:gd name="connsiteX0" fmla="*/ 0 w 8449733"/>
              <a:gd name="connsiteY0" fmla="*/ 474134 h 474134"/>
              <a:gd name="connsiteX1" fmla="*/ 186266 w 8449733"/>
              <a:gd name="connsiteY1" fmla="*/ 8467 h 474134"/>
              <a:gd name="connsiteX2" fmla="*/ 3869266 w 8449733"/>
              <a:gd name="connsiteY2" fmla="*/ 8467 h 474134"/>
              <a:gd name="connsiteX3" fmla="*/ 4174066 w 8449733"/>
              <a:gd name="connsiteY3" fmla="*/ 338667 h 474134"/>
              <a:gd name="connsiteX4" fmla="*/ 4461933 w 8449733"/>
              <a:gd name="connsiteY4" fmla="*/ 0 h 474134"/>
              <a:gd name="connsiteX5" fmla="*/ 8449733 w 8449733"/>
              <a:gd name="connsiteY5" fmla="*/ 0 h 474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9733" h="474134">
                <a:moveTo>
                  <a:pt x="0" y="474134"/>
                </a:moveTo>
                <a:lnTo>
                  <a:pt x="186266" y="8467"/>
                </a:lnTo>
                <a:lnTo>
                  <a:pt x="3869266" y="8467"/>
                </a:lnTo>
                <a:lnTo>
                  <a:pt x="4174066" y="338667"/>
                </a:lnTo>
                <a:lnTo>
                  <a:pt x="4461933" y="0"/>
                </a:lnTo>
                <a:lnTo>
                  <a:pt x="8449733" y="0"/>
                </a:lnTo>
              </a:path>
            </a:pathLst>
          </a:custGeom>
          <a:ln w="381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자유형 60"/>
          <p:cNvSpPr/>
          <p:nvPr/>
        </p:nvSpPr>
        <p:spPr>
          <a:xfrm>
            <a:off x="6275108" y="4582697"/>
            <a:ext cx="5586258" cy="465667"/>
          </a:xfrm>
          <a:custGeom>
            <a:avLst/>
            <a:gdLst>
              <a:gd name="connsiteX0" fmla="*/ 0 w 8466667"/>
              <a:gd name="connsiteY0" fmla="*/ 0 h 465667"/>
              <a:gd name="connsiteX1" fmla="*/ 228600 w 8466667"/>
              <a:gd name="connsiteY1" fmla="*/ 465667 h 465667"/>
              <a:gd name="connsiteX2" fmla="*/ 8466667 w 8466667"/>
              <a:gd name="connsiteY2" fmla="*/ 465667 h 465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66667" h="465667">
                <a:moveTo>
                  <a:pt x="0" y="0"/>
                </a:moveTo>
                <a:lnTo>
                  <a:pt x="228600" y="465667"/>
                </a:lnTo>
                <a:lnTo>
                  <a:pt x="8466667" y="465667"/>
                </a:lnTo>
              </a:path>
            </a:pathLst>
          </a:cu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2" name="직선 연결선 61"/>
          <p:cNvCxnSpPr/>
          <p:nvPr/>
        </p:nvCxnSpPr>
        <p:spPr>
          <a:xfrm>
            <a:off x="6354277" y="5886884"/>
            <a:ext cx="15995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타원 62"/>
          <p:cNvSpPr/>
          <p:nvPr/>
        </p:nvSpPr>
        <p:spPr>
          <a:xfrm>
            <a:off x="6266652" y="5734482"/>
            <a:ext cx="313266" cy="313266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타원 63"/>
          <p:cNvSpPr/>
          <p:nvPr/>
        </p:nvSpPr>
        <p:spPr>
          <a:xfrm>
            <a:off x="9020344" y="5734482"/>
            <a:ext cx="313266" cy="313266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자유형 66"/>
          <p:cNvSpPr/>
          <p:nvPr/>
        </p:nvSpPr>
        <p:spPr>
          <a:xfrm>
            <a:off x="6579919" y="5387350"/>
            <a:ext cx="5281445" cy="474134"/>
          </a:xfrm>
          <a:custGeom>
            <a:avLst/>
            <a:gdLst>
              <a:gd name="connsiteX0" fmla="*/ 0 w 8449733"/>
              <a:gd name="connsiteY0" fmla="*/ 474134 h 474134"/>
              <a:gd name="connsiteX1" fmla="*/ 186266 w 8449733"/>
              <a:gd name="connsiteY1" fmla="*/ 8467 h 474134"/>
              <a:gd name="connsiteX2" fmla="*/ 3869266 w 8449733"/>
              <a:gd name="connsiteY2" fmla="*/ 8467 h 474134"/>
              <a:gd name="connsiteX3" fmla="*/ 4174066 w 8449733"/>
              <a:gd name="connsiteY3" fmla="*/ 338667 h 474134"/>
              <a:gd name="connsiteX4" fmla="*/ 4461933 w 8449733"/>
              <a:gd name="connsiteY4" fmla="*/ 0 h 474134"/>
              <a:gd name="connsiteX5" fmla="*/ 8449733 w 8449733"/>
              <a:gd name="connsiteY5" fmla="*/ 0 h 474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9733" h="474134">
                <a:moveTo>
                  <a:pt x="0" y="474134"/>
                </a:moveTo>
                <a:lnTo>
                  <a:pt x="186266" y="8467"/>
                </a:lnTo>
                <a:lnTo>
                  <a:pt x="3869266" y="8467"/>
                </a:lnTo>
                <a:lnTo>
                  <a:pt x="4174066" y="338667"/>
                </a:lnTo>
                <a:lnTo>
                  <a:pt x="4461933" y="0"/>
                </a:lnTo>
                <a:lnTo>
                  <a:pt x="8449733" y="0"/>
                </a:lnTo>
              </a:path>
            </a:pathLst>
          </a:cu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자유형 67"/>
          <p:cNvSpPr/>
          <p:nvPr/>
        </p:nvSpPr>
        <p:spPr>
          <a:xfrm>
            <a:off x="6275108" y="5971550"/>
            <a:ext cx="5586257" cy="465667"/>
          </a:xfrm>
          <a:custGeom>
            <a:avLst/>
            <a:gdLst>
              <a:gd name="connsiteX0" fmla="*/ 0 w 8466667"/>
              <a:gd name="connsiteY0" fmla="*/ 0 h 465667"/>
              <a:gd name="connsiteX1" fmla="*/ 228600 w 8466667"/>
              <a:gd name="connsiteY1" fmla="*/ 465667 h 465667"/>
              <a:gd name="connsiteX2" fmla="*/ 8466667 w 8466667"/>
              <a:gd name="connsiteY2" fmla="*/ 465667 h 465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66667" h="465667">
                <a:moveTo>
                  <a:pt x="0" y="0"/>
                </a:moveTo>
                <a:lnTo>
                  <a:pt x="228600" y="465667"/>
                </a:lnTo>
                <a:lnTo>
                  <a:pt x="8466667" y="465667"/>
                </a:lnTo>
              </a:path>
            </a:pathLst>
          </a:cu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타원 68"/>
          <p:cNvSpPr/>
          <p:nvPr/>
        </p:nvSpPr>
        <p:spPr>
          <a:xfrm>
            <a:off x="11202827" y="4345629"/>
            <a:ext cx="313266" cy="313266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/>
          <p:cNvSpPr txBox="1"/>
          <p:nvPr/>
        </p:nvSpPr>
        <p:spPr>
          <a:xfrm>
            <a:off x="10991410" y="4713928"/>
            <a:ext cx="7360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절차종료</a:t>
            </a:r>
          </a:p>
        </p:txBody>
      </p:sp>
      <p:sp>
        <p:nvSpPr>
          <p:cNvPr id="72" name="타원 71"/>
          <p:cNvSpPr/>
          <p:nvPr/>
        </p:nvSpPr>
        <p:spPr>
          <a:xfrm>
            <a:off x="7797153" y="5734482"/>
            <a:ext cx="313266" cy="313266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/>
          <p:cNvSpPr txBox="1"/>
          <p:nvPr/>
        </p:nvSpPr>
        <p:spPr>
          <a:xfrm>
            <a:off x="7585736" y="6102781"/>
            <a:ext cx="7360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절차종료</a:t>
            </a:r>
          </a:p>
        </p:txBody>
      </p:sp>
      <p:sp>
        <p:nvSpPr>
          <p:cNvPr id="26" name="도넛 25"/>
          <p:cNvSpPr/>
          <p:nvPr/>
        </p:nvSpPr>
        <p:spPr>
          <a:xfrm>
            <a:off x="7547386" y="2363312"/>
            <a:ext cx="406400" cy="406400"/>
          </a:xfrm>
          <a:prstGeom prst="donut">
            <a:avLst>
              <a:gd name="adj" fmla="val 22739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6" name="도넛 75"/>
          <p:cNvSpPr/>
          <p:nvPr/>
        </p:nvSpPr>
        <p:spPr>
          <a:xfrm>
            <a:off x="7547386" y="3383545"/>
            <a:ext cx="406400" cy="406400"/>
          </a:xfrm>
          <a:prstGeom prst="donut">
            <a:avLst>
              <a:gd name="adj" fmla="val 22739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7" name="도넛 76"/>
          <p:cNvSpPr/>
          <p:nvPr/>
        </p:nvSpPr>
        <p:spPr>
          <a:xfrm>
            <a:off x="10646186" y="2363312"/>
            <a:ext cx="406400" cy="406400"/>
          </a:xfrm>
          <a:prstGeom prst="donut">
            <a:avLst>
              <a:gd name="adj" fmla="val 22739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8" name="도넛 77"/>
          <p:cNvSpPr/>
          <p:nvPr/>
        </p:nvSpPr>
        <p:spPr>
          <a:xfrm>
            <a:off x="10646186" y="3845864"/>
            <a:ext cx="406400" cy="406400"/>
          </a:xfrm>
          <a:prstGeom prst="donut">
            <a:avLst>
              <a:gd name="adj" fmla="val 22739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9" name="도넛 78"/>
          <p:cNvSpPr/>
          <p:nvPr/>
        </p:nvSpPr>
        <p:spPr>
          <a:xfrm>
            <a:off x="8072340" y="3845864"/>
            <a:ext cx="406400" cy="406400"/>
          </a:xfrm>
          <a:prstGeom prst="donut">
            <a:avLst>
              <a:gd name="adj" fmla="val 22739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1" name="곱셈 기호 80"/>
          <p:cNvSpPr/>
          <p:nvPr/>
        </p:nvSpPr>
        <p:spPr>
          <a:xfrm>
            <a:off x="7440438" y="4713928"/>
            <a:ext cx="620296" cy="620296"/>
          </a:xfrm>
          <a:prstGeom prst="mathMultiply">
            <a:avLst>
              <a:gd name="adj1" fmla="val 1260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곱셈 기호 81"/>
          <p:cNvSpPr/>
          <p:nvPr/>
        </p:nvSpPr>
        <p:spPr>
          <a:xfrm>
            <a:off x="8068554" y="5077202"/>
            <a:ext cx="620296" cy="620296"/>
          </a:xfrm>
          <a:prstGeom prst="mathMultiply">
            <a:avLst>
              <a:gd name="adj1" fmla="val 1260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곱셈 기호 82"/>
          <p:cNvSpPr/>
          <p:nvPr/>
        </p:nvSpPr>
        <p:spPr>
          <a:xfrm>
            <a:off x="10371114" y="5077202"/>
            <a:ext cx="620296" cy="620296"/>
          </a:xfrm>
          <a:prstGeom prst="mathMultiply">
            <a:avLst>
              <a:gd name="adj1" fmla="val 1260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곱셈 기호 83"/>
          <p:cNvSpPr/>
          <p:nvPr/>
        </p:nvSpPr>
        <p:spPr>
          <a:xfrm>
            <a:off x="9696347" y="6127069"/>
            <a:ext cx="620296" cy="620296"/>
          </a:xfrm>
          <a:prstGeom prst="mathMultiply">
            <a:avLst>
              <a:gd name="adj1" fmla="val 1260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5" name="직선 연결선 84"/>
          <p:cNvCxnSpPr/>
          <p:nvPr/>
        </p:nvCxnSpPr>
        <p:spPr>
          <a:xfrm>
            <a:off x="5437012" y="1803394"/>
            <a:ext cx="0" cy="489065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55235" y="3281943"/>
            <a:ext cx="7360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특허출원</a:t>
            </a:r>
          </a:p>
        </p:txBody>
      </p:sp>
      <p:sp>
        <p:nvSpPr>
          <p:cNvPr id="14" name="타원 13"/>
          <p:cNvSpPr/>
          <p:nvPr/>
        </p:nvSpPr>
        <p:spPr>
          <a:xfrm>
            <a:off x="6266652" y="2913644"/>
            <a:ext cx="313266" cy="313266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/>
          <p:cNvSpPr txBox="1"/>
          <p:nvPr/>
        </p:nvSpPr>
        <p:spPr>
          <a:xfrm>
            <a:off x="6055235" y="4713928"/>
            <a:ext cx="7360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특허출원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55235" y="6102781"/>
            <a:ext cx="7360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특허출원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94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6917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자유형 24"/>
          <p:cNvSpPr/>
          <p:nvPr/>
        </p:nvSpPr>
        <p:spPr>
          <a:xfrm>
            <a:off x="1587495" y="2116654"/>
            <a:ext cx="8661400" cy="804333"/>
          </a:xfrm>
          <a:custGeom>
            <a:avLst/>
            <a:gdLst>
              <a:gd name="connsiteX0" fmla="*/ 0 w 8619067"/>
              <a:gd name="connsiteY0" fmla="*/ 0 h 702733"/>
              <a:gd name="connsiteX1" fmla="*/ 364067 w 8619067"/>
              <a:gd name="connsiteY1" fmla="*/ 702733 h 702733"/>
              <a:gd name="connsiteX2" fmla="*/ 8619067 w 8619067"/>
              <a:gd name="connsiteY2" fmla="*/ 702733 h 702733"/>
              <a:gd name="connsiteX3" fmla="*/ 8619067 w 8619067"/>
              <a:gd name="connsiteY3" fmla="*/ 76200 h 702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19067" h="702733">
                <a:moveTo>
                  <a:pt x="0" y="0"/>
                </a:moveTo>
                <a:lnTo>
                  <a:pt x="364067" y="702733"/>
                </a:lnTo>
                <a:lnTo>
                  <a:pt x="8619067" y="702733"/>
                </a:lnTo>
                <a:lnTo>
                  <a:pt x="8619067" y="76200"/>
                </a:lnTo>
              </a:path>
            </a:pathLst>
          </a:custGeom>
          <a:pattFill prst="ltHorz">
            <a:fgClr>
              <a:schemeClr val="accent6">
                <a:lumMod val="50000"/>
              </a:schemeClr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2" name="직선 연결선 111"/>
          <p:cNvCxnSpPr>
            <a:endCxn id="114" idx="2"/>
          </p:cNvCxnSpPr>
          <p:nvPr/>
        </p:nvCxnSpPr>
        <p:spPr>
          <a:xfrm>
            <a:off x="2542433" y="2370641"/>
            <a:ext cx="0" cy="2101091"/>
          </a:xfrm>
          <a:prstGeom prst="line">
            <a:avLst/>
          </a:prstGeom>
          <a:ln w="19050">
            <a:solidFill>
              <a:srgbClr val="C0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/>
          <p:cNvCxnSpPr>
            <a:endCxn id="117" idx="2"/>
          </p:cNvCxnSpPr>
          <p:nvPr/>
        </p:nvCxnSpPr>
        <p:spPr>
          <a:xfrm>
            <a:off x="3502106" y="2226720"/>
            <a:ext cx="1" cy="1955801"/>
          </a:xfrm>
          <a:prstGeom prst="line">
            <a:avLst/>
          </a:prstGeom>
          <a:ln w="19050">
            <a:solidFill>
              <a:srgbClr val="C0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/>
          <p:cNvCxnSpPr>
            <a:endCxn id="120" idx="2"/>
          </p:cNvCxnSpPr>
          <p:nvPr/>
        </p:nvCxnSpPr>
        <p:spPr>
          <a:xfrm>
            <a:off x="5744220" y="2370641"/>
            <a:ext cx="0" cy="2101091"/>
          </a:xfrm>
          <a:prstGeom prst="line">
            <a:avLst/>
          </a:prstGeom>
          <a:ln w="19050">
            <a:solidFill>
              <a:srgbClr val="C0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/>
          <p:cNvCxnSpPr>
            <a:endCxn id="123" idx="2"/>
          </p:cNvCxnSpPr>
          <p:nvPr/>
        </p:nvCxnSpPr>
        <p:spPr>
          <a:xfrm>
            <a:off x="6969209" y="2226720"/>
            <a:ext cx="1" cy="1955801"/>
          </a:xfrm>
          <a:prstGeom prst="line">
            <a:avLst/>
          </a:prstGeom>
          <a:ln w="19050">
            <a:solidFill>
              <a:srgbClr val="C0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/>
          <p:cNvCxnSpPr>
            <a:endCxn id="126" idx="2"/>
          </p:cNvCxnSpPr>
          <p:nvPr/>
        </p:nvCxnSpPr>
        <p:spPr>
          <a:xfrm>
            <a:off x="7893364" y="2370641"/>
            <a:ext cx="0" cy="2101091"/>
          </a:xfrm>
          <a:prstGeom prst="line">
            <a:avLst/>
          </a:prstGeom>
          <a:ln w="19050">
            <a:solidFill>
              <a:srgbClr val="C0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/>
          <p:cNvCxnSpPr>
            <a:endCxn id="129" idx="2"/>
          </p:cNvCxnSpPr>
          <p:nvPr/>
        </p:nvCxnSpPr>
        <p:spPr>
          <a:xfrm>
            <a:off x="8788430" y="2370641"/>
            <a:ext cx="0" cy="2101091"/>
          </a:xfrm>
          <a:prstGeom prst="line">
            <a:avLst/>
          </a:prstGeom>
          <a:ln w="19050">
            <a:solidFill>
              <a:srgbClr val="C0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설정등록과 등록공고에 의한 등록금지적 효력</a:t>
            </a:r>
          </a:p>
        </p:txBody>
      </p:sp>
      <p:sp>
        <p:nvSpPr>
          <p:cNvPr id="113" name="직사각형 112"/>
          <p:cNvSpPr/>
          <p:nvPr/>
        </p:nvSpPr>
        <p:spPr>
          <a:xfrm>
            <a:off x="2117236" y="3216407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2117236" y="3728010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B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(2)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3076910" y="3216407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(4)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3076910" y="3728010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(5)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5319023" y="3216407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(10)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0" name="직사각형 119"/>
          <p:cNvSpPr/>
          <p:nvPr/>
        </p:nvSpPr>
        <p:spPr>
          <a:xfrm>
            <a:off x="5319023" y="3728010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(11)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6544013" y="3216407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(13)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6544013" y="3728010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(14)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7468167" y="3216407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(16)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7468167" y="3728010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(17)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8363233" y="3216407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(19)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8363233" y="3728010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(20)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130" name="표 1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852124"/>
              </p:ext>
            </p:extLst>
          </p:nvPr>
        </p:nvGraphicFramePr>
        <p:xfrm>
          <a:off x="1140897" y="4960758"/>
          <a:ext cx="10026630" cy="16764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99780">
                  <a:extLst>
                    <a:ext uri="{9D8B030D-6E8A-4147-A177-3AD203B41FA5}">
                      <a16:colId xmlns:a16="http://schemas.microsoft.com/office/drawing/2014/main" val="2616795804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3940597772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1509181753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2111996257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3310433508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3278951296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682422079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2294019505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3923538741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3838919691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997937256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4201534290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3289386902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</a:tblGrid>
              <a:tr h="170917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(2)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(3)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(4)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(5)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(6)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(7)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(8)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(9)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(10)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(11)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(12)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(13)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(14)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(15)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(16)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(17)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(18)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(19)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(20)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(21)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596863"/>
                  </a:ext>
                </a:extLst>
              </a:tr>
              <a:tr h="1826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신규성</a:t>
                      </a:r>
                      <a:r>
                        <a:rPr lang="ko-KR" altLang="en-US" sz="1000" dirty="0"/>
                        <a:t> 위반</a:t>
                      </a:r>
                      <a:endParaRPr lang="en-US" altLang="ko-KR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332382"/>
                  </a:ext>
                </a:extLst>
              </a:tr>
              <a:tr h="1709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진보성 위반</a:t>
                      </a:r>
                      <a:endParaRPr lang="en-US" altLang="ko-KR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6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선출원</a:t>
                      </a:r>
                      <a:r>
                        <a:rPr lang="ko-KR" altLang="en-US" sz="1000" dirty="0"/>
                        <a:t> 위반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r>
                        <a:rPr lang="ko-KR" altLang="en-US" sz="900" dirty="0"/>
                        <a:t>협의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×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054708"/>
                  </a:ext>
                </a:extLst>
              </a:tr>
              <a:tr h="1826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확선</a:t>
                      </a:r>
                      <a:r>
                        <a:rPr lang="ko-KR" altLang="en-US" sz="1000" dirty="0"/>
                        <a:t> 위반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270503"/>
                  </a:ext>
                </a:extLst>
              </a:tr>
            </a:tbl>
          </a:graphicData>
        </a:graphic>
      </p:graphicFrame>
      <p:sp>
        <p:nvSpPr>
          <p:cNvPr id="134" name="직사각형 133"/>
          <p:cNvSpPr/>
          <p:nvPr/>
        </p:nvSpPr>
        <p:spPr>
          <a:xfrm>
            <a:off x="1889684" y="1080457"/>
            <a:ext cx="850393" cy="229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1889684" y="1309958"/>
            <a:ext cx="850393" cy="229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36" name="직선 연결선 135"/>
          <p:cNvCxnSpPr>
            <a:stCxn id="108" idx="0"/>
            <a:endCxn id="135" idx="2"/>
          </p:cNvCxnSpPr>
          <p:nvPr/>
        </p:nvCxnSpPr>
        <p:spPr>
          <a:xfrm flipH="1" flipV="1">
            <a:off x="2314881" y="1539458"/>
            <a:ext cx="1027" cy="40090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자유형 22"/>
          <p:cNvSpPr/>
          <p:nvPr/>
        </p:nvSpPr>
        <p:spPr>
          <a:xfrm>
            <a:off x="5266262" y="1066787"/>
            <a:ext cx="4944533" cy="1083734"/>
          </a:xfrm>
          <a:custGeom>
            <a:avLst/>
            <a:gdLst>
              <a:gd name="connsiteX0" fmla="*/ 0 w 4944533"/>
              <a:gd name="connsiteY0" fmla="*/ 1075267 h 1083734"/>
              <a:gd name="connsiteX1" fmla="*/ 389466 w 4944533"/>
              <a:gd name="connsiteY1" fmla="*/ 0 h 1083734"/>
              <a:gd name="connsiteX2" fmla="*/ 4944533 w 4944533"/>
              <a:gd name="connsiteY2" fmla="*/ 0 h 1083734"/>
              <a:gd name="connsiteX3" fmla="*/ 4944533 w 4944533"/>
              <a:gd name="connsiteY3" fmla="*/ 1083734 h 1083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44533" h="1083734">
                <a:moveTo>
                  <a:pt x="0" y="1075267"/>
                </a:moveTo>
                <a:lnTo>
                  <a:pt x="389466" y="0"/>
                </a:lnTo>
                <a:lnTo>
                  <a:pt x="4944533" y="0"/>
                </a:lnTo>
                <a:lnTo>
                  <a:pt x="4944533" y="1083734"/>
                </a:lnTo>
              </a:path>
            </a:pathLst>
          </a:custGeom>
          <a:pattFill prst="pct10">
            <a:fgClr>
              <a:schemeClr val="accent2">
                <a:lumMod val="75000"/>
              </a:schemeClr>
            </a:fgClr>
            <a:bgClr>
              <a:schemeClr val="bg1"/>
            </a:bgClr>
          </a:pattFill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자유형 21"/>
          <p:cNvSpPr/>
          <p:nvPr/>
        </p:nvSpPr>
        <p:spPr>
          <a:xfrm>
            <a:off x="2912528" y="1540921"/>
            <a:ext cx="5367867" cy="609600"/>
          </a:xfrm>
          <a:custGeom>
            <a:avLst/>
            <a:gdLst>
              <a:gd name="connsiteX0" fmla="*/ 0 w 5367867"/>
              <a:gd name="connsiteY0" fmla="*/ 609600 h 609600"/>
              <a:gd name="connsiteX1" fmla="*/ 0 w 5367867"/>
              <a:gd name="connsiteY1" fmla="*/ 609600 h 609600"/>
              <a:gd name="connsiteX2" fmla="*/ 186267 w 5367867"/>
              <a:gd name="connsiteY2" fmla="*/ 0 h 609600"/>
              <a:gd name="connsiteX3" fmla="*/ 5096934 w 5367867"/>
              <a:gd name="connsiteY3" fmla="*/ 0 h 609600"/>
              <a:gd name="connsiteX4" fmla="*/ 5367867 w 5367867"/>
              <a:gd name="connsiteY4" fmla="*/ 575733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7867" h="609600">
                <a:moveTo>
                  <a:pt x="0" y="609600"/>
                </a:moveTo>
                <a:lnTo>
                  <a:pt x="0" y="609600"/>
                </a:lnTo>
                <a:lnTo>
                  <a:pt x="186267" y="0"/>
                </a:lnTo>
                <a:lnTo>
                  <a:pt x="5096934" y="0"/>
                </a:lnTo>
                <a:lnTo>
                  <a:pt x="5367867" y="575733"/>
                </a:lnTo>
              </a:path>
            </a:pathLst>
          </a:custGeom>
          <a:pattFill prst="ltUpDiag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/>
          <p:cNvCxnSpPr>
            <a:stCxn id="108" idx="1"/>
          </p:cNvCxnSpPr>
          <p:nvPr/>
        </p:nvCxnSpPr>
        <p:spPr>
          <a:xfrm>
            <a:off x="1710802" y="2155500"/>
            <a:ext cx="8762446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/>
          <p:cNvSpPr/>
          <p:nvPr/>
        </p:nvSpPr>
        <p:spPr>
          <a:xfrm>
            <a:off x="1710802" y="1940359"/>
            <a:ext cx="1210212" cy="4302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특허출원일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(X)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1" name="직사각형 110"/>
          <p:cNvSpPr/>
          <p:nvPr/>
        </p:nvSpPr>
        <p:spPr>
          <a:xfrm>
            <a:off x="4659438" y="1940359"/>
            <a:ext cx="1210212" cy="4302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설정등록일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(X)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7673571" y="1940359"/>
            <a:ext cx="1210212" cy="4302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등록공고일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(X)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8" name="직선 연결선 27"/>
          <p:cNvCxnSpPr>
            <a:endCxn id="111" idx="0"/>
          </p:cNvCxnSpPr>
          <p:nvPr/>
        </p:nvCxnSpPr>
        <p:spPr>
          <a:xfrm flipH="1">
            <a:off x="5320923" y="1539458"/>
            <a:ext cx="165472" cy="41566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10045693" y="1066787"/>
            <a:ext cx="262467" cy="10498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직사각형 136"/>
          <p:cNvSpPr/>
          <p:nvPr/>
        </p:nvSpPr>
        <p:spPr>
          <a:xfrm>
            <a:off x="10045693" y="2226720"/>
            <a:ext cx="262467" cy="10498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직사각형 137"/>
          <p:cNvSpPr/>
          <p:nvPr/>
        </p:nvSpPr>
        <p:spPr>
          <a:xfrm>
            <a:off x="1441984" y="1498587"/>
            <a:ext cx="262467" cy="10498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3571677" y="1401354"/>
            <a:ext cx="1770036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600" dirty="0" err="1"/>
              <a:t>확선의</a:t>
            </a:r>
            <a:r>
              <a:rPr lang="ko-KR" altLang="en-US" sz="1600" dirty="0"/>
              <a:t> 지위 </a:t>
            </a:r>
            <a:r>
              <a:rPr lang="en-US" altLang="ko-KR" sz="1600" dirty="0"/>
              <a:t>– A, B</a:t>
            </a:r>
            <a:endParaRPr lang="ko-KR" altLang="en-US" sz="1600" dirty="0"/>
          </a:p>
        </p:txBody>
      </p:sp>
      <p:sp>
        <p:nvSpPr>
          <p:cNvPr id="139" name="TextBox 138"/>
          <p:cNvSpPr txBox="1"/>
          <p:nvPr/>
        </p:nvSpPr>
        <p:spPr>
          <a:xfrm>
            <a:off x="6924477" y="911180"/>
            <a:ext cx="2138727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600"/>
              <a:t>공지기술의 </a:t>
            </a:r>
            <a:r>
              <a:rPr lang="ko-KR" altLang="en-US" sz="1600" dirty="0"/>
              <a:t>지위 </a:t>
            </a:r>
            <a:r>
              <a:rPr lang="en-US" altLang="ko-KR" sz="1600" dirty="0"/>
              <a:t>– A, B</a:t>
            </a:r>
            <a:endParaRPr lang="ko-KR" altLang="en-US" sz="1600" dirty="0"/>
          </a:p>
        </p:txBody>
      </p:sp>
      <p:sp>
        <p:nvSpPr>
          <p:cNvPr id="140" name="TextBox 139"/>
          <p:cNvSpPr txBox="1"/>
          <p:nvPr/>
        </p:nvSpPr>
        <p:spPr>
          <a:xfrm>
            <a:off x="7390199" y="2748453"/>
            <a:ext cx="1713931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600" dirty="0" err="1"/>
              <a:t>선출원의</a:t>
            </a:r>
            <a:r>
              <a:rPr lang="ko-KR" altLang="en-US" sz="1600" dirty="0"/>
              <a:t> 지위 </a:t>
            </a:r>
            <a:r>
              <a:rPr lang="en-US" altLang="ko-KR" sz="1600" dirty="0"/>
              <a:t>– A</a:t>
            </a:r>
            <a:endParaRPr lang="ko-KR" altLang="en-US" sz="1600" dirty="0"/>
          </a:p>
        </p:txBody>
      </p:sp>
      <p:sp>
        <p:nvSpPr>
          <p:cNvPr id="141" name="직사각형 140"/>
          <p:cNvSpPr/>
          <p:nvPr/>
        </p:nvSpPr>
        <p:spPr>
          <a:xfrm>
            <a:off x="2117236" y="4244477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B’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(3)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42" name="직사각형 141"/>
          <p:cNvSpPr/>
          <p:nvPr/>
        </p:nvSpPr>
        <p:spPr>
          <a:xfrm>
            <a:off x="3076910" y="4244477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B’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(6)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5319023" y="4244477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 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B’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(12)</a:t>
            </a:r>
          </a:p>
        </p:txBody>
      </p:sp>
      <p:sp>
        <p:nvSpPr>
          <p:cNvPr id="144" name="직사각형 143"/>
          <p:cNvSpPr/>
          <p:nvPr/>
        </p:nvSpPr>
        <p:spPr>
          <a:xfrm>
            <a:off x="6544013" y="4244477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 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B’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(15)</a:t>
            </a:r>
          </a:p>
        </p:txBody>
      </p:sp>
      <p:sp>
        <p:nvSpPr>
          <p:cNvPr id="145" name="직사각형 144"/>
          <p:cNvSpPr/>
          <p:nvPr/>
        </p:nvSpPr>
        <p:spPr>
          <a:xfrm>
            <a:off x="7468167" y="4244477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 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B’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(18)</a:t>
            </a:r>
          </a:p>
        </p:txBody>
      </p:sp>
      <p:sp>
        <p:nvSpPr>
          <p:cNvPr id="146" name="직사각형 145"/>
          <p:cNvSpPr/>
          <p:nvPr/>
        </p:nvSpPr>
        <p:spPr>
          <a:xfrm>
            <a:off x="8363233" y="4244477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 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B’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(21)</a:t>
            </a:r>
          </a:p>
        </p:txBody>
      </p:sp>
      <p:cxnSp>
        <p:nvCxnSpPr>
          <p:cNvPr id="147" name="직선 연결선 146"/>
          <p:cNvCxnSpPr>
            <a:endCxn id="149" idx="2"/>
          </p:cNvCxnSpPr>
          <p:nvPr/>
        </p:nvCxnSpPr>
        <p:spPr>
          <a:xfrm>
            <a:off x="4755174" y="2370641"/>
            <a:ext cx="0" cy="2101091"/>
          </a:xfrm>
          <a:prstGeom prst="line">
            <a:avLst/>
          </a:prstGeom>
          <a:ln w="19050">
            <a:solidFill>
              <a:srgbClr val="C0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직사각형 147"/>
          <p:cNvSpPr/>
          <p:nvPr/>
        </p:nvSpPr>
        <p:spPr>
          <a:xfrm>
            <a:off x="4329977" y="3216407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(7)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9" name="직사각형 148"/>
          <p:cNvSpPr/>
          <p:nvPr/>
        </p:nvSpPr>
        <p:spPr>
          <a:xfrm>
            <a:off x="4329977" y="3728010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(8)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0" name="직사각형 149"/>
          <p:cNvSpPr/>
          <p:nvPr/>
        </p:nvSpPr>
        <p:spPr>
          <a:xfrm>
            <a:off x="4329977" y="4244477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B’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(9)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272877" y="4382744"/>
            <a:ext cx="18341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* B’</a:t>
            </a:r>
            <a:r>
              <a:rPr lang="ko-KR" altLang="en-US" sz="1400" dirty="0"/>
              <a:t>는</a:t>
            </a:r>
            <a:r>
              <a:rPr lang="en-US" altLang="ko-KR" sz="1400" dirty="0"/>
              <a:t> B</a:t>
            </a:r>
            <a:r>
              <a:rPr lang="ko-KR" altLang="en-US" sz="1400" dirty="0"/>
              <a:t>로부터 용이함</a:t>
            </a:r>
            <a:endParaRPr lang="en-US" altLang="ko-KR" sz="14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95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6094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그 출원의 지위 관점에서 제</a:t>
            </a:r>
            <a:r>
              <a:rPr lang="en-US" altLang="ko-KR" dirty="0"/>
              <a:t>29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36</a:t>
            </a:r>
            <a:r>
              <a:rPr lang="ko-KR" altLang="en-US" dirty="0"/>
              <a:t>조의 판단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875" y="986046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차적으로 시기적 기준에 의하여 신규성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진보성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선출원주의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확대된 </a:t>
            </a:r>
            <a:r>
              <a:rPr lang="ko-KR" altLang="en-US" sz="1400" dirty="0" err="1">
                <a:solidFill>
                  <a:schemeClr val="tx2"/>
                </a:solidFill>
              </a:rPr>
              <a:t>선출원</a:t>
            </a:r>
            <a:r>
              <a:rPr lang="ko-KR" altLang="en-US" sz="1400" dirty="0">
                <a:solidFill>
                  <a:schemeClr val="tx2"/>
                </a:solidFill>
              </a:rPr>
              <a:t> 중 논점을 추출한 후</a:t>
            </a:r>
            <a:r>
              <a:rPr lang="en-US" altLang="ko-KR" sz="1400" dirty="0">
                <a:solidFill>
                  <a:schemeClr val="tx2"/>
                </a:solidFill>
              </a:rPr>
              <a:t>, 2</a:t>
            </a:r>
            <a:r>
              <a:rPr lang="ko-KR" altLang="en-US" sz="1400" dirty="0">
                <a:solidFill>
                  <a:schemeClr val="tx2"/>
                </a:solidFill>
              </a:rPr>
              <a:t>차적으로 객체적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지역적 기준 및 판단방법을 고려하여 구체적인 등록가능성을 판단한다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52" name="직선 연결선 51"/>
          <p:cNvCxnSpPr/>
          <p:nvPr/>
        </p:nvCxnSpPr>
        <p:spPr>
          <a:xfrm>
            <a:off x="0" y="1514954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397911" y="2916789"/>
            <a:ext cx="1888067" cy="3407811"/>
            <a:chOff x="965200" y="2324100"/>
            <a:chExt cx="1888067" cy="2908300"/>
          </a:xfrm>
        </p:grpSpPr>
        <p:sp>
          <p:nvSpPr>
            <p:cNvPr id="2" name="직사각형 1"/>
            <p:cNvSpPr/>
            <p:nvPr/>
          </p:nvSpPr>
          <p:spPr>
            <a:xfrm>
              <a:off x="965200" y="2324100"/>
              <a:ext cx="1888067" cy="613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제</a:t>
              </a:r>
              <a:r>
                <a:rPr lang="en-US" altLang="ko-KR" sz="1600" dirty="0">
                  <a:solidFill>
                    <a:schemeClr val="tx1"/>
                  </a:solidFill>
                </a:rPr>
                <a:t>29</a:t>
              </a:r>
              <a:r>
                <a:rPr lang="ko-KR" altLang="en-US" sz="1600" dirty="0">
                  <a:solidFill>
                    <a:schemeClr val="tx1"/>
                  </a:solidFill>
                </a:rPr>
                <a:t>조</a:t>
              </a:r>
              <a:r>
                <a:rPr lang="en-US" altLang="ko-KR" sz="1600" dirty="0">
                  <a:solidFill>
                    <a:schemeClr val="tx1"/>
                  </a:solidFill>
                </a:rPr>
                <a:t>, </a:t>
              </a:r>
              <a:r>
                <a:rPr lang="ko-KR" altLang="en-US" sz="1600" dirty="0">
                  <a:solidFill>
                    <a:schemeClr val="tx1"/>
                  </a:solidFill>
                </a:rPr>
                <a:t>제</a:t>
              </a:r>
              <a:r>
                <a:rPr lang="en-US" altLang="ko-KR" sz="1600" dirty="0">
                  <a:solidFill>
                    <a:schemeClr val="tx1"/>
                  </a:solidFill>
                </a:rPr>
                <a:t>36</a:t>
              </a:r>
              <a:r>
                <a:rPr lang="ko-KR" altLang="en-US" sz="1600" dirty="0">
                  <a:solidFill>
                    <a:schemeClr val="tx1"/>
                  </a:solidFill>
                </a:rPr>
                <a:t>조 中 논점의 추출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(</a:t>
              </a:r>
              <a:r>
                <a:rPr lang="ko-KR" altLang="en-US" sz="1200" dirty="0">
                  <a:solidFill>
                    <a:schemeClr val="tx1"/>
                  </a:solidFill>
                </a:rPr>
                <a:t>시기</a:t>
              </a:r>
              <a:r>
                <a:rPr lang="en-US" altLang="ko-KR" sz="1200" dirty="0">
                  <a:solidFill>
                    <a:schemeClr val="tx1"/>
                  </a:solidFill>
                </a:rPr>
                <a:t>)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965200" y="3441700"/>
              <a:ext cx="1888067" cy="613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비교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(</a:t>
              </a:r>
              <a:r>
                <a:rPr lang="ko-KR" altLang="en-US" sz="1200" dirty="0">
                  <a:solidFill>
                    <a:schemeClr val="tx1"/>
                  </a:solidFill>
                </a:rPr>
                <a:t>객체</a:t>
              </a:r>
              <a:r>
                <a:rPr lang="en-US" altLang="ko-KR" sz="1200" dirty="0">
                  <a:solidFill>
                    <a:schemeClr val="tx1"/>
                  </a:solidFill>
                </a:rPr>
                <a:t>, </a:t>
              </a:r>
              <a:r>
                <a:rPr lang="ko-KR" altLang="en-US" sz="1200" dirty="0">
                  <a:solidFill>
                    <a:schemeClr val="tx1"/>
                  </a:solidFill>
                </a:rPr>
                <a:t>지역</a:t>
              </a:r>
              <a:r>
                <a:rPr lang="en-US" altLang="ko-KR" sz="1200" dirty="0">
                  <a:solidFill>
                    <a:schemeClr val="tx1"/>
                  </a:solidFill>
                </a:rPr>
                <a:t>, </a:t>
              </a:r>
              <a:r>
                <a:rPr lang="ko-KR" altLang="en-US" sz="1200" dirty="0">
                  <a:solidFill>
                    <a:schemeClr val="tx1"/>
                  </a:solidFill>
                </a:rPr>
                <a:t>방법</a:t>
              </a:r>
              <a:r>
                <a:rPr lang="en-US" altLang="ko-KR" sz="1200" dirty="0">
                  <a:solidFill>
                    <a:schemeClr val="tx1"/>
                  </a:solidFill>
                </a:rPr>
                <a:t>)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965200" y="4618566"/>
              <a:ext cx="1888067" cy="613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결론도출</a:t>
              </a:r>
            </a:p>
          </p:txBody>
        </p:sp>
      </p:grpSp>
      <p:cxnSp>
        <p:nvCxnSpPr>
          <p:cNvPr id="7" name="직선 화살표 연결선 6"/>
          <p:cNvCxnSpPr>
            <a:stCxn id="2" idx="2"/>
            <a:endCxn id="55" idx="0"/>
          </p:cNvCxnSpPr>
          <p:nvPr/>
        </p:nvCxnSpPr>
        <p:spPr>
          <a:xfrm>
            <a:off x="1341945" y="3636051"/>
            <a:ext cx="0" cy="59029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>
            <a:stCxn id="55" idx="2"/>
            <a:endCxn id="56" idx="0"/>
          </p:cNvCxnSpPr>
          <p:nvPr/>
        </p:nvCxnSpPr>
        <p:spPr>
          <a:xfrm>
            <a:off x="1341945" y="4945603"/>
            <a:ext cx="0" cy="65973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30865" y="1746419"/>
            <a:ext cx="4792132" cy="919401"/>
          </a:xfrm>
          <a:prstGeom prst="wedgeRoundRectCallout">
            <a:avLst>
              <a:gd name="adj1" fmla="val -32847"/>
              <a:gd name="adj2" fmla="val 74471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출원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일</a:t>
            </a:r>
            <a:r>
              <a:rPr lang="en-US" altLang="ko-KR" sz="1200" dirty="0">
                <a:solidFill>
                  <a:srgbClr val="FF0000"/>
                </a:solidFill>
              </a:rPr>
              <a:t>) </a:t>
            </a:r>
            <a:r>
              <a:rPr lang="ko-KR" altLang="en-US" sz="1200" dirty="0">
                <a:solidFill>
                  <a:srgbClr val="FF0000"/>
                </a:solidFill>
              </a:rPr>
              <a:t>기준으로 앞쪽 영역을 살펴서</a:t>
            </a:r>
            <a:r>
              <a:rPr lang="en-US" altLang="ko-KR" sz="1200" dirty="0">
                <a:solidFill>
                  <a:srgbClr val="FF0000"/>
                </a:solidFill>
              </a:rPr>
              <a:t>,</a:t>
            </a:r>
          </a:p>
          <a:p>
            <a:r>
              <a:rPr lang="ko-KR" altLang="en-US" sz="1200" dirty="0">
                <a:solidFill>
                  <a:srgbClr val="FF0000"/>
                </a:solidFill>
              </a:rPr>
              <a:t>출원이 있는 경우 제</a:t>
            </a:r>
            <a:r>
              <a:rPr lang="en-US" altLang="ko-KR" sz="1200" dirty="0">
                <a:solidFill>
                  <a:srgbClr val="FF0000"/>
                </a:solidFill>
              </a:rPr>
              <a:t>36</a:t>
            </a:r>
            <a:r>
              <a:rPr lang="ko-KR" altLang="en-US" sz="1200" dirty="0">
                <a:solidFill>
                  <a:srgbClr val="FF0000"/>
                </a:solidFill>
              </a:rPr>
              <a:t>조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제</a:t>
            </a:r>
            <a:r>
              <a:rPr lang="en-US" altLang="ko-KR" sz="1200" dirty="0">
                <a:solidFill>
                  <a:srgbClr val="FF0000"/>
                </a:solidFill>
              </a:rPr>
              <a:t>29</a:t>
            </a:r>
            <a:r>
              <a:rPr lang="ko-KR" altLang="en-US" sz="1200" dirty="0">
                <a:solidFill>
                  <a:srgbClr val="FF0000"/>
                </a:solidFill>
              </a:rPr>
              <a:t>조제</a:t>
            </a:r>
            <a:r>
              <a:rPr lang="en-US" altLang="ko-KR" sz="1200" dirty="0">
                <a:solidFill>
                  <a:srgbClr val="FF0000"/>
                </a:solidFill>
              </a:rPr>
              <a:t>3</a:t>
            </a:r>
            <a:r>
              <a:rPr lang="ko-KR" altLang="en-US" sz="1200" dirty="0">
                <a:solidFill>
                  <a:srgbClr val="FF0000"/>
                </a:solidFill>
              </a:rPr>
              <a:t>항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단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출원 후 공개가 있어야 함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  <a:r>
              <a:rPr lang="ko-KR" altLang="en-US" sz="1200" dirty="0">
                <a:solidFill>
                  <a:srgbClr val="FF0000"/>
                </a:solidFill>
              </a:rPr>
              <a:t>을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공개가 있는 경우 제</a:t>
            </a:r>
            <a:r>
              <a:rPr lang="en-US" altLang="ko-KR" sz="1200" dirty="0">
                <a:solidFill>
                  <a:srgbClr val="FF0000"/>
                </a:solidFill>
              </a:rPr>
              <a:t>29</a:t>
            </a:r>
            <a:r>
              <a:rPr lang="ko-KR" altLang="en-US" sz="1200" dirty="0">
                <a:solidFill>
                  <a:srgbClr val="FF0000"/>
                </a:solidFill>
              </a:rPr>
              <a:t>조제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항</a:t>
            </a:r>
            <a:r>
              <a:rPr lang="en-US" altLang="ko-KR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>
                <a:solidFill>
                  <a:srgbClr val="FF0000"/>
                </a:solidFill>
              </a:rPr>
              <a:t>및 제</a:t>
            </a:r>
            <a:r>
              <a:rPr lang="en-US" altLang="ko-KR" sz="1200" dirty="0">
                <a:solidFill>
                  <a:srgbClr val="FF0000"/>
                </a:solidFill>
              </a:rPr>
              <a:t>2</a:t>
            </a:r>
            <a:r>
              <a:rPr lang="ko-KR" altLang="en-US" sz="1200" dirty="0">
                <a:solidFill>
                  <a:srgbClr val="FF0000"/>
                </a:solidFill>
              </a:rPr>
              <a:t>항을 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논점으로 추출함</a:t>
            </a:r>
          </a:p>
        </p:txBody>
      </p:sp>
      <p:cxnSp>
        <p:nvCxnSpPr>
          <p:cNvPr id="68" name="직선 연결선 67"/>
          <p:cNvCxnSpPr/>
          <p:nvPr/>
        </p:nvCxnSpPr>
        <p:spPr>
          <a:xfrm>
            <a:off x="3244145" y="2916789"/>
            <a:ext cx="0" cy="340781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>
            <a:stCxn id="65" idx="1"/>
          </p:cNvCxnSpPr>
          <p:nvPr/>
        </p:nvCxnSpPr>
        <p:spPr>
          <a:xfrm>
            <a:off x="8496914" y="5575129"/>
            <a:ext cx="3496813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그룹 43"/>
          <p:cNvGrpSpPr/>
          <p:nvPr/>
        </p:nvGrpSpPr>
        <p:grpSpPr>
          <a:xfrm>
            <a:off x="9082352" y="2882610"/>
            <a:ext cx="2291071" cy="3382723"/>
            <a:chOff x="9082352" y="2882610"/>
            <a:chExt cx="2291071" cy="3631721"/>
          </a:xfrm>
        </p:grpSpPr>
        <p:cxnSp>
          <p:nvCxnSpPr>
            <p:cNvPr id="16" name="직선 연결선 15"/>
            <p:cNvCxnSpPr/>
            <p:nvPr/>
          </p:nvCxnSpPr>
          <p:spPr>
            <a:xfrm>
              <a:off x="9082352" y="2882610"/>
              <a:ext cx="0" cy="363172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 73"/>
            <p:cNvCxnSpPr/>
            <p:nvPr/>
          </p:nvCxnSpPr>
          <p:spPr>
            <a:xfrm>
              <a:off x="9841896" y="2882610"/>
              <a:ext cx="0" cy="363172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연결선 74"/>
            <p:cNvCxnSpPr/>
            <p:nvPr/>
          </p:nvCxnSpPr>
          <p:spPr>
            <a:xfrm>
              <a:off x="10659913" y="2882610"/>
              <a:ext cx="0" cy="363172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연결선 75"/>
            <p:cNvCxnSpPr/>
            <p:nvPr/>
          </p:nvCxnSpPr>
          <p:spPr>
            <a:xfrm>
              <a:off x="11373423" y="2882610"/>
              <a:ext cx="0" cy="363172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직선 화살표 연결선 17"/>
          <p:cNvCxnSpPr/>
          <p:nvPr/>
        </p:nvCxnSpPr>
        <p:spPr>
          <a:xfrm flipH="1">
            <a:off x="8483898" y="4970203"/>
            <a:ext cx="589987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flipH="1">
            <a:off x="8483898" y="4432084"/>
            <a:ext cx="1349531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 flipH="1">
            <a:off x="8483898" y="3917185"/>
            <a:ext cx="2175989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 flipH="1">
            <a:off x="8483898" y="3400195"/>
            <a:ext cx="2881058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/>
          <p:cNvSpPr/>
          <p:nvPr/>
        </p:nvSpPr>
        <p:spPr>
          <a:xfrm>
            <a:off x="7879287" y="4724828"/>
            <a:ext cx="508473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ko-KR" altLang="en-US" sz="2800" dirty="0">
                <a:solidFill>
                  <a:schemeClr val="tx2"/>
                </a:solidFill>
              </a:rPr>
              <a:t>①</a:t>
            </a:r>
            <a:endParaRPr lang="ko-KR" altLang="en-US" sz="2800" dirty="0"/>
          </a:p>
        </p:txBody>
      </p:sp>
      <p:sp>
        <p:nvSpPr>
          <p:cNvPr id="86" name="직사각형 85"/>
          <p:cNvSpPr/>
          <p:nvPr/>
        </p:nvSpPr>
        <p:spPr>
          <a:xfrm>
            <a:off x="7879287" y="4211033"/>
            <a:ext cx="508473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ko-KR" altLang="en-US" sz="2800" dirty="0">
                <a:solidFill>
                  <a:schemeClr val="tx2"/>
                </a:solidFill>
              </a:rPr>
              <a:t>②</a:t>
            </a:r>
            <a:endParaRPr lang="ko-KR" altLang="en-US" sz="2800" dirty="0"/>
          </a:p>
        </p:txBody>
      </p:sp>
      <p:sp>
        <p:nvSpPr>
          <p:cNvPr id="87" name="직사각형 86"/>
          <p:cNvSpPr/>
          <p:nvPr/>
        </p:nvSpPr>
        <p:spPr>
          <a:xfrm>
            <a:off x="7879287" y="3680292"/>
            <a:ext cx="508473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ko-KR" altLang="en-US" sz="2800" dirty="0">
                <a:solidFill>
                  <a:schemeClr val="tx2"/>
                </a:solidFill>
              </a:rPr>
              <a:t>③</a:t>
            </a:r>
            <a:endParaRPr lang="ko-KR" altLang="en-US" sz="2800" dirty="0"/>
          </a:p>
        </p:txBody>
      </p:sp>
      <p:sp>
        <p:nvSpPr>
          <p:cNvPr id="88" name="직사각형 87"/>
          <p:cNvSpPr/>
          <p:nvPr/>
        </p:nvSpPr>
        <p:spPr>
          <a:xfrm>
            <a:off x="7879287" y="3112846"/>
            <a:ext cx="508473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ko-KR" altLang="en-US" sz="2800" dirty="0">
                <a:solidFill>
                  <a:schemeClr val="tx2"/>
                </a:solidFill>
              </a:rPr>
              <a:t>④</a:t>
            </a:r>
            <a:endParaRPr lang="ko-KR" altLang="en-US" sz="2800" dirty="0"/>
          </a:p>
        </p:txBody>
      </p:sp>
      <p:sp>
        <p:nvSpPr>
          <p:cNvPr id="30" name="TextBox 29"/>
          <p:cNvSpPr txBox="1"/>
          <p:nvPr/>
        </p:nvSpPr>
        <p:spPr>
          <a:xfrm>
            <a:off x="7089837" y="4830574"/>
            <a:ext cx="7809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600"/>
              <a:t>제</a:t>
            </a:r>
            <a:r>
              <a:rPr lang="en-US" altLang="ko-KR" sz="1600" dirty="0"/>
              <a:t>36</a:t>
            </a:r>
            <a:r>
              <a:rPr lang="ko-KR" altLang="en-US" sz="1600" dirty="0"/>
              <a:t>조</a:t>
            </a:r>
            <a:endParaRPr lang="en-US" altLang="ko-KR" sz="1600" dirty="0"/>
          </a:p>
        </p:txBody>
      </p:sp>
      <p:sp>
        <p:nvSpPr>
          <p:cNvPr id="92" name="TextBox 91"/>
          <p:cNvSpPr txBox="1"/>
          <p:nvPr/>
        </p:nvSpPr>
        <p:spPr>
          <a:xfrm>
            <a:off x="5887585" y="4329138"/>
            <a:ext cx="19832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600" dirty="0"/>
              <a:t>제</a:t>
            </a:r>
            <a:r>
              <a:rPr lang="en-US" altLang="ko-KR" sz="1600" dirty="0"/>
              <a:t>36</a:t>
            </a:r>
            <a:r>
              <a:rPr lang="ko-KR" altLang="en-US" sz="1600" dirty="0"/>
              <a:t>조</a:t>
            </a:r>
            <a:r>
              <a:rPr lang="en-US" altLang="ko-KR" sz="1600" dirty="0"/>
              <a:t>+</a:t>
            </a:r>
            <a:r>
              <a:rPr lang="ko-KR" altLang="en-US" sz="1600" dirty="0"/>
              <a:t>제</a:t>
            </a:r>
            <a:r>
              <a:rPr lang="en-US" altLang="ko-KR" sz="1600" dirty="0"/>
              <a:t>29</a:t>
            </a:r>
            <a:r>
              <a:rPr lang="ko-KR" altLang="en-US" sz="1600" dirty="0"/>
              <a:t>조제</a:t>
            </a:r>
            <a:r>
              <a:rPr lang="en-US" altLang="ko-KR" sz="1600" dirty="0"/>
              <a:t>3</a:t>
            </a:r>
            <a:r>
              <a:rPr lang="ko-KR" altLang="en-US" sz="1600" dirty="0"/>
              <a:t>항</a:t>
            </a:r>
            <a:endParaRPr lang="en-US" altLang="ko-KR" sz="1600" dirty="0"/>
          </a:p>
        </p:txBody>
      </p:sp>
      <p:sp>
        <p:nvSpPr>
          <p:cNvPr id="93" name="TextBox 92"/>
          <p:cNvSpPr txBox="1"/>
          <p:nvPr/>
        </p:nvSpPr>
        <p:spPr>
          <a:xfrm>
            <a:off x="3338810" y="3781467"/>
            <a:ext cx="45320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600" dirty="0"/>
              <a:t>제</a:t>
            </a:r>
            <a:r>
              <a:rPr lang="en-US" altLang="ko-KR" sz="1600" dirty="0"/>
              <a:t>36</a:t>
            </a:r>
            <a:r>
              <a:rPr lang="ko-KR" altLang="en-US" sz="1600" dirty="0"/>
              <a:t>조</a:t>
            </a:r>
            <a:r>
              <a:rPr lang="en-US" altLang="ko-KR" sz="1600" dirty="0"/>
              <a:t>+(</a:t>
            </a:r>
            <a:r>
              <a:rPr lang="ko-KR" altLang="en-US" sz="1600" dirty="0"/>
              <a:t>제</a:t>
            </a:r>
            <a:r>
              <a:rPr lang="en-US" altLang="ko-KR" sz="1600" dirty="0"/>
              <a:t>29</a:t>
            </a:r>
            <a:r>
              <a:rPr lang="ko-KR" altLang="en-US" sz="1600" dirty="0"/>
              <a:t>조제</a:t>
            </a:r>
            <a:r>
              <a:rPr lang="en-US" altLang="ko-KR" sz="1600" dirty="0"/>
              <a:t>3</a:t>
            </a:r>
            <a:r>
              <a:rPr lang="ko-KR" altLang="en-US" sz="1600" dirty="0"/>
              <a:t>항</a:t>
            </a:r>
            <a:r>
              <a:rPr lang="en-US" altLang="ko-KR" sz="1600" dirty="0"/>
              <a:t>+</a:t>
            </a:r>
            <a:r>
              <a:rPr lang="ko-KR" altLang="en-US" sz="1600" dirty="0"/>
              <a:t>제</a:t>
            </a:r>
            <a:r>
              <a:rPr lang="en-US" altLang="ko-KR" sz="1600" dirty="0"/>
              <a:t>29</a:t>
            </a:r>
            <a:r>
              <a:rPr lang="ko-KR" altLang="en-US" sz="1600" dirty="0"/>
              <a:t>조제</a:t>
            </a:r>
            <a:r>
              <a:rPr lang="en-US" altLang="ko-KR" sz="1600" dirty="0"/>
              <a:t>1</a:t>
            </a:r>
            <a:r>
              <a:rPr lang="ko-KR" altLang="en-US" sz="1600" dirty="0" err="1"/>
              <a:t>항제</a:t>
            </a:r>
            <a:r>
              <a:rPr lang="en-US" altLang="ko-KR" sz="1600" dirty="0"/>
              <a:t>2</a:t>
            </a:r>
            <a:r>
              <a:rPr lang="ko-KR" altLang="en-US" sz="1600" dirty="0"/>
              <a:t>항 中 하나</a:t>
            </a:r>
            <a:r>
              <a:rPr lang="en-US" altLang="ko-KR" sz="1600" dirty="0"/>
              <a:t>)</a:t>
            </a:r>
            <a:r>
              <a:rPr lang="ko-KR" altLang="en-US" sz="1600" dirty="0"/>
              <a:t> </a:t>
            </a:r>
            <a:endParaRPr lang="en-US" altLang="ko-KR" sz="1600" dirty="0"/>
          </a:p>
        </p:txBody>
      </p:sp>
      <p:sp>
        <p:nvSpPr>
          <p:cNvPr id="94" name="TextBox 93"/>
          <p:cNvSpPr txBox="1"/>
          <p:nvPr/>
        </p:nvSpPr>
        <p:spPr>
          <a:xfrm>
            <a:off x="5289665" y="3215529"/>
            <a:ext cx="25811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600" dirty="0"/>
              <a:t>제</a:t>
            </a:r>
            <a:r>
              <a:rPr lang="en-US" altLang="ko-KR" sz="1600" dirty="0"/>
              <a:t>36</a:t>
            </a:r>
            <a:r>
              <a:rPr lang="ko-KR" altLang="en-US" sz="1600" dirty="0"/>
              <a:t>조</a:t>
            </a:r>
            <a:r>
              <a:rPr lang="en-US" altLang="ko-KR" sz="1600" dirty="0"/>
              <a:t>+</a:t>
            </a:r>
            <a:r>
              <a:rPr lang="ko-KR" altLang="en-US" sz="1600" dirty="0"/>
              <a:t>제</a:t>
            </a:r>
            <a:r>
              <a:rPr lang="en-US" altLang="ko-KR" sz="1600" dirty="0"/>
              <a:t>29</a:t>
            </a:r>
            <a:r>
              <a:rPr lang="ko-KR" altLang="en-US" sz="1600" dirty="0"/>
              <a:t>조제</a:t>
            </a:r>
            <a:r>
              <a:rPr lang="en-US" altLang="ko-KR" sz="1600" dirty="0"/>
              <a:t>1</a:t>
            </a:r>
            <a:r>
              <a:rPr lang="ko-KR" altLang="en-US" sz="1600" dirty="0" err="1"/>
              <a:t>항제</a:t>
            </a:r>
            <a:r>
              <a:rPr lang="en-US" altLang="ko-KR" sz="1600" dirty="0"/>
              <a:t>2</a:t>
            </a:r>
            <a:r>
              <a:rPr lang="ko-KR" altLang="en-US" sz="1600" dirty="0"/>
              <a:t>항 </a:t>
            </a:r>
            <a:endParaRPr lang="en-US" altLang="ko-KR" sz="1600" dirty="0"/>
          </a:p>
        </p:txBody>
      </p:sp>
      <p:sp>
        <p:nvSpPr>
          <p:cNvPr id="65" name="직사각형 64"/>
          <p:cNvSpPr/>
          <p:nvPr/>
        </p:nvSpPr>
        <p:spPr>
          <a:xfrm>
            <a:off x="8496914" y="5359988"/>
            <a:ext cx="1176596" cy="43028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특허출원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(X)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10071747" y="5359988"/>
            <a:ext cx="1176596" cy="43028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출원공개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(X)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96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0623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위쪽 모서리 15">
            <a:extLst>
              <a:ext uri="{FF2B5EF4-FFF2-40B4-BE49-F238E27FC236}">
                <a16:creationId xmlns:a16="http://schemas.microsoft.com/office/drawing/2014/main" id="{46183799-BA4D-9A14-F1BB-C636E650A69B}"/>
              </a:ext>
            </a:extLst>
          </p:cNvPr>
          <p:cNvSpPr/>
          <p:nvPr/>
        </p:nvSpPr>
        <p:spPr>
          <a:xfrm rot="10800000">
            <a:off x="1943099" y="2909081"/>
            <a:ext cx="7016070" cy="769042"/>
          </a:xfrm>
          <a:prstGeom prst="round2SameRect">
            <a:avLst>
              <a:gd name="adj1" fmla="val 50000"/>
              <a:gd name="adj2" fmla="val 0"/>
            </a:avLst>
          </a:prstGeom>
          <a:pattFill prst="pct30">
            <a:fgClr>
              <a:schemeClr val="accent3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무권리자출원과</a:t>
            </a:r>
            <a:r>
              <a:rPr lang="ko-KR" altLang="en-US" dirty="0"/>
              <a:t> 미완성발명출원의 등록금지적 효력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97</a:t>
            </a:fld>
            <a:endParaRPr lang="ko-KR" altLang="en-US"/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A233082A-9AD6-437D-B2B4-44B61A9CA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862836"/>
              </p:ext>
            </p:extLst>
          </p:nvPr>
        </p:nvGraphicFramePr>
        <p:xfrm>
          <a:off x="773651" y="4220235"/>
          <a:ext cx="10544205" cy="231648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536396">
                  <a:extLst>
                    <a:ext uri="{9D8B030D-6E8A-4147-A177-3AD203B41FA5}">
                      <a16:colId xmlns:a16="http://schemas.microsoft.com/office/drawing/2014/main" val="43425660"/>
                    </a:ext>
                  </a:extLst>
                </a:gridCol>
                <a:gridCol w="2443772">
                  <a:extLst>
                    <a:ext uri="{9D8B030D-6E8A-4147-A177-3AD203B41FA5}">
                      <a16:colId xmlns:a16="http://schemas.microsoft.com/office/drawing/2014/main" val="535295143"/>
                    </a:ext>
                  </a:extLst>
                </a:gridCol>
                <a:gridCol w="5564037">
                  <a:extLst>
                    <a:ext uri="{9D8B030D-6E8A-4147-A177-3AD203B41FA5}">
                      <a16:colId xmlns:a16="http://schemas.microsoft.com/office/drawing/2014/main" val="2676927970"/>
                    </a:ext>
                  </a:extLst>
                </a:gridCol>
              </a:tblGrid>
              <a:tr h="2741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등록금지적 효력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미완성발명출원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무권리자출원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4986666"/>
                  </a:ext>
                </a:extLst>
              </a:tr>
              <a:tr h="2741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선출원의 지위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불인정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제</a:t>
                      </a:r>
                      <a:r>
                        <a:rPr lang="en-US" altLang="ko-KR" sz="1600" dirty="0"/>
                        <a:t>36</a:t>
                      </a:r>
                      <a:r>
                        <a:rPr lang="ko-KR" altLang="en-US" sz="1600" dirty="0"/>
                        <a:t>조제</a:t>
                      </a:r>
                      <a:r>
                        <a:rPr lang="en-US" altLang="ko-KR" sz="1600" dirty="0"/>
                        <a:t>4</a:t>
                      </a:r>
                      <a:r>
                        <a:rPr lang="ko-KR" altLang="en-US" sz="1600" dirty="0"/>
                        <a:t>항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불인정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제</a:t>
                      </a:r>
                      <a:r>
                        <a:rPr lang="en-US" altLang="ko-KR" sz="1600" dirty="0"/>
                        <a:t>36</a:t>
                      </a:r>
                      <a:r>
                        <a:rPr lang="ko-KR" altLang="en-US" sz="1600" dirty="0"/>
                        <a:t>조 제</a:t>
                      </a:r>
                      <a:r>
                        <a:rPr lang="en-US" altLang="ko-KR" sz="1600" dirty="0"/>
                        <a:t>5</a:t>
                      </a:r>
                      <a:r>
                        <a:rPr lang="ko-KR" altLang="en-US" sz="1600" dirty="0"/>
                        <a:t>항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9549618"/>
                  </a:ext>
                </a:extLst>
              </a:tr>
              <a:tr h="3830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확대된 선출원의 지위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불인정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判例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인정</a:t>
                      </a:r>
                      <a:endParaRPr lang="en-US" altLang="ko-KR" sz="1600" dirty="0"/>
                    </a:p>
                    <a:p>
                      <a:pPr algn="ctr" latinLnBrk="1"/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단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정당한 권리자 출원에 대해서는 발명자가 동일하여 불인정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1605332"/>
                  </a:ext>
                </a:extLst>
              </a:tr>
              <a:tr h="5407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공지기술의 지위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인정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判例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인정</a:t>
                      </a:r>
                      <a:endParaRPr lang="en-US" altLang="ko-KR" sz="1600" dirty="0"/>
                    </a:p>
                    <a:p>
                      <a:pPr algn="ctr" latinLnBrk="1"/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단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정당한 권리자 출원에 대해서는 의사에 반한 공지이기 때문에 공지된 날로부터 </a:t>
                      </a:r>
                      <a:r>
                        <a:rPr lang="en-US" altLang="ko-KR" sz="1600" dirty="0"/>
                        <a:t>12</a:t>
                      </a:r>
                      <a:r>
                        <a:rPr lang="ko-KR" altLang="en-US" sz="1600" dirty="0"/>
                        <a:t>개월 이내에 정당한 권리자가 출원한 경우 </a:t>
                      </a:r>
                      <a:endParaRPr lang="en-US" altLang="ko-KR" sz="1600" dirty="0"/>
                    </a:p>
                    <a:p>
                      <a:pPr algn="ctr" latinLnBrk="1"/>
                      <a:r>
                        <a:rPr lang="ko-KR" altLang="en-US" sz="1600" dirty="0"/>
                        <a:t>불인정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2965140"/>
                  </a:ext>
                </a:extLst>
              </a:tr>
            </a:tbl>
          </a:graphicData>
        </a:graphic>
      </p:graphicFrame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F3C10E25-5463-F158-258B-97E2BB2214DA}"/>
              </a:ext>
            </a:extLst>
          </p:cNvPr>
          <p:cNvCxnSpPr>
            <a:cxnSpLocks/>
          </p:cNvCxnSpPr>
          <p:nvPr/>
        </p:nvCxnSpPr>
        <p:spPr>
          <a:xfrm>
            <a:off x="1803326" y="2873050"/>
            <a:ext cx="9032314" cy="0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5C0AD24-F1CB-0051-C9E1-791127FA72CA}"/>
              </a:ext>
            </a:extLst>
          </p:cNvPr>
          <p:cNvSpPr/>
          <p:nvPr/>
        </p:nvSpPr>
        <p:spPr>
          <a:xfrm>
            <a:off x="1515294" y="2592682"/>
            <a:ext cx="1080120" cy="560736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무권리자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출원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(x)</a:t>
            </a:r>
            <a:endParaRPr lang="ko-KR" alt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D9B4F07-40A2-63AB-123A-A6DEA9540869}"/>
              </a:ext>
            </a:extLst>
          </p:cNvPr>
          <p:cNvSpPr/>
          <p:nvPr/>
        </p:nvSpPr>
        <p:spPr>
          <a:xfrm>
            <a:off x="5105161" y="2592682"/>
            <a:ext cx="1245202" cy="560736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무권리자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공개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(x)</a:t>
            </a:r>
            <a:endParaRPr lang="ko-KR" alt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9C4C28D3-6339-CF37-D90B-F25442D93578}"/>
              </a:ext>
            </a:extLst>
          </p:cNvPr>
          <p:cNvSpPr/>
          <p:nvPr/>
        </p:nvSpPr>
        <p:spPr>
          <a:xfrm>
            <a:off x="8896260" y="2806938"/>
            <a:ext cx="125820" cy="1322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5E4F846A-121E-0C8D-EE86-85B7110B5FD6}"/>
              </a:ext>
            </a:extLst>
          </p:cNvPr>
          <p:cNvCxnSpPr>
            <a:stCxn id="10" idx="0"/>
            <a:endCxn id="11" idx="0"/>
          </p:cNvCxnSpPr>
          <p:nvPr/>
        </p:nvCxnSpPr>
        <p:spPr>
          <a:xfrm rot="16200000" flipH="1">
            <a:off x="7236338" y="1084106"/>
            <a:ext cx="214256" cy="3231408"/>
          </a:xfrm>
          <a:prstGeom prst="bentConnector3">
            <a:avLst>
              <a:gd name="adj1" fmla="val -106695"/>
            </a:avLst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130C431-DC46-373E-91FA-6D0B0016D459}"/>
              </a:ext>
            </a:extLst>
          </p:cNvPr>
          <p:cNvSpPr txBox="1"/>
          <p:nvPr/>
        </p:nvSpPr>
        <p:spPr>
          <a:xfrm>
            <a:off x="7139940" y="1968088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0DE536-96C8-5ED3-998D-8F505319C5A4}"/>
              </a:ext>
            </a:extLst>
          </p:cNvPr>
          <p:cNvSpPr txBox="1"/>
          <p:nvPr/>
        </p:nvSpPr>
        <p:spPr>
          <a:xfrm>
            <a:off x="3634245" y="3249120"/>
            <a:ext cx="4047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정당한 권리자 출원의 거절되지 않는 구간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B76E01-AE70-368E-ACE0-8C8811865640}"/>
              </a:ext>
            </a:extLst>
          </p:cNvPr>
          <p:cNvSpPr txBox="1"/>
          <p:nvPr/>
        </p:nvSpPr>
        <p:spPr>
          <a:xfrm>
            <a:off x="447105" y="1150377"/>
            <a:ext cx="1114426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179388" indent="-179388"/>
            <a:r>
              <a:rPr lang="ko-KR" altLang="en-US" dirty="0"/>
              <a:t>* 정당한 권리자 출원이 무권리자 출원일로 소급효가 인정되지 않을 때 정당한 권리자 출원이 무권리자 출원 또는 </a:t>
            </a:r>
            <a:endParaRPr lang="en-US" altLang="ko-KR" dirty="0"/>
          </a:p>
          <a:p>
            <a:r>
              <a:rPr lang="ko-KR" altLang="en-US" dirty="0"/>
              <a:t>   공개에 의하여 거절되지 않는 구간</a:t>
            </a:r>
            <a:r>
              <a:rPr lang="en-US" altLang="ko-KR" dirty="0"/>
              <a:t>?</a:t>
            </a:r>
            <a:endParaRPr lang="ko-KR" altLang="en-US" dirty="0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FA17D492-0EE4-611F-4DD1-74824A6962A5}"/>
              </a:ext>
            </a:extLst>
          </p:cNvPr>
          <p:cNvCxnSpPr/>
          <p:nvPr/>
        </p:nvCxnSpPr>
        <p:spPr>
          <a:xfrm flipH="1" flipV="1">
            <a:off x="280574" y="3976951"/>
            <a:ext cx="11539951" cy="952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55889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41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106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국방상 필요한 발명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5600" y="986046"/>
            <a:ext cx="11472332" cy="353943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41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국방상 필요한 발명 등</a:t>
            </a:r>
            <a:r>
              <a:rPr lang="en-US" altLang="ko-KR" sz="1400" b="1" dirty="0">
                <a:solidFill>
                  <a:schemeClr val="accent1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 ① 정부는 국방상 필요한 경우 외국에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특허출원하는</a:t>
            </a:r>
            <a:r>
              <a:rPr lang="ko-KR" altLang="en-US" sz="1400" dirty="0">
                <a:solidFill>
                  <a:schemeClr val="tx2"/>
                </a:solidFill>
              </a:rPr>
              <a:t> 것을 금지하거나 </a:t>
            </a:r>
            <a:r>
              <a:rPr lang="ko-KR" altLang="en-US" sz="1400" dirty="0" err="1">
                <a:solidFill>
                  <a:schemeClr val="tx2"/>
                </a:solidFill>
              </a:rPr>
              <a:t>발명자ㆍ출원인</a:t>
            </a:r>
            <a:r>
              <a:rPr lang="ko-KR" altLang="en-US" sz="1400" dirty="0">
                <a:solidFill>
                  <a:schemeClr val="tx2"/>
                </a:solidFill>
              </a:rPr>
              <a:t> 및 대리인에게 그 특허출원의 발명을 비밀로 취급하도록 명할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정부의 허가를 받은 경우에는 외국에 특허출원을 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정부는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특허출원된</a:t>
            </a:r>
            <a:r>
              <a:rPr lang="ko-KR" altLang="en-US" sz="1400" dirty="0">
                <a:solidFill>
                  <a:schemeClr val="tx2"/>
                </a:solidFill>
              </a:rPr>
              <a:t> 발명이 국방상 필요한 경우에는 특허를 하지 아니할 수 있으며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전시ㆍ사변</a:t>
            </a:r>
            <a:r>
              <a:rPr lang="ko-KR" altLang="en-US" sz="1400" dirty="0">
                <a:solidFill>
                  <a:schemeClr val="tx2"/>
                </a:solidFill>
              </a:rPr>
              <a:t> 또는 이에 준하는 비상시에 국방상 필요한 경우에는 특허를 받을 수 있는 권리를 수용할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외국에의 특허출원 금지 또는 비밀취급에 따른 손실에 대해서는 정부는 정당한 보상금을 지급하여야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④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따라 특허하지 아니하거나 수용한 경우에는 정부는 정당한 보상금을 지급하여야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⑤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외국에의 특허출원 금지 또는 비밀취급명령을 위반한 경우에는 그 발명에 대하여 특허를 받을 수 있는 권리를 포기한 것으로 본다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⑥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외국에의 특허출원 금지 또는 비밀취급명령을 위반한 경우에는 외국에의 특허출원 금지 또는 비밀취급에 따른 손실보상금의 청구권을 포기한 것으로 본다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⑦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외국에의 특허출원 금지 및 비밀취급의 절차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항부터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항까지의 규정에 따른 수용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보상금 지급의 절차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그 밖에 필요한 사항은 대통령령으로 정한다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endParaRPr lang="en-US" altLang="ko-KR" sz="1400" dirty="0">
              <a:solidFill>
                <a:schemeClr val="tx2"/>
              </a:solidFill>
            </a:endParaRPr>
          </a:p>
          <a:p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106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특허권의 수용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정부는 특허발명이 전시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사변 또는 이에 준하는 비상시에 국방상 필요한 경우에는 특허권을 수용할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특허권이 수용되는 경우에는 그 특허발명에 관한 특허권 외의 권리는 소멸된다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정부는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특허권을 수용하는 경우에는 </a:t>
            </a:r>
            <a:r>
              <a:rPr lang="ko-KR" altLang="en-US" sz="1400" dirty="0" err="1">
                <a:solidFill>
                  <a:schemeClr val="tx2"/>
                </a:solidFill>
              </a:rPr>
              <a:t>특허권자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전용실시권자</a:t>
            </a:r>
            <a:r>
              <a:rPr lang="ko-KR" altLang="en-US" sz="1400" dirty="0">
                <a:solidFill>
                  <a:schemeClr val="tx2"/>
                </a:solidFill>
              </a:rPr>
              <a:t> 또는 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통상실시권자에</a:t>
            </a:r>
            <a:r>
              <a:rPr lang="ko-KR" altLang="en-US" sz="1400" dirty="0">
                <a:solidFill>
                  <a:schemeClr val="tx2"/>
                </a:solidFill>
              </a:rPr>
              <a:t> 대하여 정당한 보상금을 지급하여야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④ </a:t>
            </a:r>
            <a:r>
              <a:rPr lang="ko-KR" altLang="en-US" sz="1400" dirty="0">
                <a:solidFill>
                  <a:schemeClr val="tx2"/>
                </a:solidFill>
              </a:rPr>
              <a:t>특허권의 수용 및 보상금의 지급에 필요한 사항은 대통령령으로 정한다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690170"/>
              </p:ext>
            </p:extLst>
          </p:nvPr>
        </p:nvGraphicFramePr>
        <p:xfrm>
          <a:off x="350180" y="4766598"/>
          <a:ext cx="11477751" cy="1946339"/>
        </p:xfrm>
        <a:graphic>
          <a:graphicData uri="http://schemas.openxmlformats.org/drawingml/2006/table">
            <a:tbl>
              <a:tblPr/>
              <a:tblGrid>
                <a:gridCol w="933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3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30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8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60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326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222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법 규정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취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급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요 건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보 상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583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등록 전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41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외국에의 출원금지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국방상 필요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法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41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③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133350" marR="31750" indent="-13335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위반시 특허를 받을 수 있는 권리 포기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보상금청구권 포기 간주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41⑤⑥)</a:t>
                      </a:r>
                    </a:p>
                    <a:p>
                      <a:pPr marL="133350" marR="31750" indent="-13335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위반시 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년 이하의 징역 또는 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천만원 이하의 벌금형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229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의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3),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양벌규정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적용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230)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5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비밀취급명령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5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41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불특허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41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④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5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수용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전시ㆍ사변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또는 이에 준하는 비상시에 국방상 필요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67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등록 후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106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수용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106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③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780" marR="31750" indent="-14478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특허권 이외의 권리 소멸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106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32080" marR="31750" indent="-13208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질권자는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보상받지 못함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∵물상대위가능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123))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98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43899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000" dirty="0"/>
              <a:t>제</a:t>
            </a:r>
            <a:r>
              <a:rPr lang="en-US" altLang="ko-KR" sz="2000" dirty="0"/>
              <a:t>25</a:t>
            </a:r>
            <a:r>
              <a:rPr lang="ko-KR" altLang="en-US" sz="2000" dirty="0"/>
              <a:t>조</a:t>
            </a:r>
            <a:r>
              <a:rPr lang="en-US" altLang="ko-KR" sz="2000" dirty="0"/>
              <a:t>, </a:t>
            </a:r>
            <a:r>
              <a:rPr lang="ko-KR" altLang="en-US" sz="2000" dirty="0"/>
              <a:t>제</a:t>
            </a:r>
            <a:r>
              <a:rPr lang="en-US" altLang="ko-KR" sz="2000" dirty="0"/>
              <a:t>33</a:t>
            </a:r>
            <a:r>
              <a:rPr lang="ko-KR" altLang="en-US" sz="2000" dirty="0"/>
              <a:t>조</a:t>
            </a:r>
            <a:r>
              <a:rPr lang="en-US" altLang="ko-KR" sz="2000" dirty="0"/>
              <a:t>, </a:t>
            </a:r>
            <a:r>
              <a:rPr lang="ko-KR" altLang="en-US" sz="2000" dirty="0"/>
              <a:t>제</a:t>
            </a:r>
            <a:r>
              <a:rPr lang="en-US" altLang="ko-KR" sz="2000" dirty="0"/>
              <a:t>44</a:t>
            </a:r>
            <a:r>
              <a:rPr lang="ko-KR" altLang="en-US" sz="2000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출원인 </a:t>
            </a:r>
            <a:endParaRPr lang="ko-KR" altLang="en-US" dirty="0"/>
          </a:p>
        </p:txBody>
      </p:sp>
      <p:cxnSp>
        <p:nvCxnSpPr>
          <p:cNvPr id="43" name="직선 연결선 42"/>
          <p:cNvCxnSpPr/>
          <p:nvPr/>
        </p:nvCxnSpPr>
        <p:spPr>
          <a:xfrm>
            <a:off x="0" y="151703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7875" y="986046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출원인이</a:t>
            </a:r>
            <a:r>
              <a:rPr lang="ko-KR" altLang="en-US" sz="1400" dirty="0">
                <a:solidFill>
                  <a:schemeClr val="tx2"/>
                </a:solidFill>
              </a:rPr>
              <a:t> 되기 위해서는 </a:t>
            </a:r>
            <a:r>
              <a:rPr lang="en-US" altLang="ko-KR" sz="1400" dirty="0">
                <a:solidFill>
                  <a:schemeClr val="tx2"/>
                </a:solidFill>
              </a:rPr>
              <a:t>ⅰ) </a:t>
            </a:r>
            <a:r>
              <a:rPr lang="ko-KR" altLang="en-US" sz="1400" dirty="0">
                <a:solidFill>
                  <a:schemeClr val="tx2"/>
                </a:solidFill>
              </a:rPr>
              <a:t>일반적인 권리의 주체가 될 수 있는 능력인 권리능력이 있어야 하며</a:t>
            </a:r>
            <a:r>
              <a:rPr lang="en-US" altLang="ko-KR" sz="1400" dirty="0">
                <a:solidFill>
                  <a:schemeClr val="tx2"/>
                </a:solidFill>
              </a:rPr>
              <a:t>, ⅱ) </a:t>
            </a:r>
            <a:r>
              <a:rPr lang="ko-KR" altLang="en-US" sz="1400" dirty="0">
                <a:solidFill>
                  <a:schemeClr val="tx2"/>
                </a:solidFill>
              </a:rPr>
              <a:t>권리능력이 있는 자라 하더라도 해당 발명에 대한 권리의 주체가 될 수 있는 권리적격이 있어야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10" name="다이아몬드 9"/>
          <p:cNvSpPr/>
          <p:nvPr/>
        </p:nvSpPr>
        <p:spPr>
          <a:xfrm>
            <a:off x="3141397" y="1811839"/>
            <a:ext cx="1524000" cy="1151467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권리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능력자 </a:t>
            </a:r>
          </a:p>
        </p:txBody>
      </p:sp>
      <p:sp>
        <p:nvSpPr>
          <p:cNvPr id="48" name="다이아몬드 47"/>
          <p:cNvSpPr/>
          <p:nvPr/>
        </p:nvSpPr>
        <p:spPr>
          <a:xfrm>
            <a:off x="3141397" y="3539039"/>
            <a:ext cx="1524000" cy="1151467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권리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적격자 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349623" y="2662388"/>
            <a:ext cx="1902522" cy="6280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실체심사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외국인</a:t>
            </a:r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25</a:t>
            </a:r>
            <a:r>
              <a:rPr lang="ko-KR" altLang="en-US" sz="1200" dirty="0">
                <a:solidFill>
                  <a:schemeClr val="tx1"/>
                </a:solidFill>
              </a:rPr>
              <a:t>조 위반의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거절이유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349624" y="3795025"/>
            <a:ext cx="1902522" cy="62805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실체심사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33</a:t>
            </a:r>
            <a:r>
              <a:rPr lang="ko-KR" altLang="en-US" sz="1200" dirty="0">
                <a:solidFill>
                  <a:schemeClr val="tx1"/>
                </a:solidFill>
              </a:rPr>
              <a:t>조제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r>
              <a:rPr lang="ko-KR" altLang="en-US" sz="1200" dirty="0">
                <a:solidFill>
                  <a:schemeClr val="tx1"/>
                </a:solidFill>
              </a:rPr>
              <a:t>항 본문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단서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44</a:t>
            </a:r>
            <a:r>
              <a:rPr lang="ko-KR" altLang="en-US" sz="1200" dirty="0">
                <a:solidFill>
                  <a:schemeClr val="tx1"/>
                </a:solidFill>
              </a:rPr>
              <a:t>조 위반의 거절이유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72" name="직선 화살표 연결선 71"/>
          <p:cNvCxnSpPr>
            <a:cxnSpLocks/>
            <a:stCxn id="48" idx="1"/>
            <a:endCxn id="71" idx="3"/>
          </p:cNvCxnSpPr>
          <p:nvPr/>
        </p:nvCxnSpPr>
        <p:spPr>
          <a:xfrm flipH="1" flipV="1">
            <a:off x="2252146" y="4109053"/>
            <a:ext cx="889251" cy="572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/>
          <p:cNvSpPr/>
          <p:nvPr/>
        </p:nvSpPr>
        <p:spPr>
          <a:xfrm>
            <a:off x="3285288" y="5228136"/>
            <a:ext cx="1236208" cy="50378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등록가능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25" name="직선 화살표 연결선 24"/>
          <p:cNvCxnSpPr>
            <a:cxnSpLocks/>
            <a:stCxn id="10" idx="2"/>
            <a:endCxn id="48" idx="0"/>
          </p:cNvCxnSpPr>
          <p:nvPr/>
        </p:nvCxnSpPr>
        <p:spPr>
          <a:xfrm>
            <a:off x="3903397" y="2963306"/>
            <a:ext cx="0" cy="57573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/>
          <p:cNvCxnSpPr>
            <a:cxnSpLocks/>
            <a:stCxn id="48" idx="2"/>
            <a:endCxn id="73" idx="0"/>
          </p:cNvCxnSpPr>
          <p:nvPr/>
        </p:nvCxnSpPr>
        <p:spPr>
          <a:xfrm flipH="1">
            <a:off x="3903392" y="4690506"/>
            <a:ext cx="5" cy="53763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878064" y="2921374"/>
            <a:ext cx="482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Yes</a:t>
            </a:r>
            <a:endParaRPr lang="ko-KR" altLang="en-US" sz="1100" dirty="0"/>
          </a:p>
        </p:txBody>
      </p:sp>
      <p:sp>
        <p:nvSpPr>
          <p:cNvPr id="85" name="TextBox 84"/>
          <p:cNvSpPr txBox="1"/>
          <p:nvPr/>
        </p:nvSpPr>
        <p:spPr>
          <a:xfrm>
            <a:off x="3874772" y="4733750"/>
            <a:ext cx="482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Yes</a:t>
            </a:r>
            <a:endParaRPr lang="ko-KR" altLang="en-US" sz="1100" dirty="0"/>
          </a:p>
        </p:txBody>
      </p:sp>
      <p:sp>
        <p:nvSpPr>
          <p:cNvPr id="86" name="TextBox 85"/>
          <p:cNvSpPr txBox="1"/>
          <p:nvPr/>
        </p:nvSpPr>
        <p:spPr>
          <a:xfrm>
            <a:off x="2816724" y="2122723"/>
            <a:ext cx="482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88" name="TextBox 87"/>
          <p:cNvSpPr txBox="1"/>
          <p:nvPr/>
        </p:nvSpPr>
        <p:spPr>
          <a:xfrm>
            <a:off x="2771779" y="3834333"/>
            <a:ext cx="482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2" name="TextBox 1"/>
          <p:cNvSpPr txBox="1"/>
          <p:nvPr/>
        </p:nvSpPr>
        <p:spPr>
          <a:xfrm>
            <a:off x="5046151" y="1879575"/>
            <a:ext cx="564578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내국인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6151" y="2574313"/>
            <a:ext cx="564578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외국인</a:t>
            </a:r>
          </a:p>
        </p:txBody>
      </p:sp>
      <p:cxnSp>
        <p:nvCxnSpPr>
          <p:cNvPr id="8" name="꺾인 연결선 7"/>
          <p:cNvCxnSpPr>
            <a:cxnSpLocks/>
            <a:stCxn id="10" idx="3"/>
            <a:endCxn id="2" idx="1"/>
          </p:cNvCxnSpPr>
          <p:nvPr/>
        </p:nvCxnSpPr>
        <p:spPr>
          <a:xfrm flipV="1">
            <a:off x="4665397" y="2010380"/>
            <a:ext cx="380754" cy="377193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꺾인 연결선 10"/>
          <p:cNvCxnSpPr>
            <a:cxnSpLocks/>
            <a:stCxn id="10" idx="3"/>
            <a:endCxn id="20" idx="1"/>
          </p:cNvCxnSpPr>
          <p:nvPr/>
        </p:nvCxnSpPr>
        <p:spPr>
          <a:xfrm>
            <a:off x="4665397" y="2387573"/>
            <a:ext cx="380754" cy="31754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037587" y="2244946"/>
            <a:ext cx="564578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재내자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7587" y="2838080"/>
            <a:ext cx="564578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재외자</a:t>
            </a:r>
          </a:p>
        </p:txBody>
      </p:sp>
      <p:cxnSp>
        <p:nvCxnSpPr>
          <p:cNvPr id="17" name="꺾인 연결선 16"/>
          <p:cNvCxnSpPr>
            <a:stCxn id="20" idx="3"/>
            <a:endCxn id="29" idx="1"/>
          </p:cNvCxnSpPr>
          <p:nvPr/>
        </p:nvCxnSpPr>
        <p:spPr>
          <a:xfrm flipV="1">
            <a:off x="5610729" y="2375751"/>
            <a:ext cx="426858" cy="329367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stCxn id="20" idx="3"/>
            <a:endCxn id="30" idx="1"/>
          </p:cNvCxnSpPr>
          <p:nvPr/>
        </p:nvCxnSpPr>
        <p:spPr>
          <a:xfrm>
            <a:off x="5610729" y="2705118"/>
            <a:ext cx="426858" cy="263767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046151" y="3594926"/>
            <a:ext cx="564578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발명자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46151" y="3984852"/>
            <a:ext cx="564578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승계인</a:t>
            </a:r>
          </a:p>
        </p:txBody>
      </p:sp>
      <p:cxnSp>
        <p:nvCxnSpPr>
          <p:cNvPr id="37" name="꺾인 연결선 36"/>
          <p:cNvCxnSpPr>
            <a:cxnSpLocks/>
            <a:stCxn id="48" idx="3"/>
            <a:endCxn id="35" idx="1"/>
          </p:cNvCxnSpPr>
          <p:nvPr/>
        </p:nvCxnSpPr>
        <p:spPr>
          <a:xfrm flipV="1">
            <a:off x="4665397" y="3725731"/>
            <a:ext cx="380754" cy="38904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꺾인 연결선 37"/>
          <p:cNvCxnSpPr>
            <a:cxnSpLocks/>
            <a:stCxn id="48" idx="3"/>
            <a:endCxn id="36" idx="1"/>
          </p:cNvCxnSpPr>
          <p:nvPr/>
        </p:nvCxnSpPr>
        <p:spPr>
          <a:xfrm>
            <a:off x="4665397" y="4114773"/>
            <a:ext cx="380754" cy="884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046151" y="4360325"/>
            <a:ext cx="1544012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지식재산처</a:t>
            </a:r>
            <a:r>
              <a:rPr lang="en-US" altLang="ko-KR" sz="1100" dirty="0"/>
              <a:t>/</a:t>
            </a:r>
            <a:r>
              <a:rPr lang="ko-KR" altLang="en-US" sz="1100" dirty="0"/>
              <a:t>심판원 직원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46151" y="4750251"/>
            <a:ext cx="1426357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공동발명</a:t>
            </a:r>
          </a:p>
        </p:txBody>
      </p:sp>
      <p:cxnSp>
        <p:nvCxnSpPr>
          <p:cNvPr id="32" name="꺾인 연결선 31"/>
          <p:cNvCxnSpPr>
            <a:cxnSpLocks/>
            <a:stCxn id="48" idx="3"/>
            <a:endCxn id="49" idx="1"/>
          </p:cNvCxnSpPr>
          <p:nvPr/>
        </p:nvCxnSpPr>
        <p:spPr>
          <a:xfrm>
            <a:off x="4665397" y="4114773"/>
            <a:ext cx="380754" cy="766283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꺾인 연결선 33"/>
          <p:cNvCxnSpPr>
            <a:cxnSpLocks/>
            <a:stCxn id="48" idx="3"/>
            <a:endCxn id="47" idx="1"/>
          </p:cNvCxnSpPr>
          <p:nvPr/>
        </p:nvCxnSpPr>
        <p:spPr>
          <a:xfrm>
            <a:off x="4665397" y="4114773"/>
            <a:ext cx="380754" cy="376357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623784" y="1879575"/>
            <a:ext cx="3239990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100" dirty="0" err="1"/>
              <a:t>재내외자</a:t>
            </a:r>
            <a:r>
              <a:rPr lang="ko-KR" altLang="en-US" sz="1100" dirty="0"/>
              <a:t> 불문하고 자연인</a:t>
            </a:r>
            <a:r>
              <a:rPr lang="en-US" altLang="ko-KR" sz="1100" dirty="0"/>
              <a:t>, </a:t>
            </a:r>
            <a:r>
              <a:rPr lang="ko-KR" altLang="en-US" sz="1100" dirty="0"/>
              <a:t>법인의 경우 권리능력 인정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02165" y="2254682"/>
            <a:ext cx="982961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권리능력 인정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11356" y="2652673"/>
            <a:ext cx="437940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원칙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11356" y="3028835"/>
            <a:ext cx="437940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예외</a:t>
            </a:r>
          </a:p>
        </p:txBody>
      </p:sp>
      <p:cxnSp>
        <p:nvCxnSpPr>
          <p:cNvPr id="51" name="꺾인 연결선 50"/>
          <p:cNvCxnSpPr>
            <a:stCxn id="30" idx="3"/>
            <a:endCxn id="59" idx="1"/>
          </p:cNvCxnSpPr>
          <p:nvPr/>
        </p:nvCxnSpPr>
        <p:spPr>
          <a:xfrm flipV="1">
            <a:off x="6602165" y="2783478"/>
            <a:ext cx="209191" cy="185407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꺾인 연결선 52"/>
          <p:cNvCxnSpPr>
            <a:stCxn id="30" idx="3"/>
            <a:endCxn id="60" idx="1"/>
          </p:cNvCxnSpPr>
          <p:nvPr/>
        </p:nvCxnSpPr>
        <p:spPr>
          <a:xfrm>
            <a:off x="6602165" y="2968885"/>
            <a:ext cx="209191" cy="19075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7243779" y="2652673"/>
            <a:ext cx="1109599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100"/>
              <a:t>권리능력 불인정</a:t>
            </a:r>
            <a:endParaRPr lang="ko-KR" altLang="en-US" sz="1100" dirty="0"/>
          </a:p>
        </p:txBody>
      </p:sp>
      <p:sp>
        <p:nvSpPr>
          <p:cNvPr id="66" name="TextBox 65"/>
          <p:cNvSpPr txBox="1"/>
          <p:nvPr/>
        </p:nvSpPr>
        <p:spPr>
          <a:xfrm>
            <a:off x="7243779" y="3039062"/>
            <a:ext cx="4030270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권리능력 인정</a:t>
            </a:r>
            <a:r>
              <a:rPr lang="en-US" altLang="ko-KR" sz="1100" dirty="0"/>
              <a:t> - </a:t>
            </a:r>
            <a:r>
              <a:rPr lang="ko-KR" altLang="en-US" sz="1100" dirty="0"/>
              <a:t>상호주의</a:t>
            </a:r>
            <a:r>
              <a:rPr lang="en-US" altLang="ko-KR" sz="1100" dirty="0"/>
              <a:t>(</a:t>
            </a:r>
            <a:r>
              <a:rPr lang="ko-KR" altLang="en-US" sz="1100" dirty="0"/>
              <a:t>法</a:t>
            </a:r>
            <a:r>
              <a:rPr lang="en-US" altLang="ko-KR" sz="1100" dirty="0"/>
              <a:t>, 25Ⅰ,Ⅱ), </a:t>
            </a:r>
            <a:r>
              <a:rPr lang="ko-KR" altLang="en-US" sz="1100" dirty="0"/>
              <a:t>조약에 의한 경우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25Ⅲ)</a:t>
            </a:r>
            <a:endParaRPr lang="ko-KR" altLang="en-US" sz="1100" dirty="0"/>
          </a:p>
        </p:txBody>
      </p:sp>
      <p:sp>
        <p:nvSpPr>
          <p:cNvPr id="54" name="모서리가 둥근 사각형 설명선 53"/>
          <p:cNvSpPr/>
          <p:nvPr/>
        </p:nvSpPr>
        <p:spPr>
          <a:xfrm>
            <a:off x="499542" y="4602866"/>
            <a:ext cx="2616200" cy="399620"/>
          </a:xfrm>
          <a:prstGeom prst="wedgeRoundRectCallout">
            <a:avLst>
              <a:gd name="adj1" fmla="val 50516"/>
              <a:gd name="adj2" fmla="val -155724"/>
              <a:gd name="adj3" fmla="val 16667"/>
            </a:avLst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2"/>
                </a:solidFill>
              </a:rPr>
              <a:t>정당한 권리자</a:t>
            </a:r>
            <a:endParaRPr lang="en-US" altLang="ko-KR" sz="1200" dirty="0">
              <a:solidFill>
                <a:schemeClr val="tx2"/>
              </a:solidFill>
            </a:endParaRPr>
          </a:p>
          <a:p>
            <a:r>
              <a:rPr lang="en-US" altLang="ko-KR" sz="1200" dirty="0">
                <a:solidFill>
                  <a:schemeClr val="tx2"/>
                </a:solidFill>
              </a:rPr>
              <a:t>= </a:t>
            </a:r>
            <a:r>
              <a:rPr lang="ko-KR" altLang="en-US" sz="1200" dirty="0">
                <a:solidFill>
                  <a:schemeClr val="tx2"/>
                </a:solidFill>
              </a:rPr>
              <a:t>특허를 받을 수 있는 권리를 가진 자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23784" y="3594926"/>
            <a:ext cx="2730235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base"/>
            <a:r>
              <a:rPr lang="ko-KR" altLang="en-US" sz="1100" dirty="0"/>
              <a:t>자연인 ○ </a:t>
            </a:r>
            <a:r>
              <a:rPr lang="en-US" altLang="ko-KR" sz="1100" dirty="0"/>
              <a:t>/ </a:t>
            </a:r>
            <a:r>
              <a:rPr lang="ko-KR" altLang="en-US" sz="1100" dirty="0"/>
              <a:t>법인 </a:t>
            </a:r>
            <a:r>
              <a:rPr lang="en-US" altLang="ko-KR" sz="1100" dirty="0"/>
              <a:t>×(</a:t>
            </a:r>
            <a:r>
              <a:rPr lang="ko-KR" altLang="en-US" sz="1100" dirty="0"/>
              <a:t>∵ 발명행위는 사실행위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69" name="TextBox 68"/>
          <p:cNvSpPr txBox="1"/>
          <p:nvPr/>
        </p:nvSpPr>
        <p:spPr>
          <a:xfrm>
            <a:off x="5623784" y="3992859"/>
            <a:ext cx="1279517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base"/>
            <a:r>
              <a:rPr lang="ko-KR" altLang="en-US" sz="1100" dirty="0"/>
              <a:t>자연인 ○ </a:t>
            </a:r>
            <a:r>
              <a:rPr lang="en-US" altLang="ko-KR" sz="1100" dirty="0"/>
              <a:t>/ </a:t>
            </a:r>
            <a:r>
              <a:rPr lang="ko-KR" altLang="en-US" sz="1100" dirty="0"/>
              <a:t>법인 ○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02164" y="4257815"/>
            <a:ext cx="5484715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100" dirty="0"/>
              <a:t>상속</a:t>
            </a:r>
            <a:r>
              <a:rPr lang="en-US" altLang="ko-KR" sz="1100" dirty="0"/>
              <a:t>/</a:t>
            </a:r>
            <a:r>
              <a:rPr lang="ko-KR" altLang="en-US" sz="1100" dirty="0" err="1"/>
              <a:t>유증의</a:t>
            </a:r>
            <a:r>
              <a:rPr lang="ko-KR" altLang="en-US" sz="1100" dirty="0"/>
              <a:t> 경우를 제외하고는 재직 중 특허 </a:t>
            </a:r>
            <a:r>
              <a:rPr lang="en-US" altLang="ko-KR" sz="1100" dirty="0"/>
              <a:t>×(</a:t>
            </a:r>
            <a:r>
              <a:rPr lang="ko-KR" altLang="en-US" sz="1100" dirty="0"/>
              <a:t>法 </a:t>
            </a:r>
            <a:r>
              <a:rPr lang="en-US" altLang="ko-KR" sz="1100" dirty="0"/>
              <a:t>33</a:t>
            </a:r>
            <a:r>
              <a:rPr lang="ko-KR" altLang="en-US" sz="1100" dirty="0"/>
              <a:t>①단서</a:t>
            </a:r>
            <a:r>
              <a:rPr lang="en-US" altLang="ko-KR" sz="1100" dirty="0"/>
              <a:t>)</a:t>
            </a:r>
          </a:p>
          <a:p>
            <a:pPr fontAlgn="base"/>
            <a:r>
              <a:rPr lang="en-US" altLang="ko-KR" sz="1100" dirty="0"/>
              <a:t>(</a:t>
            </a:r>
            <a:r>
              <a:rPr lang="ko-KR" altLang="en-US" sz="1100" dirty="0"/>
              <a:t>단</a:t>
            </a:r>
            <a:r>
              <a:rPr lang="en-US" altLang="ko-KR" sz="1100" dirty="0"/>
              <a:t>, </a:t>
            </a:r>
            <a:r>
              <a:rPr lang="ko-KR" altLang="en-US" sz="1100" dirty="0"/>
              <a:t>특허를 받을 수 있는 권리는 가짐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74" name="TextBox 73"/>
          <p:cNvSpPr txBox="1"/>
          <p:nvPr/>
        </p:nvSpPr>
        <p:spPr>
          <a:xfrm>
            <a:off x="7291570" y="4953055"/>
            <a:ext cx="3118161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base"/>
            <a:r>
              <a:rPr lang="ko-KR" altLang="en-US" sz="1100" dirty="0"/>
              <a:t>특허를 받을 수 있는 권리의 공유→ 공동출원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44)</a:t>
            </a:r>
            <a:endParaRPr lang="ko-KR" altLang="en-US" sz="1100" dirty="0"/>
          </a:p>
        </p:txBody>
      </p:sp>
      <p:sp>
        <p:nvSpPr>
          <p:cNvPr id="55" name="직사각형 54"/>
          <p:cNvSpPr/>
          <p:nvPr/>
        </p:nvSpPr>
        <p:spPr>
          <a:xfrm>
            <a:off x="4905631" y="3099690"/>
            <a:ext cx="802824" cy="1203262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/>
          <p:cNvSpPr txBox="1"/>
          <p:nvPr/>
        </p:nvSpPr>
        <p:spPr>
          <a:xfrm>
            <a:off x="4861780" y="3078449"/>
            <a:ext cx="926857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 fontAlgn="base"/>
            <a:r>
              <a:rPr lang="ko-KR" altLang="en-US" sz="1100" dirty="0">
                <a:solidFill>
                  <a:srgbClr val="FF0000"/>
                </a:solidFill>
              </a:rPr>
              <a:t>제</a:t>
            </a:r>
            <a:r>
              <a:rPr lang="en-US" altLang="ko-KR" sz="1100" dirty="0">
                <a:solidFill>
                  <a:srgbClr val="FF0000"/>
                </a:solidFill>
              </a:rPr>
              <a:t>33</a:t>
            </a:r>
            <a:r>
              <a:rPr lang="ko-KR" altLang="en-US" sz="1100" dirty="0">
                <a:solidFill>
                  <a:srgbClr val="FF0000"/>
                </a:solidFill>
              </a:rPr>
              <a:t>조제</a:t>
            </a:r>
            <a:r>
              <a:rPr lang="en-US" altLang="ko-KR" sz="1100" dirty="0">
                <a:solidFill>
                  <a:srgbClr val="FF0000"/>
                </a:solidFill>
              </a:rPr>
              <a:t>1</a:t>
            </a:r>
            <a:r>
              <a:rPr lang="ko-KR" altLang="en-US" sz="1100" dirty="0">
                <a:solidFill>
                  <a:srgbClr val="FF0000"/>
                </a:solidFill>
              </a:rPr>
              <a:t>항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algn="ctr" fontAlgn="base"/>
            <a:r>
              <a:rPr lang="ko-KR" altLang="en-US" sz="1100" dirty="0">
                <a:solidFill>
                  <a:srgbClr val="FF0000"/>
                </a:solidFill>
              </a:rPr>
              <a:t>본문</a:t>
            </a:r>
          </a:p>
        </p:txBody>
      </p:sp>
      <p:graphicFrame>
        <p:nvGraphicFramePr>
          <p:cNvPr id="62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764672"/>
              </p:ext>
            </p:extLst>
          </p:nvPr>
        </p:nvGraphicFramePr>
        <p:xfrm>
          <a:off x="5191729" y="5604920"/>
          <a:ext cx="6703937" cy="853440"/>
        </p:xfrm>
        <a:graphic>
          <a:graphicData uri="http://schemas.openxmlformats.org/drawingml/2006/table">
            <a:tbl>
              <a:tblPr/>
              <a:tblGrid>
                <a:gridCol w="2439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5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권리적격</a:t>
                      </a:r>
                    </a:p>
                    <a:p>
                      <a:pPr marL="63500" marR="0" indent="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권리능력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발명자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승계인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자연인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법 인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×(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∵발명행위가 사실행위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76" name="직선 연결선 75"/>
          <p:cNvCxnSpPr/>
          <p:nvPr/>
        </p:nvCxnSpPr>
        <p:spPr>
          <a:xfrm flipH="1" flipV="1">
            <a:off x="5198533" y="5604933"/>
            <a:ext cx="2391263" cy="41486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자유형 78"/>
          <p:cNvSpPr/>
          <p:nvPr/>
        </p:nvSpPr>
        <p:spPr>
          <a:xfrm>
            <a:off x="8398933" y="3733800"/>
            <a:ext cx="270934" cy="389467"/>
          </a:xfrm>
          <a:custGeom>
            <a:avLst/>
            <a:gdLst>
              <a:gd name="connsiteX0" fmla="*/ 0 w 270934"/>
              <a:gd name="connsiteY0" fmla="*/ 0 h 389467"/>
              <a:gd name="connsiteX1" fmla="*/ 270934 w 270934"/>
              <a:gd name="connsiteY1" fmla="*/ 0 h 389467"/>
              <a:gd name="connsiteX2" fmla="*/ 270934 w 270934"/>
              <a:gd name="connsiteY2" fmla="*/ 389467 h 389467"/>
              <a:gd name="connsiteX3" fmla="*/ 16934 w 270934"/>
              <a:gd name="connsiteY3" fmla="*/ 389467 h 389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934" h="389467">
                <a:moveTo>
                  <a:pt x="0" y="0"/>
                </a:moveTo>
                <a:lnTo>
                  <a:pt x="270934" y="0"/>
                </a:lnTo>
                <a:lnTo>
                  <a:pt x="270934" y="389467"/>
                </a:lnTo>
                <a:lnTo>
                  <a:pt x="16934" y="389467"/>
                </a:lnTo>
              </a:path>
            </a:pathLst>
          </a:cu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화살표 연결선 80"/>
          <p:cNvCxnSpPr/>
          <p:nvPr/>
        </p:nvCxnSpPr>
        <p:spPr>
          <a:xfrm>
            <a:off x="8669867" y="3928533"/>
            <a:ext cx="38946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9083064" y="3673532"/>
            <a:ext cx="2833607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fontAlgn="base"/>
            <a:r>
              <a:rPr lang="ko-KR" altLang="en-US" sz="1400" dirty="0">
                <a:solidFill>
                  <a:srgbClr val="FF0000"/>
                </a:solidFill>
              </a:rPr>
              <a:t>특허를 받을 수 있는 권리가 없는 자</a:t>
            </a:r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무권리자</a:t>
            </a:r>
            <a:r>
              <a:rPr lang="en-US" altLang="ko-KR" sz="1400" dirty="0">
                <a:solidFill>
                  <a:srgbClr val="FF0000"/>
                </a:solidFill>
              </a:rPr>
              <a:t>): </a:t>
            </a:r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33</a:t>
            </a:r>
            <a:r>
              <a:rPr lang="ko-KR" altLang="en-US" sz="1400" dirty="0">
                <a:solidFill>
                  <a:srgbClr val="FF0000"/>
                </a:solidFill>
              </a:rPr>
              <a:t>조제</a:t>
            </a:r>
            <a:r>
              <a:rPr lang="en-US" altLang="ko-KR" sz="1400" dirty="0">
                <a:solidFill>
                  <a:srgbClr val="FF0000"/>
                </a:solidFill>
              </a:rPr>
              <a:t>1</a:t>
            </a:r>
            <a:r>
              <a:rPr lang="ko-KR" altLang="en-US" sz="1400" dirty="0" err="1">
                <a:solidFill>
                  <a:srgbClr val="FF0000"/>
                </a:solidFill>
              </a:rPr>
              <a:t>항본문</a:t>
            </a:r>
            <a:r>
              <a:rPr lang="ko-KR" altLang="en-US" sz="1400" dirty="0">
                <a:solidFill>
                  <a:srgbClr val="FF0000"/>
                </a:solidFill>
              </a:rPr>
              <a:t> 위반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99</a:t>
            </a:fld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D38C64C-EDA3-D9F1-99EB-94CBA0AF0307}"/>
              </a:ext>
            </a:extLst>
          </p:cNvPr>
          <p:cNvSpPr/>
          <p:nvPr/>
        </p:nvSpPr>
        <p:spPr>
          <a:xfrm>
            <a:off x="349623" y="1830046"/>
            <a:ext cx="1902522" cy="50378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방식심사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내외국인</a:t>
            </a:r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 err="1">
                <a:solidFill>
                  <a:schemeClr val="tx1"/>
                </a:solidFill>
              </a:rPr>
              <a:t>불수리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3BD6C0-D6E1-3796-D31E-85872E1437EF}"/>
              </a:ext>
            </a:extLst>
          </p:cNvPr>
          <p:cNvSpPr txBox="1"/>
          <p:nvPr/>
        </p:nvSpPr>
        <p:spPr>
          <a:xfrm>
            <a:off x="5046151" y="5110938"/>
            <a:ext cx="1426362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/>
              <a:t>단독발명후 지분 양도</a:t>
            </a:r>
            <a:endParaRPr lang="ko-KR" altLang="en-US" sz="1100" dirty="0"/>
          </a:p>
        </p:txBody>
      </p: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D600CF4E-63D4-9881-C804-863081792646}"/>
              </a:ext>
            </a:extLst>
          </p:cNvPr>
          <p:cNvCxnSpPr>
            <a:stCxn id="49" idx="3"/>
            <a:endCxn id="74" idx="1"/>
          </p:cNvCxnSpPr>
          <p:nvPr/>
        </p:nvCxnSpPr>
        <p:spPr>
          <a:xfrm>
            <a:off x="6472508" y="4881056"/>
            <a:ext cx="819062" cy="20280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4FAB1701-9229-C754-5C9C-24D5A513D616}"/>
              </a:ext>
            </a:extLst>
          </p:cNvPr>
          <p:cNvCxnSpPr>
            <a:stCxn id="31" idx="3"/>
            <a:endCxn id="74" idx="1"/>
          </p:cNvCxnSpPr>
          <p:nvPr/>
        </p:nvCxnSpPr>
        <p:spPr>
          <a:xfrm flipV="1">
            <a:off x="6472513" y="5083860"/>
            <a:ext cx="819057" cy="15788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D826E09-BCA7-6F0B-9B70-41FC7D4D3AAF}"/>
              </a:ext>
            </a:extLst>
          </p:cNvPr>
          <p:cNvSpPr txBox="1"/>
          <p:nvPr/>
        </p:nvSpPr>
        <p:spPr>
          <a:xfrm>
            <a:off x="6434210" y="4642069"/>
            <a:ext cx="72707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法 </a:t>
            </a:r>
            <a:r>
              <a:rPr lang="en-US" altLang="ko-KR" sz="1000" dirty="0"/>
              <a:t>33</a:t>
            </a:r>
            <a:r>
              <a:rPr lang="ko-KR" altLang="en-US" sz="1000" dirty="0"/>
              <a:t>②</a:t>
            </a:r>
            <a:r>
              <a:rPr lang="en-US" altLang="ko-KR" sz="1000" dirty="0"/>
              <a:t> </a:t>
            </a:r>
            <a:endParaRPr lang="ko-KR" altLang="en-US" sz="1000" dirty="0"/>
          </a:p>
        </p:txBody>
      </p: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ADCEA5B0-3900-1B6A-2F7F-777F1382C824}"/>
              </a:ext>
            </a:extLst>
          </p:cNvPr>
          <p:cNvCxnSpPr>
            <a:stCxn id="10" idx="1"/>
            <a:endCxn id="26" idx="3"/>
          </p:cNvCxnSpPr>
          <p:nvPr/>
        </p:nvCxnSpPr>
        <p:spPr>
          <a:xfrm rot="10800000">
            <a:off x="2252145" y="2081941"/>
            <a:ext cx="889252" cy="30563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46E5E3A8-0200-4276-191E-83D106D25813}"/>
              </a:ext>
            </a:extLst>
          </p:cNvPr>
          <p:cNvCxnSpPr>
            <a:cxnSpLocks/>
            <a:stCxn id="10" idx="1"/>
            <a:endCxn id="13" idx="3"/>
          </p:cNvCxnSpPr>
          <p:nvPr/>
        </p:nvCxnSpPr>
        <p:spPr>
          <a:xfrm rot="10800000" flipV="1">
            <a:off x="2252145" y="2387572"/>
            <a:ext cx="889252" cy="588843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말풍선: 모서리가 둥근 사각형 5">
            <a:extLst>
              <a:ext uri="{FF2B5EF4-FFF2-40B4-BE49-F238E27FC236}">
                <a16:creationId xmlns:a16="http://schemas.microsoft.com/office/drawing/2014/main" id="{1C2883CD-0053-8AF5-6683-2B209DE0E483}"/>
              </a:ext>
            </a:extLst>
          </p:cNvPr>
          <p:cNvSpPr/>
          <p:nvPr/>
        </p:nvSpPr>
        <p:spPr>
          <a:xfrm>
            <a:off x="6026098" y="3317524"/>
            <a:ext cx="1040074" cy="246306"/>
          </a:xfrm>
          <a:prstGeom prst="wedgeRoundRectCallout">
            <a:avLst>
              <a:gd name="adj1" fmla="val -28159"/>
              <a:gd name="adj2" fmla="val 77968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발명을 한 사람</a:t>
            </a:r>
          </a:p>
        </p:txBody>
      </p:sp>
    </p:spTree>
    <p:extLst>
      <p:ext uri="{BB962C8B-B14F-4D97-AF65-F5344CB8AC3E}">
        <p14:creationId xmlns:p14="http://schemas.microsoft.com/office/powerpoint/2010/main" val="21560386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000" dirty="0"/>
              <a:t>제</a:t>
            </a:r>
            <a:r>
              <a:rPr lang="en-US" altLang="ko-KR" sz="2000" dirty="0"/>
              <a:t>33</a:t>
            </a:r>
            <a:r>
              <a:rPr lang="ko-KR" altLang="en-US" sz="2000" dirty="0"/>
              <a:t>조제</a:t>
            </a:r>
            <a:r>
              <a:rPr lang="en-US" altLang="ko-KR" sz="2000" dirty="0"/>
              <a:t>1</a:t>
            </a:r>
            <a:r>
              <a:rPr lang="ko-KR" altLang="en-US" sz="2000" dirty="0"/>
              <a:t>항</a:t>
            </a:r>
            <a:r>
              <a:rPr lang="en-US" altLang="ko-KR" sz="2000" dirty="0"/>
              <a:t>, </a:t>
            </a:r>
            <a:r>
              <a:rPr lang="ko-KR" altLang="en-US" sz="2000" dirty="0"/>
              <a:t>제</a:t>
            </a:r>
            <a:r>
              <a:rPr lang="en-US" altLang="ko-KR" sz="2000" dirty="0"/>
              <a:t>44</a:t>
            </a:r>
            <a:r>
              <a:rPr lang="ko-KR" altLang="en-US" sz="2000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33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항본문과</a:t>
            </a:r>
            <a:r>
              <a:rPr lang="ko-KR" altLang="en-US" dirty="0"/>
              <a:t> 제</a:t>
            </a:r>
            <a:r>
              <a:rPr lang="en-US" altLang="ko-KR" dirty="0"/>
              <a:t>44</a:t>
            </a:r>
            <a:r>
              <a:rPr lang="ko-KR" altLang="en-US" dirty="0"/>
              <a:t>조의 적용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>
                <a:solidFill>
                  <a:schemeClr val="bg1"/>
                </a:solidFill>
              </a:rPr>
              <a:t>100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8" name="Rectangle 5"/>
          <p:cNvSpPr>
            <a:spLocks noChangeArrowheads="1"/>
          </p:cNvSpPr>
          <p:nvPr/>
        </p:nvSpPr>
        <p:spPr bwMode="auto">
          <a:xfrm>
            <a:off x="127524" y="1106383"/>
            <a:ext cx="2153886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sz="1600" b="0" dirty="0">
                <a:solidFill>
                  <a:schemeClr val="bg1"/>
                </a:solidFill>
                <a:latin typeface="+mj-ea"/>
                <a:ea typeface="+mj-ea"/>
              </a:rPr>
              <a:t>33</a:t>
            </a:r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조제</a:t>
            </a:r>
            <a:r>
              <a:rPr lang="en-US" altLang="ko-KR" sz="1600" b="0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r>
              <a:rPr lang="ko-KR" altLang="en-US" sz="1600" b="0" dirty="0" err="1">
                <a:solidFill>
                  <a:schemeClr val="bg1"/>
                </a:solidFill>
                <a:latin typeface="+mj-ea"/>
                <a:ea typeface="+mj-ea"/>
              </a:rPr>
              <a:t>항본문</a:t>
            </a:r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 위반</a:t>
            </a:r>
          </a:p>
        </p:txBody>
      </p:sp>
      <p:cxnSp>
        <p:nvCxnSpPr>
          <p:cNvPr id="61" name="직선 연결선 60"/>
          <p:cNvCxnSpPr/>
          <p:nvPr/>
        </p:nvCxnSpPr>
        <p:spPr>
          <a:xfrm>
            <a:off x="6097412" y="965770"/>
            <a:ext cx="0" cy="536311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275775" y="2738473"/>
            <a:ext cx="5506957" cy="43652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발명자가 아닌 자로서 승계인이 아닌 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모인자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275775" y="3825658"/>
            <a:ext cx="5506957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특허를 받을 수 있는 권리를 승계한 승계인이 다시 특허를 받을 수 있는 권리를 </a:t>
            </a:r>
            <a:r>
              <a:rPr lang="ko-KR" altLang="en-US" sz="1400" dirty="0" err="1">
                <a:solidFill>
                  <a:schemeClr val="tx2"/>
                </a:solidFill>
              </a:rPr>
              <a:t>재양도한</a:t>
            </a:r>
            <a:r>
              <a:rPr lang="ko-KR" altLang="en-US" sz="1400" dirty="0">
                <a:solidFill>
                  <a:schemeClr val="tx2"/>
                </a:solidFill>
              </a:rPr>
              <a:t> 후 출원한 자</a:t>
            </a:r>
            <a:r>
              <a:rPr lang="en-US" altLang="ko-KR" sz="1400" dirty="0">
                <a:solidFill>
                  <a:schemeClr val="tx2"/>
                </a:solidFill>
              </a:rPr>
              <a:t>(2006</a:t>
            </a:r>
            <a:r>
              <a:rPr lang="ko-KR" altLang="en-US" sz="1400" dirty="0">
                <a:solidFill>
                  <a:schemeClr val="tx2"/>
                </a:solidFill>
              </a:rPr>
              <a:t>허</a:t>
            </a:r>
            <a:r>
              <a:rPr lang="en-US" altLang="ko-KR" sz="1400" dirty="0">
                <a:solidFill>
                  <a:schemeClr val="tx2"/>
                </a:solidFill>
              </a:rPr>
              <a:t>6143)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275775" y="5079839"/>
            <a:ext cx="5506957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무권리자</a:t>
            </a:r>
            <a:r>
              <a:rPr lang="ko-KR" altLang="en-US" sz="1400" dirty="0">
                <a:solidFill>
                  <a:schemeClr val="tx2"/>
                </a:solidFill>
              </a:rPr>
              <a:t> 출원일지라도 정당한 </a:t>
            </a:r>
            <a:r>
              <a:rPr lang="ko-KR" altLang="en-US" sz="1400" dirty="0" err="1">
                <a:solidFill>
                  <a:schemeClr val="tx2"/>
                </a:solidFill>
              </a:rPr>
              <a:t>권리자로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출원인변경이</a:t>
            </a:r>
            <a:r>
              <a:rPr lang="ko-KR" altLang="en-US" sz="1400" dirty="0">
                <a:solidFill>
                  <a:schemeClr val="tx2"/>
                </a:solidFill>
              </a:rPr>
              <a:t> 된 경우에는 제</a:t>
            </a:r>
            <a:r>
              <a:rPr lang="en-US" altLang="ko-KR" sz="1400" dirty="0">
                <a:solidFill>
                  <a:schemeClr val="tx2"/>
                </a:solidFill>
              </a:rPr>
              <a:t>33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항본문</a:t>
            </a:r>
            <a:r>
              <a:rPr lang="ko-KR" altLang="en-US" sz="1400" dirty="0">
                <a:solidFill>
                  <a:schemeClr val="tx2"/>
                </a:solidFill>
              </a:rPr>
              <a:t> 위반 하자 치유</a:t>
            </a:r>
          </a:p>
        </p:txBody>
      </p:sp>
      <p:sp>
        <p:nvSpPr>
          <p:cNvPr id="79" name="직사각형 78"/>
          <p:cNvSpPr/>
          <p:nvPr/>
        </p:nvSpPr>
        <p:spPr>
          <a:xfrm>
            <a:off x="298060" y="1658699"/>
            <a:ext cx="5506837" cy="9273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33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특허를 받을 수 있는 자</a:t>
            </a:r>
            <a:r>
              <a:rPr lang="en-US" altLang="ko-KR" sz="1400" dirty="0">
                <a:solidFill>
                  <a:schemeClr val="tx2"/>
                </a:solidFill>
              </a:rPr>
              <a:t>) ① </a:t>
            </a:r>
            <a:r>
              <a:rPr lang="ko-KR" altLang="en-US" sz="1400" dirty="0">
                <a:solidFill>
                  <a:schemeClr val="tx2"/>
                </a:solidFill>
              </a:rPr>
              <a:t>발명을 한 사람 또는 그 승계인은 이 법에서 정하는 바에 따라 특허를 받을 수 있는 권리를 가진다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en-US" altLang="ko-KR" sz="1400" dirty="0">
                <a:solidFill>
                  <a:srgbClr val="FF0000"/>
                </a:solidFill>
                <a:sym typeface="Wingdings" pitchFamily="2" charset="2"/>
              </a:rPr>
              <a:t> </a:t>
            </a:r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33</a:t>
            </a:r>
            <a:r>
              <a:rPr lang="ko-KR" altLang="en-US" sz="1400" dirty="0">
                <a:solidFill>
                  <a:srgbClr val="FF0000"/>
                </a:solidFill>
              </a:rPr>
              <a:t>조제</a:t>
            </a:r>
            <a:r>
              <a:rPr lang="en-US" altLang="ko-KR" sz="1400" dirty="0">
                <a:solidFill>
                  <a:srgbClr val="FF0000"/>
                </a:solidFill>
              </a:rPr>
              <a:t>1</a:t>
            </a:r>
            <a:r>
              <a:rPr lang="ko-KR" altLang="en-US" sz="1400" dirty="0" err="1">
                <a:solidFill>
                  <a:srgbClr val="FF0000"/>
                </a:solidFill>
              </a:rPr>
              <a:t>항본문</a:t>
            </a:r>
            <a:r>
              <a:rPr lang="ko-KR" altLang="en-US" sz="1400" dirty="0">
                <a:solidFill>
                  <a:srgbClr val="FF0000"/>
                </a:solidFill>
              </a:rPr>
              <a:t> 위반인 특허를 받을 수 있는 권리를 가지지 아니한 자를 </a:t>
            </a:r>
            <a:r>
              <a:rPr lang="ko-KR" altLang="en-US" sz="1400" dirty="0" err="1">
                <a:solidFill>
                  <a:srgbClr val="FF0000"/>
                </a:solidFill>
              </a:rPr>
              <a:t>무권리자라고</a:t>
            </a:r>
            <a:r>
              <a:rPr lang="ko-KR" altLang="en-US" sz="1400" dirty="0">
                <a:solidFill>
                  <a:srgbClr val="FF0000"/>
                </a:solidFill>
              </a:rPr>
              <a:t> 한다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75775" y="3238026"/>
            <a:ext cx="5506957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구성을 변경했지만 진보성이 없는 등 기술적 사상의 창작에 기여하지 않은 자</a:t>
            </a:r>
            <a:r>
              <a:rPr lang="en-US" altLang="ko-KR" sz="1400" dirty="0">
                <a:solidFill>
                  <a:schemeClr val="tx2"/>
                </a:solidFill>
              </a:rPr>
              <a:t>(2009</a:t>
            </a:r>
            <a:r>
              <a:rPr lang="ko-KR" altLang="en-US" sz="1400" dirty="0">
                <a:solidFill>
                  <a:schemeClr val="tx2"/>
                </a:solidFill>
              </a:rPr>
              <a:t>후</a:t>
            </a:r>
            <a:r>
              <a:rPr lang="en-US" altLang="ko-KR" sz="1400" dirty="0">
                <a:solidFill>
                  <a:schemeClr val="tx2"/>
                </a:solidFill>
              </a:rPr>
              <a:t>2463)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81" name="Rectangle 5"/>
          <p:cNvSpPr>
            <a:spLocks noChangeArrowheads="1"/>
          </p:cNvSpPr>
          <p:nvPr/>
        </p:nvSpPr>
        <p:spPr bwMode="auto">
          <a:xfrm>
            <a:off x="6231991" y="1106383"/>
            <a:ext cx="2153886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 제</a:t>
            </a:r>
            <a:r>
              <a:rPr lang="en-US" altLang="ko-KR" sz="1600" b="0" dirty="0">
                <a:solidFill>
                  <a:schemeClr val="bg1"/>
                </a:solidFill>
                <a:latin typeface="+mj-ea"/>
                <a:ea typeface="+mj-ea"/>
              </a:rPr>
              <a:t>44</a:t>
            </a:r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조 위반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80242" y="3608048"/>
            <a:ext cx="5506957" cy="43652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fontAlgn="base"/>
            <a:r>
              <a:rPr lang="ko-KR" altLang="en-US" sz="1400" dirty="0" err="1">
                <a:solidFill>
                  <a:schemeClr val="accent2">
                    <a:lumMod val="50000"/>
                  </a:schemeClr>
                </a:solidFill>
              </a:rPr>
              <a:t>공동발명하여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 특허를 받을 수 있는 권리가 공유인데 단독으로 출원한 경우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80242" y="5079839"/>
            <a:ext cx="5506957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특허를 받을 수 있는 권리가 공유인 경우인데 일부가 지분 모두를 </a:t>
            </a:r>
            <a:r>
              <a:rPr lang="ko-KR" altLang="en-US" sz="1400" dirty="0" err="1">
                <a:solidFill>
                  <a:schemeClr val="accent2">
                    <a:lumMod val="50000"/>
                  </a:schemeClr>
                </a:solidFill>
              </a:rPr>
              <a:t>이전받아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 단독 권리자가 된다면 제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44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조 위반 하자 치유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(2004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허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5894)</a:t>
            </a:r>
            <a:endParaRPr lang="ko-KR" altLang="en-US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6402527" y="1658699"/>
            <a:ext cx="5506837" cy="6103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44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공동출원</a:t>
            </a:r>
            <a:r>
              <a:rPr lang="en-US" altLang="ko-KR" sz="1400" dirty="0">
                <a:solidFill>
                  <a:schemeClr val="tx2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특허를 받을 수 있는 권리가 공유</a:t>
            </a:r>
            <a:r>
              <a:rPr lang="en-US" altLang="ko-KR" sz="1400" dirty="0">
                <a:solidFill>
                  <a:schemeClr val="tx2"/>
                </a:solidFill>
              </a:rPr>
              <a:t>*</a:t>
            </a:r>
            <a:r>
              <a:rPr lang="ko-KR" altLang="en-US" sz="1400" dirty="0">
                <a:solidFill>
                  <a:schemeClr val="tx2"/>
                </a:solidFill>
              </a:rPr>
              <a:t>인 경우에는 공유자 모두가 공동으로 특허출원을 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380242" y="4093158"/>
            <a:ext cx="5506957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accent2">
                    <a:lumMod val="50000"/>
                  </a:schemeClr>
                </a:solidFill>
              </a:rPr>
              <a:t>단독발명후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 지분의 일부를 이전하여 특허를 받을 수 있는 권리가 공유인데 단독으로 출원한 경우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75775" y="5697905"/>
            <a:ext cx="5506957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착오로 등록되었을지라도 정당한 </a:t>
            </a:r>
            <a:r>
              <a:rPr lang="ko-KR" altLang="en-US" sz="1400" dirty="0" err="1">
                <a:solidFill>
                  <a:schemeClr val="tx2"/>
                </a:solidFill>
              </a:rPr>
              <a:t>권리자에게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이전등록한</a:t>
            </a:r>
            <a:r>
              <a:rPr lang="ko-KR" altLang="en-US" sz="1400" dirty="0">
                <a:solidFill>
                  <a:schemeClr val="tx2"/>
                </a:solidFill>
              </a:rPr>
              <a:t> 경우에는 제</a:t>
            </a:r>
            <a:r>
              <a:rPr lang="en-US" altLang="ko-KR" sz="1400" dirty="0">
                <a:solidFill>
                  <a:schemeClr val="tx2"/>
                </a:solidFill>
              </a:rPr>
              <a:t>33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항본문</a:t>
            </a:r>
            <a:r>
              <a:rPr lang="ko-KR" altLang="en-US" sz="1400" dirty="0">
                <a:solidFill>
                  <a:schemeClr val="tx2"/>
                </a:solidFill>
              </a:rPr>
              <a:t> 위반 하자 치유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133①Ⅱ</a:t>
            </a:r>
            <a:r>
              <a:rPr lang="ko-KR" altLang="en-US" sz="1400" dirty="0">
                <a:solidFill>
                  <a:schemeClr val="tx2"/>
                </a:solidFill>
              </a:rPr>
              <a:t>단서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6402527" y="5702394"/>
            <a:ext cx="5506957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착오로 등록되었을지라도 다른 공유자에게 지분을 </a:t>
            </a:r>
            <a:r>
              <a:rPr lang="ko-KR" altLang="en-US" sz="1400" dirty="0" err="1">
                <a:solidFill>
                  <a:schemeClr val="accent2">
                    <a:lumMod val="50000"/>
                  </a:schemeClr>
                </a:solidFill>
              </a:rPr>
              <a:t>이전등록한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 경우에는 제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44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조 위반 하자 치유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法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133①Ⅱ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단서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)</a:t>
            </a:r>
            <a:endParaRPr lang="ko-KR" altLang="en-US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5775" y="4399078"/>
            <a:ext cx="5506957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발명자가 특허를 받을 수 있는 권리를 양도한 후 스스로 출원한 경우</a:t>
            </a:r>
            <a:endParaRPr lang="en-US" altLang="ko-KR" sz="14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(2008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허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3018)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A415BB0-BF22-EE84-B97F-8117D28E51D9}"/>
              </a:ext>
            </a:extLst>
          </p:cNvPr>
          <p:cNvSpPr/>
          <p:nvPr/>
        </p:nvSpPr>
        <p:spPr>
          <a:xfrm>
            <a:off x="127524" y="4993341"/>
            <a:ext cx="11858282" cy="133554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8569C1-223D-AFF9-F26E-61D004FC769A}"/>
              </a:ext>
            </a:extLst>
          </p:cNvPr>
          <p:cNvSpPr txBox="1"/>
          <p:nvPr/>
        </p:nvSpPr>
        <p:spPr>
          <a:xfrm>
            <a:off x="6094589" y="4607240"/>
            <a:ext cx="129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err="1">
                <a:solidFill>
                  <a:srgbClr val="FF0000"/>
                </a:solidFill>
              </a:rPr>
              <a:t>판단시</a:t>
            </a:r>
            <a:r>
              <a:rPr lang="ko-KR" altLang="en-US" dirty="0">
                <a:solidFill>
                  <a:srgbClr val="FF0000"/>
                </a:solidFill>
              </a:rPr>
              <a:t> 기준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3FB10F-681A-CDB4-3EDD-575605AEE133}"/>
              </a:ext>
            </a:extLst>
          </p:cNvPr>
          <p:cNvSpPr txBox="1"/>
          <p:nvPr/>
        </p:nvSpPr>
        <p:spPr>
          <a:xfrm>
            <a:off x="6402527" y="2321857"/>
            <a:ext cx="43973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* </a:t>
            </a:r>
            <a:r>
              <a:rPr lang="ko-KR" altLang="en-US" sz="1000" dirty="0"/>
              <a:t>구법에서는 제</a:t>
            </a:r>
            <a:r>
              <a:rPr lang="en-US" altLang="ko-KR" sz="1000" dirty="0"/>
              <a:t>33</a:t>
            </a:r>
            <a:r>
              <a:rPr lang="ko-KR" altLang="en-US" sz="1000" dirty="0"/>
              <a:t>조제</a:t>
            </a:r>
            <a:r>
              <a:rPr lang="en-US" altLang="ko-KR" sz="1000" dirty="0"/>
              <a:t>2</a:t>
            </a:r>
            <a:r>
              <a:rPr lang="ko-KR" altLang="en-US" sz="1000" dirty="0"/>
              <a:t>항에 의한 특허를 받을 수 있는 권리가 공유인 경우에 적용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CE55D480-CB4C-9A07-A49D-FB55571E7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749699"/>
              </p:ext>
            </p:extLst>
          </p:nvPr>
        </p:nvGraphicFramePr>
        <p:xfrm>
          <a:off x="6382868" y="2559747"/>
          <a:ext cx="5533356" cy="82296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383339">
                  <a:extLst>
                    <a:ext uri="{9D8B030D-6E8A-4147-A177-3AD203B41FA5}">
                      <a16:colId xmlns:a16="http://schemas.microsoft.com/office/drawing/2014/main" val="1199459884"/>
                    </a:ext>
                  </a:extLst>
                </a:gridCol>
                <a:gridCol w="633722">
                  <a:extLst>
                    <a:ext uri="{9D8B030D-6E8A-4147-A177-3AD203B41FA5}">
                      <a16:colId xmlns:a16="http://schemas.microsoft.com/office/drawing/2014/main" val="42243944"/>
                    </a:ext>
                  </a:extLst>
                </a:gridCol>
                <a:gridCol w="1649506">
                  <a:extLst>
                    <a:ext uri="{9D8B030D-6E8A-4147-A177-3AD203B41FA5}">
                      <a16:colId xmlns:a16="http://schemas.microsoft.com/office/drawing/2014/main" val="1406179581"/>
                    </a:ext>
                  </a:extLst>
                </a:gridCol>
                <a:gridCol w="1866789">
                  <a:extLst>
                    <a:ext uri="{9D8B030D-6E8A-4147-A177-3AD203B41FA5}">
                      <a16:colId xmlns:a16="http://schemas.microsoft.com/office/drawing/2014/main" val="214966021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특허를 받을 수 있는 권리의 공유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단독발명후 지분이전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공동발명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0431519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제</a:t>
                      </a:r>
                      <a:r>
                        <a:rPr lang="en-US" altLang="ko-KR" sz="900" dirty="0"/>
                        <a:t>44</a:t>
                      </a:r>
                      <a:r>
                        <a:rPr lang="ko-KR" altLang="en-US" sz="900" dirty="0"/>
                        <a:t>조 위반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구법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불인정</a:t>
                      </a:r>
                      <a:endParaRPr lang="en-US" altLang="ko-KR" sz="900" dirty="0"/>
                    </a:p>
                    <a:p>
                      <a:pPr algn="ctr" latinLnBrk="1"/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계약상 채무불이행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인정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17628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현행법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인정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인정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090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00442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Line 5">
            <a:extLst>
              <a:ext uri="{FF2B5EF4-FFF2-40B4-BE49-F238E27FC236}">
                <a16:creationId xmlns:a16="http://schemas.microsoft.com/office/drawing/2014/main" id="{89A7BBA8-4E00-44C3-A470-536BA2A5822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658" y="5437022"/>
            <a:ext cx="9432081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33</a:t>
            </a:r>
            <a:r>
              <a:rPr lang="ko-KR" altLang="en-US" dirty="0"/>
              <a:t>조 제</a:t>
            </a:r>
            <a:r>
              <a:rPr lang="en-US" altLang="ko-KR" dirty="0"/>
              <a:t>1</a:t>
            </a:r>
            <a:r>
              <a:rPr lang="ko-KR" altLang="en-US" dirty="0"/>
              <a:t>항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찰떡초코파이</a:t>
            </a:r>
            <a:r>
              <a:rPr lang="ko-KR" altLang="en-US" dirty="0"/>
              <a:t>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38" name="슬라이드 번호 개체 틀 1">
            <a:extLst>
              <a:ext uri="{FF2B5EF4-FFF2-40B4-BE49-F238E27FC236}">
                <a16:creationId xmlns:a16="http://schemas.microsoft.com/office/drawing/2014/main" id="{0F75A23A-7A3E-48BF-8C01-2171501A137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101</a:t>
            </a:fld>
            <a:endParaRPr lang="ko-KR" altLang="en-US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BC744699-A9D8-41E8-AC09-E31EE1EB6442}"/>
              </a:ext>
            </a:extLst>
          </p:cNvPr>
          <p:cNvCxnSpPr/>
          <p:nvPr/>
        </p:nvCxnSpPr>
        <p:spPr>
          <a:xfrm>
            <a:off x="0" y="2287351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8F9BA11-776F-458B-AEBF-785908167EF1}"/>
              </a:ext>
            </a:extLst>
          </p:cNvPr>
          <p:cNvSpPr/>
          <p:nvPr/>
        </p:nvSpPr>
        <p:spPr>
          <a:xfrm>
            <a:off x="232372" y="1269047"/>
            <a:ext cx="1168198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sz="1200" dirty="0"/>
              <a:t>甲이 경영하는 개인업체 연구개발부장 乙이 丙 회사로 전직하여 甲의 영업비밀</a:t>
            </a:r>
            <a:r>
              <a:rPr lang="en-US" altLang="ko-KR" sz="1200" dirty="0"/>
              <a:t>[</a:t>
            </a:r>
            <a:r>
              <a:rPr lang="ko-KR" altLang="en-US" sz="1200" dirty="0"/>
              <a:t>이하 ‘모인</a:t>
            </a:r>
            <a:r>
              <a:rPr lang="en-US" altLang="ko-KR" sz="1200" dirty="0"/>
              <a:t>(</a:t>
            </a:r>
            <a:r>
              <a:rPr lang="ko-KR" altLang="en-US" sz="1200" dirty="0"/>
              <a:t>冒認</a:t>
            </a:r>
            <a:r>
              <a:rPr lang="en-US" altLang="ko-KR" sz="1200" dirty="0"/>
              <a:t>)</a:t>
            </a:r>
            <a:r>
              <a:rPr lang="ko-KR" altLang="en-US" sz="1200" dirty="0" err="1"/>
              <a:t>대상발명’이라</a:t>
            </a:r>
            <a:r>
              <a:rPr lang="ko-KR" altLang="en-US" sz="1200" dirty="0"/>
              <a:t> 한다</a:t>
            </a:r>
            <a:r>
              <a:rPr lang="en-US" altLang="ko-KR" sz="1200" dirty="0"/>
              <a:t>]</a:t>
            </a:r>
            <a:r>
              <a:rPr lang="ko-KR" altLang="en-US" sz="1200" dirty="0"/>
              <a:t>을 丙 회사 직원들에게 누설함으로써 丙 회사가 甲의 </a:t>
            </a:r>
            <a:r>
              <a:rPr lang="ko-KR" altLang="en-US" sz="1200" dirty="0" err="1"/>
              <a:t>모인대상발명을</a:t>
            </a:r>
            <a:r>
              <a:rPr lang="ko-KR" altLang="en-US" sz="1200" dirty="0"/>
              <a:t> 변형하여 명칭이 “떡을 내장하는 과자 및 그 </a:t>
            </a:r>
            <a:r>
              <a:rPr lang="ko-KR" altLang="en-US" sz="1200" dirty="0" err="1"/>
              <a:t>제조방법”인</a:t>
            </a:r>
            <a:r>
              <a:rPr lang="ko-KR" altLang="en-US" sz="1200" dirty="0"/>
              <a:t> 특허발명을 출원하여 특허등록을 받은 사안에서</a:t>
            </a:r>
            <a:r>
              <a:rPr lang="en-US" altLang="ko-KR" sz="1200" dirty="0"/>
              <a:t>, </a:t>
            </a:r>
            <a:r>
              <a:rPr lang="ko-KR" altLang="en-US" sz="1200" dirty="0"/>
              <a:t>특허발명의 특징적인 부분인 ‘떡이 가진 장기간 보관할 수 없는 문제점을 해결하기 위한 </a:t>
            </a:r>
            <a:r>
              <a:rPr lang="ko-KR" altLang="en-US" sz="1200" dirty="0" err="1"/>
              <a:t>떡생지</a:t>
            </a:r>
            <a:r>
              <a:rPr lang="ko-KR" altLang="en-US" sz="1200" dirty="0"/>
              <a:t> 제조공정인 구성 </a:t>
            </a:r>
            <a:r>
              <a:rPr lang="en-US" altLang="ko-KR" sz="1200" dirty="0"/>
              <a:t>2’</a:t>
            </a:r>
            <a:r>
              <a:rPr lang="ko-KR" altLang="en-US" sz="1200" dirty="0"/>
              <a:t>는 </a:t>
            </a:r>
            <a:r>
              <a:rPr lang="ko-KR" altLang="en-US" sz="1200" dirty="0" err="1"/>
              <a:t>모인대상발명의</a:t>
            </a:r>
            <a:r>
              <a:rPr lang="ko-KR" altLang="en-US" sz="1200" dirty="0"/>
              <a:t> 구성과 실질적인 차이가 없고</a:t>
            </a:r>
            <a:r>
              <a:rPr lang="en-US" altLang="ko-KR" sz="1200" dirty="0"/>
              <a:t>, </a:t>
            </a:r>
            <a:r>
              <a:rPr lang="ko-KR" altLang="en-US" sz="1200" dirty="0"/>
              <a:t>丙 회사가 </a:t>
            </a:r>
            <a:r>
              <a:rPr lang="ko-KR" altLang="en-US" sz="1200" dirty="0" err="1"/>
              <a:t>모인대상발명과</a:t>
            </a:r>
            <a:r>
              <a:rPr lang="ko-KR" altLang="en-US" sz="1200" dirty="0"/>
              <a:t> 실질적으로 차이가 없는 구성 </a:t>
            </a:r>
            <a:r>
              <a:rPr lang="en-US" altLang="ko-KR" sz="1200" dirty="0"/>
              <a:t>2</a:t>
            </a:r>
            <a:r>
              <a:rPr lang="ko-KR" altLang="en-US" sz="1200" dirty="0"/>
              <a:t>에 </a:t>
            </a:r>
            <a:r>
              <a:rPr lang="ko-KR" altLang="en-US" sz="1200" dirty="0" err="1"/>
              <a:t>모인대상발명에</a:t>
            </a:r>
            <a:r>
              <a:rPr lang="ko-KR" altLang="en-US" sz="1200" dirty="0"/>
              <a:t> 없는 구성 </a:t>
            </a:r>
            <a:r>
              <a:rPr lang="en-US" altLang="ko-KR" sz="1200" dirty="0"/>
              <a:t>1, 3, 4</a:t>
            </a:r>
            <a:r>
              <a:rPr lang="ko-KR" altLang="en-US" sz="1200" dirty="0"/>
              <a:t>를 새로 부가하는 </a:t>
            </a:r>
            <a:r>
              <a:rPr lang="ko-KR" altLang="en-US" sz="1200" dirty="0">
                <a:solidFill>
                  <a:srgbClr val="FF0000"/>
                </a:solidFill>
              </a:rPr>
              <a:t>것은 통상의 기술자가 보통으로 채용하는 정도의 변경에 지나지 않고 그 변경으로 발명의 작용효과에 특별한 차이를 일으키지 않아서</a:t>
            </a:r>
            <a:r>
              <a:rPr lang="en-US" altLang="ko-KR" sz="1200" dirty="0"/>
              <a:t>, </a:t>
            </a:r>
            <a:r>
              <a:rPr lang="ko-KR" altLang="en-US" sz="1200" dirty="0"/>
              <a:t>丙 회사가 </a:t>
            </a:r>
            <a:r>
              <a:rPr lang="ko-KR" altLang="en-US" sz="1200" dirty="0">
                <a:solidFill>
                  <a:srgbClr val="FF0000"/>
                </a:solidFill>
              </a:rPr>
              <a:t>특허발명의 기술적 사상의 창작에 실질적으로 기여한 것이 없다</a:t>
            </a:r>
            <a:r>
              <a:rPr lang="ko-KR" altLang="en-US" sz="1200" dirty="0"/>
              <a:t>는 이유로</a:t>
            </a:r>
            <a:r>
              <a:rPr lang="en-US" altLang="ko-KR" sz="1200" dirty="0"/>
              <a:t>, </a:t>
            </a:r>
            <a:r>
              <a:rPr lang="ko-KR" altLang="en-US" sz="1200" dirty="0"/>
              <a:t>위 특허발명은 무권리자가 출원하여 특허를 받은 경우에 해당하여 특허법 제</a:t>
            </a:r>
            <a:r>
              <a:rPr lang="en-US" altLang="ko-KR" sz="1200" dirty="0"/>
              <a:t>133</a:t>
            </a:r>
            <a:r>
              <a:rPr lang="ko-KR" altLang="en-US" sz="1200" dirty="0"/>
              <a:t>조 제</a:t>
            </a:r>
            <a:r>
              <a:rPr lang="en-US" altLang="ko-KR" sz="1200" dirty="0"/>
              <a:t>1</a:t>
            </a:r>
            <a:r>
              <a:rPr lang="ko-KR" altLang="en-US" sz="1200" dirty="0"/>
              <a:t>항 제</a:t>
            </a:r>
            <a:r>
              <a:rPr lang="en-US" altLang="ko-KR" sz="1200" dirty="0"/>
              <a:t>2</a:t>
            </a:r>
            <a:r>
              <a:rPr lang="ko-KR" altLang="en-US" sz="1200" dirty="0"/>
              <a:t>호</a:t>
            </a:r>
            <a:r>
              <a:rPr lang="en-US" altLang="ko-KR" sz="1200" dirty="0"/>
              <a:t>, </a:t>
            </a:r>
            <a:r>
              <a:rPr lang="ko-KR" altLang="en-US" sz="1200" dirty="0"/>
              <a:t>제</a:t>
            </a:r>
            <a:r>
              <a:rPr lang="en-US" altLang="ko-KR" sz="1200" dirty="0"/>
              <a:t>33</a:t>
            </a:r>
            <a:r>
              <a:rPr lang="ko-KR" altLang="en-US" sz="1200" dirty="0"/>
              <a:t>조 제</a:t>
            </a:r>
            <a:r>
              <a:rPr lang="en-US" altLang="ko-KR" sz="1200" dirty="0"/>
              <a:t>1</a:t>
            </a:r>
            <a:r>
              <a:rPr lang="ko-KR" altLang="en-US" sz="1200" dirty="0"/>
              <a:t>항 본문에 따라 그 등록이 무효이다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845B491D-8404-4504-83DB-F8CBD9B10B19}"/>
              </a:ext>
            </a:extLst>
          </p:cNvPr>
          <p:cNvSpPr/>
          <p:nvPr/>
        </p:nvSpPr>
        <p:spPr>
          <a:xfrm>
            <a:off x="1645488" y="5350173"/>
            <a:ext cx="141148" cy="14716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7F855E-63E7-4276-9A07-944733EA92D5}"/>
              </a:ext>
            </a:extLst>
          </p:cNvPr>
          <p:cNvSpPr txBox="1"/>
          <p:nvPr/>
        </p:nvSpPr>
        <p:spPr>
          <a:xfrm>
            <a:off x="351138" y="4292831"/>
            <a:ext cx="1637126" cy="8309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과자류 제조업체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삼진식품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운영하는 甲이 외피가 도포된 떡 및 그 제조방법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특허출원후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등록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0E0EF7D2-5FEE-4A2F-ABD4-9147C82EBFE2}"/>
              </a:ext>
            </a:extLst>
          </p:cNvPr>
          <p:cNvSpPr/>
          <p:nvPr/>
        </p:nvSpPr>
        <p:spPr>
          <a:xfrm>
            <a:off x="2299726" y="534308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62437A67-7853-4410-9F0F-93BCE51D441E}"/>
              </a:ext>
            </a:extLst>
          </p:cNvPr>
          <p:cNvSpPr/>
          <p:nvPr/>
        </p:nvSpPr>
        <p:spPr>
          <a:xfrm>
            <a:off x="3929544" y="5343088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CC7409E-9708-455F-937F-1A02408E7A56}"/>
              </a:ext>
            </a:extLst>
          </p:cNvPr>
          <p:cNvSpPr txBox="1"/>
          <p:nvPr/>
        </p:nvSpPr>
        <p:spPr>
          <a:xfrm>
            <a:off x="319066" y="5739981"/>
            <a:ext cx="3525146" cy="101566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연구개발부장으로 제품 개발 및 제조공정 전반에 관한 정보를 관리할 수 있는 유일한 직원이었던 乙이 퇴사 후 丙 주식회사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청우식품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에 입사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乙은 기술정보와 동일한 내용의 ‘떡 생지의 원재료 및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배합비’에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관한 보고서를 丙 주식회사 제출</a:t>
            </a:r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2F7C9590-F96C-443E-8904-DE90258FAF82}"/>
              </a:ext>
            </a:extLst>
          </p:cNvPr>
          <p:cNvCxnSpPr>
            <a:cxnSpLocks/>
            <a:stCxn id="37" idx="2"/>
            <a:endCxn id="27" idx="0"/>
          </p:cNvCxnSpPr>
          <p:nvPr/>
        </p:nvCxnSpPr>
        <p:spPr>
          <a:xfrm rot="16200000" flipH="1">
            <a:off x="1329709" y="4963819"/>
            <a:ext cx="226345" cy="546361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C178A8E6-8843-432E-B2B7-F049BC13ECC2}"/>
              </a:ext>
            </a:extLst>
          </p:cNvPr>
          <p:cNvSpPr txBox="1"/>
          <p:nvPr/>
        </p:nvSpPr>
        <p:spPr>
          <a:xfrm>
            <a:off x="2065632" y="4623762"/>
            <a:ext cx="113245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초코찰떡파이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제품 개발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출시</a:t>
            </a:r>
          </a:p>
        </p:txBody>
      </p:sp>
      <p:cxnSp>
        <p:nvCxnSpPr>
          <p:cNvPr id="84" name="연결선: 꺾임 83">
            <a:extLst>
              <a:ext uri="{FF2B5EF4-FFF2-40B4-BE49-F238E27FC236}">
                <a16:creationId xmlns:a16="http://schemas.microsoft.com/office/drawing/2014/main" id="{212386C3-0CC1-42F1-B941-40D96C54403B}"/>
              </a:ext>
            </a:extLst>
          </p:cNvPr>
          <p:cNvCxnSpPr>
            <a:cxnSpLocks/>
            <a:stCxn id="83" idx="2"/>
            <a:endCxn id="61" idx="0"/>
          </p:cNvCxnSpPr>
          <p:nvPr/>
        </p:nvCxnSpPr>
        <p:spPr>
          <a:xfrm rot="5400000">
            <a:off x="2375646" y="5086876"/>
            <a:ext cx="257661" cy="254762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타원 84">
            <a:extLst>
              <a:ext uri="{FF2B5EF4-FFF2-40B4-BE49-F238E27FC236}">
                <a16:creationId xmlns:a16="http://schemas.microsoft.com/office/drawing/2014/main" id="{F5F209D4-546B-45E0-9FC8-78934FA6AC87}"/>
              </a:ext>
            </a:extLst>
          </p:cNvPr>
          <p:cNvSpPr/>
          <p:nvPr/>
        </p:nvSpPr>
        <p:spPr>
          <a:xfrm>
            <a:off x="3509545" y="534308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542F93E-BC94-427B-895D-B20B68F6D95E}"/>
              </a:ext>
            </a:extLst>
          </p:cNvPr>
          <p:cNvSpPr txBox="1"/>
          <p:nvPr/>
        </p:nvSpPr>
        <p:spPr>
          <a:xfrm>
            <a:off x="3863279" y="4586434"/>
            <a:ext cx="236957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제품품질을 개선한 원재료 및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배합비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기술 연구개발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영업비밀로 관리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A351E9F3-9FFB-4B2E-A4A4-E5AA09B24698}"/>
              </a:ext>
            </a:extLst>
          </p:cNvPr>
          <p:cNvCxnSpPr>
            <a:cxnSpLocks/>
            <a:stCxn id="86" idx="2"/>
            <a:endCxn id="85" idx="0"/>
          </p:cNvCxnSpPr>
          <p:nvPr/>
        </p:nvCxnSpPr>
        <p:spPr>
          <a:xfrm rot="5400000">
            <a:off x="4169995" y="4465018"/>
            <a:ext cx="294989" cy="146115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619D9534-0796-45A3-A189-E5997798044F}"/>
              </a:ext>
            </a:extLst>
          </p:cNvPr>
          <p:cNvCxnSpPr>
            <a:stCxn id="79" idx="0"/>
            <a:endCxn id="77" idx="4"/>
          </p:cNvCxnSpPr>
          <p:nvPr/>
        </p:nvCxnSpPr>
        <p:spPr>
          <a:xfrm rot="5400000" flipH="1" flipV="1">
            <a:off x="2926499" y="4659567"/>
            <a:ext cx="235555" cy="192527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타원 88">
            <a:extLst>
              <a:ext uri="{FF2B5EF4-FFF2-40B4-BE49-F238E27FC236}">
                <a16:creationId xmlns:a16="http://schemas.microsoft.com/office/drawing/2014/main" id="{D0BCFBF0-4BEE-4BCF-B574-F09834429646}"/>
              </a:ext>
            </a:extLst>
          </p:cNvPr>
          <p:cNvSpPr/>
          <p:nvPr/>
        </p:nvSpPr>
        <p:spPr>
          <a:xfrm>
            <a:off x="6560361" y="5343088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DEC9646-AB01-4AB9-8CF9-DE60BB0A9C0E}"/>
              </a:ext>
            </a:extLst>
          </p:cNvPr>
          <p:cNvSpPr txBox="1"/>
          <p:nvPr/>
        </p:nvSpPr>
        <p:spPr>
          <a:xfrm>
            <a:off x="5709726" y="5739981"/>
            <a:ext cx="1211623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丙 주식회사에서 찰떡 쿠키 출시</a:t>
            </a:r>
          </a:p>
        </p:txBody>
      </p:sp>
      <p:cxnSp>
        <p:nvCxnSpPr>
          <p:cNvPr id="91" name="연결선: 꺾임 90">
            <a:extLst>
              <a:ext uri="{FF2B5EF4-FFF2-40B4-BE49-F238E27FC236}">
                <a16:creationId xmlns:a16="http://schemas.microsoft.com/office/drawing/2014/main" id="{41787710-DFF3-444B-8773-13BD50582944}"/>
              </a:ext>
            </a:extLst>
          </p:cNvPr>
          <p:cNvCxnSpPr>
            <a:cxnSpLocks/>
            <a:stCxn id="90" idx="0"/>
            <a:endCxn id="89" idx="4"/>
          </p:cNvCxnSpPr>
          <p:nvPr/>
        </p:nvCxnSpPr>
        <p:spPr>
          <a:xfrm rot="5400000" flipH="1" flipV="1">
            <a:off x="6358857" y="5461108"/>
            <a:ext cx="235555" cy="32219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타원 95">
            <a:extLst>
              <a:ext uri="{FF2B5EF4-FFF2-40B4-BE49-F238E27FC236}">
                <a16:creationId xmlns:a16="http://schemas.microsoft.com/office/drawing/2014/main" id="{1AADE59F-0011-4F37-8952-8288FDBA2E53}"/>
              </a:ext>
            </a:extLst>
          </p:cNvPr>
          <p:cNvSpPr/>
          <p:nvPr/>
        </p:nvSpPr>
        <p:spPr>
          <a:xfrm>
            <a:off x="4934744" y="5343088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8AFB44E-C66F-4BE4-908F-B73F3FA4135C}"/>
              </a:ext>
            </a:extLst>
          </p:cNvPr>
          <p:cNvSpPr txBox="1"/>
          <p:nvPr/>
        </p:nvSpPr>
        <p:spPr>
          <a:xfrm>
            <a:off x="4084109" y="5739981"/>
            <a:ext cx="1504011" cy="83099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떡을 내장하는 과자 및 그 제조방법을 발명자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丙 직원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출원인 丙으로 출원하여 등록</a:t>
            </a:r>
          </a:p>
        </p:txBody>
      </p:sp>
      <p:cxnSp>
        <p:nvCxnSpPr>
          <p:cNvPr id="98" name="연결선: 꺾임 97">
            <a:extLst>
              <a:ext uri="{FF2B5EF4-FFF2-40B4-BE49-F238E27FC236}">
                <a16:creationId xmlns:a16="http://schemas.microsoft.com/office/drawing/2014/main" id="{48D264A2-CAD7-41A3-80A4-2FD4324FE157}"/>
              </a:ext>
            </a:extLst>
          </p:cNvPr>
          <p:cNvCxnSpPr>
            <a:cxnSpLocks/>
            <a:stCxn id="97" idx="0"/>
            <a:endCxn id="96" idx="4"/>
          </p:cNvCxnSpPr>
          <p:nvPr/>
        </p:nvCxnSpPr>
        <p:spPr>
          <a:xfrm rot="5400000" flipH="1" flipV="1">
            <a:off x="4806337" y="5534205"/>
            <a:ext cx="235555" cy="17599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타원 101">
            <a:extLst>
              <a:ext uri="{FF2B5EF4-FFF2-40B4-BE49-F238E27FC236}">
                <a16:creationId xmlns:a16="http://schemas.microsoft.com/office/drawing/2014/main" id="{C18B1B71-920E-4836-82C6-EE7D80461224}"/>
              </a:ext>
            </a:extLst>
          </p:cNvPr>
          <p:cNvSpPr/>
          <p:nvPr/>
        </p:nvSpPr>
        <p:spPr>
          <a:xfrm>
            <a:off x="7118803" y="5343088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9AE6D4A-7560-4BA8-B6CD-96B2D5ED795C}"/>
              </a:ext>
            </a:extLst>
          </p:cNvPr>
          <p:cNvSpPr txBox="1"/>
          <p:nvPr/>
        </p:nvSpPr>
        <p:spPr>
          <a:xfrm>
            <a:off x="6398177" y="4801285"/>
            <a:ext cx="1265532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무효심판청구</a:t>
            </a:r>
          </a:p>
        </p:txBody>
      </p:sp>
      <p:cxnSp>
        <p:nvCxnSpPr>
          <p:cNvPr id="104" name="연결선: 꺾임 103">
            <a:extLst>
              <a:ext uri="{FF2B5EF4-FFF2-40B4-BE49-F238E27FC236}">
                <a16:creationId xmlns:a16="http://schemas.microsoft.com/office/drawing/2014/main" id="{887F22AF-6A4D-4896-9B99-F4DFFC873F9B}"/>
              </a:ext>
            </a:extLst>
          </p:cNvPr>
          <p:cNvCxnSpPr>
            <a:cxnSpLocks/>
            <a:stCxn id="103" idx="2"/>
            <a:endCxn id="102" idx="0"/>
          </p:cNvCxnSpPr>
          <p:nvPr/>
        </p:nvCxnSpPr>
        <p:spPr>
          <a:xfrm rot="16200000" flipH="1">
            <a:off x="6981155" y="5128071"/>
            <a:ext cx="264804" cy="165229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타원 105">
            <a:extLst>
              <a:ext uri="{FF2B5EF4-FFF2-40B4-BE49-F238E27FC236}">
                <a16:creationId xmlns:a16="http://schemas.microsoft.com/office/drawing/2014/main" id="{4FB52A7F-5312-43D4-A540-D37AE90413E8}"/>
              </a:ext>
            </a:extLst>
          </p:cNvPr>
          <p:cNvSpPr/>
          <p:nvPr/>
        </p:nvSpPr>
        <p:spPr>
          <a:xfrm>
            <a:off x="8863351" y="5343088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E4FF013-B00A-4584-9406-2846FB8BC45C}"/>
              </a:ext>
            </a:extLst>
          </p:cNvPr>
          <p:cNvSpPr txBox="1"/>
          <p:nvPr/>
        </p:nvSpPr>
        <p:spPr>
          <a:xfrm>
            <a:off x="7797532" y="4801285"/>
            <a:ext cx="173835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영업비밀침해소송제기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08" name="연결선: 꺾임 107">
            <a:extLst>
              <a:ext uri="{FF2B5EF4-FFF2-40B4-BE49-F238E27FC236}">
                <a16:creationId xmlns:a16="http://schemas.microsoft.com/office/drawing/2014/main" id="{E71B15CA-EB86-4DBE-8207-C9EDA6F81C8D}"/>
              </a:ext>
            </a:extLst>
          </p:cNvPr>
          <p:cNvCxnSpPr>
            <a:cxnSpLocks/>
            <a:stCxn id="107" idx="2"/>
            <a:endCxn id="106" idx="0"/>
          </p:cNvCxnSpPr>
          <p:nvPr/>
        </p:nvCxnSpPr>
        <p:spPr>
          <a:xfrm rot="16200000" flipH="1">
            <a:off x="8671312" y="5073680"/>
            <a:ext cx="264804" cy="274011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554490DD-F0E6-414B-856D-491321691AA4}"/>
              </a:ext>
            </a:extLst>
          </p:cNvPr>
          <p:cNvSpPr/>
          <p:nvPr/>
        </p:nvSpPr>
        <p:spPr>
          <a:xfrm>
            <a:off x="113937" y="964867"/>
            <a:ext cx="4765205" cy="30295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bIns="0">
            <a:spAutoFit/>
          </a:bodyPr>
          <a:lstStyle/>
          <a:p>
            <a:r>
              <a:rPr lang="ko-KR" altLang="en-US" sz="1400" dirty="0"/>
              <a:t>대법원 </a:t>
            </a:r>
            <a:r>
              <a:rPr lang="en-US" altLang="ko-KR" sz="1400" dirty="0"/>
              <a:t>2011. 9. 29.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2009</a:t>
            </a:r>
            <a:r>
              <a:rPr lang="ko-KR" altLang="en-US" sz="1400" dirty="0"/>
              <a:t>후</a:t>
            </a:r>
            <a:r>
              <a:rPr lang="en-US" altLang="ko-KR" sz="1400" dirty="0"/>
              <a:t>2463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등록무효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  <a:endParaRPr lang="ko-KR" altLang="en-US" sz="1400" dirty="0"/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FB76F859-88A1-4D6E-9410-CD53FEF533BA}"/>
              </a:ext>
            </a:extLst>
          </p:cNvPr>
          <p:cNvSpPr/>
          <p:nvPr/>
        </p:nvSpPr>
        <p:spPr>
          <a:xfrm>
            <a:off x="113937" y="2325974"/>
            <a:ext cx="3827176" cy="30295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bIns="0">
            <a:spAutoFit/>
          </a:bodyPr>
          <a:lstStyle/>
          <a:p>
            <a:r>
              <a:rPr lang="ko-KR" altLang="en-US" sz="1400" dirty="0"/>
              <a:t>의정부지방법원 </a:t>
            </a:r>
            <a:r>
              <a:rPr lang="en-US" altLang="ko-KR" sz="1400" dirty="0"/>
              <a:t>2011. 9. 8.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2009</a:t>
            </a:r>
            <a:r>
              <a:rPr lang="ko-KR" altLang="en-US" sz="1400" dirty="0"/>
              <a:t>가합</a:t>
            </a:r>
            <a:r>
              <a:rPr lang="en-US" altLang="ko-KR" sz="1400" dirty="0"/>
              <a:t>7325</a:t>
            </a:r>
            <a:endParaRPr lang="ko-KR" altLang="en-US" sz="1400" dirty="0"/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EFA80E0B-E456-45D1-9A4E-386FBE42E6F9}"/>
              </a:ext>
            </a:extLst>
          </p:cNvPr>
          <p:cNvSpPr/>
          <p:nvPr/>
        </p:nvSpPr>
        <p:spPr>
          <a:xfrm>
            <a:off x="227449" y="2637741"/>
            <a:ext cx="1168690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/>
              <a:t>과자류 제조업체를 운영하는 甲이 ‘외피가 도포된 떡 및 그 </a:t>
            </a:r>
            <a:r>
              <a:rPr lang="ko-KR" altLang="en-US" sz="1200" dirty="0" err="1"/>
              <a:t>제조방법’에</a:t>
            </a:r>
            <a:r>
              <a:rPr lang="ko-KR" altLang="en-US" sz="1200" dirty="0"/>
              <a:t> 관한 특허발명 등록을 마치고 ‘</a:t>
            </a:r>
            <a:r>
              <a:rPr lang="ko-KR" altLang="en-US" sz="1200" dirty="0" err="1"/>
              <a:t>초코찰떡파이’라는</a:t>
            </a:r>
            <a:r>
              <a:rPr lang="ko-KR" altLang="en-US" sz="1200" dirty="0"/>
              <a:t> 제품을 개발</a:t>
            </a:r>
            <a:r>
              <a:rPr lang="en-US" altLang="ko-KR" sz="1200" dirty="0"/>
              <a:t>·</a:t>
            </a:r>
            <a:r>
              <a:rPr lang="ko-KR" altLang="en-US" sz="1200" dirty="0"/>
              <a:t>출시한 후 상당한 시간과 비용을 투입하여 제품 품질을 개선한 ‘원재료 및 </a:t>
            </a:r>
            <a:r>
              <a:rPr lang="ko-KR" altLang="en-US" sz="1200" dirty="0" err="1"/>
              <a:t>배합비’에</a:t>
            </a:r>
            <a:r>
              <a:rPr lang="ko-KR" altLang="en-US" sz="1200" dirty="0"/>
              <a:t> 관한 기술을 연구</a:t>
            </a:r>
            <a:r>
              <a:rPr lang="en-US" altLang="ko-KR" sz="1200" dirty="0"/>
              <a:t>·</a:t>
            </a:r>
            <a:r>
              <a:rPr lang="ko-KR" altLang="en-US" sz="1200" dirty="0"/>
              <a:t>개발하였는데</a:t>
            </a:r>
            <a:r>
              <a:rPr lang="en-US" altLang="ko-KR" sz="1200" dirty="0"/>
              <a:t>, </a:t>
            </a:r>
            <a:r>
              <a:rPr lang="ko-KR" altLang="en-US" sz="1200" dirty="0"/>
              <a:t>甲 업체의 연구개발부장으로 제품 개발 및 제조공정 전반에 관한 정보를 관리할 수 있는 유일한 직원이었던 乙이 퇴사 후 丙 주식회사에 입사하여 위 기술정보와 동일한 내용의 ‘떡 생지의 원재료 및 </a:t>
            </a:r>
            <a:r>
              <a:rPr lang="ko-KR" altLang="en-US" sz="1200" dirty="0" err="1"/>
              <a:t>배합비’에</a:t>
            </a:r>
            <a:r>
              <a:rPr lang="ko-KR" altLang="en-US" sz="1200" dirty="0"/>
              <a:t> 관한 보고서를 제출하여 丙 회사가 ‘</a:t>
            </a:r>
            <a:r>
              <a:rPr lang="ko-KR" altLang="en-US" sz="1200" dirty="0" err="1"/>
              <a:t>찰떡쿠키’라는</a:t>
            </a:r>
            <a:r>
              <a:rPr lang="ko-KR" altLang="en-US" sz="1200" dirty="0"/>
              <a:t> 제품을 출시</a:t>
            </a:r>
            <a:r>
              <a:rPr lang="en-US" altLang="ko-KR" sz="1200" dirty="0"/>
              <a:t>·</a:t>
            </a:r>
            <a:r>
              <a:rPr lang="ko-KR" altLang="en-US" sz="1200" dirty="0"/>
              <a:t>판매한 사안에서</a:t>
            </a:r>
            <a:r>
              <a:rPr lang="en-US" altLang="ko-KR" sz="1200" dirty="0"/>
              <a:t>, </a:t>
            </a:r>
            <a:r>
              <a:rPr lang="ko-KR" altLang="en-US" sz="1200" dirty="0"/>
              <a:t>甲의 기술정보가 상당한 인적</a:t>
            </a:r>
            <a:r>
              <a:rPr lang="en-US" altLang="ko-KR" sz="1200" dirty="0"/>
              <a:t>·</a:t>
            </a:r>
            <a:r>
              <a:rPr lang="ko-KR" altLang="en-US" sz="1200" dirty="0"/>
              <a:t>물적 시설을 투입하여 개발한 것으로 甲 업체의 주력 상품인 </a:t>
            </a:r>
            <a:r>
              <a:rPr lang="ko-KR" altLang="en-US" sz="1200" dirty="0" err="1"/>
              <a:t>찰떡초코파이의</a:t>
            </a:r>
            <a:r>
              <a:rPr lang="ko-KR" altLang="en-US" sz="1200" dirty="0"/>
              <a:t> 핵심 기술이고</a:t>
            </a:r>
            <a:r>
              <a:rPr lang="en-US" altLang="ko-KR" sz="1200" dirty="0"/>
              <a:t>, </a:t>
            </a:r>
            <a:r>
              <a:rPr lang="ko-KR" altLang="en-US" sz="1200" dirty="0"/>
              <a:t>일반적으로 알려져 있지 아니함은 물론</a:t>
            </a:r>
            <a:r>
              <a:rPr lang="en-US" altLang="ko-KR" sz="1200" dirty="0"/>
              <a:t>, </a:t>
            </a:r>
            <a:r>
              <a:rPr lang="ko-KR" altLang="en-US" sz="1200" dirty="0"/>
              <a:t>甲이 乙을 포함한 전 직원들에게서 영업비밀 준수에 관한 서약서를 받는 등 기술정보를 엄격하게 관리하여 비밀로 유지</a:t>
            </a:r>
            <a:r>
              <a:rPr lang="en-US" altLang="ko-KR" sz="1200" dirty="0"/>
              <a:t>·</a:t>
            </a:r>
            <a:r>
              <a:rPr lang="ko-KR" altLang="en-US" sz="1200" dirty="0"/>
              <a:t>관리하여 온 점 등에 비추어</a:t>
            </a:r>
            <a:r>
              <a:rPr lang="en-US" altLang="ko-KR" sz="1200" dirty="0"/>
              <a:t>,</a:t>
            </a:r>
            <a:r>
              <a:rPr lang="ko-KR" altLang="en-US" sz="1200" dirty="0"/>
              <a:t>위 기술정보는 부정경쟁방지 및 영업비밀보호에 관한 법률 제</a:t>
            </a:r>
            <a:r>
              <a:rPr lang="en-US" altLang="ko-KR" sz="1200" dirty="0"/>
              <a:t>2</a:t>
            </a:r>
            <a:r>
              <a:rPr lang="ko-KR" altLang="en-US" sz="1200" dirty="0"/>
              <a:t>조 제</a:t>
            </a:r>
            <a:r>
              <a:rPr lang="en-US" altLang="ko-KR" sz="1200" dirty="0"/>
              <a:t>2</a:t>
            </a:r>
            <a:r>
              <a:rPr lang="ko-KR" altLang="en-US" sz="1200" dirty="0"/>
              <a:t>호에 정한 영업비밀에 해당하고</a:t>
            </a:r>
            <a:r>
              <a:rPr lang="en-US" altLang="ko-KR" sz="1200" dirty="0"/>
              <a:t>, </a:t>
            </a:r>
            <a:r>
              <a:rPr lang="ko-KR" altLang="en-US" sz="1200" dirty="0"/>
              <a:t>丙 회사가 乙을 통하여 취득한 위 영업비밀을 이용하여 </a:t>
            </a:r>
            <a:r>
              <a:rPr lang="ko-KR" altLang="en-US" sz="1200" dirty="0" err="1"/>
              <a:t>찰떡쿠키의</a:t>
            </a:r>
            <a:r>
              <a:rPr lang="ko-KR" altLang="en-US" sz="1200" dirty="0"/>
              <a:t> 개발에 성공하거나 또는 개발 성공에 필요한 시간적</a:t>
            </a:r>
            <a:r>
              <a:rPr lang="en-US" altLang="ko-KR" sz="1200" dirty="0"/>
              <a:t>·</a:t>
            </a:r>
            <a:r>
              <a:rPr lang="ko-KR" altLang="en-US" sz="1200" dirty="0"/>
              <a:t>인적</a:t>
            </a:r>
            <a:r>
              <a:rPr lang="en-US" altLang="ko-KR" sz="1200" dirty="0"/>
              <a:t>·</a:t>
            </a:r>
            <a:r>
              <a:rPr lang="ko-KR" altLang="en-US" sz="1200" dirty="0"/>
              <a:t>물적 비용을 상당 부분 단축</a:t>
            </a:r>
            <a:r>
              <a:rPr lang="en-US" altLang="ko-KR" sz="1200" dirty="0"/>
              <a:t>·</a:t>
            </a:r>
            <a:r>
              <a:rPr lang="ko-KR" altLang="en-US" sz="1200" dirty="0"/>
              <a:t>절감하였다고 보이고</a:t>
            </a:r>
            <a:r>
              <a:rPr lang="en-US" altLang="ko-KR" sz="1200" dirty="0"/>
              <a:t>, </a:t>
            </a:r>
            <a:r>
              <a:rPr lang="ko-KR" altLang="en-US" sz="1200" dirty="0"/>
              <a:t>영업비밀과 丙 회사의 기술 사이에 일부 차이점이 존재하더라도</a:t>
            </a:r>
            <a:r>
              <a:rPr lang="en-US" altLang="ko-KR" sz="1200" dirty="0"/>
              <a:t>, </a:t>
            </a:r>
            <a:r>
              <a:rPr lang="ko-KR" altLang="en-US" sz="1200" dirty="0"/>
              <a:t>丙 회사가 위 영업비밀을 자신의 영업활동에 이용하여 기업활동에 직접 또는 간접적으로 사용한 이상</a:t>
            </a:r>
            <a:r>
              <a:rPr lang="en-US" altLang="ko-KR" sz="1200" dirty="0"/>
              <a:t>, </a:t>
            </a:r>
            <a:r>
              <a:rPr lang="ko-KR" altLang="en-US" sz="1200" dirty="0"/>
              <a:t>영업비밀을 침해하였다고 보이므로</a:t>
            </a:r>
            <a:r>
              <a:rPr lang="en-US" altLang="ko-KR" sz="1200" dirty="0"/>
              <a:t>, </a:t>
            </a:r>
            <a:r>
              <a:rPr lang="ko-KR" altLang="en-US" sz="1200" dirty="0"/>
              <a:t>丙 회사는 영업비밀 침해행위로 인하여 甲이 입은 손해를 배상할 책임이 있다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단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영업비밀의 보호기간을 乙이 甲 업체를 퇴직한 날을 기준으로 </a:t>
            </a:r>
            <a:r>
              <a:rPr lang="en-US" altLang="ko-KR" sz="1200" dirty="0">
                <a:solidFill>
                  <a:srgbClr val="FF0000"/>
                </a:solidFill>
              </a:rPr>
              <a:t>3</a:t>
            </a:r>
            <a:r>
              <a:rPr lang="ko-KR" altLang="en-US" sz="1200" dirty="0">
                <a:solidFill>
                  <a:srgbClr val="FF0000"/>
                </a:solidFill>
              </a:rPr>
              <a:t>년으로 인정함</a:t>
            </a:r>
            <a:r>
              <a:rPr lang="en-US" altLang="ko-KR" sz="1200" dirty="0">
                <a:solidFill>
                  <a:srgbClr val="FF0000"/>
                </a:solidFill>
              </a:rPr>
              <a:t>).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BFD281FC-CD72-49F6-854D-14A8B3DE91EB}"/>
              </a:ext>
            </a:extLst>
          </p:cNvPr>
          <p:cNvCxnSpPr/>
          <p:nvPr/>
        </p:nvCxnSpPr>
        <p:spPr>
          <a:xfrm>
            <a:off x="0" y="4199421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6" descr="http://image.daldalmall.co.kr/data_daldalmall/goods/14344321497620/14344321497620_5.jpg">
            <a:extLst>
              <a:ext uri="{FF2B5EF4-FFF2-40B4-BE49-F238E27FC236}">
                <a16:creationId xmlns:a16="http://schemas.microsoft.com/office/drawing/2014/main" id="{1119D9E0-B8DB-44C9-B8F3-DC4573F660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36" b="56225"/>
          <a:stretch/>
        </p:blipFill>
        <p:spPr bwMode="auto">
          <a:xfrm>
            <a:off x="10126368" y="4237781"/>
            <a:ext cx="1974389" cy="1404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4" descr="https://postfiles.pstatic.net/MjAxNzA0MDFfMTQ1/MDAxNDkwOTc0NTA1Mzgw.OFtuDrCkA8yIUWn9BBPDYgPYeYK2x675xq5OyS9mxMEg.-vV4Ym1O--Q3rCJCfzm6x72QfREuNJr-uO_DyBUkODAg.JPEG.sonamuhangru/20170330_234820.jpg?type=w2">
            <a:extLst>
              <a:ext uri="{FF2B5EF4-FFF2-40B4-BE49-F238E27FC236}">
                <a16:creationId xmlns:a16="http://schemas.microsoft.com/office/drawing/2014/main" id="{428CC643-FCDC-444F-909F-8A7EE44CD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9154" y="5588953"/>
            <a:ext cx="1373900" cy="121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9381A3-1AE0-1B48-E3A7-28EEC87A14D3}"/>
              </a:ext>
            </a:extLst>
          </p:cNvPr>
          <p:cNvSpPr txBox="1"/>
          <p:nvPr/>
        </p:nvSpPr>
        <p:spPr>
          <a:xfrm>
            <a:off x="3315789" y="4311541"/>
            <a:ext cx="35894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5</a:t>
            </a:r>
            <a:r>
              <a:rPr lang="ko-KR" altLang="en-US" sz="1200" dirty="0">
                <a:solidFill>
                  <a:srgbClr val="FF0000"/>
                </a:solidFill>
              </a:rPr>
              <a:t>년</a:t>
            </a:r>
            <a:r>
              <a:rPr lang="en-US" altLang="ko-KR" sz="1200" dirty="0">
                <a:solidFill>
                  <a:srgbClr val="FF0000"/>
                </a:solidFill>
              </a:rPr>
              <a:t>/30</a:t>
            </a:r>
            <a:r>
              <a:rPr lang="ko-KR" altLang="en-US" sz="1200" dirty="0">
                <a:solidFill>
                  <a:srgbClr val="FF0000"/>
                </a:solidFill>
              </a:rPr>
              <a:t>억 투자하여 보존기간을 </a:t>
            </a:r>
            <a:r>
              <a:rPr lang="en-US" altLang="ko-KR" sz="1200" dirty="0">
                <a:solidFill>
                  <a:srgbClr val="FF0000"/>
                </a:solidFill>
              </a:rPr>
              <a:t>10</a:t>
            </a:r>
            <a:r>
              <a:rPr lang="ko-KR" altLang="en-US" sz="1200" dirty="0">
                <a:solidFill>
                  <a:srgbClr val="FF0000"/>
                </a:solidFill>
              </a:rPr>
              <a:t>주에서 </a:t>
            </a:r>
            <a:r>
              <a:rPr lang="en-US" altLang="ko-KR" sz="1200" dirty="0">
                <a:solidFill>
                  <a:srgbClr val="FF0000"/>
                </a:solidFill>
              </a:rPr>
              <a:t>5</a:t>
            </a:r>
            <a:r>
              <a:rPr lang="ko-KR" altLang="en-US" sz="1200" dirty="0">
                <a:solidFill>
                  <a:srgbClr val="FF0000"/>
                </a:solidFill>
              </a:rPr>
              <a:t>개월로 연장</a:t>
            </a:r>
          </a:p>
        </p:txBody>
      </p:sp>
    </p:spTree>
    <p:extLst>
      <p:ext uri="{BB962C8B-B14F-4D97-AF65-F5344CB8AC3E}">
        <p14:creationId xmlns:p14="http://schemas.microsoft.com/office/powerpoint/2010/main" val="31873030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33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/>
              <a:t>항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롤</a:t>
            </a:r>
            <a:r>
              <a:rPr lang="en-US" altLang="ko-KR" dirty="0">
                <a:solidFill>
                  <a:srgbClr val="525252"/>
                </a:solidFill>
              </a:rPr>
              <a:t> </a:t>
            </a:r>
            <a:r>
              <a:rPr lang="ko-KR" altLang="en-US" dirty="0">
                <a:solidFill>
                  <a:srgbClr val="525252"/>
                </a:solidFill>
              </a:rPr>
              <a:t>코팅장치 </a:t>
            </a:r>
            <a:r>
              <a:rPr lang="en-US" altLang="ko-KR" dirty="0">
                <a:solidFill>
                  <a:srgbClr val="525252"/>
                </a:solidFill>
              </a:rPr>
              <a:t>CASE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102</a:t>
            </a:fld>
            <a:endParaRPr lang="ko-KR" altLang="en-US"/>
          </a:p>
        </p:txBody>
      </p:sp>
      <p:sp>
        <p:nvSpPr>
          <p:cNvPr id="46" name="모서리가 둥근 직사각형 10">
            <a:extLst>
              <a:ext uri="{FF2B5EF4-FFF2-40B4-BE49-F238E27FC236}">
                <a16:creationId xmlns:a16="http://schemas.microsoft.com/office/drawing/2014/main" id="{EA6D0AA3-A795-463F-A932-E97DEE7EE09B}"/>
              </a:ext>
            </a:extLst>
          </p:cNvPr>
          <p:cNvSpPr/>
          <p:nvPr/>
        </p:nvSpPr>
        <p:spPr bwMode="auto">
          <a:xfrm>
            <a:off x="335289" y="1008637"/>
            <a:ext cx="4314352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대법원 </a:t>
            </a:r>
            <a:r>
              <a:rPr lang="en-US" altLang="ko-KR" sz="1200" dirty="0"/>
              <a:t>2022. 11. 17.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2019</a:t>
            </a:r>
            <a:r>
              <a:rPr lang="ko-KR" altLang="en-US" sz="1200" dirty="0"/>
              <a:t>후</a:t>
            </a:r>
            <a:r>
              <a:rPr lang="en-US" altLang="ko-KR" sz="1200" dirty="0"/>
              <a:t>11268 </a:t>
            </a:r>
            <a:r>
              <a:rPr lang="ko-KR" altLang="en-US" sz="1200" dirty="0"/>
              <a:t>판결</a:t>
            </a:r>
            <a:r>
              <a:rPr lang="en-US" altLang="ko-KR" sz="1200" dirty="0"/>
              <a:t>【</a:t>
            </a:r>
            <a:r>
              <a:rPr lang="ko-KR" altLang="en-US" sz="1200" dirty="0"/>
              <a:t>등록무효</a:t>
            </a:r>
            <a:r>
              <a:rPr lang="en-US" altLang="ko-KR" sz="1200" dirty="0"/>
              <a:t>(</a:t>
            </a:r>
            <a:r>
              <a:rPr lang="ko-KR" altLang="en-US" sz="1200" dirty="0" err="1"/>
              <a:t>특</a:t>
            </a:r>
            <a:r>
              <a:rPr lang="en-US" altLang="ko-KR" sz="1200" dirty="0"/>
              <a:t>)】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8297537-B24B-4300-B18D-EAD87B250EF1}"/>
              </a:ext>
            </a:extLst>
          </p:cNvPr>
          <p:cNvSpPr/>
          <p:nvPr/>
        </p:nvSpPr>
        <p:spPr>
          <a:xfrm>
            <a:off x="69012" y="1363747"/>
            <a:ext cx="1205110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/>
              <a:t>구 특허법</a:t>
            </a:r>
            <a:r>
              <a:rPr lang="en-US" altLang="ko-KR" sz="1200" dirty="0"/>
              <a:t>(2006. 3. 3. </a:t>
            </a:r>
            <a:r>
              <a:rPr lang="ko-KR" altLang="en-US" sz="1200" dirty="0"/>
              <a:t>법률 제</a:t>
            </a:r>
            <a:r>
              <a:rPr lang="en-US" altLang="ko-KR" sz="1200" dirty="0"/>
              <a:t>7871</a:t>
            </a:r>
            <a:r>
              <a:rPr lang="ko-KR" altLang="en-US" sz="1200" dirty="0"/>
              <a:t>호로 개정되기 전의 것</a:t>
            </a:r>
            <a:r>
              <a:rPr lang="en-US" altLang="ko-KR" sz="1200" dirty="0"/>
              <a:t>, </a:t>
            </a:r>
            <a:r>
              <a:rPr lang="ko-KR" altLang="en-US" sz="1200" dirty="0"/>
              <a:t>이하 같다</a:t>
            </a:r>
            <a:r>
              <a:rPr lang="en-US" altLang="ko-KR" sz="1200" dirty="0"/>
              <a:t>) </a:t>
            </a:r>
            <a:r>
              <a:rPr lang="ko-KR" altLang="en-US" sz="1200" dirty="0"/>
              <a:t>제</a:t>
            </a:r>
            <a:r>
              <a:rPr lang="en-US" altLang="ko-KR" sz="1200" dirty="0"/>
              <a:t>33</a:t>
            </a:r>
            <a:r>
              <a:rPr lang="ko-KR" altLang="en-US" sz="1200" dirty="0"/>
              <a:t>조 제</a:t>
            </a:r>
            <a:r>
              <a:rPr lang="en-US" altLang="ko-KR" sz="1200" dirty="0"/>
              <a:t>1</a:t>
            </a:r>
            <a:r>
              <a:rPr lang="ko-KR" altLang="en-US" sz="1200" dirty="0"/>
              <a:t>항 본문은 발명을 한 사람 또는 그 승계인은 특허법에서 정하는 바에 따라 특허를 받을 수 있는 권리를 가진다고 규정하고</a:t>
            </a:r>
            <a:r>
              <a:rPr lang="en-US" altLang="ko-KR" sz="1200" dirty="0"/>
              <a:t>, </a:t>
            </a:r>
            <a:r>
              <a:rPr lang="ko-KR" altLang="en-US" sz="1200" dirty="0"/>
              <a:t>제</a:t>
            </a:r>
            <a:r>
              <a:rPr lang="en-US" altLang="ko-KR" sz="1200" dirty="0"/>
              <a:t>133</a:t>
            </a:r>
            <a:r>
              <a:rPr lang="ko-KR" altLang="en-US" sz="1200" dirty="0"/>
              <a:t>조 제</a:t>
            </a:r>
            <a:r>
              <a:rPr lang="en-US" altLang="ko-KR" sz="1200" dirty="0"/>
              <a:t>1</a:t>
            </a:r>
            <a:r>
              <a:rPr lang="ko-KR" altLang="en-US" sz="1200" dirty="0"/>
              <a:t>항 제</a:t>
            </a:r>
            <a:r>
              <a:rPr lang="en-US" altLang="ko-KR" sz="1200" dirty="0"/>
              <a:t>2</a:t>
            </a:r>
            <a:r>
              <a:rPr lang="ko-KR" altLang="en-US" sz="1200" dirty="0"/>
              <a:t>호는 제</a:t>
            </a:r>
            <a:r>
              <a:rPr lang="en-US" altLang="ko-KR" sz="1200" dirty="0"/>
              <a:t>33</a:t>
            </a:r>
            <a:r>
              <a:rPr lang="ko-KR" altLang="en-US" sz="1200" dirty="0"/>
              <a:t>조 제</a:t>
            </a:r>
            <a:r>
              <a:rPr lang="en-US" altLang="ko-KR" sz="1200" dirty="0"/>
              <a:t>1</a:t>
            </a:r>
            <a:r>
              <a:rPr lang="ko-KR" altLang="en-US" sz="1200" dirty="0"/>
              <a:t>항 본문의 규정에 의한 특허를 받을 수 있는 권리를 가지지 아니한 사람</a:t>
            </a:r>
            <a:r>
              <a:rPr lang="en-US" altLang="ko-KR" sz="1200" dirty="0"/>
              <a:t>(</a:t>
            </a:r>
            <a:r>
              <a:rPr lang="ko-KR" altLang="en-US" sz="1200" dirty="0"/>
              <a:t>이하 ‘</a:t>
            </a:r>
            <a:r>
              <a:rPr lang="ko-KR" altLang="en-US" sz="1200" dirty="0" err="1"/>
              <a:t>무권리자’라고</a:t>
            </a:r>
            <a:r>
              <a:rPr lang="ko-KR" altLang="en-US" sz="1200" dirty="0"/>
              <a:t> 한다</a:t>
            </a:r>
            <a:r>
              <a:rPr lang="en-US" altLang="ko-KR" sz="1200" dirty="0"/>
              <a:t>)</a:t>
            </a:r>
            <a:r>
              <a:rPr lang="ko-KR" altLang="en-US" sz="1200" dirty="0"/>
              <a:t>이 출원하여 </a:t>
            </a:r>
            <a:r>
              <a:rPr lang="ko-KR" altLang="en-US" sz="1200" dirty="0" err="1"/>
              <a:t>특허받은</a:t>
            </a:r>
            <a:r>
              <a:rPr lang="ko-KR" altLang="en-US" sz="1200" dirty="0"/>
              <a:t> 경우를 특허무효사유의 하나로 규정하고 있다</a:t>
            </a:r>
            <a:r>
              <a:rPr lang="en-US" altLang="ko-KR" sz="1200" dirty="0"/>
              <a:t>. </a:t>
            </a:r>
            <a:r>
              <a:rPr lang="ko-KR" altLang="en-US" sz="1200" dirty="0"/>
              <a:t>무권리자의 출원을 무효사유로 한 특허무효심판 및 그에 따른 </a:t>
            </a:r>
            <a:r>
              <a:rPr lang="ko-KR" altLang="en-US" sz="1200" dirty="0" err="1"/>
              <a:t>심결취소소송에서</a:t>
            </a:r>
            <a:r>
              <a:rPr lang="ko-KR" altLang="en-US" sz="1200" dirty="0"/>
              <a:t> </a:t>
            </a:r>
            <a:r>
              <a:rPr lang="ko-KR" altLang="en-US" sz="1200" dirty="0">
                <a:highlight>
                  <a:srgbClr val="FFFF00"/>
                </a:highlight>
              </a:rPr>
              <a:t>위와 같은 무효사유에 관한 증명책임은 무효라고 주장하는 당사자</a:t>
            </a:r>
            <a:r>
              <a:rPr lang="ko-KR" altLang="en-US" sz="1200" dirty="0"/>
              <a:t>에게 있다</a:t>
            </a:r>
            <a:r>
              <a:rPr lang="en-US" altLang="ko-KR" sz="1200" dirty="0"/>
              <a:t>. </a:t>
            </a:r>
            <a:r>
              <a:rPr lang="ko-KR" altLang="en-US" sz="1200" dirty="0"/>
              <a:t>한편 특허법 제</a:t>
            </a:r>
            <a:r>
              <a:rPr lang="en-US" altLang="ko-KR" sz="1200" dirty="0"/>
              <a:t>2</a:t>
            </a:r>
            <a:r>
              <a:rPr lang="ko-KR" altLang="en-US" sz="1200" dirty="0"/>
              <a:t>조 제</a:t>
            </a:r>
            <a:r>
              <a:rPr lang="en-US" altLang="ko-KR" sz="1200" dirty="0"/>
              <a:t>1</a:t>
            </a:r>
            <a:r>
              <a:rPr lang="ko-KR" altLang="en-US" sz="1200" dirty="0"/>
              <a:t>호는 ‘</a:t>
            </a:r>
            <a:r>
              <a:rPr lang="ko-KR" altLang="en-US" sz="1200" dirty="0" err="1"/>
              <a:t>발명’이란</a:t>
            </a:r>
            <a:r>
              <a:rPr lang="ko-KR" altLang="en-US" sz="1200" dirty="0"/>
              <a:t> 자연법칙을 이용하여 기술적 사상을 고도로 창작한 것을 말한다고 규정하고 있으므로</a:t>
            </a:r>
            <a:r>
              <a:rPr lang="en-US" altLang="ko-KR" sz="1200" dirty="0"/>
              <a:t>, </a:t>
            </a:r>
            <a:r>
              <a:rPr lang="ko-KR" altLang="en-US" sz="1200" dirty="0"/>
              <a:t>특허법 제</a:t>
            </a:r>
            <a:r>
              <a:rPr lang="en-US" altLang="ko-KR" sz="1200" dirty="0"/>
              <a:t>33</a:t>
            </a:r>
            <a:r>
              <a:rPr lang="ko-KR" altLang="en-US" sz="1200" dirty="0"/>
              <a:t>조 제</a:t>
            </a:r>
            <a:r>
              <a:rPr lang="en-US" altLang="ko-KR" sz="1200" dirty="0"/>
              <a:t>1</a:t>
            </a:r>
            <a:r>
              <a:rPr lang="ko-KR" altLang="en-US" sz="1200" dirty="0"/>
              <a:t>항에서 정하고 있는 ‘발명을 한 자’는 바로 이러한 발명행위를 한 사람을 가리킨다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2011. 9. 29.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2009</a:t>
            </a:r>
            <a:r>
              <a:rPr lang="ko-KR" altLang="en-US" sz="1200" dirty="0"/>
              <a:t>후</a:t>
            </a:r>
            <a:r>
              <a:rPr lang="en-US" altLang="ko-KR" sz="1200" dirty="0"/>
              <a:t>2463 </a:t>
            </a:r>
            <a:r>
              <a:rPr lang="ko-KR" altLang="en-US" sz="1200" dirty="0"/>
              <a:t>판결 등 참조</a:t>
            </a:r>
            <a:r>
              <a:rPr lang="en-US" altLang="ko-KR" sz="1200" dirty="0"/>
              <a:t>).</a:t>
            </a:r>
          </a:p>
        </p:txBody>
      </p:sp>
      <p:sp>
        <p:nvSpPr>
          <p:cNvPr id="19" name="Line 5">
            <a:extLst>
              <a:ext uri="{FF2B5EF4-FFF2-40B4-BE49-F238E27FC236}">
                <a16:creationId xmlns:a16="http://schemas.microsoft.com/office/drawing/2014/main" id="{0BEAE8CA-D13F-4977-A54A-833036EDBC7A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257" y="3737363"/>
            <a:ext cx="11555101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100"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A6D475-FAFA-4A69-BABE-E114DE552074}"/>
              </a:ext>
            </a:extLst>
          </p:cNvPr>
          <p:cNvSpPr txBox="1"/>
          <p:nvPr/>
        </p:nvSpPr>
        <p:spPr>
          <a:xfrm>
            <a:off x="353184" y="4065258"/>
            <a:ext cx="1184326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선행발명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모인대상발명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D8F240F-02EC-41B5-BA72-840A15F086A4}"/>
              </a:ext>
            </a:extLst>
          </p:cNvPr>
          <p:cNvSpPr/>
          <p:nvPr/>
        </p:nvSpPr>
        <p:spPr>
          <a:xfrm>
            <a:off x="867977" y="36434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F1B8DF3E-919A-4473-8D03-48A2196079D8}"/>
              </a:ext>
            </a:extLst>
          </p:cNvPr>
          <p:cNvCxnSpPr>
            <a:cxnSpLocks/>
            <a:stCxn id="20" idx="0"/>
            <a:endCxn id="23" idx="4"/>
          </p:cNvCxnSpPr>
          <p:nvPr/>
        </p:nvCxnSpPr>
        <p:spPr>
          <a:xfrm flipH="1" flipV="1">
            <a:off x="945346" y="3804767"/>
            <a:ext cx="1" cy="2604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A1F400C-EA48-4876-9FDE-A22E6F3F4695}"/>
              </a:ext>
            </a:extLst>
          </p:cNvPr>
          <p:cNvSpPr txBox="1"/>
          <p:nvPr/>
        </p:nvSpPr>
        <p:spPr>
          <a:xfrm>
            <a:off x="174038" y="5250373"/>
            <a:ext cx="1542618" cy="6001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H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제작소에서 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G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에 제공한 패턴 필름 코팅장치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(1)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의 조립도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6B11F7C-C520-4C40-AE96-8A5FDCFC7CB7}"/>
              </a:ext>
            </a:extLst>
          </p:cNvPr>
          <p:cNvCxnSpPr>
            <a:cxnSpLocks/>
            <a:stCxn id="20" idx="2"/>
            <a:endCxn id="26" idx="0"/>
          </p:cNvCxnSpPr>
          <p:nvPr/>
        </p:nvCxnSpPr>
        <p:spPr>
          <a:xfrm>
            <a:off x="945347" y="4526923"/>
            <a:ext cx="0" cy="7234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9CB9059-D662-42C5-8B61-D5AB8BD8CA4F}"/>
              </a:ext>
            </a:extLst>
          </p:cNvPr>
          <p:cNvSpPr txBox="1"/>
          <p:nvPr/>
        </p:nvSpPr>
        <p:spPr>
          <a:xfrm>
            <a:off x="10832963" y="3998396"/>
            <a:ext cx="927209" cy="461665"/>
          </a:xfrm>
          <a:prstGeom prst="rect">
            <a:avLst/>
          </a:prstGeom>
          <a:solidFill>
            <a:schemeClr val="tx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대법원 판단</a:t>
            </a:r>
            <a:endParaRPr lang="en-US" altLang="ko-KR" sz="12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기각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)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82251259-CCB1-45F1-8B5F-A3238466F5DE}"/>
              </a:ext>
            </a:extLst>
          </p:cNvPr>
          <p:cNvSpPr/>
          <p:nvPr/>
        </p:nvSpPr>
        <p:spPr>
          <a:xfrm>
            <a:off x="11217161" y="36434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86A1B5D-764D-4029-962B-2DCB60A496DF}"/>
              </a:ext>
            </a:extLst>
          </p:cNvPr>
          <p:cNvCxnSpPr>
            <a:cxnSpLocks/>
            <a:stCxn id="39" idx="0"/>
            <a:endCxn id="40" idx="4"/>
          </p:cNvCxnSpPr>
          <p:nvPr/>
        </p:nvCxnSpPr>
        <p:spPr>
          <a:xfrm flipH="1" flipV="1">
            <a:off x="11294530" y="3804767"/>
            <a:ext cx="2038" cy="1936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9A7D604-C2BE-31E0-3297-813504BAD580}"/>
              </a:ext>
            </a:extLst>
          </p:cNvPr>
          <p:cNvSpPr txBox="1"/>
          <p:nvPr/>
        </p:nvSpPr>
        <p:spPr>
          <a:xfrm>
            <a:off x="5349541" y="3993538"/>
            <a:ext cx="781942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출원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(2’)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1BE0968F-66E6-BFA0-AD29-D07CDCD33C9E}"/>
              </a:ext>
            </a:extLst>
          </p:cNvPr>
          <p:cNvSpPr/>
          <p:nvPr/>
        </p:nvSpPr>
        <p:spPr>
          <a:xfrm>
            <a:off x="5670931" y="36434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1C5A0AA3-8C28-28AB-4970-F69B903D970C}"/>
              </a:ext>
            </a:extLst>
          </p:cNvPr>
          <p:cNvCxnSpPr>
            <a:cxnSpLocks/>
            <a:stCxn id="49" idx="0"/>
            <a:endCxn id="54" idx="4"/>
          </p:cNvCxnSpPr>
          <p:nvPr/>
        </p:nvCxnSpPr>
        <p:spPr>
          <a:xfrm flipV="1">
            <a:off x="5740512" y="3804767"/>
            <a:ext cx="7788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0414ACC8-CCFF-485F-5121-F755E341C9C8}"/>
              </a:ext>
            </a:extLst>
          </p:cNvPr>
          <p:cNvSpPr txBox="1"/>
          <p:nvPr/>
        </p:nvSpPr>
        <p:spPr>
          <a:xfrm>
            <a:off x="7703095" y="3993538"/>
            <a:ext cx="76912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무효심판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청구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37973283-0482-DD8B-E06E-A70460ED2EC1}"/>
              </a:ext>
            </a:extLst>
          </p:cNvPr>
          <p:cNvSpPr/>
          <p:nvPr/>
        </p:nvSpPr>
        <p:spPr>
          <a:xfrm>
            <a:off x="8010287" y="36434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BB86F4DA-C064-89BD-0111-B180DF2A2CED}"/>
              </a:ext>
            </a:extLst>
          </p:cNvPr>
          <p:cNvCxnSpPr>
            <a:cxnSpLocks/>
            <a:stCxn id="68" idx="0"/>
            <a:endCxn id="69" idx="4"/>
          </p:cNvCxnSpPr>
          <p:nvPr/>
        </p:nvCxnSpPr>
        <p:spPr>
          <a:xfrm flipH="1" flipV="1">
            <a:off x="8087656" y="3804767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93F38F27-CC79-9ACB-E718-2F75DD20F241}"/>
              </a:ext>
            </a:extLst>
          </p:cNvPr>
          <p:cNvSpPr txBox="1"/>
          <p:nvPr/>
        </p:nvSpPr>
        <p:spPr>
          <a:xfrm>
            <a:off x="8526291" y="3993538"/>
            <a:ext cx="474308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인용</a:t>
            </a: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5B410617-9714-0CBB-4051-61CCBC455620}"/>
              </a:ext>
            </a:extLst>
          </p:cNvPr>
          <p:cNvSpPr/>
          <p:nvPr/>
        </p:nvSpPr>
        <p:spPr>
          <a:xfrm>
            <a:off x="8686381" y="36434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FDEBC522-9277-AFF5-0C19-47EFB6632897}"/>
              </a:ext>
            </a:extLst>
          </p:cNvPr>
          <p:cNvCxnSpPr>
            <a:cxnSpLocks/>
            <a:stCxn id="87" idx="0"/>
            <a:endCxn id="88" idx="4"/>
          </p:cNvCxnSpPr>
          <p:nvPr/>
        </p:nvCxnSpPr>
        <p:spPr>
          <a:xfrm flipV="1">
            <a:off x="8763445" y="3804767"/>
            <a:ext cx="305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64734ED-6BC6-8FFB-AF91-44C820E4F5CB}"/>
              </a:ext>
            </a:extLst>
          </p:cNvPr>
          <p:cNvSpPr txBox="1"/>
          <p:nvPr/>
        </p:nvSpPr>
        <p:spPr>
          <a:xfrm>
            <a:off x="1652240" y="4065258"/>
            <a:ext cx="1184326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선행발명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2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모인대상발명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2)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E0D2369-5AC8-79A9-9A70-167C140017A6}"/>
              </a:ext>
            </a:extLst>
          </p:cNvPr>
          <p:cNvSpPr/>
          <p:nvPr/>
        </p:nvSpPr>
        <p:spPr>
          <a:xfrm>
            <a:off x="2161475" y="36434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D472042-0C0E-8D4F-8941-E668D92FFF47}"/>
              </a:ext>
            </a:extLst>
          </p:cNvPr>
          <p:cNvCxnSpPr>
            <a:cxnSpLocks/>
          </p:cNvCxnSpPr>
          <p:nvPr/>
        </p:nvCxnSpPr>
        <p:spPr>
          <a:xfrm flipH="1" flipV="1">
            <a:off x="2244402" y="3876487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030C8C3-93E6-AA4D-2209-014D63A417BC}"/>
              </a:ext>
            </a:extLst>
          </p:cNvPr>
          <p:cNvSpPr txBox="1"/>
          <p:nvPr/>
        </p:nvSpPr>
        <p:spPr>
          <a:xfrm>
            <a:off x="1422515" y="4603463"/>
            <a:ext cx="1643776" cy="6001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H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제작소에서 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G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에 제공한 패턴 필름 코팅장치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개선품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)(2)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의  취급설명서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3F47DE8-74E1-C3E5-3254-5C1A42A945D0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2244403" y="4517958"/>
            <a:ext cx="0" cy="855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81958B0-2073-C4FB-F5E9-36865FE7E895}"/>
              </a:ext>
            </a:extLst>
          </p:cNvPr>
          <p:cNvSpPr txBox="1"/>
          <p:nvPr/>
        </p:nvSpPr>
        <p:spPr>
          <a:xfrm>
            <a:off x="3791538" y="3159741"/>
            <a:ext cx="1040348" cy="2769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선행발명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3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8EA84AD3-BBA4-36A3-21C1-E6F7235C4AB2}"/>
              </a:ext>
            </a:extLst>
          </p:cNvPr>
          <p:cNvSpPr/>
          <p:nvPr/>
        </p:nvSpPr>
        <p:spPr>
          <a:xfrm>
            <a:off x="4234342" y="36434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2F4DA59-CED0-5B7D-2411-FC4DAED0D49F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 flipH="1">
            <a:off x="4311711" y="3436740"/>
            <a:ext cx="1" cy="20668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E59A791-6E7A-07A8-AD25-9C69E5C3E28C}"/>
              </a:ext>
            </a:extLst>
          </p:cNvPr>
          <p:cNvSpPr txBox="1"/>
          <p:nvPr/>
        </p:nvSpPr>
        <p:spPr>
          <a:xfrm>
            <a:off x="3540403" y="2514766"/>
            <a:ext cx="1542618" cy="6001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원고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(A)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가 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I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에게 제공한 프리즘 코팅기계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(3)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의 운영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보수설명서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7A5FEB5-3B21-908F-8013-6FAB50DF196D}"/>
              </a:ext>
            </a:extLst>
          </p:cNvPr>
          <p:cNvCxnSpPr>
            <a:cxnSpLocks/>
            <a:stCxn id="15" idx="0"/>
            <a:endCxn id="24" idx="2"/>
          </p:cNvCxnSpPr>
          <p:nvPr/>
        </p:nvCxnSpPr>
        <p:spPr>
          <a:xfrm flipV="1">
            <a:off x="4311712" y="3114930"/>
            <a:ext cx="0" cy="4481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5173BA9-F58C-3AA2-4D42-F3D6AEE39FC3}"/>
              </a:ext>
            </a:extLst>
          </p:cNvPr>
          <p:cNvSpPr txBox="1"/>
          <p:nvPr/>
        </p:nvSpPr>
        <p:spPr>
          <a:xfrm>
            <a:off x="486126" y="3374748"/>
            <a:ext cx="9297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2004.12.</a:t>
            </a:r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경</a:t>
            </a:r>
            <a:endParaRPr lang="ko-KR" altLang="en-US" sz="105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F61A72-5C62-D292-FB5A-D464D49FA5A7}"/>
              </a:ext>
            </a:extLst>
          </p:cNvPr>
          <p:cNvSpPr txBox="1"/>
          <p:nvPr/>
        </p:nvSpPr>
        <p:spPr>
          <a:xfrm>
            <a:off x="1794147" y="3374748"/>
            <a:ext cx="9297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2005.5.</a:t>
            </a:r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경</a:t>
            </a:r>
            <a:endParaRPr lang="ko-KR" altLang="en-US" sz="105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257F6F-0A96-AF45-C235-0ACCE09F82C6}"/>
              </a:ext>
            </a:extLst>
          </p:cNvPr>
          <p:cNvSpPr txBox="1"/>
          <p:nvPr/>
        </p:nvSpPr>
        <p:spPr>
          <a:xfrm>
            <a:off x="3810381" y="3778840"/>
            <a:ext cx="10305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2005.7.19.</a:t>
            </a:r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경</a:t>
            </a:r>
            <a:endParaRPr lang="ko-KR" altLang="en-US" sz="105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38AAD02-358F-F3B4-2E28-43BBE1F2B17B}"/>
              </a:ext>
            </a:extLst>
          </p:cNvPr>
          <p:cNvSpPr txBox="1"/>
          <p:nvPr/>
        </p:nvSpPr>
        <p:spPr>
          <a:xfrm>
            <a:off x="5224055" y="3374748"/>
            <a:ext cx="10305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2006.9.21.</a:t>
            </a:r>
            <a:endParaRPr lang="ko-KR" altLang="en-US" sz="105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B31D72-0119-D356-04C0-26B62547E6E7}"/>
              </a:ext>
            </a:extLst>
          </p:cNvPr>
          <p:cNvSpPr txBox="1"/>
          <p:nvPr/>
        </p:nvSpPr>
        <p:spPr>
          <a:xfrm>
            <a:off x="6295428" y="3993538"/>
            <a:ext cx="485610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특허등록</a:t>
            </a: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B6A24AAB-246E-133C-F28B-5A54B9955E2F}"/>
              </a:ext>
            </a:extLst>
          </p:cNvPr>
          <p:cNvSpPr/>
          <p:nvPr/>
        </p:nvSpPr>
        <p:spPr>
          <a:xfrm>
            <a:off x="6468652" y="36434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1782E8E4-60EF-A738-615B-A2EE266C66F5}"/>
              </a:ext>
            </a:extLst>
          </p:cNvPr>
          <p:cNvCxnSpPr>
            <a:cxnSpLocks/>
            <a:stCxn id="35" idx="0"/>
            <a:endCxn id="36" idx="4"/>
          </p:cNvCxnSpPr>
          <p:nvPr/>
        </p:nvCxnSpPr>
        <p:spPr>
          <a:xfrm flipV="1">
            <a:off x="6538233" y="3804767"/>
            <a:ext cx="7788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912B4A2-076E-0068-BDEC-7BDAC96B0721}"/>
              </a:ext>
            </a:extLst>
          </p:cNvPr>
          <p:cNvSpPr txBox="1"/>
          <p:nvPr/>
        </p:nvSpPr>
        <p:spPr>
          <a:xfrm>
            <a:off x="6030741" y="3374748"/>
            <a:ext cx="10305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2008.3.4.</a:t>
            </a:r>
            <a:endParaRPr lang="ko-KR" altLang="en-US" sz="105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C1E0800-5622-F095-ECFA-DBE61B86DEEA}"/>
              </a:ext>
            </a:extLst>
          </p:cNvPr>
          <p:cNvSpPr txBox="1"/>
          <p:nvPr/>
        </p:nvSpPr>
        <p:spPr>
          <a:xfrm>
            <a:off x="9077733" y="3993538"/>
            <a:ext cx="61178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소제기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90F7C6B8-8DCE-1186-CD48-D6D8AE531707}"/>
              </a:ext>
            </a:extLst>
          </p:cNvPr>
          <p:cNvSpPr/>
          <p:nvPr/>
        </p:nvSpPr>
        <p:spPr>
          <a:xfrm>
            <a:off x="9306253" y="36434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97F51310-4292-E53A-1ECE-2904CCA683B8}"/>
              </a:ext>
            </a:extLst>
          </p:cNvPr>
          <p:cNvCxnSpPr>
            <a:cxnSpLocks/>
            <a:stCxn id="62" idx="0"/>
            <a:endCxn id="63" idx="4"/>
          </p:cNvCxnSpPr>
          <p:nvPr/>
        </p:nvCxnSpPr>
        <p:spPr>
          <a:xfrm flipH="1" flipV="1">
            <a:off x="9383622" y="3804767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0596DEE3-8782-B38B-DA30-6D8D5F8B2341}"/>
              </a:ext>
            </a:extLst>
          </p:cNvPr>
          <p:cNvSpPr txBox="1"/>
          <p:nvPr/>
        </p:nvSpPr>
        <p:spPr>
          <a:xfrm>
            <a:off x="9768472" y="3993538"/>
            <a:ext cx="474308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인용</a:t>
            </a:r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CE267434-A721-618E-1A03-EBDF75E999D7}"/>
              </a:ext>
            </a:extLst>
          </p:cNvPr>
          <p:cNvSpPr/>
          <p:nvPr/>
        </p:nvSpPr>
        <p:spPr>
          <a:xfrm>
            <a:off x="9928562" y="36434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1C5CD137-E184-2D72-E39C-76237B871E84}"/>
              </a:ext>
            </a:extLst>
          </p:cNvPr>
          <p:cNvCxnSpPr>
            <a:cxnSpLocks/>
            <a:stCxn id="67" idx="0"/>
            <a:endCxn id="71" idx="4"/>
          </p:cNvCxnSpPr>
          <p:nvPr/>
        </p:nvCxnSpPr>
        <p:spPr>
          <a:xfrm flipV="1">
            <a:off x="10005626" y="3804767"/>
            <a:ext cx="305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A7F37F28-E01D-0AD8-958C-99266E811280}"/>
              </a:ext>
            </a:extLst>
          </p:cNvPr>
          <p:cNvSpPr txBox="1"/>
          <p:nvPr/>
        </p:nvSpPr>
        <p:spPr>
          <a:xfrm>
            <a:off x="10299152" y="3993538"/>
            <a:ext cx="474308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상고</a:t>
            </a: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EADD974B-AB0B-07C9-74C8-2844F329B965}"/>
              </a:ext>
            </a:extLst>
          </p:cNvPr>
          <p:cNvSpPr/>
          <p:nvPr/>
        </p:nvSpPr>
        <p:spPr>
          <a:xfrm>
            <a:off x="10459242" y="36434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60C96D68-7EDA-ACF4-0E3E-5F2CCEC6B87C}"/>
              </a:ext>
            </a:extLst>
          </p:cNvPr>
          <p:cNvCxnSpPr>
            <a:cxnSpLocks/>
            <a:stCxn id="86" idx="0"/>
            <a:endCxn id="90" idx="4"/>
          </p:cNvCxnSpPr>
          <p:nvPr/>
        </p:nvCxnSpPr>
        <p:spPr>
          <a:xfrm flipV="1">
            <a:off x="10536306" y="3804767"/>
            <a:ext cx="305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EED5A369-5FDF-A8A4-A64F-6374427227CA}"/>
              </a:ext>
            </a:extLst>
          </p:cNvPr>
          <p:cNvSpPr txBox="1"/>
          <p:nvPr/>
        </p:nvSpPr>
        <p:spPr>
          <a:xfrm>
            <a:off x="6911826" y="3993538"/>
            <a:ext cx="739127" cy="64633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G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에게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특허권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지분양도</a:t>
            </a:r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CF122DC5-DC8A-68A9-8A89-3DE4D3334531}"/>
              </a:ext>
            </a:extLst>
          </p:cNvPr>
          <p:cNvSpPr/>
          <p:nvPr/>
        </p:nvSpPr>
        <p:spPr>
          <a:xfrm>
            <a:off x="7211809" y="36434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7D344759-0B8E-13A6-4B06-6966F251676D}"/>
              </a:ext>
            </a:extLst>
          </p:cNvPr>
          <p:cNvCxnSpPr>
            <a:cxnSpLocks/>
            <a:stCxn id="97" idx="0"/>
            <a:endCxn id="98" idx="4"/>
          </p:cNvCxnSpPr>
          <p:nvPr/>
        </p:nvCxnSpPr>
        <p:spPr>
          <a:xfrm flipV="1">
            <a:off x="7281390" y="3804767"/>
            <a:ext cx="7788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AA58A046-8911-DC49-B834-6FB7F88A1E7A}"/>
              </a:ext>
            </a:extLst>
          </p:cNvPr>
          <p:cNvSpPr txBox="1"/>
          <p:nvPr/>
        </p:nvSpPr>
        <p:spPr>
          <a:xfrm>
            <a:off x="6773898" y="3374748"/>
            <a:ext cx="10305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2010.7.19.</a:t>
            </a:r>
            <a:endParaRPr lang="ko-KR" altLang="en-US" sz="1050" dirty="0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A2652E66-F5AA-A6E8-644D-0F17986B08CF}"/>
              </a:ext>
            </a:extLst>
          </p:cNvPr>
          <p:cNvSpPr/>
          <p:nvPr/>
        </p:nvSpPr>
        <p:spPr>
          <a:xfrm>
            <a:off x="3476151" y="36434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50B75A69-D8A5-3DAB-F3B9-0063E0C5B2C4}"/>
              </a:ext>
            </a:extLst>
          </p:cNvPr>
          <p:cNvCxnSpPr>
            <a:cxnSpLocks/>
            <a:stCxn id="108" idx="0"/>
            <a:endCxn id="106" idx="4"/>
          </p:cNvCxnSpPr>
          <p:nvPr/>
        </p:nvCxnSpPr>
        <p:spPr>
          <a:xfrm flipH="1" flipV="1">
            <a:off x="3553520" y="3804767"/>
            <a:ext cx="1" cy="146665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FA070D65-583F-A691-4C71-83FB7D70F832}"/>
              </a:ext>
            </a:extLst>
          </p:cNvPr>
          <p:cNvSpPr txBox="1"/>
          <p:nvPr/>
        </p:nvSpPr>
        <p:spPr>
          <a:xfrm>
            <a:off x="2875695" y="5271425"/>
            <a:ext cx="1355652" cy="6001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A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와 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G 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비밀유지계약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highlight>
                  <a:srgbClr val="00FF00"/>
                </a:highlight>
                <a:latin typeface="+mn-ea"/>
              </a:rPr>
              <a:t>(2005.6 </a:t>
            </a:r>
            <a:r>
              <a:rPr lang="ko-KR" altLang="en-US" sz="1100" dirty="0">
                <a:solidFill>
                  <a:schemeClr val="tx1"/>
                </a:solidFill>
                <a:highlight>
                  <a:srgbClr val="00FF00"/>
                </a:highlight>
                <a:latin typeface="+mn-ea"/>
              </a:rPr>
              <a:t>정보개시</a:t>
            </a:r>
            <a:r>
              <a:rPr lang="en-US" altLang="ko-KR" sz="1100" dirty="0">
                <a:solidFill>
                  <a:schemeClr val="tx1"/>
                </a:solidFill>
                <a:highlight>
                  <a:srgbClr val="00FF00"/>
                </a:highlight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highlight>
                <a:srgbClr val="00FF00"/>
              </a:highlight>
              <a:latin typeface="+mn-ea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956F3F5A-5744-5885-D3E1-28F44F1565C8}"/>
              </a:ext>
            </a:extLst>
          </p:cNvPr>
          <p:cNvSpPr txBox="1"/>
          <p:nvPr/>
        </p:nvSpPr>
        <p:spPr>
          <a:xfrm>
            <a:off x="3103265" y="3374748"/>
            <a:ext cx="9297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/>
              <a:t>2005.7.1</a:t>
            </a:r>
            <a:endParaRPr lang="ko-KR" altLang="en-US" sz="1050" dirty="0"/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788D5A2D-EC75-59B1-D3CE-B5AEEC3A4FA5}"/>
              </a:ext>
            </a:extLst>
          </p:cNvPr>
          <p:cNvSpPr/>
          <p:nvPr/>
        </p:nvSpPr>
        <p:spPr>
          <a:xfrm>
            <a:off x="4891097" y="36434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FF976161-0017-EA93-FFBB-1B2BDB7F36DA}"/>
              </a:ext>
            </a:extLst>
          </p:cNvPr>
          <p:cNvCxnSpPr>
            <a:cxnSpLocks/>
            <a:stCxn id="124" idx="0"/>
            <a:endCxn id="122" idx="4"/>
          </p:cNvCxnSpPr>
          <p:nvPr/>
        </p:nvCxnSpPr>
        <p:spPr>
          <a:xfrm flipH="1" flipV="1">
            <a:off x="4968466" y="3804767"/>
            <a:ext cx="1" cy="73897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44573DAF-7BC4-5F23-439E-D52B410258B2}"/>
              </a:ext>
            </a:extLst>
          </p:cNvPr>
          <p:cNvSpPr txBox="1"/>
          <p:nvPr/>
        </p:nvSpPr>
        <p:spPr>
          <a:xfrm>
            <a:off x="4481239" y="4543741"/>
            <a:ext cx="974456" cy="6001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A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와 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G 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코팅기계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납품계약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51E49EB-2A6D-82FB-66BA-0BB179551B1B}"/>
              </a:ext>
            </a:extLst>
          </p:cNvPr>
          <p:cNvSpPr txBox="1"/>
          <p:nvPr/>
        </p:nvSpPr>
        <p:spPr>
          <a:xfrm>
            <a:off x="4518211" y="3374748"/>
            <a:ext cx="9297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/>
              <a:t>2005.8.1</a:t>
            </a:r>
            <a:endParaRPr lang="ko-KR" altLang="en-US" sz="1050" dirty="0"/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3321B93B-8A8D-DA72-E4F3-BBED6519ED97}"/>
              </a:ext>
            </a:extLst>
          </p:cNvPr>
          <p:cNvSpPr/>
          <p:nvPr/>
        </p:nvSpPr>
        <p:spPr>
          <a:xfrm>
            <a:off x="1525565" y="36434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695C33F1-AD45-1B7A-5077-9E8147BBC611}"/>
              </a:ext>
            </a:extLst>
          </p:cNvPr>
          <p:cNvCxnSpPr>
            <a:cxnSpLocks/>
            <a:stCxn id="135" idx="2"/>
            <a:endCxn id="133" idx="0"/>
          </p:cNvCxnSpPr>
          <p:nvPr/>
        </p:nvCxnSpPr>
        <p:spPr>
          <a:xfrm flipH="1">
            <a:off x="1602934" y="3098054"/>
            <a:ext cx="1" cy="54537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E8F9D85A-E428-10C7-C75E-95453CAF5A07}"/>
              </a:ext>
            </a:extLst>
          </p:cNvPr>
          <p:cNvSpPr txBox="1"/>
          <p:nvPr/>
        </p:nvSpPr>
        <p:spPr>
          <a:xfrm>
            <a:off x="1177947" y="2667167"/>
            <a:ext cx="849976" cy="4308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원고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(A)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와 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I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납품계약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27BEA9AA-7E3A-F4C4-FADA-75A75375197E}"/>
              </a:ext>
            </a:extLst>
          </p:cNvPr>
          <p:cNvSpPr txBox="1"/>
          <p:nvPr/>
        </p:nvSpPr>
        <p:spPr>
          <a:xfrm>
            <a:off x="1101604" y="3778840"/>
            <a:ext cx="10305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highlight>
                  <a:srgbClr val="00FF00"/>
                </a:highlight>
                <a:latin typeface="+mn-ea"/>
              </a:rPr>
              <a:t>2005.3.9</a:t>
            </a:r>
            <a:endParaRPr lang="ko-KR" altLang="en-US" sz="1050" dirty="0">
              <a:highlight>
                <a:srgbClr val="00FF00"/>
              </a:highlight>
            </a:endParaRPr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95DD681A-3305-48F8-FBD8-80301FF47585}"/>
              </a:ext>
            </a:extLst>
          </p:cNvPr>
          <p:cNvSpPr/>
          <p:nvPr/>
        </p:nvSpPr>
        <p:spPr>
          <a:xfrm>
            <a:off x="2843268" y="36434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CFA7E383-09B4-C62D-B86C-9A699A80C54E}"/>
              </a:ext>
            </a:extLst>
          </p:cNvPr>
          <p:cNvCxnSpPr>
            <a:cxnSpLocks/>
            <a:stCxn id="141" idx="2"/>
            <a:endCxn id="139" idx="0"/>
          </p:cNvCxnSpPr>
          <p:nvPr/>
        </p:nvCxnSpPr>
        <p:spPr>
          <a:xfrm flipH="1">
            <a:off x="2920637" y="2928777"/>
            <a:ext cx="1" cy="71465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14AE476A-93BF-F87D-F836-96320BA157CE}"/>
              </a:ext>
            </a:extLst>
          </p:cNvPr>
          <p:cNvSpPr txBox="1"/>
          <p:nvPr/>
        </p:nvSpPr>
        <p:spPr>
          <a:xfrm>
            <a:off x="2495650" y="2667167"/>
            <a:ext cx="849976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납품완료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030308EF-646E-1B74-3021-7021A733024C}"/>
              </a:ext>
            </a:extLst>
          </p:cNvPr>
          <p:cNvSpPr txBox="1"/>
          <p:nvPr/>
        </p:nvSpPr>
        <p:spPr>
          <a:xfrm>
            <a:off x="2419307" y="3778840"/>
            <a:ext cx="10305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highlight>
                  <a:srgbClr val="00FF00"/>
                </a:highlight>
                <a:latin typeface="+mn-ea"/>
              </a:rPr>
              <a:t>2005.5.15</a:t>
            </a:r>
            <a:endParaRPr lang="ko-KR" altLang="en-US" sz="1050" dirty="0">
              <a:highlight>
                <a:srgbClr val="00FF00"/>
              </a:highlight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441CECA7-A0F3-7852-359F-E0155C1CD18F}"/>
              </a:ext>
            </a:extLst>
          </p:cNvPr>
          <p:cNvSpPr txBox="1"/>
          <p:nvPr/>
        </p:nvSpPr>
        <p:spPr>
          <a:xfrm>
            <a:off x="165033" y="6099893"/>
            <a:ext cx="5638082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H</a:t>
            </a:r>
            <a:r>
              <a:rPr lang="ko-KR" altLang="en-US" dirty="0"/>
              <a:t>와 </a:t>
            </a:r>
            <a:r>
              <a:rPr lang="en-US" altLang="ko-KR" dirty="0"/>
              <a:t>G </a:t>
            </a:r>
            <a:r>
              <a:rPr lang="ko-KR" altLang="en-US" dirty="0"/>
              <a:t>사이에 비밀유지계약 없지만</a:t>
            </a:r>
            <a:r>
              <a:rPr lang="en-US" altLang="ko-KR" dirty="0"/>
              <a:t>, </a:t>
            </a:r>
            <a:r>
              <a:rPr lang="en-US" altLang="ko-KR" dirty="0">
                <a:highlight>
                  <a:srgbClr val="FFFF00"/>
                </a:highlight>
              </a:rPr>
              <a:t>G</a:t>
            </a:r>
            <a:r>
              <a:rPr lang="ko-KR" altLang="en-US" dirty="0">
                <a:highlight>
                  <a:srgbClr val="FFFF00"/>
                </a:highlight>
              </a:rPr>
              <a:t>가 비밀로 관리</a:t>
            </a:r>
            <a:r>
              <a:rPr lang="ko-KR" altLang="en-US" dirty="0"/>
              <a:t>하여 </a:t>
            </a:r>
            <a:endParaRPr lang="en-US" altLang="ko-KR" dirty="0"/>
          </a:p>
          <a:p>
            <a:r>
              <a:rPr lang="ko-KR" altLang="en-US" dirty="0"/>
              <a:t>불특정인이 인식할 수 있는 상태가 아님</a:t>
            </a:r>
            <a:r>
              <a:rPr lang="en-US" altLang="ko-KR" dirty="0"/>
              <a:t>, </a:t>
            </a:r>
            <a:r>
              <a:rPr lang="ko-KR" altLang="en-US" dirty="0"/>
              <a:t>따라서 공지</a:t>
            </a:r>
            <a:r>
              <a:rPr lang="en-US" altLang="ko-KR" dirty="0"/>
              <a:t>X</a:t>
            </a:r>
            <a:endParaRPr lang="ko-KR" altLang="en-US" dirty="0"/>
          </a:p>
        </p:txBody>
      </p: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0017C685-4C22-17A6-0B77-46B3FDA7FA02}"/>
              </a:ext>
            </a:extLst>
          </p:cNvPr>
          <p:cNvCxnSpPr>
            <a:endCxn id="26" idx="3"/>
          </p:cNvCxnSpPr>
          <p:nvPr/>
        </p:nvCxnSpPr>
        <p:spPr>
          <a:xfrm flipH="1" flipV="1">
            <a:off x="1716656" y="5550455"/>
            <a:ext cx="311267" cy="549438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93107F52-2E66-4254-7C12-468EA018A320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2027923" y="5203627"/>
            <a:ext cx="216480" cy="896266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75ECCE08-1B40-243B-8842-A139CD978976}"/>
              </a:ext>
            </a:extLst>
          </p:cNvPr>
          <p:cNvSpPr txBox="1"/>
          <p:nvPr/>
        </p:nvSpPr>
        <p:spPr>
          <a:xfrm>
            <a:off x="5487117" y="2551245"/>
            <a:ext cx="5730041" cy="646331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A</a:t>
            </a:r>
            <a:r>
              <a:rPr lang="ko-KR" altLang="en-US" dirty="0"/>
              <a:t>만 비밀유지의무를 부담하고</a:t>
            </a:r>
            <a:r>
              <a:rPr lang="en-US" altLang="ko-KR" dirty="0"/>
              <a:t>, I</a:t>
            </a:r>
            <a:r>
              <a:rPr lang="ko-KR" altLang="en-US" dirty="0"/>
              <a:t>는 비밀유지의무를 부담하지 않을 뿐더러 </a:t>
            </a:r>
            <a:r>
              <a:rPr lang="en-US" altLang="ko-KR" dirty="0">
                <a:highlight>
                  <a:srgbClr val="FFFF00"/>
                </a:highlight>
              </a:rPr>
              <a:t>I</a:t>
            </a:r>
            <a:r>
              <a:rPr lang="ko-KR" altLang="en-US" dirty="0">
                <a:highlight>
                  <a:srgbClr val="FFFF00"/>
                </a:highlight>
              </a:rPr>
              <a:t>가 비밀로 관리하지 않음</a:t>
            </a:r>
            <a:r>
              <a:rPr lang="en-US" altLang="ko-KR" dirty="0"/>
              <a:t>, </a:t>
            </a:r>
            <a:r>
              <a:rPr lang="ko-KR" altLang="en-US" dirty="0"/>
              <a:t>따라서 공지 </a:t>
            </a:r>
            <a:r>
              <a:rPr lang="en-US" altLang="ko-KR" dirty="0"/>
              <a:t>O</a:t>
            </a:r>
            <a:endParaRPr lang="ko-KR" altLang="en-US" dirty="0"/>
          </a:p>
        </p:txBody>
      </p:sp>
      <p:cxnSp>
        <p:nvCxnSpPr>
          <p:cNvPr id="153" name="직선 화살표 연결선 152">
            <a:extLst>
              <a:ext uri="{FF2B5EF4-FFF2-40B4-BE49-F238E27FC236}">
                <a16:creationId xmlns:a16="http://schemas.microsoft.com/office/drawing/2014/main" id="{9D65985A-D02D-830F-F4EE-CFCABEDF083F}"/>
              </a:ext>
            </a:extLst>
          </p:cNvPr>
          <p:cNvCxnSpPr>
            <a:cxnSpLocks/>
            <a:stCxn id="152" idx="1"/>
            <a:endCxn id="24" idx="3"/>
          </p:cNvCxnSpPr>
          <p:nvPr/>
        </p:nvCxnSpPr>
        <p:spPr>
          <a:xfrm flipH="1" flipV="1">
            <a:off x="5083021" y="2814848"/>
            <a:ext cx="404096" cy="59563"/>
          </a:xfrm>
          <a:prstGeom prst="straightConnector1">
            <a:avLst/>
          </a:prstGeom>
          <a:ln w="28575">
            <a:solidFill>
              <a:schemeClr val="accent4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EF0033D8-3C84-5451-D0F5-C9CBA9213B1A}"/>
              </a:ext>
            </a:extLst>
          </p:cNvPr>
          <p:cNvCxnSpPr/>
          <p:nvPr/>
        </p:nvCxnSpPr>
        <p:spPr>
          <a:xfrm>
            <a:off x="0" y="2390527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B231E1F0-A0BC-3D52-6670-57A535E8BCC0}"/>
              </a:ext>
            </a:extLst>
          </p:cNvPr>
          <p:cNvSpPr txBox="1"/>
          <p:nvPr/>
        </p:nvSpPr>
        <p:spPr>
          <a:xfrm>
            <a:off x="5942923" y="4828353"/>
            <a:ext cx="5817250" cy="120032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28600" indent="-228600" algn="l">
              <a:buAutoNum type="arabicPeriod"/>
            </a:pPr>
            <a:r>
              <a:rPr lang="ko-KR" altLang="en-US" sz="1200" b="0" i="0" u="none" strike="noStrike" baseline="0" dirty="0">
                <a:latin typeface="CourtBT"/>
              </a:rPr>
              <a:t>선행발명 </a:t>
            </a:r>
            <a:r>
              <a:rPr lang="en-US" altLang="ko-KR" sz="1200" b="0" i="0" u="none" strike="noStrike" baseline="0" dirty="0">
                <a:latin typeface="CourtBT"/>
              </a:rPr>
              <a:t>2</a:t>
            </a:r>
            <a:r>
              <a:rPr lang="ko-KR" altLang="en-US" sz="1200" b="0" i="0" u="none" strike="noStrike" baseline="0" dirty="0">
                <a:latin typeface="CourtBT"/>
              </a:rPr>
              <a:t>와 실질적으로 동일하다고 볼 여지가 있으나</a:t>
            </a:r>
            <a:r>
              <a:rPr lang="en-US" altLang="ko-KR" sz="1200" b="0" i="0" u="none" strike="noStrike" baseline="0" dirty="0">
                <a:latin typeface="CourtBT"/>
              </a:rPr>
              <a:t>, A</a:t>
            </a:r>
            <a:r>
              <a:rPr lang="ko-KR" altLang="en-US" sz="1200" b="0" i="0" u="none" strike="noStrike" baseline="0" dirty="0">
                <a:latin typeface="CourtBT"/>
              </a:rPr>
              <a:t>가 </a:t>
            </a:r>
            <a:r>
              <a:rPr lang="en-US" altLang="ko-KR" sz="1200" b="0" i="0" u="none" strike="noStrike" baseline="0" dirty="0">
                <a:latin typeface="CourtBT"/>
              </a:rPr>
              <a:t>G</a:t>
            </a:r>
            <a:r>
              <a:rPr lang="ko-KR" altLang="en-US" sz="1200" b="0" i="0" u="none" strike="noStrike" baseline="0" dirty="0">
                <a:latin typeface="CourtBT"/>
              </a:rPr>
              <a:t>로부터 선행발명 </a:t>
            </a:r>
            <a:r>
              <a:rPr lang="en-US" altLang="ko-KR" sz="1200" b="0" i="0" u="none" strike="noStrike" baseline="0" dirty="0">
                <a:latin typeface="CourtBT"/>
              </a:rPr>
              <a:t>2</a:t>
            </a:r>
            <a:r>
              <a:rPr lang="ko-KR" altLang="en-US" sz="1200" b="0" i="0" u="none" strike="noStrike" baseline="0" dirty="0">
                <a:latin typeface="CourtBT"/>
              </a:rPr>
              <a:t>를 </a:t>
            </a:r>
            <a:r>
              <a:rPr lang="ko-KR" altLang="en-US" sz="1200" dirty="0">
                <a:latin typeface="CourtBT"/>
              </a:rPr>
              <a:t>제</a:t>
            </a:r>
            <a:r>
              <a:rPr lang="ko-KR" altLang="en-US" sz="1200" b="0" i="0" u="none" strike="noStrike" baseline="0" dirty="0">
                <a:latin typeface="CourtBT"/>
              </a:rPr>
              <a:t>공받았다 하더라도 그 전에 특허발명을 자체적으로 완성하였다</a:t>
            </a:r>
            <a:r>
              <a:rPr lang="en-US" altLang="ko-KR" sz="1200" b="0" i="0" u="none" strike="noStrike" baseline="0" dirty="0">
                <a:latin typeface="CourtBT"/>
              </a:rPr>
              <a:t>. </a:t>
            </a:r>
            <a:r>
              <a:rPr lang="ko-KR" altLang="en-US" sz="1200" b="0" i="0" u="none" strike="noStrike" baseline="0" dirty="0">
                <a:latin typeface="CourtBT"/>
              </a:rPr>
              <a:t>피고가 제출한 자료만으로는 </a:t>
            </a:r>
            <a:r>
              <a:rPr lang="en-US" altLang="ko-KR" sz="1200" b="0" i="0" u="none" strike="noStrike" baseline="0" dirty="0">
                <a:latin typeface="CourtBT"/>
              </a:rPr>
              <a:t>A</a:t>
            </a:r>
            <a:r>
              <a:rPr lang="ko-KR" altLang="en-US" sz="1200" dirty="0">
                <a:latin typeface="CourtBT"/>
              </a:rPr>
              <a:t>가 선행발명 </a:t>
            </a:r>
            <a:r>
              <a:rPr lang="en-US" altLang="ko-KR" sz="1200" dirty="0">
                <a:latin typeface="CourtBT"/>
              </a:rPr>
              <a:t>1</a:t>
            </a:r>
            <a:r>
              <a:rPr lang="ko-KR" altLang="en-US" sz="1200" dirty="0">
                <a:latin typeface="CourtBT"/>
              </a:rPr>
              <a:t> 또는 </a:t>
            </a:r>
            <a:r>
              <a:rPr lang="en-US" altLang="ko-KR" sz="1200" dirty="0">
                <a:latin typeface="CourtBT"/>
              </a:rPr>
              <a:t>2</a:t>
            </a:r>
            <a:r>
              <a:rPr lang="ko-KR" altLang="en-US" sz="1200" dirty="0">
                <a:latin typeface="CourtBT"/>
              </a:rPr>
              <a:t>를 모방하여 정당한 권한 없이 무단으로 이 사건 특허발명을 출원하였다는 점이 증명되었다고 보기 어렵다</a:t>
            </a:r>
            <a:r>
              <a:rPr lang="en-US" altLang="ko-KR" sz="1200" dirty="0">
                <a:latin typeface="CourtBT"/>
              </a:rPr>
              <a:t>.</a:t>
            </a:r>
            <a:endParaRPr lang="en-US" altLang="ko-KR" sz="1200" b="0" i="0" u="none" strike="noStrike" baseline="0" dirty="0">
              <a:latin typeface="CourtBT"/>
            </a:endParaRPr>
          </a:p>
          <a:p>
            <a:pPr marL="228600" indent="-228600" algn="l"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highlight>
                  <a:srgbClr val="00FFFF"/>
                </a:highlight>
                <a:latin typeface="+mn-ea"/>
              </a:rPr>
              <a:t>선행발명 </a:t>
            </a:r>
            <a:r>
              <a:rPr lang="en-US" altLang="ko-KR" sz="1200" dirty="0">
                <a:solidFill>
                  <a:schemeClr val="tx1"/>
                </a:solidFill>
                <a:highlight>
                  <a:srgbClr val="00FFFF"/>
                </a:highlight>
                <a:latin typeface="+mn-ea"/>
              </a:rPr>
              <a:t>1, 2</a:t>
            </a:r>
            <a:r>
              <a:rPr lang="ko-KR" altLang="en-US" sz="1200" dirty="0">
                <a:solidFill>
                  <a:schemeClr val="tx1"/>
                </a:solidFill>
                <a:highlight>
                  <a:srgbClr val="00FFFF"/>
                </a:highlight>
                <a:latin typeface="+mn-ea"/>
              </a:rPr>
              <a:t>는 출원 전에 공지되지 않았고</a:t>
            </a:r>
            <a:r>
              <a:rPr lang="en-US" altLang="ko-KR" sz="1200" dirty="0">
                <a:solidFill>
                  <a:schemeClr val="tx1"/>
                </a:solidFill>
                <a:highlight>
                  <a:srgbClr val="00FFFF"/>
                </a:highlight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선행발명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은 출원 전 공지되었으나 선행발명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에 의하여 신규성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진보성이 부정되지 않는다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</a:p>
        </p:txBody>
      </p:sp>
      <p:cxnSp>
        <p:nvCxnSpPr>
          <p:cNvPr id="158" name="연결선: 꺾임 157">
            <a:extLst>
              <a:ext uri="{FF2B5EF4-FFF2-40B4-BE49-F238E27FC236}">
                <a16:creationId xmlns:a16="http://schemas.microsoft.com/office/drawing/2014/main" id="{A70AE49C-B0F1-3D2B-65E7-4F87FD0E8818}"/>
              </a:ext>
            </a:extLst>
          </p:cNvPr>
          <p:cNvCxnSpPr>
            <a:cxnSpLocks/>
            <a:stCxn id="39" idx="2"/>
            <a:endCxn id="157" idx="0"/>
          </p:cNvCxnSpPr>
          <p:nvPr/>
        </p:nvCxnSpPr>
        <p:spPr>
          <a:xfrm rot="5400000">
            <a:off x="9889912" y="3421697"/>
            <a:ext cx="368292" cy="2445020"/>
          </a:xfrm>
          <a:prstGeom prst="bentConnector3">
            <a:avLst>
              <a:gd name="adj1" fmla="val 50000"/>
            </a:avLst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2697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33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공동발명자에 해당하는 자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103</a:t>
            </a:fld>
            <a:endParaRPr lang="ko-KR" altLang="en-US"/>
          </a:p>
        </p:txBody>
      </p:sp>
      <p:cxnSp>
        <p:nvCxnSpPr>
          <p:cNvPr id="5" name="직선 연결선 4"/>
          <p:cNvCxnSpPr/>
          <p:nvPr/>
        </p:nvCxnSpPr>
        <p:spPr>
          <a:xfrm>
            <a:off x="0" y="1727101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공동발명이란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highlight>
                  <a:srgbClr val="FFFF00"/>
                </a:highlight>
              </a:rPr>
              <a:t>2</a:t>
            </a:r>
            <a:r>
              <a:rPr lang="ko-KR" altLang="en-US" sz="1400" dirty="0">
                <a:highlight>
                  <a:srgbClr val="FFFF00"/>
                </a:highlight>
              </a:rPr>
              <a:t>명 이상의 자연인이 실질적으로 협력하여 함께 완성한 발명</a:t>
            </a:r>
            <a:r>
              <a:rPr lang="ko-KR" altLang="en-US" sz="1400" dirty="0">
                <a:solidFill>
                  <a:schemeClr val="tx2"/>
                </a:solidFill>
              </a:rPr>
              <a:t>을 말한다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공동발명자가 되기 위해서는 이루는 기술적 사상의 창작에 실질적 협력하였다는 객관적 요건과 상호 협력하여 발명행위를 수행한다는 주관적 요건이 필요하다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실질적 협력이란 발명의 착상단계에서 구체화하는 단계에 실질적으로 관여하는 것을 의미한다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따라서 단순한 보조자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관리자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위탁자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자본주 등은 공동발명자가 되지 못한다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952147"/>
              </p:ext>
            </p:extLst>
          </p:nvPr>
        </p:nvGraphicFramePr>
        <p:xfrm>
          <a:off x="372533" y="1815625"/>
          <a:ext cx="11446934" cy="2411984"/>
        </p:xfrm>
        <a:graphic>
          <a:graphicData uri="http://schemas.openxmlformats.org/drawingml/2006/table">
            <a:tbl>
              <a:tblPr/>
              <a:tblGrid>
                <a:gridCol w="5723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3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8968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발명자에 해당하는 자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발명자에 해당하지 아니한 자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770"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어떤 문제를 해결하기 위한 기술적 수단을 착상한 자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타인의 착상에 의거 연구를 하여 발명을 완성하게 한 자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타인의 착상에 대하여 구체화하는 기술적 수단을 부가하여 발명을 완성한 자</a:t>
                      </a:r>
                    </a:p>
                    <a:p>
                      <a:pPr marL="179388" marR="17780" indent="-179388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4.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구체화하기 위해서 약간 불완전한 착상을 하고 타인에게 일반적인 지식의 조언 또는 지도를 얻어 발명을 완성한 자</a:t>
                      </a:r>
                    </a:p>
                    <a:p>
                      <a:pPr marL="106680" marR="17780" indent="-10668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5.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타인의 발명에 힌트를 얻고 다시 그 발명의 범위를 확대하는 발명을 한 자</a:t>
                      </a:r>
                      <a:endParaRPr lang="en-US" altLang="ko-KR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9388" marR="17780" indent="-179388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6.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화학발명의 경우 실제 실험을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tx2"/>
                          </a:solidFill>
                        </a:rPr>
                        <a:t>통하여 발명을 구체화하고 완성하는 데 실질적으로 기여한 자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1760" marR="17780" indent="-11176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발명자에게 자금을 제공하거나 설비이용의 편의를 주는 등 발명의 완성을 원조하거나 위탁한 자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단순후원자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위탁자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6680" marR="17780" indent="-10668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희망조건만 제시하고 그것을 해결할 착상을 제공하지 아니한 자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단순 관리자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6680" marR="17780" indent="-10668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타인이 제시한 착상 속에서 실용성이 있을 것을 선택한 것에 지나지 아니한 자</a:t>
                      </a:r>
                    </a:p>
                    <a:p>
                      <a:pPr marL="106680" marR="17780" indent="-10668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4.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그 발명에 관하여 착상만 하고 구체화하는 과정에서 실질적으로 관여하지 아니한 자</a:t>
                      </a:r>
                    </a:p>
                    <a:p>
                      <a:pPr marL="118110" marR="17780" indent="-11811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5.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발명의 과정에서 연구자의 지시로 단순히 데이터를 정리하거나 제시된 제도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실험 등을 한 것에 지니지 아니한 자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단순보조자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6.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단지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일반 지식의 조언 또는 제시를 주기만 한 자</a:t>
                      </a:r>
                      <a:endParaRPr lang="en-US" altLang="ko-KR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7.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구성을 변경했지만 기술적 사상의 창작에 기여하지 않은 자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직사각형 8"/>
          <p:cNvSpPr/>
          <p:nvPr/>
        </p:nvSpPr>
        <p:spPr bwMode="auto">
          <a:xfrm>
            <a:off x="348791" y="4663101"/>
            <a:ext cx="11519555" cy="1986212"/>
          </a:xfrm>
          <a:prstGeom prst="rect">
            <a:avLst/>
          </a:prstGeom>
          <a:ln>
            <a:solidFill>
              <a:schemeClr val="accent3"/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tIns="72000" bIns="72000" rtlCol="0" anchor="ctr"/>
          <a:lstStyle/>
          <a:p>
            <a:pPr fontAlgn="base">
              <a:lnSpc>
                <a:spcPct val="150000"/>
              </a:lnSpc>
            </a:pPr>
            <a:r>
              <a:rPr lang="ko-KR" altLang="en-US" sz="1200" dirty="0"/>
              <a:t>공동발명자가 되기 위해서는 발명의 완성을 위하여 실질적으로 상호 협력하는 관계가 있어야 하므로</a:t>
            </a:r>
            <a:r>
              <a:rPr lang="en-US" altLang="ko-KR" sz="1200" dirty="0"/>
              <a:t>, ⅰ) </a:t>
            </a:r>
            <a:r>
              <a:rPr lang="ko-KR" altLang="en-US" sz="1200" dirty="0"/>
              <a:t>단순히 발명에 대한 기본적인 과제와 아이디어만을 제공하였거나</a:t>
            </a:r>
            <a:r>
              <a:rPr lang="en-US" altLang="ko-KR" sz="1200" dirty="0"/>
              <a:t>, ⅱ) </a:t>
            </a:r>
            <a:r>
              <a:rPr lang="ko-KR" altLang="en-US" sz="1200" dirty="0"/>
              <a:t>연구자를 일반적으로 관리하였거나</a:t>
            </a:r>
            <a:r>
              <a:rPr lang="en-US" altLang="ko-KR" sz="1200" dirty="0"/>
              <a:t>, ⅲ) </a:t>
            </a:r>
            <a:r>
              <a:rPr lang="ko-KR" altLang="en-US" sz="1200" dirty="0"/>
              <a:t>연구자의 지시로 데이터의 정리와 실험만을 하였거나</a:t>
            </a:r>
            <a:r>
              <a:rPr lang="en-US" altLang="ko-KR" sz="1200" dirty="0"/>
              <a:t>, ⅳ) </a:t>
            </a:r>
            <a:r>
              <a:rPr lang="ko-KR" altLang="en-US" sz="1200" dirty="0"/>
              <a:t>자금⋅설비 등을 제공하여 발명의 완성을 후원⋅위탁하였을 뿐인 정도 등에 그치지 않고</a:t>
            </a:r>
            <a:r>
              <a:rPr lang="en-US" altLang="ko-KR" sz="1200" dirty="0"/>
              <a:t>, ⅰ) </a:t>
            </a:r>
            <a:r>
              <a:rPr lang="ko-KR" altLang="en-US" sz="1200" dirty="0"/>
              <a:t>발명의 기술적 과제를 해결하기 위한 구체적인 착상을 새롭게 제시⋅부가⋅보완하거나</a:t>
            </a:r>
            <a:r>
              <a:rPr lang="en-US" altLang="ko-KR" sz="1200" dirty="0"/>
              <a:t>, ⅱ) </a:t>
            </a:r>
            <a:r>
              <a:rPr lang="ko-KR" altLang="en-US" sz="1200" dirty="0"/>
              <a:t>실험 등을 통하여 새로운 착상을 구체화하거나</a:t>
            </a:r>
            <a:r>
              <a:rPr lang="en-US" altLang="ko-KR" sz="1200" dirty="0"/>
              <a:t>, ⅲ) </a:t>
            </a:r>
            <a:r>
              <a:rPr lang="ko-KR" altLang="en-US" sz="1200" dirty="0"/>
              <a:t>발명의 목적 및 효과를 달성하기 위한 구체적인 수단과 방법의 제공 또는 구체적인 조언⋅지도를 통하여 발명을 가능하게 한 경우 등과 같이 기술적 사상의 창작행위에 실질적으로 기여하기에 이르러야 공동발명자에 해당한다</a:t>
            </a:r>
            <a:r>
              <a:rPr lang="en-US" altLang="ko-KR" sz="1200" dirty="0"/>
              <a:t>. </a:t>
            </a:r>
            <a:r>
              <a:rPr lang="ko-KR" altLang="en-US" sz="1200" dirty="0"/>
              <a:t>한편 이른바 실험의 과학이라고 하는 </a:t>
            </a:r>
            <a:r>
              <a:rPr lang="ko-KR" altLang="en-US" sz="1200" dirty="0">
                <a:solidFill>
                  <a:srgbClr val="FF0000"/>
                </a:solidFill>
              </a:rPr>
              <a:t>화학발명의 경우</a:t>
            </a:r>
            <a:r>
              <a:rPr lang="ko-KR" altLang="en-US" sz="1200" dirty="0"/>
              <a:t>에는 그 발명 내용과 기술수준에 따라 차이가 있을 수는 있지만 예측가능성 내지 실현가능성이 현저히 부족하여 실험데이터가 제시된 </a:t>
            </a:r>
            <a:r>
              <a:rPr lang="ko-KR" altLang="en-US" sz="1200" dirty="0" err="1"/>
              <a:t>실험예가</a:t>
            </a:r>
            <a:r>
              <a:rPr lang="ko-KR" altLang="en-US" sz="1200" dirty="0"/>
              <a:t> 없으면 완성된 발명으로 보기 어려운 경우가 많이 있는데</a:t>
            </a:r>
            <a:r>
              <a:rPr lang="en-US" altLang="ko-KR" sz="1200" dirty="0"/>
              <a:t>, </a:t>
            </a:r>
            <a:r>
              <a:rPr lang="ko-KR" altLang="en-US" sz="1200" dirty="0"/>
              <a:t>그와 같은 경우에는 </a:t>
            </a:r>
            <a:r>
              <a:rPr lang="ko-KR" altLang="en-US" sz="1200" dirty="0">
                <a:solidFill>
                  <a:srgbClr val="FF0000"/>
                </a:solidFill>
              </a:rPr>
              <a:t>실제 실험을 통하여 발명을 구체화하고 완성하는 데 실질적으로 기여하였는지의 관점</a:t>
            </a:r>
            <a:r>
              <a:rPr lang="ko-KR" altLang="en-US" sz="1200" dirty="0"/>
              <a:t>에서 공동발명자인지를 결정하여야 한다</a:t>
            </a:r>
          </a:p>
        </p:txBody>
      </p:sp>
      <p:sp>
        <p:nvSpPr>
          <p:cNvPr id="10" name="모서리가 둥근 직사각형 9"/>
          <p:cNvSpPr/>
          <p:nvPr/>
        </p:nvSpPr>
        <p:spPr bwMode="auto">
          <a:xfrm>
            <a:off x="348791" y="4372785"/>
            <a:ext cx="4680521" cy="288032"/>
          </a:xfrm>
          <a:prstGeom prst="roundRect">
            <a:avLst>
              <a:gd name="adj" fmla="val 0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accent3"/>
            </a:solidFill>
            <a:headEnd type="none" w="med" len="med"/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 latinLnBrk="0"/>
            <a:r>
              <a:rPr lang="ko-KR" altLang="en-US" sz="1200" dirty="0"/>
              <a:t>대법원 </a:t>
            </a:r>
            <a:r>
              <a:rPr lang="en-US" altLang="ko-KR" sz="1200" dirty="0"/>
              <a:t>2011. 7. 28.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2009</a:t>
            </a:r>
            <a:r>
              <a:rPr lang="ko-KR" altLang="en-US" sz="1200" dirty="0"/>
              <a:t>다</a:t>
            </a:r>
            <a:r>
              <a:rPr lang="en-US" altLang="ko-KR" sz="1200" dirty="0"/>
              <a:t>75178</a:t>
            </a:r>
            <a:r>
              <a:rPr lang="ko-KR" altLang="en-US" sz="1200" dirty="0"/>
              <a:t> 판결</a:t>
            </a:r>
            <a:r>
              <a:rPr lang="en-US" altLang="ko-KR" sz="1200" dirty="0"/>
              <a:t>【</a:t>
            </a:r>
            <a:r>
              <a:rPr lang="ko-KR" altLang="en-US" sz="1200" dirty="0"/>
              <a:t>직무 발명 보상금</a:t>
            </a:r>
            <a:r>
              <a:rPr lang="en-US" altLang="ko-KR" sz="1200" dirty="0"/>
              <a:t>】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6539519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33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공동발명자의 법적 취급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104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8A501A-DE38-4C46-AA95-C34350E97086}"/>
              </a:ext>
            </a:extLst>
          </p:cNvPr>
          <p:cNvSpPr txBox="1"/>
          <p:nvPr/>
        </p:nvSpPr>
        <p:spPr>
          <a:xfrm>
            <a:off x="1613132" y="1074920"/>
            <a:ext cx="100929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의의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BFDA6B-D707-492F-8239-7FE810697B86}"/>
              </a:ext>
            </a:extLst>
          </p:cNvPr>
          <p:cNvSpPr txBox="1"/>
          <p:nvPr/>
        </p:nvSpPr>
        <p:spPr>
          <a:xfrm>
            <a:off x="1613132" y="1627010"/>
            <a:ext cx="100929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성립요건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35DAE6-83A0-4209-943C-79F070A474AB}"/>
              </a:ext>
            </a:extLst>
          </p:cNvPr>
          <p:cNvSpPr txBox="1"/>
          <p:nvPr/>
        </p:nvSpPr>
        <p:spPr>
          <a:xfrm>
            <a:off x="1613132" y="3002460"/>
            <a:ext cx="100929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유 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886FEA-06E8-4E3C-A619-FD903249AD25}"/>
              </a:ext>
            </a:extLst>
          </p:cNvPr>
          <p:cNvSpPr txBox="1"/>
          <p:nvPr/>
        </p:nvSpPr>
        <p:spPr>
          <a:xfrm>
            <a:off x="1613132" y="4300818"/>
            <a:ext cx="100929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법적취급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F2E40B-F794-49A9-856E-A80C7BD7FC5A}"/>
              </a:ext>
            </a:extLst>
          </p:cNvPr>
          <p:cNvSpPr txBox="1"/>
          <p:nvPr/>
        </p:nvSpPr>
        <p:spPr>
          <a:xfrm>
            <a:off x="3140247" y="1350011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인 이상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249277-79C6-4AC0-B443-475021FD0F25}"/>
              </a:ext>
            </a:extLst>
          </p:cNvPr>
          <p:cNvSpPr txBox="1"/>
          <p:nvPr/>
        </p:nvSpPr>
        <p:spPr>
          <a:xfrm>
            <a:off x="3140247" y="1679387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자연인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7A7049-271D-4B3F-9BC6-0E73C9632BC1}"/>
              </a:ext>
            </a:extLst>
          </p:cNvPr>
          <p:cNvSpPr txBox="1"/>
          <p:nvPr/>
        </p:nvSpPr>
        <p:spPr>
          <a:xfrm>
            <a:off x="3140247" y="2008763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실질적 협력 완성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F1EE66-AF37-4B8C-82FF-47A16BCD9E22}"/>
              </a:ext>
            </a:extLst>
          </p:cNvPr>
          <p:cNvSpPr txBox="1"/>
          <p:nvPr/>
        </p:nvSpPr>
        <p:spPr>
          <a:xfrm>
            <a:off x="5124562" y="1811676"/>
            <a:ext cx="2673712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주관적 요건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AEC894-68F3-4258-BCA9-EF5C26998A3F}"/>
              </a:ext>
            </a:extLst>
          </p:cNvPr>
          <p:cNvSpPr txBox="1"/>
          <p:nvPr/>
        </p:nvSpPr>
        <p:spPr>
          <a:xfrm>
            <a:off x="5124562" y="2175808"/>
            <a:ext cx="2673712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객관적 요건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DFAC0B-FBCD-4746-8BF4-572E900C3E6E}"/>
              </a:ext>
            </a:extLst>
          </p:cNvPr>
          <p:cNvSpPr txBox="1"/>
          <p:nvPr/>
        </p:nvSpPr>
        <p:spPr>
          <a:xfrm>
            <a:off x="3140247" y="2920991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해당하는 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F9B9D6-F717-4D9B-81E3-3B9F81683D98}"/>
              </a:ext>
            </a:extLst>
          </p:cNvPr>
          <p:cNvSpPr txBox="1"/>
          <p:nvPr/>
        </p:nvSpPr>
        <p:spPr>
          <a:xfrm>
            <a:off x="3140247" y="3250367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해당하지 않는 자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703ABD-4B33-4AED-8342-ECBA580A435F}"/>
              </a:ext>
            </a:extLst>
          </p:cNvPr>
          <p:cNvSpPr txBox="1"/>
          <p:nvPr/>
        </p:nvSpPr>
        <p:spPr>
          <a:xfrm>
            <a:off x="3140247" y="4162318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공유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D703C1-AA7B-4607-8FEF-316F9BC75F84}"/>
              </a:ext>
            </a:extLst>
          </p:cNvPr>
          <p:cNvSpPr txBox="1"/>
          <p:nvPr/>
        </p:nvSpPr>
        <p:spPr>
          <a:xfrm>
            <a:off x="3140247" y="4776362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심판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및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소송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939AFB-DEC8-4E8C-B255-C22388228573}"/>
              </a:ext>
            </a:extLst>
          </p:cNvPr>
          <p:cNvSpPr txBox="1"/>
          <p:nvPr/>
        </p:nvSpPr>
        <p:spPr>
          <a:xfrm>
            <a:off x="3140247" y="5916144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그 밖의 절차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E0C8CE3-FD24-49BB-BDE2-380436520087}"/>
              </a:ext>
            </a:extLst>
          </p:cNvPr>
          <p:cNvSpPr txBox="1"/>
          <p:nvPr/>
        </p:nvSpPr>
        <p:spPr>
          <a:xfrm>
            <a:off x="5124562" y="4023818"/>
            <a:ext cx="2673712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</a:rPr>
              <a:t>등록전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 취급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37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조제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CEFF5F-4C53-42DE-8FCC-C667D92F2868}"/>
              </a:ext>
            </a:extLst>
          </p:cNvPr>
          <p:cNvSpPr txBox="1"/>
          <p:nvPr/>
        </p:nvSpPr>
        <p:spPr>
          <a:xfrm>
            <a:off x="5124562" y="4387950"/>
            <a:ext cx="2673712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</a:rPr>
              <a:t>등록후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 취급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99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조제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78B074-7893-4261-92D2-1046A5674BB1}"/>
              </a:ext>
            </a:extLst>
          </p:cNvPr>
          <p:cNvSpPr txBox="1"/>
          <p:nvPr/>
        </p:nvSpPr>
        <p:spPr>
          <a:xfrm>
            <a:off x="5124562" y="4776362"/>
            <a:ext cx="2673712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B76C42-487F-4BD2-A9AF-470552BC7397}"/>
              </a:ext>
            </a:extLst>
          </p:cNvPr>
          <p:cNvSpPr txBox="1"/>
          <p:nvPr/>
        </p:nvSpPr>
        <p:spPr>
          <a:xfrm>
            <a:off x="5124562" y="5140494"/>
            <a:ext cx="2673712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심판청구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139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조제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FC9AB2-015D-4FD7-9706-B6138430CFD9}"/>
              </a:ext>
            </a:extLst>
          </p:cNvPr>
          <p:cNvSpPr txBox="1"/>
          <p:nvPr/>
        </p:nvSpPr>
        <p:spPr>
          <a:xfrm>
            <a:off x="5124562" y="5506587"/>
            <a:ext cx="2673712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소송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F1AF87-74C6-402B-8D70-543A8DD10608}"/>
              </a:ext>
            </a:extLst>
          </p:cNvPr>
          <p:cNvSpPr txBox="1"/>
          <p:nvPr/>
        </p:nvSpPr>
        <p:spPr>
          <a:xfrm>
            <a:off x="5124562" y="5912930"/>
            <a:ext cx="2673712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대표자가 없는 경우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11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조제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</a:rPr>
              <a:t>항본문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39DE7A4-9B8B-4FF1-BC44-A033EE37A318}"/>
              </a:ext>
            </a:extLst>
          </p:cNvPr>
          <p:cNvSpPr txBox="1"/>
          <p:nvPr/>
        </p:nvSpPr>
        <p:spPr>
          <a:xfrm>
            <a:off x="5124562" y="6276189"/>
            <a:ext cx="2673712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대표자가 있는 경우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11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조제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</a:rPr>
              <a:t>항단서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E31550-1CDB-4058-B51B-AF54AAD18704}"/>
              </a:ext>
            </a:extLst>
          </p:cNvPr>
          <p:cNvSpPr txBox="1"/>
          <p:nvPr/>
        </p:nvSpPr>
        <p:spPr>
          <a:xfrm>
            <a:off x="8092048" y="4578205"/>
            <a:ext cx="3915917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특허출원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44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):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62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63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조의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2,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133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99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조의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2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63814B-7EB4-43CC-AE6C-F3B462ACB19D}"/>
              </a:ext>
            </a:extLst>
          </p:cNvPr>
          <p:cNvSpPr txBox="1"/>
          <p:nvPr/>
        </p:nvSpPr>
        <p:spPr>
          <a:xfrm>
            <a:off x="8092048" y="4942337"/>
            <a:ext cx="3915917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연장등록출원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90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92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조의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3):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134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B14F71-010D-4956-8760-5647891670B4}"/>
              </a:ext>
            </a:extLst>
          </p:cNvPr>
          <p:cNvSpPr txBox="1"/>
          <p:nvPr/>
        </p:nvSpPr>
        <p:spPr>
          <a:xfrm>
            <a:off x="8092049" y="5368087"/>
            <a:ext cx="3915916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침해소송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6BEF9A7-6279-4C2D-B60C-E19E9F52DFC6}"/>
              </a:ext>
            </a:extLst>
          </p:cNvPr>
          <p:cNvSpPr txBox="1"/>
          <p:nvPr/>
        </p:nvSpPr>
        <p:spPr>
          <a:xfrm>
            <a:off x="8092049" y="5732219"/>
            <a:ext cx="3915916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</a:rPr>
              <a:t>심결취소소송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DDCB939A-4B13-444D-A250-D13DC8AE206D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 flipV="1">
            <a:off x="2622422" y="1488511"/>
            <a:ext cx="517825" cy="32316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00597A5A-6EF7-4EEC-9600-6E626C3C1914}"/>
              </a:ext>
            </a:extLst>
          </p:cNvPr>
          <p:cNvCxnSpPr>
            <a:stCxn id="11" idx="3"/>
            <a:endCxn id="15" idx="1"/>
          </p:cNvCxnSpPr>
          <p:nvPr/>
        </p:nvCxnSpPr>
        <p:spPr>
          <a:xfrm>
            <a:off x="2622422" y="1811676"/>
            <a:ext cx="517825" cy="621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8160DB3B-DE60-4986-B979-4D36BB3E83E4}"/>
              </a:ext>
            </a:extLst>
          </p:cNvPr>
          <p:cNvCxnSpPr>
            <a:cxnSpLocks/>
            <a:stCxn id="11" idx="3"/>
            <a:endCxn id="16" idx="1"/>
          </p:cNvCxnSpPr>
          <p:nvPr/>
        </p:nvCxnSpPr>
        <p:spPr>
          <a:xfrm>
            <a:off x="2622422" y="1811676"/>
            <a:ext cx="517825" cy="33558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D593535D-8674-47F6-A9EB-23BF813B573A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4606737" y="2147263"/>
            <a:ext cx="517825" cy="16704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5FE3E447-A4B0-42FD-88E8-EEBE209C2286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4606737" y="1950176"/>
            <a:ext cx="517825" cy="197087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DB0DCD71-A484-498C-87BA-480F3203A9D6}"/>
              </a:ext>
            </a:extLst>
          </p:cNvPr>
          <p:cNvCxnSpPr>
            <a:cxnSpLocks/>
            <a:stCxn id="12" idx="3"/>
            <a:endCxn id="20" idx="1"/>
          </p:cNvCxnSpPr>
          <p:nvPr/>
        </p:nvCxnSpPr>
        <p:spPr>
          <a:xfrm>
            <a:off x="2622422" y="3187126"/>
            <a:ext cx="517825" cy="201741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E48C3F50-F8B4-48D2-9827-5FFE9464F406}"/>
              </a:ext>
            </a:extLst>
          </p:cNvPr>
          <p:cNvCxnSpPr>
            <a:cxnSpLocks/>
            <a:stCxn id="12" idx="3"/>
            <a:endCxn id="19" idx="1"/>
          </p:cNvCxnSpPr>
          <p:nvPr/>
        </p:nvCxnSpPr>
        <p:spPr>
          <a:xfrm flipV="1">
            <a:off x="2622422" y="3059491"/>
            <a:ext cx="517825" cy="12763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연결선: 꺾임 59">
            <a:extLst>
              <a:ext uri="{FF2B5EF4-FFF2-40B4-BE49-F238E27FC236}">
                <a16:creationId xmlns:a16="http://schemas.microsoft.com/office/drawing/2014/main" id="{162466A5-3CE4-4D2C-AFCD-346532FBDFB2}"/>
              </a:ext>
            </a:extLst>
          </p:cNvPr>
          <p:cNvCxnSpPr>
            <a:cxnSpLocks/>
            <a:stCxn id="13" idx="3"/>
            <a:endCxn id="23" idx="1"/>
          </p:cNvCxnSpPr>
          <p:nvPr/>
        </p:nvCxnSpPr>
        <p:spPr>
          <a:xfrm flipV="1">
            <a:off x="2622422" y="4300818"/>
            <a:ext cx="517825" cy="18466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E01DCEDF-E68D-4E24-AB05-7DD5D05921A6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>
            <a:off x="2622422" y="4485484"/>
            <a:ext cx="517825" cy="42937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연결선: 꺾임 66">
            <a:extLst>
              <a:ext uri="{FF2B5EF4-FFF2-40B4-BE49-F238E27FC236}">
                <a16:creationId xmlns:a16="http://schemas.microsoft.com/office/drawing/2014/main" id="{EB1CE4F0-434B-494B-BE21-28663AEDDA40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2622422" y="4485484"/>
            <a:ext cx="517825" cy="156916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D336F581-ED1A-40E3-82C9-15A6AC4BDB46}"/>
              </a:ext>
            </a:extLst>
          </p:cNvPr>
          <p:cNvCxnSpPr>
            <a:stCxn id="23" idx="3"/>
            <a:endCxn id="26" idx="1"/>
          </p:cNvCxnSpPr>
          <p:nvPr/>
        </p:nvCxnSpPr>
        <p:spPr>
          <a:xfrm flipV="1">
            <a:off x="4606737" y="4162318"/>
            <a:ext cx="517825" cy="1385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AA732E75-903F-49F8-A1B8-9F0F8E8E5479}"/>
              </a:ext>
            </a:extLst>
          </p:cNvPr>
          <p:cNvCxnSpPr>
            <a:stCxn id="23" idx="3"/>
            <a:endCxn id="27" idx="1"/>
          </p:cNvCxnSpPr>
          <p:nvPr/>
        </p:nvCxnSpPr>
        <p:spPr>
          <a:xfrm>
            <a:off x="4606737" y="4300818"/>
            <a:ext cx="517825" cy="22563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연결선: 꺾임 74">
            <a:extLst>
              <a:ext uri="{FF2B5EF4-FFF2-40B4-BE49-F238E27FC236}">
                <a16:creationId xmlns:a16="http://schemas.microsoft.com/office/drawing/2014/main" id="{8539D245-0789-476D-9C3E-14D80147C46E}"/>
              </a:ext>
            </a:extLst>
          </p:cNvPr>
          <p:cNvCxnSpPr>
            <a:stCxn id="24" idx="3"/>
            <a:endCxn id="28" idx="1"/>
          </p:cNvCxnSpPr>
          <p:nvPr/>
        </p:nvCxnSpPr>
        <p:spPr>
          <a:xfrm>
            <a:off x="4606737" y="4914862"/>
            <a:ext cx="517825" cy="127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연결선: 꺾임 76">
            <a:extLst>
              <a:ext uri="{FF2B5EF4-FFF2-40B4-BE49-F238E27FC236}">
                <a16:creationId xmlns:a16="http://schemas.microsoft.com/office/drawing/2014/main" id="{4DE64BCF-AECF-4C48-B3EE-0B1DA0B9EA2D}"/>
              </a:ext>
            </a:extLst>
          </p:cNvPr>
          <p:cNvCxnSpPr>
            <a:stCxn id="24" idx="3"/>
            <a:endCxn id="29" idx="1"/>
          </p:cNvCxnSpPr>
          <p:nvPr/>
        </p:nvCxnSpPr>
        <p:spPr>
          <a:xfrm>
            <a:off x="4606737" y="4914862"/>
            <a:ext cx="517825" cy="36413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4D561E87-2719-47D4-B4B1-2E96938D5319}"/>
              </a:ext>
            </a:extLst>
          </p:cNvPr>
          <p:cNvCxnSpPr>
            <a:stCxn id="24" idx="3"/>
            <a:endCxn id="30" idx="1"/>
          </p:cNvCxnSpPr>
          <p:nvPr/>
        </p:nvCxnSpPr>
        <p:spPr>
          <a:xfrm>
            <a:off x="4606737" y="4914862"/>
            <a:ext cx="517825" cy="73022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연결선: 꺾임 80">
            <a:extLst>
              <a:ext uri="{FF2B5EF4-FFF2-40B4-BE49-F238E27FC236}">
                <a16:creationId xmlns:a16="http://schemas.microsoft.com/office/drawing/2014/main" id="{26799282-4548-4D75-A68B-7811EB5E9F40}"/>
              </a:ext>
            </a:extLst>
          </p:cNvPr>
          <p:cNvCxnSpPr>
            <a:stCxn id="25" idx="3"/>
            <a:endCxn id="32" idx="1"/>
          </p:cNvCxnSpPr>
          <p:nvPr/>
        </p:nvCxnSpPr>
        <p:spPr>
          <a:xfrm flipV="1">
            <a:off x="4606737" y="6051430"/>
            <a:ext cx="517825" cy="321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연결선: 꺾임 82">
            <a:extLst>
              <a:ext uri="{FF2B5EF4-FFF2-40B4-BE49-F238E27FC236}">
                <a16:creationId xmlns:a16="http://schemas.microsoft.com/office/drawing/2014/main" id="{A0702361-465D-4615-ACE6-BE79746DC879}"/>
              </a:ext>
            </a:extLst>
          </p:cNvPr>
          <p:cNvCxnSpPr>
            <a:stCxn id="25" idx="3"/>
            <a:endCxn id="33" idx="1"/>
          </p:cNvCxnSpPr>
          <p:nvPr/>
        </p:nvCxnSpPr>
        <p:spPr>
          <a:xfrm>
            <a:off x="4606737" y="6054644"/>
            <a:ext cx="517825" cy="36004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연결선: 꺾임 83">
            <a:extLst>
              <a:ext uri="{FF2B5EF4-FFF2-40B4-BE49-F238E27FC236}">
                <a16:creationId xmlns:a16="http://schemas.microsoft.com/office/drawing/2014/main" id="{4E73D6FC-25FD-402E-82E3-D129CC929168}"/>
              </a:ext>
            </a:extLst>
          </p:cNvPr>
          <p:cNvCxnSpPr>
            <a:cxnSpLocks/>
            <a:stCxn id="28" idx="3"/>
            <a:endCxn id="34" idx="1"/>
          </p:cNvCxnSpPr>
          <p:nvPr/>
        </p:nvCxnSpPr>
        <p:spPr>
          <a:xfrm flipV="1">
            <a:off x="7798274" y="4716705"/>
            <a:ext cx="293774" cy="19815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54A8AF95-D9F4-4E81-8D94-78472580CCB3}"/>
              </a:ext>
            </a:extLst>
          </p:cNvPr>
          <p:cNvCxnSpPr>
            <a:cxnSpLocks/>
            <a:stCxn id="28" idx="3"/>
            <a:endCxn id="35" idx="1"/>
          </p:cNvCxnSpPr>
          <p:nvPr/>
        </p:nvCxnSpPr>
        <p:spPr>
          <a:xfrm>
            <a:off x="7798274" y="4914862"/>
            <a:ext cx="293774" cy="16597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D7BA42F9-E030-4216-9BBE-BAAFD9D0073E}"/>
              </a:ext>
            </a:extLst>
          </p:cNvPr>
          <p:cNvCxnSpPr>
            <a:cxnSpLocks/>
            <a:stCxn id="30" idx="3"/>
            <a:endCxn id="36" idx="1"/>
          </p:cNvCxnSpPr>
          <p:nvPr/>
        </p:nvCxnSpPr>
        <p:spPr>
          <a:xfrm flipV="1">
            <a:off x="7798274" y="5506587"/>
            <a:ext cx="293775" cy="1385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연결선: 꺾임 92">
            <a:extLst>
              <a:ext uri="{FF2B5EF4-FFF2-40B4-BE49-F238E27FC236}">
                <a16:creationId xmlns:a16="http://schemas.microsoft.com/office/drawing/2014/main" id="{6091854D-9DF9-4BD4-AC21-E7CAA1B5B65E}"/>
              </a:ext>
            </a:extLst>
          </p:cNvPr>
          <p:cNvCxnSpPr>
            <a:cxnSpLocks/>
            <a:stCxn id="30" idx="3"/>
            <a:endCxn id="37" idx="1"/>
          </p:cNvCxnSpPr>
          <p:nvPr/>
        </p:nvCxnSpPr>
        <p:spPr>
          <a:xfrm>
            <a:off x="7798274" y="5645087"/>
            <a:ext cx="293775" cy="22563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F0B8D483-ACC3-427E-B25B-660E6F343882}"/>
              </a:ext>
            </a:extLst>
          </p:cNvPr>
          <p:cNvSpPr txBox="1"/>
          <p:nvPr/>
        </p:nvSpPr>
        <p:spPr>
          <a:xfrm>
            <a:off x="344930" y="2365094"/>
            <a:ext cx="750377" cy="64633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공동</a:t>
            </a:r>
            <a:endParaRPr lang="en-US" altLang="ko-KR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ko-KR" alt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발명</a:t>
            </a:r>
          </a:p>
        </p:txBody>
      </p:sp>
      <p:cxnSp>
        <p:nvCxnSpPr>
          <p:cNvPr id="109" name="연결선: 꺾임 108">
            <a:extLst>
              <a:ext uri="{FF2B5EF4-FFF2-40B4-BE49-F238E27FC236}">
                <a16:creationId xmlns:a16="http://schemas.microsoft.com/office/drawing/2014/main" id="{70B2C7D3-1927-4A92-9684-AB9954EBDDBB}"/>
              </a:ext>
            </a:extLst>
          </p:cNvPr>
          <p:cNvCxnSpPr>
            <a:stCxn id="107" idx="3"/>
            <a:endCxn id="7" idx="1"/>
          </p:cNvCxnSpPr>
          <p:nvPr/>
        </p:nvCxnSpPr>
        <p:spPr>
          <a:xfrm flipV="1">
            <a:off x="1095307" y="1259586"/>
            <a:ext cx="517825" cy="142867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6FE9BA1F-396E-461F-A965-F6101EC2C857}"/>
              </a:ext>
            </a:extLst>
          </p:cNvPr>
          <p:cNvCxnSpPr>
            <a:stCxn id="107" idx="3"/>
            <a:endCxn id="11" idx="1"/>
          </p:cNvCxnSpPr>
          <p:nvPr/>
        </p:nvCxnSpPr>
        <p:spPr>
          <a:xfrm flipV="1">
            <a:off x="1095307" y="1811676"/>
            <a:ext cx="517825" cy="87658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연결선: 꺾임 112">
            <a:extLst>
              <a:ext uri="{FF2B5EF4-FFF2-40B4-BE49-F238E27FC236}">
                <a16:creationId xmlns:a16="http://schemas.microsoft.com/office/drawing/2014/main" id="{02A69A62-3276-4EE9-ADAC-E33FDA3AC83D}"/>
              </a:ext>
            </a:extLst>
          </p:cNvPr>
          <p:cNvCxnSpPr>
            <a:stCxn id="107" idx="3"/>
            <a:endCxn id="12" idx="1"/>
          </p:cNvCxnSpPr>
          <p:nvPr/>
        </p:nvCxnSpPr>
        <p:spPr>
          <a:xfrm>
            <a:off x="1095307" y="2688260"/>
            <a:ext cx="517825" cy="49886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연결선: 꺾임 114">
            <a:extLst>
              <a:ext uri="{FF2B5EF4-FFF2-40B4-BE49-F238E27FC236}">
                <a16:creationId xmlns:a16="http://schemas.microsoft.com/office/drawing/2014/main" id="{9001C80B-5312-403A-9FA9-610880EEAE74}"/>
              </a:ext>
            </a:extLst>
          </p:cNvPr>
          <p:cNvCxnSpPr>
            <a:stCxn id="107" idx="3"/>
            <a:endCxn id="13" idx="1"/>
          </p:cNvCxnSpPr>
          <p:nvPr/>
        </p:nvCxnSpPr>
        <p:spPr>
          <a:xfrm>
            <a:off x="1095307" y="2688260"/>
            <a:ext cx="517825" cy="179722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2539C69-595E-6D6D-C6AD-4B599B03920F}"/>
              </a:ext>
            </a:extLst>
          </p:cNvPr>
          <p:cNvSpPr txBox="1"/>
          <p:nvPr/>
        </p:nvSpPr>
        <p:spPr>
          <a:xfrm>
            <a:off x="5124562" y="2568796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bg1">
                    <a:lumMod val="50000"/>
                  </a:schemeClr>
                </a:solidFill>
              </a:rPr>
              <a:t>일반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3C3076-B8CE-3BB3-356D-BBDC3545A708}"/>
              </a:ext>
            </a:extLst>
          </p:cNvPr>
          <p:cNvSpPr txBox="1"/>
          <p:nvPr/>
        </p:nvSpPr>
        <p:spPr>
          <a:xfrm>
            <a:off x="5124562" y="2919226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화학발명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0D3BEE-5B1A-8165-C133-517F95A213BA}"/>
              </a:ext>
            </a:extLst>
          </p:cNvPr>
          <p:cNvSpPr txBox="1"/>
          <p:nvPr/>
        </p:nvSpPr>
        <p:spPr>
          <a:xfrm>
            <a:off x="5124562" y="3259959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bg1">
                    <a:lumMod val="50000"/>
                  </a:schemeClr>
                </a:solidFill>
              </a:rPr>
              <a:t>일반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99950A-BEAD-4CE9-B9D8-5C23AC4909AD}"/>
              </a:ext>
            </a:extLst>
          </p:cNvPr>
          <p:cNvSpPr txBox="1"/>
          <p:nvPr/>
        </p:nvSpPr>
        <p:spPr>
          <a:xfrm>
            <a:off x="5124562" y="3628319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무권리자</a:t>
            </a:r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07766E73-9FBE-F08E-EA95-EBD43D26577F}"/>
              </a:ext>
            </a:extLst>
          </p:cNvPr>
          <p:cNvCxnSpPr>
            <a:cxnSpLocks/>
            <a:stCxn id="19" idx="3"/>
            <a:endCxn id="6" idx="1"/>
          </p:cNvCxnSpPr>
          <p:nvPr/>
        </p:nvCxnSpPr>
        <p:spPr>
          <a:xfrm flipV="1">
            <a:off x="4606737" y="2707296"/>
            <a:ext cx="517825" cy="35219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61DCCCB2-01C3-1230-360C-5BBE6DCA1A4B}"/>
              </a:ext>
            </a:extLst>
          </p:cNvPr>
          <p:cNvCxnSpPr>
            <a:cxnSpLocks/>
            <a:stCxn id="19" idx="3"/>
            <a:endCxn id="8" idx="1"/>
          </p:cNvCxnSpPr>
          <p:nvPr/>
        </p:nvCxnSpPr>
        <p:spPr>
          <a:xfrm flipV="1">
            <a:off x="4606737" y="3057726"/>
            <a:ext cx="517825" cy="176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6582D29D-4121-17FD-27CF-F92127372CC1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>
            <a:off x="4606737" y="3388867"/>
            <a:ext cx="517825" cy="959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D436DDDA-11C9-745E-5CB4-9FD10B5B56B7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4606737" y="3388867"/>
            <a:ext cx="517825" cy="53014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4B5DF429-5C37-0E56-441E-DE7ECC3303F7}"/>
              </a:ext>
            </a:extLst>
          </p:cNvPr>
          <p:cNvCxnSpPr>
            <a:cxnSpLocks/>
            <a:stCxn id="20" idx="3"/>
            <a:endCxn id="10" idx="1"/>
          </p:cNvCxnSpPr>
          <p:nvPr/>
        </p:nvCxnSpPr>
        <p:spPr>
          <a:xfrm>
            <a:off x="4606737" y="3388867"/>
            <a:ext cx="517825" cy="377952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11679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Line 5">
            <a:extLst>
              <a:ext uri="{FF2B5EF4-FFF2-40B4-BE49-F238E27FC236}">
                <a16:creationId xmlns:a16="http://schemas.microsoft.com/office/drawing/2014/main" id="{89A7BBA8-4E00-44C3-A470-536BA2A5822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658" y="6179976"/>
            <a:ext cx="11479567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050">
              <a:latin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33</a:t>
            </a:r>
            <a:r>
              <a:rPr lang="ko-KR" altLang="en-US" dirty="0"/>
              <a:t>조 제</a:t>
            </a:r>
            <a:r>
              <a:rPr lang="en-US" altLang="ko-KR" dirty="0"/>
              <a:t>1</a:t>
            </a:r>
            <a:r>
              <a:rPr lang="ko-KR" altLang="en-US" dirty="0"/>
              <a:t>항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인공지능이 발명자가 될 수 있는가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8" name="슬라이드 번호 개체 틀 1">
            <a:extLst>
              <a:ext uri="{FF2B5EF4-FFF2-40B4-BE49-F238E27FC236}">
                <a16:creationId xmlns:a16="http://schemas.microsoft.com/office/drawing/2014/main" id="{0F75A23A-7A3E-48BF-8C01-2171501A137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105</a:t>
            </a:fld>
            <a:endParaRPr lang="ko-KR" altLang="en-US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BC744699-A9D8-41E8-AC09-E31EE1EB6442}"/>
              </a:ext>
            </a:extLst>
          </p:cNvPr>
          <p:cNvCxnSpPr/>
          <p:nvPr/>
        </p:nvCxnSpPr>
        <p:spPr>
          <a:xfrm>
            <a:off x="0" y="5997062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8F9BA11-776F-458B-AEBF-785908167EF1}"/>
              </a:ext>
            </a:extLst>
          </p:cNvPr>
          <p:cNvSpPr/>
          <p:nvPr/>
        </p:nvSpPr>
        <p:spPr>
          <a:xfrm>
            <a:off x="104775" y="1259522"/>
            <a:ext cx="11989587" cy="4912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sz="1080" dirty="0"/>
              <a:t>[1]</a:t>
            </a:r>
            <a:r>
              <a:rPr lang="ko-KR" altLang="en-US" sz="1080" dirty="0"/>
              <a:t> 원고가 이 법원에서 주장하는 사유는 제</a:t>
            </a:r>
            <a:r>
              <a:rPr lang="en-US" altLang="ko-KR" sz="1080" dirty="0"/>
              <a:t>1</a:t>
            </a:r>
            <a:r>
              <a:rPr lang="ko-KR" altLang="en-US" sz="1080" dirty="0"/>
              <a:t>심에서의 주장과 크게 다르지 않고</a:t>
            </a:r>
            <a:r>
              <a:rPr lang="en-US" altLang="ko-KR" sz="1080" dirty="0"/>
              <a:t>, </a:t>
            </a:r>
            <a:r>
              <a:rPr lang="ko-KR" altLang="en-US" sz="1080" dirty="0"/>
              <a:t>제</a:t>
            </a:r>
            <a:r>
              <a:rPr lang="en-US" altLang="ko-KR" sz="1080" dirty="0"/>
              <a:t>1</a:t>
            </a:r>
            <a:r>
              <a:rPr lang="ko-KR" altLang="en-US" sz="1080" dirty="0"/>
              <a:t>심 및 이 법원에 제출된 증거와 이 법원에서의 변론 내용을 종합하여 보더라도 제</a:t>
            </a:r>
            <a:r>
              <a:rPr lang="en-US" altLang="ko-KR" sz="1080" dirty="0"/>
              <a:t>1</a:t>
            </a:r>
            <a:r>
              <a:rPr lang="ko-KR" altLang="en-US" sz="1080" dirty="0"/>
              <a:t>심의 판단은 정당한 것으로 인정된다</a:t>
            </a:r>
            <a:r>
              <a:rPr lang="en-US" altLang="ko-KR" sz="1080" dirty="0"/>
              <a:t>. </a:t>
            </a:r>
            <a:r>
              <a:rPr lang="ko-KR" altLang="en-US" sz="1080" dirty="0"/>
              <a:t>이에 이 법원이 기재할 이유는 원고가 이 법원에서 강조하거나 새롭게 한 주장에 대하여 제</a:t>
            </a:r>
            <a:r>
              <a:rPr lang="en-US" altLang="ko-KR" sz="1080" dirty="0"/>
              <a:t>2</a:t>
            </a:r>
            <a:r>
              <a:rPr lang="ko-KR" altLang="en-US" sz="1080" dirty="0"/>
              <a:t>항에서 추가로 판단하는 것 외에는 제</a:t>
            </a:r>
            <a:r>
              <a:rPr lang="en-US" altLang="ko-KR" sz="1080" dirty="0"/>
              <a:t>1</a:t>
            </a:r>
            <a:r>
              <a:rPr lang="ko-KR" altLang="en-US" sz="1080" dirty="0"/>
              <a:t>심판결의 이유와 같으므로 행정소송법 제</a:t>
            </a:r>
            <a:r>
              <a:rPr lang="en-US" altLang="ko-KR" sz="1080" dirty="0"/>
              <a:t>8</a:t>
            </a:r>
            <a:r>
              <a:rPr lang="ko-KR" altLang="en-US" sz="1080" dirty="0"/>
              <a:t>조 제</a:t>
            </a:r>
            <a:r>
              <a:rPr lang="en-US" altLang="ko-KR" sz="1080" dirty="0"/>
              <a:t>2</a:t>
            </a:r>
            <a:r>
              <a:rPr lang="ko-KR" altLang="en-US" sz="1080" dirty="0"/>
              <a:t>항</a:t>
            </a:r>
            <a:r>
              <a:rPr lang="en-US" altLang="ko-KR" sz="1080" dirty="0"/>
              <a:t>, </a:t>
            </a:r>
            <a:r>
              <a:rPr lang="ko-KR" altLang="en-US" sz="1080" dirty="0"/>
              <a:t>민사소송법 제</a:t>
            </a:r>
            <a:r>
              <a:rPr lang="en-US" altLang="ko-KR" sz="1080" dirty="0"/>
              <a:t>420</a:t>
            </a:r>
            <a:r>
              <a:rPr lang="ko-KR" altLang="en-US" sz="1080" dirty="0"/>
              <a:t>조 본문에 따라 이를 인용한다</a:t>
            </a:r>
            <a:r>
              <a:rPr lang="en-US" altLang="ko-KR" sz="1080" dirty="0"/>
              <a:t>.</a:t>
            </a:r>
          </a:p>
          <a:p>
            <a:pPr fontAlgn="base"/>
            <a:endParaRPr lang="en-US" altLang="ko-KR" sz="1080" dirty="0"/>
          </a:p>
          <a:p>
            <a:pPr fontAlgn="base"/>
            <a:endParaRPr lang="en-US" altLang="ko-KR" sz="1080" dirty="0"/>
          </a:p>
          <a:p>
            <a:pPr fontAlgn="base"/>
            <a:endParaRPr lang="en-US" altLang="ko-KR" sz="1080" dirty="0"/>
          </a:p>
          <a:p>
            <a:pPr fontAlgn="base"/>
            <a:endParaRPr lang="en-US" altLang="ko-KR" sz="1080" dirty="0"/>
          </a:p>
          <a:p>
            <a:pPr fontAlgn="base"/>
            <a:endParaRPr lang="en-US" altLang="ko-KR" sz="1080" dirty="0"/>
          </a:p>
          <a:p>
            <a:pPr fontAlgn="base"/>
            <a:endParaRPr lang="en-US" altLang="ko-KR" sz="1080" dirty="0"/>
          </a:p>
          <a:p>
            <a:pPr fontAlgn="base"/>
            <a:endParaRPr lang="en-US" altLang="ko-KR" sz="1080" dirty="0"/>
          </a:p>
          <a:p>
            <a:pPr fontAlgn="base"/>
            <a:endParaRPr lang="en-US" altLang="ko-KR" sz="1080" dirty="0"/>
          </a:p>
          <a:p>
            <a:pPr fontAlgn="base"/>
            <a:endParaRPr lang="en-US" altLang="ko-KR" sz="1080" dirty="0"/>
          </a:p>
          <a:p>
            <a:pPr fontAlgn="base"/>
            <a:endParaRPr lang="en-US" altLang="ko-KR" sz="1080" dirty="0"/>
          </a:p>
          <a:p>
            <a:pPr fontAlgn="base"/>
            <a:endParaRPr lang="en-US" altLang="ko-KR" sz="1080" dirty="0"/>
          </a:p>
          <a:p>
            <a:pPr fontAlgn="base"/>
            <a:endParaRPr lang="en-US" altLang="ko-KR" sz="1080" dirty="0"/>
          </a:p>
          <a:p>
            <a:pPr fontAlgn="base"/>
            <a:endParaRPr lang="en-US" altLang="ko-KR" sz="1080" dirty="0"/>
          </a:p>
          <a:p>
            <a:pPr fontAlgn="base"/>
            <a:endParaRPr lang="en-US" altLang="ko-KR" sz="1080" dirty="0"/>
          </a:p>
          <a:p>
            <a:pPr fontAlgn="base"/>
            <a:endParaRPr lang="en-US" altLang="ko-KR" sz="1080" dirty="0"/>
          </a:p>
          <a:p>
            <a:pPr fontAlgn="base"/>
            <a:endParaRPr lang="en-US" altLang="ko-KR" sz="1080" dirty="0"/>
          </a:p>
          <a:p>
            <a:pPr fontAlgn="base"/>
            <a:endParaRPr lang="en-US" altLang="ko-KR" sz="1080" dirty="0"/>
          </a:p>
          <a:p>
            <a:pPr fontAlgn="base"/>
            <a:endParaRPr lang="en-US" altLang="ko-KR" sz="400" dirty="0"/>
          </a:p>
          <a:p>
            <a:pPr fontAlgn="base"/>
            <a:r>
              <a:rPr lang="en-US" altLang="ko-KR" sz="1080" dirty="0"/>
              <a:t>[2]</a:t>
            </a:r>
            <a:r>
              <a:rPr lang="ko-KR" altLang="en-US" sz="1080" dirty="0"/>
              <a:t> 추가판단</a:t>
            </a:r>
            <a:endParaRPr lang="en-US" altLang="ko-KR" sz="1080" dirty="0"/>
          </a:p>
          <a:p>
            <a:pPr fontAlgn="base"/>
            <a:r>
              <a:rPr lang="ko-KR" altLang="en-US" sz="1080" dirty="0"/>
              <a:t>가</a:t>
            </a:r>
            <a:r>
              <a:rPr lang="en-US" altLang="ko-KR" sz="1080" dirty="0"/>
              <a:t>. </a:t>
            </a:r>
            <a:r>
              <a:rPr lang="ko-KR" altLang="en-US" sz="1080" dirty="0"/>
              <a:t>원고는</a:t>
            </a:r>
            <a:r>
              <a:rPr lang="en-US" altLang="ko-KR" sz="1080" dirty="0"/>
              <a:t>, </a:t>
            </a:r>
            <a:r>
              <a:rPr lang="ko-KR" altLang="en-US" sz="1080" dirty="0"/>
              <a:t>특허법상 발명자는 자연인으로 한정된다는 해석은 근거가 없고</a:t>
            </a:r>
            <a:r>
              <a:rPr lang="en-US" altLang="ko-KR" sz="1080" dirty="0"/>
              <a:t>, </a:t>
            </a:r>
            <a:r>
              <a:rPr lang="ko-KR" altLang="en-US" sz="1080" dirty="0"/>
              <a:t>특허법 입법 당시 인공지능 발명자에 대한 고려가 없었을 것이라는 점에 비추어 입법적 공백은 규정의 합리적인 해석을 통하여 해결해야 한다고 주장한다</a:t>
            </a:r>
            <a:r>
              <a:rPr lang="en-US" altLang="ko-KR" sz="1080" dirty="0"/>
              <a:t>. </a:t>
            </a:r>
            <a:r>
              <a:rPr lang="ko-KR" altLang="en-US" sz="1080" dirty="0"/>
              <a:t>특허법 제</a:t>
            </a:r>
            <a:r>
              <a:rPr lang="en-US" altLang="ko-KR" sz="1080" dirty="0"/>
              <a:t>33</a:t>
            </a:r>
            <a:r>
              <a:rPr lang="ko-KR" altLang="en-US" sz="1080" dirty="0"/>
              <a:t>조 및 제</a:t>
            </a:r>
            <a:r>
              <a:rPr lang="en-US" altLang="ko-KR" sz="1080" dirty="0"/>
              <a:t>42</a:t>
            </a:r>
            <a:r>
              <a:rPr lang="ko-KR" altLang="en-US" sz="1080" dirty="0"/>
              <a:t>조의 해석에 비추어 </a:t>
            </a:r>
            <a:r>
              <a:rPr lang="ko-KR" altLang="en-US" sz="1080" dirty="0">
                <a:highlight>
                  <a:srgbClr val="FFFF00"/>
                </a:highlight>
              </a:rPr>
              <a:t>특허법상 발명자가 자연인을 의미하는 것이 분명</a:t>
            </a:r>
            <a:r>
              <a:rPr lang="ko-KR" altLang="en-US" sz="1080" dirty="0"/>
              <a:t>함은 제</a:t>
            </a:r>
            <a:r>
              <a:rPr lang="en-US" altLang="ko-KR" sz="1080" dirty="0"/>
              <a:t>1</a:t>
            </a:r>
            <a:r>
              <a:rPr lang="ko-KR" altLang="en-US" sz="1080" dirty="0"/>
              <a:t>심판결에서 본 바와 같다</a:t>
            </a:r>
            <a:r>
              <a:rPr lang="en-US" altLang="ko-KR" sz="1080" dirty="0"/>
              <a:t>. </a:t>
            </a:r>
            <a:r>
              <a:rPr lang="ko-KR" altLang="en-US" sz="1080" dirty="0">
                <a:highlight>
                  <a:srgbClr val="FFFF00"/>
                </a:highlight>
              </a:rPr>
              <a:t>인공지능의 출현 및 발전 정도</a:t>
            </a:r>
            <a:r>
              <a:rPr lang="en-US" altLang="ko-KR" sz="1080" dirty="0">
                <a:highlight>
                  <a:srgbClr val="FFFF00"/>
                </a:highlight>
              </a:rPr>
              <a:t>, </a:t>
            </a:r>
            <a:r>
              <a:rPr lang="ko-KR" altLang="en-US" sz="1080" dirty="0">
                <a:highlight>
                  <a:srgbClr val="FFFF00"/>
                </a:highlight>
              </a:rPr>
              <a:t>현재까지의 기술 수준</a:t>
            </a:r>
            <a:r>
              <a:rPr lang="en-US" altLang="ko-KR" sz="1080" dirty="0">
                <a:highlight>
                  <a:srgbClr val="FFFF00"/>
                </a:highlight>
              </a:rPr>
              <a:t>, </a:t>
            </a:r>
            <a:r>
              <a:rPr lang="ko-KR" altLang="en-US" sz="1080" dirty="0">
                <a:highlight>
                  <a:srgbClr val="FFFF00"/>
                </a:highlight>
              </a:rPr>
              <a:t>인공지능에 대한 사회의 인식 등에 비추어 현재의 특허법 규정만으로 인공지능을 발명자에 포함시키는 것은 정당한 법률해석의 한계를 벗어난다</a:t>
            </a:r>
            <a:r>
              <a:rPr lang="en-US" altLang="ko-KR" sz="1080" dirty="0">
                <a:highlight>
                  <a:srgbClr val="FFFF00"/>
                </a:highlight>
              </a:rPr>
              <a:t>. </a:t>
            </a:r>
            <a:r>
              <a:rPr lang="ko-KR" altLang="en-US" sz="1080" dirty="0">
                <a:highlight>
                  <a:srgbClr val="FFFF00"/>
                </a:highlight>
              </a:rPr>
              <a:t>향후 인공지능의 발명으로 보호받아야 할 대상이 존재한다면 이는 사회적 논의를 거쳐 입법을 통해 보완해 나가야 할 것이다</a:t>
            </a:r>
            <a:r>
              <a:rPr lang="en-US" altLang="ko-KR" sz="1080" dirty="0">
                <a:highlight>
                  <a:srgbClr val="FFFF00"/>
                </a:highlight>
              </a:rPr>
              <a:t>. </a:t>
            </a:r>
          </a:p>
          <a:p>
            <a:pPr fontAlgn="base"/>
            <a:r>
              <a:rPr lang="ko-KR" altLang="en-US" sz="1080" dirty="0"/>
              <a:t>나</a:t>
            </a:r>
            <a:r>
              <a:rPr lang="en-US" altLang="ko-KR" sz="1080" dirty="0"/>
              <a:t>. </a:t>
            </a:r>
            <a:r>
              <a:rPr lang="ko-KR" altLang="en-US" sz="1080" dirty="0"/>
              <a:t>원고는 인공지능이 권리능력을 갖지 못하더라도 특허법상 발명자로 인정될 수 있다고 하면서 인공지능이 생성한 결과물에 대한 권리 및 의무는 인공지능의 소유자 또는 관리운영자에게 귀속시키는 것이 가능하다고 주장한다</a:t>
            </a:r>
            <a:r>
              <a:rPr lang="en-US" altLang="ko-KR" sz="1080" dirty="0">
                <a:solidFill>
                  <a:srgbClr val="FF0000"/>
                </a:solidFill>
              </a:rPr>
              <a:t>. </a:t>
            </a:r>
            <a:r>
              <a:rPr lang="ko-KR" altLang="en-US" sz="1080" dirty="0">
                <a:highlight>
                  <a:srgbClr val="FFFF00"/>
                </a:highlight>
              </a:rPr>
              <a:t>특허법 제</a:t>
            </a:r>
            <a:r>
              <a:rPr lang="en-US" altLang="ko-KR" sz="1080" dirty="0">
                <a:highlight>
                  <a:srgbClr val="FFFF00"/>
                </a:highlight>
              </a:rPr>
              <a:t>33</a:t>
            </a:r>
            <a:r>
              <a:rPr lang="ko-KR" altLang="en-US" sz="1080" dirty="0">
                <a:highlight>
                  <a:srgbClr val="FFFF00"/>
                </a:highlight>
              </a:rPr>
              <a:t>조 제</a:t>
            </a:r>
            <a:r>
              <a:rPr lang="en-US" altLang="ko-KR" sz="1080" dirty="0">
                <a:highlight>
                  <a:srgbClr val="FFFF00"/>
                </a:highlight>
              </a:rPr>
              <a:t>1</a:t>
            </a:r>
            <a:r>
              <a:rPr lang="ko-KR" altLang="en-US" sz="1080" dirty="0">
                <a:highlight>
                  <a:srgbClr val="FFFF00"/>
                </a:highlight>
              </a:rPr>
              <a:t>항에서 발명을 한 사람 또는 그 승계인은 이 법에서 정하는 바에 따라 특허를 받을 수 있는 권리를 가진다</a:t>
            </a:r>
            <a:r>
              <a:rPr lang="en-US" altLang="ko-KR" sz="1080" dirty="0">
                <a:highlight>
                  <a:srgbClr val="FFFF00"/>
                </a:highlight>
              </a:rPr>
              <a:t>.’</a:t>
            </a:r>
            <a:r>
              <a:rPr lang="ko-KR" altLang="en-US" sz="1080" dirty="0">
                <a:highlight>
                  <a:srgbClr val="FFFF00"/>
                </a:highlight>
              </a:rPr>
              <a:t>고 규정하여 발명자주의를 채택하고 있어 원고의 주장은 그 자체로 특허법에 맞지 않을 뿐 아니라</a:t>
            </a:r>
            <a:r>
              <a:rPr lang="en-US" altLang="ko-KR" sz="1080" dirty="0">
                <a:highlight>
                  <a:srgbClr val="FFFF00"/>
                </a:highlight>
              </a:rPr>
              <a:t>, </a:t>
            </a:r>
            <a:r>
              <a:rPr lang="ko-KR" altLang="en-US" sz="1080" dirty="0">
                <a:highlight>
                  <a:srgbClr val="FFFF00"/>
                </a:highlight>
              </a:rPr>
              <a:t>관련 권리와 의무는 인공지능의 소유자 등에게 귀속시키는 것 또한 아무런 근거가 없고 현행 특허법의 </a:t>
            </a:r>
            <a:r>
              <a:rPr lang="ko-KR" altLang="en-US" sz="1080" dirty="0" err="1">
                <a:highlight>
                  <a:srgbClr val="FFFF00"/>
                </a:highlight>
              </a:rPr>
              <a:t>체계와도</a:t>
            </a:r>
            <a:r>
              <a:rPr lang="ko-KR" altLang="en-US" sz="1080" dirty="0">
                <a:highlight>
                  <a:srgbClr val="FFFF00"/>
                </a:highlight>
              </a:rPr>
              <a:t> 전혀 부합하지 않는다</a:t>
            </a:r>
            <a:r>
              <a:rPr lang="en-US" altLang="ko-KR" sz="1080" dirty="0">
                <a:highlight>
                  <a:srgbClr val="FFFF00"/>
                </a:highlight>
              </a:rPr>
              <a:t>.</a:t>
            </a:r>
            <a:endParaRPr lang="ko-KR" altLang="en-US" sz="1080" dirty="0">
              <a:highlight>
                <a:srgbClr val="FFFF00"/>
              </a:highlight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845B491D-8404-4504-83DB-F8CBD9B10B19}"/>
              </a:ext>
            </a:extLst>
          </p:cNvPr>
          <p:cNvSpPr/>
          <p:nvPr/>
        </p:nvSpPr>
        <p:spPr>
          <a:xfrm>
            <a:off x="1681348" y="6093127"/>
            <a:ext cx="141148" cy="14716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>
              <a:latin typeface="+mn-ea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CC7409E-9708-455F-937F-1A02408E7A56}"/>
              </a:ext>
            </a:extLst>
          </p:cNvPr>
          <p:cNvSpPr txBox="1"/>
          <p:nvPr/>
        </p:nvSpPr>
        <p:spPr>
          <a:xfrm>
            <a:off x="54910" y="6397211"/>
            <a:ext cx="3219578" cy="4154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PCT </a:t>
            </a:r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출원</a:t>
            </a:r>
            <a:endParaRPr lang="en-US" altLang="ko-KR" sz="105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발명자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: AI(DABUS)/(</a:t>
            </a:r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출원인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: AI </a:t>
            </a:r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개발자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스티븐 테일러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619D9534-0796-45A3-A189-E5997798044F}"/>
              </a:ext>
            </a:extLst>
          </p:cNvPr>
          <p:cNvCxnSpPr>
            <a:cxnSpLocks/>
            <a:stCxn id="79" idx="0"/>
            <a:endCxn id="27" idx="4"/>
          </p:cNvCxnSpPr>
          <p:nvPr/>
        </p:nvCxnSpPr>
        <p:spPr>
          <a:xfrm rot="5400000" flipH="1" flipV="1">
            <a:off x="1629852" y="6275142"/>
            <a:ext cx="156916" cy="8722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554490DD-F0E6-414B-856D-491321691AA4}"/>
              </a:ext>
            </a:extLst>
          </p:cNvPr>
          <p:cNvSpPr/>
          <p:nvPr/>
        </p:nvSpPr>
        <p:spPr>
          <a:xfrm>
            <a:off x="113937" y="964867"/>
            <a:ext cx="6153883" cy="30295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bIns="0">
            <a:spAutoFit/>
          </a:bodyPr>
          <a:lstStyle/>
          <a:p>
            <a:r>
              <a:rPr lang="ko-KR" altLang="en-US" sz="1400" dirty="0"/>
              <a:t>서울고등법원 </a:t>
            </a:r>
            <a:r>
              <a:rPr lang="en-US" altLang="ko-KR" sz="1400" dirty="0"/>
              <a:t>2024. 5. 16.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2023</a:t>
            </a:r>
            <a:r>
              <a:rPr lang="ko-KR" altLang="en-US" sz="1400" dirty="0"/>
              <a:t>누</a:t>
            </a:r>
            <a:r>
              <a:rPr lang="en-US" altLang="ko-KR" sz="1400" dirty="0"/>
              <a:t>52088 </a:t>
            </a:r>
            <a:r>
              <a:rPr lang="ko-KR" altLang="en-US" sz="1400" dirty="0" err="1"/>
              <a:t>특허출원무효처분</a:t>
            </a:r>
            <a:r>
              <a:rPr lang="ko-KR" altLang="en-US" sz="1400" dirty="0"/>
              <a:t> 취소 청구의 소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3D8B745-0E7B-464D-643B-E291D4C2AF55}"/>
              </a:ext>
            </a:extLst>
          </p:cNvPr>
          <p:cNvSpPr/>
          <p:nvPr/>
        </p:nvSpPr>
        <p:spPr>
          <a:xfrm>
            <a:off x="97637" y="1797421"/>
            <a:ext cx="11989588" cy="28126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[</a:t>
            </a:r>
            <a:r>
              <a:rPr lang="ko-KR" altLang="en-US" sz="1200" b="1" dirty="0">
                <a:solidFill>
                  <a:schemeClr val="accent1">
                    <a:lumMod val="50000"/>
                  </a:schemeClr>
                </a:solidFill>
                <a:latin typeface="Frutiger LT 65 Bold"/>
                <a:ea typeface="Rix모던고딕 B"/>
              </a:rPr>
              <a:t>원심판결</a:t>
            </a:r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  <a:latin typeface="Frutiger LT 65 Bold"/>
                <a:ea typeface="Rix모던고딕 B"/>
              </a:rPr>
              <a:t>: </a:t>
            </a:r>
            <a:r>
              <a:rPr lang="ko-KR" altLang="en-US" sz="1200" b="1" dirty="0">
                <a:solidFill>
                  <a:schemeClr val="accent1">
                    <a:lumMod val="50000"/>
                  </a:schemeClr>
                </a:solidFill>
                <a:latin typeface="Frutiger LT 65 Bold"/>
                <a:ea typeface="Rix모던고딕 B"/>
              </a:rPr>
              <a:t>서울행정법원 </a:t>
            </a:r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  <a:latin typeface="Frutiger LT 65 Bold"/>
                <a:ea typeface="Rix모던고딕 B"/>
              </a:rPr>
              <a:t>2023. 6. 30. </a:t>
            </a:r>
            <a:r>
              <a:rPr lang="ko-KR" altLang="en-US" sz="1200" b="1" dirty="0">
                <a:solidFill>
                  <a:schemeClr val="accent1">
                    <a:lumMod val="50000"/>
                  </a:schemeClr>
                </a:solidFill>
                <a:latin typeface="Frutiger LT 65 Bold"/>
                <a:ea typeface="Rix모던고딕 B"/>
              </a:rPr>
              <a:t>선고 </a:t>
            </a:r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  <a:latin typeface="Frutiger LT 65 Bold"/>
                <a:ea typeface="Rix모던고딕 B"/>
              </a:rPr>
              <a:t>2022</a:t>
            </a:r>
            <a:r>
              <a:rPr lang="ko-KR" altLang="en-US" sz="1200" b="1" dirty="0" err="1">
                <a:solidFill>
                  <a:schemeClr val="accent1">
                    <a:lumMod val="50000"/>
                  </a:schemeClr>
                </a:solidFill>
                <a:latin typeface="Frutiger LT 65 Bold"/>
                <a:ea typeface="Rix모던고딕 B"/>
              </a:rPr>
              <a:t>구합</a:t>
            </a:r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  <a:latin typeface="Frutiger LT 65 Bold"/>
                <a:ea typeface="Rix모던고딕 B"/>
              </a:rPr>
              <a:t>89524 </a:t>
            </a:r>
            <a:r>
              <a:rPr lang="ko-KR" altLang="en-US" sz="1200" b="1" dirty="0" err="1">
                <a:solidFill>
                  <a:schemeClr val="accent1">
                    <a:lumMod val="50000"/>
                  </a:schemeClr>
                </a:solidFill>
                <a:latin typeface="Frutiger LT 65 Bold"/>
                <a:ea typeface="Rix모던고딕 B"/>
              </a:rPr>
              <a:t>특허출원무효처분</a:t>
            </a:r>
            <a:r>
              <a:rPr lang="ko-KR" altLang="en-US" sz="1200" b="1" dirty="0">
                <a:solidFill>
                  <a:schemeClr val="accent1">
                    <a:lumMod val="50000"/>
                  </a:schemeClr>
                </a:solidFill>
                <a:latin typeface="Frutiger LT 65 Bold"/>
                <a:ea typeface="Rix모던고딕 B"/>
              </a:rPr>
              <a:t> 취소 청구의 소</a:t>
            </a:r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  <a:latin typeface="Frutiger LT 65 Bold"/>
                <a:ea typeface="Rix모던고딕 B"/>
              </a:rPr>
              <a:t>] </a:t>
            </a:r>
          </a:p>
          <a:p>
            <a:pPr marL="171450" marR="0" lvl="0" indent="-171450" algn="just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특허법 제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조 제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호는 ‘발명이라 함은 자연법칙을 이용한 기술적 사상의 창작으로서 고도한 것을 말한다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.’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고 규정하고 있다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그런데 ‘기술’ 자체가 아닌 ‘기술적 </a:t>
            </a: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사상’이란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 결국 인간의 사유를 전제로 하는 것이고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, ‘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창작’ 역시 인간의 정신적 활동을 전제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로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하는 것이다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또한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발명행위는 이른바 사실행위로써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발명행위를 하게 되면 특허법상 발명자지위가 부여되고 특허권이 발명자에게 원시적으로 귀속되므로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특허법 제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33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조 제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항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소위 ‘발명자주의’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),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발명자의 지위는 원칙적으로 권리능력이 전제가 되어야 한다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그런데 민법에서는 ‘사람은 생존한 동안 권리와 의무의 주체가 된다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.’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고 규정하여 원칙적으로 자연인에게만 권리능력이 부여된다는 점을 명시하고 있고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제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조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),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다만 제한된 범위 내에서 법인에게도 권리능력을 부여하고 있는데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제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34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조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),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인공지능은 법령상 자연인과 법인 모두에 포섭되지 않으므로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[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민법상 ‘본법에서 물건이라 함은 유체물 및 전기 기타 관리할 수 있는 자연력을 말한다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.’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고 하여 사람과 법인을 제외한 나머지를 포괄적으로 물건으로 보고 있는바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제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98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조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),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소프트웨어와 하드웨어가 결합하는 형태의 인공지능 역시 민법상 유체물로서 물건에 해당할 여지가 높아 보인다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],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현행 법령상으로 인공지능에게 권리능력을 인정할 수도 없다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원고는 인공지능이 출원서에 ‘발명자’ 로 기재되는 것이 권리능력 등과 별개로 허용될 수 있다는 취지로 주장하나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이는 앞서 본 바와 같은 특허법상 발명자의 개념과 상치되는 것이고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통일적 법해석에 전혀 부합하지 않는 주장이어서 받아들이기 어렵다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).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  <a:p>
            <a:pPr marL="171450" marR="0" lvl="0" indent="-171450" algn="just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나아가 원고는 인공지능을 발명자로 표시할 수 있도록 허용하는 것이 발명을 장려하고 그 이용을 도모함으로써 기술발전을 촉진하여 산업발전에 이바지하고자 하는 특허법의 목적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·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취지에 더 부합한다고도 주장한다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그러나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인공지능이 발명자로 표시될 수 있다 하더라도 그로 인하여 인공지능이나 인공지능의 개발자가 더 적극적으로 발명을 할 유인이 발생한다고 볼만한 합리적 근거는 부족한 반면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인공지능을 발명자로 인정할 경우 향후 인간 지성의 위축을 초래하여 미래 인간의 혁신에 부정적인 영향을 미칠 우려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연구 집약적인 산업 자체가 붕괴될 우려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발명이나 그 결과물과 관련된 법적 분쟁이 발생할 경우 인공지능의 개발자인 인간이 책임을 회피함으로써 책임 소재가 불분명해질 우려 등이 엄존하고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소수 거대 기업 등이 강력한 인공지능을 독점함으로써 특허법이 소수의 권익만을 보호하는 수단으로 전락할 위험성도 있는바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인공지능을 발명자로 인정하는 것이 우리 사회의 기술 및 산업발전의 도모에 궁극적으로 기여할 것이라고 단정하기도 어렵다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  <a:p>
            <a:pPr marL="171450" marR="0" lvl="0" indent="-171450" algn="just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원고는 인공지능을 발명자로 표시할 수 없을 경우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인공지능이 인간의 개입 없이 독자적으로 한 발명에 관하여 어느 누구도 적법하게 특허를 출원할 수 없는 문제가 발생할 수 있고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이는 특허법의 목적이나 취지에도 반한다고 주장한다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그러나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앞서 본 바와 같이 현 단계의 인공지능이 인간의 어떠한 개입 없이도 독자적으로 발명할 정도의 기술적 수준에 이르렀다고는 보이지 않을 뿐 아니라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현행 법령상 인공지능을 활용하여 발명에 기여한 인간을 발명자로 표시하여 특허를 출원하는 것까지 금지된다고 보이지도 않고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이를 영업비밀 등으로 보호하는 다른 수단도 존재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하므로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원고의 주장과 같은 문제는 현실적으로 발생할 것으로 보이지 않는다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물론 미래에 강한 인공지능이 출현할 경우에 원고의 주장과 같은 문제가 현실화할 가능성까지 완전히 배제할 수는 없으나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이는 기술적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·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정책적 판단을 거쳐 향후 제도 개선 등을 통해 해결할 과제로 보일 뿐이다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 </a:t>
            </a:r>
            <a:endParaRPr lang="ko-KR" altLang="en-US" sz="1050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63795D8-F784-70B4-5808-C6852AF90DFC}"/>
              </a:ext>
            </a:extLst>
          </p:cNvPr>
          <p:cNvSpPr/>
          <p:nvPr/>
        </p:nvSpPr>
        <p:spPr>
          <a:xfrm>
            <a:off x="3801041" y="6093127"/>
            <a:ext cx="141148" cy="14716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E01058-00A4-F7DA-D004-69157C151FC0}"/>
              </a:ext>
            </a:extLst>
          </p:cNvPr>
          <p:cNvSpPr txBox="1"/>
          <p:nvPr/>
        </p:nvSpPr>
        <p:spPr>
          <a:xfrm>
            <a:off x="3331242" y="6387686"/>
            <a:ext cx="937683" cy="43088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2021.5.17</a:t>
            </a:r>
          </a:p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국내단계진입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42C6D380-2D85-FACB-9437-A948A915EFF8}"/>
              </a:ext>
            </a:extLst>
          </p:cNvPr>
          <p:cNvSpPr/>
          <p:nvPr/>
        </p:nvSpPr>
        <p:spPr>
          <a:xfrm>
            <a:off x="4971174" y="6093127"/>
            <a:ext cx="141148" cy="14716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381575-D24E-1A2E-3E4C-BCD1374D482B}"/>
              </a:ext>
            </a:extLst>
          </p:cNvPr>
          <p:cNvSpPr txBox="1"/>
          <p:nvPr/>
        </p:nvSpPr>
        <p:spPr>
          <a:xfrm>
            <a:off x="4316549" y="6387686"/>
            <a:ext cx="1254579" cy="43088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2022.9.18</a:t>
            </a:r>
          </a:p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특허출원 무효처분</a:t>
            </a:r>
          </a:p>
        </p:txBody>
      </p: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EF7FB744-B2AB-68F1-3981-86D6FFCEB313}"/>
              </a:ext>
            </a:extLst>
          </p:cNvPr>
          <p:cNvCxnSpPr>
            <a:cxnSpLocks/>
            <a:stCxn id="13" idx="0"/>
            <a:endCxn id="12" idx="4"/>
          </p:cNvCxnSpPr>
          <p:nvPr/>
        </p:nvCxnSpPr>
        <p:spPr>
          <a:xfrm rot="5400000" flipH="1" flipV="1">
            <a:off x="3762154" y="6278226"/>
            <a:ext cx="147391" cy="7153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0F6C9B97-A4F5-92DF-390F-FCAF8BAD65FA}"/>
              </a:ext>
            </a:extLst>
          </p:cNvPr>
          <p:cNvCxnSpPr>
            <a:cxnSpLocks/>
            <a:stCxn id="22" idx="0"/>
            <a:endCxn id="21" idx="4"/>
          </p:cNvCxnSpPr>
          <p:nvPr/>
        </p:nvCxnSpPr>
        <p:spPr>
          <a:xfrm rot="5400000" flipH="1" flipV="1">
            <a:off x="4919098" y="6265037"/>
            <a:ext cx="147391" cy="9790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21E123BC-3978-7B37-1D8F-D6F9305A6CDD}"/>
              </a:ext>
            </a:extLst>
          </p:cNvPr>
          <p:cNvSpPr/>
          <p:nvPr/>
        </p:nvSpPr>
        <p:spPr>
          <a:xfrm>
            <a:off x="6454402" y="6093127"/>
            <a:ext cx="141148" cy="14716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694817-8679-7508-4A11-7432A6F5A5CA}"/>
              </a:ext>
            </a:extLst>
          </p:cNvPr>
          <p:cNvSpPr txBox="1"/>
          <p:nvPr/>
        </p:nvSpPr>
        <p:spPr>
          <a:xfrm>
            <a:off x="5628537" y="6387686"/>
            <a:ext cx="1783314" cy="43088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서울행정법원</a:t>
            </a:r>
            <a:endParaRPr lang="en-US" altLang="ko-KR" sz="105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무효처분취소의 소 제기</a:t>
            </a:r>
          </a:p>
        </p:txBody>
      </p: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3F938071-29F0-A509-2EB9-7813BAFFB244}"/>
              </a:ext>
            </a:extLst>
          </p:cNvPr>
          <p:cNvCxnSpPr>
            <a:cxnSpLocks/>
            <a:stCxn id="43" idx="0"/>
            <a:endCxn id="42" idx="4"/>
          </p:cNvCxnSpPr>
          <p:nvPr/>
        </p:nvCxnSpPr>
        <p:spPr>
          <a:xfrm rot="5400000" flipH="1" flipV="1">
            <a:off x="6448890" y="6311600"/>
            <a:ext cx="147391" cy="478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타원 46">
            <a:extLst>
              <a:ext uri="{FF2B5EF4-FFF2-40B4-BE49-F238E27FC236}">
                <a16:creationId xmlns:a16="http://schemas.microsoft.com/office/drawing/2014/main" id="{C3CC1D3F-5688-CDA6-C319-FFBDFBE262EC}"/>
              </a:ext>
            </a:extLst>
          </p:cNvPr>
          <p:cNvSpPr/>
          <p:nvPr/>
        </p:nvSpPr>
        <p:spPr>
          <a:xfrm>
            <a:off x="8105765" y="6093127"/>
            <a:ext cx="141148" cy="14716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>
              <a:latin typeface="+mn-ea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13461B-FFCC-BA98-F1D2-F9F41CDFE2D0}"/>
              </a:ext>
            </a:extLst>
          </p:cNvPr>
          <p:cNvSpPr txBox="1"/>
          <p:nvPr/>
        </p:nvSpPr>
        <p:spPr>
          <a:xfrm>
            <a:off x="7473915" y="6387686"/>
            <a:ext cx="1584438" cy="43088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2023.6.30</a:t>
            </a:r>
          </a:p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기각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050" dirty="0">
                <a:solidFill>
                  <a:srgbClr val="FF0000"/>
                </a:solidFill>
              </a:rPr>
              <a:t>2022</a:t>
            </a:r>
            <a:r>
              <a:rPr lang="ko-KR" altLang="en-US" sz="1050" dirty="0" err="1">
                <a:solidFill>
                  <a:srgbClr val="FF0000"/>
                </a:solidFill>
              </a:rPr>
              <a:t>구합</a:t>
            </a:r>
            <a:r>
              <a:rPr lang="en-US" altLang="ko-KR" sz="1050" dirty="0">
                <a:solidFill>
                  <a:srgbClr val="FF0000"/>
                </a:solidFill>
              </a:rPr>
              <a:t>89524</a:t>
            </a:r>
            <a:r>
              <a:rPr lang="en-US" altLang="ko-KR" sz="1050" dirty="0"/>
              <a:t>)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DABB69DA-A982-9453-B4DC-CEAC196F98E2}"/>
              </a:ext>
            </a:extLst>
          </p:cNvPr>
          <p:cNvCxnSpPr>
            <a:cxnSpLocks/>
            <a:stCxn id="48" idx="0"/>
            <a:endCxn id="47" idx="4"/>
          </p:cNvCxnSpPr>
          <p:nvPr/>
        </p:nvCxnSpPr>
        <p:spPr>
          <a:xfrm rot="16200000" flipV="1">
            <a:off x="8147542" y="6269093"/>
            <a:ext cx="147391" cy="8979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타원 50">
            <a:extLst>
              <a:ext uri="{FF2B5EF4-FFF2-40B4-BE49-F238E27FC236}">
                <a16:creationId xmlns:a16="http://schemas.microsoft.com/office/drawing/2014/main" id="{65D8ACA0-39F9-DF00-6840-EC379ED2BCD1}"/>
              </a:ext>
            </a:extLst>
          </p:cNvPr>
          <p:cNvSpPr/>
          <p:nvPr/>
        </p:nvSpPr>
        <p:spPr>
          <a:xfrm>
            <a:off x="9665274" y="6093127"/>
            <a:ext cx="141148" cy="14716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>
              <a:latin typeface="+mn-ea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10B131D-9703-BD6B-76CA-7FFC2CC83C71}"/>
              </a:ext>
            </a:extLst>
          </p:cNvPr>
          <p:cNvSpPr txBox="1"/>
          <p:nvPr/>
        </p:nvSpPr>
        <p:spPr>
          <a:xfrm>
            <a:off x="9178032" y="6387686"/>
            <a:ext cx="1106068" cy="43088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서울고등법원</a:t>
            </a:r>
            <a:endParaRPr lang="en-US" altLang="ko-KR" sz="105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항소</a:t>
            </a:r>
          </a:p>
        </p:txBody>
      </p: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8ED9E45E-9A74-7C30-8E08-7E6EB090AEA1}"/>
              </a:ext>
            </a:extLst>
          </p:cNvPr>
          <p:cNvCxnSpPr>
            <a:cxnSpLocks/>
            <a:stCxn id="52" idx="0"/>
            <a:endCxn id="51" idx="4"/>
          </p:cNvCxnSpPr>
          <p:nvPr/>
        </p:nvCxnSpPr>
        <p:spPr>
          <a:xfrm rot="5400000" flipH="1" flipV="1">
            <a:off x="9659762" y="6311600"/>
            <a:ext cx="147391" cy="478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타원 53">
            <a:extLst>
              <a:ext uri="{FF2B5EF4-FFF2-40B4-BE49-F238E27FC236}">
                <a16:creationId xmlns:a16="http://schemas.microsoft.com/office/drawing/2014/main" id="{98A9F25F-88A5-DDB1-9B80-7F82214EC77F}"/>
              </a:ext>
            </a:extLst>
          </p:cNvPr>
          <p:cNvSpPr/>
          <p:nvPr/>
        </p:nvSpPr>
        <p:spPr>
          <a:xfrm>
            <a:off x="11173762" y="6093127"/>
            <a:ext cx="141148" cy="14716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>
              <a:latin typeface="+mn-e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A25194B-1A32-1860-14A2-BACFA0BC870C}"/>
              </a:ext>
            </a:extLst>
          </p:cNvPr>
          <p:cNvSpPr txBox="1"/>
          <p:nvPr/>
        </p:nvSpPr>
        <p:spPr>
          <a:xfrm>
            <a:off x="10395561" y="6387686"/>
            <a:ext cx="1680530" cy="43088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2024.5.16</a:t>
            </a:r>
          </a:p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기각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050" dirty="0">
                <a:solidFill>
                  <a:srgbClr val="FF0000"/>
                </a:solidFill>
                <a:latin typeface="+mn-ea"/>
              </a:rPr>
              <a:t>2023</a:t>
            </a:r>
            <a:r>
              <a:rPr lang="ko-KR" altLang="en-US" sz="1050" dirty="0">
                <a:solidFill>
                  <a:srgbClr val="FF0000"/>
                </a:solidFill>
                <a:latin typeface="+mn-ea"/>
              </a:rPr>
              <a:t>누</a:t>
            </a:r>
            <a:r>
              <a:rPr lang="en-US" altLang="ko-KR" sz="1050" dirty="0">
                <a:solidFill>
                  <a:srgbClr val="FF0000"/>
                </a:solidFill>
                <a:latin typeface="+mn-ea"/>
              </a:rPr>
              <a:t>52088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4A8DCF5D-EE09-EC74-F254-280A0EEF6B8C}"/>
              </a:ext>
            </a:extLst>
          </p:cNvPr>
          <p:cNvCxnSpPr>
            <a:cxnSpLocks/>
            <a:stCxn id="56" idx="0"/>
            <a:endCxn id="54" idx="4"/>
          </p:cNvCxnSpPr>
          <p:nvPr/>
        </p:nvCxnSpPr>
        <p:spPr>
          <a:xfrm rot="5400000" flipH="1" flipV="1">
            <a:off x="11166386" y="6309736"/>
            <a:ext cx="147391" cy="851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7003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37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37</a:t>
            </a:r>
            <a:r>
              <a:rPr lang="ko-KR" altLang="en-US" dirty="0"/>
              <a:t>조의 법조문 정리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875" y="1029105"/>
            <a:ext cx="11936323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특허를 받을 수 있는 권리는 이전할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75" y="1985824"/>
            <a:ext cx="11936323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특허를 받을 수 있는 권리는 질권의 목적으로 할 수 없다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75" y="2790135"/>
            <a:ext cx="11936323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특허를 받을 수 있는 권리가 공유인 경우에는 각 공유자는 다른 공유자 모두의 동의를 받아야만 그 지분을 양도할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43" y="1376236"/>
            <a:ext cx="11648456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171450" indent="-171450" fontAlgn="base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</a:rPr>
              <a:t>이전 </a:t>
            </a:r>
            <a:r>
              <a:rPr lang="en-US" altLang="ko-KR" sz="1200" dirty="0">
                <a:solidFill>
                  <a:schemeClr val="tx2"/>
                </a:solidFill>
              </a:rPr>
              <a:t>: </a:t>
            </a:r>
            <a:r>
              <a:rPr lang="ko-KR" altLang="en-US" sz="1200" dirty="0">
                <a:solidFill>
                  <a:schemeClr val="tx2"/>
                </a:solidFill>
              </a:rPr>
              <a:t>양도 </a:t>
            </a:r>
            <a:r>
              <a:rPr lang="en-US" altLang="ko-KR" sz="1200" dirty="0">
                <a:solidFill>
                  <a:schemeClr val="tx2"/>
                </a:solidFill>
              </a:rPr>
              <a:t>+ </a:t>
            </a:r>
            <a:r>
              <a:rPr lang="ko-KR" altLang="en-US" sz="1200" dirty="0">
                <a:solidFill>
                  <a:schemeClr val="tx2"/>
                </a:solidFill>
              </a:rPr>
              <a:t>상속</a:t>
            </a:r>
            <a:endParaRPr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5743" y="2341432"/>
            <a:ext cx="11648456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171450" indent="-171450" fontAlgn="base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</a:rPr>
              <a:t>불안정한 상태</a:t>
            </a:r>
            <a:endParaRPr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43" y="3154232"/>
            <a:ext cx="11648456" cy="67342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marL="171450" indent="-171450" fontAlgn="base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</a:rPr>
              <a:t>새로이 공유자로 될 자의 자본력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기술력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 err="1">
                <a:solidFill>
                  <a:schemeClr val="tx2"/>
                </a:solidFill>
              </a:rPr>
              <a:t>신용력</a:t>
            </a:r>
            <a:r>
              <a:rPr lang="ko-KR" altLang="en-US" sz="1200" dirty="0">
                <a:solidFill>
                  <a:schemeClr val="tx2"/>
                </a:solidFill>
              </a:rPr>
              <a:t> 여하에 따라 기존 공유자의 이해관계에 영향을 미치기 때문에 제한을 두고 있음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민법과 차이점</a:t>
            </a:r>
            <a:r>
              <a:rPr lang="en-US" altLang="ko-KR" sz="1200" dirty="0">
                <a:solidFill>
                  <a:schemeClr val="tx2"/>
                </a:solidFill>
              </a:rPr>
              <a:t>)</a:t>
            </a:r>
          </a:p>
          <a:p>
            <a:pPr marL="171450" indent="-171450" fontAlgn="base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</a:rPr>
              <a:t>다만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지분의 상속은 다른 공유자에게 </a:t>
            </a:r>
            <a:r>
              <a:rPr lang="ko-KR" altLang="en-US" sz="1200" dirty="0" err="1">
                <a:solidFill>
                  <a:schemeClr val="tx2"/>
                </a:solidFill>
              </a:rPr>
              <a:t>불측의</a:t>
            </a:r>
            <a:r>
              <a:rPr lang="ko-KR" altLang="en-US" sz="1200" dirty="0">
                <a:solidFill>
                  <a:schemeClr val="tx2"/>
                </a:solidFill>
              </a:rPr>
              <a:t> 손해를 줄 염려가 없기 때문에 다른 공유자의 동의를 받지 아니하고 할 수 있으며 공유자끼리의 지분양도는 공유자 사이의 지분 비율의 변동에 불과하기 때문에 다른 공유자의 동의를 받지 아니하고 가능하다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106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5D3D5A2-A7CA-4BAF-A52A-210F4D0F5454}"/>
              </a:ext>
            </a:extLst>
          </p:cNvPr>
          <p:cNvCxnSpPr/>
          <p:nvPr/>
        </p:nvCxnSpPr>
        <p:spPr>
          <a:xfrm>
            <a:off x="17418" y="3979817"/>
            <a:ext cx="1212233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666CA6DE-28A0-4408-8B78-BFBF21F50FE4}"/>
              </a:ext>
            </a:extLst>
          </p:cNvPr>
          <p:cNvSpPr/>
          <p:nvPr/>
        </p:nvSpPr>
        <p:spPr>
          <a:xfrm>
            <a:off x="226423" y="5167579"/>
            <a:ext cx="1743663" cy="37731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특허를 받을 수 있는 권리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D6D972E-B048-4F0C-95CD-8DAEEA811B36}"/>
              </a:ext>
            </a:extLst>
          </p:cNvPr>
          <p:cNvSpPr/>
          <p:nvPr/>
        </p:nvSpPr>
        <p:spPr>
          <a:xfrm>
            <a:off x="2335763" y="4559220"/>
            <a:ext cx="1326679" cy="3773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2"/>
                </a:solidFill>
              </a:rPr>
              <a:t>특허부여요구권적</a:t>
            </a:r>
            <a:r>
              <a:rPr lang="ko-KR" altLang="en-US" sz="1200" dirty="0">
                <a:solidFill>
                  <a:schemeClr val="tx2"/>
                </a:solidFill>
              </a:rPr>
              <a:t> 효력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88E5946-5366-4A79-92C5-59DE5C726E44}"/>
              </a:ext>
            </a:extLst>
          </p:cNvPr>
          <p:cNvSpPr/>
          <p:nvPr/>
        </p:nvSpPr>
        <p:spPr>
          <a:xfrm>
            <a:off x="2335763" y="5744418"/>
            <a:ext cx="1326679" cy="3773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2"/>
                </a:solidFill>
              </a:rPr>
              <a:t>발명자권적</a:t>
            </a:r>
            <a:r>
              <a:rPr lang="ko-KR" altLang="en-US" sz="1200" dirty="0">
                <a:solidFill>
                  <a:schemeClr val="tx2"/>
                </a:solidFill>
              </a:rPr>
              <a:t> 효력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0F7BC4D-DC91-4D42-B22B-4A8145570711}"/>
              </a:ext>
            </a:extLst>
          </p:cNvPr>
          <p:cNvSpPr/>
          <p:nvPr/>
        </p:nvSpPr>
        <p:spPr>
          <a:xfrm>
            <a:off x="3996684" y="4232881"/>
            <a:ext cx="1326679" cy="3773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권리부여의 요구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法 </a:t>
            </a:r>
            <a:r>
              <a:rPr lang="en-US" altLang="ko-KR" sz="1200" dirty="0">
                <a:solidFill>
                  <a:schemeClr val="tx2"/>
                </a:solidFill>
              </a:rPr>
              <a:t>42)</a:t>
            </a:r>
            <a:endParaRPr lang="ko-KR" altLang="en-US" sz="1200" dirty="0">
              <a:solidFill>
                <a:schemeClr val="tx2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A4B3DD0-C8C9-4CDF-AAAB-7744960D69E7}"/>
              </a:ext>
            </a:extLst>
          </p:cNvPr>
          <p:cNvSpPr/>
          <p:nvPr/>
        </p:nvSpPr>
        <p:spPr>
          <a:xfrm>
            <a:off x="3996684" y="4673065"/>
            <a:ext cx="1326679" cy="3773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타인출원의 등록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금지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5661651-5C56-4E82-BB29-3B733279EE2D}"/>
              </a:ext>
            </a:extLst>
          </p:cNvPr>
          <p:cNvSpPr/>
          <p:nvPr/>
        </p:nvSpPr>
        <p:spPr>
          <a:xfrm>
            <a:off x="3996684" y="5570190"/>
            <a:ext cx="1326679" cy="3773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재산권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9492269-D1CC-4FD5-A76A-396C4BD65C67}"/>
              </a:ext>
            </a:extLst>
          </p:cNvPr>
          <p:cNvSpPr/>
          <p:nvPr/>
        </p:nvSpPr>
        <p:spPr>
          <a:xfrm>
            <a:off x="3996684" y="6010374"/>
            <a:ext cx="1326679" cy="3773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인격권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41F05BF-99A6-4D0F-9A39-372768919F69}"/>
              </a:ext>
            </a:extLst>
          </p:cNvPr>
          <p:cNvSpPr/>
          <p:nvPr/>
        </p:nvSpPr>
        <p:spPr>
          <a:xfrm>
            <a:off x="5648899" y="4982880"/>
            <a:ext cx="1326679" cy="3773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침해에 대한 보호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54D394F-EE52-4F28-93ED-B01293F8C932}"/>
              </a:ext>
            </a:extLst>
          </p:cNvPr>
          <p:cNvSpPr/>
          <p:nvPr/>
        </p:nvSpPr>
        <p:spPr>
          <a:xfrm>
            <a:off x="5648899" y="5798475"/>
            <a:ext cx="1326679" cy="3773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발명의 실시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8C52AA2-6F6F-4F36-96EE-F39A501B4903}"/>
              </a:ext>
            </a:extLst>
          </p:cNvPr>
          <p:cNvSpPr/>
          <p:nvPr/>
        </p:nvSpPr>
        <p:spPr>
          <a:xfrm>
            <a:off x="7365381" y="4272461"/>
            <a:ext cx="1712830" cy="3773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2"/>
                </a:solidFill>
              </a:rPr>
              <a:t>무권리자출원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무단출원</a:t>
            </a:r>
            <a:r>
              <a:rPr lang="en-US" altLang="ko-KR" sz="1200" dirty="0">
                <a:solidFill>
                  <a:schemeClr val="tx2"/>
                </a:solidFill>
              </a:rPr>
              <a:t>)</a:t>
            </a:r>
            <a:endParaRPr lang="ko-KR" altLang="en-US" sz="1200" dirty="0">
              <a:solidFill>
                <a:schemeClr val="tx2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548D5AD-8BBD-4B8A-BA41-B6F0FF835DCD}"/>
              </a:ext>
            </a:extLst>
          </p:cNvPr>
          <p:cNvSpPr/>
          <p:nvPr/>
        </p:nvSpPr>
        <p:spPr>
          <a:xfrm>
            <a:off x="7365381" y="4695930"/>
            <a:ext cx="1712830" cy="3773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무단공표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7012A8D-6A48-4A93-93EC-2C182C7B39D1}"/>
              </a:ext>
            </a:extLst>
          </p:cNvPr>
          <p:cNvSpPr/>
          <p:nvPr/>
        </p:nvSpPr>
        <p:spPr>
          <a:xfrm>
            <a:off x="7365381" y="5124918"/>
            <a:ext cx="1712830" cy="3773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무단실시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9F48EEE-E037-4216-A599-0DCF1B440DB5}"/>
              </a:ext>
            </a:extLst>
          </p:cNvPr>
          <p:cNvSpPr/>
          <p:nvPr/>
        </p:nvSpPr>
        <p:spPr>
          <a:xfrm>
            <a:off x="9751538" y="4161282"/>
            <a:ext cx="1647994" cy="3773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정당한 권리자 출원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法 </a:t>
            </a:r>
            <a:r>
              <a:rPr lang="en-US" altLang="ko-KR" sz="1200" dirty="0">
                <a:solidFill>
                  <a:schemeClr val="tx2"/>
                </a:solidFill>
              </a:rPr>
              <a:t>34, 35)</a:t>
            </a:r>
            <a:endParaRPr lang="ko-KR" altLang="en-US" sz="1200" dirty="0">
              <a:solidFill>
                <a:schemeClr val="tx2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78B960F-E357-4A56-AD2F-3A86F4992C3F}"/>
              </a:ext>
            </a:extLst>
          </p:cNvPr>
          <p:cNvSpPr/>
          <p:nvPr/>
        </p:nvSpPr>
        <p:spPr>
          <a:xfrm>
            <a:off x="9751538" y="4584751"/>
            <a:ext cx="1647994" cy="3773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이전청구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法 </a:t>
            </a:r>
            <a:r>
              <a:rPr lang="en-US" altLang="ko-KR" sz="1200" dirty="0">
                <a:solidFill>
                  <a:schemeClr val="tx2"/>
                </a:solidFill>
              </a:rPr>
              <a:t>99</a:t>
            </a:r>
            <a:r>
              <a:rPr lang="ko-KR" altLang="en-US" sz="1200" dirty="0">
                <a:solidFill>
                  <a:schemeClr val="tx2"/>
                </a:solidFill>
              </a:rPr>
              <a:t>의</a:t>
            </a:r>
            <a:r>
              <a:rPr lang="en-US" altLang="ko-KR" sz="1200" dirty="0">
                <a:solidFill>
                  <a:schemeClr val="tx2"/>
                </a:solidFill>
              </a:rPr>
              <a:t>2)</a:t>
            </a:r>
            <a:endParaRPr lang="ko-KR" altLang="en-US" sz="1200" dirty="0">
              <a:solidFill>
                <a:schemeClr val="tx2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672F1FB-C1E9-4FC0-A2D5-D18AD269FC52}"/>
              </a:ext>
            </a:extLst>
          </p:cNvPr>
          <p:cNvSpPr/>
          <p:nvPr/>
        </p:nvSpPr>
        <p:spPr>
          <a:xfrm>
            <a:off x="9751538" y="4997447"/>
            <a:ext cx="1647994" cy="3773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의사에 반한 공지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法 </a:t>
            </a:r>
            <a:r>
              <a:rPr lang="en-US" altLang="ko-KR" sz="1200" dirty="0">
                <a:solidFill>
                  <a:schemeClr val="tx2"/>
                </a:solidFill>
              </a:rPr>
              <a:t>30①Ⅱ)</a:t>
            </a:r>
            <a:endParaRPr lang="ko-KR" altLang="en-US" sz="1200" dirty="0">
              <a:solidFill>
                <a:schemeClr val="tx2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D60C29B-A6E1-4B36-9F59-8B18D1F7036E}"/>
              </a:ext>
            </a:extLst>
          </p:cNvPr>
          <p:cNvSpPr/>
          <p:nvPr/>
        </p:nvSpPr>
        <p:spPr>
          <a:xfrm>
            <a:off x="9751538" y="5422414"/>
            <a:ext cx="1647994" cy="3773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보상금청구권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法 </a:t>
            </a:r>
            <a:r>
              <a:rPr lang="en-US" altLang="ko-KR" sz="1200" dirty="0">
                <a:solidFill>
                  <a:schemeClr val="tx2"/>
                </a:solidFill>
              </a:rPr>
              <a:t>65)</a:t>
            </a:r>
            <a:endParaRPr lang="ko-KR" altLang="en-US" sz="1200" dirty="0">
              <a:solidFill>
                <a:schemeClr val="tx2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F60A919-0130-4897-ACB2-60C4E721BC4A}"/>
              </a:ext>
            </a:extLst>
          </p:cNvPr>
          <p:cNvSpPr/>
          <p:nvPr/>
        </p:nvSpPr>
        <p:spPr>
          <a:xfrm>
            <a:off x="7365381" y="5800597"/>
            <a:ext cx="1712830" cy="3773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선사용권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法 </a:t>
            </a:r>
            <a:r>
              <a:rPr lang="en-US" altLang="ko-KR" sz="1200" dirty="0">
                <a:solidFill>
                  <a:schemeClr val="tx2"/>
                </a:solidFill>
              </a:rPr>
              <a:t>103)</a:t>
            </a:r>
            <a:endParaRPr lang="ko-KR" altLang="en-US" sz="1200" dirty="0">
              <a:solidFill>
                <a:schemeClr val="tx2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D728F45-024E-42CF-972C-90EECADDBC12}"/>
              </a:ext>
            </a:extLst>
          </p:cNvPr>
          <p:cNvSpPr/>
          <p:nvPr/>
        </p:nvSpPr>
        <p:spPr>
          <a:xfrm>
            <a:off x="7365381" y="6229585"/>
            <a:ext cx="1712830" cy="3773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2"/>
                </a:solidFill>
              </a:rPr>
              <a:t>특허출원시부터</a:t>
            </a:r>
            <a:r>
              <a:rPr lang="ko-KR" altLang="en-US" sz="1200" dirty="0">
                <a:solidFill>
                  <a:schemeClr val="tx2"/>
                </a:solidFill>
              </a:rPr>
              <a:t> 국내에 있던 물건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法 </a:t>
            </a:r>
            <a:r>
              <a:rPr lang="en-US" altLang="ko-KR" sz="1200" dirty="0">
                <a:solidFill>
                  <a:schemeClr val="tx2"/>
                </a:solidFill>
              </a:rPr>
              <a:t>96①Ⅲ)</a:t>
            </a:r>
            <a:endParaRPr lang="ko-KR" altLang="en-US" sz="1200" dirty="0">
              <a:solidFill>
                <a:schemeClr val="tx2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4F17131-9782-4919-995C-139A63D6850F}"/>
              </a:ext>
            </a:extLst>
          </p:cNvPr>
          <p:cNvSpPr/>
          <p:nvPr/>
        </p:nvSpPr>
        <p:spPr>
          <a:xfrm>
            <a:off x="9751538" y="5847381"/>
            <a:ext cx="1647994" cy="377316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영업비밀보호법에 의한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보호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부정취득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ko-KR" altLang="en-US" sz="1200" dirty="0">
                <a:solidFill>
                  <a:schemeClr val="bg1"/>
                </a:solidFill>
              </a:rPr>
              <a:t>공개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36D58A31-84F4-45F4-9189-7127B1334981}"/>
              </a:ext>
            </a:extLst>
          </p:cNvPr>
          <p:cNvCxnSpPr>
            <a:stCxn id="8" idx="3"/>
            <a:endCxn id="18" idx="1"/>
          </p:cNvCxnSpPr>
          <p:nvPr/>
        </p:nvCxnSpPr>
        <p:spPr>
          <a:xfrm flipV="1">
            <a:off x="1970086" y="4747878"/>
            <a:ext cx="365677" cy="60835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46BD3106-8750-4983-BF65-D7B61B778AA3}"/>
              </a:ext>
            </a:extLst>
          </p:cNvPr>
          <p:cNvCxnSpPr>
            <a:stCxn id="8" idx="3"/>
            <a:endCxn id="19" idx="1"/>
          </p:cNvCxnSpPr>
          <p:nvPr/>
        </p:nvCxnSpPr>
        <p:spPr>
          <a:xfrm>
            <a:off x="1970086" y="5356237"/>
            <a:ext cx="365677" cy="57683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867933C7-2F27-4C66-9EBE-FDD346CE4997}"/>
              </a:ext>
            </a:extLst>
          </p:cNvPr>
          <p:cNvCxnSpPr>
            <a:stCxn id="18" idx="3"/>
            <a:endCxn id="20" idx="1"/>
          </p:cNvCxnSpPr>
          <p:nvPr/>
        </p:nvCxnSpPr>
        <p:spPr>
          <a:xfrm flipV="1">
            <a:off x="3662442" y="4421539"/>
            <a:ext cx="334242" cy="32633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2E20248E-3E20-4892-81D7-3D0E60962BCC}"/>
              </a:ext>
            </a:extLst>
          </p:cNvPr>
          <p:cNvCxnSpPr>
            <a:stCxn id="18" idx="3"/>
            <a:endCxn id="21" idx="1"/>
          </p:cNvCxnSpPr>
          <p:nvPr/>
        </p:nvCxnSpPr>
        <p:spPr>
          <a:xfrm>
            <a:off x="3662442" y="4747878"/>
            <a:ext cx="334242" cy="11384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5F50DBB7-BB14-4657-A1B7-ECDB27B38B63}"/>
              </a:ext>
            </a:extLst>
          </p:cNvPr>
          <p:cNvCxnSpPr>
            <a:stCxn id="19" idx="3"/>
            <a:endCxn id="23" idx="1"/>
          </p:cNvCxnSpPr>
          <p:nvPr/>
        </p:nvCxnSpPr>
        <p:spPr>
          <a:xfrm flipV="1">
            <a:off x="3662442" y="5758848"/>
            <a:ext cx="334242" cy="17422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AA182F24-0EAC-4F1A-8C79-B5C2ECDEFF9D}"/>
              </a:ext>
            </a:extLst>
          </p:cNvPr>
          <p:cNvCxnSpPr>
            <a:stCxn id="19" idx="3"/>
            <a:endCxn id="24" idx="1"/>
          </p:cNvCxnSpPr>
          <p:nvPr/>
        </p:nvCxnSpPr>
        <p:spPr>
          <a:xfrm>
            <a:off x="3662442" y="5933076"/>
            <a:ext cx="334242" cy="26595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C614E993-A8CC-4CEE-A785-5DA49D8C0863}"/>
              </a:ext>
            </a:extLst>
          </p:cNvPr>
          <p:cNvCxnSpPr>
            <a:stCxn id="23" idx="3"/>
            <a:endCxn id="25" idx="1"/>
          </p:cNvCxnSpPr>
          <p:nvPr/>
        </p:nvCxnSpPr>
        <p:spPr>
          <a:xfrm flipV="1">
            <a:off x="5323363" y="5171538"/>
            <a:ext cx="325536" cy="58731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801C308D-C6FF-452D-B3E8-CD7AE4A9ABCD}"/>
              </a:ext>
            </a:extLst>
          </p:cNvPr>
          <p:cNvCxnSpPr>
            <a:stCxn id="23" idx="3"/>
            <a:endCxn id="26" idx="1"/>
          </p:cNvCxnSpPr>
          <p:nvPr/>
        </p:nvCxnSpPr>
        <p:spPr>
          <a:xfrm>
            <a:off x="5323363" y="5758848"/>
            <a:ext cx="325536" cy="22828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CF8DAA59-E95E-4186-A198-7391729F10C5}"/>
              </a:ext>
            </a:extLst>
          </p:cNvPr>
          <p:cNvCxnSpPr>
            <a:stCxn id="25" idx="3"/>
            <a:endCxn id="27" idx="1"/>
          </p:cNvCxnSpPr>
          <p:nvPr/>
        </p:nvCxnSpPr>
        <p:spPr>
          <a:xfrm flipV="1">
            <a:off x="6975578" y="4461119"/>
            <a:ext cx="389803" cy="71041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A8BAB1ED-F912-46F7-B36A-E53581FD1BC5}"/>
              </a:ext>
            </a:extLst>
          </p:cNvPr>
          <p:cNvCxnSpPr>
            <a:stCxn id="25" idx="3"/>
            <a:endCxn id="29" idx="1"/>
          </p:cNvCxnSpPr>
          <p:nvPr/>
        </p:nvCxnSpPr>
        <p:spPr>
          <a:xfrm>
            <a:off x="6975578" y="5171538"/>
            <a:ext cx="389803" cy="14203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E23EFB4C-7436-4C8E-A494-C0764B47189F}"/>
              </a:ext>
            </a:extLst>
          </p:cNvPr>
          <p:cNvCxnSpPr>
            <a:stCxn id="25" idx="3"/>
            <a:endCxn id="28" idx="1"/>
          </p:cNvCxnSpPr>
          <p:nvPr/>
        </p:nvCxnSpPr>
        <p:spPr>
          <a:xfrm flipV="1">
            <a:off x="6975578" y="4884588"/>
            <a:ext cx="389803" cy="28695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연결선: 꺾임 59">
            <a:extLst>
              <a:ext uri="{FF2B5EF4-FFF2-40B4-BE49-F238E27FC236}">
                <a16:creationId xmlns:a16="http://schemas.microsoft.com/office/drawing/2014/main" id="{AF5C3EC7-D9F3-42E5-B44B-9270F5D4C0C2}"/>
              </a:ext>
            </a:extLst>
          </p:cNvPr>
          <p:cNvCxnSpPr>
            <a:stCxn id="26" idx="3"/>
            <a:endCxn id="34" idx="1"/>
          </p:cNvCxnSpPr>
          <p:nvPr/>
        </p:nvCxnSpPr>
        <p:spPr>
          <a:xfrm>
            <a:off x="6975578" y="5987133"/>
            <a:ext cx="389803" cy="212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A67B1319-BBD5-4211-8034-1F4912882DFE}"/>
              </a:ext>
            </a:extLst>
          </p:cNvPr>
          <p:cNvCxnSpPr>
            <a:stCxn id="26" idx="3"/>
            <a:endCxn id="35" idx="1"/>
          </p:cNvCxnSpPr>
          <p:nvPr/>
        </p:nvCxnSpPr>
        <p:spPr>
          <a:xfrm>
            <a:off x="6975578" y="5987133"/>
            <a:ext cx="389803" cy="43111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연결선: 꺾임 63">
            <a:extLst>
              <a:ext uri="{FF2B5EF4-FFF2-40B4-BE49-F238E27FC236}">
                <a16:creationId xmlns:a16="http://schemas.microsoft.com/office/drawing/2014/main" id="{C786560F-5B36-470D-A305-7A03493127FF}"/>
              </a:ext>
            </a:extLst>
          </p:cNvPr>
          <p:cNvCxnSpPr>
            <a:stCxn id="27" idx="3"/>
            <a:endCxn id="30" idx="1"/>
          </p:cNvCxnSpPr>
          <p:nvPr/>
        </p:nvCxnSpPr>
        <p:spPr>
          <a:xfrm flipV="1">
            <a:off x="9078211" y="4349940"/>
            <a:ext cx="673327" cy="11117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연결선: 꺾임 65">
            <a:extLst>
              <a:ext uri="{FF2B5EF4-FFF2-40B4-BE49-F238E27FC236}">
                <a16:creationId xmlns:a16="http://schemas.microsoft.com/office/drawing/2014/main" id="{27008CE9-3D91-4686-86FB-25F159CCDC6D}"/>
              </a:ext>
            </a:extLst>
          </p:cNvPr>
          <p:cNvCxnSpPr>
            <a:cxnSpLocks/>
            <a:stCxn id="27" idx="3"/>
            <a:endCxn id="31" idx="1"/>
          </p:cNvCxnSpPr>
          <p:nvPr/>
        </p:nvCxnSpPr>
        <p:spPr>
          <a:xfrm>
            <a:off x="9078211" y="4461119"/>
            <a:ext cx="673327" cy="31229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연결선: 꺾임 68">
            <a:extLst>
              <a:ext uri="{FF2B5EF4-FFF2-40B4-BE49-F238E27FC236}">
                <a16:creationId xmlns:a16="http://schemas.microsoft.com/office/drawing/2014/main" id="{8413A653-7E6D-4456-B85B-C0D563A190AB}"/>
              </a:ext>
            </a:extLst>
          </p:cNvPr>
          <p:cNvCxnSpPr>
            <a:stCxn id="28" idx="3"/>
            <a:endCxn id="32" idx="1"/>
          </p:cNvCxnSpPr>
          <p:nvPr/>
        </p:nvCxnSpPr>
        <p:spPr>
          <a:xfrm>
            <a:off x="9078211" y="4884588"/>
            <a:ext cx="673327" cy="30151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98C13B22-2AC6-4AA9-B45A-68DDF7C419FC}"/>
              </a:ext>
            </a:extLst>
          </p:cNvPr>
          <p:cNvCxnSpPr>
            <a:stCxn id="29" idx="3"/>
            <a:endCxn id="33" idx="1"/>
          </p:cNvCxnSpPr>
          <p:nvPr/>
        </p:nvCxnSpPr>
        <p:spPr>
          <a:xfrm>
            <a:off x="9078211" y="5313576"/>
            <a:ext cx="673327" cy="29749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36201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37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37</a:t>
            </a:r>
            <a:r>
              <a:rPr lang="ko-KR" altLang="en-US" dirty="0"/>
              <a:t>조제</a:t>
            </a:r>
            <a:r>
              <a:rPr lang="en-US" altLang="ko-KR" dirty="0"/>
              <a:t>3</a:t>
            </a:r>
            <a:r>
              <a:rPr lang="ko-KR" altLang="en-US" dirty="0"/>
              <a:t>항의 개념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967" y="1746507"/>
            <a:ext cx="1043876" cy="592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400" dirty="0"/>
              <a:t>발명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967" y="3980749"/>
            <a:ext cx="1043876" cy="592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400"/>
              <a:t>무체물</a:t>
            </a:r>
            <a:endParaRPr lang="ko-KR" altLang="en-US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695968" y="5084930"/>
            <a:ext cx="1043876" cy="592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dirty="0"/>
              <a:t>점유 수반</a:t>
            </a:r>
            <a:r>
              <a:rPr lang="en-US" altLang="ko-KR" sz="1400" dirty="0"/>
              <a:t>×</a:t>
            </a:r>
            <a:endParaRPr lang="ko-KR" altLang="en-US" sz="1400" dirty="0"/>
          </a:p>
        </p:txBody>
      </p:sp>
      <p:sp>
        <p:nvSpPr>
          <p:cNvPr id="21" name="TextBox 20"/>
          <p:cNvSpPr txBox="1"/>
          <p:nvPr/>
        </p:nvSpPr>
        <p:spPr>
          <a:xfrm>
            <a:off x="2312157" y="1427453"/>
            <a:ext cx="3436861" cy="592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공유자 모두</a:t>
            </a:r>
            <a:r>
              <a:rPr lang="en-US" altLang="ko-KR" sz="1400" dirty="0"/>
              <a:t>/</a:t>
            </a:r>
            <a:r>
              <a:rPr lang="ko-KR" altLang="en-US" sz="1400" dirty="0"/>
              <a:t>지분 비율 무관</a:t>
            </a:r>
            <a:r>
              <a:rPr lang="en-US" altLang="ko-KR" sz="1400" dirty="0"/>
              <a:t>/</a:t>
            </a:r>
            <a:r>
              <a:rPr lang="ko-KR" altLang="en-US" sz="1400" dirty="0"/>
              <a:t>발명 전체 실시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法 </a:t>
            </a:r>
            <a:r>
              <a:rPr lang="en-US" altLang="ko-KR" sz="1400" dirty="0"/>
              <a:t>99</a:t>
            </a:r>
            <a:r>
              <a:rPr lang="ko-KR" altLang="en-US" sz="1400" dirty="0"/>
              <a:t>③</a:t>
            </a:r>
            <a:r>
              <a:rPr lang="en-US" altLang="ko-KR" sz="1400" dirty="0"/>
              <a:t>) </a:t>
            </a:r>
            <a:endParaRPr lang="ko-KR" alt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2312159" y="2985788"/>
            <a:ext cx="3436860" cy="592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지분 비율보다는 자본력</a:t>
            </a:r>
            <a:r>
              <a:rPr lang="en-US" altLang="ko-KR" sz="1400" dirty="0"/>
              <a:t>, </a:t>
            </a:r>
            <a:r>
              <a:rPr lang="ko-KR" altLang="en-US" sz="1400" dirty="0"/>
              <a:t>기술력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신용력</a:t>
            </a:r>
            <a:r>
              <a:rPr lang="ko-KR" altLang="en-US" sz="1400" dirty="0"/>
              <a:t> 등 다른 요인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967" y="2807556"/>
            <a:ext cx="1043876" cy="592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dirty="0"/>
              <a:t>기술적 사상</a:t>
            </a:r>
          </a:p>
        </p:txBody>
      </p:sp>
      <p:cxnSp>
        <p:nvCxnSpPr>
          <p:cNvPr id="7" name="직선 화살표 연결선 6"/>
          <p:cNvCxnSpPr>
            <a:stCxn id="18" idx="2"/>
            <a:endCxn id="23" idx="0"/>
          </p:cNvCxnSpPr>
          <p:nvPr/>
        </p:nvCxnSpPr>
        <p:spPr>
          <a:xfrm>
            <a:off x="1217905" y="2339179"/>
            <a:ext cx="0" cy="46837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>
            <a:stCxn id="23" idx="2"/>
          </p:cNvCxnSpPr>
          <p:nvPr/>
        </p:nvCxnSpPr>
        <p:spPr>
          <a:xfrm>
            <a:off x="1217905" y="3400228"/>
            <a:ext cx="1" cy="58052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>
            <a:stCxn id="19" idx="2"/>
            <a:endCxn id="20" idx="0"/>
          </p:cNvCxnSpPr>
          <p:nvPr/>
        </p:nvCxnSpPr>
        <p:spPr>
          <a:xfrm>
            <a:off x="1217905" y="4573421"/>
            <a:ext cx="1" cy="51150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꺾인 연결선 29"/>
          <p:cNvCxnSpPr>
            <a:stCxn id="20" idx="2"/>
            <a:endCxn id="21" idx="0"/>
          </p:cNvCxnSpPr>
          <p:nvPr/>
        </p:nvCxnSpPr>
        <p:spPr>
          <a:xfrm rot="5400000" flipH="1" flipV="1">
            <a:off x="499172" y="2146187"/>
            <a:ext cx="4250149" cy="2812682"/>
          </a:xfrm>
          <a:prstGeom prst="bentConnector5">
            <a:avLst>
              <a:gd name="adj1" fmla="val -5379"/>
              <a:gd name="adj2" fmla="val 28730"/>
              <a:gd name="adj3" fmla="val 105379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>
            <a:stCxn id="22" idx="0"/>
            <a:endCxn id="21" idx="2"/>
          </p:cNvCxnSpPr>
          <p:nvPr/>
        </p:nvCxnSpPr>
        <p:spPr>
          <a:xfrm flipH="1" flipV="1">
            <a:off x="4030588" y="2020125"/>
            <a:ext cx="1" cy="96566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633409" y="2332095"/>
            <a:ext cx="80983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4">
                    <a:lumMod val="50000"/>
                  </a:schemeClr>
                </a:solidFill>
              </a:rPr>
              <a:t>영향력</a:t>
            </a:r>
          </a:p>
        </p:txBody>
      </p:sp>
      <p:sp>
        <p:nvSpPr>
          <p:cNvPr id="36" name="왼쪽 화살표 35"/>
          <p:cNvSpPr/>
          <p:nvPr/>
        </p:nvSpPr>
        <p:spPr>
          <a:xfrm>
            <a:off x="4571998" y="2332095"/>
            <a:ext cx="575733" cy="369332"/>
          </a:xfrm>
          <a:prstGeom prst="leftArrow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5242075" y="2332095"/>
            <a:ext cx="601447" cy="369332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제한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2609" y="1561841"/>
            <a:ext cx="67037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ko-KR" altLang="en-US" sz="1400" b="1">
                <a:solidFill>
                  <a:schemeClr val="accent1">
                    <a:lumMod val="50000"/>
                  </a:schemeClr>
                </a:solidFill>
              </a:rPr>
              <a:t>등록전</a:t>
            </a:r>
            <a:endParaRPr lang="ko-KR" altLang="en-US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122609" y="2517534"/>
            <a:ext cx="67037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ko-KR" altLang="en-US" sz="1400" b="1" dirty="0" err="1">
                <a:solidFill>
                  <a:schemeClr val="accent1">
                    <a:lumMod val="50000"/>
                  </a:schemeClr>
                </a:solidFill>
              </a:rPr>
              <a:t>등록후</a:t>
            </a:r>
            <a:endParaRPr lang="ko-KR" altLang="en-US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6883400" y="1492956"/>
            <a:ext cx="4960668" cy="46166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sz="1200" b="1" dirty="0">
                <a:solidFill>
                  <a:schemeClr val="tx2"/>
                </a:solidFill>
              </a:rPr>
              <a:t>(</a:t>
            </a:r>
            <a:r>
              <a:rPr lang="ko-KR" altLang="en-US" sz="1200" b="1" dirty="0">
                <a:solidFill>
                  <a:schemeClr val="tx2"/>
                </a:solidFill>
              </a:rPr>
              <a:t>제</a:t>
            </a:r>
            <a:r>
              <a:rPr lang="en-US" altLang="ko-KR" sz="1200" b="1" dirty="0">
                <a:solidFill>
                  <a:schemeClr val="tx2"/>
                </a:solidFill>
              </a:rPr>
              <a:t>37</a:t>
            </a:r>
            <a:r>
              <a:rPr lang="ko-KR" altLang="en-US" sz="1200" b="1" dirty="0">
                <a:solidFill>
                  <a:schemeClr val="tx2"/>
                </a:solidFill>
              </a:rPr>
              <a:t>조제</a:t>
            </a:r>
            <a:r>
              <a:rPr lang="en-US" altLang="ko-KR" sz="1200" b="1" dirty="0">
                <a:solidFill>
                  <a:schemeClr val="tx2"/>
                </a:solidFill>
              </a:rPr>
              <a:t>3</a:t>
            </a:r>
            <a:r>
              <a:rPr lang="ko-KR" altLang="en-US" sz="1200" b="1" dirty="0">
                <a:solidFill>
                  <a:schemeClr val="tx2"/>
                </a:solidFill>
              </a:rPr>
              <a:t>항</a:t>
            </a:r>
            <a:r>
              <a:rPr lang="en-US" altLang="ko-KR" sz="1200" b="1" dirty="0">
                <a:solidFill>
                  <a:schemeClr val="tx2"/>
                </a:solidFill>
              </a:rPr>
              <a:t>)</a:t>
            </a:r>
            <a:r>
              <a:rPr lang="en-US" altLang="ko-KR" sz="1200" dirty="0">
                <a:solidFill>
                  <a:schemeClr val="tx2"/>
                </a:solidFill>
              </a:rPr>
              <a:t> </a:t>
            </a:r>
            <a:r>
              <a:rPr lang="ko-KR" altLang="en-US" sz="1200" dirty="0">
                <a:solidFill>
                  <a:schemeClr val="tx2"/>
                </a:solidFill>
              </a:rPr>
              <a:t>특허를 받을 수 있는 권리가 공유인 경우에는 각 공유자는 다른 공유자 모두의 동의를 받아야만 그 지분을 양도할 수 있다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6874933" y="2186579"/>
            <a:ext cx="4960668" cy="120032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sz="1200" b="1" dirty="0">
                <a:solidFill>
                  <a:schemeClr val="tx2"/>
                </a:solidFill>
              </a:rPr>
              <a:t>(</a:t>
            </a:r>
            <a:r>
              <a:rPr lang="ko-KR" altLang="en-US" sz="1200" b="1" dirty="0">
                <a:solidFill>
                  <a:schemeClr val="tx2"/>
                </a:solidFill>
              </a:rPr>
              <a:t>제</a:t>
            </a:r>
            <a:r>
              <a:rPr lang="en-US" altLang="ko-KR" sz="1200" b="1" dirty="0">
                <a:solidFill>
                  <a:schemeClr val="tx2"/>
                </a:solidFill>
              </a:rPr>
              <a:t>99</a:t>
            </a:r>
            <a:r>
              <a:rPr lang="ko-KR" altLang="en-US" sz="1200" b="1" dirty="0">
                <a:solidFill>
                  <a:schemeClr val="tx2"/>
                </a:solidFill>
              </a:rPr>
              <a:t>조제</a:t>
            </a:r>
            <a:r>
              <a:rPr lang="en-US" altLang="ko-KR" sz="1200" b="1" dirty="0">
                <a:solidFill>
                  <a:schemeClr val="tx2"/>
                </a:solidFill>
              </a:rPr>
              <a:t>2</a:t>
            </a:r>
            <a:r>
              <a:rPr lang="ko-KR" altLang="en-US" sz="1200" b="1" dirty="0">
                <a:solidFill>
                  <a:schemeClr val="tx2"/>
                </a:solidFill>
              </a:rPr>
              <a:t>항</a:t>
            </a:r>
            <a:r>
              <a:rPr lang="en-US" altLang="ko-KR" sz="1200" b="1" dirty="0">
                <a:solidFill>
                  <a:schemeClr val="tx2"/>
                </a:solidFill>
              </a:rPr>
              <a:t>)</a:t>
            </a:r>
            <a:r>
              <a:rPr lang="en-US" altLang="ko-KR" sz="1200" dirty="0">
                <a:solidFill>
                  <a:schemeClr val="tx2"/>
                </a:solidFill>
              </a:rPr>
              <a:t> </a:t>
            </a:r>
            <a:r>
              <a:rPr lang="ko-KR" altLang="en-US" sz="1200" dirty="0">
                <a:solidFill>
                  <a:schemeClr val="tx2"/>
                </a:solidFill>
              </a:rPr>
              <a:t>특허권이 공유인 경우에는 각 공유자는 다른 공유자 모두의 동의를 받아야만 그 지분을 양도하거나 그 지분을 목적으로 하는 질권을 설정할 수 있다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  <a:r>
              <a:rPr lang="ko-KR" altLang="en-US" sz="1200" dirty="0">
                <a:solidFill>
                  <a:schemeClr val="tx2"/>
                </a:solidFill>
              </a:rPr>
              <a:t> 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200" b="1" dirty="0">
                <a:solidFill>
                  <a:schemeClr val="tx2"/>
                </a:solidFill>
              </a:rPr>
              <a:t>(</a:t>
            </a:r>
            <a:r>
              <a:rPr lang="ko-KR" altLang="en-US" sz="1200" b="1" dirty="0">
                <a:solidFill>
                  <a:schemeClr val="tx2"/>
                </a:solidFill>
              </a:rPr>
              <a:t>제</a:t>
            </a:r>
            <a:r>
              <a:rPr lang="en-US" altLang="ko-KR" sz="1200" b="1" dirty="0">
                <a:solidFill>
                  <a:schemeClr val="tx2"/>
                </a:solidFill>
              </a:rPr>
              <a:t>99</a:t>
            </a:r>
            <a:r>
              <a:rPr lang="ko-KR" altLang="en-US" sz="1200" b="1" dirty="0">
                <a:solidFill>
                  <a:schemeClr val="tx2"/>
                </a:solidFill>
              </a:rPr>
              <a:t>조제</a:t>
            </a:r>
            <a:r>
              <a:rPr lang="en-US" altLang="ko-KR" sz="1200" b="1" dirty="0">
                <a:solidFill>
                  <a:schemeClr val="tx2"/>
                </a:solidFill>
              </a:rPr>
              <a:t>4</a:t>
            </a:r>
            <a:r>
              <a:rPr lang="ko-KR" altLang="en-US" sz="1200" b="1" dirty="0">
                <a:solidFill>
                  <a:schemeClr val="tx2"/>
                </a:solidFill>
              </a:rPr>
              <a:t>항</a:t>
            </a:r>
            <a:r>
              <a:rPr lang="en-US" altLang="ko-KR" sz="1200" b="1" dirty="0">
                <a:solidFill>
                  <a:schemeClr val="tx2"/>
                </a:solidFill>
              </a:rPr>
              <a:t>)</a:t>
            </a:r>
            <a:r>
              <a:rPr lang="en-US" altLang="ko-KR" sz="1200" dirty="0">
                <a:solidFill>
                  <a:schemeClr val="tx2"/>
                </a:solidFill>
              </a:rPr>
              <a:t> </a:t>
            </a:r>
            <a:r>
              <a:rPr lang="ko-KR" altLang="en-US" sz="1200" dirty="0">
                <a:solidFill>
                  <a:schemeClr val="tx2"/>
                </a:solidFill>
              </a:rPr>
              <a:t>특허권이 공유인 경우에는 각 공유자는 다른 공유자 모두의 동의를 받아야만 그 특허권에 대하여 </a:t>
            </a:r>
            <a:r>
              <a:rPr lang="ko-KR" altLang="en-US" sz="1200" dirty="0" err="1">
                <a:solidFill>
                  <a:schemeClr val="tx2"/>
                </a:solidFill>
              </a:rPr>
              <a:t>전용실시권을</a:t>
            </a:r>
            <a:r>
              <a:rPr lang="ko-KR" altLang="en-US" sz="1200" dirty="0">
                <a:solidFill>
                  <a:schemeClr val="tx2"/>
                </a:solidFill>
              </a:rPr>
              <a:t> 설정하거나 </a:t>
            </a:r>
            <a:r>
              <a:rPr lang="ko-KR" altLang="en-US" sz="1200" dirty="0" err="1">
                <a:solidFill>
                  <a:schemeClr val="tx2"/>
                </a:solidFill>
              </a:rPr>
              <a:t>통상실시권을</a:t>
            </a:r>
            <a:r>
              <a:rPr lang="ko-KR" altLang="en-US" sz="1200" dirty="0">
                <a:solidFill>
                  <a:schemeClr val="tx2"/>
                </a:solidFill>
              </a:rPr>
              <a:t> 허락할 수 있다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43" name="꺾인 연결선 42"/>
          <p:cNvCxnSpPr>
            <a:stCxn id="37" idx="3"/>
            <a:endCxn id="38" idx="1"/>
          </p:cNvCxnSpPr>
          <p:nvPr/>
        </p:nvCxnSpPr>
        <p:spPr>
          <a:xfrm flipV="1">
            <a:off x="5843522" y="1715730"/>
            <a:ext cx="279087" cy="80103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꺾인 연결선 44"/>
          <p:cNvCxnSpPr>
            <a:stCxn id="37" idx="3"/>
            <a:endCxn id="39" idx="1"/>
          </p:cNvCxnSpPr>
          <p:nvPr/>
        </p:nvCxnSpPr>
        <p:spPr>
          <a:xfrm>
            <a:off x="5843522" y="2516761"/>
            <a:ext cx="279087" cy="15466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>
            <a:off x="2312159" y="3886200"/>
            <a:ext cx="953190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9" name="표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092980"/>
              </p:ext>
            </p:extLst>
          </p:nvPr>
        </p:nvGraphicFramePr>
        <p:xfrm>
          <a:off x="2428427" y="4421024"/>
          <a:ext cx="3489772" cy="1569720"/>
        </p:xfrm>
        <a:graphic>
          <a:graphicData uri="http://schemas.openxmlformats.org/drawingml/2006/table">
            <a:tbl>
              <a:tblPr firstRow="1">
                <a:tableStyleId>{69CF1AB2-1976-4502-BF36-3FF5EA218861}</a:tableStyleId>
              </a:tblPr>
              <a:tblGrid>
                <a:gridCol w="872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4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24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24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공유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지분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자본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상대적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우위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60%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백만원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30%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천만원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10%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일억원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4" name="그룹 53"/>
          <p:cNvGrpSpPr/>
          <p:nvPr/>
        </p:nvGrpSpPr>
        <p:grpSpPr>
          <a:xfrm>
            <a:off x="6244163" y="4622800"/>
            <a:ext cx="1443571" cy="982134"/>
            <a:chOff x="6659029" y="4622800"/>
            <a:chExt cx="1443571" cy="982134"/>
          </a:xfrm>
        </p:grpSpPr>
        <p:sp>
          <p:nvSpPr>
            <p:cNvPr id="51" name="오른쪽 화살표 50"/>
            <p:cNvSpPr/>
            <p:nvPr/>
          </p:nvSpPr>
          <p:spPr>
            <a:xfrm>
              <a:off x="6680200" y="4622800"/>
              <a:ext cx="1422400" cy="982134"/>
            </a:xfrm>
            <a:prstGeom prst="rightArrow">
              <a:avLst>
                <a:gd name="adj1" fmla="val 71348"/>
                <a:gd name="adj2" fmla="val 51191"/>
              </a:avLst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659029" y="4823320"/>
              <a:ext cx="12784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甲이 丁에게 </a:t>
              </a:r>
              <a:endParaRPr lang="en-US" altLang="ko-KR" sz="1400" dirty="0"/>
            </a:p>
            <a:p>
              <a:pPr algn="ctr"/>
              <a:r>
                <a:rPr lang="ko-KR" altLang="en-US" sz="1400" dirty="0"/>
                <a:t>지분 </a:t>
              </a:r>
              <a:r>
                <a:rPr lang="en-US" altLang="ko-KR" sz="1400" dirty="0"/>
                <a:t>5% </a:t>
              </a:r>
              <a:r>
                <a:rPr lang="ko-KR" altLang="en-US" sz="1400" dirty="0"/>
                <a:t>양도</a:t>
              </a:r>
            </a:p>
          </p:txBody>
        </p:sp>
      </p:grpSp>
      <p:graphicFrame>
        <p:nvGraphicFramePr>
          <p:cNvPr id="55" name="표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148057"/>
              </p:ext>
            </p:extLst>
          </p:nvPr>
        </p:nvGraphicFramePr>
        <p:xfrm>
          <a:off x="8024893" y="4421024"/>
          <a:ext cx="3489772" cy="1940560"/>
        </p:xfrm>
        <a:graphic>
          <a:graphicData uri="http://schemas.openxmlformats.org/drawingml/2006/table">
            <a:tbl>
              <a:tblPr firstRow="1">
                <a:tableStyleId>{69CF1AB2-1976-4502-BF36-3FF5EA218861}</a:tableStyleId>
              </a:tblPr>
              <a:tblGrid>
                <a:gridCol w="872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4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24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24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공유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지분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자본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상대적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우위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55%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백만원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30%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천만원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10%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일억원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5%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일조원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107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86979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37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발명자의 추가 또는 정정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108</a:t>
            </a:fld>
            <a:endParaRPr lang="ko-KR" altLang="en-US"/>
          </a:p>
        </p:txBody>
      </p:sp>
      <p:sp>
        <p:nvSpPr>
          <p:cNvPr id="93" name="TextBox 92"/>
          <p:cNvSpPr txBox="1"/>
          <p:nvPr/>
        </p:nvSpPr>
        <p:spPr>
          <a:xfrm>
            <a:off x="77875" y="986046"/>
            <a:ext cx="1193632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등록 전 출원인과 등록 후 특허권자는 발명자의 추가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정정을 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등록 전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특허출원인이</a:t>
            </a:r>
            <a:r>
              <a:rPr lang="ko-KR" altLang="en-US" sz="1400" dirty="0">
                <a:solidFill>
                  <a:schemeClr val="tx2"/>
                </a:solidFill>
              </a:rPr>
              <a:t> 착오로 인하여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400" dirty="0">
                <a:solidFill>
                  <a:schemeClr val="tx2"/>
                </a:solidFill>
              </a:rPr>
              <a:t> 발명자의 기재를 일부 누락하거나 잘못 적은 경우에는 발명자를 추가 또는 정정할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특허출원인은</a:t>
            </a:r>
            <a:r>
              <a:rPr lang="ko-KR" altLang="en-US" sz="1400" dirty="0">
                <a:solidFill>
                  <a:schemeClr val="tx2"/>
                </a:solidFill>
              </a:rPr>
              <a:t> 법 제</a:t>
            </a:r>
            <a:r>
              <a:rPr lang="en-US" altLang="ko-KR" sz="1400" dirty="0">
                <a:solidFill>
                  <a:schemeClr val="tx2"/>
                </a:solidFill>
              </a:rPr>
              <a:t>66</a:t>
            </a:r>
            <a:r>
              <a:rPr lang="ko-KR" altLang="en-US" sz="1400" dirty="0">
                <a:solidFill>
                  <a:schemeClr val="tx2"/>
                </a:solidFill>
              </a:rPr>
              <a:t>조에 따른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특허결정이 있는 때부터 법 제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87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항에 따른 특허권의 설정등록을 받기 전</a:t>
            </a:r>
            <a:r>
              <a:rPr lang="ko-KR" altLang="en-US" sz="1400" dirty="0">
                <a:solidFill>
                  <a:schemeClr val="tx2"/>
                </a:solidFill>
              </a:rPr>
              <a:t>까지는 발명자를 추가할 수 없고 발명자의 동일성이 유지되지 않는 경우 발명자를 정정할 수 없다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특허출원인은</a:t>
            </a:r>
            <a:r>
              <a:rPr lang="ko-KR" altLang="en-US" sz="1400" dirty="0">
                <a:solidFill>
                  <a:schemeClr val="tx2"/>
                </a:solidFill>
              </a:rPr>
              <a:t> 발명자를 추가 또는 정정하려는 경우에는 보정서에 </a:t>
            </a:r>
            <a:r>
              <a:rPr lang="en-US" altLang="ko-KR" sz="1400" dirty="0">
                <a:solidFill>
                  <a:schemeClr val="tx2"/>
                </a:solidFill>
              </a:rPr>
              <a:t>ⅰ)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발명자의 추가 또는 정정 이유를 기재한 설명서</a:t>
            </a:r>
            <a:r>
              <a:rPr lang="en-US" altLang="ko-KR" sz="1400" dirty="0">
                <a:solidFill>
                  <a:schemeClr val="tx2"/>
                </a:solidFill>
              </a:rPr>
              <a:t>, ⅱ) </a:t>
            </a:r>
            <a:r>
              <a:rPr lang="ko-KR" altLang="en-US" sz="1400" dirty="0">
                <a:solidFill>
                  <a:schemeClr val="tx2"/>
                </a:solidFill>
              </a:rPr>
              <a:t>특허출원인 및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추가 또는 정정의 대상이 되는 발명자</a:t>
            </a:r>
            <a:r>
              <a:rPr lang="ko-KR" altLang="en-US" sz="1400" dirty="0">
                <a:solidFill>
                  <a:schemeClr val="tx2"/>
                </a:solidFill>
              </a:rPr>
              <a:t>가 서명 또는 날인한 확인서류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발명자의 사망 등으로 서명 또는 날인이 불가한 특별한 사유가 있는 경우에는 그 사유를 확인서류에 기재하고 서명 또는 날인을 생략할 수 있다</a:t>
            </a:r>
            <a:r>
              <a:rPr lang="en-US" altLang="ko-KR" sz="1400" dirty="0">
                <a:solidFill>
                  <a:schemeClr val="tx2"/>
                </a:solidFill>
              </a:rPr>
              <a:t>.)</a:t>
            </a:r>
            <a:r>
              <a:rPr lang="ko-KR" altLang="en-US" sz="1400" dirty="0">
                <a:solidFill>
                  <a:schemeClr val="tx2"/>
                </a:solidFill>
              </a:rPr>
              <a:t>를 첨부하여 지식재산처장에게 제출해야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400" dirty="0">
                <a:solidFill>
                  <a:schemeClr val="tx2"/>
                </a:solidFill>
              </a:rPr>
              <a:t> 적은 발명자의 기재가 일부 누락되거나 발명자를 잘못 적은 것임이 명백한 경우에는 확인서류를 첨부하지 않을 수 있다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施規 </a:t>
            </a:r>
            <a:r>
              <a:rPr lang="en-US" altLang="ko-KR" sz="1400" dirty="0">
                <a:solidFill>
                  <a:schemeClr val="tx2"/>
                </a:solidFill>
              </a:rPr>
              <a:t>28①②).  </a:t>
            </a:r>
            <a:r>
              <a:rPr lang="ko-KR" altLang="en-US" sz="1400" dirty="0">
                <a:solidFill>
                  <a:schemeClr val="tx2"/>
                </a:solidFill>
              </a:rPr>
              <a:t>등록 후 특허권자도 발명자의 추가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정정을 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특허권자가 발명자를 추가 또는 정정하려는 경우에는 정정발급신청서에 </a:t>
            </a:r>
            <a:r>
              <a:rPr lang="en-US" altLang="ko-KR" sz="1400" dirty="0">
                <a:solidFill>
                  <a:schemeClr val="tx2"/>
                </a:solidFill>
              </a:rPr>
              <a:t>ⅰ) </a:t>
            </a:r>
            <a:r>
              <a:rPr lang="ko-KR" altLang="en-US" sz="1400" dirty="0">
                <a:solidFill>
                  <a:schemeClr val="tx2"/>
                </a:solidFill>
              </a:rPr>
              <a:t>발명자의 추가 또는 정정 이유를 기재한 설명서</a:t>
            </a:r>
            <a:r>
              <a:rPr lang="en-US" altLang="ko-KR" sz="1400" dirty="0">
                <a:solidFill>
                  <a:schemeClr val="tx2"/>
                </a:solidFill>
              </a:rPr>
              <a:t>, ⅱ) </a:t>
            </a:r>
            <a:r>
              <a:rPr lang="ko-KR" altLang="en-US" sz="1400" dirty="0">
                <a:solidFill>
                  <a:schemeClr val="tx2"/>
                </a:solidFill>
              </a:rPr>
              <a:t>특허권자 및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신청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전ㆍ후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발명자 전원</a:t>
            </a:r>
            <a:r>
              <a:rPr lang="ko-KR" altLang="en-US" sz="1400" dirty="0">
                <a:solidFill>
                  <a:schemeClr val="tx2"/>
                </a:solidFill>
              </a:rPr>
              <a:t>이 서명 또는 날인한 확인서류를 첨부하여 지식재산처장에게 제출해야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ⅰ)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400" dirty="0">
                <a:solidFill>
                  <a:schemeClr val="tx2"/>
                </a:solidFill>
              </a:rPr>
              <a:t> 적은 발명자의 기재가 일부 누락된 경우</a:t>
            </a:r>
            <a:r>
              <a:rPr lang="en-US" altLang="ko-KR" sz="1400" dirty="0">
                <a:solidFill>
                  <a:schemeClr val="tx2"/>
                </a:solidFill>
              </a:rPr>
              <a:t>, ⅱ) </a:t>
            </a:r>
            <a:r>
              <a:rPr lang="ko-KR" altLang="en-US" sz="1400" dirty="0">
                <a:solidFill>
                  <a:schemeClr val="tx2"/>
                </a:solidFill>
              </a:rPr>
              <a:t>발명자를 잘못 적은 것임이 명백한 경우</a:t>
            </a:r>
            <a:r>
              <a:rPr lang="en-US" altLang="ko-KR" sz="1400" dirty="0">
                <a:solidFill>
                  <a:schemeClr val="tx2"/>
                </a:solidFill>
              </a:rPr>
              <a:t>, ⅲ) </a:t>
            </a:r>
            <a:r>
              <a:rPr lang="ko-KR" altLang="en-US" sz="1400" dirty="0">
                <a:solidFill>
                  <a:schemeClr val="tx2"/>
                </a:solidFill>
              </a:rPr>
              <a:t>특허권자가 법 제</a:t>
            </a:r>
            <a:r>
              <a:rPr lang="en-US" altLang="ko-KR" sz="1400" dirty="0">
                <a:solidFill>
                  <a:schemeClr val="tx2"/>
                </a:solidFill>
              </a:rPr>
              <a:t>99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따라 특허권 이전등록을 받은 자인 경우에는 확인서류를 첨부하지 않을 수 있다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施規 </a:t>
            </a:r>
            <a:r>
              <a:rPr lang="en-US" altLang="ko-KR" sz="1400" dirty="0">
                <a:solidFill>
                  <a:schemeClr val="tx2"/>
                </a:solidFill>
              </a:rPr>
              <a:t>28③④).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  </a:t>
            </a:r>
            <a:r>
              <a:rPr lang="ko-KR" altLang="en-US" sz="1400" dirty="0">
                <a:solidFill>
                  <a:schemeClr val="tx2"/>
                </a:solidFill>
              </a:rPr>
              <a:t>진실한 발명자가 발명자로 표시되지 않았으면 발명자는 특허증에 발명자로 기재된 권리를 </a:t>
            </a:r>
            <a:r>
              <a:rPr lang="ko-KR" altLang="en-US" sz="1400" dirty="0" err="1">
                <a:solidFill>
                  <a:schemeClr val="tx2"/>
                </a:solidFill>
              </a:rPr>
              <a:t>제한받았기</a:t>
            </a:r>
            <a:r>
              <a:rPr lang="ko-KR" altLang="en-US" sz="1400" dirty="0">
                <a:solidFill>
                  <a:schemeClr val="tx2"/>
                </a:solidFill>
              </a:rPr>
              <a:t> 때문에 특허권자에게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발명자 인격권의 침해에 대한 손해배상을 </a:t>
            </a:r>
            <a:r>
              <a:rPr lang="ko-KR" altLang="en-US" sz="1400" dirty="0">
                <a:solidFill>
                  <a:schemeClr val="tx2"/>
                </a:solidFill>
              </a:rPr>
              <a:t>청구할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그러나 특허증에 발명자로 표시되는 것은 직무발명의 보상 등과 같은 개인적인 만족을 넘어서 입시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인사 등에서 사회적으로 유의미한 이익을 누리도록 하는 기능이 있고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수수료를 </a:t>
            </a:r>
            <a:r>
              <a:rPr lang="ko-KR" altLang="en-US" sz="1400" dirty="0" err="1">
                <a:solidFill>
                  <a:schemeClr val="tx2"/>
                </a:solidFill>
              </a:rPr>
              <a:t>감면받거나</a:t>
            </a:r>
            <a:r>
              <a:rPr lang="en-US" altLang="ko-KR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확대된 선출원을 회피할 목적으로 악용될 소지가 있으므로 제한하고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또한 감면 대상자를 발명자에 포함하여 부당하게 수수료를 </a:t>
            </a:r>
            <a:r>
              <a:rPr lang="ko-KR" altLang="en-US" sz="1400" dirty="0" err="1">
                <a:solidFill>
                  <a:schemeClr val="tx2"/>
                </a:solidFill>
              </a:rPr>
              <a:t>감면받은</a:t>
            </a:r>
            <a:r>
              <a:rPr lang="ko-KR" altLang="en-US" sz="1400" dirty="0">
                <a:solidFill>
                  <a:schemeClr val="tx2"/>
                </a:solidFill>
              </a:rPr>
              <a:t> 경우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감면받은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특허료 및 수수료의 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2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배를 추징</a:t>
            </a:r>
            <a:r>
              <a:rPr lang="ko-KR" altLang="en-US" sz="1400" dirty="0">
                <a:solidFill>
                  <a:schemeClr val="tx2"/>
                </a:solidFill>
              </a:rPr>
              <a:t>하고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일정 기간 감면을 제한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83④)</a:t>
            </a:r>
            <a:r>
              <a:rPr lang="ko-KR" altLang="en-US" sz="1400" dirty="0">
                <a:solidFill>
                  <a:schemeClr val="tx2"/>
                </a:solidFill>
              </a:rPr>
              <a:t>함으로써 제도의 악용을 방지하고 공정성을 제고하고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 인격권을 침해하였다고 하여 등록된 특허가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제한열거적인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무효사유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133①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각호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에 해당하지 않는다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. </a:t>
            </a:r>
            <a:endParaRPr lang="ko-KR" altLang="en-US" sz="1400" dirty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  <p:cxnSp>
        <p:nvCxnSpPr>
          <p:cNvPr id="95" name="직선 연결선 94"/>
          <p:cNvCxnSpPr/>
          <p:nvPr/>
        </p:nvCxnSpPr>
        <p:spPr>
          <a:xfrm>
            <a:off x="0" y="434761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/>
          <p:cNvCxnSpPr/>
          <p:nvPr/>
        </p:nvCxnSpPr>
        <p:spPr>
          <a:xfrm>
            <a:off x="11783864" y="6795984"/>
            <a:ext cx="0" cy="8682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233084" y="5170649"/>
            <a:ext cx="3908612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92075" indent="-92075" fontAlgn="base"/>
            <a:r>
              <a:rPr lang="en-US" altLang="ko-KR" sz="1200" dirty="0"/>
              <a:t>- </a:t>
            </a:r>
            <a:r>
              <a:rPr lang="ko-KR" altLang="en-US" sz="1200" dirty="0"/>
              <a:t>표시상 완전히 일치하지 않더라도 실질적으로 동일한 발명자로 판단되면 발명자가 동일한 것으로 인정된다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2011. 12. 13.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2011</a:t>
            </a:r>
            <a:r>
              <a:rPr lang="ko-KR" altLang="en-US" sz="1200" dirty="0"/>
              <a:t>도</a:t>
            </a:r>
            <a:r>
              <a:rPr lang="en-US" altLang="ko-KR" sz="1200" dirty="0"/>
              <a:t>10525). </a:t>
            </a:r>
            <a:r>
              <a:rPr lang="ko-KR" altLang="en-US" sz="1200" dirty="0"/>
              <a:t>다만</a:t>
            </a:r>
            <a:r>
              <a:rPr lang="en-US" altLang="ko-KR" sz="1200" dirty="0"/>
              <a:t>, </a:t>
            </a:r>
            <a:r>
              <a:rPr lang="ko-KR" altLang="en-US" sz="1200" dirty="0"/>
              <a:t>발명자가 동일하다는 것은 출원인이 증명하여야 한다</a:t>
            </a:r>
            <a:r>
              <a:rPr lang="en-US" altLang="ko-KR" sz="1200" dirty="0"/>
              <a:t>. </a:t>
            </a:r>
            <a:r>
              <a:rPr lang="ko-KR" altLang="en-US" sz="1200" dirty="0"/>
              <a:t>한편</a:t>
            </a:r>
            <a:r>
              <a:rPr lang="en-US" altLang="ko-KR" sz="1200" dirty="0"/>
              <a:t>, </a:t>
            </a:r>
            <a:r>
              <a:rPr lang="ko-KR" altLang="en-US" sz="1200" dirty="0"/>
              <a:t>출원인이 제</a:t>
            </a:r>
            <a:r>
              <a:rPr lang="en-US" altLang="ko-KR" sz="1200" dirty="0"/>
              <a:t>29</a:t>
            </a:r>
            <a:r>
              <a:rPr lang="ko-KR" altLang="en-US" sz="1200" dirty="0"/>
              <a:t>조제</a:t>
            </a:r>
            <a:r>
              <a:rPr lang="en-US" altLang="ko-KR" sz="1200" dirty="0"/>
              <a:t>3</a:t>
            </a:r>
            <a:r>
              <a:rPr lang="ko-KR" altLang="en-US" sz="1200" dirty="0"/>
              <a:t>항 및 제</a:t>
            </a:r>
            <a:r>
              <a:rPr lang="en-US" altLang="ko-KR" sz="1200" dirty="0"/>
              <a:t>4</a:t>
            </a:r>
            <a:r>
              <a:rPr lang="ko-KR" altLang="en-US" sz="1200" dirty="0"/>
              <a:t>항에 위반된 것을 염려하여 발명자의 추가나 정정신청을 한 경우 심사관은 진정한 발명자인지 여부를 증명할 수 있는 서류를 출원인에게 요구할 수 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168424-E31A-4153-B06B-E07ADBC83727}"/>
              </a:ext>
            </a:extLst>
          </p:cNvPr>
          <p:cNvSpPr txBox="1"/>
          <p:nvPr/>
        </p:nvSpPr>
        <p:spPr>
          <a:xfrm>
            <a:off x="275098" y="4684197"/>
            <a:ext cx="3730508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/>
              <a:t>확대된 </a:t>
            </a:r>
            <a:r>
              <a:rPr lang="ko-KR" altLang="en-US" dirty="0" err="1"/>
              <a:t>선출원</a:t>
            </a:r>
            <a:r>
              <a:rPr lang="ko-KR" altLang="en-US" dirty="0"/>
              <a:t> 위반 회피 악용</a:t>
            </a:r>
            <a:r>
              <a:rPr lang="en-US" altLang="ko-KR" dirty="0"/>
              <a:t> </a:t>
            </a:r>
            <a:r>
              <a:rPr lang="ko-KR" altLang="en-US" dirty="0"/>
              <a:t>방지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DD8919-62DB-4CD5-8CAE-F75EC9CC1CF2}"/>
              </a:ext>
            </a:extLst>
          </p:cNvPr>
          <p:cNvSpPr txBox="1"/>
          <p:nvPr/>
        </p:nvSpPr>
        <p:spPr>
          <a:xfrm>
            <a:off x="4456044" y="4680144"/>
            <a:ext cx="7418394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176213" indent="-176213"/>
            <a:r>
              <a:rPr lang="en-US" altLang="ko-KR" dirty="0"/>
              <a:t>* </a:t>
            </a:r>
            <a:r>
              <a:rPr lang="ko-KR" altLang="en-US" dirty="0"/>
              <a:t>甲으로부터 특허를 받을 수 있는 권리를 양수한 乙이 발명자</a:t>
            </a:r>
            <a:r>
              <a:rPr lang="en-US" altLang="ko-KR" dirty="0"/>
              <a:t>, </a:t>
            </a:r>
            <a:r>
              <a:rPr lang="ko-KR" altLang="en-US" dirty="0"/>
              <a:t>출원인을 乙로 기재하여 </a:t>
            </a:r>
            <a:r>
              <a:rPr lang="ko-KR" altLang="en-US" dirty="0" err="1"/>
              <a:t>특허출원한</a:t>
            </a:r>
            <a:r>
              <a:rPr lang="ko-KR" altLang="en-US" dirty="0"/>
              <a:t> 경우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A33203-DC4F-4573-8BEA-22193E13C33A}"/>
              </a:ext>
            </a:extLst>
          </p:cNvPr>
          <p:cNvSpPr txBox="1"/>
          <p:nvPr/>
        </p:nvSpPr>
        <p:spPr>
          <a:xfrm>
            <a:off x="4456044" y="5460469"/>
            <a:ext cx="7486573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 fontAlgn="base">
              <a:buFontTx/>
              <a:buChar char="-"/>
            </a:pPr>
            <a:r>
              <a:rPr lang="ko-KR" altLang="en-US" sz="1200" dirty="0"/>
              <a:t>등록 전 심사과정에서 발명자 기재에 대한 방식 흠결을 이유로 보정명령 후</a:t>
            </a:r>
            <a:r>
              <a:rPr lang="en-US" altLang="ko-KR" sz="1200" dirty="0"/>
              <a:t>, </a:t>
            </a:r>
            <a:r>
              <a:rPr lang="ko-KR" altLang="en-US" sz="1200" dirty="0"/>
              <a:t>진정한 발명자임을 증명하지 못하거나 발명자 정정을 하지 않은 경우 출원을 무효로 할 수 있으나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제한열거적인</a:t>
            </a:r>
            <a:r>
              <a:rPr lang="ko-KR" altLang="en-US" sz="1200" dirty="0"/>
              <a:t> 거절이유에 해당하지 않음 </a:t>
            </a:r>
            <a:endParaRPr lang="en-US" altLang="ko-KR" sz="1200" dirty="0"/>
          </a:p>
          <a:p>
            <a:pPr marL="171450" indent="-171450" fontAlgn="base">
              <a:buFontTx/>
              <a:buChar char="-"/>
            </a:pPr>
            <a:r>
              <a:rPr lang="ko-KR" altLang="en-US" sz="1200" dirty="0"/>
              <a:t>등록 후에는 </a:t>
            </a:r>
            <a:r>
              <a:rPr lang="ko-KR" altLang="en-US" sz="1200" dirty="0" err="1"/>
              <a:t>제한열거적인</a:t>
            </a:r>
            <a:r>
              <a:rPr lang="ko-KR" altLang="en-US" sz="1200" dirty="0"/>
              <a:t> 무효사유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133①</a:t>
            </a:r>
            <a:r>
              <a:rPr lang="ko-KR" altLang="en-US" sz="1200" dirty="0"/>
              <a:t>각호</a:t>
            </a:r>
            <a:r>
              <a:rPr lang="en-US" altLang="ko-KR" sz="1200" dirty="0"/>
              <a:t>)</a:t>
            </a:r>
            <a:r>
              <a:rPr lang="ko-KR" altLang="en-US" sz="1200" dirty="0"/>
              <a:t>에 해당하지 않음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대법원 </a:t>
            </a:r>
            <a:r>
              <a:rPr lang="en-US" altLang="ko-KR" sz="1200" dirty="0">
                <a:solidFill>
                  <a:schemeClr val="tx2"/>
                </a:solidFill>
              </a:rPr>
              <a:t>2018. 7. 20. </a:t>
            </a:r>
            <a:r>
              <a:rPr lang="ko-KR" altLang="en-US" sz="1200" dirty="0">
                <a:solidFill>
                  <a:schemeClr val="tx2"/>
                </a:solidFill>
              </a:rPr>
              <a:t>선고 </a:t>
            </a:r>
            <a:r>
              <a:rPr lang="en-US" altLang="ko-KR" sz="1200" dirty="0">
                <a:solidFill>
                  <a:schemeClr val="tx2"/>
                </a:solidFill>
              </a:rPr>
              <a:t>2015</a:t>
            </a:r>
            <a:r>
              <a:rPr lang="ko-KR" altLang="en-US" sz="1200" dirty="0">
                <a:solidFill>
                  <a:schemeClr val="tx2"/>
                </a:solidFill>
              </a:rPr>
              <a:t>후</a:t>
            </a:r>
            <a:r>
              <a:rPr lang="en-US" altLang="ko-KR" sz="1200" dirty="0">
                <a:solidFill>
                  <a:schemeClr val="tx2"/>
                </a:solidFill>
              </a:rPr>
              <a:t>1669)</a:t>
            </a:r>
          </a:p>
          <a:p>
            <a:pPr marL="171450" indent="-171450" fontAlgn="base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</a:rPr>
              <a:t>발명자 인격권 침해에 대한 손해배상청구가능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서울행정법원 </a:t>
            </a:r>
            <a:r>
              <a:rPr lang="en-US" altLang="ko-KR" sz="1200" dirty="0">
                <a:solidFill>
                  <a:schemeClr val="tx2"/>
                </a:solidFill>
              </a:rPr>
              <a:t>2011. 11. 4 </a:t>
            </a:r>
            <a:r>
              <a:rPr lang="ko-KR" altLang="en-US" sz="1200" dirty="0">
                <a:solidFill>
                  <a:schemeClr val="tx2"/>
                </a:solidFill>
              </a:rPr>
              <a:t>선고 </a:t>
            </a:r>
            <a:r>
              <a:rPr lang="en-US" altLang="ko-KR" sz="1200" dirty="0">
                <a:solidFill>
                  <a:schemeClr val="tx2"/>
                </a:solidFill>
              </a:rPr>
              <a:t>2011</a:t>
            </a:r>
            <a:r>
              <a:rPr lang="ko-KR" altLang="en-US" sz="1200" dirty="0" err="1">
                <a:solidFill>
                  <a:schemeClr val="tx2"/>
                </a:solidFill>
              </a:rPr>
              <a:t>구합</a:t>
            </a:r>
            <a:r>
              <a:rPr lang="en-US" altLang="ko-KR" sz="1200" dirty="0">
                <a:solidFill>
                  <a:schemeClr val="tx2"/>
                </a:solidFill>
              </a:rPr>
              <a:t>21942)</a:t>
            </a:r>
          </a:p>
          <a:p>
            <a:pPr marL="171450" indent="-171450" fontAlgn="base">
              <a:buFontTx/>
              <a:buChar char="-"/>
            </a:pPr>
            <a:r>
              <a:rPr lang="ko-KR" altLang="en-US" sz="1200" dirty="0">
                <a:solidFill>
                  <a:srgbClr val="FF0000"/>
                </a:solidFill>
              </a:rPr>
              <a:t>부당 수수료 감면자에 대하여 </a:t>
            </a:r>
            <a:r>
              <a:rPr lang="ko-KR" altLang="en-US" sz="1200" dirty="0" err="1">
                <a:solidFill>
                  <a:srgbClr val="FF0000"/>
                </a:solidFill>
              </a:rPr>
              <a:t>감면받은</a:t>
            </a:r>
            <a:r>
              <a:rPr lang="ko-KR" altLang="en-US" sz="1200" dirty="0">
                <a:solidFill>
                  <a:srgbClr val="FF0000"/>
                </a:solidFill>
              </a:rPr>
              <a:t> 특허료 및 수수료의 </a:t>
            </a:r>
            <a:r>
              <a:rPr lang="en-US" altLang="ko-KR" sz="1200" dirty="0">
                <a:solidFill>
                  <a:srgbClr val="FF0000"/>
                </a:solidFill>
              </a:rPr>
              <a:t>2</a:t>
            </a:r>
            <a:r>
              <a:rPr lang="ko-KR" altLang="en-US" sz="1200" dirty="0">
                <a:solidFill>
                  <a:srgbClr val="FF0000"/>
                </a:solidFill>
              </a:rPr>
              <a:t>배를 추징하고 일정기간 감면을 제한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法 </a:t>
            </a:r>
            <a:r>
              <a:rPr lang="en-US" altLang="ko-KR" sz="1200" dirty="0">
                <a:solidFill>
                  <a:srgbClr val="FF0000"/>
                </a:solidFill>
              </a:rPr>
              <a:t>83④)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24442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37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특허출원서상</a:t>
            </a:r>
            <a:r>
              <a:rPr lang="ko-KR" altLang="en-US" dirty="0"/>
              <a:t> 발명자 허위 기재의 취급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109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168424-E31A-4153-B06B-E07ADBC83727}"/>
              </a:ext>
            </a:extLst>
          </p:cNvPr>
          <p:cNvSpPr txBox="1"/>
          <p:nvPr/>
        </p:nvSpPr>
        <p:spPr>
          <a:xfrm>
            <a:off x="435012" y="1150854"/>
            <a:ext cx="4160113" cy="646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dirty="0"/>
              <a:t>*</a:t>
            </a:r>
            <a:r>
              <a:rPr lang="ko-KR" altLang="en-US" dirty="0"/>
              <a:t>발명자만을 허위 기재한 경우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F3A249-DED7-5240-252B-122068F689E0}"/>
              </a:ext>
            </a:extLst>
          </p:cNvPr>
          <p:cNvSpPr txBox="1"/>
          <p:nvPr/>
        </p:nvSpPr>
        <p:spPr>
          <a:xfrm>
            <a:off x="4595125" y="1150854"/>
            <a:ext cx="7188739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甲으로부터 발명에 대한 특허를 받을 수 있는 권리를 </a:t>
            </a:r>
            <a:r>
              <a:rPr lang="ko-KR" altLang="en-US" dirty="0" err="1"/>
              <a:t>이전받은</a:t>
            </a:r>
            <a:r>
              <a:rPr lang="ko-KR" altLang="en-US" dirty="0"/>
              <a:t> 乙이 발명자</a:t>
            </a:r>
            <a:r>
              <a:rPr lang="en-US" altLang="ko-KR" dirty="0"/>
              <a:t>, </a:t>
            </a:r>
            <a:r>
              <a:rPr lang="ko-KR" altLang="en-US" dirty="0"/>
              <a:t>출원인을 乙로 기재하여 특허출원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0F85D3-8FAD-07FD-7E74-4262D1A8F447}"/>
              </a:ext>
            </a:extLst>
          </p:cNvPr>
          <p:cNvSpPr txBox="1"/>
          <p:nvPr/>
        </p:nvSpPr>
        <p:spPr>
          <a:xfrm>
            <a:off x="435012" y="1849354"/>
            <a:ext cx="11348852" cy="181588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600" dirty="0"/>
              <a:t>진정한 발명자인지 여부는 실질에 의하여 판단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등록 전 심사과정에서 발명자 기재에 대한 방식 위반으로 절차보정사유</a:t>
            </a:r>
            <a:r>
              <a:rPr lang="en-US" altLang="ko-KR" sz="1600" dirty="0"/>
              <a:t>(</a:t>
            </a:r>
            <a:r>
              <a:rPr lang="ko-KR" altLang="en-US" sz="1600" dirty="0"/>
              <a:t>法 </a:t>
            </a:r>
            <a:r>
              <a:rPr lang="en-US" altLang="ko-KR" sz="1600" dirty="0"/>
              <a:t>46)</a:t>
            </a:r>
            <a:r>
              <a:rPr lang="ko-KR" altLang="en-US" sz="1600" dirty="0"/>
              <a:t>이므로 보정명령 후</a:t>
            </a:r>
            <a:r>
              <a:rPr lang="en-US" altLang="ko-KR" sz="1600" dirty="0"/>
              <a:t>, </a:t>
            </a:r>
            <a:r>
              <a:rPr lang="ko-KR" altLang="en-US" sz="1600" dirty="0"/>
              <a:t>진정한 발명자임을 증명하지 못하거나 발명자 정정을 하지 않은 경우 출원을 무효</a:t>
            </a:r>
            <a:r>
              <a:rPr lang="en-US" altLang="ko-KR" sz="1600" dirty="0"/>
              <a:t>(</a:t>
            </a:r>
            <a:r>
              <a:rPr lang="ko-KR" altLang="en-US" sz="1600" dirty="0"/>
              <a:t>法 </a:t>
            </a:r>
            <a:r>
              <a:rPr lang="en-US" altLang="ko-KR" sz="1600" dirty="0"/>
              <a:t>16)</a:t>
            </a:r>
            <a:r>
              <a:rPr lang="ko-KR" altLang="en-US" sz="1600" dirty="0"/>
              <a:t>로 할 수 있으나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제한열거적인</a:t>
            </a:r>
            <a:r>
              <a:rPr lang="ko-KR" altLang="en-US" sz="1600" dirty="0"/>
              <a:t> 거절이유</a:t>
            </a:r>
            <a:r>
              <a:rPr lang="en-US" altLang="ko-KR" sz="1600" dirty="0"/>
              <a:t>(</a:t>
            </a:r>
            <a:r>
              <a:rPr lang="ko-KR" altLang="en-US" sz="1600" dirty="0"/>
              <a:t>法 </a:t>
            </a:r>
            <a:r>
              <a:rPr lang="en-US" altLang="ko-KR" sz="1600" dirty="0"/>
              <a:t>62)</a:t>
            </a:r>
            <a:r>
              <a:rPr lang="ko-KR" altLang="en-US" sz="1600" dirty="0"/>
              <a:t>에 해당하지 않음 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착오로 등록된 경우에는 </a:t>
            </a:r>
            <a:r>
              <a:rPr lang="ko-KR" altLang="en-US" sz="1600" dirty="0" err="1"/>
              <a:t>제한열거적인</a:t>
            </a:r>
            <a:r>
              <a:rPr lang="ko-KR" altLang="en-US" sz="1600" dirty="0"/>
              <a:t> 특허무효사유</a:t>
            </a:r>
            <a:r>
              <a:rPr lang="en-US" altLang="ko-KR" sz="1600" dirty="0"/>
              <a:t>(</a:t>
            </a:r>
            <a:r>
              <a:rPr lang="ko-KR" altLang="en-US" sz="1600" dirty="0"/>
              <a:t>法 </a:t>
            </a:r>
            <a:r>
              <a:rPr lang="en-US" altLang="ko-KR" sz="1600" dirty="0"/>
              <a:t>133①)</a:t>
            </a:r>
            <a:r>
              <a:rPr lang="ko-KR" altLang="en-US" sz="1600" dirty="0"/>
              <a:t>에 해당하지</a:t>
            </a:r>
            <a:r>
              <a:rPr lang="en-US" altLang="ko-KR" sz="1600" dirty="0"/>
              <a:t> </a:t>
            </a:r>
            <a:r>
              <a:rPr lang="ko-KR" altLang="en-US" sz="1600" dirty="0"/>
              <a:t>않으므로 하자 치유 간주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발명자 인격권 침해에 대한 손해배상청구를 할 수 있고</a:t>
            </a:r>
            <a:r>
              <a:rPr lang="en-US" altLang="ko-KR" sz="1600" dirty="0"/>
              <a:t>, </a:t>
            </a:r>
            <a:r>
              <a:rPr lang="ko-KR" altLang="en-US" sz="1600" dirty="0"/>
              <a:t>발명자를 잘못 적은 것임이 명백한 경우나 특허권자 및 신청 </a:t>
            </a:r>
            <a:r>
              <a:rPr lang="ko-KR" altLang="en-US" sz="1600" dirty="0" err="1"/>
              <a:t>전ㆍ후</a:t>
            </a:r>
            <a:r>
              <a:rPr lang="ko-KR" altLang="en-US" sz="1600" dirty="0"/>
              <a:t> 발명자 전원이 서명 또는 날인한 확인서류를 첨부한 경우에 해당하기 때문에 발명자 정정 가능 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수수료 면탈 목적인 경우 </a:t>
            </a:r>
            <a:r>
              <a:rPr lang="ko-KR" altLang="en-US" sz="1600" dirty="0" err="1"/>
              <a:t>감면받은</a:t>
            </a:r>
            <a:r>
              <a:rPr lang="ko-KR" altLang="en-US" sz="1600" dirty="0"/>
              <a:t> 특허료 및 수수료의 </a:t>
            </a:r>
            <a:r>
              <a:rPr lang="en-US" altLang="ko-KR" sz="1600" dirty="0"/>
              <a:t>2</a:t>
            </a:r>
            <a:r>
              <a:rPr lang="ko-KR" altLang="en-US" sz="1600" dirty="0"/>
              <a:t>배를 추징하고 일정기간 감면을 제한</a:t>
            </a:r>
            <a:r>
              <a:rPr lang="en-US" altLang="ko-KR" sz="1600" dirty="0"/>
              <a:t>(</a:t>
            </a:r>
            <a:r>
              <a:rPr lang="ko-KR" altLang="en-US" sz="1600" dirty="0"/>
              <a:t>法 </a:t>
            </a:r>
            <a:r>
              <a:rPr lang="en-US" altLang="ko-KR" sz="1600" dirty="0"/>
              <a:t>83④)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79672-0AB9-D4F9-771A-577A6F241471}"/>
              </a:ext>
            </a:extLst>
          </p:cNvPr>
          <p:cNvSpPr txBox="1"/>
          <p:nvPr/>
        </p:nvSpPr>
        <p:spPr>
          <a:xfrm>
            <a:off x="435012" y="4305605"/>
            <a:ext cx="4160113" cy="646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dirty="0"/>
              <a:t>*</a:t>
            </a:r>
            <a:r>
              <a:rPr lang="ko-KR" altLang="en-US" dirty="0"/>
              <a:t>발명자</a:t>
            </a:r>
            <a:r>
              <a:rPr lang="en-US" altLang="ko-KR" dirty="0"/>
              <a:t>, </a:t>
            </a:r>
            <a:r>
              <a:rPr lang="ko-KR" altLang="en-US" dirty="0"/>
              <a:t>출원인 모두를 허위 기재한 경우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018319-7A7A-1BF8-8FA3-71867488C77C}"/>
              </a:ext>
            </a:extLst>
          </p:cNvPr>
          <p:cNvSpPr txBox="1"/>
          <p:nvPr/>
        </p:nvSpPr>
        <p:spPr>
          <a:xfrm>
            <a:off x="4595125" y="4305605"/>
            <a:ext cx="7188739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甲으로부터 발명에 대한 특허를 받을 수 있는 권리를 </a:t>
            </a:r>
            <a:r>
              <a:rPr lang="ko-KR" altLang="en-US" dirty="0" err="1"/>
              <a:t>이전받지</a:t>
            </a:r>
            <a:r>
              <a:rPr lang="ko-KR" altLang="en-US" dirty="0"/>
              <a:t> 못한</a:t>
            </a:r>
            <a:r>
              <a:rPr lang="en-US" altLang="ko-KR" dirty="0"/>
              <a:t>(</a:t>
            </a:r>
            <a:r>
              <a:rPr lang="ko-KR" altLang="en-US" dirty="0"/>
              <a:t>甲의 발명을 </a:t>
            </a:r>
            <a:r>
              <a:rPr lang="ko-KR" altLang="en-US" dirty="0" err="1"/>
              <a:t>모인한</a:t>
            </a:r>
            <a:r>
              <a:rPr lang="en-US" altLang="ko-KR" dirty="0"/>
              <a:t>)</a:t>
            </a:r>
            <a:r>
              <a:rPr lang="ko-KR" altLang="en-US" dirty="0"/>
              <a:t> 乙이 발명자</a:t>
            </a:r>
            <a:r>
              <a:rPr lang="en-US" altLang="ko-KR" dirty="0"/>
              <a:t>, </a:t>
            </a:r>
            <a:r>
              <a:rPr lang="ko-KR" altLang="en-US" dirty="0"/>
              <a:t>출원인을 乙로 기재하여 특허출원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3AFC7F-96D9-6687-BFA4-EBAF4E293A11}"/>
              </a:ext>
            </a:extLst>
          </p:cNvPr>
          <p:cNvSpPr txBox="1"/>
          <p:nvPr/>
        </p:nvSpPr>
        <p:spPr>
          <a:xfrm>
            <a:off x="435012" y="5004105"/>
            <a:ext cx="11348852" cy="10772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600" dirty="0"/>
              <a:t>진정한 발명자인지 여부는 실질에 의하여 판단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발명자 허위 기재는 방식 위반으로 절차보정사유</a:t>
            </a:r>
            <a:r>
              <a:rPr lang="en-US" altLang="ko-KR" sz="1600" dirty="0"/>
              <a:t>(</a:t>
            </a:r>
            <a:r>
              <a:rPr lang="ko-KR" altLang="en-US" sz="1600" dirty="0"/>
              <a:t>法 </a:t>
            </a:r>
            <a:r>
              <a:rPr lang="en-US" altLang="ko-KR" sz="1600" dirty="0"/>
              <a:t>46)</a:t>
            </a:r>
            <a:r>
              <a:rPr lang="ko-KR" altLang="en-US" sz="1600" dirty="0"/>
              <a:t>이고</a:t>
            </a:r>
            <a:r>
              <a:rPr lang="en-US" altLang="ko-KR" sz="1600" dirty="0"/>
              <a:t>, </a:t>
            </a:r>
            <a:r>
              <a:rPr lang="ko-KR" altLang="en-US" sz="1600" dirty="0"/>
              <a:t>출원인 흠결은 제</a:t>
            </a:r>
            <a:r>
              <a:rPr lang="en-US" altLang="ko-KR" sz="1600" dirty="0"/>
              <a:t>33</a:t>
            </a:r>
            <a:r>
              <a:rPr lang="ko-KR" altLang="en-US" sz="1600" dirty="0"/>
              <a:t>조제</a:t>
            </a:r>
            <a:r>
              <a:rPr lang="en-US" altLang="ko-KR" sz="1600" dirty="0"/>
              <a:t>1</a:t>
            </a:r>
            <a:r>
              <a:rPr lang="ko-KR" altLang="en-US" sz="1600" dirty="0" err="1"/>
              <a:t>항본문</a:t>
            </a:r>
            <a:r>
              <a:rPr lang="ko-KR" altLang="en-US" sz="1600" dirty="0"/>
              <a:t> 위반으로 </a:t>
            </a:r>
            <a:r>
              <a:rPr lang="ko-KR" altLang="en-US" sz="1600" dirty="0" err="1"/>
              <a:t>제한열거적인</a:t>
            </a:r>
            <a:r>
              <a:rPr lang="ko-KR" altLang="en-US" sz="1600" dirty="0"/>
              <a:t> 거절이유</a:t>
            </a:r>
            <a:r>
              <a:rPr lang="en-US" altLang="ko-KR" sz="1600" dirty="0"/>
              <a:t>(</a:t>
            </a:r>
            <a:r>
              <a:rPr lang="ko-KR" altLang="en-US" sz="1600" dirty="0"/>
              <a:t>法 </a:t>
            </a:r>
            <a:r>
              <a:rPr lang="en-US" altLang="ko-KR" sz="1600" dirty="0"/>
              <a:t>62), </a:t>
            </a:r>
            <a:r>
              <a:rPr lang="ko-KR" altLang="en-US" sz="1600" dirty="0"/>
              <a:t>특허무효사유</a:t>
            </a:r>
            <a:r>
              <a:rPr lang="en-US" altLang="ko-KR" sz="1600" dirty="0"/>
              <a:t>(</a:t>
            </a:r>
            <a:r>
              <a:rPr lang="ko-KR" altLang="en-US" sz="1600" dirty="0"/>
              <a:t>法 </a:t>
            </a:r>
            <a:r>
              <a:rPr lang="en-US" altLang="ko-KR" sz="1600" dirty="0"/>
              <a:t>133①)</a:t>
            </a:r>
            <a:r>
              <a:rPr lang="ko-KR" altLang="en-US" sz="1600" dirty="0"/>
              <a:t>에 해당하나</a:t>
            </a:r>
            <a:r>
              <a:rPr lang="en-US" altLang="ko-KR" sz="1600" dirty="0"/>
              <a:t>, </a:t>
            </a:r>
            <a:r>
              <a:rPr lang="ko-KR" altLang="en-US" sz="1600" dirty="0"/>
              <a:t>제</a:t>
            </a:r>
            <a:r>
              <a:rPr lang="en-US" altLang="ko-KR" sz="1600" dirty="0"/>
              <a:t>34</a:t>
            </a:r>
            <a:r>
              <a:rPr lang="ko-KR" altLang="en-US" sz="1600" dirty="0"/>
              <a:t>조</a:t>
            </a:r>
            <a:r>
              <a:rPr lang="en-US" altLang="ko-KR" sz="1600" dirty="0"/>
              <a:t>, </a:t>
            </a:r>
            <a:r>
              <a:rPr lang="ko-KR" altLang="en-US" sz="1600" dirty="0"/>
              <a:t>제</a:t>
            </a:r>
            <a:r>
              <a:rPr lang="en-US" altLang="ko-KR" sz="1600" dirty="0"/>
              <a:t>35</a:t>
            </a:r>
            <a:r>
              <a:rPr lang="ko-KR" altLang="en-US" sz="1600" dirty="0"/>
              <a:t>조</a:t>
            </a:r>
            <a:r>
              <a:rPr lang="en-US" altLang="ko-KR" sz="1600" dirty="0"/>
              <a:t>, </a:t>
            </a:r>
            <a:r>
              <a:rPr lang="ko-KR" altLang="en-US" sz="1600" dirty="0"/>
              <a:t>제</a:t>
            </a:r>
            <a:r>
              <a:rPr lang="en-US" altLang="ko-KR" sz="1600" dirty="0"/>
              <a:t>99</a:t>
            </a:r>
            <a:r>
              <a:rPr lang="ko-KR" altLang="en-US" sz="1600" dirty="0"/>
              <a:t>조의</a:t>
            </a:r>
            <a:r>
              <a:rPr lang="en-US" altLang="ko-KR" sz="1600" dirty="0"/>
              <a:t>2</a:t>
            </a:r>
            <a:r>
              <a:rPr lang="ko-KR" altLang="en-US" sz="1600" dirty="0"/>
              <a:t>에 의한 정당한 권리자 보호를 위해 제</a:t>
            </a:r>
            <a:r>
              <a:rPr lang="en-US" altLang="ko-KR" sz="1600" dirty="0"/>
              <a:t>33</a:t>
            </a:r>
            <a:r>
              <a:rPr lang="ko-KR" altLang="en-US" sz="1600" dirty="0"/>
              <a:t>조제</a:t>
            </a:r>
            <a:r>
              <a:rPr lang="en-US" altLang="ko-KR" sz="1600" dirty="0"/>
              <a:t>1</a:t>
            </a:r>
            <a:r>
              <a:rPr lang="ko-KR" altLang="en-US" sz="1600" dirty="0" err="1"/>
              <a:t>항본문</a:t>
            </a:r>
            <a:r>
              <a:rPr lang="ko-KR" altLang="en-US" sz="1600" dirty="0"/>
              <a:t> 위반으로 처리가 적절함</a:t>
            </a:r>
            <a:endParaRPr lang="en-US" altLang="ko-KR" sz="1600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21E393FE-C157-A9D7-4893-40E4DA6FDEBA}"/>
              </a:ext>
            </a:extLst>
          </p:cNvPr>
          <p:cNvCxnSpPr>
            <a:cxnSpLocks/>
          </p:cNvCxnSpPr>
          <p:nvPr/>
        </p:nvCxnSpPr>
        <p:spPr>
          <a:xfrm>
            <a:off x="0" y="3984178"/>
            <a:ext cx="12191999" cy="0"/>
          </a:xfrm>
          <a:prstGeom prst="line">
            <a:avLst/>
          </a:prstGeom>
          <a:ln w="28575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10170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38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제</a:t>
            </a:r>
            <a:r>
              <a:rPr lang="en-US" altLang="ko-KR" dirty="0">
                <a:solidFill>
                  <a:srgbClr val="525252"/>
                </a:solidFill>
              </a:rPr>
              <a:t>38</a:t>
            </a:r>
            <a:r>
              <a:rPr lang="ko-KR" altLang="en-US" dirty="0">
                <a:solidFill>
                  <a:srgbClr val="525252"/>
                </a:solidFill>
              </a:rPr>
              <a:t>조의 법조문 정리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9543" y="986046"/>
            <a:ext cx="11538390" cy="24622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38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특허를 받을 수 있는 권리의 승계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특허출원 전에 이루어진 특허를 받을 수 있는 권리의 승계는 그 승계인이 특허출원을 하여야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자에게 대항할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동일한 자로부터 동일한 특허를 받을 수 있는 권리를 승계한 자가 둘 이상인 경우 그 승계한 권리에 대하여 같은 날에 둘 이상의 특허출원이 있으면 특허출원인 간에 협의하여 정한 자에게만 승계의 효력이 발생한다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동일한 자로부터 동일한 발명 및 고안에 대한 특허를 받을 수 있는 권리 및 실용신안등록을 받을 수 있는 권리를 승계한 자가 둘 이상인 경우 그 승계한 권리에 대하여 같은 날에 특허출원 및 실용신안등록출원이 있으면 특허출원인 및 실용신안등록출원인 간에 협의하여 정한 자에게만 승계의 효력이 발생한다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④ </a:t>
            </a:r>
            <a:r>
              <a:rPr lang="ko-KR" altLang="en-US" sz="1400" dirty="0">
                <a:solidFill>
                  <a:schemeClr val="tx2"/>
                </a:solidFill>
              </a:rPr>
              <a:t>특허출원 후에는 특허를 받을 수 있는 권리의 승계는 상속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그 밖의 일반승계의 경우를 제외하고는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특허출원인변경신고를</a:t>
            </a:r>
            <a:r>
              <a:rPr lang="ko-KR" altLang="en-US" sz="1400" dirty="0">
                <a:solidFill>
                  <a:schemeClr val="tx2"/>
                </a:solidFill>
              </a:rPr>
              <a:t> 하여야만 그 효력이 발생한다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⑤ </a:t>
            </a:r>
            <a:r>
              <a:rPr lang="ko-KR" altLang="en-US" sz="1400" dirty="0">
                <a:solidFill>
                  <a:schemeClr val="tx2"/>
                </a:solidFill>
              </a:rPr>
              <a:t>특허를 받을 수 있는 권리의 상속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그 밖의 일반승계가 있는 경우에는 승계인은 지체 없이 그 취지를 지식재산처장에게 신고하여야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⑥ </a:t>
            </a:r>
            <a:r>
              <a:rPr lang="ko-KR" altLang="en-US" sz="1400" dirty="0">
                <a:solidFill>
                  <a:schemeClr val="tx2"/>
                </a:solidFill>
              </a:rPr>
              <a:t>동일한 자로부터 동일한 특허를 받을 수 있는 권리를 승계한 자가 둘 이상인 경우 그 승계한 권리에 대하여 같은 날에 둘 이상의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특허출원인변경신고가</a:t>
            </a:r>
            <a:r>
              <a:rPr lang="ko-KR" altLang="en-US" sz="1400" dirty="0">
                <a:solidFill>
                  <a:schemeClr val="tx2"/>
                </a:solidFill>
              </a:rPr>
              <a:t> 있으면 신고를 한 자 간에 협의하여 정한 자에게만 신고의 효력이 발생한다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⑦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 err="1">
                <a:solidFill>
                  <a:schemeClr val="tx2"/>
                </a:solidFill>
              </a:rPr>
              <a:t>항ㆍ제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 또는 제</a:t>
            </a:r>
            <a:r>
              <a:rPr lang="en-US" altLang="ko-KR" sz="1400" dirty="0">
                <a:solidFill>
                  <a:schemeClr val="tx2"/>
                </a:solidFill>
              </a:rPr>
              <a:t>6</a:t>
            </a:r>
            <a:r>
              <a:rPr lang="ko-KR" altLang="en-US" sz="1400" dirty="0">
                <a:solidFill>
                  <a:schemeClr val="tx2"/>
                </a:solidFill>
              </a:rPr>
              <a:t>항의 경우에는 제</a:t>
            </a:r>
            <a:r>
              <a:rPr lang="en-US" altLang="ko-KR" sz="1400" dirty="0">
                <a:solidFill>
                  <a:schemeClr val="tx2"/>
                </a:solidFill>
              </a:rPr>
              <a:t>36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6</a:t>
            </a:r>
            <a:r>
              <a:rPr lang="ko-KR" altLang="en-US" sz="1400" dirty="0">
                <a:solidFill>
                  <a:schemeClr val="tx2"/>
                </a:solidFill>
              </a:rPr>
              <a:t>항을 준용한다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59214"/>
              </p:ext>
            </p:extLst>
          </p:nvPr>
        </p:nvGraphicFramePr>
        <p:xfrm>
          <a:off x="289543" y="3700330"/>
          <a:ext cx="11538390" cy="2871915"/>
        </p:xfrm>
        <a:graphic>
          <a:graphicData uri="http://schemas.openxmlformats.org/drawingml/2006/table">
            <a:tbl>
              <a:tblPr/>
              <a:tblGrid>
                <a:gridCol w="19079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92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71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5832"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이전형식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이전시기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일반승계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특정승계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57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출원 전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사유발생시 효력발생</a:t>
                      </a:r>
                    </a:p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승계인이 특허출원 → 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자 대항요건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38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동일자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출원</a:t>
                      </a:r>
                    </a:p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①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협의제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협의명령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38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②③⑦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→ 협의하여 정한 자에게만 승계의 효력발생</a:t>
                      </a:r>
                    </a:p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② 협의가 성립되지 아니하면 승계의 효력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불발생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→ 무권리자 출원으로 간주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66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출원 후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31750" marR="3175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사유발생시 효력 발생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∵권리의 단절 막기 위해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1750" marR="3175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승계인이 지식재산처장에 신고 要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38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승계인의 출원인변경신고 → 효력발생요건</a:t>
                      </a:r>
                    </a:p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동일자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출원인변경신고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①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협의제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협의명령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38⑥⑦) →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협의하여 정한 자에게만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출원인변경신고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효력발생 </a:t>
                      </a:r>
                    </a:p>
                    <a:p>
                      <a:pPr marL="180975" marR="31750" indent="-149225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② 협의가 성립되지 아니하면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출원인변경신고의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효력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불발생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→ 피승계인이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출원인인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상태로 출원절차 진행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6" name="직선 연결선 5"/>
          <p:cNvCxnSpPr/>
          <p:nvPr/>
        </p:nvCxnSpPr>
        <p:spPr>
          <a:xfrm>
            <a:off x="289543" y="3691467"/>
            <a:ext cx="1903324" cy="44026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03726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Line 5">
            <a:extLst>
              <a:ext uri="{FF2B5EF4-FFF2-40B4-BE49-F238E27FC236}">
                <a16:creationId xmlns:a16="http://schemas.microsoft.com/office/drawing/2014/main" id="{89A7BBA8-4E00-44C3-A470-536BA2A58222}"/>
              </a:ext>
            </a:extLst>
          </p:cNvPr>
          <p:cNvSpPr>
            <a:spLocks noChangeShapeType="1"/>
          </p:cNvSpPr>
          <p:nvPr/>
        </p:nvSpPr>
        <p:spPr bwMode="auto">
          <a:xfrm>
            <a:off x="564528" y="4582548"/>
            <a:ext cx="11391685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38</a:t>
            </a:r>
            <a:r>
              <a:rPr lang="ko-KR" altLang="en-US" dirty="0"/>
              <a:t>조 제</a:t>
            </a:r>
            <a:r>
              <a:rPr lang="en-US" altLang="ko-KR" dirty="0"/>
              <a:t>1</a:t>
            </a:r>
            <a:r>
              <a:rPr lang="ko-KR" altLang="en-US" dirty="0"/>
              <a:t>항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분리탑재형 발전기의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CASE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8" name="슬라이드 번호 개체 틀 1">
            <a:extLst>
              <a:ext uri="{FF2B5EF4-FFF2-40B4-BE49-F238E27FC236}">
                <a16:creationId xmlns:a16="http://schemas.microsoft.com/office/drawing/2014/main" id="{0F75A23A-7A3E-48BF-8C01-2171501A137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111</a:t>
            </a:fld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8F9BA11-776F-458B-AEBF-785908167EF1}"/>
              </a:ext>
            </a:extLst>
          </p:cNvPr>
          <p:cNvSpPr/>
          <p:nvPr/>
        </p:nvSpPr>
        <p:spPr>
          <a:xfrm>
            <a:off x="232372" y="1269047"/>
            <a:ext cx="1168198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sz="1400" dirty="0"/>
              <a:t>[1] </a:t>
            </a:r>
            <a:r>
              <a:rPr lang="ko-KR" altLang="en-US" sz="1400" dirty="0"/>
              <a:t>발명을 한 사람 또는 그 승계인은 특허법에서 정하는 바에 따라 특허를 받을 수 있는 권리를 가진다</a:t>
            </a:r>
            <a:r>
              <a:rPr lang="en-US" altLang="ko-KR" sz="1400" dirty="0"/>
              <a:t>(</a:t>
            </a:r>
            <a:r>
              <a:rPr lang="ko-KR" altLang="en-US" sz="1400" dirty="0"/>
              <a:t>특허법 제</a:t>
            </a:r>
            <a:r>
              <a:rPr lang="en-US" altLang="ko-KR" sz="1400" dirty="0"/>
              <a:t>33</a:t>
            </a:r>
            <a:r>
              <a:rPr lang="ko-KR" altLang="en-US" sz="1400" dirty="0"/>
              <a:t>조 제</a:t>
            </a:r>
            <a:r>
              <a:rPr lang="en-US" altLang="ko-KR" sz="1400" dirty="0"/>
              <a:t>1</a:t>
            </a:r>
            <a:r>
              <a:rPr lang="ko-KR" altLang="en-US" sz="1400" dirty="0"/>
              <a:t>항 본문</a:t>
            </a:r>
            <a:r>
              <a:rPr lang="en-US" altLang="ko-KR" sz="1400" dirty="0"/>
              <a:t>). </a:t>
            </a:r>
            <a:r>
              <a:rPr lang="ko-KR" altLang="en-US" sz="1400" dirty="0"/>
              <a:t>만일 이러한 정당한 권리자 아닌 사람</a:t>
            </a:r>
            <a:r>
              <a:rPr lang="en-US" altLang="ko-KR" sz="1400" dirty="0"/>
              <a:t>(</a:t>
            </a:r>
            <a:r>
              <a:rPr lang="ko-KR" altLang="en-US" sz="1400" dirty="0"/>
              <a:t>이하 ‘</a:t>
            </a:r>
            <a:r>
              <a:rPr lang="ko-KR" altLang="en-US" sz="1400" dirty="0" err="1"/>
              <a:t>무권리자’라</a:t>
            </a:r>
            <a:r>
              <a:rPr lang="ko-KR" altLang="en-US" sz="1400" dirty="0"/>
              <a:t> 한다</a:t>
            </a:r>
            <a:r>
              <a:rPr lang="en-US" altLang="ko-KR" sz="1400" dirty="0"/>
              <a:t>)</a:t>
            </a:r>
            <a:r>
              <a:rPr lang="ko-KR" altLang="en-US" sz="1400" dirty="0"/>
              <a:t>이 한 특허출원에 대하여 특허권의 설정등록이 이루어지면 특허무효사유에 해당한다</a:t>
            </a:r>
            <a:r>
              <a:rPr lang="en-US" altLang="ko-KR" sz="1400" dirty="0"/>
              <a:t>(</a:t>
            </a:r>
            <a:r>
              <a:rPr lang="ko-KR" altLang="en-US" sz="1400" dirty="0"/>
              <a:t>특허법 제</a:t>
            </a:r>
            <a:r>
              <a:rPr lang="en-US" altLang="ko-KR" sz="1400" dirty="0"/>
              <a:t>133</a:t>
            </a:r>
            <a:r>
              <a:rPr lang="ko-KR" altLang="en-US" sz="1400" dirty="0"/>
              <a:t>조 제</a:t>
            </a:r>
            <a:r>
              <a:rPr lang="en-US" altLang="ko-KR" sz="1400" dirty="0"/>
              <a:t>1</a:t>
            </a:r>
            <a:r>
              <a:rPr lang="ko-KR" altLang="en-US" sz="1400" dirty="0"/>
              <a:t>항 제</a:t>
            </a:r>
            <a:r>
              <a:rPr lang="en-US" altLang="ko-KR" sz="1400" dirty="0"/>
              <a:t>2</a:t>
            </a:r>
            <a:r>
              <a:rPr lang="ko-KR" altLang="en-US" sz="1400" dirty="0"/>
              <a:t>호</a:t>
            </a:r>
            <a:r>
              <a:rPr lang="en-US" altLang="ko-KR" sz="1400" dirty="0"/>
              <a:t>). </a:t>
            </a:r>
            <a:r>
              <a:rPr lang="ko-KR" altLang="en-US" sz="1400" dirty="0"/>
              <a:t>특허출원 전에 특허를 받을 수 있는 권리를 계약에 따라 이전한 양도인은 더 이상 그 권리의 귀속주체가 아니므로 그러한 양도인이 한 특허출원에 대하여 설정등록이 이루어진 특허권은 특허무효사유에 해당하는 무권리자의 특허이다</a:t>
            </a:r>
            <a:r>
              <a:rPr lang="en-US" altLang="ko-KR" sz="1400" dirty="0"/>
              <a:t>.</a:t>
            </a:r>
          </a:p>
          <a:p>
            <a:pPr fontAlgn="base"/>
            <a:r>
              <a:rPr lang="en-US" altLang="ko-KR" sz="1400" dirty="0"/>
              <a:t>[2] </a:t>
            </a:r>
            <a:r>
              <a:rPr lang="ko-KR" altLang="en-US" sz="1400" dirty="0"/>
              <a:t>특허출원 전에 이루어진 특허를 받을 수 있는 권리의 승계는 그 승계인이 특허출원을 하여야 제</a:t>
            </a:r>
            <a:r>
              <a:rPr lang="en-US" altLang="ko-KR" sz="1400" dirty="0"/>
              <a:t>3</a:t>
            </a:r>
            <a:r>
              <a:rPr lang="ko-KR" altLang="en-US" sz="1400" dirty="0"/>
              <a:t>자에게 대항할 수 있다</a:t>
            </a:r>
            <a:r>
              <a:rPr lang="en-US" altLang="ko-KR" sz="1400" dirty="0"/>
              <a:t>(</a:t>
            </a:r>
            <a:r>
              <a:rPr lang="ko-KR" altLang="en-US" sz="1400" dirty="0"/>
              <a:t>특허법 제</a:t>
            </a:r>
            <a:r>
              <a:rPr lang="en-US" altLang="ko-KR" sz="1400" dirty="0"/>
              <a:t>38</a:t>
            </a:r>
            <a:r>
              <a:rPr lang="ko-KR" altLang="en-US" sz="1400" dirty="0"/>
              <a:t>조 제</a:t>
            </a:r>
            <a:r>
              <a:rPr lang="en-US" altLang="ko-KR" sz="1400" dirty="0"/>
              <a:t>1</a:t>
            </a:r>
            <a:r>
              <a:rPr lang="ko-KR" altLang="en-US" sz="1400" dirty="0"/>
              <a:t>항</a:t>
            </a:r>
            <a:r>
              <a:rPr lang="en-US" altLang="ko-KR" sz="1400" dirty="0"/>
              <a:t>). </a:t>
            </a:r>
            <a:r>
              <a:rPr lang="ko-KR" altLang="en-US" sz="1400" dirty="0"/>
              <a:t>여기서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자는 특허를 받을 수 있는 권리에 관하여 승계인의 지위와 양립할 수 없는 법률상 지위를 취득한 사람에 한한다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/>
              <a:t>무권리자의 특허로서 특허무효사유가 있는 특허권을 </a:t>
            </a:r>
            <a:r>
              <a:rPr lang="ko-KR" altLang="en-US" sz="1400" dirty="0" err="1"/>
              <a:t>이전받은</a:t>
            </a:r>
            <a:r>
              <a:rPr lang="ko-KR" altLang="en-US" sz="1400" dirty="0"/>
              <a:t> 양수인은 특허법 제</a:t>
            </a:r>
            <a:r>
              <a:rPr lang="en-US" altLang="ko-KR" sz="1400" dirty="0"/>
              <a:t>38</a:t>
            </a:r>
            <a:r>
              <a:rPr lang="ko-KR" altLang="en-US" sz="1400" dirty="0"/>
              <a:t>조 제</a:t>
            </a:r>
            <a:r>
              <a:rPr lang="en-US" altLang="ko-KR" sz="1400" dirty="0"/>
              <a:t>1</a:t>
            </a:r>
            <a:r>
              <a:rPr lang="ko-KR" altLang="en-US" sz="1400" dirty="0"/>
              <a:t>항에서 말하는 제</a:t>
            </a:r>
            <a:r>
              <a:rPr lang="en-US" altLang="ko-KR" sz="1400" dirty="0"/>
              <a:t>3</a:t>
            </a:r>
            <a:r>
              <a:rPr lang="ko-KR" altLang="en-US" sz="1400" dirty="0"/>
              <a:t>자에 해당하지 않는다</a:t>
            </a:r>
            <a:r>
              <a:rPr lang="en-US" altLang="ko-KR" sz="1400" dirty="0"/>
              <a:t>.</a:t>
            </a:r>
          </a:p>
          <a:p>
            <a:pPr fontAlgn="base"/>
            <a:endParaRPr lang="ko-KR" altLang="en-US" sz="1400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845B491D-8404-4504-83DB-F8CBD9B10B19}"/>
              </a:ext>
            </a:extLst>
          </p:cNvPr>
          <p:cNvSpPr/>
          <p:nvPr/>
        </p:nvSpPr>
        <p:spPr>
          <a:xfrm>
            <a:off x="2464998" y="4495699"/>
            <a:ext cx="141148" cy="14716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7F855E-63E7-4276-9A07-944733EA92D5}"/>
              </a:ext>
            </a:extLst>
          </p:cNvPr>
          <p:cNvSpPr txBox="1"/>
          <p:nvPr/>
        </p:nvSpPr>
        <p:spPr>
          <a:xfrm>
            <a:off x="926301" y="3438357"/>
            <a:ext cx="1881473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피고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가 피고보조참가인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丙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에게 세트 제작 공급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계약 체결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0E0EF7D2-5FEE-4A2F-ABD4-9147C82EBFE2}"/>
              </a:ext>
            </a:extLst>
          </p:cNvPr>
          <p:cNvSpPr/>
          <p:nvPr/>
        </p:nvSpPr>
        <p:spPr>
          <a:xfrm>
            <a:off x="3119236" y="448861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62437A67-7853-4410-9F0F-93BCE51D441E}"/>
              </a:ext>
            </a:extLst>
          </p:cNvPr>
          <p:cNvSpPr/>
          <p:nvPr/>
        </p:nvSpPr>
        <p:spPr>
          <a:xfrm>
            <a:off x="5016472" y="4488614"/>
            <a:ext cx="154738" cy="16133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2F7C9590-F96C-443E-8904-DE90258FAF82}"/>
              </a:ext>
            </a:extLst>
          </p:cNvPr>
          <p:cNvCxnSpPr>
            <a:cxnSpLocks/>
            <a:stCxn id="37" idx="2"/>
            <a:endCxn id="27" idx="0"/>
          </p:cNvCxnSpPr>
          <p:nvPr/>
        </p:nvCxnSpPr>
        <p:spPr>
          <a:xfrm rot="16200000" flipH="1">
            <a:off x="1995800" y="3955926"/>
            <a:ext cx="411011" cy="668534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C178A8E6-8843-432E-B2B7-F049BC13ECC2}"/>
              </a:ext>
            </a:extLst>
          </p:cNvPr>
          <p:cNvSpPr txBox="1"/>
          <p:nvPr/>
        </p:nvSpPr>
        <p:spPr>
          <a:xfrm>
            <a:off x="2941596" y="3438357"/>
            <a:ext cx="1411483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회사는 피고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에게 부품 개발 공급 계약 체결 </a:t>
            </a:r>
          </a:p>
        </p:txBody>
      </p:sp>
      <p:cxnSp>
        <p:nvCxnSpPr>
          <p:cNvPr id="84" name="연결선: 꺾임 83">
            <a:extLst>
              <a:ext uri="{FF2B5EF4-FFF2-40B4-BE49-F238E27FC236}">
                <a16:creationId xmlns:a16="http://schemas.microsoft.com/office/drawing/2014/main" id="{212386C3-0CC1-42F1-B941-40D96C54403B}"/>
              </a:ext>
            </a:extLst>
          </p:cNvPr>
          <p:cNvCxnSpPr>
            <a:cxnSpLocks/>
            <a:stCxn id="83" idx="2"/>
            <a:endCxn id="61" idx="0"/>
          </p:cNvCxnSpPr>
          <p:nvPr/>
        </p:nvCxnSpPr>
        <p:spPr>
          <a:xfrm rot="5400000">
            <a:off x="3220009" y="4061285"/>
            <a:ext cx="403926" cy="450733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타원 84">
            <a:extLst>
              <a:ext uri="{FF2B5EF4-FFF2-40B4-BE49-F238E27FC236}">
                <a16:creationId xmlns:a16="http://schemas.microsoft.com/office/drawing/2014/main" id="{F5F209D4-546B-45E0-9FC8-78934FA6AC87}"/>
              </a:ext>
            </a:extLst>
          </p:cNvPr>
          <p:cNvSpPr/>
          <p:nvPr/>
        </p:nvSpPr>
        <p:spPr>
          <a:xfrm>
            <a:off x="3716582" y="448861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542F93E-BC94-427B-895D-B20B68F6D95E}"/>
              </a:ext>
            </a:extLst>
          </p:cNvPr>
          <p:cNvSpPr txBox="1"/>
          <p:nvPr/>
        </p:nvSpPr>
        <p:spPr>
          <a:xfrm>
            <a:off x="1740130" y="5171873"/>
            <a:ext cx="1576457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회사 직원이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부품 관련 발명 완성</a:t>
            </a:r>
          </a:p>
        </p:txBody>
      </p: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A351E9F3-9FFB-4B2E-A4A4-E5AA09B24698}"/>
              </a:ext>
            </a:extLst>
          </p:cNvPr>
          <p:cNvCxnSpPr>
            <a:cxnSpLocks/>
            <a:stCxn id="86" idx="0"/>
            <a:endCxn id="85" idx="4"/>
          </p:cNvCxnSpPr>
          <p:nvPr/>
        </p:nvCxnSpPr>
        <p:spPr>
          <a:xfrm rot="5400000" flipH="1" flipV="1">
            <a:off x="2900195" y="4278117"/>
            <a:ext cx="521921" cy="1265592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타원 95">
            <a:extLst>
              <a:ext uri="{FF2B5EF4-FFF2-40B4-BE49-F238E27FC236}">
                <a16:creationId xmlns:a16="http://schemas.microsoft.com/office/drawing/2014/main" id="{1AADE59F-0011-4F37-8952-8288FDBA2E53}"/>
              </a:ext>
            </a:extLst>
          </p:cNvPr>
          <p:cNvSpPr/>
          <p:nvPr/>
        </p:nvSpPr>
        <p:spPr>
          <a:xfrm>
            <a:off x="6229530" y="4488614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554490DD-F0E6-414B-856D-491321691AA4}"/>
              </a:ext>
            </a:extLst>
          </p:cNvPr>
          <p:cNvSpPr/>
          <p:nvPr/>
        </p:nvSpPr>
        <p:spPr>
          <a:xfrm>
            <a:off x="113937" y="964867"/>
            <a:ext cx="4765205" cy="30295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bIns="0">
            <a:spAutoFit/>
          </a:bodyPr>
          <a:lstStyle/>
          <a:p>
            <a:r>
              <a:rPr lang="ko-KR" altLang="en-US" sz="1400" dirty="0"/>
              <a:t>대법원 </a:t>
            </a:r>
            <a:r>
              <a:rPr lang="en-US" altLang="ko-KR" sz="1400" dirty="0"/>
              <a:t>2020. 5. 14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2020</a:t>
            </a:r>
            <a:r>
              <a:rPr lang="ko-KR" altLang="en-US" sz="1400" dirty="0"/>
              <a:t>후</a:t>
            </a:r>
            <a:r>
              <a:rPr lang="en-US" altLang="ko-KR" sz="1400" dirty="0"/>
              <a:t>10087 </a:t>
            </a:r>
            <a:r>
              <a:rPr lang="ko-KR" altLang="en-US" sz="1400" dirty="0"/>
              <a:t>판결 </a:t>
            </a:r>
            <a:r>
              <a:rPr lang="en-US" altLang="ko-KR" sz="1400" dirty="0"/>
              <a:t>[</a:t>
            </a:r>
            <a:r>
              <a:rPr lang="ko-KR" altLang="en-US" sz="1400" dirty="0"/>
              <a:t>등록무효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)]</a:t>
            </a:r>
            <a:endParaRPr lang="ko-KR" altLang="en-US" sz="1400" dirty="0"/>
          </a:p>
        </p:txBody>
      </p: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BFD281FC-CD72-49F6-854D-14A8B3DE91EB}"/>
              </a:ext>
            </a:extLst>
          </p:cNvPr>
          <p:cNvCxnSpPr/>
          <p:nvPr/>
        </p:nvCxnSpPr>
        <p:spPr>
          <a:xfrm>
            <a:off x="0" y="2914082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C30ED1FB-6D67-4B29-B733-DBE7262F2FA1}"/>
              </a:ext>
            </a:extLst>
          </p:cNvPr>
          <p:cNvCxnSpPr>
            <a:cxnSpLocks/>
            <a:stCxn id="37" idx="0"/>
            <a:endCxn id="83" idx="0"/>
          </p:cNvCxnSpPr>
          <p:nvPr/>
        </p:nvCxnSpPr>
        <p:spPr>
          <a:xfrm rot="5400000" flipH="1" flipV="1">
            <a:off x="2757188" y="2548207"/>
            <a:ext cx="12700" cy="1780300"/>
          </a:xfrm>
          <a:prstGeom prst="bentConnector3">
            <a:avLst>
              <a:gd name="adj1" fmla="val 509433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EF00C7A-51FB-4FB7-85D1-D7FBDB337667}"/>
              </a:ext>
            </a:extLst>
          </p:cNvPr>
          <p:cNvSpPr txBox="1"/>
          <p:nvPr/>
        </p:nvSpPr>
        <p:spPr>
          <a:xfrm>
            <a:off x="1467243" y="2926197"/>
            <a:ext cx="299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계약을 통해 발생한 모든 지적재산권은 </a:t>
            </a:r>
            <a:endParaRPr lang="en-US" altLang="ko-KR" sz="1200" dirty="0"/>
          </a:p>
          <a:p>
            <a:r>
              <a:rPr lang="ko-KR" altLang="en-US" sz="1200" dirty="0"/>
              <a:t>피고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200" dirty="0"/>
              <a:t>를 거쳐 피고보조참가인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丙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200" dirty="0"/>
              <a:t>에게 귀속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A9AFEB1-C195-4069-BFF3-270C48ACF668}"/>
              </a:ext>
            </a:extLst>
          </p:cNvPr>
          <p:cNvSpPr txBox="1"/>
          <p:nvPr/>
        </p:nvSpPr>
        <p:spPr>
          <a:xfrm>
            <a:off x="4501737" y="3440788"/>
            <a:ext cx="1452021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회사 출원하여 등록 후 원고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丁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에게 이전</a:t>
            </a:r>
          </a:p>
        </p:txBody>
      </p: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547B67AB-4A92-4381-AECE-1AE88639A781}"/>
              </a:ext>
            </a:extLst>
          </p:cNvPr>
          <p:cNvCxnSpPr>
            <a:cxnSpLocks/>
            <a:stCxn id="50" idx="2"/>
            <a:endCxn id="77" idx="0"/>
          </p:cNvCxnSpPr>
          <p:nvPr/>
        </p:nvCxnSpPr>
        <p:spPr>
          <a:xfrm rot="5400000">
            <a:off x="4960048" y="4220913"/>
            <a:ext cx="401495" cy="133907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A7F1B931-A240-423A-AD48-BE70F863E845}"/>
              </a:ext>
            </a:extLst>
          </p:cNvPr>
          <p:cNvSpPr txBox="1"/>
          <p:nvPr/>
        </p:nvSpPr>
        <p:spPr>
          <a:xfrm>
            <a:off x="6031126" y="3440788"/>
            <a:ext cx="1059785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피고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무효심판청구</a:t>
            </a:r>
          </a:p>
        </p:txBody>
      </p: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87887B0F-9391-491F-98B3-5E9CAC320861}"/>
              </a:ext>
            </a:extLst>
          </p:cNvPr>
          <p:cNvCxnSpPr>
            <a:cxnSpLocks/>
            <a:stCxn id="60" idx="2"/>
            <a:endCxn id="96" idx="0"/>
          </p:cNvCxnSpPr>
          <p:nvPr/>
        </p:nvCxnSpPr>
        <p:spPr>
          <a:xfrm rot="5400000">
            <a:off x="6140879" y="4068473"/>
            <a:ext cx="586161" cy="25412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타원 63">
            <a:extLst>
              <a:ext uri="{FF2B5EF4-FFF2-40B4-BE49-F238E27FC236}">
                <a16:creationId xmlns:a16="http://schemas.microsoft.com/office/drawing/2014/main" id="{ED132116-906D-4B8B-B0BC-3C0D57ADF92A}"/>
              </a:ext>
            </a:extLst>
          </p:cNvPr>
          <p:cNvSpPr/>
          <p:nvPr/>
        </p:nvSpPr>
        <p:spPr>
          <a:xfrm>
            <a:off x="6554939" y="4488614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7635A6B-8BB9-4529-9606-6D788F68EEC2}"/>
              </a:ext>
            </a:extLst>
          </p:cNvPr>
          <p:cNvSpPr txBox="1"/>
          <p:nvPr/>
        </p:nvSpPr>
        <p:spPr>
          <a:xfrm>
            <a:off x="6339279" y="4994072"/>
            <a:ext cx="751632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인용심결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6" name="연결선: 꺾임 65">
            <a:extLst>
              <a:ext uri="{FF2B5EF4-FFF2-40B4-BE49-F238E27FC236}">
                <a16:creationId xmlns:a16="http://schemas.microsoft.com/office/drawing/2014/main" id="{F407AB73-2EDC-43ED-A330-9708767BECEC}"/>
              </a:ext>
            </a:extLst>
          </p:cNvPr>
          <p:cNvCxnSpPr>
            <a:cxnSpLocks/>
            <a:stCxn id="65" idx="0"/>
            <a:endCxn id="64" idx="4"/>
          </p:cNvCxnSpPr>
          <p:nvPr/>
        </p:nvCxnSpPr>
        <p:spPr>
          <a:xfrm rot="16200000" flipV="1">
            <a:off x="6501642" y="4780618"/>
            <a:ext cx="344120" cy="82787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타원 70">
            <a:extLst>
              <a:ext uri="{FF2B5EF4-FFF2-40B4-BE49-F238E27FC236}">
                <a16:creationId xmlns:a16="http://schemas.microsoft.com/office/drawing/2014/main" id="{446CF830-2D6D-4D46-A7A0-4C5BFFAC0ABD}"/>
              </a:ext>
            </a:extLst>
          </p:cNvPr>
          <p:cNvSpPr/>
          <p:nvPr/>
        </p:nvSpPr>
        <p:spPr>
          <a:xfrm>
            <a:off x="7833621" y="4488614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A8870B3-76B0-490D-9A8E-88A122FCDDCB}"/>
              </a:ext>
            </a:extLst>
          </p:cNvPr>
          <p:cNvSpPr txBox="1"/>
          <p:nvPr/>
        </p:nvSpPr>
        <p:spPr>
          <a:xfrm>
            <a:off x="7264285" y="3440788"/>
            <a:ext cx="1059785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원고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丁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소제기</a:t>
            </a:r>
          </a:p>
        </p:txBody>
      </p: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9A9AA8B0-F785-4B00-A138-640F3ABD042C}"/>
              </a:ext>
            </a:extLst>
          </p:cNvPr>
          <p:cNvCxnSpPr>
            <a:cxnSpLocks/>
            <a:stCxn id="72" idx="2"/>
            <a:endCxn id="71" idx="0"/>
          </p:cNvCxnSpPr>
          <p:nvPr/>
        </p:nvCxnSpPr>
        <p:spPr>
          <a:xfrm rot="16200000" flipH="1">
            <a:off x="7559504" y="4137127"/>
            <a:ext cx="586161" cy="116812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타원 73">
            <a:extLst>
              <a:ext uri="{FF2B5EF4-FFF2-40B4-BE49-F238E27FC236}">
                <a16:creationId xmlns:a16="http://schemas.microsoft.com/office/drawing/2014/main" id="{56F87F6E-67F6-44AB-AA7D-E93EE4AA08F4}"/>
              </a:ext>
            </a:extLst>
          </p:cNvPr>
          <p:cNvSpPr/>
          <p:nvPr/>
        </p:nvSpPr>
        <p:spPr>
          <a:xfrm>
            <a:off x="9064802" y="4488614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9C26916-2D59-4BA2-ADED-17944F6CDA36}"/>
              </a:ext>
            </a:extLst>
          </p:cNvPr>
          <p:cNvSpPr txBox="1"/>
          <p:nvPr/>
        </p:nvSpPr>
        <p:spPr>
          <a:xfrm>
            <a:off x="8849142" y="4994072"/>
            <a:ext cx="751632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기각판결</a:t>
            </a:r>
          </a:p>
        </p:txBody>
      </p: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D6D0686A-E3C9-4939-B0AA-BD635A1420AD}"/>
              </a:ext>
            </a:extLst>
          </p:cNvPr>
          <p:cNvCxnSpPr>
            <a:cxnSpLocks/>
            <a:stCxn id="75" idx="0"/>
            <a:endCxn id="74" idx="4"/>
          </p:cNvCxnSpPr>
          <p:nvPr/>
        </p:nvCxnSpPr>
        <p:spPr>
          <a:xfrm rot="16200000" flipV="1">
            <a:off x="9011505" y="4780618"/>
            <a:ext cx="344120" cy="82787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타원 77">
            <a:extLst>
              <a:ext uri="{FF2B5EF4-FFF2-40B4-BE49-F238E27FC236}">
                <a16:creationId xmlns:a16="http://schemas.microsoft.com/office/drawing/2014/main" id="{3F6224EB-9327-4FDF-A844-06DA9E8EEC5F}"/>
              </a:ext>
            </a:extLst>
          </p:cNvPr>
          <p:cNvSpPr/>
          <p:nvPr/>
        </p:nvSpPr>
        <p:spPr>
          <a:xfrm>
            <a:off x="9515802" y="4488614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01DA923-1069-4817-9B85-3AAAFCCE4B17}"/>
              </a:ext>
            </a:extLst>
          </p:cNvPr>
          <p:cNvSpPr txBox="1"/>
          <p:nvPr/>
        </p:nvSpPr>
        <p:spPr>
          <a:xfrm>
            <a:off x="9351903" y="3440788"/>
            <a:ext cx="1059785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원고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丁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상고</a:t>
            </a:r>
          </a:p>
        </p:txBody>
      </p:sp>
      <p:cxnSp>
        <p:nvCxnSpPr>
          <p:cNvPr id="81" name="연결선: 꺾임 80">
            <a:extLst>
              <a:ext uri="{FF2B5EF4-FFF2-40B4-BE49-F238E27FC236}">
                <a16:creationId xmlns:a16="http://schemas.microsoft.com/office/drawing/2014/main" id="{7058E585-DFDA-4C5E-B219-C439FE590D21}"/>
              </a:ext>
            </a:extLst>
          </p:cNvPr>
          <p:cNvCxnSpPr>
            <a:cxnSpLocks/>
            <a:stCxn id="80" idx="2"/>
            <a:endCxn id="78" idx="0"/>
          </p:cNvCxnSpPr>
          <p:nvPr/>
        </p:nvCxnSpPr>
        <p:spPr>
          <a:xfrm rot="5400000">
            <a:off x="9444404" y="4051221"/>
            <a:ext cx="586161" cy="28862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타원 81">
            <a:extLst>
              <a:ext uri="{FF2B5EF4-FFF2-40B4-BE49-F238E27FC236}">
                <a16:creationId xmlns:a16="http://schemas.microsoft.com/office/drawing/2014/main" id="{196C4D4C-BB4E-410C-A57F-6D1F451965F5}"/>
              </a:ext>
            </a:extLst>
          </p:cNvPr>
          <p:cNvSpPr/>
          <p:nvPr/>
        </p:nvSpPr>
        <p:spPr>
          <a:xfrm>
            <a:off x="8222215" y="4488614"/>
            <a:ext cx="154738" cy="16133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14442E4-5A95-4FDB-AFC2-3DFEF7E7895B}"/>
              </a:ext>
            </a:extLst>
          </p:cNvPr>
          <p:cNvSpPr txBox="1"/>
          <p:nvPr/>
        </p:nvSpPr>
        <p:spPr>
          <a:xfrm>
            <a:off x="8006555" y="4994072"/>
            <a:ext cx="751632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보조참가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신청</a:t>
            </a:r>
          </a:p>
        </p:txBody>
      </p:sp>
      <p:cxnSp>
        <p:nvCxnSpPr>
          <p:cNvPr id="92" name="연결선: 꺾임 91">
            <a:extLst>
              <a:ext uri="{FF2B5EF4-FFF2-40B4-BE49-F238E27FC236}">
                <a16:creationId xmlns:a16="http://schemas.microsoft.com/office/drawing/2014/main" id="{94D69269-5CFA-473A-BF40-AEF121BD588F}"/>
              </a:ext>
            </a:extLst>
          </p:cNvPr>
          <p:cNvCxnSpPr>
            <a:cxnSpLocks/>
            <a:stCxn id="88" idx="0"/>
            <a:endCxn id="82" idx="4"/>
          </p:cNvCxnSpPr>
          <p:nvPr/>
        </p:nvCxnSpPr>
        <p:spPr>
          <a:xfrm rot="16200000" flipV="1">
            <a:off x="8168918" y="4780618"/>
            <a:ext cx="344120" cy="82787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F3D0C1F-FE7F-47E3-AA0E-DF5972CAB440}"/>
              </a:ext>
            </a:extLst>
          </p:cNvPr>
          <p:cNvSpPr/>
          <p:nvPr/>
        </p:nvSpPr>
        <p:spPr>
          <a:xfrm>
            <a:off x="3291494" y="5491057"/>
            <a:ext cx="889226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/>
              <a:t>특정 소송사건에서 한쪽 당사자를 보조하기 위하여 보조참가를 하려면 그 소송의 결과에 대하여 이해관계가 있어야 한다</a:t>
            </a:r>
            <a:r>
              <a:rPr lang="en-US" altLang="ko-KR" sz="1200" dirty="0"/>
              <a:t>. </a:t>
            </a:r>
            <a:r>
              <a:rPr lang="ko-KR" altLang="en-US" sz="1200" dirty="0"/>
              <a:t>여기서 이해관계라고 함은 </a:t>
            </a:r>
            <a:r>
              <a:rPr lang="ko-KR" altLang="en-US" sz="1200" dirty="0" err="1"/>
              <a:t>사실상ㆍ경제상</a:t>
            </a:r>
            <a:r>
              <a:rPr lang="ko-KR" altLang="en-US" sz="1200" dirty="0"/>
              <a:t> 또는 감정상의 이해관계가 아니라 법률상의 이해관계를 말하는 것으로</a:t>
            </a:r>
            <a:r>
              <a:rPr lang="en-US" altLang="ko-KR" sz="1200" dirty="0"/>
              <a:t>, </a:t>
            </a:r>
            <a:r>
              <a:rPr lang="ko-KR" altLang="en-US" sz="1200" dirty="0"/>
              <a:t>그 소송의 판결의 </a:t>
            </a:r>
            <a:r>
              <a:rPr lang="ko-KR" altLang="en-US" sz="1200" dirty="0" err="1"/>
              <a:t>기판력이나</a:t>
            </a:r>
            <a:r>
              <a:rPr lang="ko-KR" altLang="en-US" sz="1200" dirty="0"/>
              <a:t> 집행력을 당연히 받는 경우 또는 적어도 그 판결을 전제로 하여 보조참가를 하려는 자의 법률상의 지위가 결정되는 관계에 있는 경우를 의미한다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2017. 6. 22.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2014</a:t>
            </a:r>
            <a:r>
              <a:rPr lang="ko-KR" altLang="en-US" sz="1200" dirty="0"/>
              <a:t>다</a:t>
            </a:r>
            <a:r>
              <a:rPr lang="en-US" altLang="ko-KR" sz="1200" dirty="0"/>
              <a:t>225809 </a:t>
            </a:r>
            <a:r>
              <a:rPr lang="ko-KR" altLang="en-US" sz="1200" dirty="0"/>
              <a:t>전원합의체 판결</a:t>
            </a:r>
            <a:r>
              <a:rPr lang="en-US" altLang="ko-KR" sz="1200" dirty="0"/>
              <a:t>, 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2007. 4. 26.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2005</a:t>
            </a:r>
            <a:r>
              <a:rPr lang="ko-KR" altLang="en-US" sz="1200" dirty="0"/>
              <a:t>다</a:t>
            </a:r>
            <a:r>
              <a:rPr lang="en-US" altLang="ko-KR" sz="1200" dirty="0"/>
              <a:t>19156 </a:t>
            </a:r>
            <a:r>
              <a:rPr lang="ko-KR" altLang="en-US" sz="1200" dirty="0"/>
              <a:t>판결 등 참조</a:t>
            </a:r>
            <a:r>
              <a:rPr lang="en-US" altLang="ko-KR" sz="1200" dirty="0"/>
              <a:t>).</a:t>
            </a:r>
          </a:p>
          <a:p>
            <a:r>
              <a:rPr lang="ko-KR" altLang="en-US" sz="1200" dirty="0" err="1"/>
              <a:t>살피건대</a:t>
            </a:r>
            <a:r>
              <a:rPr lang="en-US" altLang="ko-KR" sz="1200" dirty="0"/>
              <a:t>, </a:t>
            </a:r>
            <a:r>
              <a:rPr lang="ko-KR" altLang="en-US" sz="1200" dirty="0"/>
              <a:t>뒤에서 보는 바와 같이 피고보조참가인은 이 사건 특허발명에 관한 특허를 출원할 권리를 적법하게 승계한 자로서 이 사건 소송에서 이 사건 특허발명이 무권리자에 의한 출원으로 인정되어 그 특허가 무효가 될 경우 자신 명의로 이 사건 특허발명을 출원하여 특허를 </a:t>
            </a:r>
            <a:r>
              <a:rPr lang="ko-KR" altLang="en-US" sz="1200" dirty="0" err="1"/>
              <a:t>등록받을</a:t>
            </a:r>
            <a:r>
              <a:rPr lang="ko-KR" altLang="en-US" sz="1200" dirty="0"/>
              <a:t> 수 있는 지위에 있다고 인정되므로</a:t>
            </a:r>
            <a:r>
              <a:rPr lang="en-US" altLang="ko-KR" sz="1200" dirty="0"/>
              <a:t>, </a:t>
            </a:r>
            <a:r>
              <a:rPr lang="ko-KR" altLang="en-US" sz="1200" dirty="0"/>
              <a:t>이 사건 소송의 결과에 대하여 법률상 이해관계가 있다고 할 것이다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8630A9-6382-49F9-B082-F36F519BE7E5}"/>
              </a:ext>
            </a:extLst>
          </p:cNvPr>
          <p:cNvSpPr txBox="1"/>
          <p:nvPr/>
        </p:nvSpPr>
        <p:spPr>
          <a:xfrm>
            <a:off x="289226" y="5789349"/>
            <a:ext cx="2901808" cy="92333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현재는 특허를 받을 수 있는 권리를 가진 丙만이 무효심판청구 가능</a:t>
            </a:r>
          </a:p>
        </p:txBody>
      </p:sp>
    </p:spTree>
    <p:extLst>
      <p:ext uri="{BB962C8B-B14F-4D97-AF65-F5344CB8AC3E}">
        <p14:creationId xmlns:p14="http://schemas.microsoft.com/office/powerpoint/2010/main" val="23325665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38</a:t>
            </a:r>
            <a:r>
              <a:rPr lang="ko-KR" altLang="en-US" dirty="0"/>
              <a:t>조 제</a:t>
            </a:r>
            <a:r>
              <a:rPr lang="en-US" altLang="ko-KR" dirty="0"/>
              <a:t>1</a:t>
            </a:r>
            <a:r>
              <a:rPr lang="ko-KR" altLang="en-US" dirty="0"/>
              <a:t>항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분리탑재형 발전기의</a:t>
            </a:r>
            <a:r>
              <a:rPr lang="en-US" altLang="ko-KR" dirty="0"/>
              <a:t> CASE</a:t>
            </a:r>
            <a:endParaRPr lang="ko-KR" altLang="en-US" dirty="0"/>
          </a:p>
        </p:txBody>
      </p:sp>
      <p:sp>
        <p:nvSpPr>
          <p:cNvPr id="38" name="슬라이드 번호 개체 틀 1">
            <a:extLst>
              <a:ext uri="{FF2B5EF4-FFF2-40B4-BE49-F238E27FC236}">
                <a16:creationId xmlns:a16="http://schemas.microsoft.com/office/drawing/2014/main" id="{0F75A23A-7A3E-48BF-8C01-2171501A137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112</a:t>
            </a:fld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439CAB7-A0DD-4B52-B97C-8449DEFC839A}"/>
              </a:ext>
            </a:extLst>
          </p:cNvPr>
          <p:cNvSpPr txBox="1"/>
          <p:nvPr/>
        </p:nvSpPr>
        <p:spPr>
          <a:xfrm>
            <a:off x="2188131" y="2432653"/>
            <a:ext cx="468498" cy="40862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병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52AAB2-5201-4304-BC2A-8E53B3DCA00F}"/>
              </a:ext>
            </a:extLst>
          </p:cNvPr>
          <p:cNvSpPr txBox="1"/>
          <p:nvPr/>
        </p:nvSpPr>
        <p:spPr>
          <a:xfrm>
            <a:off x="2188842" y="4382222"/>
            <a:ext cx="470850" cy="40862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정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8F322C9-2035-4206-BDD4-5F340BF7CF73}"/>
              </a:ext>
            </a:extLst>
          </p:cNvPr>
          <p:cNvSpPr txBox="1"/>
          <p:nvPr/>
        </p:nvSpPr>
        <p:spPr>
          <a:xfrm>
            <a:off x="454934" y="3338426"/>
            <a:ext cx="470850" cy="40862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갑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13DA43A0-333E-4EE1-9661-1A07AA9CBD60}"/>
              </a:ext>
            </a:extLst>
          </p:cNvPr>
          <p:cNvCxnSpPr>
            <a:cxnSpLocks/>
          </p:cNvCxnSpPr>
          <p:nvPr/>
        </p:nvCxnSpPr>
        <p:spPr>
          <a:xfrm flipV="1">
            <a:off x="1068026" y="2636965"/>
            <a:ext cx="978572" cy="90577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782202D-74F0-403B-94BF-C94A52817D1D}"/>
              </a:ext>
            </a:extLst>
          </p:cNvPr>
          <p:cNvSpPr txBox="1"/>
          <p:nvPr/>
        </p:nvSpPr>
        <p:spPr>
          <a:xfrm>
            <a:off x="868807" y="2632709"/>
            <a:ext cx="13019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1. </a:t>
            </a:r>
            <a:r>
              <a:rPr lang="ko-KR" altLang="en-US" sz="1600" dirty="0"/>
              <a:t>양도</a:t>
            </a:r>
            <a:endParaRPr lang="en-US" altLang="ko-KR" sz="1600" dirty="0"/>
          </a:p>
          <a:p>
            <a:r>
              <a:rPr lang="en-US" altLang="ko-KR" sz="1600" dirty="0"/>
              <a:t>(</a:t>
            </a:r>
            <a:r>
              <a:rPr lang="ko-KR" altLang="en-US" sz="1600" dirty="0" err="1"/>
              <a:t>출원전</a:t>
            </a:r>
            <a:r>
              <a:rPr lang="ko-KR" altLang="en-US" sz="1600" dirty="0"/>
              <a:t> 승계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0E7861E0-E3B2-42B8-9121-6D63D501DC70}"/>
              </a:ext>
            </a:extLst>
          </p:cNvPr>
          <p:cNvCxnSpPr>
            <a:cxnSpLocks/>
          </p:cNvCxnSpPr>
          <p:nvPr/>
        </p:nvCxnSpPr>
        <p:spPr>
          <a:xfrm>
            <a:off x="1068026" y="3542738"/>
            <a:ext cx="978573" cy="104379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2FAF416F-8CC3-46C8-99AC-EFC5873F9924}"/>
              </a:ext>
            </a:extLst>
          </p:cNvPr>
          <p:cNvSpPr txBox="1"/>
          <p:nvPr/>
        </p:nvSpPr>
        <p:spPr>
          <a:xfrm>
            <a:off x="951450" y="3800739"/>
            <a:ext cx="13019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2. </a:t>
            </a:r>
            <a:r>
              <a:rPr lang="ko-KR" altLang="en-US" sz="1600" dirty="0"/>
              <a:t>양도</a:t>
            </a:r>
            <a:endParaRPr lang="en-US" altLang="ko-KR" sz="1600" dirty="0"/>
          </a:p>
          <a:p>
            <a:r>
              <a:rPr lang="en-US" altLang="ko-KR" sz="1600" dirty="0"/>
              <a:t>(</a:t>
            </a:r>
            <a:r>
              <a:rPr lang="ko-KR" altLang="en-US" sz="1600" dirty="0" err="1"/>
              <a:t>출원전</a:t>
            </a:r>
            <a:r>
              <a:rPr lang="ko-KR" altLang="en-US" sz="1600" dirty="0"/>
              <a:t> 승계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F4F9CBF-F984-48CD-B65A-77863187FB6A}"/>
              </a:ext>
            </a:extLst>
          </p:cNvPr>
          <p:cNvSpPr txBox="1"/>
          <p:nvPr/>
        </p:nvSpPr>
        <p:spPr>
          <a:xfrm>
            <a:off x="2310230" y="4852947"/>
            <a:ext cx="782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3. </a:t>
            </a:r>
            <a:r>
              <a:rPr lang="ko-KR" altLang="en-US" sz="1600" dirty="0"/>
              <a:t>출원</a:t>
            </a: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63BE3F51-F81E-4DA7-99E0-9BAE042BD24F}"/>
              </a:ext>
            </a:extLst>
          </p:cNvPr>
          <p:cNvCxnSpPr>
            <a:cxnSpLocks/>
          </p:cNvCxnSpPr>
          <p:nvPr/>
        </p:nvCxnSpPr>
        <p:spPr>
          <a:xfrm>
            <a:off x="6107506" y="1075676"/>
            <a:ext cx="0" cy="577969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56199DC-97D5-40B7-9AAE-1234AE4B0201}"/>
              </a:ext>
            </a:extLst>
          </p:cNvPr>
          <p:cNvSpPr/>
          <p:nvPr/>
        </p:nvSpPr>
        <p:spPr>
          <a:xfrm>
            <a:off x="198828" y="1273489"/>
            <a:ext cx="2651095" cy="30295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bIns="0">
            <a:spAutoFit/>
          </a:bodyPr>
          <a:lstStyle/>
          <a:p>
            <a:r>
              <a:rPr lang="ko-KR" altLang="en-US" sz="1400" dirty="0"/>
              <a:t>특허법 제</a:t>
            </a:r>
            <a:r>
              <a:rPr lang="en-US" altLang="ko-KR" sz="1400" dirty="0"/>
              <a:t>38</a:t>
            </a:r>
            <a:r>
              <a:rPr lang="ko-KR" altLang="en-US" sz="1400" dirty="0"/>
              <a:t>조 제</a:t>
            </a:r>
            <a:r>
              <a:rPr lang="en-US" altLang="ko-KR" sz="1400" dirty="0"/>
              <a:t>1</a:t>
            </a:r>
            <a:r>
              <a:rPr lang="ko-KR" altLang="en-US" sz="1400" dirty="0"/>
              <a:t>항 적용 </a:t>
            </a:r>
            <a:r>
              <a:rPr lang="en-US" altLang="ko-KR" sz="1400" dirty="0"/>
              <a:t>CASE</a:t>
            </a:r>
            <a:endParaRPr lang="ko-KR" altLang="en-US" sz="1400" dirty="0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3E817E42-661E-428D-BFED-55542CEC4C94}"/>
              </a:ext>
            </a:extLst>
          </p:cNvPr>
          <p:cNvSpPr/>
          <p:nvPr/>
        </p:nvSpPr>
        <p:spPr>
          <a:xfrm>
            <a:off x="6617353" y="1273489"/>
            <a:ext cx="4765205" cy="30295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bIns="0">
            <a:spAutoFit/>
          </a:bodyPr>
          <a:lstStyle/>
          <a:p>
            <a:r>
              <a:rPr lang="ko-KR" altLang="en-US" sz="1400" dirty="0"/>
              <a:t>대법원 </a:t>
            </a:r>
            <a:r>
              <a:rPr lang="en-US" altLang="ko-KR" sz="1400" dirty="0"/>
              <a:t>2020. 5. 14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2020</a:t>
            </a:r>
            <a:r>
              <a:rPr lang="ko-KR" altLang="en-US" sz="1400" dirty="0"/>
              <a:t>후</a:t>
            </a:r>
            <a:r>
              <a:rPr lang="en-US" altLang="ko-KR" sz="1400" dirty="0"/>
              <a:t>10087 </a:t>
            </a:r>
            <a:r>
              <a:rPr lang="ko-KR" altLang="en-US" sz="1400" dirty="0"/>
              <a:t>판결 </a:t>
            </a:r>
            <a:r>
              <a:rPr lang="en-US" altLang="ko-KR" sz="1400" dirty="0"/>
              <a:t>[</a:t>
            </a:r>
            <a:r>
              <a:rPr lang="ko-KR" altLang="en-US" sz="1400" dirty="0"/>
              <a:t>등록무효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)]</a:t>
            </a:r>
            <a:endParaRPr lang="ko-KR" altLang="en-US" sz="1400" dirty="0"/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99BA7B2C-BF58-476C-919E-1F5A3EEE9AD7}"/>
              </a:ext>
            </a:extLst>
          </p:cNvPr>
          <p:cNvCxnSpPr>
            <a:cxnSpLocks/>
            <a:endCxn id="45" idx="3"/>
          </p:cNvCxnSpPr>
          <p:nvPr/>
        </p:nvCxnSpPr>
        <p:spPr>
          <a:xfrm rot="16200000" flipH="1">
            <a:off x="1668407" y="3595249"/>
            <a:ext cx="1745258" cy="237312"/>
          </a:xfrm>
          <a:prstGeom prst="bentConnector4">
            <a:avLst>
              <a:gd name="adj1" fmla="val 44147"/>
              <a:gd name="adj2" fmla="val 276603"/>
            </a:avLst>
          </a:prstGeom>
          <a:ln w="762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CA1E752B-0F6D-4BD8-9ADE-8DF664CA2D47}"/>
              </a:ext>
            </a:extLst>
          </p:cNvPr>
          <p:cNvSpPr txBox="1"/>
          <p:nvPr/>
        </p:nvSpPr>
        <p:spPr>
          <a:xfrm>
            <a:off x="198828" y="1626450"/>
            <a:ext cx="5822407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tx2"/>
                </a:solidFill>
              </a:rPr>
              <a:t>특허출원 전에 이루어진 특허를 받을 수 있는 권리의 승계는 그 승계인이 특허출원을 하여야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자에게 대항할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E3764FD-51D7-423E-9A2F-4D588F4BECE3}"/>
              </a:ext>
            </a:extLst>
          </p:cNvPr>
          <p:cNvSpPr txBox="1"/>
          <p:nvPr/>
        </p:nvSpPr>
        <p:spPr>
          <a:xfrm>
            <a:off x="2768247" y="2871796"/>
            <a:ext cx="32944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병이</a:t>
            </a:r>
            <a:r>
              <a:rPr lang="en-US" altLang="ko-KR" sz="16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</a:t>
            </a:r>
            <a:r>
              <a:rPr lang="ko-KR" altLang="en-US" sz="16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출원하지 않았기 때문에 제</a:t>
            </a:r>
            <a:r>
              <a:rPr lang="en-US" altLang="ko-KR" sz="16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6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자인</a:t>
            </a:r>
            <a:endParaRPr lang="en-US" altLang="ko-KR" sz="1600" dirty="0">
              <a:solidFill>
                <a:schemeClr val="accent3">
                  <a:lumMod val="50000"/>
                </a:schemeClr>
              </a:solidFill>
              <a:highlight>
                <a:srgbClr val="FFFF00"/>
              </a:highlight>
            </a:endParaRPr>
          </a:p>
          <a:p>
            <a:r>
              <a:rPr lang="ko-KR" altLang="en-US" sz="16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정에게 양도의 효력을 주장하지 못함 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8229F80-1550-4812-9B07-DFA3A9DED2B4}"/>
              </a:ext>
            </a:extLst>
          </p:cNvPr>
          <p:cNvSpPr txBox="1"/>
          <p:nvPr/>
        </p:nvSpPr>
        <p:spPr>
          <a:xfrm>
            <a:off x="3667447" y="5564311"/>
            <a:ext cx="2046585" cy="769441"/>
          </a:xfrm>
          <a:prstGeom prst="wedgeRectCallout">
            <a:avLst>
              <a:gd name="adj1" fmla="val -89829"/>
              <a:gd name="adj2" fmla="val -163776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제</a:t>
            </a:r>
            <a:r>
              <a:rPr lang="en-US" altLang="ko-KR" sz="1100" dirty="0">
                <a:solidFill>
                  <a:srgbClr val="FF0000"/>
                </a:solidFill>
              </a:rPr>
              <a:t>38</a:t>
            </a:r>
            <a:r>
              <a:rPr lang="ko-KR" altLang="en-US" sz="1100" dirty="0">
                <a:solidFill>
                  <a:srgbClr val="FF0000"/>
                </a:solidFill>
              </a:rPr>
              <a:t>조제</a:t>
            </a:r>
            <a:r>
              <a:rPr lang="en-US" altLang="ko-KR" sz="1100" dirty="0">
                <a:solidFill>
                  <a:srgbClr val="FF0000"/>
                </a:solidFill>
              </a:rPr>
              <a:t>1</a:t>
            </a:r>
            <a:r>
              <a:rPr lang="ko-KR" altLang="en-US" sz="1100" dirty="0">
                <a:solidFill>
                  <a:srgbClr val="FF0000"/>
                </a:solidFill>
              </a:rPr>
              <a:t>항의 제</a:t>
            </a:r>
            <a:r>
              <a:rPr lang="en-US" altLang="ko-KR" sz="1100" dirty="0">
                <a:solidFill>
                  <a:srgbClr val="FF0000"/>
                </a:solidFill>
              </a:rPr>
              <a:t>3</a:t>
            </a:r>
            <a:r>
              <a:rPr lang="ko-KR" altLang="en-US" sz="1100" dirty="0">
                <a:solidFill>
                  <a:srgbClr val="FF0000"/>
                </a:solidFill>
              </a:rPr>
              <a:t>자 인정</a:t>
            </a:r>
            <a:r>
              <a:rPr lang="en-US" altLang="ko-KR" sz="1100" dirty="0">
                <a:solidFill>
                  <a:srgbClr val="FF0000"/>
                </a:solidFill>
              </a:rPr>
              <a:t>:</a:t>
            </a:r>
          </a:p>
          <a:p>
            <a:r>
              <a:rPr lang="ko-KR" altLang="en-US" sz="1100" dirty="0">
                <a:solidFill>
                  <a:srgbClr val="FF0000"/>
                </a:solidFill>
              </a:rPr>
              <a:t>특허를 받을 수 있는 권리에 관하여 승계인의 지위와 양립할 수 없는 법률상 지위를 취득한 사람</a:t>
            </a:r>
            <a:endParaRPr lang="ko-KR" altLang="en-US" sz="11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AB95E8E-507B-4A56-B164-B344277CDDC6}"/>
              </a:ext>
            </a:extLst>
          </p:cNvPr>
          <p:cNvSpPr txBox="1"/>
          <p:nvPr/>
        </p:nvSpPr>
        <p:spPr>
          <a:xfrm>
            <a:off x="8130001" y="1915072"/>
            <a:ext cx="470848" cy="40862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병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0F021D1-C29C-4F50-B018-3A07E6AA0C59}"/>
              </a:ext>
            </a:extLst>
          </p:cNvPr>
          <p:cNvSpPr txBox="1"/>
          <p:nvPr/>
        </p:nvSpPr>
        <p:spPr>
          <a:xfrm>
            <a:off x="8130003" y="3864641"/>
            <a:ext cx="470850" cy="40862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정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F6A9FC1-A552-4DB0-B491-06ACD5E1ADED}"/>
              </a:ext>
            </a:extLst>
          </p:cNvPr>
          <p:cNvSpPr txBox="1"/>
          <p:nvPr/>
        </p:nvSpPr>
        <p:spPr>
          <a:xfrm>
            <a:off x="6396095" y="2820845"/>
            <a:ext cx="470850" cy="40862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갑</a:t>
            </a: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BF626377-BFDB-470B-8407-78B719335BAC}"/>
              </a:ext>
            </a:extLst>
          </p:cNvPr>
          <p:cNvCxnSpPr>
            <a:cxnSpLocks/>
          </p:cNvCxnSpPr>
          <p:nvPr/>
        </p:nvCxnSpPr>
        <p:spPr>
          <a:xfrm flipV="1">
            <a:off x="7009187" y="2119384"/>
            <a:ext cx="978572" cy="90577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16BE2A72-AB5E-4AA6-8251-80EFF5CDCA97}"/>
              </a:ext>
            </a:extLst>
          </p:cNvPr>
          <p:cNvSpPr txBox="1"/>
          <p:nvPr/>
        </p:nvSpPr>
        <p:spPr>
          <a:xfrm>
            <a:off x="6872813" y="2123127"/>
            <a:ext cx="13019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1. </a:t>
            </a:r>
            <a:r>
              <a:rPr lang="ko-KR" altLang="en-US" sz="1600" dirty="0"/>
              <a:t>양도</a:t>
            </a:r>
            <a:endParaRPr lang="en-US" altLang="ko-KR" sz="1600" dirty="0"/>
          </a:p>
          <a:p>
            <a:r>
              <a:rPr lang="en-US" altLang="ko-KR" sz="1600" dirty="0"/>
              <a:t>(</a:t>
            </a:r>
            <a:r>
              <a:rPr lang="ko-KR" altLang="en-US" sz="1600" dirty="0" err="1"/>
              <a:t>출원전</a:t>
            </a:r>
            <a:r>
              <a:rPr lang="ko-KR" altLang="en-US" sz="1600" dirty="0"/>
              <a:t> 승계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8973BAA5-78B7-41FF-BAC0-2D4043F69EEA}"/>
              </a:ext>
            </a:extLst>
          </p:cNvPr>
          <p:cNvCxnSpPr>
            <a:cxnSpLocks/>
          </p:cNvCxnSpPr>
          <p:nvPr/>
        </p:nvCxnSpPr>
        <p:spPr>
          <a:xfrm>
            <a:off x="7009187" y="3025157"/>
            <a:ext cx="978573" cy="104379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7ECB4053-5F03-4DF5-B02E-9AD131911868}"/>
              </a:ext>
            </a:extLst>
          </p:cNvPr>
          <p:cNvSpPr txBox="1"/>
          <p:nvPr/>
        </p:nvSpPr>
        <p:spPr>
          <a:xfrm>
            <a:off x="7107179" y="3871661"/>
            <a:ext cx="782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3. </a:t>
            </a:r>
            <a:r>
              <a:rPr lang="ko-KR" altLang="en-US" sz="1600" dirty="0"/>
              <a:t>양도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29B9B48-D0AA-4E71-8A4F-D0623400E415}"/>
              </a:ext>
            </a:extLst>
          </p:cNvPr>
          <p:cNvSpPr txBox="1"/>
          <p:nvPr/>
        </p:nvSpPr>
        <p:spPr>
          <a:xfrm>
            <a:off x="6141175" y="3235498"/>
            <a:ext cx="13933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2. </a:t>
            </a:r>
            <a:r>
              <a:rPr lang="ko-KR" altLang="en-US" sz="1600" dirty="0" err="1"/>
              <a:t>출원후</a:t>
            </a:r>
            <a:r>
              <a:rPr lang="ko-KR" altLang="en-US" sz="1600" dirty="0"/>
              <a:t> 등록</a:t>
            </a:r>
          </a:p>
        </p:txBody>
      </p:sp>
      <p:cxnSp>
        <p:nvCxnSpPr>
          <p:cNvPr id="101" name="연결선: 꺾임 100">
            <a:extLst>
              <a:ext uri="{FF2B5EF4-FFF2-40B4-BE49-F238E27FC236}">
                <a16:creationId xmlns:a16="http://schemas.microsoft.com/office/drawing/2014/main" id="{7EBB987F-72F4-4A97-B8CC-1B843296DB82}"/>
              </a:ext>
            </a:extLst>
          </p:cNvPr>
          <p:cNvCxnSpPr>
            <a:cxnSpLocks/>
            <a:endCxn id="93" idx="3"/>
          </p:cNvCxnSpPr>
          <p:nvPr/>
        </p:nvCxnSpPr>
        <p:spPr>
          <a:xfrm rot="16200000" flipH="1">
            <a:off x="7610510" y="3078610"/>
            <a:ext cx="1745258" cy="235428"/>
          </a:xfrm>
          <a:prstGeom prst="bentConnector4">
            <a:avLst>
              <a:gd name="adj1" fmla="val 44147"/>
              <a:gd name="adj2" fmla="val 288805"/>
            </a:avLst>
          </a:prstGeom>
          <a:ln w="762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FCF8F045-0759-4DF9-90BE-0F7AE36FBA17}"/>
              </a:ext>
            </a:extLst>
          </p:cNvPr>
          <p:cNvSpPr txBox="1"/>
          <p:nvPr/>
        </p:nvSpPr>
        <p:spPr>
          <a:xfrm>
            <a:off x="8709408" y="2354215"/>
            <a:ext cx="3238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병이 양도에 의해 정당한 권리자라는 </a:t>
            </a:r>
            <a:endParaRPr lang="en-US" altLang="ko-KR" sz="1600" dirty="0">
              <a:solidFill>
                <a:schemeClr val="accent3">
                  <a:lumMod val="50000"/>
                </a:schemeClr>
              </a:solidFill>
              <a:highlight>
                <a:srgbClr val="FFFF00"/>
              </a:highlight>
            </a:endParaRPr>
          </a:p>
          <a:p>
            <a:r>
              <a:rPr lang="ko-KR" altLang="en-US" sz="16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것을 정에게 주장 가능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FBF242F-5264-40FA-ACA0-36916484B729}"/>
              </a:ext>
            </a:extLst>
          </p:cNvPr>
          <p:cNvSpPr txBox="1"/>
          <p:nvPr/>
        </p:nvSpPr>
        <p:spPr>
          <a:xfrm>
            <a:off x="9632035" y="4534621"/>
            <a:ext cx="2345627" cy="769441"/>
          </a:xfrm>
          <a:prstGeom prst="wedgeRectCallout">
            <a:avLst>
              <a:gd name="adj1" fmla="val -93648"/>
              <a:gd name="adj2" fmla="val -95803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제</a:t>
            </a:r>
            <a:r>
              <a:rPr lang="en-US" altLang="ko-KR" sz="1100" dirty="0">
                <a:solidFill>
                  <a:srgbClr val="FF0000"/>
                </a:solidFill>
              </a:rPr>
              <a:t>38</a:t>
            </a:r>
            <a:r>
              <a:rPr lang="ko-KR" altLang="en-US" sz="1100" dirty="0">
                <a:solidFill>
                  <a:srgbClr val="FF0000"/>
                </a:solidFill>
              </a:rPr>
              <a:t>조제</a:t>
            </a:r>
            <a:r>
              <a:rPr lang="en-US" altLang="ko-KR" sz="1100" dirty="0">
                <a:solidFill>
                  <a:srgbClr val="FF0000"/>
                </a:solidFill>
              </a:rPr>
              <a:t>1</a:t>
            </a:r>
            <a:r>
              <a:rPr lang="ko-KR" altLang="en-US" sz="1100" dirty="0">
                <a:solidFill>
                  <a:srgbClr val="FF0000"/>
                </a:solidFill>
              </a:rPr>
              <a:t>항의 제</a:t>
            </a:r>
            <a:r>
              <a:rPr lang="en-US" altLang="ko-KR" sz="1100" dirty="0">
                <a:solidFill>
                  <a:srgbClr val="FF0000"/>
                </a:solidFill>
              </a:rPr>
              <a:t>3</a:t>
            </a:r>
            <a:r>
              <a:rPr lang="ko-KR" altLang="en-US" sz="1100" dirty="0">
                <a:solidFill>
                  <a:srgbClr val="FF0000"/>
                </a:solidFill>
              </a:rPr>
              <a:t>자 불인정</a:t>
            </a:r>
            <a:r>
              <a:rPr lang="en-US" altLang="ko-KR" sz="1100" dirty="0">
                <a:solidFill>
                  <a:srgbClr val="FF0000"/>
                </a:solidFill>
              </a:rPr>
              <a:t>:</a:t>
            </a:r>
          </a:p>
          <a:p>
            <a:r>
              <a:rPr lang="ko-KR" altLang="en-US" sz="1100" dirty="0">
                <a:solidFill>
                  <a:srgbClr val="FF0000"/>
                </a:solidFill>
              </a:rPr>
              <a:t>특허를 받을 수 있는 권리에 관하여 승계인의 지위와 양립할 수 없는 법률상 지위를 취득하지 않은 사람</a:t>
            </a:r>
            <a:endParaRPr lang="ko-KR" altLang="en-US" sz="11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35D3DCC-BA19-4628-B4B1-2D77D292FE2F}"/>
              </a:ext>
            </a:extLst>
          </p:cNvPr>
          <p:cNvSpPr/>
          <p:nvPr/>
        </p:nvSpPr>
        <p:spPr>
          <a:xfrm>
            <a:off x="6471914" y="5398558"/>
            <a:ext cx="5505745" cy="112300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sz="1400" dirty="0" err="1">
                <a:solidFill>
                  <a:schemeClr val="tx2"/>
                </a:solidFill>
              </a:rPr>
              <a:t>등록후</a:t>
            </a:r>
            <a:r>
              <a:rPr lang="ko-KR" altLang="en-US" sz="1400" dirty="0">
                <a:solidFill>
                  <a:schemeClr val="tx2"/>
                </a:solidFill>
              </a:rPr>
              <a:t> 특허권의 </a:t>
            </a:r>
            <a:r>
              <a:rPr lang="ko-KR" altLang="en-US" sz="1400" dirty="0" err="1">
                <a:solidFill>
                  <a:schemeClr val="tx2"/>
                </a:solidFill>
              </a:rPr>
              <a:t>이전으로서</a:t>
            </a:r>
            <a:r>
              <a:rPr lang="ko-KR" altLang="en-US" sz="1400" dirty="0">
                <a:solidFill>
                  <a:schemeClr val="tx2"/>
                </a:solidFill>
              </a:rPr>
              <a:t> 특허를 받을 수 있는 권리의 이중양도가 </a:t>
            </a:r>
            <a:r>
              <a:rPr lang="ko-KR" altLang="en-US" sz="1400" dirty="0" err="1">
                <a:solidFill>
                  <a:schemeClr val="tx2"/>
                </a:solidFill>
              </a:rPr>
              <a:t>아니라서</a:t>
            </a:r>
            <a:r>
              <a:rPr lang="ko-KR" altLang="en-US" sz="1400" dirty="0">
                <a:solidFill>
                  <a:schemeClr val="tx2"/>
                </a:solidFill>
              </a:rPr>
              <a:t> 제</a:t>
            </a:r>
            <a:r>
              <a:rPr lang="en-US" altLang="ko-KR" sz="1400" dirty="0">
                <a:solidFill>
                  <a:schemeClr val="tx2"/>
                </a:solidFill>
              </a:rPr>
              <a:t>38</a:t>
            </a:r>
            <a:r>
              <a:rPr lang="ko-KR" altLang="en-US" sz="1400" dirty="0">
                <a:solidFill>
                  <a:schemeClr val="tx2"/>
                </a:solidFill>
              </a:rPr>
              <a:t>조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항의 적용 사안이라고 할 수 없음</a:t>
            </a:r>
            <a:endParaRPr lang="en-US" altLang="ko-KR" sz="1400" dirty="0">
              <a:solidFill>
                <a:schemeClr val="tx2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400" dirty="0">
                <a:solidFill>
                  <a:schemeClr val="tx2"/>
                </a:solidFill>
              </a:rPr>
              <a:t>특허를 받을 수 있는 권리의 양도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양수의 당사자인 양도인은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자에 포함되지 않음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B0DAA4-AD2E-4ADD-B7A7-82FDFC6EC2FC}"/>
              </a:ext>
            </a:extLst>
          </p:cNvPr>
          <p:cNvSpPr txBox="1"/>
          <p:nvPr/>
        </p:nvSpPr>
        <p:spPr>
          <a:xfrm>
            <a:off x="3667447" y="800010"/>
            <a:ext cx="2046585" cy="769441"/>
          </a:xfrm>
          <a:prstGeom prst="wedgeRectCallout">
            <a:avLst>
              <a:gd name="adj1" fmla="val -106979"/>
              <a:gd name="adj2" fmla="val 89508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특허를 받을 수 있는 권리에 관하여 양립할 수 없는 법률상 지위를 취득한 사람 사이에서 우열을 결정하는 의미</a:t>
            </a:r>
            <a:endParaRPr lang="ko-KR" altLang="en-US" sz="11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8203E73-24CB-422F-BB49-0FFB378DC13C}"/>
              </a:ext>
            </a:extLst>
          </p:cNvPr>
          <p:cNvSpPr/>
          <p:nvPr/>
        </p:nvSpPr>
        <p:spPr>
          <a:xfrm>
            <a:off x="2129722" y="1872817"/>
            <a:ext cx="329602" cy="2645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5E7C09-68D0-4B0D-A54F-3EEA7C6DEBED}"/>
              </a:ext>
            </a:extLst>
          </p:cNvPr>
          <p:cNvSpPr txBox="1"/>
          <p:nvPr/>
        </p:nvSpPr>
        <p:spPr>
          <a:xfrm>
            <a:off x="6255222" y="4534621"/>
            <a:ext cx="2345627" cy="769441"/>
          </a:xfrm>
          <a:prstGeom prst="wedgeRectCallout">
            <a:avLst>
              <a:gd name="adj1" fmla="val -37204"/>
              <a:gd name="adj2" fmla="val -178743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제</a:t>
            </a:r>
            <a:r>
              <a:rPr lang="en-US" altLang="ko-KR" sz="1100" dirty="0">
                <a:solidFill>
                  <a:srgbClr val="FF0000"/>
                </a:solidFill>
              </a:rPr>
              <a:t>38</a:t>
            </a:r>
            <a:r>
              <a:rPr lang="ko-KR" altLang="en-US" sz="1100" dirty="0">
                <a:solidFill>
                  <a:srgbClr val="FF0000"/>
                </a:solidFill>
              </a:rPr>
              <a:t>조제</a:t>
            </a:r>
            <a:r>
              <a:rPr lang="en-US" altLang="ko-KR" sz="1100" dirty="0">
                <a:solidFill>
                  <a:srgbClr val="FF0000"/>
                </a:solidFill>
              </a:rPr>
              <a:t>1</a:t>
            </a:r>
            <a:r>
              <a:rPr lang="ko-KR" altLang="en-US" sz="1100" dirty="0">
                <a:solidFill>
                  <a:srgbClr val="FF0000"/>
                </a:solidFill>
              </a:rPr>
              <a:t>항의 제</a:t>
            </a:r>
            <a:r>
              <a:rPr lang="en-US" altLang="ko-KR" sz="1100" dirty="0">
                <a:solidFill>
                  <a:srgbClr val="FF0000"/>
                </a:solidFill>
              </a:rPr>
              <a:t>3</a:t>
            </a:r>
            <a:r>
              <a:rPr lang="ko-KR" altLang="en-US" sz="1100" dirty="0">
                <a:solidFill>
                  <a:srgbClr val="FF0000"/>
                </a:solidFill>
              </a:rPr>
              <a:t>자 불인정</a:t>
            </a:r>
            <a:r>
              <a:rPr lang="en-US" altLang="ko-KR" sz="1100" dirty="0">
                <a:solidFill>
                  <a:srgbClr val="FF0000"/>
                </a:solidFill>
              </a:rPr>
              <a:t>:</a:t>
            </a:r>
          </a:p>
          <a:p>
            <a:r>
              <a:rPr lang="ko-KR" altLang="en-US" sz="1100" dirty="0">
                <a:solidFill>
                  <a:srgbClr val="FF0000"/>
                </a:solidFill>
              </a:rPr>
              <a:t>특허를 받을 수 있는 권리에 관하여 승계인의 지위와 양립할 수 없는 법률상 지위를 취득하지 않은 사람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00529243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직무발명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직무발명의 필요성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113</a:t>
            </a:fld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97A3D7-0E8E-4AB9-A707-558984B8C033}"/>
              </a:ext>
            </a:extLst>
          </p:cNvPr>
          <p:cNvSpPr txBox="1"/>
          <p:nvPr/>
        </p:nvSpPr>
        <p:spPr>
          <a:xfrm>
            <a:off x="304302" y="1600959"/>
            <a:ext cx="4343898" cy="10230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just"/>
            <a:r>
              <a:rPr lang="ko-KR" altLang="en-US" sz="1400" dirty="0">
                <a:solidFill>
                  <a:prstClr val="white">
                    <a:lumMod val="50000"/>
                  </a:prstClr>
                </a:solidFill>
              </a:rPr>
              <a:t>연구개발투자와 시설 등을 제공한 사용자와 창조적인 노력으로 발명을 완성한 종업원의 합리적인 이익 조정으로 상호 </a:t>
            </a:r>
            <a:r>
              <a:rPr lang="en-US" altLang="ko-KR" sz="1400" dirty="0">
                <a:solidFill>
                  <a:prstClr val="white">
                    <a:lumMod val="50000"/>
                  </a:prstClr>
                </a:solidFill>
              </a:rPr>
              <a:t>Win-Win</a:t>
            </a:r>
            <a:r>
              <a:rPr lang="ko-KR" altLang="en-US" sz="1400" dirty="0">
                <a:solidFill>
                  <a:prstClr val="white">
                    <a:lumMod val="50000"/>
                  </a:prstClr>
                </a:solidFill>
              </a:rPr>
              <a:t>할 수 있는 구도가 직무발명제도의 기본 전제이자 작동원리</a:t>
            </a:r>
          </a:p>
        </p:txBody>
      </p:sp>
      <p:sp>
        <p:nvSpPr>
          <p:cNvPr id="32" name="Text Box 4">
            <a:extLst>
              <a:ext uri="{FF2B5EF4-FFF2-40B4-BE49-F238E27FC236}">
                <a16:creationId xmlns:a16="http://schemas.microsoft.com/office/drawing/2014/main" id="{A81D4840-0330-49E7-B4CF-44E48F9FD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39045" y="1789238"/>
            <a:ext cx="1181305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ko-KR" altLang="en-US" sz="1100" dirty="0">
                <a:solidFill>
                  <a:prstClr val="black"/>
                </a:solidFill>
                <a:latin typeface="Rix모던명조 M" panose="02020603020101020101" pitchFamily="18" charset="-127"/>
              </a:rPr>
              <a:t>연구의욕 고취</a:t>
            </a: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913EEE06-50AA-4557-9EB5-2770FF2A3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83" y="1765690"/>
            <a:ext cx="918046" cy="3970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100" dirty="0">
                <a:solidFill>
                  <a:prstClr val="black"/>
                </a:solidFill>
                <a:latin typeface="Rix모던명조 M" panose="02020603020101020101" pitchFamily="18" charset="-127"/>
              </a:rPr>
              <a:t>지속적인 </a:t>
            </a:r>
            <a:endParaRPr lang="en-US" altLang="ko-KR" sz="1100" dirty="0">
              <a:solidFill>
                <a:prstClr val="black"/>
              </a:solidFill>
              <a:latin typeface="Rix모던명조 M" panose="02020603020101020101" pitchFamily="18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1100" dirty="0">
                <a:solidFill>
                  <a:prstClr val="black"/>
                </a:solidFill>
                <a:latin typeface="Rix모던명조 M" panose="02020603020101020101" pitchFamily="18" charset="-127"/>
              </a:rPr>
              <a:t>R&amp;D</a:t>
            </a:r>
            <a:r>
              <a:rPr lang="ko-KR" altLang="en-US" sz="1100" dirty="0">
                <a:solidFill>
                  <a:prstClr val="black"/>
                </a:solidFill>
                <a:latin typeface="Rix모던명조 M" panose="02020603020101020101" pitchFamily="18" charset="-127"/>
              </a:rPr>
              <a:t>투자</a:t>
            </a:r>
          </a:p>
        </p:txBody>
      </p:sp>
      <p:sp>
        <p:nvSpPr>
          <p:cNvPr id="33" name="Text Box 5">
            <a:extLst>
              <a:ext uri="{FF2B5EF4-FFF2-40B4-BE49-F238E27FC236}">
                <a16:creationId xmlns:a16="http://schemas.microsoft.com/office/drawing/2014/main" id="{C232A39C-0FFB-46EF-B413-B0DB03C62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0229" y="2315626"/>
            <a:ext cx="150445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1600" b="1" i="1" dirty="0">
                <a:solidFill>
                  <a:srgbClr val="FF0000"/>
                </a:solidFill>
                <a:latin typeface="Rix모던명조 M" panose="02020603020101020101" pitchFamily="18" charset="-127"/>
              </a:rPr>
              <a:t>R&amp;D  </a:t>
            </a:r>
            <a:r>
              <a:rPr lang="ko-KR" altLang="en-US" sz="1600" b="1" i="1" dirty="0">
                <a:solidFill>
                  <a:srgbClr val="FF0000"/>
                </a:solidFill>
                <a:latin typeface="Rix모던명조 M" panose="02020603020101020101" pitchFamily="18" charset="-127"/>
              </a:rPr>
              <a:t>선순환 </a:t>
            </a:r>
          </a:p>
        </p:txBody>
      </p:sp>
      <p:sp>
        <p:nvSpPr>
          <p:cNvPr id="34" name="Rectangle 6">
            <a:extLst>
              <a:ext uri="{FF2B5EF4-FFF2-40B4-BE49-F238E27FC236}">
                <a16:creationId xmlns:a16="http://schemas.microsoft.com/office/drawing/2014/main" id="{DD4F1921-F8B7-4838-A24C-6DC7477E5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6478" y="3120465"/>
            <a:ext cx="1259148" cy="2446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100" dirty="0">
                <a:solidFill>
                  <a:prstClr val="black"/>
                </a:solidFill>
                <a:latin typeface="Rix모던명조 M" panose="02020603020101020101" pitchFamily="18" charset="-127"/>
              </a:rPr>
              <a:t> </a:t>
            </a:r>
            <a:r>
              <a:rPr lang="ko-KR" altLang="en-US" sz="1100" dirty="0">
                <a:solidFill>
                  <a:prstClr val="black"/>
                </a:solidFill>
                <a:latin typeface="Rix모던명조 M" panose="02020603020101020101" pitchFamily="18" charset="-127"/>
              </a:rPr>
              <a:t>발명의 권리화</a:t>
            </a:r>
          </a:p>
        </p:txBody>
      </p:sp>
      <p:sp>
        <p:nvSpPr>
          <p:cNvPr id="57" name="Oval 10">
            <a:extLst>
              <a:ext uri="{FF2B5EF4-FFF2-40B4-BE49-F238E27FC236}">
                <a16:creationId xmlns:a16="http://schemas.microsoft.com/office/drawing/2014/main" id="{3CE0D44C-4195-4445-B834-D64166ABF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6783" y="947902"/>
            <a:ext cx="763477" cy="758932"/>
          </a:xfrm>
          <a:prstGeom prst="ellipse">
            <a:avLst/>
          </a:prstGeom>
          <a:solidFill>
            <a:schemeClr val="accent5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altLang="ko-KR" sz="1100" dirty="0">
              <a:solidFill>
                <a:srgbClr val="FFFFFF"/>
              </a:solidFill>
              <a:latin typeface="Rix모던명조 M" panose="02020603020101020101" pitchFamily="18" charset="-127"/>
            </a:endParaRPr>
          </a:p>
          <a:p>
            <a:endParaRPr lang="en-US" altLang="ko-KR" sz="1100" dirty="0">
              <a:solidFill>
                <a:srgbClr val="FFFFFF"/>
              </a:solidFill>
              <a:latin typeface="Rix모던명조 M" panose="02020603020101020101" pitchFamily="18" charset="-127"/>
            </a:endParaRPr>
          </a:p>
          <a:p>
            <a:endParaRPr lang="en-US" altLang="ko-KR" sz="1100" dirty="0">
              <a:solidFill>
                <a:srgbClr val="000000"/>
              </a:solidFill>
              <a:latin typeface="Rix모던명조 M" panose="02020603020101020101" pitchFamily="18" charset="-127"/>
            </a:endParaRPr>
          </a:p>
        </p:txBody>
      </p:sp>
      <p:sp>
        <p:nvSpPr>
          <p:cNvPr id="54" name="Text Box 13">
            <a:extLst>
              <a:ext uri="{FF2B5EF4-FFF2-40B4-BE49-F238E27FC236}">
                <a16:creationId xmlns:a16="http://schemas.microsoft.com/office/drawing/2014/main" id="{CACD02F9-3605-4B6D-BF62-B94D699E5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0151" y="1154644"/>
            <a:ext cx="426669" cy="36933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ko-KR" altLang="en-US" sz="1200" dirty="0">
                <a:solidFill>
                  <a:prstClr val="white"/>
                </a:solidFill>
                <a:latin typeface="Rix모던명조 M" panose="02020603020101020101" pitchFamily="18" charset="-127"/>
              </a:rPr>
              <a:t>정당한 보상</a:t>
            </a:r>
          </a:p>
        </p:txBody>
      </p:sp>
      <p:sp>
        <p:nvSpPr>
          <p:cNvPr id="51" name="Oval 17">
            <a:extLst>
              <a:ext uri="{FF2B5EF4-FFF2-40B4-BE49-F238E27FC236}">
                <a16:creationId xmlns:a16="http://schemas.microsoft.com/office/drawing/2014/main" id="{F6C85B30-11CF-4486-A343-2C8FD1165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45412" y="2626584"/>
            <a:ext cx="740294" cy="706300"/>
          </a:xfrm>
          <a:prstGeom prst="ellips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ko-KR" altLang="ko-KR" sz="1100" dirty="0">
              <a:solidFill>
                <a:srgbClr val="000000"/>
              </a:solidFill>
              <a:latin typeface="Rix모던명조 M" panose="02020603020101020101" pitchFamily="18" charset="-127"/>
            </a:endParaRPr>
          </a:p>
        </p:txBody>
      </p:sp>
      <p:sp>
        <p:nvSpPr>
          <p:cNvPr id="48" name="Text Box 20">
            <a:extLst>
              <a:ext uri="{FF2B5EF4-FFF2-40B4-BE49-F238E27FC236}">
                <a16:creationId xmlns:a16="http://schemas.microsoft.com/office/drawing/2014/main" id="{CFC5BE1F-B75F-4FF8-8398-67EE52BFC6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6395" y="2801943"/>
            <a:ext cx="698327" cy="36933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ko-KR" altLang="en-US" sz="1200" dirty="0">
                <a:solidFill>
                  <a:prstClr val="white"/>
                </a:solidFill>
                <a:latin typeface="Rix모던명조 M" panose="02020603020101020101" pitchFamily="18" charset="-127"/>
              </a:rPr>
              <a:t>우수발명</a:t>
            </a:r>
            <a:endParaRPr lang="en-US" altLang="ko-KR" sz="1200" dirty="0">
              <a:solidFill>
                <a:prstClr val="white"/>
              </a:solidFill>
              <a:latin typeface="Rix모던명조 M" panose="02020603020101020101" pitchFamily="18" charset="-127"/>
            </a:endParaRPr>
          </a:p>
          <a:p>
            <a:pPr algn="ctr"/>
            <a:r>
              <a:rPr lang="ko-KR" altLang="en-US" sz="1200" dirty="0">
                <a:solidFill>
                  <a:prstClr val="white"/>
                </a:solidFill>
                <a:latin typeface="Rix모던명조 M" panose="02020603020101020101" pitchFamily="18" charset="-127"/>
              </a:rPr>
              <a:t>창출</a:t>
            </a:r>
          </a:p>
        </p:txBody>
      </p:sp>
      <p:sp>
        <p:nvSpPr>
          <p:cNvPr id="45" name="Oval 24">
            <a:extLst>
              <a:ext uri="{FF2B5EF4-FFF2-40B4-BE49-F238E27FC236}">
                <a16:creationId xmlns:a16="http://schemas.microsoft.com/office/drawing/2014/main" id="{D76C17AB-7E67-4AFF-A5ED-1AFEB1C3E5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6589" y="2607230"/>
            <a:ext cx="686374" cy="707899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altLang="ko-KR" sz="1100" dirty="0">
              <a:solidFill>
                <a:srgbClr val="FFFFFF"/>
              </a:solidFill>
              <a:latin typeface="Rix모던명조 M" panose="02020603020101020101" pitchFamily="18" charset="-127"/>
            </a:endParaRPr>
          </a:p>
          <a:p>
            <a:endParaRPr lang="en-US" altLang="ko-KR" sz="1100" dirty="0">
              <a:solidFill>
                <a:srgbClr val="000000"/>
              </a:solidFill>
              <a:latin typeface="Rix모던명조 M" panose="02020603020101020101" pitchFamily="18" charset="-127"/>
            </a:endParaRPr>
          </a:p>
        </p:txBody>
      </p:sp>
      <p:sp>
        <p:nvSpPr>
          <p:cNvPr id="42" name="Text Box 27">
            <a:extLst>
              <a:ext uri="{FF2B5EF4-FFF2-40B4-BE49-F238E27FC236}">
                <a16:creationId xmlns:a16="http://schemas.microsoft.com/office/drawing/2014/main" id="{D8974F44-332F-4909-B665-1D5B9A4A9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4083" y="2809299"/>
            <a:ext cx="824988" cy="36933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ko-KR" altLang="en-US" sz="1200" dirty="0">
                <a:solidFill>
                  <a:prstClr val="white"/>
                </a:solidFill>
                <a:latin typeface="Rix모던명조 M" panose="02020603020101020101" pitchFamily="18" charset="-127"/>
              </a:rPr>
              <a:t>이익</a:t>
            </a:r>
          </a:p>
          <a:p>
            <a:pPr algn="ctr"/>
            <a:r>
              <a:rPr lang="ko-KR" altLang="en-US" sz="1200" dirty="0">
                <a:solidFill>
                  <a:prstClr val="white"/>
                </a:solidFill>
                <a:latin typeface="Rix모던명조 M" panose="02020603020101020101" pitchFamily="18" charset="-127"/>
              </a:rPr>
              <a:t>증대</a:t>
            </a:r>
          </a:p>
        </p:txBody>
      </p:sp>
      <p:sp>
        <p:nvSpPr>
          <p:cNvPr id="38" name="AutoShape 28">
            <a:extLst>
              <a:ext uri="{FF2B5EF4-FFF2-40B4-BE49-F238E27FC236}">
                <a16:creationId xmlns:a16="http://schemas.microsoft.com/office/drawing/2014/main" id="{CD2B7764-9141-4F02-AC9B-7593D1580C95}"/>
              </a:ext>
            </a:extLst>
          </p:cNvPr>
          <p:cNvSpPr>
            <a:spLocks noChangeArrowheads="1"/>
          </p:cNvSpPr>
          <p:nvPr/>
        </p:nvSpPr>
        <p:spPr bwMode="auto">
          <a:xfrm rot="3028264">
            <a:off x="8692193" y="1942326"/>
            <a:ext cx="1046623" cy="340267"/>
          </a:xfrm>
          <a:prstGeom prst="rightArrow">
            <a:avLst>
              <a:gd name="adj1" fmla="val 56269"/>
              <a:gd name="adj2" fmla="val 112126"/>
            </a:avLst>
          </a:prstGeom>
          <a:solidFill>
            <a:schemeClr val="accent3">
              <a:lumMod val="20000"/>
              <a:lumOff val="80000"/>
            </a:schemeClr>
          </a:solidFill>
          <a:ln w="38100" cmpd="dbl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 sz="1400" dirty="0">
              <a:solidFill>
                <a:prstClr val="black"/>
              </a:solidFill>
              <a:latin typeface="Rix모던명조 M" panose="02020603020101020101" pitchFamily="18" charset="-127"/>
            </a:endParaRPr>
          </a:p>
        </p:txBody>
      </p:sp>
      <p:sp>
        <p:nvSpPr>
          <p:cNvPr id="39" name="AutoShape 29">
            <a:extLst>
              <a:ext uri="{FF2B5EF4-FFF2-40B4-BE49-F238E27FC236}">
                <a16:creationId xmlns:a16="http://schemas.microsoft.com/office/drawing/2014/main" id="{148CCD5A-BEFF-46E7-8978-9BAD00AF7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7221" y="2786389"/>
            <a:ext cx="1504452" cy="399080"/>
          </a:xfrm>
          <a:prstGeom prst="leftArrow">
            <a:avLst>
              <a:gd name="adj1" fmla="val 50000"/>
              <a:gd name="adj2" fmla="val 96832"/>
            </a:avLst>
          </a:prstGeom>
          <a:solidFill>
            <a:schemeClr val="accent3">
              <a:lumMod val="20000"/>
              <a:lumOff val="80000"/>
            </a:schemeClr>
          </a:solidFill>
          <a:ln w="38100" cmpd="dbl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 sz="1400" dirty="0">
              <a:solidFill>
                <a:prstClr val="black"/>
              </a:solidFill>
              <a:latin typeface="Rix모던명조 M" panose="02020603020101020101" pitchFamily="18" charset="-127"/>
            </a:endParaRPr>
          </a:p>
        </p:txBody>
      </p:sp>
      <p:sp>
        <p:nvSpPr>
          <p:cNvPr id="40" name="AutoShape 30">
            <a:extLst>
              <a:ext uri="{FF2B5EF4-FFF2-40B4-BE49-F238E27FC236}">
                <a16:creationId xmlns:a16="http://schemas.microsoft.com/office/drawing/2014/main" id="{D862C650-643A-4087-9478-2CAAE9555EA6}"/>
              </a:ext>
            </a:extLst>
          </p:cNvPr>
          <p:cNvSpPr>
            <a:spLocks noChangeArrowheads="1"/>
          </p:cNvSpPr>
          <p:nvPr/>
        </p:nvSpPr>
        <p:spPr bwMode="auto">
          <a:xfrm rot="18676126">
            <a:off x="7283494" y="1845253"/>
            <a:ext cx="1047722" cy="436569"/>
          </a:xfrm>
          <a:prstGeom prst="rightArrow">
            <a:avLst>
              <a:gd name="adj1" fmla="val 50000"/>
              <a:gd name="adj2" fmla="val 58395"/>
            </a:avLst>
          </a:prstGeom>
          <a:solidFill>
            <a:schemeClr val="accent3">
              <a:lumMod val="20000"/>
              <a:lumOff val="80000"/>
            </a:schemeClr>
          </a:solidFill>
          <a:ln w="38100" cmpd="dbl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 sz="1400" dirty="0">
              <a:solidFill>
                <a:prstClr val="black"/>
              </a:solidFill>
              <a:latin typeface="Rix모던명조 M" panose="02020603020101020101" pitchFamily="18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832EE1D-B676-4EED-9CC8-F16284180741}"/>
              </a:ext>
            </a:extLst>
          </p:cNvPr>
          <p:cNvSpPr txBox="1"/>
          <p:nvPr/>
        </p:nvSpPr>
        <p:spPr>
          <a:xfrm>
            <a:off x="337260" y="4146632"/>
            <a:ext cx="4310940" cy="11695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400" dirty="0">
                <a:solidFill>
                  <a:prstClr val="white">
                    <a:lumMod val="50000"/>
                  </a:prstClr>
                </a:solidFill>
              </a:rPr>
              <a:t>기술이 고도로 복잡화 및 다양화됨에 따라 기존의 기술</a:t>
            </a:r>
            <a:r>
              <a:rPr lang="en-US" altLang="ko-KR" sz="1400" dirty="0">
                <a:solidFill>
                  <a:prstClr val="white">
                    <a:lumMod val="50000"/>
                  </a:prstClr>
                </a:solidFill>
              </a:rPr>
              <a:t>(prior art)</a:t>
            </a:r>
            <a:r>
              <a:rPr lang="ko-KR" altLang="en-US" sz="1400" dirty="0">
                <a:solidFill>
                  <a:prstClr val="white">
                    <a:lumMod val="50000"/>
                  </a:prstClr>
                </a:solidFill>
              </a:rPr>
              <a:t>을 뛰어 넘는 새로운 기술의 개발은 대규모 연구시설과 인력 및 막대한 연구비의 </a:t>
            </a:r>
            <a:r>
              <a:rPr lang="ko-KR" altLang="en-US" sz="1400" dirty="0" err="1">
                <a:solidFill>
                  <a:prstClr val="white">
                    <a:lumMod val="50000"/>
                  </a:prstClr>
                </a:solidFill>
              </a:rPr>
              <a:t>지원없이는</a:t>
            </a:r>
            <a:r>
              <a:rPr lang="ko-KR" altLang="en-US" sz="1400" dirty="0">
                <a:solidFill>
                  <a:prstClr val="white">
                    <a:lumMod val="50000"/>
                  </a:prstClr>
                </a:solidFill>
              </a:rPr>
              <a:t> 사실상 불가능하게 됨</a:t>
            </a:r>
            <a:r>
              <a:rPr lang="en-US" altLang="ko-KR" sz="1400" dirty="0">
                <a:solidFill>
                  <a:prstClr val="white">
                    <a:lumMod val="50000"/>
                  </a:prstClr>
                </a:solidFill>
              </a:rPr>
              <a:t>. </a:t>
            </a:r>
            <a:r>
              <a:rPr lang="ko-KR" altLang="en-US" sz="1400" dirty="0">
                <a:solidFill>
                  <a:prstClr val="white">
                    <a:lumMod val="50000"/>
                  </a:prstClr>
                </a:solidFill>
              </a:rPr>
              <a:t>그 결과 기업체</a:t>
            </a:r>
            <a:r>
              <a:rPr lang="en-US" altLang="ko-KR" sz="1400" dirty="0">
                <a:solidFill>
                  <a:prstClr val="white">
                    <a:lumMod val="50000"/>
                  </a:prstClr>
                </a:solidFill>
              </a:rPr>
              <a:t>, </a:t>
            </a:r>
            <a:r>
              <a:rPr lang="ko-KR" altLang="en-US" sz="1400" dirty="0">
                <a:solidFill>
                  <a:prstClr val="white">
                    <a:lumMod val="50000"/>
                  </a:prstClr>
                </a:solidFill>
              </a:rPr>
              <a:t>연구소 및 대학 등에 의한 직무발명의 비중이 갈수록 높아지고 있음</a:t>
            </a:r>
          </a:p>
        </p:txBody>
      </p:sp>
      <p:graphicFrame>
        <p:nvGraphicFramePr>
          <p:cNvPr id="60" name="Group 131">
            <a:extLst>
              <a:ext uri="{FF2B5EF4-FFF2-40B4-BE49-F238E27FC236}">
                <a16:creationId xmlns:a16="http://schemas.microsoft.com/office/drawing/2014/main" id="{A97BA65E-B34A-4920-8A78-D6C78C2521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7592612"/>
              </p:ext>
            </p:extLst>
          </p:nvPr>
        </p:nvGraphicFramePr>
        <p:xfrm>
          <a:off x="4894217" y="4143376"/>
          <a:ext cx="6853644" cy="147185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169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0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0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10500">
                  <a:extLst>
                    <a:ext uri="{9D8B030D-6E8A-4147-A177-3AD203B41FA5}">
                      <a16:colId xmlns:a16="http://schemas.microsoft.com/office/drawing/2014/main" val="3965333382"/>
                    </a:ext>
                  </a:extLst>
                </a:gridCol>
                <a:gridCol w="710500">
                  <a:extLst>
                    <a:ext uri="{9D8B030D-6E8A-4147-A177-3AD203B41FA5}">
                      <a16:colId xmlns:a16="http://schemas.microsoft.com/office/drawing/2014/main" val="646776974"/>
                    </a:ext>
                  </a:extLst>
                </a:gridCol>
                <a:gridCol w="710500">
                  <a:extLst>
                    <a:ext uri="{9D8B030D-6E8A-4147-A177-3AD203B41FA5}">
                      <a16:colId xmlns:a16="http://schemas.microsoft.com/office/drawing/2014/main" val="2139306465"/>
                    </a:ext>
                  </a:extLst>
                </a:gridCol>
                <a:gridCol w="710500">
                  <a:extLst>
                    <a:ext uri="{9D8B030D-6E8A-4147-A177-3AD203B41FA5}">
                      <a16:colId xmlns:a16="http://schemas.microsoft.com/office/drawing/2014/main" val="1438454979"/>
                    </a:ext>
                  </a:extLst>
                </a:gridCol>
              </a:tblGrid>
              <a:tr h="5969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          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구분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연도    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1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개인발명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건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41,972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40,878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41,671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42,487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44,552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44,696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42,043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36,049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1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직무발명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건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171,722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167,952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163,104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167,505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174,423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182,063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195,955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201,584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2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합계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건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213,694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208,830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204,775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209,992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218,975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226,759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237,998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237,633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2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직무발명 비중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(%)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80.36%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80.43%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79.65%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79.77%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79.65%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80.29%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82.33%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84.83%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1" name="TextBox 60">
            <a:extLst>
              <a:ext uri="{FF2B5EF4-FFF2-40B4-BE49-F238E27FC236}">
                <a16:creationId xmlns:a16="http://schemas.microsoft.com/office/drawing/2014/main" id="{1BFEFE71-1031-4818-B071-B449BB0A68CC}"/>
              </a:ext>
            </a:extLst>
          </p:cNvPr>
          <p:cNvSpPr txBox="1"/>
          <p:nvPr/>
        </p:nvSpPr>
        <p:spPr>
          <a:xfrm>
            <a:off x="4894217" y="5723364"/>
            <a:ext cx="66030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</a:rPr>
              <a:t>* </a:t>
            </a:r>
            <a:r>
              <a:rPr lang="ko-KR" altLang="en-US" sz="1200" dirty="0">
                <a:solidFill>
                  <a:prstClr val="black"/>
                </a:solidFill>
              </a:rPr>
              <a:t>특허출원건수를 기준으로 하였으며</a:t>
            </a:r>
            <a:r>
              <a:rPr lang="en-US" altLang="ko-KR" sz="1200" dirty="0">
                <a:solidFill>
                  <a:prstClr val="black"/>
                </a:solidFill>
              </a:rPr>
              <a:t>, </a:t>
            </a:r>
            <a:r>
              <a:rPr lang="ko-KR" altLang="en-US" sz="1200" dirty="0">
                <a:solidFill>
                  <a:prstClr val="black"/>
                </a:solidFill>
              </a:rPr>
              <a:t>개인발명</a:t>
            </a:r>
            <a:r>
              <a:rPr lang="en-US" altLang="ko-KR" sz="1200" dirty="0">
                <a:solidFill>
                  <a:prstClr val="black"/>
                </a:solidFill>
              </a:rPr>
              <a:t>(</a:t>
            </a:r>
            <a:r>
              <a:rPr lang="ko-KR" altLang="en-US" sz="1200" dirty="0">
                <a:solidFill>
                  <a:prstClr val="black"/>
                </a:solidFill>
              </a:rPr>
              <a:t>건</a:t>
            </a:r>
            <a:r>
              <a:rPr lang="en-US" altLang="ko-KR" sz="1200" dirty="0">
                <a:solidFill>
                  <a:prstClr val="black"/>
                </a:solidFill>
              </a:rPr>
              <a:t>)</a:t>
            </a:r>
            <a:r>
              <a:rPr lang="ko-KR" altLang="en-US" sz="1200" dirty="0">
                <a:solidFill>
                  <a:prstClr val="black"/>
                </a:solidFill>
              </a:rPr>
              <a:t>은 개인출원</a:t>
            </a:r>
            <a:r>
              <a:rPr lang="en-US" altLang="ko-KR" sz="1200" dirty="0">
                <a:solidFill>
                  <a:prstClr val="black"/>
                </a:solidFill>
              </a:rPr>
              <a:t>, </a:t>
            </a:r>
            <a:r>
              <a:rPr lang="ko-KR" altLang="en-US" sz="1200" dirty="0">
                <a:solidFill>
                  <a:prstClr val="black"/>
                </a:solidFill>
              </a:rPr>
              <a:t>직무발명</a:t>
            </a:r>
            <a:r>
              <a:rPr lang="en-US" altLang="ko-KR" sz="1200" dirty="0">
                <a:solidFill>
                  <a:prstClr val="black"/>
                </a:solidFill>
              </a:rPr>
              <a:t>(</a:t>
            </a:r>
            <a:r>
              <a:rPr lang="ko-KR" altLang="en-US" sz="1200" dirty="0">
                <a:solidFill>
                  <a:prstClr val="black"/>
                </a:solidFill>
              </a:rPr>
              <a:t>건</a:t>
            </a:r>
            <a:r>
              <a:rPr lang="en-US" altLang="ko-KR" sz="1200" dirty="0">
                <a:solidFill>
                  <a:prstClr val="black"/>
                </a:solidFill>
              </a:rPr>
              <a:t>)</a:t>
            </a:r>
            <a:r>
              <a:rPr lang="ko-KR" altLang="en-US" sz="1200" dirty="0">
                <a:solidFill>
                  <a:prstClr val="black"/>
                </a:solidFill>
              </a:rPr>
              <a:t>은 법인출원 건수를 의미함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B7C6AA5-B86E-4BF5-AF5C-0A8E9D9350FA}"/>
              </a:ext>
            </a:extLst>
          </p:cNvPr>
          <p:cNvCxnSpPr/>
          <p:nvPr/>
        </p:nvCxnSpPr>
        <p:spPr>
          <a:xfrm>
            <a:off x="304302" y="3667125"/>
            <a:ext cx="11550438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77579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직무발명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직무발명의 혜택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875" y="986046"/>
            <a:ext cx="11936323" cy="334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0" hangingPunct="0">
              <a:lnSpc>
                <a:spcPct val="120000"/>
              </a:lnSpc>
              <a:spcAft>
                <a:spcPct val="30000"/>
              </a:spcAft>
              <a:buClr>
                <a:srgbClr val="1F497D">
                  <a:lumMod val="75000"/>
                </a:srgbClr>
              </a:buClr>
              <a:defRPr/>
            </a:pPr>
            <a:r>
              <a:rPr lang="ko-KR" altLang="en-US" sz="1400" dirty="0">
                <a:solidFill>
                  <a:prstClr val="black"/>
                </a:solidFill>
              </a:rPr>
              <a:t>직무발명제도 도입 기업에게는 직무발명보상금 지출비용에 대하여 세액공제 혜택이 주어지고</a:t>
            </a:r>
            <a:r>
              <a:rPr lang="en-US" altLang="ko-KR" sz="1400" dirty="0">
                <a:solidFill>
                  <a:prstClr val="black"/>
                </a:solidFill>
              </a:rPr>
              <a:t>, </a:t>
            </a:r>
            <a:r>
              <a:rPr lang="ko-KR" altLang="en-US" sz="1400" dirty="0">
                <a:solidFill>
                  <a:prstClr val="black"/>
                </a:solidFill>
              </a:rPr>
              <a:t>정부지원사업 대상자 선정 시에 인센티브가 부여됨</a:t>
            </a:r>
            <a:endParaRPr lang="ko-KR" altLang="en-US" sz="1400" kern="0" dirty="0">
              <a:solidFill>
                <a:prstClr val="black"/>
              </a:solidFill>
            </a:endParaRPr>
          </a:p>
        </p:txBody>
      </p:sp>
      <p:cxnSp>
        <p:nvCxnSpPr>
          <p:cNvPr id="25" name="직선 연결선 24"/>
          <p:cNvCxnSpPr/>
          <p:nvPr/>
        </p:nvCxnSpPr>
        <p:spPr>
          <a:xfrm>
            <a:off x="0" y="132049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114</a:t>
            </a:fld>
            <a:endParaRPr lang="ko-KR" altLang="en-US"/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833A38DD-5C45-4D27-B981-9FEB1D92F1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525628"/>
              </p:ext>
            </p:extLst>
          </p:nvPr>
        </p:nvGraphicFramePr>
        <p:xfrm>
          <a:off x="499170" y="1683795"/>
          <a:ext cx="11007030" cy="385370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954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52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08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항목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8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권리확보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en-US" altLang="ko-KR" sz="1200" b="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직무발명에 대한 합리적이고 안정적인 권리를 확보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3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세액공제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사용자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직무발명 보상금으로 지출한 금액에 대해서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연구개발비용으로 소득세 또는 법인세에서 세액공제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조세특례제한법 제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9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조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조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동법 시행령 제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조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발명자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사용자로부터 받는 보상금에 대하여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500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만원까지 비과세 혜택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소득세법 제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조 제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호 </a:t>
                      </a:r>
                      <a:r>
                        <a:rPr lang="ko-KR" altLang="en-US" sz="1200" b="0" dirty="0" err="1">
                          <a:latin typeface="+mn-ea"/>
                          <a:ea typeface="+mn-ea"/>
                        </a:rPr>
                        <a:t>라목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) 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85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지식재산처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*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민간 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IP-R&amp;D 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연계전략 지원사업</a:t>
                      </a:r>
                      <a:br>
                        <a:rPr lang="ko-KR" altLang="en-US" sz="1200" b="0" dirty="0">
                          <a:latin typeface="+mn-ea"/>
                          <a:ea typeface="+mn-ea"/>
                        </a:rPr>
                      </a:b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특허기술의 전략적 사업화 지원사업</a:t>
                      </a:r>
                      <a:br>
                        <a:rPr lang="ko-KR" altLang="en-US" sz="1200" b="0" dirty="0">
                          <a:latin typeface="+mn-ea"/>
                          <a:ea typeface="+mn-ea"/>
                        </a:rPr>
                      </a:b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지역지식재산 창출 지원사업 </a:t>
                      </a:r>
                      <a:endParaRPr lang="en-US" altLang="ko-KR" sz="1200" b="0" dirty="0"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특허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실용신안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디자인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우선심사대상</a:t>
                      </a:r>
                      <a:endParaRPr lang="en-US" altLang="ko-KR" sz="12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특허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실용신안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디자인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4~6</a:t>
                      </a:r>
                      <a:r>
                        <a:rPr lang="ko-KR" altLang="en-US" sz="1200" b="1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년차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등록료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20%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추가감면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2026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월말까지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1200" b="1" dirty="0">
                          <a:effectLst/>
                          <a:latin typeface="+mn-ea"/>
                          <a:ea typeface="+mn-ea"/>
                        </a:rPr>
                        <a:t>**</a:t>
                      </a:r>
                      <a:endParaRPr lang="ko-KR" altLang="en-US" sz="1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856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중소벤처기업부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*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중소기업 기술혁신 개발사업</a:t>
                      </a:r>
                      <a:br>
                        <a:rPr lang="ko-KR" altLang="en-US" sz="1200" b="0" dirty="0">
                          <a:latin typeface="+mn-ea"/>
                          <a:ea typeface="+mn-ea"/>
                        </a:rPr>
                      </a:b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융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복합기술 개발사업</a:t>
                      </a:r>
                      <a:br>
                        <a:rPr lang="ko-KR" altLang="en-US" sz="1200" b="0" dirty="0">
                          <a:latin typeface="+mn-ea"/>
                          <a:ea typeface="+mn-ea"/>
                        </a:rPr>
                      </a:b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b="0" dirty="0" err="1">
                          <a:latin typeface="+mn-ea"/>
                          <a:ea typeface="+mn-ea"/>
                        </a:rPr>
                        <a:t>상용화기술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 개발사업</a:t>
                      </a:r>
                      <a:br>
                        <a:rPr lang="ko-KR" altLang="en-US" sz="1200" b="0" dirty="0">
                          <a:latin typeface="+mn-ea"/>
                          <a:ea typeface="+mn-ea"/>
                        </a:rPr>
                      </a:b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창업성장기술 개발사업</a:t>
                      </a:r>
                      <a:br>
                        <a:rPr lang="ko-KR" altLang="en-US" sz="1200" b="0" dirty="0">
                          <a:latin typeface="+mn-ea"/>
                          <a:ea typeface="+mn-ea"/>
                        </a:rPr>
                      </a:b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제품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공정개선 기술개발 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1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과학기술정부통신부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*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SW 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공학기술 현장적용 지원사업</a:t>
                      </a:r>
                      <a:endParaRPr lang="en-US" altLang="ko-KR" sz="1200" b="0" dirty="0">
                        <a:latin typeface="+mn-ea"/>
                        <a:ea typeface="+mn-ea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모바일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융합 제품화 기술개발 및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R&amp;D</a:t>
                      </a: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역략강화사업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IT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중소기업 공통 애로 해소지원사업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E4194752-0FFE-4FEF-91D7-391D54523EA0}"/>
              </a:ext>
            </a:extLst>
          </p:cNvPr>
          <p:cNvSpPr txBox="1"/>
          <p:nvPr/>
        </p:nvSpPr>
        <p:spPr>
          <a:xfrm>
            <a:off x="432495" y="5553177"/>
            <a:ext cx="7622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</a:rPr>
              <a:t>* </a:t>
            </a:r>
            <a:r>
              <a:rPr lang="ko-KR" altLang="en-US" sz="1200" dirty="0">
                <a:solidFill>
                  <a:prstClr val="black"/>
                </a:solidFill>
              </a:rPr>
              <a:t>직무발명 보상 우수기업으로 인증된 경우에 한함</a:t>
            </a:r>
            <a:endParaRPr lang="en-US" altLang="ko-KR" sz="1200" dirty="0">
              <a:solidFill>
                <a:prstClr val="black"/>
              </a:solidFill>
            </a:endParaRPr>
          </a:p>
          <a:p>
            <a:r>
              <a:rPr lang="en-US" altLang="ko-KR" sz="1200" dirty="0">
                <a:solidFill>
                  <a:prstClr val="black"/>
                </a:solidFill>
              </a:rPr>
              <a:t>** </a:t>
            </a:r>
            <a:r>
              <a:rPr lang="ko-KR" altLang="en-US" sz="1200" dirty="0" err="1">
                <a:solidFill>
                  <a:prstClr val="black"/>
                </a:solidFill>
              </a:rPr>
              <a:t>청구항</a:t>
            </a:r>
            <a:r>
              <a:rPr lang="ko-KR" altLang="en-US" sz="1200" dirty="0">
                <a:solidFill>
                  <a:prstClr val="black"/>
                </a:solidFill>
              </a:rPr>
              <a:t> </a:t>
            </a:r>
            <a:r>
              <a:rPr lang="en-US" altLang="ko-KR" sz="1200" dirty="0">
                <a:solidFill>
                  <a:prstClr val="black"/>
                </a:solidFill>
              </a:rPr>
              <a:t>10</a:t>
            </a:r>
            <a:r>
              <a:rPr lang="ko-KR" altLang="en-US" sz="1200" dirty="0">
                <a:solidFill>
                  <a:prstClr val="black"/>
                </a:solidFill>
              </a:rPr>
              <a:t>항의 등록특허 </a:t>
            </a:r>
            <a:r>
              <a:rPr lang="en-US" altLang="ko-KR" sz="1200" dirty="0">
                <a:solidFill>
                  <a:prstClr val="black"/>
                </a:solidFill>
              </a:rPr>
              <a:t>1</a:t>
            </a:r>
            <a:r>
              <a:rPr lang="ko-KR" altLang="en-US" sz="1200" dirty="0">
                <a:solidFill>
                  <a:prstClr val="black"/>
                </a:solidFill>
              </a:rPr>
              <a:t>건의 </a:t>
            </a:r>
            <a:r>
              <a:rPr lang="en-US" altLang="ko-KR" sz="1200" dirty="0">
                <a:solidFill>
                  <a:prstClr val="black"/>
                </a:solidFill>
              </a:rPr>
              <a:t>4~6</a:t>
            </a:r>
            <a:r>
              <a:rPr lang="ko-KR" altLang="en-US" sz="1200" dirty="0" err="1">
                <a:solidFill>
                  <a:prstClr val="black"/>
                </a:solidFill>
              </a:rPr>
              <a:t>년차</a:t>
            </a:r>
            <a:r>
              <a:rPr lang="ko-KR" altLang="en-US" sz="1200" dirty="0">
                <a:solidFill>
                  <a:prstClr val="black"/>
                </a:solidFill>
              </a:rPr>
              <a:t> 등록료 </a:t>
            </a:r>
            <a:r>
              <a:rPr lang="ko-KR" altLang="en-US" sz="1200" dirty="0" err="1">
                <a:solidFill>
                  <a:prstClr val="black"/>
                </a:solidFill>
              </a:rPr>
              <a:t>감면금액</a:t>
            </a:r>
            <a:r>
              <a:rPr lang="ko-KR" altLang="en-US" sz="1200" dirty="0">
                <a:solidFill>
                  <a:prstClr val="black"/>
                </a:solidFill>
              </a:rPr>
              <a:t> </a:t>
            </a:r>
            <a:r>
              <a:rPr lang="en-US" altLang="ko-KR" sz="1200" dirty="0">
                <a:solidFill>
                  <a:prstClr val="black"/>
                </a:solidFill>
              </a:rPr>
              <a:t>370,500</a:t>
            </a:r>
            <a:r>
              <a:rPr lang="ko-KR" altLang="en-US" sz="1200" dirty="0">
                <a:solidFill>
                  <a:prstClr val="black"/>
                </a:solidFill>
              </a:rPr>
              <a:t>원</a:t>
            </a:r>
            <a:r>
              <a:rPr lang="en-US" altLang="ko-KR" sz="1200" dirty="0">
                <a:solidFill>
                  <a:prstClr val="black"/>
                </a:solidFill>
              </a:rPr>
              <a:t>(</a:t>
            </a:r>
            <a:r>
              <a:rPr lang="ko-KR" altLang="en-US" sz="1200" dirty="0">
                <a:solidFill>
                  <a:prstClr val="black"/>
                </a:solidFill>
              </a:rPr>
              <a:t>등록특허 </a:t>
            </a:r>
            <a:r>
              <a:rPr lang="en-US" altLang="ko-KR" sz="1200" dirty="0">
                <a:solidFill>
                  <a:prstClr val="black"/>
                </a:solidFill>
              </a:rPr>
              <a:t>100</a:t>
            </a:r>
            <a:r>
              <a:rPr lang="ko-KR" altLang="en-US" sz="1200" dirty="0">
                <a:solidFill>
                  <a:prstClr val="black"/>
                </a:solidFill>
              </a:rPr>
              <a:t>건은 </a:t>
            </a:r>
            <a:r>
              <a:rPr lang="en-US" altLang="ko-KR" sz="1200" dirty="0">
                <a:solidFill>
                  <a:prstClr val="black"/>
                </a:solidFill>
              </a:rPr>
              <a:t>37,050,000</a:t>
            </a:r>
            <a:r>
              <a:rPr lang="ko-KR" altLang="en-US" sz="1200" dirty="0">
                <a:solidFill>
                  <a:prstClr val="black"/>
                </a:solidFill>
              </a:rPr>
              <a:t>원 절감</a:t>
            </a:r>
            <a:r>
              <a:rPr lang="en-US" altLang="ko-KR" sz="1200" dirty="0">
                <a:solidFill>
                  <a:prstClr val="black"/>
                </a:solidFill>
              </a:rPr>
              <a:t>)</a:t>
            </a:r>
            <a:endParaRPr lang="ko-KR" altLang="en-US" sz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84187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직무발명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직무발명의 법률관계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13913" y="1283544"/>
            <a:ext cx="3429000" cy="3098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 fontAlgn="base"/>
            <a:r>
              <a:rPr lang="ko-KR" altLang="en-US" sz="4800" dirty="0">
                <a:solidFill>
                  <a:schemeClr val="accent1">
                    <a:lumMod val="50000"/>
                  </a:schemeClr>
                </a:solidFill>
              </a:rPr>
              <a:t>종업원 발명</a:t>
            </a:r>
          </a:p>
        </p:txBody>
      </p:sp>
      <p:cxnSp>
        <p:nvCxnSpPr>
          <p:cNvPr id="8" name="직선 연결선 7"/>
          <p:cNvCxnSpPr/>
          <p:nvPr/>
        </p:nvCxnSpPr>
        <p:spPr>
          <a:xfrm flipH="1">
            <a:off x="4494370" y="1849124"/>
            <a:ext cx="159173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 flipH="1">
            <a:off x="6314707" y="1849124"/>
            <a:ext cx="1083732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47266" y="2136962"/>
            <a:ext cx="1707519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민법의 고용관계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3496" y="2136962"/>
            <a:ext cx="809837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특허법</a:t>
            </a:r>
          </a:p>
        </p:txBody>
      </p:sp>
      <p:sp>
        <p:nvSpPr>
          <p:cNvPr id="13" name="아래쪽 화살표 12"/>
          <p:cNvSpPr/>
          <p:nvPr/>
        </p:nvSpPr>
        <p:spPr>
          <a:xfrm>
            <a:off x="4672195" y="2653430"/>
            <a:ext cx="677333" cy="406438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아래쪽 화살표 15"/>
          <p:cNvSpPr/>
          <p:nvPr/>
        </p:nvSpPr>
        <p:spPr>
          <a:xfrm>
            <a:off x="6939747" y="2653430"/>
            <a:ext cx="677333" cy="406438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4164200" y="3313821"/>
            <a:ext cx="170751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사용자에게 귀속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3541" y="3313821"/>
            <a:ext cx="170751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종업원에게 귀속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7449" y="3313821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vs</a:t>
            </a:r>
            <a:endParaRPr lang="ko-KR" altLang="en-US" dirty="0"/>
          </a:p>
        </p:txBody>
      </p:sp>
      <p:sp>
        <p:nvSpPr>
          <p:cNvPr id="21" name="자유형 20"/>
          <p:cNvSpPr/>
          <p:nvPr/>
        </p:nvSpPr>
        <p:spPr>
          <a:xfrm>
            <a:off x="5001025" y="1849134"/>
            <a:ext cx="323128" cy="300055"/>
          </a:xfrm>
          <a:custGeom>
            <a:avLst/>
            <a:gdLst>
              <a:gd name="connsiteX0" fmla="*/ 1032933 w 1032933"/>
              <a:gd name="connsiteY0" fmla="*/ 0 h 491066"/>
              <a:gd name="connsiteX1" fmla="*/ 1032933 w 1032933"/>
              <a:gd name="connsiteY1" fmla="*/ 245533 h 491066"/>
              <a:gd name="connsiteX2" fmla="*/ 0 w 1032933"/>
              <a:gd name="connsiteY2" fmla="*/ 245533 h 491066"/>
              <a:gd name="connsiteX3" fmla="*/ 0 w 1032933"/>
              <a:gd name="connsiteY3" fmla="*/ 491066 h 491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2933" h="491066">
                <a:moveTo>
                  <a:pt x="1032933" y="0"/>
                </a:moveTo>
                <a:lnTo>
                  <a:pt x="1032933" y="245533"/>
                </a:lnTo>
                <a:lnTo>
                  <a:pt x="0" y="245533"/>
                </a:lnTo>
                <a:lnTo>
                  <a:pt x="0" y="491066"/>
                </a:lnTo>
              </a:path>
            </a:pathLst>
          </a:cu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자유형 22"/>
          <p:cNvSpPr/>
          <p:nvPr/>
        </p:nvSpPr>
        <p:spPr>
          <a:xfrm>
            <a:off x="6865088" y="1857600"/>
            <a:ext cx="413326" cy="279362"/>
          </a:xfrm>
          <a:custGeom>
            <a:avLst/>
            <a:gdLst>
              <a:gd name="connsiteX0" fmla="*/ 0 w 753533"/>
              <a:gd name="connsiteY0" fmla="*/ 0 h 457200"/>
              <a:gd name="connsiteX1" fmla="*/ 0 w 753533"/>
              <a:gd name="connsiteY1" fmla="*/ 237067 h 457200"/>
              <a:gd name="connsiteX2" fmla="*/ 753533 w 753533"/>
              <a:gd name="connsiteY2" fmla="*/ 237067 h 457200"/>
              <a:gd name="connsiteX3" fmla="*/ 753533 w 753533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3533" h="457200">
                <a:moveTo>
                  <a:pt x="0" y="0"/>
                </a:moveTo>
                <a:lnTo>
                  <a:pt x="0" y="237067"/>
                </a:lnTo>
                <a:lnTo>
                  <a:pt x="753533" y="237067"/>
                </a:lnTo>
                <a:lnTo>
                  <a:pt x="753533" y="457200"/>
                </a:lnTo>
              </a:path>
            </a:pathLst>
          </a:cu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8365091" y="1846135"/>
            <a:ext cx="3268133" cy="715089"/>
          </a:xfrm>
          <a:prstGeom prst="wedgeRoundRectCallout">
            <a:avLst>
              <a:gd name="adj1" fmla="val -69279"/>
              <a:gd name="adj2" fmla="val 12772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(</a:t>
            </a:r>
            <a:r>
              <a:rPr lang="ko-KR" altLang="en-US" sz="1200" b="1" dirty="0"/>
              <a:t>제</a:t>
            </a:r>
            <a:r>
              <a:rPr lang="en-US" altLang="ko-KR" sz="1200" b="1" dirty="0"/>
              <a:t>33</a:t>
            </a:r>
            <a:r>
              <a:rPr lang="ko-KR" altLang="en-US" sz="1200" b="1" dirty="0"/>
              <a:t>조제</a:t>
            </a:r>
            <a:r>
              <a:rPr lang="en-US" altLang="ko-KR" sz="1200" b="1" dirty="0"/>
              <a:t>1</a:t>
            </a:r>
            <a:r>
              <a:rPr lang="ko-KR" altLang="en-US" sz="1200" b="1" dirty="0" err="1"/>
              <a:t>항본문</a:t>
            </a:r>
            <a:r>
              <a:rPr lang="en-US" altLang="ko-KR" sz="1200" b="1" dirty="0"/>
              <a:t>)</a:t>
            </a:r>
            <a:r>
              <a:rPr lang="ko-KR" altLang="en-US" sz="1200" dirty="0"/>
              <a:t> 발명을 한 사람 또는 그 승계인은 이 법에서 정하는 바에 따라 특허를 받을 수 있는 권리를 가진다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27" name="TextBox 26"/>
          <p:cNvSpPr txBox="1"/>
          <p:nvPr/>
        </p:nvSpPr>
        <p:spPr>
          <a:xfrm>
            <a:off x="474158" y="1846135"/>
            <a:ext cx="3268133" cy="919401"/>
          </a:xfrm>
          <a:prstGeom prst="wedgeRoundRectCallout">
            <a:avLst>
              <a:gd name="adj1" fmla="val 61379"/>
              <a:gd name="adj2" fmla="val 15185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(</a:t>
            </a:r>
            <a:r>
              <a:rPr lang="ko-KR" altLang="en-US" sz="1200" b="1" dirty="0"/>
              <a:t>제</a:t>
            </a:r>
            <a:r>
              <a:rPr lang="en-US" altLang="ko-KR" sz="1200" b="1" dirty="0"/>
              <a:t>655</a:t>
            </a:r>
            <a:r>
              <a:rPr lang="ko-KR" altLang="en-US" sz="1200" b="1" dirty="0"/>
              <a:t>조</a:t>
            </a:r>
            <a:r>
              <a:rPr lang="en-US" altLang="ko-KR" sz="1200" b="1" dirty="0"/>
              <a:t>)</a:t>
            </a:r>
            <a:r>
              <a:rPr lang="ko-KR" altLang="en-US" sz="1200" dirty="0"/>
              <a:t> 고용은 당사자 일방이 상대방에 대하여 노무를 제공할 것을 약정하고 상대방이 이에 대하여 보수를 지급할 것을 약정함으로써 그 효력이 생긴다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26" name="직사각형 25"/>
          <p:cNvSpPr/>
          <p:nvPr/>
        </p:nvSpPr>
        <p:spPr>
          <a:xfrm>
            <a:off x="2971800" y="3302004"/>
            <a:ext cx="6663267" cy="931334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2985930" y="3731141"/>
            <a:ext cx="6623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FF0000"/>
                </a:solidFill>
              </a:rPr>
              <a:t>발명진흥법에서 양자간의 관계를 조절</a:t>
            </a:r>
          </a:p>
        </p:txBody>
      </p:sp>
      <p:graphicFrame>
        <p:nvGraphicFramePr>
          <p:cNvPr id="29" name="표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379807"/>
              </p:ext>
            </p:extLst>
          </p:nvPr>
        </p:nvGraphicFramePr>
        <p:xfrm>
          <a:off x="490451" y="4637424"/>
          <a:ext cx="11329016" cy="1953768"/>
        </p:xfrm>
        <a:graphic>
          <a:graphicData uri="http://schemas.openxmlformats.org/drawingml/2006/table">
            <a:tbl>
              <a:tblPr/>
              <a:tblGrid>
                <a:gridCol w="1401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0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6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49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구 분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종업원 등의 권리 및 의무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 등의 권리 및 의무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464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직무발명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▪ 특허를 받을 수 있는 권리의 원시적 취득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▪ 발명완성사실통지의무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▪ 비밀유지의무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marR="17780" indent="-914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▪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법정실시권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91440" marR="17780" indent="-914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대기업의 경우 예약승계 계약의 체결 또는 근무규정의 작성이 있는 경우에 한함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▪ 예약승계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예약승계계약이나 근무규정에 근거한 승계취득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승계한 경우 정당한 보상 의무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49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자유발명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▪ 특허를 받을 수 있는 권리의 원시적 취득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▪ 승계한 경우 정당한 보상 의무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926017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직선 연결선 55"/>
          <p:cNvCxnSpPr/>
          <p:nvPr/>
        </p:nvCxnSpPr>
        <p:spPr>
          <a:xfrm>
            <a:off x="1864306" y="3075764"/>
            <a:ext cx="0" cy="2825503"/>
          </a:xfrm>
          <a:prstGeom prst="line">
            <a:avLst/>
          </a:prstGeom>
          <a:ln w="5715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직무발명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현재 또는 과거의 직무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116</a:t>
            </a:fld>
            <a:endParaRPr lang="ko-KR" altLang="en-US"/>
          </a:p>
        </p:txBody>
      </p:sp>
      <p:sp>
        <p:nvSpPr>
          <p:cNvPr id="22" name="직사각형 21"/>
          <p:cNvSpPr/>
          <p:nvPr/>
        </p:nvSpPr>
        <p:spPr bwMode="auto">
          <a:xfrm>
            <a:off x="348791" y="1535859"/>
            <a:ext cx="11519555" cy="885607"/>
          </a:xfrm>
          <a:prstGeom prst="rect">
            <a:avLst/>
          </a:prstGeom>
          <a:ln>
            <a:solidFill>
              <a:schemeClr val="accent3"/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tIns="72000" bIns="72000" rtlCol="0" anchor="ctr"/>
          <a:lstStyle/>
          <a:p>
            <a:pPr fontAlgn="base">
              <a:lnSpc>
                <a:spcPct val="150000"/>
              </a:lnSpc>
            </a:pPr>
            <a:r>
              <a:rPr lang="ko-KR" altLang="en-US" sz="1200" dirty="0" err="1"/>
              <a:t>구특허법</a:t>
            </a:r>
            <a:r>
              <a:rPr lang="ko-KR" altLang="en-US" sz="1200" dirty="0"/>
              <a:t> 제</a:t>
            </a:r>
            <a:r>
              <a:rPr lang="en-US" altLang="ko-KR" sz="1200" dirty="0"/>
              <a:t>17</a:t>
            </a:r>
            <a:r>
              <a:rPr lang="ko-KR" altLang="en-US" sz="1200" dirty="0"/>
              <a:t>조 제</a:t>
            </a:r>
            <a:r>
              <a:rPr lang="en-US" altLang="ko-KR" sz="1200" dirty="0"/>
              <a:t>1</a:t>
            </a:r>
            <a:r>
              <a:rPr lang="ko-KR" altLang="en-US" sz="1200" dirty="0"/>
              <a:t>항이나 특허법 제</a:t>
            </a:r>
            <a:r>
              <a:rPr lang="en-US" altLang="ko-KR" sz="1200" dirty="0"/>
              <a:t>39</a:t>
            </a:r>
            <a:r>
              <a:rPr lang="ko-KR" altLang="en-US" sz="1200" dirty="0"/>
              <a:t>조 제</a:t>
            </a:r>
            <a:r>
              <a:rPr lang="en-US" altLang="ko-KR" sz="1200" dirty="0"/>
              <a:t>1</a:t>
            </a:r>
            <a:r>
              <a:rPr lang="ko-KR" altLang="en-US" sz="1200" dirty="0"/>
              <a:t>항에 의하면</a:t>
            </a:r>
            <a:r>
              <a:rPr lang="en-US" altLang="ko-KR" sz="1200" dirty="0"/>
              <a:t>, </a:t>
            </a:r>
            <a:r>
              <a:rPr lang="ko-KR" altLang="en-US" sz="1200" dirty="0"/>
              <a:t>직무발명에 관한 </a:t>
            </a:r>
            <a:r>
              <a:rPr lang="ko-KR" altLang="en-US" sz="1200" dirty="0" err="1"/>
              <a:t>통상실시권을</a:t>
            </a:r>
            <a:r>
              <a:rPr lang="ko-KR" altLang="en-US" sz="1200" dirty="0"/>
              <a:t> 취득하게 되는 사용자는 그 </a:t>
            </a:r>
            <a:r>
              <a:rPr lang="ko-KR" altLang="en-US" sz="1200" dirty="0" err="1"/>
              <a:t>피용자나</a:t>
            </a:r>
            <a:r>
              <a:rPr lang="ko-KR" altLang="en-US" sz="1200" dirty="0"/>
              <a:t> 종업원이 직무발명을 완성할 당시의 사용자이고</a:t>
            </a:r>
            <a:r>
              <a:rPr lang="en-US" altLang="ko-KR" sz="1200" dirty="0"/>
              <a:t>, </a:t>
            </a:r>
            <a:r>
              <a:rPr lang="ko-KR" altLang="en-US" sz="1200" dirty="0"/>
              <a:t>그에 따른 특허권의 등록이 그 이후에 이루어졌다고 하여 등록 당시의 사용자가 그 </a:t>
            </a:r>
            <a:r>
              <a:rPr lang="ko-KR" altLang="en-US" sz="1200" dirty="0" err="1"/>
              <a:t>통상실시권을</a:t>
            </a:r>
            <a:r>
              <a:rPr lang="ko-KR" altLang="en-US" sz="1200" dirty="0"/>
              <a:t> 취득하는 것은 아니다</a:t>
            </a:r>
            <a:r>
              <a:rPr lang="en-US" altLang="ko-KR" sz="1200" dirty="0"/>
              <a:t>.</a:t>
            </a:r>
          </a:p>
          <a:p>
            <a:pPr fontAlgn="base">
              <a:lnSpc>
                <a:spcPct val="150000"/>
              </a:lnSpc>
            </a:pPr>
            <a:r>
              <a:rPr lang="en-US" altLang="ko-KR" sz="1200" dirty="0">
                <a:solidFill>
                  <a:schemeClr val="accent4">
                    <a:lumMod val="50000"/>
                  </a:schemeClr>
                </a:solidFill>
                <a:highlight>
                  <a:srgbClr val="FFFF00"/>
                </a:highlight>
                <a:sym typeface="Wingdings" pitchFamily="2" charset="2"/>
              </a:rPr>
              <a:t> </a:t>
            </a:r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  <a:highlight>
                  <a:srgbClr val="FFFF00"/>
                </a:highlight>
              </a:rPr>
              <a:t>이는 발명완성 당시에 고용관계에 있는 사용자 등을 기준으로 직무발명인지 여부를 판단하기 때문이다</a:t>
            </a:r>
            <a:r>
              <a:rPr lang="en-US" altLang="ko-KR" sz="1200" dirty="0">
                <a:solidFill>
                  <a:schemeClr val="accent4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  <a:endParaRPr lang="ko-KR" altLang="en-US" sz="1200" dirty="0">
              <a:solidFill>
                <a:schemeClr val="accent4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24" name="모서리가 둥근 직사각형 23"/>
          <p:cNvSpPr/>
          <p:nvPr/>
        </p:nvSpPr>
        <p:spPr bwMode="auto">
          <a:xfrm>
            <a:off x="348791" y="1245544"/>
            <a:ext cx="4680521" cy="288032"/>
          </a:xfrm>
          <a:prstGeom prst="roundRect">
            <a:avLst>
              <a:gd name="adj" fmla="val 0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accent3"/>
            </a:solidFill>
            <a:headEnd type="none" w="med" len="med"/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 latinLnBrk="0"/>
            <a:r>
              <a:rPr lang="ko-KR" altLang="en-US" sz="1200" dirty="0"/>
              <a:t>대법원 </a:t>
            </a:r>
            <a:r>
              <a:rPr lang="en-US" altLang="ko-KR" sz="1200" dirty="0"/>
              <a:t>1997. 6. 27. </a:t>
            </a:r>
            <a:r>
              <a:rPr lang="ko-KR" altLang="en-US" sz="1200" dirty="0"/>
              <a:t>선고 </a:t>
            </a:r>
            <a:r>
              <a:rPr lang="en-US" altLang="ko-KR" sz="1200" dirty="0"/>
              <a:t>97</a:t>
            </a:r>
            <a:r>
              <a:rPr lang="ko-KR" altLang="en-US" sz="1200" dirty="0"/>
              <a:t>도</a:t>
            </a:r>
            <a:r>
              <a:rPr lang="en-US" altLang="ko-KR" sz="1200" dirty="0"/>
              <a:t>516 </a:t>
            </a:r>
            <a:r>
              <a:rPr lang="ko-KR" altLang="en-US" sz="1200" dirty="0"/>
              <a:t>판결</a:t>
            </a:r>
            <a:r>
              <a:rPr lang="en-US" altLang="ko-KR" sz="1200" dirty="0"/>
              <a:t>【</a:t>
            </a:r>
            <a:r>
              <a:rPr lang="ko-KR" altLang="en-US" sz="1200" dirty="0" err="1"/>
              <a:t>실용신안법위반</a:t>
            </a:r>
            <a:r>
              <a:rPr lang="en-US" altLang="ko-KR" sz="1200" dirty="0"/>
              <a:t>】</a:t>
            </a:r>
            <a:endParaRPr lang="ko-KR" altLang="en-US" sz="1200" dirty="0"/>
          </a:p>
        </p:txBody>
      </p:sp>
      <p:cxnSp>
        <p:nvCxnSpPr>
          <p:cNvPr id="30" name="직선 연결선 29"/>
          <p:cNvCxnSpPr/>
          <p:nvPr/>
        </p:nvCxnSpPr>
        <p:spPr>
          <a:xfrm>
            <a:off x="714031" y="4126150"/>
            <a:ext cx="5738527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>
            <a:endCxn id="32" idx="0"/>
          </p:cNvCxnSpPr>
          <p:nvPr/>
        </p:nvCxnSpPr>
        <p:spPr>
          <a:xfrm>
            <a:off x="1196412" y="4160066"/>
            <a:ext cx="4050" cy="36303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14031" y="4523098"/>
            <a:ext cx="972861" cy="46166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甲이 </a:t>
            </a:r>
            <a:r>
              <a:rPr lang="en-US" altLang="ko-KR" sz="1200" dirty="0"/>
              <a:t>A</a:t>
            </a:r>
            <a:r>
              <a:rPr lang="ko-KR" altLang="en-US" sz="1200" dirty="0"/>
              <a:t>회사 입사</a:t>
            </a:r>
          </a:p>
        </p:txBody>
      </p:sp>
      <p:cxnSp>
        <p:nvCxnSpPr>
          <p:cNvPr id="40" name="직선 연결선 39"/>
          <p:cNvCxnSpPr>
            <a:endCxn id="51" idx="2"/>
          </p:cNvCxnSpPr>
          <p:nvPr/>
        </p:nvCxnSpPr>
        <p:spPr>
          <a:xfrm flipV="1">
            <a:off x="1867642" y="3785374"/>
            <a:ext cx="0" cy="29818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>
            <a:endCxn id="48" idx="0"/>
          </p:cNvCxnSpPr>
          <p:nvPr/>
        </p:nvCxnSpPr>
        <p:spPr>
          <a:xfrm>
            <a:off x="3634015" y="4160066"/>
            <a:ext cx="4050" cy="36303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151634" y="4523098"/>
            <a:ext cx="972861" cy="46166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甲이 </a:t>
            </a:r>
            <a:r>
              <a:rPr lang="en-US" altLang="ko-KR" sz="1200" dirty="0"/>
              <a:t>A</a:t>
            </a:r>
            <a:r>
              <a:rPr lang="ko-KR" altLang="en-US" sz="1200" dirty="0"/>
              <a:t>회사 퇴사</a:t>
            </a:r>
          </a:p>
        </p:txBody>
      </p:sp>
      <p:cxnSp>
        <p:nvCxnSpPr>
          <p:cNvPr id="49" name="직선 연결선 48"/>
          <p:cNvCxnSpPr>
            <a:endCxn id="50" idx="0"/>
          </p:cNvCxnSpPr>
          <p:nvPr/>
        </p:nvCxnSpPr>
        <p:spPr>
          <a:xfrm>
            <a:off x="4816402" y="4160066"/>
            <a:ext cx="4050" cy="36303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334021" y="4523098"/>
            <a:ext cx="972861" cy="46166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甲이 </a:t>
            </a:r>
            <a:r>
              <a:rPr lang="en-US" altLang="ko-KR" sz="1200" dirty="0"/>
              <a:t>B</a:t>
            </a:r>
            <a:r>
              <a:rPr lang="ko-KR" altLang="en-US" sz="1200" dirty="0"/>
              <a:t>회사 입사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81211" y="3323709"/>
            <a:ext cx="972861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 </a:t>
            </a:r>
            <a:endParaRPr lang="en-US" altLang="ko-KR" sz="1200" dirty="0"/>
          </a:p>
          <a:p>
            <a:pPr algn="ctr"/>
            <a:r>
              <a:rPr lang="en-US" altLang="ko-KR" sz="1200" dirty="0"/>
              <a:t>X</a:t>
            </a:r>
            <a:r>
              <a:rPr lang="ko-KR" altLang="en-US" sz="1200" dirty="0"/>
              <a:t>발명완성</a:t>
            </a:r>
          </a:p>
        </p:txBody>
      </p:sp>
      <p:cxnSp>
        <p:nvCxnSpPr>
          <p:cNvPr id="52" name="직선 연결선 51"/>
          <p:cNvCxnSpPr>
            <a:endCxn id="53" idx="2"/>
          </p:cNvCxnSpPr>
          <p:nvPr/>
        </p:nvCxnSpPr>
        <p:spPr>
          <a:xfrm flipV="1">
            <a:off x="3175482" y="3785374"/>
            <a:ext cx="0" cy="29818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689051" y="3323709"/>
            <a:ext cx="972861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 </a:t>
            </a:r>
            <a:endParaRPr lang="en-US" altLang="ko-KR" sz="1200" dirty="0"/>
          </a:p>
          <a:p>
            <a:pPr algn="ctr"/>
            <a:r>
              <a:rPr lang="en-US" altLang="ko-KR" sz="1200" dirty="0"/>
              <a:t>X</a:t>
            </a:r>
            <a:r>
              <a:rPr lang="ko-KR" altLang="en-US" sz="1200" dirty="0"/>
              <a:t>발명 출원</a:t>
            </a:r>
          </a:p>
        </p:txBody>
      </p:sp>
      <p:cxnSp>
        <p:nvCxnSpPr>
          <p:cNvPr id="54" name="직선 연결선 53"/>
          <p:cNvCxnSpPr>
            <a:endCxn id="55" idx="2"/>
          </p:cNvCxnSpPr>
          <p:nvPr/>
        </p:nvCxnSpPr>
        <p:spPr>
          <a:xfrm flipV="1">
            <a:off x="5569037" y="3785374"/>
            <a:ext cx="0" cy="29818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082606" y="3323709"/>
            <a:ext cx="972861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 </a:t>
            </a:r>
            <a:endParaRPr lang="en-US" altLang="ko-KR" sz="1200" dirty="0"/>
          </a:p>
          <a:p>
            <a:pPr algn="ctr"/>
            <a:r>
              <a:rPr lang="en-US" altLang="ko-KR" sz="1200" dirty="0"/>
              <a:t>X</a:t>
            </a:r>
            <a:r>
              <a:rPr lang="ko-KR" altLang="en-US" sz="1200" dirty="0"/>
              <a:t>발명 등록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222" y="3523570"/>
            <a:ext cx="4980851" cy="141577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X</a:t>
            </a:r>
            <a:r>
              <a:rPr lang="ko-KR" altLang="en-US" dirty="0"/>
              <a:t>발명에 대하여 통상실시권을 취득하는 사용자는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= X</a:t>
            </a:r>
            <a:r>
              <a:rPr lang="ko-KR" altLang="en-US" dirty="0"/>
              <a:t>발명은 </a:t>
            </a:r>
            <a:r>
              <a:rPr lang="en-US" altLang="ko-KR" dirty="0"/>
              <a:t>A/B </a:t>
            </a:r>
            <a:r>
              <a:rPr lang="ko-KR" altLang="en-US" dirty="0"/>
              <a:t>회사 中 어느 회사의 직무발명인가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  </a:t>
            </a:r>
            <a:r>
              <a:rPr lang="en-US" altLang="ko-KR" sz="1600" dirty="0"/>
              <a:t>- </a:t>
            </a:r>
            <a:r>
              <a:rPr lang="ko-KR" altLang="en-US" sz="1600" dirty="0"/>
              <a:t>종업원 등이 발명하였을 것</a:t>
            </a:r>
            <a:endParaRPr lang="en-US" altLang="ko-KR" sz="1600" dirty="0"/>
          </a:p>
          <a:p>
            <a:r>
              <a:rPr lang="en-US" altLang="ko-KR" sz="1600" dirty="0"/>
              <a:t>  - </a:t>
            </a:r>
            <a:r>
              <a:rPr lang="ko-KR" altLang="en-US" sz="1600" dirty="0"/>
              <a:t>사용자 등의 업무범위에 속할 것 </a:t>
            </a:r>
            <a:endParaRPr lang="en-US" altLang="ko-KR" sz="1600" dirty="0"/>
          </a:p>
          <a:p>
            <a:r>
              <a:rPr lang="en-US" altLang="ko-KR" sz="1600" dirty="0">
                <a:solidFill>
                  <a:srgbClr val="FF0000"/>
                </a:solidFill>
              </a:rPr>
              <a:t>  - </a:t>
            </a:r>
            <a:r>
              <a:rPr lang="ko-KR" altLang="en-US" sz="1600" dirty="0">
                <a:solidFill>
                  <a:srgbClr val="FF0000"/>
                </a:solidFill>
              </a:rPr>
              <a:t>종업원 등의 현재 또는 과거의 직무에 속할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6018" y="6053667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</a:rPr>
              <a:t>발명 완성 당시</a:t>
            </a:r>
          </a:p>
        </p:txBody>
      </p:sp>
    </p:spTree>
    <p:extLst>
      <p:ext uri="{BB962C8B-B14F-4D97-AF65-F5344CB8AC3E}">
        <p14:creationId xmlns:p14="http://schemas.microsoft.com/office/powerpoint/2010/main" val="113419869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직무발명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예약승계규정의 해석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875" y="986046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400" dirty="0"/>
              <a:t>1)</a:t>
            </a:r>
            <a:r>
              <a:rPr lang="ko-KR" altLang="en-US" sz="1400" dirty="0"/>
              <a:t> 직무발명 외의 종업원 등의 발명에 대하여  </a:t>
            </a:r>
            <a:r>
              <a:rPr lang="en-US" altLang="ko-KR" sz="1400" dirty="0"/>
              <a:t>2)  </a:t>
            </a:r>
            <a:r>
              <a:rPr lang="ko-KR" altLang="en-US" sz="1400" dirty="0"/>
              <a:t>미리  </a:t>
            </a:r>
            <a:r>
              <a:rPr lang="en-US" altLang="ko-KR" sz="1400" dirty="0"/>
              <a:t>3) </a:t>
            </a:r>
            <a:r>
              <a:rPr lang="ko-KR" altLang="en-US" sz="1400" dirty="0"/>
              <a:t>사용자 등에게 특허를 받을 수 있는 권리나 특허권을 </a:t>
            </a:r>
            <a:r>
              <a:rPr lang="ko-KR" altLang="en-US" sz="1400" dirty="0" err="1"/>
              <a:t>승계시키거나</a:t>
            </a:r>
            <a:r>
              <a:rPr lang="ko-KR" altLang="en-US" sz="1400" dirty="0"/>
              <a:t> 사용자 등을 위하여 전용실시권을 설정하도록 하는  </a:t>
            </a:r>
            <a:r>
              <a:rPr lang="en-US" altLang="ko-KR" sz="1400" dirty="0"/>
              <a:t>4) </a:t>
            </a:r>
            <a:r>
              <a:rPr lang="ko-KR" altLang="en-US" sz="1400" dirty="0"/>
              <a:t>계약이나 근무규정의 조항은 무효로 한다</a:t>
            </a:r>
            <a:r>
              <a:rPr lang="en-US" altLang="ko-KR" sz="1400" dirty="0"/>
              <a:t>(</a:t>
            </a:r>
            <a:r>
              <a:rPr lang="ko-KR" altLang="en-US" sz="1400" dirty="0"/>
              <a:t>發振法 </a:t>
            </a:r>
            <a:r>
              <a:rPr lang="en-US" altLang="ko-KR" sz="1400" dirty="0"/>
              <a:t>10③).</a:t>
            </a:r>
            <a:endParaRPr lang="ko-KR" altLang="en-US" sz="1400" dirty="0"/>
          </a:p>
        </p:txBody>
      </p:sp>
      <p:cxnSp>
        <p:nvCxnSpPr>
          <p:cNvPr id="25" name="직선 연결선 24"/>
          <p:cNvCxnSpPr/>
          <p:nvPr/>
        </p:nvCxnSpPr>
        <p:spPr>
          <a:xfrm>
            <a:off x="0" y="1509266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117</a:t>
            </a:fld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5EB0361-C7F8-4E76-9E9C-BC1138B09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72182"/>
              </p:ext>
            </p:extLst>
          </p:nvPr>
        </p:nvGraphicFramePr>
        <p:xfrm>
          <a:off x="707366" y="2032485"/>
          <a:ext cx="10636371" cy="4126766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199072">
                  <a:extLst>
                    <a:ext uri="{9D8B030D-6E8A-4147-A177-3AD203B41FA5}">
                      <a16:colId xmlns:a16="http://schemas.microsoft.com/office/drawing/2014/main" val="3157120850"/>
                    </a:ext>
                  </a:extLst>
                </a:gridCol>
                <a:gridCol w="3812875">
                  <a:extLst>
                    <a:ext uri="{9D8B030D-6E8A-4147-A177-3AD203B41FA5}">
                      <a16:colId xmlns:a16="http://schemas.microsoft.com/office/drawing/2014/main" val="166338093"/>
                    </a:ext>
                  </a:extLst>
                </a:gridCol>
                <a:gridCol w="3114136">
                  <a:extLst>
                    <a:ext uri="{9D8B030D-6E8A-4147-A177-3AD203B41FA5}">
                      <a16:colId xmlns:a16="http://schemas.microsoft.com/office/drawing/2014/main" val="2651455179"/>
                    </a:ext>
                  </a:extLst>
                </a:gridCol>
                <a:gridCol w="2510288">
                  <a:extLst>
                    <a:ext uri="{9D8B030D-6E8A-4147-A177-3AD203B41FA5}">
                      <a16:colId xmlns:a16="http://schemas.microsoft.com/office/drawing/2014/main" val="45869260"/>
                    </a:ext>
                  </a:extLst>
                </a:gridCol>
              </a:tblGrid>
              <a:tr h="358214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구 분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발명 완성 전</a:t>
                      </a:r>
                      <a:r>
                        <a:rPr lang="en-US" altLang="ko-KR" sz="1200" kern="0" spc="-100" dirty="0">
                          <a:effectLst/>
                        </a:rPr>
                        <a:t>(</a:t>
                      </a:r>
                      <a:r>
                        <a:rPr lang="ko-KR" altLang="en-US" sz="1200" kern="0" spc="-100" dirty="0">
                          <a:effectLst/>
                        </a:rPr>
                        <a:t>예약승계</a:t>
                      </a:r>
                      <a:r>
                        <a:rPr lang="en-US" altLang="ko-KR" sz="1200" kern="0" spc="-100" dirty="0">
                          <a:effectLst/>
                        </a:rPr>
                        <a:t>)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발명 완성 후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184423"/>
                  </a:ext>
                </a:extLst>
              </a:tr>
              <a:tr h="353837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직무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발명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effectLst/>
                        </a:rPr>
                        <a:t>특허를 받을 수 있는 권리 승계계약</a:t>
                      </a:r>
                      <a:endParaRPr lang="ko-KR" altLang="en-US" sz="12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effectLst/>
                        </a:rPr>
                        <a:t>가능</a:t>
                      </a:r>
                      <a:endParaRPr lang="ko-KR" altLang="en-US" sz="12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 rowSpan="3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effectLst/>
                        </a:rPr>
                        <a:t>가능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783852364"/>
                  </a:ext>
                </a:extLst>
              </a:tr>
              <a:tr h="3538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effectLst/>
                        </a:rPr>
                        <a:t>특허권 승계계약</a:t>
                      </a:r>
                      <a:endParaRPr lang="ko-KR" altLang="en-US" sz="12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effectLst/>
                        </a:rPr>
                        <a:t>가능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 vMerge="1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645143"/>
                  </a:ext>
                </a:extLst>
              </a:tr>
              <a:tr h="3538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effectLst/>
                        </a:rPr>
                        <a:t>전용실시권 설정계약</a:t>
                      </a:r>
                      <a:endParaRPr lang="ko-KR" altLang="en-US" sz="12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effectLst/>
                        </a:rPr>
                        <a:t>가능</a:t>
                      </a:r>
                      <a:endParaRPr lang="ko-KR" altLang="en-US" sz="12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 vMerge="1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9034027"/>
                  </a:ext>
                </a:extLst>
              </a:tr>
              <a:tr h="12916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effectLst/>
                        </a:rPr>
                        <a:t>통상실시권 허락계약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 grid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effectLst/>
                        </a:rPr>
                        <a:t>종업원 등 또는 승계인이 특허를 받은 경우 법정실시권 발생하기 때문에 불필요</a:t>
                      </a:r>
                    </a:p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effectLst/>
                        </a:rPr>
                        <a:t>(</a:t>
                      </a:r>
                      <a:r>
                        <a:rPr lang="ko-KR" altLang="en-US" sz="1200" kern="0" spc="-50" dirty="0">
                          <a:effectLst/>
                        </a:rPr>
                        <a:t>단</a:t>
                      </a:r>
                      <a:r>
                        <a:rPr lang="en-US" altLang="ko-KR" sz="1200" kern="0" spc="-50" dirty="0">
                          <a:effectLst/>
                        </a:rPr>
                        <a:t>, </a:t>
                      </a:r>
                      <a:r>
                        <a:rPr lang="ko-KR" altLang="en-US" sz="1200" kern="0" spc="-50" dirty="0">
                          <a:effectLst/>
                        </a:rPr>
                        <a:t>대기업의 </a:t>
                      </a:r>
                      <a:r>
                        <a:rPr lang="ko-KR" altLang="en-US" sz="1200" kern="0" spc="-50" dirty="0">
                          <a:solidFill>
                            <a:srgbClr val="FF0000"/>
                          </a:solidFill>
                          <a:effectLst/>
                        </a:rPr>
                        <a:t>경우 예약승계계약의 체결 또는 근무규정의 작성이 된 경우</a:t>
                      </a:r>
                      <a:r>
                        <a:rPr lang="ko-KR" altLang="en-US" sz="1200" kern="0" spc="-50" dirty="0">
                          <a:effectLst/>
                        </a:rPr>
                        <a:t>에 한함</a:t>
                      </a:r>
                      <a:r>
                        <a:rPr lang="en-US" altLang="ko-KR" sz="1200" kern="0" spc="-50" dirty="0">
                          <a:effectLst/>
                        </a:rPr>
                        <a:t>)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5717695"/>
                  </a:ext>
                </a:extLst>
              </a:tr>
              <a:tr h="353837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자유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발명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effectLst/>
                        </a:rPr>
                        <a:t>특허를 받을 수 있는 권리 승계계약</a:t>
                      </a:r>
                      <a:endParaRPr lang="ko-KR" altLang="en-US" sz="12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effectLst/>
                        </a:rPr>
                        <a:t>불가능</a:t>
                      </a:r>
                      <a:endParaRPr lang="ko-KR" altLang="en-US" sz="12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 rowSpan="4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effectLst/>
                        </a:rPr>
                        <a:t>가능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3169423051"/>
                  </a:ext>
                </a:extLst>
              </a:tr>
              <a:tr h="3538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effectLst/>
                        </a:rPr>
                        <a:t>특허권 승계계약</a:t>
                      </a:r>
                      <a:endParaRPr lang="ko-KR" altLang="en-US" sz="12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effectLst/>
                        </a:rPr>
                        <a:t>불가능</a:t>
                      </a:r>
                      <a:endParaRPr lang="ko-KR" altLang="en-US" sz="12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 vMerge="1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2120119"/>
                  </a:ext>
                </a:extLst>
              </a:tr>
              <a:tr h="3538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effectLst/>
                        </a:rPr>
                        <a:t>전용실시권 설정계약</a:t>
                      </a:r>
                      <a:endParaRPr lang="ko-KR" altLang="en-US" sz="12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effectLst/>
                        </a:rPr>
                        <a:t>불가능</a:t>
                      </a:r>
                      <a:endParaRPr lang="ko-KR" altLang="en-US" sz="12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 vMerge="1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845393"/>
                  </a:ext>
                </a:extLst>
              </a:tr>
              <a:tr h="3538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effectLst/>
                        </a:rPr>
                        <a:t>통상실시권 허락계약</a:t>
                      </a:r>
                      <a:endParaRPr lang="ko-KR" altLang="en-US" sz="12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effectLst/>
                        </a:rPr>
                        <a:t>가능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 vMerge="1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884634"/>
                  </a:ext>
                </a:extLst>
              </a:tr>
            </a:tbl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6E4282AE-17E4-4938-97AF-28162500348D}"/>
              </a:ext>
            </a:extLst>
          </p:cNvPr>
          <p:cNvSpPr/>
          <p:nvPr/>
        </p:nvSpPr>
        <p:spPr>
          <a:xfrm>
            <a:off x="854015" y="5031819"/>
            <a:ext cx="836762" cy="840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5CCB7CC-A538-4BFE-907A-BE53E64231CB}"/>
              </a:ext>
            </a:extLst>
          </p:cNvPr>
          <p:cNvSpPr/>
          <p:nvPr/>
        </p:nvSpPr>
        <p:spPr>
          <a:xfrm>
            <a:off x="6374921" y="1923691"/>
            <a:ext cx="1794294" cy="577961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4EB620A-BBA0-4DA0-AF39-F4E2A4749FE5}"/>
              </a:ext>
            </a:extLst>
          </p:cNvPr>
          <p:cNvSpPr/>
          <p:nvPr/>
        </p:nvSpPr>
        <p:spPr>
          <a:xfrm>
            <a:off x="2613745" y="4585300"/>
            <a:ext cx="2363698" cy="1208292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F0FE0831-051A-4B18-B60C-BA15962BB7C9}"/>
              </a:ext>
            </a:extLst>
          </p:cNvPr>
          <p:cNvSpPr/>
          <p:nvPr/>
        </p:nvSpPr>
        <p:spPr>
          <a:xfrm>
            <a:off x="6502215" y="4585300"/>
            <a:ext cx="1451340" cy="1208292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34201B9-0FA0-C167-559E-E22F4197C65A}"/>
              </a:ext>
            </a:extLst>
          </p:cNvPr>
          <p:cNvSpPr/>
          <p:nvPr/>
        </p:nvSpPr>
        <p:spPr>
          <a:xfrm>
            <a:off x="115975" y="982617"/>
            <a:ext cx="251012" cy="251012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0FC8850-671A-BF90-0053-A218E77913BD}"/>
              </a:ext>
            </a:extLst>
          </p:cNvPr>
          <p:cNvSpPr/>
          <p:nvPr/>
        </p:nvSpPr>
        <p:spPr>
          <a:xfrm>
            <a:off x="3430680" y="1001669"/>
            <a:ext cx="251012" cy="251012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138A7F7-7069-FC11-2540-86E9DE22ECC4}"/>
              </a:ext>
            </a:extLst>
          </p:cNvPr>
          <p:cNvSpPr/>
          <p:nvPr/>
        </p:nvSpPr>
        <p:spPr>
          <a:xfrm>
            <a:off x="4064096" y="1001669"/>
            <a:ext cx="251012" cy="251012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F10B3D37-E0B6-5B7B-DFA4-FD828BC6A17D}"/>
              </a:ext>
            </a:extLst>
          </p:cNvPr>
          <p:cNvSpPr/>
          <p:nvPr/>
        </p:nvSpPr>
        <p:spPr>
          <a:xfrm>
            <a:off x="1065834" y="1222907"/>
            <a:ext cx="251012" cy="251012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A950811-1B28-70A7-5148-739828712A6F}"/>
              </a:ext>
            </a:extLst>
          </p:cNvPr>
          <p:cNvSpPr/>
          <p:nvPr/>
        </p:nvSpPr>
        <p:spPr>
          <a:xfrm>
            <a:off x="6249415" y="1656048"/>
            <a:ext cx="251012" cy="251012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E3FEBE8-7244-4304-F243-904CCDE2026F}"/>
              </a:ext>
            </a:extLst>
          </p:cNvPr>
          <p:cNvSpPr/>
          <p:nvPr/>
        </p:nvSpPr>
        <p:spPr>
          <a:xfrm>
            <a:off x="727108" y="4851916"/>
            <a:ext cx="251012" cy="251012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84E2CE6-A429-1252-43AC-C0912EDA9FE8}"/>
              </a:ext>
            </a:extLst>
          </p:cNvPr>
          <p:cNvSpPr/>
          <p:nvPr/>
        </p:nvSpPr>
        <p:spPr>
          <a:xfrm>
            <a:off x="2959100" y="4297571"/>
            <a:ext cx="251012" cy="251012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867CF98C-E78E-733A-0E5A-D600AE6918B6}"/>
              </a:ext>
            </a:extLst>
          </p:cNvPr>
          <p:cNvSpPr/>
          <p:nvPr/>
        </p:nvSpPr>
        <p:spPr>
          <a:xfrm>
            <a:off x="6296016" y="4675445"/>
            <a:ext cx="251012" cy="251012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702287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직무발명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공동직무발명의 경우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118</a:t>
            </a:fld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1101804" y="2378296"/>
            <a:ext cx="972861" cy="584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甲 </a:t>
            </a:r>
            <a:endParaRPr lang="en-US" altLang="ko-KR" sz="1600" dirty="0"/>
          </a:p>
          <a:p>
            <a:pPr algn="ctr"/>
            <a:r>
              <a:rPr lang="ko-KR" altLang="en-US" sz="1600" dirty="0"/>
              <a:t>사용자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2978" y="2437070"/>
            <a:ext cx="8010526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乙의 특허를 받을 수 있는 권리에 대한 지분을 甲이 丙의 </a:t>
            </a:r>
            <a:r>
              <a:rPr lang="ko-KR" altLang="en-US" dirty="0" err="1"/>
              <a:t>동의없이</a:t>
            </a:r>
            <a:r>
              <a:rPr lang="ko-KR" altLang="en-US" dirty="0"/>
              <a:t> 취득할 수 있는가</a:t>
            </a:r>
            <a:r>
              <a:rPr lang="en-US" altLang="ko-KR" dirty="0"/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839" y="3077944"/>
            <a:ext cx="16319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tx2"/>
                </a:solidFill>
              </a:rPr>
              <a:t>예약승계계약체결</a:t>
            </a:r>
            <a:endParaRPr lang="en-US" altLang="ko-KR" sz="1400" dirty="0">
              <a:solidFill>
                <a:schemeClr val="tx2"/>
              </a:solidFill>
            </a:endParaRPr>
          </a:p>
          <a:p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근무규정작성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875" y="986046"/>
            <a:ext cx="119796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/>
              <a:t>종업원 등의 직무발명이 제</a:t>
            </a:r>
            <a:r>
              <a:rPr lang="en-US" altLang="ko-KR" sz="1400" dirty="0"/>
              <a:t>3</a:t>
            </a:r>
            <a:r>
              <a:rPr lang="ko-KR" altLang="en-US" sz="1400" dirty="0"/>
              <a:t>자와 공동으로 행하여진 경우 계약이나 근무규정에 따라 사용자 등이 그 발명에 대한 권리를 승계하면 사용자 등은 그 발명에 대하여 종업원 등이 가지는 권리의 지분을 갖는다</a:t>
            </a:r>
            <a:r>
              <a:rPr lang="en-US" altLang="ko-KR" sz="1400" dirty="0"/>
              <a:t>(</a:t>
            </a:r>
            <a:r>
              <a:rPr lang="ko-KR" altLang="en-US" sz="1400" dirty="0" err="1"/>
              <a:t>發振法</a:t>
            </a:r>
            <a:r>
              <a:rPr lang="ko-KR" altLang="en-US" sz="1400" dirty="0"/>
              <a:t> </a:t>
            </a:r>
            <a:r>
              <a:rPr lang="en-US" altLang="ko-KR" sz="1400" dirty="0"/>
              <a:t>14). </a:t>
            </a:r>
            <a:r>
              <a:rPr lang="ko-KR" altLang="en-US" sz="1400" dirty="0"/>
              <a:t>이 경우 지분의 이전에 대하여 특허법 제</a:t>
            </a:r>
            <a:r>
              <a:rPr lang="en-US" altLang="ko-KR" sz="1400" dirty="0"/>
              <a:t>37</a:t>
            </a:r>
            <a:r>
              <a:rPr lang="ko-KR" altLang="en-US" sz="1400" dirty="0"/>
              <a:t>조제</a:t>
            </a:r>
            <a:r>
              <a:rPr lang="en-US" altLang="ko-KR" sz="1400" dirty="0"/>
              <a:t>3</a:t>
            </a:r>
            <a:r>
              <a:rPr lang="ko-KR" altLang="en-US" sz="1400" dirty="0"/>
              <a:t>항에 의하여 제</a:t>
            </a:r>
            <a:r>
              <a:rPr lang="en-US" altLang="ko-KR" sz="1400" dirty="0"/>
              <a:t>3</a:t>
            </a:r>
            <a:r>
              <a:rPr lang="ko-KR" altLang="en-US" sz="1400" dirty="0"/>
              <a:t>자인 다른 공유자의 동의를 받아야 </a:t>
            </a:r>
            <a:r>
              <a:rPr lang="ko-KR" altLang="en-US" sz="1400" dirty="0" err="1"/>
              <a:t>하는지와</a:t>
            </a:r>
            <a:r>
              <a:rPr lang="ko-KR" altLang="en-US" sz="1400" dirty="0"/>
              <a:t> 관련하여</a:t>
            </a:r>
            <a:r>
              <a:rPr lang="en-US" altLang="ko-KR" sz="1400" dirty="0"/>
              <a:t>, </a:t>
            </a:r>
            <a:r>
              <a:rPr lang="ko-KR" altLang="en-US" sz="1400" dirty="0"/>
              <a:t>대법원</a:t>
            </a:r>
            <a:r>
              <a:rPr lang="en-US" altLang="ko-KR" sz="1400" dirty="0"/>
              <a:t>(2012</a:t>
            </a:r>
            <a:r>
              <a:rPr lang="ko-KR" altLang="en-US" sz="1400" dirty="0"/>
              <a:t>도</a:t>
            </a:r>
            <a:r>
              <a:rPr lang="en-US" altLang="ko-KR" sz="1400" dirty="0"/>
              <a:t>6676)</a:t>
            </a:r>
            <a:r>
              <a:rPr lang="ko-KR" altLang="en-US" sz="1400" dirty="0"/>
              <a:t>은 이미 공동개발을 할 때 다른 공유자의 묵시적 동의가 있는 것으로 간주하여 별도의 동의절차를 밟을 필요가 없는 것으로 해석하고 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cxnSp>
        <p:nvCxnSpPr>
          <p:cNvPr id="25" name="직선 연결선 24"/>
          <p:cNvCxnSpPr/>
          <p:nvPr/>
        </p:nvCxnSpPr>
        <p:spPr>
          <a:xfrm>
            <a:off x="0" y="177251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01803" y="3716038"/>
            <a:ext cx="972861" cy="584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乙</a:t>
            </a:r>
            <a:endParaRPr lang="en-US" altLang="ko-KR" sz="1600" dirty="0"/>
          </a:p>
          <a:p>
            <a:pPr algn="ctr"/>
            <a:r>
              <a:rPr lang="ko-KR" altLang="en-US" sz="1600" dirty="0"/>
              <a:t>종업원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03" y="5019904"/>
            <a:ext cx="972861" cy="584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丙</a:t>
            </a:r>
            <a:endParaRPr lang="en-US" altLang="ko-KR" sz="1600" dirty="0"/>
          </a:p>
          <a:p>
            <a:pPr algn="ctr"/>
            <a:r>
              <a:rPr lang="ko-KR" altLang="en-US" sz="1600" dirty="0"/>
              <a:t>제</a:t>
            </a:r>
            <a:r>
              <a:rPr lang="en-US" altLang="ko-KR" sz="1600" dirty="0"/>
              <a:t>3</a:t>
            </a:r>
            <a:r>
              <a:rPr lang="ko-KR" altLang="en-US" sz="1600" dirty="0"/>
              <a:t>자</a:t>
            </a:r>
          </a:p>
        </p:txBody>
      </p:sp>
      <p:cxnSp>
        <p:nvCxnSpPr>
          <p:cNvPr id="5" name="직선 연결선 4"/>
          <p:cNvCxnSpPr>
            <a:stCxn id="32" idx="2"/>
            <a:endCxn id="26" idx="0"/>
          </p:cNvCxnSpPr>
          <p:nvPr/>
        </p:nvCxnSpPr>
        <p:spPr>
          <a:xfrm flipH="1">
            <a:off x="1588234" y="2963071"/>
            <a:ext cx="1" cy="75296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>
            <a:stCxn id="26" idx="2"/>
            <a:endCxn id="27" idx="0"/>
          </p:cNvCxnSpPr>
          <p:nvPr/>
        </p:nvCxnSpPr>
        <p:spPr>
          <a:xfrm>
            <a:off x="1588234" y="4300813"/>
            <a:ext cx="0" cy="7190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734576" y="4476433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tx2"/>
                </a:solidFill>
              </a:rPr>
              <a:t>공동발명</a:t>
            </a:r>
          </a:p>
        </p:txBody>
      </p:sp>
      <p:sp>
        <p:nvSpPr>
          <p:cNvPr id="15" name="자유형 14"/>
          <p:cNvSpPr/>
          <p:nvPr/>
        </p:nvSpPr>
        <p:spPr>
          <a:xfrm>
            <a:off x="2082822" y="2692400"/>
            <a:ext cx="855133" cy="1320800"/>
          </a:xfrm>
          <a:custGeom>
            <a:avLst/>
            <a:gdLst>
              <a:gd name="connsiteX0" fmla="*/ 0 w 855133"/>
              <a:gd name="connsiteY0" fmla="*/ 1320800 h 1320800"/>
              <a:gd name="connsiteX1" fmla="*/ 846667 w 855133"/>
              <a:gd name="connsiteY1" fmla="*/ 1320800 h 1320800"/>
              <a:gd name="connsiteX2" fmla="*/ 855133 w 855133"/>
              <a:gd name="connsiteY2" fmla="*/ 1227667 h 1320800"/>
              <a:gd name="connsiteX3" fmla="*/ 855133 w 855133"/>
              <a:gd name="connsiteY3" fmla="*/ 16933 h 1320800"/>
              <a:gd name="connsiteX4" fmla="*/ 762000 w 855133"/>
              <a:gd name="connsiteY4" fmla="*/ 0 h 1320800"/>
              <a:gd name="connsiteX5" fmla="*/ 42333 w 855133"/>
              <a:gd name="connsiteY5" fmla="*/ 0 h 132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55133" h="1320800">
                <a:moveTo>
                  <a:pt x="0" y="1320800"/>
                </a:moveTo>
                <a:lnTo>
                  <a:pt x="846667" y="1320800"/>
                </a:lnTo>
                <a:lnTo>
                  <a:pt x="855133" y="1227667"/>
                </a:lnTo>
                <a:lnTo>
                  <a:pt x="855133" y="16933"/>
                </a:lnTo>
                <a:lnTo>
                  <a:pt x="762000" y="0"/>
                </a:lnTo>
                <a:lnTo>
                  <a:pt x="42333" y="0"/>
                </a:lnTo>
              </a:path>
            </a:pathLst>
          </a:cu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3202978" y="3446123"/>
            <a:ext cx="2836324" cy="95410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특허를 받을 수 있는 권리가 공유인 경우에는 각 공유자는 다른 공유자 모두의 동의를 받아야만 그 지분을 양도할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2978" y="3136060"/>
            <a:ext cx="1665841" cy="307777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특허법 제</a:t>
            </a:r>
            <a:r>
              <a:rPr lang="en-US" altLang="ko-KR" sz="1400" dirty="0"/>
              <a:t>37</a:t>
            </a:r>
            <a:r>
              <a:rPr lang="ko-KR" altLang="en-US" sz="1400" dirty="0"/>
              <a:t>조제</a:t>
            </a:r>
            <a:r>
              <a:rPr lang="en-US" altLang="ko-KR" sz="1400" dirty="0"/>
              <a:t>3</a:t>
            </a:r>
            <a:r>
              <a:rPr lang="ko-KR" altLang="en-US" sz="1400" dirty="0"/>
              <a:t>항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3202978" y="4816532"/>
            <a:ext cx="2836324" cy="138499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종업원 등의 직무발명이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자와 공동으로 행하여진 경우 계약이나 근무규정에 따라 사용자 등이 그 발명에 대한 권리를 승계하면 사용자 등은 그 발명에 대하여 종업원 등이 가지는 권리의 지분을 갖는다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2978" y="4506469"/>
            <a:ext cx="1566454" cy="307777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발명진흥법 제</a:t>
            </a:r>
            <a:r>
              <a:rPr lang="en-US" altLang="ko-KR" sz="1400" dirty="0"/>
              <a:t>14</a:t>
            </a:r>
            <a:r>
              <a:rPr lang="ko-KR" altLang="en-US" sz="1400" dirty="0"/>
              <a:t>조</a:t>
            </a:r>
          </a:p>
        </p:txBody>
      </p:sp>
      <p:cxnSp>
        <p:nvCxnSpPr>
          <p:cNvPr id="19" name="꺾인 연결선 18"/>
          <p:cNvCxnSpPr>
            <a:stCxn id="16" idx="3"/>
            <a:endCxn id="41" idx="3"/>
          </p:cNvCxnSpPr>
          <p:nvPr/>
        </p:nvCxnSpPr>
        <p:spPr>
          <a:xfrm>
            <a:off x="6039302" y="3923177"/>
            <a:ext cx="12700" cy="1585853"/>
          </a:xfrm>
          <a:prstGeom prst="bentConnector3">
            <a:avLst>
              <a:gd name="adj1" fmla="val 3333339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6504048" y="4499603"/>
            <a:ext cx="52918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대법원</a:t>
            </a:r>
            <a:r>
              <a:rPr lang="en-US" altLang="ko-KR" dirty="0">
                <a:solidFill>
                  <a:srgbClr val="FF0000"/>
                </a:solidFill>
              </a:rPr>
              <a:t>(2012</a:t>
            </a:r>
            <a:r>
              <a:rPr lang="ko-KR" altLang="en-US" dirty="0">
                <a:solidFill>
                  <a:srgbClr val="FF0000"/>
                </a:solidFill>
              </a:rPr>
              <a:t>도</a:t>
            </a:r>
            <a:r>
              <a:rPr lang="en-US" altLang="ko-KR" dirty="0">
                <a:solidFill>
                  <a:srgbClr val="FF0000"/>
                </a:solidFill>
              </a:rPr>
              <a:t>6676) : </a:t>
            </a:r>
            <a:r>
              <a:rPr lang="ko-KR" altLang="en-US" dirty="0">
                <a:solidFill>
                  <a:srgbClr val="FF0000"/>
                </a:solidFill>
              </a:rPr>
              <a:t>별도의 추가적인 동의절차 不要</a:t>
            </a:r>
          </a:p>
        </p:txBody>
      </p:sp>
    </p:spTree>
    <p:extLst>
      <p:ext uri="{BB962C8B-B14F-4D97-AF65-F5344CB8AC3E}">
        <p14:creationId xmlns:p14="http://schemas.microsoft.com/office/powerpoint/2010/main" val="167909663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직무발명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직무발명 절차 규정에 따른 권리관계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119</a:t>
            </a:fld>
            <a:endParaRPr lang="ko-KR" altLang="en-US"/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47C3AF08-B0C6-4FD0-82DC-C8EF09D8A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053" y="1421586"/>
            <a:ext cx="1367798" cy="442368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defRPr/>
            </a:pPr>
            <a:r>
              <a:rPr kumimoji="0" lang="ko-KR" altLang="en-US" sz="1200">
                <a:solidFill>
                  <a:schemeClr val="bg1"/>
                </a:solidFill>
                <a:latin typeface="+mn-ea"/>
              </a:rPr>
              <a:t>예약승계 계약</a:t>
            </a: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C3E285FB-62DC-4927-8FC7-10254196B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053" y="2062919"/>
            <a:ext cx="1367798" cy="4423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defRPr/>
            </a:pPr>
            <a:r>
              <a:rPr kumimoji="0" lang="ko-KR" altLang="en-US" sz="1200">
                <a:latin typeface="+mn-ea"/>
              </a:rPr>
              <a:t>직무발명 완성</a:t>
            </a: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7E63E6F4-57AC-4608-98E8-89DD763E9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053" y="2776568"/>
            <a:ext cx="1367798" cy="4423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defRPr/>
            </a:pPr>
            <a:r>
              <a:rPr kumimoji="0" lang="ko-KR" altLang="en-US" sz="1200">
                <a:latin typeface="+mn-ea"/>
              </a:rPr>
              <a:t>완성사실통지</a:t>
            </a:r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215A8C94-8ABC-4EC6-9CFA-EA9222BA2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053" y="4852287"/>
            <a:ext cx="1367798" cy="44533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defRPr/>
            </a:pPr>
            <a:r>
              <a:rPr kumimoji="0"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승계 여부 의사 통지</a:t>
            </a:r>
          </a:p>
        </p:txBody>
      </p:sp>
      <p:sp>
        <p:nvSpPr>
          <p:cNvPr id="26" name="Rectangle 12">
            <a:extLst>
              <a:ext uri="{FF2B5EF4-FFF2-40B4-BE49-F238E27FC236}">
                <a16:creationId xmlns:a16="http://schemas.microsoft.com/office/drawing/2014/main" id="{BAFBCA75-DB3F-4385-876B-BD1099111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8627" y="4932226"/>
            <a:ext cx="1559914" cy="285460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kumimoji="0" lang="ko-KR" altLang="en-US" sz="1200" b="0">
                <a:solidFill>
                  <a:schemeClr val="tx1"/>
                </a:solidFill>
                <a:latin typeface="+mn-ea"/>
              </a:rPr>
              <a:t>종업원</a:t>
            </a:r>
          </a:p>
        </p:txBody>
      </p:sp>
      <p:sp>
        <p:nvSpPr>
          <p:cNvPr id="27" name="Rectangle 13">
            <a:extLst>
              <a:ext uri="{FF2B5EF4-FFF2-40B4-BE49-F238E27FC236}">
                <a16:creationId xmlns:a16="http://schemas.microsoft.com/office/drawing/2014/main" id="{FC765D87-C012-4655-83B0-BA6D3287B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8627" y="5290002"/>
            <a:ext cx="1559914" cy="283556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kumimoji="0" lang="ko-KR" altLang="en-US" sz="1200" b="0">
                <a:solidFill>
                  <a:schemeClr val="tx1"/>
                </a:solidFill>
                <a:latin typeface="+mn-ea"/>
              </a:rPr>
              <a:t>종업원</a:t>
            </a:r>
          </a:p>
        </p:txBody>
      </p:sp>
      <p:sp>
        <p:nvSpPr>
          <p:cNvPr id="28" name="Rectangle 14">
            <a:extLst>
              <a:ext uri="{FF2B5EF4-FFF2-40B4-BE49-F238E27FC236}">
                <a16:creationId xmlns:a16="http://schemas.microsoft.com/office/drawing/2014/main" id="{851C39E7-97A2-457E-AA8C-1F8FB868D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8627" y="4576352"/>
            <a:ext cx="1559914" cy="285460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kumimoji="0" lang="ko-KR" altLang="en-US" sz="1200" b="0" dirty="0">
                <a:solidFill>
                  <a:schemeClr val="tx1"/>
                </a:solidFill>
                <a:latin typeface="+mn-ea"/>
              </a:rPr>
              <a:t>종업원</a:t>
            </a:r>
          </a:p>
        </p:txBody>
      </p:sp>
      <p:sp>
        <p:nvSpPr>
          <p:cNvPr id="32" name="Rectangle 15">
            <a:extLst>
              <a:ext uri="{FF2B5EF4-FFF2-40B4-BE49-F238E27FC236}">
                <a16:creationId xmlns:a16="http://schemas.microsoft.com/office/drawing/2014/main" id="{62341B48-D373-4F58-A5A9-00294EAE1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0947" y="4932226"/>
            <a:ext cx="1557845" cy="285460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kumimoji="0" lang="ko-KR" altLang="en-US" sz="1200" b="0">
                <a:solidFill>
                  <a:schemeClr val="tx1"/>
                </a:solidFill>
                <a:latin typeface="+mn-ea"/>
              </a:rPr>
              <a:t>미지급</a:t>
            </a:r>
          </a:p>
        </p:txBody>
      </p:sp>
      <p:sp>
        <p:nvSpPr>
          <p:cNvPr id="33" name="Rectangle 16">
            <a:extLst>
              <a:ext uri="{FF2B5EF4-FFF2-40B4-BE49-F238E27FC236}">
                <a16:creationId xmlns:a16="http://schemas.microsoft.com/office/drawing/2014/main" id="{DD1CA5BD-4A50-40F1-9BC7-9741034A7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0947" y="5290002"/>
            <a:ext cx="1557845" cy="283556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kumimoji="0" lang="ko-KR" altLang="en-US" sz="1200" b="0">
                <a:solidFill>
                  <a:schemeClr val="tx1"/>
                </a:solidFill>
                <a:latin typeface="+mn-ea"/>
              </a:rPr>
              <a:t>미지급</a:t>
            </a:r>
          </a:p>
        </p:txBody>
      </p:sp>
      <p:sp>
        <p:nvSpPr>
          <p:cNvPr id="36" name="Rectangle 17">
            <a:extLst>
              <a:ext uri="{FF2B5EF4-FFF2-40B4-BE49-F238E27FC236}">
                <a16:creationId xmlns:a16="http://schemas.microsoft.com/office/drawing/2014/main" id="{D207B5DE-8209-48FF-A9A5-DDA954FAA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0947" y="4576352"/>
            <a:ext cx="1557845" cy="285460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kumimoji="0" lang="ko-KR" altLang="en-US" sz="1200" b="0" dirty="0">
                <a:solidFill>
                  <a:schemeClr val="tx1"/>
                </a:solidFill>
                <a:latin typeface="+mn-ea"/>
              </a:rPr>
              <a:t>미지급</a:t>
            </a:r>
          </a:p>
        </p:txBody>
      </p:sp>
      <p:sp>
        <p:nvSpPr>
          <p:cNvPr id="37" name="Rectangle 18">
            <a:extLst>
              <a:ext uri="{FF2B5EF4-FFF2-40B4-BE49-F238E27FC236}">
                <a16:creationId xmlns:a16="http://schemas.microsoft.com/office/drawing/2014/main" id="{E7C62D4B-7394-4059-AE62-06F3279E7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9130" y="4932226"/>
            <a:ext cx="1557845" cy="285460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kumimoji="0" lang="ko-KR" altLang="en-US" sz="1200" b="0" dirty="0">
                <a:solidFill>
                  <a:schemeClr val="tx1"/>
                </a:solidFill>
                <a:latin typeface="+mn-ea"/>
              </a:rPr>
              <a:t>인정 △</a:t>
            </a:r>
            <a:r>
              <a:rPr kumimoji="0" lang="en-US" altLang="ko-KR" sz="1200" b="0" dirty="0">
                <a:solidFill>
                  <a:schemeClr val="tx1"/>
                </a:solidFill>
                <a:latin typeface="+mn-ea"/>
              </a:rPr>
              <a:t>**</a:t>
            </a:r>
            <a:endParaRPr kumimoji="0"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Rectangle 19">
            <a:extLst>
              <a:ext uri="{FF2B5EF4-FFF2-40B4-BE49-F238E27FC236}">
                <a16:creationId xmlns:a16="http://schemas.microsoft.com/office/drawing/2014/main" id="{E8D89B5D-C954-4451-98C3-B940E6E8C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9130" y="5290002"/>
            <a:ext cx="1557845" cy="283556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lang="ko-KR" altLang="en-US" sz="1200" dirty="0">
                <a:latin typeface="+mn-ea"/>
              </a:rPr>
              <a:t>동의 필요</a:t>
            </a:r>
            <a:endParaRPr kumimoji="0"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9" name="Rectangle 20">
            <a:extLst>
              <a:ext uri="{FF2B5EF4-FFF2-40B4-BE49-F238E27FC236}">
                <a16:creationId xmlns:a16="http://schemas.microsoft.com/office/drawing/2014/main" id="{2CFAAEC5-D0BB-472D-8C23-55A0046F0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9130" y="4576352"/>
            <a:ext cx="1557845" cy="285460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kumimoji="0" lang="ko-KR" altLang="en-US" sz="1200" b="0" dirty="0">
                <a:solidFill>
                  <a:schemeClr val="tx1"/>
                </a:solidFill>
                <a:latin typeface="+mn-ea"/>
              </a:rPr>
              <a:t>인정 △</a:t>
            </a:r>
            <a:r>
              <a:rPr kumimoji="0" lang="en-US" altLang="ko-KR" sz="1200" b="0" dirty="0">
                <a:solidFill>
                  <a:schemeClr val="tx1"/>
                </a:solidFill>
                <a:latin typeface="+mn-ea"/>
              </a:rPr>
              <a:t>**</a:t>
            </a:r>
            <a:endParaRPr kumimoji="0"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3" name="Rectangle 40">
            <a:extLst>
              <a:ext uri="{FF2B5EF4-FFF2-40B4-BE49-F238E27FC236}">
                <a16:creationId xmlns:a16="http://schemas.microsoft.com/office/drawing/2014/main" id="{5B579888-C85A-47F3-B437-4C59F5009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053" y="3700924"/>
            <a:ext cx="1367798" cy="44533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defRPr/>
            </a:pPr>
            <a:r>
              <a:rPr kumimoji="0" lang="ko-KR" altLang="en-US" sz="1200" dirty="0" err="1">
                <a:solidFill>
                  <a:schemeClr val="bg2">
                    <a:lumMod val="50000"/>
                  </a:schemeClr>
                </a:solidFill>
                <a:latin typeface="+mn-ea"/>
              </a:rPr>
              <a:t>미승계</a:t>
            </a:r>
            <a:r>
              <a:rPr kumimoji="0"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 의사 통지</a:t>
            </a:r>
          </a:p>
        </p:txBody>
      </p:sp>
      <p:sp>
        <p:nvSpPr>
          <p:cNvPr id="45" name="Rectangle 42">
            <a:extLst>
              <a:ext uri="{FF2B5EF4-FFF2-40B4-BE49-F238E27FC236}">
                <a16:creationId xmlns:a16="http://schemas.microsoft.com/office/drawing/2014/main" id="{E0FE30B9-8521-4E8D-B82F-AF8E7E2FA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5030" y="3795739"/>
            <a:ext cx="1170970" cy="28355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defRPr/>
            </a:pPr>
            <a:r>
              <a:rPr kumimoji="0" lang="ko-KR" altLang="en-US" sz="1200">
                <a:solidFill>
                  <a:schemeClr val="bg2">
                    <a:lumMod val="50000"/>
                  </a:schemeClr>
                </a:solidFill>
                <a:latin typeface="+mn-ea"/>
              </a:rPr>
              <a:t>불통지</a:t>
            </a:r>
          </a:p>
        </p:txBody>
      </p:sp>
      <p:sp>
        <p:nvSpPr>
          <p:cNvPr id="47" name="Rectangle 44">
            <a:extLst>
              <a:ext uri="{FF2B5EF4-FFF2-40B4-BE49-F238E27FC236}">
                <a16:creationId xmlns:a16="http://schemas.microsoft.com/office/drawing/2014/main" id="{F9194358-A26A-4395-B2CA-9D0F06A3F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8627" y="3780863"/>
            <a:ext cx="1559914" cy="285460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lang="ko-KR" altLang="en-US" sz="1200" dirty="0">
                <a:latin typeface="+mn-ea"/>
              </a:rPr>
              <a:t>사용자</a:t>
            </a:r>
            <a:endParaRPr kumimoji="0"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8" name="Rectangle 45">
            <a:extLst>
              <a:ext uri="{FF2B5EF4-FFF2-40B4-BE49-F238E27FC236}">
                <a16:creationId xmlns:a16="http://schemas.microsoft.com/office/drawing/2014/main" id="{CCAA9FCD-85BF-4F4F-88AA-F1A864A38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8627" y="4214839"/>
            <a:ext cx="1559914" cy="283556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kumimoji="0" lang="ko-KR" altLang="en-US" sz="1200" b="0" dirty="0">
                <a:solidFill>
                  <a:schemeClr val="tx1"/>
                </a:solidFill>
                <a:latin typeface="+mn-ea"/>
              </a:rPr>
              <a:t>사용자</a:t>
            </a:r>
          </a:p>
        </p:txBody>
      </p:sp>
      <p:sp>
        <p:nvSpPr>
          <p:cNvPr id="49" name="Rectangle 46">
            <a:extLst>
              <a:ext uri="{FF2B5EF4-FFF2-40B4-BE49-F238E27FC236}">
                <a16:creationId xmlns:a16="http://schemas.microsoft.com/office/drawing/2014/main" id="{6654CA81-37A6-4073-A33F-472924FD1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8627" y="3426893"/>
            <a:ext cx="1559914" cy="283556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kumimoji="0" lang="ko-KR" altLang="en-US" sz="1200" b="0" dirty="0">
                <a:solidFill>
                  <a:schemeClr val="tx1"/>
                </a:solidFill>
                <a:latin typeface="+mn-ea"/>
              </a:rPr>
              <a:t>종업원</a:t>
            </a:r>
          </a:p>
        </p:txBody>
      </p:sp>
      <p:sp>
        <p:nvSpPr>
          <p:cNvPr id="50" name="Rectangle 47">
            <a:extLst>
              <a:ext uri="{FF2B5EF4-FFF2-40B4-BE49-F238E27FC236}">
                <a16:creationId xmlns:a16="http://schemas.microsoft.com/office/drawing/2014/main" id="{5F57B121-BB33-4757-BF08-4483FCC02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0947" y="3780863"/>
            <a:ext cx="1557845" cy="285460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kumimoji="0" lang="ko-KR" altLang="en-US" sz="1200" b="0" dirty="0">
                <a:solidFill>
                  <a:schemeClr val="tx1"/>
                </a:solidFill>
                <a:latin typeface="+mn-ea"/>
              </a:rPr>
              <a:t>지급</a:t>
            </a:r>
          </a:p>
        </p:txBody>
      </p:sp>
      <p:sp>
        <p:nvSpPr>
          <p:cNvPr id="51" name="Rectangle 48">
            <a:extLst>
              <a:ext uri="{FF2B5EF4-FFF2-40B4-BE49-F238E27FC236}">
                <a16:creationId xmlns:a16="http://schemas.microsoft.com/office/drawing/2014/main" id="{93214ECE-03D4-40F5-B764-16AA605C3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0947" y="4214839"/>
            <a:ext cx="1557845" cy="283556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kumimoji="0" lang="ko-KR" altLang="en-US" sz="1200" b="0" dirty="0">
                <a:solidFill>
                  <a:schemeClr val="tx1"/>
                </a:solidFill>
                <a:latin typeface="+mn-ea"/>
              </a:rPr>
              <a:t>지급</a:t>
            </a:r>
          </a:p>
        </p:txBody>
      </p:sp>
      <p:sp>
        <p:nvSpPr>
          <p:cNvPr id="52" name="Rectangle 49">
            <a:extLst>
              <a:ext uri="{FF2B5EF4-FFF2-40B4-BE49-F238E27FC236}">
                <a16:creationId xmlns:a16="http://schemas.microsoft.com/office/drawing/2014/main" id="{1D26CD26-6ACC-4B4D-9F03-DA1FD08E2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0947" y="3426893"/>
            <a:ext cx="1557845" cy="283556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kumimoji="0" lang="ko-KR" altLang="en-US" sz="1200" b="0" dirty="0">
                <a:solidFill>
                  <a:schemeClr val="tx1"/>
                </a:solidFill>
                <a:latin typeface="+mn-ea"/>
              </a:rPr>
              <a:t>미지급</a:t>
            </a:r>
          </a:p>
        </p:txBody>
      </p:sp>
      <p:sp>
        <p:nvSpPr>
          <p:cNvPr id="53" name="Rectangle 50">
            <a:extLst>
              <a:ext uri="{FF2B5EF4-FFF2-40B4-BE49-F238E27FC236}">
                <a16:creationId xmlns:a16="http://schemas.microsoft.com/office/drawing/2014/main" id="{CFE468E8-3B93-431F-A9BE-4A68C48FB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9130" y="3780863"/>
            <a:ext cx="1557845" cy="285460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kumimoji="0" lang="en-US" altLang="ko-KR" sz="1200" b="0" dirty="0">
                <a:solidFill>
                  <a:schemeClr val="tx1"/>
                </a:solidFill>
                <a:latin typeface="+mn-ea"/>
              </a:rPr>
              <a:t>-*</a:t>
            </a:r>
            <a:endParaRPr kumimoji="0"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Rectangle 51">
            <a:extLst>
              <a:ext uri="{FF2B5EF4-FFF2-40B4-BE49-F238E27FC236}">
                <a16:creationId xmlns:a16="http://schemas.microsoft.com/office/drawing/2014/main" id="{1E4471B3-5814-4639-8FAD-A83C163B0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9130" y="4214839"/>
            <a:ext cx="1557845" cy="283556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kumimoji="0" lang="en-US" altLang="ko-KR" sz="1200" b="0" dirty="0">
                <a:solidFill>
                  <a:schemeClr val="tx1"/>
                </a:solidFill>
                <a:latin typeface="+mn-ea"/>
              </a:rPr>
              <a:t>-*</a:t>
            </a:r>
            <a:endParaRPr kumimoji="0"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5" name="Rectangle 52">
            <a:extLst>
              <a:ext uri="{FF2B5EF4-FFF2-40B4-BE49-F238E27FC236}">
                <a16:creationId xmlns:a16="http://schemas.microsoft.com/office/drawing/2014/main" id="{672436F0-AA8F-42C9-BB0A-34635E477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9130" y="3426893"/>
            <a:ext cx="1557845" cy="283556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kumimoji="0" lang="ko-KR" altLang="en-US" sz="1200" b="0" dirty="0">
                <a:solidFill>
                  <a:schemeClr val="tx1"/>
                </a:solidFill>
                <a:latin typeface="+mn-ea"/>
              </a:rPr>
              <a:t>인정</a:t>
            </a:r>
          </a:p>
        </p:txBody>
      </p:sp>
      <p:cxnSp>
        <p:nvCxnSpPr>
          <p:cNvPr id="57" name="AutoShape 54">
            <a:extLst>
              <a:ext uri="{FF2B5EF4-FFF2-40B4-BE49-F238E27FC236}">
                <a16:creationId xmlns:a16="http://schemas.microsoft.com/office/drawing/2014/main" id="{9804D381-9487-4781-B364-35B3829F4022}"/>
              </a:ext>
            </a:extLst>
          </p:cNvPr>
          <p:cNvCxnSpPr>
            <a:cxnSpLocks noChangeShapeType="1"/>
            <a:stCxn id="43" idx="3"/>
            <a:endCxn id="15" idx="1"/>
          </p:cNvCxnSpPr>
          <p:nvPr/>
        </p:nvCxnSpPr>
        <p:spPr bwMode="auto">
          <a:xfrm flipV="1">
            <a:off x="2845851" y="3568671"/>
            <a:ext cx="2079179" cy="354922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003300"/>
            </a:solidFill>
            <a:miter lim="800000"/>
            <a:headEnd/>
            <a:tailEnd/>
          </a:ln>
        </p:spPr>
      </p:cxnSp>
      <p:cxnSp>
        <p:nvCxnSpPr>
          <p:cNvPr id="58" name="AutoShape 55">
            <a:extLst>
              <a:ext uri="{FF2B5EF4-FFF2-40B4-BE49-F238E27FC236}">
                <a16:creationId xmlns:a16="http://schemas.microsoft.com/office/drawing/2014/main" id="{016B29B4-A7FA-4BDD-99ED-98611A3B6CCC}"/>
              </a:ext>
            </a:extLst>
          </p:cNvPr>
          <p:cNvCxnSpPr>
            <a:cxnSpLocks noChangeShapeType="1"/>
            <a:stCxn id="43" idx="3"/>
            <a:endCxn id="45" idx="1"/>
          </p:cNvCxnSpPr>
          <p:nvPr/>
        </p:nvCxnSpPr>
        <p:spPr bwMode="auto">
          <a:xfrm>
            <a:off x="2845851" y="3923593"/>
            <a:ext cx="2079179" cy="13924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003300"/>
            </a:solidFill>
            <a:miter lim="800000"/>
            <a:headEnd/>
            <a:tailEnd/>
          </a:ln>
        </p:spPr>
      </p:cxnSp>
      <p:sp>
        <p:nvSpPr>
          <p:cNvPr id="59" name="Rectangle 56">
            <a:extLst>
              <a:ext uri="{FF2B5EF4-FFF2-40B4-BE49-F238E27FC236}">
                <a16:creationId xmlns:a16="http://schemas.microsoft.com/office/drawing/2014/main" id="{B6A7AE82-029A-4726-AA6E-2B40477C5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8627" y="3069117"/>
            <a:ext cx="1559914" cy="28546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defRPr/>
            </a:pPr>
            <a:r>
              <a:rPr kumimoji="0" lang="ko-KR" altLang="en-US" sz="1200">
                <a:solidFill>
                  <a:schemeClr val="bg1"/>
                </a:solidFill>
                <a:latin typeface="+mn-ea"/>
              </a:rPr>
              <a:t>권리귀속</a:t>
            </a:r>
          </a:p>
        </p:txBody>
      </p:sp>
      <p:sp>
        <p:nvSpPr>
          <p:cNvPr id="60" name="Rectangle 57">
            <a:extLst>
              <a:ext uri="{FF2B5EF4-FFF2-40B4-BE49-F238E27FC236}">
                <a16:creationId xmlns:a16="http://schemas.microsoft.com/office/drawing/2014/main" id="{871B2D39-28DA-4322-976A-E3C2F36C1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0947" y="3069117"/>
            <a:ext cx="1557845" cy="28546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defRPr/>
            </a:pPr>
            <a:r>
              <a:rPr kumimoji="0" lang="ko-KR" altLang="en-US" sz="1200">
                <a:solidFill>
                  <a:schemeClr val="bg1"/>
                </a:solidFill>
                <a:latin typeface="+mn-ea"/>
              </a:rPr>
              <a:t>보상금 지급</a:t>
            </a:r>
          </a:p>
        </p:txBody>
      </p:sp>
      <p:sp>
        <p:nvSpPr>
          <p:cNvPr id="61" name="Rectangle 58">
            <a:extLst>
              <a:ext uri="{FF2B5EF4-FFF2-40B4-BE49-F238E27FC236}">
                <a16:creationId xmlns:a16="http://schemas.microsoft.com/office/drawing/2014/main" id="{1D813920-A660-45B1-B389-21D840FCF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9130" y="3069117"/>
            <a:ext cx="1557845" cy="28546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defRPr/>
            </a:pPr>
            <a:r>
              <a:rPr kumimoji="0" lang="ko-KR" altLang="en-US" sz="1200" dirty="0" err="1">
                <a:solidFill>
                  <a:schemeClr val="bg1"/>
                </a:solidFill>
                <a:latin typeface="+mn-ea"/>
              </a:rPr>
              <a:t>법정실시권</a:t>
            </a:r>
            <a:r>
              <a:rPr kumimoji="0" lang="ko-KR" altLang="en-US" sz="1200" dirty="0">
                <a:solidFill>
                  <a:schemeClr val="bg1"/>
                </a:solidFill>
                <a:latin typeface="+mn-ea"/>
              </a:rPr>
              <a:t> 인정</a:t>
            </a:r>
          </a:p>
        </p:txBody>
      </p:sp>
      <p:cxnSp>
        <p:nvCxnSpPr>
          <p:cNvPr id="62" name="AutoShape 59">
            <a:extLst>
              <a:ext uri="{FF2B5EF4-FFF2-40B4-BE49-F238E27FC236}">
                <a16:creationId xmlns:a16="http://schemas.microsoft.com/office/drawing/2014/main" id="{72D3A10A-9ADB-4B09-A615-7C70949A9644}"/>
              </a:ext>
            </a:extLst>
          </p:cNvPr>
          <p:cNvCxnSpPr>
            <a:cxnSpLocks noChangeShapeType="1"/>
            <a:stCxn id="17" idx="2"/>
            <a:endCxn id="18" idx="0"/>
          </p:cNvCxnSpPr>
          <p:nvPr/>
        </p:nvCxnSpPr>
        <p:spPr bwMode="auto">
          <a:xfrm>
            <a:off x="2161952" y="1863954"/>
            <a:ext cx="0" cy="198965"/>
          </a:xfrm>
          <a:prstGeom prst="straightConnector1">
            <a:avLst/>
          </a:prstGeom>
          <a:noFill/>
          <a:ln w="12700">
            <a:solidFill>
              <a:srgbClr val="003300"/>
            </a:solidFill>
            <a:round/>
            <a:headEnd/>
            <a:tailEnd type="stealth" w="lg" len="med"/>
          </a:ln>
        </p:spPr>
      </p:cxnSp>
      <p:cxnSp>
        <p:nvCxnSpPr>
          <p:cNvPr id="63" name="AutoShape 61">
            <a:extLst>
              <a:ext uri="{FF2B5EF4-FFF2-40B4-BE49-F238E27FC236}">
                <a16:creationId xmlns:a16="http://schemas.microsoft.com/office/drawing/2014/main" id="{FDAB9DBB-5421-470B-AE8C-C7954913684D}"/>
              </a:ext>
            </a:extLst>
          </p:cNvPr>
          <p:cNvCxnSpPr>
            <a:cxnSpLocks noChangeShapeType="1"/>
            <a:stCxn id="18" idx="2"/>
            <a:endCxn id="19" idx="0"/>
          </p:cNvCxnSpPr>
          <p:nvPr/>
        </p:nvCxnSpPr>
        <p:spPr bwMode="auto">
          <a:xfrm>
            <a:off x="2161952" y="2505287"/>
            <a:ext cx="0" cy="271281"/>
          </a:xfrm>
          <a:prstGeom prst="straightConnector1">
            <a:avLst/>
          </a:prstGeom>
          <a:noFill/>
          <a:ln w="12700">
            <a:solidFill>
              <a:srgbClr val="003300"/>
            </a:solidFill>
            <a:round/>
            <a:headEnd/>
            <a:tailEnd type="stealth" w="lg" len="med"/>
          </a:ln>
        </p:spPr>
      </p:cxnSp>
      <p:cxnSp>
        <p:nvCxnSpPr>
          <p:cNvPr id="64" name="AutoShape 62">
            <a:extLst>
              <a:ext uri="{FF2B5EF4-FFF2-40B4-BE49-F238E27FC236}">
                <a16:creationId xmlns:a16="http://schemas.microsoft.com/office/drawing/2014/main" id="{90C428C7-92F8-4B9F-8057-8F97AA84212D}"/>
              </a:ext>
            </a:extLst>
          </p:cNvPr>
          <p:cNvCxnSpPr>
            <a:cxnSpLocks noChangeShapeType="1"/>
            <a:stCxn id="19" idx="2"/>
            <a:endCxn id="43" idx="0"/>
          </p:cNvCxnSpPr>
          <p:nvPr/>
        </p:nvCxnSpPr>
        <p:spPr bwMode="auto">
          <a:xfrm>
            <a:off x="2161952" y="3218936"/>
            <a:ext cx="0" cy="481988"/>
          </a:xfrm>
          <a:prstGeom prst="straightConnector1">
            <a:avLst/>
          </a:prstGeom>
          <a:noFill/>
          <a:ln w="12700">
            <a:solidFill>
              <a:srgbClr val="003300"/>
            </a:solidFill>
            <a:round/>
            <a:headEnd/>
            <a:tailEnd type="stealth" w="lg" len="med"/>
          </a:ln>
        </p:spPr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B828F9E6-7FBE-4F40-A6CD-59B5CFDF3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5360" y="3284162"/>
            <a:ext cx="1754385" cy="28355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>
              <a:lnSpc>
                <a:spcPct val="120000"/>
              </a:lnSpc>
            </a:pPr>
            <a:r>
              <a:rPr kumimoji="0" lang="ko-KR" altLang="en-US" sz="1200" b="0">
                <a:solidFill>
                  <a:srgbClr val="000000"/>
                </a:solidFill>
                <a:latin typeface="+mn-ea"/>
              </a:rPr>
              <a:t>예약승계</a:t>
            </a:r>
          </a:p>
          <a:p>
            <a:pPr latinLnBrk="0">
              <a:lnSpc>
                <a:spcPct val="120000"/>
              </a:lnSpc>
            </a:pPr>
            <a:r>
              <a:rPr kumimoji="0" lang="ko-KR" altLang="en-US" sz="1200" b="0">
                <a:solidFill>
                  <a:srgbClr val="000000"/>
                </a:solidFill>
                <a:latin typeface="+mn-ea"/>
              </a:rPr>
              <a:t>계약존재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6B23DFE-23A1-49C2-9072-F88F0EF2A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5787" y="4424098"/>
            <a:ext cx="1754385" cy="28546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>
              <a:lnSpc>
                <a:spcPct val="120000"/>
              </a:lnSpc>
            </a:pPr>
            <a:r>
              <a:rPr kumimoji="0" lang="ko-KR" altLang="en-US" sz="1200" b="0">
                <a:solidFill>
                  <a:srgbClr val="000000"/>
                </a:solidFill>
                <a:latin typeface="+mn-ea"/>
              </a:rPr>
              <a:t>예약승계계약 </a:t>
            </a:r>
          </a:p>
          <a:p>
            <a:pPr latinLnBrk="0">
              <a:lnSpc>
                <a:spcPct val="120000"/>
              </a:lnSpc>
            </a:pPr>
            <a:r>
              <a:rPr kumimoji="0" lang="ko-KR" altLang="en-US" sz="1200" b="0">
                <a:solidFill>
                  <a:srgbClr val="000000"/>
                </a:solidFill>
                <a:latin typeface="+mn-ea"/>
              </a:rPr>
              <a:t>부존재</a:t>
            </a:r>
          </a:p>
        </p:txBody>
      </p:sp>
      <p:cxnSp>
        <p:nvCxnSpPr>
          <p:cNvPr id="67" name="AutoShape 66">
            <a:extLst>
              <a:ext uri="{FF2B5EF4-FFF2-40B4-BE49-F238E27FC236}">
                <a16:creationId xmlns:a16="http://schemas.microsoft.com/office/drawing/2014/main" id="{4A703E7D-74F6-4511-8305-ADCE2F46794E}"/>
              </a:ext>
            </a:extLst>
          </p:cNvPr>
          <p:cNvCxnSpPr>
            <a:cxnSpLocks noChangeShapeType="1"/>
            <a:stCxn id="19" idx="1"/>
            <a:endCxn id="20" idx="0"/>
          </p:cNvCxnSpPr>
          <p:nvPr/>
        </p:nvCxnSpPr>
        <p:spPr bwMode="auto">
          <a:xfrm rot="10800000" flipH="1" flipV="1">
            <a:off x="1478052" y="2997751"/>
            <a:ext cx="683899" cy="1854535"/>
          </a:xfrm>
          <a:prstGeom prst="bentConnector4">
            <a:avLst>
              <a:gd name="adj1" fmla="val -33426"/>
              <a:gd name="adj2" fmla="val 71915"/>
            </a:avLst>
          </a:prstGeom>
          <a:noFill/>
          <a:ln w="12700">
            <a:solidFill>
              <a:srgbClr val="003300"/>
            </a:solidFill>
            <a:miter lim="800000"/>
            <a:headEnd/>
            <a:tailEnd type="stealth" w="lg" len="med"/>
          </a:ln>
        </p:spPr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3836406A-A90A-4C36-894A-3B247B7BF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4011" y="1702717"/>
            <a:ext cx="682721" cy="28355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defRPr/>
            </a:pPr>
            <a:endParaRPr kumimoji="0" lang="ko-KR" altLang="en-US" sz="1200" b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4824F55-42C4-45AF-AADE-BD3F24FB1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9132" y="1702717"/>
            <a:ext cx="1756454" cy="283556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/>
            <a:r>
              <a:rPr kumimoji="0" lang="ko-KR" altLang="en-US" sz="1200" b="0">
                <a:solidFill>
                  <a:srgbClr val="000000"/>
                </a:solidFill>
                <a:latin typeface="+mn-ea"/>
              </a:rPr>
              <a:t>종업원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DD6F56A-1010-4BC7-8E30-A52CD5ED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9132" y="2058589"/>
            <a:ext cx="1756454" cy="28546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/>
            <a:r>
              <a:rPr kumimoji="0" lang="ko-KR" altLang="en-US" sz="1200" b="0">
                <a:solidFill>
                  <a:srgbClr val="000000"/>
                </a:solidFill>
                <a:latin typeface="+mn-ea"/>
              </a:rPr>
              <a:t>사용자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C57B5A3-F23B-47E2-B9B3-5354EEAA6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9132" y="2416365"/>
            <a:ext cx="1756454" cy="28355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/>
            <a:r>
              <a:rPr kumimoji="0" lang="ko-KR" altLang="en-US" sz="1200" b="0">
                <a:solidFill>
                  <a:srgbClr val="000000"/>
                </a:solidFill>
                <a:latin typeface="+mn-ea"/>
              </a:rPr>
              <a:t>사용자와 종업원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2EF9AA5-C6AA-4591-B296-DCC1E5C7E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4011" y="2058589"/>
            <a:ext cx="682721" cy="2854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latinLnBrk="0">
              <a:defRPr/>
            </a:pPr>
            <a:endParaRPr kumimoji="0" lang="ko-KR" altLang="en-US" sz="1200" b="0">
              <a:solidFill>
                <a:schemeClr val="bg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E58A239-7360-4ED1-930F-ADAD3C10A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4011" y="2414463"/>
            <a:ext cx="682721" cy="283556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latinLnBrk="0">
              <a:defRPr/>
            </a:pPr>
            <a:endParaRPr kumimoji="0" lang="ko-KR" altLang="en-US" sz="1200" b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9EDB0800-1FFD-4068-8DBF-FC0FEB180B77}"/>
              </a:ext>
            </a:extLst>
          </p:cNvPr>
          <p:cNvSpPr/>
          <p:nvPr/>
        </p:nvSpPr>
        <p:spPr>
          <a:xfrm>
            <a:off x="806607" y="6083025"/>
            <a:ext cx="1039910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8900" indent="-88900"/>
            <a:r>
              <a:rPr lang="en-US" altLang="ko-KR" sz="1100" dirty="0"/>
              <a:t>* </a:t>
            </a:r>
            <a:r>
              <a:rPr lang="ko-KR" altLang="en-US" sz="1100" dirty="0"/>
              <a:t>법정실시권은 혼동에 의해 소멸</a:t>
            </a:r>
            <a:endParaRPr lang="en-US" altLang="ko-KR" sz="1100" dirty="0"/>
          </a:p>
          <a:p>
            <a:pPr marL="88900" indent="-88900"/>
            <a:r>
              <a:rPr lang="ko-KR" altLang="en-US" sz="1100" dirty="0"/>
              <a:t>*</a:t>
            </a:r>
            <a:r>
              <a:rPr lang="en-US" altLang="ko-KR" sz="1100" dirty="0"/>
              <a:t>*</a:t>
            </a:r>
            <a:r>
              <a:rPr lang="ko-KR" altLang="en-US" sz="1100" dirty="0"/>
              <a:t> 중소기업기본법」 제</a:t>
            </a:r>
            <a:r>
              <a:rPr lang="en-US" altLang="ko-KR" sz="1100" dirty="0"/>
              <a:t>2</a:t>
            </a:r>
            <a:r>
              <a:rPr lang="ko-KR" altLang="en-US" sz="1100" dirty="0"/>
              <a:t>조에 따른 중소기업이 아닌 기업은 종업원 등과의 협의를 거쳐 미리 예약승계에 관한 계약 또는 근무규정을 체결 또는 작성하지 않았다면 </a:t>
            </a:r>
            <a:r>
              <a:rPr lang="ko-KR" altLang="en-US" sz="1100" dirty="0" err="1"/>
              <a:t>통상실시권</a:t>
            </a:r>
            <a:r>
              <a:rPr lang="ko-KR" altLang="en-US" sz="1100" dirty="0"/>
              <a:t> 불인정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C31CD27-A1DB-4DFB-9D4D-2DAD9BB5C318}"/>
              </a:ext>
            </a:extLst>
          </p:cNvPr>
          <p:cNvSpPr/>
          <p:nvPr/>
        </p:nvSpPr>
        <p:spPr>
          <a:xfrm>
            <a:off x="914400" y="1155940"/>
            <a:ext cx="10587318" cy="485667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ectangle 43">
            <a:extLst>
              <a:ext uri="{FF2B5EF4-FFF2-40B4-BE49-F238E27FC236}">
                <a16:creationId xmlns:a16="http://schemas.microsoft.com/office/drawing/2014/main" id="{64CA581F-B410-6C8B-28F3-917BA14FF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5030" y="3426893"/>
            <a:ext cx="1170970" cy="28355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defRPr/>
            </a:pPr>
            <a:r>
              <a:rPr kumimoji="0"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미승계통지</a:t>
            </a:r>
          </a:p>
        </p:txBody>
      </p:sp>
      <p:sp>
        <p:nvSpPr>
          <p:cNvPr id="31" name="Rectangle 42">
            <a:extLst>
              <a:ext uri="{FF2B5EF4-FFF2-40B4-BE49-F238E27FC236}">
                <a16:creationId xmlns:a16="http://schemas.microsoft.com/office/drawing/2014/main" id="{38DEC242-F4B6-1DAA-62C3-CEFE0B47D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5030" y="4935673"/>
            <a:ext cx="1170970" cy="28355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defRPr/>
            </a:pPr>
            <a:r>
              <a:rPr kumimoji="0"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미승계통지</a:t>
            </a:r>
          </a:p>
        </p:txBody>
      </p:sp>
      <p:sp>
        <p:nvSpPr>
          <p:cNvPr id="34" name="Rectangle 43">
            <a:extLst>
              <a:ext uri="{FF2B5EF4-FFF2-40B4-BE49-F238E27FC236}">
                <a16:creationId xmlns:a16="http://schemas.microsoft.com/office/drawing/2014/main" id="{E380FE34-AAD1-B7EF-7776-01BEAE35D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731" y="4223927"/>
            <a:ext cx="985461" cy="28355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defRPr/>
            </a:pPr>
            <a:r>
              <a:rPr kumimoji="0"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승계통지</a:t>
            </a:r>
          </a:p>
        </p:txBody>
      </p:sp>
      <p:sp>
        <p:nvSpPr>
          <p:cNvPr id="35" name="Rectangle 41">
            <a:extLst>
              <a:ext uri="{FF2B5EF4-FFF2-40B4-BE49-F238E27FC236}">
                <a16:creationId xmlns:a16="http://schemas.microsoft.com/office/drawing/2014/main" id="{2648C492-5F69-5C44-CAA1-19300E68F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5030" y="4577897"/>
            <a:ext cx="1170970" cy="2854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defRPr/>
            </a:pPr>
            <a:r>
              <a:rPr lang="ko-KR" altLang="en-US" sz="1200" dirty="0" err="1">
                <a:solidFill>
                  <a:schemeClr val="bg1"/>
                </a:solidFill>
                <a:latin typeface="+mn-ea"/>
              </a:rPr>
              <a:t>양도불승낙</a:t>
            </a:r>
            <a:endParaRPr kumimoji="0" lang="ko-KR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5" name="Rectangle 43">
            <a:extLst>
              <a:ext uri="{FF2B5EF4-FFF2-40B4-BE49-F238E27FC236}">
                <a16:creationId xmlns:a16="http://schemas.microsoft.com/office/drawing/2014/main" id="{9C3005B7-5EFD-6AA4-B01D-658064A29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5030" y="4223927"/>
            <a:ext cx="1170970" cy="28355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defRPr/>
            </a:pPr>
            <a:r>
              <a:rPr kumimoji="0" lang="ko-KR" altLang="en-US" sz="1200" dirty="0">
                <a:solidFill>
                  <a:schemeClr val="bg1"/>
                </a:solidFill>
                <a:latin typeface="+mn-ea"/>
              </a:rPr>
              <a:t>양도승낙</a:t>
            </a:r>
          </a:p>
        </p:txBody>
      </p:sp>
      <p:cxnSp>
        <p:nvCxnSpPr>
          <p:cNvPr id="82" name="AutoShape 55">
            <a:extLst>
              <a:ext uri="{FF2B5EF4-FFF2-40B4-BE49-F238E27FC236}">
                <a16:creationId xmlns:a16="http://schemas.microsoft.com/office/drawing/2014/main" id="{B72054C8-AA26-0E5A-C217-22B8041CBE1E}"/>
              </a:ext>
            </a:extLst>
          </p:cNvPr>
          <p:cNvCxnSpPr>
            <a:cxnSpLocks noChangeShapeType="1"/>
            <a:stCxn id="34" idx="3"/>
            <a:endCxn id="35" idx="1"/>
          </p:cNvCxnSpPr>
          <p:nvPr/>
        </p:nvCxnSpPr>
        <p:spPr bwMode="auto">
          <a:xfrm>
            <a:off x="4703192" y="4365705"/>
            <a:ext cx="221838" cy="354922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003300"/>
            </a:solidFill>
            <a:miter lim="800000"/>
            <a:headEnd/>
            <a:tailEnd/>
          </a:ln>
        </p:spPr>
      </p:cxnSp>
      <p:cxnSp>
        <p:nvCxnSpPr>
          <p:cNvPr id="85" name="AutoShape 55">
            <a:extLst>
              <a:ext uri="{FF2B5EF4-FFF2-40B4-BE49-F238E27FC236}">
                <a16:creationId xmlns:a16="http://schemas.microsoft.com/office/drawing/2014/main" id="{E8E3EEE6-F5CB-E8DA-4DA1-8098F08AB6B2}"/>
              </a:ext>
            </a:extLst>
          </p:cNvPr>
          <p:cNvCxnSpPr>
            <a:cxnSpLocks noChangeShapeType="1"/>
            <a:stCxn id="34" idx="3"/>
            <a:endCxn id="75" idx="1"/>
          </p:cNvCxnSpPr>
          <p:nvPr/>
        </p:nvCxnSpPr>
        <p:spPr bwMode="auto">
          <a:xfrm>
            <a:off x="4703192" y="4365705"/>
            <a:ext cx="221838" cy="127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003300"/>
            </a:solidFill>
            <a:miter lim="800000"/>
            <a:headEnd/>
            <a:tailEnd/>
          </a:ln>
        </p:spPr>
      </p:cxnSp>
      <p:cxnSp>
        <p:nvCxnSpPr>
          <p:cNvPr id="88" name="AutoShape 55">
            <a:extLst>
              <a:ext uri="{FF2B5EF4-FFF2-40B4-BE49-F238E27FC236}">
                <a16:creationId xmlns:a16="http://schemas.microsoft.com/office/drawing/2014/main" id="{85590966-80D0-9B08-C31D-1573C379D6F3}"/>
              </a:ext>
            </a:extLst>
          </p:cNvPr>
          <p:cNvCxnSpPr>
            <a:cxnSpLocks noChangeShapeType="1"/>
            <a:stCxn id="20" idx="3"/>
            <a:endCxn id="31" idx="1"/>
          </p:cNvCxnSpPr>
          <p:nvPr/>
        </p:nvCxnSpPr>
        <p:spPr bwMode="auto">
          <a:xfrm>
            <a:off x="2845851" y="5074956"/>
            <a:ext cx="2079179" cy="2495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003300"/>
            </a:solidFill>
            <a:miter lim="800000"/>
            <a:headEnd/>
            <a:tailEnd/>
          </a:ln>
        </p:spPr>
      </p:cxnSp>
      <p:cxnSp>
        <p:nvCxnSpPr>
          <p:cNvPr id="91" name="AutoShape 55">
            <a:extLst>
              <a:ext uri="{FF2B5EF4-FFF2-40B4-BE49-F238E27FC236}">
                <a16:creationId xmlns:a16="http://schemas.microsoft.com/office/drawing/2014/main" id="{876B621C-C1C8-141D-69E3-991D5F85D2E9}"/>
              </a:ext>
            </a:extLst>
          </p:cNvPr>
          <p:cNvCxnSpPr>
            <a:cxnSpLocks noChangeShapeType="1"/>
            <a:stCxn id="20" idx="3"/>
            <a:endCxn id="34" idx="1"/>
          </p:cNvCxnSpPr>
          <p:nvPr/>
        </p:nvCxnSpPr>
        <p:spPr bwMode="auto">
          <a:xfrm flipV="1">
            <a:off x="2845851" y="4365705"/>
            <a:ext cx="871880" cy="709251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003300"/>
            </a:solidFill>
            <a:miter lim="800000"/>
            <a:headEnd/>
            <a:tailEnd/>
          </a:ln>
        </p:spPr>
      </p:cxnSp>
      <p:sp>
        <p:nvSpPr>
          <p:cNvPr id="16" name="Rectangle 42">
            <a:extLst>
              <a:ext uri="{FF2B5EF4-FFF2-40B4-BE49-F238E27FC236}">
                <a16:creationId xmlns:a16="http://schemas.microsoft.com/office/drawing/2014/main" id="{15A3B6F6-5111-5609-6E51-F6E77AA6A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5030" y="5278571"/>
            <a:ext cx="1170970" cy="28355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defRPr/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불통지</a:t>
            </a:r>
            <a:endParaRPr kumimoji="0" lang="ko-KR" altLang="en-US" sz="1200" dirty="0">
              <a:solidFill>
                <a:schemeClr val="bg2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23" name="AutoShape 55">
            <a:extLst>
              <a:ext uri="{FF2B5EF4-FFF2-40B4-BE49-F238E27FC236}">
                <a16:creationId xmlns:a16="http://schemas.microsoft.com/office/drawing/2014/main" id="{6DE1B58A-BC4A-C7E6-BD0C-72C08C1A58C7}"/>
              </a:ext>
            </a:extLst>
          </p:cNvPr>
          <p:cNvCxnSpPr>
            <a:cxnSpLocks noChangeShapeType="1"/>
            <a:stCxn id="20" idx="3"/>
            <a:endCxn id="16" idx="1"/>
          </p:cNvCxnSpPr>
          <p:nvPr/>
        </p:nvCxnSpPr>
        <p:spPr bwMode="auto">
          <a:xfrm>
            <a:off x="2845851" y="5074956"/>
            <a:ext cx="2079179" cy="345393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003300"/>
            </a:solidFill>
            <a:miter lim="800000"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98623287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직무발명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정당한 보상액의 결정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715" y="1150625"/>
            <a:ext cx="840897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/>
              <a:t>기존</a:t>
            </a:r>
            <a:endParaRPr lang="ko-KR" altLang="en-US" sz="1600" dirty="0"/>
          </a:p>
        </p:txBody>
      </p:sp>
      <p:sp>
        <p:nvSpPr>
          <p:cNvPr id="24" name="TextBox 23"/>
          <p:cNvSpPr txBox="1"/>
          <p:nvPr/>
        </p:nvSpPr>
        <p:spPr>
          <a:xfrm>
            <a:off x="761715" y="2098892"/>
            <a:ext cx="840897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현재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11879" y="1150625"/>
            <a:ext cx="457725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사용자 등이 얻을 이익 </a:t>
            </a:r>
            <a:r>
              <a:rPr lang="en-US" altLang="ko-KR" sz="1600" dirty="0"/>
              <a:t>× </a:t>
            </a:r>
            <a:r>
              <a:rPr lang="ko-KR" altLang="en-US" sz="1600" dirty="0"/>
              <a:t>종업원 등이 공헌한 정도</a:t>
            </a:r>
          </a:p>
        </p:txBody>
      </p:sp>
      <p:cxnSp>
        <p:nvCxnSpPr>
          <p:cNvPr id="11" name="직선 화살표 연결선 10"/>
          <p:cNvCxnSpPr>
            <a:stCxn id="32" idx="2"/>
            <a:endCxn id="24" idx="0"/>
          </p:cNvCxnSpPr>
          <p:nvPr/>
        </p:nvCxnSpPr>
        <p:spPr>
          <a:xfrm>
            <a:off x="1182164" y="1489179"/>
            <a:ext cx="0" cy="60971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247813" y="1563202"/>
            <a:ext cx="594038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accent2">
                    <a:lumMod val="50000"/>
                  </a:schemeClr>
                </a:solidFill>
              </a:rPr>
              <a:t>법원에서 최종적으로 결정될 수 있어 대립과 반목을 통한 해결 조장</a:t>
            </a:r>
            <a:endParaRPr lang="en-US" altLang="ko-KR" sz="1200" dirty="0">
              <a:solidFill>
                <a:schemeClr val="accent2">
                  <a:lumMod val="50000"/>
                </a:schemeClr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accent2">
                    <a:lumMod val="50000"/>
                  </a:schemeClr>
                </a:solidFill>
              </a:rPr>
              <a:t>종업원 등이 공헌한 정도가 높게 평가되는 추세</a:t>
            </a:r>
            <a:r>
              <a:rPr lang="en-US" altLang="ko-KR" sz="1200" dirty="0">
                <a:solidFill>
                  <a:schemeClr val="accent2">
                    <a:lumMod val="50000"/>
                  </a:schemeClr>
                </a:solidFill>
              </a:rPr>
              <a:t>(</a:t>
            </a:r>
            <a:r>
              <a:rPr lang="ko-KR" altLang="en-US" sz="1200" dirty="0" err="1">
                <a:solidFill>
                  <a:schemeClr val="accent2">
                    <a:lumMod val="50000"/>
                  </a:schemeClr>
                </a:solidFill>
              </a:rPr>
              <a:t>니치아</a:t>
            </a:r>
            <a:r>
              <a:rPr lang="ko-KR" altLang="en-US" sz="1200" dirty="0">
                <a:solidFill>
                  <a:schemeClr val="accent2">
                    <a:lumMod val="50000"/>
                  </a:schemeClr>
                </a:solidFill>
              </a:rPr>
              <a:t> 화학 사건에서 </a:t>
            </a:r>
            <a:r>
              <a:rPr lang="en-US" altLang="ko-KR" sz="1200" dirty="0">
                <a:solidFill>
                  <a:schemeClr val="accent2">
                    <a:lumMod val="50000"/>
                  </a:schemeClr>
                </a:solidFill>
              </a:rPr>
              <a:t>50% </a:t>
            </a:r>
            <a:r>
              <a:rPr lang="ko-KR" altLang="en-US" sz="1200" dirty="0">
                <a:solidFill>
                  <a:schemeClr val="accent2">
                    <a:lumMod val="50000"/>
                  </a:schemeClr>
                </a:solidFill>
              </a:rPr>
              <a:t>인정</a:t>
            </a:r>
            <a:r>
              <a:rPr lang="en-US" altLang="ko-KR" sz="1200" dirty="0">
                <a:solidFill>
                  <a:schemeClr val="accent2">
                    <a:lumMod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023062" y="2098892"/>
            <a:ext cx="3598806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합리적 절차에 의하여 보상액을 정한 경우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23062" y="2612385"/>
            <a:ext cx="3598806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Otherwise</a:t>
            </a:r>
            <a:endParaRPr lang="ko-KR" altLang="en-US" sz="1600" dirty="0"/>
          </a:p>
        </p:txBody>
      </p:sp>
      <p:sp>
        <p:nvSpPr>
          <p:cNvPr id="35" name="TextBox 34"/>
          <p:cNvSpPr txBox="1"/>
          <p:nvPr/>
        </p:nvSpPr>
        <p:spPr>
          <a:xfrm>
            <a:off x="5621867" y="2098055"/>
            <a:ext cx="457725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그 보상을 정당한 보상으로 간주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21867" y="2612385"/>
            <a:ext cx="568960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사용자 등이 얻을 이익 </a:t>
            </a:r>
            <a:r>
              <a:rPr lang="en-US" altLang="ko-KR" sz="1600" dirty="0"/>
              <a:t>× </a:t>
            </a:r>
            <a:r>
              <a:rPr lang="ko-KR" altLang="en-US" sz="1600" dirty="0"/>
              <a:t>종업원 등이 공헌한 정도</a:t>
            </a:r>
            <a:r>
              <a:rPr lang="en-US" altLang="ko-KR" sz="1600" dirty="0"/>
              <a:t>(</a:t>
            </a:r>
            <a:r>
              <a:rPr lang="ko-KR" altLang="en-US" sz="1600" dirty="0"/>
              <a:t>기존과 동일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cxnSp>
        <p:nvCxnSpPr>
          <p:cNvPr id="14" name="꺾인 연결선 13"/>
          <p:cNvCxnSpPr>
            <a:cxnSpLocks/>
            <a:stCxn id="24" idx="3"/>
            <a:endCxn id="31" idx="1"/>
          </p:cNvCxnSpPr>
          <p:nvPr/>
        </p:nvCxnSpPr>
        <p:spPr>
          <a:xfrm>
            <a:off x="1602612" y="2268169"/>
            <a:ext cx="420450" cy="127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cxnSpLocks/>
            <a:stCxn id="24" idx="3"/>
            <a:endCxn id="34" idx="1"/>
          </p:cNvCxnSpPr>
          <p:nvPr/>
        </p:nvCxnSpPr>
        <p:spPr>
          <a:xfrm>
            <a:off x="1602612" y="2268169"/>
            <a:ext cx="420450" cy="51349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다이어그램 37"/>
          <p:cNvGraphicFramePr/>
          <p:nvPr>
            <p:extLst>
              <p:ext uri="{D42A27DB-BD31-4B8C-83A1-F6EECF244321}">
                <p14:modId xmlns:p14="http://schemas.microsoft.com/office/powerpoint/2010/main" val="23343944"/>
              </p:ext>
            </p:extLst>
          </p:nvPr>
        </p:nvGraphicFramePr>
        <p:xfrm>
          <a:off x="211675" y="3674960"/>
          <a:ext cx="1709355" cy="25516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9" name="직사각형 38"/>
          <p:cNvSpPr/>
          <p:nvPr/>
        </p:nvSpPr>
        <p:spPr>
          <a:xfrm>
            <a:off x="1750581" y="3668564"/>
            <a:ext cx="103567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사용자 등은 보상에 대하여 보상형태와 보상액을 결정하기 위한 기준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지급방법 등이 명시된 보상규정을 작성하고 종업원 등에게 서면으로 알려야 한다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 err="1">
                <a:latin typeface="+mn-ea"/>
              </a:rPr>
              <a:t>發振法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15②).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사용자 등 등은 보상규정의 작성 또는 변경에 관하여 종업원 등과 협의하여야 한다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 err="1">
                <a:latin typeface="+mn-ea"/>
              </a:rPr>
              <a:t>發振法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15③).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다만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보상규정을 종업원 등에게 불리하게 변경하는 경우에는 해당 계약 또는 규정의 적용을 받는 종업원 등의 과반수의 동의를 받아야 한다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 err="1">
                <a:latin typeface="+mn-ea"/>
              </a:rPr>
              <a:t>發振法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15③). </a:t>
            </a:r>
            <a:endParaRPr lang="ko-KR" altLang="en-US" sz="1200" dirty="0"/>
          </a:p>
        </p:txBody>
      </p:sp>
      <p:sp>
        <p:nvSpPr>
          <p:cNvPr id="40" name="직사각형 39"/>
          <p:cNvSpPr/>
          <p:nvPr/>
        </p:nvSpPr>
        <p:spPr>
          <a:xfrm>
            <a:off x="1750581" y="4642949"/>
            <a:ext cx="921702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사용자 등은 보상을 받을 종업원 등에게 보상규정에 따라 결정된 보상액 등 보상의 구체적 사항을 서면으로 알려야 한다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 err="1">
                <a:latin typeface="+mn-ea"/>
              </a:rPr>
              <a:t>發振法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15④). </a:t>
            </a:r>
            <a:endParaRPr lang="ko-KR" altLang="en-US" sz="1200" dirty="0"/>
          </a:p>
        </p:txBody>
      </p:sp>
      <p:sp>
        <p:nvSpPr>
          <p:cNvPr id="43" name="직사각형 42"/>
          <p:cNvSpPr/>
          <p:nvPr/>
        </p:nvSpPr>
        <p:spPr>
          <a:xfrm>
            <a:off x="1750581" y="5565484"/>
            <a:ext cx="101366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사용자 등이 발명진흥법 제</a:t>
            </a:r>
            <a:r>
              <a:rPr lang="en-US" altLang="ko-KR" sz="1200" dirty="0">
                <a:latin typeface="+mn-ea"/>
              </a:rPr>
              <a:t>15</a:t>
            </a:r>
            <a:r>
              <a:rPr lang="ko-KR" altLang="en-US" sz="1200" dirty="0">
                <a:latin typeface="+mn-ea"/>
              </a:rPr>
              <a:t>조 제</a:t>
            </a:r>
            <a:r>
              <a:rPr lang="en-US" altLang="ko-KR" sz="1200" dirty="0">
                <a:latin typeface="+mn-ea"/>
              </a:rPr>
              <a:t>2</a:t>
            </a:r>
            <a:r>
              <a:rPr lang="ko-KR" altLang="en-US" sz="1200" dirty="0">
                <a:latin typeface="+mn-ea"/>
              </a:rPr>
              <a:t>항부터 제</a:t>
            </a:r>
            <a:r>
              <a:rPr lang="en-US" altLang="ko-KR" sz="1200" dirty="0">
                <a:latin typeface="+mn-ea"/>
              </a:rPr>
              <a:t>4</a:t>
            </a:r>
            <a:r>
              <a:rPr lang="ko-KR" altLang="en-US" sz="1200" dirty="0">
                <a:latin typeface="+mn-ea"/>
              </a:rPr>
              <a:t>항까지의 규정에 따라 종업원 등에게 보상한 경우에는 정당한 보상을 한 것으로 본다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다만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그 보상액이 직무발명에 의하여 「사용자 등이 얻을 이익」과 「그 발명의 완성에 사용자 등과 종업원 등이 공헌한 정도」를 고려하지 아니한 경우에는 그러하지 아니하다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 err="1">
                <a:latin typeface="+mn-ea"/>
              </a:rPr>
              <a:t>發振法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15⑥).</a:t>
            </a:r>
            <a:endParaRPr lang="ko-KR" altLang="en-US" sz="1200" dirty="0"/>
          </a:p>
        </p:txBody>
      </p:sp>
      <p:cxnSp>
        <p:nvCxnSpPr>
          <p:cNvPr id="45" name="직선 연결선 44"/>
          <p:cNvCxnSpPr/>
          <p:nvPr/>
        </p:nvCxnSpPr>
        <p:spPr>
          <a:xfrm>
            <a:off x="143939" y="3166530"/>
            <a:ext cx="11743266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49048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직무발명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직무발명제도의 도입절차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121</a:t>
            </a:fld>
            <a:endParaRPr lang="ko-KR" altLang="en-US"/>
          </a:p>
        </p:txBody>
      </p:sp>
      <p:pic>
        <p:nvPicPr>
          <p:cNvPr id="6" name="Picture 2" descr="http://employeeinvention.net/web/front/jinvt/images/16page_img.gif">
            <a:extLst>
              <a:ext uri="{FF2B5EF4-FFF2-40B4-BE49-F238E27FC236}">
                <a16:creationId xmlns:a16="http://schemas.microsoft.com/office/drawing/2014/main" id="{9839EEA4-1A2E-4D87-A394-C9E40229A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407" y="951012"/>
            <a:ext cx="6667500" cy="556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222965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특허출원에 필요한 서류 및 심사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1397063" y="1739976"/>
            <a:ext cx="844027" cy="59293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특허출원</a:t>
            </a:r>
            <a:endParaRPr lang="en-US" altLang="ko-KR" sz="11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(</a:t>
            </a:r>
            <a:r>
              <a:rPr lang="ko-KR" altLang="en-US" sz="11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法 </a:t>
            </a:r>
            <a:r>
              <a:rPr lang="en-US" altLang="ko-KR" sz="11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42)</a:t>
            </a:r>
            <a:endParaRPr lang="ko-KR" altLang="en-US" sz="11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2548803" y="1323602"/>
            <a:ext cx="505106" cy="4163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제출서류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3294284" y="1323602"/>
            <a:ext cx="733269" cy="4163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□ 출원서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42①)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162" name="그룹 161"/>
          <p:cNvGrpSpPr/>
          <p:nvPr/>
        </p:nvGrpSpPr>
        <p:grpSpPr>
          <a:xfrm>
            <a:off x="4245437" y="1337542"/>
            <a:ext cx="1653271" cy="1066469"/>
            <a:chOff x="4612062" y="1091999"/>
            <a:chExt cx="2014837" cy="1066469"/>
          </a:xfrm>
        </p:grpSpPr>
        <p:sp>
          <p:nvSpPr>
            <p:cNvPr id="42" name="직사각형 41"/>
            <p:cNvSpPr/>
            <p:nvPr/>
          </p:nvSpPr>
          <p:spPr>
            <a:xfrm>
              <a:off x="4612062" y="1091999"/>
              <a:ext cx="2014837" cy="20237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dirty="0">
                  <a:solidFill>
                    <a:schemeClr val="tx1"/>
                  </a:solidFill>
                </a:rPr>
                <a:t>● 발명의 명칭</a:t>
              </a: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4612062" y="1380031"/>
              <a:ext cx="2014837" cy="20237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dirty="0">
                  <a:solidFill>
                    <a:schemeClr val="tx1"/>
                  </a:solidFill>
                </a:rPr>
                <a:t>□ 출원인의 성명 및 주소</a:t>
              </a: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4612062" y="1668063"/>
              <a:ext cx="2014837" cy="20237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dirty="0">
                  <a:solidFill>
                    <a:schemeClr val="tx1"/>
                  </a:solidFill>
                </a:rPr>
                <a:t>● 대리인의 성명 및 주소</a:t>
              </a: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4612062" y="1956095"/>
              <a:ext cx="2014837" cy="20237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dirty="0">
                  <a:solidFill>
                    <a:schemeClr val="tx1"/>
                  </a:solidFill>
                </a:rPr>
                <a:t>● 발명자의 성명 및 주소</a:t>
              </a:r>
            </a:p>
          </p:txBody>
        </p:sp>
      </p:grpSp>
      <p:sp>
        <p:nvSpPr>
          <p:cNvPr id="50" name="직사각형 49"/>
          <p:cNvSpPr/>
          <p:nvPr/>
        </p:nvSpPr>
        <p:spPr>
          <a:xfrm>
            <a:off x="3294284" y="2564259"/>
            <a:ext cx="733269" cy="383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첨부서류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42②)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169" name="그룹 168"/>
          <p:cNvGrpSpPr/>
          <p:nvPr/>
        </p:nvGrpSpPr>
        <p:grpSpPr>
          <a:xfrm>
            <a:off x="5383593" y="2551559"/>
            <a:ext cx="1167040" cy="504056"/>
            <a:chOff x="5978827" y="2306016"/>
            <a:chExt cx="1584176" cy="504056"/>
          </a:xfrm>
        </p:grpSpPr>
        <p:sp>
          <p:nvSpPr>
            <p:cNvPr id="53" name="직사각형 52"/>
            <p:cNvSpPr/>
            <p:nvPr/>
          </p:nvSpPr>
          <p:spPr>
            <a:xfrm>
              <a:off x="5978827" y="2306016"/>
              <a:ext cx="1584176" cy="21602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dirty="0">
                  <a:solidFill>
                    <a:schemeClr val="tx1"/>
                  </a:solidFill>
                </a:rPr>
                <a:t>□ 발명의 설명</a:t>
              </a: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5978827" y="2594048"/>
              <a:ext cx="1584176" cy="21602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100" dirty="0">
                  <a:solidFill>
                    <a:schemeClr val="tx1"/>
                  </a:solidFill>
                </a:rPr>
                <a:t> - </a:t>
              </a:r>
              <a:r>
                <a:rPr lang="ko-KR" altLang="en-US" sz="1100" dirty="0">
                  <a:solidFill>
                    <a:schemeClr val="tx1"/>
                  </a:solidFill>
                </a:rPr>
                <a:t>청구범위</a:t>
              </a:r>
            </a:p>
          </p:txBody>
        </p:sp>
      </p:grpSp>
      <p:grpSp>
        <p:nvGrpSpPr>
          <p:cNvPr id="168" name="그룹 167"/>
          <p:cNvGrpSpPr/>
          <p:nvPr/>
        </p:nvGrpSpPr>
        <p:grpSpPr>
          <a:xfrm>
            <a:off x="4244050" y="2547739"/>
            <a:ext cx="960392" cy="808608"/>
            <a:chOff x="4610675" y="2302196"/>
            <a:chExt cx="1117228" cy="808608"/>
          </a:xfrm>
        </p:grpSpPr>
        <p:sp>
          <p:nvSpPr>
            <p:cNvPr id="57" name="직사각형 56"/>
            <p:cNvSpPr/>
            <p:nvPr/>
          </p:nvSpPr>
          <p:spPr>
            <a:xfrm>
              <a:off x="4610675" y="2302196"/>
              <a:ext cx="1117228" cy="2325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dirty="0">
                  <a:solidFill>
                    <a:schemeClr val="tx1"/>
                  </a:solidFill>
                </a:rPr>
                <a:t>□ 명세서</a:t>
              </a: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4610675" y="2590228"/>
              <a:ext cx="1117228" cy="2325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100" dirty="0">
                  <a:solidFill>
                    <a:schemeClr val="tx1"/>
                  </a:solidFill>
                </a:rPr>
                <a:t>- </a:t>
              </a:r>
              <a:r>
                <a:rPr lang="ko-KR" altLang="en-US" sz="1100" dirty="0">
                  <a:solidFill>
                    <a:schemeClr val="tx1"/>
                  </a:solidFill>
                </a:rPr>
                <a:t>필요한 도면</a:t>
              </a: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4610675" y="2878260"/>
              <a:ext cx="1117228" cy="2325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dirty="0">
                  <a:solidFill>
                    <a:schemeClr val="tx1"/>
                  </a:solidFill>
                </a:rPr>
                <a:t>● 요약서</a:t>
              </a:r>
            </a:p>
          </p:txBody>
        </p:sp>
      </p:grpSp>
      <p:cxnSp>
        <p:nvCxnSpPr>
          <p:cNvPr id="61" name="꺾인 연결선 60"/>
          <p:cNvCxnSpPr>
            <a:stCxn id="32" idx="3"/>
            <a:endCxn id="50" idx="1"/>
          </p:cNvCxnSpPr>
          <p:nvPr/>
        </p:nvCxnSpPr>
        <p:spPr>
          <a:xfrm>
            <a:off x="3053909" y="1531789"/>
            <a:ext cx="240375" cy="122414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꺾인 연결선 61"/>
          <p:cNvCxnSpPr>
            <a:stCxn id="33" idx="3"/>
            <a:endCxn id="42" idx="1"/>
          </p:cNvCxnSpPr>
          <p:nvPr/>
        </p:nvCxnSpPr>
        <p:spPr>
          <a:xfrm flipV="1">
            <a:off x="4027553" y="1438729"/>
            <a:ext cx="217884" cy="9306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꺾인 연결선 62"/>
          <p:cNvCxnSpPr>
            <a:stCxn id="33" idx="3"/>
            <a:endCxn id="48" idx="1"/>
          </p:cNvCxnSpPr>
          <p:nvPr/>
        </p:nvCxnSpPr>
        <p:spPr>
          <a:xfrm>
            <a:off x="4027553" y="1531789"/>
            <a:ext cx="217884" cy="77103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33" idx="3"/>
            <a:endCxn id="44" idx="1"/>
          </p:cNvCxnSpPr>
          <p:nvPr/>
        </p:nvCxnSpPr>
        <p:spPr>
          <a:xfrm>
            <a:off x="4027553" y="1531789"/>
            <a:ext cx="217884" cy="19497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65"/>
          <p:cNvCxnSpPr>
            <a:stCxn id="33" idx="3"/>
            <a:endCxn id="47" idx="1"/>
          </p:cNvCxnSpPr>
          <p:nvPr/>
        </p:nvCxnSpPr>
        <p:spPr>
          <a:xfrm>
            <a:off x="4027553" y="1531789"/>
            <a:ext cx="217884" cy="48300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50" idx="3"/>
            <a:endCxn id="58" idx="1"/>
          </p:cNvCxnSpPr>
          <p:nvPr/>
        </p:nvCxnSpPr>
        <p:spPr>
          <a:xfrm>
            <a:off x="4027553" y="2755931"/>
            <a:ext cx="216497" cy="19611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연결선 67"/>
          <p:cNvCxnSpPr>
            <a:stCxn id="50" idx="3"/>
            <a:endCxn id="59" idx="1"/>
          </p:cNvCxnSpPr>
          <p:nvPr/>
        </p:nvCxnSpPr>
        <p:spPr>
          <a:xfrm>
            <a:off x="4027553" y="2755931"/>
            <a:ext cx="216497" cy="48414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꺾인 연결선 68"/>
          <p:cNvCxnSpPr>
            <a:stCxn id="57" idx="3"/>
            <a:endCxn id="56" idx="1"/>
          </p:cNvCxnSpPr>
          <p:nvPr/>
        </p:nvCxnSpPr>
        <p:spPr>
          <a:xfrm>
            <a:off x="5204442" y="2664011"/>
            <a:ext cx="179151" cy="28359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stCxn id="57" idx="3"/>
            <a:endCxn id="53" idx="1"/>
          </p:cNvCxnSpPr>
          <p:nvPr/>
        </p:nvCxnSpPr>
        <p:spPr>
          <a:xfrm flipV="1">
            <a:off x="5204442" y="2659571"/>
            <a:ext cx="179151" cy="444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/>
          <p:cNvSpPr/>
          <p:nvPr/>
        </p:nvSpPr>
        <p:spPr>
          <a:xfrm>
            <a:off x="2548802" y="3483842"/>
            <a:ext cx="505107" cy="3961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기재방법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3853104" y="3483843"/>
            <a:ext cx="2440114" cy="21602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발명의 설명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42③) 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4357913" y="3771875"/>
            <a:ext cx="1872208" cy="216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◆ 일반적 기재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42③Ⅰ) 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4357913" y="4059907"/>
            <a:ext cx="1872208" cy="216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○ 배경기술 기재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42③Ⅱ) 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77" name="꺾인 연결선 76"/>
          <p:cNvCxnSpPr>
            <a:endCxn id="74" idx="1"/>
          </p:cNvCxnSpPr>
          <p:nvPr/>
        </p:nvCxnSpPr>
        <p:spPr>
          <a:xfrm rot="16200000" flipH="1">
            <a:off x="3958635" y="3768785"/>
            <a:ext cx="468197" cy="330360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직사각형 77"/>
          <p:cNvSpPr/>
          <p:nvPr/>
        </p:nvSpPr>
        <p:spPr>
          <a:xfrm>
            <a:off x="3853104" y="4359021"/>
            <a:ext cx="2440114" cy="52148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◆ 청구항의 기재원칙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42④)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 - </a:t>
            </a:r>
            <a:r>
              <a:rPr lang="ko-KR" altLang="en-US" sz="1100" dirty="0">
                <a:solidFill>
                  <a:schemeClr val="tx1"/>
                </a:solidFill>
              </a:rPr>
              <a:t>청구항의 구성요소 </a:t>
            </a:r>
            <a:r>
              <a:rPr lang="ko-KR" altLang="en-US" sz="1100" dirty="0" err="1">
                <a:solidFill>
                  <a:schemeClr val="tx1"/>
                </a:solidFill>
              </a:rPr>
              <a:t>기재방법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42⑥)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○ </a:t>
            </a:r>
            <a:r>
              <a:rPr lang="ko-KR" altLang="en-US" sz="1100" dirty="0" err="1">
                <a:solidFill>
                  <a:schemeClr val="tx1"/>
                </a:solidFill>
              </a:rPr>
              <a:t>다항제</a:t>
            </a:r>
            <a:r>
              <a:rPr lang="ko-KR" altLang="en-US" sz="1100" dirty="0">
                <a:solidFill>
                  <a:schemeClr val="tx1"/>
                </a:solidFill>
              </a:rPr>
              <a:t> 기재방법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42⑧)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3853104" y="4951677"/>
            <a:ext cx="2440114" cy="41487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 indent="-177800"/>
            <a:r>
              <a:rPr lang="ko-KR" altLang="en-US" sz="1100" dirty="0">
                <a:solidFill>
                  <a:schemeClr val="tx1"/>
                </a:solidFill>
              </a:rPr>
              <a:t>● 발명의 설명</a:t>
            </a:r>
            <a:r>
              <a:rPr lang="en-US" altLang="ko-KR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</a:rPr>
              <a:t>도면 및 요약서의 기재방법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42⑨)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80" name="꺾인 연결선 79"/>
          <p:cNvCxnSpPr>
            <a:stCxn id="71" idx="3"/>
            <a:endCxn id="78" idx="1"/>
          </p:cNvCxnSpPr>
          <p:nvPr/>
        </p:nvCxnSpPr>
        <p:spPr>
          <a:xfrm>
            <a:off x="3053909" y="3681937"/>
            <a:ext cx="799195" cy="93782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꺾인 연결선 80"/>
          <p:cNvCxnSpPr>
            <a:stCxn id="71" idx="3"/>
            <a:endCxn id="79" idx="1"/>
          </p:cNvCxnSpPr>
          <p:nvPr/>
        </p:nvCxnSpPr>
        <p:spPr>
          <a:xfrm>
            <a:off x="3053909" y="3681937"/>
            <a:ext cx="799195" cy="147717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꺾인 연결선 81"/>
          <p:cNvCxnSpPr>
            <a:stCxn id="31" idx="3"/>
            <a:endCxn id="71" idx="1"/>
          </p:cNvCxnSpPr>
          <p:nvPr/>
        </p:nvCxnSpPr>
        <p:spPr>
          <a:xfrm>
            <a:off x="2241090" y="2036441"/>
            <a:ext cx="307712" cy="164549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꺾인 연결선 82"/>
          <p:cNvCxnSpPr>
            <a:stCxn id="31" idx="3"/>
            <a:endCxn id="32" idx="1"/>
          </p:cNvCxnSpPr>
          <p:nvPr/>
        </p:nvCxnSpPr>
        <p:spPr>
          <a:xfrm flipV="1">
            <a:off x="2241090" y="1531789"/>
            <a:ext cx="307713" cy="504652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직사각형 85"/>
          <p:cNvSpPr/>
          <p:nvPr/>
        </p:nvSpPr>
        <p:spPr>
          <a:xfrm>
            <a:off x="1397063" y="5409685"/>
            <a:ext cx="844027" cy="576064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청구범위</a:t>
            </a:r>
            <a:endParaRPr lang="en-US" altLang="ko-KR" sz="11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제출유예</a:t>
            </a:r>
            <a:endParaRPr lang="en-US" altLang="ko-KR" sz="11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(</a:t>
            </a:r>
            <a:r>
              <a:rPr lang="ko-KR" altLang="en-US" sz="11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法 </a:t>
            </a:r>
            <a:r>
              <a:rPr lang="en-US" altLang="ko-KR" sz="11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42</a:t>
            </a:r>
            <a:r>
              <a:rPr lang="ko-KR" altLang="en-US" sz="11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의</a:t>
            </a:r>
            <a:r>
              <a:rPr lang="en-US" altLang="ko-KR" sz="11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2)</a:t>
            </a:r>
            <a:endParaRPr lang="ko-KR" altLang="en-US" sz="11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89" name="꺾인 연결선 88"/>
          <p:cNvCxnSpPr>
            <a:stCxn id="86" idx="3"/>
            <a:endCxn id="88" idx="1"/>
          </p:cNvCxnSpPr>
          <p:nvPr/>
        </p:nvCxnSpPr>
        <p:spPr>
          <a:xfrm>
            <a:off x="2241090" y="5697717"/>
            <a:ext cx="313537" cy="206861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꺾인 연결선 89"/>
          <p:cNvCxnSpPr>
            <a:stCxn id="86" idx="3"/>
            <a:endCxn id="87" idx="1"/>
          </p:cNvCxnSpPr>
          <p:nvPr/>
        </p:nvCxnSpPr>
        <p:spPr>
          <a:xfrm flipV="1">
            <a:off x="2241090" y="5616546"/>
            <a:ext cx="313537" cy="81171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직사각형 86"/>
          <p:cNvSpPr/>
          <p:nvPr/>
        </p:nvSpPr>
        <p:spPr>
          <a:xfrm>
            <a:off x="2554627" y="5508534"/>
            <a:ext cx="1537402" cy="2160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의의</a:t>
            </a:r>
            <a:r>
              <a:rPr lang="en-US" altLang="ko-KR" sz="1100" dirty="0">
                <a:solidFill>
                  <a:schemeClr val="tx1"/>
                </a:solidFill>
              </a:rPr>
              <a:t> 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42</a:t>
            </a:r>
            <a:r>
              <a:rPr lang="ko-KR" altLang="en-US" sz="1100" dirty="0">
                <a:solidFill>
                  <a:schemeClr val="tx1"/>
                </a:solidFill>
              </a:rPr>
              <a:t>의</a:t>
            </a:r>
            <a:r>
              <a:rPr lang="en-US" altLang="ko-KR" sz="1100" dirty="0">
                <a:solidFill>
                  <a:schemeClr val="tx1"/>
                </a:solidFill>
              </a:rPr>
              <a:t>2①)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2554627" y="5796566"/>
            <a:ext cx="1537402" cy="2160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유예기간</a:t>
            </a:r>
            <a:r>
              <a:rPr lang="en-US" altLang="ko-KR" sz="1100" dirty="0">
                <a:solidFill>
                  <a:schemeClr val="tx1"/>
                </a:solidFill>
              </a:rPr>
              <a:t> 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42</a:t>
            </a:r>
            <a:r>
              <a:rPr lang="ko-KR" altLang="en-US" sz="1100" dirty="0">
                <a:solidFill>
                  <a:schemeClr val="tx1"/>
                </a:solidFill>
              </a:rPr>
              <a:t>의</a:t>
            </a:r>
            <a:r>
              <a:rPr lang="en-US" altLang="ko-KR" sz="1100" dirty="0">
                <a:solidFill>
                  <a:schemeClr val="tx1"/>
                </a:solidFill>
              </a:rPr>
              <a:t>2②)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2555849" y="6084598"/>
            <a:ext cx="1537402" cy="2160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不제출효과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42</a:t>
            </a:r>
            <a:r>
              <a:rPr lang="ko-KR" altLang="en-US" sz="1100" dirty="0">
                <a:solidFill>
                  <a:schemeClr val="tx1"/>
                </a:solidFill>
              </a:rPr>
              <a:t>의</a:t>
            </a:r>
            <a:r>
              <a:rPr lang="en-US" altLang="ko-KR" sz="1100" dirty="0">
                <a:solidFill>
                  <a:schemeClr val="tx1"/>
                </a:solidFill>
              </a:rPr>
              <a:t>2③)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190655" y="3350235"/>
            <a:ext cx="930166" cy="637953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accent4"/>
                </a:solidFill>
              </a:rPr>
              <a:t>특허출원</a:t>
            </a:r>
            <a:endParaRPr lang="en-US" altLang="ko-KR" sz="1400" dirty="0">
              <a:solidFill>
                <a:schemeClr val="accent4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accent4"/>
                </a:solidFill>
              </a:rPr>
              <a:t>필요서류</a:t>
            </a:r>
          </a:p>
        </p:txBody>
      </p:sp>
      <p:cxnSp>
        <p:nvCxnSpPr>
          <p:cNvPr id="164" name="꺾인 연결선 163"/>
          <p:cNvCxnSpPr>
            <a:stCxn id="32" idx="3"/>
            <a:endCxn id="33" idx="1"/>
          </p:cNvCxnSpPr>
          <p:nvPr/>
        </p:nvCxnSpPr>
        <p:spPr>
          <a:xfrm>
            <a:off x="3053909" y="1531789"/>
            <a:ext cx="240375" cy="127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꺾인 연결선 165"/>
          <p:cNvCxnSpPr>
            <a:stCxn id="50" idx="3"/>
            <a:endCxn id="57" idx="1"/>
          </p:cNvCxnSpPr>
          <p:nvPr/>
        </p:nvCxnSpPr>
        <p:spPr>
          <a:xfrm flipV="1">
            <a:off x="4027553" y="2664011"/>
            <a:ext cx="216497" cy="9192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꺾인 연결선 178"/>
          <p:cNvCxnSpPr>
            <a:stCxn id="71" idx="3"/>
            <a:endCxn id="72" idx="1"/>
          </p:cNvCxnSpPr>
          <p:nvPr/>
        </p:nvCxnSpPr>
        <p:spPr>
          <a:xfrm flipV="1">
            <a:off x="3053909" y="3591855"/>
            <a:ext cx="799195" cy="9008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꺾인 연결선 200"/>
          <p:cNvCxnSpPr>
            <a:stCxn id="94" idx="3"/>
            <a:endCxn id="31" idx="1"/>
          </p:cNvCxnSpPr>
          <p:nvPr/>
        </p:nvCxnSpPr>
        <p:spPr>
          <a:xfrm flipV="1">
            <a:off x="1120821" y="2036441"/>
            <a:ext cx="276242" cy="163277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꺾인 연결선 202"/>
          <p:cNvCxnSpPr>
            <a:stCxn id="94" idx="3"/>
            <a:endCxn id="86" idx="1"/>
          </p:cNvCxnSpPr>
          <p:nvPr/>
        </p:nvCxnSpPr>
        <p:spPr>
          <a:xfrm>
            <a:off x="1120821" y="3669212"/>
            <a:ext cx="276242" cy="202850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연결선 211"/>
          <p:cNvCxnSpPr>
            <a:stCxn id="73" idx="1"/>
          </p:cNvCxnSpPr>
          <p:nvPr/>
        </p:nvCxnSpPr>
        <p:spPr>
          <a:xfrm flipH="1" flipV="1">
            <a:off x="4027553" y="3880031"/>
            <a:ext cx="330360" cy="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꺾인 연결선 216"/>
          <p:cNvCxnSpPr>
            <a:stCxn id="86" idx="3"/>
            <a:endCxn id="91" idx="1"/>
          </p:cNvCxnSpPr>
          <p:nvPr/>
        </p:nvCxnSpPr>
        <p:spPr>
          <a:xfrm>
            <a:off x="2241090" y="5697717"/>
            <a:ext cx="314759" cy="49489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자유형 217"/>
          <p:cNvSpPr/>
          <p:nvPr/>
        </p:nvSpPr>
        <p:spPr>
          <a:xfrm>
            <a:off x="1809317" y="2946400"/>
            <a:ext cx="4876800" cy="3572933"/>
          </a:xfrm>
          <a:custGeom>
            <a:avLst/>
            <a:gdLst>
              <a:gd name="connsiteX0" fmla="*/ 4732867 w 4876800"/>
              <a:gd name="connsiteY0" fmla="*/ 0 h 3572933"/>
              <a:gd name="connsiteX1" fmla="*/ 4876800 w 4876800"/>
              <a:gd name="connsiteY1" fmla="*/ 0 h 3572933"/>
              <a:gd name="connsiteX2" fmla="*/ 4876800 w 4876800"/>
              <a:gd name="connsiteY2" fmla="*/ 3572933 h 3572933"/>
              <a:gd name="connsiteX3" fmla="*/ 0 w 4876800"/>
              <a:gd name="connsiteY3" fmla="*/ 3572933 h 3572933"/>
              <a:gd name="connsiteX4" fmla="*/ 0 w 4876800"/>
              <a:gd name="connsiteY4" fmla="*/ 3056467 h 3572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6800" h="3572933">
                <a:moveTo>
                  <a:pt x="4732867" y="0"/>
                </a:moveTo>
                <a:lnTo>
                  <a:pt x="4876800" y="0"/>
                </a:lnTo>
                <a:lnTo>
                  <a:pt x="4876800" y="3572933"/>
                </a:lnTo>
                <a:lnTo>
                  <a:pt x="0" y="3572933"/>
                </a:lnTo>
                <a:lnTo>
                  <a:pt x="0" y="3056467"/>
                </a:lnTo>
              </a:path>
            </a:pathLst>
          </a:cu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9" name="직선 연결선 218"/>
          <p:cNvCxnSpPr/>
          <p:nvPr/>
        </p:nvCxnSpPr>
        <p:spPr>
          <a:xfrm>
            <a:off x="7011812" y="1095555"/>
            <a:ext cx="0" cy="563304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직선 연결선 221"/>
          <p:cNvCxnSpPr>
            <a:stCxn id="230" idx="2"/>
            <a:endCxn id="233" idx="0"/>
          </p:cNvCxnSpPr>
          <p:nvPr/>
        </p:nvCxnSpPr>
        <p:spPr>
          <a:xfrm>
            <a:off x="8586694" y="1595958"/>
            <a:ext cx="0" cy="9906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직사각형 229"/>
          <p:cNvSpPr/>
          <p:nvPr/>
        </p:nvSpPr>
        <p:spPr>
          <a:xfrm>
            <a:off x="7977614" y="1278458"/>
            <a:ext cx="1218160" cy="317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출원서류</a:t>
            </a:r>
            <a:r>
              <a:rPr lang="ko-KR" altLang="en-US" sz="1200" dirty="0">
                <a:solidFill>
                  <a:schemeClr val="tx1"/>
                </a:solidFill>
              </a:rPr>
              <a:t> 작성</a:t>
            </a:r>
          </a:p>
        </p:txBody>
      </p:sp>
      <p:sp>
        <p:nvSpPr>
          <p:cNvPr id="231" name="직사각형 230"/>
          <p:cNvSpPr/>
          <p:nvPr/>
        </p:nvSpPr>
        <p:spPr>
          <a:xfrm>
            <a:off x="7977614" y="1710258"/>
            <a:ext cx="1218160" cy="317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출원서</a:t>
            </a:r>
            <a:r>
              <a:rPr lang="ko-KR" altLang="en-US" sz="1200" dirty="0">
                <a:solidFill>
                  <a:schemeClr val="tx1"/>
                </a:solidFill>
              </a:rPr>
              <a:t> 제출</a:t>
            </a:r>
          </a:p>
        </p:txBody>
      </p:sp>
      <p:sp>
        <p:nvSpPr>
          <p:cNvPr id="232" name="직사각형 231"/>
          <p:cNvSpPr/>
          <p:nvPr/>
        </p:nvSpPr>
        <p:spPr>
          <a:xfrm>
            <a:off x="7977614" y="2154758"/>
            <a:ext cx="1218160" cy="317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출원료</a:t>
            </a:r>
            <a:r>
              <a:rPr lang="ko-KR" altLang="en-US" sz="1200" dirty="0">
                <a:solidFill>
                  <a:schemeClr val="tx1"/>
                </a:solidFill>
              </a:rPr>
              <a:t> 납부</a:t>
            </a:r>
          </a:p>
        </p:txBody>
      </p:sp>
      <p:sp>
        <p:nvSpPr>
          <p:cNvPr id="233" name="직사각형 232"/>
          <p:cNvSpPr/>
          <p:nvPr/>
        </p:nvSpPr>
        <p:spPr>
          <a:xfrm>
            <a:off x="7977614" y="2586558"/>
            <a:ext cx="1218160" cy="3175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accent4"/>
                </a:solidFill>
              </a:rPr>
              <a:t>방식심사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cxnSp>
        <p:nvCxnSpPr>
          <p:cNvPr id="234" name="직선 연결선 233"/>
          <p:cNvCxnSpPr/>
          <p:nvPr/>
        </p:nvCxnSpPr>
        <p:spPr>
          <a:xfrm flipV="1">
            <a:off x="7725460" y="1278458"/>
            <a:ext cx="252154" cy="5461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직선 연결선 234"/>
          <p:cNvCxnSpPr/>
          <p:nvPr/>
        </p:nvCxnSpPr>
        <p:spPr>
          <a:xfrm>
            <a:off x="7725460" y="2291283"/>
            <a:ext cx="252154" cy="61277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직선 연결선 235"/>
          <p:cNvCxnSpPr>
            <a:stCxn id="237" idx="2"/>
            <a:endCxn id="240" idx="0"/>
          </p:cNvCxnSpPr>
          <p:nvPr/>
        </p:nvCxnSpPr>
        <p:spPr>
          <a:xfrm>
            <a:off x="8586694" y="3348349"/>
            <a:ext cx="0" cy="9906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직사각형 236"/>
          <p:cNvSpPr/>
          <p:nvPr/>
        </p:nvSpPr>
        <p:spPr>
          <a:xfrm>
            <a:off x="7977614" y="3030849"/>
            <a:ext cx="1218160" cy="317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심사청구서</a:t>
            </a:r>
            <a:r>
              <a:rPr lang="ko-KR" altLang="en-US" sz="1200" dirty="0">
                <a:solidFill>
                  <a:schemeClr val="tx1"/>
                </a:solidFill>
              </a:rPr>
              <a:t> 작성</a:t>
            </a:r>
          </a:p>
        </p:txBody>
      </p:sp>
      <p:sp>
        <p:nvSpPr>
          <p:cNvPr id="238" name="직사각형 237"/>
          <p:cNvSpPr/>
          <p:nvPr/>
        </p:nvSpPr>
        <p:spPr>
          <a:xfrm>
            <a:off x="7977614" y="3462649"/>
            <a:ext cx="1218160" cy="317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심사청구서</a:t>
            </a:r>
            <a:r>
              <a:rPr lang="ko-KR" altLang="en-US" sz="1200" dirty="0">
                <a:solidFill>
                  <a:schemeClr val="tx1"/>
                </a:solidFill>
              </a:rPr>
              <a:t> 제출</a:t>
            </a:r>
          </a:p>
        </p:txBody>
      </p:sp>
      <p:sp>
        <p:nvSpPr>
          <p:cNvPr id="239" name="직사각형 238"/>
          <p:cNvSpPr/>
          <p:nvPr/>
        </p:nvSpPr>
        <p:spPr>
          <a:xfrm>
            <a:off x="7977614" y="3907149"/>
            <a:ext cx="1218160" cy="317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심사청구료</a:t>
            </a:r>
            <a:r>
              <a:rPr lang="ko-KR" altLang="en-US" sz="1200" dirty="0">
                <a:solidFill>
                  <a:schemeClr val="tx1"/>
                </a:solidFill>
              </a:rPr>
              <a:t> 납부</a:t>
            </a:r>
          </a:p>
        </p:txBody>
      </p:sp>
      <p:sp>
        <p:nvSpPr>
          <p:cNvPr id="240" name="직사각형 239"/>
          <p:cNvSpPr/>
          <p:nvPr/>
        </p:nvSpPr>
        <p:spPr>
          <a:xfrm>
            <a:off x="7977614" y="4338949"/>
            <a:ext cx="1218160" cy="317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방식심사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41" name="직선 연결선 240"/>
          <p:cNvCxnSpPr/>
          <p:nvPr/>
        </p:nvCxnSpPr>
        <p:spPr>
          <a:xfrm flipV="1">
            <a:off x="7725460" y="3030849"/>
            <a:ext cx="252154" cy="5461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직선 연결선 241"/>
          <p:cNvCxnSpPr/>
          <p:nvPr/>
        </p:nvCxnSpPr>
        <p:spPr>
          <a:xfrm>
            <a:off x="7725460" y="4043674"/>
            <a:ext cx="252154" cy="61668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직사각형 223"/>
          <p:cNvSpPr/>
          <p:nvPr/>
        </p:nvSpPr>
        <p:spPr>
          <a:xfrm>
            <a:off x="7246204" y="1824558"/>
            <a:ext cx="479256" cy="482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sp>
        <p:nvSpPr>
          <p:cNvPr id="225" name="직사각형 224"/>
          <p:cNvSpPr/>
          <p:nvPr/>
        </p:nvSpPr>
        <p:spPr>
          <a:xfrm>
            <a:off x="7246204" y="3593952"/>
            <a:ext cx="479256" cy="482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심사청구</a:t>
            </a:r>
          </a:p>
        </p:txBody>
      </p:sp>
      <p:sp>
        <p:nvSpPr>
          <p:cNvPr id="226" name="직사각형 225"/>
          <p:cNvSpPr/>
          <p:nvPr/>
        </p:nvSpPr>
        <p:spPr>
          <a:xfrm>
            <a:off x="7246204" y="5303940"/>
            <a:ext cx="479256" cy="4826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4"/>
                </a:solidFill>
              </a:rPr>
              <a:t>실체심사</a:t>
            </a:r>
          </a:p>
        </p:txBody>
      </p:sp>
      <p:cxnSp>
        <p:nvCxnSpPr>
          <p:cNvPr id="228" name="직선 화살표 연결선 227"/>
          <p:cNvCxnSpPr>
            <a:stCxn id="224" idx="2"/>
            <a:endCxn id="225" idx="0"/>
          </p:cNvCxnSpPr>
          <p:nvPr/>
        </p:nvCxnSpPr>
        <p:spPr>
          <a:xfrm>
            <a:off x="7485832" y="2307158"/>
            <a:ext cx="0" cy="128679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직선 화살표 연결선 228"/>
          <p:cNvCxnSpPr>
            <a:stCxn id="225" idx="2"/>
            <a:endCxn id="226" idx="0"/>
          </p:cNvCxnSpPr>
          <p:nvPr/>
        </p:nvCxnSpPr>
        <p:spPr>
          <a:xfrm>
            <a:off x="7485832" y="4076552"/>
            <a:ext cx="0" cy="12273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직사각형 257"/>
          <p:cNvSpPr/>
          <p:nvPr/>
        </p:nvSpPr>
        <p:spPr>
          <a:xfrm>
            <a:off x="9507910" y="2102111"/>
            <a:ext cx="646965" cy="3183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흠결</a:t>
            </a:r>
            <a:r>
              <a:rPr lang="en-US" altLang="ko-KR" sz="1200" dirty="0">
                <a:solidFill>
                  <a:schemeClr val="tx1"/>
                </a:solidFill>
              </a:rPr>
              <a:t>×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60" name="직사각형 259"/>
          <p:cNvSpPr/>
          <p:nvPr/>
        </p:nvSpPr>
        <p:spPr>
          <a:xfrm>
            <a:off x="9507910" y="2589433"/>
            <a:ext cx="646965" cy="3183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흠결</a:t>
            </a:r>
            <a:r>
              <a:rPr lang="ko-KR" altLang="en-US" sz="1200" dirty="0">
                <a:solidFill>
                  <a:schemeClr val="tx1"/>
                </a:solidFill>
              </a:rPr>
              <a:t>○</a:t>
            </a:r>
          </a:p>
        </p:txBody>
      </p:sp>
      <p:sp>
        <p:nvSpPr>
          <p:cNvPr id="262" name="직사각형 261"/>
          <p:cNvSpPr/>
          <p:nvPr/>
        </p:nvSpPr>
        <p:spPr>
          <a:xfrm>
            <a:off x="10366547" y="2593197"/>
            <a:ext cx="1573889" cy="3183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● 무효</a:t>
            </a:r>
            <a:r>
              <a:rPr lang="en-US" altLang="ko-KR" sz="1050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ko-KR" altLang="en-US" sz="1050" dirty="0">
                <a:solidFill>
                  <a:schemeClr val="bg2">
                    <a:lumMod val="50000"/>
                  </a:schemeClr>
                </a:solidFill>
              </a:rPr>
              <a:t>방식위반</a:t>
            </a:r>
            <a:r>
              <a:rPr lang="en-US" altLang="ko-KR" sz="1050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63" name="직사각형 262"/>
          <p:cNvSpPr/>
          <p:nvPr/>
        </p:nvSpPr>
        <p:spPr>
          <a:xfrm>
            <a:off x="10366547" y="3080519"/>
            <a:ext cx="1573889" cy="3183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□ 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불수리</a:t>
            </a:r>
          </a:p>
        </p:txBody>
      </p:sp>
      <p:sp>
        <p:nvSpPr>
          <p:cNvPr id="265" name="직사각형 264"/>
          <p:cNvSpPr/>
          <p:nvPr/>
        </p:nvSpPr>
        <p:spPr>
          <a:xfrm>
            <a:off x="7977614" y="4780224"/>
            <a:ext cx="1218160" cy="317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주체적 요건</a:t>
            </a:r>
          </a:p>
        </p:txBody>
      </p:sp>
      <p:sp>
        <p:nvSpPr>
          <p:cNvPr id="266" name="직사각형 265"/>
          <p:cNvSpPr/>
          <p:nvPr/>
        </p:nvSpPr>
        <p:spPr>
          <a:xfrm>
            <a:off x="7977614" y="5212024"/>
            <a:ext cx="1218160" cy="317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실체적 요건</a:t>
            </a:r>
          </a:p>
        </p:txBody>
      </p:sp>
      <p:sp>
        <p:nvSpPr>
          <p:cNvPr id="267" name="직사각형 266"/>
          <p:cNvSpPr/>
          <p:nvPr/>
        </p:nvSpPr>
        <p:spPr>
          <a:xfrm>
            <a:off x="7977614" y="5656524"/>
            <a:ext cx="1218160" cy="317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조약 위반</a:t>
            </a:r>
          </a:p>
        </p:txBody>
      </p:sp>
      <p:sp>
        <p:nvSpPr>
          <p:cNvPr id="268" name="직사각형 267"/>
          <p:cNvSpPr/>
          <p:nvPr/>
        </p:nvSpPr>
        <p:spPr>
          <a:xfrm>
            <a:off x="7977614" y="6088324"/>
            <a:ext cx="1218160" cy="317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절차적 요건</a:t>
            </a:r>
          </a:p>
        </p:txBody>
      </p:sp>
      <p:sp>
        <p:nvSpPr>
          <p:cNvPr id="269" name="직사각형 268"/>
          <p:cNvSpPr/>
          <p:nvPr/>
        </p:nvSpPr>
        <p:spPr>
          <a:xfrm>
            <a:off x="9195774" y="5232318"/>
            <a:ext cx="27446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◆ 거절이유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정보제공사유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특허무효사유</a:t>
            </a:r>
          </a:p>
        </p:txBody>
      </p:sp>
      <p:sp>
        <p:nvSpPr>
          <p:cNvPr id="270" name="직사각형 269"/>
          <p:cNvSpPr/>
          <p:nvPr/>
        </p:nvSpPr>
        <p:spPr>
          <a:xfrm>
            <a:off x="9203768" y="6108574"/>
            <a:ext cx="9172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○ 거절이유</a:t>
            </a:r>
          </a:p>
        </p:txBody>
      </p:sp>
      <p:cxnSp>
        <p:nvCxnSpPr>
          <p:cNvPr id="272" name="꺾인 연결선 271"/>
          <p:cNvCxnSpPr>
            <a:stCxn id="233" idx="3"/>
            <a:endCxn id="258" idx="1"/>
          </p:cNvCxnSpPr>
          <p:nvPr/>
        </p:nvCxnSpPr>
        <p:spPr>
          <a:xfrm flipV="1">
            <a:off x="9195774" y="2261307"/>
            <a:ext cx="312136" cy="48400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꺾인 연결선 273"/>
          <p:cNvCxnSpPr>
            <a:stCxn id="233" idx="3"/>
            <a:endCxn id="260" idx="1"/>
          </p:cNvCxnSpPr>
          <p:nvPr/>
        </p:nvCxnSpPr>
        <p:spPr>
          <a:xfrm>
            <a:off x="9195774" y="2745308"/>
            <a:ext cx="312136" cy="332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꺾인 연결선 275"/>
          <p:cNvCxnSpPr>
            <a:stCxn id="260" idx="3"/>
            <a:endCxn id="262" idx="1"/>
          </p:cNvCxnSpPr>
          <p:nvPr/>
        </p:nvCxnSpPr>
        <p:spPr>
          <a:xfrm>
            <a:off x="10154875" y="2748629"/>
            <a:ext cx="211672" cy="376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꺾인 연결선 277"/>
          <p:cNvCxnSpPr>
            <a:stCxn id="260" idx="3"/>
            <a:endCxn id="263" idx="1"/>
          </p:cNvCxnSpPr>
          <p:nvPr/>
        </p:nvCxnSpPr>
        <p:spPr>
          <a:xfrm>
            <a:off x="10154875" y="2748629"/>
            <a:ext cx="211672" cy="49108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꺾인 연결선 279"/>
          <p:cNvCxnSpPr>
            <a:stCxn id="226" idx="3"/>
            <a:endCxn id="265" idx="1"/>
          </p:cNvCxnSpPr>
          <p:nvPr/>
        </p:nvCxnSpPr>
        <p:spPr>
          <a:xfrm flipV="1">
            <a:off x="7725460" y="4938974"/>
            <a:ext cx="252154" cy="60626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꺾인 연결선 281"/>
          <p:cNvCxnSpPr>
            <a:stCxn id="226" idx="3"/>
            <a:endCxn id="266" idx="1"/>
          </p:cNvCxnSpPr>
          <p:nvPr/>
        </p:nvCxnSpPr>
        <p:spPr>
          <a:xfrm flipV="1">
            <a:off x="7725460" y="5370774"/>
            <a:ext cx="252154" cy="17446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꺾인 연결선 283"/>
          <p:cNvCxnSpPr>
            <a:stCxn id="226" idx="3"/>
            <a:endCxn id="267" idx="1"/>
          </p:cNvCxnSpPr>
          <p:nvPr/>
        </p:nvCxnSpPr>
        <p:spPr>
          <a:xfrm>
            <a:off x="7725460" y="5545240"/>
            <a:ext cx="252154" cy="27003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꺾인 연결선 285"/>
          <p:cNvCxnSpPr>
            <a:stCxn id="226" idx="3"/>
            <a:endCxn id="268" idx="1"/>
          </p:cNvCxnSpPr>
          <p:nvPr/>
        </p:nvCxnSpPr>
        <p:spPr>
          <a:xfrm>
            <a:off x="7725460" y="5545240"/>
            <a:ext cx="252154" cy="70183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722448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특허출원에 필요한 서류의</a:t>
            </a:r>
            <a:r>
              <a:rPr lang="en-US" altLang="ko-KR" dirty="0">
                <a:solidFill>
                  <a:srgbClr val="525252"/>
                </a:solidFill>
              </a:rPr>
              <a:t> </a:t>
            </a:r>
            <a:r>
              <a:rPr lang="ko-KR" altLang="en-US" dirty="0">
                <a:solidFill>
                  <a:srgbClr val="525252"/>
                </a:solidFill>
              </a:rPr>
              <a:t>핵심내용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123</a:t>
            </a:fld>
            <a:endParaRPr lang="ko-KR" altLang="en-US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3844575E-C7A6-47EA-98AD-CB6BB89DCD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34029"/>
              </p:ext>
            </p:extLst>
          </p:nvPr>
        </p:nvGraphicFramePr>
        <p:xfrm>
          <a:off x="1570008" y="1107854"/>
          <a:ext cx="10230928" cy="5241187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706547">
                  <a:extLst>
                    <a:ext uri="{9D8B030D-6E8A-4147-A177-3AD203B41FA5}">
                      <a16:colId xmlns:a16="http://schemas.microsoft.com/office/drawing/2014/main" val="3909132318"/>
                    </a:ext>
                  </a:extLst>
                </a:gridCol>
                <a:gridCol w="785822">
                  <a:extLst>
                    <a:ext uri="{9D8B030D-6E8A-4147-A177-3AD203B41FA5}">
                      <a16:colId xmlns:a16="http://schemas.microsoft.com/office/drawing/2014/main" val="4228982774"/>
                    </a:ext>
                  </a:extLst>
                </a:gridCol>
                <a:gridCol w="2137697">
                  <a:extLst>
                    <a:ext uri="{9D8B030D-6E8A-4147-A177-3AD203B41FA5}">
                      <a16:colId xmlns:a16="http://schemas.microsoft.com/office/drawing/2014/main" val="3060407361"/>
                    </a:ext>
                  </a:extLst>
                </a:gridCol>
                <a:gridCol w="1437398">
                  <a:extLst>
                    <a:ext uri="{9D8B030D-6E8A-4147-A177-3AD203B41FA5}">
                      <a16:colId xmlns:a16="http://schemas.microsoft.com/office/drawing/2014/main" val="1639798372"/>
                    </a:ext>
                  </a:extLst>
                </a:gridCol>
                <a:gridCol w="2935692">
                  <a:extLst>
                    <a:ext uri="{9D8B030D-6E8A-4147-A177-3AD203B41FA5}">
                      <a16:colId xmlns:a16="http://schemas.microsoft.com/office/drawing/2014/main" val="2499683190"/>
                    </a:ext>
                  </a:extLst>
                </a:gridCol>
                <a:gridCol w="2227772">
                  <a:extLst>
                    <a:ext uri="{9D8B030D-6E8A-4147-A177-3AD203B41FA5}">
                      <a16:colId xmlns:a16="http://schemas.microsoft.com/office/drawing/2014/main" val="1187653640"/>
                    </a:ext>
                  </a:extLst>
                </a:gridCol>
              </a:tblGrid>
              <a:tr h="32088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제출서류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역할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기재방법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위반 취급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90124"/>
                  </a:ext>
                </a:extLst>
              </a:tr>
              <a:tr h="53481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출원서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출원과 관련된 각종 취지를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적은 서면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42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 err="1"/>
                        <a:t>항각호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+ @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무효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 err="1"/>
                        <a:t>불수리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2920730"/>
                  </a:ext>
                </a:extLst>
              </a:tr>
              <a:tr h="534815">
                <a:tc row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명세서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발명의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발명의 공개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실시가능요건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42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3</a:t>
                      </a:r>
                      <a:r>
                        <a:rPr lang="ko-KR" altLang="en-US" sz="1200" dirty="0"/>
                        <a:t>항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일반적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42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3</a:t>
                      </a:r>
                      <a:r>
                        <a:rPr lang="ko-KR" altLang="en-US" sz="1200" dirty="0" err="1"/>
                        <a:t>항제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호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거절이유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실체적 요건 위반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4312117"/>
                  </a:ext>
                </a:extLst>
              </a:tr>
              <a:tr h="5348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배경기술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42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3</a:t>
                      </a:r>
                      <a:r>
                        <a:rPr lang="ko-KR" altLang="en-US" sz="1200" dirty="0" err="1"/>
                        <a:t>항제</a:t>
                      </a:r>
                      <a:r>
                        <a:rPr lang="en-US" altLang="ko-KR" sz="1200" dirty="0"/>
                        <a:t>2</a:t>
                      </a:r>
                      <a:r>
                        <a:rPr lang="ko-KR" altLang="en-US" sz="1200" dirty="0"/>
                        <a:t>호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거절이유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절차적 요건 위반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8989611"/>
                  </a:ext>
                </a:extLst>
              </a:tr>
              <a:tr h="5348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기재방법요건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42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9</a:t>
                      </a:r>
                      <a:r>
                        <a:rPr lang="ko-KR" altLang="en-US" sz="1200" dirty="0"/>
                        <a:t>항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무효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5196539"/>
                  </a:ext>
                </a:extLst>
              </a:tr>
              <a:tr h="53481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청구범위</a:t>
                      </a: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발명의 보호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기재원칙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42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4</a:t>
                      </a:r>
                      <a:r>
                        <a:rPr lang="ko-KR" altLang="en-US" sz="1200" dirty="0"/>
                        <a:t>항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뒷받침 요건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42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4</a:t>
                      </a:r>
                      <a:r>
                        <a:rPr lang="ko-KR" altLang="en-US" sz="1200" dirty="0" err="1"/>
                        <a:t>항제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호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거절이유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실체적 요건 위반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4870249"/>
                  </a:ext>
                </a:extLst>
              </a:tr>
              <a:tr h="5348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명확성 요건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42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4</a:t>
                      </a:r>
                      <a:r>
                        <a:rPr lang="ko-KR" altLang="en-US" sz="1200" dirty="0" err="1"/>
                        <a:t>항제</a:t>
                      </a:r>
                      <a:r>
                        <a:rPr lang="en-US" altLang="ko-KR" sz="1200" dirty="0"/>
                        <a:t>2</a:t>
                      </a:r>
                      <a:r>
                        <a:rPr lang="ko-KR" altLang="en-US" sz="1200" dirty="0"/>
                        <a:t>호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거절이유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실체적 요건 위반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9056085"/>
                  </a:ext>
                </a:extLst>
              </a:tr>
              <a:tr h="5348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구성요소의 기재</a:t>
                      </a:r>
                      <a:endParaRPr lang="en-US" altLang="ko-KR" sz="12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42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6</a:t>
                      </a:r>
                      <a:r>
                        <a:rPr lang="ko-KR" altLang="en-US" sz="1200" dirty="0"/>
                        <a:t>항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5124636"/>
                  </a:ext>
                </a:extLst>
              </a:tr>
              <a:tr h="5348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다항제의 기재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42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8</a:t>
                      </a:r>
                      <a:r>
                        <a:rPr lang="ko-KR" altLang="en-US" sz="1200" dirty="0"/>
                        <a:t>항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거절이유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절차적 요건 위반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7890160"/>
                  </a:ext>
                </a:extLst>
              </a:tr>
              <a:tr h="32088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필요한 도면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명세서의 보조수단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42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9</a:t>
                      </a:r>
                      <a:r>
                        <a:rPr lang="ko-KR" altLang="en-US" sz="1200" dirty="0"/>
                        <a:t>항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무효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2224849"/>
                  </a:ext>
                </a:extLst>
              </a:tr>
              <a:tr h="32088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요약서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기술정보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제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43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조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42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9</a:t>
                      </a:r>
                      <a:r>
                        <a:rPr lang="ko-KR" altLang="en-US" sz="1200" dirty="0"/>
                        <a:t>항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무효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8748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E47098B-367B-4559-B8B1-3CC09CA7AFE3}"/>
              </a:ext>
            </a:extLst>
          </p:cNvPr>
          <p:cNvSpPr txBox="1"/>
          <p:nvPr/>
        </p:nvSpPr>
        <p:spPr>
          <a:xfrm>
            <a:off x="213363" y="1449238"/>
            <a:ext cx="707245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제</a:t>
            </a:r>
            <a:r>
              <a:rPr lang="en-US" altLang="ko-KR" sz="1400" dirty="0"/>
              <a:t>42</a:t>
            </a:r>
            <a:r>
              <a:rPr lang="ko-KR" altLang="en-US" sz="1400" dirty="0"/>
              <a:t>조</a:t>
            </a:r>
            <a:endParaRPr lang="en-US" altLang="ko-KR" sz="1400" dirty="0"/>
          </a:p>
          <a:p>
            <a:pPr algn="ctr"/>
            <a:r>
              <a:rPr lang="ko-KR" altLang="en-US" sz="1400" dirty="0"/>
              <a:t>제</a:t>
            </a:r>
            <a:r>
              <a:rPr lang="en-US" altLang="ko-KR" sz="1400" dirty="0"/>
              <a:t>1</a:t>
            </a:r>
            <a:r>
              <a:rPr lang="ko-KR" altLang="en-US" sz="1400" dirty="0"/>
              <a:t>항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3D287-61F4-4098-A16E-979C839EE3AE}"/>
              </a:ext>
            </a:extLst>
          </p:cNvPr>
          <p:cNvSpPr txBox="1"/>
          <p:nvPr/>
        </p:nvSpPr>
        <p:spPr>
          <a:xfrm>
            <a:off x="213363" y="4537494"/>
            <a:ext cx="707245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제</a:t>
            </a:r>
            <a:r>
              <a:rPr lang="en-US" altLang="ko-KR" sz="1400" dirty="0"/>
              <a:t>42</a:t>
            </a:r>
            <a:r>
              <a:rPr lang="ko-KR" altLang="en-US" sz="1400" dirty="0"/>
              <a:t>조</a:t>
            </a:r>
            <a:endParaRPr lang="en-US" altLang="ko-KR" sz="1400" dirty="0"/>
          </a:p>
          <a:p>
            <a:pPr algn="ctr"/>
            <a:r>
              <a:rPr lang="ko-KR" altLang="en-US" sz="1400" dirty="0"/>
              <a:t>제</a:t>
            </a:r>
            <a:r>
              <a:rPr lang="en-US" altLang="ko-KR" sz="1400" dirty="0"/>
              <a:t>2</a:t>
            </a:r>
            <a:r>
              <a:rPr lang="ko-KR" altLang="en-US" sz="1400" dirty="0"/>
              <a:t>항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497C2F0-A5A4-4C6A-9599-6559C9E675E0}"/>
              </a:ext>
            </a:extLst>
          </p:cNvPr>
          <p:cNvCxnSpPr>
            <a:stCxn id="6" idx="3"/>
          </p:cNvCxnSpPr>
          <p:nvPr/>
        </p:nvCxnSpPr>
        <p:spPr>
          <a:xfrm>
            <a:off x="920608" y="1710848"/>
            <a:ext cx="1054841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D0BBDF0-C64F-45B1-9D10-6817C5E71755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920608" y="3862790"/>
            <a:ext cx="707245" cy="9363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AE1C4092-8406-4A1D-A9E7-678292C0D599}"/>
              </a:ext>
            </a:extLst>
          </p:cNvPr>
          <p:cNvCxnSpPr>
            <a:stCxn id="7" idx="3"/>
          </p:cNvCxnSpPr>
          <p:nvPr/>
        </p:nvCxnSpPr>
        <p:spPr>
          <a:xfrm>
            <a:off x="920608" y="4799104"/>
            <a:ext cx="821928" cy="142054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85E57364-C11F-448F-A0EE-5A534ABA83EA}"/>
              </a:ext>
            </a:extLst>
          </p:cNvPr>
          <p:cNvCxnSpPr>
            <a:stCxn id="7" idx="3"/>
          </p:cNvCxnSpPr>
          <p:nvPr/>
        </p:nvCxnSpPr>
        <p:spPr>
          <a:xfrm>
            <a:off x="920608" y="4799104"/>
            <a:ext cx="821928" cy="107548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612657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청구범위 제출의 유예의 개념</a:t>
            </a:r>
          </a:p>
        </p:txBody>
      </p:sp>
      <p:cxnSp>
        <p:nvCxnSpPr>
          <p:cNvPr id="60" name="직선 연결선 59"/>
          <p:cNvCxnSpPr/>
          <p:nvPr/>
        </p:nvCxnSpPr>
        <p:spPr>
          <a:xfrm>
            <a:off x="0" y="2385136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7875" y="986046"/>
            <a:ext cx="119363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42</a:t>
            </a:r>
            <a:r>
              <a:rPr lang="ko-KR" altLang="en-US" sz="1400" b="1" dirty="0">
                <a:solidFill>
                  <a:schemeClr val="accent1"/>
                </a:solidFill>
              </a:rPr>
              <a:t>조의</a:t>
            </a:r>
            <a:r>
              <a:rPr lang="en-US" altLang="ko-KR" sz="1400" b="1" dirty="0">
                <a:solidFill>
                  <a:schemeClr val="accent1"/>
                </a:solidFill>
              </a:rPr>
              <a:t>2(</a:t>
            </a:r>
            <a:r>
              <a:rPr lang="ko-KR" altLang="en-US" sz="1400" b="1" dirty="0">
                <a:solidFill>
                  <a:schemeClr val="accent1"/>
                </a:solidFill>
              </a:rPr>
              <a:t>특허출원일 등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특허출원일은 명세서 및 필요한 도면을 첨부한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특허출원서가</a:t>
            </a:r>
            <a:r>
              <a:rPr lang="ko-KR" altLang="en-US" sz="1400" dirty="0">
                <a:solidFill>
                  <a:schemeClr val="tx2"/>
                </a:solidFill>
              </a:rPr>
              <a:t> 지식재산처장에게 도달한 날로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 경우 명세서에 </a:t>
            </a:r>
            <a:r>
              <a:rPr lang="ko-KR" altLang="en-US" sz="1400" dirty="0" err="1">
                <a:solidFill>
                  <a:schemeClr val="tx2"/>
                </a:solidFill>
              </a:rPr>
              <a:t>청구범위는</a:t>
            </a:r>
            <a:r>
              <a:rPr lang="ko-KR" altLang="en-US" sz="1400" dirty="0">
                <a:solidFill>
                  <a:schemeClr val="tx2"/>
                </a:solidFill>
              </a:rPr>
              <a:t> 적지 아니할 수 있으나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발명의 설명은 적어야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특허출원인은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후단에 따라 특허출원서에 최초로 첨부한 명세서에 청구범위를 적지 아니한 경우에는 제</a:t>
            </a:r>
            <a:r>
              <a:rPr lang="en-US" altLang="ko-KR" sz="1400" dirty="0">
                <a:solidFill>
                  <a:schemeClr val="tx2"/>
                </a:solidFill>
              </a:rPr>
              <a:t>64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각 호의 구분에 따른 날부터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개월이 되는 날까지 명세서에 청구범위를 적는 보정을 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본문에 따른 기한 이전에 제</a:t>
            </a:r>
            <a:r>
              <a:rPr lang="en-US" altLang="ko-KR" sz="1400" dirty="0">
                <a:solidFill>
                  <a:schemeClr val="tx2"/>
                </a:solidFill>
              </a:rPr>
              <a:t>60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항에 따른 </a:t>
            </a:r>
            <a:r>
              <a:rPr lang="ko-KR" altLang="en-US" sz="1400" dirty="0" err="1">
                <a:solidFill>
                  <a:schemeClr val="tx2"/>
                </a:solidFill>
              </a:rPr>
              <a:t>출원심사</a:t>
            </a:r>
            <a:r>
              <a:rPr lang="ko-KR" altLang="en-US" sz="1400" dirty="0">
                <a:solidFill>
                  <a:schemeClr val="tx2"/>
                </a:solidFill>
              </a:rPr>
              <a:t> 청구의 취지를 </a:t>
            </a:r>
            <a:r>
              <a:rPr lang="ko-KR" altLang="en-US" sz="1400" dirty="0" err="1">
                <a:solidFill>
                  <a:schemeClr val="tx2"/>
                </a:solidFill>
              </a:rPr>
              <a:t>통지받은</a:t>
            </a:r>
            <a:r>
              <a:rPr lang="ko-KR" altLang="en-US" sz="1400" dirty="0">
                <a:solidFill>
                  <a:schemeClr val="tx2"/>
                </a:solidFill>
              </a:rPr>
              <a:t> 경우에는 그 통지를 받은 날부터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개월이 되는 날 또는 제</a:t>
            </a:r>
            <a:r>
              <a:rPr lang="en-US" altLang="ko-KR" sz="1400" dirty="0">
                <a:solidFill>
                  <a:schemeClr val="tx2"/>
                </a:solidFill>
              </a:rPr>
              <a:t>64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각 호의 구분에 따른 날부터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개월이 되는 날 중 빠른 날까지 보정을 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특허출원인이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따른 보정을 하지 아니한 경우에는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따른 기한이 되는 날의 다음 날에 해당 특허출원을 취하한 것으로 본다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3827139" y="3168640"/>
            <a:ext cx="1808927" cy="4488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출원서</a:t>
            </a:r>
            <a:r>
              <a:rPr lang="en-US" altLang="ko-KR" sz="1200" dirty="0">
                <a:solidFill>
                  <a:schemeClr val="tx1"/>
                </a:solidFill>
              </a:rPr>
              <a:t>*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3827139" y="3767548"/>
            <a:ext cx="1808927" cy="4488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명세서</a:t>
            </a:r>
            <a:r>
              <a:rPr lang="en-US" altLang="ko-KR" sz="1200" dirty="0">
                <a:solidFill>
                  <a:schemeClr val="tx1"/>
                </a:solidFill>
              </a:rPr>
              <a:t>*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3827139" y="4402894"/>
            <a:ext cx="1808927" cy="4488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필요한 도면</a:t>
            </a:r>
            <a:r>
              <a:rPr lang="en-US" altLang="ko-KR" sz="1200" dirty="0">
                <a:solidFill>
                  <a:schemeClr val="tx1"/>
                </a:solidFill>
              </a:rPr>
              <a:t>*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3827139" y="5001802"/>
            <a:ext cx="1808927" cy="44880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요약서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6092133" y="3762845"/>
            <a:ext cx="3214240" cy="4535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발명의 설명</a:t>
            </a:r>
            <a:r>
              <a:rPr lang="en-US" altLang="ko-KR" sz="1200" dirty="0">
                <a:solidFill>
                  <a:schemeClr val="tx1"/>
                </a:solidFill>
              </a:rPr>
              <a:t>*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6092135" y="4402894"/>
            <a:ext cx="3214238" cy="44880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청구범위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71" name="꺾인 연결선 70"/>
          <p:cNvCxnSpPr>
            <a:stCxn id="76" idx="3"/>
            <a:endCxn id="67" idx="1"/>
          </p:cNvCxnSpPr>
          <p:nvPr/>
        </p:nvCxnSpPr>
        <p:spPr>
          <a:xfrm>
            <a:off x="3292197" y="4290352"/>
            <a:ext cx="534942" cy="93585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꺾인 연결선 71"/>
          <p:cNvCxnSpPr>
            <a:stCxn id="76" idx="3"/>
            <a:endCxn id="64" idx="1"/>
          </p:cNvCxnSpPr>
          <p:nvPr/>
        </p:nvCxnSpPr>
        <p:spPr>
          <a:xfrm flipV="1">
            <a:off x="3292197" y="3991949"/>
            <a:ext cx="534942" cy="298403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stCxn id="76" idx="3"/>
            <a:endCxn id="66" idx="1"/>
          </p:cNvCxnSpPr>
          <p:nvPr/>
        </p:nvCxnSpPr>
        <p:spPr>
          <a:xfrm>
            <a:off x="3292197" y="4290352"/>
            <a:ext cx="534942" cy="336943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꺾인 연결선 73"/>
          <p:cNvCxnSpPr>
            <a:stCxn id="64" idx="3"/>
            <a:endCxn id="70" idx="1"/>
          </p:cNvCxnSpPr>
          <p:nvPr/>
        </p:nvCxnSpPr>
        <p:spPr>
          <a:xfrm>
            <a:off x="5636066" y="3991950"/>
            <a:ext cx="456069" cy="635346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꺾인 연결선 74"/>
          <p:cNvCxnSpPr>
            <a:stCxn id="64" idx="3"/>
            <a:endCxn id="69" idx="1"/>
          </p:cNvCxnSpPr>
          <p:nvPr/>
        </p:nvCxnSpPr>
        <p:spPr>
          <a:xfrm flipV="1">
            <a:off x="5636066" y="3989598"/>
            <a:ext cx="456067" cy="235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/>
          <p:cNvSpPr/>
          <p:nvPr/>
        </p:nvSpPr>
        <p:spPr>
          <a:xfrm>
            <a:off x="2212791" y="3984992"/>
            <a:ext cx="1079406" cy="61072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출원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서류</a:t>
            </a:r>
          </a:p>
        </p:txBody>
      </p:sp>
      <p:cxnSp>
        <p:nvCxnSpPr>
          <p:cNvPr id="77" name="꺾인 연결선 76"/>
          <p:cNvCxnSpPr>
            <a:stCxn id="62" idx="1"/>
            <a:endCxn id="76" idx="3"/>
          </p:cNvCxnSpPr>
          <p:nvPr/>
        </p:nvCxnSpPr>
        <p:spPr>
          <a:xfrm rot="10800000" flipV="1">
            <a:off x="3292197" y="3393040"/>
            <a:ext cx="534942" cy="89731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084939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/>
        </p:nvSpPr>
        <p:spPr>
          <a:xfrm>
            <a:off x="3749758" y="2024885"/>
            <a:ext cx="958306" cy="49244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공개준비기간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최대 </a:t>
            </a:r>
            <a:r>
              <a:rPr lang="en-US" altLang="ko-KR" sz="1100" dirty="0">
                <a:solidFill>
                  <a:srgbClr val="FF0000"/>
                </a:solidFill>
              </a:rPr>
              <a:t>4</a:t>
            </a:r>
            <a:r>
              <a:rPr lang="ko-KR" altLang="en-US" sz="1100" dirty="0">
                <a:solidFill>
                  <a:srgbClr val="FF0000"/>
                </a:solidFill>
              </a:rPr>
              <a:t>개월</a:t>
            </a:r>
            <a:r>
              <a:rPr lang="en-US" altLang="ko-KR" sz="1100" dirty="0">
                <a:solidFill>
                  <a:srgbClr val="FF0000"/>
                </a:solidFill>
              </a:rPr>
              <a:t>)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청구범위 제출의 유예기간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27524" y="1106382"/>
            <a:ext cx="2153886" cy="50591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원칙적 유예기간</a:t>
            </a:r>
            <a:endParaRPr lang="en-US" altLang="ko-KR" sz="16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1100" b="0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42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조의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r>
              <a:rPr lang="ko-KR" altLang="en-US" sz="1100" dirty="0" err="1">
                <a:solidFill>
                  <a:schemeClr val="bg1"/>
                </a:solidFill>
                <a:latin typeface="+mj-ea"/>
                <a:ea typeface="+mj-ea"/>
              </a:rPr>
              <a:t>항본문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100299" y="2536498"/>
            <a:ext cx="5453829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stCxn id="7" idx="0"/>
          </p:cNvCxnSpPr>
          <p:nvPr/>
        </p:nvCxnSpPr>
        <p:spPr>
          <a:xfrm flipV="1">
            <a:off x="752933" y="2536500"/>
            <a:ext cx="0" cy="28284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stCxn id="8" idx="0"/>
          </p:cNvCxnSpPr>
          <p:nvPr/>
        </p:nvCxnSpPr>
        <p:spPr>
          <a:xfrm flipV="1">
            <a:off x="4860421" y="2536500"/>
            <a:ext cx="0" cy="28284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자유형 16"/>
          <p:cNvSpPr/>
          <p:nvPr/>
        </p:nvSpPr>
        <p:spPr>
          <a:xfrm>
            <a:off x="745975" y="1864623"/>
            <a:ext cx="4098634" cy="633033"/>
          </a:xfrm>
          <a:custGeom>
            <a:avLst/>
            <a:gdLst>
              <a:gd name="connsiteX0" fmla="*/ 0 w 4944533"/>
              <a:gd name="connsiteY0" fmla="*/ 524934 h 524934"/>
              <a:gd name="connsiteX1" fmla="*/ 0 w 4944533"/>
              <a:gd name="connsiteY1" fmla="*/ 0 h 524934"/>
              <a:gd name="connsiteX2" fmla="*/ 4944533 w 4944533"/>
              <a:gd name="connsiteY2" fmla="*/ 0 h 524934"/>
              <a:gd name="connsiteX3" fmla="*/ 4944533 w 4944533"/>
              <a:gd name="connsiteY3" fmla="*/ 524934 h 524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44533" h="524934">
                <a:moveTo>
                  <a:pt x="0" y="524934"/>
                </a:moveTo>
                <a:lnTo>
                  <a:pt x="0" y="0"/>
                </a:lnTo>
                <a:lnTo>
                  <a:pt x="4944533" y="0"/>
                </a:lnTo>
                <a:lnTo>
                  <a:pt x="4944533" y="524934"/>
                </a:lnTo>
              </a:path>
            </a:pathLst>
          </a:cu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자유형 17"/>
          <p:cNvSpPr/>
          <p:nvPr/>
        </p:nvSpPr>
        <p:spPr>
          <a:xfrm>
            <a:off x="745975" y="2128971"/>
            <a:ext cx="2883347" cy="379076"/>
          </a:xfrm>
          <a:custGeom>
            <a:avLst/>
            <a:gdLst>
              <a:gd name="connsiteX0" fmla="*/ 0 w 4944533"/>
              <a:gd name="connsiteY0" fmla="*/ 524934 h 524934"/>
              <a:gd name="connsiteX1" fmla="*/ 0 w 4944533"/>
              <a:gd name="connsiteY1" fmla="*/ 0 h 524934"/>
              <a:gd name="connsiteX2" fmla="*/ 4944533 w 4944533"/>
              <a:gd name="connsiteY2" fmla="*/ 0 h 524934"/>
              <a:gd name="connsiteX3" fmla="*/ 4944533 w 4944533"/>
              <a:gd name="connsiteY3" fmla="*/ 524934 h 524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44533" h="524934">
                <a:moveTo>
                  <a:pt x="0" y="524934"/>
                </a:moveTo>
                <a:lnTo>
                  <a:pt x="0" y="0"/>
                </a:lnTo>
                <a:lnTo>
                  <a:pt x="4944533" y="0"/>
                </a:lnTo>
                <a:lnTo>
                  <a:pt x="4944533" y="524934"/>
                </a:lnTo>
              </a:path>
            </a:pathLst>
          </a:cu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2777221" y="1715973"/>
            <a:ext cx="81144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1</a:t>
            </a:r>
            <a:r>
              <a:rPr lang="ko-KR" altLang="en-US" sz="1200" dirty="0"/>
              <a:t>년 </a:t>
            </a:r>
            <a:r>
              <a:rPr lang="en-US" altLang="ko-KR" sz="1200" dirty="0"/>
              <a:t>6</a:t>
            </a:r>
            <a:r>
              <a:rPr lang="ko-KR" altLang="en-US" sz="1200" dirty="0"/>
              <a:t>개월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6913" y="1956603"/>
            <a:ext cx="67262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</a:t>
            </a:r>
            <a:r>
              <a:rPr lang="ko-KR" altLang="en-US" sz="1200" dirty="0"/>
              <a:t>년 </a:t>
            </a:r>
            <a:r>
              <a:rPr lang="en-US" altLang="ko-KR" sz="1200" dirty="0"/>
              <a:t>2</a:t>
            </a:r>
            <a:r>
              <a:rPr lang="ko-KR" altLang="en-US" sz="1200" dirty="0"/>
              <a:t>개월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2657" y="2196485"/>
            <a:ext cx="113370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일반적 유예기간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75735" y="2819346"/>
            <a:ext cx="754396" cy="3387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4483223" y="2819346"/>
            <a:ext cx="754396" cy="3387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출원공개</a:t>
            </a:r>
          </a:p>
        </p:txBody>
      </p:sp>
      <p:sp>
        <p:nvSpPr>
          <p:cNvPr id="53" name="자유형 52"/>
          <p:cNvSpPr/>
          <p:nvPr/>
        </p:nvSpPr>
        <p:spPr>
          <a:xfrm>
            <a:off x="8425865" y="2552095"/>
            <a:ext cx="840132" cy="465666"/>
          </a:xfrm>
          <a:custGeom>
            <a:avLst/>
            <a:gdLst>
              <a:gd name="connsiteX0" fmla="*/ 0 w 939800"/>
              <a:gd name="connsiteY0" fmla="*/ 8466 h 465666"/>
              <a:gd name="connsiteX1" fmla="*/ 135466 w 939800"/>
              <a:gd name="connsiteY1" fmla="*/ 465666 h 465666"/>
              <a:gd name="connsiteX2" fmla="*/ 804333 w 939800"/>
              <a:gd name="connsiteY2" fmla="*/ 465666 h 465666"/>
              <a:gd name="connsiteX3" fmla="*/ 939800 w 939800"/>
              <a:gd name="connsiteY3" fmla="*/ 0 h 46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9800" h="465666">
                <a:moveTo>
                  <a:pt x="0" y="8466"/>
                </a:moveTo>
                <a:lnTo>
                  <a:pt x="135466" y="465666"/>
                </a:lnTo>
                <a:lnTo>
                  <a:pt x="804333" y="465666"/>
                </a:lnTo>
                <a:lnTo>
                  <a:pt x="939800" y="0"/>
                </a:lnTo>
              </a:path>
            </a:pathLst>
          </a:custGeom>
          <a:pattFill prst="dotGrid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/>
                </a:solidFill>
              </a:rPr>
              <a:t>3</a:t>
            </a:r>
            <a:r>
              <a:rPr lang="ko-KR" altLang="en-US" dirty="0">
                <a:solidFill>
                  <a:schemeClr val="accent2"/>
                </a:solidFill>
              </a:rPr>
              <a:t>개월</a:t>
            </a:r>
          </a:p>
        </p:txBody>
      </p:sp>
      <p:cxnSp>
        <p:nvCxnSpPr>
          <p:cNvPr id="27" name="직선 연결선 26"/>
          <p:cNvCxnSpPr/>
          <p:nvPr/>
        </p:nvCxnSpPr>
        <p:spPr>
          <a:xfrm>
            <a:off x="6132541" y="2531671"/>
            <a:ext cx="588166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6429584" y="2814519"/>
            <a:ext cx="813575" cy="3387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cxnSp>
        <p:nvCxnSpPr>
          <p:cNvPr id="30" name="직선 화살표 연결선 29"/>
          <p:cNvCxnSpPr>
            <a:stCxn id="28" idx="0"/>
          </p:cNvCxnSpPr>
          <p:nvPr/>
        </p:nvCxnSpPr>
        <p:spPr>
          <a:xfrm flipV="1">
            <a:off x="6836371" y="2531673"/>
            <a:ext cx="0" cy="28284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자유형 32"/>
          <p:cNvSpPr/>
          <p:nvPr/>
        </p:nvSpPr>
        <p:spPr>
          <a:xfrm>
            <a:off x="6828867" y="2124144"/>
            <a:ext cx="4007714" cy="379076"/>
          </a:xfrm>
          <a:custGeom>
            <a:avLst/>
            <a:gdLst>
              <a:gd name="connsiteX0" fmla="*/ 0 w 4944533"/>
              <a:gd name="connsiteY0" fmla="*/ 524934 h 524934"/>
              <a:gd name="connsiteX1" fmla="*/ 0 w 4944533"/>
              <a:gd name="connsiteY1" fmla="*/ 0 h 524934"/>
              <a:gd name="connsiteX2" fmla="*/ 4944533 w 4944533"/>
              <a:gd name="connsiteY2" fmla="*/ 0 h 524934"/>
              <a:gd name="connsiteX3" fmla="*/ 4944533 w 4944533"/>
              <a:gd name="connsiteY3" fmla="*/ 524934 h 524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44533" h="524934">
                <a:moveTo>
                  <a:pt x="0" y="524934"/>
                </a:moveTo>
                <a:lnTo>
                  <a:pt x="0" y="0"/>
                </a:lnTo>
                <a:lnTo>
                  <a:pt x="4944533" y="0"/>
                </a:lnTo>
                <a:lnTo>
                  <a:pt x="4944533" y="524934"/>
                </a:lnTo>
              </a:path>
            </a:pathLst>
          </a:cu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8186073" y="1951776"/>
            <a:ext cx="81144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1</a:t>
            </a:r>
            <a:r>
              <a:rPr lang="ko-KR" altLang="en-US" sz="1200" dirty="0"/>
              <a:t>년 </a:t>
            </a:r>
            <a:r>
              <a:rPr lang="en-US" altLang="ko-KR" sz="1200" dirty="0"/>
              <a:t>2</a:t>
            </a:r>
            <a:r>
              <a:rPr lang="ko-KR" altLang="en-US" sz="1200" dirty="0"/>
              <a:t>개월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7139176" y="3280186"/>
            <a:ext cx="813575" cy="47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심사청구</a:t>
            </a:r>
          </a:p>
        </p:txBody>
      </p:sp>
      <p:cxnSp>
        <p:nvCxnSpPr>
          <p:cNvPr id="42" name="직선 화살표 연결선 41"/>
          <p:cNvCxnSpPr>
            <a:stCxn id="41" idx="0"/>
          </p:cNvCxnSpPr>
          <p:nvPr/>
        </p:nvCxnSpPr>
        <p:spPr>
          <a:xfrm flipV="1">
            <a:off x="7545963" y="2531674"/>
            <a:ext cx="0" cy="74851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/>
          <p:cNvSpPr/>
          <p:nvPr/>
        </p:nvSpPr>
        <p:spPr>
          <a:xfrm>
            <a:off x="8001406" y="3280186"/>
            <a:ext cx="813575" cy="47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취지통지</a:t>
            </a:r>
          </a:p>
        </p:txBody>
      </p:sp>
      <p:cxnSp>
        <p:nvCxnSpPr>
          <p:cNvPr id="46" name="직선 화살표 연결선 45"/>
          <p:cNvCxnSpPr>
            <a:stCxn id="45" idx="0"/>
          </p:cNvCxnSpPr>
          <p:nvPr/>
        </p:nvCxnSpPr>
        <p:spPr>
          <a:xfrm flipV="1">
            <a:off x="8408194" y="2531674"/>
            <a:ext cx="0" cy="74851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9274312" y="3441083"/>
            <a:ext cx="813575" cy="47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심사청구</a:t>
            </a:r>
          </a:p>
        </p:txBody>
      </p:sp>
      <p:cxnSp>
        <p:nvCxnSpPr>
          <p:cNvPr id="48" name="직선 화살표 연결선 47"/>
          <p:cNvCxnSpPr>
            <a:stCxn id="47" idx="0"/>
          </p:cNvCxnSpPr>
          <p:nvPr/>
        </p:nvCxnSpPr>
        <p:spPr>
          <a:xfrm flipV="1">
            <a:off x="9681100" y="2531674"/>
            <a:ext cx="0" cy="90940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/>
          <p:cNvSpPr/>
          <p:nvPr/>
        </p:nvSpPr>
        <p:spPr>
          <a:xfrm>
            <a:off x="10136543" y="3441083"/>
            <a:ext cx="813575" cy="47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취지통지</a:t>
            </a:r>
          </a:p>
        </p:txBody>
      </p:sp>
      <p:cxnSp>
        <p:nvCxnSpPr>
          <p:cNvPr id="50" name="직선 화살표 연결선 49"/>
          <p:cNvCxnSpPr>
            <a:stCxn id="49" idx="0"/>
          </p:cNvCxnSpPr>
          <p:nvPr/>
        </p:nvCxnSpPr>
        <p:spPr>
          <a:xfrm flipV="1">
            <a:off x="10543330" y="2531674"/>
            <a:ext cx="0" cy="90940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자유형 53"/>
          <p:cNvSpPr/>
          <p:nvPr/>
        </p:nvSpPr>
        <p:spPr>
          <a:xfrm>
            <a:off x="10543330" y="2552095"/>
            <a:ext cx="840132" cy="465666"/>
          </a:xfrm>
          <a:custGeom>
            <a:avLst/>
            <a:gdLst>
              <a:gd name="connsiteX0" fmla="*/ 0 w 939800"/>
              <a:gd name="connsiteY0" fmla="*/ 8466 h 465666"/>
              <a:gd name="connsiteX1" fmla="*/ 135466 w 939800"/>
              <a:gd name="connsiteY1" fmla="*/ 465666 h 465666"/>
              <a:gd name="connsiteX2" fmla="*/ 804333 w 939800"/>
              <a:gd name="connsiteY2" fmla="*/ 465666 h 465666"/>
              <a:gd name="connsiteX3" fmla="*/ 939800 w 939800"/>
              <a:gd name="connsiteY3" fmla="*/ 0 h 46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9800" h="465666">
                <a:moveTo>
                  <a:pt x="0" y="8466"/>
                </a:moveTo>
                <a:lnTo>
                  <a:pt x="135466" y="465666"/>
                </a:lnTo>
                <a:lnTo>
                  <a:pt x="804333" y="465666"/>
                </a:lnTo>
                <a:lnTo>
                  <a:pt x="939800" y="0"/>
                </a:lnTo>
              </a:path>
            </a:pathLst>
          </a:custGeom>
          <a:pattFill prst="dotGrid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/>
                </a:solidFill>
              </a:rPr>
              <a:t>3</a:t>
            </a:r>
            <a:r>
              <a:rPr lang="ko-KR" altLang="en-US" dirty="0">
                <a:solidFill>
                  <a:schemeClr val="accent2"/>
                </a:solidFill>
              </a:rPr>
              <a:t>개월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57895" y="3071751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13962" y="2945789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06441" y="2367429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58715" y="2249134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59" name="Rectangle 5"/>
          <p:cNvSpPr>
            <a:spLocks noChangeArrowheads="1"/>
          </p:cNvSpPr>
          <p:nvPr/>
        </p:nvSpPr>
        <p:spPr bwMode="auto">
          <a:xfrm>
            <a:off x="6166216" y="1106382"/>
            <a:ext cx="2153886" cy="50591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sz="1600" b="0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자의 심사청구</a:t>
            </a:r>
            <a:endParaRPr lang="en-US" altLang="ko-KR" sz="1600" b="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1100" b="0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42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조의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r>
              <a:rPr lang="ko-KR" altLang="en-US" sz="1100" dirty="0" err="1">
                <a:solidFill>
                  <a:schemeClr val="bg1"/>
                </a:solidFill>
                <a:latin typeface="+mj-ea"/>
                <a:ea typeface="+mj-ea"/>
              </a:rPr>
              <a:t>항단서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63" name="직선 연결선 62"/>
          <p:cNvCxnSpPr/>
          <p:nvPr/>
        </p:nvCxnSpPr>
        <p:spPr>
          <a:xfrm>
            <a:off x="5741812" y="1095555"/>
            <a:ext cx="0" cy="2816524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/>
          <p:nvPr/>
        </p:nvCxnSpPr>
        <p:spPr>
          <a:xfrm>
            <a:off x="375735" y="4140200"/>
            <a:ext cx="11469132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5"/>
          <p:cNvSpPr>
            <a:spLocks noChangeArrowheads="1"/>
          </p:cNvSpPr>
          <p:nvPr/>
        </p:nvSpPr>
        <p:spPr bwMode="auto">
          <a:xfrm>
            <a:off x="127524" y="4323715"/>
            <a:ext cx="2153886" cy="50591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분할출원</a:t>
            </a:r>
            <a:r>
              <a:rPr lang="en-US" altLang="ko-KR" sz="1600" dirty="0">
                <a:solidFill>
                  <a:schemeClr val="bg1"/>
                </a:solidFill>
                <a:latin typeface="+mj-ea"/>
                <a:ea typeface="+mj-ea"/>
              </a:rPr>
              <a:t>, </a:t>
            </a:r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변경출원</a:t>
            </a:r>
            <a:endParaRPr lang="en-US" altLang="ko-KR" sz="16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1100" b="0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1100" b="0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sz="1100" b="0" dirty="0">
                <a:solidFill>
                  <a:schemeClr val="bg1"/>
                </a:solidFill>
                <a:latin typeface="+mj-ea"/>
                <a:ea typeface="+mj-ea"/>
              </a:rPr>
              <a:t>52</a:t>
            </a:r>
            <a:r>
              <a:rPr lang="ko-KR" altLang="en-US" sz="1100" b="0" dirty="0">
                <a:solidFill>
                  <a:schemeClr val="bg1"/>
                </a:solidFill>
                <a:latin typeface="+mj-ea"/>
                <a:ea typeface="+mj-ea"/>
              </a:rPr>
              <a:t>조제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8</a:t>
            </a:r>
            <a:r>
              <a:rPr lang="ko-KR" altLang="en-US" sz="1100" b="0" dirty="0">
                <a:solidFill>
                  <a:schemeClr val="bg1"/>
                </a:solidFill>
                <a:latin typeface="+mj-ea"/>
                <a:ea typeface="+mj-ea"/>
              </a:rPr>
              <a:t>항</a:t>
            </a:r>
            <a:r>
              <a:rPr lang="en-US" altLang="ko-KR" sz="1100" b="0" dirty="0">
                <a:solidFill>
                  <a:schemeClr val="bg1"/>
                </a:solidFill>
                <a:latin typeface="+mj-ea"/>
                <a:ea typeface="+mj-ea"/>
              </a:rPr>
              <a:t>,</a:t>
            </a:r>
            <a:r>
              <a:rPr lang="ko-KR" altLang="en-US" sz="1100" b="0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sz="1100" b="0" dirty="0">
                <a:solidFill>
                  <a:schemeClr val="bg1"/>
                </a:solidFill>
                <a:latin typeface="+mj-ea"/>
                <a:ea typeface="+mj-ea"/>
              </a:rPr>
              <a:t>53</a:t>
            </a:r>
            <a:r>
              <a:rPr lang="ko-KR" altLang="en-US" sz="1100" b="0" dirty="0">
                <a:solidFill>
                  <a:schemeClr val="bg1"/>
                </a:solidFill>
                <a:latin typeface="+mj-ea"/>
                <a:ea typeface="+mj-ea"/>
              </a:rPr>
              <a:t>조제</a:t>
            </a:r>
            <a:r>
              <a:rPr lang="en-US" altLang="ko-KR" sz="1100" b="0" dirty="0">
                <a:solidFill>
                  <a:schemeClr val="bg1"/>
                </a:solidFill>
                <a:latin typeface="+mj-ea"/>
                <a:ea typeface="+mj-ea"/>
              </a:rPr>
              <a:t>8</a:t>
            </a:r>
            <a:r>
              <a:rPr lang="ko-KR" altLang="en-US" sz="1100" b="0" dirty="0">
                <a:solidFill>
                  <a:schemeClr val="bg1"/>
                </a:solidFill>
                <a:latin typeface="+mj-ea"/>
                <a:ea typeface="+mj-ea"/>
              </a:rPr>
              <a:t>항</a:t>
            </a:r>
            <a:r>
              <a:rPr lang="en-US" altLang="ko-KR" sz="1100" b="0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 sz="20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0" name="자유형 79"/>
          <p:cNvSpPr/>
          <p:nvPr/>
        </p:nvSpPr>
        <p:spPr>
          <a:xfrm>
            <a:off x="5415468" y="5068041"/>
            <a:ext cx="840132" cy="465666"/>
          </a:xfrm>
          <a:custGeom>
            <a:avLst/>
            <a:gdLst>
              <a:gd name="connsiteX0" fmla="*/ 0 w 939800"/>
              <a:gd name="connsiteY0" fmla="*/ 8466 h 465666"/>
              <a:gd name="connsiteX1" fmla="*/ 135466 w 939800"/>
              <a:gd name="connsiteY1" fmla="*/ 465666 h 465666"/>
              <a:gd name="connsiteX2" fmla="*/ 804333 w 939800"/>
              <a:gd name="connsiteY2" fmla="*/ 465666 h 465666"/>
              <a:gd name="connsiteX3" fmla="*/ 939800 w 939800"/>
              <a:gd name="connsiteY3" fmla="*/ 0 h 46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9800" h="465666">
                <a:moveTo>
                  <a:pt x="0" y="8466"/>
                </a:moveTo>
                <a:lnTo>
                  <a:pt x="135466" y="465666"/>
                </a:lnTo>
                <a:lnTo>
                  <a:pt x="804333" y="465666"/>
                </a:lnTo>
                <a:lnTo>
                  <a:pt x="939800" y="0"/>
                </a:lnTo>
              </a:path>
            </a:pathLst>
          </a:custGeom>
          <a:pattFill prst="ltHorz">
            <a:fgClr>
              <a:schemeClr val="accent4"/>
            </a:fgClr>
            <a:bgClr>
              <a:schemeClr val="bg1"/>
            </a:bgClr>
          </a:patt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>
                    <a:lumMod val="50000"/>
                  </a:schemeClr>
                </a:solidFill>
              </a:rPr>
              <a:t>30</a:t>
            </a:r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일</a:t>
            </a:r>
          </a:p>
        </p:txBody>
      </p:sp>
      <p:cxnSp>
        <p:nvCxnSpPr>
          <p:cNvPr id="81" name="직선 연결선 80"/>
          <p:cNvCxnSpPr/>
          <p:nvPr/>
        </p:nvCxnSpPr>
        <p:spPr>
          <a:xfrm>
            <a:off x="3122144" y="5047617"/>
            <a:ext cx="8527989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/>
          <p:cNvSpPr/>
          <p:nvPr/>
        </p:nvSpPr>
        <p:spPr>
          <a:xfrm>
            <a:off x="3419187" y="5330465"/>
            <a:ext cx="813575" cy="3387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cxnSp>
        <p:nvCxnSpPr>
          <p:cNvPr id="83" name="직선 화살표 연결선 82"/>
          <p:cNvCxnSpPr>
            <a:stCxn id="82" idx="0"/>
          </p:cNvCxnSpPr>
          <p:nvPr/>
        </p:nvCxnSpPr>
        <p:spPr>
          <a:xfrm flipV="1">
            <a:off x="3825974" y="5047619"/>
            <a:ext cx="0" cy="28284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자유형 83"/>
          <p:cNvSpPr/>
          <p:nvPr/>
        </p:nvSpPr>
        <p:spPr>
          <a:xfrm>
            <a:off x="3818470" y="4640090"/>
            <a:ext cx="4007714" cy="379076"/>
          </a:xfrm>
          <a:custGeom>
            <a:avLst/>
            <a:gdLst>
              <a:gd name="connsiteX0" fmla="*/ 0 w 4944533"/>
              <a:gd name="connsiteY0" fmla="*/ 524934 h 524934"/>
              <a:gd name="connsiteX1" fmla="*/ 0 w 4944533"/>
              <a:gd name="connsiteY1" fmla="*/ 0 h 524934"/>
              <a:gd name="connsiteX2" fmla="*/ 4944533 w 4944533"/>
              <a:gd name="connsiteY2" fmla="*/ 0 h 524934"/>
              <a:gd name="connsiteX3" fmla="*/ 4944533 w 4944533"/>
              <a:gd name="connsiteY3" fmla="*/ 524934 h 524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44533" h="524934">
                <a:moveTo>
                  <a:pt x="0" y="524934"/>
                </a:moveTo>
                <a:lnTo>
                  <a:pt x="0" y="0"/>
                </a:lnTo>
                <a:lnTo>
                  <a:pt x="4944533" y="0"/>
                </a:lnTo>
                <a:lnTo>
                  <a:pt x="4944533" y="524934"/>
                </a:lnTo>
              </a:path>
            </a:pathLst>
          </a:cu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/>
          <p:cNvSpPr txBox="1"/>
          <p:nvPr/>
        </p:nvSpPr>
        <p:spPr>
          <a:xfrm>
            <a:off x="4208554" y="4501590"/>
            <a:ext cx="323678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일반적인 유예기간</a:t>
            </a:r>
            <a:r>
              <a:rPr lang="en-US" altLang="ko-KR" sz="1200" dirty="0"/>
              <a:t>(</a:t>
            </a:r>
            <a:r>
              <a:rPr lang="ko-KR" altLang="en-US" sz="1200" dirty="0"/>
              <a:t>제</a:t>
            </a:r>
            <a:r>
              <a:rPr lang="en-US" altLang="ko-KR" sz="1200" dirty="0"/>
              <a:t>42</a:t>
            </a:r>
            <a:r>
              <a:rPr lang="ko-KR" altLang="en-US" sz="1200" dirty="0"/>
              <a:t>조의</a:t>
            </a:r>
            <a:r>
              <a:rPr lang="en-US" altLang="ko-KR" sz="1200" dirty="0"/>
              <a:t>2</a:t>
            </a:r>
            <a:r>
              <a:rPr lang="ko-KR" altLang="en-US" sz="1200" dirty="0"/>
              <a:t>제</a:t>
            </a:r>
            <a:r>
              <a:rPr lang="en-US" altLang="ko-KR" sz="1200" dirty="0"/>
              <a:t>2</a:t>
            </a:r>
            <a:r>
              <a:rPr lang="ko-KR" altLang="en-US" sz="1200" dirty="0"/>
              <a:t>항 본문 </a:t>
            </a:r>
            <a:r>
              <a:rPr lang="en-US" altLang="ko-KR" sz="1200" dirty="0"/>
              <a:t>+ </a:t>
            </a:r>
            <a:r>
              <a:rPr lang="ko-KR" altLang="en-US" sz="1200" dirty="0"/>
              <a:t>단서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88" name="직사각형 87"/>
          <p:cNvSpPr/>
          <p:nvPr/>
        </p:nvSpPr>
        <p:spPr>
          <a:xfrm>
            <a:off x="4991009" y="5940071"/>
            <a:ext cx="813575" cy="47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분할출원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변경출원</a:t>
            </a:r>
          </a:p>
        </p:txBody>
      </p:sp>
      <p:cxnSp>
        <p:nvCxnSpPr>
          <p:cNvPr id="89" name="직선 화살표 연결선 88"/>
          <p:cNvCxnSpPr>
            <a:stCxn id="88" idx="0"/>
          </p:cNvCxnSpPr>
          <p:nvPr/>
        </p:nvCxnSpPr>
        <p:spPr>
          <a:xfrm flipH="1" flipV="1">
            <a:off x="5389000" y="5076507"/>
            <a:ext cx="8797" cy="86356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직사각형 91"/>
          <p:cNvSpPr/>
          <p:nvPr/>
        </p:nvSpPr>
        <p:spPr>
          <a:xfrm>
            <a:off x="7126146" y="5957029"/>
            <a:ext cx="813575" cy="47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분할출원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변경출원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93" name="직선 화살표 연결선 92"/>
          <p:cNvCxnSpPr>
            <a:stCxn id="92" idx="0"/>
          </p:cNvCxnSpPr>
          <p:nvPr/>
        </p:nvCxnSpPr>
        <p:spPr>
          <a:xfrm flipV="1">
            <a:off x="7532933" y="5047620"/>
            <a:ext cx="0" cy="90940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자유형 93"/>
          <p:cNvSpPr/>
          <p:nvPr/>
        </p:nvSpPr>
        <p:spPr>
          <a:xfrm>
            <a:off x="7532933" y="5068041"/>
            <a:ext cx="840132" cy="465666"/>
          </a:xfrm>
          <a:custGeom>
            <a:avLst/>
            <a:gdLst>
              <a:gd name="connsiteX0" fmla="*/ 0 w 939800"/>
              <a:gd name="connsiteY0" fmla="*/ 8466 h 465666"/>
              <a:gd name="connsiteX1" fmla="*/ 135466 w 939800"/>
              <a:gd name="connsiteY1" fmla="*/ 465666 h 465666"/>
              <a:gd name="connsiteX2" fmla="*/ 804333 w 939800"/>
              <a:gd name="connsiteY2" fmla="*/ 465666 h 465666"/>
              <a:gd name="connsiteX3" fmla="*/ 939800 w 939800"/>
              <a:gd name="connsiteY3" fmla="*/ 0 h 46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9800" h="465666">
                <a:moveTo>
                  <a:pt x="0" y="8466"/>
                </a:moveTo>
                <a:lnTo>
                  <a:pt x="135466" y="465666"/>
                </a:lnTo>
                <a:lnTo>
                  <a:pt x="804333" y="465666"/>
                </a:lnTo>
                <a:lnTo>
                  <a:pt x="939800" y="0"/>
                </a:lnTo>
              </a:path>
            </a:pathLst>
          </a:custGeom>
          <a:pattFill prst="ltHorz">
            <a:fgClr>
              <a:schemeClr val="accent4"/>
            </a:fgClr>
            <a:bgClr>
              <a:schemeClr val="bg1"/>
            </a:bgClr>
          </a:patt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>
                    <a:lumMod val="50000"/>
                  </a:schemeClr>
                </a:solidFill>
              </a:rPr>
              <a:t>30</a:t>
            </a:r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일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47498" y="5587697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203565" y="5554872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32931" y="4857974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15607" y="4866684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100" name="직사각형 99"/>
          <p:cNvSpPr/>
          <p:nvPr/>
        </p:nvSpPr>
        <p:spPr>
          <a:xfrm>
            <a:off x="9417031" y="5957029"/>
            <a:ext cx="813575" cy="47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분할출원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변경출원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101" name="직선 화살표 연결선 100"/>
          <p:cNvCxnSpPr>
            <a:stCxn id="100" idx="0"/>
          </p:cNvCxnSpPr>
          <p:nvPr/>
        </p:nvCxnSpPr>
        <p:spPr>
          <a:xfrm flipV="1">
            <a:off x="9823818" y="5047620"/>
            <a:ext cx="0" cy="90940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자유형 101"/>
          <p:cNvSpPr/>
          <p:nvPr/>
        </p:nvSpPr>
        <p:spPr>
          <a:xfrm>
            <a:off x="9823818" y="5068041"/>
            <a:ext cx="840132" cy="465666"/>
          </a:xfrm>
          <a:custGeom>
            <a:avLst/>
            <a:gdLst>
              <a:gd name="connsiteX0" fmla="*/ 0 w 939800"/>
              <a:gd name="connsiteY0" fmla="*/ 8466 h 465666"/>
              <a:gd name="connsiteX1" fmla="*/ 135466 w 939800"/>
              <a:gd name="connsiteY1" fmla="*/ 465666 h 465666"/>
              <a:gd name="connsiteX2" fmla="*/ 804333 w 939800"/>
              <a:gd name="connsiteY2" fmla="*/ 465666 h 465666"/>
              <a:gd name="connsiteX3" fmla="*/ 939800 w 939800"/>
              <a:gd name="connsiteY3" fmla="*/ 0 h 46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9800" h="465666">
                <a:moveTo>
                  <a:pt x="0" y="8466"/>
                </a:moveTo>
                <a:lnTo>
                  <a:pt x="135466" y="465666"/>
                </a:lnTo>
                <a:lnTo>
                  <a:pt x="804333" y="465666"/>
                </a:lnTo>
                <a:lnTo>
                  <a:pt x="939800" y="0"/>
                </a:lnTo>
              </a:path>
            </a:pathLst>
          </a:custGeom>
          <a:pattFill prst="ltHorz">
            <a:fgClr>
              <a:schemeClr val="accent4"/>
            </a:fgClr>
            <a:bgClr>
              <a:schemeClr val="bg1"/>
            </a:bgClr>
          </a:patt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>
                    <a:lumMod val="50000"/>
                  </a:schemeClr>
                </a:solidFill>
              </a:rPr>
              <a:t>30</a:t>
            </a:r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일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638383" y="5587697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❸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503045" y="4857914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❸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125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D26C01-DDBF-498F-BDC8-A1379D666A76}"/>
              </a:ext>
            </a:extLst>
          </p:cNvPr>
          <p:cNvSpPr txBox="1"/>
          <p:nvPr/>
        </p:nvSpPr>
        <p:spPr>
          <a:xfrm>
            <a:off x="100299" y="6527335"/>
            <a:ext cx="26084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* </a:t>
            </a:r>
            <a:r>
              <a:rPr lang="ko-KR" altLang="en-US" sz="1100" dirty="0">
                <a:solidFill>
                  <a:srgbClr val="FF0000"/>
                </a:solidFill>
              </a:rPr>
              <a:t>분리출원의 경우 청구범위 제출유예 불가</a:t>
            </a:r>
          </a:p>
        </p:txBody>
      </p:sp>
    </p:spTree>
    <p:extLst>
      <p:ext uri="{BB962C8B-B14F-4D97-AF65-F5344CB8AC3E}">
        <p14:creationId xmlns:p14="http://schemas.microsoft.com/office/powerpoint/2010/main" val="177131303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126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명세서의 구조</a:t>
            </a:r>
          </a:p>
        </p:txBody>
      </p:sp>
      <p:sp>
        <p:nvSpPr>
          <p:cNvPr id="36" name="한쪽 모서리가 잘린 사각형 41">
            <a:extLst>
              <a:ext uri="{FF2B5EF4-FFF2-40B4-BE49-F238E27FC236}">
                <a16:creationId xmlns:a16="http://schemas.microsoft.com/office/drawing/2014/main" id="{C5DC9B61-F023-E3F5-DFEE-07F1F6638F30}"/>
              </a:ext>
            </a:extLst>
          </p:cNvPr>
          <p:cNvSpPr/>
          <p:nvPr/>
        </p:nvSpPr>
        <p:spPr bwMode="auto">
          <a:xfrm>
            <a:off x="431371" y="1232123"/>
            <a:ext cx="5568949" cy="2679700"/>
          </a:xfrm>
          <a:prstGeom prst="snip1Rect">
            <a:avLst/>
          </a:prstGeom>
          <a:ln>
            <a:solidFill>
              <a:schemeClr val="tx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0000" tIns="46800" rIns="90000" bIns="46800"/>
          <a:lstStyle/>
          <a:p>
            <a:pPr algn="ctr">
              <a:buFont typeface="Wingdings" pitchFamily="2" charset="2"/>
              <a:buNone/>
              <a:defRPr/>
            </a:pPr>
            <a:endParaRPr lang="ko-KR" altLang="en-US" sz="2000" b="0">
              <a:solidFill>
                <a:srgbClr val="1C1C1C"/>
              </a:solidFill>
              <a:latin typeface="+mn-ea"/>
            </a:endParaRPr>
          </a:p>
        </p:txBody>
      </p:sp>
      <p:sp>
        <p:nvSpPr>
          <p:cNvPr id="37" name="Rectangle 7">
            <a:extLst>
              <a:ext uri="{FF2B5EF4-FFF2-40B4-BE49-F238E27FC236}">
                <a16:creationId xmlns:a16="http://schemas.microsoft.com/office/drawing/2014/main" id="{BC53DE68-4DF1-E830-1EBF-D636A24C8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605" y="1628800"/>
            <a:ext cx="1150937" cy="2607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200" b="0">
                <a:solidFill>
                  <a:schemeClr val="tx1"/>
                </a:solidFill>
                <a:latin typeface="+mn-ea"/>
              </a:rPr>
              <a:t>출원서</a:t>
            </a:r>
          </a:p>
        </p:txBody>
      </p:sp>
      <p:sp>
        <p:nvSpPr>
          <p:cNvPr id="38" name="Rectangle 8">
            <a:extLst>
              <a:ext uri="{FF2B5EF4-FFF2-40B4-BE49-F238E27FC236}">
                <a16:creationId xmlns:a16="http://schemas.microsoft.com/office/drawing/2014/main" id="{49B0B647-03FB-24E7-9244-1AAEFC558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605" y="2194389"/>
            <a:ext cx="1150937" cy="2607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명세서</a:t>
            </a:r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51CCB645-7BD2-15DC-F9C1-A9BE8C1C0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605" y="2803116"/>
            <a:ext cx="1150937" cy="2607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필요한 도면</a:t>
            </a:r>
          </a:p>
        </p:txBody>
      </p:sp>
      <p:sp>
        <p:nvSpPr>
          <p:cNvPr id="42" name="Rectangle 10">
            <a:extLst>
              <a:ext uri="{FF2B5EF4-FFF2-40B4-BE49-F238E27FC236}">
                <a16:creationId xmlns:a16="http://schemas.microsoft.com/office/drawing/2014/main" id="{A9552D65-B461-4102-3CED-3FB5814C2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605" y="3368705"/>
            <a:ext cx="1150937" cy="2607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200" b="0">
                <a:solidFill>
                  <a:schemeClr val="tx1"/>
                </a:solidFill>
                <a:latin typeface="+mn-ea"/>
              </a:rPr>
              <a:t>요약서</a:t>
            </a:r>
          </a:p>
        </p:txBody>
      </p:sp>
      <p:cxnSp>
        <p:nvCxnSpPr>
          <p:cNvPr id="44" name="AutoShape 11">
            <a:extLst>
              <a:ext uri="{FF2B5EF4-FFF2-40B4-BE49-F238E27FC236}">
                <a16:creationId xmlns:a16="http://schemas.microsoft.com/office/drawing/2014/main" id="{104EC371-41D8-99AA-EC32-33DEF666A3C4}"/>
              </a:ext>
            </a:extLst>
          </p:cNvPr>
          <p:cNvCxnSpPr>
            <a:cxnSpLocks noChangeShapeType="1"/>
            <a:stCxn id="37" idx="2"/>
            <a:endCxn id="38" idx="0"/>
          </p:cNvCxnSpPr>
          <p:nvPr/>
        </p:nvCxnSpPr>
        <p:spPr bwMode="auto">
          <a:xfrm>
            <a:off x="1392073" y="1889546"/>
            <a:ext cx="0" cy="304843"/>
          </a:xfrm>
          <a:prstGeom prst="straightConnector1">
            <a:avLst/>
          </a:prstGeom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45" name="AutoShape 12">
            <a:extLst>
              <a:ext uri="{FF2B5EF4-FFF2-40B4-BE49-F238E27FC236}">
                <a16:creationId xmlns:a16="http://schemas.microsoft.com/office/drawing/2014/main" id="{F361BEF3-A113-4A3C-025C-D6CE532C48EF}"/>
              </a:ext>
            </a:extLst>
          </p:cNvPr>
          <p:cNvCxnSpPr>
            <a:cxnSpLocks noChangeShapeType="1"/>
            <a:stCxn id="38" idx="2"/>
            <a:endCxn id="39" idx="0"/>
          </p:cNvCxnSpPr>
          <p:nvPr/>
        </p:nvCxnSpPr>
        <p:spPr bwMode="auto">
          <a:xfrm>
            <a:off x="1392073" y="2455136"/>
            <a:ext cx="0" cy="347981"/>
          </a:xfrm>
          <a:prstGeom prst="straightConnector1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6" name="AutoShape 13">
            <a:extLst>
              <a:ext uri="{FF2B5EF4-FFF2-40B4-BE49-F238E27FC236}">
                <a16:creationId xmlns:a16="http://schemas.microsoft.com/office/drawing/2014/main" id="{09E505C5-2073-1968-442E-5AB4A9031244}"/>
              </a:ext>
            </a:extLst>
          </p:cNvPr>
          <p:cNvCxnSpPr>
            <a:cxnSpLocks noChangeShapeType="1"/>
            <a:stCxn id="39" idx="2"/>
            <a:endCxn id="42" idx="0"/>
          </p:cNvCxnSpPr>
          <p:nvPr/>
        </p:nvCxnSpPr>
        <p:spPr bwMode="auto">
          <a:xfrm>
            <a:off x="1392073" y="3063863"/>
            <a:ext cx="0" cy="304843"/>
          </a:xfrm>
          <a:prstGeom prst="straightConnector1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sp>
        <p:nvSpPr>
          <p:cNvPr id="47" name="AutoShape 14">
            <a:extLst>
              <a:ext uri="{FF2B5EF4-FFF2-40B4-BE49-F238E27FC236}">
                <a16:creationId xmlns:a16="http://schemas.microsoft.com/office/drawing/2014/main" id="{0E4152DD-AE52-6640-FDAE-8F17E1E42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9038" y="2107155"/>
            <a:ext cx="2592916" cy="241870"/>
          </a:xfrm>
          <a:prstGeom prst="roundRect">
            <a:avLst>
              <a:gd name="adj" fmla="val 16667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200" b="0" dirty="0">
                <a:solidFill>
                  <a:schemeClr val="bg1"/>
                </a:solidFill>
                <a:latin typeface="+mn-ea"/>
              </a:rPr>
              <a:t>발명의 설명</a:t>
            </a:r>
            <a:r>
              <a:rPr lang="en-US" altLang="ko-KR" sz="1200" b="0" dirty="0">
                <a:solidFill>
                  <a:schemeClr val="bg1"/>
                </a:solidFill>
                <a:latin typeface="+mn-ea"/>
              </a:rPr>
              <a:t>(A, B, C)</a:t>
            </a:r>
            <a:endParaRPr lang="ko-KR" altLang="en-US" sz="1200" b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8" name="AutoShape 17">
            <a:extLst>
              <a:ext uri="{FF2B5EF4-FFF2-40B4-BE49-F238E27FC236}">
                <a16:creationId xmlns:a16="http://schemas.microsoft.com/office/drawing/2014/main" id="{2B55328F-3CAC-E33A-6EE4-75F5FA34E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9038" y="2446911"/>
            <a:ext cx="2592916" cy="24187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청구범위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(A, B)</a:t>
            </a:r>
            <a:endParaRPr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9" name="AutoShape 19">
            <a:extLst>
              <a:ext uri="{FF2B5EF4-FFF2-40B4-BE49-F238E27FC236}">
                <a16:creationId xmlns:a16="http://schemas.microsoft.com/office/drawing/2014/main" id="{C5C01786-5E3C-F073-49D9-83C0D091D94E}"/>
              </a:ext>
            </a:extLst>
          </p:cNvPr>
          <p:cNvCxnSpPr>
            <a:cxnSpLocks noChangeShapeType="1"/>
            <a:stCxn id="38" idx="3"/>
            <a:endCxn id="47" idx="1"/>
          </p:cNvCxnSpPr>
          <p:nvPr/>
        </p:nvCxnSpPr>
        <p:spPr bwMode="auto">
          <a:xfrm flipV="1">
            <a:off x="1967541" y="2228090"/>
            <a:ext cx="961496" cy="96672"/>
          </a:xfrm>
          <a:prstGeom prst="bentConnector3">
            <a:avLst>
              <a:gd name="adj1" fmla="val 50000"/>
            </a:avLst>
          </a:prstGeom>
          <a:ln>
            <a:solidFill>
              <a:schemeClr val="accent4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cxnSp>
        <p:nvCxnSpPr>
          <p:cNvPr id="50" name="AutoShape 22">
            <a:extLst>
              <a:ext uri="{FF2B5EF4-FFF2-40B4-BE49-F238E27FC236}">
                <a16:creationId xmlns:a16="http://schemas.microsoft.com/office/drawing/2014/main" id="{E93C6F3F-F081-9F48-1768-8A9E3C91AA35}"/>
              </a:ext>
            </a:extLst>
          </p:cNvPr>
          <p:cNvCxnSpPr>
            <a:cxnSpLocks noChangeShapeType="1"/>
            <a:stCxn id="38" idx="3"/>
            <a:endCxn id="48" idx="1"/>
          </p:cNvCxnSpPr>
          <p:nvPr/>
        </p:nvCxnSpPr>
        <p:spPr bwMode="auto">
          <a:xfrm>
            <a:off x="1967541" y="2324762"/>
            <a:ext cx="961496" cy="243084"/>
          </a:xfrm>
          <a:prstGeom prst="bentConnector3">
            <a:avLst>
              <a:gd name="adj1" fmla="val 50000"/>
            </a:avLst>
          </a:prstGeom>
          <a:ln>
            <a:solidFill>
              <a:schemeClr val="accent4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sp>
        <p:nvSpPr>
          <p:cNvPr id="51" name="모서리가 둥근 직사각형 53">
            <a:extLst>
              <a:ext uri="{FF2B5EF4-FFF2-40B4-BE49-F238E27FC236}">
                <a16:creationId xmlns:a16="http://schemas.microsoft.com/office/drawing/2014/main" id="{572D7694-02ED-BD45-6D04-147C4C62BEEF}"/>
              </a:ext>
            </a:extLst>
          </p:cNvPr>
          <p:cNvSpPr/>
          <p:nvPr/>
        </p:nvSpPr>
        <p:spPr bwMode="auto">
          <a:xfrm>
            <a:off x="719237" y="1052736"/>
            <a:ext cx="3073400" cy="36036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000" tIns="46800" rIns="90000" bIns="46800" anchor="ctr"/>
          <a:lstStyle/>
          <a:p>
            <a:pPr algn="ctr">
              <a:defRPr/>
            </a:pPr>
            <a:r>
              <a:rPr lang="ko-KR" altLang="en-US" sz="1400" b="0" dirty="0">
                <a:latin typeface="+mj-ea"/>
                <a:ea typeface="+mj-ea"/>
              </a:rPr>
              <a:t>특허출원에 필요한 서류</a:t>
            </a:r>
            <a:endParaRPr lang="ko-KR" altLang="en-US" sz="1400" b="0" dirty="0">
              <a:solidFill>
                <a:srgbClr val="1C1C1C"/>
              </a:solidFill>
              <a:latin typeface="+mj-ea"/>
              <a:ea typeface="+mj-ea"/>
            </a:endParaRPr>
          </a:p>
        </p:txBody>
      </p:sp>
      <p:sp>
        <p:nvSpPr>
          <p:cNvPr id="52" name="직사각형 2">
            <a:extLst>
              <a:ext uri="{FF2B5EF4-FFF2-40B4-BE49-F238E27FC236}">
                <a16:creationId xmlns:a16="http://schemas.microsoft.com/office/drawing/2014/main" id="{8AF3CFE1-B65C-2C24-81B3-3C34C5C6A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4826" y="1842629"/>
            <a:ext cx="3744384" cy="2873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/>
          <a:p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【</a:t>
            </a:r>
            <a:r>
              <a:rPr lang="ko-KR" altLang="en-US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발명의 명칭</a:t>
            </a: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】</a:t>
            </a:r>
            <a:r>
              <a:rPr lang="en-US" altLang="ko-KR" sz="1400" b="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400" b="0" dirty="0">
                <a:solidFill>
                  <a:srgbClr val="FF0000"/>
                </a:solidFill>
                <a:latin typeface="+mn-ea"/>
              </a:rPr>
              <a:t>필수</a:t>
            </a:r>
            <a:r>
              <a:rPr lang="en-US" altLang="ko-KR" sz="1400" b="0" dirty="0">
                <a:solidFill>
                  <a:srgbClr val="FF0000"/>
                </a:solidFill>
                <a:latin typeface="+mn-ea"/>
              </a:rPr>
              <a:t>)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B9792C6-B0CE-EC18-E197-6386DE1ABA53}"/>
              </a:ext>
            </a:extLst>
          </p:cNvPr>
          <p:cNvSpPr/>
          <p:nvPr/>
        </p:nvSpPr>
        <p:spPr bwMode="auto">
          <a:xfrm>
            <a:off x="7384826" y="2133143"/>
            <a:ext cx="3744384" cy="288925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/>
          <a:p>
            <a:pPr>
              <a:defRPr/>
            </a:pP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【</a:t>
            </a:r>
            <a:r>
              <a:rPr lang="ko-KR" altLang="en-US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기술분야</a:t>
            </a: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】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96FF621-0D02-6BD9-BD01-CAAB30D46114}"/>
              </a:ext>
            </a:extLst>
          </p:cNvPr>
          <p:cNvSpPr/>
          <p:nvPr/>
        </p:nvSpPr>
        <p:spPr bwMode="auto">
          <a:xfrm>
            <a:off x="7384826" y="2737979"/>
            <a:ext cx="3744384" cy="287338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/>
          <a:p>
            <a:pPr>
              <a:defRPr/>
            </a:pP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【</a:t>
            </a:r>
            <a:r>
              <a:rPr lang="ko-KR" altLang="en-US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발명의 내용</a:t>
            </a: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】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EEC2AB12-8C37-1628-2B8A-C9BB0F6EA3F8}"/>
              </a:ext>
            </a:extLst>
          </p:cNvPr>
          <p:cNvSpPr/>
          <p:nvPr/>
        </p:nvSpPr>
        <p:spPr bwMode="auto">
          <a:xfrm>
            <a:off x="7672692" y="3028493"/>
            <a:ext cx="3744384" cy="288925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/>
          <a:p>
            <a:pPr>
              <a:defRPr/>
            </a:pP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【</a:t>
            </a:r>
            <a:r>
              <a:rPr lang="ko-KR" altLang="en-US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해결하고자 하는 과제</a:t>
            </a: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】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BBA35A4-36AF-EC6F-E569-B15BEBE64AA9}"/>
              </a:ext>
            </a:extLst>
          </p:cNvPr>
          <p:cNvSpPr/>
          <p:nvPr/>
        </p:nvSpPr>
        <p:spPr bwMode="auto">
          <a:xfrm>
            <a:off x="7672692" y="3309479"/>
            <a:ext cx="3744384" cy="287338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/>
          <a:p>
            <a:pPr>
              <a:defRPr/>
            </a:pP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【</a:t>
            </a:r>
            <a:r>
              <a:rPr lang="ko-KR" altLang="en-US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과제 해결 수단</a:t>
            </a: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】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DD3BC7B-4243-9FE1-5CF1-A96C63C64F84}"/>
              </a:ext>
            </a:extLst>
          </p:cNvPr>
          <p:cNvSpPr/>
          <p:nvPr/>
        </p:nvSpPr>
        <p:spPr bwMode="auto">
          <a:xfrm>
            <a:off x="7672692" y="3599993"/>
            <a:ext cx="3744384" cy="287337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/>
          <a:p>
            <a:pPr>
              <a:defRPr/>
            </a:pP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【</a:t>
            </a:r>
            <a:r>
              <a:rPr lang="ko-KR" altLang="en-US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효과</a:t>
            </a: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】</a:t>
            </a:r>
          </a:p>
        </p:txBody>
      </p:sp>
      <p:sp>
        <p:nvSpPr>
          <p:cNvPr id="58" name="직사각형 28">
            <a:extLst>
              <a:ext uri="{FF2B5EF4-FFF2-40B4-BE49-F238E27FC236}">
                <a16:creationId xmlns:a16="http://schemas.microsoft.com/office/drawing/2014/main" id="{AA2DE04C-15D5-1988-3370-A609524B0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4826" y="3868279"/>
            <a:ext cx="3744384" cy="2873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/>
          <a:p>
            <a:r>
              <a:rPr lang="en-US" altLang="ko-KR" sz="1400" b="0">
                <a:solidFill>
                  <a:schemeClr val="accent6">
                    <a:lumMod val="50000"/>
                  </a:schemeClr>
                </a:solidFill>
                <a:latin typeface="+mn-ea"/>
              </a:rPr>
              <a:t>【</a:t>
            </a:r>
            <a:r>
              <a:rPr lang="ko-KR" altLang="en-US" sz="1400" b="0">
                <a:solidFill>
                  <a:schemeClr val="accent6">
                    <a:lumMod val="50000"/>
                  </a:schemeClr>
                </a:solidFill>
                <a:latin typeface="+mn-ea"/>
              </a:rPr>
              <a:t>도면의 간단한 설명</a:t>
            </a:r>
            <a:r>
              <a:rPr lang="en-US" altLang="ko-KR" sz="1400" b="0">
                <a:solidFill>
                  <a:schemeClr val="accent6">
                    <a:lumMod val="50000"/>
                  </a:schemeClr>
                </a:solidFill>
                <a:latin typeface="+mn-ea"/>
              </a:rPr>
              <a:t>】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AAE483F-292F-044F-0E3D-10EF6EFE89A8}"/>
              </a:ext>
            </a:extLst>
          </p:cNvPr>
          <p:cNvSpPr/>
          <p:nvPr/>
        </p:nvSpPr>
        <p:spPr bwMode="auto">
          <a:xfrm>
            <a:off x="7384826" y="4158793"/>
            <a:ext cx="4225131" cy="287337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/>
          <a:p>
            <a:pPr>
              <a:defRPr/>
            </a:pP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【</a:t>
            </a:r>
            <a:r>
              <a:rPr lang="ko-KR" altLang="en-US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발명의 실시를 위한 구체적인 내용</a:t>
            </a: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】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필수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ko-KR" sz="1400" b="0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7E71FFF-66A4-E359-3AFC-5732FD413C06}"/>
              </a:ext>
            </a:extLst>
          </p:cNvPr>
          <p:cNvSpPr/>
          <p:nvPr/>
        </p:nvSpPr>
        <p:spPr bwMode="auto">
          <a:xfrm>
            <a:off x="7672692" y="4454068"/>
            <a:ext cx="3744384" cy="287337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/>
          <a:p>
            <a:pPr>
              <a:defRPr/>
            </a:pP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【</a:t>
            </a:r>
            <a:r>
              <a:rPr lang="ko-KR" altLang="en-US" sz="1400" b="0" dirty="0" err="1">
                <a:solidFill>
                  <a:schemeClr val="accent6">
                    <a:lumMod val="50000"/>
                  </a:schemeClr>
                </a:solidFill>
                <a:latin typeface="+mn-ea"/>
              </a:rPr>
              <a:t>실시예</a:t>
            </a:r>
            <a:r>
              <a:rPr lang="ko-KR" altLang="en-US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1】x, y</a:t>
            </a:r>
            <a:r>
              <a:rPr lang="ko-KR" altLang="en-US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를 포함하는 발명</a:t>
            </a:r>
            <a:endParaRPr lang="en-US" altLang="ko-KR" sz="1400" b="0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A2AAC01-F660-FDB1-63B3-7350CF3DA00F}"/>
              </a:ext>
            </a:extLst>
          </p:cNvPr>
          <p:cNvSpPr/>
          <p:nvPr/>
        </p:nvSpPr>
        <p:spPr bwMode="auto">
          <a:xfrm>
            <a:off x="7672692" y="4744580"/>
            <a:ext cx="3744384" cy="288925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/>
          <a:p>
            <a:pPr>
              <a:defRPr/>
            </a:pP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【</a:t>
            </a:r>
            <a:r>
              <a:rPr lang="ko-KR" altLang="en-US" sz="1400" b="0" dirty="0" err="1">
                <a:solidFill>
                  <a:schemeClr val="accent6">
                    <a:lumMod val="50000"/>
                  </a:schemeClr>
                </a:solidFill>
                <a:latin typeface="+mn-ea"/>
              </a:rPr>
              <a:t>실시예</a:t>
            </a:r>
            <a:r>
              <a:rPr lang="ko-KR" altLang="en-US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2】x, y, z</a:t>
            </a:r>
            <a:r>
              <a:rPr lang="ko-KR" altLang="en-US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를 포함하는 발명</a:t>
            </a:r>
            <a:endParaRPr lang="en-US" altLang="ko-KR" sz="1400" b="0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BA9215B2-F32C-1B0C-338A-A12733BC3163}"/>
              </a:ext>
            </a:extLst>
          </p:cNvPr>
          <p:cNvSpPr/>
          <p:nvPr/>
        </p:nvSpPr>
        <p:spPr bwMode="auto">
          <a:xfrm>
            <a:off x="7151787" y="5285018"/>
            <a:ext cx="3744384" cy="287337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/>
          <a:p>
            <a:pPr>
              <a:defRPr/>
            </a:pPr>
            <a:r>
              <a:rPr lang="en-US" altLang="ko-KR" sz="1400" b="0" dirty="0">
                <a:solidFill>
                  <a:schemeClr val="accent4"/>
                </a:solidFill>
                <a:latin typeface="+mn-ea"/>
              </a:rPr>
              <a:t>【</a:t>
            </a:r>
            <a:r>
              <a:rPr lang="ko-KR" altLang="en-US" sz="1400" b="0" dirty="0">
                <a:solidFill>
                  <a:schemeClr val="accent4"/>
                </a:solidFill>
                <a:latin typeface="+mn-ea"/>
              </a:rPr>
              <a:t>청구범위</a:t>
            </a:r>
            <a:r>
              <a:rPr lang="en-US" altLang="ko-KR" sz="1400" b="0" dirty="0">
                <a:solidFill>
                  <a:schemeClr val="accent4"/>
                </a:solidFill>
                <a:latin typeface="+mn-ea"/>
              </a:rPr>
              <a:t>】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필수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ko-KR" sz="1400" b="0" dirty="0">
              <a:solidFill>
                <a:schemeClr val="accent4"/>
              </a:solidFill>
              <a:latin typeface="+mn-ea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84653CB2-EED9-63A0-5744-53FA694A87C6}"/>
              </a:ext>
            </a:extLst>
          </p:cNvPr>
          <p:cNvSpPr/>
          <p:nvPr/>
        </p:nvSpPr>
        <p:spPr bwMode="auto">
          <a:xfrm>
            <a:off x="7439653" y="5575530"/>
            <a:ext cx="3744384" cy="288925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/>
          <a:p>
            <a:pPr>
              <a:defRPr/>
            </a:pPr>
            <a:r>
              <a:rPr lang="en-US" altLang="ko-KR" sz="1400" b="0" dirty="0">
                <a:solidFill>
                  <a:schemeClr val="accent4"/>
                </a:solidFill>
                <a:latin typeface="+mn-ea"/>
              </a:rPr>
              <a:t>【</a:t>
            </a:r>
            <a:r>
              <a:rPr lang="ko-KR" altLang="en-US" sz="1400" b="0" dirty="0" err="1">
                <a:solidFill>
                  <a:schemeClr val="accent4"/>
                </a:solidFill>
                <a:latin typeface="+mn-ea"/>
              </a:rPr>
              <a:t>청구항</a:t>
            </a:r>
            <a:r>
              <a:rPr lang="ko-KR" altLang="en-US" sz="1400" b="0" dirty="0">
                <a:solidFill>
                  <a:schemeClr val="accent4"/>
                </a:solidFill>
                <a:latin typeface="+mn-ea"/>
              </a:rPr>
              <a:t> </a:t>
            </a:r>
            <a:r>
              <a:rPr lang="en-US" altLang="ko-KR" sz="1400" b="0" dirty="0">
                <a:solidFill>
                  <a:schemeClr val="accent4"/>
                </a:solidFill>
                <a:latin typeface="+mn-ea"/>
              </a:rPr>
              <a:t>1】</a:t>
            </a:r>
            <a:r>
              <a:rPr lang="en-US" altLang="ko-KR" sz="1400" dirty="0">
                <a:solidFill>
                  <a:schemeClr val="accent4"/>
                </a:solidFill>
                <a:latin typeface="+mn-ea"/>
              </a:rPr>
              <a:t>x, y</a:t>
            </a:r>
            <a:r>
              <a:rPr lang="ko-KR" altLang="en-US" sz="1400" dirty="0">
                <a:solidFill>
                  <a:schemeClr val="accent4"/>
                </a:solidFill>
                <a:latin typeface="+mn-ea"/>
              </a:rPr>
              <a:t>를 포함하는 발명 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필수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ko-KR" sz="1400" b="0" dirty="0">
              <a:solidFill>
                <a:schemeClr val="accent4"/>
              </a:solidFill>
              <a:latin typeface="+mn-ea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AFD5961E-CB9C-5878-7F29-6B034D41B3EE}"/>
              </a:ext>
            </a:extLst>
          </p:cNvPr>
          <p:cNvSpPr/>
          <p:nvPr/>
        </p:nvSpPr>
        <p:spPr bwMode="auto">
          <a:xfrm>
            <a:off x="7439652" y="5856518"/>
            <a:ext cx="3977423" cy="287337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/>
          <a:p>
            <a:pPr>
              <a:defRPr/>
            </a:pPr>
            <a:r>
              <a:rPr lang="en-US" altLang="ko-KR" sz="1400" b="0" dirty="0">
                <a:solidFill>
                  <a:schemeClr val="accent4"/>
                </a:solidFill>
                <a:latin typeface="+mn-ea"/>
              </a:rPr>
              <a:t>【</a:t>
            </a:r>
            <a:r>
              <a:rPr lang="ko-KR" altLang="en-US" sz="1400" b="0" dirty="0" err="1">
                <a:solidFill>
                  <a:schemeClr val="accent4"/>
                </a:solidFill>
                <a:latin typeface="+mn-ea"/>
              </a:rPr>
              <a:t>청구항</a:t>
            </a:r>
            <a:r>
              <a:rPr lang="ko-KR" altLang="en-US" sz="1400" b="0" dirty="0">
                <a:solidFill>
                  <a:schemeClr val="accent4"/>
                </a:solidFill>
                <a:latin typeface="+mn-ea"/>
              </a:rPr>
              <a:t> </a:t>
            </a:r>
            <a:r>
              <a:rPr lang="en-US" altLang="ko-KR" sz="1400" b="0" dirty="0">
                <a:solidFill>
                  <a:schemeClr val="accent4"/>
                </a:solidFill>
                <a:latin typeface="+mn-ea"/>
              </a:rPr>
              <a:t>2】</a:t>
            </a:r>
            <a:r>
              <a:rPr lang="ko-KR" altLang="en-US" sz="1400" b="0" dirty="0">
                <a:solidFill>
                  <a:schemeClr val="accent4"/>
                </a:solidFill>
                <a:latin typeface="+mn-ea"/>
              </a:rPr>
              <a:t>제</a:t>
            </a:r>
            <a:r>
              <a:rPr lang="en-US" altLang="ko-KR" sz="1400" b="0" dirty="0">
                <a:solidFill>
                  <a:schemeClr val="accent4"/>
                </a:solidFill>
                <a:latin typeface="+mn-ea"/>
              </a:rPr>
              <a:t>1</a:t>
            </a:r>
            <a:r>
              <a:rPr lang="ko-KR" altLang="en-US" sz="1400" b="0" dirty="0">
                <a:solidFill>
                  <a:schemeClr val="accent4"/>
                </a:solidFill>
                <a:latin typeface="+mn-ea"/>
              </a:rPr>
              <a:t>항에 있어서</a:t>
            </a:r>
            <a:r>
              <a:rPr lang="en-US" altLang="ko-KR" sz="1400" b="0" dirty="0">
                <a:solidFill>
                  <a:schemeClr val="accent4"/>
                </a:solidFill>
                <a:latin typeface="+mn-ea"/>
              </a:rPr>
              <a:t>, z</a:t>
            </a:r>
            <a:r>
              <a:rPr lang="ko-KR" altLang="en-US" sz="1400" b="0" dirty="0">
                <a:solidFill>
                  <a:schemeClr val="accent4"/>
                </a:solidFill>
                <a:latin typeface="+mn-ea"/>
              </a:rPr>
              <a:t>를 더 포함하는 발명</a:t>
            </a:r>
            <a:endParaRPr lang="en-US" altLang="ko-KR" sz="1400" b="0" dirty="0">
              <a:solidFill>
                <a:schemeClr val="accent4"/>
              </a:solidFill>
              <a:latin typeface="+mn-ea"/>
            </a:endParaRPr>
          </a:p>
        </p:txBody>
      </p:sp>
      <p:sp>
        <p:nvSpPr>
          <p:cNvPr id="65" name="직사각형 38">
            <a:extLst>
              <a:ext uri="{FF2B5EF4-FFF2-40B4-BE49-F238E27FC236}">
                <a16:creationId xmlns:a16="http://schemas.microsoft.com/office/drawing/2014/main" id="{CC824A95-6C6E-EB20-C979-B642B871A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1787" y="1227724"/>
            <a:ext cx="3744384" cy="2873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/>
          <a:p>
            <a:pPr algn="ctr"/>
            <a:r>
              <a:rPr lang="en-US" altLang="ko-KR" sz="1400" b="0" dirty="0">
                <a:solidFill>
                  <a:srgbClr val="1C1C1C"/>
                </a:solidFill>
                <a:latin typeface="+mn-ea"/>
              </a:rPr>
              <a:t>【</a:t>
            </a:r>
            <a:r>
              <a:rPr lang="ko-KR" altLang="en-US" sz="1400" b="0" dirty="0">
                <a:solidFill>
                  <a:srgbClr val="1C1C1C"/>
                </a:solidFill>
                <a:latin typeface="+mn-ea"/>
              </a:rPr>
              <a:t>명세서</a:t>
            </a:r>
            <a:r>
              <a:rPr lang="en-US" altLang="ko-KR" sz="1400" b="0" dirty="0">
                <a:solidFill>
                  <a:srgbClr val="1C1C1C"/>
                </a:solidFill>
                <a:latin typeface="+mn-ea"/>
              </a:rPr>
              <a:t>】</a:t>
            </a:r>
          </a:p>
        </p:txBody>
      </p:sp>
      <p:cxnSp>
        <p:nvCxnSpPr>
          <p:cNvPr id="66" name="꺾인 연결선 4">
            <a:extLst>
              <a:ext uri="{FF2B5EF4-FFF2-40B4-BE49-F238E27FC236}">
                <a16:creationId xmlns:a16="http://schemas.microsoft.com/office/drawing/2014/main" id="{317A15CC-10A2-2009-978A-D352A36BF15C}"/>
              </a:ext>
            </a:extLst>
          </p:cNvPr>
          <p:cNvCxnSpPr>
            <a:cxnSpLocks noChangeShapeType="1"/>
            <a:stCxn id="47" idx="3"/>
            <a:endCxn id="72" idx="1"/>
          </p:cNvCxnSpPr>
          <p:nvPr/>
        </p:nvCxnSpPr>
        <p:spPr bwMode="auto">
          <a:xfrm flipV="1">
            <a:off x="5521954" y="1699744"/>
            <a:ext cx="1629833" cy="52834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5F5F5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" name="꺾인 연결선 6">
            <a:extLst>
              <a:ext uri="{FF2B5EF4-FFF2-40B4-BE49-F238E27FC236}">
                <a16:creationId xmlns:a16="http://schemas.microsoft.com/office/drawing/2014/main" id="{7E97B0E0-2B6D-DEA0-09FB-EB99A290DEBA}"/>
              </a:ext>
            </a:extLst>
          </p:cNvPr>
          <p:cNvCxnSpPr>
            <a:cxnSpLocks noChangeShapeType="1"/>
            <a:stCxn id="48" idx="3"/>
            <a:endCxn id="62" idx="1"/>
          </p:cNvCxnSpPr>
          <p:nvPr/>
        </p:nvCxnSpPr>
        <p:spPr bwMode="auto">
          <a:xfrm>
            <a:off x="5521954" y="2567846"/>
            <a:ext cx="1629833" cy="286084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5F5F5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8C25349-2121-F605-D195-0CDF6896EB3A}"/>
              </a:ext>
            </a:extLst>
          </p:cNvPr>
          <p:cNvSpPr/>
          <p:nvPr/>
        </p:nvSpPr>
        <p:spPr bwMode="auto">
          <a:xfrm>
            <a:off x="7384826" y="2449054"/>
            <a:ext cx="3744384" cy="287338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/>
          <a:p>
            <a:pPr>
              <a:defRPr/>
            </a:pP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【</a:t>
            </a:r>
            <a:r>
              <a:rPr lang="ko-KR" altLang="en-US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배경기술</a:t>
            </a: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】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필수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ko-KR" sz="1400" b="0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39E1ADB8-8E0B-1FC3-43D0-03E92F185874}"/>
              </a:ext>
            </a:extLst>
          </p:cNvPr>
          <p:cNvSpPr/>
          <p:nvPr/>
        </p:nvSpPr>
        <p:spPr bwMode="auto">
          <a:xfrm>
            <a:off x="6768672" y="1195612"/>
            <a:ext cx="4992289" cy="4968875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/>
          <a:p>
            <a:pPr algn="ctr">
              <a:buFont typeface="Wingdings" pitchFamily="2" charset="2"/>
              <a:buNone/>
              <a:defRPr/>
            </a:pPr>
            <a:endParaRPr lang="ko-KR" altLang="en-US" sz="2000">
              <a:solidFill>
                <a:srgbClr val="1C1C1C"/>
              </a:solidFill>
              <a:latin typeface="+mn-ea"/>
            </a:endParaRPr>
          </a:p>
        </p:txBody>
      </p:sp>
      <p:graphicFrame>
        <p:nvGraphicFramePr>
          <p:cNvPr id="70" name="Group 224">
            <a:extLst>
              <a:ext uri="{FF2B5EF4-FFF2-40B4-BE49-F238E27FC236}">
                <a16:creationId xmlns:a16="http://schemas.microsoft.com/office/drawing/2014/main" id="{C7324699-4A10-9A2B-C756-1C516C3B7992}"/>
              </a:ext>
            </a:extLst>
          </p:cNvPr>
          <p:cNvGraphicFramePr>
            <a:graphicFrameLocks noGrp="1"/>
          </p:cNvGraphicFramePr>
          <p:nvPr/>
        </p:nvGraphicFramePr>
        <p:xfrm>
          <a:off x="431371" y="4149080"/>
          <a:ext cx="5568949" cy="2015408"/>
        </p:xfrm>
        <a:graphic>
          <a:graphicData uri="http://schemas.openxmlformats.org/drawingml/2006/table">
            <a:tbl>
              <a:tblPr firstRow="1">
                <a:tableStyleId>{BC89EF96-8CEA-46FF-86C4-4CE0E7609802}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9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08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구분</a:t>
                      </a:r>
                      <a:endParaRPr kumimoji="1" lang="ko-KR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48000" marR="4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출원인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48000" marR="4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제</a:t>
                      </a:r>
                      <a:r>
                        <a:rPr kumimoji="1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자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48000" marR="4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08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발명의 설명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48000" marR="4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권리해설서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48000" marR="4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기술문헌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48000" marR="4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92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청구범위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48000" marR="4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등록전</a:t>
                      </a:r>
                      <a:r>
                        <a:rPr kumimoji="1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: 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권리요구서</a:t>
                      </a:r>
                      <a:endParaRPr kumimoji="1" lang="en-US" altLang="ko-KR" sz="14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등록후</a:t>
                      </a:r>
                      <a:r>
                        <a:rPr kumimoji="1" lang="en-US" altLang="ko-KR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: </a:t>
                      </a:r>
                      <a:r>
                        <a:rPr kumimoji="1" lang="ko-KR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권리서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48000" marR="4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공공영역</a:t>
                      </a:r>
                      <a:r>
                        <a:rPr kumimoji="1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(C)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과 </a:t>
                      </a:r>
                      <a:endParaRPr kumimoji="1" lang="en-US" altLang="ko-KR" sz="14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권리범위</a:t>
                      </a:r>
                      <a:r>
                        <a:rPr kumimoji="1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(A, B)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의 한계 특정 </a:t>
                      </a:r>
                      <a:endParaRPr kumimoji="1" lang="en-US" altLang="ko-KR" sz="14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울타리 이론</a:t>
                      </a:r>
                      <a:r>
                        <a:rPr kumimoji="1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48000" marR="4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1" name="TextBox 70">
            <a:extLst>
              <a:ext uri="{FF2B5EF4-FFF2-40B4-BE49-F238E27FC236}">
                <a16:creationId xmlns:a16="http://schemas.microsoft.com/office/drawing/2014/main" id="{A8FA2AED-C529-1603-B69B-64A82047BBB3}"/>
              </a:ext>
            </a:extLst>
          </p:cNvPr>
          <p:cNvSpPr txBox="1"/>
          <p:nvPr/>
        </p:nvSpPr>
        <p:spPr>
          <a:xfrm>
            <a:off x="298020" y="6324600"/>
            <a:ext cx="116272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/>
            <a:r>
              <a:rPr lang="en-US" altLang="ko-KR" sz="1200" dirty="0"/>
              <a:t>* </a:t>
            </a:r>
            <a:r>
              <a:rPr lang="ko-KR" altLang="en-US" sz="1200" dirty="0"/>
              <a:t>심사관은 청구범위의 </a:t>
            </a:r>
            <a:r>
              <a:rPr lang="ko-KR" altLang="en-US" sz="1200" dirty="0" err="1"/>
              <a:t>청구항별로</a:t>
            </a:r>
            <a:r>
              <a:rPr lang="ko-KR" altLang="en-US" sz="1200" dirty="0"/>
              <a:t> 거절이유를 판단하지만</a:t>
            </a:r>
            <a:r>
              <a:rPr lang="en-US" altLang="ko-KR" sz="1200" dirty="0"/>
              <a:t>, </a:t>
            </a:r>
            <a:r>
              <a:rPr lang="ko-KR" altLang="en-US" sz="1200" dirty="0"/>
              <a:t>하나의 </a:t>
            </a:r>
            <a:r>
              <a:rPr lang="ko-KR" altLang="en-US" sz="1200" dirty="0" err="1"/>
              <a:t>청구항이라도</a:t>
            </a:r>
            <a:r>
              <a:rPr lang="ko-KR" altLang="en-US" sz="1200" dirty="0"/>
              <a:t> 거절이유가 있으면 출원 전체를 거절결정하며</a:t>
            </a:r>
            <a:r>
              <a:rPr lang="en-US" altLang="ko-KR" sz="1200" dirty="0"/>
              <a:t>, </a:t>
            </a:r>
            <a:r>
              <a:rPr lang="ko-KR" altLang="en-US" sz="1200" dirty="0"/>
              <a:t>이를 출원일체의 원칙</a:t>
            </a:r>
            <a:r>
              <a:rPr lang="en-US" altLang="ko-KR" sz="1200" dirty="0"/>
              <a:t>(All or Nothing Rule)</a:t>
            </a:r>
            <a:r>
              <a:rPr lang="ko-KR" altLang="en-US" sz="1200" dirty="0"/>
              <a:t>이라고 한다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72" name="직사각형 2">
            <a:extLst>
              <a:ext uri="{FF2B5EF4-FFF2-40B4-BE49-F238E27FC236}">
                <a16:creationId xmlns:a16="http://schemas.microsoft.com/office/drawing/2014/main" id="{33339EA8-27D5-0A9A-6D11-CF7106005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1787" y="1556075"/>
            <a:ext cx="3744384" cy="2873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/>
          <a:p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【</a:t>
            </a:r>
            <a:r>
              <a:rPr lang="ko-KR" altLang="en-US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발명의 </a:t>
            </a:r>
            <a:r>
              <a:rPr lang="ko-KR" altLang="en-US" sz="140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설명</a:t>
            </a: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】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6B37B208-B874-F9E1-FFC7-3F16E72591C5}"/>
              </a:ext>
            </a:extLst>
          </p:cNvPr>
          <p:cNvSpPr/>
          <p:nvPr/>
        </p:nvSpPr>
        <p:spPr>
          <a:xfrm>
            <a:off x="7384826" y="2403367"/>
            <a:ext cx="3112845" cy="9217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A7C863F-E099-8CAF-6922-4BE89441448C}"/>
              </a:ext>
            </a:extLst>
          </p:cNvPr>
          <p:cNvSpPr/>
          <p:nvPr/>
        </p:nvSpPr>
        <p:spPr bwMode="auto">
          <a:xfrm>
            <a:off x="9253008" y="2099585"/>
            <a:ext cx="1244663" cy="287338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/>
          <a:p>
            <a:pPr>
              <a:defRPr/>
            </a:pPr>
            <a:r>
              <a:rPr lang="ko-KR" altLang="en-US" sz="1400" b="0" dirty="0">
                <a:solidFill>
                  <a:srgbClr val="FF0000"/>
                </a:solidFill>
                <a:latin typeface="+mn-ea"/>
              </a:rPr>
              <a:t>발명의 동기</a:t>
            </a:r>
            <a:endParaRPr lang="en-US" altLang="ko-KR" sz="1400" b="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9E9160D-0BF2-24CD-2A83-A6E794EB7786}"/>
              </a:ext>
            </a:extLst>
          </p:cNvPr>
          <p:cNvSpPr/>
          <p:nvPr/>
        </p:nvSpPr>
        <p:spPr bwMode="auto">
          <a:xfrm>
            <a:off x="7672692" y="5014799"/>
            <a:ext cx="3744384" cy="288925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/>
          <a:p>
            <a:pPr>
              <a:defRPr/>
            </a:pP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【</a:t>
            </a:r>
            <a:r>
              <a:rPr lang="ko-KR" altLang="en-US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실시예 </a:t>
            </a:r>
            <a:r>
              <a:rPr lang="en-US" altLang="ko-KR" sz="140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3</a:t>
            </a: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】x, y, z, w</a:t>
            </a:r>
            <a:r>
              <a:rPr lang="ko-KR" altLang="en-US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를 포함하는 발명</a:t>
            </a:r>
            <a:endParaRPr lang="en-US" altLang="ko-KR" sz="1400" b="0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" name="말풍선: 모서리가 둥근 사각형 5">
            <a:extLst>
              <a:ext uri="{FF2B5EF4-FFF2-40B4-BE49-F238E27FC236}">
                <a16:creationId xmlns:a16="http://schemas.microsoft.com/office/drawing/2014/main" id="{D79526F6-2442-9FEC-A1DA-F24DEC86DD4A}"/>
              </a:ext>
            </a:extLst>
          </p:cNvPr>
          <p:cNvSpPr/>
          <p:nvPr/>
        </p:nvSpPr>
        <p:spPr>
          <a:xfrm>
            <a:off x="10583853" y="4487332"/>
            <a:ext cx="739318" cy="216045"/>
          </a:xfrm>
          <a:prstGeom prst="wedgeRoundRectCallout">
            <a:avLst>
              <a:gd name="adj1" fmla="val -82445"/>
              <a:gd name="adj2" fmla="val -325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A</a:t>
            </a:r>
            <a:r>
              <a:rPr lang="ko-KR" altLang="en-US" sz="1200" dirty="0"/>
              <a:t>발명</a:t>
            </a:r>
          </a:p>
        </p:txBody>
      </p:sp>
      <p:sp>
        <p:nvSpPr>
          <p:cNvPr id="7" name="말풍선: 모서리가 둥근 사각형 6">
            <a:extLst>
              <a:ext uri="{FF2B5EF4-FFF2-40B4-BE49-F238E27FC236}">
                <a16:creationId xmlns:a16="http://schemas.microsoft.com/office/drawing/2014/main" id="{2D84AD0E-C0A0-E35E-74A1-DBDDC276682D}"/>
              </a:ext>
            </a:extLst>
          </p:cNvPr>
          <p:cNvSpPr/>
          <p:nvPr/>
        </p:nvSpPr>
        <p:spPr>
          <a:xfrm>
            <a:off x="10682165" y="4804222"/>
            <a:ext cx="739318" cy="216045"/>
          </a:xfrm>
          <a:prstGeom prst="wedgeRoundRectCallout">
            <a:avLst>
              <a:gd name="adj1" fmla="val -82445"/>
              <a:gd name="adj2" fmla="val -325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B</a:t>
            </a:r>
            <a:r>
              <a:rPr lang="ko-KR" altLang="en-US" sz="1200" dirty="0"/>
              <a:t>발명</a:t>
            </a:r>
          </a:p>
        </p:txBody>
      </p:sp>
      <p:sp>
        <p:nvSpPr>
          <p:cNvPr id="8" name="말풍선: 모서리가 둥근 사각형 7">
            <a:extLst>
              <a:ext uri="{FF2B5EF4-FFF2-40B4-BE49-F238E27FC236}">
                <a16:creationId xmlns:a16="http://schemas.microsoft.com/office/drawing/2014/main" id="{B1140AC5-8CAE-3C0C-D14C-58383B7C03AB}"/>
              </a:ext>
            </a:extLst>
          </p:cNvPr>
          <p:cNvSpPr/>
          <p:nvPr/>
        </p:nvSpPr>
        <p:spPr>
          <a:xfrm>
            <a:off x="10932169" y="5128785"/>
            <a:ext cx="739318" cy="216045"/>
          </a:xfrm>
          <a:prstGeom prst="wedgeRoundRectCallout">
            <a:avLst>
              <a:gd name="adj1" fmla="val -82445"/>
              <a:gd name="adj2" fmla="val -325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C</a:t>
            </a:r>
            <a:r>
              <a:rPr lang="ko-KR" altLang="en-US" sz="1200" dirty="0"/>
              <a:t>발명</a:t>
            </a:r>
          </a:p>
        </p:txBody>
      </p:sp>
    </p:spTree>
    <p:extLst>
      <p:ext uri="{BB962C8B-B14F-4D97-AF65-F5344CB8AC3E}">
        <p14:creationId xmlns:p14="http://schemas.microsoft.com/office/powerpoint/2010/main" val="7561457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배경기술의 기재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127</a:t>
            </a:fld>
            <a:endParaRPr lang="ko-KR" altLang="en-US"/>
          </a:p>
        </p:txBody>
      </p:sp>
      <p:sp>
        <p:nvSpPr>
          <p:cNvPr id="93" name="TextBox 92"/>
          <p:cNvSpPr txBox="1"/>
          <p:nvPr/>
        </p:nvSpPr>
        <p:spPr>
          <a:xfrm>
            <a:off x="77875" y="986046"/>
            <a:ext cx="119363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문제가 되는 것은 배경기술에 기재된 경우 이를 </a:t>
            </a:r>
            <a:r>
              <a:rPr lang="ko-KR" altLang="en-US" sz="1400" dirty="0" err="1">
                <a:solidFill>
                  <a:schemeClr val="tx2"/>
                </a:solidFill>
              </a:rPr>
              <a:t>신규성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진보성을 부정하는 공지기술로 볼 수 있느냐는 것이다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기존 대법원 </a:t>
            </a:r>
            <a:r>
              <a:rPr lang="en-US" altLang="ko-KR" sz="1400" dirty="0">
                <a:solidFill>
                  <a:schemeClr val="tx2"/>
                </a:solidFill>
              </a:rPr>
              <a:t>2005. 12. 23. </a:t>
            </a:r>
            <a:r>
              <a:rPr lang="ko-KR" altLang="en-US" sz="1400" dirty="0">
                <a:solidFill>
                  <a:schemeClr val="tx2"/>
                </a:solidFill>
              </a:rPr>
              <a:t>선고 </a:t>
            </a:r>
            <a:r>
              <a:rPr lang="en-US" altLang="ko-KR" sz="1400" dirty="0">
                <a:solidFill>
                  <a:schemeClr val="tx2"/>
                </a:solidFill>
              </a:rPr>
              <a:t>2004</a:t>
            </a:r>
            <a:r>
              <a:rPr lang="ko-KR" altLang="en-US" sz="1400" dirty="0">
                <a:solidFill>
                  <a:schemeClr val="tx2"/>
                </a:solidFill>
              </a:rPr>
              <a:t>후</a:t>
            </a:r>
            <a:r>
              <a:rPr lang="en-US" altLang="ko-KR" sz="1400" dirty="0">
                <a:solidFill>
                  <a:schemeClr val="tx2"/>
                </a:solidFill>
              </a:rPr>
              <a:t>2031 </a:t>
            </a:r>
            <a:r>
              <a:rPr lang="ko-KR" altLang="en-US" sz="1400" dirty="0">
                <a:solidFill>
                  <a:schemeClr val="tx2"/>
                </a:solidFill>
              </a:rPr>
              <a:t>판결 등은 특별한 사정이 없는 한 공지기술로 보아야 한다는 입장이었으나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대법원 </a:t>
            </a:r>
            <a:r>
              <a:rPr lang="en-US" altLang="ko-KR" sz="1400" dirty="0">
                <a:solidFill>
                  <a:schemeClr val="tx2"/>
                </a:solidFill>
              </a:rPr>
              <a:t>2017. 1. 19. </a:t>
            </a:r>
            <a:r>
              <a:rPr lang="ko-KR" altLang="en-US" sz="1400" dirty="0">
                <a:solidFill>
                  <a:schemeClr val="tx2"/>
                </a:solidFill>
              </a:rPr>
              <a:t>선고 </a:t>
            </a:r>
            <a:r>
              <a:rPr lang="en-US" altLang="ko-KR" sz="1400" dirty="0">
                <a:solidFill>
                  <a:schemeClr val="tx2"/>
                </a:solidFill>
              </a:rPr>
              <a:t>2013</a:t>
            </a:r>
            <a:r>
              <a:rPr lang="ko-KR" altLang="en-US" sz="1400" dirty="0">
                <a:solidFill>
                  <a:schemeClr val="tx2"/>
                </a:solidFill>
              </a:rPr>
              <a:t>후</a:t>
            </a:r>
            <a:r>
              <a:rPr lang="en-US" altLang="ko-KR" sz="1400" dirty="0">
                <a:solidFill>
                  <a:schemeClr val="tx2"/>
                </a:solidFill>
              </a:rPr>
              <a:t>37 </a:t>
            </a:r>
            <a:r>
              <a:rPr lang="ko-KR" altLang="en-US" sz="1400" dirty="0">
                <a:solidFill>
                  <a:schemeClr val="tx2"/>
                </a:solidFill>
              </a:rPr>
              <a:t>전원합의체 판결은 이러한 종래의 판결을 변경하면서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명세서에 배경기술로 기재되어 있다고 하여 그 자체로 공지기술로 볼 수 없다</a:t>
            </a:r>
            <a:r>
              <a:rPr lang="ko-KR" altLang="en-US" sz="1400" dirty="0">
                <a:solidFill>
                  <a:schemeClr val="tx2"/>
                </a:solidFill>
              </a:rPr>
              <a:t>고 판시하였다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이는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출원 전 공지된 것인지는 사실인정의 문제인데 배경기술이라는 항목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명세서의 기재형식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)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에 기재했다는 것에 근거하여 공지기술로 간주하는 태도는 객관적 진실에 반하는 결과를 낳을 수 있고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더욱이 배경기술이란 공개 여부는 묻지 않고 출원 전 존재한 기술을 말하는 것이기 때문이다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예를 들어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실제로는 출원 당시 아직 공개되지 아니한 </a:t>
            </a:r>
            <a:r>
              <a:rPr lang="ko-KR" altLang="en-US" sz="1400" dirty="0" err="1">
                <a:solidFill>
                  <a:schemeClr val="tx2"/>
                </a:solidFill>
              </a:rPr>
              <a:t>선출원발명이나</a:t>
            </a:r>
            <a:r>
              <a:rPr lang="ko-KR" altLang="en-US" sz="1400" dirty="0">
                <a:solidFill>
                  <a:schemeClr val="tx2"/>
                </a:solidFill>
              </a:rPr>
              <a:t> 출원인의 회사 내부에만 알려져 있었던 기술을 배경기술에 기재할 수 있는데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이를 공지기술이라고 단정할 수는 없는 것이다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95" name="직선 연결선 94"/>
          <p:cNvCxnSpPr/>
          <p:nvPr/>
        </p:nvCxnSpPr>
        <p:spPr>
          <a:xfrm>
            <a:off x="0" y="2385136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/>
          <p:cNvCxnSpPr>
            <a:cxnSpLocks/>
          </p:cNvCxnSpPr>
          <p:nvPr/>
        </p:nvCxnSpPr>
        <p:spPr>
          <a:xfrm>
            <a:off x="465826" y="3606370"/>
            <a:ext cx="11439563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2670699" y="4784981"/>
            <a:ext cx="1749714" cy="64633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배경기술에 기재된 일부 구성요소가 공지되었음을 자인</a:t>
            </a:r>
          </a:p>
        </p:txBody>
      </p:sp>
      <p:sp>
        <p:nvSpPr>
          <p:cNvPr id="99" name="직사각형 98"/>
          <p:cNvSpPr/>
          <p:nvPr/>
        </p:nvSpPr>
        <p:spPr>
          <a:xfrm>
            <a:off x="2260460" y="3464008"/>
            <a:ext cx="996278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특허출원</a:t>
            </a:r>
          </a:p>
        </p:txBody>
      </p:sp>
      <p:sp>
        <p:nvSpPr>
          <p:cNvPr id="102" name="직사각형 101"/>
          <p:cNvSpPr/>
          <p:nvPr/>
        </p:nvSpPr>
        <p:spPr>
          <a:xfrm>
            <a:off x="5092547" y="3464008"/>
            <a:ext cx="996278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거절결정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6339596" y="3464008"/>
            <a:ext cx="996278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심판청구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7596718" y="3464008"/>
            <a:ext cx="996278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기각심결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8866718" y="3464008"/>
            <a:ext cx="996278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소제기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2695973" y="4427181"/>
            <a:ext cx="1724440" cy="30043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bg1"/>
                </a:solidFill>
              </a:rPr>
              <a:t>의견서</a:t>
            </a:r>
            <a:r>
              <a:rPr lang="en-US" altLang="ko-KR" sz="1600" dirty="0">
                <a:solidFill>
                  <a:schemeClr val="bg1"/>
                </a:solidFill>
              </a:rPr>
              <a:t>/</a:t>
            </a:r>
            <a:r>
              <a:rPr lang="ko-KR" altLang="en-US" sz="1600" dirty="0">
                <a:solidFill>
                  <a:schemeClr val="bg1"/>
                </a:solidFill>
              </a:rPr>
              <a:t>보정서</a:t>
            </a:r>
          </a:p>
        </p:txBody>
      </p:sp>
      <p:cxnSp>
        <p:nvCxnSpPr>
          <p:cNvPr id="5" name="직선 화살표 연결선 4"/>
          <p:cNvCxnSpPr>
            <a:stCxn id="21" idx="0"/>
          </p:cNvCxnSpPr>
          <p:nvPr/>
        </p:nvCxnSpPr>
        <p:spPr>
          <a:xfrm flipV="1">
            <a:off x="3558193" y="3622849"/>
            <a:ext cx="0" cy="80433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711482" y="5936447"/>
            <a:ext cx="1749714" cy="64633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별도의 </a:t>
            </a:r>
            <a:r>
              <a:rPr lang="ko-KR" altLang="en-US" sz="1200" dirty="0" err="1"/>
              <a:t>증거없이도</a:t>
            </a:r>
            <a:r>
              <a:rPr lang="ko-KR" altLang="en-US" sz="1200" dirty="0"/>
              <a:t> 공지된 것으로 추정한 후 심사 진행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3736756" y="5578647"/>
            <a:ext cx="1724440" cy="30043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실체심사</a:t>
            </a:r>
          </a:p>
        </p:txBody>
      </p:sp>
      <p:cxnSp>
        <p:nvCxnSpPr>
          <p:cNvPr id="30" name="직선 화살표 연결선 29"/>
          <p:cNvCxnSpPr>
            <a:stCxn id="29" idx="0"/>
          </p:cNvCxnSpPr>
          <p:nvPr/>
        </p:nvCxnSpPr>
        <p:spPr>
          <a:xfrm flipH="1" flipV="1">
            <a:off x="4586339" y="3622850"/>
            <a:ext cx="12637" cy="195579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 flipV="1">
            <a:off x="10451757" y="3614228"/>
            <a:ext cx="0" cy="80433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240727" y="4432607"/>
            <a:ext cx="5087674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실제로는 출원 당시 아직 공개되지 아니한 </a:t>
            </a:r>
            <a:r>
              <a:rPr lang="ko-KR" altLang="en-US" sz="1600" dirty="0" err="1">
                <a:solidFill>
                  <a:srgbClr val="FF0000"/>
                </a:solidFill>
              </a:rPr>
              <a:t>선출원발명이나</a:t>
            </a:r>
            <a:r>
              <a:rPr lang="ko-KR" altLang="en-US" sz="1600" dirty="0">
                <a:solidFill>
                  <a:srgbClr val="FF0000"/>
                </a:solidFill>
              </a:rPr>
              <a:t> 출원인의 회사 내부에만 알려져 있었던 기술을 착오로 공지된 것으로 잘못 기재하였음이 밝혀짐 </a:t>
            </a:r>
            <a:r>
              <a:rPr lang="en-US" altLang="ko-KR" sz="1600" dirty="0">
                <a:solidFill>
                  <a:srgbClr val="FF0000"/>
                </a:solidFill>
                <a:sym typeface="Wingdings" pitchFamily="2" charset="2"/>
              </a:rPr>
              <a:t> </a:t>
            </a:r>
            <a:r>
              <a:rPr lang="ko-KR" altLang="en-US" sz="1600" dirty="0">
                <a:solidFill>
                  <a:srgbClr val="FF0000"/>
                </a:solidFill>
                <a:sym typeface="Wingdings" pitchFamily="2" charset="2"/>
              </a:rPr>
              <a:t>추정 번복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0858366-AD6A-494C-B97E-97EE0F99E849}"/>
              </a:ext>
            </a:extLst>
          </p:cNvPr>
          <p:cNvSpPr/>
          <p:nvPr/>
        </p:nvSpPr>
        <p:spPr>
          <a:xfrm>
            <a:off x="431831" y="3381073"/>
            <a:ext cx="1222916" cy="466308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공지기술</a:t>
            </a:r>
            <a:r>
              <a:rPr lang="en-US" altLang="ko-KR" sz="16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(A)</a:t>
            </a:r>
            <a:endParaRPr lang="ko-KR" altLang="en-US" sz="16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2D25404-45B7-B5E0-D1BC-AB1F71FE8A9A}"/>
              </a:ext>
            </a:extLst>
          </p:cNvPr>
          <p:cNvSpPr/>
          <p:nvPr/>
        </p:nvSpPr>
        <p:spPr>
          <a:xfrm>
            <a:off x="1969198" y="2513404"/>
            <a:ext cx="1591582" cy="56943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배경기술에 </a:t>
            </a:r>
            <a:r>
              <a:rPr lang="en-US" altLang="ko-KR" sz="1600" dirty="0">
                <a:solidFill>
                  <a:schemeClr val="tx1"/>
                </a:solidFill>
              </a:rPr>
              <a:t>A</a:t>
            </a:r>
            <a:r>
              <a:rPr lang="ko-KR" altLang="en-US" sz="1600" dirty="0">
                <a:solidFill>
                  <a:schemeClr val="tx1"/>
                </a:solidFill>
              </a:rPr>
              <a:t>를 기재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35D72E51-2DCD-017C-EB9D-E8E7839CA04F}"/>
              </a:ext>
            </a:extLst>
          </p:cNvPr>
          <p:cNvCxnSpPr>
            <a:cxnSpLocks/>
            <a:stCxn id="8" idx="2"/>
            <a:endCxn id="99" idx="0"/>
          </p:cNvCxnSpPr>
          <p:nvPr/>
        </p:nvCxnSpPr>
        <p:spPr>
          <a:xfrm flipH="1">
            <a:off x="2758599" y="3082838"/>
            <a:ext cx="6390" cy="38117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04A7B93D-5C5E-27B8-9FA7-FA08FB1A99E2}"/>
              </a:ext>
            </a:extLst>
          </p:cNvPr>
          <p:cNvCxnSpPr>
            <a:stCxn id="8" idx="1"/>
            <a:endCxn id="7" idx="0"/>
          </p:cNvCxnSpPr>
          <p:nvPr/>
        </p:nvCxnSpPr>
        <p:spPr>
          <a:xfrm flipH="1">
            <a:off x="1043289" y="2798121"/>
            <a:ext cx="925909" cy="582952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7D98C4D-AE3C-B67B-0141-FEA44B205607}"/>
              </a:ext>
            </a:extLst>
          </p:cNvPr>
          <p:cNvSpPr txBox="1"/>
          <p:nvPr/>
        </p:nvSpPr>
        <p:spPr>
          <a:xfrm>
            <a:off x="733200" y="2596338"/>
            <a:ext cx="8931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FF0000"/>
                </a:solidFill>
              </a:rPr>
              <a:t>인정</a:t>
            </a:r>
            <a:r>
              <a:rPr lang="en-US" altLang="ko-KR" sz="2400" dirty="0">
                <a:solidFill>
                  <a:srgbClr val="FF0000"/>
                </a:solidFill>
              </a:rPr>
              <a:t>?</a:t>
            </a:r>
            <a:endParaRPr lang="ko-KR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861776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뒷받침 요건의 판단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조제</a:t>
            </a:r>
            <a:r>
              <a:rPr lang="en-US" altLang="ko-KR" dirty="0"/>
              <a:t>4</a:t>
            </a:r>
            <a:r>
              <a:rPr lang="ko-KR" altLang="en-US" dirty="0" err="1"/>
              <a:t>항제</a:t>
            </a:r>
            <a:r>
              <a:rPr lang="en-US" altLang="ko-KR" dirty="0"/>
              <a:t>1</a:t>
            </a:r>
            <a:r>
              <a:rPr lang="ko-KR" altLang="en-US" dirty="0"/>
              <a:t>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3" name="TextBox 92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400" dirty="0" err="1"/>
              <a:t>발명의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설명에</a:t>
            </a:r>
            <a:r>
              <a:rPr lang="en-US" altLang="ko-KR" sz="1400" dirty="0"/>
              <a:t> </a:t>
            </a:r>
            <a:r>
              <a:rPr lang="en-US" altLang="ko-KR" sz="1400" dirty="0" err="1"/>
              <a:t>뒷받침되고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있는지는</a:t>
            </a:r>
            <a:r>
              <a:rPr lang="en-US" altLang="ko-KR" sz="1400" dirty="0"/>
              <a:t> </a:t>
            </a:r>
            <a:r>
              <a:rPr lang="en-US" altLang="ko-KR" sz="1400" dirty="0" err="1"/>
              <a:t>특허출원</a:t>
            </a:r>
            <a:r>
              <a:rPr lang="en-US" altLang="ko-KR" sz="1400" dirty="0"/>
              <a:t> </a:t>
            </a:r>
            <a:r>
              <a:rPr lang="en-US" altLang="ko-KR" sz="1400" dirty="0" err="1"/>
              <a:t>당시의</a:t>
            </a:r>
            <a:r>
              <a:rPr lang="en-US" altLang="ko-KR" sz="1400" dirty="0"/>
              <a:t> </a:t>
            </a:r>
            <a:r>
              <a:rPr lang="en-US" altLang="ko-KR" sz="1400" dirty="0" err="1"/>
              <a:t>기술수준을</a:t>
            </a:r>
            <a:r>
              <a:rPr lang="en-US" altLang="ko-KR" sz="1400" dirty="0"/>
              <a:t> </a:t>
            </a:r>
            <a:r>
              <a:rPr lang="en-US" altLang="ko-KR" sz="1400" dirty="0" err="1"/>
              <a:t>기준으로</a:t>
            </a:r>
            <a:r>
              <a:rPr lang="en-US" altLang="ko-KR" sz="1400" dirty="0"/>
              <a:t> </a:t>
            </a:r>
            <a:r>
              <a:rPr lang="en-US" altLang="ko-KR" sz="1400" dirty="0" err="1"/>
              <a:t>하여</a:t>
            </a:r>
            <a:r>
              <a:rPr lang="en-US" altLang="ko-KR" sz="1400" dirty="0"/>
              <a:t> </a:t>
            </a:r>
            <a:r>
              <a:rPr lang="en-US" altLang="ko-KR" sz="1400" dirty="0" err="1"/>
              <a:t>통상의</a:t>
            </a:r>
            <a:r>
              <a:rPr lang="en-US" altLang="ko-KR" sz="1400" dirty="0"/>
              <a:t> </a:t>
            </a:r>
            <a:r>
              <a:rPr lang="en-US" altLang="ko-KR" sz="1400" dirty="0" err="1"/>
              <a:t>기술자의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입장에서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청구항에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적혀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있는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사항과</a:t>
            </a:r>
            <a:r>
              <a:rPr lang="en-US" altLang="ko-KR" sz="1400" dirty="0"/>
              <a:t> </a:t>
            </a:r>
            <a:r>
              <a:rPr lang="en-US" altLang="ko-KR" sz="1400" dirty="0" err="1"/>
              <a:t>대응되는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사항이</a:t>
            </a:r>
            <a:r>
              <a:rPr lang="en-US" altLang="ko-KR" sz="1400" dirty="0"/>
              <a:t> </a:t>
            </a:r>
            <a:r>
              <a:rPr lang="en-US" altLang="ko-KR" sz="1400" dirty="0" err="1"/>
              <a:t>발명의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설명에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적혀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있는지에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의하여</a:t>
            </a:r>
            <a:r>
              <a:rPr lang="en-US" altLang="ko-KR" sz="1400" dirty="0"/>
              <a:t> </a:t>
            </a:r>
            <a:r>
              <a:rPr lang="en-US" altLang="ko-KR" sz="1400" dirty="0" err="1"/>
              <a:t>판단하여야</a:t>
            </a:r>
            <a:r>
              <a:rPr lang="en-US" altLang="ko-KR" sz="1400" dirty="0"/>
              <a:t> </a:t>
            </a:r>
            <a:r>
              <a:rPr lang="en-US" altLang="ko-KR" sz="1400" dirty="0" err="1"/>
              <a:t>한다</a:t>
            </a:r>
            <a:r>
              <a:rPr lang="en-US" altLang="ko-KR" sz="1400" dirty="0"/>
              <a:t>. </a:t>
            </a:r>
            <a:r>
              <a:rPr lang="ko-KR" altLang="en-US" sz="1400" dirty="0"/>
              <a:t>출원시의 기술상식에 비추어 보더라도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발명의 설명에 개시된 내용을 청구범위에 기재된 발명의 범위까지 확장 내지 일반화할 수 없는 경우</a:t>
            </a:r>
            <a:r>
              <a:rPr lang="ko-KR" altLang="en-US" sz="1400" dirty="0"/>
              <a:t>에는 그 청구범위는 발명의 설명에 의하여 뒷받침된다고 볼 수 없다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cxnSp>
        <p:nvCxnSpPr>
          <p:cNvPr id="95" name="직선 연결선 94"/>
          <p:cNvCxnSpPr/>
          <p:nvPr/>
        </p:nvCxnSpPr>
        <p:spPr>
          <a:xfrm>
            <a:off x="0" y="173317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다이아몬드 21"/>
          <p:cNvSpPr/>
          <p:nvPr/>
        </p:nvSpPr>
        <p:spPr>
          <a:xfrm>
            <a:off x="3039567" y="2387595"/>
            <a:ext cx="1972733" cy="1151467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형식적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판단</a:t>
            </a:r>
          </a:p>
        </p:txBody>
      </p:sp>
      <p:sp>
        <p:nvSpPr>
          <p:cNvPr id="23" name="다이아몬드 22"/>
          <p:cNvSpPr/>
          <p:nvPr/>
        </p:nvSpPr>
        <p:spPr>
          <a:xfrm>
            <a:off x="3039567" y="3936988"/>
            <a:ext cx="1972733" cy="1151467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실질적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판단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905956" y="2709349"/>
            <a:ext cx="1600200" cy="5037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42</a:t>
            </a:r>
            <a:r>
              <a:rPr lang="ko-KR" altLang="en-US" sz="1400" dirty="0">
                <a:solidFill>
                  <a:schemeClr val="tx1"/>
                </a:solidFill>
              </a:rPr>
              <a:t>조제</a:t>
            </a:r>
            <a:r>
              <a:rPr lang="en-US" altLang="ko-KR" sz="1400" dirty="0">
                <a:solidFill>
                  <a:schemeClr val="tx1"/>
                </a:solidFill>
              </a:rPr>
              <a:t>4</a:t>
            </a:r>
            <a:r>
              <a:rPr lang="ko-KR" altLang="en-US" sz="1400" dirty="0" err="1">
                <a:solidFill>
                  <a:schemeClr val="tx1"/>
                </a:solidFill>
              </a:rPr>
              <a:t>항제</a:t>
            </a:r>
            <a:r>
              <a:rPr lang="en-US" altLang="ko-KR" sz="1400" dirty="0">
                <a:solidFill>
                  <a:schemeClr val="tx1"/>
                </a:solidFill>
              </a:rPr>
              <a:t>1</a:t>
            </a:r>
            <a:r>
              <a:rPr lang="ko-KR" altLang="en-US" sz="1400" dirty="0">
                <a:solidFill>
                  <a:schemeClr val="tx1"/>
                </a:solidFill>
              </a:rPr>
              <a:t>호 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위반되지 않음</a:t>
            </a:r>
          </a:p>
        </p:txBody>
      </p:sp>
      <p:cxnSp>
        <p:nvCxnSpPr>
          <p:cNvPr id="26" name="직선 화살표 연결선 25"/>
          <p:cNvCxnSpPr>
            <a:stCxn id="22" idx="1"/>
            <a:endCxn id="24" idx="3"/>
          </p:cNvCxnSpPr>
          <p:nvPr/>
        </p:nvCxnSpPr>
        <p:spPr>
          <a:xfrm flipH="1" flipV="1">
            <a:off x="2506156" y="2961244"/>
            <a:ext cx="533411" cy="208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3225829" y="5626085"/>
            <a:ext cx="1600200" cy="5037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42</a:t>
            </a:r>
            <a:r>
              <a:rPr lang="ko-KR" altLang="en-US" sz="1400" dirty="0">
                <a:solidFill>
                  <a:schemeClr val="tx1"/>
                </a:solidFill>
              </a:rPr>
              <a:t>조제</a:t>
            </a:r>
            <a:r>
              <a:rPr lang="en-US" altLang="ko-KR" sz="1400" dirty="0">
                <a:solidFill>
                  <a:schemeClr val="tx1"/>
                </a:solidFill>
              </a:rPr>
              <a:t>4</a:t>
            </a:r>
            <a:r>
              <a:rPr lang="ko-KR" altLang="en-US" sz="1400" dirty="0" err="1">
                <a:solidFill>
                  <a:schemeClr val="tx1"/>
                </a:solidFill>
              </a:rPr>
              <a:t>항제</a:t>
            </a:r>
            <a:r>
              <a:rPr lang="en-US" altLang="ko-KR" sz="1400" dirty="0">
                <a:solidFill>
                  <a:schemeClr val="tx1"/>
                </a:solidFill>
              </a:rPr>
              <a:t>1</a:t>
            </a:r>
            <a:r>
              <a:rPr lang="ko-KR" altLang="en-US" sz="1400" dirty="0">
                <a:solidFill>
                  <a:schemeClr val="tx1"/>
                </a:solidFill>
              </a:rPr>
              <a:t>호 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위반됨</a:t>
            </a:r>
          </a:p>
        </p:txBody>
      </p:sp>
      <p:cxnSp>
        <p:nvCxnSpPr>
          <p:cNvPr id="32" name="직선 화살표 연결선 31"/>
          <p:cNvCxnSpPr>
            <a:stCxn id="22" idx="2"/>
            <a:endCxn id="23" idx="0"/>
          </p:cNvCxnSpPr>
          <p:nvPr/>
        </p:nvCxnSpPr>
        <p:spPr>
          <a:xfrm>
            <a:off x="4025934" y="3539062"/>
            <a:ext cx="0" cy="39792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23" idx="2"/>
            <a:endCxn id="31" idx="0"/>
          </p:cNvCxnSpPr>
          <p:nvPr/>
        </p:nvCxnSpPr>
        <p:spPr>
          <a:xfrm flipH="1">
            <a:off x="4025929" y="5088455"/>
            <a:ext cx="5" cy="53763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030169" y="3539053"/>
            <a:ext cx="482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36" name="TextBox 35"/>
          <p:cNvSpPr txBox="1"/>
          <p:nvPr/>
        </p:nvSpPr>
        <p:spPr>
          <a:xfrm>
            <a:off x="4030169" y="5095660"/>
            <a:ext cx="482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38" name="TextBox 37"/>
          <p:cNvSpPr txBox="1"/>
          <p:nvPr/>
        </p:nvSpPr>
        <p:spPr>
          <a:xfrm>
            <a:off x="2662795" y="2689897"/>
            <a:ext cx="482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Yes</a:t>
            </a:r>
            <a:endParaRPr lang="ko-KR" altLang="en-US" sz="1100" dirty="0"/>
          </a:p>
        </p:txBody>
      </p:sp>
      <p:sp>
        <p:nvSpPr>
          <p:cNvPr id="39" name="TextBox 38"/>
          <p:cNvSpPr txBox="1"/>
          <p:nvPr/>
        </p:nvSpPr>
        <p:spPr>
          <a:xfrm>
            <a:off x="2662795" y="4244769"/>
            <a:ext cx="482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Yes</a:t>
            </a:r>
            <a:endParaRPr lang="ko-KR" altLang="en-US" sz="1100" dirty="0"/>
          </a:p>
        </p:txBody>
      </p:sp>
      <p:cxnSp>
        <p:nvCxnSpPr>
          <p:cNvPr id="6" name="꺾인 연결선 5"/>
          <p:cNvCxnSpPr>
            <a:stCxn id="23" idx="1"/>
            <a:endCxn id="24" idx="2"/>
          </p:cNvCxnSpPr>
          <p:nvPr/>
        </p:nvCxnSpPr>
        <p:spPr>
          <a:xfrm rot="10800000">
            <a:off x="1706057" y="3213138"/>
            <a:ext cx="1333511" cy="1299584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81600" y="2816035"/>
            <a:ext cx="64854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청구항에</a:t>
            </a:r>
            <a:r>
              <a:rPr lang="ko-KR" altLang="en-US" sz="1400" dirty="0"/>
              <a:t> 기재된 </a:t>
            </a:r>
            <a:r>
              <a:rPr lang="en-US" altLang="ko-KR" sz="1400" dirty="0"/>
              <a:t>A </a:t>
            </a:r>
            <a:r>
              <a:rPr lang="ko-KR" altLang="en-US" sz="1400" dirty="0"/>
              <a:t>발명이 발명의 설명에도 기재되어 있는지 여부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81600" y="4250308"/>
            <a:ext cx="6485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발명의 설명에 기재된 발명의 범위를 확장 내지 일반화하면 </a:t>
            </a:r>
            <a:r>
              <a:rPr lang="ko-KR" altLang="en-US" sz="1400" dirty="0" err="1"/>
              <a:t>청구항에</a:t>
            </a:r>
            <a:r>
              <a:rPr lang="ko-KR" altLang="en-US" sz="1400" dirty="0"/>
              <a:t> 기재된 </a:t>
            </a:r>
            <a:r>
              <a:rPr lang="en-US" altLang="ko-KR" sz="1400" dirty="0"/>
              <a:t>A </a:t>
            </a:r>
            <a:r>
              <a:rPr lang="ko-KR" altLang="en-US" sz="1400" dirty="0"/>
              <a:t>발명에 이를 수 있는지 여부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307666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조제</a:t>
            </a:r>
            <a:r>
              <a:rPr lang="en-US" altLang="ko-KR" dirty="0"/>
              <a:t>3</a:t>
            </a:r>
            <a:r>
              <a:rPr lang="ko-KR" altLang="en-US" dirty="0" err="1"/>
              <a:t>항제</a:t>
            </a:r>
            <a:r>
              <a:rPr lang="en-US" altLang="ko-KR" dirty="0"/>
              <a:t>1</a:t>
            </a:r>
            <a:r>
              <a:rPr lang="ko-KR" altLang="en-US" dirty="0" err="1"/>
              <a:t>호과</a:t>
            </a:r>
            <a:r>
              <a:rPr lang="ko-KR" altLang="en-US" dirty="0"/>
              <a:t> 제</a:t>
            </a:r>
            <a:r>
              <a:rPr lang="en-US" altLang="ko-KR" dirty="0"/>
              <a:t>42</a:t>
            </a:r>
            <a:r>
              <a:rPr lang="ko-KR" altLang="en-US" dirty="0"/>
              <a:t>조제</a:t>
            </a:r>
            <a:r>
              <a:rPr lang="en-US" altLang="ko-KR" dirty="0"/>
              <a:t>4</a:t>
            </a:r>
            <a:r>
              <a:rPr lang="ko-KR" altLang="en-US" dirty="0"/>
              <a:t>항의 판단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129</a:t>
            </a:fld>
            <a:endParaRPr lang="ko-KR" altLang="en-US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9B9D5D0-4BEE-4CFD-A48C-A1A1F08F3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064035"/>
              </p:ext>
            </p:extLst>
          </p:nvPr>
        </p:nvGraphicFramePr>
        <p:xfrm>
          <a:off x="601134" y="3525744"/>
          <a:ext cx="10989732" cy="313944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353733">
                  <a:extLst>
                    <a:ext uri="{9D8B030D-6E8A-4147-A177-3AD203B41FA5}">
                      <a16:colId xmlns:a16="http://schemas.microsoft.com/office/drawing/2014/main" val="4152084408"/>
                    </a:ext>
                  </a:extLst>
                </a:gridCol>
                <a:gridCol w="4097867">
                  <a:extLst>
                    <a:ext uri="{9D8B030D-6E8A-4147-A177-3AD203B41FA5}">
                      <a16:colId xmlns:a16="http://schemas.microsoft.com/office/drawing/2014/main" val="1715484243"/>
                    </a:ext>
                  </a:extLst>
                </a:gridCol>
                <a:gridCol w="4538132">
                  <a:extLst>
                    <a:ext uri="{9D8B030D-6E8A-4147-A177-3AD203B41FA5}">
                      <a16:colId xmlns:a16="http://schemas.microsoft.com/office/drawing/2014/main" val="1893536710"/>
                    </a:ext>
                  </a:extLst>
                </a:gridCol>
              </a:tblGrid>
              <a:tr h="1454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기재요건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취지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판단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78690"/>
                  </a:ext>
                </a:extLst>
              </a:tr>
              <a:tr h="4510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42</a:t>
                      </a:r>
                      <a:r>
                        <a:rPr lang="ko-KR" altLang="en-US" sz="1400" dirty="0"/>
                        <a:t>조제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 err="1"/>
                        <a:t>항제</a:t>
                      </a: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호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실시가능요건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특허출원된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발명의 내용을 제</a:t>
                      </a: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자가 발명의 설명만으로 쉽게 알 수 있도록 공개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하여 특허권으로 보호받고자 하는 기술적 내용과 범위를 명확하게 하기 위한 것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통상의 기술자가 출원 시의 기술 수준으로 보아 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과도한 실험이나 특수한 지식을 부가하지 않고서도 발명의 설명의 기재에 의하여 그 발명을 정확하게 이해할 수 있고 동시에 재현할 수 있는 정도로 기재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되었는지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8023678"/>
                  </a:ext>
                </a:extLst>
              </a:tr>
              <a:tr h="4510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42</a:t>
                      </a:r>
                      <a:r>
                        <a:rPr lang="ko-KR" altLang="en-US" sz="1400" dirty="0"/>
                        <a:t>조제</a:t>
                      </a:r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 err="1"/>
                        <a:t>항제</a:t>
                      </a: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호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뒷받침요건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발명의 설명에 적지 아니함에 따라 공개하지 아니한 사항을 청구범위에 청구항으로 적어 특허권이 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부여되면 공개하지 아니한 발명에 대하여 특허권이 부여되는 결과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초래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통상의 기술자가 출원시의 기술상식에 비추어 봤을 때 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발명의 설명에 개시된 내용을 청구범위에 기재된 발명의 범위까지 확장 내지 일반화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할 수 있는지 여부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8392062"/>
                  </a:ext>
                </a:extLst>
              </a:tr>
              <a:tr h="4510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42</a:t>
                      </a:r>
                      <a:r>
                        <a:rPr lang="ko-KR" altLang="en-US" sz="1400" dirty="0"/>
                        <a:t>조제</a:t>
                      </a:r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 err="1"/>
                        <a:t>항제</a:t>
                      </a:r>
                      <a:r>
                        <a:rPr lang="en-US" altLang="ko-KR" sz="1400" dirty="0"/>
                        <a:t>2</a:t>
                      </a:r>
                      <a:r>
                        <a:rPr lang="ko-KR" altLang="en-US" sz="1400" dirty="0"/>
                        <a:t>호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명확성요건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청구항의 기재가 불명확하거나 그 기재내용이 간결하지 아니한 발명은 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특허요건 판단 등이 불가능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하며 특허권이 부여되면 발명의 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보호범위가 불명확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하여 특허발명의 보호범위를 결정할 수 없기 때문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통상의 기술자가 발명의 설명이나 도면 등의 기재와 출원 당시의 기술상식을 고려하여 청구범위에 기재된 사항으로부터 특허를 받고자 하는 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발명을 명확하게 파악할 수 있는지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따라 개별적으로 판단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0549754"/>
                  </a:ext>
                </a:extLst>
              </a:tr>
            </a:tbl>
          </a:graphicData>
        </a:graphic>
      </p:graphicFrame>
      <p:sp>
        <p:nvSpPr>
          <p:cNvPr id="5" name="타원 4">
            <a:extLst>
              <a:ext uri="{FF2B5EF4-FFF2-40B4-BE49-F238E27FC236}">
                <a16:creationId xmlns:a16="http://schemas.microsoft.com/office/drawing/2014/main" id="{D63109A5-6DFF-1C40-5990-BF501E609F65}"/>
              </a:ext>
            </a:extLst>
          </p:cNvPr>
          <p:cNvSpPr/>
          <p:nvPr/>
        </p:nvSpPr>
        <p:spPr>
          <a:xfrm>
            <a:off x="5017249" y="1026161"/>
            <a:ext cx="1866900" cy="1498600"/>
          </a:xfrm>
          <a:prstGeom prst="ellipse">
            <a:avLst/>
          </a:prstGeom>
          <a:noFill/>
          <a:ln w="127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D9647F7D-9FDC-16BB-9C06-900E03D84695}"/>
              </a:ext>
            </a:extLst>
          </p:cNvPr>
          <p:cNvSpPr/>
          <p:nvPr/>
        </p:nvSpPr>
        <p:spPr>
          <a:xfrm>
            <a:off x="5957049" y="1026161"/>
            <a:ext cx="1866900" cy="1498600"/>
          </a:xfrm>
          <a:prstGeom prst="ellipse">
            <a:avLst/>
          </a:prstGeom>
          <a:noFill/>
          <a:ln w="127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F68248A-3F9A-DFF1-32C7-58D5277BB52E}"/>
              </a:ext>
            </a:extLst>
          </p:cNvPr>
          <p:cNvSpPr/>
          <p:nvPr/>
        </p:nvSpPr>
        <p:spPr>
          <a:xfrm>
            <a:off x="4433049" y="1466548"/>
            <a:ext cx="1168400" cy="603788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제</a:t>
            </a:r>
            <a:r>
              <a:rPr lang="en-US" altLang="ko-KR" sz="1400" dirty="0"/>
              <a:t>42</a:t>
            </a:r>
            <a:r>
              <a:rPr lang="ko-KR" altLang="en-US" sz="1400" dirty="0"/>
              <a:t>조제</a:t>
            </a:r>
            <a:r>
              <a:rPr lang="en-US" altLang="ko-KR" sz="1400" dirty="0"/>
              <a:t>3</a:t>
            </a:r>
            <a:r>
              <a:rPr lang="ko-KR" altLang="en-US" sz="1400" dirty="0"/>
              <a:t>항</a:t>
            </a:r>
            <a:endParaRPr lang="en-US" altLang="ko-KR" sz="1400" dirty="0"/>
          </a:p>
          <a:p>
            <a:pPr algn="ctr"/>
            <a:r>
              <a:rPr lang="ko-KR" altLang="en-US" sz="1400" dirty="0"/>
              <a:t>제</a:t>
            </a:r>
            <a:r>
              <a:rPr lang="en-US" altLang="ko-KR" sz="1400" dirty="0"/>
              <a:t>1</a:t>
            </a:r>
            <a:r>
              <a:rPr lang="ko-KR" altLang="en-US" sz="1400" dirty="0"/>
              <a:t>호 위반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9378E9D-9FAD-C2A6-0FCA-004FB130EDD2}"/>
              </a:ext>
            </a:extLst>
          </p:cNvPr>
          <p:cNvSpPr/>
          <p:nvPr/>
        </p:nvSpPr>
        <p:spPr>
          <a:xfrm>
            <a:off x="7328649" y="1395149"/>
            <a:ext cx="1168400" cy="603791"/>
          </a:xfrm>
          <a:prstGeom prst="rect">
            <a:avLst/>
          </a:prstGeom>
          <a:solidFill>
            <a:schemeClr val="accent4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제</a:t>
            </a:r>
            <a:r>
              <a:rPr lang="en-US" altLang="ko-KR" sz="1400" dirty="0"/>
              <a:t>42</a:t>
            </a:r>
            <a:r>
              <a:rPr lang="ko-KR" altLang="en-US" sz="1400" dirty="0"/>
              <a:t>조제</a:t>
            </a:r>
            <a:r>
              <a:rPr lang="en-US" altLang="ko-KR" sz="1400" dirty="0"/>
              <a:t>4</a:t>
            </a:r>
            <a:r>
              <a:rPr lang="ko-KR" altLang="en-US" sz="1400" dirty="0"/>
              <a:t>항</a:t>
            </a:r>
            <a:endParaRPr lang="en-US" altLang="ko-KR" sz="1400" dirty="0"/>
          </a:p>
          <a:p>
            <a:pPr algn="ctr"/>
            <a:r>
              <a:rPr lang="ko-KR" altLang="en-US" sz="1400" dirty="0"/>
              <a:t>제</a:t>
            </a:r>
            <a:r>
              <a:rPr lang="en-US" altLang="ko-KR" sz="1400" dirty="0"/>
              <a:t>1</a:t>
            </a:r>
            <a:r>
              <a:rPr lang="ko-KR" altLang="en-US" sz="1400" dirty="0"/>
              <a:t>호 위반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3ED31A-7E05-E84C-261B-263F97DD62E4}"/>
              </a:ext>
            </a:extLst>
          </p:cNvPr>
          <p:cNvSpPr txBox="1"/>
          <p:nvPr/>
        </p:nvSpPr>
        <p:spPr>
          <a:xfrm>
            <a:off x="8775700" y="1026161"/>
            <a:ext cx="1273105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청구범위</a:t>
            </a:r>
            <a:r>
              <a:rPr lang="en-US" altLang="ko-KR" sz="1400" dirty="0"/>
              <a:t>: A, B</a:t>
            </a:r>
          </a:p>
          <a:p>
            <a:r>
              <a:rPr lang="ko-KR" altLang="en-US" sz="1400" dirty="0"/>
              <a:t>발명의 설명</a:t>
            </a:r>
            <a:r>
              <a:rPr lang="en-US" altLang="ko-KR" sz="1400" dirty="0"/>
              <a:t>: A</a:t>
            </a:r>
            <a:endParaRPr lang="ko-KR" alt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FE591D-3928-4432-9D18-14EB0F819AAC}"/>
              </a:ext>
            </a:extLst>
          </p:cNvPr>
          <p:cNvSpPr txBox="1"/>
          <p:nvPr/>
        </p:nvSpPr>
        <p:spPr>
          <a:xfrm>
            <a:off x="8686799" y="1658626"/>
            <a:ext cx="3060701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통상의 기술자가 출원시의 기술상식에 비추어 봤을 때 </a:t>
            </a:r>
            <a:r>
              <a:rPr lang="ko-KR" altLang="en-US" sz="1200" dirty="0"/>
              <a:t>발명의 설명에 기재된 </a:t>
            </a:r>
            <a:r>
              <a:rPr lang="en-US" altLang="ko-KR" sz="1200" dirty="0"/>
              <a:t>A</a:t>
            </a:r>
            <a:r>
              <a:rPr lang="ko-KR" altLang="en-US" sz="1200" dirty="0"/>
              <a:t>로부터 청구범위에 기재된 </a:t>
            </a:r>
            <a:r>
              <a:rPr lang="en-US" altLang="ko-KR" sz="1200" dirty="0"/>
              <a:t>B</a:t>
            </a:r>
            <a:r>
              <a:rPr lang="ko-KR" altLang="en-US" sz="1200" dirty="0"/>
              <a:t>까지 확장 내지 일반화될 수 없는 경우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F6412D-B4B1-FC32-CE44-615BCC044D64}"/>
              </a:ext>
            </a:extLst>
          </p:cNvPr>
          <p:cNvSpPr txBox="1"/>
          <p:nvPr/>
        </p:nvSpPr>
        <p:spPr>
          <a:xfrm>
            <a:off x="1631576" y="1026161"/>
            <a:ext cx="1975975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청구범위</a:t>
            </a:r>
            <a:r>
              <a:rPr lang="en-US" altLang="ko-KR" sz="1400" dirty="0"/>
              <a:t>:  A</a:t>
            </a:r>
          </a:p>
          <a:p>
            <a:r>
              <a:rPr lang="ko-KR" altLang="en-US" sz="1400" dirty="0"/>
              <a:t>발명의 설명</a:t>
            </a:r>
            <a:r>
              <a:rPr lang="en-US" altLang="ko-KR" sz="1400" dirty="0"/>
              <a:t>:   A,  B</a:t>
            </a:r>
            <a:endParaRPr lang="ko-KR" alt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42A3D7-A0CE-92EB-8C83-2569A4B1937D}"/>
              </a:ext>
            </a:extLst>
          </p:cNvPr>
          <p:cNvSpPr txBox="1"/>
          <p:nvPr/>
        </p:nvSpPr>
        <p:spPr>
          <a:xfrm>
            <a:off x="689750" y="1595126"/>
            <a:ext cx="3248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dirty="0"/>
              <a:t>통상의 기술자가 출원 시의 기술 수준으로 보아 과도한 실험이나 특수한 지식을 부가하지 않고서도 발명의 설명에 기재에 의하여 청구범위에 기재된 </a:t>
            </a:r>
            <a:r>
              <a:rPr lang="en-US" altLang="ko-KR" sz="1200" dirty="0"/>
              <a:t>A </a:t>
            </a:r>
            <a:r>
              <a:rPr lang="ko-KR" altLang="en-US" sz="1200" dirty="0"/>
              <a:t>발명을 정확하게 이해할 수 있고 동시에 재현할 수 있는 정도로 기재되지 않은 경우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en-US" altLang="ko-KR" sz="1200" dirty="0"/>
              <a:t>B</a:t>
            </a:r>
            <a:r>
              <a:rPr lang="ko-KR" altLang="en-US" sz="1200" dirty="0"/>
              <a:t>는 발명의 설명 기재에 오류가 있더라도 무관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BD0690D-B233-30EF-8CC3-CAB815BAC5A6}"/>
              </a:ext>
            </a:extLst>
          </p:cNvPr>
          <p:cNvCxnSpPr/>
          <p:nvPr/>
        </p:nvCxnSpPr>
        <p:spPr>
          <a:xfrm>
            <a:off x="295301" y="3283325"/>
            <a:ext cx="11469132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D9FC0124-EC26-5792-58B3-AEFDF0827FB6}"/>
              </a:ext>
            </a:extLst>
          </p:cNvPr>
          <p:cNvSpPr/>
          <p:nvPr/>
        </p:nvSpPr>
        <p:spPr>
          <a:xfrm>
            <a:off x="2428119" y="1013885"/>
            <a:ext cx="292849" cy="29366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C6D3737F-2F87-B274-A459-8FF661F3B748}"/>
              </a:ext>
            </a:extLst>
          </p:cNvPr>
          <p:cNvSpPr/>
          <p:nvPr/>
        </p:nvSpPr>
        <p:spPr>
          <a:xfrm>
            <a:off x="2694443" y="1255719"/>
            <a:ext cx="292849" cy="29366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설명선: 굽은 선 16">
            <a:extLst>
              <a:ext uri="{FF2B5EF4-FFF2-40B4-BE49-F238E27FC236}">
                <a16:creationId xmlns:a16="http://schemas.microsoft.com/office/drawing/2014/main" id="{F76A895C-A8E7-6FD7-190E-FEFCCC5886AE}"/>
              </a:ext>
            </a:extLst>
          </p:cNvPr>
          <p:cNvSpPr/>
          <p:nvPr/>
        </p:nvSpPr>
        <p:spPr>
          <a:xfrm>
            <a:off x="3305168" y="717711"/>
            <a:ext cx="1212472" cy="395105"/>
          </a:xfrm>
          <a:prstGeom prst="borderCallout2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accent3">
                    <a:lumMod val="50000"/>
                  </a:schemeClr>
                </a:solidFill>
              </a:rPr>
              <a:t>해결수단</a:t>
            </a:r>
          </a:p>
        </p:txBody>
      </p:sp>
      <p:sp>
        <p:nvSpPr>
          <p:cNvPr id="18" name="설명선: 굽은 선 17">
            <a:extLst>
              <a:ext uri="{FF2B5EF4-FFF2-40B4-BE49-F238E27FC236}">
                <a16:creationId xmlns:a16="http://schemas.microsoft.com/office/drawing/2014/main" id="{55D87B22-AE2E-BEF4-4CE4-318703AC70D0}"/>
              </a:ext>
            </a:extLst>
          </p:cNvPr>
          <p:cNvSpPr/>
          <p:nvPr/>
        </p:nvSpPr>
        <p:spPr>
          <a:xfrm>
            <a:off x="2959101" y="2779940"/>
            <a:ext cx="9044640" cy="395105"/>
          </a:xfrm>
          <a:prstGeom prst="borderCallout2">
            <a:avLst>
              <a:gd name="adj1" fmla="val 52784"/>
              <a:gd name="adj2" fmla="val -791"/>
              <a:gd name="adj3" fmla="val 57322"/>
              <a:gd name="adj4" fmla="val -4176"/>
              <a:gd name="adj5" fmla="val -320868"/>
              <a:gd name="adj6" fmla="val -929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accent3">
                    <a:lumMod val="50000"/>
                  </a:schemeClr>
                </a:solidFill>
              </a:rPr>
              <a:t>발명의 명칭</a:t>
            </a:r>
            <a:r>
              <a:rPr lang="en-US" altLang="ko-KR" dirty="0">
                <a:solidFill>
                  <a:schemeClr val="accent3">
                    <a:lumMod val="50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accent3">
                    <a:lumMod val="50000"/>
                  </a:schemeClr>
                </a:solidFill>
              </a:rPr>
              <a:t>기술분야</a:t>
            </a:r>
            <a:r>
              <a:rPr lang="en-US" altLang="ko-KR" dirty="0">
                <a:solidFill>
                  <a:schemeClr val="accent3">
                    <a:lumMod val="50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accent3">
                    <a:lumMod val="50000"/>
                  </a:schemeClr>
                </a:solidFill>
              </a:rPr>
              <a:t>배경기술</a:t>
            </a:r>
            <a:r>
              <a:rPr lang="en-US" altLang="ko-KR" dirty="0">
                <a:solidFill>
                  <a:schemeClr val="accent3">
                    <a:lumMod val="50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accent3">
                    <a:lumMod val="50000"/>
                  </a:schemeClr>
                </a:solidFill>
              </a:rPr>
              <a:t>발명의 내용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해결과제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해결수단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효과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)</a:t>
            </a:r>
            <a:r>
              <a:rPr lang="en-US" altLang="ko-KR" dirty="0">
                <a:solidFill>
                  <a:schemeClr val="accent3">
                    <a:lumMod val="50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accent3">
                    <a:lumMod val="50000"/>
                  </a:schemeClr>
                </a:solidFill>
              </a:rPr>
              <a:t>도면의 간단한 설명</a:t>
            </a:r>
            <a:r>
              <a:rPr lang="en-US" altLang="ko-KR" dirty="0">
                <a:solidFill>
                  <a:schemeClr val="accent3">
                    <a:lumMod val="50000"/>
                  </a:schemeClr>
                </a:solidFill>
              </a:rPr>
              <a:t>,</a:t>
            </a:r>
            <a:r>
              <a:rPr lang="ko-KR" altLang="en-US" dirty="0">
                <a:solidFill>
                  <a:schemeClr val="accent3">
                    <a:lumMod val="50000"/>
                  </a:schemeClr>
                </a:solidFill>
              </a:rPr>
              <a:t> 실시예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32AEBD-A490-9F25-1005-6B41B5210F3E}"/>
              </a:ext>
            </a:extLst>
          </p:cNvPr>
          <p:cNvSpPr txBox="1"/>
          <p:nvPr/>
        </p:nvSpPr>
        <p:spPr>
          <a:xfrm>
            <a:off x="162942" y="1001338"/>
            <a:ext cx="1164101" cy="5847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판단대상</a:t>
            </a:r>
            <a:r>
              <a:rPr lang="en-US" altLang="ko-KR" sz="1600" dirty="0">
                <a:solidFill>
                  <a:srgbClr val="FF0000"/>
                </a:solidFill>
              </a:rPr>
              <a:t>:</a:t>
            </a:r>
          </a:p>
          <a:p>
            <a:r>
              <a:rPr lang="ko-KR" altLang="en-US" sz="1600" dirty="0">
                <a:solidFill>
                  <a:srgbClr val="FF0000"/>
                </a:solidFill>
              </a:rPr>
              <a:t>발명의 설명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88AEB6-E75C-8EAD-A409-6495D11BE518}"/>
              </a:ext>
            </a:extLst>
          </p:cNvPr>
          <p:cNvSpPr txBox="1"/>
          <p:nvPr/>
        </p:nvSpPr>
        <p:spPr>
          <a:xfrm>
            <a:off x="10327456" y="1001338"/>
            <a:ext cx="979755" cy="5847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판단대상</a:t>
            </a:r>
            <a:r>
              <a:rPr lang="en-US" altLang="ko-KR" sz="1600" dirty="0">
                <a:solidFill>
                  <a:srgbClr val="FF0000"/>
                </a:solidFill>
              </a:rPr>
              <a:t>:</a:t>
            </a:r>
          </a:p>
          <a:p>
            <a:r>
              <a:rPr lang="ko-KR" altLang="en-US" sz="1600" dirty="0">
                <a:solidFill>
                  <a:srgbClr val="FF0000"/>
                </a:solidFill>
              </a:rPr>
              <a:t>청구범위</a:t>
            </a:r>
          </a:p>
        </p:txBody>
      </p:sp>
    </p:spTree>
    <p:extLst>
      <p:ext uri="{BB962C8B-B14F-4D97-AF65-F5344CB8AC3E}">
        <p14:creationId xmlns:p14="http://schemas.microsoft.com/office/powerpoint/2010/main" val="315122288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청구항 구성요소의 기재방법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조제</a:t>
            </a:r>
            <a:r>
              <a:rPr lang="en-US" altLang="ko-KR" dirty="0"/>
              <a:t>6</a:t>
            </a:r>
            <a:r>
              <a:rPr lang="ko-KR" altLang="en-US" dirty="0"/>
              <a:t>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3" name="TextBox 92"/>
          <p:cNvSpPr txBox="1"/>
          <p:nvPr/>
        </p:nvSpPr>
        <p:spPr>
          <a:xfrm>
            <a:off x="77875" y="986046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ko-KR" altLang="en-US" sz="1400" dirty="0" err="1"/>
              <a:t>보드마카를</a:t>
            </a:r>
            <a:r>
              <a:rPr lang="ko-KR" altLang="en-US" sz="1400" dirty="0"/>
              <a:t> 발명한 경우 </a:t>
            </a:r>
            <a:r>
              <a:rPr lang="ko-KR" altLang="en-US" sz="1400" dirty="0" err="1"/>
              <a:t>출원인은</a:t>
            </a:r>
            <a:r>
              <a:rPr lang="ko-KR" altLang="en-US" sz="1400" dirty="0"/>
              <a:t> 다양한 방법에 의하여 </a:t>
            </a:r>
            <a:r>
              <a:rPr lang="ko-KR" altLang="en-US" sz="1400" dirty="0" err="1"/>
              <a:t>보드마카의</a:t>
            </a:r>
            <a:r>
              <a:rPr lang="ko-KR" altLang="en-US" sz="1400" dirty="0"/>
              <a:t> 구성요소를 특정하여 </a:t>
            </a:r>
            <a:r>
              <a:rPr lang="ko-KR" altLang="en-US" sz="1400" dirty="0" err="1"/>
              <a:t>청구항에</a:t>
            </a:r>
            <a:r>
              <a:rPr lang="ko-KR" altLang="en-US" sz="1400" dirty="0"/>
              <a:t> 적을 수 있다</a:t>
            </a:r>
            <a:r>
              <a:rPr lang="en-US" altLang="ko-KR" sz="1400" dirty="0"/>
              <a:t>. </a:t>
            </a:r>
            <a:r>
              <a:rPr lang="ko-KR" altLang="en-US" sz="1400" dirty="0"/>
              <a:t>예를 들어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보드마카의</a:t>
            </a:r>
            <a:r>
              <a:rPr lang="ko-KR" altLang="en-US" sz="1400" dirty="0"/>
              <a:t>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구조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(structure) </a:t>
            </a:r>
            <a:r>
              <a:rPr lang="en-US" altLang="ko-KR" sz="1400" dirty="0"/>
              <a:t>A, B</a:t>
            </a:r>
            <a:r>
              <a:rPr lang="ko-KR" altLang="en-US" sz="1400" dirty="0"/>
              <a:t>를 알고 있는 경우에는 「</a:t>
            </a:r>
            <a:r>
              <a:rPr lang="en-US" altLang="ko-KR" sz="1400" dirty="0"/>
              <a:t>A</a:t>
            </a:r>
            <a:r>
              <a:rPr lang="ko-KR" altLang="en-US" sz="1400" dirty="0"/>
              <a:t>의 </a:t>
            </a:r>
            <a:r>
              <a:rPr lang="ko-KR" altLang="en-US" sz="1400" dirty="0" err="1"/>
              <a:t>일측에</a:t>
            </a:r>
            <a:r>
              <a:rPr lang="ko-KR" altLang="en-US" sz="1400" dirty="0"/>
              <a:t> </a:t>
            </a:r>
            <a:r>
              <a:rPr lang="en-US" altLang="ko-KR" sz="1400" dirty="0"/>
              <a:t>B</a:t>
            </a:r>
            <a:r>
              <a:rPr lang="ko-KR" altLang="en-US" sz="1400" dirty="0"/>
              <a:t>가 결합된 </a:t>
            </a:r>
            <a:r>
              <a:rPr lang="ko-KR" altLang="en-US" sz="1400" dirty="0" err="1"/>
              <a:t>보드마카</a:t>
            </a:r>
            <a:r>
              <a:rPr lang="ko-KR" altLang="en-US" sz="1400" dirty="0"/>
              <a:t>」와 같이 </a:t>
            </a:r>
            <a:r>
              <a:rPr lang="ko-KR" altLang="en-US" sz="1400" dirty="0" err="1"/>
              <a:t>청구항을</a:t>
            </a:r>
            <a:r>
              <a:rPr lang="ko-KR" altLang="en-US" sz="1400" dirty="0"/>
              <a:t> 적을 수 있다</a:t>
            </a:r>
            <a:r>
              <a:rPr lang="en-US" altLang="ko-KR" sz="1400" dirty="0"/>
              <a:t>. </a:t>
            </a:r>
            <a:r>
              <a:rPr lang="ko-KR" altLang="en-US" sz="1400" dirty="0"/>
              <a:t>구조를 알고 있지 아니한 경우에는 구조가 갖는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기능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(function)</a:t>
            </a:r>
            <a:r>
              <a:rPr lang="en-US" altLang="ko-KR" sz="1400" dirty="0"/>
              <a:t>(A</a:t>
            </a:r>
            <a:r>
              <a:rPr lang="ko-KR" altLang="en-US" sz="1400" dirty="0"/>
              <a:t>는 필기하는 기능</a:t>
            </a:r>
            <a:r>
              <a:rPr lang="en-US" altLang="ko-KR" sz="1400" dirty="0"/>
              <a:t>, B</a:t>
            </a:r>
            <a:r>
              <a:rPr lang="ko-KR" altLang="en-US" sz="1400" dirty="0"/>
              <a:t>는 지지하는 기능</a:t>
            </a:r>
            <a:r>
              <a:rPr lang="en-US" altLang="ko-KR" sz="1400" dirty="0"/>
              <a:t>)</a:t>
            </a:r>
            <a:r>
              <a:rPr lang="ko-KR" altLang="en-US" sz="1400" dirty="0"/>
              <a:t>을 특정하여 「필기수단의 </a:t>
            </a:r>
            <a:r>
              <a:rPr lang="ko-KR" altLang="en-US" sz="1400" dirty="0" err="1"/>
              <a:t>일측에</a:t>
            </a:r>
            <a:r>
              <a:rPr lang="ko-KR" altLang="en-US" sz="1400" dirty="0"/>
              <a:t> 지지수단이 결합된 </a:t>
            </a:r>
            <a:r>
              <a:rPr lang="ko-KR" altLang="en-US" sz="1400" dirty="0" err="1"/>
              <a:t>보드마카</a:t>
            </a:r>
            <a:r>
              <a:rPr lang="ko-KR" altLang="en-US" sz="1400" dirty="0"/>
              <a:t>」와 같이 </a:t>
            </a:r>
            <a:r>
              <a:rPr lang="ko-KR" altLang="en-US" sz="1400" dirty="0" err="1"/>
              <a:t>청구항을</a:t>
            </a:r>
            <a:r>
              <a:rPr lang="ko-KR" altLang="en-US" sz="1400" dirty="0"/>
              <a:t> 적을 수 있다</a:t>
            </a:r>
            <a:r>
              <a:rPr lang="en-US" altLang="ko-KR" sz="1400" dirty="0"/>
              <a:t>. </a:t>
            </a:r>
            <a:r>
              <a:rPr lang="ko-KR" altLang="en-US" sz="1400" dirty="0"/>
              <a:t>또한</a:t>
            </a:r>
            <a:r>
              <a:rPr lang="en-US" altLang="ko-KR" sz="1400" dirty="0"/>
              <a:t>, </a:t>
            </a:r>
            <a:r>
              <a:rPr lang="ko-KR" altLang="en-US" sz="1400" dirty="0"/>
              <a:t>구조</a:t>
            </a:r>
            <a:r>
              <a:rPr lang="en-US" altLang="ko-KR" sz="1400" dirty="0"/>
              <a:t>(structure) </a:t>
            </a:r>
            <a:r>
              <a:rPr lang="ko-KR" altLang="en-US" sz="1400" dirty="0"/>
              <a:t>또는 기능</a:t>
            </a:r>
            <a:r>
              <a:rPr lang="en-US" altLang="ko-KR" sz="1400" dirty="0"/>
              <a:t>(function)</a:t>
            </a:r>
            <a:r>
              <a:rPr lang="ko-KR" altLang="en-US" sz="1400" dirty="0"/>
              <a:t>을 알지 못하더라도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제조방법</a:t>
            </a:r>
            <a:r>
              <a:rPr lang="ko-KR" altLang="en-US" sz="1400" dirty="0"/>
              <a:t>을 알고 있는 경우에는 「</a:t>
            </a:r>
            <a:r>
              <a:rPr lang="en-US" altLang="ko-KR" sz="1400" dirty="0"/>
              <a:t>X</a:t>
            </a:r>
            <a:r>
              <a:rPr lang="ko-KR" altLang="en-US" sz="1400" dirty="0" err="1"/>
              <a:t>공정후</a:t>
            </a:r>
            <a:r>
              <a:rPr lang="ko-KR" altLang="en-US" sz="1400" dirty="0"/>
              <a:t> </a:t>
            </a:r>
            <a:r>
              <a:rPr lang="en-US" altLang="ko-KR" sz="1400" dirty="0"/>
              <a:t>Y</a:t>
            </a:r>
            <a:r>
              <a:rPr lang="ko-KR" altLang="en-US" sz="1400" dirty="0"/>
              <a:t>공정을 거치는 방법에 의하여 제조된 </a:t>
            </a:r>
            <a:r>
              <a:rPr lang="ko-KR" altLang="en-US" sz="1400" dirty="0" err="1"/>
              <a:t>보드마카</a:t>
            </a:r>
            <a:r>
              <a:rPr lang="ko-KR" altLang="en-US" sz="1400" dirty="0"/>
              <a:t>」와 같이 </a:t>
            </a:r>
            <a:r>
              <a:rPr lang="ko-KR" altLang="en-US" sz="1400" dirty="0" err="1"/>
              <a:t>청구항을</a:t>
            </a:r>
            <a:r>
              <a:rPr lang="ko-KR" altLang="en-US" sz="1400" dirty="0"/>
              <a:t> 적을 수 있다</a:t>
            </a:r>
            <a:r>
              <a:rPr lang="en-US" altLang="ko-KR" sz="1400" dirty="0"/>
              <a:t>. </a:t>
            </a:r>
            <a:r>
              <a:rPr lang="ko-KR" altLang="en-US" sz="1400" dirty="0" err="1"/>
              <a:t>출원인은</a:t>
            </a:r>
            <a:r>
              <a:rPr lang="ko-KR" altLang="en-US" sz="1400" dirty="0"/>
              <a:t> 이와 같은 기재방법 중 발명을 보호할 수 있는 가장 적절한 수단을 선택하여 </a:t>
            </a:r>
            <a:r>
              <a:rPr lang="ko-KR" altLang="en-US" sz="1400" dirty="0" err="1"/>
              <a:t>청구항을</a:t>
            </a:r>
            <a:r>
              <a:rPr lang="ko-KR" altLang="en-US" sz="1400" dirty="0"/>
              <a:t> 작성할 수 있다</a:t>
            </a:r>
            <a:r>
              <a:rPr lang="en-US" altLang="ko-KR" sz="1400" dirty="0"/>
              <a:t>. </a:t>
            </a:r>
            <a:endParaRPr lang="ko-KR" altLang="en-US" sz="1400" dirty="0"/>
          </a:p>
        </p:txBody>
      </p:sp>
      <p:cxnSp>
        <p:nvCxnSpPr>
          <p:cNvPr id="95" name="직선 연결선 94"/>
          <p:cNvCxnSpPr/>
          <p:nvPr/>
        </p:nvCxnSpPr>
        <p:spPr>
          <a:xfrm>
            <a:off x="0" y="215652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AutoShape 5"/>
          <p:cNvSpPr>
            <a:spLocks/>
          </p:cNvSpPr>
          <p:nvPr/>
        </p:nvSpPr>
        <p:spPr bwMode="auto">
          <a:xfrm>
            <a:off x="829705" y="3440113"/>
            <a:ext cx="358775" cy="792162"/>
          </a:xfrm>
          <a:prstGeom prst="rightBrace">
            <a:avLst>
              <a:gd name="adj1" fmla="val 18400"/>
              <a:gd name="adj2" fmla="val 50000"/>
            </a:avLst>
          </a:prstGeom>
          <a:noFill/>
          <a:ln w="28575">
            <a:solidFill>
              <a:srgbClr val="33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dirty="0">
              <a:latin typeface="Rix모던명조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25" name="AutoShape 6"/>
          <p:cNvSpPr>
            <a:spLocks/>
          </p:cNvSpPr>
          <p:nvPr/>
        </p:nvSpPr>
        <p:spPr bwMode="auto">
          <a:xfrm>
            <a:off x="829705" y="4305300"/>
            <a:ext cx="358775" cy="1152525"/>
          </a:xfrm>
          <a:prstGeom prst="rightBrace">
            <a:avLst>
              <a:gd name="adj1" fmla="val 26770"/>
              <a:gd name="adj2" fmla="val 50000"/>
            </a:avLst>
          </a:prstGeom>
          <a:noFill/>
          <a:ln w="28575">
            <a:solidFill>
              <a:srgbClr val="33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dirty="0">
              <a:latin typeface="Rix모던명조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27" name="Text Box 7"/>
          <p:cNvSpPr txBox="1">
            <a:spLocks noChangeArrowheads="1"/>
          </p:cNvSpPr>
          <p:nvPr/>
        </p:nvSpPr>
        <p:spPr bwMode="auto">
          <a:xfrm>
            <a:off x="1186893" y="3678238"/>
            <a:ext cx="327334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Rix모던명조 L" panose="02020603020101020101" pitchFamily="18" charset="-127"/>
                <a:ea typeface="Rix모던고딕 L" panose="02020603020101020101" pitchFamily="18" charset="-127"/>
              </a:rPr>
              <a:t>A</a:t>
            </a:r>
          </a:p>
        </p:txBody>
      </p:sp>
      <p:sp>
        <p:nvSpPr>
          <p:cNvPr id="28" name="Text Box 8"/>
          <p:cNvSpPr txBox="1">
            <a:spLocks noChangeArrowheads="1"/>
          </p:cNvSpPr>
          <p:nvPr/>
        </p:nvSpPr>
        <p:spPr bwMode="auto">
          <a:xfrm>
            <a:off x="1186893" y="4737100"/>
            <a:ext cx="317716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Rix모던명조 L" panose="02020603020101020101" pitchFamily="18" charset="-127"/>
                <a:ea typeface="Rix모던고딕 L" panose="02020603020101020101" pitchFamily="18" charset="-127"/>
              </a:rPr>
              <a:t>B</a:t>
            </a:r>
          </a:p>
        </p:txBody>
      </p:sp>
      <p:sp>
        <p:nvSpPr>
          <p:cNvPr id="29" name="AutoShape 9"/>
          <p:cNvSpPr>
            <a:spLocks noChangeArrowheads="1"/>
          </p:cNvSpPr>
          <p:nvPr/>
        </p:nvSpPr>
        <p:spPr bwMode="auto">
          <a:xfrm>
            <a:off x="1548844" y="3729038"/>
            <a:ext cx="1008090" cy="1439862"/>
          </a:xfrm>
          <a:prstGeom prst="rightArrow">
            <a:avLst>
              <a:gd name="adj1" fmla="val 79731"/>
              <a:gd name="adj2" fmla="val 26102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400" b="0" dirty="0" err="1">
                <a:solidFill>
                  <a:srgbClr val="000000"/>
                </a:solidFill>
                <a:latin typeface="+mn-ea"/>
              </a:rPr>
              <a:t>청구항</a:t>
            </a:r>
            <a:endParaRPr lang="ko-KR" altLang="en-US" sz="1400" b="0" dirty="0">
              <a:solidFill>
                <a:srgbClr val="000000"/>
              </a:solidFill>
              <a:latin typeface="+mn-ea"/>
            </a:endParaRPr>
          </a:p>
          <a:p>
            <a:pPr algn="ctr">
              <a:defRPr/>
            </a:pPr>
            <a:r>
              <a:rPr lang="ko-KR" altLang="en-US" sz="1400" b="0" dirty="0">
                <a:solidFill>
                  <a:srgbClr val="000000"/>
                </a:solidFill>
                <a:latin typeface="+mn-ea"/>
              </a:rPr>
              <a:t>기재</a:t>
            </a:r>
            <a:r>
              <a:rPr lang="en-US" altLang="ko-KR" sz="1400" b="0" dirty="0">
                <a:solidFill>
                  <a:srgbClr val="000000"/>
                </a:solidFill>
                <a:latin typeface="+mn-ea"/>
              </a:rPr>
              <a:t>?</a:t>
            </a:r>
          </a:p>
        </p:txBody>
      </p:sp>
      <p:graphicFrame>
        <p:nvGraphicFramePr>
          <p:cNvPr id="30" name="Group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791751"/>
              </p:ext>
            </p:extLst>
          </p:nvPr>
        </p:nvGraphicFramePr>
        <p:xfrm>
          <a:off x="2678607" y="2751668"/>
          <a:ext cx="4681538" cy="349673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865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0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79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5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Element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Structure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구조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Function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기능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Method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방법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91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청구항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의 </a:t>
                      </a: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일측에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가 결합된 </a:t>
                      </a:r>
                      <a:endParaRPr kumimoji="1" lang="en-US" altLang="ko-KR" sz="12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보드마카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필기수단의 </a:t>
                      </a: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일측에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지지수단이 결합된</a:t>
                      </a:r>
                      <a:endParaRPr kumimoji="1" lang="en-US" altLang="ko-KR" sz="12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보드마카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공정후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Y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공정을 거치는 방법에 의하여 제조된 </a:t>
                      </a:r>
                      <a:endParaRPr kumimoji="1" lang="en-US" altLang="ko-KR" sz="12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보드마카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69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비고</a:t>
                      </a:r>
                      <a:endParaRPr kumimoji="1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-</a:t>
                      </a:r>
                      <a:endParaRPr kumimoji="1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Means plus function Claim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기능식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청구항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Product by Process Claim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(PBP </a:t>
                      </a: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청구항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33" name="직선 연결선 32"/>
          <p:cNvCxnSpPr/>
          <p:nvPr/>
        </p:nvCxnSpPr>
        <p:spPr>
          <a:xfrm>
            <a:off x="7612946" y="2484567"/>
            <a:ext cx="0" cy="40517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타원 51"/>
          <p:cNvSpPr/>
          <p:nvPr/>
        </p:nvSpPr>
        <p:spPr>
          <a:xfrm>
            <a:off x="9046563" y="3643468"/>
            <a:ext cx="1252728" cy="50201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발명의 본질</a:t>
            </a:r>
          </a:p>
        </p:txBody>
      </p:sp>
      <p:sp>
        <p:nvSpPr>
          <p:cNvPr id="53" name="자유형 52"/>
          <p:cNvSpPr/>
          <p:nvPr/>
        </p:nvSpPr>
        <p:spPr>
          <a:xfrm>
            <a:off x="8541750" y="3038603"/>
            <a:ext cx="2233114" cy="1817130"/>
          </a:xfrm>
          <a:custGeom>
            <a:avLst/>
            <a:gdLst>
              <a:gd name="connsiteX0" fmla="*/ 811369 w 2498501"/>
              <a:gd name="connsiteY0" fmla="*/ 12879 h 2395471"/>
              <a:gd name="connsiteX1" fmla="*/ 811369 w 2498501"/>
              <a:gd name="connsiteY1" fmla="*/ 12879 h 2395471"/>
              <a:gd name="connsiteX2" fmla="*/ 965915 w 2498501"/>
              <a:gd name="connsiteY2" fmla="*/ 12879 h 2395471"/>
              <a:gd name="connsiteX3" fmla="*/ 1777284 w 2498501"/>
              <a:gd name="connsiteY3" fmla="*/ 12879 h 2395471"/>
              <a:gd name="connsiteX4" fmla="*/ 2498501 w 2498501"/>
              <a:gd name="connsiteY4" fmla="*/ 734096 h 2395471"/>
              <a:gd name="connsiteX5" fmla="*/ 2498501 w 2498501"/>
              <a:gd name="connsiteY5" fmla="*/ 1803043 h 2395471"/>
              <a:gd name="connsiteX6" fmla="*/ 1906073 w 2498501"/>
              <a:gd name="connsiteY6" fmla="*/ 2395471 h 2395471"/>
              <a:gd name="connsiteX7" fmla="*/ 837127 w 2498501"/>
              <a:gd name="connsiteY7" fmla="*/ 2395471 h 2395471"/>
              <a:gd name="connsiteX8" fmla="*/ 0 w 2498501"/>
              <a:gd name="connsiteY8" fmla="*/ 1558344 h 2395471"/>
              <a:gd name="connsiteX9" fmla="*/ 0 w 2498501"/>
              <a:gd name="connsiteY9" fmla="*/ 528034 h 2395471"/>
              <a:gd name="connsiteX10" fmla="*/ 862884 w 2498501"/>
              <a:gd name="connsiteY10" fmla="*/ 0 h 2395471"/>
              <a:gd name="connsiteX0" fmla="*/ 811369 w 2498501"/>
              <a:gd name="connsiteY0" fmla="*/ 12879 h 2395471"/>
              <a:gd name="connsiteX1" fmla="*/ 811369 w 2498501"/>
              <a:gd name="connsiteY1" fmla="*/ 12879 h 2395471"/>
              <a:gd name="connsiteX2" fmla="*/ 965915 w 2498501"/>
              <a:gd name="connsiteY2" fmla="*/ 12879 h 2395471"/>
              <a:gd name="connsiteX3" fmla="*/ 1777284 w 2498501"/>
              <a:gd name="connsiteY3" fmla="*/ 12879 h 2395471"/>
              <a:gd name="connsiteX4" fmla="*/ 2498501 w 2498501"/>
              <a:gd name="connsiteY4" fmla="*/ 734096 h 2395471"/>
              <a:gd name="connsiteX5" fmla="*/ 2498501 w 2498501"/>
              <a:gd name="connsiteY5" fmla="*/ 1803043 h 2395471"/>
              <a:gd name="connsiteX6" fmla="*/ 1906073 w 2498501"/>
              <a:gd name="connsiteY6" fmla="*/ 2395471 h 2395471"/>
              <a:gd name="connsiteX7" fmla="*/ 732352 w 2498501"/>
              <a:gd name="connsiteY7" fmla="*/ 2384710 h 2395471"/>
              <a:gd name="connsiteX8" fmla="*/ 0 w 2498501"/>
              <a:gd name="connsiteY8" fmla="*/ 1558344 h 2395471"/>
              <a:gd name="connsiteX9" fmla="*/ 0 w 2498501"/>
              <a:gd name="connsiteY9" fmla="*/ 528034 h 2395471"/>
              <a:gd name="connsiteX10" fmla="*/ 862884 w 2498501"/>
              <a:gd name="connsiteY10" fmla="*/ 0 h 2395471"/>
              <a:gd name="connsiteX0" fmla="*/ 811369 w 2498501"/>
              <a:gd name="connsiteY0" fmla="*/ 12879 h 2395471"/>
              <a:gd name="connsiteX1" fmla="*/ 811369 w 2498501"/>
              <a:gd name="connsiteY1" fmla="*/ 12879 h 2395471"/>
              <a:gd name="connsiteX2" fmla="*/ 965915 w 2498501"/>
              <a:gd name="connsiteY2" fmla="*/ 12879 h 2395471"/>
              <a:gd name="connsiteX3" fmla="*/ 1777284 w 2498501"/>
              <a:gd name="connsiteY3" fmla="*/ 12879 h 2395471"/>
              <a:gd name="connsiteX4" fmla="*/ 2498501 w 2498501"/>
              <a:gd name="connsiteY4" fmla="*/ 734096 h 2395471"/>
              <a:gd name="connsiteX5" fmla="*/ 2498501 w 2498501"/>
              <a:gd name="connsiteY5" fmla="*/ 1803043 h 2395471"/>
              <a:gd name="connsiteX6" fmla="*/ 1829873 w 2498501"/>
              <a:gd name="connsiteY6" fmla="*/ 2395471 h 2395471"/>
              <a:gd name="connsiteX7" fmla="*/ 732352 w 2498501"/>
              <a:gd name="connsiteY7" fmla="*/ 2384710 h 2395471"/>
              <a:gd name="connsiteX8" fmla="*/ 0 w 2498501"/>
              <a:gd name="connsiteY8" fmla="*/ 1558344 h 2395471"/>
              <a:gd name="connsiteX9" fmla="*/ 0 w 2498501"/>
              <a:gd name="connsiteY9" fmla="*/ 528034 h 2395471"/>
              <a:gd name="connsiteX10" fmla="*/ 862884 w 2498501"/>
              <a:gd name="connsiteY10" fmla="*/ 0 h 2395471"/>
              <a:gd name="connsiteX0" fmla="*/ 811369 w 2498501"/>
              <a:gd name="connsiteY0" fmla="*/ 12879 h 2395471"/>
              <a:gd name="connsiteX1" fmla="*/ 811369 w 2498501"/>
              <a:gd name="connsiteY1" fmla="*/ 12879 h 2395471"/>
              <a:gd name="connsiteX2" fmla="*/ 965915 w 2498501"/>
              <a:gd name="connsiteY2" fmla="*/ 12879 h 2395471"/>
              <a:gd name="connsiteX3" fmla="*/ 1777284 w 2498501"/>
              <a:gd name="connsiteY3" fmla="*/ 12879 h 2395471"/>
              <a:gd name="connsiteX4" fmla="*/ 2498501 w 2498501"/>
              <a:gd name="connsiteY4" fmla="*/ 734096 h 2395471"/>
              <a:gd name="connsiteX5" fmla="*/ 2498501 w 2498501"/>
              <a:gd name="connsiteY5" fmla="*/ 1803043 h 2395471"/>
              <a:gd name="connsiteX6" fmla="*/ 1829873 w 2498501"/>
              <a:gd name="connsiteY6" fmla="*/ 2395471 h 2395471"/>
              <a:gd name="connsiteX7" fmla="*/ 732352 w 2498501"/>
              <a:gd name="connsiteY7" fmla="*/ 2384710 h 2395471"/>
              <a:gd name="connsiteX8" fmla="*/ 19050 w 2498501"/>
              <a:gd name="connsiteY8" fmla="*/ 1708993 h 2395471"/>
              <a:gd name="connsiteX9" fmla="*/ 0 w 2498501"/>
              <a:gd name="connsiteY9" fmla="*/ 528034 h 2395471"/>
              <a:gd name="connsiteX10" fmla="*/ 862884 w 2498501"/>
              <a:gd name="connsiteY10" fmla="*/ 0 h 2395471"/>
              <a:gd name="connsiteX0" fmla="*/ 792319 w 2479451"/>
              <a:gd name="connsiteY0" fmla="*/ 12879 h 2395471"/>
              <a:gd name="connsiteX1" fmla="*/ 792319 w 2479451"/>
              <a:gd name="connsiteY1" fmla="*/ 12879 h 2395471"/>
              <a:gd name="connsiteX2" fmla="*/ 946865 w 2479451"/>
              <a:gd name="connsiteY2" fmla="*/ 12879 h 2395471"/>
              <a:gd name="connsiteX3" fmla="*/ 1758234 w 2479451"/>
              <a:gd name="connsiteY3" fmla="*/ 12879 h 2395471"/>
              <a:gd name="connsiteX4" fmla="*/ 2479451 w 2479451"/>
              <a:gd name="connsiteY4" fmla="*/ 734096 h 2395471"/>
              <a:gd name="connsiteX5" fmla="*/ 2479451 w 2479451"/>
              <a:gd name="connsiteY5" fmla="*/ 1803043 h 2395471"/>
              <a:gd name="connsiteX6" fmla="*/ 1810823 w 2479451"/>
              <a:gd name="connsiteY6" fmla="*/ 2395471 h 2395471"/>
              <a:gd name="connsiteX7" fmla="*/ 713302 w 2479451"/>
              <a:gd name="connsiteY7" fmla="*/ 2384710 h 2395471"/>
              <a:gd name="connsiteX8" fmla="*/ 0 w 2479451"/>
              <a:gd name="connsiteY8" fmla="*/ 1708993 h 2395471"/>
              <a:gd name="connsiteX9" fmla="*/ 9525 w 2479451"/>
              <a:gd name="connsiteY9" fmla="*/ 657162 h 2395471"/>
              <a:gd name="connsiteX10" fmla="*/ 843834 w 2479451"/>
              <a:gd name="connsiteY10" fmla="*/ 0 h 2395471"/>
              <a:gd name="connsiteX0" fmla="*/ 792319 w 2479451"/>
              <a:gd name="connsiteY0" fmla="*/ 12879 h 2395471"/>
              <a:gd name="connsiteX1" fmla="*/ 792319 w 2479451"/>
              <a:gd name="connsiteY1" fmla="*/ 12879 h 2395471"/>
              <a:gd name="connsiteX2" fmla="*/ 946865 w 2479451"/>
              <a:gd name="connsiteY2" fmla="*/ 12879 h 2395471"/>
              <a:gd name="connsiteX3" fmla="*/ 1758234 w 2479451"/>
              <a:gd name="connsiteY3" fmla="*/ 12879 h 2395471"/>
              <a:gd name="connsiteX4" fmla="*/ 2479451 w 2479451"/>
              <a:gd name="connsiteY4" fmla="*/ 734096 h 2395471"/>
              <a:gd name="connsiteX5" fmla="*/ 2479451 w 2479451"/>
              <a:gd name="connsiteY5" fmla="*/ 1803043 h 2395471"/>
              <a:gd name="connsiteX6" fmla="*/ 1810823 w 2479451"/>
              <a:gd name="connsiteY6" fmla="*/ 2395471 h 2395471"/>
              <a:gd name="connsiteX7" fmla="*/ 713302 w 2479451"/>
              <a:gd name="connsiteY7" fmla="*/ 2384710 h 2395471"/>
              <a:gd name="connsiteX8" fmla="*/ 0 w 2479451"/>
              <a:gd name="connsiteY8" fmla="*/ 1708993 h 2395471"/>
              <a:gd name="connsiteX9" fmla="*/ 9525 w 2479451"/>
              <a:gd name="connsiteY9" fmla="*/ 657162 h 2395471"/>
              <a:gd name="connsiteX10" fmla="*/ 751876 w 2479451"/>
              <a:gd name="connsiteY10" fmla="*/ 29049 h 2395471"/>
              <a:gd name="connsiteX11" fmla="*/ 843834 w 2479451"/>
              <a:gd name="connsiteY11" fmla="*/ 0 h 2395471"/>
              <a:gd name="connsiteX0" fmla="*/ 792319 w 2479451"/>
              <a:gd name="connsiteY0" fmla="*/ 2118 h 2384710"/>
              <a:gd name="connsiteX1" fmla="*/ 792319 w 2479451"/>
              <a:gd name="connsiteY1" fmla="*/ 2118 h 2384710"/>
              <a:gd name="connsiteX2" fmla="*/ 946865 w 2479451"/>
              <a:gd name="connsiteY2" fmla="*/ 2118 h 2384710"/>
              <a:gd name="connsiteX3" fmla="*/ 1758234 w 2479451"/>
              <a:gd name="connsiteY3" fmla="*/ 2118 h 2384710"/>
              <a:gd name="connsiteX4" fmla="*/ 2479451 w 2479451"/>
              <a:gd name="connsiteY4" fmla="*/ 723335 h 2384710"/>
              <a:gd name="connsiteX5" fmla="*/ 2479451 w 2479451"/>
              <a:gd name="connsiteY5" fmla="*/ 1792282 h 2384710"/>
              <a:gd name="connsiteX6" fmla="*/ 1810823 w 2479451"/>
              <a:gd name="connsiteY6" fmla="*/ 2384710 h 2384710"/>
              <a:gd name="connsiteX7" fmla="*/ 713302 w 2479451"/>
              <a:gd name="connsiteY7" fmla="*/ 2373949 h 2384710"/>
              <a:gd name="connsiteX8" fmla="*/ 0 w 2479451"/>
              <a:gd name="connsiteY8" fmla="*/ 1698232 h 2384710"/>
              <a:gd name="connsiteX9" fmla="*/ 9525 w 2479451"/>
              <a:gd name="connsiteY9" fmla="*/ 646401 h 2384710"/>
              <a:gd name="connsiteX10" fmla="*/ 751876 w 2479451"/>
              <a:gd name="connsiteY10" fmla="*/ 18288 h 2384710"/>
              <a:gd name="connsiteX11" fmla="*/ 799384 w 2479451"/>
              <a:gd name="connsiteY11" fmla="*/ 0 h 2384710"/>
              <a:gd name="connsiteX0" fmla="*/ 792319 w 2479451"/>
              <a:gd name="connsiteY0" fmla="*/ 0 h 2382592"/>
              <a:gd name="connsiteX1" fmla="*/ 792319 w 2479451"/>
              <a:gd name="connsiteY1" fmla="*/ 0 h 2382592"/>
              <a:gd name="connsiteX2" fmla="*/ 946865 w 2479451"/>
              <a:gd name="connsiteY2" fmla="*/ 0 h 2382592"/>
              <a:gd name="connsiteX3" fmla="*/ 1758234 w 2479451"/>
              <a:gd name="connsiteY3" fmla="*/ 0 h 2382592"/>
              <a:gd name="connsiteX4" fmla="*/ 2479451 w 2479451"/>
              <a:gd name="connsiteY4" fmla="*/ 721217 h 2382592"/>
              <a:gd name="connsiteX5" fmla="*/ 2479451 w 2479451"/>
              <a:gd name="connsiteY5" fmla="*/ 1790164 h 2382592"/>
              <a:gd name="connsiteX6" fmla="*/ 1810823 w 2479451"/>
              <a:gd name="connsiteY6" fmla="*/ 2382592 h 2382592"/>
              <a:gd name="connsiteX7" fmla="*/ 713302 w 2479451"/>
              <a:gd name="connsiteY7" fmla="*/ 2371831 h 2382592"/>
              <a:gd name="connsiteX8" fmla="*/ 0 w 2479451"/>
              <a:gd name="connsiteY8" fmla="*/ 1696114 h 2382592"/>
              <a:gd name="connsiteX9" fmla="*/ 9525 w 2479451"/>
              <a:gd name="connsiteY9" fmla="*/ 644283 h 2382592"/>
              <a:gd name="connsiteX10" fmla="*/ 751876 w 2479451"/>
              <a:gd name="connsiteY10" fmla="*/ 16170 h 2382592"/>
              <a:gd name="connsiteX11" fmla="*/ 767634 w 2479451"/>
              <a:gd name="connsiteY11" fmla="*/ 5056 h 2382592"/>
              <a:gd name="connsiteX0" fmla="*/ 792319 w 2479451"/>
              <a:gd name="connsiteY0" fmla="*/ 5705 h 2388297"/>
              <a:gd name="connsiteX1" fmla="*/ 792319 w 2479451"/>
              <a:gd name="connsiteY1" fmla="*/ 5705 h 2388297"/>
              <a:gd name="connsiteX2" fmla="*/ 946865 w 2479451"/>
              <a:gd name="connsiteY2" fmla="*/ 5705 h 2388297"/>
              <a:gd name="connsiteX3" fmla="*/ 1758234 w 2479451"/>
              <a:gd name="connsiteY3" fmla="*/ 5705 h 2388297"/>
              <a:gd name="connsiteX4" fmla="*/ 2479451 w 2479451"/>
              <a:gd name="connsiteY4" fmla="*/ 726922 h 2388297"/>
              <a:gd name="connsiteX5" fmla="*/ 2479451 w 2479451"/>
              <a:gd name="connsiteY5" fmla="*/ 1795869 h 2388297"/>
              <a:gd name="connsiteX6" fmla="*/ 1810823 w 2479451"/>
              <a:gd name="connsiteY6" fmla="*/ 2388297 h 2388297"/>
              <a:gd name="connsiteX7" fmla="*/ 713302 w 2479451"/>
              <a:gd name="connsiteY7" fmla="*/ 2377536 h 2388297"/>
              <a:gd name="connsiteX8" fmla="*/ 0 w 2479451"/>
              <a:gd name="connsiteY8" fmla="*/ 1701819 h 2388297"/>
              <a:gd name="connsiteX9" fmla="*/ 9525 w 2479451"/>
              <a:gd name="connsiteY9" fmla="*/ 649988 h 2388297"/>
              <a:gd name="connsiteX10" fmla="*/ 751876 w 2479451"/>
              <a:gd name="connsiteY10" fmla="*/ 21875 h 2388297"/>
              <a:gd name="connsiteX11" fmla="*/ 773984 w 2479451"/>
              <a:gd name="connsiteY11" fmla="*/ 0 h 2388297"/>
              <a:gd name="connsiteX0" fmla="*/ 792319 w 2479451"/>
              <a:gd name="connsiteY0" fmla="*/ 0 h 2382592"/>
              <a:gd name="connsiteX1" fmla="*/ 792319 w 2479451"/>
              <a:gd name="connsiteY1" fmla="*/ 0 h 2382592"/>
              <a:gd name="connsiteX2" fmla="*/ 946865 w 2479451"/>
              <a:gd name="connsiteY2" fmla="*/ 0 h 2382592"/>
              <a:gd name="connsiteX3" fmla="*/ 1758234 w 2479451"/>
              <a:gd name="connsiteY3" fmla="*/ 0 h 2382592"/>
              <a:gd name="connsiteX4" fmla="*/ 2479451 w 2479451"/>
              <a:gd name="connsiteY4" fmla="*/ 721217 h 2382592"/>
              <a:gd name="connsiteX5" fmla="*/ 2479451 w 2479451"/>
              <a:gd name="connsiteY5" fmla="*/ 1790164 h 2382592"/>
              <a:gd name="connsiteX6" fmla="*/ 1810823 w 2479451"/>
              <a:gd name="connsiteY6" fmla="*/ 2382592 h 2382592"/>
              <a:gd name="connsiteX7" fmla="*/ 713302 w 2479451"/>
              <a:gd name="connsiteY7" fmla="*/ 2371831 h 2382592"/>
              <a:gd name="connsiteX8" fmla="*/ 0 w 2479451"/>
              <a:gd name="connsiteY8" fmla="*/ 1696114 h 2382592"/>
              <a:gd name="connsiteX9" fmla="*/ 9525 w 2479451"/>
              <a:gd name="connsiteY9" fmla="*/ 644283 h 2382592"/>
              <a:gd name="connsiteX10" fmla="*/ 751876 w 2479451"/>
              <a:gd name="connsiteY10" fmla="*/ 16170 h 2382592"/>
              <a:gd name="connsiteX11" fmla="*/ 751759 w 2479451"/>
              <a:gd name="connsiteY11" fmla="*/ 26577 h 2382592"/>
              <a:gd name="connsiteX0" fmla="*/ 792319 w 2479451"/>
              <a:gd name="connsiteY0" fmla="*/ 0 h 2382592"/>
              <a:gd name="connsiteX1" fmla="*/ 792319 w 2479451"/>
              <a:gd name="connsiteY1" fmla="*/ 0 h 2382592"/>
              <a:gd name="connsiteX2" fmla="*/ 946865 w 2479451"/>
              <a:gd name="connsiteY2" fmla="*/ 0 h 2382592"/>
              <a:gd name="connsiteX3" fmla="*/ 1758234 w 2479451"/>
              <a:gd name="connsiteY3" fmla="*/ 0 h 2382592"/>
              <a:gd name="connsiteX4" fmla="*/ 2479451 w 2479451"/>
              <a:gd name="connsiteY4" fmla="*/ 721217 h 2382592"/>
              <a:gd name="connsiteX5" fmla="*/ 2479451 w 2479451"/>
              <a:gd name="connsiteY5" fmla="*/ 1790164 h 2382592"/>
              <a:gd name="connsiteX6" fmla="*/ 1810823 w 2479451"/>
              <a:gd name="connsiteY6" fmla="*/ 2382592 h 2382592"/>
              <a:gd name="connsiteX7" fmla="*/ 713302 w 2479451"/>
              <a:gd name="connsiteY7" fmla="*/ 2371831 h 2382592"/>
              <a:gd name="connsiteX8" fmla="*/ 0 w 2479451"/>
              <a:gd name="connsiteY8" fmla="*/ 1696114 h 2382592"/>
              <a:gd name="connsiteX9" fmla="*/ 9525 w 2479451"/>
              <a:gd name="connsiteY9" fmla="*/ 644283 h 2382592"/>
              <a:gd name="connsiteX10" fmla="*/ 751876 w 2479451"/>
              <a:gd name="connsiteY10" fmla="*/ 16170 h 2382592"/>
              <a:gd name="connsiteX11" fmla="*/ 780334 w 2479451"/>
              <a:gd name="connsiteY11" fmla="*/ 5056 h 2382592"/>
              <a:gd name="connsiteX0" fmla="*/ 792319 w 2479451"/>
              <a:gd name="connsiteY0" fmla="*/ 0 h 2382592"/>
              <a:gd name="connsiteX1" fmla="*/ 760569 w 2479451"/>
              <a:gd name="connsiteY1" fmla="*/ 3587 h 2382592"/>
              <a:gd name="connsiteX2" fmla="*/ 946865 w 2479451"/>
              <a:gd name="connsiteY2" fmla="*/ 0 h 2382592"/>
              <a:gd name="connsiteX3" fmla="*/ 1758234 w 2479451"/>
              <a:gd name="connsiteY3" fmla="*/ 0 h 2382592"/>
              <a:gd name="connsiteX4" fmla="*/ 2479451 w 2479451"/>
              <a:gd name="connsiteY4" fmla="*/ 721217 h 2382592"/>
              <a:gd name="connsiteX5" fmla="*/ 2479451 w 2479451"/>
              <a:gd name="connsiteY5" fmla="*/ 1790164 h 2382592"/>
              <a:gd name="connsiteX6" fmla="*/ 1810823 w 2479451"/>
              <a:gd name="connsiteY6" fmla="*/ 2382592 h 2382592"/>
              <a:gd name="connsiteX7" fmla="*/ 713302 w 2479451"/>
              <a:gd name="connsiteY7" fmla="*/ 2371831 h 2382592"/>
              <a:gd name="connsiteX8" fmla="*/ 0 w 2479451"/>
              <a:gd name="connsiteY8" fmla="*/ 1696114 h 2382592"/>
              <a:gd name="connsiteX9" fmla="*/ 9525 w 2479451"/>
              <a:gd name="connsiteY9" fmla="*/ 644283 h 2382592"/>
              <a:gd name="connsiteX10" fmla="*/ 751876 w 2479451"/>
              <a:gd name="connsiteY10" fmla="*/ 16170 h 2382592"/>
              <a:gd name="connsiteX11" fmla="*/ 780334 w 2479451"/>
              <a:gd name="connsiteY11" fmla="*/ 5056 h 2382592"/>
              <a:gd name="connsiteX0" fmla="*/ 792319 w 2479451"/>
              <a:gd name="connsiteY0" fmla="*/ 531 h 2383123"/>
              <a:gd name="connsiteX1" fmla="*/ 770094 w 2479451"/>
              <a:gd name="connsiteY1" fmla="*/ 531 h 2383123"/>
              <a:gd name="connsiteX2" fmla="*/ 946865 w 2479451"/>
              <a:gd name="connsiteY2" fmla="*/ 531 h 2383123"/>
              <a:gd name="connsiteX3" fmla="*/ 1758234 w 2479451"/>
              <a:gd name="connsiteY3" fmla="*/ 531 h 2383123"/>
              <a:gd name="connsiteX4" fmla="*/ 2479451 w 2479451"/>
              <a:gd name="connsiteY4" fmla="*/ 721748 h 2383123"/>
              <a:gd name="connsiteX5" fmla="*/ 2479451 w 2479451"/>
              <a:gd name="connsiteY5" fmla="*/ 1790695 h 2383123"/>
              <a:gd name="connsiteX6" fmla="*/ 1810823 w 2479451"/>
              <a:gd name="connsiteY6" fmla="*/ 2383123 h 2383123"/>
              <a:gd name="connsiteX7" fmla="*/ 713302 w 2479451"/>
              <a:gd name="connsiteY7" fmla="*/ 2372362 h 2383123"/>
              <a:gd name="connsiteX8" fmla="*/ 0 w 2479451"/>
              <a:gd name="connsiteY8" fmla="*/ 1696645 h 2383123"/>
              <a:gd name="connsiteX9" fmla="*/ 9525 w 2479451"/>
              <a:gd name="connsiteY9" fmla="*/ 644814 h 2383123"/>
              <a:gd name="connsiteX10" fmla="*/ 751876 w 2479451"/>
              <a:gd name="connsiteY10" fmla="*/ 16701 h 2383123"/>
              <a:gd name="connsiteX11" fmla="*/ 780334 w 2479451"/>
              <a:gd name="connsiteY11" fmla="*/ 5587 h 2383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79451" h="2383123">
                <a:moveTo>
                  <a:pt x="792319" y="531"/>
                </a:moveTo>
                <a:lnTo>
                  <a:pt x="770094" y="531"/>
                </a:lnTo>
                <a:cubicBezTo>
                  <a:pt x="832193" y="-665"/>
                  <a:pt x="782175" y="531"/>
                  <a:pt x="946865" y="531"/>
                </a:cubicBezTo>
                <a:lnTo>
                  <a:pt x="1758234" y="531"/>
                </a:lnTo>
                <a:lnTo>
                  <a:pt x="2479451" y="721748"/>
                </a:lnTo>
                <a:lnTo>
                  <a:pt x="2479451" y="1790695"/>
                </a:lnTo>
                <a:lnTo>
                  <a:pt x="1810823" y="2383123"/>
                </a:lnTo>
                <a:lnTo>
                  <a:pt x="713302" y="2372362"/>
                </a:lnTo>
                <a:lnTo>
                  <a:pt x="0" y="1696645"/>
                </a:lnTo>
                <a:lnTo>
                  <a:pt x="9525" y="644814"/>
                </a:lnTo>
                <a:cubicBezTo>
                  <a:pt x="256975" y="442617"/>
                  <a:pt x="504426" y="218898"/>
                  <a:pt x="751876" y="16701"/>
                </a:cubicBezTo>
                <a:lnTo>
                  <a:pt x="780334" y="5587"/>
                </a:lnTo>
              </a:path>
            </a:pathLst>
          </a:cu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4" name="직선 화살표 연결선 53"/>
          <p:cNvCxnSpPr>
            <a:endCxn id="53" idx="3"/>
          </p:cNvCxnSpPr>
          <p:nvPr/>
        </p:nvCxnSpPr>
        <p:spPr>
          <a:xfrm flipV="1">
            <a:off x="9800520" y="3039008"/>
            <a:ext cx="324781" cy="604463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/>
          <p:cNvCxnSpPr>
            <a:endCxn id="53" idx="5"/>
          </p:cNvCxnSpPr>
          <p:nvPr/>
        </p:nvCxnSpPr>
        <p:spPr>
          <a:xfrm>
            <a:off x="10212295" y="4018608"/>
            <a:ext cx="562568" cy="38539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/>
          <p:cNvCxnSpPr>
            <a:endCxn id="53" idx="6"/>
          </p:cNvCxnSpPr>
          <p:nvPr/>
        </p:nvCxnSpPr>
        <p:spPr>
          <a:xfrm>
            <a:off x="9800520" y="4145483"/>
            <a:ext cx="372145" cy="71025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/>
          <p:cNvCxnSpPr>
            <a:endCxn id="53" idx="7"/>
          </p:cNvCxnSpPr>
          <p:nvPr/>
        </p:nvCxnSpPr>
        <p:spPr>
          <a:xfrm flipH="1">
            <a:off x="9184184" y="4145483"/>
            <a:ext cx="279956" cy="702045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/>
          <p:cNvCxnSpPr>
            <a:endCxn id="53" idx="8"/>
          </p:cNvCxnSpPr>
          <p:nvPr/>
        </p:nvCxnSpPr>
        <p:spPr>
          <a:xfrm flipH="1">
            <a:off x="8541750" y="4016824"/>
            <a:ext cx="586009" cy="31547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/>
          <p:cNvCxnSpPr>
            <a:endCxn id="53" idx="9"/>
          </p:cNvCxnSpPr>
          <p:nvPr/>
        </p:nvCxnSpPr>
        <p:spPr>
          <a:xfrm flipH="1" flipV="1">
            <a:off x="8550329" y="3530273"/>
            <a:ext cx="536833" cy="254523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>
            <a:endCxn id="53" idx="11"/>
          </p:cNvCxnSpPr>
          <p:nvPr/>
        </p:nvCxnSpPr>
        <p:spPr>
          <a:xfrm flipH="1" flipV="1">
            <a:off x="9244557" y="3042863"/>
            <a:ext cx="242782" cy="60060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/>
          <p:cNvCxnSpPr>
            <a:endCxn id="53" idx="4"/>
          </p:cNvCxnSpPr>
          <p:nvPr/>
        </p:nvCxnSpPr>
        <p:spPr>
          <a:xfrm flipV="1">
            <a:off x="10241294" y="3588935"/>
            <a:ext cx="533569" cy="19586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>
            <a:stCxn id="53" idx="8"/>
          </p:cNvCxnSpPr>
          <p:nvPr/>
        </p:nvCxnSpPr>
        <p:spPr>
          <a:xfrm>
            <a:off x="8541750" y="4332295"/>
            <a:ext cx="1107978" cy="224195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>
            <a:endCxn id="53" idx="5"/>
          </p:cNvCxnSpPr>
          <p:nvPr/>
        </p:nvCxnSpPr>
        <p:spPr>
          <a:xfrm flipV="1">
            <a:off x="9649728" y="4404007"/>
            <a:ext cx="1125136" cy="2170245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>
            <a:stCxn id="53" idx="7"/>
          </p:cNvCxnSpPr>
          <p:nvPr/>
        </p:nvCxnSpPr>
        <p:spPr>
          <a:xfrm>
            <a:off x="9184184" y="4847529"/>
            <a:ext cx="465543" cy="1726724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/>
          <p:nvPr/>
        </p:nvCxnSpPr>
        <p:spPr>
          <a:xfrm flipH="1">
            <a:off x="9649729" y="4855733"/>
            <a:ext cx="522936" cy="1718517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/>
          <p:cNvCxnSpPr/>
          <p:nvPr/>
        </p:nvCxnSpPr>
        <p:spPr>
          <a:xfrm>
            <a:off x="9306482" y="5273426"/>
            <a:ext cx="73289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 flipV="1">
            <a:off x="10037615" y="4956855"/>
            <a:ext cx="455964" cy="32109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 flipH="1" flipV="1">
            <a:off x="8872574" y="4996536"/>
            <a:ext cx="423375" cy="27689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/>
          <p:cNvCxnSpPr/>
          <p:nvPr/>
        </p:nvCxnSpPr>
        <p:spPr>
          <a:xfrm flipV="1">
            <a:off x="9933826" y="5493955"/>
            <a:ext cx="266785" cy="19658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>
            <a:off x="9426604" y="5701200"/>
            <a:ext cx="48717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/>
        </p:nvCxnSpPr>
        <p:spPr>
          <a:xfrm flipH="1" flipV="1">
            <a:off x="9127758" y="5493955"/>
            <a:ext cx="289198" cy="21265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/>
          <p:cNvCxnSpPr/>
          <p:nvPr/>
        </p:nvCxnSpPr>
        <p:spPr>
          <a:xfrm>
            <a:off x="10880432" y="3899340"/>
            <a:ext cx="63258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/>
          <p:cNvCxnSpPr/>
          <p:nvPr/>
        </p:nvCxnSpPr>
        <p:spPr>
          <a:xfrm>
            <a:off x="9700532" y="6574250"/>
            <a:ext cx="181248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/>
          <p:cNvCxnSpPr/>
          <p:nvPr/>
        </p:nvCxnSpPr>
        <p:spPr>
          <a:xfrm flipV="1">
            <a:off x="11205975" y="3899340"/>
            <a:ext cx="0" cy="267491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/>
          <p:cNvCxnSpPr/>
          <p:nvPr/>
        </p:nvCxnSpPr>
        <p:spPr>
          <a:xfrm flipV="1">
            <a:off x="8551844" y="2413007"/>
            <a:ext cx="0" cy="101582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/>
          <p:cNvCxnSpPr/>
          <p:nvPr/>
        </p:nvCxnSpPr>
        <p:spPr>
          <a:xfrm flipV="1">
            <a:off x="10782264" y="2413007"/>
            <a:ext cx="0" cy="105515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/>
        </p:nvCxnSpPr>
        <p:spPr>
          <a:xfrm>
            <a:off x="8551844" y="2668218"/>
            <a:ext cx="222301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타원 77"/>
          <p:cNvSpPr/>
          <p:nvPr/>
        </p:nvSpPr>
        <p:spPr>
          <a:xfrm>
            <a:off x="10660224" y="4805006"/>
            <a:ext cx="1091503" cy="5020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발명의 </a:t>
            </a:r>
            <a:endParaRPr lang="en-US" altLang="ko-KR" sz="1400" dirty="0">
              <a:solidFill>
                <a:schemeClr val="tx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수직적 </a:t>
            </a:r>
            <a:endParaRPr lang="en-US" altLang="ko-KR" sz="1400" dirty="0">
              <a:solidFill>
                <a:schemeClr val="tx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확장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44917" y="2814013"/>
            <a:ext cx="498957" cy="218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용도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8818745" y="2506234"/>
            <a:ext cx="1642859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발명의 수평적 확장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4700" y="2822480"/>
            <a:ext cx="4154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형상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74863" y="3342214"/>
            <a:ext cx="4154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구조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74863" y="4347169"/>
            <a:ext cx="4154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물질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48922" y="4868815"/>
            <a:ext cx="776156" cy="218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사용방법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40968" y="4877081"/>
            <a:ext cx="776156" cy="218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제조방법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7575" y="3344110"/>
            <a:ext cx="498957" cy="218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기능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10641" y="4332131"/>
            <a:ext cx="4154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Rix모던고딕 B" panose="02020603020101020101" pitchFamily="18" charset="-127"/>
                <a:ea typeface="Rix모던고딕 B" panose="02020603020101020101" pitchFamily="18" charset="-127"/>
              </a:rPr>
              <a:t>재질</a:t>
            </a:r>
            <a:endParaRPr lang="ko-KR" altLang="en-US" sz="1000" dirty="0"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cxnSp>
        <p:nvCxnSpPr>
          <p:cNvPr id="51" name="직선 연결선 50"/>
          <p:cNvCxnSpPr>
            <a:stCxn id="53" idx="10"/>
            <a:endCxn id="53" idx="1"/>
          </p:cNvCxnSpPr>
          <p:nvPr/>
        </p:nvCxnSpPr>
        <p:spPr>
          <a:xfrm flipV="1">
            <a:off x="9218926" y="3039008"/>
            <a:ext cx="16408" cy="123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130</a:t>
            </a:fld>
            <a:endParaRPr lang="ko-KR" altLang="en-US"/>
          </a:p>
        </p:txBody>
      </p:sp>
      <p:pic>
        <p:nvPicPr>
          <p:cNvPr id="79" name="Picture 4">
            <a:extLst>
              <a:ext uri="{FF2B5EF4-FFF2-40B4-BE49-F238E27FC236}">
                <a16:creationId xmlns:a16="http://schemas.microsoft.com/office/drawing/2014/main" id="{06B9C185-DD2F-496C-8588-B414FA71F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Brush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180418" y="3368675"/>
            <a:ext cx="504825" cy="21907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0C02C0-09C0-DCD7-8FAF-A2654F9E1B75}"/>
              </a:ext>
            </a:extLst>
          </p:cNvPr>
          <p:cNvSpPr txBox="1"/>
          <p:nvPr/>
        </p:nvSpPr>
        <p:spPr>
          <a:xfrm>
            <a:off x="9250666" y="2140350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독립항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28574F-2774-F69B-C002-74BF561A5039}"/>
              </a:ext>
            </a:extLst>
          </p:cNvPr>
          <p:cNvSpPr txBox="1"/>
          <p:nvPr/>
        </p:nvSpPr>
        <p:spPr>
          <a:xfrm>
            <a:off x="10801056" y="5415616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종속항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85650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조제</a:t>
            </a:r>
            <a:r>
              <a:rPr lang="en-US" altLang="ko-KR" dirty="0"/>
              <a:t>8</a:t>
            </a:r>
            <a:r>
              <a:rPr lang="ko-KR" altLang="en-US" dirty="0"/>
              <a:t>항에 따른 시행령 제</a:t>
            </a:r>
            <a:r>
              <a:rPr lang="en-US" altLang="ko-KR" dirty="0"/>
              <a:t>5</a:t>
            </a:r>
            <a:r>
              <a:rPr lang="ko-KR" altLang="en-US" dirty="0"/>
              <a:t>조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131</a:t>
            </a:fld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088D0CC0-7D47-4704-9321-806A22471F89}"/>
              </a:ext>
            </a:extLst>
          </p:cNvPr>
          <p:cNvSpPr/>
          <p:nvPr/>
        </p:nvSpPr>
        <p:spPr>
          <a:xfrm>
            <a:off x="259658" y="1761180"/>
            <a:ext cx="267417" cy="26741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2"/>
                </a:solidFill>
              </a:rPr>
              <a:t>1</a:t>
            </a:r>
            <a:endParaRPr lang="ko-KR" altLang="en-US" dirty="0">
              <a:solidFill>
                <a:schemeClr val="tx2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5514AAC-B46D-4B6E-9971-7430750ED9C5}"/>
              </a:ext>
            </a:extLst>
          </p:cNvPr>
          <p:cNvSpPr txBox="1"/>
          <p:nvPr/>
        </p:nvSpPr>
        <p:spPr>
          <a:xfrm>
            <a:off x="640512" y="1539532"/>
            <a:ext cx="5455488" cy="7694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100" dirty="0"/>
              <a:t>법 제</a:t>
            </a:r>
            <a:r>
              <a:rPr lang="en-US" altLang="ko-KR" sz="1100" dirty="0"/>
              <a:t>42</a:t>
            </a:r>
            <a:r>
              <a:rPr lang="ko-KR" altLang="en-US" sz="1100" dirty="0"/>
              <a:t>조제</a:t>
            </a:r>
            <a:r>
              <a:rPr lang="en-US" altLang="ko-KR" sz="1100" dirty="0"/>
              <a:t>8</a:t>
            </a:r>
            <a:r>
              <a:rPr lang="ko-KR" altLang="en-US" sz="1100" dirty="0"/>
              <a:t>항에 따른 청구범위의 청구항</a:t>
            </a:r>
            <a:r>
              <a:rPr lang="en-US" altLang="ko-KR" sz="1100" dirty="0"/>
              <a:t>(</a:t>
            </a:r>
            <a:r>
              <a:rPr lang="ko-KR" altLang="en-US" sz="1100" dirty="0"/>
              <a:t>이하 </a:t>
            </a:r>
            <a:r>
              <a:rPr lang="en-US" altLang="ko-KR" sz="1100" dirty="0"/>
              <a:t>"</a:t>
            </a:r>
            <a:r>
              <a:rPr lang="ko-KR" altLang="en-US" sz="1100" dirty="0"/>
              <a:t>청구항</a:t>
            </a:r>
            <a:r>
              <a:rPr lang="en-US" altLang="ko-KR" sz="1100" dirty="0"/>
              <a:t>"</a:t>
            </a:r>
            <a:r>
              <a:rPr lang="ko-KR" altLang="en-US" sz="1100" dirty="0"/>
              <a:t>이라 한다</a:t>
            </a:r>
            <a:r>
              <a:rPr lang="en-US" altLang="ko-KR" sz="1100" dirty="0"/>
              <a:t>)</a:t>
            </a:r>
            <a:r>
              <a:rPr lang="ko-KR" altLang="en-US" sz="1100" dirty="0"/>
              <a:t>을 기재할 때에는 독립청구항</a:t>
            </a:r>
            <a:r>
              <a:rPr lang="en-US" altLang="ko-KR" sz="1100" dirty="0"/>
              <a:t>(</a:t>
            </a:r>
            <a:r>
              <a:rPr lang="ko-KR" altLang="en-US" sz="1100" dirty="0"/>
              <a:t>이하 </a:t>
            </a:r>
            <a:r>
              <a:rPr lang="en-US" altLang="ko-KR" sz="1100" dirty="0"/>
              <a:t>"</a:t>
            </a:r>
            <a:r>
              <a:rPr lang="ko-KR" altLang="en-US" sz="1100" dirty="0" err="1"/>
              <a:t>독립항</a:t>
            </a:r>
            <a:r>
              <a:rPr lang="en-US" altLang="ko-KR" sz="1100" dirty="0"/>
              <a:t>"</a:t>
            </a:r>
            <a:r>
              <a:rPr lang="ko-KR" altLang="en-US" sz="1100" dirty="0"/>
              <a:t>이라 한다</a:t>
            </a:r>
            <a:r>
              <a:rPr lang="en-US" altLang="ko-KR" sz="1100" dirty="0"/>
              <a:t>)</a:t>
            </a:r>
            <a:r>
              <a:rPr lang="ko-KR" altLang="en-US" sz="1100" dirty="0"/>
              <a:t>을 </a:t>
            </a:r>
            <a:r>
              <a:rPr lang="ko-KR" altLang="en-US" sz="1100" dirty="0">
                <a:solidFill>
                  <a:srgbClr val="FF0000"/>
                </a:solidFill>
              </a:rPr>
              <a:t>기재하여야 하며</a:t>
            </a:r>
            <a:r>
              <a:rPr lang="en-US" altLang="ko-KR" sz="1100" dirty="0">
                <a:solidFill>
                  <a:srgbClr val="FF0000"/>
                </a:solidFill>
              </a:rPr>
              <a:t>, </a:t>
            </a:r>
            <a:r>
              <a:rPr lang="ko-KR" altLang="en-US" sz="1100" dirty="0"/>
              <a:t>그 독립항을 한정하거나 부가하여 </a:t>
            </a:r>
            <a:r>
              <a:rPr lang="ko-KR" altLang="en-US" sz="1100" dirty="0">
                <a:solidFill>
                  <a:srgbClr val="FF0000"/>
                </a:solidFill>
              </a:rPr>
              <a:t>구체화</a:t>
            </a:r>
            <a:r>
              <a:rPr lang="ko-KR" altLang="en-US" sz="1100" dirty="0"/>
              <a:t>하는 종속청구항</a:t>
            </a:r>
            <a:r>
              <a:rPr lang="en-US" altLang="ko-KR" sz="1100" dirty="0"/>
              <a:t>(</a:t>
            </a:r>
            <a:r>
              <a:rPr lang="ko-KR" altLang="en-US" sz="1100" dirty="0"/>
              <a:t>이하 </a:t>
            </a:r>
            <a:r>
              <a:rPr lang="en-US" altLang="ko-KR" sz="1100" dirty="0"/>
              <a:t>"</a:t>
            </a:r>
            <a:r>
              <a:rPr lang="ko-KR" altLang="en-US" sz="1100" dirty="0" err="1"/>
              <a:t>종속항</a:t>
            </a:r>
            <a:r>
              <a:rPr lang="en-US" altLang="ko-KR" sz="1100" dirty="0"/>
              <a:t>"</a:t>
            </a:r>
            <a:r>
              <a:rPr lang="ko-KR" altLang="en-US" sz="1100" dirty="0"/>
              <a:t>이라 한다</a:t>
            </a:r>
            <a:r>
              <a:rPr lang="en-US" altLang="ko-KR" sz="1100" dirty="0"/>
              <a:t>)</a:t>
            </a:r>
            <a:r>
              <a:rPr lang="ko-KR" altLang="en-US" sz="1100" dirty="0"/>
              <a:t>을 </a:t>
            </a:r>
            <a:r>
              <a:rPr lang="ko-KR" altLang="en-US" sz="1100" dirty="0">
                <a:solidFill>
                  <a:srgbClr val="FF0000"/>
                </a:solidFill>
              </a:rPr>
              <a:t>기재할 수 있다</a:t>
            </a:r>
            <a:r>
              <a:rPr lang="en-US" altLang="ko-KR" sz="1100" dirty="0">
                <a:solidFill>
                  <a:srgbClr val="FF0000"/>
                </a:solidFill>
              </a:rPr>
              <a:t>. </a:t>
            </a:r>
            <a:r>
              <a:rPr lang="ko-KR" altLang="en-US" sz="1100" dirty="0"/>
              <a:t>이 경우 필요한 때에는 그 종속항을 한정하거나 부가하여 </a:t>
            </a:r>
            <a:r>
              <a:rPr lang="ko-KR" altLang="en-US" sz="1100" dirty="0">
                <a:solidFill>
                  <a:srgbClr val="FF0000"/>
                </a:solidFill>
              </a:rPr>
              <a:t>구체화</a:t>
            </a:r>
            <a:r>
              <a:rPr lang="ko-KR" altLang="en-US" sz="1100" dirty="0"/>
              <a:t>하는 다른 종속항을 </a:t>
            </a:r>
            <a:r>
              <a:rPr lang="ko-KR" altLang="en-US" sz="1100" dirty="0">
                <a:solidFill>
                  <a:srgbClr val="FF0000"/>
                </a:solidFill>
              </a:rPr>
              <a:t>기재할 수 있다</a:t>
            </a:r>
            <a:r>
              <a:rPr lang="en-US" altLang="ko-KR" sz="1100" dirty="0">
                <a:solidFill>
                  <a:srgbClr val="FF0000"/>
                </a:solidFill>
              </a:rPr>
              <a:t>. </a:t>
            </a: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016216A3-ECBB-4D00-80BD-8FE58E987A4B}"/>
              </a:ext>
            </a:extLst>
          </p:cNvPr>
          <p:cNvSpPr/>
          <p:nvPr/>
        </p:nvSpPr>
        <p:spPr>
          <a:xfrm>
            <a:off x="259658" y="2397480"/>
            <a:ext cx="267417" cy="26741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2"/>
                </a:solidFill>
              </a:rPr>
              <a:t>2</a:t>
            </a:r>
            <a:endParaRPr lang="ko-KR" altLang="en-US" dirty="0">
              <a:solidFill>
                <a:schemeClr val="tx2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2BCF54-CF0F-4EEB-9F56-0FC733AF1C50}"/>
              </a:ext>
            </a:extLst>
          </p:cNvPr>
          <p:cNvSpPr txBox="1"/>
          <p:nvPr/>
        </p:nvSpPr>
        <p:spPr>
          <a:xfrm>
            <a:off x="640512" y="2397480"/>
            <a:ext cx="5455488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100" dirty="0"/>
              <a:t>청구항은 발명의 성질에 따라 </a:t>
            </a:r>
            <a:r>
              <a:rPr lang="ko-KR" altLang="en-US" sz="1100" dirty="0">
                <a:solidFill>
                  <a:srgbClr val="FF0000"/>
                </a:solidFill>
              </a:rPr>
              <a:t>적정한 수</a:t>
            </a:r>
            <a:r>
              <a:rPr lang="ko-KR" altLang="en-US" sz="1100" dirty="0"/>
              <a:t>로 기재하여야 한다</a:t>
            </a:r>
            <a:r>
              <a:rPr lang="en-US" altLang="ko-KR" sz="1100" dirty="0"/>
              <a:t>. </a:t>
            </a: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C4689F65-FEF9-40A4-A1A1-7FA4ED5177A6}"/>
              </a:ext>
            </a:extLst>
          </p:cNvPr>
          <p:cNvSpPr/>
          <p:nvPr/>
        </p:nvSpPr>
        <p:spPr>
          <a:xfrm>
            <a:off x="259658" y="2857271"/>
            <a:ext cx="267417" cy="267417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3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C0D6360-1A2D-4BAB-9425-D5C76CFD006D}"/>
              </a:ext>
            </a:extLst>
          </p:cNvPr>
          <p:cNvSpPr txBox="1"/>
          <p:nvPr/>
        </p:nvSpPr>
        <p:spPr>
          <a:xfrm>
            <a:off x="640512" y="2762385"/>
            <a:ext cx="5455488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100" dirty="0"/>
              <a:t>종속항은 </a:t>
            </a:r>
            <a:r>
              <a:rPr lang="ko-KR" altLang="en-US" sz="1100" dirty="0" err="1"/>
              <a:t>독립항</a:t>
            </a:r>
            <a:r>
              <a:rPr lang="ko-KR" altLang="en-US" sz="1100" dirty="0"/>
              <a:t> 또는 다른 종속항을 한정하거나 부가하여 구체화하는데 </a:t>
            </a:r>
            <a:r>
              <a:rPr lang="ko-KR" altLang="en-US" sz="1100" dirty="0">
                <a:solidFill>
                  <a:srgbClr val="FF0000"/>
                </a:solidFill>
              </a:rPr>
              <a:t>필요한 수</a:t>
            </a:r>
            <a:r>
              <a:rPr lang="ko-KR" altLang="en-US" sz="1100" dirty="0"/>
              <a:t>로 기재하여야 한다</a:t>
            </a:r>
            <a:r>
              <a:rPr lang="en-US" altLang="ko-KR" sz="1100" dirty="0"/>
              <a:t>.</a:t>
            </a: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DB13D62-C755-4FF8-9A1F-0F4EF9CD078D}"/>
              </a:ext>
            </a:extLst>
          </p:cNvPr>
          <p:cNvSpPr/>
          <p:nvPr/>
        </p:nvSpPr>
        <p:spPr>
          <a:xfrm>
            <a:off x="259658" y="3275740"/>
            <a:ext cx="267417" cy="26741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2"/>
                </a:solidFill>
              </a:rPr>
              <a:t>4</a:t>
            </a:r>
            <a:endParaRPr lang="ko-KR" altLang="en-US" dirty="0">
              <a:solidFill>
                <a:schemeClr val="tx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6E2AD75-9D10-49EF-8624-6F2BB5C70581}"/>
              </a:ext>
            </a:extLst>
          </p:cNvPr>
          <p:cNvSpPr txBox="1"/>
          <p:nvPr/>
        </p:nvSpPr>
        <p:spPr>
          <a:xfrm>
            <a:off x="640512" y="3275740"/>
            <a:ext cx="5455488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100" dirty="0"/>
              <a:t>다른 청구항을 </a:t>
            </a:r>
            <a:r>
              <a:rPr lang="ko-KR" altLang="en-US" sz="1100" dirty="0">
                <a:solidFill>
                  <a:srgbClr val="FF0000"/>
                </a:solidFill>
              </a:rPr>
              <a:t>인용하는 청구항</a:t>
            </a:r>
            <a:r>
              <a:rPr lang="ko-KR" altLang="en-US" sz="1100" dirty="0"/>
              <a:t>은 인용되는 </a:t>
            </a:r>
            <a:r>
              <a:rPr lang="ko-KR" altLang="en-US" sz="1100" dirty="0">
                <a:solidFill>
                  <a:srgbClr val="FF0000"/>
                </a:solidFill>
              </a:rPr>
              <a:t>항의 번호</a:t>
            </a:r>
            <a:r>
              <a:rPr lang="ko-KR" altLang="en-US" sz="1100" dirty="0"/>
              <a:t>를 적어야 한다</a:t>
            </a:r>
            <a:r>
              <a:rPr lang="en-US" altLang="ko-KR" sz="1100" dirty="0"/>
              <a:t>.</a:t>
            </a: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9866DB19-DE31-4C4D-866C-E8CFC375A089}"/>
              </a:ext>
            </a:extLst>
          </p:cNvPr>
          <p:cNvSpPr/>
          <p:nvPr/>
        </p:nvSpPr>
        <p:spPr>
          <a:xfrm>
            <a:off x="259658" y="3667979"/>
            <a:ext cx="267417" cy="26741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2"/>
                </a:solidFill>
              </a:rPr>
              <a:t>5</a:t>
            </a:r>
            <a:endParaRPr lang="ko-KR" altLang="en-US" dirty="0">
              <a:solidFill>
                <a:schemeClr val="tx2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01B6394-A893-4F02-AEF9-B681CF53A26D}"/>
              </a:ext>
            </a:extLst>
          </p:cNvPr>
          <p:cNvSpPr txBox="1"/>
          <p:nvPr/>
        </p:nvSpPr>
        <p:spPr>
          <a:xfrm>
            <a:off x="640512" y="3667979"/>
            <a:ext cx="5455488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sz="1100" dirty="0">
                <a:solidFill>
                  <a:srgbClr val="FF0000"/>
                </a:solidFill>
              </a:rPr>
              <a:t>2 </a:t>
            </a:r>
            <a:r>
              <a:rPr lang="ko-KR" altLang="en-US" sz="1100" dirty="0">
                <a:solidFill>
                  <a:srgbClr val="FF0000"/>
                </a:solidFill>
              </a:rPr>
              <a:t>이상의 항을 인용하는 청구항</a:t>
            </a:r>
            <a:r>
              <a:rPr lang="ko-KR" altLang="en-US" sz="1100" dirty="0"/>
              <a:t>은 인용되는 항의 번호를 </a:t>
            </a:r>
            <a:r>
              <a:rPr lang="ko-KR" altLang="en-US" sz="1100" dirty="0">
                <a:solidFill>
                  <a:srgbClr val="FF0000"/>
                </a:solidFill>
              </a:rPr>
              <a:t>택일적</a:t>
            </a:r>
            <a:r>
              <a:rPr lang="ko-KR" altLang="en-US" sz="1100" dirty="0"/>
              <a:t>으로 기재하여야 한다</a:t>
            </a:r>
            <a:r>
              <a:rPr lang="en-US" altLang="ko-KR" sz="1100" dirty="0"/>
              <a:t>.</a:t>
            </a: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F3033300-6EAE-4B40-A53F-6B33F902F82F}"/>
              </a:ext>
            </a:extLst>
          </p:cNvPr>
          <p:cNvSpPr/>
          <p:nvPr/>
        </p:nvSpPr>
        <p:spPr>
          <a:xfrm>
            <a:off x="259658" y="4311851"/>
            <a:ext cx="267417" cy="26741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2"/>
                </a:solidFill>
              </a:rPr>
              <a:t>6</a:t>
            </a:r>
            <a:endParaRPr lang="ko-KR" altLang="en-US" dirty="0">
              <a:solidFill>
                <a:schemeClr val="tx2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AA6CF38-C999-4913-8738-014A0A8C323F}"/>
              </a:ext>
            </a:extLst>
          </p:cNvPr>
          <p:cNvSpPr txBox="1"/>
          <p:nvPr/>
        </p:nvSpPr>
        <p:spPr>
          <a:xfrm>
            <a:off x="640512" y="4056420"/>
            <a:ext cx="5455488" cy="7694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sz="1100" dirty="0">
                <a:solidFill>
                  <a:srgbClr val="FF0000"/>
                </a:solidFill>
              </a:rPr>
              <a:t>2 </a:t>
            </a:r>
            <a:r>
              <a:rPr lang="ko-KR" altLang="en-US" sz="1100" dirty="0">
                <a:solidFill>
                  <a:srgbClr val="FF0000"/>
                </a:solidFill>
              </a:rPr>
              <a:t>이상의 항을 인용한 청구항</a:t>
            </a:r>
            <a:r>
              <a:rPr lang="ko-KR" altLang="en-US" sz="1100" dirty="0"/>
              <a:t>에서 그 청구항의 인용된 항은 다시 </a:t>
            </a:r>
            <a:r>
              <a:rPr lang="en-US" altLang="ko-KR" sz="1100" dirty="0"/>
              <a:t>2 </a:t>
            </a:r>
            <a:r>
              <a:rPr lang="ko-KR" altLang="en-US" sz="1100" dirty="0"/>
              <a:t>이상의 항을 인용하는 방식을 사용하여서는 아니 된다</a:t>
            </a:r>
            <a:r>
              <a:rPr lang="en-US" altLang="ko-KR" sz="1100" dirty="0"/>
              <a:t>. </a:t>
            </a:r>
            <a:r>
              <a:rPr lang="en-US" altLang="ko-KR" sz="1100" dirty="0">
                <a:solidFill>
                  <a:srgbClr val="FF0000"/>
                </a:solidFill>
              </a:rPr>
              <a:t>2 </a:t>
            </a:r>
            <a:r>
              <a:rPr lang="ko-KR" altLang="en-US" sz="1100" dirty="0">
                <a:solidFill>
                  <a:srgbClr val="FF0000"/>
                </a:solidFill>
              </a:rPr>
              <a:t>이상의 항을 인용한 청구항</a:t>
            </a:r>
            <a:r>
              <a:rPr lang="ko-KR" altLang="en-US" sz="1100" dirty="0"/>
              <a:t>에서 그 청구항의 인용된 항이 다시 하나의 항을 인용한 후에 그 하나의 항이 결과적으로 </a:t>
            </a:r>
            <a:r>
              <a:rPr lang="en-US" altLang="ko-KR" sz="1100" dirty="0"/>
              <a:t>2 </a:t>
            </a:r>
            <a:r>
              <a:rPr lang="ko-KR" altLang="en-US" sz="1100" dirty="0"/>
              <a:t>이상의 항을 인용하는 방식에 대하여도 또한 같다</a:t>
            </a:r>
            <a:r>
              <a:rPr lang="en-US" altLang="ko-KR" sz="1100" dirty="0"/>
              <a:t>.</a:t>
            </a: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06E5C684-6E20-41EE-9E08-0ECFDD8A3C56}"/>
              </a:ext>
            </a:extLst>
          </p:cNvPr>
          <p:cNvSpPr/>
          <p:nvPr/>
        </p:nvSpPr>
        <p:spPr>
          <a:xfrm>
            <a:off x="259658" y="4934159"/>
            <a:ext cx="267417" cy="26741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2"/>
                </a:solidFill>
              </a:rPr>
              <a:t>7</a:t>
            </a:r>
            <a:endParaRPr lang="ko-KR" altLang="en-US" dirty="0">
              <a:solidFill>
                <a:schemeClr val="tx2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C4569E2-4315-4F92-A20C-05E9CD1F82D3}"/>
              </a:ext>
            </a:extLst>
          </p:cNvPr>
          <p:cNvSpPr txBox="1"/>
          <p:nvPr/>
        </p:nvSpPr>
        <p:spPr>
          <a:xfrm>
            <a:off x="640512" y="4947099"/>
            <a:ext cx="5455488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100" dirty="0"/>
              <a:t>인용되는 청구항은 인용하는 청구항보다 </a:t>
            </a:r>
            <a:r>
              <a:rPr lang="ko-KR" altLang="en-US" sz="1100" dirty="0">
                <a:solidFill>
                  <a:srgbClr val="FF0000"/>
                </a:solidFill>
              </a:rPr>
              <a:t>먼저 기재</a:t>
            </a:r>
            <a:r>
              <a:rPr lang="ko-KR" altLang="en-US" sz="1100" dirty="0"/>
              <a:t>하여야 한다</a:t>
            </a:r>
            <a:r>
              <a:rPr lang="en-US" altLang="ko-KR" sz="1100" dirty="0"/>
              <a:t>. </a:t>
            </a: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5C79B939-ACB8-468D-8F57-E8CD495AC6A9}"/>
              </a:ext>
            </a:extLst>
          </p:cNvPr>
          <p:cNvSpPr/>
          <p:nvPr/>
        </p:nvSpPr>
        <p:spPr>
          <a:xfrm>
            <a:off x="259658" y="5452950"/>
            <a:ext cx="267417" cy="26741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2"/>
                </a:solidFill>
              </a:rPr>
              <a:t>8</a:t>
            </a:r>
            <a:endParaRPr lang="ko-KR" altLang="en-US" dirty="0">
              <a:solidFill>
                <a:schemeClr val="tx2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5FCCDD0-34D7-4EA6-AFC3-83DB9A054A78}"/>
              </a:ext>
            </a:extLst>
          </p:cNvPr>
          <p:cNvSpPr txBox="1"/>
          <p:nvPr/>
        </p:nvSpPr>
        <p:spPr>
          <a:xfrm>
            <a:off x="640512" y="5342428"/>
            <a:ext cx="5455488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100" dirty="0"/>
              <a:t>각 청구항은 항마다 </a:t>
            </a:r>
            <a:r>
              <a:rPr lang="ko-KR" altLang="en-US" sz="1100" dirty="0">
                <a:solidFill>
                  <a:srgbClr val="FF0000"/>
                </a:solidFill>
              </a:rPr>
              <a:t>행을 바꾸어 기재</a:t>
            </a:r>
            <a:r>
              <a:rPr lang="ko-KR" altLang="en-US" sz="1100" dirty="0"/>
              <a:t>하고</a:t>
            </a:r>
            <a:r>
              <a:rPr lang="en-US" altLang="ko-KR" sz="1100" dirty="0"/>
              <a:t>, </a:t>
            </a:r>
            <a:r>
              <a:rPr lang="ko-KR" altLang="en-US" sz="1100" dirty="0"/>
              <a:t>그 기재하는 순서에 따라 </a:t>
            </a:r>
            <a:r>
              <a:rPr lang="ko-KR" altLang="en-US" sz="1100" dirty="0">
                <a:solidFill>
                  <a:srgbClr val="FF0000"/>
                </a:solidFill>
              </a:rPr>
              <a:t>아라비아숫자로 일련번호를 </a:t>
            </a:r>
            <a:r>
              <a:rPr lang="ko-KR" altLang="en-US" sz="1100" dirty="0"/>
              <a:t>붙여야 한다</a:t>
            </a:r>
            <a:r>
              <a:rPr lang="en-US" altLang="ko-KR" sz="1100" dirty="0"/>
              <a:t>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2A2C8EF-A37F-4A69-8546-FDCA150DAB37}"/>
              </a:ext>
            </a:extLst>
          </p:cNvPr>
          <p:cNvSpPr txBox="1"/>
          <p:nvPr/>
        </p:nvSpPr>
        <p:spPr>
          <a:xfrm>
            <a:off x="6476854" y="991747"/>
            <a:ext cx="5455488" cy="110799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171450" indent="-171450" fontAlgn="base">
              <a:buFontTx/>
              <a:buChar char="-"/>
            </a:pPr>
            <a:r>
              <a:rPr lang="ko-KR" altLang="en-US" sz="1100" dirty="0"/>
              <a:t>독립항은 필수</a:t>
            </a:r>
            <a:r>
              <a:rPr lang="en-US" altLang="ko-KR" sz="1100" dirty="0"/>
              <a:t>, </a:t>
            </a:r>
            <a:r>
              <a:rPr lang="ko-KR" altLang="en-US" sz="1100" dirty="0"/>
              <a:t>종속항은 임의</a:t>
            </a:r>
            <a:endParaRPr lang="en-US" altLang="ko-KR" sz="1100" dirty="0"/>
          </a:p>
          <a:p>
            <a:pPr marL="171450" indent="-171450" fontAlgn="base">
              <a:buFontTx/>
              <a:buChar char="-"/>
            </a:pPr>
            <a:r>
              <a:rPr lang="ko-KR" altLang="en-US" sz="1100" dirty="0"/>
              <a:t>독립항은 넓이를 표현하는 것으로서</a:t>
            </a:r>
            <a:r>
              <a:rPr lang="en-US" altLang="ko-KR" sz="1100" dirty="0"/>
              <a:t>, </a:t>
            </a:r>
            <a:r>
              <a:rPr lang="ko-KR" altLang="en-US" sz="1100" dirty="0"/>
              <a:t>모든 실시유형 포섭될 수 있도록 넓게 기재</a:t>
            </a:r>
            <a:r>
              <a:rPr lang="en-US" altLang="ko-KR" sz="1100" dirty="0"/>
              <a:t>(</a:t>
            </a:r>
            <a:r>
              <a:rPr lang="ko-KR" altLang="en-US" sz="1100" dirty="0" err="1"/>
              <a:t>다기재협범위의</a:t>
            </a:r>
            <a:r>
              <a:rPr lang="ko-KR" altLang="en-US" sz="1100" dirty="0"/>
              <a:t> 원칙</a:t>
            </a:r>
            <a:r>
              <a:rPr lang="en-US" altLang="ko-KR" sz="1100" dirty="0"/>
              <a:t>)</a:t>
            </a:r>
          </a:p>
          <a:p>
            <a:pPr marL="171450" indent="-171450" fontAlgn="base">
              <a:buFontTx/>
              <a:buChar char="-"/>
            </a:pPr>
            <a:r>
              <a:rPr lang="ko-KR" altLang="en-US" sz="1100" dirty="0"/>
              <a:t>종속항은 깊이를 표현하는 것으로서</a:t>
            </a:r>
            <a:r>
              <a:rPr lang="en-US" altLang="ko-KR" sz="1100" dirty="0"/>
              <a:t>, </a:t>
            </a:r>
            <a:r>
              <a:rPr lang="ko-KR" altLang="en-US" sz="1100" dirty="0"/>
              <a:t>독자적으로 신규성</a:t>
            </a:r>
            <a:r>
              <a:rPr lang="en-US" altLang="ko-KR" sz="1100" dirty="0"/>
              <a:t>, </a:t>
            </a:r>
            <a:r>
              <a:rPr lang="ko-KR" altLang="en-US" sz="1100" dirty="0"/>
              <a:t>진보성 위반을 극복할 수 있는 구성요소를 기재</a:t>
            </a:r>
            <a:endParaRPr lang="en-US" altLang="ko-KR" sz="1100" dirty="0"/>
          </a:p>
          <a:p>
            <a:pPr marL="171450" indent="-171450" fontAlgn="base">
              <a:buFontTx/>
              <a:buChar char="-"/>
            </a:pPr>
            <a:r>
              <a:rPr lang="ko-KR" altLang="en-US" sz="1100" dirty="0"/>
              <a:t>종속항은 구체화한 청구항으로서</a:t>
            </a:r>
            <a:r>
              <a:rPr lang="en-US" altLang="ko-KR" sz="1100" dirty="0"/>
              <a:t>, </a:t>
            </a:r>
            <a:r>
              <a:rPr lang="ko-KR" altLang="en-US" sz="1100" dirty="0"/>
              <a:t>한정하여 구체화와 부가하여 구체화로 구분됨</a:t>
            </a:r>
            <a:endParaRPr lang="en-US" altLang="ko-KR" sz="1100" dirty="0"/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6533FE3E-CF2E-4C89-AA04-C92595C79FBB}"/>
              </a:ext>
            </a:extLst>
          </p:cNvPr>
          <p:cNvCxnSpPr>
            <a:stCxn id="39" idx="3"/>
            <a:endCxn id="54" idx="1"/>
          </p:cNvCxnSpPr>
          <p:nvPr/>
        </p:nvCxnSpPr>
        <p:spPr>
          <a:xfrm flipV="1">
            <a:off x="6096000" y="1545745"/>
            <a:ext cx="380854" cy="37850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BE7337AE-F9BD-4E7F-AFA1-C47CBE2300F9}"/>
              </a:ext>
            </a:extLst>
          </p:cNvPr>
          <p:cNvSpPr txBox="1"/>
          <p:nvPr/>
        </p:nvSpPr>
        <p:spPr>
          <a:xfrm>
            <a:off x="6476854" y="2128803"/>
            <a:ext cx="5455488" cy="6001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171450" indent="-171450" fontAlgn="base">
              <a:buFontTx/>
              <a:buChar char="-"/>
            </a:pPr>
            <a:r>
              <a:rPr lang="ko-KR" altLang="en-US" sz="1100" dirty="0"/>
              <a:t>하나의 청구항에 카테고리가 다른 </a:t>
            </a:r>
            <a:r>
              <a:rPr lang="en-US" altLang="ko-KR" sz="1100" dirty="0"/>
              <a:t>2 </a:t>
            </a:r>
            <a:r>
              <a:rPr lang="ko-KR" altLang="en-US" sz="1100" dirty="0"/>
              <a:t>이상의 발명을 기재하거나 청구하는 대상이 </a:t>
            </a:r>
            <a:r>
              <a:rPr lang="en-US" altLang="ko-KR" sz="1100" dirty="0"/>
              <a:t>2 </a:t>
            </a:r>
            <a:r>
              <a:rPr lang="ko-KR" altLang="en-US" sz="1100" dirty="0"/>
              <a:t>이상인 경우와 같이 법 제</a:t>
            </a:r>
            <a:r>
              <a:rPr lang="en-US" altLang="ko-KR" sz="1100" dirty="0"/>
              <a:t>2</a:t>
            </a:r>
            <a:r>
              <a:rPr lang="ko-KR" altLang="en-US" sz="1100" dirty="0"/>
              <a:t>조제</a:t>
            </a:r>
            <a:r>
              <a:rPr lang="en-US" altLang="ko-KR" sz="1100" dirty="0"/>
              <a:t>3</a:t>
            </a:r>
            <a:r>
              <a:rPr lang="ko-KR" altLang="en-US" sz="1100" dirty="0"/>
              <a:t>호에 따라 하나의 실시유형으로 포섭할 수 </a:t>
            </a:r>
            <a:r>
              <a:rPr lang="ko-KR" altLang="en-US" sz="1100" dirty="0">
                <a:solidFill>
                  <a:srgbClr val="FF0000"/>
                </a:solidFill>
              </a:rPr>
              <a:t>없는</a:t>
            </a:r>
            <a:r>
              <a:rPr lang="ko-KR" altLang="en-US" sz="1100" dirty="0"/>
              <a:t> 기재를 하는 경우 시행령 제</a:t>
            </a:r>
            <a:r>
              <a:rPr lang="en-US" altLang="ko-KR" sz="1100" dirty="0"/>
              <a:t>5</a:t>
            </a:r>
            <a:r>
              <a:rPr lang="ko-KR" altLang="en-US" sz="1100" dirty="0"/>
              <a:t>조제</a:t>
            </a:r>
            <a:r>
              <a:rPr lang="en-US" altLang="ko-KR" sz="1100" dirty="0"/>
              <a:t>2</a:t>
            </a:r>
            <a:r>
              <a:rPr lang="ko-KR" altLang="en-US" sz="1100" dirty="0"/>
              <a:t>항 적용</a:t>
            </a:r>
            <a:endParaRPr lang="en-US" altLang="ko-KR" sz="1100" dirty="0"/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7E80ACFB-1B63-4C80-B9D9-2D55D6D48A46}"/>
              </a:ext>
            </a:extLst>
          </p:cNvPr>
          <p:cNvCxnSpPr>
            <a:stCxn id="41" idx="3"/>
            <a:endCxn id="58" idx="1"/>
          </p:cNvCxnSpPr>
          <p:nvPr/>
        </p:nvCxnSpPr>
        <p:spPr>
          <a:xfrm flipV="1">
            <a:off x="6096000" y="2428885"/>
            <a:ext cx="380854" cy="994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45797070-4A5A-480A-8E1A-37204240F166}"/>
              </a:ext>
            </a:extLst>
          </p:cNvPr>
          <p:cNvSpPr txBox="1"/>
          <p:nvPr/>
        </p:nvSpPr>
        <p:spPr>
          <a:xfrm>
            <a:off x="6476854" y="2775275"/>
            <a:ext cx="5455488" cy="6001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171450" indent="-171450" fontAlgn="base">
              <a:buFontTx/>
              <a:buChar char="-"/>
            </a:pPr>
            <a:r>
              <a:rPr lang="ko-KR" altLang="en-US" sz="1100" dirty="0"/>
              <a:t>발명이 </a:t>
            </a:r>
            <a:r>
              <a:rPr lang="ko-KR" altLang="en-US" sz="1100" dirty="0" err="1"/>
              <a:t>중복기재되어</a:t>
            </a:r>
            <a:r>
              <a:rPr lang="ko-KR" altLang="en-US" sz="1100" dirty="0"/>
              <a:t> 있다고 할지라도 적법하다는 판결</a:t>
            </a:r>
            <a:r>
              <a:rPr lang="en-US" altLang="ko-KR" sz="1100" dirty="0"/>
              <a:t>(94</a:t>
            </a:r>
            <a:r>
              <a:rPr lang="ko-KR" altLang="en-US" sz="1100" dirty="0"/>
              <a:t>후</a:t>
            </a:r>
            <a:r>
              <a:rPr lang="en-US" altLang="ko-KR" sz="1100" dirty="0"/>
              <a:t>1558)</a:t>
            </a:r>
            <a:r>
              <a:rPr lang="ko-KR" altLang="en-US" sz="1100" dirty="0"/>
              <a:t>이 나온 후 </a:t>
            </a:r>
            <a:r>
              <a:rPr lang="en-US" altLang="ko-KR" sz="1100" dirty="0"/>
              <a:t>1999.6.30. </a:t>
            </a:r>
            <a:r>
              <a:rPr lang="ko-KR" altLang="en-US" sz="1100" dirty="0"/>
              <a:t>삭제됨</a:t>
            </a:r>
            <a:endParaRPr lang="en-US" altLang="ko-KR" sz="1100" dirty="0"/>
          </a:p>
          <a:p>
            <a:pPr marL="171450" indent="-171450" fontAlgn="base">
              <a:buFontTx/>
              <a:buChar char="-"/>
            </a:pPr>
            <a:r>
              <a:rPr lang="ko-KR" altLang="en-US" sz="1100" dirty="0"/>
              <a:t>현재 중복기재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 err="1">
                <a:solidFill>
                  <a:srgbClr val="FF0000"/>
                </a:solidFill>
              </a:rPr>
              <a:t>문언적</a:t>
            </a:r>
            <a:r>
              <a:rPr lang="ko-KR" altLang="en-US" sz="1100" dirty="0">
                <a:solidFill>
                  <a:srgbClr val="FF0000"/>
                </a:solidFill>
              </a:rPr>
              <a:t> 동일의 경우만</a:t>
            </a:r>
            <a:r>
              <a:rPr lang="en-US" altLang="ko-KR" sz="1100" dirty="0">
                <a:solidFill>
                  <a:srgbClr val="FF0000"/>
                </a:solidFill>
              </a:rPr>
              <a:t>)</a:t>
            </a:r>
            <a:r>
              <a:rPr lang="ko-KR" altLang="en-US" sz="1100" dirty="0"/>
              <a:t>된 경우 시행령 제</a:t>
            </a:r>
            <a:r>
              <a:rPr lang="en-US" altLang="ko-KR" sz="1100" dirty="0"/>
              <a:t>5</a:t>
            </a:r>
            <a:r>
              <a:rPr lang="ko-KR" altLang="en-US" sz="1100" dirty="0"/>
              <a:t>조제</a:t>
            </a:r>
            <a:r>
              <a:rPr lang="en-US" altLang="ko-KR" sz="1100" dirty="0"/>
              <a:t>2</a:t>
            </a:r>
            <a:r>
              <a:rPr lang="ko-KR" altLang="en-US" sz="1100" dirty="0"/>
              <a:t>항 위반 적용</a:t>
            </a:r>
            <a:endParaRPr lang="en-US" altLang="ko-KR" sz="11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3782639-BD05-4145-A2F0-407B2602EB34}"/>
              </a:ext>
            </a:extLst>
          </p:cNvPr>
          <p:cNvSpPr txBox="1"/>
          <p:nvPr/>
        </p:nvSpPr>
        <p:spPr>
          <a:xfrm>
            <a:off x="6476854" y="3409870"/>
            <a:ext cx="5455488" cy="43088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171450" indent="-171450" fontAlgn="base">
              <a:buFontTx/>
              <a:buChar char="-"/>
            </a:pPr>
            <a:r>
              <a:rPr lang="ko-KR" altLang="en-US" sz="1100" dirty="0"/>
              <a:t>인용형식이 없으면 </a:t>
            </a:r>
            <a:r>
              <a:rPr lang="ko-KR" altLang="en-US" sz="1100" dirty="0" err="1"/>
              <a:t>독립항</a:t>
            </a:r>
            <a:r>
              <a:rPr lang="en-US" altLang="ko-KR" sz="1100" dirty="0"/>
              <a:t>, </a:t>
            </a:r>
            <a:r>
              <a:rPr lang="ko-KR" altLang="en-US" sz="1100" dirty="0"/>
              <a:t>인용형식이 있으면</a:t>
            </a:r>
            <a:r>
              <a:rPr lang="en-US" altLang="ko-KR" sz="1100" dirty="0"/>
              <a:t>, </a:t>
            </a:r>
            <a:r>
              <a:rPr lang="ko-KR" altLang="en-US" sz="1100" dirty="0"/>
              <a:t>구체화 여부에 따라 </a:t>
            </a:r>
            <a:r>
              <a:rPr lang="ko-KR" altLang="en-US" sz="1100" dirty="0" err="1"/>
              <a:t>독립항</a:t>
            </a:r>
            <a:r>
              <a:rPr lang="en-US" altLang="ko-KR" sz="1100" dirty="0"/>
              <a:t>/</a:t>
            </a:r>
            <a:r>
              <a:rPr lang="ko-KR" altLang="en-US" sz="1100" dirty="0" err="1"/>
              <a:t>종속항</a:t>
            </a:r>
            <a:r>
              <a:rPr lang="ko-KR" altLang="en-US" sz="1100" dirty="0"/>
              <a:t> 구별</a:t>
            </a:r>
            <a:endParaRPr lang="en-US" altLang="ko-KR" sz="1100" dirty="0"/>
          </a:p>
          <a:p>
            <a:pPr marL="171450" indent="-171450" fontAlgn="base">
              <a:buFontTx/>
              <a:buChar char="-"/>
            </a:pPr>
            <a:r>
              <a:rPr lang="ko-KR" altLang="en-US" sz="1100" dirty="0"/>
              <a:t>항의 번호를 구체적으로 적지 않고</a:t>
            </a:r>
            <a:r>
              <a:rPr lang="en-US" altLang="ko-KR" sz="1100" dirty="0"/>
              <a:t>, “</a:t>
            </a:r>
            <a:r>
              <a:rPr lang="ko-KR" altLang="en-US" sz="1100" dirty="0"/>
              <a:t>전술한</a:t>
            </a:r>
            <a:r>
              <a:rPr lang="en-US" altLang="ko-KR" sz="1100" dirty="0"/>
              <a:t>, </a:t>
            </a:r>
            <a:r>
              <a:rPr lang="ko-KR" altLang="en-US" sz="1100" dirty="0"/>
              <a:t>상술한</a:t>
            </a:r>
            <a:r>
              <a:rPr lang="en-US" altLang="ko-KR" sz="1100" dirty="0"/>
              <a:t>” </a:t>
            </a:r>
            <a:r>
              <a:rPr lang="ko-KR" altLang="en-US" sz="1100" dirty="0"/>
              <a:t>등과 같이 적은 경우 위반</a:t>
            </a:r>
            <a:endParaRPr lang="en-US" altLang="ko-KR" sz="1100" dirty="0"/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5F409883-34A5-49C8-A3B0-F44CAD504BC4}"/>
              </a:ext>
            </a:extLst>
          </p:cNvPr>
          <p:cNvCxnSpPr>
            <a:stCxn id="43" idx="3"/>
            <a:endCxn id="62" idx="1"/>
          </p:cNvCxnSpPr>
          <p:nvPr/>
        </p:nvCxnSpPr>
        <p:spPr>
          <a:xfrm>
            <a:off x="6096000" y="2977829"/>
            <a:ext cx="380854" cy="9752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86D81A1D-2728-4D68-87BF-BBA20B4F0F7A}"/>
              </a:ext>
            </a:extLst>
          </p:cNvPr>
          <p:cNvCxnSpPr>
            <a:stCxn id="45" idx="3"/>
            <a:endCxn id="63" idx="1"/>
          </p:cNvCxnSpPr>
          <p:nvPr/>
        </p:nvCxnSpPr>
        <p:spPr>
          <a:xfrm>
            <a:off x="6096000" y="3406545"/>
            <a:ext cx="380854" cy="21876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19E4362F-4CB5-405C-8A10-9DC47B125FDE}"/>
              </a:ext>
            </a:extLst>
          </p:cNvPr>
          <p:cNvSpPr txBox="1"/>
          <p:nvPr/>
        </p:nvSpPr>
        <p:spPr>
          <a:xfrm>
            <a:off x="6476854" y="3866753"/>
            <a:ext cx="5455488" cy="93871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171450" indent="-171450" fontAlgn="base">
              <a:buFontTx/>
              <a:buChar char="-"/>
            </a:pPr>
            <a:r>
              <a:rPr lang="ko-KR" altLang="en-US" sz="1100" dirty="0"/>
              <a:t>청구항은 </a:t>
            </a:r>
            <a:r>
              <a:rPr lang="ko-KR" altLang="en-US" sz="1100" dirty="0" err="1"/>
              <a:t>택일적</a:t>
            </a:r>
            <a:r>
              <a:rPr lang="en-US" altLang="ko-KR" sz="1100" dirty="0"/>
              <a:t>(OR)</a:t>
            </a:r>
            <a:r>
              <a:rPr lang="ko-KR" altLang="en-US" sz="1100" dirty="0"/>
              <a:t> 기재를 하여야 하나</a:t>
            </a:r>
            <a:r>
              <a:rPr lang="en-US" altLang="ko-KR" sz="1100" dirty="0"/>
              <a:t>, </a:t>
            </a:r>
            <a:r>
              <a:rPr lang="ko-KR" altLang="en-US" sz="1100" dirty="0"/>
              <a:t>구성요소는 </a:t>
            </a:r>
            <a:r>
              <a:rPr lang="ko-KR" altLang="en-US" sz="1100" dirty="0" err="1"/>
              <a:t>택일적</a:t>
            </a:r>
            <a:r>
              <a:rPr lang="en-US" altLang="ko-KR" sz="1100" dirty="0"/>
              <a:t>(</a:t>
            </a:r>
            <a:r>
              <a:rPr lang="ko-KR" altLang="en-US" sz="1100" dirty="0"/>
              <a:t>병렬적</a:t>
            </a:r>
            <a:r>
              <a:rPr lang="en-US" altLang="ko-KR" sz="1100" dirty="0"/>
              <a:t>)(OR)</a:t>
            </a:r>
            <a:r>
              <a:rPr lang="ko-KR" altLang="en-US" sz="1100" dirty="0"/>
              <a:t> 기재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직렬적</a:t>
            </a:r>
            <a:r>
              <a:rPr lang="en-US" altLang="ko-KR" sz="1100" dirty="0"/>
              <a:t>(AND)</a:t>
            </a:r>
            <a:r>
              <a:rPr lang="ko-KR" altLang="en-US" sz="1100" dirty="0"/>
              <a:t> 기재 모두 가능</a:t>
            </a:r>
            <a:endParaRPr lang="en-US" altLang="ko-KR" sz="1100" dirty="0"/>
          </a:p>
          <a:p>
            <a:pPr marL="171450" indent="-171450" fontAlgn="base">
              <a:buFontTx/>
              <a:buChar char="-"/>
            </a:pPr>
            <a:r>
              <a:rPr lang="en-US" altLang="ko-KR" sz="1100" dirty="0"/>
              <a:t>“</a:t>
            </a:r>
            <a:r>
              <a:rPr lang="ko-KR" altLang="en-US" sz="1100" dirty="0"/>
              <a:t>또는</a:t>
            </a:r>
            <a:r>
              <a:rPr lang="en-US" altLang="ko-KR" sz="1100" dirty="0"/>
              <a:t>(OR)”</a:t>
            </a:r>
            <a:r>
              <a:rPr lang="ko-KR" altLang="en-US" sz="1100" dirty="0"/>
              <a:t>는 </a:t>
            </a:r>
            <a:r>
              <a:rPr lang="ko-KR" altLang="en-US" sz="1100" dirty="0" err="1"/>
              <a:t>택일적</a:t>
            </a:r>
            <a:r>
              <a:rPr lang="ko-KR" altLang="en-US" sz="1100" dirty="0"/>
              <a:t> 기재 만족하나</a:t>
            </a:r>
            <a:r>
              <a:rPr lang="en-US" altLang="ko-KR" sz="1100" dirty="0"/>
              <a:t>, “</a:t>
            </a:r>
            <a:r>
              <a:rPr lang="ko-KR" altLang="en-US" sz="1100" dirty="0"/>
              <a:t>및</a:t>
            </a:r>
            <a:r>
              <a:rPr lang="en-US" altLang="ko-KR" sz="1100" dirty="0"/>
              <a:t>(AND)”,”</a:t>
            </a:r>
            <a:r>
              <a:rPr lang="ko-KR" altLang="en-US" sz="1100" dirty="0"/>
              <a:t>내지</a:t>
            </a:r>
            <a:r>
              <a:rPr lang="en-US" altLang="ko-KR" sz="1100" dirty="0"/>
              <a:t>(THROUGH)”</a:t>
            </a:r>
            <a:r>
              <a:rPr lang="ko-KR" altLang="en-US" sz="1100" dirty="0"/>
              <a:t>는 </a:t>
            </a:r>
            <a:r>
              <a:rPr lang="en-US" altLang="ko-KR" sz="1100" dirty="0"/>
              <a:t>“</a:t>
            </a:r>
            <a:r>
              <a:rPr lang="ko-KR" altLang="en-US" sz="1100" dirty="0"/>
              <a:t>중 어느 하나</a:t>
            </a:r>
            <a:r>
              <a:rPr lang="en-US" altLang="ko-KR" sz="1100" dirty="0"/>
              <a:t>”</a:t>
            </a:r>
            <a:r>
              <a:rPr lang="ko-KR" altLang="en-US" sz="1100" dirty="0"/>
              <a:t>와 결합된 경우 </a:t>
            </a:r>
            <a:r>
              <a:rPr lang="ko-KR" altLang="en-US" sz="1100" dirty="0" err="1"/>
              <a:t>택일적</a:t>
            </a:r>
            <a:r>
              <a:rPr lang="ko-KR" altLang="en-US" sz="1100" dirty="0"/>
              <a:t> 기재 만족</a:t>
            </a:r>
            <a:endParaRPr lang="en-US" altLang="ko-KR" sz="1100" dirty="0"/>
          </a:p>
          <a:p>
            <a:pPr marL="171450" indent="-171450" fontAlgn="base">
              <a:buFontTx/>
              <a:buChar char="-"/>
            </a:pPr>
            <a:r>
              <a:rPr lang="en-US" altLang="ko-KR" sz="1100" dirty="0"/>
              <a:t>“,(COMMA)”</a:t>
            </a:r>
            <a:r>
              <a:rPr lang="ko-KR" altLang="en-US" sz="1100" dirty="0"/>
              <a:t>는</a:t>
            </a:r>
            <a:r>
              <a:rPr lang="en-US" altLang="ko-KR" sz="1100" dirty="0"/>
              <a:t> </a:t>
            </a:r>
            <a:r>
              <a:rPr lang="ko-KR" altLang="en-US" sz="1100" dirty="0"/>
              <a:t>마지막 구분이 </a:t>
            </a:r>
            <a:r>
              <a:rPr lang="en-US" altLang="ko-KR" sz="1100" dirty="0"/>
              <a:t>“</a:t>
            </a:r>
            <a:r>
              <a:rPr lang="ko-KR" altLang="en-US" sz="1100" dirty="0"/>
              <a:t>또는</a:t>
            </a:r>
            <a:r>
              <a:rPr lang="en-US" altLang="ko-KR" sz="1100" dirty="0"/>
              <a:t>(OR)”,’</a:t>
            </a:r>
            <a:r>
              <a:rPr lang="ko-KR" altLang="en-US" sz="1100" dirty="0"/>
              <a:t>및</a:t>
            </a:r>
            <a:r>
              <a:rPr lang="en-US" altLang="ko-KR" sz="1100" dirty="0"/>
              <a:t>(AND)”</a:t>
            </a:r>
            <a:r>
              <a:rPr lang="ko-KR" altLang="en-US" sz="1100" dirty="0"/>
              <a:t>인지 여부에 따라 성질 결정 </a:t>
            </a:r>
            <a:endParaRPr lang="en-US" altLang="ko-KR" sz="1100" dirty="0"/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3C1D5E28-2CC9-41E5-BC2E-41BDD5A7AF0F}"/>
              </a:ext>
            </a:extLst>
          </p:cNvPr>
          <p:cNvCxnSpPr>
            <a:stCxn id="47" idx="3"/>
            <a:endCxn id="69" idx="1"/>
          </p:cNvCxnSpPr>
          <p:nvPr/>
        </p:nvCxnSpPr>
        <p:spPr>
          <a:xfrm>
            <a:off x="6096000" y="3798784"/>
            <a:ext cx="380854" cy="53732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2E056898-48CB-481A-8867-52D1E1BE45FA}"/>
              </a:ext>
            </a:extLst>
          </p:cNvPr>
          <p:cNvSpPr txBox="1"/>
          <p:nvPr/>
        </p:nvSpPr>
        <p:spPr>
          <a:xfrm>
            <a:off x="6476854" y="4874480"/>
            <a:ext cx="5455488" cy="43088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171450" indent="-171450" fontAlgn="base">
              <a:buFontTx/>
              <a:buChar char="-"/>
            </a:pPr>
            <a:r>
              <a:rPr lang="ko-KR" altLang="en-US" sz="1100" dirty="0"/>
              <a:t>다중청구항을 다중청구항으로 인용 불가</a:t>
            </a:r>
            <a:endParaRPr lang="en-US" altLang="ko-KR" sz="1100" dirty="0"/>
          </a:p>
          <a:p>
            <a:pPr marL="171450" indent="-171450" fontAlgn="base">
              <a:buFontTx/>
              <a:buChar char="-"/>
            </a:pPr>
            <a:r>
              <a:rPr lang="en-US" altLang="ko-KR" sz="1100" dirty="0"/>
              <a:t>2 </a:t>
            </a:r>
            <a:r>
              <a:rPr lang="ko-KR" altLang="en-US" sz="1100" dirty="0"/>
              <a:t>이상의 항을 인용하지 아니한 청구항은 시행령 제</a:t>
            </a:r>
            <a:r>
              <a:rPr lang="en-US" altLang="ko-KR" sz="1100" dirty="0"/>
              <a:t>5</a:t>
            </a:r>
            <a:r>
              <a:rPr lang="ko-KR" altLang="en-US" sz="1100" dirty="0"/>
              <a:t>조제</a:t>
            </a:r>
            <a:r>
              <a:rPr lang="en-US" altLang="ko-KR" sz="1100" dirty="0"/>
              <a:t>6</a:t>
            </a:r>
            <a:r>
              <a:rPr lang="ko-KR" altLang="en-US" sz="1100" dirty="0"/>
              <a:t>항 위반 아님</a:t>
            </a:r>
            <a:endParaRPr lang="en-US" altLang="ko-KR" sz="1100" dirty="0"/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D88FDE95-BAAB-4F5C-8DBC-F348AF6C3131}"/>
              </a:ext>
            </a:extLst>
          </p:cNvPr>
          <p:cNvCxnSpPr>
            <a:stCxn id="49" idx="3"/>
            <a:endCxn id="73" idx="1"/>
          </p:cNvCxnSpPr>
          <p:nvPr/>
        </p:nvCxnSpPr>
        <p:spPr>
          <a:xfrm>
            <a:off x="6096000" y="4441141"/>
            <a:ext cx="380854" cy="64878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870742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종속항의 필요성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132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6A2EB-D3D4-E5E8-A940-0994DD9AC6DC}"/>
              </a:ext>
            </a:extLst>
          </p:cNvPr>
          <p:cNvSpPr txBox="1"/>
          <p:nvPr/>
        </p:nvSpPr>
        <p:spPr>
          <a:xfrm>
            <a:off x="77875" y="986046"/>
            <a:ext cx="11936323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300" dirty="0"/>
              <a:t>청구범위의 청구항은 상호 독립되어 있기 때문에 </a:t>
            </a:r>
            <a:r>
              <a:rPr lang="ko-KR" altLang="en-US" sz="1300" dirty="0" err="1"/>
              <a:t>독립항</a:t>
            </a:r>
            <a:r>
              <a:rPr lang="en-US" altLang="ko-KR" sz="1300" dirty="0"/>
              <a:t>, </a:t>
            </a:r>
            <a:r>
              <a:rPr lang="ko-KR" altLang="en-US" sz="1300" dirty="0" err="1"/>
              <a:t>종속항</a:t>
            </a:r>
            <a:r>
              <a:rPr lang="ko-KR" altLang="en-US" sz="1300" dirty="0"/>
              <a:t> 상관없이 </a:t>
            </a:r>
            <a:r>
              <a:rPr lang="ko-KR" altLang="en-US" sz="1300" dirty="0" err="1"/>
              <a:t>청구항별로</a:t>
            </a:r>
            <a:r>
              <a:rPr lang="ko-KR" altLang="en-US" sz="1300" dirty="0"/>
              <a:t> 특허요건을 판단하고</a:t>
            </a:r>
            <a:r>
              <a:rPr lang="en-US" altLang="ko-KR" sz="1300" dirty="0"/>
              <a:t>, </a:t>
            </a:r>
            <a:r>
              <a:rPr lang="ko-KR" altLang="en-US" sz="1300" dirty="0" err="1"/>
              <a:t>등륵후에는</a:t>
            </a:r>
            <a:r>
              <a:rPr lang="ko-KR" altLang="en-US" sz="1300" dirty="0"/>
              <a:t> </a:t>
            </a:r>
            <a:r>
              <a:rPr lang="ko-KR" altLang="en-US" sz="1300" dirty="0" err="1"/>
              <a:t>청구항별로</a:t>
            </a:r>
            <a:r>
              <a:rPr lang="ko-KR" altLang="en-US" sz="1300" dirty="0"/>
              <a:t> 침해여부를 판단하는 것이 원칙이다</a:t>
            </a:r>
            <a:r>
              <a:rPr lang="en-US" altLang="ko-KR" sz="1300" dirty="0"/>
              <a:t>. </a:t>
            </a:r>
            <a:r>
              <a:rPr lang="ko-KR" altLang="en-US" sz="1300" dirty="0"/>
              <a:t>그러나 종속항의 보호범위는 독립항을 한정하거나 부가하여 구체화한 청구항이기 때문에 독립항의 보호범위보다 상대적으로 좁다</a:t>
            </a:r>
            <a:r>
              <a:rPr lang="en-US" altLang="ko-KR" sz="1300" dirty="0"/>
              <a:t>. </a:t>
            </a:r>
            <a:r>
              <a:rPr lang="ko-KR" altLang="en-US" sz="1300" dirty="0"/>
              <a:t>따라서 독립항이 특허요건판단에 있어서 신규성</a:t>
            </a:r>
            <a:r>
              <a:rPr lang="en-US" altLang="ko-KR" sz="1300" dirty="0"/>
              <a:t>, </a:t>
            </a:r>
            <a:r>
              <a:rPr lang="ko-KR" altLang="en-US" sz="1300" dirty="0"/>
              <a:t>진보성 위반이 아니면</a:t>
            </a:r>
            <a:r>
              <a:rPr lang="en-US" altLang="ko-KR" sz="1300" dirty="0"/>
              <a:t>, </a:t>
            </a:r>
            <a:r>
              <a:rPr lang="ko-KR" altLang="en-US" sz="1300" dirty="0"/>
              <a:t>종속항도 신규성</a:t>
            </a:r>
            <a:r>
              <a:rPr lang="en-US" altLang="ko-KR" sz="1300" dirty="0"/>
              <a:t>, </a:t>
            </a:r>
            <a:r>
              <a:rPr lang="ko-KR" altLang="en-US" sz="1300" dirty="0"/>
              <a:t>진보성 위반이 아니다</a:t>
            </a:r>
            <a:r>
              <a:rPr lang="en-US" altLang="ko-KR" sz="1300" dirty="0"/>
              <a:t>. </a:t>
            </a:r>
            <a:r>
              <a:rPr lang="ko-KR" altLang="en-US" sz="1300" dirty="0" err="1"/>
              <a:t>등록후</a:t>
            </a:r>
            <a:r>
              <a:rPr lang="ko-KR" altLang="en-US" sz="1300" dirty="0"/>
              <a:t> 침해여부판단에 있어서도 독립항의 침해가 아니면 종속항의 침해도 되지 아니한다</a:t>
            </a:r>
            <a:r>
              <a:rPr lang="en-US" altLang="ko-KR" sz="1300" dirty="0"/>
              <a:t>(</a:t>
            </a:r>
            <a:r>
              <a:rPr lang="ko-KR" altLang="en-US" sz="1300" dirty="0"/>
              <a:t>물론 독립항의 보호범위가 인정되지 아니하고</a:t>
            </a:r>
            <a:r>
              <a:rPr lang="en-US" altLang="ko-KR" sz="1300" dirty="0"/>
              <a:t>, </a:t>
            </a:r>
            <a:r>
              <a:rPr lang="ko-KR" altLang="en-US" sz="1300" dirty="0"/>
              <a:t>종속항의 보호범위만 인정되면 독립항의 침해가 아닐지라도 종속항의 침해가 될 수도 있다</a:t>
            </a:r>
            <a:r>
              <a:rPr lang="en-US" altLang="ko-KR" sz="1300" dirty="0"/>
              <a:t>). </a:t>
            </a:r>
            <a:r>
              <a:rPr lang="ko-KR" altLang="en-US" sz="1300" dirty="0"/>
              <a:t>이와 같은 논리라면 표면적으로 살펴보면 종속항의 존재 의의가 없는 것으로 보일 수도 있다</a:t>
            </a:r>
            <a:r>
              <a:rPr lang="en-US" altLang="ko-KR" sz="1300" dirty="0"/>
              <a:t>. </a:t>
            </a:r>
            <a:r>
              <a:rPr lang="ko-KR" altLang="en-US" sz="1300" dirty="0"/>
              <a:t>종속항의 가장 중요한 존재 의의는 </a:t>
            </a:r>
            <a:r>
              <a:rPr lang="ko-KR" altLang="en-US" sz="1300" dirty="0">
                <a:highlight>
                  <a:srgbClr val="FFFF00"/>
                </a:highlight>
              </a:rPr>
              <a:t>등록 후 특허의 취소나 무효 가능성을 대비</a:t>
            </a:r>
            <a:r>
              <a:rPr lang="ko-KR" altLang="en-US" sz="1300" dirty="0"/>
              <a:t>할 수 있다는 것이다</a:t>
            </a:r>
            <a:r>
              <a:rPr lang="en-US" altLang="ko-KR" sz="1300" dirty="0"/>
              <a:t>. </a:t>
            </a:r>
            <a:r>
              <a:rPr lang="ko-KR" altLang="en-US" sz="1300" dirty="0"/>
              <a:t>제</a:t>
            </a:r>
            <a:r>
              <a:rPr lang="en-US" altLang="ko-KR" sz="1300" dirty="0"/>
              <a:t>3</a:t>
            </a:r>
            <a:r>
              <a:rPr lang="ko-KR" altLang="en-US" sz="1300" dirty="0"/>
              <a:t>자가 실시하는 발명이 독립항과 그 종속항의 침해인 경우 독립항이 특허취소신청에 의하여 취소나 특허무효심판에 의하여 무효가 되더라도 종속항이 있다면 권리행사를 할 수 있게 된다</a:t>
            </a:r>
            <a:r>
              <a:rPr lang="en-US" altLang="ko-KR" sz="1300" dirty="0"/>
              <a:t>. </a:t>
            </a:r>
            <a:r>
              <a:rPr lang="ko-KR" altLang="en-US" sz="1300" dirty="0"/>
              <a:t>종속항에 의하여 권리행사를 하기 위해서는 종속항에는 독립항을 한정하거나 부가하여 구체화해서 </a:t>
            </a:r>
            <a:r>
              <a:rPr lang="ko-KR" altLang="en-US" sz="1300" dirty="0">
                <a:highlight>
                  <a:srgbClr val="FFFF00"/>
                </a:highlight>
              </a:rPr>
              <a:t>별개의 새로운 발명이라고 부를 수 있는 정도의 구성요소</a:t>
            </a:r>
            <a:r>
              <a:rPr lang="ko-KR" altLang="en-US" sz="1300" dirty="0"/>
              <a:t>를 적어야 한다</a:t>
            </a:r>
            <a:r>
              <a:rPr lang="en-US" altLang="ko-KR" sz="1300" dirty="0"/>
              <a:t>. </a:t>
            </a:r>
            <a:r>
              <a:rPr lang="ko-KR" altLang="en-US" sz="1300" dirty="0"/>
              <a:t>즉</a:t>
            </a:r>
            <a:r>
              <a:rPr lang="en-US" altLang="ko-KR" sz="1300" dirty="0"/>
              <a:t>, </a:t>
            </a:r>
            <a:r>
              <a:rPr lang="ko-KR" altLang="en-US" sz="1300" dirty="0"/>
              <a:t>심사관이 독립항의 구성요소와 결합하였을 때 신규성</a:t>
            </a:r>
            <a:r>
              <a:rPr lang="en-US" altLang="ko-KR" sz="1300" dirty="0"/>
              <a:t>, </a:t>
            </a:r>
            <a:r>
              <a:rPr lang="ko-KR" altLang="en-US" sz="1300" dirty="0"/>
              <a:t>진보성 등의 특허요건 위반이 아니라고 판단할 만한 구성요소를 종속항에 적어야 한다</a:t>
            </a:r>
            <a:r>
              <a:rPr lang="en-US" altLang="ko-KR" sz="1300" dirty="0"/>
              <a:t>. </a:t>
            </a:r>
            <a:r>
              <a:rPr lang="ko-KR" altLang="en-US" sz="1300" dirty="0"/>
              <a:t>그렇지 아니한 경우 </a:t>
            </a:r>
            <a:r>
              <a:rPr lang="ko-KR" altLang="en-US" sz="1300" dirty="0">
                <a:solidFill>
                  <a:srgbClr val="FF0000"/>
                </a:solidFill>
              </a:rPr>
              <a:t>독립항의 특허요건 위반이 있으면</a:t>
            </a:r>
            <a:r>
              <a:rPr lang="en-US" altLang="ko-KR" sz="1300" dirty="0">
                <a:solidFill>
                  <a:srgbClr val="FF0000"/>
                </a:solidFill>
              </a:rPr>
              <a:t>, </a:t>
            </a:r>
            <a:r>
              <a:rPr lang="ko-KR" altLang="en-US" sz="1300" dirty="0">
                <a:solidFill>
                  <a:srgbClr val="FF0000"/>
                </a:solidFill>
              </a:rPr>
              <a:t>종속항도 같이 특허요건 위반이 된다</a:t>
            </a:r>
            <a:r>
              <a:rPr lang="en-US" altLang="ko-KR" sz="1300" dirty="0">
                <a:solidFill>
                  <a:srgbClr val="FF0000"/>
                </a:solidFill>
              </a:rPr>
              <a:t>. </a:t>
            </a:r>
            <a:r>
              <a:rPr lang="ko-KR" altLang="en-US" sz="1300" dirty="0">
                <a:solidFill>
                  <a:srgbClr val="FF0000"/>
                </a:solidFill>
              </a:rPr>
              <a:t>이와 같은 종속항을 적는 것은 출원인에게 </a:t>
            </a:r>
            <a:r>
              <a:rPr lang="ko-KR" altLang="en-US" sz="1300" dirty="0" err="1">
                <a:solidFill>
                  <a:srgbClr val="FF0000"/>
                </a:solidFill>
              </a:rPr>
              <a:t>심사청구료</a:t>
            </a:r>
            <a:r>
              <a:rPr lang="en-US" altLang="ko-KR" sz="1300" dirty="0">
                <a:solidFill>
                  <a:srgbClr val="FF0000"/>
                </a:solidFill>
              </a:rPr>
              <a:t>, </a:t>
            </a:r>
            <a:r>
              <a:rPr lang="ko-KR" altLang="en-US" sz="1300" dirty="0">
                <a:solidFill>
                  <a:srgbClr val="FF0000"/>
                </a:solidFill>
              </a:rPr>
              <a:t>특허료 등 청구항 수에 따라 달라지는 비용 부담만 가중시키는 결과를 초래한다</a:t>
            </a:r>
            <a:r>
              <a:rPr lang="en-US" altLang="ko-KR" sz="1300" dirty="0">
                <a:solidFill>
                  <a:srgbClr val="FF0000"/>
                </a:solidFill>
              </a:rPr>
              <a:t>. </a:t>
            </a:r>
            <a:endParaRPr lang="ko-KR" altLang="en-US" sz="1300" dirty="0">
              <a:solidFill>
                <a:srgbClr val="FF0000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E971C09-41AB-9728-8F0A-85B9BE2B96EA}"/>
              </a:ext>
            </a:extLst>
          </p:cNvPr>
          <p:cNvCxnSpPr/>
          <p:nvPr/>
        </p:nvCxnSpPr>
        <p:spPr>
          <a:xfrm>
            <a:off x="0" y="2878872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25B366CD-C0BF-F171-90F5-A74A6D70CCC2}"/>
              </a:ext>
            </a:extLst>
          </p:cNvPr>
          <p:cNvSpPr/>
          <p:nvPr/>
        </p:nvSpPr>
        <p:spPr>
          <a:xfrm>
            <a:off x="111853" y="3046066"/>
            <a:ext cx="8424936" cy="36576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A78A7C0-1DC8-6988-31BD-C207EA2EAA9A}"/>
              </a:ext>
            </a:extLst>
          </p:cNvPr>
          <p:cNvCxnSpPr/>
          <p:nvPr/>
        </p:nvCxnSpPr>
        <p:spPr>
          <a:xfrm>
            <a:off x="399885" y="4048381"/>
            <a:ext cx="7920880" cy="0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190C550C-A036-87B2-5577-89D2DCA97BC5}"/>
              </a:ext>
            </a:extLst>
          </p:cNvPr>
          <p:cNvSpPr/>
          <p:nvPr/>
        </p:nvSpPr>
        <p:spPr>
          <a:xfrm>
            <a:off x="903941" y="3951322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179CB54-6844-5ACF-FE73-5B7F921E8DF8}"/>
              </a:ext>
            </a:extLst>
          </p:cNvPr>
          <p:cNvSpPr/>
          <p:nvPr/>
        </p:nvSpPr>
        <p:spPr>
          <a:xfrm>
            <a:off x="2992173" y="3951322"/>
            <a:ext cx="216024" cy="216024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988BFF0B-0713-E2CB-7BFC-37F9A335A491}"/>
              </a:ext>
            </a:extLst>
          </p:cNvPr>
          <p:cNvSpPr/>
          <p:nvPr/>
        </p:nvSpPr>
        <p:spPr>
          <a:xfrm>
            <a:off x="5044401" y="3951322"/>
            <a:ext cx="216024" cy="216024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82550DD-3310-F099-CF5B-F413FA0D3425}"/>
              </a:ext>
            </a:extLst>
          </p:cNvPr>
          <p:cNvSpPr/>
          <p:nvPr/>
        </p:nvSpPr>
        <p:spPr>
          <a:xfrm>
            <a:off x="5800486" y="3951322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61AA0F-C89B-7CA4-A455-CFF520528212}"/>
              </a:ext>
            </a:extLst>
          </p:cNvPr>
          <p:cNvSpPr txBox="1"/>
          <p:nvPr/>
        </p:nvSpPr>
        <p:spPr>
          <a:xfrm>
            <a:off x="2862849" y="3610497"/>
            <a:ext cx="561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공지</a:t>
            </a:r>
            <a:r>
              <a:rPr lang="en-US" altLang="ko-KR" sz="1200" dirty="0"/>
              <a:t>3</a:t>
            </a:r>
            <a:endParaRPr lang="ko-KR" alt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D64B52-B69B-011A-0268-C7B07261E016}"/>
              </a:ext>
            </a:extLst>
          </p:cNvPr>
          <p:cNvSpPr txBox="1"/>
          <p:nvPr/>
        </p:nvSpPr>
        <p:spPr>
          <a:xfrm>
            <a:off x="4864381" y="3610496"/>
            <a:ext cx="576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등록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41C479-8A5A-70F6-DC14-683A34C871A2}"/>
              </a:ext>
            </a:extLst>
          </p:cNvPr>
          <p:cNvSpPr txBox="1"/>
          <p:nvPr/>
        </p:nvSpPr>
        <p:spPr>
          <a:xfrm>
            <a:off x="5459496" y="3627366"/>
            <a:ext cx="8980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3</a:t>
            </a:r>
            <a:r>
              <a:rPr lang="ko-KR" altLang="en-US" sz="1200" dirty="0"/>
              <a:t>자 실시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50F0D60-B769-DAFA-A794-FAABAF6FB6E6}"/>
              </a:ext>
            </a:extLst>
          </p:cNvPr>
          <p:cNvSpPr/>
          <p:nvPr/>
        </p:nvSpPr>
        <p:spPr>
          <a:xfrm>
            <a:off x="350737" y="4258569"/>
            <a:ext cx="1080120" cy="17641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000" dirty="0">
                <a:solidFill>
                  <a:schemeClr val="tx1"/>
                </a:solidFill>
              </a:rPr>
              <a:t>핸들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바퀴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바디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및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</a:rPr>
              <a:t>폐달을</a:t>
            </a:r>
            <a:r>
              <a:rPr lang="ko-KR" altLang="en-US" sz="1000" dirty="0">
                <a:solidFill>
                  <a:schemeClr val="tx1"/>
                </a:solidFill>
              </a:rPr>
              <a:t> 포함하는 자전거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938457A-6D85-046D-8404-D606BBDBF6B6}"/>
              </a:ext>
            </a:extLst>
          </p:cNvPr>
          <p:cNvSpPr/>
          <p:nvPr/>
        </p:nvSpPr>
        <p:spPr>
          <a:xfrm>
            <a:off x="4276661" y="3951322"/>
            <a:ext cx="216024" cy="216024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C9BA31-E5A3-8877-5FEC-9E471B82EA67}"/>
              </a:ext>
            </a:extLst>
          </p:cNvPr>
          <p:cNvSpPr txBox="1"/>
          <p:nvPr/>
        </p:nvSpPr>
        <p:spPr>
          <a:xfrm>
            <a:off x="4144301" y="3610497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출원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2663AF-C056-D7CE-AE9C-626C39AAA9C9}"/>
              </a:ext>
            </a:extLst>
          </p:cNvPr>
          <p:cNvSpPr txBox="1"/>
          <p:nvPr/>
        </p:nvSpPr>
        <p:spPr>
          <a:xfrm>
            <a:off x="1622165" y="3616021"/>
            <a:ext cx="6499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공지</a:t>
            </a:r>
            <a:r>
              <a:rPr lang="en-US" altLang="ko-KR" sz="1200" dirty="0"/>
              <a:t>2</a:t>
            </a:r>
            <a:endParaRPr lang="ko-KR" altLang="en-US" sz="1200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C9724B0D-7EEB-CDE1-5086-288689D87D4D}"/>
              </a:ext>
            </a:extLst>
          </p:cNvPr>
          <p:cNvSpPr/>
          <p:nvPr/>
        </p:nvSpPr>
        <p:spPr>
          <a:xfrm>
            <a:off x="1826533" y="3951322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E2F43CA-606C-DC0F-74E8-8DF1AC79B91A}"/>
              </a:ext>
            </a:extLst>
          </p:cNvPr>
          <p:cNvSpPr/>
          <p:nvPr/>
        </p:nvSpPr>
        <p:spPr>
          <a:xfrm>
            <a:off x="3740029" y="4258569"/>
            <a:ext cx="1368152" cy="176419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marL="228600" indent="-228600">
              <a:buAutoNum type="arabicPeriod"/>
            </a:pPr>
            <a:r>
              <a:rPr lang="ko-KR" altLang="en-US" sz="1000" dirty="0">
                <a:solidFill>
                  <a:schemeClr val="tx1"/>
                </a:solidFill>
              </a:rPr>
              <a:t>핸들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바퀴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바디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 err="1">
                <a:solidFill>
                  <a:schemeClr val="tx1"/>
                </a:solidFill>
              </a:rPr>
              <a:t>폐달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및 </a:t>
            </a:r>
            <a:r>
              <a:rPr lang="ko-KR" altLang="en-US" sz="1000" dirty="0" err="1">
                <a:solidFill>
                  <a:schemeClr val="tx1"/>
                </a:solidFill>
              </a:rPr>
              <a:t>라이트를</a:t>
            </a:r>
            <a:r>
              <a:rPr lang="ko-KR" altLang="en-US" sz="1000" dirty="0">
                <a:solidFill>
                  <a:schemeClr val="tx1"/>
                </a:solidFill>
              </a:rPr>
              <a:t> 포함하는 자전거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000" dirty="0">
                <a:solidFill>
                  <a:schemeClr val="tx1"/>
                </a:solidFill>
              </a:rPr>
              <a:t>1</a:t>
            </a:r>
            <a:r>
              <a:rPr lang="ko-KR" altLang="en-US" sz="1000" dirty="0">
                <a:solidFill>
                  <a:schemeClr val="tx1"/>
                </a:solidFill>
              </a:rPr>
              <a:t>항에 있어서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안장을 더 포함하는 자전거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000" dirty="0">
                <a:solidFill>
                  <a:schemeClr val="tx1"/>
                </a:solidFill>
              </a:rPr>
              <a:t>1</a:t>
            </a:r>
            <a:r>
              <a:rPr lang="ko-KR" altLang="en-US" sz="1000" dirty="0">
                <a:solidFill>
                  <a:schemeClr val="tx1"/>
                </a:solidFill>
              </a:rPr>
              <a:t>항에 있어서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기어를 더 포함하는 자전거</a:t>
            </a:r>
            <a:r>
              <a:rPr lang="en-US" altLang="ko-KR" sz="1000" dirty="0">
                <a:solidFill>
                  <a:schemeClr val="tx1"/>
                </a:solidFill>
              </a:rPr>
              <a:t> 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123906-FB3D-5265-9EA0-32702514F1EC}"/>
              </a:ext>
            </a:extLst>
          </p:cNvPr>
          <p:cNvSpPr txBox="1"/>
          <p:nvPr/>
        </p:nvSpPr>
        <p:spPr>
          <a:xfrm>
            <a:off x="773747" y="3627366"/>
            <a:ext cx="561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공지</a:t>
            </a:r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EE3D51F6-D20D-DD01-4D26-EF5BB86F44BB}"/>
              </a:ext>
            </a:extLst>
          </p:cNvPr>
          <p:cNvSpPr/>
          <p:nvPr/>
        </p:nvSpPr>
        <p:spPr>
          <a:xfrm>
            <a:off x="6772593" y="3951322"/>
            <a:ext cx="216024" cy="21602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D70028-1E6F-9BF4-A5ED-91B771EF3F82}"/>
              </a:ext>
            </a:extLst>
          </p:cNvPr>
          <p:cNvSpPr txBox="1"/>
          <p:nvPr/>
        </p:nvSpPr>
        <p:spPr>
          <a:xfrm>
            <a:off x="6304541" y="3610496"/>
            <a:ext cx="1224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2">
                    <a:lumMod val="75000"/>
                  </a:schemeClr>
                </a:solidFill>
              </a:rPr>
              <a:t>침해소송제기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FE18ADB-D654-D6C4-F5D0-645F1299B3D2}"/>
              </a:ext>
            </a:extLst>
          </p:cNvPr>
          <p:cNvSpPr/>
          <p:nvPr/>
        </p:nvSpPr>
        <p:spPr>
          <a:xfrm>
            <a:off x="1480005" y="4258569"/>
            <a:ext cx="1080120" cy="17641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000" dirty="0">
                <a:solidFill>
                  <a:schemeClr val="tx1"/>
                </a:solidFill>
              </a:rPr>
              <a:t>핸들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바퀴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바디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및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안장을 포함하는 자전거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0FF1711-F747-4EDE-66B9-9F7DA8931642}"/>
              </a:ext>
            </a:extLst>
          </p:cNvPr>
          <p:cNvSpPr/>
          <p:nvPr/>
        </p:nvSpPr>
        <p:spPr>
          <a:xfrm>
            <a:off x="2607393" y="4258569"/>
            <a:ext cx="1080120" cy="176419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000" dirty="0">
                <a:solidFill>
                  <a:schemeClr val="tx1"/>
                </a:solidFill>
              </a:rPr>
              <a:t>핸들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바퀴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바디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및 </a:t>
            </a:r>
            <a:r>
              <a:rPr lang="ko-KR" altLang="en-US" sz="1000" dirty="0" err="1">
                <a:solidFill>
                  <a:schemeClr val="tx1"/>
                </a:solidFill>
              </a:rPr>
              <a:t>라이트를</a:t>
            </a:r>
            <a:r>
              <a:rPr lang="ko-KR" altLang="en-US" sz="1000" dirty="0">
                <a:solidFill>
                  <a:schemeClr val="tx1"/>
                </a:solidFill>
              </a:rPr>
              <a:t> 포함하는 자전거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EB1772B-C610-6A15-0938-FA89CDE29961}"/>
              </a:ext>
            </a:extLst>
          </p:cNvPr>
          <p:cNvSpPr/>
          <p:nvPr/>
        </p:nvSpPr>
        <p:spPr>
          <a:xfrm>
            <a:off x="5368437" y="4258569"/>
            <a:ext cx="1080120" cy="176419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000" dirty="0">
                <a:solidFill>
                  <a:schemeClr val="tx1"/>
                </a:solidFill>
              </a:rPr>
              <a:t>핸들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바퀴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바디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 err="1">
                <a:solidFill>
                  <a:schemeClr val="tx1"/>
                </a:solidFill>
              </a:rPr>
              <a:t>폐달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 err="1">
                <a:solidFill>
                  <a:schemeClr val="tx1"/>
                </a:solidFill>
              </a:rPr>
              <a:t>라이트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안장 및 기어를 포함하는 자전거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85E6AF4C-7BAF-82BD-E4B5-DB33C645303B}"/>
              </a:ext>
            </a:extLst>
          </p:cNvPr>
          <p:cNvSpPr/>
          <p:nvPr/>
        </p:nvSpPr>
        <p:spPr>
          <a:xfrm>
            <a:off x="7535689" y="3951322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37D09D-8473-33FE-1D4C-5425E00E265A}"/>
              </a:ext>
            </a:extLst>
          </p:cNvPr>
          <p:cNvSpPr txBox="1"/>
          <p:nvPr/>
        </p:nvSpPr>
        <p:spPr>
          <a:xfrm>
            <a:off x="7036061" y="4212476"/>
            <a:ext cx="1224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2">
                    <a:lumMod val="75000"/>
                  </a:schemeClr>
                </a:solidFill>
              </a:rPr>
              <a:t>무효심판청구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5B1606-B547-6890-87A8-3663EBDC29FC}"/>
              </a:ext>
            </a:extLst>
          </p:cNvPr>
          <p:cNvSpPr txBox="1"/>
          <p:nvPr/>
        </p:nvSpPr>
        <p:spPr>
          <a:xfrm>
            <a:off x="433910" y="3432134"/>
            <a:ext cx="11560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</a:t>
            </a:r>
            <a:r>
              <a:rPr lang="ko-KR" altLang="en-US" sz="1000" dirty="0">
                <a:solidFill>
                  <a:srgbClr val="FF0000"/>
                </a:solidFill>
              </a:rPr>
              <a:t>심사관 </a:t>
            </a:r>
            <a:r>
              <a:rPr lang="en-US" altLang="ko-KR" sz="1000" dirty="0">
                <a:solidFill>
                  <a:srgbClr val="FF0000"/>
                </a:solidFill>
              </a:rPr>
              <a:t>SEARCH)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CC1D1F-6E6C-F780-56A2-D92F2DA02A01}"/>
              </a:ext>
            </a:extLst>
          </p:cNvPr>
          <p:cNvSpPr txBox="1"/>
          <p:nvPr/>
        </p:nvSpPr>
        <p:spPr>
          <a:xfrm>
            <a:off x="1407997" y="3432134"/>
            <a:ext cx="11560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</a:t>
            </a:r>
            <a:r>
              <a:rPr lang="ko-KR" altLang="en-US" sz="1000" dirty="0">
                <a:solidFill>
                  <a:srgbClr val="FF0000"/>
                </a:solidFill>
              </a:rPr>
              <a:t>심사관 </a:t>
            </a:r>
            <a:r>
              <a:rPr lang="en-US" altLang="ko-KR" sz="1000" dirty="0">
                <a:solidFill>
                  <a:srgbClr val="FF0000"/>
                </a:solidFill>
              </a:rPr>
              <a:t>SEARCH)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B260E5-EABA-EC13-00A6-80F1D5ECBE94}"/>
              </a:ext>
            </a:extLst>
          </p:cNvPr>
          <p:cNvSpPr txBox="1"/>
          <p:nvPr/>
        </p:nvSpPr>
        <p:spPr>
          <a:xfrm>
            <a:off x="2565492" y="3432134"/>
            <a:ext cx="11047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accent4"/>
                </a:solidFill>
              </a:rPr>
              <a:t>(</a:t>
            </a:r>
            <a:r>
              <a:rPr lang="ko-KR" altLang="en-US" sz="1000" dirty="0">
                <a:solidFill>
                  <a:schemeClr val="accent4"/>
                </a:solidFill>
              </a:rPr>
              <a:t>제</a:t>
            </a:r>
            <a:r>
              <a:rPr lang="en-US" altLang="ko-KR" sz="1000" dirty="0">
                <a:solidFill>
                  <a:schemeClr val="accent4"/>
                </a:solidFill>
              </a:rPr>
              <a:t>3</a:t>
            </a:r>
            <a:r>
              <a:rPr lang="ko-KR" altLang="en-US" sz="1000" dirty="0">
                <a:solidFill>
                  <a:schemeClr val="accent4"/>
                </a:solidFill>
              </a:rPr>
              <a:t>자 </a:t>
            </a:r>
            <a:r>
              <a:rPr lang="en-US" altLang="ko-KR" sz="1000" dirty="0">
                <a:solidFill>
                  <a:schemeClr val="accent4"/>
                </a:solidFill>
              </a:rPr>
              <a:t>SEARCH)</a:t>
            </a:r>
            <a:endParaRPr lang="ko-KR" altLang="en-US" sz="1000" dirty="0">
              <a:solidFill>
                <a:schemeClr val="accent4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9848835-0822-DF9F-6928-6676E7A96530}"/>
              </a:ext>
            </a:extLst>
          </p:cNvPr>
          <p:cNvSpPr txBox="1"/>
          <p:nvPr/>
        </p:nvSpPr>
        <p:spPr>
          <a:xfrm>
            <a:off x="6581581" y="5136851"/>
            <a:ext cx="1883199" cy="576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1" algn="just">
              <a:defRPr/>
            </a:pPr>
            <a:r>
              <a:rPr lang="ko-KR" altLang="en-US" sz="2400" b="1" dirty="0" err="1">
                <a:solidFill>
                  <a:srgbClr val="FF0000"/>
                </a:solidFill>
                <a:cs typeface="맑은 고딕"/>
              </a:rPr>
              <a:t>청구항</a:t>
            </a:r>
            <a:r>
              <a:rPr lang="en-US" altLang="ko-KR" sz="2400" b="1" dirty="0">
                <a:solidFill>
                  <a:srgbClr val="FF0000"/>
                </a:solidFill>
                <a:cs typeface="맑은 고딕"/>
              </a:rPr>
              <a:t> 2, 3</a:t>
            </a:r>
            <a:r>
              <a:rPr lang="ko-KR" altLang="en-US" sz="2400" b="1" dirty="0">
                <a:solidFill>
                  <a:srgbClr val="FF0000"/>
                </a:solidFill>
                <a:cs typeface="맑은 고딕"/>
              </a:rPr>
              <a:t>의 가치</a:t>
            </a:r>
            <a:r>
              <a:rPr lang="en-US" altLang="ko-KR" sz="2400" b="1" dirty="0">
                <a:solidFill>
                  <a:srgbClr val="FF0000"/>
                </a:solidFill>
                <a:cs typeface="맑은 고딕"/>
              </a:rPr>
              <a:t>?</a:t>
            </a:r>
            <a:endParaRPr lang="ko-KR" altLang="en-US" sz="2400" b="1" dirty="0">
              <a:solidFill>
                <a:srgbClr val="FF0000"/>
              </a:solidFill>
              <a:cs typeface="맑은 고딕"/>
            </a:endParaRPr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538C9B0F-E203-4668-7195-AEBFAE13DA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564341"/>
              </p:ext>
            </p:extLst>
          </p:nvPr>
        </p:nvGraphicFramePr>
        <p:xfrm>
          <a:off x="8675198" y="3026456"/>
          <a:ext cx="3347522" cy="367284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2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2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2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32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32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32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6754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700" b="1" dirty="0"/>
                        <a:t>출원발명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dirty="0"/>
                        <a:t>공지</a:t>
                      </a:r>
                      <a:r>
                        <a:rPr lang="en-US" altLang="ko-KR" sz="700" b="1" dirty="0"/>
                        <a:t>1</a:t>
                      </a:r>
                      <a:endParaRPr lang="ko-KR" altLang="en-US" sz="7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dirty="0"/>
                        <a:t>공지</a:t>
                      </a:r>
                      <a:r>
                        <a:rPr lang="en-US" altLang="ko-KR" sz="700" b="1" dirty="0"/>
                        <a:t>2</a:t>
                      </a:r>
                      <a:endParaRPr lang="ko-KR" altLang="en-US" sz="7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dirty="0"/>
                        <a:t>심사</a:t>
                      </a:r>
                      <a:endParaRPr lang="en-US" altLang="ko-KR" sz="700" b="1" dirty="0"/>
                    </a:p>
                    <a:p>
                      <a:pPr latinLnBrk="1"/>
                      <a:r>
                        <a:rPr lang="en-US" altLang="ko-KR" sz="700" b="1" dirty="0"/>
                        <a:t>(1&amp;2)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dirty="0"/>
                        <a:t>공지</a:t>
                      </a:r>
                      <a:r>
                        <a:rPr lang="en-US" altLang="ko-KR" sz="700" b="1" dirty="0"/>
                        <a:t>3</a:t>
                      </a:r>
                      <a:endParaRPr lang="ko-KR" altLang="en-US" sz="7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dirty="0"/>
                        <a:t>심판</a:t>
                      </a:r>
                      <a:endParaRPr lang="en-US" altLang="ko-KR" sz="700" b="1" dirty="0"/>
                    </a:p>
                    <a:p>
                      <a:pPr latinLnBrk="1"/>
                      <a:r>
                        <a:rPr lang="en-US" altLang="ko-KR" sz="700" b="1" dirty="0"/>
                        <a:t>(1&amp;2&amp;3)</a:t>
                      </a:r>
                      <a:endParaRPr lang="ko-KR" altLang="en-US" sz="7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667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핸들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바퀴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바디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err="1"/>
                        <a:t>폐달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err="1"/>
                        <a:t>라이트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en-US" altLang="ko-KR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</a:rPr>
                        <a:t>O</a:t>
                      </a:r>
                      <a:endParaRPr lang="ko-KR" altLang="en-US" sz="700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4667">
                <a:tc rowSpan="6"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2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핸들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바퀴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바디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err="1"/>
                        <a:t>폐달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err="1"/>
                        <a:t>라이트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</a:rPr>
                        <a:t>O</a:t>
                      </a:r>
                      <a:endParaRPr lang="ko-KR" altLang="en-US" sz="700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안장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4667">
                <a:tc rowSpan="6"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핸들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바퀴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바디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err="1"/>
                        <a:t>폐달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err="1"/>
                        <a:t>라이트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기어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56803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516475" y="5205528"/>
            <a:ext cx="5571066" cy="48407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종결부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516475" y="4621328"/>
            <a:ext cx="5571066" cy="48407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 err="1">
                <a:solidFill>
                  <a:schemeClr val="accent2">
                    <a:lumMod val="50000"/>
                  </a:schemeClr>
                </a:solidFill>
              </a:rPr>
              <a:t>연결부</a:t>
            </a:r>
            <a:endParaRPr lang="ko-KR" alt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516475" y="2810933"/>
            <a:ext cx="5571066" cy="171026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 err="1">
                <a:solidFill>
                  <a:schemeClr val="accent2">
                    <a:lumMod val="50000"/>
                  </a:schemeClr>
                </a:solidFill>
              </a:rPr>
              <a:t>특징부</a:t>
            </a:r>
            <a:endParaRPr lang="ko-KR" alt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16475" y="2159000"/>
            <a:ext cx="5571066" cy="51646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 err="1">
                <a:solidFill>
                  <a:schemeClr val="accent2">
                    <a:lumMod val="50000"/>
                  </a:schemeClr>
                </a:solidFill>
              </a:rPr>
              <a:t>전제부</a:t>
            </a:r>
            <a:endParaRPr lang="ko-KR" alt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청구항의 구조</a:t>
            </a:r>
            <a:r>
              <a:rPr lang="en-US" altLang="ko-KR" dirty="0"/>
              <a:t>(Claim Structure)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133</a:t>
            </a:fld>
            <a:endParaRPr lang="ko-KR" altLang="en-US"/>
          </a:p>
        </p:txBody>
      </p:sp>
      <p:graphicFrame>
        <p:nvGraphicFramePr>
          <p:cNvPr id="34" name="Group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359918"/>
              </p:ext>
            </p:extLst>
          </p:nvPr>
        </p:nvGraphicFramePr>
        <p:xfrm>
          <a:off x="7044289" y="1405469"/>
          <a:ext cx="4665126" cy="4852173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845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9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0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형 식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작     성    내     용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61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전제부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 o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기술분야 한정</a:t>
                      </a:r>
                      <a:endParaRPr kumimoji="1" lang="en-US" altLang="ko-KR" sz="12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기술이 적용되는 대상물품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용도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의 한정</a:t>
                      </a:r>
                      <a:endParaRPr kumimoji="1" lang="en-US" altLang="ko-KR" sz="12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o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선행기술로 생각하여 기재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76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특징부</a:t>
                      </a:r>
                      <a:endParaRPr kumimoji="1" lang="en-US" altLang="ko-KR" sz="12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본체부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 o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발명의 핵심적 구성요소 기재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보호받으려고 하는 실질적인 구성요소 기재</a:t>
                      </a: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32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연결부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 o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연결용어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   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을 포함하는 것을 특징으로 하는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개방형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 -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로 구성된 것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이루어진 것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을 특징으로 하는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폐쇄형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   -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로 필수적으로 구성된 것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이루어진 것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을 특징으로 하는 </a:t>
                      </a:r>
                      <a:endParaRPr kumimoji="1" lang="en-US" altLang="ko-KR" sz="12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   (</a:t>
                      </a: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반폐쇄형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61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종결부</a:t>
                      </a:r>
                      <a:endParaRPr kumimoji="1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 o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발명의 카테고리 기재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   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주로 발명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고안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의 명칭과 동일한 용어 사용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   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 </a:t>
                      </a: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종속항은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독립항과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일치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16475" y="1405469"/>
            <a:ext cx="4570482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dirty="0"/>
              <a:t>[</a:t>
            </a:r>
            <a:r>
              <a:rPr lang="ko-KR" altLang="en-US" sz="2000" dirty="0" err="1"/>
              <a:t>청구항</a:t>
            </a:r>
            <a:r>
              <a:rPr lang="ko-KR" altLang="en-US" sz="2000" dirty="0"/>
              <a:t> </a:t>
            </a:r>
            <a:r>
              <a:rPr lang="en-US" altLang="ko-KR" sz="2000" dirty="0"/>
              <a:t>1]</a:t>
            </a:r>
          </a:p>
          <a:p>
            <a:pPr>
              <a:lnSpc>
                <a:spcPct val="200000"/>
              </a:lnSpc>
            </a:pPr>
            <a:r>
              <a:rPr lang="en-US" altLang="ko-KR" sz="2000" dirty="0"/>
              <a:t>…. </a:t>
            </a:r>
            <a:r>
              <a:rPr lang="ko-KR" altLang="en-US" sz="2000" dirty="0"/>
              <a:t>에 있어서</a:t>
            </a:r>
            <a:r>
              <a:rPr lang="en-US" altLang="ko-KR" sz="2000" dirty="0"/>
              <a:t>,</a:t>
            </a:r>
          </a:p>
          <a:p>
            <a:pPr>
              <a:lnSpc>
                <a:spcPct val="200000"/>
              </a:lnSpc>
            </a:pPr>
            <a:r>
              <a:rPr lang="en-US" altLang="ko-KR" sz="2000" dirty="0"/>
              <a:t>(function)…. A </a:t>
            </a:r>
            <a:r>
              <a:rPr lang="ko-KR" altLang="en-US" sz="2000" dirty="0"/>
              <a:t>수단</a:t>
            </a:r>
            <a:r>
              <a:rPr lang="en-US" altLang="ko-KR" sz="2000" dirty="0"/>
              <a:t>;</a:t>
            </a:r>
          </a:p>
          <a:p>
            <a:pPr>
              <a:lnSpc>
                <a:spcPct val="200000"/>
              </a:lnSpc>
            </a:pPr>
            <a:r>
              <a:rPr lang="en-US" altLang="ko-KR" sz="2000" dirty="0"/>
              <a:t>(function)…. B </a:t>
            </a:r>
            <a:r>
              <a:rPr lang="ko-KR" altLang="en-US" sz="2000" dirty="0"/>
              <a:t>수단</a:t>
            </a:r>
            <a:r>
              <a:rPr lang="en-US" altLang="ko-KR" sz="2000" dirty="0"/>
              <a:t>; </a:t>
            </a:r>
            <a:r>
              <a:rPr lang="ko-KR" altLang="en-US" sz="2000" dirty="0"/>
              <a:t>및</a:t>
            </a:r>
            <a:endParaRPr lang="en-US" altLang="ko-KR" sz="2000" dirty="0"/>
          </a:p>
          <a:p>
            <a:pPr>
              <a:lnSpc>
                <a:spcPct val="200000"/>
              </a:lnSpc>
            </a:pPr>
            <a:r>
              <a:rPr lang="en-US" altLang="ko-KR" sz="2000" dirty="0"/>
              <a:t>(function)…. C, D </a:t>
            </a:r>
            <a:r>
              <a:rPr lang="ko-KR" altLang="en-US" sz="2000" dirty="0"/>
              <a:t>및 </a:t>
            </a:r>
            <a:r>
              <a:rPr lang="en-US" altLang="ko-KR" sz="2000" dirty="0"/>
              <a:t>E </a:t>
            </a:r>
            <a:r>
              <a:rPr lang="ko-KR" altLang="en-US" sz="2000" dirty="0"/>
              <a:t>중 어느 한 수단</a:t>
            </a:r>
            <a:r>
              <a:rPr lang="en-US" altLang="ko-KR" sz="2000" dirty="0"/>
              <a:t>; </a:t>
            </a:r>
          </a:p>
          <a:p>
            <a:pPr>
              <a:lnSpc>
                <a:spcPct val="200000"/>
              </a:lnSpc>
            </a:pPr>
            <a:r>
              <a:rPr lang="ko-KR" altLang="en-US" sz="2000" dirty="0"/>
              <a:t>을 포함하는 것을 특징으로 하는 </a:t>
            </a:r>
            <a:endParaRPr lang="en-US" altLang="ko-KR" sz="2000" dirty="0"/>
          </a:p>
          <a:p>
            <a:pPr>
              <a:lnSpc>
                <a:spcPct val="200000"/>
              </a:lnSpc>
            </a:pPr>
            <a:r>
              <a:rPr lang="en-US" altLang="ko-KR" sz="2000" dirty="0"/>
              <a:t>X</a:t>
            </a:r>
            <a:endParaRPr lang="ko-KR" altLang="en-US" sz="2000" dirty="0"/>
          </a:p>
        </p:txBody>
      </p:sp>
      <p:cxnSp>
        <p:nvCxnSpPr>
          <p:cNvPr id="46" name="직선 연결선 45"/>
          <p:cNvCxnSpPr/>
          <p:nvPr/>
        </p:nvCxnSpPr>
        <p:spPr>
          <a:xfrm>
            <a:off x="6478412" y="1754974"/>
            <a:ext cx="0" cy="40517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타원 6"/>
          <p:cNvSpPr/>
          <p:nvPr/>
        </p:nvSpPr>
        <p:spPr>
          <a:xfrm>
            <a:off x="414874" y="2040467"/>
            <a:ext cx="2167467" cy="770466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/>
          <p:cNvCxnSpPr>
            <a:endCxn id="7" idx="7"/>
          </p:cNvCxnSpPr>
          <p:nvPr/>
        </p:nvCxnSpPr>
        <p:spPr>
          <a:xfrm flipH="1">
            <a:off x="2264923" y="1651000"/>
            <a:ext cx="681485" cy="502299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46408" y="1382443"/>
            <a:ext cx="284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rgbClr val="0070C0"/>
                </a:solidFill>
              </a:rPr>
              <a:t>젭슨</a:t>
            </a:r>
            <a:r>
              <a:rPr lang="ko-KR" altLang="en-US" dirty="0">
                <a:solidFill>
                  <a:srgbClr val="0070C0"/>
                </a:solidFill>
              </a:rPr>
              <a:t> 청구항</a:t>
            </a:r>
            <a:endParaRPr lang="en-US" altLang="ko-KR" dirty="0">
              <a:solidFill>
                <a:srgbClr val="0070C0"/>
              </a:solidFill>
            </a:endParaRPr>
          </a:p>
          <a:p>
            <a:r>
              <a:rPr lang="en-US" altLang="ko-KR" dirty="0">
                <a:solidFill>
                  <a:srgbClr val="0070C0"/>
                </a:solidFill>
              </a:rPr>
              <a:t>(Jepson Claim)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47" name="타원 46"/>
          <p:cNvSpPr/>
          <p:nvPr/>
        </p:nvSpPr>
        <p:spPr>
          <a:xfrm>
            <a:off x="2125141" y="3850862"/>
            <a:ext cx="2167467" cy="770466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3496741" y="6072977"/>
            <a:ext cx="284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rgbClr val="0070C0"/>
                </a:solidFill>
              </a:rPr>
              <a:t>마쿠쉬</a:t>
            </a:r>
            <a:r>
              <a:rPr lang="ko-KR" altLang="en-US" dirty="0">
                <a:solidFill>
                  <a:srgbClr val="0070C0"/>
                </a:solidFill>
              </a:rPr>
              <a:t> 청구항</a:t>
            </a:r>
            <a:endParaRPr lang="en-US" altLang="ko-KR" dirty="0">
              <a:solidFill>
                <a:srgbClr val="0070C0"/>
              </a:solidFill>
            </a:endParaRPr>
          </a:p>
          <a:p>
            <a:r>
              <a:rPr lang="en-US" altLang="ko-KR">
                <a:solidFill>
                  <a:srgbClr val="0070C0"/>
                </a:solidFill>
              </a:rPr>
              <a:t>(Markush Claim)</a:t>
            </a:r>
            <a:endParaRPr lang="ko-KR" altLang="en-US" dirty="0">
              <a:solidFill>
                <a:srgbClr val="0070C0"/>
              </a:solidFill>
            </a:endParaRPr>
          </a:p>
        </p:txBody>
      </p:sp>
      <p:cxnSp>
        <p:nvCxnSpPr>
          <p:cNvPr id="53" name="직선 화살표 연결선 52"/>
          <p:cNvCxnSpPr/>
          <p:nvPr/>
        </p:nvCxnSpPr>
        <p:spPr>
          <a:xfrm flipH="1" flipV="1">
            <a:off x="3302008" y="4621328"/>
            <a:ext cx="990600" cy="1451649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타원 53"/>
          <p:cNvSpPr/>
          <p:nvPr/>
        </p:nvSpPr>
        <p:spPr>
          <a:xfrm>
            <a:off x="516475" y="3220838"/>
            <a:ext cx="2370666" cy="770466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/>
          <p:cNvSpPr txBox="1"/>
          <p:nvPr/>
        </p:nvSpPr>
        <p:spPr>
          <a:xfrm>
            <a:off x="364074" y="5971377"/>
            <a:ext cx="284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0070C0"/>
                </a:solidFill>
              </a:rPr>
              <a:t>기능적 표현으로 기재된</a:t>
            </a:r>
            <a:endParaRPr lang="en-US" altLang="ko-KR" dirty="0">
              <a:solidFill>
                <a:srgbClr val="0070C0"/>
              </a:solidFill>
            </a:endParaRPr>
          </a:p>
          <a:p>
            <a:r>
              <a:rPr lang="ko-KR" altLang="en-US" dirty="0">
                <a:solidFill>
                  <a:srgbClr val="0070C0"/>
                </a:solidFill>
              </a:rPr>
              <a:t>청구항</a:t>
            </a:r>
          </a:p>
        </p:txBody>
      </p:sp>
      <p:cxnSp>
        <p:nvCxnSpPr>
          <p:cNvPr id="56" name="직선 화살표 연결선 55"/>
          <p:cNvCxnSpPr/>
          <p:nvPr/>
        </p:nvCxnSpPr>
        <p:spPr>
          <a:xfrm flipV="1">
            <a:off x="1354674" y="3991304"/>
            <a:ext cx="245534" cy="1981546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279196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err="1"/>
              <a:t>젭슨</a:t>
            </a:r>
            <a:r>
              <a:rPr lang="ko-KR" altLang="en-US" sz="2400" dirty="0"/>
              <a:t> 청구항</a:t>
            </a:r>
            <a:r>
              <a:rPr lang="en-US" altLang="ko-KR" sz="2400" dirty="0"/>
              <a:t>, PBP </a:t>
            </a:r>
            <a:r>
              <a:rPr lang="ko-KR" altLang="en-US" sz="2400" dirty="0"/>
              <a:t>청구항</a:t>
            </a:r>
            <a:r>
              <a:rPr lang="en-US" altLang="ko-KR" sz="2400" dirty="0"/>
              <a:t> </a:t>
            </a:r>
            <a:r>
              <a:rPr lang="ko-KR" altLang="en-US" sz="2400" dirty="0"/>
              <a:t>및</a:t>
            </a:r>
            <a:r>
              <a:rPr lang="en-US" altLang="ko-KR" sz="2400" dirty="0"/>
              <a:t> </a:t>
            </a:r>
            <a:r>
              <a:rPr lang="ko-KR" altLang="en-US" sz="2400" dirty="0"/>
              <a:t>기능적 표현 청구항의 비교분석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134</a:t>
            </a:fld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E1F1854-F0B3-4FD3-87BB-6829DE3407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85750"/>
              </p:ext>
            </p:extLst>
          </p:nvPr>
        </p:nvGraphicFramePr>
        <p:xfrm>
          <a:off x="343929" y="1136821"/>
          <a:ext cx="11504141" cy="5377774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848020">
                  <a:extLst>
                    <a:ext uri="{9D8B030D-6E8A-4147-A177-3AD203B41FA5}">
                      <a16:colId xmlns:a16="http://schemas.microsoft.com/office/drawing/2014/main" val="3899561792"/>
                    </a:ext>
                  </a:extLst>
                </a:gridCol>
                <a:gridCol w="4311597">
                  <a:extLst>
                    <a:ext uri="{9D8B030D-6E8A-4147-A177-3AD203B41FA5}">
                      <a16:colId xmlns:a16="http://schemas.microsoft.com/office/drawing/2014/main" val="585898363"/>
                    </a:ext>
                  </a:extLst>
                </a:gridCol>
                <a:gridCol w="2944395">
                  <a:extLst>
                    <a:ext uri="{9D8B030D-6E8A-4147-A177-3AD203B41FA5}">
                      <a16:colId xmlns:a16="http://schemas.microsoft.com/office/drawing/2014/main" val="2189036205"/>
                    </a:ext>
                  </a:extLst>
                </a:gridCol>
                <a:gridCol w="3400129">
                  <a:extLst>
                    <a:ext uri="{9D8B030D-6E8A-4147-A177-3AD203B41FA5}">
                      <a16:colId xmlns:a16="http://schemas.microsoft.com/office/drawing/2014/main" val="3126134941"/>
                    </a:ext>
                  </a:extLst>
                </a:gridCol>
              </a:tblGrid>
              <a:tr h="28943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effectLst/>
                        </a:rPr>
                        <a:t>구분</a:t>
                      </a:r>
                      <a:endParaRPr lang="ko-KR" altLang="en-US" sz="1200" b="1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287" marR="50287" marT="13903" marB="1390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effectLst/>
                        </a:rPr>
                        <a:t>젭슨 청구항</a:t>
                      </a:r>
                      <a:endParaRPr lang="ko-KR" altLang="en-US" sz="1200" b="1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287" marR="50287" marT="13903" marB="1390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effectLst/>
                        </a:rPr>
                        <a:t>PBP </a:t>
                      </a:r>
                      <a:r>
                        <a:rPr lang="ko-KR" altLang="en-US" sz="1200" b="1" kern="0" spc="-100">
                          <a:effectLst/>
                        </a:rPr>
                        <a:t>청구항</a:t>
                      </a:r>
                      <a:endParaRPr lang="ko-KR" altLang="en-US" sz="1200" b="1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287" marR="50287" marT="13903" marB="1390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chemeClr val="tx1"/>
                          </a:solidFill>
                          <a:effectLst/>
                        </a:rPr>
                        <a:t>기능적 표현 청구항</a:t>
                      </a:r>
                      <a:endParaRPr lang="ko-KR" altLang="en-US" sz="1200" b="1" kern="0" spc="-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287" marR="50287" marT="13903" marB="1390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043822"/>
                  </a:ext>
                </a:extLst>
              </a:tr>
              <a:tr h="52983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형태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287" marR="50287" marT="13903" marB="13903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>
                          <a:effectLst/>
                        </a:rPr>
                        <a:t>……</a:t>
                      </a:r>
                      <a:r>
                        <a:rPr lang="ko-KR" altLang="en-US" sz="1200" kern="0" spc="-50">
                          <a:effectLst/>
                        </a:rPr>
                        <a:t>에 있어서</a:t>
                      </a:r>
                      <a:r>
                        <a:rPr lang="en-US" altLang="ko-KR" sz="1200" kern="0" spc="-50">
                          <a:effectLst/>
                        </a:rPr>
                        <a:t>, ~</a:t>
                      </a:r>
                      <a:r>
                        <a:rPr lang="ko-KR" altLang="en-US" sz="1200" kern="0" spc="-50">
                          <a:effectLst/>
                        </a:rPr>
                        <a:t>를 특징으로 하는 ○○발명</a:t>
                      </a:r>
                      <a:endParaRPr lang="ko-KR" altLang="en-US" sz="12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287" marR="50287" marT="13903" marB="13903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effectLst/>
                        </a:rPr>
                        <a:t>X </a:t>
                      </a:r>
                      <a:r>
                        <a:rPr lang="ko-KR" altLang="en-US" sz="1200" kern="0" spc="-50" dirty="0">
                          <a:effectLst/>
                        </a:rPr>
                        <a:t>단계 후 </a:t>
                      </a:r>
                      <a:r>
                        <a:rPr lang="en-US" altLang="ko-KR" sz="1200" kern="0" spc="-50" dirty="0">
                          <a:effectLst/>
                        </a:rPr>
                        <a:t>Y </a:t>
                      </a:r>
                      <a:r>
                        <a:rPr lang="ko-KR" altLang="en-US" sz="1200" kern="0" spc="-50" dirty="0">
                          <a:effectLst/>
                        </a:rPr>
                        <a:t>단계를 거치는 방법에 의해 제조되는 화합물 </a:t>
                      </a:r>
                      <a:r>
                        <a:rPr lang="en-US" altLang="ko-KR" sz="1200" kern="0" spc="-50" dirty="0">
                          <a:effectLst/>
                        </a:rPr>
                        <a:t>Z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287" marR="50287" marT="13903" marB="13903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40" dirty="0">
                          <a:solidFill>
                            <a:schemeClr val="tx1"/>
                          </a:solidFill>
                          <a:effectLst/>
                        </a:rPr>
                        <a:t>구성요소의 일부 또는 전부가 통상적인 구조</a:t>
                      </a:r>
                      <a:r>
                        <a:rPr lang="en-US" altLang="ko-KR" sz="1200" kern="0" spc="-14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kern="0" spc="-140" dirty="0">
                          <a:solidFill>
                            <a:schemeClr val="tx1"/>
                          </a:solidFill>
                          <a:effectLst/>
                        </a:rPr>
                        <a:t>방법</a:t>
                      </a:r>
                      <a:r>
                        <a:rPr lang="en-US" altLang="ko-KR" sz="1200" kern="0" spc="-14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kern="0" spc="-140" dirty="0">
                          <a:solidFill>
                            <a:schemeClr val="tx1"/>
                          </a:solidFill>
                          <a:effectLst/>
                        </a:rPr>
                        <a:t>물질 등이 아니라 기능</a:t>
                      </a:r>
                      <a:r>
                        <a:rPr lang="en-US" altLang="ko-KR" sz="1200" kern="0" spc="-14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kern="0" spc="-140" dirty="0">
                          <a:solidFill>
                            <a:schemeClr val="tx1"/>
                          </a:solidFill>
                          <a:effectLst/>
                        </a:rPr>
                        <a:t>효과</a:t>
                      </a:r>
                      <a:r>
                        <a:rPr lang="en-US" altLang="ko-KR" sz="1200" kern="0" spc="-14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kern="0" spc="-140" dirty="0">
                          <a:solidFill>
                            <a:schemeClr val="tx1"/>
                          </a:solidFill>
                          <a:effectLst/>
                        </a:rPr>
                        <a:t>성질 등의 기능적 표현으로 기재된 청구항</a:t>
                      </a:r>
                      <a:endParaRPr lang="ko-KR" altLang="en-US" sz="1200" kern="0" spc="-14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287" marR="50287" marT="13903" marB="13903" anchor="ctr"/>
                </a:tc>
                <a:extLst>
                  <a:ext uri="{0D108BD9-81ED-4DB2-BD59-A6C34878D82A}">
                    <a16:rowId xmlns:a16="http://schemas.microsoft.com/office/drawing/2014/main" val="2189363391"/>
                  </a:ext>
                </a:extLst>
              </a:tr>
              <a:tr h="104268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필요성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287" marR="50287" marT="13903" marB="13903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tx1"/>
                          </a:solidFill>
                          <a:effectLst/>
                        </a:rPr>
                        <a:t>소위 개량발명에 있어서 선행기술을 청구항의 전문에 기재하고 선행기술에 대하여 그 발명이 특징으로 하는 개량부분을 특징부에 명확하게 지적하여 독점권이 </a:t>
                      </a:r>
                      <a:r>
                        <a:rPr lang="ko-KR" altLang="en-US" sz="1200" kern="0" spc="-70" dirty="0" err="1">
                          <a:solidFill>
                            <a:schemeClr val="tx1"/>
                          </a:solidFill>
                          <a:effectLst/>
                        </a:rPr>
                        <a:t>허여될</a:t>
                      </a:r>
                      <a:r>
                        <a:rPr lang="ko-KR" altLang="en-US" sz="1200" kern="0" spc="-70" dirty="0">
                          <a:solidFill>
                            <a:schemeClr val="tx1"/>
                          </a:solidFill>
                          <a:effectLst/>
                        </a:rPr>
                        <a:t> 발명의 기술영역을 명백히 하는데 공헌함</a:t>
                      </a:r>
                      <a:endParaRPr lang="ko-KR" altLang="en-US" sz="1200" kern="0" spc="-7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287" marR="50287" marT="13903" marB="13903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10">
                          <a:effectLst/>
                        </a:rPr>
                        <a:t>물건</a:t>
                      </a:r>
                      <a:r>
                        <a:rPr lang="en-US" altLang="ko-KR" sz="1200" kern="0" spc="-110">
                          <a:effectLst/>
                        </a:rPr>
                        <a:t>(product)</a:t>
                      </a:r>
                      <a:r>
                        <a:rPr lang="ko-KR" altLang="en-US" sz="1200" kern="0" spc="-110">
                          <a:effectLst/>
                        </a:rPr>
                        <a:t>의 구조적 특성을 규명하지 못하여 그것을 제조하는 제법</a:t>
                      </a:r>
                      <a:r>
                        <a:rPr lang="en-US" altLang="ko-KR" sz="1200" kern="0" spc="-110">
                          <a:effectLst/>
                        </a:rPr>
                        <a:t>(process)</a:t>
                      </a:r>
                      <a:r>
                        <a:rPr lang="ko-KR" altLang="en-US" sz="1200" kern="0" spc="-110">
                          <a:effectLst/>
                        </a:rPr>
                        <a:t>을 특정하지 않으면 그 물건도 한정할 수 없는 경우에 이용됨</a:t>
                      </a:r>
                      <a:endParaRPr lang="ko-KR" altLang="en-US" sz="1200" kern="0" spc="-11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287" marR="50287" marT="13903" marB="13903" anchor="ctr"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발명의 구성요소로 통상적인 구조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방법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물질 등을 명확하게 구체화하는 것이 불필요하거나 그에 대한 적합한 발명 명칭이 존재하지 않은 경우에 이용됨</a:t>
                      </a:r>
                    </a:p>
                  </a:txBody>
                  <a:tcPr marL="50287" marR="50287" marT="13903" marB="13903" anchor="ctr"/>
                </a:tc>
                <a:extLst>
                  <a:ext uri="{0D108BD9-81ED-4DB2-BD59-A6C34878D82A}">
                    <a16:rowId xmlns:a16="http://schemas.microsoft.com/office/drawing/2014/main" val="158052828"/>
                  </a:ext>
                </a:extLst>
              </a:tr>
              <a:tr h="135973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특허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요건 판단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287" marR="50287" marT="13903" marB="13903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20" dirty="0">
                          <a:effectLst/>
                          <a:highlight>
                            <a:srgbClr val="FFFF00"/>
                          </a:highlight>
                        </a:rPr>
                        <a:t>전제부의 구성요소와 특징부의 구성요소의 결합에 의한 전체에 의하여 출원발명</a:t>
                      </a:r>
                      <a:r>
                        <a:rPr lang="ko-KR" altLang="en-US" sz="1200" kern="0" spc="-120" dirty="0">
                          <a:effectLst/>
                        </a:rPr>
                        <a:t>을 특정함</a:t>
                      </a:r>
                      <a:r>
                        <a:rPr lang="en-US" altLang="ko-KR" sz="1200" kern="0" spc="-120" dirty="0">
                          <a:effectLst/>
                        </a:rPr>
                        <a:t>(</a:t>
                      </a:r>
                      <a:r>
                        <a:rPr lang="ko-KR" altLang="en-US" sz="1200" kern="0" spc="-120" dirty="0">
                          <a:effectLst/>
                        </a:rPr>
                        <a:t>다만</a:t>
                      </a:r>
                      <a:r>
                        <a:rPr lang="en-US" altLang="ko-KR" sz="1200" kern="0" spc="-120" dirty="0">
                          <a:effectLst/>
                        </a:rPr>
                        <a:t>, </a:t>
                      </a:r>
                      <a:r>
                        <a:rPr lang="ko-KR" altLang="en-US" sz="1200" kern="0" spc="-70" dirty="0">
                          <a:effectLst/>
                        </a:rPr>
                        <a:t>명세서의 전체적인 기재와 출원 경과를 종합적으로 고려하여 출원인이 일정한 구성요소는 공지기술이라는 취지로 청구범위의 전제부에 기재하였음을 인정할 수 있는 경우</a:t>
                      </a:r>
                      <a:r>
                        <a:rPr lang="en-US" altLang="ko-KR" sz="1200" kern="0" spc="-70" dirty="0">
                          <a:effectLst/>
                        </a:rPr>
                        <a:t>(</a:t>
                      </a:r>
                      <a:r>
                        <a:rPr lang="ko-KR" altLang="en-US" sz="1200" kern="0" spc="-70" dirty="0">
                          <a:effectLst/>
                        </a:rPr>
                        <a:t>공지 자인</a:t>
                      </a:r>
                      <a:r>
                        <a:rPr lang="en-US" altLang="ko-KR" sz="1200" kern="0" spc="-70" dirty="0">
                          <a:effectLst/>
                        </a:rPr>
                        <a:t>)</a:t>
                      </a:r>
                      <a:r>
                        <a:rPr lang="ko-KR" altLang="en-US" sz="1200" kern="0" spc="-70" dirty="0">
                          <a:effectLst/>
                        </a:rPr>
                        <a:t>에는 별도의 증거 없이도 </a:t>
                      </a:r>
                      <a:r>
                        <a:rPr lang="ko-KR" altLang="en-US" sz="1200" kern="0" spc="-70" dirty="0" err="1">
                          <a:effectLst/>
                        </a:rPr>
                        <a:t>전제부</a:t>
                      </a:r>
                      <a:r>
                        <a:rPr lang="ko-KR" altLang="en-US" sz="1200" kern="0" spc="-70" dirty="0">
                          <a:effectLst/>
                        </a:rPr>
                        <a:t> 기재 구성요소를 출원 전 공지된 것이라고 사실상 추정함</a:t>
                      </a:r>
                      <a:r>
                        <a:rPr lang="en-US" altLang="ko-KR" sz="1200" kern="0" spc="-70" dirty="0">
                          <a:effectLst/>
                        </a:rPr>
                        <a:t>)</a:t>
                      </a:r>
                      <a:endParaRPr lang="ko-KR" altLang="en-US" sz="1200" kern="0" spc="-12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287" marR="50287" marT="13903" marB="13903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 dirty="0">
                          <a:effectLst/>
                          <a:highlight>
                            <a:srgbClr val="FFFF00"/>
                          </a:highlight>
                        </a:rPr>
                        <a:t>물건</a:t>
                      </a:r>
                      <a:r>
                        <a:rPr lang="en-US" altLang="ko-KR" sz="1200" kern="0" spc="-60" dirty="0">
                          <a:effectLst/>
                          <a:highlight>
                            <a:srgbClr val="FFFF00"/>
                          </a:highlight>
                        </a:rPr>
                        <a:t>(</a:t>
                      </a:r>
                      <a:r>
                        <a:rPr lang="ko-KR" altLang="en-US" sz="1200" kern="0" spc="-60" dirty="0">
                          <a:effectLst/>
                          <a:highlight>
                            <a:srgbClr val="FFFF00"/>
                          </a:highlight>
                        </a:rPr>
                        <a:t>제조방법의 기재가 물건의 구조나 성질에 영향을 준 경우 그 제조방법에 의하여 특정되는 구조나 성질을 가지는 물건</a:t>
                      </a:r>
                      <a:r>
                        <a:rPr lang="en-US" altLang="ko-KR" sz="1200" kern="0" spc="-60" dirty="0">
                          <a:effectLst/>
                          <a:highlight>
                            <a:srgbClr val="FFFF00"/>
                          </a:highlight>
                        </a:rPr>
                        <a:t>) </a:t>
                      </a:r>
                      <a:r>
                        <a:rPr lang="ko-KR" altLang="en-US" sz="1200" kern="0" spc="-60" dirty="0">
                          <a:effectLst/>
                        </a:rPr>
                        <a:t>으로 출원발명을 특정함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 dirty="0">
                          <a:effectLst/>
                        </a:rPr>
                        <a:t>→ 제조방법에 특허성이 있는지 여부와는 무관</a:t>
                      </a:r>
                      <a:endParaRPr lang="ko-KR" altLang="en-US" sz="12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287" marR="50287" marT="13903" marB="13903" anchor="ctr"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기능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효과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성질 등을 가지는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+mn-cs"/>
                        </a:rPr>
                        <a:t>모든 발명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으로 출원발명을 특정함</a:t>
                      </a:r>
                    </a:p>
                  </a:txBody>
                  <a:tcPr marL="50287" marR="50287" marT="13903" marB="13903" anchor="ctr"/>
                </a:tc>
                <a:extLst>
                  <a:ext uri="{0D108BD9-81ED-4DB2-BD59-A6C34878D82A}">
                    <a16:rowId xmlns:a16="http://schemas.microsoft.com/office/drawing/2014/main" val="963619718"/>
                  </a:ext>
                </a:extLst>
              </a:tr>
              <a:tr h="215609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침해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여부 판단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287" marR="50287" marT="13903" marB="13903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  <a:highlight>
                            <a:srgbClr val="FFFF00"/>
                          </a:highlight>
                        </a:rPr>
                        <a:t>특허요건 판단과 마찬가지로 전제부의 구성요소와 특징부의 구성요소의 결합에 의한 전체에 의하여 특허발명</a:t>
                      </a:r>
                      <a:r>
                        <a:rPr lang="ko-KR" altLang="en-US" sz="1200" kern="0" spc="-100" dirty="0">
                          <a:effectLst/>
                        </a:rPr>
                        <a:t>을 특정함</a:t>
                      </a:r>
                      <a:r>
                        <a:rPr lang="en-US" altLang="ko-KR" sz="1200" kern="0" spc="-100" dirty="0">
                          <a:effectLst/>
                        </a:rPr>
                        <a:t>. </a:t>
                      </a:r>
                      <a:r>
                        <a:rPr lang="ko-KR" altLang="en-US" sz="1200" kern="0" spc="-100" dirty="0">
                          <a:effectLst/>
                        </a:rPr>
                        <a:t>다만 </a:t>
                      </a:r>
                      <a:r>
                        <a:rPr lang="ko-KR" altLang="en-US" sz="1200" kern="0" spc="-70" dirty="0">
                          <a:effectLst/>
                        </a:rPr>
                        <a:t>출원인이 출원과정에서 선행기술과의 관계에서 신규성 및 진보성 결여의 거절이유를 극복하기 위하여</a:t>
                      </a:r>
                      <a:r>
                        <a:rPr lang="en-US" altLang="ko-KR" sz="1200" kern="0" spc="-70" dirty="0">
                          <a:effectLst/>
                        </a:rPr>
                        <a:t>, </a:t>
                      </a:r>
                      <a:r>
                        <a:rPr lang="ko-KR" altLang="en-US" sz="1200" kern="0" spc="-70" dirty="0">
                          <a:effectLst/>
                        </a:rPr>
                        <a:t>구성요소 중 일부를 전제부로 돌리면서 전제부에 대해서는 권리의 보호범위로 주장하지 않겠다는 의사를 분명히 한 때에는</a:t>
                      </a:r>
                      <a:r>
                        <a:rPr lang="en-US" altLang="ko-KR" sz="1200" kern="0" spc="-70" dirty="0">
                          <a:effectLst/>
                        </a:rPr>
                        <a:t>, </a:t>
                      </a:r>
                      <a:r>
                        <a:rPr lang="ko-KR" altLang="en-US" sz="1200" kern="0" spc="-70" dirty="0">
                          <a:effectLst/>
                        </a:rPr>
                        <a:t>등록 후에 특징부에는 해당하지 않고 전제부에만 해당하는 균등한 구성요소를 포함하는 기술의 실시에 대해서는 자신의 권리를 주장하지 않겠다는 의사로 파악함</a:t>
                      </a:r>
                      <a:endParaRPr lang="ko-KR" altLang="en-US" sz="1200" kern="0" spc="-7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287" marR="50287" marT="13903" marB="13903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30" dirty="0">
                          <a:effectLst/>
                          <a:highlight>
                            <a:srgbClr val="FFFF00"/>
                          </a:highlight>
                        </a:rPr>
                        <a:t>특허요건 판단과 마찬가지로 </a:t>
                      </a:r>
                      <a:r>
                        <a:rPr lang="ko-KR" altLang="en-US" sz="1200" kern="0" spc="-90" dirty="0">
                          <a:effectLst/>
                          <a:highlight>
                            <a:srgbClr val="FFFF00"/>
                          </a:highlight>
                        </a:rPr>
                        <a:t>물건</a:t>
                      </a:r>
                      <a:r>
                        <a:rPr lang="en-US" altLang="ko-KR" sz="1200" kern="0" spc="-90" dirty="0">
                          <a:effectLst/>
                          <a:highlight>
                            <a:srgbClr val="FFFF00"/>
                          </a:highlight>
                        </a:rPr>
                        <a:t>(</a:t>
                      </a:r>
                      <a:r>
                        <a:rPr lang="ko-KR" altLang="en-US" sz="1200" kern="0" spc="-90" dirty="0">
                          <a:effectLst/>
                          <a:highlight>
                            <a:srgbClr val="FFFF00"/>
                          </a:highlight>
                        </a:rPr>
                        <a:t>제조방법의 기재가 물건의 구조나 성질에 영향을 준 경우 그 제조방법에 의하여 특정되는 구조나 성질을 가지는 물건</a:t>
                      </a:r>
                      <a:r>
                        <a:rPr lang="en-US" altLang="ko-KR" sz="1200" kern="0" spc="-90" dirty="0">
                          <a:effectLst/>
                          <a:highlight>
                            <a:srgbClr val="FFFF00"/>
                          </a:highlight>
                        </a:rPr>
                        <a:t>)</a:t>
                      </a:r>
                      <a:r>
                        <a:rPr lang="en-US" altLang="ko-KR" sz="1200" kern="0" spc="-90" dirty="0">
                          <a:effectLst/>
                        </a:rPr>
                        <a:t> </a:t>
                      </a:r>
                      <a:r>
                        <a:rPr lang="ko-KR" altLang="en-US" sz="1200" kern="0" spc="-90" dirty="0">
                          <a:effectLst/>
                        </a:rPr>
                        <a:t>으로 특허발명을 특정함</a:t>
                      </a:r>
                      <a:r>
                        <a:rPr lang="en-US" altLang="ko-KR" sz="1200" kern="0" spc="-90" dirty="0">
                          <a:effectLst/>
                        </a:rPr>
                        <a:t>. </a:t>
                      </a:r>
                      <a:r>
                        <a:rPr lang="ko-KR" altLang="en-US" sz="1200" kern="0" spc="-90" dirty="0">
                          <a:effectLst/>
                        </a:rPr>
                        <a:t>다만</a:t>
                      </a:r>
                      <a:r>
                        <a:rPr lang="en-US" altLang="ko-KR" sz="1200" kern="0" spc="-9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권리범위가 명세서의 전체적인 기재에 의하여 파악되는 발명의 실체에 비추어 지나치게 넓다는 등의 명백히 불합리한 사정이 있는 경우에는 그 권리범위를 청구범위에 기재된 제조방법의 범위 내로 </a:t>
                      </a:r>
                      <a:r>
                        <a:rPr lang="ko-KR" altLang="en-US" sz="1200" kern="0" spc="-80" dirty="0" err="1">
                          <a:effectLst/>
                        </a:rPr>
                        <a:t>한정해석함</a:t>
                      </a:r>
                      <a:endParaRPr lang="ko-KR" altLang="en-US" sz="1200" kern="0" spc="-8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287" marR="50287" marT="13903" marB="13903" anchor="ctr"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청구항 그 자체만으로 특허발명의 기술적 구성의 내용을 알 수 없으므로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+mn-cs"/>
                        </a:rPr>
                        <a:t>기능적 표현에 상응되는 발명의 설명과 도면에 기재된 실시예로 제한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하여 특허발명을 특정함</a:t>
                      </a:r>
                    </a:p>
                  </a:txBody>
                  <a:tcPr marL="50287" marR="50287" marT="13903" marB="13903" anchor="ctr"/>
                </a:tc>
                <a:extLst>
                  <a:ext uri="{0D108BD9-81ED-4DB2-BD59-A6C34878D82A}">
                    <a16:rowId xmlns:a16="http://schemas.microsoft.com/office/drawing/2014/main" val="2224277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05273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특허요건 판단과 침해 여부 </a:t>
            </a:r>
            <a:r>
              <a:rPr lang="ko-KR" altLang="en-US" dirty="0" err="1">
                <a:solidFill>
                  <a:srgbClr val="525252"/>
                </a:solidFill>
              </a:rPr>
              <a:t>판단시</a:t>
            </a:r>
            <a:r>
              <a:rPr lang="ko-KR" altLang="en-US" dirty="0">
                <a:solidFill>
                  <a:srgbClr val="525252"/>
                </a:solidFill>
              </a:rPr>
              <a:t> 발명의 특정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135</a:t>
            </a:fld>
            <a:endParaRPr lang="ko-KR" altLang="en-US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058B4714-2572-7226-F7C4-E1686A3B175E}"/>
              </a:ext>
            </a:extLst>
          </p:cNvPr>
          <p:cNvCxnSpPr/>
          <p:nvPr/>
        </p:nvCxnSpPr>
        <p:spPr>
          <a:xfrm>
            <a:off x="1079612" y="1219200"/>
            <a:ext cx="0" cy="5071533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150B51D9-95A6-D472-1048-AE86739C1467}"/>
              </a:ext>
            </a:extLst>
          </p:cNvPr>
          <p:cNvSpPr/>
          <p:nvPr/>
        </p:nvSpPr>
        <p:spPr>
          <a:xfrm>
            <a:off x="381081" y="1378089"/>
            <a:ext cx="1395264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인용대상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C3AF3A8-4B33-A6C7-7890-215F54CBBF00}"/>
              </a:ext>
            </a:extLst>
          </p:cNvPr>
          <p:cNvSpPr/>
          <p:nvPr/>
        </p:nvSpPr>
        <p:spPr>
          <a:xfrm>
            <a:off x="381081" y="2522661"/>
            <a:ext cx="1395264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출원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6C80A9E-E3A1-411A-0567-188B363CCD05}"/>
              </a:ext>
            </a:extLst>
          </p:cNvPr>
          <p:cNvSpPr/>
          <p:nvPr/>
        </p:nvSpPr>
        <p:spPr>
          <a:xfrm>
            <a:off x="381081" y="3894264"/>
            <a:ext cx="1395264" cy="300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FE6085-A64E-9EC5-B553-BA16290407E5}"/>
              </a:ext>
            </a:extLst>
          </p:cNvPr>
          <p:cNvSpPr/>
          <p:nvPr/>
        </p:nvSpPr>
        <p:spPr>
          <a:xfrm>
            <a:off x="381081" y="5265867"/>
            <a:ext cx="1395264" cy="3608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제</a:t>
            </a:r>
            <a:r>
              <a:rPr lang="en-US" altLang="ko-KR" sz="1600" dirty="0">
                <a:solidFill>
                  <a:schemeClr val="tx1"/>
                </a:solidFill>
              </a:rPr>
              <a:t>3</a:t>
            </a:r>
            <a:r>
              <a:rPr lang="ko-KR" altLang="en-US" sz="1600" dirty="0">
                <a:solidFill>
                  <a:schemeClr val="tx1"/>
                </a:solidFill>
              </a:rPr>
              <a:t>자 실시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F93D7BBD-7859-1487-392B-93CF9D714196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1079612" y="4795167"/>
            <a:ext cx="559509" cy="0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CC8FC11-69AD-8B11-F056-02A98381CF31}"/>
              </a:ext>
            </a:extLst>
          </p:cNvPr>
          <p:cNvCxnSpPr/>
          <p:nvPr/>
        </p:nvCxnSpPr>
        <p:spPr>
          <a:xfrm flipV="1">
            <a:off x="5090755" y="1041400"/>
            <a:ext cx="0" cy="532553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07D914F-DB1F-44D2-1E21-1E402B8EB673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079612" y="3244467"/>
            <a:ext cx="559509" cy="0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444F937-225D-266A-0354-9CF9A133DC90}"/>
              </a:ext>
            </a:extLst>
          </p:cNvPr>
          <p:cNvSpPr txBox="1"/>
          <p:nvPr/>
        </p:nvSpPr>
        <p:spPr>
          <a:xfrm>
            <a:off x="1639121" y="2982857"/>
            <a:ext cx="881972" cy="52322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특허요건 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판단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19EC1A64-7F54-DA72-1142-79409CD40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858276"/>
              </p:ext>
            </p:extLst>
          </p:nvPr>
        </p:nvGraphicFramePr>
        <p:xfrm>
          <a:off x="5325310" y="2866723"/>
          <a:ext cx="6485598" cy="3592276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285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9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1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42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발명의 특정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특허요건 판단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보호범위 판단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4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청구범위 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중심의 원칙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적용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적용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4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발명의 설명</a:t>
                      </a:r>
                      <a:r>
                        <a:rPr lang="en-US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ko-KR" altLang="en-US" sz="1400" dirty="0"/>
                        <a:t>참작의 원칙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적용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적용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제한해석 가능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3544724"/>
                  </a:ext>
                </a:extLst>
              </a:tr>
              <a:tr h="6822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공지기술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참작의 원칙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부적용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발명의 특정 후 신규성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진보성 등 판단으로 갈음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적용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제한해석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1010"/>
                  </a:ext>
                </a:extLst>
              </a:tr>
              <a:tr h="6822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출원경과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참작의 원칙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부적용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다만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출원인이 공지되었음을 자인하는 경우 공지된 것으로 추정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적용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제한해석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4018035"/>
                  </a:ext>
                </a:extLst>
              </a:tr>
              <a:tr h="6822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특허권하자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참작의 원칙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부적용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발명의 특정 후 특허요건 판단으로 갈음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적용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제한해석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7310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12D5BD1B-C928-F40C-1CAE-01B574F737A0}"/>
              </a:ext>
            </a:extLst>
          </p:cNvPr>
          <p:cNvSpPr txBox="1"/>
          <p:nvPr/>
        </p:nvSpPr>
        <p:spPr>
          <a:xfrm>
            <a:off x="1639121" y="4533557"/>
            <a:ext cx="881972" cy="52322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보호범위 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판단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BCB025E-DF1D-4A84-AB5C-24F2169EBCA5}"/>
              </a:ext>
            </a:extLst>
          </p:cNvPr>
          <p:cNvSpPr/>
          <p:nvPr/>
        </p:nvSpPr>
        <p:spPr>
          <a:xfrm>
            <a:off x="2721641" y="2708266"/>
            <a:ext cx="2134561" cy="3004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출원발명 특정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AF5CFE7-6B9C-40EF-4AF0-FDB6C7DB24BF}"/>
              </a:ext>
            </a:extLst>
          </p:cNvPr>
          <p:cNvSpPr/>
          <p:nvPr/>
        </p:nvSpPr>
        <p:spPr>
          <a:xfrm>
            <a:off x="2721641" y="3081713"/>
            <a:ext cx="2134561" cy="3004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인용대상 특정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088702F-A331-AF52-C523-BCE8E06BD2E4}"/>
              </a:ext>
            </a:extLst>
          </p:cNvPr>
          <p:cNvSpPr/>
          <p:nvPr/>
        </p:nvSpPr>
        <p:spPr>
          <a:xfrm>
            <a:off x="2721641" y="3477257"/>
            <a:ext cx="2134561" cy="3004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동일성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dirty="0">
                <a:solidFill>
                  <a:schemeClr val="tx1"/>
                </a:solidFill>
              </a:rPr>
              <a:t>용이성 등 판단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2C4E53A-25F1-C0EE-0988-75446D50FE1B}"/>
              </a:ext>
            </a:extLst>
          </p:cNvPr>
          <p:cNvSpPr/>
          <p:nvPr/>
        </p:nvSpPr>
        <p:spPr>
          <a:xfrm>
            <a:off x="2721641" y="4259768"/>
            <a:ext cx="2134561" cy="3004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특허발명 특정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477FAEC-F567-D217-18D7-327CFB81835E}"/>
              </a:ext>
            </a:extLst>
          </p:cNvPr>
          <p:cNvSpPr/>
          <p:nvPr/>
        </p:nvSpPr>
        <p:spPr>
          <a:xfrm>
            <a:off x="2721641" y="4633215"/>
            <a:ext cx="2134561" cy="3004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확인대상발명 특정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2C4C1D4-5AE8-B4D0-5C07-D10E1349FFC5}"/>
              </a:ext>
            </a:extLst>
          </p:cNvPr>
          <p:cNvSpPr/>
          <p:nvPr/>
        </p:nvSpPr>
        <p:spPr>
          <a:xfrm>
            <a:off x="2721641" y="5016402"/>
            <a:ext cx="2134561" cy="3004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AER, </a:t>
            </a:r>
            <a:r>
              <a:rPr lang="ko-KR" altLang="en-US" sz="1600" dirty="0" err="1">
                <a:solidFill>
                  <a:schemeClr val="tx1"/>
                </a:solidFill>
              </a:rPr>
              <a:t>균등론</a:t>
            </a:r>
            <a:r>
              <a:rPr lang="ko-KR" altLang="en-US" sz="1600" dirty="0">
                <a:solidFill>
                  <a:schemeClr val="tx1"/>
                </a:solidFill>
              </a:rPr>
              <a:t> 적용 판단</a:t>
            </a: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2A57237E-2068-3B5F-5022-1410F70A64F5}"/>
              </a:ext>
            </a:extLst>
          </p:cNvPr>
          <p:cNvCxnSpPr>
            <a:stCxn id="18" idx="3"/>
            <a:endCxn id="21" idx="1"/>
          </p:cNvCxnSpPr>
          <p:nvPr/>
        </p:nvCxnSpPr>
        <p:spPr>
          <a:xfrm flipV="1">
            <a:off x="2521093" y="2858485"/>
            <a:ext cx="200548" cy="38598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D9CB72B6-232C-0DB1-CA8D-832945E0D40A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 flipV="1">
            <a:off x="2521093" y="3231932"/>
            <a:ext cx="200548" cy="1253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7C3B4FF1-1BD3-E1DA-3410-F81AA8450926}"/>
              </a:ext>
            </a:extLst>
          </p:cNvPr>
          <p:cNvCxnSpPr>
            <a:stCxn id="18" idx="3"/>
            <a:endCxn id="23" idx="1"/>
          </p:cNvCxnSpPr>
          <p:nvPr/>
        </p:nvCxnSpPr>
        <p:spPr>
          <a:xfrm>
            <a:off x="2521093" y="3244467"/>
            <a:ext cx="200548" cy="38300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9D9379CD-79BE-1AF9-7EDC-52FB40486868}"/>
              </a:ext>
            </a:extLst>
          </p:cNvPr>
          <p:cNvCxnSpPr>
            <a:cxnSpLocks/>
            <a:stCxn id="20" idx="3"/>
            <a:endCxn id="24" idx="1"/>
          </p:cNvCxnSpPr>
          <p:nvPr/>
        </p:nvCxnSpPr>
        <p:spPr>
          <a:xfrm flipV="1">
            <a:off x="2521093" y="4409987"/>
            <a:ext cx="200548" cy="38518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79927DE8-6B37-11E6-D082-1AE0F6D16D0D}"/>
              </a:ext>
            </a:extLst>
          </p:cNvPr>
          <p:cNvCxnSpPr>
            <a:stCxn id="20" idx="3"/>
            <a:endCxn id="26" idx="1"/>
          </p:cNvCxnSpPr>
          <p:nvPr/>
        </p:nvCxnSpPr>
        <p:spPr>
          <a:xfrm>
            <a:off x="2521093" y="4795167"/>
            <a:ext cx="200548" cy="37145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A3545A3D-7E07-356C-75CC-8E168D577F2F}"/>
              </a:ext>
            </a:extLst>
          </p:cNvPr>
          <p:cNvCxnSpPr>
            <a:stCxn id="20" idx="3"/>
            <a:endCxn id="25" idx="1"/>
          </p:cNvCxnSpPr>
          <p:nvPr/>
        </p:nvCxnSpPr>
        <p:spPr>
          <a:xfrm flipV="1">
            <a:off x="2521093" y="4783434"/>
            <a:ext cx="200548" cy="1173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말풍선: 모서리가 둥근 사각형 38">
            <a:extLst>
              <a:ext uri="{FF2B5EF4-FFF2-40B4-BE49-F238E27FC236}">
                <a16:creationId xmlns:a16="http://schemas.microsoft.com/office/drawing/2014/main" id="{CDAA0D92-199C-7D73-7283-56CD0214360A}"/>
              </a:ext>
            </a:extLst>
          </p:cNvPr>
          <p:cNvSpPr/>
          <p:nvPr/>
        </p:nvSpPr>
        <p:spPr>
          <a:xfrm>
            <a:off x="5325309" y="1124325"/>
            <a:ext cx="2557840" cy="1290919"/>
          </a:xfrm>
          <a:prstGeom prst="wedgeRoundRectCallout">
            <a:avLst>
              <a:gd name="adj1" fmla="val 30857"/>
              <a:gd name="adj2" fmla="val 87188"/>
              <a:gd name="adj3" fmla="val 16667"/>
            </a:avLst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</a:rPr>
              <a:t>출원인의 입장만 고려</a:t>
            </a:r>
            <a:r>
              <a:rPr lang="en-US" altLang="ko-KR" sz="1600" dirty="0">
                <a:solidFill>
                  <a:schemeClr val="bg2">
                    <a:lumMod val="50000"/>
                  </a:schemeClr>
                </a:solidFill>
              </a:rPr>
              <a:t>: </a:t>
            </a:r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</a:rPr>
              <a:t>출원인의 표시한 의사를 심사관이 임의로 변경하는 것은 타당하지 아니함</a:t>
            </a:r>
          </a:p>
        </p:txBody>
      </p:sp>
      <p:sp>
        <p:nvSpPr>
          <p:cNvPr id="40" name="말풍선: 모서리가 둥근 사각형 39">
            <a:extLst>
              <a:ext uri="{FF2B5EF4-FFF2-40B4-BE49-F238E27FC236}">
                <a16:creationId xmlns:a16="http://schemas.microsoft.com/office/drawing/2014/main" id="{03BE6E51-BF6D-8561-43CC-C4DCA5E283F1}"/>
              </a:ext>
            </a:extLst>
          </p:cNvPr>
          <p:cNvSpPr/>
          <p:nvPr/>
        </p:nvSpPr>
        <p:spPr>
          <a:xfrm>
            <a:off x="8117702" y="1124325"/>
            <a:ext cx="3892603" cy="1290919"/>
          </a:xfrm>
          <a:prstGeom prst="wedgeRoundRectCallout">
            <a:avLst>
              <a:gd name="adj1" fmla="val 3557"/>
              <a:gd name="adj2" fmla="val 83359"/>
              <a:gd name="adj3" fmla="val 16667"/>
            </a:avLst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</a:rPr>
              <a:t>출원인의 </a:t>
            </a:r>
            <a:r>
              <a:rPr lang="ko-KR" altLang="en-US" sz="1600" dirty="0" err="1">
                <a:solidFill>
                  <a:schemeClr val="bg2">
                    <a:lumMod val="50000"/>
                  </a:schemeClr>
                </a:solidFill>
              </a:rPr>
              <a:t>입장뿐만</a:t>
            </a:r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</a:rPr>
              <a:t> 아니라 </a:t>
            </a:r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  <a:highlight>
                  <a:srgbClr val="FFFF00"/>
                </a:highlight>
              </a:rPr>
              <a:t>제</a:t>
            </a:r>
            <a:r>
              <a:rPr lang="en-US" altLang="ko-KR" sz="1600" dirty="0">
                <a:solidFill>
                  <a:schemeClr val="bg2">
                    <a:lumMod val="50000"/>
                  </a:schemeClr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  <a:highlight>
                  <a:srgbClr val="FFFF00"/>
                </a:highlight>
              </a:rPr>
              <a:t>자의 입장</a:t>
            </a:r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</a:rPr>
              <a:t> 고려</a:t>
            </a:r>
            <a:r>
              <a:rPr lang="en-US" altLang="ko-KR" sz="1600" dirty="0">
                <a:solidFill>
                  <a:schemeClr val="bg2">
                    <a:lumMod val="50000"/>
                  </a:schemeClr>
                </a:solidFill>
              </a:rPr>
              <a:t>: </a:t>
            </a:r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</a:rPr>
              <a:t>보호할 가치가 없는 사항이나 진실로 발명하지 아니한 부분까지 그 권리를 인정하는 것은 곤란</a:t>
            </a:r>
          </a:p>
        </p:txBody>
      </p:sp>
      <p:sp>
        <p:nvSpPr>
          <p:cNvPr id="41" name="자유형: 도형 40">
            <a:extLst>
              <a:ext uri="{FF2B5EF4-FFF2-40B4-BE49-F238E27FC236}">
                <a16:creationId xmlns:a16="http://schemas.microsoft.com/office/drawing/2014/main" id="{F9E074DF-8136-B97D-46DE-5F99147B8CE2}"/>
              </a:ext>
            </a:extLst>
          </p:cNvPr>
          <p:cNvSpPr/>
          <p:nvPr/>
        </p:nvSpPr>
        <p:spPr>
          <a:xfrm>
            <a:off x="9699812" y="3702424"/>
            <a:ext cx="1712259" cy="2752164"/>
          </a:xfrm>
          <a:custGeom>
            <a:avLst/>
            <a:gdLst>
              <a:gd name="connsiteX0" fmla="*/ 385482 w 1712259"/>
              <a:gd name="connsiteY0" fmla="*/ 0 h 2752164"/>
              <a:gd name="connsiteX1" fmla="*/ 385482 w 1712259"/>
              <a:gd name="connsiteY1" fmla="*/ 555811 h 2752164"/>
              <a:gd name="connsiteX2" fmla="*/ 0 w 1712259"/>
              <a:gd name="connsiteY2" fmla="*/ 555811 h 2752164"/>
              <a:gd name="connsiteX3" fmla="*/ 0 w 1712259"/>
              <a:gd name="connsiteY3" fmla="*/ 2752164 h 2752164"/>
              <a:gd name="connsiteX4" fmla="*/ 1712259 w 1712259"/>
              <a:gd name="connsiteY4" fmla="*/ 2752164 h 2752164"/>
              <a:gd name="connsiteX5" fmla="*/ 1712259 w 1712259"/>
              <a:gd name="connsiteY5" fmla="*/ 8964 h 2752164"/>
              <a:gd name="connsiteX6" fmla="*/ 385482 w 1712259"/>
              <a:gd name="connsiteY6" fmla="*/ 0 h 2752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2259" h="2752164">
                <a:moveTo>
                  <a:pt x="385482" y="0"/>
                </a:moveTo>
                <a:lnTo>
                  <a:pt x="385482" y="555811"/>
                </a:lnTo>
                <a:lnTo>
                  <a:pt x="0" y="555811"/>
                </a:lnTo>
                <a:lnTo>
                  <a:pt x="0" y="2752164"/>
                </a:lnTo>
                <a:lnTo>
                  <a:pt x="1712259" y="2752164"/>
                </a:lnTo>
                <a:lnTo>
                  <a:pt x="1712259" y="8964"/>
                </a:lnTo>
                <a:lnTo>
                  <a:pt x="385482" y="0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10C2F59-6A30-7AE0-0F4A-F58278637965}"/>
              </a:ext>
            </a:extLst>
          </p:cNvPr>
          <p:cNvSpPr txBox="1"/>
          <p:nvPr/>
        </p:nvSpPr>
        <p:spPr>
          <a:xfrm>
            <a:off x="10555941" y="883356"/>
            <a:ext cx="922047" cy="3385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특별사정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E9786F3-A522-8BE6-862F-5EB7E8B5095C}"/>
              </a:ext>
            </a:extLst>
          </p:cNvPr>
          <p:cNvSpPr txBox="1"/>
          <p:nvPr/>
        </p:nvSpPr>
        <p:spPr>
          <a:xfrm>
            <a:off x="10094917" y="6287517"/>
            <a:ext cx="922047" cy="338554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특별사정</a:t>
            </a:r>
          </a:p>
        </p:txBody>
      </p:sp>
    </p:spTree>
    <p:extLst>
      <p:ext uri="{BB962C8B-B14F-4D97-AF65-F5344CB8AC3E}">
        <p14:creationId xmlns:p14="http://schemas.microsoft.com/office/powerpoint/2010/main" val="14006205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젭슨</a:t>
            </a:r>
            <a:r>
              <a:rPr lang="ko-KR" altLang="en-US" dirty="0"/>
              <a:t> 청구항의 </a:t>
            </a:r>
            <a:r>
              <a:rPr lang="en-US" altLang="ko-KR" dirty="0"/>
              <a:t>CASE(</a:t>
            </a:r>
            <a:r>
              <a:rPr lang="ko-KR" altLang="en-US" dirty="0"/>
              <a:t>특허요건 판단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136</a:t>
            </a:fld>
            <a:endParaRPr lang="ko-KR" altLang="en-US"/>
          </a:p>
        </p:txBody>
      </p:sp>
      <p:sp>
        <p:nvSpPr>
          <p:cNvPr id="40" name="Rectangle 1"/>
          <p:cNvSpPr>
            <a:spLocks noChangeArrowheads="1"/>
          </p:cNvSpPr>
          <p:nvPr/>
        </p:nvSpPr>
        <p:spPr bwMode="auto">
          <a:xfrm>
            <a:off x="3012012" y="3100997"/>
            <a:ext cx="15507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2" name="직사각형 41"/>
          <p:cNvSpPr/>
          <p:nvPr/>
        </p:nvSpPr>
        <p:spPr>
          <a:xfrm>
            <a:off x="527381" y="2473595"/>
            <a:ext cx="11233248" cy="35283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3" name="직선 화살표 연결선 42"/>
          <p:cNvCxnSpPr/>
          <p:nvPr/>
        </p:nvCxnSpPr>
        <p:spPr>
          <a:xfrm>
            <a:off x="911424" y="3271519"/>
            <a:ext cx="10561173" cy="0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타원 43"/>
          <p:cNvSpPr/>
          <p:nvPr/>
        </p:nvSpPr>
        <p:spPr>
          <a:xfrm>
            <a:off x="1575778" y="3174460"/>
            <a:ext cx="241792" cy="216024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타원 44"/>
          <p:cNvSpPr/>
          <p:nvPr/>
        </p:nvSpPr>
        <p:spPr>
          <a:xfrm>
            <a:off x="4072056" y="3174460"/>
            <a:ext cx="241792" cy="216024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/>
          <p:cNvSpPr/>
          <p:nvPr/>
        </p:nvSpPr>
        <p:spPr>
          <a:xfrm>
            <a:off x="8883160" y="3174460"/>
            <a:ext cx="241792" cy="21602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타원 48"/>
          <p:cNvSpPr/>
          <p:nvPr/>
        </p:nvSpPr>
        <p:spPr>
          <a:xfrm>
            <a:off x="10616791" y="3174460"/>
            <a:ext cx="241792" cy="216024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/>
          <p:cNvSpPr txBox="1"/>
          <p:nvPr/>
        </p:nvSpPr>
        <p:spPr>
          <a:xfrm>
            <a:off x="1472203" y="2850505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출원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44575" y="2833636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보정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20013" y="2833635"/>
            <a:ext cx="768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거절결정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784573" y="3481707"/>
            <a:ext cx="1824203" cy="244827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marL="180975" indent="-180975">
              <a:buAutoNum type="arabicPeriod"/>
            </a:pPr>
            <a:r>
              <a:rPr lang="en-US" altLang="ko-KR" sz="1200" dirty="0">
                <a:solidFill>
                  <a:schemeClr val="tx1"/>
                </a:solidFill>
              </a:rPr>
              <a:t>a, b, c</a:t>
            </a:r>
            <a:r>
              <a:rPr lang="ko-KR" altLang="en-US" sz="1200" dirty="0">
                <a:solidFill>
                  <a:schemeClr val="tx1"/>
                </a:solidFill>
              </a:rPr>
              <a:t>를 포함하는 것을 특징으로 하는 </a:t>
            </a:r>
            <a:r>
              <a:rPr lang="en-US" altLang="ko-KR" sz="1200" dirty="0">
                <a:solidFill>
                  <a:schemeClr val="tx1"/>
                </a:solidFill>
              </a:rPr>
              <a:t>X.</a:t>
            </a:r>
          </a:p>
          <a:p>
            <a:pPr marL="180975" indent="-180975">
              <a:buAutoNum type="arabicPeriod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180975" indent="-180975">
              <a:buAutoNum type="arabicPeriod"/>
            </a:pP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r>
              <a:rPr lang="ko-KR" altLang="en-US" sz="1200" dirty="0">
                <a:solidFill>
                  <a:schemeClr val="tx1"/>
                </a:solidFill>
              </a:rPr>
              <a:t>항에 있어서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d</a:t>
            </a:r>
            <a:r>
              <a:rPr lang="ko-KR" altLang="en-US" sz="1200" dirty="0">
                <a:solidFill>
                  <a:schemeClr val="tx1"/>
                </a:solidFill>
              </a:rPr>
              <a:t>를 더 포함하는 것을 특징으로 하는 </a:t>
            </a:r>
            <a:r>
              <a:rPr lang="en-US" altLang="ko-KR" sz="1200" dirty="0">
                <a:solidFill>
                  <a:schemeClr val="tx1"/>
                </a:solidFill>
              </a:rPr>
              <a:t>X.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3328856" y="3481707"/>
            <a:ext cx="1824203" cy="244827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marL="180975" indent="-180975">
              <a:buAutoNum type="arabicPeriod"/>
            </a:pPr>
            <a:r>
              <a:rPr lang="en-US" altLang="ko-KR" sz="1200" dirty="0">
                <a:solidFill>
                  <a:schemeClr val="tx1"/>
                </a:solidFill>
              </a:rPr>
              <a:t>a, b, c</a:t>
            </a:r>
            <a:r>
              <a:rPr lang="ko-KR" altLang="en-US" sz="1200" dirty="0">
                <a:solidFill>
                  <a:schemeClr val="tx1"/>
                </a:solidFill>
              </a:rPr>
              <a:t>를 포함한 </a:t>
            </a:r>
            <a:r>
              <a:rPr lang="en-US" altLang="ko-KR" sz="1200" dirty="0">
                <a:solidFill>
                  <a:schemeClr val="tx1"/>
                </a:solidFill>
              </a:rPr>
              <a:t>X</a:t>
            </a:r>
            <a:r>
              <a:rPr lang="ko-KR" altLang="en-US" sz="1200" dirty="0">
                <a:solidFill>
                  <a:schemeClr val="tx1"/>
                </a:solidFill>
              </a:rPr>
              <a:t>에 있어서</a:t>
            </a:r>
            <a:r>
              <a:rPr lang="en-US" altLang="ko-KR" sz="1200" dirty="0">
                <a:solidFill>
                  <a:schemeClr val="tx1"/>
                </a:solidFill>
              </a:rPr>
              <a:t>, d</a:t>
            </a:r>
            <a:r>
              <a:rPr lang="ko-KR" altLang="en-US" sz="1200" dirty="0">
                <a:solidFill>
                  <a:schemeClr val="tx1"/>
                </a:solidFill>
              </a:rPr>
              <a:t>를 더 포함하는 것을 특징으로 하는 </a:t>
            </a:r>
            <a:r>
              <a:rPr lang="en-US" altLang="ko-KR" sz="1200" dirty="0">
                <a:solidFill>
                  <a:schemeClr val="tx1"/>
                </a:solidFill>
              </a:rPr>
              <a:t>X.</a:t>
            </a:r>
          </a:p>
          <a:p>
            <a:pPr marL="180975" indent="-180975">
              <a:buAutoNum type="arabicPeriod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180975" indent="-180975">
              <a:buAutoNum type="arabicPeriod"/>
            </a:pPr>
            <a:r>
              <a:rPr lang="ko-KR" altLang="en-US" sz="12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60" name="타원 59"/>
          <p:cNvSpPr/>
          <p:nvPr/>
        </p:nvSpPr>
        <p:spPr>
          <a:xfrm>
            <a:off x="6072738" y="3174460"/>
            <a:ext cx="241792" cy="216024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5882042" y="2833636"/>
            <a:ext cx="5982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의견서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5329538" y="3481707"/>
            <a:ext cx="1824203" cy="244827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200" dirty="0" err="1"/>
              <a:t>청구항</a:t>
            </a:r>
            <a:r>
              <a:rPr lang="ko-KR" altLang="en-US" sz="1200" dirty="0"/>
              <a:t> 제</a:t>
            </a:r>
            <a:r>
              <a:rPr lang="en-US" altLang="ko-KR" sz="1200" dirty="0"/>
              <a:t>1</a:t>
            </a:r>
            <a:r>
              <a:rPr lang="ko-KR" altLang="en-US" sz="1200" dirty="0"/>
              <a:t>항과 제</a:t>
            </a:r>
            <a:r>
              <a:rPr lang="en-US" altLang="ko-KR" sz="1200" dirty="0"/>
              <a:t>2</a:t>
            </a:r>
            <a:r>
              <a:rPr lang="ko-KR" altLang="en-US" sz="1200" dirty="0"/>
              <a:t>항을 결합하여 하나의 항으로 만들되 </a:t>
            </a:r>
            <a:r>
              <a:rPr lang="ko-KR" altLang="en-US" sz="1200" dirty="0" err="1">
                <a:solidFill>
                  <a:srgbClr val="FF0000"/>
                </a:solidFill>
              </a:rPr>
              <a:t>청구항</a:t>
            </a:r>
            <a:r>
              <a:rPr lang="ko-KR" altLang="en-US" sz="1200" dirty="0">
                <a:solidFill>
                  <a:srgbClr val="FF0000"/>
                </a:solidFill>
              </a:rPr>
              <a:t> 제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항에 있던 부분을 공지기술로 한정</a:t>
            </a:r>
            <a:r>
              <a:rPr lang="ko-KR" altLang="en-US" sz="1200" dirty="0"/>
              <a:t>하여 </a:t>
            </a:r>
            <a:r>
              <a:rPr lang="ko-KR" altLang="en-US" sz="1200" dirty="0" err="1"/>
              <a:t>전제부로</a:t>
            </a:r>
            <a:r>
              <a:rPr lang="ko-KR" altLang="en-US" sz="1200" dirty="0"/>
              <a:t> 기재하고 </a:t>
            </a:r>
            <a:r>
              <a:rPr lang="ko-KR" altLang="en-US" sz="1200" dirty="0" err="1"/>
              <a:t>청구항</a:t>
            </a:r>
            <a:r>
              <a:rPr lang="ko-KR" altLang="en-US" sz="1200" dirty="0"/>
              <a:t> 제</a:t>
            </a:r>
            <a:r>
              <a:rPr lang="en-US" altLang="ko-KR" sz="1200" dirty="0"/>
              <a:t>2</a:t>
            </a:r>
            <a:r>
              <a:rPr lang="ko-KR" altLang="en-US" sz="1200" dirty="0"/>
              <a:t>항에 있던 부분을 </a:t>
            </a:r>
            <a:r>
              <a:rPr lang="ko-KR" altLang="en-US" sz="1200" dirty="0" err="1"/>
              <a:t>특징부에</a:t>
            </a:r>
            <a:r>
              <a:rPr lang="ko-KR" altLang="en-US" sz="1200" dirty="0"/>
              <a:t> </a:t>
            </a:r>
            <a:r>
              <a:rPr lang="ko-KR" altLang="en-US" sz="1200" dirty="0" err="1"/>
              <a:t>기재하였는</a:t>
            </a:r>
            <a:r>
              <a:rPr lang="ko-KR" altLang="en-US" sz="1200" dirty="0"/>
              <a:t> 바 재심사하여 </a:t>
            </a:r>
            <a:r>
              <a:rPr lang="ko-KR" altLang="en-US" sz="1200" dirty="0" err="1"/>
              <a:t>특허결정해달라</a:t>
            </a:r>
            <a:endParaRPr lang="ko-KR" altLang="en-US" sz="1200" dirty="0"/>
          </a:p>
        </p:txBody>
      </p:sp>
      <p:sp>
        <p:nvSpPr>
          <p:cNvPr id="63" name="타원 62"/>
          <p:cNvSpPr/>
          <p:nvPr/>
        </p:nvSpPr>
        <p:spPr>
          <a:xfrm>
            <a:off x="2805901" y="3174460"/>
            <a:ext cx="241792" cy="21602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/>
          <p:cNvSpPr txBox="1"/>
          <p:nvPr/>
        </p:nvSpPr>
        <p:spPr>
          <a:xfrm>
            <a:off x="2094086" y="2739860"/>
            <a:ext cx="1715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OA</a:t>
            </a:r>
          </a:p>
          <a:p>
            <a:pPr algn="ctr"/>
            <a:r>
              <a:rPr lang="en-US" altLang="ko-KR" sz="1200" dirty="0"/>
              <a:t>(1</a:t>
            </a:r>
            <a:r>
              <a:rPr lang="ko-KR" altLang="en-US" sz="1200" dirty="0"/>
              <a:t>항이 진보성 위반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65" name="직사각형 64"/>
          <p:cNvSpPr/>
          <p:nvPr/>
        </p:nvSpPr>
        <p:spPr>
          <a:xfrm>
            <a:off x="9825586" y="3481707"/>
            <a:ext cx="1824203" cy="244827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실제로는</a:t>
            </a:r>
            <a:r>
              <a:rPr lang="en-US" altLang="ko-KR" sz="1200" dirty="0">
                <a:solidFill>
                  <a:srgbClr val="FF0000"/>
                </a:solidFill>
              </a:rPr>
              <a:t> a, b, c</a:t>
            </a:r>
            <a:r>
              <a:rPr lang="ko-KR" altLang="en-US" sz="1200" dirty="0">
                <a:solidFill>
                  <a:srgbClr val="FF0000"/>
                </a:solidFill>
              </a:rPr>
              <a:t>가 </a:t>
            </a:r>
            <a:r>
              <a:rPr lang="ko-KR" altLang="en-US" sz="1200" dirty="0" err="1">
                <a:solidFill>
                  <a:srgbClr val="FF0000"/>
                </a:solidFill>
              </a:rPr>
              <a:t>공지기술이</a:t>
            </a:r>
            <a:r>
              <a:rPr lang="ko-KR" altLang="en-US" sz="1200" dirty="0">
                <a:solidFill>
                  <a:srgbClr val="FF0000"/>
                </a:solidFill>
              </a:rPr>
              <a:t> 아니고</a:t>
            </a:r>
            <a:r>
              <a:rPr lang="en-US" altLang="ko-KR" sz="1200" dirty="0">
                <a:solidFill>
                  <a:srgbClr val="FF0000"/>
                </a:solidFill>
              </a:rPr>
              <a:t>,</a:t>
            </a:r>
            <a:r>
              <a:rPr lang="ko-KR" altLang="en-US" sz="1200" dirty="0">
                <a:solidFill>
                  <a:srgbClr val="FF0000"/>
                </a:solidFill>
              </a:rPr>
              <a:t> 출원 당시 아직 공개되지 아니한 </a:t>
            </a:r>
            <a:r>
              <a:rPr lang="ko-KR" altLang="en-US" sz="1200" dirty="0" err="1">
                <a:solidFill>
                  <a:srgbClr val="FF0000"/>
                </a:solidFill>
              </a:rPr>
              <a:t>선출원발명</a:t>
            </a:r>
            <a:r>
              <a:rPr lang="ko-KR" altLang="en-US" sz="1200" dirty="0">
                <a:solidFill>
                  <a:srgbClr val="FF0000"/>
                </a:solidFill>
              </a:rPr>
              <a:t> 또는 출원인의 회사 내부에만 알려져 있었던 기술이나 착오로 공지된 것으로 잘못 기재하였음이 밝혀짐</a:t>
            </a:r>
            <a:endParaRPr lang="en-US" altLang="ko-KR" sz="1200" dirty="0">
              <a:solidFill>
                <a:srgbClr val="FF0000"/>
              </a:solidFill>
            </a:endParaRPr>
          </a:p>
        </p:txBody>
      </p:sp>
      <p:sp>
        <p:nvSpPr>
          <p:cNvPr id="66" name="타원 65"/>
          <p:cNvSpPr/>
          <p:nvPr/>
        </p:nvSpPr>
        <p:spPr>
          <a:xfrm>
            <a:off x="9587756" y="3174460"/>
            <a:ext cx="241792" cy="216024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TextBox 66"/>
          <p:cNvSpPr txBox="1"/>
          <p:nvPr/>
        </p:nvSpPr>
        <p:spPr>
          <a:xfrm>
            <a:off x="9354725" y="2833636"/>
            <a:ext cx="7360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심판청구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875" y="986046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ko-KR" altLang="en-US" sz="1400" dirty="0"/>
              <a:t>특허요건을 판단할 때 명세서의 전체적인 기재와 출원 경과를 종합적으로 고려하여 </a:t>
            </a:r>
            <a:r>
              <a:rPr lang="ko-KR" altLang="en-US" sz="1400" dirty="0" err="1"/>
              <a:t>출원인이</a:t>
            </a:r>
            <a:r>
              <a:rPr lang="ko-KR" altLang="en-US" sz="1400" dirty="0"/>
              <a:t> 일정한 구성요소는 공지기술이라는 취지로 청구범위의 </a:t>
            </a:r>
            <a:r>
              <a:rPr lang="ko-KR" altLang="en-US" sz="1400" dirty="0" err="1"/>
              <a:t>전제부에</a:t>
            </a:r>
            <a:r>
              <a:rPr lang="ko-KR" altLang="en-US" sz="1400" dirty="0"/>
              <a:t> 기재하였음을 인정할 수 있는 경우</a:t>
            </a:r>
            <a:r>
              <a:rPr lang="en-US" altLang="ko-KR" sz="1400" dirty="0"/>
              <a:t>(</a:t>
            </a:r>
            <a:r>
              <a:rPr lang="ko-KR" altLang="en-US" sz="1400" dirty="0"/>
              <a:t>공지 자인</a:t>
            </a:r>
            <a:r>
              <a:rPr lang="en-US" altLang="ko-KR" sz="1400" dirty="0"/>
              <a:t>)</a:t>
            </a:r>
            <a:r>
              <a:rPr lang="ko-KR" altLang="en-US" sz="1400" dirty="0"/>
              <a:t>에는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별도의 증거 없이도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전제부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기재 구성요소를 출원 전 공지된 것이라고 사실상 추정</a:t>
            </a:r>
            <a:r>
              <a:rPr lang="ko-KR" altLang="en-US" sz="1400" dirty="0"/>
              <a:t>할 수 있다</a:t>
            </a:r>
            <a:r>
              <a:rPr lang="en-US" altLang="ko-KR" sz="1400" dirty="0"/>
              <a:t>. </a:t>
            </a:r>
            <a:r>
              <a:rPr lang="ko-KR" altLang="en-US" sz="1400" dirty="0"/>
              <a:t>그러나 이러한 추정이 절대적인 것은 아니므로 </a:t>
            </a:r>
            <a:r>
              <a:rPr lang="ko-KR" altLang="en-US" sz="1400" dirty="0" err="1"/>
              <a:t>출원인이</a:t>
            </a:r>
            <a:r>
              <a:rPr lang="ko-KR" altLang="en-US" sz="1400" dirty="0"/>
              <a:t> 실제로는 출원 당시 아직 공개되지 아니한 </a:t>
            </a:r>
            <a:r>
              <a:rPr lang="ko-KR" altLang="en-US" sz="1400" dirty="0" err="1"/>
              <a:t>선출원발명이나</a:t>
            </a:r>
            <a:r>
              <a:rPr lang="ko-KR" altLang="en-US" sz="1400" dirty="0"/>
              <a:t> 출원인의 회사 내부에만 알려져 있었던 기술을 착오로 공지된 것으로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잘못 기재하였음이 밝혀지는 경우와 같이 특별한 사정이 있는 때에는 추정이 번복될 수 있다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cxnSp>
        <p:nvCxnSpPr>
          <p:cNvPr id="69" name="직선 연결선 68"/>
          <p:cNvCxnSpPr/>
          <p:nvPr/>
        </p:nvCxnSpPr>
        <p:spPr>
          <a:xfrm>
            <a:off x="0" y="194543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타원 69"/>
          <p:cNvSpPr/>
          <p:nvPr/>
        </p:nvSpPr>
        <p:spPr>
          <a:xfrm>
            <a:off x="7907376" y="3174460"/>
            <a:ext cx="241792" cy="21602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/>
          <p:cNvSpPr txBox="1"/>
          <p:nvPr/>
        </p:nvSpPr>
        <p:spPr>
          <a:xfrm>
            <a:off x="7644229" y="2833635"/>
            <a:ext cx="768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실체심사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7216649" y="3481707"/>
            <a:ext cx="1824203" cy="244827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200" dirty="0"/>
              <a:t>별도의 </a:t>
            </a:r>
            <a:r>
              <a:rPr lang="ko-KR" altLang="en-US" sz="1200" dirty="0" err="1"/>
              <a:t>증거없이도</a:t>
            </a:r>
            <a:r>
              <a:rPr lang="en-US" altLang="ko-KR" sz="1200" dirty="0"/>
              <a:t> a, b, c, d </a:t>
            </a:r>
            <a:r>
              <a:rPr lang="ko-KR" altLang="en-US" sz="1200" dirty="0"/>
              <a:t>중 </a:t>
            </a:r>
            <a:r>
              <a:rPr lang="en-US" altLang="ko-KR" sz="1200" dirty="0"/>
              <a:t>a, b, c</a:t>
            </a:r>
            <a:r>
              <a:rPr lang="ko-KR" altLang="en-US" sz="1200" dirty="0"/>
              <a:t>가 공지된 것으로 추정한 후 심사진행</a:t>
            </a:r>
          </a:p>
        </p:txBody>
      </p:sp>
    </p:spTree>
    <p:extLst>
      <p:ext uri="{BB962C8B-B14F-4D97-AF65-F5344CB8AC3E}">
        <p14:creationId xmlns:p14="http://schemas.microsoft.com/office/powerpoint/2010/main" val="334878473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젭슨</a:t>
            </a:r>
            <a:r>
              <a:rPr lang="ko-KR" altLang="en-US" dirty="0"/>
              <a:t> 청구항의 </a:t>
            </a:r>
            <a:r>
              <a:rPr lang="en-US" altLang="ko-KR" dirty="0"/>
              <a:t>CASE(</a:t>
            </a:r>
            <a:r>
              <a:rPr lang="ko-KR" altLang="en-US" dirty="0"/>
              <a:t>보호범위 판단</a:t>
            </a:r>
            <a:r>
              <a:rPr lang="en-US" altLang="ko-KR" dirty="0"/>
              <a:t>): </a:t>
            </a:r>
            <a:r>
              <a:rPr lang="ko-KR" altLang="en-US" dirty="0"/>
              <a:t>안락의자 사건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137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23F57A-3C17-F404-8165-FB0DECD18874}"/>
              </a:ext>
            </a:extLst>
          </p:cNvPr>
          <p:cNvSpPr txBox="1"/>
          <p:nvPr/>
        </p:nvSpPr>
        <p:spPr>
          <a:xfrm>
            <a:off x="77875" y="1362569"/>
            <a:ext cx="1193632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지식재산처 심사관으로부터 실용신안공고 제</a:t>
            </a:r>
            <a:r>
              <a:rPr lang="en-US" altLang="ko-KR" sz="1400" dirty="0"/>
              <a:t>95-4971</a:t>
            </a:r>
            <a:r>
              <a:rPr lang="ko-KR" altLang="en-US" sz="1400" dirty="0"/>
              <a:t>호 고안 등에 의하여 통상의 기술자가 극히 용이하게 고안할 수 있다는 이유로 거절이유통지를 받고</a:t>
            </a:r>
            <a:r>
              <a:rPr lang="en-US" altLang="ko-KR" sz="1400" dirty="0"/>
              <a:t>, 1998. 7. 22. </a:t>
            </a:r>
            <a:r>
              <a:rPr lang="ko-KR" altLang="en-US" sz="1400" dirty="0"/>
              <a:t>의견서 및 </a:t>
            </a:r>
            <a:r>
              <a:rPr lang="ko-KR" altLang="en-US" sz="1400" dirty="0" err="1"/>
              <a:t>보정서를</a:t>
            </a:r>
            <a:r>
              <a:rPr lang="ko-KR" altLang="en-US" sz="1400" dirty="0"/>
              <a:t> 제출하면서 </a:t>
            </a:r>
            <a:r>
              <a:rPr lang="ko-KR" altLang="en-US" sz="1400" dirty="0">
                <a:highlight>
                  <a:srgbClr val="FFFF00"/>
                </a:highlight>
              </a:rPr>
              <a:t>인용발명에 저촉되는 부분을 공지의 기술로 하여 청구범위를 대폭 축소 한정한다고 주장함</a:t>
            </a:r>
            <a:r>
              <a:rPr lang="ko-KR" altLang="en-US" sz="1400" dirty="0"/>
              <a:t>과 아울러 </a:t>
            </a:r>
            <a:r>
              <a:rPr lang="ko-KR" altLang="en-US" sz="1400" dirty="0" err="1"/>
              <a:t>청구항</a:t>
            </a:r>
            <a:r>
              <a:rPr lang="ko-KR" altLang="en-US" sz="1400" dirty="0"/>
              <a:t> 제</a:t>
            </a:r>
            <a:r>
              <a:rPr lang="en-US" altLang="ko-KR" sz="1400" dirty="0"/>
              <a:t>1</a:t>
            </a:r>
            <a:r>
              <a:rPr lang="ko-KR" altLang="en-US" sz="1400" dirty="0"/>
              <a:t>항과 제</a:t>
            </a:r>
            <a:r>
              <a:rPr lang="en-US" altLang="ko-KR" sz="1400" dirty="0"/>
              <a:t>2</a:t>
            </a:r>
            <a:r>
              <a:rPr lang="ko-KR" altLang="en-US" sz="1400" dirty="0"/>
              <a:t>항을 결합하여 하나의 항으로 만들되 </a:t>
            </a:r>
            <a:r>
              <a:rPr lang="ko-KR" altLang="en-US" sz="1400" dirty="0" err="1"/>
              <a:t>청구항</a:t>
            </a:r>
            <a:r>
              <a:rPr lang="ko-KR" altLang="en-US" sz="1400" dirty="0"/>
              <a:t> 제</a:t>
            </a:r>
            <a:r>
              <a:rPr lang="en-US" altLang="ko-KR" sz="1400" dirty="0"/>
              <a:t>1</a:t>
            </a:r>
            <a:r>
              <a:rPr lang="ko-KR" altLang="en-US" sz="1400" dirty="0"/>
              <a:t>항에 있던 부분을 </a:t>
            </a:r>
            <a:r>
              <a:rPr lang="ko-KR" altLang="en-US" sz="1400" dirty="0" err="1"/>
              <a:t>전제부로</a:t>
            </a:r>
            <a:r>
              <a:rPr lang="ko-KR" altLang="en-US" sz="1400" dirty="0"/>
              <a:t> 기재하고 </a:t>
            </a:r>
            <a:r>
              <a:rPr lang="ko-KR" altLang="en-US" sz="1400" dirty="0" err="1"/>
              <a:t>청구항</a:t>
            </a:r>
            <a:r>
              <a:rPr lang="ko-KR" altLang="en-US" sz="1400" dirty="0"/>
              <a:t> 제</a:t>
            </a:r>
            <a:r>
              <a:rPr lang="en-US" altLang="ko-KR" sz="1400" dirty="0"/>
              <a:t>2</a:t>
            </a:r>
            <a:r>
              <a:rPr lang="ko-KR" altLang="en-US" sz="1400" dirty="0"/>
              <a:t>항에 있던 부분을 </a:t>
            </a:r>
            <a:r>
              <a:rPr lang="ko-KR" altLang="en-US" sz="1400" dirty="0" err="1"/>
              <a:t>특징부에</a:t>
            </a:r>
            <a:r>
              <a:rPr lang="ko-KR" altLang="en-US" sz="1400" dirty="0"/>
              <a:t> 기재하였는바</a:t>
            </a:r>
            <a:r>
              <a:rPr lang="en-US" altLang="ko-KR" sz="1400" dirty="0"/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그렇다면 출원인 스스로 전제부의 기재사항인 「등받이와 보조받침을 직접 연결하여 연계동작을 하는 연결레버를 안내부가 안내하도록 하는 구성」을 공지의 기술로 한정한 것이라 하겠고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나아가 다시 </a:t>
            </a:r>
            <a:r>
              <a:rPr lang="ko-KR" altLang="en-US" sz="1400" dirty="0" err="1">
                <a:highlight>
                  <a:srgbClr val="FFFF00"/>
                </a:highlight>
              </a:rPr>
              <a:t>특징부에서</a:t>
            </a:r>
            <a:r>
              <a:rPr lang="ko-KR" altLang="en-US" sz="1400" dirty="0">
                <a:highlight>
                  <a:srgbClr val="FFFF00"/>
                </a:highlight>
              </a:rPr>
              <a:t> 위 </a:t>
            </a:r>
            <a:r>
              <a:rPr lang="ko-KR" altLang="en-US" sz="1400" b="1" dirty="0" err="1">
                <a:highlight>
                  <a:srgbClr val="FFFF00"/>
                </a:highlight>
              </a:rPr>
              <a:t>안내부를</a:t>
            </a:r>
            <a:r>
              <a:rPr lang="ko-KR" altLang="en-US" sz="1400" b="1" dirty="0">
                <a:highlight>
                  <a:srgbClr val="FFFF00"/>
                </a:highlight>
              </a:rPr>
              <a:t> 「한 쌍의 롤러」로 한정</a:t>
            </a:r>
            <a:r>
              <a:rPr lang="ko-KR" altLang="en-US" sz="1400" dirty="0">
                <a:highlight>
                  <a:srgbClr val="FFFF00"/>
                </a:highlight>
              </a:rPr>
              <a:t>한 것은 </a:t>
            </a:r>
            <a:r>
              <a:rPr lang="ko-KR" altLang="en-US" sz="1400" dirty="0" err="1">
                <a:highlight>
                  <a:srgbClr val="FFFF00"/>
                </a:highlight>
              </a:rPr>
              <a:t>출원인이</a:t>
            </a:r>
            <a:r>
              <a:rPr lang="ko-KR" altLang="en-US" sz="1400" dirty="0">
                <a:highlight>
                  <a:srgbClr val="FFFF00"/>
                </a:highlight>
              </a:rPr>
              <a:t> 이와 균등관계에 있는 구성에 대해서는 그 권리범위를 주장하지 않겠다는 취지로 볼 것이므로</a:t>
            </a:r>
            <a:r>
              <a:rPr lang="en-US" altLang="ko-KR" sz="1400" dirty="0"/>
              <a:t>, </a:t>
            </a:r>
            <a:r>
              <a:rPr lang="ko-KR" altLang="en-US" sz="1400" dirty="0"/>
              <a:t>결국 </a:t>
            </a:r>
            <a:r>
              <a:rPr lang="ko-KR" altLang="en-US" sz="1400" dirty="0" err="1"/>
              <a:t>출원경과금반언의</a:t>
            </a:r>
            <a:r>
              <a:rPr lang="ko-KR" altLang="en-US" sz="1400" dirty="0"/>
              <a:t> 원칙상 등받이와 보조받침을 직접 연결하여 연계동작을 하는 연결레버를 안내부가 안내하도록 함에 있어서</a:t>
            </a:r>
            <a:r>
              <a:rPr lang="en-US" altLang="ko-KR" sz="1400" dirty="0"/>
              <a:t>, </a:t>
            </a:r>
            <a:r>
              <a:rPr lang="ko-KR" altLang="en-US" sz="1400" dirty="0"/>
              <a:t>그 </a:t>
            </a:r>
            <a:r>
              <a:rPr lang="ko-KR" altLang="en-US" sz="1400" dirty="0" err="1"/>
              <a:t>안내부를</a:t>
            </a:r>
            <a:r>
              <a:rPr lang="ko-KR" altLang="en-US" sz="1400" dirty="0"/>
              <a:t> </a:t>
            </a:r>
            <a:r>
              <a:rPr lang="en-US" altLang="ko-KR" sz="1400" dirty="0"/>
              <a:t>{</a:t>
            </a:r>
            <a:r>
              <a:rPr lang="ko-KR" altLang="en-US" sz="1400" dirty="0"/>
              <a:t>확인대상 고안과 같은</a:t>
            </a:r>
            <a:r>
              <a:rPr lang="en-US" altLang="ko-KR" sz="1400" dirty="0"/>
              <a:t>} </a:t>
            </a:r>
            <a:r>
              <a:rPr lang="ko-KR" altLang="en-US" sz="1400" dirty="0" err="1"/>
              <a:t>슬라이드관으로</a:t>
            </a:r>
            <a:r>
              <a:rPr lang="ko-KR" altLang="en-US" sz="1400" dirty="0"/>
              <a:t> 구성하는 것은 이 사건 등록고안의 </a:t>
            </a:r>
            <a:r>
              <a:rPr lang="ko-KR" altLang="en-US" sz="1400" dirty="0" err="1"/>
              <a:t>출원인이</a:t>
            </a:r>
            <a:r>
              <a:rPr lang="ko-KR" altLang="en-US" sz="1400" dirty="0"/>
              <a:t> 의식적으로 그 보호범위로부터 제외한 것으로 봄이 상당하여</a:t>
            </a:r>
            <a:r>
              <a:rPr lang="en-US" altLang="ko-KR" sz="1400" dirty="0"/>
              <a:t>, </a:t>
            </a:r>
            <a:r>
              <a:rPr lang="ko-KR" altLang="en-US" sz="1400" dirty="0"/>
              <a:t>확인대상 고안의 </a:t>
            </a:r>
            <a:r>
              <a:rPr lang="ko-KR" altLang="en-US" sz="1400" dirty="0" err="1"/>
              <a:t>슬라이드관은</a:t>
            </a:r>
            <a:r>
              <a:rPr lang="ko-KR" altLang="en-US" sz="1400" dirty="0"/>
              <a:t> 이 사건 등록고안 제</a:t>
            </a:r>
            <a:r>
              <a:rPr lang="en-US" altLang="ko-KR" sz="1400" dirty="0"/>
              <a:t>1</a:t>
            </a:r>
            <a:r>
              <a:rPr lang="ko-KR" altLang="en-US" sz="1400" dirty="0"/>
              <a:t>항의 롤러의 </a:t>
            </a:r>
            <a:r>
              <a:rPr lang="ko-KR" altLang="en-US" sz="1400" dirty="0" err="1"/>
              <a:t>균등론이</a:t>
            </a:r>
            <a:r>
              <a:rPr lang="ko-KR" altLang="en-US" sz="1400" dirty="0"/>
              <a:t> 될 수 없다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DE66145-8A82-A69A-8833-AD7659367D3E}"/>
              </a:ext>
            </a:extLst>
          </p:cNvPr>
          <p:cNvCxnSpPr/>
          <p:nvPr/>
        </p:nvCxnSpPr>
        <p:spPr>
          <a:xfrm>
            <a:off x="0" y="3185021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8AA8B645-6494-02D7-2E7A-7092E6209BBE}"/>
              </a:ext>
            </a:extLst>
          </p:cNvPr>
          <p:cNvSpPr/>
          <p:nvPr/>
        </p:nvSpPr>
        <p:spPr>
          <a:xfrm>
            <a:off x="395535" y="3245223"/>
            <a:ext cx="11381597" cy="33996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F6252B0-3ED4-5658-267C-15141A9E1961}"/>
              </a:ext>
            </a:extLst>
          </p:cNvPr>
          <p:cNvCxnSpPr/>
          <p:nvPr/>
        </p:nvCxnSpPr>
        <p:spPr>
          <a:xfrm>
            <a:off x="683568" y="3914419"/>
            <a:ext cx="10721032" cy="0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B453716C-1BFD-2456-F4C9-1395A493AE11}"/>
              </a:ext>
            </a:extLst>
          </p:cNvPr>
          <p:cNvSpPr/>
          <p:nvPr/>
        </p:nvSpPr>
        <p:spPr>
          <a:xfrm>
            <a:off x="1475656" y="3817360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6131794-B755-3AE1-A718-51AEF6990E19}"/>
              </a:ext>
            </a:extLst>
          </p:cNvPr>
          <p:cNvSpPr/>
          <p:nvPr/>
        </p:nvSpPr>
        <p:spPr>
          <a:xfrm>
            <a:off x="3963671" y="3817360"/>
            <a:ext cx="216024" cy="216024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FDA06F30-5629-5303-DEB6-73DBF4F81266}"/>
              </a:ext>
            </a:extLst>
          </p:cNvPr>
          <p:cNvSpPr/>
          <p:nvPr/>
        </p:nvSpPr>
        <p:spPr>
          <a:xfrm>
            <a:off x="6487561" y="3817360"/>
            <a:ext cx="216024" cy="21602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10F6C951-FE27-6F95-AB73-7CB573A35DF3}"/>
              </a:ext>
            </a:extLst>
          </p:cNvPr>
          <p:cNvSpPr/>
          <p:nvPr/>
        </p:nvSpPr>
        <p:spPr>
          <a:xfrm>
            <a:off x="7615602" y="3817360"/>
            <a:ext cx="216024" cy="216024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AC02A9-3F08-EFCF-B6A7-C3FD1B9FC9E6}"/>
              </a:ext>
            </a:extLst>
          </p:cNvPr>
          <p:cNvSpPr txBox="1"/>
          <p:nvPr/>
        </p:nvSpPr>
        <p:spPr>
          <a:xfrm>
            <a:off x="1345462" y="3493404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출원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D15F78-AAB2-4567-960D-F5D399FB268F}"/>
              </a:ext>
            </a:extLst>
          </p:cNvPr>
          <p:cNvSpPr txBox="1"/>
          <p:nvPr/>
        </p:nvSpPr>
        <p:spPr>
          <a:xfrm>
            <a:off x="3847299" y="3476535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보정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003A61-398C-EFE8-5D6D-9D7FB36C7482}"/>
              </a:ext>
            </a:extLst>
          </p:cNvPr>
          <p:cNvSpPr txBox="1"/>
          <p:nvPr/>
        </p:nvSpPr>
        <p:spPr>
          <a:xfrm>
            <a:off x="6307541" y="3476534"/>
            <a:ext cx="576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등록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617FE2-4DE7-6903-E1EE-0BEB41151C2C}"/>
              </a:ext>
            </a:extLst>
          </p:cNvPr>
          <p:cNvSpPr txBox="1"/>
          <p:nvPr/>
        </p:nvSpPr>
        <p:spPr>
          <a:xfrm>
            <a:off x="7274612" y="3493404"/>
            <a:ext cx="8980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3</a:t>
            </a:r>
            <a:r>
              <a:rPr lang="ko-KR" altLang="en-US" sz="1200" dirty="0"/>
              <a:t>자 실시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CA41F34-51B0-20C9-D14F-4D5324EF4E5B}"/>
              </a:ext>
            </a:extLst>
          </p:cNvPr>
          <p:cNvSpPr/>
          <p:nvPr/>
        </p:nvSpPr>
        <p:spPr>
          <a:xfrm>
            <a:off x="899592" y="4124607"/>
            <a:ext cx="1368152" cy="244827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marL="180975" indent="-180975">
              <a:buAutoNum type="arabicPeriod"/>
            </a:pPr>
            <a:r>
              <a:rPr lang="ko-KR" altLang="en-US" sz="1200" dirty="0">
                <a:solidFill>
                  <a:schemeClr val="tx1"/>
                </a:solidFill>
              </a:rPr>
              <a:t>등받이와 보조받침을 직접 연결하여 연계동작을 하는 연결레버를 안내부가 안내하도록 하는 구성을 갖는 안락의자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180975" indent="-180975">
              <a:buAutoNum type="arabicPeriod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180975" indent="-180975">
              <a:buAutoNum type="arabicPeriod"/>
            </a:pP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r>
              <a:rPr lang="ko-KR" altLang="en-US" sz="1200" dirty="0">
                <a:solidFill>
                  <a:schemeClr val="tx1"/>
                </a:solidFill>
              </a:rPr>
              <a:t>항에 있어서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상기 </a:t>
            </a:r>
            <a:r>
              <a:rPr lang="ko-KR" altLang="en-US" sz="1200" dirty="0" err="1">
                <a:solidFill>
                  <a:schemeClr val="tx1"/>
                </a:solidFill>
              </a:rPr>
              <a:t>안내부는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</a:rPr>
              <a:t>한쌍의</a:t>
            </a:r>
            <a:r>
              <a:rPr lang="ko-KR" altLang="en-US" sz="1200" dirty="0">
                <a:solidFill>
                  <a:schemeClr val="tx1"/>
                </a:solidFill>
              </a:rPr>
              <a:t> 롤러인 안락의자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AFF6807-BE53-52BE-BD6E-31808F9B6A6D}"/>
              </a:ext>
            </a:extLst>
          </p:cNvPr>
          <p:cNvSpPr/>
          <p:nvPr/>
        </p:nvSpPr>
        <p:spPr>
          <a:xfrm>
            <a:off x="3423611" y="4124607"/>
            <a:ext cx="1368152" cy="244827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marL="180975" indent="-180975">
              <a:buAutoNum type="arabicPeriod"/>
            </a:pPr>
            <a:r>
              <a:rPr lang="ko-KR" altLang="en-US" sz="1200" dirty="0">
                <a:solidFill>
                  <a:schemeClr val="tx1"/>
                </a:solidFill>
              </a:rPr>
              <a:t>등받이와 보조받침을 직접 연결하여 연계동작을 하는 연결레버를 안내부가 안내하도록 하는 구성을 갖는 안락의자에 있어서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 err="1">
                <a:solidFill>
                  <a:schemeClr val="tx1"/>
                </a:solidFill>
              </a:rPr>
              <a:t>안내부는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</a:rPr>
              <a:t>한쌍의</a:t>
            </a:r>
            <a:r>
              <a:rPr lang="ko-KR" altLang="en-US" sz="1200" dirty="0">
                <a:solidFill>
                  <a:schemeClr val="tx1"/>
                </a:solidFill>
              </a:rPr>
              <a:t> 롤러인 안락의자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180975" indent="-180975">
              <a:buAutoNum type="arabicPeriod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180975" indent="-180975">
              <a:buAutoNum type="arabicPeriod"/>
            </a:pPr>
            <a:r>
              <a:rPr lang="ko-KR" altLang="en-US" sz="12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9EA7400B-20D4-AA20-D614-FE937288CD64}"/>
              </a:ext>
            </a:extLst>
          </p:cNvPr>
          <p:cNvSpPr/>
          <p:nvPr/>
        </p:nvSpPr>
        <p:spPr>
          <a:xfrm>
            <a:off x="5641767" y="3817360"/>
            <a:ext cx="216024" cy="216024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05DB69-F543-1B1E-1E7D-D468DAEA6676}"/>
              </a:ext>
            </a:extLst>
          </p:cNvPr>
          <p:cNvSpPr txBox="1"/>
          <p:nvPr/>
        </p:nvSpPr>
        <p:spPr>
          <a:xfrm>
            <a:off x="5427181" y="3476535"/>
            <a:ext cx="622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의견서</a:t>
            </a:r>
            <a:endParaRPr lang="ko-KR" altLang="en-US" sz="12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76F893C-3969-3F85-27D1-66002FA3AD33}"/>
              </a:ext>
            </a:extLst>
          </p:cNvPr>
          <p:cNvSpPr/>
          <p:nvPr/>
        </p:nvSpPr>
        <p:spPr>
          <a:xfrm>
            <a:off x="5101707" y="4124607"/>
            <a:ext cx="1368152" cy="244827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200" dirty="0" err="1"/>
              <a:t>청구항</a:t>
            </a:r>
            <a:r>
              <a:rPr lang="ko-KR" altLang="en-US" sz="1200" dirty="0"/>
              <a:t> 제</a:t>
            </a:r>
            <a:r>
              <a:rPr lang="en-US" altLang="ko-KR" sz="1200" dirty="0"/>
              <a:t>1</a:t>
            </a:r>
            <a:r>
              <a:rPr lang="ko-KR" altLang="en-US" sz="1200" dirty="0"/>
              <a:t>항과 제</a:t>
            </a:r>
            <a:r>
              <a:rPr lang="en-US" altLang="ko-KR" sz="1200" dirty="0"/>
              <a:t>2</a:t>
            </a:r>
            <a:r>
              <a:rPr lang="ko-KR" altLang="en-US" sz="1200" dirty="0"/>
              <a:t>항을 결합하여 하나의 항으로 만들되 </a:t>
            </a:r>
            <a:r>
              <a:rPr lang="ko-KR" altLang="en-US" sz="1200" dirty="0" err="1"/>
              <a:t>청구항</a:t>
            </a:r>
            <a:r>
              <a:rPr lang="ko-KR" altLang="en-US" sz="1200" dirty="0"/>
              <a:t> 제</a:t>
            </a:r>
            <a:r>
              <a:rPr lang="en-US" altLang="ko-KR" sz="1200" dirty="0"/>
              <a:t>1</a:t>
            </a:r>
            <a:r>
              <a:rPr lang="ko-KR" altLang="en-US" sz="1200" dirty="0"/>
              <a:t>항에 있던 부분을 </a:t>
            </a:r>
            <a:r>
              <a:rPr lang="ko-KR" altLang="en-US" sz="1200" dirty="0">
                <a:solidFill>
                  <a:srgbClr val="FF0000"/>
                </a:solidFill>
              </a:rPr>
              <a:t>공지기술로 한정하여 </a:t>
            </a:r>
            <a:r>
              <a:rPr lang="ko-KR" altLang="en-US" sz="1200" dirty="0" err="1">
                <a:solidFill>
                  <a:srgbClr val="FF0000"/>
                </a:solidFill>
              </a:rPr>
              <a:t>전제부로</a:t>
            </a:r>
            <a:r>
              <a:rPr lang="ko-KR" altLang="en-US" sz="1200" dirty="0">
                <a:solidFill>
                  <a:srgbClr val="FF0000"/>
                </a:solidFill>
              </a:rPr>
              <a:t> 기재</a:t>
            </a:r>
            <a:r>
              <a:rPr lang="ko-KR" altLang="en-US" sz="1200" dirty="0"/>
              <a:t>하고 </a:t>
            </a:r>
            <a:r>
              <a:rPr lang="ko-KR" altLang="en-US" sz="1200" dirty="0" err="1"/>
              <a:t>청구항</a:t>
            </a:r>
            <a:r>
              <a:rPr lang="ko-KR" altLang="en-US" sz="1200" dirty="0"/>
              <a:t> 제</a:t>
            </a:r>
            <a:r>
              <a:rPr lang="en-US" altLang="ko-KR" sz="1200" dirty="0"/>
              <a:t>2</a:t>
            </a:r>
            <a:r>
              <a:rPr lang="ko-KR" altLang="en-US" sz="1200" dirty="0"/>
              <a:t>항에 있던 부분을 </a:t>
            </a:r>
            <a:r>
              <a:rPr lang="ko-KR" altLang="en-US" sz="1200" dirty="0" err="1"/>
              <a:t>특징부에</a:t>
            </a:r>
            <a:r>
              <a:rPr lang="ko-KR" altLang="en-US" sz="1200" dirty="0"/>
              <a:t> </a:t>
            </a:r>
            <a:r>
              <a:rPr lang="ko-KR" altLang="en-US" sz="1200" dirty="0" err="1"/>
              <a:t>기재하였는</a:t>
            </a:r>
            <a:r>
              <a:rPr lang="ko-KR" altLang="en-US" sz="1200" dirty="0"/>
              <a:t> 바 재심사하여 </a:t>
            </a:r>
            <a:r>
              <a:rPr lang="ko-KR" altLang="en-US" sz="1200" dirty="0" err="1"/>
              <a:t>특허결정해달라</a:t>
            </a:r>
            <a:endParaRPr lang="ko-KR" altLang="en-US" sz="1200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3BAD6640-9FA3-1C02-3763-C81C61001583}"/>
              </a:ext>
            </a:extLst>
          </p:cNvPr>
          <p:cNvSpPr/>
          <p:nvPr/>
        </p:nvSpPr>
        <p:spPr>
          <a:xfrm>
            <a:off x="2693451" y="3817360"/>
            <a:ext cx="216024" cy="21602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BA0D58-0911-BB37-0FFC-4765EA479A84}"/>
              </a:ext>
            </a:extLst>
          </p:cNvPr>
          <p:cNvSpPr txBox="1"/>
          <p:nvPr/>
        </p:nvSpPr>
        <p:spPr>
          <a:xfrm>
            <a:off x="1743602" y="3382759"/>
            <a:ext cx="2090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OA</a:t>
            </a:r>
          </a:p>
          <a:p>
            <a:pPr algn="ctr"/>
            <a:r>
              <a:rPr lang="en-US" altLang="ko-KR" sz="1200" dirty="0"/>
              <a:t>(1</a:t>
            </a:r>
            <a:r>
              <a:rPr lang="ko-KR" altLang="en-US" sz="1200" dirty="0"/>
              <a:t>항이 진보성 위반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344FE1B-D3DB-3B96-B0C1-9A2D4B84D584}"/>
              </a:ext>
            </a:extLst>
          </p:cNvPr>
          <p:cNvSpPr/>
          <p:nvPr/>
        </p:nvSpPr>
        <p:spPr>
          <a:xfrm>
            <a:off x="7039538" y="4124607"/>
            <a:ext cx="1368152" cy="244827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200" dirty="0">
                <a:solidFill>
                  <a:schemeClr val="tx1"/>
                </a:solidFill>
              </a:rPr>
              <a:t>등받이와 보조받침을 직접 연결하여 연계동작을 하는 연결레버를 </a:t>
            </a:r>
            <a:r>
              <a:rPr lang="ko-KR" altLang="en-US" sz="1200" dirty="0" err="1">
                <a:solidFill>
                  <a:schemeClr val="tx1"/>
                </a:solidFill>
              </a:rPr>
              <a:t>슬라이드관으로</a:t>
            </a:r>
            <a:r>
              <a:rPr lang="ko-KR" altLang="en-US" sz="1200" dirty="0">
                <a:solidFill>
                  <a:schemeClr val="tx1"/>
                </a:solidFill>
              </a:rPr>
              <a:t> 구성된 안내부가 안내하도록 하는 구성을 갖는 안락의자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25" name="모서리가 둥근 직사각형 55">
            <a:extLst>
              <a:ext uri="{FF2B5EF4-FFF2-40B4-BE49-F238E27FC236}">
                <a16:creationId xmlns:a16="http://schemas.microsoft.com/office/drawing/2014/main" id="{FE62010C-CD8F-9906-FB22-30600E98C114}"/>
              </a:ext>
            </a:extLst>
          </p:cNvPr>
          <p:cNvSpPr/>
          <p:nvPr/>
        </p:nvSpPr>
        <p:spPr bwMode="auto">
          <a:xfrm>
            <a:off x="257975" y="994095"/>
            <a:ext cx="6509882" cy="360040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2002. 6. 14.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2000</a:t>
            </a:r>
            <a:r>
              <a:rPr lang="ko-KR" altLang="en-US" sz="1400" dirty="0"/>
              <a:t>후</a:t>
            </a:r>
            <a:r>
              <a:rPr lang="en-US" altLang="ko-KR" sz="1400" dirty="0"/>
              <a:t>2712 </a:t>
            </a:r>
            <a:r>
              <a:rPr lang="ko-KR" altLang="en-US" sz="1400" dirty="0"/>
              <a:t>판결</a:t>
            </a:r>
            <a:r>
              <a:rPr lang="en-US" altLang="ko-KR" sz="1400" dirty="0"/>
              <a:t>【</a:t>
            </a:r>
            <a:r>
              <a:rPr lang="ko-KR" altLang="en-US" sz="1400" dirty="0"/>
              <a:t>권리범위확인</a:t>
            </a:r>
            <a:r>
              <a:rPr lang="en-US" altLang="ko-KR" sz="1400" dirty="0"/>
              <a:t>(</a:t>
            </a:r>
            <a:r>
              <a:rPr lang="ko-KR" altLang="en-US" sz="1400" dirty="0"/>
              <a:t>실</a:t>
            </a:r>
            <a:r>
              <a:rPr lang="en-US" altLang="ko-KR" sz="1400" dirty="0"/>
              <a:t>)】: </a:t>
            </a:r>
            <a:r>
              <a:rPr lang="ko-KR" altLang="en-US" sz="1400" dirty="0"/>
              <a:t>안락의자 사건</a:t>
            </a:r>
            <a:endParaRPr lang="en-US" altLang="ko-KR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9942A4-2713-0D50-A355-61A18E46A507}"/>
              </a:ext>
            </a:extLst>
          </p:cNvPr>
          <p:cNvSpPr txBox="1"/>
          <p:nvPr/>
        </p:nvSpPr>
        <p:spPr>
          <a:xfrm>
            <a:off x="10703520" y="5291559"/>
            <a:ext cx="7889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출원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 err="1"/>
              <a:t>안내부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50C6445-5086-10ED-F1F6-28AA54C59094}"/>
              </a:ext>
            </a:extLst>
          </p:cNvPr>
          <p:cNvSpPr/>
          <p:nvPr/>
        </p:nvSpPr>
        <p:spPr>
          <a:xfrm>
            <a:off x="8864836" y="4879146"/>
            <a:ext cx="1018227" cy="3693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한쌍의</a:t>
            </a:r>
            <a:r>
              <a:rPr lang="ko-KR" altLang="en-US" sz="1200" dirty="0">
                <a:solidFill>
                  <a:schemeClr val="tx1"/>
                </a:solidFill>
              </a:rPr>
              <a:t> 롤러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B537D87-E0F5-E557-7E3A-DAD76ED811EE}"/>
              </a:ext>
            </a:extLst>
          </p:cNvPr>
          <p:cNvSpPr/>
          <p:nvPr/>
        </p:nvSpPr>
        <p:spPr>
          <a:xfrm>
            <a:off x="9883063" y="4879146"/>
            <a:ext cx="1204457" cy="36932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슬라이드관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E43529-5581-B7C9-38CE-DB923B5E235A}"/>
              </a:ext>
            </a:extLst>
          </p:cNvPr>
          <p:cNvSpPr txBox="1"/>
          <p:nvPr/>
        </p:nvSpPr>
        <p:spPr>
          <a:xfrm>
            <a:off x="9644077" y="5291559"/>
            <a:ext cx="50847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감축</a:t>
            </a:r>
            <a:endParaRPr lang="en-US" altLang="ko-KR" sz="1400" dirty="0"/>
          </a:p>
          <a:p>
            <a:pPr algn="ctr"/>
            <a:r>
              <a:rPr lang="ko-KR" altLang="en-US" sz="1400" dirty="0"/>
              <a:t>보정</a:t>
            </a:r>
            <a:endParaRPr lang="en-US" altLang="ko-KR" sz="1400" dirty="0"/>
          </a:p>
          <a:p>
            <a:pPr algn="ctr"/>
            <a:endParaRPr lang="ko-KR" altLang="en-US" sz="1400" dirty="0"/>
          </a:p>
        </p:txBody>
      </p:sp>
      <p:pic>
        <p:nvPicPr>
          <p:cNvPr id="30" name="_x318566768" descr="EMB00002d2c0e36">
            <a:extLst>
              <a:ext uri="{FF2B5EF4-FFF2-40B4-BE49-F238E27FC236}">
                <a16:creationId xmlns:a16="http://schemas.microsoft.com/office/drawing/2014/main" id="{64F665B6-A04C-A9FA-638F-930B33FA8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3" b="12747"/>
          <a:stretch>
            <a:fillRect/>
          </a:stretch>
        </p:blipFill>
        <p:spPr bwMode="auto">
          <a:xfrm>
            <a:off x="8251640" y="3126978"/>
            <a:ext cx="1465263" cy="11414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_x318565808" descr="EMB00002d2c0e37">
            <a:extLst>
              <a:ext uri="{FF2B5EF4-FFF2-40B4-BE49-F238E27FC236}">
                <a16:creationId xmlns:a16="http://schemas.microsoft.com/office/drawing/2014/main" id="{8DB9DBF4-DA37-8382-C8AD-584B88309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9" b="16272"/>
          <a:stretch>
            <a:fillRect/>
          </a:stretch>
        </p:blipFill>
        <p:spPr bwMode="auto">
          <a:xfrm>
            <a:off x="9641828" y="3128446"/>
            <a:ext cx="1368425" cy="113823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_x318565248" descr="EMB00002d2c0e38">
            <a:extLst>
              <a:ext uri="{FF2B5EF4-FFF2-40B4-BE49-F238E27FC236}">
                <a16:creationId xmlns:a16="http://schemas.microsoft.com/office/drawing/2014/main" id="{79DED805-DEC7-7433-8EBA-158CCF1F0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7" b="16331"/>
          <a:stretch>
            <a:fillRect/>
          </a:stretch>
        </p:blipFill>
        <p:spPr bwMode="auto">
          <a:xfrm>
            <a:off x="10900737" y="3125269"/>
            <a:ext cx="1135063" cy="11414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B618BC9-6921-BDF7-8C03-09FF81201113}"/>
              </a:ext>
            </a:extLst>
          </p:cNvPr>
          <p:cNvSpPr txBox="1"/>
          <p:nvPr/>
        </p:nvSpPr>
        <p:spPr>
          <a:xfrm>
            <a:off x="8541671" y="4262609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/>
              <a:t>롤러방식</a:t>
            </a:r>
            <a:endParaRPr lang="ko-KR" altLang="en-US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8BB00C-2CAB-DF04-1AAC-0BAAF2076B68}"/>
              </a:ext>
            </a:extLst>
          </p:cNvPr>
          <p:cNvSpPr txBox="1"/>
          <p:nvPr/>
        </p:nvSpPr>
        <p:spPr>
          <a:xfrm>
            <a:off x="9721504" y="4262609"/>
            <a:ext cx="11560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/>
              <a:t>슬라이딩방식</a:t>
            </a:r>
            <a:endParaRPr lang="ko-KR" altLang="en-US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C04CF5-624B-3ACD-5773-9F007E3B9630}"/>
              </a:ext>
            </a:extLst>
          </p:cNvPr>
          <p:cNvSpPr txBox="1"/>
          <p:nvPr/>
        </p:nvSpPr>
        <p:spPr>
          <a:xfrm>
            <a:off x="10888923" y="4262609"/>
            <a:ext cx="11560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/>
              <a:t>슬라이딩방식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EB723D-0423-FF82-4088-6FDDE5735D12}"/>
              </a:ext>
            </a:extLst>
          </p:cNvPr>
          <p:cNvSpPr txBox="1"/>
          <p:nvPr/>
        </p:nvSpPr>
        <p:spPr>
          <a:xfrm>
            <a:off x="10697059" y="6078031"/>
            <a:ext cx="80385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BEFORE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FDF99490-ED2A-1A86-9159-D5CF16E0AB91}"/>
              </a:ext>
            </a:extLst>
          </p:cNvPr>
          <p:cNvCxnSpPr>
            <a:cxnSpLocks/>
            <a:stCxn id="39" idx="0"/>
          </p:cNvCxnSpPr>
          <p:nvPr/>
        </p:nvCxnSpPr>
        <p:spPr>
          <a:xfrm flipH="1" flipV="1">
            <a:off x="11095407" y="5829111"/>
            <a:ext cx="3578" cy="24892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A1614E4-A485-DA0C-0334-E3F9386AD1CD}"/>
              </a:ext>
            </a:extLst>
          </p:cNvPr>
          <p:cNvSpPr txBox="1"/>
          <p:nvPr/>
        </p:nvSpPr>
        <p:spPr>
          <a:xfrm>
            <a:off x="9491281" y="6078031"/>
            <a:ext cx="80385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AFTER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1830FE4E-73E3-D3E1-1B2F-8FCED89D4A20}"/>
              </a:ext>
            </a:extLst>
          </p:cNvPr>
          <p:cNvCxnSpPr>
            <a:cxnSpLocks/>
            <a:stCxn id="41" idx="0"/>
          </p:cNvCxnSpPr>
          <p:nvPr/>
        </p:nvCxnSpPr>
        <p:spPr>
          <a:xfrm flipH="1" flipV="1">
            <a:off x="9889629" y="5829111"/>
            <a:ext cx="3578" cy="24892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709664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PBP</a:t>
            </a:r>
            <a:r>
              <a:rPr lang="ko-KR" altLang="en-US" dirty="0"/>
              <a:t> 청구항의 </a:t>
            </a:r>
            <a:r>
              <a:rPr lang="en-US" altLang="ko-KR" dirty="0"/>
              <a:t>CASE(</a:t>
            </a:r>
            <a:r>
              <a:rPr lang="ko-KR" altLang="en-US" dirty="0"/>
              <a:t>특허요건 판단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138</a:t>
            </a:fld>
            <a:endParaRPr lang="ko-KR" altLang="en-US"/>
          </a:p>
        </p:txBody>
      </p:sp>
      <p:sp>
        <p:nvSpPr>
          <p:cNvPr id="25" name="직사각형 24"/>
          <p:cNvSpPr/>
          <p:nvPr/>
        </p:nvSpPr>
        <p:spPr bwMode="auto">
          <a:xfrm>
            <a:off x="348791" y="1451189"/>
            <a:ext cx="11519555" cy="2866808"/>
          </a:xfrm>
          <a:prstGeom prst="rect">
            <a:avLst/>
          </a:prstGeom>
          <a:ln>
            <a:solidFill>
              <a:schemeClr val="accent3"/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tIns="72000" bIns="72000" rtlCol="0" anchor="ctr"/>
          <a:lstStyle/>
          <a:p>
            <a:pPr fontAlgn="base"/>
            <a:r>
              <a:rPr lang="en-US" altLang="ko-KR" sz="1200" dirty="0"/>
              <a:t>[1] </a:t>
            </a:r>
            <a:r>
              <a:rPr lang="ko-KR" altLang="en-US" sz="1200" dirty="0"/>
              <a:t>특허법 제</a:t>
            </a:r>
            <a:r>
              <a:rPr lang="en-US" altLang="ko-KR" sz="1200" dirty="0"/>
              <a:t>2</a:t>
            </a:r>
            <a:r>
              <a:rPr lang="ko-KR" altLang="en-US" sz="1200" dirty="0"/>
              <a:t>조 제</a:t>
            </a:r>
            <a:r>
              <a:rPr lang="en-US" altLang="ko-KR" sz="1200" dirty="0"/>
              <a:t>3</a:t>
            </a:r>
            <a:r>
              <a:rPr lang="ko-KR" altLang="en-US" sz="1200" dirty="0"/>
              <a:t>호는 발명을 ‘물건의 발명’</a:t>
            </a:r>
            <a:r>
              <a:rPr lang="en-US" altLang="ko-KR" sz="1200" dirty="0"/>
              <a:t>, ‘</a:t>
            </a:r>
            <a:r>
              <a:rPr lang="ko-KR" altLang="en-US" sz="1200" dirty="0"/>
              <a:t>방법의 발명’</a:t>
            </a:r>
            <a:r>
              <a:rPr lang="en-US" altLang="ko-KR" sz="1200" dirty="0"/>
              <a:t>, ‘</a:t>
            </a:r>
            <a:r>
              <a:rPr lang="ko-KR" altLang="en-US" sz="1200" dirty="0"/>
              <a:t>물건을 생산하는 방법의 발명’으로 구분하고 있는바</a:t>
            </a:r>
            <a:r>
              <a:rPr lang="en-US" altLang="ko-KR" sz="1200" dirty="0"/>
              <a:t>, </a:t>
            </a:r>
            <a:r>
              <a:rPr lang="ko-KR" altLang="en-US" sz="1200" dirty="0"/>
              <a:t>청구범위가 전체적으로 물건으로 기재되어 있으면서 그 제조방법의 기재를 포함하고 있는 발명</a:t>
            </a:r>
            <a:r>
              <a:rPr lang="en-US" altLang="ko-KR" sz="1200" dirty="0"/>
              <a:t>(</a:t>
            </a:r>
            <a:r>
              <a:rPr lang="ko-KR" altLang="en-US" sz="1200" dirty="0"/>
              <a:t>이하 ‘제조방법이 기재된 물건발명’이라고 한다</a:t>
            </a:r>
            <a:r>
              <a:rPr lang="en-US" altLang="ko-KR" sz="1200" dirty="0"/>
              <a:t>)</a:t>
            </a:r>
            <a:r>
              <a:rPr lang="ko-KR" altLang="en-US" sz="1200" dirty="0"/>
              <a:t>의 경우 제조방법이 기재되어 있다고 하더라도 발명의 대상은 그 제조방법이 아니라 최종적으로 얻어지는 물건 자체이므로 위와 같은 발명의 유형 중 ‘물건의 발명’에 해당한다</a:t>
            </a:r>
            <a:r>
              <a:rPr lang="en-US" altLang="ko-KR" sz="1200" dirty="0"/>
              <a:t>.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물건의 발명에 관한 청구범위는 발명의 대상인 물건의 구성을 특정하는 방식으로 기재되어야 하는 것이므로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물건의 발명의 청구범위에 기재된 제조방법은 최종 생산물인 물건의 구조나 성질 등을 특정하는 하나의 수단으로서 그 의미를 가질 뿐이다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  <a:endParaRPr lang="ko-KR" altLang="en-US" sz="1200" dirty="0">
              <a:solidFill>
                <a:schemeClr val="accent3">
                  <a:lumMod val="50000"/>
                </a:schemeClr>
              </a:solidFill>
              <a:highlight>
                <a:srgbClr val="FFFF00"/>
              </a:highlight>
            </a:endParaRPr>
          </a:p>
          <a:p>
            <a:pPr fontAlgn="base"/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[2]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따라서 제조방법이 기재된 물건발명의 특허요건을 판단함에 있어서 그 기술적 구성을 제조방법 자체로 한정하여 파악할 것이 아니라 제조방법의 기재를 포함하여 청구범위의 모든 기재에 의하여 특정되는 구조나 성질 등을 가지는 물건으로 파악하여 출원 전에 공지된 선행기술과 비교하여 </a:t>
            </a:r>
            <a:r>
              <a:rPr lang="ko-KR" altLang="en-US" sz="12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신규성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진보성 등이 있는지 여부를 살펴야 한다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  <a:endParaRPr lang="ko-KR" altLang="en-US" sz="1200" dirty="0">
              <a:solidFill>
                <a:schemeClr val="accent3">
                  <a:lumMod val="50000"/>
                </a:schemeClr>
              </a:solidFill>
              <a:highlight>
                <a:srgbClr val="FFFF00"/>
              </a:highlight>
            </a:endParaRPr>
          </a:p>
          <a:p>
            <a:pPr fontAlgn="base"/>
            <a:r>
              <a:rPr lang="en-US" altLang="ko-KR" sz="1200" dirty="0"/>
              <a:t>[3] </a:t>
            </a:r>
            <a:r>
              <a:rPr lang="ko-KR" altLang="en-US" sz="1200" dirty="0"/>
              <a:t>한편 생명공학 분야나 고분자</a:t>
            </a:r>
            <a:r>
              <a:rPr lang="en-US" altLang="ko-KR" sz="1200" dirty="0"/>
              <a:t>, </a:t>
            </a:r>
            <a:r>
              <a:rPr lang="ko-KR" altLang="en-US" sz="1200" dirty="0"/>
              <a:t>혼합물</a:t>
            </a:r>
            <a:r>
              <a:rPr lang="en-US" altLang="ko-KR" sz="1200" dirty="0"/>
              <a:t>, </a:t>
            </a:r>
            <a:r>
              <a:rPr lang="ko-KR" altLang="en-US" sz="1200" dirty="0"/>
              <a:t>금속 등의 화학 분야 등에서의 물건의 발명 중에는 어떠한 제조방법에 의하여 얻어진 물건을 구조나 성질 등으로 직접적으로 특정하는 것이 불가능하거나 곤란하여 제조방법에 의해서만 물건을 특정할 수밖에 없는 사정이 있을 수 있지만</a:t>
            </a:r>
            <a:r>
              <a:rPr lang="en-US" altLang="ko-KR" sz="1200" dirty="0"/>
              <a:t>, </a:t>
            </a:r>
            <a:r>
              <a:rPr lang="ko-KR" altLang="en-US" sz="1200" dirty="0"/>
              <a:t>이러한 사정에 의하여 제조방법이 기재된 물건발명이라고 하더라도 그 본질이 ‘물건의 발명’이라는 점과 청구범위에 기재된 제조방법이 물건의 구조나 성질 등을 특정하는 수단에 불과하다는 점은 마찬가지이므로</a:t>
            </a:r>
            <a:r>
              <a:rPr lang="en-US" altLang="ko-KR" sz="1200" dirty="0"/>
              <a:t>, </a:t>
            </a:r>
            <a:r>
              <a:rPr lang="ko-KR" altLang="en-US" sz="1200" dirty="0"/>
              <a:t>이러한 발명과 그와 같은 사정은 없지만 제조방법이 기재된 물건발명을 구분하여 그 기재된 제조방법의 의미를 달리 해석할 것은 아니다</a:t>
            </a:r>
            <a:r>
              <a:rPr lang="en-US" altLang="ko-KR" sz="1200" dirty="0"/>
              <a:t>. </a:t>
            </a:r>
            <a:endParaRPr lang="ko-KR" altLang="en-US" sz="1200" dirty="0"/>
          </a:p>
          <a:p>
            <a:pPr fontAlgn="base"/>
            <a:r>
              <a:rPr lang="en-US" altLang="ko-KR" sz="1200" dirty="0"/>
              <a:t>[4] </a:t>
            </a:r>
            <a:r>
              <a:rPr lang="ko-KR" altLang="en-US" sz="1200" dirty="0"/>
              <a:t>이와 달리</a:t>
            </a:r>
            <a:r>
              <a:rPr lang="en-US" altLang="ko-KR" sz="1200" dirty="0"/>
              <a:t>, </a:t>
            </a:r>
            <a:r>
              <a:rPr lang="ko-KR" altLang="en-US" sz="1200" dirty="0"/>
              <a:t>제조방법이 기재된 물건발명을 그 제조방법에 의해서만 물건을 특정할 수밖에 없는 등의 특별한 사정이 있는지 여부로 나누어</a:t>
            </a:r>
            <a:r>
              <a:rPr lang="en-US" altLang="ko-KR" sz="1200" dirty="0"/>
              <a:t>, </a:t>
            </a:r>
            <a:r>
              <a:rPr lang="ko-KR" altLang="en-US" sz="1200" dirty="0"/>
              <a:t>이러한 특별한 사정이 없는 경우에만 그 제조방법 자체를 고려할 필요가 없이 청구범위의 기재에 의하여 물건으로 특정되는 발명만을 선행기술과 대비하는 방법으로 진보성 유무를 판단해야 한다는 취지로 판시한 대법원 </a:t>
            </a:r>
            <a:r>
              <a:rPr lang="en-US" altLang="ko-KR" sz="1200" dirty="0"/>
              <a:t>2006. 6. 29.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2004</a:t>
            </a:r>
            <a:r>
              <a:rPr lang="ko-KR" altLang="en-US" sz="1200" dirty="0"/>
              <a:t>후</a:t>
            </a:r>
            <a:r>
              <a:rPr lang="en-US" altLang="ko-KR" sz="1200" dirty="0"/>
              <a:t>3416 </a:t>
            </a:r>
            <a:r>
              <a:rPr lang="ko-KR" altLang="en-US" sz="1200" dirty="0"/>
              <a:t>판결</a:t>
            </a:r>
            <a:r>
              <a:rPr lang="en-US" altLang="ko-KR" sz="1200" dirty="0"/>
              <a:t>, 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2007. 5. 11.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2007</a:t>
            </a:r>
            <a:r>
              <a:rPr lang="ko-KR" altLang="en-US" sz="1200" dirty="0"/>
              <a:t>후</a:t>
            </a:r>
            <a:r>
              <a:rPr lang="en-US" altLang="ko-KR" sz="1200" dirty="0"/>
              <a:t>449 </a:t>
            </a:r>
            <a:r>
              <a:rPr lang="ko-KR" altLang="en-US" sz="1200" dirty="0"/>
              <a:t>판결</a:t>
            </a:r>
            <a:r>
              <a:rPr lang="en-US" altLang="ko-KR" sz="1200" dirty="0"/>
              <a:t>, 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2007. 9. 20.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2006</a:t>
            </a:r>
            <a:r>
              <a:rPr lang="ko-KR" altLang="en-US" sz="1200" dirty="0"/>
              <a:t>후</a:t>
            </a:r>
            <a:r>
              <a:rPr lang="en-US" altLang="ko-KR" sz="1200" dirty="0"/>
              <a:t>1100 </a:t>
            </a:r>
            <a:r>
              <a:rPr lang="ko-KR" altLang="en-US" sz="1200" dirty="0"/>
              <a:t>판결</a:t>
            </a:r>
            <a:r>
              <a:rPr lang="en-US" altLang="ko-KR" sz="1200" dirty="0"/>
              <a:t>, 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2008. 8. 21.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2006</a:t>
            </a:r>
            <a:r>
              <a:rPr lang="ko-KR" altLang="en-US" sz="1200" dirty="0"/>
              <a:t>후</a:t>
            </a:r>
            <a:r>
              <a:rPr lang="en-US" altLang="ko-KR" sz="1200" dirty="0"/>
              <a:t>3472 </a:t>
            </a:r>
            <a:r>
              <a:rPr lang="ko-KR" altLang="en-US" sz="1200" dirty="0"/>
              <a:t>판결</a:t>
            </a:r>
            <a:r>
              <a:rPr lang="en-US" altLang="ko-KR" sz="1200" dirty="0"/>
              <a:t>, 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2009. 1. 15.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2007</a:t>
            </a:r>
            <a:r>
              <a:rPr lang="ko-KR" altLang="en-US" sz="1200" dirty="0"/>
              <a:t>후</a:t>
            </a:r>
            <a:r>
              <a:rPr lang="en-US" altLang="ko-KR" sz="1200" dirty="0"/>
              <a:t>1053 </a:t>
            </a:r>
            <a:r>
              <a:rPr lang="ko-KR" altLang="en-US" sz="1200" dirty="0"/>
              <a:t>판결</a:t>
            </a:r>
            <a:r>
              <a:rPr lang="en-US" altLang="ko-KR" sz="1200" dirty="0"/>
              <a:t>, 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2009. 3. 26.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2006</a:t>
            </a:r>
            <a:r>
              <a:rPr lang="ko-KR" altLang="en-US" sz="1200" dirty="0"/>
              <a:t>후</a:t>
            </a:r>
            <a:r>
              <a:rPr lang="en-US" altLang="ko-KR" sz="1200" dirty="0"/>
              <a:t>3250 </a:t>
            </a:r>
            <a:r>
              <a:rPr lang="ko-KR" altLang="en-US" sz="1200" dirty="0"/>
              <a:t>판결</a:t>
            </a:r>
            <a:r>
              <a:rPr lang="en-US" altLang="ko-KR" sz="1200" dirty="0"/>
              <a:t>, 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2009. 9. 24.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2007</a:t>
            </a:r>
            <a:r>
              <a:rPr lang="ko-KR" altLang="en-US" sz="1200" dirty="0"/>
              <a:t>후</a:t>
            </a:r>
            <a:r>
              <a:rPr lang="en-US" altLang="ko-KR" sz="1200" dirty="0"/>
              <a:t>4328 </a:t>
            </a:r>
            <a:r>
              <a:rPr lang="ko-KR" altLang="en-US" sz="1200" dirty="0"/>
              <a:t>판결 등을 비롯한 같은 취지의 판결들은 이 판결의 견해에 배치되는 범위 내에서 모두 변경하기로 한다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sp>
        <p:nvSpPr>
          <p:cNvPr id="26" name="모서리가 둥근 직사각형 25"/>
          <p:cNvSpPr/>
          <p:nvPr/>
        </p:nvSpPr>
        <p:spPr bwMode="auto">
          <a:xfrm>
            <a:off x="348791" y="1160874"/>
            <a:ext cx="4680521" cy="288032"/>
          </a:xfrm>
          <a:prstGeom prst="roundRect">
            <a:avLst>
              <a:gd name="adj" fmla="val 0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accent3"/>
            </a:solidFill>
            <a:headEnd type="none" w="med" len="med"/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 latinLnBrk="0"/>
            <a:r>
              <a:rPr lang="ko-KR" altLang="en-US" sz="1200" dirty="0"/>
              <a:t>대법원 </a:t>
            </a:r>
            <a:r>
              <a:rPr lang="en-US" altLang="ko-KR" sz="1200" dirty="0"/>
              <a:t>2015. 1. 22. </a:t>
            </a:r>
            <a:r>
              <a:rPr lang="ko-KR" altLang="en-US" sz="1200" dirty="0"/>
              <a:t>선고 </a:t>
            </a:r>
            <a:r>
              <a:rPr lang="en-US" altLang="ko-KR" sz="1200" dirty="0"/>
              <a:t>2011</a:t>
            </a:r>
            <a:r>
              <a:rPr lang="ko-KR" altLang="en-US" sz="1200" dirty="0"/>
              <a:t>후</a:t>
            </a:r>
            <a:r>
              <a:rPr lang="en-US" altLang="ko-KR" sz="1200" dirty="0"/>
              <a:t>927 </a:t>
            </a:r>
            <a:r>
              <a:rPr lang="ko-KR" altLang="en-US" sz="1200" dirty="0"/>
              <a:t>판결</a:t>
            </a:r>
            <a:r>
              <a:rPr lang="en-US" altLang="ko-KR" sz="1200" dirty="0"/>
              <a:t>【</a:t>
            </a:r>
            <a:r>
              <a:rPr lang="ko-KR" altLang="en-US" sz="1200" dirty="0"/>
              <a:t>등록무효</a:t>
            </a:r>
            <a:r>
              <a:rPr lang="en-US" altLang="ko-KR" sz="1200" dirty="0"/>
              <a:t>(</a:t>
            </a:r>
            <a:r>
              <a:rPr lang="ko-KR" altLang="en-US" sz="1200" dirty="0" err="1"/>
              <a:t>특</a:t>
            </a:r>
            <a:r>
              <a:rPr lang="en-US" altLang="ko-KR" sz="1200" dirty="0"/>
              <a:t>)】</a:t>
            </a:r>
            <a:endParaRPr lang="ko-KR" altLang="en-US" sz="1200" dirty="0"/>
          </a:p>
        </p:txBody>
      </p:sp>
      <p:cxnSp>
        <p:nvCxnSpPr>
          <p:cNvPr id="28" name="직선 연결선 27"/>
          <p:cNvCxnSpPr/>
          <p:nvPr/>
        </p:nvCxnSpPr>
        <p:spPr>
          <a:xfrm>
            <a:off x="375735" y="4453458"/>
            <a:ext cx="11469132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48791" y="4521172"/>
            <a:ext cx="11496075" cy="2133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600" dirty="0"/>
              <a:t>원심은</a:t>
            </a:r>
            <a:r>
              <a:rPr lang="en-US" altLang="ko-KR" sz="1600" dirty="0"/>
              <a:t>, </a:t>
            </a:r>
            <a:r>
              <a:rPr lang="ko-KR" altLang="en-US" sz="1600" dirty="0"/>
              <a:t>이 사건 제</a:t>
            </a:r>
            <a:r>
              <a:rPr lang="en-US" altLang="ko-KR" sz="1600" dirty="0"/>
              <a:t>6</a:t>
            </a:r>
            <a:r>
              <a:rPr lang="ko-KR" altLang="en-US" sz="1600" dirty="0"/>
              <a:t>항 발명의 방법에 의하여 제조된 물건인 ‘편광필름’을 그 청구범위로 하여 제조방법이 기재된 물건발명에 해당하는 이 사건 제</a:t>
            </a:r>
            <a:r>
              <a:rPr lang="en-US" altLang="ko-KR" sz="1600" dirty="0"/>
              <a:t>9, 10</a:t>
            </a:r>
            <a:r>
              <a:rPr lang="ko-KR" altLang="en-US" sz="1600" dirty="0"/>
              <a:t>항 발명을 비교대상발명들과 대비함에 있어서</a:t>
            </a:r>
            <a:r>
              <a:rPr lang="en-US" altLang="ko-KR" sz="1600" dirty="0"/>
              <a:t>, </a:t>
            </a:r>
            <a:r>
              <a:rPr lang="ko-KR" altLang="en-US" sz="1600" dirty="0"/>
              <a:t>이 사건 </a:t>
            </a:r>
            <a:r>
              <a:rPr lang="ko-KR" altLang="en-US" sz="1600" dirty="0">
                <a:solidFill>
                  <a:srgbClr val="FF0000"/>
                </a:solidFill>
              </a:rPr>
              <a:t>제</a:t>
            </a:r>
            <a:r>
              <a:rPr lang="en-US" altLang="ko-KR" sz="1600" dirty="0">
                <a:solidFill>
                  <a:srgbClr val="FF0000"/>
                </a:solidFill>
              </a:rPr>
              <a:t>6</a:t>
            </a:r>
            <a:r>
              <a:rPr lang="ko-KR" altLang="en-US" sz="1600" dirty="0">
                <a:solidFill>
                  <a:srgbClr val="FF0000"/>
                </a:solidFill>
              </a:rPr>
              <a:t>항 발명의 진보성이 부정되지 않는다고 판단한 다음 곧바로 그에 따라 이 사건 제</a:t>
            </a:r>
            <a:r>
              <a:rPr lang="en-US" altLang="ko-KR" sz="1600" dirty="0">
                <a:solidFill>
                  <a:srgbClr val="FF0000"/>
                </a:solidFill>
              </a:rPr>
              <a:t>9, 10</a:t>
            </a:r>
            <a:r>
              <a:rPr lang="ko-KR" altLang="en-US" sz="1600" dirty="0">
                <a:solidFill>
                  <a:srgbClr val="FF0000"/>
                </a:solidFill>
              </a:rPr>
              <a:t>항 발명의 진보성도 부정되지 않는다고 판단</a:t>
            </a:r>
            <a:r>
              <a:rPr lang="ko-KR" altLang="en-US" sz="1600" dirty="0"/>
              <a:t>하였다</a:t>
            </a:r>
            <a:r>
              <a:rPr lang="en-US" altLang="ko-KR" sz="1600" dirty="0"/>
              <a:t>. </a:t>
            </a:r>
            <a:r>
              <a:rPr lang="ko-KR" altLang="en-US" sz="1600" dirty="0"/>
              <a:t>앞서 본 법리에 비추어 볼 때</a:t>
            </a:r>
            <a:r>
              <a:rPr lang="en-US" altLang="ko-KR" sz="1600" dirty="0"/>
              <a:t>, </a:t>
            </a:r>
            <a:r>
              <a:rPr lang="ko-KR" altLang="en-US" sz="1600" dirty="0">
                <a:solidFill>
                  <a:srgbClr val="FF0000"/>
                </a:solidFill>
              </a:rPr>
              <a:t>제조방법이 기재된 물건발명에 해당하는 이 사건 제</a:t>
            </a:r>
            <a:r>
              <a:rPr lang="en-US" altLang="ko-KR" sz="1600" dirty="0">
                <a:solidFill>
                  <a:srgbClr val="FF0000"/>
                </a:solidFill>
              </a:rPr>
              <a:t>9, 10</a:t>
            </a:r>
            <a:r>
              <a:rPr lang="ko-KR" altLang="en-US" sz="1600" dirty="0">
                <a:solidFill>
                  <a:srgbClr val="FF0000"/>
                </a:solidFill>
              </a:rPr>
              <a:t>항 발명에 관하여는 그 제조방법의 기재를 포함한 청구범위의 모든 기재에 의하여 특정되는 구조나 성질을 가진 물건의 발명만을 비교대상발명들과 대비하여 진보성 유무를 판단</a:t>
            </a:r>
            <a:r>
              <a:rPr lang="ko-KR" altLang="en-US" sz="1600" dirty="0"/>
              <a:t>하였어야 함에도</a:t>
            </a:r>
            <a:r>
              <a:rPr lang="en-US" altLang="ko-KR" sz="1600" dirty="0"/>
              <a:t>, </a:t>
            </a:r>
            <a:r>
              <a:rPr lang="ko-KR" altLang="en-US" sz="1600" dirty="0"/>
              <a:t>원심은 그에 이르지 아니한 채 제조방법에 관한 발명의 진보성이 부정되지 않는다는 이유만으로 곧바로 그 제조방법이 기재된 물건의 발명인 이 사건 제</a:t>
            </a:r>
            <a:r>
              <a:rPr lang="en-US" altLang="ko-KR" sz="1600" dirty="0"/>
              <a:t>9, 10</a:t>
            </a:r>
            <a:r>
              <a:rPr lang="ko-KR" altLang="en-US" sz="1600" dirty="0"/>
              <a:t>항 발명의 진보성도 부정되지 않는다고 판단하였으니</a:t>
            </a:r>
            <a:r>
              <a:rPr lang="en-US" altLang="ko-KR" sz="1600" dirty="0"/>
              <a:t>, </a:t>
            </a:r>
            <a:r>
              <a:rPr lang="ko-KR" altLang="en-US" sz="1600" dirty="0"/>
              <a:t>이러한 원심판결에는 제조방법이 기재된 물건발명의 진보성 판단에 관한 법리를 오해하여 판결에 영향을 미친 위법이 있다</a:t>
            </a:r>
            <a:r>
              <a:rPr lang="en-US" altLang="ko-KR" sz="1600" dirty="0"/>
              <a:t>.</a:t>
            </a:r>
            <a:r>
              <a:rPr lang="ko-KR" altLang="en-US" sz="1600" dirty="0"/>
              <a:t> 이를 지적하는 상고이유의 주장은 이유가 있다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95523796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PBP </a:t>
            </a:r>
            <a:r>
              <a:rPr lang="ko-KR" altLang="en-US"/>
              <a:t>청구항의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139</a:t>
            </a:fld>
            <a:endParaRPr lang="ko-KR" altLang="en-US"/>
          </a:p>
        </p:txBody>
      </p:sp>
      <p:cxnSp>
        <p:nvCxnSpPr>
          <p:cNvPr id="10" name="직선 연결선 9"/>
          <p:cNvCxnSpPr/>
          <p:nvPr/>
        </p:nvCxnSpPr>
        <p:spPr>
          <a:xfrm>
            <a:off x="1079612" y="1219200"/>
            <a:ext cx="0" cy="5071533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671739" y="1118621"/>
            <a:ext cx="10274167" cy="7386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물건발명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흑연연필심과</a:t>
            </a:r>
            <a:r>
              <a:rPr lang="ko-KR" altLang="en-US" sz="1400" dirty="0"/>
              <a:t> 상기 </a:t>
            </a:r>
            <a:r>
              <a:rPr lang="ko-KR" altLang="en-US" sz="1400" dirty="0" err="1"/>
              <a:t>흑연연필심을</a:t>
            </a:r>
            <a:r>
              <a:rPr lang="ko-KR" altLang="en-US" sz="1400" dirty="0"/>
              <a:t> 둘러싸도록 목재로 구성된 외각부로 구성된 연필</a:t>
            </a:r>
            <a:endParaRPr lang="en-US" altLang="ko-KR" sz="1400" dirty="0"/>
          </a:p>
          <a:p>
            <a:r>
              <a:rPr lang="ko-KR" altLang="en-US" sz="1400" dirty="0"/>
              <a:t>방법발명</a:t>
            </a:r>
            <a:r>
              <a:rPr lang="en-US" altLang="ko-KR" sz="1400" dirty="0"/>
              <a:t>: a </a:t>
            </a:r>
            <a:r>
              <a:rPr lang="ko-KR" altLang="en-US" sz="1400" dirty="0" err="1"/>
              <a:t>공정후</a:t>
            </a:r>
            <a:r>
              <a:rPr lang="en-US" altLang="ko-KR" sz="1400" dirty="0"/>
              <a:t>, b </a:t>
            </a:r>
            <a:r>
              <a:rPr lang="ko-KR" altLang="en-US" sz="1400" dirty="0" err="1"/>
              <a:t>공정후</a:t>
            </a:r>
            <a:r>
              <a:rPr lang="en-US" altLang="ko-KR" sz="1400" dirty="0"/>
              <a:t>,</a:t>
            </a:r>
            <a:r>
              <a:rPr lang="ko-KR" altLang="en-US" sz="1400" dirty="0"/>
              <a:t> </a:t>
            </a:r>
            <a:r>
              <a:rPr lang="en-US" altLang="ko-KR" sz="1400" dirty="0"/>
              <a:t>c</a:t>
            </a:r>
            <a:r>
              <a:rPr lang="ko-KR" altLang="en-US" sz="1400" dirty="0"/>
              <a:t>공정을 거치는 방법에 의해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흑연연필심과</a:t>
            </a:r>
            <a:r>
              <a:rPr lang="ko-KR" altLang="en-US" sz="1400" dirty="0"/>
              <a:t> 상기 </a:t>
            </a:r>
            <a:r>
              <a:rPr lang="ko-KR" altLang="en-US" sz="1400" dirty="0" err="1"/>
              <a:t>흑연연필심을</a:t>
            </a:r>
            <a:r>
              <a:rPr lang="ko-KR" altLang="en-US" sz="1400" dirty="0"/>
              <a:t> 둘러싸도록 목재로 구성된 외각부로 구성된 연필을 제조하는 방법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580574" y="1378089"/>
            <a:ext cx="996278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공지기술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580574" y="2741185"/>
            <a:ext cx="996278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출원</a:t>
            </a:r>
            <a:r>
              <a:rPr lang="en-US" altLang="ko-KR" sz="1600" dirty="0">
                <a:solidFill>
                  <a:schemeClr val="tx1"/>
                </a:solidFill>
              </a:rPr>
              <a:t>1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80574" y="4639929"/>
            <a:ext cx="996278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출원</a:t>
            </a:r>
            <a:r>
              <a:rPr lang="en-US" altLang="ko-KR" sz="1600" dirty="0">
                <a:solidFill>
                  <a:schemeClr val="tx1"/>
                </a:solidFill>
              </a:rPr>
              <a:t>2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CB14D38-7E08-4D3F-8EC2-709D5B214B5F}"/>
              </a:ext>
            </a:extLst>
          </p:cNvPr>
          <p:cNvSpPr txBox="1"/>
          <p:nvPr/>
        </p:nvSpPr>
        <p:spPr>
          <a:xfrm>
            <a:off x="1671740" y="2560585"/>
            <a:ext cx="10274182" cy="7386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청구항</a:t>
            </a:r>
            <a:r>
              <a:rPr lang="en-US" altLang="ko-KR" sz="1400" dirty="0"/>
              <a:t>1: a </a:t>
            </a:r>
            <a:r>
              <a:rPr lang="ko-KR" altLang="en-US" sz="1400" dirty="0" err="1"/>
              <a:t>공정후</a:t>
            </a:r>
            <a:r>
              <a:rPr lang="en-US" altLang="ko-KR" sz="1400" dirty="0"/>
              <a:t>, c2 </a:t>
            </a:r>
            <a:r>
              <a:rPr lang="ko-KR" altLang="en-US" sz="1400" dirty="0" err="1"/>
              <a:t>공정후</a:t>
            </a:r>
            <a:r>
              <a:rPr lang="en-US" altLang="ko-KR" sz="1400" dirty="0"/>
              <a:t>, b1</a:t>
            </a:r>
            <a:r>
              <a:rPr lang="ko-KR" altLang="en-US" sz="1400" dirty="0"/>
              <a:t>공정을 거치는 방법에 의해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흑연연필심과</a:t>
            </a:r>
            <a:r>
              <a:rPr lang="ko-KR" altLang="en-US" sz="1400" dirty="0"/>
              <a:t> 상기 </a:t>
            </a:r>
            <a:r>
              <a:rPr lang="ko-KR" altLang="en-US" sz="1400" dirty="0" err="1"/>
              <a:t>흑연연필심을</a:t>
            </a:r>
            <a:r>
              <a:rPr lang="ko-KR" altLang="en-US" sz="1400" dirty="0"/>
              <a:t> 둘러싸도록 목재로 구성된 외각부로 구성된 연필을 제조하는 방법</a:t>
            </a:r>
            <a:endParaRPr lang="en-US" altLang="ko-KR" sz="1400" dirty="0"/>
          </a:p>
          <a:p>
            <a:r>
              <a:rPr lang="ko-KR" altLang="en-US" sz="1400" dirty="0"/>
              <a:t>청구항</a:t>
            </a:r>
            <a:r>
              <a:rPr lang="en-US" altLang="ko-KR" sz="1400" dirty="0"/>
              <a:t>2: </a:t>
            </a:r>
            <a:r>
              <a:rPr lang="ko-KR" altLang="en-US" sz="1400" dirty="0"/>
              <a:t>제</a:t>
            </a:r>
            <a:r>
              <a:rPr lang="en-US" altLang="ko-KR" sz="1400" dirty="0"/>
              <a:t>1</a:t>
            </a:r>
            <a:r>
              <a:rPr lang="ko-KR" altLang="en-US" sz="1400" dirty="0"/>
              <a:t>항의 방법에 의해 제조된 연필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BECC419-609D-40D3-B6AF-B7703513323E}"/>
              </a:ext>
            </a:extLst>
          </p:cNvPr>
          <p:cNvSpPr txBox="1"/>
          <p:nvPr/>
        </p:nvSpPr>
        <p:spPr>
          <a:xfrm>
            <a:off x="1671740" y="4432040"/>
            <a:ext cx="10274182" cy="7386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청구항</a:t>
            </a:r>
            <a:r>
              <a:rPr lang="en-US" altLang="ko-KR" sz="1400" dirty="0"/>
              <a:t>1: a1 </a:t>
            </a:r>
            <a:r>
              <a:rPr lang="ko-KR" altLang="en-US" sz="1400" dirty="0" err="1"/>
              <a:t>공정후</a:t>
            </a:r>
            <a:r>
              <a:rPr lang="en-US" altLang="ko-KR" sz="1400" dirty="0"/>
              <a:t>, c3 </a:t>
            </a:r>
            <a:r>
              <a:rPr lang="ko-KR" altLang="en-US" sz="1400" dirty="0" err="1"/>
              <a:t>공정후</a:t>
            </a:r>
            <a:r>
              <a:rPr lang="en-US" altLang="ko-KR" sz="1400" dirty="0"/>
              <a:t>, b2</a:t>
            </a:r>
            <a:r>
              <a:rPr lang="ko-KR" altLang="en-US" sz="1400" dirty="0"/>
              <a:t>공정을 거치는 방법에 의해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흑연연필심과</a:t>
            </a:r>
            <a:r>
              <a:rPr lang="ko-KR" altLang="en-US" sz="1400" dirty="0"/>
              <a:t> 상기 </a:t>
            </a:r>
            <a:r>
              <a:rPr lang="ko-KR" altLang="en-US" sz="1400" dirty="0" err="1"/>
              <a:t>흑연연필심을</a:t>
            </a:r>
            <a:r>
              <a:rPr lang="ko-KR" altLang="en-US" sz="1400" dirty="0"/>
              <a:t> 둘러싸도록 목재로 구성되고</a:t>
            </a:r>
            <a:r>
              <a:rPr lang="en-US" altLang="ko-KR" sz="1400" dirty="0"/>
              <a:t>,</a:t>
            </a:r>
            <a:r>
              <a:rPr lang="ko-KR" altLang="en-US" sz="1400" dirty="0"/>
              <a:t> 형상이 다각형인 외각부로 구성된 연필을 제조하는 방법</a:t>
            </a:r>
            <a:endParaRPr lang="en-US" altLang="ko-KR" sz="1400" dirty="0"/>
          </a:p>
          <a:p>
            <a:r>
              <a:rPr lang="ko-KR" altLang="en-US" sz="1400" dirty="0"/>
              <a:t>청구항</a:t>
            </a:r>
            <a:r>
              <a:rPr lang="en-US" altLang="ko-KR" sz="1400" dirty="0"/>
              <a:t>2: </a:t>
            </a:r>
            <a:r>
              <a:rPr lang="ko-KR" altLang="en-US" sz="1400" dirty="0"/>
              <a:t>제</a:t>
            </a:r>
            <a:r>
              <a:rPr lang="en-US" altLang="ko-KR" sz="1400" dirty="0"/>
              <a:t>1</a:t>
            </a:r>
            <a:r>
              <a:rPr lang="ko-KR" altLang="en-US" sz="1400" dirty="0"/>
              <a:t>항의 방법에 의해 제조된 연필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98CD3D-6A83-4E5D-8004-7869E08A189E}"/>
              </a:ext>
            </a:extLst>
          </p:cNvPr>
          <p:cNvSpPr txBox="1"/>
          <p:nvPr/>
        </p:nvSpPr>
        <p:spPr>
          <a:xfrm>
            <a:off x="2139193" y="3378205"/>
            <a:ext cx="8743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청구항</a:t>
            </a:r>
            <a:r>
              <a:rPr lang="en-US" altLang="ko-KR" sz="1400" dirty="0"/>
              <a:t>1: a</a:t>
            </a:r>
            <a:r>
              <a:rPr lang="en-US" altLang="ko-KR" sz="1400" dirty="0">
                <a:sym typeface="Wingdings" panose="05000000000000000000" pitchFamily="2" charset="2"/>
              </a:rPr>
              <a:t>c2b1</a:t>
            </a:r>
            <a:r>
              <a:rPr lang="ko-KR" altLang="en-US" sz="1400" dirty="0">
                <a:sym typeface="Wingdings" panose="05000000000000000000" pitchFamily="2" charset="2"/>
              </a:rPr>
              <a:t>을 구성으로 하며</a:t>
            </a:r>
            <a:r>
              <a:rPr lang="en-US" altLang="ko-KR" sz="1400" dirty="0">
                <a:sym typeface="Wingdings" panose="05000000000000000000" pitchFamily="2" charset="2"/>
              </a:rPr>
              <a:t>, </a:t>
            </a:r>
            <a:r>
              <a:rPr lang="ko-KR" altLang="en-US" sz="1400" dirty="0">
                <a:sym typeface="Wingdings" panose="05000000000000000000" pitchFamily="2" charset="2"/>
              </a:rPr>
              <a:t>공지기술인 </a:t>
            </a:r>
            <a:r>
              <a:rPr lang="en-US" altLang="ko-KR" sz="1400" dirty="0" err="1">
                <a:sym typeface="Wingdings" panose="05000000000000000000" pitchFamily="2" charset="2"/>
              </a:rPr>
              <a:t>abc</a:t>
            </a:r>
            <a:r>
              <a:rPr lang="ko-KR" altLang="en-US" sz="1400" dirty="0">
                <a:sym typeface="Wingdings" panose="05000000000000000000" pitchFamily="2" charset="2"/>
              </a:rPr>
              <a:t>와 비교하여 동일성</a:t>
            </a:r>
            <a:r>
              <a:rPr lang="en-US" altLang="ko-KR" sz="1400" dirty="0">
                <a:sym typeface="Wingdings" panose="05000000000000000000" pitchFamily="2" charset="2"/>
              </a:rPr>
              <a:t>(</a:t>
            </a:r>
            <a:r>
              <a:rPr lang="ko-KR" altLang="en-US" sz="1400" dirty="0">
                <a:sym typeface="Wingdings" panose="05000000000000000000" pitchFamily="2" charset="2"/>
              </a:rPr>
              <a:t>신규성</a:t>
            </a:r>
            <a:r>
              <a:rPr lang="en-US" altLang="ko-KR" sz="1400" dirty="0">
                <a:sym typeface="Wingdings" panose="05000000000000000000" pitchFamily="2" charset="2"/>
              </a:rPr>
              <a:t>), </a:t>
            </a:r>
            <a:r>
              <a:rPr lang="ko-KR" altLang="en-US" sz="1400" dirty="0">
                <a:sym typeface="Wingdings" panose="05000000000000000000" pitchFamily="2" charset="2"/>
              </a:rPr>
              <a:t>용이성</a:t>
            </a:r>
            <a:r>
              <a:rPr lang="en-US" altLang="ko-KR" sz="1400" dirty="0">
                <a:sym typeface="Wingdings" panose="05000000000000000000" pitchFamily="2" charset="2"/>
              </a:rPr>
              <a:t>(</a:t>
            </a:r>
            <a:r>
              <a:rPr lang="ko-KR" altLang="en-US" sz="1400" dirty="0">
                <a:sym typeface="Wingdings" panose="05000000000000000000" pitchFamily="2" charset="2"/>
              </a:rPr>
              <a:t>진보성</a:t>
            </a:r>
            <a:r>
              <a:rPr lang="en-US" altLang="ko-KR" sz="1400" dirty="0">
                <a:sym typeface="Wingdings" panose="05000000000000000000" pitchFamily="2" charset="2"/>
              </a:rPr>
              <a:t>)</a:t>
            </a:r>
            <a:r>
              <a:rPr lang="ko-KR" altLang="en-US" sz="1400" dirty="0">
                <a:sym typeface="Wingdings" panose="05000000000000000000" pitchFamily="2" charset="2"/>
              </a:rPr>
              <a:t> 판단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r>
              <a:rPr lang="ko-KR" altLang="en-US" sz="1400" dirty="0">
                <a:sym typeface="Wingdings" panose="05000000000000000000" pitchFamily="2" charset="2"/>
              </a:rPr>
              <a:t>청구항</a:t>
            </a:r>
            <a:r>
              <a:rPr lang="en-US" altLang="ko-KR" sz="1400" dirty="0">
                <a:sym typeface="Wingdings" panose="05000000000000000000" pitchFamily="2" charset="2"/>
              </a:rPr>
              <a:t>2: </a:t>
            </a:r>
            <a:r>
              <a:rPr lang="ko-KR" altLang="en-US" sz="1400" dirty="0" err="1">
                <a:sym typeface="Wingdings" panose="05000000000000000000" pitchFamily="2" charset="2"/>
              </a:rPr>
              <a:t>흑연연필심과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ko-KR" altLang="en-US" sz="1400" dirty="0" err="1">
                <a:sym typeface="Wingdings" panose="05000000000000000000" pitchFamily="2" charset="2"/>
              </a:rPr>
              <a:t>목재외각부를</a:t>
            </a:r>
            <a:r>
              <a:rPr lang="ko-KR" altLang="en-US" sz="1400" dirty="0">
                <a:sym typeface="Wingdings" panose="05000000000000000000" pitchFamily="2" charset="2"/>
              </a:rPr>
              <a:t> 구성으로 하며</a:t>
            </a:r>
            <a:r>
              <a:rPr lang="en-US" altLang="ko-KR" sz="1400" dirty="0">
                <a:sym typeface="Wingdings" panose="05000000000000000000" pitchFamily="2" charset="2"/>
              </a:rPr>
              <a:t>, </a:t>
            </a:r>
            <a:r>
              <a:rPr lang="ko-KR" altLang="en-US" sz="1400" dirty="0">
                <a:sym typeface="Wingdings" panose="05000000000000000000" pitchFamily="2" charset="2"/>
              </a:rPr>
              <a:t>공지기술인 </a:t>
            </a:r>
            <a:r>
              <a:rPr lang="ko-KR" altLang="en-US" sz="1400" dirty="0" err="1">
                <a:sym typeface="Wingdings" panose="05000000000000000000" pitchFamily="2" charset="2"/>
              </a:rPr>
              <a:t>흑연연필심과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ko-KR" altLang="en-US" sz="1400" dirty="0" err="1">
                <a:sym typeface="Wingdings" panose="05000000000000000000" pitchFamily="2" charset="2"/>
              </a:rPr>
              <a:t>목재외각부와</a:t>
            </a:r>
            <a:r>
              <a:rPr lang="ko-KR" altLang="en-US" sz="1400" dirty="0">
                <a:sym typeface="Wingdings" panose="05000000000000000000" pitchFamily="2" charset="2"/>
              </a:rPr>
              <a:t> 동일성이 있어 신규성 위반</a:t>
            </a:r>
            <a:endParaRPr lang="ko-KR" altLang="en-US" sz="1400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C6A76E1-A947-4341-BBE2-3FB9629C2790}"/>
              </a:ext>
            </a:extLst>
          </p:cNvPr>
          <p:cNvSpPr/>
          <p:nvPr/>
        </p:nvSpPr>
        <p:spPr>
          <a:xfrm>
            <a:off x="1576852" y="3392535"/>
            <a:ext cx="570445" cy="570445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600"/>
              <a:t>판단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C530306-AEA1-49F0-A73D-57FC24F47163}"/>
              </a:ext>
            </a:extLst>
          </p:cNvPr>
          <p:cNvSpPr txBox="1"/>
          <p:nvPr/>
        </p:nvSpPr>
        <p:spPr>
          <a:xfrm>
            <a:off x="2139193" y="5300820"/>
            <a:ext cx="99774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청구항</a:t>
            </a:r>
            <a:r>
              <a:rPr lang="en-US" altLang="ko-KR" sz="1400" dirty="0"/>
              <a:t>1: a1</a:t>
            </a:r>
            <a:r>
              <a:rPr lang="en-US" altLang="ko-KR" sz="1400" dirty="0">
                <a:sym typeface="Wingdings" panose="05000000000000000000" pitchFamily="2" charset="2"/>
              </a:rPr>
              <a:t>c3b2</a:t>
            </a:r>
            <a:r>
              <a:rPr lang="ko-KR" altLang="en-US" sz="1400" dirty="0">
                <a:sym typeface="Wingdings" panose="05000000000000000000" pitchFamily="2" charset="2"/>
              </a:rPr>
              <a:t>를 구성으로 하며</a:t>
            </a:r>
            <a:r>
              <a:rPr lang="en-US" altLang="ko-KR" sz="1400" dirty="0">
                <a:sym typeface="Wingdings" panose="05000000000000000000" pitchFamily="2" charset="2"/>
              </a:rPr>
              <a:t>, </a:t>
            </a:r>
            <a:r>
              <a:rPr lang="ko-KR" altLang="en-US" sz="1400" dirty="0">
                <a:sym typeface="Wingdings" panose="05000000000000000000" pitchFamily="2" charset="2"/>
              </a:rPr>
              <a:t>공지기술인 </a:t>
            </a:r>
            <a:r>
              <a:rPr lang="en-US" altLang="ko-KR" sz="1400" dirty="0" err="1">
                <a:sym typeface="Wingdings" panose="05000000000000000000" pitchFamily="2" charset="2"/>
              </a:rPr>
              <a:t>abc</a:t>
            </a:r>
            <a:r>
              <a:rPr lang="ko-KR" altLang="en-US" sz="1400" dirty="0">
                <a:sym typeface="Wingdings" panose="05000000000000000000" pitchFamily="2" charset="2"/>
              </a:rPr>
              <a:t>와 비교하여 동일성</a:t>
            </a:r>
            <a:r>
              <a:rPr lang="en-US" altLang="ko-KR" sz="1400" dirty="0">
                <a:sym typeface="Wingdings" panose="05000000000000000000" pitchFamily="2" charset="2"/>
              </a:rPr>
              <a:t>(</a:t>
            </a:r>
            <a:r>
              <a:rPr lang="ko-KR" altLang="en-US" sz="1400" dirty="0">
                <a:sym typeface="Wingdings" panose="05000000000000000000" pitchFamily="2" charset="2"/>
              </a:rPr>
              <a:t>신규성</a:t>
            </a:r>
            <a:r>
              <a:rPr lang="en-US" altLang="ko-KR" sz="1400" dirty="0">
                <a:sym typeface="Wingdings" panose="05000000000000000000" pitchFamily="2" charset="2"/>
              </a:rPr>
              <a:t>), </a:t>
            </a:r>
            <a:r>
              <a:rPr lang="ko-KR" altLang="en-US" sz="1400" dirty="0">
                <a:sym typeface="Wingdings" panose="05000000000000000000" pitchFamily="2" charset="2"/>
              </a:rPr>
              <a:t>용이성</a:t>
            </a:r>
            <a:r>
              <a:rPr lang="en-US" altLang="ko-KR" sz="1400" dirty="0">
                <a:sym typeface="Wingdings" panose="05000000000000000000" pitchFamily="2" charset="2"/>
              </a:rPr>
              <a:t>(</a:t>
            </a:r>
            <a:r>
              <a:rPr lang="ko-KR" altLang="en-US" sz="1400" dirty="0">
                <a:sym typeface="Wingdings" panose="05000000000000000000" pitchFamily="2" charset="2"/>
              </a:rPr>
              <a:t>진보성</a:t>
            </a:r>
            <a:r>
              <a:rPr lang="en-US" altLang="ko-KR" sz="1400" dirty="0">
                <a:sym typeface="Wingdings" panose="05000000000000000000" pitchFamily="2" charset="2"/>
              </a:rPr>
              <a:t>)</a:t>
            </a:r>
            <a:r>
              <a:rPr lang="ko-KR" altLang="en-US" sz="1400" dirty="0">
                <a:sym typeface="Wingdings" panose="05000000000000000000" pitchFamily="2" charset="2"/>
              </a:rPr>
              <a:t> 판단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r>
              <a:rPr lang="ko-KR" altLang="en-US" sz="1400" dirty="0">
                <a:sym typeface="Wingdings" panose="05000000000000000000" pitchFamily="2" charset="2"/>
              </a:rPr>
              <a:t>청구항</a:t>
            </a:r>
            <a:r>
              <a:rPr lang="en-US" altLang="ko-KR" sz="1400" dirty="0">
                <a:sym typeface="Wingdings" panose="05000000000000000000" pitchFamily="2" charset="2"/>
              </a:rPr>
              <a:t>2: </a:t>
            </a:r>
            <a:r>
              <a:rPr lang="ko-KR" altLang="en-US" sz="1400" dirty="0" err="1">
                <a:sym typeface="Wingdings" panose="05000000000000000000" pitchFamily="2" charset="2"/>
              </a:rPr>
              <a:t>흑연연필심과</a:t>
            </a:r>
            <a:r>
              <a:rPr lang="ko-KR" altLang="en-US" sz="1400" dirty="0">
                <a:sym typeface="Wingdings" panose="05000000000000000000" pitchFamily="2" charset="2"/>
              </a:rPr>
              <a:t> 다각형 </a:t>
            </a:r>
            <a:r>
              <a:rPr lang="ko-KR" altLang="en-US" sz="1400" dirty="0" err="1">
                <a:sym typeface="Wingdings" panose="05000000000000000000" pitchFamily="2" charset="2"/>
              </a:rPr>
              <a:t>목재외각부를</a:t>
            </a:r>
            <a:r>
              <a:rPr lang="ko-KR" altLang="en-US" sz="1400" dirty="0">
                <a:sym typeface="Wingdings" panose="05000000000000000000" pitchFamily="2" charset="2"/>
              </a:rPr>
              <a:t> 구성으로 하며</a:t>
            </a:r>
            <a:r>
              <a:rPr lang="en-US" altLang="ko-KR" sz="1400" dirty="0">
                <a:sym typeface="Wingdings" panose="05000000000000000000" pitchFamily="2" charset="2"/>
              </a:rPr>
              <a:t>, </a:t>
            </a:r>
            <a:r>
              <a:rPr lang="ko-KR" altLang="en-US" sz="1400" dirty="0">
                <a:sym typeface="Wingdings" panose="05000000000000000000" pitchFamily="2" charset="2"/>
              </a:rPr>
              <a:t>공지기술인 </a:t>
            </a:r>
            <a:r>
              <a:rPr lang="ko-KR" altLang="en-US" sz="1400" dirty="0" err="1">
                <a:sym typeface="Wingdings" panose="05000000000000000000" pitchFamily="2" charset="2"/>
              </a:rPr>
              <a:t>흑연연필심과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ko-KR" altLang="en-US" sz="1400" dirty="0" err="1">
                <a:sym typeface="Wingdings" panose="05000000000000000000" pitchFamily="2" charset="2"/>
              </a:rPr>
              <a:t>목재외각부와</a:t>
            </a:r>
            <a:r>
              <a:rPr lang="ko-KR" altLang="en-US" sz="1400" dirty="0">
                <a:sym typeface="Wingdings" panose="05000000000000000000" pitchFamily="2" charset="2"/>
              </a:rPr>
              <a:t> 동일성</a:t>
            </a:r>
            <a:r>
              <a:rPr lang="en-US" altLang="ko-KR" sz="1400" dirty="0">
                <a:sym typeface="Wingdings" panose="05000000000000000000" pitchFamily="2" charset="2"/>
              </a:rPr>
              <a:t>(</a:t>
            </a:r>
            <a:r>
              <a:rPr lang="ko-KR" altLang="en-US" sz="1400" dirty="0">
                <a:sym typeface="Wingdings" panose="05000000000000000000" pitchFamily="2" charset="2"/>
              </a:rPr>
              <a:t>신규성</a:t>
            </a:r>
            <a:r>
              <a:rPr lang="en-US" altLang="ko-KR" sz="1400" dirty="0">
                <a:sym typeface="Wingdings" panose="05000000000000000000" pitchFamily="2" charset="2"/>
              </a:rPr>
              <a:t>), </a:t>
            </a:r>
            <a:r>
              <a:rPr lang="ko-KR" altLang="en-US" sz="1400" dirty="0">
                <a:sym typeface="Wingdings" panose="05000000000000000000" pitchFamily="2" charset="2"/>
              </a:rPr>
              <a:t>용이성</a:t>
            </a:r>
            <a:r>
              <a:rPr lang="en-US" altLang="ko-KR" sz="1400" dirty="0">
                <a:sym typeface="Wingdings" panose="05000000000000000000" pitchFamily="2" charset="2"/>
              </a:rPr>
              <a:t>(</a:t>
            </a:r>
            <a:r>
              <a:rPr lang="ko-KR" altLang="en-US" sz="1400" dirty="0">
                <a:sym typeface="Wingdings" panose="05000000000000000000" pitchFamily="2" charset="2"/>
              </a:rPr>
              <a:t>진보성</a:t>
            </a:r>
            <a:r>
              <a:rPr lang="en-US" altLang="ko-KR" sz="1400" dirty="0">
                <a:sym typeface="Wingdings" panose="05000000000000000000" pitchFamily="2" charset="2"/>
              </a:rPr>
              <a:t>)</a:t>
            </a:r>
            <a:r>
              <a:rPr lang="ko-KR" altLang="en-US" sz="1400" dirty="0">
                <a:sym typeface="Wingdings" panose="05000000000000000000" pitchFamily="2" charset="2"/>
              </a:rPr>
              <a:t> 판단</a:t>
            </a:r>
            <a:endParaRPr lang="ko-KR" altLang="en-US" sz="1400" dirty="0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A53C9913-F433-4643-81DD-4422D1428345}"/>
              </a:ext>
            </a:extLst>
          </p:cNvPr>
          <p:cNvSpPr/>
          <p:nvPr/>
        </p:nvSpPr>
        <p:spPr>
          <a:xfrm>
            <a:off x="1576852" y="5277208"/>
            <a:ext cx="570445" cy="570445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600"/>
              <a:t>판단</a:t>
            </a:r>
          </a:p>
        </p:txBody>
      </p:sp>
    </p:spTree>
    <p:extLst>
      <p:ext uri="{BB962C8B-B14F-4D97-AF65-F5344CB8AC3E}">
        <p14:creationId xmlns:p14="http://schemas.microsoft.com/office/powerpoint/2010/main" val="289913670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기능적 표현 청구항의</a:t>
            </a:r>
            <a:r>
              <a:rPr lang="en-US" altLang="ko-KR" dirty="0"/>
              <a:t> CASE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140</a:t>
            </a:fld>
            <a:endParaRPr lang="ko-KR" altLang="en-US"/>
          </a:p>
        </p:txBody>
      </p:sp>
      <p:cxnSp>
        <p:nvCxnSpPr>
          <p:cNvPr id="10" name="직선 연결선 9"/>
          <p:cNvCxnSpPr>
            <a:cxnSpLocks/>
          </p:cNvCxnSpPr>
          <p:nvPr/>
        </p:nvCxnSpPr>
        <p:spPr>
          <a:xfrm>
            <a:off x="380873" y="1984016"/>
            <a:ext cx="643191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7933" y="1394319"/>
            <a:ext cx="1143572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지우개 결합 연필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580574" y="1845756"/>
            <a:ext cx="996278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공지기술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1962822" y="1871629"/>
            <a:ext cx="996278" cy="2745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발명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096000" y="4808781"/>
            <a:ext cx="1433576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지우개 결합 연필 실시</a:t>
            </a:r>
            <a:endParaRPr lang="en-US" altLang="ko-KR" sz="1100" dirty="0"/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4F71079C-7B8A-4681-9D03-4B129C66846B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rot="5400000">
            <a:off x="984303" y="1750339"/>
            <a:ext cx="189827" cy="100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5ACD4DF-0F21-4C2F-9F23-1616AD7A6269}"/>
              </a:ext>
            </a:extLst>
          </p:cNvPr>
          <p:cNvSpPr txBox="1"/>
          <p:nvPr/>
        </p:nvSpPr>
        <p:spPr>
          <a:xfrm>
            <a:off x="1886000" y="1394319"/>
            <a:ext cx="1143572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수정액 결합 볼펜</a:t>
            </a:r>
          </a:p>
        </p:txBody>
      </p: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70DD68ED-20B7-4DD0-82C5-8C745CA3BF3E}"/>
              </a:ext>
            </a:extLst>
          </p:cNvPr>
          <p:cNvCxnSpPr>
            <a:cxnSpLocks/>
            <a:stCxn id="44" idx="2"/>
            <a:endCxn id="24" idx="0"/>
          </p:cNvCxnSpPr>
          <p:nvPr/>
        </p:nvCxnSpPr>
        <p:spPr>
          <a:xfrm rot="16200000" flipH="1">
            <a:off x="2351523" y="1762191"/>
            <a:ext cx="215700" cy="317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9ED3B97-7020-459C-AB38-E0A9CB32C2A1}"/>
              </a:ext>
            </a:extLst>
          </p:cNvPr>
          <p:cNvSpPr txBox="1"/>
          <p:nvPr/>
        </p:nvSpPr>
        <p:spPr>
          <a:xfrm>
            <a:off x="3338718" y="1045069"/>
            <a:ext cx="3226277" cy="6001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청구범위</a:t>
            </a:r>
            <a:r>
              <a:rPr lang="en-US" altLang="ko-KR" sz="1100" dirty="0"/>
              <a:t>: </a:t>
            </a:r>
            <a:r>
              <a:rPr lang="ko-KR" altLang="en-US" sz="1100" dirty="0"/>
              <a:t>소거수단을 결합한 필기수단</a:t>
            </a:r>
            <a:endParaRPr lang="en-US" altLang="ko-KR" sz="1100" dirty="0"/>
          </a:p>
          <a:p>
            <a:r>
              <a:rPr lang="ko-KR" altLang="en-US" sz="1100" dirty="0"/>
              <a:t>발명의 설명</a:t>
            </a:r>
            <a:r>
              <a:rPr lang="en-US" altLang="ko-KR" sz="1100" dirty="0"/>
              <a:t>: </a:t>
            </a:r>
            <a:r>
              <a:rPr lang="ko-KR" altLang="en-US" sz="1100" dirty="0"/>
              <a:t>소거수단 결합한 필기수단과 그 실시예로 수정액 결합 볼펜 기재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5F83471-91AF-4949-A16A-6D8A06B02CB0}"/>
              </a:ext>
            </a:extLst>
          </p:cNvPr>
          <p:cNvSpPr/>
          <p:nvPr/>
        </p:nvSpPr>
        <p:spPr>
          <a:xfrm>
            <a:off x="3411360" y="1845756"/>
            <a:ext cx="996278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10172452-2F30-4A9C-9BD3-3A4B10AE9E81}"/>
              </a:ext>
            </a:extLst>
          </p:cNvPr>
          <p:cNvCxnSpPr>
            <a:cxnSpLocks/>
            <a:stCxn id="48" idx="2"/>
            <a:endCxn id="49" idx="0"/>
          </p:cNvCxnSpPr>
          <p:nvPr/>
        </p:nvCxnSpPr>
        <p:spPr>
          <a:xfrm rot="5400000">
            <a:off x="4330417" y="1224315"/>
            <a:ext cx="200523" cy="104235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D51D7E9B-F714-42B4-844F-F7E450B53C60}"/>
              </a:ext>
            </a:extLst>
          </p:cNvPr>
          <p:cNvCxnSpPr>
            <a:cxnSpLocks/>
          </p:cNvCxnSpPr>
          <p:nvPr/>
        </p:nvCxnSpPr>
        <p:spPr>
          <a:xfrm>
            <a:off x="380873" y="4359706"/>
            <a:ext cx="11630152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A2F5B07-0AC3-42AB-92EF-680474F3A582}"/>
              </a:ext>
            </a:extLst>
          </p:cNvPr>
          <p:cNvSpPr/>
          <p:nvPr/>
        </p:nvSpPr>
        <p:spPr>
          <a:xfrm>
            <a:off x="1962822" y="4247319"/>
            <a:ext cx="996278" cy="2745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발명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2235DC-5F1C-4C18-9200-5EADCC5DCC5A}"/>
              </a:ext>
            </a:extLst>
          </p:cNvPr>
          <p:cNvSpPr txBox="1"/>
          <p:nvPr/>
        </p:nvSpPr>
        <p:spPr>
          <a:xfrm>
            <a:off x="1886000" y="3770009"/>
            <a:ext cx="1143572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수정액 결합 볼펜</a:t>
            </a:r>
          </a:p>
        </p:txBody>
      </p: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E52E7A17-737A-4876-BA05-7D46A0EAE8E8}"/>
              </a:ext>
            </a:extLst>
          </p:cNvPr>
          <p:cNvCxnSpPr>
            <a:cxnSpLocks/>
            <a:stCxn id="61" idx="2"/>
            <a:endCxn id="58" idx="0"/>
          </p:cNvCxnSpPr>
          <p:nvPr/>
        </p:nvCxnSpPr>
        <p:spPr>
          <a:xfrm rot="16200000" flipH="1">
            <a:off x="2351523" y="4137881"/>
            <a:ext cx="215700" cy="317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E85C7D3-2507-463B-A37D-61A27DF553E5}"/>
              </a:ext>
            </a:extLst>
          </p:cNvPr>
          <p:cNvSpPr txBox="1"/>
          <p:nvPr/>
        </p:nvSpPr>
        <p:spPr>
          <a:xfrm>
            <a:off x="3338718" y="3420759"/>
            <a:ext cx="3226277" cy="6001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청구범위</a:t>
            </a:r>
            <a:r>
              <a:rPr lang="en-US" altLang="ko-KR" sz="1100" dirty="0"/>
              <a:t>: </a:t>
            </a:r>
            <a:r>
              <a:rPr lang="ko-KR" altLang="en-US" sz="1100" dirty="0"/>
              <a:t>소거수단을 결합한 필기수단</a:t>
            </a:r>
            <a:endParaRPr lang="en-US" altLang="ko-KR" sz="1100" dirty="0"/>
          </a:p>
          <a:p>
            <a:r>
              <a:rPr lang="ko-KR" altLang="en-US" sz="1100" dirty="0"/>
              <a:t>발명의 설명</a:t>
            </a:r>
            <a:r>
              <a:rPr lang="en-US" altLang="ko-KR" sz="1100" dirty="0"/>
              <a:t>: </a:t>
            </a:r>
            <a:r>
              <a:rPr lang="ko-KR" altLang="en-US" sz="1100" dirty="0"/>
              <a:t>소거수단 결합한 필기수단과 그 실시예로 수정액 결합 볼펜 기재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EB8FBFF0-8D19-4CBA-BDC3-04E70F2D553E}"/>
              </a:ext>
            </a:extLst>
          </p:cNvPr>
          <p:cNvSpPr/>
          <p:nvPr/>
        </p:nvSpPr>
        <p:spPr>
          <a:xfrm>
            <a:off x="3411360" y="4221446"/>
            <a:ext cx="996278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F2563F37-D790-4ACA-9D75-6FD661559DFA}"/>
              </a:ext>
            </a:extLst>
          </p:cNvPr>
          <p:cNvCxnSpPr>
            <a:cxnSpLocks/>
            <a:stCxn id="63" idx="2"/>
            <a:endCxn id="64" idx="0"/>
          </p:cNvCxnSpPr>
          <p:nvPr/>
        </p:nvCxnSpPr>
        <p:spPr>
          <a:xfrm rot="5400000">
            <a:off x="4330417" y="3600005"/>
            <a:ext cx="200523" cy="104235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5D0DB450-0B95-4E37-92A9-2456D908361F}"/>
              </a:ext>
            </a:extLst>
          </p:cNvPr>
          <p:cNvSpPr/>
          <p:nvPr/>
        </p:nvSpPr>
        <p:spPr>
          <a:xfrm>
            <a:off x="5099722" y="4221446"/>
            <a:ext cx="996278" cy="3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6663678" y="4208803"/>
            <a:ext cx="1152931" cy="3004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자 실시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F4765440-AF7B-4DCA-989F-D2D419A8F54E}"/>
              </a:ext>
            </a:extLst>
          </p:cNvPr>
          <p:cNvSpPr/>
          <p:nvPr/>
        </p:nvSpPr>
        <p:spPr>
          <a:xfrm>
            <a:off x="8190542" y="4208803"/>
            <a:ext cx="1152931" cy="3004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자 실시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F7D05164-44B6-4EEF-B173-2C732D8C904C}"/>
              </a:ext>
            </a:extLst>
          </p:cNvPr>
          <p:cNvSpPr/>
          <p:nvPr/>
        </p:nvSpPr>
        <p:spPr>
          <a:xfrm>
            <a:off x="9717406" y="4208803"/>
            <a:ext cx="1152931" cy="3004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자 실시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6DF647E0-4DC3-4C85-B1A4-E8A5A880E48E}"/>
              </a:ext>
            </a:extLst>
          </p:cNvPr>
          <p:cNvCxnSpPr>
            <a:cxnSpLocks/>
            <a:stCxn id="37" idx="0"/>
            <a:endCxn id="30" idx="2"/>
          </p:cNvCxnSpPr>
          <p:nvPr/>
        </p:nvCxnSpPr>
        <p:spPr>
          <a:xfrm rot="5400000" flipH="1" flipV="1">
            <a:off x="6876696" y="4445333"/>
            <a:ext cx="299541" cy="42735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61BF306A-C4CD-400A-AA9E-BD2E8E5CA24D}"/>
              </a:ext>
            </a:extLst>
          </p:cNvPr>
          <p:cNvSpPr txBox="1"/>
          <p:nvPr/>
        </p:nvSpPr>
        <p:spPr>
          <a:xfrm>
            <a:off x="8051418" y="4808781"/>
            <a:ext cx="1433576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수정액 결합 볼펜</a:t>
            </a:r>
            <a:endParaRPr lang="en-US" altLang="ko-KR" sz="1100" dirty="0"/>
          </a:p>
        </p:txBody>
      </p: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60112D89-90A3-419A-93EA-F7BD3B812D83}"/>
              </a:ext>
            </a:extLst>
          </p:cNvPr>
          <p:cNvCxnSpPr>
            <a:cxnSpLocks/>
            <a:stCxn id="99" idx="0"/>
            <a:endCxn id="92" idx="2"/>
          </p:cNvCxnSpPr>
          <p:nvPr/>
        </p:nvCxnSpPr>
        <p:spPr>
          <a:xfrm rot="16200000" flipV="1">
            <a:off x="8617837" y="4658412"/>
            <a:ext cx="299541" cy="119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8CCD8D8C-C290-4346-A1C6-E3B2215240AA}"/>
              </a:ext>
            </a:extLst>
          </p:cNvPr>
          <p:cNvSpPr txBox="1"/>
          <p:nvPr/>
        </p:nvSpPr>
        <p:spPr>
          <a:xfrm>
            <a:off x="10060960" y="4808781"/>
            <a:ext cx="1433576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수정액</a:t>
            </a:r>
            <a:r>
              <a:rPr lang="en-US" altLang="ko-KR" sz="1100" dirty="0"/>
              <a:t>2</a:t>
            </a:r>
            <a:r>
              <a:rPr lang="ko-KR" altLang="en-US" sz="1100" dirty="0"/>
              <a:t> 결합 볼펜</a:t>
            </a:r>
            <a:endParaRPr lang="en-US" altLang="ko-KR" sz="1100" dirty="0"/>
          </a:p>
        </p:txBody>
      </p: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E80B7CED-7CEE-4CA0-8E22-CCEA3EA47C17}"/>
              </a:ext>
            </a:extLst>
          </p:cNvPr>
          <p:cNvCxnSpPr>
            <a:cxnSpLocks/>
            <a:stCxn id="102" idx="0"/>
            <a:endCxn id="94" idx="2"/>
          </p:cNvCxnSpPr>
          <p:nvPr/>
        </p:nvCxnSpPr>
        <p:spPr>
          <a:xfrm rot="16200000" flipV="1">
            <a:off x="10386040" y="4417073"/>
            <a:ext cx="299541" cy="48387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5" name="표 104">
            <a:extLst>
              <a:ext uri="{FF2B5EF4-FFF2-40B4-BE49-F238E27FC236}">
                <a16:creationId xmlns:a16="http://schemas.microsoft.com/office/drawing/2014/main" id="{638376A7-3480-4010-AF20-F3D42A9A96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107858"/>
              </p:ext>
            </p:extLst>
          </p:nvPr>
        </p:nvGraphicFramePr>
        <p:xfrm>
          <a:off x="2047260" y="5398638"/>
          <a:ext cx="7296213" cy="103632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136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6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5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74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54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구 분 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발명특정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비교대상특정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판단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419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보호범위 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en-US" sz="1100" dirty="0"/>
                        <a:t>판단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수정액 결합한 볼펜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지우개 결합 연필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AER, </a:t>
                      </a:r>
                      <a:r>
                        <a:rPr lang="ko-KR" altLang="en-US" sz="1100" dirty="0" err="1"/>
                        <a:t>균등론</a:t>
                      </a:r>
                      <a:r>
                        <a:rPr lang="ko-KR" altLang="en-US" sz="1100" dirty="0"/>
                        <a:t> 의하여 </a:t>
                      </a:r>
                      <a:r>
                        <a:rPr lang="ko-KR" altLang="en-US" sz="1100" dirty="0" err="1"/>
                        <a:t>비침해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41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수정액 결합 볼펜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AER</a:t>
                      </a:r>
                      <a:r>
                        <a:rPr lang="ko-KR" altLang="en-US" sz="1100" dirty="0"/>
                        <a:t>에 의한 침해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41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수정액</a:t>
                      </a:r>
                      <a:r>
                        <a:rPr lang="en-US" altLang="ko-KR" sz="1100" dirty="0"/>
                        <a:t>2 </a:t>
                      </a:r>
                      <a:r>
                        <a:rPr lang="ko-KR" altLang="en-US" sz="1100" dirty="0"/>
                        <a:t>결합 볼펜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/>
                        <a:t>균등론에</a:t>
                      </a:r>
                      <a:r>
                        <a:rPr lang="ko-KR" altLang="en-US" sz="1100" dirty="0"/>
                        <a:t> 의한 침해△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6" name="표 105">
            <a:extLst>
              <a:ext uri="{FF2B5EF4-FFF2-40B4-BE49-F238E27FC236}">
                <a16:creationId xmlns:a16="http://schemas.microsoft.com/office/drawing/2014/main" id="{5407F1DD-0719-45BB-9D19-C2C0F4CBF85C}"/>
              </a:ext>
            </a:extLst>
          </p:cNvPr>
          <p:cNvGraphicFramePr>
            <a:graphicFrameLocks noGrp="1"/>
          </p:cNvGraphicFramePr>
          <p:nvPr/>
        </p:nvGraphicFramePr>
        <p:xfrm>
          <a:off x="7135776" y="1624265"/>
          <a:ext cx="4823603" cy="777892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751529">
                  <a:extLst>
                    <a:ext uri="{9D8B030D-6E8A-4147-A177-3AD203B41FA5}">
                      <a16:colId xmlns:a16="http://schemas.microsoft.com/office/drawing/2014/main" val="3020649315"/>
                    </a:ext>
                  </a:extLst>
                </a:gridCol>
                <a:gridCol w="1088471">
                  <a:extLst>
                    <a:ext uri="{9D8B030D-6E8A-4147-A177-3AD203B41FA5}">
                      <a16:colId xmlns:a16="http://schemas.microsoft.com/office/drawing/2014/main" val="3533084461"/>
                    </a:ext>
                  </a:extLst>
                </a:gridCol>
                <a:gridCol w="1239942">
                  <a:extLst>
                    <a:ext uri="{9D8B030D-6E8A-4147-A177-3AD203B41FA5}">
                      <a16:colId xmlns:a16="http://schemas.microsoft.com/office/drawing/2014/main" val="3299466833"/>
                    </a:ext>
                  </a:extLst>
                </a:gridCol>
                <a:gridCol w="1743661">
                  <a:extLst>
                    <a:ext uri="{9D8B030D-6E8A-4147-A177-3AD203B41FA5}">
                      <a16:colId xmlns:a16="http://schemas.microsoft.com/office/drawing/2014/main" val="13004550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구 분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발명특정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비교대상특정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판단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8050556"/>
                  </a:ext>
                </a:extLst>
              </a:tr>
              <a:tr h="5188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특허요건 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en-US" sz="1100" dirty="0"/>
                        <a:t>판단</a:t>
                      </a:r>
                      <a:endParaRPr lang="en-US" altLang="ko-K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소거수단</a:t>
                      </a:r>
                      <a:r>
                        <a:rPr lang="ko-KR" altLang="en-US" sz="1100" baseline="0" dirty="0"/>
                        <a:t> 결합한 필기수단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지우개 결합 연필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발명이 상위개념이기 때문에 </a:t>
                      </a:r>
                      <a:r>
                        <a:rPr lang="ko-KR" altLang="en-US" sz="1100" dirty="0" err="1"/>
                        <a:t>신규성</a:t>
                      </a:r>
                      <a:r>
                        <a:rPr lang="ko-KR" altLang="en-US" sz="1100" dirty="0"/>
                        <a:t> 위반</a:t>
                      </a:r>
                      <a:r>
                        <a:rPr lang="en-US" altLang="ko-KR" sz="1100" dirty="0"/>
                        <a:t>*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456176"/>
                  </a:ext>
                </a:extLst>
              </a:tr>
            </a:tbl>
          </a:graphicData>
        </a:graphic>
      </p:graphicFrame>
      <p:sp>
        <p:nvSpPr>
          <p:cNvPr id="108" name="TextBox 107">
            <a:extLst>
              <a:ext uri="{FF2B5EF4-FFF2-40B4-BE49-F238E27FC236}">
                <a16:creationId xmlns:a16="http://schemas.microsoft.com/office/drawing/2014/main" id="{CB1106B9-5AF4-4B87-8A42-29FB5DF5F541}"/>
              </a:ext>
            </a:extLst>
          </p:cNvPr>
          <p:cNvSpPr txBox="1"/>
          <p:nvPr/>
        </p:nvSpPr>
        <p:spPr>
          <a:xfrm>
            <a:off x="7771010" y="1281748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5A2C8D1-B19D-41FF-AD27-2BAF030710AA}"/>
              </a:ext>
            </a:extLst>
          </p:cNvPr>
          <p:cNvSpPr txBox="1"/>
          <p:nvPr/>
        </p:nvSpPr>
        <p:spPr>
          <a:xfrm>
            <a:off x="8907896" y="1263514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11EA065-10A4-4B0D-9A5D-3B5CAEA8DC92}"/>
              </a:ext>
            </a:extLst>
          </p:cNvPr>
          <p:cNvSpPr txBox="1"/>
          <p:nvPr/>
        </p:nvSpPr>
        <p:spPr>
          <a:xfrm>
            <a:off x="10164940" y="1280449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❸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92F2284-109A-4DA1-8C27-9D831FFD4E78}"/>
              </a:ext>
            </a:extLst>
          </p:cNvPr>
          <p:cNvSpPr txBox="1"/>
          <p:nvPr/>
        </p:nvSpPr>
        <p:spPr>
          <a:xfrm>
            <a:off x="6764906" y="5124384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❸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0A5AA45-9ECC-4D75-9CFD-6FDB9102CEBA}"/>
              </a:ext>
            </a:extLst>
          </p:cNvPr>
          <p:cNvSpPr txBox="1"/>
          <p:nvPr/>
        </p:nvSpPr>
        <p:spPr>
          <a:xfrm>
            <a:off x="4827602" y="5137028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A873AB8-F03B-4559-9016-79B06BA1942A}"/>
              </a:ext>
            </a:extLst>
          </p:cNvPr>
          <p:cNvSpPr txBox="1"/>
          <p:nvPr/>
        </p:nvSpPr>
        <p:spPr>
          <a:xfrm>
            <a:off x="3153283" y="5149672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❶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A7FD405-838A-4508-8135-CE05394F3F22}"/>
              </a:ext>
            </a:extLst>
          </p:cNvPr>
          <p:cNvCxnSpPr/>
          <p:nvPr/>
        </p:nvCxnSpPr>
        <p:spPr>
          <a:xfrm>
            <a:off x="0" y="3027872"/>
            <a:ext cx="12191999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601155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복수의 발명을 하나의 출원으로 할 수 있는가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1" name="AutoShape 3"/>
          <p:cNvSpPr>
            <a:spLocks noChangeArrowheads="1"/>
          </p:cNvSpPr>
          <p:nvPr/>
        </p:nvSpPr>
        <p:spPr bwMode="auto">
          <a:xfrm>
            <a:off x="3136895" y="1256529"/>
            <a:ext cx="2015067" cy="377002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ko-KR" altLang="en-US" sz="1100" b="0" dirty="0">
                <a:latin typeface="+mj-ea"/>
                <a:ea typeface="+mj-ea"/>
              </a:rPr>
              <a:t>다수의 발명</a:t>
            </a:r>
            <a:r>
              <a:rPr lang="en-US" altLang="ko-KR" sz="1100" b="0" dirty="0">
                <a:latin typeface="+mj-ea"/>
                <a:ea typeface="+mj-ea"/>
              </a:rPr>
              <a:t>(A, B)</a:t>
            </a:r>
            <a:endParaRPr lang="ko-KR" altLang="en-US" sz="1100" b="0" dirty="0">
              <a:latin typeface="+mj-ea"/>
              <a:ea typeface="+mj-ea"/>
            </a:endParaRPr>
          </a:p>
        </p:txBody>
      </p:sp>
      <p:sp>
        <p:nvSpPr>
          <p:cNvPr id="42" name="AutoShape 6"/>
          <p:cNvSpPr>
            <a:spLocks noChangeArrowheads="1"/>
          </p:cNvSpPr>
          <p:nvPr/>
        </p:nvSpPr>
        <p:spPr bwMode="auto">
          <a:xfrm>
            <a:off x="2923094" y="2205987"/>
            <a:ext cx="2444786" cy="699278"/>
          </a:xfrm>
          <a:prstGeom prst="flowChartDecision">
            <a:avLst/>
          </a:prstGeom>
          <a:solidFill>
            <a:schemeClr val="accent4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altLang="ko-KR" sz="1100" b="0" dirty="0">
                <a:latin typeface="+mj-ea"/>
                <a:ea typeface="+mj-ea"/>
              </a:rPr>
              <a:t>1</a:t>
            </a:r>
            <a:r>
              <a:rPr lang="ko-KR" altLang="en-US" sz="1100" b="0" dirty="0">
                <a:latin typeface="+mj-ea"/>
                <a:ea typeface="+mj-ea"/>
              </a:rPr>
              <a:t>군</a:t>
            </a:r>
          </a:p>
          <a:p>
            <a:pPr algn="ctr"/>
            <a:r>
              <a:rPr lang="en-US" altLang="ko-KR" sz="1100" b="0" dirty="0">
                <a:latin typeface="+mj-ea"/>
                <a:ea typeface="+mj-ea"/>
              </a:rPr>
              <a:t>(</a:t>
            </a:r>
            <a:r>
              <a:rPr lang="ko-KR" altLang="en-US" sz="1100" b="0" dirty="0" err="1">
                <a:latin typeface="+mj-ea"/>
                <a:ea typeface="+mj-ea"/>
              </a:rPr>
              <a:t>독립항</a:t>
            </a:r>
            <a:r>
              <a:rPr lang="ko-KR" altLang="en-US" sz="1100" b="0" dirty="0">
                <a:latin typeface="+mj-ea"/>
                <a:ea typeface="+mj-ea"/>
              </a:rPr>
              <a:t> 기준 판단</a:t>
            </a:r>
            <a:r>
              <a:rPr lang="en-US" altLang="ko-KR" sz="1100" b="0" dirty="0">
                <a:latin typeface="+mj-ea"/>
                <a:ea typeface="+mj-ea"/>
              </a:rPr>
              <a:t>)</a:t>
            </a:r>
          </a:p>
        </p:txBody>
      </p:sp>
      <p:sp>
        <p:nvSpPr>
          <p:cNvPr id="43" name="AutoShape 3"/>
          <p:cNvSpPr>
            <a:spLocks noChangeArrowheads="1"/>
          </p:cNvSpPr>
          <p:nvPr/>
        </p:nvSpPr>
        <p:spPr bwMode="auto">
          <a:xfrm>
            <a:off x="3136895" y="3983340"/>
            <a:ext cx="2015067" cy="377002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ko-KR" altLang="en-US" sz="1100" dirty="0">
                <a:latin typeface="+mj-ea"/>
                <a:ea typeface="+mj-ea"/>
              </a:rPr>
              <a:t>하나의 </a:t>
            </a:r>
            <a:r>
              <a:rPr lang="ko-KR" altLang="en-US" sz="1100" b="0" dirty="0">
                <a:latin typeface="+mj-ea"/>
                <a:ea typeface="+mj-ea"/>
              </a:rPr>
              <a:t>출원</a:t>
            </a:r>
            <a:r>
              <a:rPr lang="en-US" altLang="ko-KR" sz="1100" dirty="0">
                <a:latin typeface="+mj-ea"/>
              </a:rPr>
              <a:t> (</a:t>
            </a:r>
            <a:r>
              <a:rPr lang="ko-KR" altLang="en-US" sz="1100" dirty="0">
                <a:latin typeface="+mj-ea"/>
              </a:rPr>
              <a:t>法 </a:t>
            </a:r>
            <a:r>
              <a:rPr lang="en-US" altLang="ko-KR" sz="1100" dirty="0">
                <a:latin typeface="+mj-ea"/>
              </a:rPr>
              <a:t>45</a:t>
            </a:r>
            <a:r>
              <a:rPr lang="ko-KR" altLang="en-US" sz="1100" dirty="0"/>
              <a:t>①</a:t>
            </a:r>
            <a:r>
              <a:rPr lang="ko-KR" altLang="en-US" sz="1100" dirty="0">
                <a:latin typeface="+mj-ea"/>
              </a:rPr>
              <a:t>단서</a:t>
            </a:r>
            <a:r>
              <a:rPr lang="en-US" altLang="ko-KR" sz="1100" dirty="0">
                <a:latin typeface="+mj-ea"/>
              </a:rPr>
              <a:t>)</a:t>
            </a:r>
            <a:endParaRPr lang="ko-KR" altLang="en-US" sz="1100" b="0" dirty="0">
              <a:latin typeface="+mj-ea"/>
              <a:ea typeface="+mj-ea"/>
            </a:endParaRPr>
          </a:p>
        </p:txBody>
      </p:sp>
      <p:sp>
        <p:nvSpPr>
          <p:cNvPr id="44" name="AutoShape 3"/>
          <p:cNvSpPr>
            <a:spLocks noChangeArrowheads="1"/>
          </p:cNvSpPr>
          <p:nvPr/>
        </p:nvSpPr>
        <p:spPr bwMode="auto">
          <a:xfrm>
            <a:off x="891113" y="3983340"/>
            <a:ext cx="2015067" cy="377002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ko-KR" altLang="en-US" sz="1100" b="0" dirty="0">
                <a:latin typeface="+mj-ea"/>
                <a:ea typeface="+mj-ea"/>
              </a:rPr>
              <a:t>개별출원</a:t>
            </a:r>
            <a:r>
              <a:rPr lang="en-US" altLang="ko-KR" sz="1100" b="0" dirty="0">
                <a:latin typeface="+mj-ea"/>
                <a:ea typeface="+mj-ea"/>
              </a:rPr>
              <a:t>(</a:t>
            </a:r>
            <a:r>
              <a:rPr lang="ko-KR" altLang="en-US" sz="1100" b="0" dirty="0">
                <a:latin typeface="+mj-ea"/>
                <a:ea typeface="+mj-ea"/>
              </a:rPr>
              <a:t>法 </a:t>
            </a:r>
            <a:r>
              <a:rPr lang="en-US" altLang="ko-KR" sz="1100" b="0" dirty="0">
                <a:latin typeface="+mj-ea"/>
                <a:ea typeface="+mj-ea"/>
              </a:rPr>
              <a:t>45</a:t>
            </a:r>
            <a:r>
              <a:rPr lang="ko-KR" altLang="en-US" sz="1100" dirty="0"/>
              <a:t>①</a:t>
            </a:r>
            <a:r>
              <a:rPr lang="ko-KR" altLang="en-US" sz="1100" b="0" dirty="0">
                <a:latin typeface="+mj-ea"/>
                <a:ea typeface="+mj-ea"/>
              </a:rPr>
              <a:t>본문</a:t>
            </a:r>
            <a:r>
              <a:rPr lang="en-US" altLang="ko-KR" sz="1100" b="0" dirty="0">
                <a:latin typeface="+mj-ea"/>
                <a:ea typeface="+mj-ea"/>
              </a:rPr>
              <a:t>)</a:t>
            </a:r>
            <a:endParaRPr lang="ko-KR" altLang="en-US" sz="1100" b="0" dirty="0">
              <a:latin typeface="+mj-ea"/>
              <a:ea typeface="+mj-ea"/>
            </a:endParaRPr>
          </a:p>
        </p:txBody>
      </p:sp>
      <p:cxnSp>
        <p:nvCxnSpPr>
          <p:cNvPr id="46" name="AutoShape 49"/>
          <p:cNvCxnSpPr>
            <a:cxnSpLocks noChangeShapeType="1"/>
            <a:stCxn id="41" idx="2"/>
            <a:endCxn id="42" idx="0"/>
          </p:cNvCxnSpPr>
          <p:nvPr/>
        </p:nvCxnSpPr>
        <p:spPr bwMode="auto">
          <a:xfrm rot="16200000" flipH="1">
            <a:off x="3858730" y="1919230"/>
            <a:ext cx="572456" cy="1058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bg1">
                <a:lumMod val="50000"/>
              </a:schemeClr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AutoShape 50"/>
          <p:cNvCxnSpPr>
            <a:cxnSpLocks noChangeShapeType="1"/>
            <a:stCxn id="42" idx="2"/>
            <a:endCxn id="43" idx="0"/>
          </p:cNvCxnSpPr>
          <p:nvPr/>
        </p:nvCxnSpPr>
        <p:spPr bwMode="auto">
          <a:xfrm rot="5400000">
            <a:off x="3605921" y="3443773"/>
            <a:ext cx="1078075" cy="1058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bg1">
                <a:lumMod val="50000"/>
              </a:schemeClr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" name="AutoShape 51"/>
          <p:cNvCxnSpPr>
            <a:cxnSpLocks noChangeShapeType="1"/>
            <a:stCxn id="42" idx="2"/>
            <a:endCxn id="44" idx="0"/>
          </p:cNvCxnSpPr>
          <p:nvPr/>
        </p:nvCxnSpPr>
        <p:spPr bwMode="auto">
          <a:xfrm rot="5400000">
            <a:off x="2483030" y="2320882"/>
            <a:ext cx="1078075" cy="2246840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bg1">
                <a:lumMod val="50000"/>
              </a:schemeClr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" name="AutoShape 52"/>
          <p:cNvCxnSpPr>
            <a:cxnSpLocks noChangeShapeType="1"/>
            <a:stCxn id="42" idx="1"/>
            <a:endCxn id="44" idx="1"/>
          </p:cNvCxnSpPr>
          <p:nvPr/>
        </p:nvCxnSpPr>
        <p:spPr bwMode="auto">
          <a:xfrm rot="10800000" flipV="1">
            <a:off x="891114" y="2555625"/>
            <a:ext cx="2031981" cy="1616215"/>
          </a:xfrm>
          <a:prstGeom prst="bentConnector3">
            <a:avLst>
              <a:gd name="adj1" fmla="val 111250"/>
            </a:avLst>
          </a:prstGeom>
          <a:noFill/>
          <a:ln w="28575">
            <a:solidFill>
              <a:schemeClr val="bg1">
                <a:lumMod val="50000"/>
              </a:schemeClr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5" name="Text Box 53"/>
          <p:cNvSpPr txBox="1">
            <a:spLocks noChangeArrowheads="1"/>
          </p:cNvSpPr>
          <p:nvPr/>
        </p:nvSpPr>
        <p:spPr bwMode="auto">
          <a:xfrm>
            <a:off x="4269312" y="2837529"/>
            <a:ext cx="413896" cy="26161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 sz="1100" b="0">
                <a:solidFill>
                  <a:srgbClr val="808000"/>
                </a:solidFill>
                <a:latin typeface="+mj-ea"/>
                <a:ea typeface="+mj-ea"/>
              </a:rPr>
              <a:t>Yes</a:t>
            </a:r>
          </a:p>
        </p:txBody>
      </p:sp>
      <p:sp>
        <p:nvSpPr>
          <p:cNvPr id="56" name="Text Box 54"/>
          <p:cNvSpPr txBox="1">
            <a:spLocks noChangeArrowheads="1"/>
          </p:cNvSpPr>
          <p:nvPr/>
        </p:nvSpPr>
        <p:spPr bwMode="auto">
          <a:xfrm>
            <a:off x="2573864" y="2571859"/>
            <a:ext cx="362600" cy="26161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 sz="1100" b="0" dirty="0">
                <a:solidFill>
                  <a:srgbClr val="808000"/>
                </a:solidFill>
                <a:latin typeface="+mj-ea"/>
                <a:ea typeface="+mj-ea"/>
              </a:rPr>
              <a:t>No</a:t>
            </a:r>
          </a:p>
        </p:txBody>
      </p:sp>
      <p:sp>
        <p:nvSpPr>
          <p:cNvPr id="57" name="Oval 55"/>
          <p:cNvSpPr>
            <a:spLocks noChangeArrowheads="1"/>
          </p:cNvSpPr>
          <p:nvPr/>
        </p:nvSpPr>
        <p:spPr bwMode="auto">
          <a:xfrm>
            <a:off x="3718979" y="3228850"/>
            <a:ext cx="863600" cy="474814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28575" algn="ctr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선택과</a:t>
            </a:r>
          </a:p>
          <a:p>
            <a:pPr algn="ctr"/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집중</a:t>
            </a:r>
          </a:p>
        </p:txBody>
      </p:sp>
      <p:graphicFrame>
        <p:nvGraphicFramePr>
          <p:cNvPr id="78" name="표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912972"/>
              </p:ext>
            </p:extLst>
          </p:nvPr>
        </p:nvGraphicFramePr>
        <p:xfrm>
          <a:off x="643559" y="4566352"/>
          <a:ext cx="5511721" cy="1947668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915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54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058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구 분</a:t>
                      </a:r>
                    </a:p>
                  </a:txBody>
                  <a:tcPr marL="72000" marR="72000" marT="18000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단일성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군 발명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을 만족하는 경우</a:t>
                      </a:r>
                    </a:p>
                  </a:txBody>
                  <a:tcPr marL="72000" marR="72000" marT="18000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단일성을 만족하지 아니한 경우</a:t>
                      </a:r>
                    </a:p>
                  </a:txBody>
                  <a:tcPr marL="72000" marR="72000" marT="18000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58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개별 특허출원</a:t>
                      </a:r>
                    </a:p>
                  </a:txBody>
                  <a:tcPr marL="72000" marR="72000" marT="18000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가능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45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①본문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가능</a:t>
                      </a:r>
                      <a:r>
                        <a:rPr lang="en-US" altLang="ko-KR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45</a:t>
                      </a:r>
                      <a:r>
                        <a:rPr lang="ko-KR" altLang="en-US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①본문</a:t>
                      </a:r>
                      <a:r>
                        <a:rPr lang="en-US" altLang="ko-KR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64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하나의 특허출원</a:t>
                      </a:r>
                    </a:p>
                  </a:txBody>
                  <a:tcPr marL="72000" marR="72000" marT="18000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가능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45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①단서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불가능</a:t>
                      </a:r>
                    </a:p>
                  </a:txBody>
                  <a:tcPr marL="72000" marR="72000" marT="18000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89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marL="72000" marR="72000" marT="18000" marB="17907" anchor="ctr"/>
                </a:tc>
                <a:tc gridSpan="2"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단일성을 만족하는 발명에 대해서는 비용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등록가능성 및 권리행사 측면을 고려하여 개별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특허출원할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것인지 아니면 하나의 특허출원을 할 것인지 선택하여야 한다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9" name="모서리가 둥근 사각형 설명선 78"/>
          <p:cNvSpPr/>
          <p:nvPr/>
        </p:nvSpPr>
        <p:spPr>
          <a:xfrm>
            <a:off x="146045" y="1621501"/>
            <a:ext cx="3693263" cy="638473"/>
          </a:xfrm>
          <a:prstGeom prst="wedgeRoundRectCallout">
            <a:avLst>
              <a:gd name="adj1" fmla="val 51912"/>
              <a:gd name="adj2" fmla="val 77433"/>
              <a:gd name="adj3" fmla="val 16667"/>
            </a:avLst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fontAlgn="base"/>
            <a:r>
              <a:rPr lang="en-US" altLang="ko-KR" sz="1050" dirty="0"/>
              <a:t>1. </a:t>
            </a:r>
            <a:r>
              <a:rPr lang="ko-KR" altLang="en-US" sz="1050" dirty="0" err="1"/>
              <a:t>청구항</a:t>
            </a:r>
            <a:r>
              <a:rPr lang="ko-KR" altLang="en-US" sz="1050" dirty="0"/>
              <a:t> 발명간에 기술적 상호관련성이 있을 것</a:t>
            </a:r>
          </a:p>
          <a:p>
            <a:pPr marL="142875" indent="-142875" fontAlgn="base"/>
            <a:r>
              <a:rPr lang="en-US" altLang="ko-KR" sz="1050" dirty="0"/>
              <a:t>2. </a:t>
            </a:r>
            <a:r>
              <a:rPr lang="ko-KR" altLang="en-US" sz="1050" dirty="0"/>
              <a:t>발명 전체로 보아 선행기술과 비교하여 개선된 기술적 특징이 동일하거나 상응할 것</a:t>
            </a:r>
          </a:p>
        </p:txBody>
      </p:sp>
      <p:cxnSp>
        <p:nvCxnSpPr>
          <p:cNvPr id="80" name="직선 연결선 79"/>
          <p:cNvCxnSpPr/>
          <p:nvPr/>
        </p:nvCxnSpPr>
        <p:spPr>
          <a:xfrm flipV="1">
            <a:off x="6688670" y="1242426"/>
            <a:ext cx="0" cy="532553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그룹 81"/>
          <p:cNvGrpSpPr/>
          <p:nvPr/>
        </p:nvGrpSpPr>
        <p:grpSpPr>
          <a:xfrm>
            <a:off x="7070104" y="1822361"/>
            <a:ext cx="1252636" cy="4153084"/>
            <a:chOff x="6900764" y="1822361"/>
            <a:chExt cx="1252636" cy="4153084"/>
          </a:xfrm>
        </p:grpSpPr>
        <p:sp>
          <p:nvSpPr>
            <p:cNvPr id="83" name="자유형 82"/>
            <p:cNvSpPr/>
            <p:nvPr/>
          </p:nvSpPr>
          <p:spPr>
            <a:xfrm>
              <a:off x="6900764" y="1822361"/>
              <a:ext cx="1252636" cy="755106"/>
            </a:xfrm>
            <a:custGeom>
              <a:avLst/>
              <a:gdLst>
                <a:gd name="connsiteX0" fmla="*/ 0 w 1252636"/>
                <a:gd name="connsiteY0" fmla="*/ 75511 h 755106"/>
                <a:gd name="connsiteX1" fmla="*/ 75511 w 1252636"/>
                <a:gd name="connsiteY1" fmla="*/ 0 h 755106"/>
                <a:gd name="connsiteX2" fmla="*/ 1177125 w 1252636"/>
                <a:gd name="connsiteY2" fmla="*/ 0 h 755106"/>
                <a:gd name="connsiteX3" fmla="*/ 1252636 w 1252636"/>
                <a:gd name="connsiteY3" fmla="*/ 75511 h 755106"/>
                <a:gd name="connsiteX4" fmla="*/ 1252636 w 1252636"/>
                <a:gd name="connsiteY4" fmla="*/ 679595 h 755106"/>
                <a:gd name="connsiteX5" fmla="*/ 1177125 w 1252636"/>
                <a:gd name="connsiteY5" fmla="*/ 755106 h 755106"/>
                <a:gd name="connsiteX6" fmla="*/ 75511 w 1252636"/>
                <a:gd name="connsiteY6" fmla="*/ 755106 h 755106"/>
                <a:gd name="connsiteX7" fmla="*/ 0 w 1252636"/>
                <a:gd name="connsiteY7" fmla="*/ 679595 h 755106"/>
                <a:gd name="connsiteX8" fmla="*/ 0 w 1252636"/>
                <a:gd name="connsiteY8" fmla="*/ 75511 h 755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2636" h="755106">
                  <a:moveTo>
                    <a:pt x="0" y="75511"/>
                  </a:moveTo>
                  <a:cubicBezTo>
                    <a:pt x="0" y="33807"/>
                    <a:pt x="33807" y="0"/>
                    <a:pt x="75511" y="0"/>
                  </a:cubicBezTo>
                  <a:lnTo>
                    <a:pt x="1177125" y="0"/>
                  </a:lnTo>
                  <a:cubicBezTo>
                    <a:pt x="1218829" y="0"/>
                    <a:pt x="1252636" y="33807"/>
                    <a:pt x="1252636" y="75511"/>
                  </a:cubicBezTo>
                  <a:lnTo>
                    <a:pt x="1252636" y="679595"/>
                  </a:lnTo>
                  <a:cubicBezTo>
                    <a:pt x="1252636" y="721299"/>
                    <a:pt x="1218829" y="755106"/>
                    <a:pt x="1177125" y="755106"/>
                  </a:cubicBezTo>
                  <a:lnTo>
                    <a:pt x="75511" y="755106"/>
                  </a:lnTo>
                  <a:cubicBezTo>
                    <a:pt x="33807" y="755106"/>
                    <a:pt x="0" y="721299"/>
                    <a:pt x="0" y="679595"/>
                  </a:cubicBezTo>
                  <a:lnTo>
                    <a:pt x="0" y="75511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5456" tIns="75456" rIns="75456" bIns="75456" numCol="1" spcCol="1270" anchor="ctr" anchorCtr="0">
              <a:noAutofit/>
            </a:bodyPr>
            <a:lstStyle/>
            <a:p>
              <a:pPr lvl="0" algn="ctr" defTabSz="622300" latinLnBrk="1">
                <a:lnSpc>
                  <a:spcPct val="100000"/>
                </a:lnSpc>
                <a:spcBef>
                  <a:spcPct val="0"/>
                </a:spcBef>
              </a:pPr>
              <a:r>
                <a:rPr lang="ko-KR" altLang="en-US" sz="1400" kern="1200" dirty="0" err="1"/>
                <a:t>독립항</a:t>
              </a:r>
              <a:r>
                <a:rPr lang="ko-KR" altLang="en-US" sz="1400" kern="1200" dirty="0"/>
                <a:t> 추출</a:t>
              </a:r>
            </a:p>
          </p:txBody>
        </p:sp>
        <p:sp>
          <p:nvSpPr>
            <p:cNvPr id="84" name="자유형 83"/>
            <p:cNvSpPr/>
            <p:nvPr/>
          </p:nvSpPr>
          <p:spPr>
            <a:xfrm>
              <a:off x="7357182" y="2624661"/>
              <a:ext cx="339798" cy="283165"/>
            </a:xfrm>
            <a:custGeom>
              <a:avLst/>
              <a:gdLst>
                <a:gd name="connsiteX0" fmla="*/ 0 w 283164"/>
                <a:gd name="connsiteY0" fmla="*/ 67959 h 339797"/>
                <a:gd name="connsiteX1" fmla="*/ 141582 w 283164"/>
                <a:gd name="connsiteY1" fmla="*/ 67959 h 339797"/>
                <a:gd name="connsiteX2" fmla="*/ 141582 w 283164"/>
                <a:gd name="connsiteY2" fmla="*/ 0 h 339797"/>
                <a:gd name="connsiteX3" fmla="*/ 283164 w 283164"/>
                <a:gd name="connsiteY3" fmla="*/ 169899 h 339797"/>
                <a:gd name="connsiteX4" fmla="*/ 141582 w 283164"/>
                <a:gd name="connsiteY4" fmla="*/ 339797 h 339797"/>
                <a:gd name="connsiteX5" fmla="*/ 141582 w 283164"/>
                <a:gd name="connsiteY5" fmla="*/ 271838 h 339797"/>
                <a:gd name="connsiteX6" fmla="*/ 0 w 283164"/>
                <a:gd name="connsiteY6" fmla="*/ 271838 h 339797"/>
                <a:gd name="connsiteX7" fmla="*/ 0 w 283164"/>
                <a:gd name="connsiteY7" fmla="*/ 67959 h 339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164" h="339797">
                  <a:moveTo>
                    <a:pt x="226531" y="1"/>
                  </a:moveTo>
                  <a:lnTo>
                    <a:pt x="226531" y="169899"/>
                  </a:lnTo>
                  <a:lnTo>
                    <a:pt x="283164" y="169899"/>
                  </a:lnTo>
                  <a:lnTo>
                    <a:pt x="141582" y="339796"/>
                  </a:lnTo>
                  <a:lnTo>
                    <a:pt x="0" y="169899"/>
                  </a:lnTo>
                  <a:lnTo>
                    <a:pt x="56633" y="169899"/>
                  </a:lnTo>
                  <a:lnTo>
                    <a:pt x="56633" y="1"/>
                  </a:lnTo>
                  <a:lnTo>
                    <a:pt x="226531" y="1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7960" tIns="1" rIns="67959" bIns="84949" numCol="1" spcCol="1270" anchor="ctr" anchorCtr="0">
              <a:noAutofit/>
            </a:bodyPr>
            <a:lstStyle/>
            <a:p>
              <a:pPr lvl="0" algn="ctr" defTabSz="488950" latinLnBrk="1">
                <a:lnSpc>
                  <a:spcPct val="100000"/>
                </a:lnSpc>
                <a:spcBef>
                  <a:spcPct val="0"/>
                </a:spcBef>
              </a:pPr>
              <a:endParaRPr lang="ko-KR" altLang="en-US" sz="1100" kern="1200"/>
            </a:p>
          </p:txBody>
        </p:sp>
        <p:sp>
          <p:nvSpPr>
            <p:cNvPr id="85" name="자유형 84"/>
            <p:cNvSpPr/>
            <p:nvPr/>
          </p:nvSpPr>
          <p:spPr>
            <a:xfrm>
              <a:off x="6900764" y="2955020"/>
              <a:ext cx="1252636" cy="755106"/>
            </a:xfrm>
            <a:custGeom>
              <a:avLst/>
              <a:gdLst>
                <a:gd name="connsiteX0" fmla="*/ 0 w 1252636"/>
                <a:gd name="connsiteY0" fmla="*/ 75511 h 755106"/>
                <a:gd name="connsiteX1" fmla="*/ 75511 w 1252636"/>
                <a:gd name="connsiteY1" fmla="*/ 0 h 755106"/>
                <a:gd name="connsiteX2" fmla="*/ 1177125 w 1252636"/>
                <a:gd name="connsiteY2" fmla="*/ 0 h 755106"/>
                <a:gd name="connsiteX3" fmla="*/ 1252636 w 1252636"/>
                <a:gd name="connsiteY3" fmla="*/ 75511 h 755106"/>
                <a:gd name="connsiteX4" fmla="*/ 1252636 w 1252636"/>
                <a:gd name="connsiteY4" fmla="*/ 679595 h 755106"/>
                <a:gd name="connsiteX5" fmla="*/ 1177125 w 1252636"/>
                <a:gd name="connsiteY5" fmla="*/ 755106 h 755106"/>
                <a:gd name="connsiteX6" fmla="*/ 75511 w 1252636"/>
                <a:gd name="connsiteY6" fmla="*/ 755106 h 755106"/>
                <a:gd name="connsiteX7" fmla="*/ 0 w 1252636"/>
                <a:gd name="connsiteY7" fmla="*/ 679595 h 755106"/>
                <a:gd name="connsiteX8" fmla="*/ 0 w 1252636"/>
                <a:gd name="connsiteY8" fmla="*/ 75511 h 755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2636" h="755106">
                  <a:moveTo>
                    <a:pt x="0" y="75511"/>
                  </a:moveTo>
                  <a:cubicBezTo>
                    <a:pt x="0" y="33807"/>
                    <a:pt x="33807" y="0"/>
                    <a:pt x="75511" y="0"/>
                  </a:cubicBezTo>
                  <a:lnTo>
                    <a:pt x="1177125" y="0"/>
                  </a:lnTo>
                  <a:cubicBezTo>
                    <a:pt x="1218829" y="0"/>
                    <a:pt x="1252636" y="33807"/>
                    <a:pt x="1252636" y="75511"/>
                  </a:cubicBezTo>
                  <a:lnTo>
                    <a:pt x="1252636" y="679595"/>
                  </a:lnTo>
                  <a:cubicBezTo>
                    <a:pt x="1252636" y="721299"/>
                    <a:pt x="1218829" y="755106"/>
                    <a:pt x="1177125" y="755106"/>
                  </a:cubicBezTo>
                  <a:lnTo>
                    <a:pt x="75511" y="755106"/>
                  </a:lnTo>
                  <a:cubicBezTo>
                    <a:pt x="33807" y="755106"/>
                    <a:pt x="0" y="721299"/>
                    <a:pt x="0" y="679595"/>
                  </a:cubicBezTo>
                  <a:lnTo>
                    <a:pt x="0" y="75511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903533"/>
                <a:satOff val="33333"/>
                <a:lumOff val="-4902"/>
                <a:alphaOff val="0"/>
              </a:schemeClr>
            </a:fillRef>
            <a:effectRef idx="0">
              <a:schemeClr val="accent3">
                <a:hueOff val="903533"/>
                <a:satOff val="33333"/>
                <a:lumOff val="-4902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5456" tIns="75456" rIns="75456" bIns="75456" numCol="1" spcCol="1270" anchor="ctr" anchorCtr="0">
              <a:noAutofit/>
            </a:bodyPr>
            <a:lstStyle/>
            <a:p>
              <a:pPr lvl="0" algn="ctr" defTabSz="622300" latinLnBrk="1">
                <a:lnSpc>
                  <a:spcPct val="100000"/>
                </a:lnSpc>
                <a:spcBef>
                  <a:spcPct val="0"/>
                </a:spcBef>
              </a:pPr>
              <a:r>
                <a:rPr lang="ko-KR" altLang="en-US" sz="1400" kern="1200" dirty="0"/>
                <a:t>판단횟수</a:t>
              </a:r>
              <a:endParaRPr lang="en-US" altLang="ko-KR" sz="1400" kern="1200" dirty="0"/>
            </a:p>
            <a:p>
              <a:pPr lvl="0" algn="ctr" defTabSz="622300" latinLnBrk="1">
                <a:lnSpc>
                  <a:spcPct val="100000"/>
                </a:lnSpc>
                <a:spcBef>
                  <a:spcPct val="0"/>
                </a:spcBef>
              </a:pPr>
              <a:r>
                <a:rPr lang="ko-KR" altLang="en-US" sz="1400" kern="1200" dirty="0"/>
                <a:t>결정</a:t>
              </a:r>
            </a:p>
          </p:txBody>
        </p:sp>
        <p:sp>
          <p:nvSpPr>
            <p:cNvPr id="86" name="자유형 85"/>
            <p:cNvSpPr/>
            <p:nvPr/>
          </p:nvSpPr>
          <p:spPr>
            <a:xfrm>
              <a:off x="7357182" y="3757320"/>
              <a:ext cx="339798" cy="283165"/>
            </a:xfrm>
            <a:custGeom>
              <a:avLst/>
              <a:gdLst>
                <a:gd name="connsiteX0" fmla="*/ 0 w 283164"/>
                <a:gd name="connsiteY0" fmla="*/ 67959 h 339797"/>
                <a:gd name="connsiteX1" fmla="*/ 141582 w 283164"/>
                <a:gd name="connsiteY1" fmla="*/ 67959 h 339797"/>
                <a:gd name="connsiteX2" fmla="*/ 141582 w 283164"/>
                <a:gd name="connsiteY2" fmla="*/ 0 h 339797"/>
                <a:gd name="connsiteX3" fmla="*/ 283164 w 283164"/>
                <a:gd name="connsiteY3" fmla="*/ 169899 h 339797"/>
                <a:gd name="connsiteX4" fmla="*/ 141582 w 283164"/>
                <a:gd name="connsiteY4" fmla="*/ 339797 h 339797"/>
                <a:gd name="connsiteX5" fmla="*/ 141582 w 283164"/>
                <a:gd name="connsiteY5" fmla="*/ 271838 h 339797"/>
                <a:gd name="connsiteX6" fmla="*/ 0 w 283164"/>
                <a:gd name="connsiteY6" fmla="*/ 271838 h 339797"/>
                <a:gd name="connsiteX7" fmla="*/ 0 w 283164"/>
                <a:gd name="connsiteY7" fmla="*/ 67959 h 339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164" h="339797">
                  <a:moveTo>
                    <a:pt x="226531" y="1"/>
                  </a:moveTo>
                  <a:lnTo>
                    <a:pt x="226531" y="169899"/>
                  </a:lnTo>
                  <a:lnTo>
                    <a:pt x="283164" y="169899"/>
                  </a:lnTo>
                  <a:lnTo>
                    <a:pt x="141582" y="339796"/>
                  </a:lnTo>
                  <a:lnTo>
                    <a:pt x="0" y="169899"/>
                  </a:lnTo>
                  <a:lnTo>
                    <a:pt x="56633" y="169899"/>
                  </a:lnTo>
                  <a:lnTo>
                    <a:pt x="56633" y="1"/>
                  </a:lnTo>
                  <a:lnTo>
                    <a:pt x="226531" y="1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1355300"/>
                <a:satOff val="50000"/>
                <a:lumOff val="-7353"/>
                <a:alphaOff val="0"/>
              </a:schemeClr>
            </a:fillRef>
            <a:effectRef idx="0">
              <a:schemeClr val="accent3">
                <a:hueOff val="1355300"/>
                <a:satOff val="50000"/>
                <a:lumOff val="-7353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7960" tIns="1" rIns="67959" bIns="84949" numCol="1" spcCol="1270" anchor="ctr" anchorCtr="0">
              <a:noAutofit/>
            </a:bodyPr>
            <a:lstStyle/>
            <a:p>
              <a:pPr lvl="0" algn="ctr" defTabSz="488950" latinLnBrk="1">
                <a:lnSpc>
                  <a:spcPct val="100000"/>
                </a:lnSpc>
                <a:spcBef>
                  <a:spcPct val="0"/>
                </a:spcBef>
              </a:pPr>
              <a:endParaRPr lang="ko-KR" altLang="en-US" sz="1100" kern="1200"/>
            </a:p>
          </p:txBody>
        </p:sp>
        <p:sp>
          <p:nvSpPr>
            <p:cNvPr id="87" name="자유형 86"/>
            <p:cNvSpPr/>
            <p:nvPr/>
          </p:nvSpPr>
          <p:spPr>
            <a:xfrm>
              <a:off x="6900764" y="4087680"/>
              <a:ext cx="1252636" cy="755106"/>
            </a:xfrm>
            <a:custGeom>
              <a:avLst/>
              <a:gdLst>
                <a:gd name="connsiteX0" fmla="*/ 0 w 1252636"/>
                <a:gd name="connsiteY0" fmla="*/ 75511 h 755106"/>
                <a:gd name="connsiteX1" fmla="*/ 75511 w 1252636"/>
                <a:gd name="connsiteY1" fmla="*/ 0 h 755106"/>
                <a:gd name="connsiteX2" fmla="*/ 1177125 w 1252636"/>
                <a:gd name="connsiteY2" fmla="*/ 0 h 755106"/>
                <a:gd name="connsiteX3" fmla="*/ 1252636 w 1252636"/>
                <a:gd name="connsiteY3" fmla="*/ 75511 h 755106"/>
                <a:gd name="connsiteX4" fmla="*/ 1252636 w 1252636"/>
                <a:gd name="connsiteY4" fmla="*/ 679595 h 755106"/>
                <a:gd name="connsiteX5" fmla="*/ 1177125 w 1252636"/>
                <a:gd name="connsiteY5" fmla="*/ 755106 h 755106"/>
                <a:gd name="connsiteX6" fmla="*/ 75511 w 1252636"/>
                <a:gd name="connsiteY6" fmla="*/ 755106 h 755106"/>
                <a:gd name="connsiteX7" fmla="*/ 0 w 1252636"/>
                <a:gd name="connsiteY7" fmla="*/ 679595 h 755106"/>
                <a:gd name="connsiteX8" fmla="*/ 0 w 1252636"/>
                <a:gd name="connsiteY8" fmla="*/ 75511 h 755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2636" h="755106">
                  <a:moveTo>
                    <a:pt x="0" y="75511"/>
                  </a:moveTo>
                  <a:cubicBezTo>
                    <a:pt x="0" y="33807"/>
                    <a:pt x="33807" y="0"/>
                    <a:pt x="75511" y="0"/>
                  </a:cubicBezTo>
                  <a:lnTo>
                    <a:pt x="1177125" y="0"/>
                  </a:lnTo>
                  <a:cubicBezTo>
                    <a:pt x="1218829" y="0"/>
                    <a:pt x="1252636" y="33807"/>
                    <a:pt x="1252636" y="75511"/>
                  </a:cubicBezTo>
                  <a:lnTo>
                    <a:pt x="1252636" y="679595"/>
                  </a:lnTo>
                  <a:cubicBezTo>
                    <a:pt x="1252636" y="721299"/>
                    <a:pt x="1218829" y="755106"/>
                    <a:pt x="1177125" y="755106"/>
                  </a:cubicBezTo>
                  <a:lnTo>
                    <a:pt x="75511" y="755106"/>
                  </a:lnTo>
                  <a:cubicBezTo>
                    <a:pt x="33807" y="755106"/>
                    <a:pt x="0" y="721299"/>
                    <a:pt x="0" y="679595"/>
                  </a:cubicBezTo>
                  <a:lnTo>
                    <a:pt x="0" y="75511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1807066"/>
                <a:satOff val="66667"/>
                <a:lumOff val="-9804"/>
                <a:alphaOff val="0"/>
              </a:schemeClr>
            </a:fillRef>
            <a:effectRef idx="0">
              <a:schemeClr val="accent3">
                <a:hueOff val="1807066"/>
                <a:satOff val="66667"/>
                <a:lumOff val="-9804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5456" tIns="75456" rIns="75456" bIns="75456" numCol="1" spcCol="1270" anchor="ctr" anchorCtr="0">
              <a:noAutofit/>
            </a:bodyPr>
            <a:lstStyle/>
            <a:p>
              <a:pPr lvl="0" algn="ctr" defTabSz="622300" latinLnBrk="1">
                <a:lnSpc>
                  <a:spcPct val="100000"/>
                </a:lnSpc>
                <a:spcBef>
                  <a:spcPct val="0"/>
                </a:spcBef>
              </a:pPr>
              <a:r>
                <a:rPr lang="ko-KR" altLang="en-US" sz="1400" kern="1200" dirty="0"/>
                <a:t>시행령 제</a:t>
              </a:r>
              <a:r>
                <a:rPr lang="en-US" altLang="ko-KR" sz="1400" kern="1200" dirty="0"/>
                <a:t>6</a:t>
              </a:r>
              <a:r>
                <a:rPr lang="ko-KR" altLang="en-US" sz="1400" kern="1200" dirty="0"/>
                <a:t>조</a:t>
              </a:r>
              <a:endParaRPr lang="en-US" altLang="ko-KR" sz="1400" kern="1200" dirty="0"/>
            </a:p>
            <a:p>
              <a:pPr lvl="0" algn="ctr" defTabSz="622300" latinLnBrk="1">
                <a:lnSpc>
                  <a:spcPct val="100000"/>
                </a:lnSpc>
                <a:spcBef>
                  <a:spcPct val="0"/>
                </a:spcBef>
              </a:pPr>
              <a:r>
                <a:rPr lang="ko-KR" altLang="en-US" sz="1400" kern="1200" dirty="0"/>
                <a:t>판단</a:t>
              </a:r>
            </a:p>
          </p:txBody>
        </p:sp>
        <p:sp>
          <p:nvSpPr>
            <p:cNvPr id="88" name="자유형 87"/>
            <p:cNvSpPr/>
            <p:nvPr/>
          </p:nvSpPr>
          <p:spPr>
            <a:xfrm>
              <a:off x="7357182" y="4889979"/>
              <a:ext cx="339798" cy="283165"/>
            </a:xfrm>
            <a:custGeom>
              <a:avLst/>
              <a:gdLst>
                <a:gd name="connsiteX0" fmla="*/ 0 w 283164"/>
                <a:gd name="connsiteY0" fmla="*/ 67959 h 339797"/>
                <a:gd name="connsiteX1" fmla="*/ 141582 w 283164"/>
                <a:gd name="connsiteY1" fmla="*/ 67959 h 339797"/>
                <a:gd name="connsiteX2" fmla="*/ 141582 w 283164"/>
                <a:gd name="connsiteY2" fmla="*/ 0 h 339797"/>
                <a:gd name="connsiteX3" fmla="*/ 283164 w 283164"/>
                <a:gd name="connsiteY3" fmla="*/ 169899 h 339797"/>
                <a:gd name="connsiteX4" fmla="*/ 141582 w 283164"/>
                <a:gd name="connsiteY4" fmla="*/ 339797 h 339797"/>
                <a:gd name="connsiteX5" fmla="*/ 141582 w 283164"/>
                <a:gd name="connsiteY5" fmla="*/ 271838 h 339797"/>
                <a:gd name="connsiteX6" fmla="*/ 0 w 283164"/>
                <a:gd name="connsiteY6" fmla="*/ 271838 h 339797"/>
                <a:gd name="connsiteX7" fmla="*/ 0 w 283164"/>
                <a:gd name="connsiteY7" fmla="*/ 67959 h 339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164" h="339797">
                  <a:moveTo>
                    <a:pt x="226531" y="1"/>
                  </a:moveTo>
                  <a:lnTo>
                    <a:pt x="226531" y="169899"/>
                  </a:lnTo>
                  <a:lnTo>
                    <a:pt x="283164" y="169899"/>
                  </a:lnTo>
                  <a:lnTo>
                    <a:pt x="141582" y="339796"/>
                  </a:lnTo>
                  <a:lnTo>
                    <a:pt x="0" y="169899"/>
                  </a:lnTo>
                  <a:lnTo>
                    <a:pt x="56633" y="169899"/>
                  </a:lnTo>
                  <a:lnTo>
                    <a:pt x="56633" y="1"/>
                  </a:lnTo>
                  <a:lnTo>
                    <a:pt x="226531" y="1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2710599"/>
                <a:satOff val="100000"/>
                <a:lumOff val="-14706"/>
                <a:alphaOff val="0"/>
              </a:schemeClr>
            </a:fillRef>
            <a:effectRef idx="0">
              <a:schemeClr val="accent3">
                <a:hueOff val="2710599"/>
                <a:satOff val="100000"/>
                <a:lumOff val="-14706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7960" tIns="1" rIns="67959" bIns="84949" numCol="1" spcCol="1270" anchor="ctr" anchorCtr="0">
              <a:noAutofit/>
            </a:bodyPr>
            <a:lstStyle/>
            <a:p>
              <a:pPr lvl="0" algn="ctr" defTabSz="488950" latinLnBrk="1">
                <a:lnSpc>
                  <a:spcPct val="100000"/>
                </a:lnSpc>
                <a:spcBef>
                  <a:spcPct val="0"/>
                </a:spcBef>
              </a:pPr>
              <a:endParaRPr lang="ko-KR" altLang="en-US" sz="1100" kern="1200"/>
            </a:p>
          </p:txBody>
        </p:sp>
        <p:sp>
          <p:nvSpPr>
            <p:cNvPr id="89" name="자유형 88"/>
            <p:cNvSpPr/>
            <p:nvPr/>
          </p:nvSpPr>
          <p:spPr>
            <a:xfrm>
              <a:off x="6900764" y="5220339"/>
              <a:ext cx="1252636" cy="755106"/>
            </a:xfrm>
            <a:custGeom>
              <a:avLst/>
              <a:gdLst>
                <a:gd name="connsiteX0" fmla="*/ 0 w 1252636"/>
                <a:gd name="connsiteY0" fmla="*/ 75511 h 755106"/>
                <a:gd name="connsiteX1" fmla="*/ 75511 w 1252636"/>
                <a:gd name="connsiteY1" fmla="*/ 0 h 755106"/>
                <a:gd name="connsiteX2" fmla="*/ 1177125 w 1252636"/>
                <a:gd name="connsiteY2" fmla="*/ 0 h 755106"/>
                <a:gd name="connsiteX3" fmla="*/ 1252636 w 1252636"/>
                <a:gd name="connsiteY3" fmla="*/ 75511 h 755106"/>
                <a:gd name="connsiteX4" fmla="*/ 1252636 w 1252636"/>
                <a:gd name="connsiteY4" fmla="*/ 679595 h 755106"/>
                <a:gd name="connsiteX5" fmla="*/ 1177125 w 1252636"/>
                <a:gd name="connsiteY5" fmla="*/ 755106 h 755106"/>
                <a:gd name="connsiteX6" fmla="*/ 75511 w 1252636"/>
                <a:gd name="connsiteY6" fmla="*/ 755106 h 755106"/>
                <a:gd name="connsiteX7" fmla="*/ 0 w 1252636"/>
                <a:gd name="connsiteY7" fmla="*/ 679595 h 755106"/>
                <a:gd name="connsiteX8" fmla="*/ 0 w 1252636"/>
                <a:gd name="connsiteY8" fmla="*/ 75511 h 755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2636" h="755106">
                  <a:moveTo>
                    <a:pt x="0" y="75511"/>
                  </a:moveTo>
                  <a:cubicBezTo>
                    <a:pt x="0" y="33807"/>
                    <a:pt x="33807" y="0"/>
                    <a:pt x="75511" y="0"/>
                  </a:cubicBezTo>
                  <a:lnTo>
                    <a:pt x="1177125" y="0"/>
                  </a:lnTo>
                  <a:cubicBezTo>
                    <a:pt x="1218829" y="0"/>
                    <a:pt x="1252636" y="33807"/>
                    <a:pt x="1252636" y="75511"/>
                  </a:cubicBezTo>
                  <a:lnTo>
                    <a:pt x="1252636" y="679595"/>
                  </a:lnTo>
                  <a:cubicBezTo>
                    <a:pt x="1252636" y="721299"/>
                    <a:pt x="1218829" y="755106"/>
                    <a:pt x="1177125" y="755106"/>
                  </a:cubicBezTo>
                  <a:lnTo>
                    <a:pt x="75511" y="755106"/>
                  </a:lnTo>
                  <a:cubicBezTo>
                    <a:pt x="33807" y="755106"/>
                    <a:pt x="0" y="721299"/>
                    <a:pt x="0" y="679595"/>
                  </a:cubicBezTo>
                  <a:lnTo>
                    <a:pt x="0" y="75511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2710599"/>
                <a:satOff val="100000"/>
                <a:lumOff val="-14706"/>
                <a:alphaOff val="0"/>
              </a:schemeClr>
            </a:fillRef>
            <a:effectRef idx="0">
              <a:schemeClr val="accent3">
                <a:hueOff val="2710599"/>
                <a:satOff val="100000"/>
                <a:lumOff val="-14706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5456" tIns="75456" rIns="75456" bIns="75456" numCol="1" spcCol="1270" anchor="ctr" anchorCtr="0">
              <a:noAutofit/>
            </a:bodyPr>
            <a:lstStyle/>
            <a:p>
              <a:pPr lvl="0" algn="ctr" defTabSz="622300" latinLnBrk="1">
                <a:lnSpc>
                  <a:spcPct val="100000"/>
                </a:lnSpc>
                <a:spcBef>
                  <a:spcPct val="0"/>
                </a:spcBef>
              </a:pPr>
              <a:r>
                <a:rPr lang="ko-KR" altLang="en-US" sz="1400" kern="1200" dirty="0"/>
                <a:t>모두 만족</a:t>
              </a:r>
              <a:endParaRPr lang="en-US" altLang="ko-KR" sz="1400" kern="1200"/>
            </a:p>
            <a:p>
              <a:pPr lvl="0" algn="ctr" defTabSz="622300" latinLnBrk="1">
                <a:lnSpc>
                  <a:spcPct val="100000"/>
                </a:lnSpc>
                <a:spcBef>
                  <a:spcPct val="0"/>
                </a:spcBef>
              </a:pPr>
              <a:r>
                <a:rPr lang="ko-KR" altLang="en-US" sz="1400" kern="1200"/>
                <a:t>여부</a:t>
              </a:r>
              <a:endParaRPr lang="ko-KR" altLang="en-US" sz="1400" kern="1200" dirty="0"/>
            </a:p>
          </p:txBody>
        </p:sp>
      </p:grpSp>
      <p:sp>
        <p:nvSpPr>
          <p:cNvPr id="90" name="TextBox 89"/>
          <p:cNvSpPr txBox="1"/>
          <p:nvPr/>
        </p:nvSpPr>
        <p:spPr>
          <a:xfrm>
            <a:off x="8407407" y="2036710"/>
            <a:ext cx="7649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altLang="ko-KR" sz="1400" dirty="0"/>
              <a:t>N</a:t>
            </a:r>
            <a:r>
              <a:rPr lang="ko-KR" altLang="en-US" sz="1400" dirty="0"/>
              <a:t>개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07407" y="3027824"/>
            <a:ext cx="14574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altLang="ko-KR" sz="1400" dirty="0"/>
              <a:t>N</a:t>
            </a:r>
            <a:r>
              <a:rPr lang="en-US" altLang="ko-KR" sz="2800" dirty="0"/>
              <a:t>C</a:t>
            </a:r>
            <a:r>
              <a:rPr lang="en-US" altLang="ko-KR" sz="1400" dirty="0"/>
              <a:t>2</a:t>
            </a:r>
            <a:r>
              <a:rPr lang="ko-KR" altLang="en-US" sz="1400" dirty="0"/>
              <a:t>번 판단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407407" y="4295956"/>
            <a:ext cx="23599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ko-KR" altLang="en-US" sz="1400" dirty="0" err="1"/>
              <a:t>청구항</a:t>
            </a:r>
            <a:r>
              <a:rPr lang="en-US" altLang="ko-KR" sz="1400" dirty="0"/>
              <a:t>(</a:t>
            </a:r>
            <a:r>
              <a:rPr lang="ko-KR" altLang="en-US" sz="1400" dirty="0"/>
              <a:t>발명</a:t>
            </a:r>
            <a:r>
              <a:rPr lang="en-US" altLang="ko-KR" sz="1400" dirty="0"/>
              <a:t>)</a:t>
            </a:r>
            <a:r>
              <a:rPr lang="ko-KR" altLang="en-US" sz="1400" dirty="0"/>
              <a:t> 단위로 판단 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407407" y="5330905"/>
            <a:ext cx="33073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ko-KR" altLang="en-US" sz="1400" dirty="0"/>
              <a:t>모두 만족</a:t>
            </a:r>
            <a:r>
              <a:rPr lang="en-US" altLang="ko-KR" sz="1400" dirty="0"/>
              <a:t>: </a:t>
            </a:r>
            <a:r>
              <a:rPr lang="ko-KR" altLang="en-US" sz="1400" dirty="0"/>
              <a:t>제</a:t>
            </a:r>
            <a:r>
              <a:rPr lang="en-US" altLang="ko-KR" sz="1400" dirty="0"/>
              <a:t>45</a:t>
            </a:r>
            <a:r>
              <a:rPr lang="ko-KR" altLang="en-US" sz="1400" dirty="0"/>
              <a:t>조제</a:t>
            </a:r>
            <a:r>
              <a:rPr lang="en-US" altLang="ko-KR" sz="1400" dirty="0"/>
              <a:t>1</a:t>
            </a:r>
            <a:r>
              <a:rPr lang="ko-KR" altLang="en-US" sz="1400" dirty="0" err="1"/>
              <a:t>항본문</a:t>
            </a:r>
            <a:r>
              <a:rPr lang="en-US" altLang="ko-KR" sz="1400" dirty="0"/>
              <a:t>/</a:t>
            </a:r>
            <a:r>
              <a:rPr lang="ko-KR" altLang="en-US" sz="1400" dirty="0"/>
              <a:t>단서 선택</a:t>
            </a:r>
            <a:endParaRPr lang="en-US" altLang="ko-KR" sz="1400" dirty="0"/>
          </a:p>
          <a:p>
            <a:pPr marL="285750" indent="-285750">
              <a:buFont typeface="Wingdings" pitchFamily="2" charset="2"/>
              <a:buChar char="§"/>
            </a:pPr>
            <a:r>
              <a:rPr lang="ko-KR" altLang="en-US" sz="1400" dirty="0"/>
              <a:t>그렇지 아니한 경우</a:t>
            </a:r>
            <a:r>
              <a:rPr lang="en-US" altLang="ko-KR" sz="1400" dirty="0"/>
              <a:t>: </a:t>
            </a:r>
            <a:r>
              <a:rPr lang="ko-KR" altLang="en-US" sz="1400" dirty="0"/>
              <a:t>제</a:t>
            </a:r>
            <a:r>
              <a:rPr lang="en-US" altLang="ko-KR" sz="1400" dirty="0"/>
              <a:t>45</a:t>
            </a:r>
            <a:r>
              <a:rPr lang="ko-KR" altLang="en-US" sz="1400" dirty="0"/>
              <a:t>조제</a:t>
            </a:r>
            <a:r>
              <a:rPr lang="en-US" altLang="ko-KR" sz="1400" dirty="0"/>
              <a:t>1</a:t>
            </a:r>
            <a:r>
              <a:rPr lang="ko-KR" altLang="en-US" sz="1400" dirty="0" err="1"/>
              <a:t>항본문</a:t>
            </a:r>
            <a:endParaRPr lang="ko-KR" altLang="en-US" sz="14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14674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심사</a:t>
            </a:r>
            <a:r>
              <a:rPr lang="en-US" altLang="ko-KR" dirty="0"/>
              <a:t>(</a:t>
            </a:r>
            <a:r>
              <a:rPr lang="ko-KR" altLang="en-US" dirty="0"/>
              <a:t>심리</a:t>
            </a:r>
            <a:r>
              <a:rPr lang="en-US" altLang="ko-KR" dirty="0"/>
              <a:t>)</a:t>
            </a:r>
            <a:r>
              <a:rPr lang="ko-KR" altLang="en-US" dirty="0"/>
              <a:t>단위 </a:t>
            </a:r>
            <a:r>
              <a:rPr lang="en-US" altLang="ko-KR" dirty="0"/>
              <a:t>vs </a:t>
            </a:r>
            <a:r>
              <a:rPr lang="ko-KR" altLang="en-US" dirty="0"/>
              <a:t>처리단위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142</a:t>
            </a:fld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35E435C-38FE-4D26-A07A-40B8C4CA6432}"/>
              </a:ext>
            </a:extLst>
          </p:cNvPr>
          <p:cNvSpPr/>
          <p:nvPr/>
        </p:nvSpPr>
        <p:spPr>
          <a:xfrm>
            <a:off x="2355196" y="2809506"/>
            <a:ext cx="1155998" cy="422695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청구범위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88ACC68-9807-4B9C-A122-F3F2A755D832}"/>
              </a:ext>
            </a:extLst>
          </p:cNvPr>
          <p:cNvSpPr/>
          <p:nvPr/>
        </p:nvSpPr>
        <p:spPr>
          <a:xfrm>
            <a:off x="1190478" y="4106173"/>
            <a:ext cx="517585" cy="51758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38C5CD97-CD4B-4F02-8E93-9876D8D572AB}"/>
              </a:ext>
            </a:extLst>
          </p:cNvPr>
          <p:cNvSpPr/>
          <p:nvPr/>
        </p:nvSpPr>
        <p:spPr>
          <a:xfrm>
            <a:off x="3105513" y="4106173"/>
            <a:ext cx="517585" cy="51758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9E1CFC09-ED27-485C-952B-03AB61DC8E5B}"/>
              </a:ext>
            </a:extLst>
          </p:cNvPr>
          <p:cNvSpPr/>
          <p:nvPr/>
        </p:nvSpPr>
        <p:spPr>
          <a:xfrm>
            <a:off x="4433949" y="4106173"/>
            <a:ext cx="517585" cy="51758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A178EC1E-E49F-484F-9C4D-25ADB63DED42}"/>
              </a:ext>
            </a:extLst>
          </p:cNvPr>
          <p:cNvSpPr/>
          <p:nvPr/>
        </p:nvSpPr>
        <p:spPr>
          <a:xfrm>
            <a:off x="552154" y="5111152"/>
            <a:ext cx="517585" cy="5175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</a:rPr>
              <a:t>abc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E2661F49-028C-420B-A6D1-4159C6B3833B}"/>
              </a:ext>
            </a:extLst>
          </p:cNvPr>
          <p:cNvSpPr/>
          <p:nvPr/>
        </p:nvSpPr>
        <p:spPr>
          <a:xfrm>
            <a:off x="1190478" y="5111153"/>
            <a:ext cx="517585" cy="5175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</a:rPr>
              <a:t>abd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CAC0B592-1FE4-4952-9D59-63F552712F0C}"/>
              </a:ext>
            </a:extLst>
          </p:cNvPr>
          <p:cNvSpPr/>
          <p:nvPr/>
        </p:nvSpPr>
        <p:spPr>
          <a:xfrm>
            <a:off x="1828802" y="5111153"/>
            <a:ext cx="517585" cy="5175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</a:rPr>
              <a:t>abe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6615C40-8E7B-4F51-A3AF-057A09684DB8}"/>
              </a:ext>
            </a:extLst>
          </p:cNvPr>
          <p:cNvSpPr/>
          <p:nvPr/>
        </p:nvSpPr>
        <p:spPr>
          <a:xfrm>
            <a:off x="2760486" y="5111152"/>
            <a:ext cx="517585" cy="51758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</a:rPr>
              <a:t>acf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DB319350-6E03-4F88-AB40-248347E082B4}"/>
              </a:ext>
            </a:extLst>
          </p:cNvPr>
          <p:cNvSpPr/>
          <p:nvPr/>
        </p:nvSpPr>
        <p:spPr>
          <a:xfrm>
            <a:off x="3398810" y="5111153"/>
            <a:ext cx="517585" cy="51758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E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</a:rPr>
              <a:t>acg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C2D2C26A-58E7-4F1D-AEAD-B2758A1C0C06}"/>
              </a:ext>
            </a:extLst>
          </p:cNvPr>
          <p:cNvSpPr/>
          <p:nvPr/>
        </p:nvSpPr>
        <p:spPr>
          <a:xfrm>
            <a:off x="4433949" y="5111153"/>
            <a:ext cx="517585" cy="51758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F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</a:rPr>
              <a:t>afh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2D852A73-519A-440B-A85C-05C0498CD7D7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>
            <a:off x="1754247" y="2927225"/>
            <a:ext cx="873972" cy="148392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BE58EFA0-D496-4B60-88C1-143E9128CFA3}"/>
              </a:ext>
            </a:extLst>
          </p:cNvPr>
          <p:cNvCxnSpPr>
            <a:stCxn id="5" idx="2"/>
            <a:endCxn id="34" idx="0"/>
          </p:cNvCxnSpPr>
          <p:nvPr/>
        </p:nvCxnSpPr>
        <p:spPr>
          <a:xfrm rot="16200000" flipH="1">
            <a:off x="3375982" y="2789413"/>
            <a:ext cx="873972" cy="175954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1B11ED31-A33D-4DB6-8BF8-5DAD79C393A0}"/>
              </a:ext>
            </a:extLst>
          </p:cNvPr>
          <p:cNvCxnSpPr>
            <a:stCxn id="5" idx="2"/>
            <a:endCxn id="33" idx="0"/>
          </p:cNvCxnSpPr>
          <p:nvPr/>
        </p:nvCxnSpPr>
        <p:spPr>
          <a:xfrm rot="16200000" flipH="1">
            <a:off x="2711764" y="3453631"/>
            <a:ext cx="873972" cy="43111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9FFD78D5-AF16-4404-8F82-984C6037174F}"/>
              </a:ext>
            </a:extLst>
          </p:cNvPr>
          <p:cNvCxnSpPr>
            <a:stCxn id="6" idx="4"/>
          </p:cNvCxnSpPr>
          <p:nvPr/>
        </p:nvCxnSpPr>
        <p:spPr>
          <a:xfrm rot="5400000">
            <a:off x="886412" y="4548293"/>
            <a:ext cx="487394" cy="63832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CE4DAE70-D7AF-41BF-B4D7-08169616CD19}"/>
              </a:ext>
            </a:extLst>
          </p:cNvPr>
          <p:cNvCxnSpPr>
            <a:stCxn id="6" idx="4"/>
          </p:cNvCxnSpPr>
          <p:nvPr/>
        </p:nvCxnSpPr>
        <p:spPr>
          <a:xfrm rot="5400000">
            <a:off x="1205574" y="4867455"/>
            <a:ext cx="487395" cy="127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7C13D60B-D590-478B-8122-753B08470C8B}"/>
              </a:ext>
            </a:extLst>
          </p:cNvPr>
          <p:cNvCxnSpPr>
            <a:stCxn id="6" idx="4"/>
          </p:cNvCxnSpPr>
          <p:nvPr/>
        </p:nvCxnSpPr>
        <p:spPr>
          <a:xfrm rot="16200000" flipH="1">
            <a:off x="1524736" y="4548293"/>
            <a:ext cx="487395" cy="63832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57EECD95-3217-43FF-8C95-26E6C3B2564D}"/>
              </a:ext>
            </a:extLst>
          </p:cNvPr>
          <p:cNvCxnSpPr>
            <a:stCxn id="33" idx="4"/>
          </p:cNvCxnSpPr>
          <p:nvPr/>
        </p:nvCxnSpPr>
        <p:spPr>
          <a:xfrm rot="5400000">
            <a:off x="2948096" y="4694942"/>
            <a:ext cx="487394" cy="34502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C5AB6CC2-249D-4AC5-A6AE-2C9E1565FDDB}"/>
              </a:ext>
            </a:extLst>
          </p:cNvPr>
          <p:cNvCxnSpPr>
            <a:stCxn id="33" idx="4"/>
          </p:cNvCxnSpPr>
          <p:nvPr/>
        </p:nvCxnSpPr>
        <p:spPr>
          <a:xfrm rot="16200000" flipH="1">
            <a:off x="3267257" y="4720806"/>
            <a:ext cx="487395" cy="29329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B7AB4CBE-9E80-42A6-9E63-9BBEC4C75AB4}"/>
              </a:ext>
            </a:extLst>
          </p:cNvPr>
          <p:cNvCxnSpPr>
            <a:stCxn id="34" idx="4"/>
          </p:cNvCxnSpPr>
          <p:nvPr/>
        </p:nvCxnSpPr>
        <p:spPr>
          <a:xfrm rot="5400000">
            <a:off x="4449045" y="4867455"/>
            <a:ext cx="487395" cy="127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B8E99E3-D508-4836-9FD1-E2E8563BBDE4}"/>
              </a:ext>
            </a:extLst>
          </p:cNvPr>
          <p:cNvSpPr txBox="1"/>
          <p:nvPr/>
        </p:nvSpPr>
        <p:spPr>
          <a:xfrm>
            <a:off x="552154" y="1375900"/>
            <a:ext cx="4399380" cy="107721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청구범위</a:t>
            </a:r>
            <a:r>
              <a:rPr lang="en-US" altLang="ko-KR" sz="1600" dirty="0"/>
              <a:t>]</a:t>
            </a:r>
          </a:p>
          <a:p>
            <a:pPr marL="342900" indent="-342900">
              <a:buAutoNum type="arabicPeriod"/>
            </a:pPr>
            <a:r>
              <a:rPr lang="en-US" altLang="ko-KR" sz="1600" dirty="0"/>
              <a:t>ab</a:t>
            </a:r>
            <a:r>
              <a:rPr lang="ko-KR" altLang="en-US" sz="1600" dirty="0"/>
              <a:t>와 </a:t>
            </a:r>
            <a:r>
              <a:rPr lang="en-US" altLang="ko-KR" sz="1600" dirty="0"/>
              <a:t>(c, d </a:t>
            </a:r>
            <a:r>
              <a:rPr lang="ko-KR" altLang="en-US" sz="1600" dirty="0"/>
              <a:t>및 </a:t>
            </a:r>
            <a:r>
              <a:rPr lang="en-US" altLang="ko-KR" sz="1600" dirty="0"/>
              <a:t>e </a:t>
            </a:r>
            <a:r>
              <a:rPr lang="ko-KR" altLang="en-US" sz="1600" dirty="0"/>
              <a:t>중 어느 하나</a:t>
            </a:r>
            <a:r>
              <a:rPr lang="en-US" altLang="ko-KR" sz="1600" dirty="0"/>
              <a:t>) </a:t>
            </a:r>
            <a:r>
              <a:rPr lang="ko-KR" altLang="en-US" sz="1600" dirty="0"/>
              <a:t>로 구성된 </a:t>
            </a:r>
            <a:r>
              <a:rPr lang="en-US" altLang="ko-KR" sz="1600" dirty="0"/>
              <a:t>X</a:t>
            </a:r>
          </a:p>
          <a:p>
            <a:pPr marL="342900" indent="-342900">
              <a:buAutoNum type="arabicPeriod"/>
            </a:pPr>
            <a:r>
              <a:rPr lang="en-US" altLang="ko-KR" sz="1600" dirty="0"/>
              <a:t>ac</a:t>
            </a:r>
            <a:r>
              <a:rPr lang="ko-KR" altLang="en-US" sz="1600" dirty="0"/>
              <a:t>와 </a:t>
            </a:r>
            <a:r>
              <a:rPr lang="en-US" altLang="ko-KR" sz="1600" dirty="0"/>
              <a:t>(f </a:t>
            </a:r>
            <a:r>
              <a:rPr lang="ko-KR" altLang="en-US" sz="1600" dirty="0"/>
              <a:t>및 </a:t>
            </a:r>
            <a:r>
              <a:rPr lang="en-US" altLang="ko-KR" sz="1600" dirty="0"/>
              <a:t>g </a:t>
            </a:r>
            <a:r>
              <a:rPr lang="ko-KR" altLang="en-US" sz="1600" dirty="0"/>
              <a:t>중 어느 하나</a:t>
            </a:r>
            <a:r>
              <a:rPr lang="en-US" altLang="ko-KR" sz="1600" dirty="0"/>
              <a:t>) </a:t>
            </a:r>
            <a:r>
              <a:rPr lang="ko-KR" altLang="en-US" sz="1600" dirty="0"/>
              <a:t>로 구성된 </a:t>
            </a:r>
            <a:r>
              <a:rPr lang="en-US" altLang="ko-KR" sz="1600" dirty="0"/>
              <a:t>X</a:t>
            </a:r>
          </a:p>
          <a:p>
            <a:pPr marL="342900" indent="-342900">
              <a:buAutoNum type="arabicPeriod"/>
            </a:pPr>
            <a:r>
              <a:rPr lang="en-US" altLang="ko-KR" sz="1600" dirty="0" err="1"/>
              <a:t>afh</a:t>
            </a:r>
            <a:r>
              <a:rPr lang="ko-KR" altLang="en-US" sz="1600" dirty="0"/>
              <a:t>로 구성된 </a:t>
            </a:r>
            <a:r>
              <a:rPr lang="en-US" altLang="ko-KR" sz="1600" dirty="0"/>
              <a:t>X</a:t>
            </a:r>
          </a:p>
        </p:txBody>
      </p:sp>
      <p:sp>
        <p:nvSpPr>
          <p:cNvPr id="31" name="화살표: 왼쪽 30">
            <a:extLst>
              <a:ext uri="{FF2B5EF4-FFF2-40B4-BE49-F238E27FC236}">
                <a16:creationId xmlns:a16="http://schemas.microsoft.com/office/drawing/2014/main" id="{AC72C26C-BF20-440B-8847-632E5A46A2ED}"/>
              </a:ext>
            </a:extLst>
          </p:cNvPr>
          <p:cNvSpPr/>
          <p:nvPr/>
        </p:nvSpPr>
        <p:spPr>
          <a:xfrm>
            <a:off x="5325345" y="5037825"/>
            <a:ext cx="1618169" cy="724618"/>
          </a:xfrm>
          <a:prstGeom prst="leftArrow">
            <a:avLst>
              <a:gd name="adj1" fmla="val 89655"/>
              <a:gd name="adj2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심사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심리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단위</a:t>
            </a:r>
          </a:p>
        </p:txBody>
      </p:sp>
      <p:sp>
        <p:nvSpPr>
          <p:cNvPr id="66" name="화살표: 왼쪽 65">
            <a:extLst>
              <a:ext uri="{FF2B5EF4-FFF2-40B4-BE49-F238E27FC236}">
                <a16:creationId xmlns:a16="http://schemas.microsoft.com/office/drawing/2014/main" id="{7BE585AD-4D47-4442-9C94-EEB298B866FF}"/>
              </a:ext>
            </a:extLst>
          </p:cNvPr>
          <p:cNvSpPr/>
          <p:nvPr/>
        </p:nvSpPr>
        <p:spPr>
          <a:xfrm>
            <a:off x="5325345" y="4002656"/>
            <a:ext cx="1618169" cy="724618"/>
          </a:xfrm>
          <a:prstGeom prst="leftArrow">
            <a:avLst>
              <a:gd name="adj1" fmla="val 89655"/>
              <a:gd name="adj2" fmla="val 50000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등록 후 </a:t>
            </a:r>
            <a:endParaRPr lang="en-US" altLang="ko-KR" dirty="0"/>
          </a:p>
          <a:p>
            <a:pPr algn="ctr"/>
            <a:r>
              <a:rPr lang="ko-KR" altLang="en-US" dirty="0"/>
              <a:t>처리단위</a:t>
            </a:r>
          </a:p>
        </p:txBody>
      </p:sp>
      <p:sp>
        <p:nvSpPr>
          <p:cNvPr id="67" name="화살표: 왼쪽 66">
            <a:extLst>
              <a:ext uri="{FF2B5EF4-FFF2-40B4-BE49-F238E27FC236}">
                <a16:creationId xmlns:a16="http://schemas.microsoft.com/office/drawing/2014/main" id="{C7084C5F-F548-4A57-899D-19ABC75BA422}"/>
              </a:ext>
            </a:extLst>
          </p:cNvPr>
          <p:cNvSpPr/>
          <p:nvPr/>
        </p:nvSpPr>
        <p:spPr>
          <a:xfrm>
            <a:off x="5325345" y="2658544"/>
            <a:ext cx="1618169" cy="724618"/>
          </a:xfrm>
          <a:prstGeom prst="leftArrow">
            <a:avLst>
              <a:gd name="adj1" fmla="val 89655"/>
              <a:gd name="adj2" fmla="val 50000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등록 전 </a:t>
            </a:r>
            <a:endParaRPr lang="en-US" altLang="ko-KR" dirty="0"/>
          </a:p>
          <a:p>
            <a:pPr algn="ctr"/>
            <a:r>
              <a:rPr lang="ko-KR" altLang="en-US" dirty="0"/>
              <a:t>처리단위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A377EC-CB8F-4F20-AE96-F0898166BD20}"/>
              </a:ext>
            </a:extLst>
          </p:cNvPr>
          <p:cNvSpPr txBox="1"/>
          <p:nvPr/>
        </p:nvSpPr>
        <p:spPr>
          <a:xfrm>
            <a:off x="7157211" y="4992736"/>
            <a:ext cx="46892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600" dirty="0"/>
              <a:t>발명 단위로 심사</a:t>
            </a:r>
            <a:r>
              <a:rPr lang="en-US" altLang="ko-KR" sz="1600" dirty="0"/>
              <a:t>(</a:t>
            </a:r>
            <a:r>
              <a:rPr lang="ko-KR" altLang="en-US" sz="1600" dirty="0"/>
              <a:t>심리</a:t>
            </a:r>
            <a:r>
              <a:rPr lang="en-US" altLang="ko-KR" sz="1600" dirty="0"/>
              <a:t>) </a:t>
            </a:r>
            <a:r>
              <a:rPr lang="ko-KR" altLang="en-US" sz="1600" dirty="0"/>
              <a:t>진행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일부 발명에 흠결이 있으면 청구항 전체에 흠결이 있는 것으로 처리</a:t>
            </a:r>
            <a:endParaRPr lang="en-US" altLang="ko-KR" sz="16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9078874-C46C-4687-91DE-45CB560EA4E2}"/>
              </a:ext>
            </a:extLst>
          </p:cNvPr>
          <p:cNvSpPr txBox="1"/>
          <p:nvPr/>
        </p:nvSpPr>
        <p:spPr>
          <a:xfrm>
            <a:off x="7157211" y="4065999"/>
            <a:ext cx="41024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600" dirty="0"/>
              <a:t>하자 있는 청구항 단위로 일부무효</a:t>
            </a:r>
            <a:r>
              <a:rPr lang="en-US" altLang="ko-KR" sz="1600" dirty="0"/>
              <a:t>/</a:t>
            </a:r>
            <a:r>
              <a:rPr lang="ko-KR" altLang="en-US" sz="1600" dirty="0"/>
              <a:t>일부취소</a:t>
            </a:r>
            <a:endParaRPr lang="en-US" altLang="ko-KR" sz="16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9ECFD1E-2BDD-448D-AA8A-789FE381B0E8}"/>
              </a:ext>
            </a:extLst>
          </p:cNvPr>
          <p:cNvSpPr txBox="1"/>
          <p:nvPr/>
        </p:nvSpPr>
        <p:spPr>
          <a:xfrm>
            <a:off x="7157212" y="2699619"/>
            <a:ext cx="4490288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600" dirty="0"/>
              <a:t>일부 청구항이라도 거절이유가 있으면 출원전체가 거절결정</a:t>
            </a:r>
            <a:r>
              <a:rPr lang="en-US" altLang="ko-KR" sz="1600" dirty="0"/>
              <a:t>(</a:t>
            </a:r>
            <a:r>
              <a:rPr lang="ko-KR" altLang="en-US" sz="1600" dirty="0"/>
              <a:t>출원일체의 원칙</a:t>
            </a:r>
            <a:r>
              <a:rPr lang="en-US" altLang="ko-KR" sz="1600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697052-3F8A-7061-7779-A7D34E0052D2}"/>
              </a:ext>
            </a:extLst>
          </p:cNvPr>
          <p:cNvSpPr txBox="1"/>
          <p:nvPr/>
        </p:nvSpPr>
        <p:spPr>
          <a:xfrm>
            <a:off x="7157211" y="5823733"/>
            <a:ext cx="4387089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/>
              <a:t>예를 들어</a:t>
            </a:r>
            <a:r>
              <a:rPr lang="en-US" altLang="ko-KR" sz="1400" dirty="0"/>
              <a:t>, A </a:t>
            </a:r>
            <a:r>
              <a:rPr lang="ko-KR" altLang="en-US" sz="1400" dirty="0"/>
              <a:t>발명에 흠결이 있는 경우 </a:t>
            </a:r>
            <a:r>
              <a:rPr lang="en-US" altLang="ko-KR" sz="1400" dirty="0"/>
              <a:t>B, C </a:t>
            </a:r>
            <a:r>
              <a:rPr lang="ko-KR" altLang="en-US" sz="1400" dirty="0"/>
              <a:t>발명에 흠결이 없더라도 청구항 </a:t>
            </a:r>
            <a:r>
              <a:rPr lang="en-US" altLang="ko-KR" sz="1400" dirty="0"/>
              <a:t>1</a:t>
            </a:r>
            <a:r>
              <a:rPr lang="ko-KR" altLang="en-US" sz="1400" dirty="0"/>
              <a:t>에 흠결이 있는 것으로 처리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30C115-1A1D-00C1-7763-E8831D4689A9}"/>
              </a:ext>
            </a:extLst>
          </p:cNvPr>
          <p:cNvSpPr txBox="1"/>
          <p:nvPr/>
        </p:nvSpPr>
        <p:spPr>
          <a:xfrm>
            <a:off x="7157211" y="3305865"/>
            <a:ext cx="4387089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/>
              <a:t>예를 들어</a:t>
            </a:r>
            <a:r>
              <a:rPr lang="en-US" altLang="ko-KR" sz="1400" dirty="0"/>
              <a:t>, </a:t>
            </a:r>
            <a:r>
              <a:rPr lang="ko-KR" altLang="en-US" sz="1400" dirty="0"/>
              <a:t>청구항 </a:t>
            </a:r>
            <a:r>
              <a:rPr lang="en-US" altLang="ko-KR" sz="1400" dirty="0"/>
              <a:t>1</a:t>
            </a:r>
            <a:r>
              <a:rPr lang="ko-KR" altLang="en-US" sz="1400" dirty="0"/>
              <a:t>에 흠결이 있는 경우</a:t>
            </a:r>
            <a:r>
              <a:rPr lang="en-US" altLang="ko-KR" sz="1400" dirty="0"/>
              <a:t> </a:t>
            </a:r>
            <a:r>
              <a:rPr lang="ko-KR" altLang="en-US" sz="1400" dirty="0"/>
              <a:t>청구항 </a:t>
            </a:r>
            <a:r>
              <a:rPr lang="en-US" altLang="ko-KR" sz="1400" dirty="0"/>
              <a:t>2, 3</a:t>
            </a:r>
            <a:r>
              <a:rPr lang="ko-KR" altLang="en-US" sz="1400" dirty="0"/>
              <a:t>에 흠결이 없더라도 출원 전체를 거절결정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1A627E-1570-4710-991D-11A7B0F4A3BB}"/>
              </a:ext>
            </a:extLst>
          </p:cNvPr>
          <p:cNvSpPr txBox="1"/>
          <p:nvPr/>
        </p:nvSpPr>
        <p:spPr>
          <a:xfrm>
            <a:off x="7157211" y="4421718"/>
            <a:ext cx="4387089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/>
              <a:t>예를 들어</a:t>
            </a:r>
            <a:r>
              <a:rPr lang="en-US" altLang="ko-KR" sz="1400" dirty="0"/>
              <a:t>, </a:t>
            </a:r>
            <a:r>
              <a:rPr lang="ko-KR" altLang="en-US" sz="1400" dirty="0"/>
              <a:t>청구항 </a:t>
            </a:r>
            <a:r>
              <a:rPr lang="en-US" altLang="ko-KR" sz="1400" dirty="0"/>
              <a:t>1</a:t>
            </a:r>
            <a:r>
              <a:rPr lang="ko-KR" altLang="en-US" sz="1400" dirty="0"/>
              <a:t>에 흠결이 있고</a:t>
            </a:r>
            <a:r>
              <a:rPr lang="en-US" altLang="ko-KR" sz="1400" dirty="0"/>
              <a:t>, </a:t>
            </a:r>
            <a:r>
              <a:rPr lang="ko-KR" altLang="en-US" sz="1400" dirty="0"/>
              <a:t>청구항 </a:t>
            </a:r>
            <a:r>
              <a:rPr lang="en-US" altLang="ko-KR" sz="1400" dirty="0"/>
              <a:t>2, 3</a:t>
            </a:r>
            <a:r>
              <a:rPr lang="ko-KR" altLang="en-US" sz="1400" dirty="0"/>
              <a:t>에 흠결이 없는 경우 청구항 </a:t>
            </a:r>
            <a:r>
              <a:rPr lang="en-US" altLang="ko-KR" sz="1400" dirty="0"/>
              <a:t>1</a:t>
            </a:r>
            <a:r>
              <a:rPr lang="ko-KR" altLang="en-US" sz="1400" dirty="0"/>
              <a:t>만 무효</a:t>
            </a:r>
            <a:r>
              <a:rPr lang="en-US" altLang="ko-KR" sz="1400" dirty="0"/>
              <a:t>, </a:t>
            </a:r>
            <a:r>
              <a:rPr lang="ko-KR" altLang="en-US" sz="1400" dirty="0"/>
              <a:t>취소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8FBC030-DA7B-B254-6EE3-DEF4DD50D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44497"/>
              </p:ext>
            </p:extLst>
          </p:nvPr>
        </p:nvGraphicFramePr>
        <p:xfrm>
          <a:off x="6293300" y="1221483"/>
          <a:ext cx="5251000" cy="929499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672966">
                  <a:extLst>
                    <a:ext uri="{9D8B030D-6E8A-4147-A177-3AD203B41FA5}">
                      <a16:colId xmlns:a16="http://schemas.microsoft.com/office/drawing/2014/main" val="3599078112"/>
                    </a:ext>
                  </a:extLst>
                </a:gridCol>
                <a:gridCol w="1457217">
                  <a:extLst>
                    <a:ext uri="{9D8B030D-6E8A-4147-A177-3AD203B41FA5}">
                      <a16:colId xmlns:a16="http://schemas.microsoft.com/office/drawing/2014/main" val="3119953685"/>
                    </a:ext>
                  </a:extLst>
                </a:gridCol>
                <a:gridCol w="1828705">
                  <a:extLst>
                    <a:ext uri="{9D8B030D-6E8A-4147-A177-3AD203B41FA5}">
                      <a16:colId xmlns:a16="http://schemas.microsoft.com/office/drawing/2014/main" val="4123206507"/>
                    </a:ext>
                  </a:extLst>
                </a:gridCol>
                <a:gridCol w="1292112">
                  <a:extLst>
                    <a:ext uri="{9D8B030D-6E8A-4147-A177-3AD203B41FA5}">
                      <a16:colId xmlns:a16="http://schemas.microsoft.com/office/drawing/2014/main" val="3355360187"/>
                    </a:ext>
                  </a:extLst>
                </a:gridCol>
              </a:tblGrid>
              <a:tr h="30983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 분</a:t>
                      </a:r>
                    </a:p>
                  </a:txBody>
                  <a:tcPr marL="17907" marR="17907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검토</a:t>
                      </a:r>
                    </a:p>
                  </a:txBody>
                  <a:tcPr marL="17907" marR="17907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처리</a:t>
                      </a:r>
                    </a:p>
                  </a:txBody>
                  <a:tcPr marL="17907" marR="17907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17907" marR="17907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911291"/>
                  </a:ext>
                </a:extLst>
              </a:tr>
              <a:tr h="30983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등록 전</a:t>
                      </a:r>
                    </a:p>
                  </a:txBody>
                  <a:tcPr marL="17907" marR="17907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</a:rPr>
                        <a:t>발명 단위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</a:rPr>
                        <a:t>출원 단위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</a:rPr>
                        <a:t>심사의 무결성 추구</a:t>
                      </a: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3944363395"/>
                  </a:ext>
                </a:extLst>
              </a:tr>
              <a:tr h="30983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등록 후</a:t>
                      </a:r>
                    </a:p>
                  </a:txBody>
                  <a:tcPr marL="17907" marR="17907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</a:rPr>
                        <a:t>발명 단위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</a:rPr>
                        <a:t>청구항 단위</a:t>
                      </a:r>
                      <a:r>
                        <a:rPr lang="en-US" altLang="ko-KR" sz="1100" kern="0" spc="-50" dirty="0"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kern="0" spc="-50" dirty="0"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</a:rPr>
                        <a:t>일부무효</a:t>
                      </a:r>
                      <a:r>
                        <a:rPr lang="en-US" altLang="ko-KR" sz="1100" kern="0" spc="-50" dirty="0"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kern="0" spc="-50" dirty="0"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</a:rPr>
                        <a:t>특허권자의 보호 추구</a:t>
                      </a: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542889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302214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특허요건 체계</a:t>
            </a:r>
            <a:r>
              <a:rPr lang="en-US" altLang="ko-KR" dirty="0"/>
              <a:t>: </a:t>
            </a:r>
            <a:r>
              <a:rPr lang="ko-KR" altLang="en-US" dirty="0"/>
              <a:t>제</a:t>
            </a:r>
            <a:r>
              <a:rPr lang="en-US" altLang="ko-KR" dirty="0"/>
              <a:t>2</a:t>
            </a:r>
            <a:r>
              <a:rPr lang="ko-KR" altLang="en-US"/>
              <a:t>장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953688" y="3266569"/>
            <a:ext cx="970795" cy="94062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/>
              <a:t>특허요건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7023274" y="1192744"/>
            <a:ext cx="3888432" cy="3799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협의의 특허요건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法 </a:t>
            </a:r>
            <a:r>
              <a:rPr lang="en-US" altLang="ko-KR" sz="1400" dirty="0">
                <a:solidFill>
                  <a:schemeClr val="tx1"/>
                </a:solidFill>
              </a:rPr>
              <a:t>29)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7023274" y="1699283"/>
            <a:ext cx="3888432" cy="3799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선출원주의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法 </a:t>
            </a:r>
            <a:r>
              <a:rPr lang="en-US" altLang="ko-KR" sz="1400" dirty="0">
                <a:solidFill>
                  <a:schemeClr val="tx1"/>
                </a:solidFill>
              </a:rPr>
              <a:t>36)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7023274" y="2366695"/>
            <a:ext cx="3888432" cy="3799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불특허발명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法 </a:t>
            </a:r>
            <a:r>
              <a:rPr lang="en-US" altLang="ko-KR" sz="1400" dirty="0">
                <a:solidFill>
                  <a:schemeClr val="tx1"/>
                </a:solidFill>
              </a:rPr>
              <a:t>32)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023274" y="2873234"/>
            <a:ext cx="3888432" cy="3799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국방상 필요한 발명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法</a:t>
            </a:r>
            <a:r>
              <a:rPr lang="en-US" altLang="ko-KR" sz="1400" dirty="0">
                <a:solidFill>
                  <a:schemeClr val="tx1"/>
                </a:solidFill>
              </a:rPr>
              <a:t> 41, 106)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023274" y="3597336"/>
            <a:ext cx="3888432" cy="37990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출원인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法 </a:t>
            </a:r>
            <a:r>
              <a:rPr lang="en-US" altLang="ko-KR" sz="1400" dirty="0">
                <a:solidFill>
                  <a:schemeClr val="tx1"/>
                </a:solidFill>
              </a:rPr>
              <a:t>25, 33, 44)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7023274" y="4103875"/>
            <a:ext cx="3888432" cy="37990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특허를 받을 수 있는 권리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法 </a:t>
            </a:r>
            <a:r>
              <a:rPr lang="en-US" altLang="ko-KR" sz="1400" dirty="0">
                <a:solidFill>
                  <a:schemeClr val="tx1"/>
                </a:solidFill>
              </a:rPr>
              <a:t>37, 38)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443121" y="2763176"/>
            <a:ext cx="1385106" cy="823126"/>
          </a:xfrm>
          <a:prstGeom prst="rect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특허를 받을 수 없는 발명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3443121" y="3969884"/>
            <a:ext cx="1385106" cy="823126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특허를 받을 수 있는 자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3443121" y="1602110"/>
            <a:ext cx="1385106" cy="823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특허를 받을 수 있는 발명</a:t>
            </a:r>
          </a:p>
        </p:txBody>
      </p:sp>
      <p:sp>
        <p:nvSpPr>
          <p:cNvPr id="63" name="직사각형 62"/>
          <p:cNvSpPr/>
          <p:nvPr/>
        </p:nvSpPr>
        <p:spPr>
          <a:xfrm>
            <a:off x="3443121" y="5121351"/>
            <a:ext cx="1385106" cy="82312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특허를 받을 수 있는 출원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7023274" y="4628808"/>
            <a:ext cx="3888432" cy="37990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직무발명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 err="1">
                <a:solidFill>
                  <a:schemeClr val="tx1"/>
                </a:solidFill>
              </a:rPr>
              <a:t>발진법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2, 10~19, 58)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7023274" y="5342714"/>
            <a:ext cx="3888432" cy="3799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특허출원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法 </a:t>
            </a:r>
            <a:r>
              <a:rPr lang="en-US" altLang="ko-KR" sz="1400" dirty="0">
                <a:solidFill>
                  <a:schemeClr val="tx1"/>
                </a:solidFill>
              </a:rPr>
              <a:t>42~42</a:t>
            </a:r>
            <a:r>
              <a:rPr lang="ko-KR" altLang="en-US" sz="1400" dirty="0">
                <a:solidFill>
                  <a:schemeClr val="tx1"/>
                </a:solidFill>
              </a:rPr>
              <a:t>의</a:t>
            </a:r>
            <a:r>
              <a:rPr lang="en-US" altLang="ko-KR" sz="1400" dirty="0">
                <a:solidFill>
                  <a:schemeClr val="tx1"/>
                </a:solidFill>
              </a:rPr>
              <a:t>3, 43)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7023274" y="5867647"/>
            <a:ext cx="3888432" cy="3799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하나의 특허출원의 범위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法 </a:t>
            </a:r>
            <a:r>
              <a:rPr lang="en-US" altLang="ko-KR" sz="1400" dirty="0">
                <a:solidFill>
                  <a:schemeClr val="tx1"/>
                </a:solidFill>
              </a:rPr>
              <a:t>45)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78" name="꺾인 연결선 77"/>
          <p:cNvCxnSpPr>
            <a:stCxn id="5" idx="3"/>
            <a:endCxn id="50" idx="1"/>
          </p:cNvCxnSpPr>
          <p:nvPr/>
        </p:nvCxnSpPr>
        <p:spPr>
          <a:xfrm flipV="1">
            <a:off x="1924483" y="2013673"/>
            <a:ext cx="1518638" cy="172320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꺾인 연결선 79"/>
          <p:cNvCxnSpPr>
            <a:stCxn id="5" idx="3"/>
            <a:endCxn id="63" idx="1"/>
          </p:cNvCxnSpPr>
          <p:nvPr/>
        </p:nvCxnSpPr>
        <p:spPr>
          <a:xfrm>
            <a:off x="1924483" y="3736882"/>
            <a:ext cx="1518638" cy="179603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꺾인 연결선 81"/>
          <p:cNvCxnSpPr>
            <a:stCxn id="5" idx="3"/>
            <a:endCxn id="13" idx="1"/>
          </p:cNvCxnSpPr>
          <p:nvPr/>
        </p:nvCxnSpPr>
        <p:spPr>
          <a:xfrm flipV="1">
            <a:off x="1924483" y="3174739"/>
            <a:ext cx="1518638" cy="56214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꺾인 연결선 84"/>
          <p:cNvCxnSpPr>
            <a:stCxn id="5" idx="3"/>
            <a:endCxn id="14" idx="1"/>
          </p:cNvCxnSpPr>
          <p:nvPr/>
        </p:nvCxnSpPr>
        <p:spPr>
          <a:xfrm>
            <a:off x="1924483" y="3736882"/>
            <a:ext cx="1518638" cy="64456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꺾인 연결선 86"/>
          <p:cNvCxnSpPr>
            <a:stCxn id="50" idx="3"/>
            <a:endCxn id="7" idx="1"/>
          </p:cNvCxnSpPr>
          <p:nvPr/>
        </p:nvCxnSpPr>
        <p:spPr>
          <a:xfrm flipV="1">
            <a:off x="4828227" y="1382696"/>
            <a:ext cx="2195047" cy="63097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꺾인 연결선 88"/>
          <p:cNvCxnSpPr>
            <a:stCxn id="50" idx="3"/>
            <a:endCxn id="8" idx="1"/>
          </p:cNvCxnSpPr>
          <p:nvPr/>
        </p:nvCxnSpPr>
        <p:spPr>
          <a:xfrm flipV="1">
            <a:off x="4828227" y="1889235"/>
            <a:ext cx="2195047" cy="12443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꺾인 연결선 90"/>
          <p:cNvCxnSpPr>
            <a:stCxn id="13" idx="3"/>
            <a:endCxn id="9" idx="1"/>
          </p:cNvCxnSpPr>
          <p:nvPr/>
        </p:nvCxnSpPr>
        <p:spPr>
          <a:xfrm flipV="1">
            <a:off x="4828227" y="2556647"/>
            <a:ext cx="2195047" cy="61809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꺾인 연결선 92"/>
          <p:cNvCxnSpPr>
            <a:stCxn id="13" idx="3"/>
            <a:endCxn id="10" idx="1"/>
          </p:cNvCxnSpPr>
          <p:nvPr/>
        </p:nvCxnSpPr>
        <p:spPr>
          <a:xfrm flipV="1">
            <a:off x="4828227" y="3063186"/>
            <a:ext cx="2195047" cy="11155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꺾인 연결선 94"/>
          <p:cNvCxnSpPr>
            <a:stCxn id="14" idx="3"/>
            <a:endCxn id="11" idx="1"/>
          </p:cNvCxnSpPr>
          <p:nvPr/>
        </p:nvCxnSpPr>
        <p:spPr>
          <a:xfrm flipV="1">
            <a:off x="4828227" y="3787288"/>
            <a:ext cx="2195047" cy="59415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꺾인 연결선 96"/>
          <p:cNvCxnSpPr>
            <a:stCxn id="14" idx="3"/>
            <a:endCxn id="12" idx="1"/>
          </p:cNvCxnSpPr>
          <p:nvPr/>
        </p:nvCxnSpPr>
        <p:spPr>
          <a:xfrm flipV="1">
            <a:off x="4828227" y="4293827"/>
            <a:ext cx="2195047" cy="8762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꺾인 연결선 98"/>
          <p:cNvCxnSpPr>
            <a:stCxn id="14" idx="3"/>
            <a:endCxn id="74" idx="1"/>
          </p:cNvCxnSpPr>
          <p:nvPr/>
        </p:nvCxnSpPr>
        <p:spPr>
          <a:xfrm>
            <a:off x="4828227" y="4381447"/>
            <a:ext cx="2195047" cy="43731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꺾인 연결선 100"/>
          <p:cNvCxnSpPr>
            <a:stCxn id="63" idx="3"/>
            <a:endCxn id="75" idx="1"/>
          </p:cNvCxnSpPr>
          <p:nvPr/>
        </p:nvCxnSpPr>
        <p:spPr>
          <a:xfrm flipV="1">
            <a:off x="4828227" y="5532666"/>
            <a:ext cx="2195047" cy="24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꺾인 연결선 102"/>
          <p:cNvCxnSpPr>
            <a:stCxn id="63" idx="3"/>
            <a:endCxn id="76" idx="1"/>
          </p:cNvCxnSpPr>
          <p:nvPr/>
        </p:nvCxnSpPr>
        <p:spPr>
          <a:xfrm>
            <a:off x="4828227" y="5532914"/>
            <a:ext cx="2195047" cy="52468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535076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특허요건 정리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386174"/>
              </p:ext>
            </p:extLst>
          </p:nvPr>
        </p:nvGraphicFramePr>
        <p:xfrm>
          <a:off x="211671" y="963144"/>
          <a:ext cx="11650133" cy="5640588"/>
        </p:xfrm>
        <a:graphic>
          <a:graphicData uri="http://schemas.openxmlformats.org/drawingml/2006/table">
            <a:tbl>
              <a:tblPr/>
              <a:tblGrid>
                <a:gridCol w="395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61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29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35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206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273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8992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05232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요건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발명의 </a:t>
                      </a: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성립성</a:t>
                      </a:r>
                      <a:endParaRPr lang="en-US" altLang="ko-KR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29①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본문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산업상 이용가능성</a:t>
                      </a:r>
                      <a:endParaRPr lang="en-US" altLang="ko-KR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29①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본문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신규성</a:t>
                      </a:r>
                      <a:endParaRPr lang="en-US" altLang="ko-KR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29①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각호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진보성</a:t>
                      </a:r>
                      <a:endParaRPr lang="en-US" altLang="ko-KR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29②)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확대된 </a:t>
                      </a: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선출원</a:t>
                      </a:r>
                      <a:endParaRPr lang="en-US" altLang="ko-KR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29③④)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선출원주의</a:t>
                      </a:r>
                      <a:endParaRPr lang="en-US" altLang="ko-KR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398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의의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자연법칙을 이용한 기술적 사상의 </a:t>
                      </a:r>
                      <a:r>
                        <a:rPr lang="ko-KR" altLang="en-US" sz="95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창작으로서</a:t>
                      </a: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고도한 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것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산업에서 실제 실시될 수 있는 발명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발명의 내용이 사회일반에 아직 알려지지 않은 것으로서 객관적 창작성이 있는 것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통상의 기술자가 공지기술로부터 쉽게 발명할 수 없는 것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특허출원한 발명이 그 특허출원일 전에 특허출원 또는 실용신안등록출원하여 그 특허출원 한 후에 출원공개되거나 등록공고된 다른 출원의 출원서에 최초로 첨부된 명세서 또는 도면에 기재된 발명 또는 고안과 동일성이 있는 경우에는 특허를 받을 수 없도록 선출원의 지위를 부여하는 것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동일한 발명에 대하여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이상의 특허출원이 있는 경우 가장 먼저 출원한 자에게 발명을 허여하는 주의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877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내용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자연법칙 이용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기술적 사상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창작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고도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산업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이용가능성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공지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공연실시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반포된 간행물에 게재</a:t>
                      </a:r>
                    </a:p>
                    <a:p>
                      <a:pPr marL="100330" marR="0" indent="-10033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전기통신회선을 통하여 공중이 이용 가능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이일출원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①③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동일출원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②③⑥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</a:t>
                      </a: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선출원지위의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인정여부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④⑤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420">
                <a:tc rowSpan="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판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주체적 기준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심사관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심판관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법관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심사관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심판관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법관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통상의 기술자 입장에서 판단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심사관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심판관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법관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4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객체적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대상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청구범위 중심으로 명세서ㆍ도면을 참작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공지기술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vs 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청구범위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공지기술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</a:t>
                      </a: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개이상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vs 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청구범위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다른 출원 </a:t>
                      </a: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최ㆍ명ㆍ도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vs 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그 출원의 청구범위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선출원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청구범위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vs 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후출원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청구범위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4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범위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청구항마다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특허여부결정은 출원단위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4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시기적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원칙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법규정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×(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실무상 </a:t>
                      </a: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출원시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특허출원전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그 특허출원일전 다른 출원</a:t>
                      </a: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역일주의</a:t>
                      </a: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동일자 적용</a:t>
                      </a: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×)</a:t>
                      </a:r>
                      <a:endParaRPr lang="ko-KR" altLang="en-US" sz="9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그 특허출원후 다른 출원의 공개</a:t>
                      </a: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-(</a:t>
                      </a: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시각주의</a:t>
                      </a: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출원일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54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예외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소급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정당한 </a:t>
                      </a: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권리자출원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34․35), 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분할출원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52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분리출원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52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의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2②), 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변경출원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53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③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조약우선권주장출원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54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국내우선권주장출원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55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③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국제특허출원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우선일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54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지역적 기준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국제주의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국내주의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속지주의 원칙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84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판단방법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비발명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미완성발명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의료업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경제성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</a:t>
                      </a: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불성립발명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4.</a:t>
                      </a: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타법과 관계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5.</a:t>
                      </a: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결과물과 관계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동일성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용이성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동일성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2273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위반의 효과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실체적 요건 위반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5420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발명의 성립성이 문제되는 경우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신규성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상실의 예외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진보성 상실의 예외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고안의 진보성과 관계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적용의 예외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다른 출원이 국제특허출원인 경우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선출원주의의 보완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선출원주의의 예외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1714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특허요건 정리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457459"/>
              </p:ext>
            </p:extLst>
          </p:nvPr>
        </p:nvGraphicFramePr>
        <p:xfrm>
          <a:off x="213645" y="997010"/>
          <a:ext cx="11622754" cy="5693263"/>
        </p:xfrm>
        <a:graphic>
          <a:graphicData uri="http://schemas.openxmlformats.org/drawingml/2006/table">
            <a:tbl>
              <a:tblPr/>
              <a:tblGrid>
                <a:gridCol w="374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1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631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72587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72587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39246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18779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요건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불특허발명</a:t>
                      </a:r>
                      <a:endParaRPr lang="en-US" altLang="ko-KR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출원인</a:t>
                      </a:r>
                      <a:endParaRPr lang="en-US" altLang="ko-KR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25, 33, 44)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특허출원에 필요한 서류</a:t>
                      </a:r>
                      <a:endParaRPr lang="en-US" altLang="ko-KR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42-42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의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하나의 특허출원의 범위</a:t>
                      </a:r>
                      <a:endParaRPr lang="en-US" altLang="ko-KR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45)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2620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의의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공공의 질서 또는 선량한 풍속에 어긋나거나 공중의 위생을 해칠 우려가 있는 발명은 특허를 받을 수 없도록 규정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출원인이 되기 위해서는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ⅰ)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일반적인 권리의 주체가 될 수 있는 능력인 권리능력이 있어야 하며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ⅱ)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권리능력이 있는 자라 하더라도 당해발명에 대한 권리의 주체가 될 수 있는 권리적격이 있어야 함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특허를 받을 수 있는 권리를 가진 자가 그 발명의 공개를 전제로 하여 지식재산처에 대하여 특허를 받고자 하는 의사를 객관적으로 표시하는 행위를 말하며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특허절차는 출원으로부터 시작된다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하나의 특허출원으로 할 수 있는 발명의 범위를 말하는 것으로서</a:t>
                      </a: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하나의 발명마다 하나의 특허출원을 원칙으로 하나</a:t>
                      </a: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하나의 총괄적 발명의 개념을 형성하는 일 군의 발명에 대하여 하나의 특허출원으로 할 수 있다</a:t>
                      </a: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en-US" sz="9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7128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내용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1600" marR="0" indent="-1016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공서양속에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위반된 발명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공중의 위생을 해칠 우려가 있는 발명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권리능력자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①내국인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②외국인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권리적격자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①발명자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②승계인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③</a:t>
                      </a: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지식재산처직원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④특허를 받을 수 있는 권리의 공유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종류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역할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기재방법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하나의 발명 하나의 출원 원칙</a:t>
                      </a:r>
                    </a:p>
                    <a:p>
                      <a:pPr marL="67310" marR="0" indent="-6731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 군의 발명 하나의 출원 보완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259">
                <a:tc rowSpan="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판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주체적 기준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심사관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심판관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법관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7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객체적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대상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청구범위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청구범위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독립항을 기준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범위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청구항마다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특허여부결정은 출원단위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7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시기적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원칙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특허여부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결정시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87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예외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7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지역적 기준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15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판단방법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심사절차내에서 판단</a:t>
                      </a:r>
                      <a:endParaRPr lang="en-US" altLang="ko-KR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합리적 의심이 드는 경우의 판단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시행령 제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조에 의하여 판단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39115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위반의 효과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50" marR="0" indent="-9525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출원공개의 예외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실체적 요건 위반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주체적 요건 위반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실체적 요건 위반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42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③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Ⅰ,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④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절차적 요건 위반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42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③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Ⅱ,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⑧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절차적 요건 위반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3910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청구범위제출 유예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42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의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외국어특허출원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42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의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최소한의 판단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보정에 의한 </a:t>
                      </a: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청구항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변경의 경우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952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Frutiger LT 75 Black"/>
        <a:ea typeface="Rix모던고딕 EB"/>
        <a:cs typeface=""/>
      </a:majorFont>
      <a:minorFont>
        <a:latin typeface="Frutiger LT 65 Bold"/>
        <a:ea typeface="Rix모던고딕 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2700">
          <a:solidFill>
            <a:schemeClr val="bg1">
              <a:lumMod val="50000"/>
            </a:schemeClr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Frutiger LT 75 Black"/>
        <a:ea typeface="Rix모던고딕 EB"/>
        <a:cs typeface=""/>
      </a:majorFont>
      <a:minorFont>
        <a:latin typeface="Frutiger LT 65 Bold"/>
        <a:ea typeface="Rix모던고딕 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bg1">
              <a:lumMod val="50000"/>
            </a:schemeClr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12681</TotalTime>
  <Words>25671</Words>
  <Application>Microsoft Office PowerPoint</Application>
  <PresentationFormat>와이드스크린</PresentationFormat>
  <Paragraphs>3824</Paragraphs>
  <Slides>97</Slides>
  <Notes>47</Notes>
  <HiddenSlides>0</HiddenSlides>
  <MMClips>0</MMClips>
  <ScaleCrop>false</ScaleCrop>
  <HeadingPairs>
    <vt:vector size="6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97</vt:i4>
      </vt:variant>
    </vt:vector>
  </HeadingPairs>
  <TitlesOfParts>
    <vt:vector size="115" baseType="lpstr">
      <vt:lpstr>Rix모던고딕 B</vt:lpstr>
      <vt:lpstr>Rix모던명조 M</vt:lpstr>
      <vt:lpstr>CourtBT</vt:lpstr>
      <vt:lpstr>Rix모던고딕 M</vt:lpstr>
      <vt:lpstr>Frutiger LT 75 Black</vt:lpstr>
      <vt:lpstr>산돌신문제비 L</vt:lpstr>
      <vt:lpstr>맑은 고딕</vt:lpstr>
      <vt:lpstr>Rix모던명조 B</vt:lpstr>
      <vt:lpstr>Arial</vt:lpstr>
      <vt:lpstr>Rix모던고딕 EB</vt:lpstr>
      <vt:lpstr>Wingdings</vt:lpstr>
      <vt:lpstr>Frutiger LT 65 Bold</vt:lpstr>
      <vt:lpstr>Rix모던명조 L</vt:lpstr>
      <vt:lpstr>Rix모던고딕 L</vt:lpstr>
      <vt:lpstr>Rix커피향 M</vt:lpstr>
      <vt:lpstr>Office 테마</vt:lpstr>
      <vt:lpstr>디자인 사용자 지정</vt:lpstr>
      <vt:lpstr>1_Office 테마</vt:lpstr>
      <vt:lpstr>PowerPoint 프레젠테이션</vt:lpstr>
      <vt:lpstr>PowerPoint 프레젠테이션</vt:lpstr>
      <vt:lpstr>참고노트</vt:lpstr>
      <vt:lpstr>참고노트</vt:lpstr>
      <vt:lpstr>참고노트</vt:lpstr>
      <vt:lpstr>제29조제1항본문</vt:lpstr>
      <vt:lpstr>제29조제1항본문</vt:lpstr>
      <vt:lpstr>제29조제1항각호</vt:lpstr>
      <vt:lpstr>제29조제1항각호</vt:lpstr>
      <vt:lpstr>제29조제1항각호</vt:lpstr>
      <vt:lpstr>제29조제1항각호</vt:lpstr>
      <vt:lpstr>제29조제1항각호</vt:lpstr>
      <vt:lpstr>제29조제1항각호</vt:lpstr>
      <vt:lpstr>제29조제1항각호</vt:lpstr>
      <vt:lpstr>제29조제1항각호</vt:lpstr>
      <vt:lpstr>제29조제1항각호</vt:lpstr>
      <vt:lpstr>제29조제1항각호</vt:lpstr>
      <vt:lpstr>제29조제1항각호</vt:lpstr>
      <vt:lpstr>제29조제1항각호</vt:lpstr>
      <vt:lpstr>제29조제1항각호</vt:lpstr>
      <vt:lpstr>제29조제2항</vt:lpstr>
      <vt:lpstr>제29조제2항</vt:lpstr>
      <vt:lpstr>제29조제2항</vt:lpstr>
      <vt:lpstr>제29조제2항</vt:lpstr>
      <vt:lpstr>제29조제2항</vt:lpstr>
      <vt:lpstr>참고노트</vt:lpstr>
      <vt:lpstr>제29조제2항</vt:lpstr>
      <vt:lpstr>제29조제2항</vt:lpstr>
      <vt:lpstr>제29조제2항</vt:lpstr>
      <vt:lpstr>제29조제2항</vt:lpstr>
      <vt:lpstr>제29조제2항</vt:lpstr>
      <vt:lpstr>제36조</vt:lpstr>
      <vt:lpstr>제36조</vt:lpstr>
      <vt:lpstr>제36조</vt:lpstr>
      <vt:lpstr>제36조</vt:lpstr>
      <vt:lpstr>참고노트</vt:lpstr>
      <vt:lpstr>제36조</vt:lpstr>
      <vt:lpstr>제29조제3항</vt:lpstr>
      <vt:lpstr>제29조제3항</vt:lpstr>
      <vt:lpstr>제29조제3항</vt:lpstr>
      <vt:lpstr>제29조제3항</vt:lpstr>
      <vt:lpstr>참고노트</vt:lpstr>
      <vt:lpstr>참고노트</vt:lpstr>
      <vt:lpstr>참고노트</vt:lpstr>
      <vt:lpstr>참고노트</vt:lpstr>
      <vt:lpstr>참고노트</vt:lpstr>
      <vt:lpstr>참고노트</vt:lpstr>
      <vt:lpstr>참고노트</vt:lpstr>
      <vt:lpstr>참고노트</vt:lpstr>
      <vt:lpstr>제41조, 제106조</vt:lpstr>
      <vt:lpstr>제25조, 제33조, 제44조</vt:lpstr>
      <vt:lpstr>제33조제1항, 제44조</vt:lpstr>
      <vt:lpstr>제33조 제1항</vt:lpstr>
      <vt:lpstr>제33조제1항</vt:lpstr>
      <vt:lpstr>제33조제2항</vt:lpstr>
      <vt:lpstr>제33조제2항</vt:lpstr>
      <vt:lpstr>제33조 제1항</vt:lpstr>
      <vt:lpstr>제37조</vt:lpstr>
      <vt:lpstr>제37조</vt:lpstr>
      <vt:lpstr>제37조</vt:lpstr>
      <vt:lpstr>제37조</vt:lpstr>
      <vt:lpstr>제38조</vt:lpstr>
      <vt:lpstr>제38조 제1항</vt:lpstr>
      <vt:lpstr>제38조 제1항</vt:lpstr>
      <vt:lpstr>직무발명</vt:lpstr>
      <vt:lpstr>직무발명</vt:lpstr>
      <vt:lpstr>직무발명</vt:lpstr>
      <vt:lpstr>직무발명</vt:lpstr>
      <vt:lpstr>직무발명</vt:lpstr>
      <vt:lpstr>직무발명</vt:lpstr>
      <vt:lpstr>직무발명</vt:lpstr>
      <vt:lpstr>직무발명</vt:lpstr>
      <vt:lpstr>직무발명</vt:lpstr>
      <vt:lpstr>제42조, 제42조의2</vt:lpstr>
      <vt:lpstr>제42조, 제42조의2</vt:lpstr>
      <vt:lpstr>제42조의2</vt:lpstr>
      <vt:lpstr>제42조의2</vt:lpstr>
      <vt:lpstr>제42조</vt:lpstr>
      <vt:lpstr>제42조</vt:lpstr>
      <vt:lpstr>제42조</vt:lpstr>
      <vt:lpstr>제42조</vt:lpstr>
      <vt:lpstr>제42조</vt:lpstr>
      <vt:lpstr>제42조</vt:lpstr>
      <vt:lpstr>제42조</vt:lpstr>
      <vt:lpstr>제42조</vt:lpstr>
      <vt:lpstr>제42조</vt:lpstr>
      <vt:lpstr>제42조</vt:lpstr>
      <vt:lpstr>제42조</vt:lpstr>
      <vt:lpstr>제42조</vt:lpstr>
      <vt:lpstr>제42조</vt:lpstr>
      <vt:lpstr>제42조</vt:lpstr>
      <vt:lpstr>제42조</vt:lpstr>
      <vt:lpstr>제45조</vt:lpstr>
      <vt:lpstr>제45조</vt:lpstr>
      <vt:lpstr>참고노트</vt:lpstr>
      <vt:lpstr>참고노트</vt:lpstr>
      <vt:lpstr>참고노트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(주)INVENSTOR</dc:title>
  <dc:creator>Windows 사용자</dc:creator>
  <cp:lastModifiedBy>병웅 임</cp:lastModifiedBy>
  <cp:revision>572</cp:revision>
  <cp:lastPrinted>2021-12-17T01:38:10Z</cp:lastPrinted>
  <dcterms:created xsi:type="dcterms:W3CDTF">2016-02-25T00:12:49Z</dcterms:created>
  <dcterms:modified xsi:type="dcterms:W3CDTF">2026-05-20T04:58:48Z</dcterms:modified>
</cp:coreProperties>
</file>