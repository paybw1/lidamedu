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embedTrueTypeFonts="1" saveSubsetFonts="1">
  <p:sldMasterIdLst>
    <p:sldMasterId id="2147483648" r:id="rId1"/>
  </p:sldMasterIdLst>
  <p:notesMasterIdLst>
    <p:notesMasterId r:id="rId53"/>
  </p:notesMasterIdLst>
  <p:handoutMasterIdLst>
    <p:handoutMasterId r:id="rId54"/>
  </p:handoutMasterIdLst>
  <p:sldIdLst>
    <p:sldId id="256" r:id="rId2"/>
    <p:sldId id="316" r:id="rId3"/>
    <p:sldId id="2138" r:id="rId4"/>
    <p:sldId id="2045" r:id="rId5"/>
    <p:sldId id="299" r:id="rId6"/>
    <p:sldId id="309" r:id="rId7"/>
    <p:sldId id="262" r:id="rId8"/>
    <p:sldId id="265" r:id="rId9"/>
    <p:sldId id="264" r:id="rId10"/>
    <p:sldId id="2018" r:id="rId11"/>
    <p:sldId id="266" r:id="rId12"/>
    <p:sldId id="267" r:id="rId13"/>
    <p:sldId id="300" r:id="rId14"/>
    <p:sldId id="319" r:id="rId15"/>
    <p:sldId id="260" r:id="rId16"/>
    <p:sldId id="290" r:id="rId17"/>
    <p:sldId id="291" r:id="rId18"/>
    <p:sldId id="292" r:id="rId19"/>
    <p:sldId id="293" r:id="rId20"/>
    <p:sldId id="294" r:id="rId21"/>
    <p:sldId id="2046" r:id="rId22"/>
    <p:sldId id="296" r:id="rId23"/>
    <p:sldId id="263" r:id="rId24"/>
    <p:sldId id="318" r:id="rId25"/>
    <p:sldId id="2136" r:id="rId26"/>
    <p:sldId id="2019" r:id="rId27"/>
    <p:sldId id="268" r:id="rId28"/>
    <p:sldId id="270" r:id="rId29"/>
    <p:sldId id="306" r:id="rId30"/>
    <p:sldId id="701" r:id="rId31"/>
    <p:sldId id="271" r:id="rId32"/>
    <p:sldId id="699" r:id="rId33"/>
    <p:sldId id="2137" r:id="rId34"/>
    <p:sldId id="272" r:id="rId35"/>
    <p:sldId id="273" r:id="rId36"/>
    <p:sldId id="274" r:id="rId37"/>
    <p:sldId id="275" r:id="rId38"/>
    <p:sldId id="276" r:id="rId39"/>
    <p:sldId id="277" r:id="rId40"/>
    <p:sldId id="278" r:id="rId41"/>
    <p:sldId id="2139" r:id="rId42"/>
    <p:sldId id="2017" r:id="rId43"/>
    <p:sldId id="279" r:id="rId44"/>
    <p:sldId id="280" r:id="rId45"/>
    <p:sldId id="282" r:id="rId46"/>
    <p:sldId id="302" r:id="rId47"/>
    <p:sldId id="303" r:id="rId48"/>
    <p:sldId id="2047" r:id="rId49"/>
    <p:sldId id="281" r:id="rId50"/>
    <p:sldId id="304" r:id="rId51"/>
    <p:sldId id="305" r:id="rId52"/>
  </p:sldIdLst>
  <p:sldSz cx="12192000" cy="6858000"/>
  <p:notesSz cx="7104063" cy="10234613"/>
  <p:embeddedFontLst>
    <p:embeddedFont>
      <p:font typeface="Frutiger LT 65 Bold" panose="020B0800000000000000" pitchFamily="34" charset="0"/>
      <p:regular r:id="rId55"/>
    </p:embeddedFont>
    <p:embeddedFont>
      <p:font typeface="Frutiger LT 75 Black" panose="02000A03050000020004" pitchFamily="2" charset="0"/>
      <p:regular r:id="rId56"/>
    </p:embeddedFont>
    <p:embeddedFont>
      <p:font typeface="Rix모던고딕 B" panose="02020603020101020101" pitchFamily="18" charset="-127"/>
      <p:regular r:id="rId57"/>
    </p:embeddedFont>
    <p:embeddedFont>
      <p:font typeface="Rix모던고딕 EB" panose="02020603020101020101" pitchFamily="18" charset="-127"/>
      <p:regular r:id="rId58"/>
    </p:embeddedFont>
    <p:embeddedFont>
      <p:font typeface="Rix모던고딕 L" panose="02020603020101020101" pitchFamily="18" charset="-127"/>
      <p:regular r:id="rId59"/>
    </p:embeddedFont>
    <p:embeddedFont>
      <p:font typeface="Rix모던고딕 M" panose="02020603020101020101" pitchFamily="18" charset="-127"/>
      <p:regular r:id="rId60"/>
    </p:embeddedFont>
    <p:embeddedFont>
      <p:font typeface="Rix모던명조 B" panose="02020603020101020101" pitchFamily="18" charset="-127"/>
      <p:regular r:id="rId61"/>
    </p:embeddedFont>
    <p:embeddedFont>
      <p:font typeface="Rix모던명조 L" panose="02020603020101020101" pitchFamily="18" charset="-127"/>
      <p:regular r:id="rId62"/>
    </p:embeddedFont>
    <p:embeddedFont>
      <p:font typeface="Rix커피향 M" panose="02020603020101020101" pitchFamily="18" charset="-127"/>
      <p:regular r:id="rId63"/>
    </p:embeddedFont>
    <p:embeddedFont>
      <p:font typeface="산돌신문제비 L" panose="02030504000101010101" pitchFamily="18" charset="-127"/>
      <p:regular r:id="rId64"/>
    </p:embeddedFont>
  </p:embeddedFontLst>
  <p:defaultText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63"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52525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301B821-A1FF-4177-AEE7-76D212191A09}" styleName="보통 스타일 1 - 강조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밝은 스타일 3 - 강조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8799B23B-EC83-4686-B30A-512413B5E67A}" styleName="밝은 스타일 3 - 강조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1FECB4D8-DB02-4DC6-A0A2-4F2EBAE1DC90}" styleName="보통 스타일 1 - 강조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8743" autoAdjust="0"/>
    <p:restoredTop sz="83273" autoAdjust="0"/>
  </p:normalViewPr>
  <p:slideViewPr>
    <p:cSldViewPr snapToGrid="0">
      <p:cViewPr varScale="1">
        <p:scale>
          <a:sx n="88" d="100"/>
          <a:sy n="88" d="100"/>
        </p:scale>
        <p:origin x="1752" y="90"/>
      </p:cViewPr>
      <p:guideLst>
        <p:guide orient="horz" pos="2160"/>
        <p:guide pos="3863"/>
      </p:guideLst>
    </p:cSldViewPr>
  </p:slideViewPr>
  <p:notesTextViewPr>
    <p:cViewPr>
      <p:scale>
        <a:sx n="3" d="2"/>
        <a:sy n="3" d="2"/>
      </p:scale>
      <p:origin x="0" y="0"/>
    </p:cViewPr>
  </p:notesTextViewPr>
  <p:notesViewPr>
    <p:cSldViewPr snapToGrid="0">
      <p:cViewPr varScale="1">
        <p:scale>
          <a:sx n="76" d="100"/>
          <a:sy n="76" d="100"/>
        </p:scale>
        <p:origin x="3096" y="102"/>
      </p:cViewPr>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1.fntdata"/><Relationship Id="rId63" Type="http://schemas.openxmlformats.org/officeDocument/2006/relationships/font" Target="fonts/font9.fntdata"/><Relationship Id="rId68"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notesMaster" Target="notesMasters/notesMaster1.xml"/><Relationship Id="rId58" Type="http://schemas.openxmlformats.org/officeDocument/2006/relationships/font" Target="fonts/font4.fntdata"/><Relationship Id="rId66" Type="http://schemas.openxmlformats.org/officeDocument/2006/relationships/viewProps" Target="viewProps.xml"/><Relationship Id="rId5" Type="http://schemas.openxmlformats.org/officeDocument/2006/relationships/slide" Target="slides/slide4.xml"/><Relationship Id="rId61" Type="http://schemas.openxmlformats.org/officeDocument/2006/relationships/font" Target="fonts/font7.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2.fntdata"/><Relationship Id="rId64" Type="http://schemas.openxmlformats.org/officeDocument/2006/relationships/font" Target="fonts/font10.fntdata"/><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5.fntdata"/><Relationship Id="rId67"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handoutMaster" Target="handoutMasters/handoutMaster1.xml"/><Relationship Id="rId62" Type="http://schemas.openxmlformats.org/officeDocument/2006/relationships/font" Target="fonts/font8.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3.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font" Target="fonts/font6.fntdata"/><Relationship Id="rId65"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diagrams/colors1.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8B391F-FD4E-469D-9A65-61511CBC9A51}" type="doc">
      <dgm:prSet loTypeId="urn:microsoft.com/office/officeart/2005/8/layout/chart3" loCatId="relationship" qsTypeId="urn:microsoft.com/office/officeart/2005/8/quickstyle/simple5" qsCatId="simple" csTypeId="urn:microsoft.com/office/officeart/2005/8/colors/colorful3" csCatId="colorful" phldr="1"/>
      <dgm:spPr/>
    </dgm:pt>
    <dgm:pt modelId="{3D042E5B-969A-4AC8-873B-2728CB0D2298}">
      <dgm:prSet phldrT="[텍스트]" custT="1"/>
      <dgm:spPr/>
      <dgm:t>
        <a:bodyPr/>
        <a:lstStyle/>
        <a:p>
          <a:pPr latinLnBrk="1">
            <a:lnSpc>
              <a:spcPct val="100000"/>
            </a:lnSpc>
            <a:spcAft>
              <a:spcPts val="0"/>
            </a:spcAft>
          </a:pPr>
          <a:r>
            <a:rPr lang="ko-KR" altLang="en-US" sz="1600" dirty="0">
              <a:latin typeface="+mj-ea"/>
              <a:ea typeface="+mj-ea"/>
            </a:rPr>
            <a:t>경제적 </a:t>
          </a:r>
          <a:endParaRPr lang="en-US" altLang="ko-KR" sz="1600" dirty="0">
            <a:latin typeface="+mj-ea"/>
            <a:ea typeface="+mj-ea"/>
          </a:endParaRPr>
        </a:p>
        <a:p>
          <a:pPr latinLnBrk="1">
            <a:lnSpc>
              <a:spcPct val="100000"/>
            </a:lnSpc>
            <a:spcAft>
              <a:spcPts val="0"/>
            </a:spcAft>
          </a:pPr>
          <a:r>
            <a:rPr lang="ko-KR" altLang="en-US" sz="1600" dirty="0">
              <a:latin typeface="+mj-ea"/>
              <a:ea typeface="+mj-ea"/>
            </a:rPr>
            <a:t>유용성</a:t>
          </a:r>
        </a:p>
      </dgm:t>
    </dgm:pt>
    <dgm:pt modelId="{3C3F911F-E337-48B9-B5CC-1124049B5303}" type="parTrans" cxnId="{80E3ED3D-3D51-4D11-9FEF-8CBF78A0AF85}">
      <dgm:prSet/>
      <dgm:spPr/>
      <dgm:t>
        <a:bodyPr/>
        <a:lstStyle/>
        <a:p>
          <a:pPr latinLnBrk="1"/>
          <a:endParaRPr lang="ko-KR" altLang="en-US" sz="1200">
            <a:latin typeface="+mj-ea"/>
            <a:ea typeface="+mj-ea"/>
          </a:endParaRPr>
        </a:p>
      </dgm:t>
    </dgm:pt>
    <dgm:pt modelId="{9A44C0EA-0788-48A6-B2BC-E055856F4039}" type="sibTrans" cxnId="{80E3ED3D-3D51-4D11-9FEF-8CBF78A0AF85}">
      <dgm:prSet/>
      <dgm:spPr/>
      <dgm:t>
        <a:bodyPr/>
        <a:lstStyle/>
        <a:p>
          <a:pPr latinLnBrk="1"/>
          <a:endParaRPr lang="ko-KR" altLang="en-US" sz="1200">
            <a:latin typeface="+mj-ea"/>
            <a:ea typeface="+mj-ea"/>
          </a:endParaRPr>
        </a:p>
      </dgm:t>
    </dgm:pt>
    <dgm:pt modelId="{FA06914A-9B07-4881-8AAA-17E54096A3F5}">
      <dgm:prSet phldrT="[텍스트]" custT="1"/>
      <dgm:spPr/>
      <dgm:t>
        <a:bodyPr/>
        <a:lstStyle/>
        <a:p>
          <a:pPr latinLnBrk="1"/>
          <a:r>
            <a:rPr lang="ko-KR" altLang="en-US" sz="1600" dirty="0" err="1">
              <a:latin typeface="+mj-ea"/>
              <a:ea typeface="+mj-ea"/>
            </a:rPr>
            <a:t>비밀관리성</a:t>
          </a:r>
          <a:endParaRPr lang="ko-KR" altLang="en-US" sz="1600" dirty="0">
            <a:latin typeface="+mj-ea"/>
            <a:ea typeface="+mj-ea"/>
          </a:endParaRPr>
        </a:p>
      </dgm:t>
    </dgm:pt>
    <dgm:pt modelId="{4005F19D-B727-4060-8A18-3FDFE76ED439}" type="parTrans" cxnId="{67FFB57F-A80B-47F9-A949-33A22DA1DC51}">
      <dgm:prSet/>
      <dgm:spPr/>
      <dgm:t>
        <a:bodyPr/>
        <a:lstStyle/>
        <a:p>
          <a:pPr latinLnBrk="1"/>
          <a:endParaRPr lang="ko-KR" altLang="en-US" sz="1200">
            <a:latin typeface="+mj-ea"/>
            <a:ea typeface="+mj-ea"/>
          </a:endParaRPr>
        </a:p>
      </dgm:t>
    </dgm:pt>
    <dgm:pt modelId="{9A2512FF-A076-4B8E-900C-F371036BC678}" type="sibTrans" cxnId="{67FFB57F-A80B-47F9-A949-33A22DA1DC51}">
      <dgm:prSet/>
      <dgm:spPr/>
      <dgm:t>
        <a:bodyPr/>
        <a:lstStyle/>
        <a:p>
          <a:pPr latinLnBrk="1"/>
          <a:endParaRPr lang="ko-KR" altLang="en-US" sz="1200">
            <a:latin typeface="+mj-ea"/>
            <a:ea typeface="+mj-ea"/>
          </a:endParaRPr>
        </a:p>
      </dgm:t>
    </dgm:pt>
    <dgm:pt modelId="{EEEC3B84-ABF1-455D-A19E-C7F496794C8F}">
      <dgm:prSet phldrT="[텍스트]" custT="1"/>
      <dgm:spPr/>
      <dgm:t>
        <a:bodyPr/>
        <a:lstStyle/>
        <a:p>
          <a:pPr latinLnBrk="1"/>
          <a:r>
            <a:rPr lang="ko-KR" altLang="en-US" sz="1600" dirty="0" err="1">
              <a:latin typeface="+mj-ea"/>
              <a:ea typeface="+mj-ea"/>
            </a:rPr>
            <a:t>비공지성</a:t>
          </a:r>
          <a:endParaRPr lang="ko-KR" altLang="en-US" sz="1600" dirty="0">
            <a:latin typeface="+mj-ea"/>
            <a:ea typeface="+mj-ea"/>
          </a:endParaRPr>
        </a:p>
      </dgm:t>
    </dgm:pt>
    <dgm:pt modelId="{F07E17E7-CA5B-4BFE-BDBF-32222ADDDF83}" type="parTrans" cxnId="{7E157CD7-5D78-4638-8C1F-7974E3D34E97}">
      <dgm:prSet/>
      <dgm:spPr/>
      <dgm:t>
        <a:bodyPr/>
        <a:lstStyle/>
        <a:p>
          <a:pPr latinLnBrk="1"/>
          <a:endParaRPr lang="ko-KR" altLang="en-US" sz="1200">
            <a:latin typeface="+mj-ea"/>
            <a:ea typeface="+mj-ea"/>
          </a:endParaRPr>
        </a:p>
      </dgm:t>
    </dgm:pt>
    <dgm:pt modelId="{237DF7DB-C8B3-4657-B346-5512AD1BAA10}" type="sibTrans" cxnId="{7E157CD7-5D78-4638-8C1F-7974E3D34E97}">
      <dgm:prSet/>
      <dgm:spPr/>
      <dgm:t>
        <a:bodyPr/>
        <a:lstStyle/>
        <a:p>
          <a:pPr latinLnBrk="1"/>
          <a:endParaRPr lang="ko-KR" altLang="en-US" sz="1200">
            <a:latin typeface="+mj-ea"/>
            <a:ea typeface="+mj-ea"/>
          </a:endParaRPr>
        </a:p>
      </dgm:t>
    </dgm:pt>
    <dgm:pt modelId="{5CF1F6A1-4540-40B5-A16F-8D80E594939A}" type="pres">
      <dgm:prSet presAssocID="{918B391F-FD4E-469D-9A65-61511CBC9A51}" presName="compositeShape" presStyleCnt="0">
        <dgm:presLayoutVars>
          <dgm:chMax val="7"/>
          <dgm:dir/>
          <dgm:resizeHandles val="exact"/>
        </dgm:presLayoutVars>
      </dgm:prSet>
      <dgm:spPr/>
    </dgm:pt>
    <dgm:pt modelId="{71E0097F-0575-4296-84D5-573BE8063687}" type="pres">
      <dgm:prSet presAssocID="{918B391F-FD4E-469D-9A65-61511CBC9A51}" presName="wedge1" presStyleLbl="node1" presStyleIdx="0" presStyleCnt="3"/>
      <dgm:spPr/>
    </dgm:pt>
    <dgm:pt modelId="{8822D6E0-9A93-4B2E-BCC2-84FA9C55DAD4}" type="pres">
      <dgm:prSet presAssocID="{918B391F-FD4E-469D-9A65-61511CBC9A51}" presName="wedge1Tx" presStyleLbl="node1" presStyleIdx="0" presStyleCnt="3">
        <dgm:presLayoutVars>
          <dgm:chMax val="0"/>
          <dgm:chPref val="0"/>
          <dgm:bulletEnabled val="1"/>
        </dgm:presLayoutVars>
      </dgm:prSet>
      <dgm:spPr/>
    </dgm:pt>
    <dgm:pt modelId="{C605CB60-0742-460A-AAC6-4FC0C78F0E65}" type="pres">
      <dgm:prSet presAssocID="{918B391F-FD4E-469D-9A65-61511CBC9A51}" presName="wedge2" presStyleLbl="node1" presStyleIdx="1" presStyleCnt="3"/>
      <dgm:spPr/>
    </dgm:pt>
    <dgm:pt modelId="{BB38F336-7C79-4FC5-8519-8C8A060D0CA5}" type="pres">
      <dgm:prSet presAssocID="{918B391F-FD4E-469D-9A65-61511CBC9A51}" presName="wedge2Tx" presStyleLbl="node1" presStyleIdx="1" presStyleCnt="3">
        <dgm:presLayoutVars>
          <dgm:chMax val="0"/>
          <dgm:chPref val="0"/>
          <dgm:bulletEnabled val="1"/>
        </dgm:presLayoutVars>
      </dgm:prSet>
      <dgm:spPr/>
    </dgm:pt>
    <dgm:pt modelId="{64C08589-240C-4543-902D-9C4440F85A1A}" type="pres">
      <dgm:prSet presAssocID="{918B391F-FD4E-469D-9A65-61511CBC9A51}" presName="wedge3" presStyleLbl="node1" presStyleIdx="2" presStyleCnt="3"/>
      <dgm:spPr/>
    </dgm:pt>
    <dgm:pt modelId="{09C8972C-B180-431C-8019-8BAE1D473F4C}" type="pres">
      <dgm:prSet presAssocID="{918B391F-FD4E-469D-9A65-61511CBC9A51}" presName="wedge3Tx" presStyleLbl="node1" presStyleIdx="2" presStyleCnt="3">
        <dgm:presLayoutVars>
          <dgm:chMax val="0"/>
          <dgm:chPref val="0"/>
          <dgm:bulletEnabled val="1"/>
        </dgm:presLayoutVars>
      </dgm:prSet>
      <dgm:spPr/>
    </dgm:pt>
  </dgm:ptLst>
  <dgm:cxnLst>
    <dgm:cxn modelId="{5955BC31-B5FD-4E25-97E5-E17CC20AEB70}" type="presOf" srcId="{3D042E5B-969A-4AC8-873B-2728CB0D2298}" destId="{8822D6E0-9A93-4B2E-BCC2-84FA9C55DAD4}" srcOrd="1" destOrd="0" presId="urn:microsoft.com/office/officeart/2005/8/layout/chart3"/>
    <dgm:cxn modelId="{80E3ED3D-3D51-4D11-9FEF-8CBF78A0AF85}" srcId="{918B391F-FD4E-469D-9A65-61511CBC9A51}" destId="{3D042E5B-969A-4AC8-873B-2728CB0D2298}" srcOrd="0" destOrd="0" parTransId="{3C3F911F-E337-48B9-B5CC-1124049B5303}" sibTransId="{9A44C0EA-0788-48A6-B2BC-E055856F4039}"/>
    <dgm:cxn modelId="{FBF3D161-C72F-49E2-8FA1-7C016C6D043A}" type="presOf" srcId="{EEEC3B84-ABF1-455D-A19E-C7F496794C8F}" destId="{09C8972C-B180-431C-8019-8BAE1D473F4C}" srcOrd="1" destOrd="0" presId="urn:microsoft.com/office/officeart/2005/8/layout/chart3"/>
    <dgm:cxn modelId="{94B47865-001B-4F89-9B61-806282C180F1}" type="presOf" srcId="{EEEC3B84-ABF1-455D-A19E-C7F496794C8F}" destId="{64C08589-240C-4543-902D-9C4440F85A1A}" srcOrd="0" destOrd="0" presId="urn:microsoft.com/office/officeart/2005/8/layout/chart3"/>
    <dgm:cxn modelId="{3AD43C66-C923-4A12-9662-2B673B9EB03D}" type="presOf" srcId="{3D042E5B-969A-4AC8-873B-2728CB0D2298}" destId="{71E0097F-0575-4296-84D5-573BE8063687}" srcOrd="0" destOrd="0" presId="urn:microsoft.com/office/officeart/2005/8/layout/chart3"/>
    <dgm:cxn modelId="{905B937C-3495-438C-98E7-52570F6810A6}" type="presOf" srcId="{FA06914A-9B07-4881-8AAA-17E54096A3F5}" destId="{C605CB60-0742-460A-AAC6-4FC0C78F0E65}" srcOrd="0" destOrd="0" presId="urn:microsoft.com/office/officeart/2005/8/layout/chart3"/>
    <dgm:cxn modelId="{67FFB57F-A80B-47F9-A949-33A22DA1DC51}" srcId="{918B391F-FD4E-469D-9A65-61511CBC9A51}" destId="{FA06914A-9B07-4881-8AAA-17E54096A3F5}" srcOrd="1" destOrd="0" parTransId="{4005F19D-B727-4060-8A18-3FDFE76ED439}" sibTransId="{9A2512FF-A076-4B8E-900C-F371036BC678}"/>
    <dgm:cxn modelId="{57B35B83-7B09-445C-ACA2-D0E7C9307266}" type="presOf" srcId="{FA06914A-9B07-4881-8AAA-17E54096A3F5}" destId="{BB38F336-7C79-4FC5-8519-8C8A060D0CA5}" srcOrd="1" destOrd="0" presId="urn:microsoft.com/office/officeart/2005/8/layout/chart3"/>
    <dgm:cxn modelId="{C079C0B7-0926-44A2-A20F-5F8006A1A2DD}" type="presOf" srcId="{918B391F-FD4E-469D-9A65-61511CBC9A51}" destId="{5CF1F6A1-4540-40B5-A16F-8D80E594939A}" srcOrd="0" destOrd="0" presId="urn:microsoft.com/office/officeart/2005/8/layout/chart3"/>
    <dgm:cxn modelId="{7E157CD7-5D78-4638-8C1F-7974E3D34E97}" srcId="{918B391F-FD4E-469D-9A65-61511CBC9A51}" destId="{EEEC3B84-ABF1-455D-A19E-C7F496794C8F}" srcOrd="2" destOrd="0" parTransId="{F07E17E7-CA5B-4BFE-BDBF-32222ADDDF83}" sibTransId="{237DF7DB-C8B3-4657-B346-5512AD1BAA10}"/>
    <dgm:cxn modelId="{920B5639-AEE3-4CFD-8461-8DA04F0D654A}" type="presParOf" srcId="{5CF1F6A1-4540-40B5-A16F-8D80E594939A}" destId="{71E0097F-0575-4296-84D5-573BE8063687}" srcOrd="0" destOrd="0" presId="urn:microsoft.com/office/officeart/2005/8/layout/chart3"/>
    <dgm:cxn modelId="{53A8340A-F806-46BF-BF62-7F723BDCD235}" type="presParOf" srcId="{5CF1F6A1-4540-40B5-A16F-8D80E594939A}" destId="{8822D6E0-9A93-4B2E-BCC2-84FA9C55DAD4}" srcOrd="1" destOrd="0" presId="urn:microsoft.com/office/officeart/2005/8/layout/chart3"/>
    <dgm:cxn modelId="{EE72CC28-E422-43DB-B719-2F4D78FC988F}" type="presParOf" srcId="{5CF1F6A1-4540-40B5-A16F-8D80E594939A}" destId="{C605CB60-0742-460A-AAC6-4FC0C78F0E65}" srcOrd="2" destOrd="0" presId="urn:microsoft.com/office/officeart/2005/8/layout/chart3"/>
    <dgm:cxn modelId="{4CDEFA08-9189-458F-8754-E6AD34828FEA}" type="presParOf" srcId="{5CF1F6A1-4540-40B5-A16F-8D80E594939A}" destId="{BB38F336-7C79-4FC5-8519-8C8A060D0CA5}" srcOrd="3" destOrd="0" presId="urn:microsoft.com/office/officeart/2005/8/layout/chart3"/>
    <dgm:cxn modelId="{DF86D32E-0759-498D-B943-8E2B5664E50B}" type="presParOf" srcId="{5CF1F6A1-4540-40B5-A16F-8D80E594939A}" destId="{64C08589-240C-4543-902D-9C4440F85A1A}" srcOrd="4" destOrd="0" presId="urn:microsoft.com/office/officeart/2005/8/layout/chart3"/>
    <dgm:cxn modelId="{F1A8F501-058C-4B89-A64E-CDB8FEA638B2}" type="presParOf" srcId="{5CF1F6A1-4540-40B5-A16F-8D80E594939A}" destId="{09C8972C-B180-431C-8019-8BAE1D473F4C}" srcOrd="5" destOrd="0" presId="urn:microsoft.com/office/officeart/2005/8/layout/char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1E0097F-0575-4296-84D5-573BE8063687}">
      <dsp:nvSpPr>
        <dsp:cNvPr id="0" name=""/>
        <dsp:cNvSpPr/>
      </dsp:nvSpPr>
      <dsp:spPr>
        <a:xfrm>
          <a:off x="779772" y="206811"/>
          <a:ext cx="2573649" cy="2573649"/>
        </a:xfrm>
        <a:prstGeom prst="pie">
          <a:avLst>
            <a:gd name="adj1" fmla="val 16200000"/>
            <a:gd name="adj2" fmla="val 1800000"/>
          </a:avLst>
        </a:prstGeom>
        <a:gradFill rotWithShape="0">
          <a:gsLst>
            <a:gs pos="0">
              <a:schemeClr val="accent3">
                <a:hueOff val="0"/>
                <a:satOff val="0"/>
                <a:lumOff val="0"/>
                <a:alphaOff val="0"/>
                <a:satMod val="103000"/>
                <a:lumMod val="102000"/>
                <a:tint val="94000"/>
              </a:schemeClr>
            </a:gs>
            <a:gs pos="50000">
              <a:schemeClr val="accent3">
                <a:hueOff val="0"/>
                <a:satOff val="0"/>
                <a:lumOff val="0"/>
                <a:alphaOff val="0"/>
                <a:satMod val="110000"/>
                <a:lumMod val="100000"/>
                <a:shade val="100000"/>
              </a:schemeClr>
            </a:gs>
            <a:gs pos="100000">
              <a:schemeClr val="accent3">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latinLnBrk="1">
            <a:lnSpc>
              <a:spcPct val="100000"/>
            </a:lnSpc>
            <a:spcBef>
              <a:spcPct val="0"/>
            </a:spcBef>
            <a:spcAft>
              <a:spcPts val="0"/>
            </a:spcAft>
            <a:buNone/>
          </a:pPr>
          <a:r>
            <a:rPr lang="ko-KR" altLang="en-US" sz="1600" kern="1200" dirty="0">
              <a:latin typeface="+mj-ea"/>
              <a:ea typeface="+mj-ea"/>
            </a:rPr>
            <a:t>경제적 </a:t>
          </a:r>
          <a:endParaRPr lang="en-US" altLang="ko-KR" sz="1600" kern="1200" dirty="0">
            <a:latin typeface="+mj-ea"/>
            <a:ea typeface="+mj-ea"/>
          </a:endParaRPr>
        </a:p>
        <a:p>
          <a:pPr marL="0" lvl="0" indent="0" algn="ctr" defTabSz="711200" latinLnBrk="1">
            <a:lnSpc>
              <a:spcPct val="100000"/>
            </a:lnSpc>
            <a:spcBef>
              <a:spcPct val="0"/>
            </a:spcBef>
            <a:spcAft>
              <a:spcPts val="0"/>
            </a:spcAft>
            <a:buNone/>
          </a:pPr>
          <a:r>
            <a:rPr lang="ko-KR" altLang="en-US" sz="1600" kern="1200" dirty="0">
              <a:latin typeface="+mj-ea"/>
              <a:ea typeface="+mj-ea"/>
            </a:rPr>
            <a:t>유용성</a:t>
          </a:r>
        </a:p>
      </dsp:txBody>
      <dsp:txXfrm>
        <a:off x="2179040" y="681710"/>
        <a:ext cx="873202" cy="857883"/>
      </dsp:txXfrm>
    </dsp:sp>
    <dsp:sp modelId="{C605CB60-0742-460A-AAC6-4FC0C78F0E65}">
      <dsp:nvSpPr>
        <dsp:cNvPr id="0" name=""/>
        <dsp:cNvSpPr/>
      </dsp:nvSpPr>
      <dsp:spPr>
        <a:xfrm>
          <a:off x="647106" y="283407"/>
          <a:ext cx="2573649" cy="2573649"/>
        </a:xfrm>
        <a:prstGeom prst="pie">
          <a:avLst>
            <a:gd name="adj1" fmla="val 1800000"/>
            <a:gd name="adj2" fmla="val 9000000"/>
          </a:avLst>
        </a:prstGeom>
        <a:gradFill rotWithShape="0">
          <a:gsLst>
            <a:gs pos="0">
              <a:schemeClr val="accent3">
                <a:hueOff val="1355300"/>
                <a:satOff val="50000"/>
                <a:lumOff val="-7353"/>
                <a:alphaOff val="0"/>
                <a:satMod val="103000"/>
                <a:lumMod val="102000"/>
                <a:tint val="94000"/>
              </a:schemeClr>
            </a:gs>
            <a:gs pos="50000">
              <a:schemeClr val="accent3">
                <a:hueOff val="1355300"/>
                <a:satOff val="50000"/>
                <a:lumOff val="-7353"/>
                <a:alphaOff val="0"/>
                <a:satMod val="110000"/>
                <a:lumMod val="100000"/>
                <a:shade val="100000"/>
              </a:schemeClr>
            </a:gs>
            <a:gs pos="100000">
              <a:schemeClr val="accent3">
                <a:hueOff val="1355300"/>
                <a:satOff val="50000"/>
                <a:lumOff val="-7353"/>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latinLnBrk="1">
            <a:lnSpc>
              <a:spcPct val="90000"/>
            </a:lnSpc>
            <a:spcBef>
              <a:spcPct val="0"/>
            </a:spcBef>
            <a:spcAft>
              <a:spcPct val="35000"/>
            </a:spcAft>
            <a:buNone/>
          </a:pPr>
          <a:r>
            <a:rPr lang="ko-KR" altLang="en-US" sz="1600" kern="1200" dirty="0" err="1">
              <a:latin typeface="+mj-ea"/>
              <a:ea typeface="+mj-ea"/>
            </a:rPr>
            <a:t>비밀관리성</a:t>
          </a:r>
          <a:endParaRPr lang="ko-KR" altLang="en-US" sz="1600" kern="1200" dirty="0">
            <a:latin typeface="+mj-ea"/>
            <a:ea typeface="+mj-ea"/>
          </a:endParaRPr>
        </a:p>
      </dsp:txBody>
      <dsp:txXfrm>
        <a:off x="1351796" y="1907257"/>
        <a:ext cx="1164269" cy="796605"/>
      </dsp:txXfrm>
    </dsp:sp>
    <dsp:sp modelId="{64C08589-240C-4543-902D-9C4440F85A1A}">
      <dsp:nvSpPr>
        <dsp:cNvPr id="0" name=""/>
        <dsp:cNvSpPr/>
      </dsp:nvSpPr>
      <dsp:spPr>
        <a:xfrm>
          <a:off x="647106" y="283407"/>
          <a:ext cx="2573649" cy="2573649"/>
        </a:xfrm>
        <a:prstGeom prst="pie">
          <a:avLst>
            <a:gd name="adj1" fmla="val 9000000"/>
            <a:gd name="adj2" fmla="val 16200000"/>
          </a:avLst>
        </a:prstGeom>
        <a:gradFill rotWithShape="0">
          <a:gsLst>
            <a:gs pos="0">
              <a:schemeClr val="accent3">
                <a:hueOff val="2710599"/>
                <a:satOff val="100000"/>
                <a:lumOff val="-14706"/>
                <a:alphaOff val="0"/>
                <a:satMod val="103000"/>
                <a:lumMod val="102000"/>
                <a:tint val="94000"/>
              </a:schemeClr>
            </a:gs>
            <a:gs pos="50000">
              <a:schemeClr val="accent3">
                <a:hueOff val="2710599"/>
                <a:satOff val="100000"/>
                <a:lumOff val="-14706"/>
                <a:alphaOff val="0"/>
                <a:satMod val="110000"/>
                <a:lumMod val="100000"/>
                <a:shade val="100000"/>
              </a:schemeClr>
            </a:gs>
            <a:gs pos="100000">
              <a:schemeClr val="accent3">
                <a:hueOff val="2710599"/>
                <a:satOff val="100000"/>
                <a:lumOff val="-14706"/>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711200" latinLnBrk="1">
            <a:lnSpc>
              <a:spcPct val="90000"/>
            </a:lnSpc>
            <a:spcBef>
              <a:spcPct val="0"/>
            </a:spcBef>
            <a:spcAft>
              <a:spcPct val="35000"/>
            </a:spcAft>
            <a:buNone/>
          </a:pPr>
          <a:r>
            <a:rPr lang="ko-KR" altLang="en-US" sz="1600" kern="1200" dirty="0" err="1">
              <a:latin typeface="+mj-ea"/>
              <a:ea typeface="+mj-ea"/>
            </a:rPr>
            <a:t>비공지성</a:t>
          </a:r>
          <a:endParaRPr lang="ko-KR" altLang="en-US" sz="1600" kern="1200" dirty="0">
            <a:latin typeface="+mj-ea"/>
            <a:ea typeface="+mj-ea"/>
          </a:endParaRPr>
        </a:p>
      </dsp:txBody>
      <dsp:txXfrm>
        <a:off x="922854" y="788946"/>
        <a:ext cx="873202" cy="857883"/>
      </dsp:txXfrm>
    </dsp:sp>
  </dsp:spTree>
</dsp:drawing>
</file>

<file path=ppt/diagrams/layout1.xml><?xml version="1.0" encoding="utf-8"?>
<dgm:layoutDef xmlns:dgm="http://schemas.openxmlformats.org/drawingml/2006/diagram" xmlns:a="http://schemas.openxmlformats.org/drawingml/2006/main" uniqueId="urn:microsoft.com/office/officeart/2005/8/layout/chart3">
  <dgm:title val=""/>
  <dgm:desc val=""/>
  <dgm:catLst>
    <dgm:cat type="relationship" pri="27000"/>
    <dgm:cat type="cycle" pri="8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compositeShape">
    <dgm:varLst>
      <dgm:chMax val="7"/>
      <dgm:dir/>
      <dgm:resizeHandles val="exact"/>
    </dgm:varLst>
    <dgm:alg type="composite">
      <dgm:param type="horzAlign" val="ctr"/>
      <dgm:param type="vertAlign" val="mid"/>
      <dgm:param type="ar" val="1"/>
    </dgm:alg>
    <dgm:presOf/>
    <dgm:shape xmlns:r="http://schemas.openxmlformats.org/officeDocument/2006/relationships" r:blip="">
      <dgm:adjLst/>
    </dgm:shape>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wedge1Tx" refType="w" fact="0.205"/>
          <dgm:constr type="t" for="ch" forName="wedge1Tx" refType="h" fact="0.205"/>
          <dgm:constr type="w" for="ch" forName="wedge1Tx" refType="w" fact="0.59"/>
          <dgm:constr type="h" for="ch" forName="wedge1Tx" refType="h" fact="0.59"/>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wedge1Tx" refType="w" fact="0.52"/>
          <dgm:constr type="t" for="ch" forName="wedge1Tx" refType="h" fact="0.205"/>
          <dgm:constr type="w" for="ch" forName="wedge1Tx" refType="w" fact="0.295"/>
          <dgm:constr type="h" for="ch" forName="wedge1Tx" refType="h" fact="0.59"/>
          <dgm:constr type="l" for="ch" forName="wedge2" refType="w" fact="0.08"/>
          <dgm:constr type="t" for="ch" forName="wedge2" refType="w" fact="0.08"/>
          <dgm:constr type="w" for="ch" forName="wedge2" refType="w" fact="0.84"/>
          <dgm:constr type="h" for="ch" forName="wedge2" refType="h" fact="0.84"/>
          <dgm:constr type="l" for="ch" forName="wedge2Tx" refType="w" fact="0.2"/>
          <dgm:constr type="t" for="ch" forName="wedge2Tx" refType="h" fact="0.205"/>
          <dgm:constr type="w" for="ch" forName="wedge2Tx" refType="w" fact="0.295"/>
          <dgm:constr type="h" for="ch" forName="wedge2Tx" refType="h" fact="0.59"/>
          <dgm:constr type="primFontSz" for="ch" ptType="node" op="equ"/>
        </dgm:constrLst>
      </dgm:if>
      <dgm:if name="Name3" axis="ch" ptType="node" func="cnt" op="equ" val="3">
        <dgm:choose name="Name4">
          <dgm:if name="Name5" func="var" arg="dir" op="equ" val="norm">
            <dgm:constrLst>
              <dgm:constr type="l" for="ch" forName="wedge1" refType="w" fact="0.1233"/>
              <dgm:constr type="t" for="ch" forName="wedge1" refType="w" fact="0.055"/>
              <dgm:constr type="w" for="ch" forName="wedge1" refType="w" fact="0.84"/>
              <dgm:constr type="h" for="ch" forName="wedge1" refType="h" fact="0.84"/>
              <dgm:constr type="l" for="ch" forName="wedge1Tx" refType="w" fact="0.58"/>
              <dgm:constr type="t" for="ch" forName="wedge1Tx" refType="h" fact="0.21"/>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8"/>
              <dgm:constr type="t" for="ch" forName="wedge3" refType="w" fact="0.08"/>
              <dgm:constr type="w" for="ch" forName="wedge3" refType="w" fact="0.84"/>
              <dgm:constr type="h" for="ch" forName="wedge3" refType="h" fact="0.84"/>
              <dgm:constr type="l" for="ch" forName="wedge3Tx" refType="w" fact="0.17"/>
              <dgm:constr type="t" for="ch" forName="wedge3Tx" refType="h" fact="0.245"/>
              <dgm:constr type="w" for="ch" forName="wedge3Tx" refType="w" fact="0.285"/>
              <dgm:constr type="h" for="ch" forName="wedge3Tx" refType="h" fact="0.28"/>
              <dgm:constr type="primFontSz" for="ch" ptType="node" op="equ"/>
            </dgm:constrLst>
          </dgm:if>
          <dgm:else name="Name6">
            <dgm:constrLst>
              <dgm:constr type="l" for="ch" forName="wedge1" refType="w" fact="0.08"/>
              <dgm:constr type="t" for="ch" forName="wedge1" refType="w" fact="0.08"/>
              <dgm:constr type="w" for="ch" forName="wedge1" refType="w" fact="0.84"/>
              <dgm:constr type="h" for="ch" forName="wedge1" refType="h" fact="0.84"/>
              <dgm:constr type="l" for="ch" forName="wedge1Tx" refType="w" fact="0.545"/>
              <dgm:constr type="t" for="ch" forName="wedge1Tx" refType="h" fact="0.245"/>
              <dgm:constr type="w" for="ch" forName="wedge1Tx" refType="w" fact="0.285"/>
              <dgm:constr type="h" for="ch" forName="wedge1Tx" refType="h" fact="0.28"/>
              <dgm:constr type="l" for="ch" forName="wedge2" refType="w" fact="0.08"/>
              <dgm:constr type="t" for="ch" forName="wedge2" refType="w" fact="0.08"/>
              <dgm:constr type="w" for="ch" forName="wedge2" refType="w" fact="0.84"/>
              <dgm:constr type="h" for="ch" forName="wedge2" refType="h" fact="0.84"/>
              <dgm:constr type="l" for="ch" forName="wedge2Tx" refType="w" fact="0.31"/>
              <dgm:constr type="t" for="ch" forName="wedge2Tx" refType="h" fact="0.61"/>
              <dgm:constr type="w" for="ch" forName="wedge2Tx" refType="w" fact="0.38"/>
              <dgm:constr type="h" for="ch" forName="wedge2Tx" refType="h" fact="0.26"/>
              <dgm:constr type="l" for="ch" forName="wedge3" refType="w" fact="0.0367"/>
              <dgm:constr type="t" for="ch" forName="wedge3" refType="w" fact="0.055"/>
              <dgm:constr type="w" for="ch" forName="wedge3" refType="w" fact="0.84"/>
              <dgm:constr type="h" for="ch" forName="wedge3" refType="h" fact="0.84"/>
              <dgm:constr type="l" for="ch" forName="wedge3Tx" refType="w" fact="0.14"/>
              <dgm:constr type="t" for="ch" forName="wedge3Tx" refType="h" fact="0.21"/>
              <dgm:constr type="w" for="ch" forName="wedge3Tx" refType="w" fact="0.285"/>
              <dgm:constr type="h" for="ch" forName="wedge3Tx" refType="h" fact="0.28"/>
              <dgm:constr type="primFontSz" for="ch" ptType="node" op="equ"/>
            </dgm:constrLst>
          </dgm:else>
        </dgm:choose>
      </dgm:if>
      <dgm:if name="Name7" axis="ch" ptType="node" func="cnt" op="equ" val="4">
        <dgm:choose name="Name8">
          <dgm:if name="Name9" func="var" arg="dir" op="equ" val="norm">
            <dgm:constrLst>
              <dgm:constr type="l" for="ch" forName="wedge1" refType="w" fact="0.1154"/>
              <dgm:constr type="t" for="ch" forName="wedge1" refType="w" fact="0.0446"/>
              <dgm:constr type="w" for="ch" forName="wedge1" refType="w" fact="0.84"/>
              <dgm:constr type="h" for="ch" forName="wedge1" refType="h" fact="0.84"/>
              <dgm:constr type="l" for="ch" forName="wedge1Tx" refType="w" fact="0.545"/>
              <dgm:constr type="t" for="ch" forName="wedge1Tx" refType="h" fact="0.2"/>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8"/>
              <dgm:constr type="t" for="ch" forName="wedge4" refType="h" fact="0.08"/>
              <dgm:constr type="w" for="ch" forName="wedge4" refType="w" fact="0.84"/>
              <dgm:constr type="h" for="ch" forName="wedge4" refType="h" fact="0.84"/>
              <dgm:constr type="l" for="ch" forName="wedge4Tx" refType="w" fact="0.175"/>
              <dgm:constr type="t" for="ch" forName="wedge4Tx" refType="h" fact="0.235"/>
              <dgm:constr type="w" for="ch" forName="wedge4Tx" refType="w" fact="0.31"/>
              <dgm:constr type="h" for="ch" forName="wedge4Tx" refType="h" fact="0.25"/>
              <dgm:constr type="primFontSz" for="ch" ptType="node" op="equ"/>
            </dgm:constrLst>
          </dgm:if>
          <dgm:else name="Name10">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5"/>
              <dgm:constr type="t" for="ch" forName="wedge1Tx" refType="h" fact="0.235"/>
              <dgm:constr type="w" for="ch" forName="wedge1Tx" refType="w" fact="0.31"/>
              <dgm:constr type="h" for="ch" forName="wedge1Tx" refType="h" fact="0.25"/>
              <dgm:constr type="l" for="ch" forName="wedge2" refType="w" fact="0.08"/>
              <dgm:constr type="t" for="ch" forName="wedge2" refType="w" fact="0.08"/>
              <dgm:constr type="w" for="ch" forName="wedge2" refType="w" fact="0.84"/>
              <dgm:constr type="h" for="ch" forName="wedge2" refType="h" fact="0.84"/>
              <dgm:constr type="l" for="ch" forName="wedge2Tx" refType="w" fact="0.515"/>
              <dgm:constr type="t" for="ch" forName="wedge2Tx" refType="h" fact="0.515"/>
              <dgm:constr type="w" for="ch" forName="wedge2Tx" refType="w" fact="0.31"/>
              <dgm:constr type="h" for="ch" forName="wedge2Tx" refType="h" fact="0.25"/>
              <dgm:constr type="l" for="ch" forName="wedge3" refType="w" fact="0.08"/>
              <dgm:constr type="t" for="ch" forName="wedge3" refType="w" fact="0.08"/>
              <dgm:constr type="w" for="ch" forName="wedge3" refType="w" fact="0.84"/>
              <dgm:constr type="h" for="ch" forName="wedge3" refType="h" fact="0.84"/>
              <dgm:constr type="l" for="ch" forName="wedge3Tx" refType="w" fact="0.175"/>
              <dgm:constr type="t" for="ch" forName="wedge3Tx" refType="h" fact="0.515"/>
              <dgm:constr type="w" for="ch" forName="wedge3Tx" refType="w" fact="0.31"/>
              <dgm:constr type="h" for="ch" forName="wedge3Tx" refType="h" fact="0.25"/>
              <dgm:constr type="l" for="ch" forName="wedge4" refType="w" fact="0.0446"/>
              <dgm:constr type="t" for="ch" forName="wedge4" refType="h" fact="0.0446"/>
              <dgm:constr type="w" for="ch" forName="wedge4" refType="w" fact="0.84"/>
              <dgm:constr type="h" for="ch" forName="wedge4" refType="h" fact="0.84"/>
              <dgm:constr type="l" for="ch" forName="wedge4Tx" refType="w" fact="0.145"/>
              <dgm:constr type="t" for="ch" forName="wedge4Tx" refType="h" fact="0.2"/>
              <dgm:constr type="w" for="ch" forName="wedge4Tx" refType="w" fact="0.31"/>
              <dgm:constr type="h" for="ch" forName="wedge4Tx" refType="h" fact="0.25"/>
              <dgm:constr type="primFontSz" for="ch" ptType="node" op="equ"/>
            </dgm:constrLst>
          </dgm:else>
        </dgm:choose>
      </dgm:if>
      <dgm:if name="Name11" axis="ch" ptType="node" func="cnt" op="equ" val="5">
        <dgm:choose name="Name12">
          <dgm:if name="Name13" func="var" arg="dir" op="equ" val="norm">
            <dgm:constrLst>
              <dgm:constr type="l" for="ch" forName="wedge1" refType="w" fact="0.1094"/>
              <dgm:constr type="t" for="ch" forName="wedge1" refType="w" fact="0.0395"/>
              <dgm:constr type="w" for="ch" forName="wedge1" refType="w" fact="0.84"/>
              <dgm:constr type="h" for="ch" forName="wedge1" refType="h" fact="0.84"/>
              <dgm:constr type="l" for="ch" forName="wedge1Tx" refType="w" fact="0.54"/>
              <dgm:constr type="t" for="ch" forName="wedge1Tx" refType="h" fact="0.165"/>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8"/>
              <dgm:constr type="t" for="ch" forName="wedge5" refType="h" fact="0.08"/>
              <dgm:constr type="w" for="ch" forName="wedge5" refType="w" fact="0.84"/>
              <dgm:constr type="h" for="ch" forName="wedge5" refType="h" fact="0.84"/>
              <dgm:constr type="l" for="ch" forName="wedge5Tx" refType="w" fact="0.2025"/>
              <dgm:constr type="t" for="ch" forName="wedge5Tx" refType="h" fact="0.208"/>
              <dgm:constr type="w" for="ch" forName="wedge5Tx" refType="w" fact="0.285"/>
              <dgm:constr type="h" for="ch" forName="wedge5Tx" refType="h" fact="0.195"/>
              <dgm:constr type="primFontSz" for="ch" ptType="node" op="equ"/>
            </dgm:constrLst>
          </dgm:if>
          <dgm:else name="Name14">
            <dgm:constrLst>
              <dgm:constr type="l" for="ch" forName="wedge1" refType="w" fact="0.08"/>
              <dgm:constr type="t" for="ch" forName="wedge1" refType="w" fact="0.08"/>
              <dgm:constr type="w" for="ch" forName="wedge1" refType="w" fact="0.84"/>
              <dgm:constr type="h" for="ch" forName="wedge1" refType="h" fact="0.84"/>
              <dgm:constr type="l" for="ch" forName="wedge1Tx" refType="w" fact="0.51"/>
              <dgm:constr type="t" for="ch" forName="wedge1Tx" refType="h" fact="0.208"/>
              <dgm:constr type="w" for="ch" forName="wedge1Tx" refType="w" fact="0.285"/>
              <dgm:constr type="h" for="ch" forName="wedge1Tx" refType="h" fact="0.195"/>
              <dgm:constr type="l" for="ch" forName="wedge2" refType="w" fact="0.08"/>
              <dgm:constr type="t" for="ch" forName="wedge2" refType="w" fact="0.08"/>
              <dgm:constr type="w" for="ch" forName="wedge2" refType="w" fact="0.84"/>
              <dgm:constr type="h" for="ch" forName="wedge2" refType="h" fact="0.84"/>
              <dgm:constr type="l" for="ch" forName="wedge2Tx" refType="w" fact="0.629"/>
              <dgm:constr type="t" for="ch" forName="wedge2Tx" refType="h" fact="0.46"/>
              <dgm:constr type="w" for="ch" forName="wedge2Tx" refType="w" fact="0.25"/>
              <dgm:constr type="h" for="ch" forName="wedge2Tx" refType="h" fact="0.211"/>
              <dgm:constr type="l" for="ch" forName="wedge3" refType="w" fact="0.08"/>
              <dgm:constr type="t" for="ch" forName="wedge3" refType="w" fact="0.08"/>
              <dgm:constr type="w" for="ch" forName="wedge3" refType="w" fact="0.84"/>
              <dgm:constr type="h" for="ch" forName="wedge3" refType="h" fact="0.84"/>
              <dgm:constr type="l" for="ch" forName="wedge3Tx" refType="w" fact="0.35"/>
              <dgm:constr type="t" for="ch" forName="wedge3Tx" refType="h" fact="0.71"/>
              <dgm:constr type="w" for="ch" forName="wedge3Tx" refType="w" fact="0.3"/>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12"/>
              <dgm:constr type="t" for="ch" forName="wedge4Tx" refType="h" fact="0.46"/>
              <dgm:constr type="w" for="ch" forName="wedge4Tx" refType="w" fact="0.25"/>
              <dgm:constr type="h" for="ch" forName="wedge4Tx" refType="h" fact="0.211"/>
              <dgm:constr type="l" for="ch" forName="wedge5" refType="w" fact="0.0506"/>
              <dgm:constr type="t" for="ch" forName="wedge5" refType="h" fact="0.0395"/>
              <dgm:constr type="w" for="ch" forName="wedge5" refType="w" fact="0.84"/>
              <dgm:constr type="h" for="ch" forName="wedge5" refType="h" fact="0.84"/>
              <dgm:constr type="l" for="ch" forName="wedge5Tx" refType="w" fact="0.18"/>
              <dgm:constr type="t" for="ch" forName="wedge5Tx" refType="h" fact="0.165"/>
              <dgm:constr type="w" for="ch" forName="wedge5Tx" refType="w" fact="0.285"/>
              <dgm:constr type="h" for="ch" forName="wedge5Tx" refType="h" fact="0.195"/>
              <dgm:constr type="primFontSz" for="ch" ptType="node" op="equ"/>
            </dgm:constrLst>
          </dgm:else>
        </dgm:choose>
      </dgm:if>
      <dgm:if name="Name15" axis="ch" ptType="node" func="cnt" op="equ" val="6">
        <dgm:choose name="Name16">
          <dgm:if name="Name17" func="var" arg="dir" op="equ" val="norm">
            <dgm:constrLst>
              <dgm:constr type="l" for="ch" forName="wedge1" refType="w" fact="0.105"/>
              <dgm:constr type="t" for="ch" forName="wedge1" refType="w" fact="0.0367"/>
              <dgm:constr type="w" for="ch" forName="wedge1" refType="w" fact="0.84"/>
              <dgm:constr type="h" for="ch" forName="wedge1" refType="h" fact="0.84"/>
              <dgm:constr type="l" for="ch" forName="wedge1Tx" refType="w" fact="0.534"/>
              <dgm:constr type="t" for="ch" forName="wedge1Tx" refType="h" fact="0.126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8"/>
              <dgm:constr type="t" for="ch" forName="wedge6" refType="h" fact="0.08"/>
              <dgm:constr type="w" for="ch" forName="wedge6" refType="w" fact="0.84"/>
              <dgm:constr type="h" for="ch" forName="wedge6" refType="h" fact="0.84"/>
              <dgm:constr type="l" for="ch" forName="wedge6Tx" refType="w" fact="0.246"/>
              <dgm:constr type="t" for="ch" forName="wedge6Tx" refType="h" fact="0.17"/>
              <dgm:constr type="w" for="ch" forName="wedge6Tx" refType="w" fact="0.245"/>
              <dgm:constr type="h" for="ch" forName="wedge6Tx" refType="h" fact="0.18"/>
              <dgm:constr type="primFontSz" for="ch" ptType="node" op="equ"/>
            </dgm:constrLst>
          </dgm:if>
          <dgm:else name="Name18">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9"/>
              <dgm:constr type="t" for="ch" forName="wedge1Tx" refType="h" fact="0.17"/>
              <dgm:constr type="w" for="ch" forName="wedge1Tx" refType="w" fact="0.245"/>
              <dgm:constr type="h" for="ch" forName="wedge1Tx" refType="h" fact="0.18"/>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415"/>
              <dgm:constr type="w" for="ch" forName="wedge2Tx" refType="w" fact="0.254"/>
              <dgm:constr type="h" for="ch" forName="wedge2Tx" refType="h" fact="0.17"/>
              <dgm:constr type="l" for="ch" forName="wedge3" refType="w" fact="0.08"/>
              <dgm:constr type="t" for="ch" forName="wedge3" refType="w" fact="0.08"/>
              <dgm:constr type="w" for="ch" forName="wedge3" refType="w" fact="0.84"/>
              <dgm:constr type="h" for="ch" forName="wedge3" refType="h" fact="0.84"/>
              <dgm:constr type="l" for="ch" forName="wedge3Tx" refType="w" fact="0.509"/>
              <dgm:constr type="t" for="ch" forName="wedge3Tx" refType="h" fact="0.65"/>
              <dgm:constr type="w" for="ch" forName="wedge3Tx" refType="w" fact="0.245"/>
              <dgm:constr type="h" for="ch" forName="wedge3Tx" refType="h" fact="0.18"/>
              <dgm:constr type="l" for="ch" forName="wedge4" refType="w" fact="0.08"/>
              <dgm:constr type="t" for="ch" forName="wedge4" refType="h" fact="0.08"/>
              <dgm:constr type="w" for="ch" forName="wedge4" refType="w" fact="0.84"/>
              <dgm:constr type="h" for="ch" forName="wedge4" refType="h" fact="0.84"/>
              <dgm:constr type="l" for="ch" forName="wedge4Tx" refType="w" fact="0.246"/>
              <dgm:constr type="t" for="ch" forName="wedge4Tx" refType="h" fact="0.65"/>
              <dgm:constr type="w" for="ch" forName="wedge4Tx" refType="w" fact="0.245"/>
              <dgm:constr type="h" for="ch" forName="wedge4Tx" refType="h" fact="0.18"/>
              <dgm:constr type="l" for="ch" forName="wedge5" refType="w" fact="0.08"/>
              <dgm:constr type="t" for="ch" forName="wedge5" refType="h" fact="0.08"/>
              <dgm:constr type="w" for="ch" forName="wedge5" refType="w" fact="0.84"/>
              <dgm:constr type="h" for="ch" forName="wedge5" refType="h" fact="0.84"/>
              <dgm:constr type="l" for="ch" forName="wedge5Tx" refType="w" fact="0.093"/>
              <dgm:constr type="t" for="ch" forName="wedge5Tx" refType="h" fact="0.415"/>
              <dgm:constr type="w" for="ch" forName="wedge5Tx" refType="w" fact="0.254"/>
              <dgm:constr type="h" for="ch" forName="wedge5Tx" refType="h" fact="0.17"/>
              <dgm:constr type="l" for="ch" forName="wedge6" refType="w" fact="0.055"/>
              <dgm:constr type="t" for="ch" forName="wedge6" refType="h" fact="0.0367"/>
              <dgm:constr type="w" for="ch" forName="wedge6" refType="w" fact="0.84"/>
              <dgm:constr type="h" for="ch" forName="wedge6" refType="h" fact="0.84"/>
              <dgm:constr type="l" for="ch" forName="wedge6Tx" refType="w" fact="0.221"/>
              <dgm:constr type="t" for="ch" forName="wedge6Tx" refType="h" fact="0.1267"/>
              <dgm:constr type="w" for="ch" forName="wedge6Tx" refType="w" fact="0.245"/>
              <dgm:constr type="h" for="ch" forName="wedge6Tx" refType="h" fact="0.18"/>
              <dgm:constr type="primFontSz" for="ch" ptType="node" op="equ"/>
            </dgm:constrLst>
          </dgm:else>
        </dgm:choose>
      </dgm:if>
      <dgm:else name="Name19">
        <dgm:choose name="Name20">
          <dgm:if name="Name21" func="var" arg="dir" op="equ" val="norm">
            <dgm:constrLst>
              <dgm:constr type="l" for="ch" forName="wedge1" refType="w" fact="0.1017"/>
              <dgm:constr type="t" for="ch" forName="wedge1" refType="w" fact="0.035"/>
              <dgm:constr type="w" for="ch" forName="wedge1" refType="w" fact="0.84"/>
              <dgm:constr type="h" for="ch" forName="wedge1" refType="h" fact="0.84"/>
              <dgm:constr type="l" for="ch" forName="wedge1Tx" refType="w" fact="0.53"/>
              <dgm:constr type="t" for="ch" forName="wedge1Tx" refType="h" fact="0.115"/>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8"/>
              <dgm:constr type="t" for="ch" forName="wedge7" refType="h" fact="0.08"/>
              <dgm:constr type="w" for="ch" forName="wedge7" refType="w" fact="0.84"/>
              <dgm:constr type="h" for="ch" forName="wedge7" refType="h" fact="0.84"/>
              <dgm:constr type="l" for="ch" forName="wedge7Tx" refType="w" fact="0.262"/>
              <dgm:constr type="t" for="ch" forName="wedge7Tx" refType="h" fact="0.16"/>
              <dgm:constr type="w" for="ch" forName="wedge7Tx" refType="w" fact="0.23"/>
              <dgm:constr type="h" for="ch" forName="wedge7Tx" refType="h" fact="0.145"/>
              <dgm:constr type="primFontSz" for="ch" ptType="node" op="equ"/>
            </dgm:constrLst>
          </dgm:if>
          <dgm:else name="Name22">
            <dgm:constrLst>
              <dgm:constr type="l" for="ch" forName="wedge1" refType="w" fact="0.08"/>
              <dgm:constr type="t" for="ch" forName="wedge1" refType="w" fact="0.08"/>
              <dgm:constr type="w" for="ch" forName="wedge1" refType="w" fact="0.84"/>
              <dgm:constr type="h" for="ch" forName="wedge1" refType="h" fact="0.84"/>
              <dgm:constr type="l" for="ch" forName="wedge1Tx" refType="w" fact="0.508"/>
              <dgm:constr type="t" for="ch" forName="wedge1Tx" refType="h" fact="0.16"/>
              <dgm:constr type="w" for="ch" forName="wedge1Tx" refType="w" fact="0.23"/>
              <dgm:constr type="h" for="ch" forName="wedge1Tx" refType="h" fact="0.145"/>
              <dgm:constr type="l" for="ch" forName="wedge2" refType="w" fact="0.08"/>
              <dgm:constr type="t" for="ch" forName="wedge2" refType="w" fact="0.08"/>
              <dgm:constr type="w" for="ch" forName="wedge2" refType="w" fact="0.84"/>
              <dgm:constr type="h" for="ch" forName="wedge2" refType="h" fact="0.84"/>
              <dgm:constr type="l" for="ch" forName="wedge2Tx" refType="w" fact="0.655"/>
              <dgm:constr type="t" for="ch" forName="wedge2Tx" refType="h" fact="0.38"/>
              <dgm:constr type="w" for="ch" forName="wedge2Tx" refType="w" fact="0.244"/>
              <dgm:constr type="h" for="ch" forName="wedge2Tx" refType="h" fact="0.155"/>
              <dgm:constr type="l" for="ch" forName="wedge3" refType="w" fact="0.08"/>
              <dgm:constr type="t" for="ch" forName="wedge3" refType="w" fact="0.08"/>
              <dgm:constr type="w" for="ch" forName="wedge3" refType="w" fact="0.84"/>
              <dgm:constr type="h" for="ch" forName="wedge3" refType="h" fact="0.84"/>
              <dgm:constr type="l" for="ch" forName="wedge3Tx" refType="w" fact="0.62"/>
              <dgm:constr type="t" for="ch" forName="wedge3Tx" refType="h" fact="0.58"/>
              <dgm:constr type="w" for="ch" forName="wedge3Tx" refType="w" fact="0.22"/>
              <dgm:constr type="h" for="ch" forName="wedge3Tx" refType="h" fact="0.16"/>
              <dgm:constr type="l" for="ch" forName="wedge4" refType="w" fact="0.08"/>
              <dgm:constr type="t" for="ch" forName="wedge4" refType="h" fact="0.08"/>
              <dgm:constr type="w" for="ch" forName="wedge4" refType="w" fact="0.84"/>
              <dgm:constr type="h" for="ch" forName="wedge4" refType="h" fact="0.84"/>
              <dgm:constr type="l" for="ch" forName="wedge4Tx" refType="w" fact="0.3875"/>
              <dgm:constr type="t" for="ch" forName="wedge4Tx" refType="h" fact="0.74"/>
              <dgm:constr type="w" for="ch" forName="wedge4Tx" refType="w" fact="0.225"/>
              <dgm:constr type="h" for="ch" forName="wedge4Tx" refType="h" fact="0.16"/>
              <dgm:constr type="l" for="ch" forName="wedge5" refType="w" fact="0.08"/>
              <dgm:constr type="t" for="ch" forName="wedge5" refType="h" fact="0.08"/>
              <dgm:constr type="w" for="ch" forName="wedge5" refType="w" fact="0.84"/>
              <dgm:constr type="h" for="ch" forName="wedge5" refType="h" fact="0.84"/>
              <dgm:constr type="l" for="ch" forName="wedge5Tx" refType="w" fact="0.16"/>
              <dgm:constr type="t" for="ch" forName="wedge5Tx" refType="h" fact="0.58"/>
              <dgm:constr type="w" for="ch" forName="wedge5Tx" refType="w" fact="0.22"/>
              <dgm:constr type="h" for="ch" forName="wedge5Tx" refType="h" fact="0.16"/>
              <dgm:constr type="l" for="ch" forName="wedge6" refType="w" fact="0.08"/>
              <dgm:constr type="t" for="ch" forName="wedge6" refType="h" fact="0.08"/>
              <dgm:constr type="w" for="ch" forName="wedge6" refType="w" fact="0.84"/>
              <dgm:constr type="h" for="ch" forName="wedge6" refType="h" fact="0.84"/>
              <dgm:constr type="l" for="ch" forName="wedge6Tx" refType="w" fact="0.101"/>
              <dgm:constr type="t" for="ch" forName="wedge6Tx" refType="h" fact="0.38"/>
              <dgm:constr type="w" for="ch" forName="wedge6Tx" refType="w" fact="0.244"/>
              <dgm:constr type="h" for="ch" forName="wedge6Tx" refType="h" fact="0.155"/>
              <dgm:constr type="l" for="ch" forName="wedge7" refType="w" fact="0.0583"/>
              <dgm:constr type="t" for="ch" forName="wedge7" refType="h" fact="0.035"/>
              <dgm:constr type="w" for="ch" forName="wedge7" refType="w" fact="0.84"/>
              <dgm:constr type="h" for="ch" forName="wedge7" refType="h" fact="0.84"/>
              <dgm:constr type="l" for="ch" forName="wedge7Tx" refType="w" fact="0.2403"/>
              <dgm:constr type="t" for="ch" forName="wedge7Tx" refType="h" fact="0.115"/>
              <dgm:constr type="w" for="ch" forName="wedge7Tx" refType="w" fact="0.23"/>
              <dgm:constr type="h" for="ch" forName="wedge7Tx" refType="h" fact="0.145"/>
              <dgm:constr type="primFontSz" for="ch" ptType="node" op="equ"/>
            </dgm:constrLst>
          </dgm:else>
        </dgm:choose>
      </dgm:else>
    </dgm:choose>
    <dgm:ruleLst/>
    <dgm:choose name="Name23">
      <dgm:if name="Name24" axis="ch" ptType="node" func="cnt" op="gte" val="1">
        <dgm:layoutNode name="wedge1">
          <dgm:alg type="sp"/>
          <dgm:choose name="Name25">
            <dgm:if name="Name26" axis="ch" ptType="node" func="cnt" op="equ" val="1">
              <dgm:shape xmlns:r="http://schemas.openxmlformats.org/officeDocument/2006/relationships" type="ellipse" r:blip="">
                <dgm:adjLst/>
              </dgm:shape>
            </dgm:if>
            <dgm:if name="Name27" axis="ch" ptType="node" func="cnt" op="equ" val="2">
              <dgm:shape xmlns:r="http://schemas.openxmlformats.org/officeDocument/2006/relationships" type="pie" r:blip="">
                <dgm:adjLst>
                  <dgm:adj idx="1" val="270"/>
                  <dgm:adj idx="2" val="90"/>
                </dgm:adjLst>
              </dgm:shape>
            </dgm:if>
            <dgm:if name="Name28" axis="ch" ptType="node" func="cnt" op="equ" val="3">
              <dgm:shape xmlns:r="http://schemas.openxmlformats.org/officeDocument/2006/relationships" type="pie" r:blip="">
                <dgm:adjLst>
                  <dgm:adj idx="1" val="270"/>
                  <dgm:adj idx="2" val="30"/>
                </dgm:adjLst>
              </dgm:shape>
            </dgm:if>
            <dgm:if name="Name29" axis="ch" ptType="node" func="cnt" op="equ" val="4">
              <dgm:shape xmlns:r="http://schemas.openxmlformats.org/officeDocument/2006/relationships" type="pie" r:blip="">
                <dgm:adjLst>
                  <dgm:adj idx="1" val="270"/>
                  <dgm:adj idx="2" val="0"/>
                </dgm:adjLst>
              </dgm:shape>
            </dgm:if>
            <dgm:if name="Name30" axis="ch" ptType="node" func="cnt" op="equ" val="5">
              <dgm:shape xmlns:r="http://schemas.openxmlformats.org/officeDocument/2006/relationships" type="pie" r:blip="">
                <dgm:adjLst>
                  <dgm:adj idx="1" val="270"/>
                  <dgm:adj idx="2" val="342"/>
                </dgm:adjLst>
              </dgm:shape>
            </dgm:if>
            <dgm:if name="Name31" axis="ch" ptType="node" func="cnt" op="equ" val="6">
              <dgm:shape xmlns:r="http://schemas.openxmlformats.org/officeDocument/2006/relationships" type="pie" r:blip="">
                <dgm:adjLst>
                  <dgm:adj idx="1" val="270"/>
                  <dgm:adj idx="2" val="330"/>
                </dgm:adjLst>
              </dgm:shape>
            </dgm:if>
            <dgm:else name="Name32">
              <dgm:shape xmlns:r="http://schemas.openxmlformats.org/officeDocument/2006/relationships" type="pie" r:blip="">
                <dgm:adjLst>
                  <dgm:adj idx="1" val="270"/>
                  <dgm:adj idx="2" val="321.4286"/>
                </dgm:adjLst>
              </dgm:shape>
            </dgm:else>
          </dgm:choose>
          <dgm:choose name="Name33">
            <dgm:if name="Name34" func="var" arg="dir" op="equ" val="norm">
              <dgm:presOf axis="ch desOrSelf" ptType="node node" st="1 1" cnt="1 0"/>
            </dgm:if>
            <dgm:else name="Name35">
              <dgm:choose name="Name36">
                <dgm:if name="Name37" axis="ch" ptType="node" func="cnt" op="equ" val="1">
                  <dgm:presOf axis="ch desOrSelf" ptType="node node" st="1 1" cnt="1 0"/>
                </dgm:if>
                <dgm:if name="Name38" axis="ch" ptType="node" func="cnt" op="equ" val="2">
                  <dgm:presOf axis="ch desOrSelf" ptType="node node" st="2 1" cnt="1 0"/>
                </dgm:if>
                <dgm:if name="Name39" axis="ch" ptType="node" func="cnt" op="equ" val="3">
                  <dgm:presOf axis="ch desOrSelf" ptType="node node" st="3 1" cnt="1 0"/>
                </dgm:if>
                <dgm:if name="Name40" axis="ch" ptType="node" func="cnt" op="equ" val="4">
                  <dgm:presOf axis="ch desOrSelf" ptType="node node" st="4 1" cnt="1 0"/>
                </dgm:if>
                <dgm:if name="Name41" axis="ch" ptType="node" func="cnt" op="equ" val="5">
                  <dgm:presOf axis="ch desOrSelf" ptType="node node" st="5 1" cnt="1 0"/>
                </dgm:if>
                <dgm:if name="Name42" axis="ch" ptType="node" func="cnt" op="equ" val="6">
                  <dgm:presOf axis="ch desOrSelf" ptType="node node" st="6 1" cnt="1 0"/>
                </dgm:if>
                <dgm:else name="Name43">
                  <dgm:presOf axis="ch desOrSelf" ptType="node node" st="7 1" cnt="1 0"/>
                </dgm:else>
              </dgm:choose>
            </dgm:else>
          </dgm:choose>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44">
            <dgm:if name="Name45" func="var" arg="dir" op="equ" val="norm">
              <dgm:presOf axis="ch desOrSelf" ptType="node node" st="1 1" cnt="1 0"/>
            </dgm:if>
            <dgm:else name="Name46">
              <dgm:choose name="Name47">
                <dgm:if name="Name48" axis="ch" ptType="node" func="cnt" op="equ" val="1">
                  <dgm:presOf axis="ch desOrSelf" ptType="node node" st="1 1" cnt="1 0"/>
                </dgm:if>
                <dgm:if name="Name49" axis="ch" ptType="node" func="cnt" op="equ" val="2">
                  <dgm:presOf axis="ch desOrSelf" ptType="node node" st="2 1" cnt="1 0"/>
                </dgm:if>
                <dgm:if name="Name50" axis="ch" ptType="node" func="cnt" op="equ" val="3">
                  <dgm:presOf axis="ch desOrSelf" ptType="node node" st="3 1" cnt="1 0"/>
                </dgm:if>
                <dgm:if name="Name51" axis="ch" ptType="node" func="cnt" op="equ" val="4">
                  <dgm:presOf axis="ch desOrSelf" ptType="node node" st="4 1" cnt="1 0"/>
                </dgm:if>
                <dgm:if name="Name52" axis="ch" ptType="node" func="cnt" op="equ" val="5">
                  <dgm:presOf axis="ch desOrSelf" ptType="node node" st="5 1" cnt="1 0"/>
                </dgm:if>
                <dgm:if name="Name53" axis="ch" ptType="node" func="cnt" op="equ" val="6">
                  <dgm:presOf axis="ch desOrSelf" ptType="node node" st="6 1" cnt="1 0"/>
                </dgm:if>
                <dgm:else name="Name54">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55"/>
    </dgm:choose>
    <dgm:choose name="Name56">
      <dgm:if name="Name57" axis="ch" ptType="node" func="cnt" op="gte" val="2">
        <dgm:layoutNode name="wedge2">
          <dgm:alg type="sp"/>
          <dgm:choose name="Name58">
            <dgm:if name="Name59" axis="ch" ptType="node" func="cnt" op="equ" val="2">
              <dgm:shape xmlns:r="http://schemas.openxmlformats.org/officeDocument/2006/relationships" type="pie" r:blip="">
                <dgm:adjLst>
                  <dgm:adj idx="1" val="90"/>
                  <dgm:adj idx="2" val="270"/>
                </dgm:adjLst>
              </dgm:shape>
            </dgm:if>
            <dgm:if name="Name60" axis="ch" ptType="node" func="cnt" op="equ" val="3">
              <dgm:shape xmlns:r="http://schemas.openxmlformats.org/officeDocument/2006/relationships" type="pie" r:blip="">
                <dgm:adjLst>
                  <dgm:adj idx="1" val="30"/>
                  <dgm:adj idx="2" val="150"/>
                </dgm:adjLst>
              </dgm:shape>
            </dgm:if>
            <dgm:if name="Name61" axis="ch" ptType="node" func="cnt" op="equ" val="4">
              <dgm:shape xmlns:r="http://schemas.openxmlformats.org/officeDocument/2006/relationships" type="pie" r:blip="">
                <dgm:adjLst>
                  <dgm:adj idx="1" val="0"/>
                  <dgm:adj idx="2" val="90"/>
                </dgm:adjLst>
              </dgm:shape>
            </dgm:if>
            <dgm:if name="Name62" axis="ch" ptType="node" func="cnt" op="equ" val="5">
              <dgm:shape xmlns:r="http://schemas.openxmlformats.org/officeDocument/2006/relationships" type="pie" r:blip="">
                <dgm:adjLst>
                  <dgm:adj idx="1" val="342"/>
                  <dgm:adj idx="2" val="54"/>
                </dgm:adjLst>
              </dgm:shape>
            </dgm:if>
            <dgm:if name="Name63" axis="ch" ptType="node" func="cnt" op="equ" val="6">
              <dgm:shape xmlns:r="http://schemas.openxmlformats.org/officeDocument/2006/relationships" type="pie" r:blip="">
                <dgm:adjLst>
                  <dgm:adj idx="1" val="330"/>
                  <dgm:adj idx="2" val="30"/>
                </dgm:adjLst>
              </dgm:shape>
            </dgm:if>
            <dgm:else name="Name64">
              <dgm:shape xmlns:r="http://schemas.openxmlformats.org/officeDocument/2006/relationships" type="pie" r:blip="">
                <dgm:adjLst>
                  <dgm:adj idx="1" val="321.4286"/>
                  <dgm:adj idx="2" val="12.85714"/>
                </dgm:adjLst>
              </dgm:shape>
            </dgm:else>
          </dgm:choose>
          <dgm:choose name="Name65">
            <dgm:if name="Name66" func="var" arg="dir" op="equ" val="norm">
              <dgm:presOf axis="ch desOrSelf" ptType="node node" st="2 1" cnt="1 0"/>
            </dgm:if>
            <dgm:else name="Name67">
              <dgm:choose name="Name68">
                <dgm:if name="Name69" axis="ch" ptType="node" func="cnt" op="equ" val="2">
                  <dgm:presOf axis="ch desOrSelf" ptType="node node" st="1 1" cnt="1 0"/>
                </dgm:if>
                <dgm:if name="Name70" axis="ch" ptType="node" func="cnt" op="equ" val="3">
                  <dgm:presOf axis="ch desOrSelf" ptType="node node" st="2 1" cnt="1 0"/>
                </dgm:if>
                <dgm:if name="Name71" axis="ch" ptType="node" func="cnt" op="equ" val="4">
                  <dgm:presOf axis="ch desOrSelf" ptType="node node" st="3 1" cnt="1 0"/>
                </dgm:if>
                <dgm:if name="Name72" axis="ch" ptType="node" func="cnt" op="equ" val="5">
                  <dgm:presOf axis="ch desOrSelf" ptType="node node" st="4 1" cnt="1 0"/>
                </dgm:if>
                <dgm:if name="Name73" axis="ch" ptType="node" func="cnt" op="equ" val="6">
                  <dgm:presOf axis="ch desOrSelf" ptType="node node" st="5 1" cnt="1 0"/>
                </dgm:if>
                <dgm:else name="Name74">
                  <dgm:presOf axis="ch desOrSelf" ptType="node node" st="6 1" cnt="1 0"/>
                </dgm:else>
              </dgm:choose>
            </dgm:else>
          </dgm:choose>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75">
            <dgm:if name="Name76" func="var" arg="dir" op="equ" val="norm">
              <dgm:presOf axis="ch desOrSelf" ptType="node node" st="2 1" cnt="1 0"/>
            </dgm:if>
            <dgm:else name="Name77">
              <dgm:choose name="Name78">
                <dgm:if name="Name79" axis="ch" ptType="node" func="cnt" op="equ" val="2">
                  <dgm:presOf axis="ch desOrSelf" ptType="node node" st="1 1" cnt="1 0"/>
                </dgm:if>
                <dgm:if name="Name80" axis="ch" ptType="node" func="cnt" op="equ" val="3">
                  <dgm:presOf axis="ch desOrSelf" ptType="node node" st="2 1" cnt="1 0"/>
                </dgm:if>
                <dgm:if name="Name81" axis="ch" ptType="node" func="cnt" op="equ" val="4">
                  <dgm:presOf axis="ch desOrSelf" ptType="node node" st="3 1" cnt="1 0"/>
                </dgm:if>
                <dgm:if name="Name82" axis="ch" ptType="node" func="cnt" op="equ" val="5">
                  <dgm:presOf axis="ch desOrSelf" ptType="node node" st="4 1" cnt="1 0"/>
                </dgm:if>
                <dgm:if name="Name83" axis="ch" ptType="node" func="cnt" op="equ" val="6">
                  <dgm:presOf axis="ch desOrSelf" ptType="node node" st="5 1" cnt="1 0"/>
                </dgm:if>
                <dgm:else name="Name84">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85"/>
    </dgm:choose>
    <dgm:choose name="Name86">
      <dgm:if name="Name87" axis="ch" ptType="node" func="cnt" op="gte" val="3">
        <dgm:layoutNode name="wedge3">
          <dgm:alg type="sp"/>
          <dgm:choose name="Name88">
            <dgm:if name="Name89" axis="ch" ptType="node" func="cnt" op="equ" val="3">
              <dgm:shape xmlns:r="http://schemas.openxmlformats.org/officeDocument/2006/relationships" type="pie" r:blip="">
                <dgm:adjLst>
                  <dgm:adj idx="1" val="150"/>
                  <dgm:adj idx="2" val="270"/>
                </dgm:adjLst>
              </dgm:shape>
            </dgm:if>
            <dgm:if name="Name90" axis="ch" ptType="node" func="cnt" op="equ" val="4">
              <dgm:shape xmlns:r="http://schemas.openxmlformats.org/officeDocument/2006/relationships" type="pie" r:blip="">
                <dgm:adjLst>
                  <dgm:adj idx="1" val="90"/>
                  <dgm:adj idx="2" val="180"/>
                </dgm:adjLst>
              </dgm:shape>
            </dgm:if>
            <dgm:if name="Name91" axis="ch" ptType="node" func="cnt" op="equ" val="5">
              <dgm:shape xmlns:r="http://schemas.openxmlformats.org/officeDocument/2006/relationships" type="pie" r:blip="">
                <dgm:adjLst>
                  <dgm:adj idx="1" val="54"/>
                  <dgm:adj idx="2" val="126"/>
                </dgm:adjLst>
              </dgm:shape>
            </dgm:if>
            <dgm:if name="Name92" axis="ch" ptType="node" func="cnt" op="equ" val="6">
              <dgm:shape xmlns:r="http://schemas.openxmlformats.org/officeDocument/2006/relationships" type="pie" r:blip="">
                <dgm:adjLst>
                  <dgm:adj idx="1" val="30"/>
                  <dgm:adj idx="2" val="90"/>
                </dgm:adjLst>
              </dgm:shape>
            </dgm:if>
            <dgm:else name="Name93">
              <dgm:shape xmlns:r="http://schemas.openxmlformats.org/officeDocument/2006/relationships" type="pie" r:blip="">
                <dgm:adjLst>
                  <dgm:adj idx="1" val="12.85714"/>
                  <dgm:adj idx="2" val="64.28571"/>
                </dgm:adjLst>
              </dgm:shape>
            </dgm:else>
          </dgm:choose>
          <dgm:choose name="Name94">
            <dgm:if name="Name95" func="var" arg="dir" op="equ" val="norm">
              <dgm:presOf axis="ch desOrSelf" ptType="node node" st="3 1" cnt="1 0"/>
            </dgm:if>
            <dgm:else name="Name96">
              <dgm:choose name="Name97">
                <dgm:if name="Name98" axis="ch" ptType="node" func="cnt" op="equ" val="3">
                  <dgm:presOf axis="ch desOrSelf" ptType="node node" st="1 1" cnt="1 0"/>
                </dgm:if>
                <dgm:if name="Name99" axis="ch" ptType="node" func="cnt" op="equ" val="4">
                  <dgm:presOf axis="ch desOrSelf" ptType="node node" st="2 1" cnt="1 0"/>
                </dgm:if>
                <dgm:if name="Name100" axis="ch" ptType="node" func="cnt" op="equ" val="5">
                  <dgm:presOf axis="ch desOrSelf" ptType="node node" st="3 1" cnt="1 0"/>
                </dgm:if>
                <dgm:if name="Name101" axis="ch" ptType="node" func="cnt" op="equ" val="6">
                  <dgm:presOf axis="ch desOrSelf" ptType="node node" st="4 1" cnt="1 0"/>
                </dgm:if>
                <dgm:else name="Name102">
                  <dgm:presOf axis="ch desOrSelf" ptType="node node" st="5 1" cnt="1 0"/>
                </dgm:else>
              </dgm:choose>
            </dgm:else>
          </dgm:choose>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103">
            <dgm:if name="Name104" func="var" arg="dir" op="equ" val="norm">
              <dgm:presOf axis="ch desOrSelf" ptType="node node" st="3 1" cnt="1 0"/>
            </dgm:if>
            <dgm:else name="Name105">
              <dgm:choose name="Name106">
                <dgm:if name="Name107" axis="ch" ptType="node" func="cnt" op="equ" val="3">
                  <dgm:presOf axis="ch desOrSelf" ptType="node node" st="1 1" cnt="1 0"/>
                </dgm:if>
                <dgm:if name="Name108" axis="ch" ptType="node" func="cnt" op="equ" val="4">
                  <dgm:presOf axis="ch desOrSelf" ptType="node node" st="2 1" cnt="1 0"/>
                </dgm:if>
                <dgm:if name="Name109" axis="ch" ptType="node" func="cnt" op="equ" val="5">
                  <dgm:presOf axis="ch desOrSelf" ptType="node node" st="3 1" cnt="1 0"/>
                </dgm:if>
                <dgm:if name="Name110" axis="ch" ptType="node" func="cnt" op="equ" val="6">
                  <dgm:presOf axis="ch desOrSelf" ptType="node node" st="4 1" cnt="1 0"/>
                </dgm:if>
                <dgm:else name="Name111">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12"/>
    </dgm:choose>
    <dgm:choose name="Name113">
      <dgm:if name="Name114" axis="ch" ptType="node" func="cnt" op="gte" val="4">
        <dgm:layoutNode name="wedge4">
          <dgm:alg type="sp"/>
          <dgm:choose name="Name115">
            <dgm:if name="Name116" axis="ch" ptType="node" func="cnt" op="equ" val="4">
              <dgm:shape xmlns:r="http://schemas.openxmlformats.org/officeDocument/2006/relationships" type="pie" r:blip="">
                <dgm:adjLst>
                  <dgm:adj idx="1" val="180"/>
                  <dgm:adj idx="2" val="270"/>
                </dgm:adjLst>
              </dgm:shape>
            </dgm:if>
            <dgm:if name="Name117" axis="ch" ptType="node" func="cnt" op="equ" val="5">
              <dgm:shape xmlns:r="http://schemas.openxmlformats.org/officeDocument/2006/relationships" type="pie" r:blip="">
                <dgm:adjLst>
                  <dgm:adj idx="1" val="126"/>
                  <dgm:adj idx="2" val="198"/>
                </dgm:adjLst>
              </dgm:shape>
            </dgm:if>
            <dgm:if name="Name118" axis="ch" ptType="node" func="cnt" op="equ" val="6">
              <dgm:shape xmlns:r="http://schemas.openxmlformats.org/officeDocument/2006/relationships" type="pie" r:blip="">
                <dgm:adjLst>
                  <dgm:adj idx="1" val="90"/>
                  <dgm:adj idx="2" val="150"/>
                </dgm:adjLst>
              </dgm:shape>
            </dgm:if>
            <dgm:else name="Name119">
              <dgm:shape xmlns:r="http://schemas.openxmlformats.org/officeDocument/2006/relationships" type="pie" r:blip="">
                <dgm:adjLst>
                  <dgm:adj idx="1" val="64.2871"/>
                  <dgm:adj idx="2" val="115.7143"/>
                </dgm:adjLst>
              </dgm:shape>
            </dgm:else>
          </dgm:choose>
          <dgm:choose name="Name120">
            <dgm:if name="Name121" func="var" arg="dir" op="equ" val="norm">
              <dgm:presOf axis="ch desOrSelf" ptType="node node" st="4 1" cnt="1 0"/>
            </dgm:if>
            <dgm:else name="Name122">
              <dgm:choose name="Name123">
                <dgm:if name="Name124" axis="ch" ptType="node" func="cnt" op="equ" val="4">
                  <dgm:presOf axis="ch desOrSelf" ptType="node node" st="1 1" cnt="1 0"/>
                </dgm:if>
                <dgm:if name="Name125" axis="ch" ptType="node" func="cnt" op="equ" val="5">
                  <dgm:presOf axis="ch desOrSelf" ptType="node node" st="2 1" cnt="1 0"/>
                </dgm:if>
                <dgm:if name="Name126" axis="ch" ptType="node" func="cnt" op="equ" val="6">
                  <dgm:presOf axis="ch desOrSelf" ptType="node node" st="3 1" cnt="1 0"/>
                </dgm:if>
                <dgm:else name="Name127">
                  <dgm:presOf axis="ch desOrSelf" ptType="node node" st="4 1" cnt="1 0"/>
                </dgm:else>
              </dgm:choose>
            </dgm:else>
          </dgm:choose>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28">
            <dgm:if name="Name129" func="var" arg="dir" op="equ" val="norm">
              <dgm:presOf axis="ch desOrSelf" ptType="node node" st="4 1" cnt="1 0"/>
            </dgm:if>
            <dgm:else name="Name130">
              <dgm:choose name="Name131">
                <dgm:if name="Name132" axis="ch" ptType="node" func="cnt" op="equ" val="4">
                  <dgm:presOf axis="ch desOrSelf" ptType="node node" st="1 1" cnt="1 0"/>
                </dgm:if>
                <dgm:if name="Name133" axis="ch" ptType="node" func="cnt" op="equ" val="5">
                  <dgm:presOf axis="ch desOrSelf" ptType="node node" st="2 1" cnt="1 0"/>
                </dgm:if>
                <dgm:if name="Name134" axis="ch" ptType="node" func="cnt" op="equ" val="6">
                  <dgm:presOf axis="ch desOrSelf" ptType="node node" st="3 1" cnt="1 0"/>
                </dgm:if>
                <dgm:else name="Name135">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36"/>
    </dgm:choose>
    <dgm:choose name="Name137">
      <dgm:if name="Name138" axis="ch" ptType="node" func="cnt" op="gte" val="5">
        <dgm:layoutNode name="wedge5">
          <dgm:alg type="sp"/>
          <dgm:choose name="Name139">
            <dgm:if name="Name140" axis="ch" ptType="node" func="cnt" op="equ" val="5">
              <dgm:shape xmlns:r="http://schemas.openxmlformats.org/officeDocument/2006/relationships" type="pie" r:blip="">
                <dgm:adjLst>
                  <dgm:adj idx="1" val="198"/>
                  <dgm:adj idx="2" val="270"/>
                </dgm:adjLst>
              </dgm:shape>
            </dgm:if>
            <dgm:if name="Name141" axis="ch" ptType="node" func="cnt" op="equ" val="6">
              <dgm:shape xmlns:r="http://schemas.openxmlformats.org/officeDocument/2006/relationships" type="pie" r:blip="">
                <dgm:adjLst>
                  <dgm:adj idx="1" val="150"/>
                  <dgm:adj idx="2" val="210"/>
                </dgm:adjLst>
              </dgm:shape>
            </dgm:if>
            <dgm:else name="Name142">
              <dgm:shape xmlns:r="http://schemas.openxmlformats.org/officeDocument/2006/relationships" type="pie" r:blip="">
                <dgm:adjLst>
                  <dgm:adj idx="1" val="115.7143"/>
                  <dgm:adj idx="2" val="167.1429"/>
                </dgm:adjLst>
              </dgm:shape>
            </dgm:else>
          </dgm:choose>
          <dgm:choose name="Name143">
            <dgm:if name="Name144" func="var" arg="dir" op="equ" val="norm">
              <dgm:presOf axis="ch desOrSelf" ptType="node node" st="5 1" cnt="1 0"/>
            </dgm:if>
            <dgm:else name="Name145">
              <dgm:choose name="Name146">
                <dgm:if name="Name147" axis="ch" ptType="node" func="cnt" op="equ" val="5">
                  <dgm:presOf axis="ch desOrSelf" ptType="node node" st="1 1" cnt="1 0"/>
                </dgm:if>
                <dgm:if name="Name148" axis="ch" ptType="node" func="cnt" op="equ" val="6">
                  <dgm:presOf axis="ch desOrSelf" ptType="node node" st="2 1" cnt="1 0"/>
                </dgm:if>
                <dgm:else name="Name149">
                  <dgm:presOf axis="ch desOrSelf" ptType="node node" st="3 1" cnt="1 0"/>
                </dgm:else>
              </dgm:choose>
            </dgm:else>
          </dgm:choose>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50">
            <dgm:if name="Name151" func="var" arg="dir" op="equ" val="norm">
              <dgm:presOf axis="ch desOrSelf" ptType="node node" st="5 1" cnt="1 0"/>
            </dgm:if>
            <dgm:else name="Name152">
              <dgm:choose name="Name153">
                <dgm:if name="Name154" axis="ch" ptType="node" func="cnt" op="equ" val="5">
                  <dgm:presOf axis="ch desOrSelf" ptType="node node" st="1 1" cnt="1 0"/>
                </dgm:if>
                <dgm:if name="Name155" axis="ch" ptType="node" func="cnt" op="equ" val="6">
                  <dgm:presOf axis="ch desOrSelf" ptType="node node" st="2 1" cnt="1 0"/>
                </dgm:if>
                <dgm:else name="Name156">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57"/>
    </dgm:choose>
    <dgm:choose name="Name158">
      <dgm:if name="Name159" axis="ch" ptType="node" func="cnt" op="gte" val="6">
        <dgm:layoutNode name="wedge6">
          <dgm:alg type="sp"/>
          <dgm:choose name="Name160">
            <dgm:if name="Name161" axis="ch" ptType="node" func="cnt" op="equ" val="6">
              <dgm:shape xmlns:r="http://schemas.openxmlformats.org/officeDocument/2006/relationships" type="pie" r:blip="">
                <dgm:adjLst>
                  <dgm:adj idx="1" val="210"/>
                  <dgm:adj idx="2" val="270"/>
                </dgm:adjLst>
              </dgm:shape>
            </dgm:if>
            <dgm:else name="Name162">
              <dgm:shape xmlns:r="http://schemas.openxmlformats.org/officeDocument/2006/relationships" type="pie" r:blip="">
                <dgm:adjLst>
                  <dgm:adj idx="1" val="167.1429"/>
                  <dgm:adj idx="2" val="218.5714"/>
                </dgm:adjLst>
              </dgm:shape>
            </dgm:else>
          </dgm:choose>
          <dgm:choose name="Name163">
            <dgm:if name="Name164" func="var" arg="dir" op="equ" val="norm">
              <dgm:presOf axis="ch desOrSelf" ptType="node node" st="6 1" cnt="1 0"/>
            </dgm:if>
            <dgm:else name="Name165">
              <dgm:choose name="Name166">
                <dgm:if name="Name167" axis="ch" ptType="node" func="cnt" op="equ" val="6">
                  <dgm:presOf axis="ch desOrSelf" ptType="node node" st="1 1" cnt="1 0"/>
                </dgm:if>
                <dgm:else name="Name168">
                  <dgm:presOf axis="ch desOrSelf" ptType="node node" st="2 1" cnt="1 0"/>
                </dgm:else>
              </dgm:choose>
            </dgm:else>
          </dgm:choose>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69">
            <dgm:if name="Name170" func="var" arg="dir" op="equ" val="norm">
              <dgm:presOf axis="ch desOrSelf" ptType="node node" st="6 1" cnt="1 0"/>
            </dgm:if>
            <dgm:else name="Name171">
              <dgm:choose name="Name172">
                <dgm:if name="Name173" axis="ch" ptType="node" func="cnt" op="equ" val="6">
                  <dgm:presOf axis="ch desOrSelf" ptType="node node" st="1 1" cnt="1 0"/>
                </dgm:if>
                <dgm:else name="Name174">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75"/>
    </dgm:choose>
    <dgm:choose name="Name176">
      <dgm:if name="Name177" axis="ch" ptType="node" func="cnt" op="gte" val="7">
        <dgm:layoutNode name="wedge7">
          <dgm:alg type="sp"/>
          <dgm:shape xmlns:r="http://schemas.openxmlformats.org/officeDocument/2006/relationships" type="pie" r:blip="">
            <dgm:adjLst>
              <dgm:adj idx="1" val="218.5714"/>
              <dgm:adj idx="2" val="270"/>
            </dgm:adjLst>
          </dgm:shape>
          <dgm:choose name="Name178">
            <dgm:if name="Name179" func="var" arg="dir" op="equ" val="norm">
              <dgm:presOf axis="ch desOrSelf" ptType="node node" st="7 1" cnt="1 0"/>
            </dgm:if>
            <dgm:else name="Name180">
              <dgm:presOf axis="ch desOrSelf" ptType="node node" st="1 1" cnt="1 0"/>
            </dgm:else>
          </dgm:choose>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81">
            <dgm:if name="Name182" func="var" arg="dir" op="equ" val="norm">
              <dgm:presOf axis="ch desOrSelf" ptType="node node" st="7 1" cnt="1 0"/>
            </dgm:if>
            <dgm:else name="Name183">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84"/>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ko-KR" altLang="en-US" dirty="0">
              <a:latin typeface="Rix모던고딕 L" panose="02020603020101020101" pitchFamily="18" charset="-127"/>
              <a:ea typeface="Rix모던고딕 L" panose="02020603020101020101" pitchFamily="18" charset="-127"/>
            </a:endParaRPr>
          </a:p>
        </p:txBody>
      </p:sp>
      <p:sp>
        <p:nvSpPr>
          <p:cNvPr id="3" name="날짜 개체 틀 2"/>
          <p:cNvSpPr>
            <a:spLocks noGrp="1"/>
          </p:cNvSpPr>
          <p:nvPr>
            <p:ph type="dt" sz="quarter" idx="1"/>
          </p:nvPr>
        </p:nvSpPr>
        <p:spPr>
          <a:xfrm>
            <a:off x="4024313" y="0"/>
            <a:ext cx="3078162" cy="512763"/>
          </a:xfrm>
          <a:prstGeom prst="rect">
            <a:avLst/>
          </a:prstGeom>
        </p:spPr>
        <p:txBody>
          <a:bodyPr vert="horz" lIns="91440" tIns="45720" rIns="91440" bIns="45720" rtlCol="0"/>
          <a:lstStyle>
            <a:lvl1pPr algn="r">
              <a:defRPr sz="1200"/>
            </a:lvl1pPr>
          </a:lstStyle>
          <a:p>
            <a:fld id="{D265D610-DFC9-4B0C-B47E-740E87AA1476}" type="datetimeFigureOut">
              <a:rPr lang="ko-KR" altLang="en-US" smtClean="0">
                <a:latin typeface="Rix모던고딕 L" panose="02020603020101020101" pitchFamily="18" charset="-127"/>
                <a:ea typeface="Rix모던고딕 L" panose="02020603020101020101" pitchFamily="18" charset="-127"/>
              </a:rPr>
              <a:t>2026-06-13</a:t>
            </a:fld>
            <a:endParaRPr lang="ko-KR" altLang="en-US" dirty="0">
              <a:latin typeface="Rix모던고딕 L" panose="02020603020101020101" pitchFamily="18" charset="-127"/>
              <a:ea typeface="Rix모던고딕 L" panose="02020603020101020101" pitchFamily="18" charset="-127"/>
            </a:endParaRPr>
          </a:p>
        </p:txBody>
      </p:sp>
      <p:sp>
        <p:nvSpPr>
          <p:cNvPr id="4" name="바닥글 개체 틀 3"/>
          <p:cNvSpPr>
            <a:spLocks noGrp="1"/>
          </p:cNvSpPr>
          <p:nvPr>
            <p:ph type="ftr" sz="quarter" idx="2"/>
          </p:nvPr>
        </p:nvSpPr>
        <p:spPr>
          <a:xfrm>
            <a:off x="0" y="9721850"/>
            <a:ext cx="3078163" cy="512763"/>
          </a:xfrm>
          <a:prstGeom prst="rect">
            <a:avLst/>
          </a:prstGeom>
        </p:spPr>
        <p:txBody>
          <a:bodyPr vert="horz" lIns="91440" tIns="45720" rIns="91440" bIns="45720" rtlCol="0" anchor="b"/>
          <a:lstStyle>
            <a:lvl1pPr algn="l">
              <a:defRPr sz="1200"/>
            </a:lvl1pPr>
          </a:lstStyle>
          <a:p>
            <a:endParaRPr lang="ko-KR" altLang="en-US" dirty="0">
              <a:latin typeface="Rix모던고딕 L" panose="02020603020101020101" pitchFamily="18" charset="-127"/>
              <a:ea typeface="Rix모던고딕 L" panose="02020603020101020101" pitchFamily="18" charset="-127"/>
            </a:endParaRPr>
          </a:p>
        </p:txBody>
      </p:sp>
      <p:sp>
        <p:nvSpPr>
          <p:cNvPr id="5" name="슬라이드 번호 개체 틀 4"/>
          <p:cNvSpPr>
            <a:spLocks noGrp="1"/>
          </p:cNvSpPr>
          <p:nvPr>
            <p:ph type="sldNum" sz="quarter" idx="3"/>
          </p:nvPr>
        </p:nvSpPr>
        <p:spPr>
          <a:xfrm>
            <a:off x="4024313" y="9721850"/>
            <a:ext cx="3078162" cy="512763"/>
          </a:xfrm>
          <a:prstGeom prst="rect">
            <a:avLst/>
          </a:prstGeom>
        </p:spPr>
        <p:txBody>
          <a:bodyPr vert="horz" lIns="91440" tIns="45720" rIns="91440" bIns="45720" rtlCol="0" anchor="b"/>
          <a:lstStyle>
            <a:lvl1pPr algn="r">
              <a:defRPr sz="1200"/>
            </a:lvl1pPr>
          </a:lstStyle>
          <a:p>
            <a:fld id="{2AD60739-7E54-4EEE-A557-D980F97BF9D4}" type="slidenum">
              <a:rPr lang="ko-KR" altLang="en-US" smtClean="0">
                <a:latin typeface="Rix모던고딕 L" panose="02020603020101020101" pitchFamily="18" charset="-127"/>
                <a:ea typeface="Rix모던고딕 L" panose="02020603020101020101" pitchFamily="18" charset="-127"/>
              </a:rPr>
              <a:t>‹#›</a:t>
            </a:fld>
            <a:endParaRPr lang="ko-KR" altLang="en-US" dirty="0">
              <a:latin typeface="Rix모던고딕 L" panose="02020603020101020101" pitchFamily="18" charset="-127"/>
              <a:ea typeface="Rix모던고딕 L" panose="02020603020101020101" pitchFamily="18" charset="-127"/>
            </a:endParaRPr>
          </a:p>
        </p:txBody>
      </p:sp>
    </p:spTree>
    <p:extLst>
      <p:ext uri="{BB962C8B-B14F-4D97-AF65-F5344CB8AC3E}">
        <p14:creationId xmlns:p14="http://schemas.microsoft.com/office/powerpoint/2010/main" val="228161032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2"/>
            <a:ext cx="3078428" cy="513508"/>
          </a:xfrm>
          <a:prstGeom prst="rect">
            <a:avLst/>
          </a:prstGeom>
        </p:spPr>
        <p:txBody>
          <a:bodyPr vert="horz" lIns="94657" tIns="47329" rIns="94657" bIns="47329" rtlCol="0"/>
          <a:lstStyle>
            <a:lvl1pPr algn="l">
              <a:defRPr sz="1200">
                <a:latin typeface="Rix모던고딕 L" panose="02020603020101020101" pitchFamily="18" charset="-127"/>
                <a:ea typeface="Rix모던고딕 L" panose="02020603020101020101" pitchFamily="18" charset="-127"/>
              </a:defRPr>
            </a:lvl1pPr>
          </a:lstStyle>
          <a:p>
            <a:endParaRPr lang="ko-KR" altLang="en-US" dirty="0"/>
          </a:p>
        </p:txBody>
      </p:sp>
      <p:sp>
        <p:nvSpPr>
          <p:cNvPr id="3" name="날짜 개체 틀 2"/>
          <p:cNvSpPr>
            <a:spLocks noGrp="1"/>
          </p:cNvSpPr>
          <p:nvPr>
            <p:ph type="dt" idx="1"/>
          </p:nvPr>
        </p:nvSpPr>
        <p:spPr>
          <a:xfrm>
            <a:off x="4023992" y="2"/>
            <a:ext cx="3078428" cy="513508"/>
          </a:xfrm>
          <a:prstGeom prst="rect">
            <a:avLst/>
          </a:prstGeom>
        </p:spPr>
        <p:txBody>
          <a:bodyPr vert="horz" lIns="94657" tIns="47329" rIns="94657" bIns="47329" rtlCol="0"/>
          <a:lstStyle>
            <a:lvl1pPr algn="r">
              <a:defRPr sz="1200">
                <a:latin typeface="Rix모던고딕 L" panose="02020603020101020101" pitchFamily="18" charset="-127"/>
                <a:ea typeface="Rix모던고딕 L" panose="02020603020101020101" pitchFamily="18" charset="-127"/>
              </a:defRPr>
            </a:lvl1pPr>
          </a:lstStyle>
          <a:p>
            <a:fld id="{782597F2-0C3F-472E-942C-F0680216029B}" type="datetimeFigureOut">
              <a:rPr lang="ko-KR" altLang="en-US" smtClean="0"/>
              <a:pPr/>
              <a:t>2026-06-13</a:t>
            </a:fld>
            <a:endParaRPr lang="ko-KR" altLang="en-US" dirty="0"/>
          </a:p>
        </p:txBody>
      </p:sp>
      <p:sp>
        <p:nvSpPr>
          <p:cNvPr id="4" name="슬라이드 이미지 개체 틀 3"/>
          <p:cNvSpPr>
            <a:spLocks noGrp="1" noRot="1" noChangeAspect="1"/>
          </p:cNvSpPr>
          <p:nvPr>
            <p:ph type="sldImg" idx="2"/>
          </p:nvPr>
        </p:nvSpPr>
        <p:spPr>
          <a:xfrm>
            <a:off x="481013" y="1279525"/>
            <a:ext cx="6142037" cy="3454400"/>
          </a:xfrm>
          <a:prstGeom prst="rect">
            <a:avLst/>
          </a:prstGeom>
          <a:noFill/>
          <a:ln w="12700">
            <a:solidFill>
              <a:prstClr val="black"/>
            </a:solidFill>
          </a:ln>
        </p:spPr>
        <p:txBody>
          <a:bodyPr vert="horz" lIns="94657" tIns="47329" rIns="94657" bIns="47329" rtlCol="0" anchor="ctr"/>
          <a:lstStyle/>
          <a:p>
            <a:endParaRPr lang="ko-KR" altLang="en-US" dirty="0"/>
          </a:p>
        </p:txBody>
      </p:sp>
      <p:sp>
        <p:nvSpPr>
          <p:cNvPr id="5" name="슬라이드 노트 개체 틀 4"/>
          <p:cNvSpPr>
            <a:spLocks noGrp="1"/>
          </p:cNvSpPr>
          <p:nvPr>
            <p:ph type="body" sz="quarter" idx="3"/>
          </p:nvPr>
        </p:nvSpPr>
        <p:spPr>
          <a:xfrm>
            <a:off x="710407" y="4925409"/>
            <a:ext cx="5683250" cy="4029879"/>
          </a:xfrm>
          <a:prstGeom prst="rect">
            <a:avLst/>
          </a:prstGeom>
        </p:spPr>
        <p:txBody>
          <a:bodyPr vert="horz" lIns="94657" tIns="47329" rIns="94657" bIns="47329"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0" y="9721107"/>
            <a:ext cx="3078428" cy="513507"/>
          </a:xfrm>
          <a:prstGeom prst="rect">
            <a:avLst/>
          </a:prstGeom>
        </p:spPr>
        <p:txBody>
          <a:bodyPr vert="horz" lIns="94657" tIns="47329" rIns="94657" bIns="47329" rtlCol="0" anchor="b"/>
          <a:lstStyle>
            <a:lvl1pPr algn="l">
              <a:defRPr sz="1200">
                <a:latin typeface="Rix모던고딕 L" panose="02020603020101020101" pitchFamily="18" charset="-127"/>
                <a:ea typeface="Rix모던고딕 L" panose="02020603020101020101" pitchFamily="18" charset="-127"/>
              </a:defRPr>
            </a:lvl1pPr>
          </a:lstStyle>
          <a:p>
            <a:endParaRPr lang="ko-KR" altLang="en-US" dirty="0"/>
          </a:p>
        </p:txBody>
      </p:sp>
      <p:sp>
        <p:nvSpPr>
          <p:cNvPr id="7" name="슬라이드 번호 개체 틀 6"/>
          <p:cNvSpPr>
            <a:spLocks noGrp="1"/>
          </p:cNvSpPr>
          <p:nvPr>
            <p:ph type="sldNum" sz="quarter" idx="5"/>
          </p:nvPr>
        </p:nvSpPr>
        <p:spPr>
          <a:xfrm>
            <a:off x="4023992" y="9721107"/>
            <a:ext cx="3078428" cy="513507"/>
          </a:xfrm>
          <a:prstGeom prst="rect">
            <a:avLst/>
          </a:prstGeom>
        </p:spPr>
        <p:txBody>
          <a:bodyPr vert="horz" lIns="94657" tIns="47329" rIns="94657" bIns="47329" rtlCol="0" anchor="b"/>
          <a:lstStyle>
            <a:lvl1pPr algn="r">
              <a:defRPr sz="1200">
                <a:latin typeface="Rix모던고딕 L" panose="02020603020101020101" pitchFamily="18" charset="-127"/>
                <a:ea typeface="Rix모던고딕 L" panose="02020603020101020101" pitchFamily="18" charset="-127"/>
              </a:defRPr>
            </a:lvl1pPr>
          </a:lstStyle>
          <a:p>
            <a:fld id="{30C005C8-BD53-41EA-B159-BC12A6DFFB7D}" type="slidenum">
              <a:rPr lang="ko-KR" altLang="en-US" smtClean="0"/>
              <a:pPr/>
              <a:t>‹#›</a:t>
            </a:fld>
            <a:endParaRPr lang="ko-KR" altLang="en-US" dirty="0"/>
          </a:p>
        </p:txBody>
      </p:sp>
    </p:spTree>
    <p:extLst>
      <p:ext uri="{BB962C8B-B14F-4D97-AF65-F5344CB8AC3E}">
        <p14:creationId xmlns:p14="http://schemas.microsoft.com/office/powerpoint/2010/main" val="1813274519"/>
      </p:ext>
    </p:extLst>
  </p:cSld>
  <p:clrMap bg1="lt1" tx1="dk1" bg2="lt2" tx2="dk2" accent1="accent1" accent2="accent2" accent3="accent3" accent4="accent4" accent5="accent5" accent6="accent6" hlink="hlink" folHlink="folHlink"/>
  <p:notesStyle>
    <a:lvl1pPr marL="0" algn="l" defTabSz="914400" rtl="0" eaLnBrk="1" latinLnBrk="1" hangingPunct="1">
      <a:defRPr sz="1200" kern="1200">
        <a:solidFill>
          <a:schemeClr val="tx1"/>
        </a:solidFill>
        <a:latin typeface="Rix모던고딕 L" panose="02020603020101020101" pitchFamily="18" charset="-127"/>
        <a:ea typeface="Rix모던고딕 L" panose="02020603020101020101" pitchFamily="18" charset="-127"/>
        <a:cs typeface="+mn-cs"/>
      </a:defRPr>
    </a:lvl1pPr>
    <a:lvl2pPr marL="457200" algn="l" defTabSz="914400" rtl="0" eaLnBrk="1" latinLnBrk="1" hangingPunct="1">
      <a:defRPr sz="1200" kern="1200">
        <a:solidFill>
          <a:schemeClr val="tx1"/>
        </a:solidFill>
        <a:latin typeface="Rix모던고딕 L" panose="02020603020101020101" pitchFamily="18" charset="-127"/>
        <a:ea typeface="Rix모던고딕 L" panose="02020603020101020101" pitchFamily="18" charset="-127"/>
        <a:cs typeface="+mn-cs"/>
      </a:defRPr>
    </a:lvl2pPr>
    <a:lvl3pPr marL="914400" algn="l" defTabSz="914400" rtl="0" eaLnBrk="1" latinLnBrk="1" hangingPunct="1">
      <a:defRPr sz="1200" kern="1200">
        <a:solidFill>
          <a:schemeClr val="tx1"/>
        </a:solidFill>
        <a:latin typeface="Rix모던고딕 L" panose="02020603020101020101" pitchFamily="18" charset="-127"/>
        <a:ea typeface="Rix모던고딕 L" panose="02020603020101020101" pitchFamily="18" charset="-127"/>
        <a:cs typeface="+mn-cs"/>
      </a:defRPr>
    </a:lvl3pPr>
    <a:lvl4pPr marL="1371600" algn="l" defTabSz="914400" rtl="0" eaLnBrk="1" latinLnBrk="1" hangingPunct="1">
      <a:defRPr sz="1200" kern="1200">
        <a:solidFill>
          <a:schemeClr val="tx1"/>
        </a:solidFill>
        <a:latin typeface="Rix모던고딕 L" panose="02020603020101020101" pitchFamily="18" charset="-127"/>
        <a:ea typeface="Rix모던고딕 L" panose="02020603020101020101" pitchFamily="18" charset="-127"/>
        <a:cs typeface="+mn-cs"/>
      </a:defRPr>
    </a:lvl4pPr>
    <a:lvl5pPr marL="1828800" algn="l" defTabSz="914400" rtl="0" eaLnBrk="1" latinLnBrk="1" hangingPunct="1">
      <a:defRPr sz="1200" kern="1200">
        <a:solidFill>
          <a:schemeClr val="tx1"/>
        </a:solidFill>
        <a:latin typeface="Rix모던고딕 L" panose="02020603020101020101" pitchFamily="18" charset="-127"/>
        <a:ea typeface="Rix모던고딕 L" panose="02020603020101020101" pitchFamily="18" charset="-127"/>
        <a:cs typeface="+mn-cs"/>
      </a:defRPr>
    </a:lvl5pPr>
    <a:lvl6pPr marL="2286000" algn="l" defTabSz="914400" rtl="0" eaLnBrk="1" latinLnBrk="1" hangingPunct="1">
      <a:defRPr sz="1200" kern="1200">
        <a:solidFill>
          <a:schemeClr val="tx1"/>
        </a:solidFill>
        <a:latin typeface="+mn-lt"/>
        <a:ea typeface="+mn-ea"/>
        <a:cs typeface="+mn-cs"/>
      </a:defRPr>
    </a:lvl6pPr>
    <a:lvl7pPr marL="2743200" algn="l" defTabSz="914400" rtl="0" eaLnBrk="1" latinLnBrk="1" hangingPunct="1">
      <a:defRPr sz="1200" kern="1200">
        <a:solidFill>
          <a:schemeClr val="tx1"/>
        </a:solidFill>
        <a:latin typeface="+mn-lt"/>
        <a:ea typeface="+mn-ea"/>
        <a:cs typeface="+mn-cs"/>
      </a:defRPr>
    </a:lvl7pPr>
    <a:lvl8pPr marL="3200400" algn="l" defTabSz="914400" rtl="0" eaLnBrk="1" latinLnBrk="1" hangingPunct="1">
      <a:defRPr sz="1200" kern="1200">
        <a:solidFill>
          <a:schemeClr val="tx1"/>
        </a:solidFill>
        <a:latin typeface="+mn-lt"/>
        <a:ea typeface="+mn-ea"/>
        <a:cs typeface="+mn-cs"/>
      </a:defRPr>
    </a:lvl8pPr>
    <a:lvl9pPr marL="3657600" algn="l" defTabSz="914400" rtl="0" eaLnBrk="1" latinLnBrk="1"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0</a:t>
            </a:fld>
            <a:endParaRPr lang="ko-KR" altLang="en-US"/>
          </a:p>
        </p:txBody>
      </p:sp>
    </p:spTree>
    <p:extLst>
      <p:ext uri="{BB962C8B-B14F-4D97-AF65-F5344CB8AC3E}">
        <p14:creationId xmlns:p14="http://schemas.microsoft.com/office/powerpoint/2010/main" val="393866269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a:t>
            </a:fld>
            <a:endParaRPr lang="ko-KR" altLang="en-US"/>
          </a:p>
        </p:txBody>
      </p:sp>
    </p:spTree>
    <p:extLst>
      <p:ext uri="{BB962C8B-B14F-4D97-AF65-F5344CB8AC3E}">
        <p14:creationId xmlns:p14="http://schemas.microsoft.com/office/powerpoint/2010/main" val="346918447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a:t>
            </a:fld>
            <a:endParaRPr lang="ko-KR" altLang="en-US"/>
          </a:p>
        </p:txBody>
      </p:sp>
    </p:spTree>
    <p:extLst>
      <p:ext uri="{BB962C8B-B14F-4D97-AF65-F5344CB8AC3E}">
        <p14:creationId xmlns:p14="http://schemas.microsoft.com/office/powerpoint/2010/main" val="2638215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슬라이드 이미지 개체 틀 1"/>
          <p:cNvSpPr>
            <a:spLocks noGrp="1" noRot="1" noChangeAspect="1" noTextEdit="1"/>
          </p:cNvSpPr>
          <p:nvPr>
            <p:ph type="sldImg"/>
          </p:nvPr>
        </p:nvSpPr>
        <p:spPr>
          <a:ln/>
        </p:spPr>
      </p:sp>
      <p:sp>
        <p:nvSpPr>
          <p:cNvPr id="34819" name="슬라이드 노트 개체 틀 2"/>
          <p:cNvSpPr>
            <a:spLocks noGrp="1"/>
          </p:cNvSpPr>
          <p:nvPr>
            <p:ph type="body" idx="1"/>
          </p:nvPr>
        </p:nvSpPr>
        <p:spPr>
          <a:noFill/>
          <a:ln/>
        </p:spPr>
        <p:txBody>
          <a:bodyPr/>
          <a:lstStyle/>
          <a:p>
            <a:endParaRPr lang="ko-KR" altLang="en-US"/>
          </a:p>
        </p:txBody>
      </p:sp>
      <p:sp>
        <p:nvSpPr>
          <p:cNvPr id="34820" name="슬라이드 번호 개체 틀 3"/>
          <p:cNvSpPr>
            <a:spLocks noGrp="1"/>
          </p:cNvSpPr>
          <p:nvPr>
            <p:ph type="sldNum" sz="quarter" idx="5"/>
          </p:nvPr>
        </p:nvSpPr>
        <p:spPr>
          <a:noFill/>
        </p:spPr>
        <p:txBody>
          <a:bodyPr/>
          <a:lstStyle/>
          <a:p>
            <a:fld id="{2368A6AE-AA83-40F7-9164-AFA1096595C9}" type="slidenum">
              <a:rPr lang="ko-KR" altLang="en-US" smtClean="0"/>
              <a:pPr/>
              <a:t>4</a:t>
            </a:fld>
            <a:endParaRPr lang="ko-KR" altLang="en-US"/>
          </a:p>
        </p:txBody>
      </p:sp>
    </p:spTree>
    <p:extLst>
      <p:ext uri="{BB962C8B-B14F-4D97-AF65-F5344CB8AC3E}">
        <p14:creationId xmlns:p14="http://schemas.microsoft.com/office/powerpoint/2010/main" val="274806874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슬라이드 이미지 개체 틀 1"/>
          <p:cNvSpPr>
            <a:spLocks noGrp="1" noRot="1" noChangeAspect="1" noTextEdit="1"/>
          </p:cNvSpPr>
          <p:nvPr>
            <p:ph type="sldImg"/>
          </p:nvPr>
        </p:nvSpPr>
        <p:spPr>
          <a:ln/>
        </p:spPr>
      </p:sp>
      <p:sp>
        <p:nvSpPr>
          <p:cNvPr id="34819" name="슬라이드 노트 개체 틀 2"/>
          <p:cNvSpPr>
            <a:spLocks noGrp="1"/>
          </p:cNvSpPr>
          <p:nvPr>
            <p:ph type="body" idx="1"/>
          </p:nvPr>
        </p:nvSpPr>
        <p:spPr>
          <a:noFill/>
          <a:ln/>
        </p:spPr>
        <p:txBody>
          <a:bodyPr/>
          <a:lstStyle/>
          <a:p>
            <a:endParaRPr lang="ko-KR" altLang="en-US"/>
          </a:p>
        </p:txBody>
      </p:sp>
      <p:sp>
        <p:nvSpPr>
          <p:cNvPr id="34820" name="슬라이드 번호 개체 틀 3"/>
          <p:cNvSpPr>
            <a:spLocks noGrp="1"/>
          </p:cNvSpPr>
          <p:nvPr>
            <p:ph type="sldNum" sz="quarter" idx="5"/>
          </p:nvPr>
        </p:nvSpPr>
        <p:spPr>
          <a:noFill/>
        </p:spPr>
        <p:txBody>
          <a:bodyPr/>
          <a:lstStyle/>
          <a:p>
            <a:fld id="{2368A6AE-AA83-40F7-9164-AFA1096595C9}" type="slidenum">
              <a:rPr lang="ko-KR" altLang="en-US" smtClean="0"/>
              <a:pPr/>
              <a:t>5</a:t>
            </a:fld>
            <a:endParaRPr lang="ko-KR" altLang="en-US"/>
          </a:p>
        </p:txBody>
      </p:sp>
    </p:spTree>
    <p:extLst>
      <p:ext uri="{BB962C8B-B14F-4D97-AF65-F5344CB8AC3E}">
        <p14:creationId xmlns:p14="http://schemas.microsoft.com/office/powerpoint/2010/main" val="274806874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6</a:t>
            </a:fld>
            <a:endParaRPr lang="ko-KR" altLang="en-US"/>
          </a:p>
        </p:txBody>
      </p:sp>
    </p:spTree>
    <p:extLst>
      <p:ext uri="{BB962C8B-B14F-4D97-AF65-F5344CB8AC3E}">
        <p14:creationId xmlns:p14="http://schemas.microsoft.com/office/powerpoint/2010/main" val="14476984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7</a:t>
            </a:fld>
            <a:endParaRPr lang="ko-KR" altLang="en-US"/>
          </a:p>
        </p:txBody>
      </p:sp>
    </p:spTree>
    <p:extLst>
      <p:ext uri="{BB962C8B-B14F-4D97-AF65-F5344CB8AC3E}">
        <p14:creationId xmlns:p14="http://schemas.microsoft.com/office/powerpoint/2010/main" val="6898520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8</a:t>
            </a:fld>
            <a:endParaRPr lang="ko-KR" altLang="en-US"/>
          </a:p>
        </p:txBody>
      </p:sp>
    </p:spTree>
    <p:extLst>
      <p:ext uri="{BB962C8B-B14F-4D97-AF65-F5344CB8AC3E}">
        <p14:creationId xmlns:p14="http://schemas.microsoft.com/office/powerpoint/2010/main" val="3728708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9</a:t>
            </a:fld>
            <a:endParaRPr lang="ko-KR" altLang="en-US"/>
          </a:p>
        </p:txBody>
      </p:sp>
    </p:spTree>
    <p:extLst>
      <p:ext uri="{BB962C8B-B14F-4D97-AF65-F5344CB8AC3E}">
        <p14:creationId xmlns:p14="http://schemas.microsoft.com/office/powerpoint/2010/main" val="1891353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10</a:t>
            </a:fld>
            <a:endParaRPr lang="ko-KR" altLang="en-US"/>
          </a:p>
        </p:txBody>
      </p:sp>
    </p:spTree>
    <p:extLst>
      <p:ext uri="{BB962C8B-B14F-4D97-AF65-F5344CB8AC3E}">
        <p14:creationId xmlns:p14="http://schemas.microsoft.com/office/powerpoint/2010/main" val="20229108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11</a:t>
            </a:fld>
            <a:endParaRPr lang="ko-KR" altLang="en-US"/>
          </a:p>
        </p:txBody>
      </p:sp>
    </p:spTree>
    <p:extLst>
      <p:ext uri="{BB962C8B-B14F-4D97-AF65-F5344CB8AC3E}">
        <p14:creationId xmlns:p14="http://schemas.microsoft.com/office/powerpoint/2010/main" val="4524088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12</a:t>
            </a:fld>
            <a:endParaRPr lang="ko-KR" altLang="en-US"/>
          </a:p>
        </p:txBody>
      </p:sp>
    </p:spTree>
    <p:extLst>
      <p:ext uri="{BB962C8B-B14F-4D97-AF65-F5344CB8AC3E}">
        <p14:creationId xmlns:p14="http://schemas.microsoft.com/office/powerpoint/2010/main" val="10574476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13</a:t>
            </a:fld>
            <a:endParaRPr lang="ko-KR" altLang="en-US"/>
          </a:p>
        </p:txBody>
      </p:sp>
    </p:spTree>
    <p:extLst>
      <p:ext uri="{BB962C8B-B14F-4D97-AF65-F5344CB8AC3E}">
        <p14:creationId xmlns:p14="http://schemas.microsoft.com/office/powerpoint/2010/main" val="54498267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14</a:t>
            </a:fld>
            <a:endParaRPr lang="ko-KR" altLang="en-US"/>
          </a:p>
        </p:txBody>
      </p:sp>
    </p:spTree>
    <p:extLst>
      <p:ext uri="{BB962C8B-B14F-4D97-AF65-F5344CB8AC3E}">
        <p14:creationId xmlns:p14="http://schemas.microsoft.com/office/powerpoint/2010/main" val="420722543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15</a:t>
            </a:fld>
            <a:endParaRPr lang="ko-KR" altLang="en-US"/>
          </a:p>
        </p:txBody>
      </p:sp>
    </p:spTree>
    <p:extLst>
      <p:ext uri="{BB962C8B-B14F-4D97-AF65-F5344CB8AC3E}">
        <p14:creationId xmlns:p14="http://schemas.microsoft.com/office/powerpoint/2010/main" val="369794315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16</a:t>
            </a:fld>
            <a:endParaRPr lang="ko-KR" altLang="en-US"/>
          </a:p>
        </p:txBody>
      </p:sp>
    </p:spTree>
    <p:extLst>
      <p:ext uri="{BB962C8B-B14F-4D97-AF65-F5344CB8AC3E}">
        <p14:creationId xmlns:p14="http://schemas.microsoft.com/office/powerpoint/2010/main" val="24998330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17</a:t>
            </a:fld>
            <a:endParaRPr lang="ko-KR" altLang="en-US"/>
          </a:p>
        </p:txBody>
      </p:sp>
    </p:spTree>
    <p:extLst>
      <p:ext uri="{BB962C8B-B14F-4D97-AF65-F5344CB8AC3E}">
        <p14:creationId xmlns:p14="http://schemas.microsoft.com/office/powerpoint/2010/main" val="65825085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18</a:t>
            </a:fld>
            <a:endParaRPr lang="ko-KR" altLang="en-US"/>
          </a:p>
        </p:txBody>
      </p:sp>
    </p:spTree>
    <p:extLst>
      <p:ext uri="{BB962C8B-B14F-4D97-AF65-F5344CB8AC3E}">
        <p14:creationId xmlns:p14="http://schemas.microsoft.com/office/powerpoint/2010/main" val="419693689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19</a:t>
            </a:fld>
            <a:endParaRPr lang="ko-KR" altLang="en-US"/>
          </a:p>
        </p:txBody>
      </p:sp>
    </p:spTree>
    <p:extLst>
      <p:ext uri="{BB962C8B-B14F-4D97-AF65-F5344CB8AC3E}">
        <p14:creationId xmlns:p14="http://schemas.microsoft.com/office/powerpoint/2010/main" val="178330750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20</a:t>
            </a:fld>
            <a:endParaRPr lang="ko-KR" altLang="en-US"/>
          </a:p>
        </p:txBody>
      </p:sp>
    </p:spTree>
    <p:extLst>
      <p:ext uri="{BB962C8B-B14F-4D97-AF65-F5344CB8AC3E}">
        <p14:creationId xmlns:p14="http://schemas.microsoft.com/office/powerpoint/2010/main" val="236080398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21</a:t>
            </a:fld>
            <a:endParaRPr lang="ko-KR" altLang="en-US"/>
          </a:p>
        </p:txBody>
      </p:sp>
    </p:spTree>
    <p:extLst>
      <p:ext uri="{BB962C8B-B14F-4D97-AF65-F5344CB8AC3E}">
        <p14:creationId xmlns:p14="http://schemas.microsoft.com/office/powerpoint/2010/main" val="394025322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22</a:t>
            </a:fld>
            <a:endParaRPr lang="ko-KR" altLang="en-US"/>
          </a:p>
        </p:txBody>
      </p:sp>
    </p:spTree>
    <p:extLst>
      <p:ext uri="{BB962C8B-B14F-4D97-AF65-F5344CB8AC3E}">
        <p14:creationId xmlns:p14="http://schemas.microsoft.com/office/powerpoint/2010/main" val="128539447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23</a:t>
            </a:fld>
            <a:endParaRPr lang="ko-KR" altLang="en-US"/>
          </a:p>
        </p:txBody>
      </p:sp>
    </p:spTree>
    <p:extLst>
      <p:ext uri="{BB962C8B-B14F-4D97-AF65-F5344CB8AC3E}">
        <p14:creationId xmlns:p14="http://schemas.microsoft.com/office/powerpoint/2010/main" val="127639931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25</a:t>
            </a:fld>
            <a:endParaRPr lang="ko-KR" altLang="en-US"/>
          </a:p>
        </p:txBody>
      </p:sp>
    </p:spTree>
    <p:extLst>
      <p:ext uri="{BB962C8B-B14F-4D97-AF65-F5344CB8AC3E}">
        <p14:creationId xmlns:p14="http://schemas.microsoft.com/office/powerpoint/2010/main" val="278063591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26</a:t>
            </a:fld>
            <a:endParaRPr lang="ko-KR" altLang="en-US"/>
          </a:p>
        </p:txBody>
      </p:sp>
    </p:spTree>
    <p:extLst>
      <p:ext uri="{BB962C8B-B14F-4D97-AF65-F5344CB8AC3E}">
        <p14:creationId xmlns:p14="http://schemas.microsoft.com/office/powerpoint/2010/main" val="112496756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27</a:t>
            </a:fld>
            <a:endParaRPr lang="ko-KR" altLang="en-US"/>
          </a:p>
        </p:txBody>
      </p:sp>
    </p:spTree>
    <p:extLst>
      <p:ext uri="{BB962C8B-B14F-4D97-AF65-F5344CB8AC3E}">
        <p14:creationId xmlns:p14="http://schemas.microsoft.com/office/powerpoint/2010/main" val="270338322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28</a:t>
            </a:fld>
            <a:endParaRPr lang="ko-KR" altLang="en-US"/>
          </a:p>
        </p:txBody>
      </p:sp>
    </p:spTree>
    <p:extLst>
      <p:ext uri="{BB962C8B-B14F-4D97-AF65-F5344CB8AC3E}">
        <p14:creationId xmlns:p14="http://schemas.microsoft.com/office/powerpoint/2010/main" val="1895522434"/>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29</a:t>
            </a:fld>
            <a:endParaRPr lang="ko-KR" altLang="en-US"/>
          </a:p>
        </p:txBody>
      </p:sp>
    </p:spTree>
    <p:extLst>
      <p:ext uri="{BB962C8B-B14F-4D97-AF65-F5344CB8AC3E}">
        <p14:creationId xmlns:p14="http://schemas.microsoft.com/office/powerpoint/2010/main" val="738294625"/>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30</a:t>
            </a:fld>
            <a:endParaRPr lang="ko-KR" altLang="en-US"/>
          </a:p>
        </p:txBody>
      </p:sp>
    </p:spTree>
    <p:extLst>
      <p:ext uri="{BB962C8B-B14F-4D97-AF65-F5344CB8AC3E}">
        <p14:creationId xmlns:p14="http://schemas.microsoft.com/office/powerpoint/2010/main" val="3463169783"/>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31</a:t>
            </a:fld>
            <a:endParaRPr lang="ko-KR" altLang="en-US"/>
          </a:p>
        </p:txBody>
      </p:sp>
    </p:spTree>
    <p:extLst>
      <p:ext uri="{BB962C8B-B14F-4D97-AF65-F5344CB8AC3E}">
        <p14:creationId xmlns:p14="http://schemas.microsoft.com/office/powerpoint/2010/main" val="329298738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32</a:t>
            </a:fld>
            <a:endParaRPr lang="ko-KR" altLang="en-US"/>
          </a:p>
        </p:txBody>
      </p:sp>
    </p:spTree>
    <p:extLst>
      <p:ext uri="{BB962C8B-B14F-4D97-AF65-F5344CB8AC3E}">
        <p14:creationId xmlns:p14="http://schemas.microsoft.com/office/powerpoint/2010/main" val="175873814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33</a:t>
            </a:fld>
            <a:endParaRPr lang="ko-KR" altLang="en-US"/>
          </a:p>
        </p:txBody>
      </p:sp>
    </p:spTree>
    <p:extLst>
      <p:ext uri="{BB962C8B-B14F-4D97-AF65-F5344CB8AC3E}">
        <p14:creationId xmlns:p14="http://schemas.microsoft.com/office/powerpoint/2010/main" val="418284375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34</a:t>
            </a:fld>
            <a:endParaRPr lang="ko-KR" altLang="en-US"/>
          </a:p>
        </p:txBody>
      </p:sp>
    </p:spTree>
    <p:extLst>
      <p:ext uri="{BB962C8B-B14F-4D97-AF65-F5344CB8AC3E}">
        <p14:creationId xmlns:p14="http://schemas.microsoft.com/office/powerpoint/2010/main" val="377093407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35</a:t>
            </a:fld>
            <a:endParaRPr lang="ko-KR" altLang="en-US"/>
          </a:p>
        </p:txBody>
      </p:sp>
    </p:spTree>
    <p:extLst>
      <p:ext uri="{BB962C8B-B14F-4D97-AF65-F5344CB8AC3E}">
        <p14:creationId xmlns:p14="http://schemas.microsoft.com/office/powerpoint/2010/main" val="117211943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36</a:t>
            </a:fld>
            <a:endParaRPr lang="ko-KR" altLang="en-US"/>
          </a:p>
        </p:txBody>
      </p:sp>
    </p:spTree>
    <p:extLst>
      <p:ext uri="{BB962C8B-B14F-4D97-AF65-F5344CB8AC3E}">
        <p14:creationId xmlns:p14="http://schemas.microsoft.com/office/powerpoint/2010/main" val="403164628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37</a:t>
            </a:fld>
            <a:endParaRPr lang="ko-KR" altLang="en-US"/>
          </a:p>
        </p:txBody>
      </p:sp>
    </p:spTree>
    <p:extLst>
      <p:ext uri="{BB962C8B-B14F-4D97-AF65-F5344CB8AC3E}">
        <p14:creationId xmlns:p14="http://schemas.microsoft.com/office/powerpoint/2010/main" val="2312689433"/>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38</a:t>
            </a:fld>
            <a:endParaRPr lang="ko-KR" altLang="en-US"/>
          </a:p>
        </p:txBody>
      </p:sp>
    </p:spTree>
    <p:extLst>
      <p:ext uri="{BB962C8B-B14F-4D97-AF65-F5344CB8AC3E}">
        <p14:creationId xmlns:p14="http://schemas.microsoft.com/office/powerpoint/2010/main" val="2246581492"/>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39</a:t>
            </a:fld>
            <a:endParaRPr lang="ko-KR" altLang="en-US"/>
          </a:p>
        </p:txBody>
      </p:sp>
    </p:spTree>
    <p:extLst>
      <p:ext uri="{BB962C8B-B14F-4D97-AF65-F5344CB8AC3E}">
        <p14:creationId xmlns:p14="http://schemas.microsoft.com/office/powerpoint/2010/main" val="421555042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B45BA8-0018-E38E-8D71-2B5EAD8439E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43F4D0D-A059-9390-5D5B-0AFF6F733D3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EDCF1F1-6A27-ED98-EBFF-574FFF6A8022}"/>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3B3CEBDF-EEA1-3A32-78B3-7F1D761069DF}"/>
              </a:ext>
            </a:extLst>
          </p:cNvPr>
          <p:cNvSpPr>
            <a:spLocks noGrp="1"/>
          </p:cNvSpPr>
          <p:nvPr>
            <p:ph type="sldNum" sz="quarter" idx="10"/>
          </p:nvPr>
        </p:nvSpPr>
        <p:spPr/>
        <p:txBody>
          <a:bodyPr/>
          <a:lstStyle/>
          <a:p>
            <a:fld id="{30C005C8-BD53-41EA-B159-BC12A6DFFB7D}" type="slidenum">
              <a:rPr lang="ko-KR" altLang="en-US" smtClean="0"/>
              <a:t>40</a:t>
            </a:fld>
            <a:endParaRPr lang="ko-KR" altLang="en-US"/>
          </a:p>
        </p:txBody>
      </p:sp>
    </p:spTree>
    <p:extLst>
      <p:ext uri="{BB962C8B-B14F-4D97-AF65-F5344CB8AC3E}">
        <p14:creationId xmlns:p14="http://schemas.microsoft.com/office/powerpoint/2010/main" val="962460498"/>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41</a:t>
            </a:fld>
            <a:endParaRPr lang="ko-KR" altLang="en-US"/>
          </a:p>
        </p:txBody>
      </p:sp>
    </p:spTree>
    <p:extLst>
      <p:ext uri="{BB962C8B-B14F-4D97-AF65-F5344CB8AC3E}">
        <p14:creationId xmlns:p14="http://schemas.microsoft.com/office/powerpoint/2010/main" val="2311367739"/>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42</a:t>
            </a:fld>
            <a:endParaRPr lang="ko-KR" altLang="en-US"/>
          </a:p>
        </p:txBody>
      </p:sp>
    </p:spTree>
    <p:extLst>
      <p:ext uri="{BB962C8B-B14F-4D97-AF65-F5344CB8AC3E}">
        <p14:creationId xmlns:p14="http://schemas.microsoft.com/office/powerpoint/2010/main" val="85851231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43</a:t>
            </a:fld>
            <a:endParaRPr lang="ko-KR" altLang="en-US"/>
          </a:p>
        </p:txBody>
      </p:sp>
    </p:spTree>
    <p:extLst>
      <p:ext uri="{BB962C8B-B14F-4D97-AF65-F5344CB8AC3E}">
        <p14:creationId xmlns:p14="http://schemas.microsoft.com/office/powerpoint/2010/main" val="1447924133"/>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44</a:t>
            </a:fld>
            <a:endParaRPr lang="ko-KR" altLang="en-US"/>
          </a:p>
        </p:txBody>
      </p:sp>
    </p:spTree>
    <p:extLst>
      <p:ext uri="{BB962C8B-B14F-4D97-AF65-F5344CB8AC3E}">
        <p14:creationId xmlns:p14="http://schemas.microsoft.com/office/powerpoint/2010/main" val="2688232250"/>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45</a:t>
            </a:fld>
            <a:endParaRPr lang="ko-KR" altLang="en-US"/>
          </a:p>
        </p:txBody>
      </p:sp>
    </p:spTree>
    <p:extLst>
      <p:ext uri="{BB962C8B-B14F-4D97-AF65-F5344CB8AC3E}">
        <p14:creationId xmlns:p14="http://schemas.microsoft.com/office/powerpoint/2010/main" val="1512880247"/>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46</a:t>
            </a:fld>
            <a:endParaRPr lang="ko-KR" altLang="en-US"/>
          </a:p>
        </p:txBody>
      </p:sp>
    </p:spTree>
    <p:extLst>
      <p:ext uri="{BB962C8B-B14F-4D97-AF65-F5344CB8AC3E}">
        <p14:creationId xmlns:p14="http://schemas.microsoft.com/office/powerpoint/2010/main" val="1512880247"/>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47</a:t>
            </a:fld>
            <a:endParaRPr lang="ko-KR" altLang="en-US"/>
          </a:p>
        </p:txBody>
      </p:sp>
    </p:spTree>
    <p:extLst>
      <p:ext uri="{BB962C8B-B14F-4D97-AF65-F5344CB8AC3E}">
        <p14:creationId xmlns:p14="http://schemas.microsoft.com/office/powerpoint/2010/main" val="1047025199"/>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48</a:t>
            </a:fld>
            <a:endParaRPr lang="ko-KR" altLang="en-US"/>
          </a:p>
        </p:txBody>
      </p:sp>
    </p:spTree>
    <p:extLst>
      <p:ext uri="{BB962C8B-B14F-4D97-AF65-F5344CB8AC3E}">
        <p14:creationId xmlns:p14="http://schemas.microsoft.com/office/powerpoint/2010/main" val="1512880247"/>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49</a:t>
            </a:fld>
            <a:endParaRPr lang="ko-KR" altLang="en-US"/>
          </a:p>
        </p:txBody>
      </p:sp>
    </p:spTree>
    <p:extLst>
      <p:ext uri="{BB962C8B-B14F-4D97-AF65-F5344CB8AC3E}">
        <p14:creationId xmlns:p14="http://schemas.microsoft.com/office/powerpoint/2010/main" val="1750494998"/>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a:p>
        </p:txBody>
      </p:sp>
      <p:sp>
        <p:nvSpPr>
          <p:cNvPr id="4" name="슬라이드 번호 개체 틀 3"/>
          <p:cNvSpPr>
            <a:spLocks noGrp="1"/>
          </p:cNvSpPr>
          <p:nvPr>
            <p:ph type="sldNum" sz="quarter" idx="10"/>
          </p:nvPr>
        </p:nvSpPr>
        <p:spPr/>
        <p:txBody>
          <a:bodyPr/>
          <a:lstStyle/>
          <a:p>
            <a:fld id="{30C005C8-BD53-41EA-B159-BC12A6DFFB7D}" type="slidenum">
              <a:rPr lang="ko-KR" altLang="en-US" smtClean="0"/>
              <a:t>50</a:t>
            </a:fld>
            <a:endParaRPr lang="ko-KR" altLang="en-US"/>
          </a:p>
        </p:txBody>
      </p:sp>
    </p:spTree>
    <p:extLst>
      <p:ext uri="{BB962C8B-B14F-4D97-AF65-F5344CB8AC3E}">
        <p14:creationId xmlns:p14="http://schemas.microsoft.com/office/powerpoint/2010/main" val="26930467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제목 슬라이드">
    <p:spTree>
      <p:nvGrpSpPr>
        <p:cNvPr id="1" name=""/>
        <p:cNvGrpSpPr/>
        <p:nvPr/>
      </p:nvGrpSpPr>
      <p:grpSpPr>
        <a:xfrm>
          <a:off x="0" y="0"/>
          <a:ext cx="0" cy="0"/>
          <a:chOff x="0" y="0"/>
          <a:chExt cx="0" cy="0"/>
        </a:xfrm>
      </p:grpSpPr>
      <p:sp>
        <p:nvSpPr>
          <p:cNvPr id="10" name="직사각형 9"/>
          <p:cNvSpPr/>
          <p:nvPr userDrawn="1"/>
        </p:nvSpPr>
        <p:spPr>
          <a:xfrm>
            <a:off x="2290709" y="0"/>
            <a:ext cx="9901291" cy="6898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endParaRPr lang="ko-KR" altLang="en-US" sz="2400" dirty="0">
              <a:solidFill>
                <a:schemeClr val="accent3">
                  <a:lumMod val="50000"/>
                </a:schemeClr>
              </a:solidFill>
            </a:endParaRPr>
          </a:p>
        </p:txBody>
      </p:sp>
      <p:sp>
        <p:nvSpPr>
          <p:cNvPr id="4" name="날짜 개체 틀 3"/>
          <p:cNvSpPr>
            <a:spLocks noGrp="1"/>
          </p:cNvSpPr>
          <p:nvPr>
            <p:ph type="dt" sz="half" idx="10"/>
          </p:nvPr>
        </p:nvSpPr>
        <p:spPr/>
        <p:txBody>
          <a:bodyPr/>
          <a:lstStyle/>
          <a:p>
            <a:fld id="{ADCCE72D-2D75-40FD-B9C5-E48E40FDAF15}" type="datetime1">
              <a:rPr lang="ko-KR" altLang="en-US" smtClean="0"/>
              <a:t>2026-06-13</a:t>
            </a:fld>
            <a:endParaRPr lang="ko-KR" altLang="en-US"/>
          </a:p>
        </p:txBody>
      </p:sp>
      <p:sp>
        <p:nvSpPr>
          <p:cNvPr id="5" name="바닥글 개체 틀 4"/>
          <p:cNvSpPr>
            <a:spLocks noGrp="1"/>
          </p:cNvSpPr>
          <p:nvPr>
            <p:ph type="ftr" sz="quarter" idx="11"/>
          </p:nvPr>
        </p:nvSpPr>
        <p:spPr/>
        <p:txBody>
          <a:bodyPr/>
          <a:lstStyle/>
          <a:p>
            <a:endParaRPr lang="ko-KR" altLang="en-US"/>
          </a:p>
        </p:txBody>
      </p:sp>
      <p:grpSp>
        <p:nvGrpSpPr>
          <p:cNvPr id="13" name="그룹 12"/>
          <p:cNvGrpSpPr/>
          <p:nvPr userDrawn="1"/>
        </p:nvGrpSpPr>
        <p:grpSpPr>
          <a:xfrm>
            <a:off x="0" y="0"/>
            <a:ext cx="2844800" cy="923385"/>
            <a:chOff x="0" y="1206500"/>
            <a:chExt cx="2343150" cy="689865"/>
          </a:xfrm>
        </p:grpSpPr>
        <p:sp>
          <p:nvSpPr>
            <p:cNvPr id="11" name="제목 1"/>
            <p:cNvSpPr txBox="1">
              <a:spLocks/>
            </p:cNvSpPr>
            <p:nvPr userDrawn="1"/>
          </p:nvSpPr>
          <p:spPr>
            <a:xfrm>
              <a:off x="0" y="1206501"/>
              <a:ext cx="2243303" cy="689864"/>
            </a:xfrm>
            <a:prstGeom prst="rect">
              <a:avLst/>
            </a:prstGeom>
            <a:solidFill>
              <a:schemeClr val="bg1">
                <a:lumMod val="50000"/>
              </a:schemeClr>
            </a:solidFill>
          </p:spPr>
          <p:txBody>
            <a:bodyPr vert="horz" lIns="180000" tIns="0" rIns="180000" bIns="0" rtlCol="0" anchor="ctr">
              <a:no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endParaRPr lang="ko-KR" altLang="en-US" sz="2400" dirty="0">
                <a:solidFill>
                  <a:schemeClr val="accent4"/>
                </a:solidFill>
                <a:latin typeface="+mn-ea"/>
                <a:ea typeface="+mn-ea"/>
                <a:cs typeface="Tahoma" panose="020B0604030504040204" pitchFamily="34" charset="0"/>
              </a:endParaRPr>
            </a:p>
          </p:txBody>
        </p:sp>
        <p:sp>
          <p:nvSpPr>
            <p:cNvPr id="12" name="직사각형 11"/>
            <p:cNvSpPr/>
            <p:nvPr userDrawn="1"/>
          </p:nvSpPr>
          <p:spPr>
            <a:xfrm>
              <a:off x="2243083" y="1206500"/>
              <a:ext cx="100067" cy="689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TextBox 13"/>
          <p:cNvSpPr txBox="1"/>
          <p:nvPr userDrawn="1"/>
        </p:nvSpPr>
        <p:spPr>
          <a:xfrm>
            <a:off x="-1" y="677165"/>
            <a:ext cx="2723309" cy="246220"/>
          </a:xfrm>
          <a:prstGeom prst="rect">
            <a:avLst/>
          </a:prstGeom>
          <a:noFill/>
        </p:spPr>
        <p:txBody>
          <a:bodyPr wrap="square" rtlCol="0">
            <a:spAutoFit/>
          </a:bodyPr>
          <a:lstStyle/>
          <a:p>
            <a:pPr algn="dist"/>
            <a:r>
              <a:rPr lang="en-US" altLang="ko-KR" sz="1000" baseline="0" dirty="0" err="1">
                <a:solidFill>
                  <a:schemeClr val="bg2"/>
                </a:solidFill>
              </a:rPr>
              <a:t>Yim</a:t>
            </a:r>
            <a:r>
              <a:rPr lang="en-US" altLang="ko-KR" sz="1000" baseline="0" dirty="0">
                <a:solidFill>
                  <a:schemeClr val="bg2"/>
                </a:solidFill>
              </a:rPr>
              <a:t>, </a:t>
            </a:r>
            <a:r>
              <a:rPr lang="en-US" altLang="ko-KR" sz="1000" baseline="0" dirty="0" err="1">
                <a:solidFill>
                  <a:schemeClr val="bg2"/>
                </a:solidFill>
              </a:rPr>
              <a:t>Byung-Woong</a:t>
            </a:r>
            <a:r>
              <a:rPr lang="en-US" altLang="ko-KR" sz="1000" baseline="0" dirty="0">
                <a:solidFill>
                  <a:schemeClr val="bg2"/>
                </a:solidFill>
              </a:rPr>
              <a:t> </a:t>
            </a:r>
            <a:r>
              <a:rPr lang="en-US" altLang="ko-KR" sz="1000" dirty="0">
                <a:solidFill>
                  <a:schemeClr val="bg2"/>
                </a:solidFill>
              </a:rPr>
              <a:t>All Right</a:t>
            </a:r>
            <a:r>
              <a:rPr lang="en-US" altLang="ko-KR" sz="1000" baseline="0" dirty="0">
                <a:solidFill>
                  <a:schemeClr val="bg2"/>
                </a:solidFill>
              </a:rPr>
              <a:t>s Reserved.</a:t>
            </a:r>
            <a:endParaRPr lang="ko-KR" altLang="en-US" sz="1000" dirty="0">
              <a:solidFill>
                <a:schemeClr val="bg2"/>
              </a:solidFill>
            </a:endParaRPr>
          </a:p>
        </p:txBody>
      </p:sp>
      <p:cxnSp>
        <p:nvCxnSpPr>
          <p:cNvPr id="16" name="직선 연결선 15"/>
          <p:cNvCxnSpPr/>
          <p:nvPr userDrawn="1"/>
        </p:nvCxnSpPr>
        <p:spPr>
          <a:xfrm flipH="1">
            <a:off x="0" y="685800"/>
            <a:ext cx="2844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제목 개체 틀 1"/>
          <p:cNvSpPr>
            <a:spLocks noGrp="1"/>
          </p:cNvSpPr>
          <p:nvPr>
            <p:ph type="title"/>
          </p:nvPr>
        </p:nvSpPr>
        <p:spPr>
          <a:xfrm>
            <a:off x="0" y="69055"/>
            <a:ext cx="2708636" cy="603791"/>
          </a:xfrm>
          <a:prstGeom prst="rect">
            <a:avLst/>
          </a:prstGeom>
        </p:spPr>
        <p:txBody>
          <a:bodyPr vert="horz" lIns="91440" tIns="45720" rIns="91440" bIns="45720" rtlCol="0" anchor="ctr">
            <a:noAutofit/>
          </a:bodyPr>
          <a:lstStyle>
            <a:lvl1pPr algn="ctr">
              <a:defRPr sz="2400">
                <a:solidFill>
                  <a:schemeClr val="accent4"/>
                </a:solidFill>
                <a:latin typeface="Rix모던명조 B" panose="02020603020101020101" pitchFamily="18" charset="-127"/>
                <a:ea typeface="Rix모던명조 B" panose="02020603020101020101" pitchFamily="18" charset="-127"/>
              </a:defRPr>
            </a:lvl1pPr>
          </a:lstStyle>
          <a:p>
            <a:r>
              <a:rPr lang="ko-KR" altLang="en-US" dirty="0"/>
              <a:t>마스터 제목 스타일 편집</a:t>
            </a:r>
          </a:p>
        </p:txBody>
      </p:sp>
      <p:sp>
        <p:nvSpPr>
          <p:cNvPr id="18" name="제목 개체 틀 1"/>
          <p:cNvSpPr txBox="1">
            <a:spLocks/>
          </p:cNvSpPr>
          <p:nvPr userDrawn="1"/>
        </p:nvSpPr>
        <p:spPr>
          <a:xfrm>
            <a:off x="2864182" y="69055"/>
            <a:ext cx="9327818" cy="603791"/>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2400" kern="1200">
                <a:solidFill>
                  <a:schemeClr val="accent4"/>
                </a:solidFill>
                <a:latin typeface="+mj-lt"/>
                <a:ea typeface="+mj-ea"/>
                <a:cs typeface="+mj-cs"/>
              </a:defRPr>
            </a:lvl1pPr>
          </a:lstStyle>
          <a:p>
            <a:pPr algn="l"/>
            <a:endParaRPr lang="ko-KR" altLang="en-US" dirty="0">
              <a:solidFill>
                <a:schemeClr val="accent3">
                  <a:lumMod val="50000"/>
                </a:schemeClr>
              </a:solidFill>
            </a:endParaRPr>
          </a:p>
        </p:txBody>
      </p:sp>
      <p:sp>
        <p:nvSpPr>
          <p:cNvPr id="22" name="텍스트 개체 틀 21"/>
          <p:cNvSpPr>
            <a:spLocks noGrp="1"/>
          </p:cNvSpPr>
          <p:nvPr>
            <p:ph type="body" sz="quarter" idx="13"/>
          </p:nvPr>
        </p:nvSpPr>
        <p:spPr>
          <a:xfrm>
            <a:off x="2959100" y="69055"/>
            <a:ext cx="9232899" cy="603791"/>
          </a:xfrm>
        </p:spPr>
        <p:txBody>
          <a:bodyPr anchor="ctr"/>
          <a:lstStyle>
            <a:lvl1pPr marL="0" indent="0">
              <a:buNone/>
              <a:defRPr b="1">
                <a:solidFill>
                  <a:schemeClr val="accent3">
                    <a:lumMod val="50000"/>
                  </a:schemeClr>
                </a:solidFill>
                <a:latin typeface="Rix모던명조 B" panose="02020603020101020101" pitchFamily="18" charset="-127"/>
                <a:ea typeface="Rix모던명조 B" panose="02020603020101020101" pitchFamily="18" charset="-127"/>
              </a:defRPr>
            </a:lvl1pPr>
          </a:lstStyle>
          <a:p>
            <a:pPr lvl="0"/>
            <a:r>
              <a:rPr lang="ko-KR" altLang="en-US" dirty="0"/>
              <a:t>마스터 텍스트 스타일 편집</a:t>
            </a:r>
          </a:p>
        </p:txBody>
      </p:sp>
    </p:spTree>
    <p:extLst>
      <p:ext uri="{BB962C8B-B14F-4D97-AF65-F5344CB8AC3E}">
        <p14:creationId xmlns:p14="http://schemas.microsoft.com/office/powerpoint/2010/main" val="1315053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3_제목 슬라이드">
    <p:spTree>
      <p:nvGrpSpPr>
        <p:cNvPr id="1" name=""/>
        <p:cNvGrpSpPr/>
        <p:nvPr/>
      </p:nvGrpSpPr>
      <p:grpSpPr>
        <a:xfrm>
          <a:off x="0" y="0"/>
          <a:ext cx="0" cy="0"/>
          <a:chOff x="0" y="0"/>
          <a:chExt cx="0" cy="0"/>
        </a:xfrm>
      </p:grpSpPr>
      <p:sp>
        <p:nvSpPr>
          <p:cNvPr id="10" name="직사각형 9"/>
          <p:cNvSpPr/>
          <p:nvPr userDrawn="1"/>
        </p:nvSpPr>
        <p:spPr>
          <a:xfrm>
            <a:off x="2290709" y="0"/>
            <a:ext cx="9901291" cy="6898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endParaRPr lang="ko-KR" altLang="en-US" sz="2400" dirty="0">
              <a:solidFill>
                <a:schemeClr val="accent3">
                  <a:lumMod val="50000"/>
                </a:schemeClr>
              </a:solidFill>
            </a:endParaRPr>
          </a:p>
        </p:txBody>
      </p:sp>
      <p:sp>
        <p:nvSpPr>
          <p:cNvPr id="4" name="날짜 개체 틀 3"/>
          <p:cNvSpPr>
            <a:spLocks noGrp="1"/>
          </p:cNvSpPr>
          <p:nvPr>
            <p:ph type="dt" sz="half" idx="10"/>
          </p:nvPr>
        </p:nvSpPr>
        <p:spPr/>
        <p:txBody>
          <a:bodyPr/>
          <a:lstStyle/>
          <a:p>
            <a:fld id="{ADCCE72D-2D75-40FD-B9C5-E48E40FDAF15}" type="datetime1">
              <a:rPr lang="ko-KR" altLang="en-US" smtClean="0"/>
              <a:t>2026-06-13</a:t>
            </a:fld>
            <a:endParaRPr lang="ko-KR" altLang="en-US"/>
          </a:p>
        </p:txBody>
      </p:sp>
      <p:sp>
        <p:nvSpPr>
          <p:cNvPr id="5" name="바닥글 개체 틀 4"/>
          <p:cNvSpPr>
            <a:spLocks noGrp="1"/>
          </p:cNvSpPr>
          <p:nvPr>
            <p:ph type="ftr" sz="quarter" idx="11"/>
          </p:nvPr>
        </p:nvSpPr>
        <p:spPr/>
        <p:txBody>
          <a:bodyPr/>
          <a:lstStyle/>
          <a:p>
            <a:endParaRPr lang="ko-KR" altLang="en-US"/>
          </a:p>
        </p:txBody>
      </p:sp>
      <p:grpSp>
        <p:nvGrpSpPr>
          <p:cNvPr id="13" name="그룹 12"/>
          <p:cNvGrpSpPr/>
          <p:nvPr userDrawn="1"/>
        </p:nvGrpSpPr>
        <p:grpSpPr>
          <a:xfrm>
            <a:off x="0" y="0"/>
            <a:ext cx="2844800" cy="923385"/>
            <a:chOff x="0" y="1206500"/>
            <a:chExt cx="2343150" cy="689865"/>
          </a:xfrm>
        </p:grpSpPr>
        <p:sp>
          <p:nvSpPr>
            <p:cNvPr id="11" name="제목 1"/>
            <p:cNvSpPr txBox="1">
              <a:spLocks/>
            </p:cNvSpPr>
            <p:nvPr userDrawn="1"/>
          </p:nvSpPr>
          <p:spPr>
            <a:xfrm>
              <a:off x="0" y="1206501"/>
              <a:ext cx="2243303" cy="689864"/>
            </a:xfrm>
            <a:prstGeom prst="rect">
              <a:avLst/>
            </a:prstGeom>
            <a:solidFill>
              <a:schemeClr val="bg1">
                <a:lumMod val="50000"/>
              </a:schemeClr>
            </a:solidFill>
          </p:spPr>
          <p:txBody>
            <a:bodyPr vert="horz" lIns="180000" tIns="0" rIns="180000" bIns="0" rtlCol="0" anchor="ctr">
              <a:no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endParaRPr lang="ko-KR" altLang="en-US" sz="2400" dirty="0">
                <a:solidFill>
                  <a:schemeClr val="accent4"/>
                </a:solidFill>
                <a:latin typeface="+mn-ea"/>
                <a:ea typeface="+mn-ea"/>
                <a:cs typeface="Tahoma" panose="020B0604030504040204" pitchFamily="34" charset="0"/>
              </a:endParaRPr>
            </a:p>
          </p:txBody>
        </p:sp>
        <p:sp>
          <p:nvSpPr>
            <p:cNvPr id="12" name="직사각형 11"/>
            <p:cNvSpPr/>
            <p:nvPr userDrawn="1"/>
          </p:nvSpPr>
          <p:spPr>
            <a:xfrm>
              <a:off x="2243083" y="1206500"/>
              <a:ext cx="100067" cy="689864"/>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4" name="TextBox 13"/>
          <p:cNvSpPr txBox="1"/>
          <p:nvPr userDrawn="1"/>
        </p:nvSpPr>
        <p:spPr>
          <a:xfrm>
            <a:off x="-1" y="677165"/>
            <a:ext cx="2723309" cy="246220"/>
          </a:xfrm>
          <a:prstGeom prst="rect">
            <a:avLst/>
          </a:prstGeom>
          <a:noFill/>
        </p:spPr>
        <p:txBody>
          <a:bodyPr wrap="square" rtlCol="0">
            <a:spAutoFit/>
          </a:bodyPr>
          <a:lstStyle/>
          <a:p>
            <a:pPr algn="dist"/>
            <a:r>
              <a:rPr lang="en-US" altLang="ko-KR" sz="1000" baseline="0" dirty="0" err="1">
                <a:solidFill>
                  <a:schemeClr val="bg2"/>
                </a:solidFill>
              </a:rPr>
              <a:t>Yim</a:t>
            </a:r>
            <a:r>
              <a:rPr lang="en-US" altLang="ko-KR" sz="1000" baseline="0" dirty="0">
                <a:solidFill>
                  <a:schemeClr val="bg2"/>
                </a:solidFill>
              </a:rPr>
              <a:t>, </a:t>
            </a:r>
            <a:r>
              <a:rPr lang="en-US" altLang="ko-KR" sz="1000" baseline="0" dirty="0" err="1">
                <a:solidFill>
                  <a:schemeClr val="bg2"/>
                </a:solidFill>
              </a:rPr>
              <a:t>Byung-Woong</a:t>
            </a:r>
            <a:r>
              <a:rPr lang="en-US" altLang="ko-KR" sz="1000" baseline="0" dirty="0">
                <a:solidFill>
                  <a:schemeClr val="bg2"/>
                </a:solidFill>
              </a:rPr>
              <a:t> </a:t>
            </a:r>
            <a:r>
              <a:rPr lang="en-US" altLang="ko-KR" sz="1000" dirty="0">
                <a:solidFill>
                  <a:schemeClr val="bg2"/>
                </a:solidFill>
              </a:rPr>
              <a:t>All Right</a:t>
            </a:r>
            <a:r>
              <a:rPr lang="en-US" altLang="ko-KR" sz="1000" baseline="0" dirty="0">
                <a:solidFill>
                  <a:schemeClr val="bg2"/>
                </a:solidFill>
              </a:rPr>
              <a:t>s Reserved.</a:t>
            </a:r>
            <a:endParaRPr lang="ko-KR" altLang="en-US" sz="1000" dirty="0">
              <a:solidFill>
                <a:schemeClr val="bg2"/>
              </a:solidFill>
            </a:endParaRPr>
          </a:p>
        </p:txBody>
      </p:sp>
      <p:cxnSp>
        <p:nvCxnSpPr>
          <p:cNvPr id="16" name="직선 연결선 15"/>
          <p:cNvCxnSpPr/>
          <p:nvPr userDrawn="1"/>
        </p:nvCxnSpPr>
        <p:spPr>
          <a:xfrm flipH="1">
            <a:off x="0" y="685800"/>
            <a:ext cx="2844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7" name="제목 개체 틀 1"/>
          <p:cNvSpPr>
            <a:spLocks noGrp="1"/>
          </p:cNvSpPr>
          <p:nvPr>
            <p:ph type="title"/>
          </p:nvPr>
        </p:nvSpPr>
        <p:spPr>
          <a:xfrm>
            <a:off x="0" y="274320"/>
            <a:ext cx="2708636" cy="398526"/>
          </a:xfrm>
          <a:prstGeom prst="rect">
            <a:avLst/>
          </a:prstGeom>
        </p:spPr>
        <p:txBody>
          <a:bodyPr vert="horz" lIns="91440" tIns="45720" rIns="91440" bIns="45720" rtlCol="0" anchor="ctr">
            <a:noAutofit/>
          </a:bodyPr>
          <a:lstStyle>
            <a:lvl1pPr algn="ctr">
              <a:defRPr sz="2400">
                <a:solidFill>
                  <a:schemeClr val="accent4"/>
                </a:solidFill>
                <a:latin typeface="Rix모던명조 B" panose="02020603020101020101" pitchFamily="18" charset="-127"/>
                <a:ea typeface="Rix모던명조 B" panose="02020603020101020101" pitchFamily="18" charset="-127"/>
              </a:defRPr>
            </a:lvl1pPr>
          </a:lstStyle>
          <a:p>
            <a:r>
              <a:rPr lang="ko-KR" altLang="en-US" dirty="0"/>
              <a:t>마스터 제목 스타일 편집</a:t>
            </a:r>
          </a:p>
        </p:txBody>
      </p:sp>
      <p:sp>
        <p:nvSpPr>
          <p:cNvPr id="18" name="제목 개체 틀 1"/>
          <p:cNvSpPr txBox="1">
            <a:spLocks/>
          </p:cNvSpPr>
          <p:nvPr userDrawn="1"/>
        </p:nvSpPr>
        <p:spPr>
          <a:xfrm>
            <a:off x="2864182" y="69055"/>
            <a:ext cx="9327818" cy="603791"/>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2400" kern="1200">
                <a:solidFill>
                  <a:schemeClr val="accent4"/>
                </a:solidFill>
                <a:latin typeface="+mj-lt"/>
                <a:ea typeface="+mj-ea"/>
                <a:cs typeface="+mj-cs"/>
              </a:defRPr>
            </a:lvl1pPr>
          </a:lstStyle>
          <a:p>
            <a:pPr algn="l"/>
            <a:endParaRPr lang="ko-KR" altLang="en-US" dirty="0">
              <a:solidFill>
                <a:schemeClr val="accent3">
                  <a:lumMod val="50000"/>
                </a:schemeClr>
              </a:solidFill>
            </a:endParaRPr>
          </a:p>
        </p:txBody>
      </p:sp>
      <p:sp>
        <p:nvSpPr>
          <p:cNvPr id="22" name="텍스트 개체 틀 21"/>
          <p:cNvSpPr>
            <a:spLocks noGrp="1"/>
          </p:cNvSpPr>
          <p:nvPr>
            <p:ph type="body" sz="quarter" idx="13"/>
          </p:nvPr>
        </p:nvSpPr>
        <p:spPr>
          <a:xfrm>
            <a:off x="2959100" y="69055"/>
            <a:ext cx="9232899" cy="603791"/>
          </a:xfrm>
        </p:spPr>
        <p:txBody>
          <a:bodyPr anchor="ctr"/>
          <a:lstStyle>
            <a:lvl1pPr marL="0" indent="0">
              <a:buNone/>
              <a:defRPr b="1">
                <a:solidFill>
                  <a:schemeClr val="accent3">
                    <a:lumMod val="50000"/>
                  </a:schemeClr>
                </a:solidFill>
                <a:latin typeface="Rix모던명조 B" panose="02020603020101020101" pitchFamily="18" charset="-127"/>
                <a:ea typeface="Rix모던명조 B" panose="02020603020101020101" pitchFamily="18" charset="-127"/>
              </a:defRPr>
            </a:lvl1pPr>
          </a:lstStyle>
          <a:p>
            <a:pPr lvl="0"/>
            <a:r>
              <a:rPr lang="ko-KR" altLang="en-US" dirty="0"/>
              <a:t>마스터 텍스트 스타일 편집</a:t>
            </a:r>
          </a:p>
        </p:txBody>
      </p:sp>
      <p:sp>
        <p:nvSpPr>
          <p:cNvPr id="2" name="직사각형 1">
            <a:extLst>
              <a:ext uri="{FF2B5EF4-FFF2-40B4-BE49-F238E27FC236}">
                <a16:creationId xmlns:a16="http://schemas.microsoft.com/office/drawing/2014/main" id="{C7D14E75-92C3-4B89-BE74-A6BDEFD9235C}"/>
              </a:ext>
            </a:extLst>
          </p:cNvPr>
          <p:cNvSpPr/>
          <p:nvPr userDrawn="1"/>
        </p:nvSpPr>
        <p:spPr>
          <a:xfrm>
            <a:off x="-4710" y="0"/>
            <a:ext cx="2723309" cy="261758"/>
          </a:xfrm>
          <a:prstGeom prst="rect">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dist"/>
            <a:r>
              <a:rPr lang="en-US" altLang="ko-KR" b="1" dirty="0"/>
              <a:t>CASE STUDY</a:t>
            </a:r>
            <a:endParaRPr lang="ko-KR" altLang="en-US" b="1" dirty="0"/>
          </a:p>
        </p:txBody>
      </p:sp>
    </p:spTree>
    <p:extLst>
      <p:ext uri="{BB962C8B-B14F-4D97-AF65-F5344CB8AC3E}">
        <p14:creationId xmlns:p14="http://schemas.microsoft.com/office/powerpoint/2010/main" val="8025308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제목 슬라이드">
    <p:spTree>
      <p:nvGrpSpPr>
        <p:cNvPr id="1" name=""/>
        <p:cNvGrpSpPr/>
        <p:nvPr/>
      </p:nvGrpSpPr>
      <p:grpSpPr>
        <a:xfrm>
          <a:off x="0" y="0"/>
          <a:ext cx="0" cy="0"/>
          <a:chOff x="0" y="0"/>
          <a:chExt cx="0" cy="0"/>
        </a:xfrm>
      </p:grpSpPr>
      <p:sp>
        <p:nvSpPr>
          <p:cNvPr id="4" name="날짜 개체 틀 3"/>
          <p:cNvSpPr>
            <a:spLocks noGrp="1"/>
          </p:cNvSpPr>
          <p:nvPr>
            <p:ph type="dt" sz="half" idx="10"/>
          </p:nvPr>
        </p:nvSpPr>
        <p:spPr/>
        <p:txBody>
          <a:bodyPr/>
          <a:lstStyle/>
          <a:p>
            <a:fld id="{61BCE929-8EFF-45A1-94DE-CC72DB08EDB3}" type="datetime1">
              <a:rPr lang="ko-KR" altLang="en-US" smtClean="0"/>
              <a:t>2026-06-13</a:t>
            </a:fld>
            <a:endParaRPr lang="ko-KR" altLang="en-US"/>
          </a:p>
        </p:txBody>
      </p:sp>
      <p:sp>
        <p:nvSpPr>
          <p:cNvPr id="5" name="바닥글 개체 틀 4"/>
          <p:cNvSpPr>
            <a:spLocks noGrp="1"/>
          </p:cNvSpPr>
          <p:nvPr>
            <p:ph type="ftr" sz="quarter" idx="11"/>
          </p:nvPr>
        </p:nvSpPr>
        <p:spPr/>
        <p:txBody>
          <a:bodyPr/>
          <a:lstStyle/>
          <a:p>
            <a:endParaRPr lang="ko-KR" altLang="en-US"/>
          </a:p>
        </p:txBody>
      </p:sp>
      <p:sp>
        <p:nvSpPr>
          <p:cNvPr id="6" name="슬라이드 번호 개체 틀 5"/>
          <p:cNvSpPr>
            <a:spLocks noGrp="1"/>
          </p:cNvSpPr>
          <p:nvPr>
            <p:ph type="sldNum" sz="quarter" idx="12"/>
          </p:nvPr>
        </p:nvSpPr>
        <p:spPr/>
        <p:txBody>
          <a:bodyPr/>
          <a:lstStyle/>
          <a:p>
            <a:fld id="{3875FC6C-1516-4DC4-8C58-3090F7D4F003}" type="slidenum">
              <a:rPr lang="ko-KR" altLang="en-US" smtClean="0"/>
              <a:t>‹#›</a:t>
            </a:fld>
            <a:endParaRPr lang="ko-KR" altLang="en-US"/>
          </a:p>
        </p:txBody>
      </p:sp>
      <p:sp>
        <p:nvSpPr>
          <p:cNvPr id="10" name="직사각형 9"/>
          <p:cNvSpPr/>
          <p:nvPr userDrawn="1"/>
        </p:nvSpPr>
        <p:spPr>
          <a:xfrm>
            <a:off x="2290709" y="0"/>
            <a:ext cx="9901291" cy="689864"/>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216000" rIns="216000" rtlCol="0" anchor="ctr"/>
          <a:lstStyle/>
          <a:p>
            <a:endParaRPr lang="ko-KR" altLang="en-US" sz="2400" dirty="0">
              <a:solidFill>
                <a:schemeClr val="accent3">
                  <a:lumMod val="50000"/>
                </a:schemeClr>
              </a:solidFill>
            </a:endParaRPr>
          </a:p>
        </p:txBody>
      </p:sp>
      <p:sp>
        <p:nvSpPr>
          <p:cNvPr id="12" name="제목 1"/>
          <p:cNvSpPr txBox="1">
            <a:spLocks/>
          </p:cNvSpPr>
          <p:nvPr userDrawn="1"/>
        </p:nvSpPr>
        <p:spPr>
          <a:xfrm>
            <a:off x="0" y="1"/>
            <a:ext cx="2723577" cy="923384"/>
          </a:xfrm>
          <a:prstGeom prst="rect">
            <a:avLst/>
          </a:prstGeom>
          <a:solidFill>
            <a:schemeClr val="accent1">
              <a:lumMod val="75000"/>
            </a:schemeClr>
          </a:solidFill>
        </p:spPr>
        <p:txBody>
          <a:bodyPr vert="horz" lIns="180000" tIns="0" rIns="180000" bIns="0" rtlCol="0" anchor="ctr">
            <a:no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endParaRPr lang="ko-KR" altLang="en-US" sz="2400" dirty="0">
              <a:solidFill>
                <a:schemeClr val="accent4"/>
              </a:solidFill>
              <a:latin typeface="+mn-ea"/>
              <a:ea typeface="+mn-ea"/>
              <a:cs typeface="Tahoma" panose="020B0604030504040204" pitchFamily="34" charset="0"/>
            </a:endParaRPr>
          </a:p>
        </p:txBody>
      </p:sp>
      <p:sp>
        <p:nvSpPr>
          <p:cNvPr id="13" name="직사각형 12"/>
          <p:cNvSpPr/>
          <p:nvPr userDrawn="1"/>
        </p:nvSpPr>
        <p:spPr>
          <a:xfrm>
            <a:off x="2723309" y="0"/>
            <a:ext cx="121491" cy="923384"/>
          </a:xfrm>
          <a:prstGeom prst="rect">
            <a:avLst/>
          </a:prstGeom>
          <a:solidFill>
            <a:schemeClr val="tx1">
              <a:lumMod val="95000"/>
              <a:lumOff val="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p:cNvSpPr txBox="1"/>
          <p:nvPr userDrawn="1"/>
        </p:nvSpPr>
        <p:spPr>
          <a:xfrm>
            <a:off x="-1" y="677165"/>
            <a:ext cx="2723309" cy="246220"/>
          </a:xfrm>
          <a:prstGeom prst="rect">
            <a:avLst/>
          </a:prstGeom>
          <a:noFill/>
        </p:spPr>
        <p:txBody>
          <a:bodyPr wrap="square" rtlCol="0">
            <a:spAutoFit/>
          </a:bodyPr>
          <a:lstStyle/>
          <a:p>
            <a:pPr algn="dist"/>
            <a:r>
              <a:rPr lang="en-US" altLang="ko-KR" sz="1000" b="0" baseline="0" dirty="0" err="1">
                <a:solidFill>
                  <a:schemeClr val="bg2"/>
                </a:solidFill>
              </a:rPr>
              <a:t>Yim</a:t>
            </a:r>
            <a:r>
              <a:rPr lang="en-US" altLang="ko-KR" sz="1000" b="0" baseline="0" dirty="0">
                <a:solidFill>
                  <a:schemeClr val="bg2"/>
                </a:solidFill>
              </a:rPr>
              <a:t>, </a:t>
            </a:r>
            <a:r>
              <a:rPr lang="en-US" altLang="ko-KR" sz="1000" b="0" baseline="0" dirty="0" err="1">
                <a:solidFill>
                  <a:schemeClr val="bg2"/>
                </a:solidFill>
              </a:rPr>
              <a:t>Byung-Woong</a:t>
            </a:r>
            <a:r>
              <a:rPr lang="en-US" altLang="ko-KR" sz="1000" b="0" baseline="0" dirty="0">
                <a:solidFill>
                  <a:schemeClr val="bg2"/>
                </a:solidFill>
              </a:rPr>
              <a:t> </a:t>
            </a:r>
            <a:r>
              <a:rPr lang="en-US" altLang="ko-KR" sz="1000" b="0" dirty="0">
                <a:solidFill>
                  <a:schemeClr val="bg2"/>
                </a:solidFill>
              </a:rPr>
              <a:t>All Right</a:t>
            </a:r>
            <a:r>
              <a:rPr lang="en-US" altLang="ko-KR" sz="1000" b="0" baseline="0" dirty="0">
                <a:solidFill>
                  <a:schemeClr val="bg2"/>
                </a:solidFill>
              </a:rPr>
              <a:t>s Reserved.</a:t>
            </a:r>
            <a:endParaRPr lang="ko-KR" altLang="en-US" sz="1000" b="0" dirty="0">
              <a:solidFill>
                <a:schemeClr val="bg2"/>
              </a:solidFill>
            </a:endParaRPr>
          </a:p>
        </p:txBody>
      </p:sp>
      <p:cxnSp>
        <p:nvCxnSpPr>
          <p:cNvPr id="15" name="직선 연결선 14"/>
          <p:cNvCxnSpPr/>
          <p:nvPr userDrawn="1"/>
        </p:nvCxnSpPr>
        <p:spPr>
          <a:xfrm flipH="1">
            <a:off x="0" y="685800"/>
            <a:ext cx="28448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6" name="제목 개체 틀 1"/>
          <p:cNvSpPr>
            <a:spLocks noGrp="1"/>
          </p:cNvSpPr>
          <p:nvPr userDrawn="1">
            <p:ph type="title"/>
          </p:nvPr>
        </p:nvSpPr>
        <p:spPr>
          <a:xfrm>
            <a:off x="0" y="69055"/>
            <a:ext cx="2708636" cy="603791"/>
          </a:xfrm>
          <a:prstGeom prst="rect">
            <a:avLst/>
          </a:prstGeom>
        </p:spPr>
        <p:txBody>
          <a:bodyPr vert="horz" lIns="91440" tIns="45720" rIns="91440" bIns="45720" rtlCol="0" anchor="ctr">
            <a:noAutofit/>
          </a:bodyPr>
          <a:lstStyle>
            <a:lvl1pPr algn="ctr">
              <a:defRPr sz="2400">
                <a:solidFill>
                  <a:srgbClr val="FFFF00"/>
                </a:solidFill>
                <a:latin typeface="Rix모던명조 B" panose="02020603020101020101" pitchFamily="18" charset="-127"/>
                <a:ea typeface="Rix모던명조 B" panose="02020603020101020101" pitchFamily="18" charset="-127"/>
              </a:defRPr>
            </a:lvl1pPr>
          </a:lstStyle>
          <a:p>
            <a:r>
              <a:rPr lang="ko-KR" altLang="en-US" dirty="0"/>
              <a:t>마스터 제목 스타일 편집</a:t>
            </a:r>
          </a:p>
        </p:txBody>
      </p:sp>
      <p:sp>
        <p:nvSpPr>
          <p:cNvPr id="17" name="제목 개체 틀 1"/>
          <p:cNvSpPr txBox="1">
            <a:spLocks/>
          </p:cNvSpPr>
          <p:nvPr userDrawn="1"/>
        </p:nvSpPr>
        <p:spPr>
          <a:xfrm>
            <a:off x="2864182" y="69055"/>
            <a:ext cx="9327818" cy="603791"/>
          </a:xfrm>
          <a:prstGeom prst="rect">
            <a:avLst/>
          </a:prstGeom>
        </p:spPr>
        <p:txBody>
          <a:bodyPr vert="horz" lIns="91440" tIns="45720" rIns="91440" bIns="45720" rtlCol="0" anchor="ctr">
            <a:noAutofit/>
          </a:bodyPr>
          <a:lstStyle>
            <a:lvl1pPr algn="ctr" defTabSz="914400" rtl="0" eaLnBrk="1" latinLnBrk="1" hangingPunct="1">
              <a:lnSpc>
                <a:spcPct val="90000"/>
              </a:lnSpc>
              <a:spcBef>
                <a:spcPct val="0"/>
              </a:spcBef>
              <a:buNone/>
              <a:defRPr sz="2400" kern="1200">
                <a:solidFill>
                  <a:schemeClr val="accent4"/>
                </a:solidFill>
                <a:latin typeface="+mj-lt"/>
                <a:ea typeface="+mj-ea"/>
                <a:cs typeface="+mj-cs"/>
              </a:defRPr>
            </a:lvl1pPr>
          </a:lstStyle>
          <a:p>
            <a:pPr algn="l"/>
            <a:endParaRPr lang="ko-KR" altLang="en-US" dirty="0">
              <a:solidFill>
                <a:schemeClr val="accent3">
                  <a:lumMod val="50000"/>
                </a:schemeClr>
              </a:solidFill>
            </a:endParaRPr>
          </a:p>
        </p:txBody>
      </p:sp>
      <p:sp>
        <p:nvSpPr>
          <p:cNvPr id="18" name="텍스트 개체 틀 21"/>
          <p:cNvSpPr>
            <a:spLocks noGrp="1"/>
          </p:cNvSpPr>
          <p:nvPr userDrawn="1">
            <p:ph type="body" sz="quarter" idx="13"/>
          </p:nvPr>
        </p:nvSpPr>
        <p:spPr>
          <a:xfrm>
            <a:off x="2959100" y="69055"/>
            <a:ext cx="9232899" cy="603791"/>
          </a:xfrm>
        </p:spPr>
        <p:txBody>
          <a:bodyPr anchor="ctr"/>
          <a:lstStyle>
            <a:lvl1pPr marL="0" indent="0">
              <a:buNone/>
              <a:defRPr b="1">
                <a:solidFill>
                  <a:schemeClr val="accent3">
                    <a:lumMod val="50000"/>
                  </a:schemeClr>
                </a:solidFill>
                <a:latin typeface="Rix모던명조 B" panose="02020603020101020101" pitchFamily="18" charset="-127"/>
                <a:ea typeface="Rix모던명조 B" panose="02020603020101020101" pitchFamily="18" charset="-127"/>
              </a:defRPr>
            </a:lvl1pPr>
          </a:lstStyle>
          <a:p>
            <a:pPr lvl="0"/>
            <a:r>
              <a:rPr lang="ko-KR" altLang="en-US" dirty="0"/>
              <a:t>마스터 텍스트 스타일 편집</a:t>
            </a:r>
          </a:p>
        </p:txBody>
      </p:sp>
    </p:spTree>
    <p:extLst>
      <p:ext uri="{BB962C8B-B14F-4D97-AF65-F5344CB8AC3E}">
        <p14:creationId xmlns:p14="http://schemas.microsoft.com/office/powerpoint/2010/main" val="386873678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userDrawn="1">
  <p:cSld name="2_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30881" y="911580"/>
            <a:ext cx="6657226" cy="285420"/>
          </a:xfrm>
        </p:spPr>
        <p:txBody>
          <a:bodyPr lIns="90000" anchor="t">
            <a:spAutoFit/>
          </a:bodyPr>
          <a:lstStyle>
            <a:lvl1pPr algn="just">
              <a:lnSpc>
                <a:spcPts val="1504"/>
              </a:lnSpc>
              <a:defRPr sz="1103">
                <a:latin typeface="Rix모던고딕 M" panose="02020603020101020101" pitchFamily="18" charset="-127"/>
                <a:ea typeface="Rix모던고딕 M" panose="02020603020101020101" pitchFamily="18" charset="-127"/>
              </a:defRPr>
            </a:lvl1pPr>
          </a:lstStyle>
          <a:p>
            <a:r>
              <a:rPr lang="ko-KR" altLang="en-US" dirty="0"/>
              <a:t>마스터 제목 스타일 편집</a:t>
            </a:r>
          </a:p>
        </p:txBody>
      </p:sp>
      <p:sp>
        <p:nvSpPr>
          <p:cNvPr id="3" name="부제목 2"/>
          <p:cNvSpPr>
            <a:spLocks noGrp="1"/>
          </p:cNvSpPr>
          <p:nvPr>
            <p:ph type="subTitle" idx="1"/>
          </p:nvPr>
        </p:nvSpPr>
        <p:spPr>
          <a:xfrm>
            <a:off x="7388107" y="916735"/>
            <a:ext cx="4169541" cy="5417531"/>
          </a:xfrm>
        </p:spPr>
        <p:txBody>
          <a:bodyPr lIns="54000" rIns="0">
            <a:noAutofit/>
          </a:bodyPr>
          <a:lstStyle>
            <a:lvl1pPr marL="0" indent="0" algn="just">
              <a:lnSpc>
                <a:spcPts val="1103"/>
              </a:lnSpc>
              <a:buNone/>
              <a:defRPr sz="852">
                <a:solidFill>
                  <a:schemeClr val="tx1"/>
                </a:solidFill>
                <a:latin typeface="산돌신문제비 L" pitchFamily="18" charset="-127"/>
                <a:ea typeface="산돌신문제비 L" pitchFamily="18" charset="-127"/>
              </a:defRPr>
            </a:lvl1pPr>
            <a:lvl2pPr marL="458389" indent="0" algn="ctr">
              <a:buNone/>
              <a:defRPr>
                <a:solidFill>
                  <a:schemeClr val="tx1">
                    <a:tint val="75000"/>
                  </a:schemeClr>
                </a:solidFill>
              </a:defRPr>
            </a:lvl2pPr>
            <a:lvl3pPr marL="916777" indent="0" algn="ctr">
              <a:buNone/>
              <a:defRPr>
                <a:solidFill>
                  <a:schemeClr val="tx1">
                    <a:tint val="75000"/>
                  </a:schemeClr>
                </a:solidFill>
              </a:defRPr>
            </a:lvl3pPr>
            <a:lvl4pPr marL="1375166" indent="0" algn="ctr">
              <a:buNone/>
              <a:defRPr>
                <a:solidFill>
                  <a:schemeClr val="tx1">
                    <a:tint val="75000"/>
                  </a:schemeClr>
                </a:solidFill>
              </a:defRPr>
            </a:lvl4pPr>
            <a:lvl5pPr marL="1833555" indent="0" algn="ctr">
              <a:buNone/>
              <a:defRPr>
                <a:solidFill>
                  <a:schemeClr val="tx1">
                    <a:tint val="75000"/>
                  </a:schemeClr>
                </a:solidFill>
              </a:defRPr>
            </a:lvl5pPr>
            <a:lvl6pPr marL="2291944" indent="0" algn="ctr">
              <a:buNone/>
              <a:defRPr>
                <a:solidFill>
                  <a:schemeClr val="tx1">
                    <a:tint val="75000"/>
                  </a:schemeClr>
                </a:solidFill>
              </a:defRPr>
            </a:lvl6pPr>
            <a:lvl7pPr marL="2750332" indent="0" algn="ctr">
              <a:buNone/>
              <a:defRPr>
                <a:solidFill>
                  <a:schemeClr val="tx1">
                    <a:tint val="75000"/>
                  </a:schemeClr>
                </a:solidFill>
              </a:defRPr>
            </a:lvl7pPr>
            <a:lvl8pPr marL="3208721" indent="0" algn="ctr">
              <a:buNone/>
              <a:defRPr>
                <a:solidFill>
                  <a:schemeClr val="tx1">
                    <a:tint val="75000"/>
                  </a:schemeClr>
                </a:solidFill>
              </a:defRPr>
            </a:lvl8pPr>
            <a:lvl9pPr marL="3667110" indent="0" algn="ctr">
              <a:buNone/>
              <a:defRPr>
                <a:solidFill>
                  <a:schemeClr val="tx1">
                    <a:tint val="75000"/>
                  </a:schemeClr>
                </a:solidFill>
              </a:defRPr>
            </a:lvl9pPr>
          </a:lstStyle>
          <a:p>
            <a:r>
              <a:rPr lang="ko-KR" altLang="en-US" dirty="0"/>
              <a:t>마스터 부제목 스타일 편집</a:t>
            </a:r>
          </a:p>
        </p:txBody>
      </p:sp>
      <p:cxnSp>
        <p:nvCxnSpPr>
          <p:cNvPr id="7" name="직선 연결선 6"/>
          <p:cNvCxnSpPr/>
          <p:nvPr userDrawn="1"/>
        </p:nvCxnSpPr>
        <p:spPr>
          <a:xfrm>
            <a:off x="7388107" y="540361"/>
            <a:ext cx="0" cy="5793905"/>
          </a:xfrm>
          <a:prstGeom prst="line">
            <a:avLst/>
          </a:prstGeom>
          <a:ln w="12700">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모서리가 둥근 직사각형 9"/>
          <p:cNvSpPr/>
          <p:nvPr userDrawn="1"/>
        </p:nvSpPr>
        <p:spPr>
          <a:xfrm>
            <a:off x="7487537" y="549176"/>
            <a:ext cx="803668" cy="284700"/>
          </a:xfrm>
          <a:prstGeom prst="roundRect">
            <a:avLst>
              <a:gd name="adj" fmla="val 0"/>
            </a:avLst>
          </a:prstGeom>
          <a:solidFill>
            <a:schemeClr val="accent1">
              <a:lumMod val="60000"/>
              <a:lumOff val="4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3" dirty="0">
                <a:solidFill>
                  <a:schemeClr val="tx1"/>
                </a:solidFill>
                <a:latin typeface="Rix커피향 M" panose="02020603020101020101" pitchFamily="18" charset="-127"/>
                <a:ea typeface="Rix커피향 M" panose="02020603020101020101" pitchFamily="18" charset="-127"/>
              </a:rPr>
              <a:t>해 설</a:t>
            </a:r>
          </a:p>
        </p:txBody>
      </p:sp>
      <p:sp>
        <p:nvSpPr>
          <p:cNvPr id="13" name="모서리가 둥근 직사각형 12"/>
          <p:cNvSpPr/>
          <p:nvPr userDrawn="1"/>
        </p:nvSpPr>
        <p:spPr>
          <a:xfrm>
            <a:off x="7388105" y="6342676"/>
            <a:ext cx="635127" cy="229360"/>
          </a:xfrm>
          <a:prstGeom prst="roundRect">
            <a:avLst/>
          </a:prstGeom>
          <a:solidFill>
            <a:schemeClr val="bg1">
              <a:lumMod val="95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53" b="1" dirty="0">
                <a:solidFill>
                  <a:schemeClr val="tx2"/>
                </a:solidFill>
                <a:latin typeface="Rix커피향 M" panose="02020603020101020101" pitchFamily="18" charset="-127"/>
                <a:ea typeface="Rix커피향 M" panose="02020603020101020101" pitchFamily="18" charset="-127"/>
              </a:rPr>
              <a:t>정 답</a:t>
            </a:r>
          </a:p>
        </p:txBody>
      </p:sp>
      <p:sp>
        <p:nvSpPr>
          <p:cNvPr id="29" name="텍스트 개체 틀 28"/>
          <p:cNvSpPr>
            <a:spLocks noGrp="1"/>
          </p:cNvSpPr>
          <p:nvPr>
            <p:ph type="body" sz="quarter" idx="10"/>
          </p:nvPr>
        </p:nvSpPr>
        <p:spPr>
          <a:xfrm>
            <a:off x="732408" y="549176"/>
            <a:ext cx="2528016" cy="286479"/>
          </a:xfrm>
          <a:solidFill>
            <a:schemeClr val="accent1">
              <a:lumMod val="60000"/>
              <a:lumOff val="40000"/>
            </a:schemeClr>
          </a:solidFill>
          <a:ln>
            <a:solidFill>
              <a:schemeClr val="bg1">
                <a:lumMod val="85000"/>
              </a:schemeClr>
            </a:solidFill>
          </a:ln>
        </p:spPr>
        <p:txBody>
          <a:bodyPr lIns="36000" rIns="36000" anchor="ctr">
            <a:noAutofit/>
          </a:bodyPr>
          <a:lstStyle>
            <a:lvl1pPr marL="0" indent="0" algn="ctr">
              <a:buNone/>
              <a:defRPr sz="1053">
                <a:latin typeface="Rix모던고딕 L" panose="02020603020101020101" pitchFamily="18" charset="-127"/>
                <a:ea typeface="Rix모던고딕 L" panose="02020603020101020101" pitchFamily="18" charset="-127"/>
              </a:defRPr>
            </a:lvl1pPr>
          </a:lstStyle>
          <a:p>
            <a:pPr lvl="0"/>
            <a:r>
              <a:rPr lang="ko-KR" altLang="en-US" dirty="0"/>
              <a:t>마스터 텍스트 스타일을 편집합니다</a:t>
            </a:r>
          </a:p>
        </p:txBody>
      </p:sp>
      <p:sp>
        <p:nvSpPr>
          <p:cNvPr id="30" name="텍스트 개체 틀 28"/>
          <p:cNvSpPr>
            <a:spLocks noGrp="1"/>
          </p:cNvSpPr>
          <p:nvPr>
            <p:ph type="body" sz="quarter" idx="11"/>
          </p:nvPr>
        </p:nvSpPr>
        <p:spPr>
          <a:xfrm>
            <a:off x="3260423" y="549176"/>
            <a:ext cx="2886612" cy="286479"/>
          </a:xfrm>
          <a:solidFill>
            <a:schemeClr val="accent1">
              <a:lumMod val="20000"/>
              <a:lumOff val="80000"/>
            </a:schemeClr>
          </a:solidFill>
          <a:ln>
            <a:solidFill>
              <a:schemeClr val="bg1">
                <a:lumMod val="85000"/>
              </a:schemeClr>
            </a:solidFill>
          </a:ln>
        </p:spPr>
        <p:txBody>
          <a:bodyPr lIns="36000" rIns="36000" anchor="ctr">
            <a:normAutofit/>
          </a:bodyPr>
          <a:lstStyle>
            <a:lvl1pPr marL="0" indent="0" algn="ctr">
              <a:buNone/>
              <a:defRPr sz="1053">
                <a:latin typeface="Rix모던고딕 L" panose="02020603020101020101" pitchFamily="18" charset="-127"/>
                <a:ea typeface="Rix모던고딕 L" panose="02020603020101020101" pitchFamily="18" charset="-127"/>
              </a:defRPr>
            </a:lvl1pPr>
          </a:lstStyle>
          <a:p>
            <a:pPr lvl="0"/>
            <a:r>
              <a:rPr lang="ko-KR" altLang="en-US" dirty="0"/>
              <a:t>마스터 텍스트 스타일을 편집합니다</a:t>
            </a:r>
          </a:p>
        </p:txBody>
      </p:sp>
      <p:sp>
        <p:nvSpPr>
          <p:cNvPr id="31" name="텍스트 개체 틀 28"/>
          <p:cNvSpPr>
            <a:spLocks noGrp="1"/>
          </p:cNvSpPr>
          <p:nvPr>
            <p:ph type="body" sz="quarter" idx="12"/>
          </p:nvPr>
        </p:nvSpPr>
        <p:spPr>
          <a:xfrm>
            <a:off x="6144263" y="549176"/>
            <a:ext cx="1141160" cy="286479"/>
          </a:xfrm>
          <a:solidFill>
            <a:schemeClr val="bg1">
              <a:lumMod val="95000"/>
            </a:schemeClr>
          </a:solidFill>
          <a:ln>
            <a:solidFill>
              <a:schemeClr val="bg1">
                <a:lumMod val="85000"/>
              </a:schemeClr>
            </a:solidFill>
          </a:ln>
        </p:spPr>
        <p:txBody>
          <a:bodyPr lIns="36000" rIns="36000" anchor="ctr">
            <a:noAutofit/>
          </a:bodyPr>
          <a:lstStyle>
            <a:lvl1pPr marL="0" indent="0" algn="ctr">
              <a:buNone/>
              <a:defRPr sz="1053">
                <a:latin typeface="Rix커피향 M" panose="02020603020101020101" pitchFamily="18" charset="-127"/>
                <a:ea typeface="Rix커피향 M" panose="02020603020101020101" pitchFamily="18" charset="-127"/>
              </a:defRPr>
            </a:lvl1pPr>
          </a:lstStyle>
          <a:p>
            <a:pPr lvl="0"/>
            <a:r>
              <a:rPr lang="ko-KR" altLang="en-US" dirty="0"/>
              <a:t>마스터 텍스트 스타일을 편집합니다</a:t>
            </a:r>
          </a:p>
        </p:txBody>
      </p:sp>
      <p:sp>
        <p:nvSpPr>
          <p:cNvPr id="32" name="텍스트 개체 틀 28"/>
          <p:cNvSpPr>
            <a:spLocks noGrp="1"/>
          </p:cNvSpPr>
          <p:nvPr>
            <p:ph type="body" sz="quarter" idx="13"/>
          </p:nvPr>
        </p:nvSpPr>
        <p:spPr>
          <a:xfrm>
            <a:off x="8163056" y="6309034"/>
            <a:ext cx="3562305" cy="286479"/>
          </a:xfrm>
          <a:noFill/>
          <a:ln>
            <a:noFill/>
          </a:ln>
        </p:spPr>
        <p:txBody>
          <a:bodyPr anchor="ctr">
            <a:noAutofit/>
          </a:bodyPr>
          <a:lstStyle>
            <a:lvl1pPr marL="0" indent="0" algn="l">
              <a:buNone/>
              <a:defRPr sz="1103">
                <a:latin typeface="Rix모던고딕 B" pitchFamily="18" charset="-127"/>
                <a:ea typeface="Rix모던고딕 B" pitchFamily="18" charset="-127"/>
              </a:defRPr>
            </a:lvl1pPr>
          </a:lstStyle>
          <a:p>
            <a:pPr lvl="0"/>
            <a:r>
              <a:rPr lang="ko-KR" altLang="en-US" dirty="0"/>
              <a:t>마스터 텍스트 스타일을 편집합니다</a:t>
            </a:r>
          </a:p>
        </p:txBody>
      </p:sp>
      <p:sp>
        <p:nvSpPr>
          <p:cNvPr id="34" name="텍스트 개체 틀 28"/>
          <p:cNvSpPr>
            <a:spLocks noGrp="1"/>
          </p:cNvSpPr>
          <p:nvPr>
            <p:ph type="body" sz="quarter" idx="14"/>
          </p:nvPr>
        </p:nvSpPr>
        <p:spPr>
          <a:xfrm>
            <a:off x="732408" y="1315935"/>
            <a:ext cx="6655698" cy="269882"/>
          </a:xfrm>
          <a:noFill/>
          <a:ln>
            <a:solidFill>
              <a:schemeClr val="bg1">
                <a:lumMod val="50000"/>
              </a:schemeClr>
            </a:solidFill>
          </a:ln>
        </p:spPr>
        <p:txBody>
          <a:bodyPr wrap="square" anchor="t">
            <a:spAutoFit/>
          </a:bodyPr>
          <a:lstStyle>
            <a:lvl1pPr marL="143246" indent="-143246" algn="just">
              <a:lnSpc>
                <a:spcPts val="1504"/>
              </a:lnSpc>
              <a:spcBef>
                <a:spcPts val="0"/>
              </a:spcBef>
              <a:buNone/>
              <a:defRPr sz="952">
                <a:latin typeface="Rix모던명조 L" pitchFamily="18" charset="-127"/>
                <a:ea typeface="Rix모던명조 L" pitchFamily="18" charset="-127"/>
              </a:defRPr>
            </a:lvl1pPr>
          </a:lstStyle>
          <a:p>
            <a:pPr lvl="0"/>
            <a:r>
              <a:rPr lang="ko-KR" altLang="en-US" dirty="0"/>
              <a:t>마스터 텍스트 스타일을 편집합니다</a:t>
            </a:r>
          </a:p>
        </p:txBody>
      </p:sp>
      <p:sp>
        <p:nvSpPr>
          <p:cNvPr id="6" name="슬라이드 번호 개체 틀 5"/>
          <p:cNvSpPr>
            <a:spLocks noGrp="1"/>
          </p:cNvSpPr>
          <p:nvPr>
            <p:ph type="sldNum" sz="quarter" idx="17"/>
          </p:nvPr>
        </p:nvSpPr>
        <p:spPr>
          <a:xfrm>
            <a:off x="8712296" y="425377"/>
            <a:ext cx="2845351" cy="408498"/>
          </a:xfrm>
        </p:spPr>
        <p:txBody>
          <a:bodyPr/>
          <a:lstStyle>
            <a:lvl1pPr>
              <a:defRPr sz="3208" b="1" cap="none" spc="0">
                <a:ln w="10160">
                  <a:solidFill>
                    <a:schemeClr val="tx1">
                      <a:lumMod val="50000"/>
                      <a:lumOff val="50000"/>
                    </a:schemeClr>
                  </a:solidFill>
                  <a:prstDash val="solid"/>
                </a:ln>
                <a:solidFill>
                  <a:srgbClr val="FFFFFF"/>
                </a:solidFill>
                <a:effectLst/>
              </a:defRPr>
            </a:lvl1pPr>
          </a:lstStyle>
          <a:p>
            <a:fld id="{67DDBD9C-31A1-4AC6-979A-EBB296D195A4}" type="slidenum">
              <a:rPr lang="ko-KR" altLang="en-US" smtClean="0"/>
              <a:pPr/>
              <a:t>‹#›</a:t>
            </a:fld>
            <a:endParaRPr lang="ko-KR" altLang="en-US" dirty="0"/>
          </a:p>
        </p:txBody>
      </p:sp>
      <p:sp>
        <p:nvSpPr>
          <p:cNvPr id="14" name="텍스트 개체 틀 28"/>
          <p:cNvSpPr>
            <a:spLocks noGrp="1"/>
          </p:cNvSpPr>
          <p:nvPr>
            <p:ph type="body" sz="quarter" idx="18"/>
          </p:nvPr>
        </p:nvSpPr>
        <p:spPr>
          <a:xfrm>
            <a:off x="732408" y="1742184"/>
            <a:ext cx="6655698" cy="271677"/>
          </a:xfrm>
          <a:noFill/>
          <a:ln>
            <a:noFill/>
          </a:ln>
        </p:spPr>
        <p:txBody>
          <a:bodyPr wrap="square" anchor="t">
            <a:spAutoFit/>
          </a:bodyPr>
          <a:lstStyle>
            <a:lvl1pPr marL="143246" indent="-143246" algn="just">
              <a:lnSpc>
                <a:spcPts val="1504"/>
              </a:lnSpc>
              <a:spcBef>
                <a:spcPts val="0"/>
              </a:spcBef>
              <a:buNone/>
              <a:defRPr sz="1003">
                <a:latin typeface="Rix모던명조 L" pitchFamily="18" charset="-127"/>
                <a:ea typeface="Rix모던명조 L" pitchFamily="18" charset="-127"/>
              </a:defRPr>
            </a:lvl1pPr>
          </a:lstStyle>
          <a:p>
            <a:pPr lvl="0"/>
            <a:r>
              <a:rPr lang="ko-KR" altLang="en-US" dirty="0"/>
              <a:t>마스터 텍스트 스타일을 편집합니다</a:t>
            </a:r>
          </a:p>
        </p:txBody>
      </p:sp>
    </p:spTree>
    <p:extLst>
      <p:ext uri="{BB962C8B-B14F-4D97-AF65-F5344CB8AC3E}">
        <p14:creationId xmlns:p14="http://schemas.microsoft.com/office/powerpoint/2010/main" val="17828265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userDrawn="1">
  <p:cSld name="5_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30881" y="911580"/>
            <a:ext cx="6657226" cy="285420"/>
          </a:xfrm>
        </p:spPr>
        <p:txBody>
          <a:bodyPr lIns="90000" anchor="t">
            <a:spAutoFit/>
          </a:bodyPr>
          <a:lstStyle>
            <a:lvl1pPr algn="just">
              <a:lnSpc>
                <a:spcPts val="1504"/>
              </a:lnSpc>
              <a:defRPr sz="1103">
                <a:latin typeface="Rix모던고딕 M" panose="02020603020101020101" pitchFamily="18" charset="-127"/>
                <a:ea typeface="Rix모던고딕 M" panose="02020603020101020101" pitchFamily="18" charset="-127"/>
              </a:defRPr>
            </a:lvl1pPr>
          </a:lstStyle>
          <a:p>
            <a:r>
              <a:rPr lang="ko-KR" altLang="en-US" dirty="0"/>
              <a:t>마스터 제목 스타일 편집</a:t>
            </a:r>
          </a:p>
        </p:txBody>
      </p:sp>
      <p:sp>
        <p:nvSpPr>
          <p:cNvPr id="3" name="부제목 2"/>
          <p:cNvSpPr>
            <a:spLocks noGrp="1"/>
          </p:cNvSpPr>
          <p:nvPr>
            <p:ph type="subTitle" idx="1"/>
          </p:nvPr>
        </p:nvSpPr>
        <p:spPr>
          <a:xfrm>
            <a:off x="7388107" y="916735"/>
            <a:ext cx="4169541" cy="5417531"/>
          </a:xfrm>
        </p:spPr>
        <p:txBody>
          <a:bodyPr lIns="54000" rIns="0">
            <a:noAutofit/>
          </a:bodyPr>
          <a:lstStyle>
            <a:lvl1pPr marL="0" indent="0" algn="just">
              <a:lnSpc>
                <a:spcPts val="1103"/>
              </a:lnSpc>
              <a:buNone/>
              <a:defRPr sz="852">
                <a:solidFill>
                  <a:schemeClr val="tx1"/>
                </a:solidFill>
                <a:latin typeface="산돌신문제비 L" pitchFamily="18" charset="-127"/>
                <a:ea typeface="산돌신문제비 L" pitchFamily="18" charset="-127"/>
              </a:defRPr>
            </a:lvl1pPr>
            <a:lvl2pPr marL="458389" indent="0" algn="ctr">
              <a:buNone/>
              <a:defRPr>
                <a:solidFill>
                  <a:schemeClr val="tx1">
                    <a:tint val="75000"/>
                  </a:schemeClr>
                </a:solidFill>
              </a:defRPr>
            </a:lvl2pPr>
            <a:lvl3pPr marL="916777" indent="0" algn="ctr">
              <a:buNone/>
              <a:defRPr>
                <a:solidFill>
                  <a:schemeClr val="tx1">
                    <a:tint val="75000"/>
                  </a:schemeClr>
                </a:solidFill>
              </a:defRPr>
            </a:lvl3pPr>
            <a:lvl4pPr marL="1375166" indent="0" algn="ctr">
              <a:buNone/>
              <a:defRPr>
                <a:solidFill>
                  <a:schemeClr val="tx1">
                    <a:tint val="75000"/>
                  </a:schemeClr>
                </a:solidFill>
              </a:defRPr>
            </a:lvl4pPr>
            <a:lvl5pPr marL="1833555" indent="0" algn="ctr">
              <a:buNone/>
              <a:defRPr>
                <a:solidFill>
                  <a:schemeClr val="tx1">
                    <a:tint val="75000"/>
                  </a:schemeClr>
                </a:solidFill>
              </a:defRPr>
            </a:lvl5pPr>
            <a:lvl6pPr marL="2291944" indent="0" algn="ctr">
              <a:buNone/>
              <a:defRPr>
                <a:solidFill>
                  <a:schemeClr val="tx1">
                    <a:tint val="75000"/>
                  </a:schemeClr>
                </a:solidFill>
              </a:defRPr>
            </a:lvl6pPr>
            <a:lvl7pPr marL="2750332" indent="0" algn="ctr">
              <a:buNone/>
              <a:defRPr>
                <a:solidFill>
                  <a:schemeClr val="tx1">
                    <a:tint val="75000"/>
                  </a:schemeClr>
                </a:solidFill>
              </a:defRPr>
            </a:lvl7pPr>
            <a:lvl8pPr marL="3208721" indent="0" algn="ctr">
              <a:buNone/>
              <a:defRPr>
                <a:solidFill>
                  <a:schemeClr val="tx1">
                    <a:tint val="75000"/>
                  </a:schemeClr>
                </a:solidFill>
              </a:defRPr>
            </a:lvl8pPr>
            <a:lvl9pPr marL="3667110" indent="0" algn="ctr">
              <a:buNone/>
              <a:defRPr>
                <a:solidFill>
                  <a:schemeClr val="tx1">
                    <a:tint val="75000"/>
                  </a:schemeClr>
                </a:solidFill>
              </a:defRPr>
            </a:lvl9pPr>
          </a:lstStyle>
          <a:p>
            <a:r>
              <a:rPr lang="ko-KR" altLang="en-US" dirty="0"/>
              <a:t>마스터 부제목 스타일 편집</a:t>
            </a:r>
          </a:p>
        </p:txBody>
      </p:sp>
      <p:cxnSp>
        <p:nvCxnSpPr>
          <p:cNvPr id="7" name="직선 연결선 6"/>
          <p:cNvCxnSpPr/>
          <p:nvPr userDrawn="1"/>
        </p:nvCxnSpPr>
        <p:spPr>
          <a:xfrm>
            <a:off x="7388107" y="540361"/>
            <a:ext cx="0" cy="5793905"/>
          </a:xfrm>
          <a:prstGeom prst="line">
            <a:avLst/>
          </a:prstGeom>
          <a:ln w="12700">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모서리가 둥근 직사각형 9"/>
          <p:cNvSpPr/>
          <p:nvPr userDrawn="1"/>
        </p:nvSpPr>
        <p:spPr>
          <a:xfrm>
            <a:off x="7487537" y="549176"/>
            <a:ext cx="803668" cy="284700"/>
          </a:xfrm>
          <a:prstGeom prst="roundRect">
            <a:avLst>
              <a:gd name="adj" fmla="val 0"/>
            </a:avLst>
          </a:prstGeom>
          <a:solidFill>
            <a:schemeClr val="accent1">
              <a:lumMod val="60000"/>
              <a:lumOff val="4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3" dirty="0">
                <a:solidFill>
                  <a:schemeClr val="tx1"/>
                </a:solidFill>
                <a:latin typeface="Rix커피향 M" panose="02020603020101020101" pitchFamily="18" charset="-127"/>
                <a:ea typeface="Rix커피향 M" panose="02020603020101020101" pitchFamily="18" charset="-127"/>
              </a:rPr>
              <a:t>해 설</a:t>
            </a:r>
          </a:p>
        </p:txBody>
      </p:sp>
      <p:sp>
        <p:nvSpPr>
          <p:cNvPr id="13" name="모서리가 둥근 직사각형 12"/>
          <p:cNvSpPr/>
          <p:nvPr userDrawn="1"/>
        </p:nvSpPr>
        <p:spPr>
          <a:xfrm>
            <a:off x="7388106" y="6342676"/>
            <a:ext cx="635127" cy="229360"/>
          </a:xfrm>
          <a:prstGeom prst="roundRect">
            <a:avLst/>
          </a:prstGeom>
          <a:solidFill>
            <a:schemeClr val="bg1">
              <a:lumMod val="95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53" b="1" dirty="0">
                <a:solidFill>
                  <a:schemeClr val="tx2"/>
                </a:solidFill>
                <a:latin typeface="Rix커피향 M" panose="02020603020101020101" pitchFamily="18" charset="-127"/>
                <a:ea typeface="Rix커피향 M" panose="02020603020101020101" pitchFamily="18" charset="-127"/>
              </a:rPr>
              <a:t>정 답</a:t>
            </a:r>
          </a:p>
        </p:txBody>
      </p:sp>
      <p:sp>
        <p:nvSpPr>
          <p:cNvPr id="29" name="텍스트 개체 틀 28"/>
          <p:cNvSpPr>
            <a:spLocks noGrp="1"/>
          </p:cNvSpPr>
          <p:nvPr>
            <p:ph type="body" sz="quarter" idx="10"/>
          </p:nvPr>
        </p:nvSpPr>
        <p:spPr>
          <a:xfrm>
            <a:off x="732408" y="549176"/>
            <a:ext cx="2529141" cy="286479"/>
          </a:xfrm>
          <a:solidFill>
            <a:schemeClr val="accent1">
              <a:lumMod val="60000"/>
              <a:lumOff val="40000"/>
            </a:schemeClr>
          </a:solidFill>
          <a:ln>
            <a:solidFill>
              <a:schemeClr val="bg1">
                <a:lumMod val="85000"/>
              </a:schemeClr>
            </a:solidFill>
          </a:ln>
        </p:spPr>
        <p:txBody>
          <a:bodyPr lIns="36000" rIns="36000" anchor="ctr">
            <a:noAutofit/>
          </a:bodyPr>
          <a:lstStyle>
            <a:lvl1pPr marL="0" indent="0" algn="ctr">
              <a:buNone/>
              <a:defRPr sz="1053">
                <a:latin typeface="Rix모던고딕 L" panose="02020603020101020101" pitchFamily="18" charset="-127"/>
                <a:ea typeface="Rix모던고딕 L" panose="02020603020101020101" pitchFamily="18" charset="-127"/>
              </a:defRPr>
            </a:lvl1pPr>
          </a:lstStyle>
          <a:p>
            <a:pPr lvl="0"/>
            <a:r>
              <a:rPr lang="ko-KR" altLang="en-US" dirty="0"/>
              <a:t>마스터 텍스트 스타일을 편집합니다</a:t>
            </a:r>
          </a:p>
        </p:txBody>
      </p:sp>
      <p:sp>
        <p:nvSpPr>
          <p:cNvPr id="30" name="텍스트 개체 틀 28"/>
          <p:cNvSpPr>
            <a:spLocks noGrp="1"/>
          </p:cNvSpPr>
          <p:nvPr>
            <p:ph type="body" sz="quarter" idx="11"/>
          </p:nvPr>
        </p:nvSpPr>
        <p:spPr>
          <a:xfrm>
            <a:off x="3261549" y="549176"/>
            <a:ext cx="2885485" cy="286479"/>
          </a:xfrm>
          <a:solidFill>
            <a:schemeClr val="accent1">
              <a:lumMod val="20000"/>
              <a:lumOff val="80000"/>
            </a:schemeClr>
          </a:solidFill>
          <a:ln>
            <a:solidFill>
              <a:schemeClr val="bg1">
                <a:lumMod val="85000"/>
              </a:schemeClr>
            </a:solidFill>
          </a:ln>
        </p:spPr>
        <p:txBody>
          <a:bodyPr lIns="36000" rIns="36000" anchor="ctr">
            <a:normAutofit/>
          </a:bodyPr>
          <a:lstStyle>
            <a:lvl1pPr marL="0" indent="0" algn="ctr">
              <a:buNone/>
              <a:defRPr sz="1053">
                <a:latin typeface="Rix모던고딕 L" panose="02020603020101020101" pitchFamily="18" charset="-127"/>
                <a:ea typeface="Rix모던고딕 L" panose="02020603020101020101" pitchFamily="18" charset="-127"/>
              </a:defRPr>
            </a:lvl1pPr>
          </a:lstStyle>
          <a:p>
            <a:pPr lvl="0"/>
            <a:r>
              <a:rPr lang="ko-KR" altLang="en-US" dirty="0"/>
              <a:t>마스터 텍스트 스타일을 편집합니다</a:t>
            </a:r>
          </a:p>
        </p:txBody>
      </p:sp>
      <p:sp>
        <p:nvSpPr>
          <p:cNvPr id="31" name="텍스트 개체 틀 28"/>
          <p:cNvSpPr>
            <a:spLocks noGrp="1"/>
          </p:cNvSpPr>
          <p:nvPr>
            <p:ph type="body" sz="quarter" idx="12"/>
          </p:nvPr>
        </p:nvSpPr>
        <p:spPr>
          <a:xfrm>
            <a:off x="6144263" y="549176"/>
            <a:ext cx="1141160" cy="286479"/>
          </a:xfrm>
          <a:solidFill>
            <a:schemeClr val="bg1">
              <a:lumMod val="95000"/>
            </a:schemeClr>
          </a:solidFill>
          <a:ln>
            <a:solidFill>
              <a:schemeClr val="bg1">
                <a:lumMod val="85000"/>
              </a:schemeClr>
            </a:solidFill>
          </a:ln>
        </p:spPr>
        <p:txBody>
          <a:bodyPr lIns="36000" rIns="36000" anchor="ctr">
            <a:noAutofit/>
          </a:bodyPr>
          <a:lstStyle>
            <a:lvl1pPr marL="0" indent="0" algn="ctr">
              <a:buNone/>
              <a:defRPr sz="1053">
                <a:latin typeface="Rix커피향 M" panose="02020603020101020101" pitchFamily="18" charset="-127"/>
                <a:ea typeface="Rix커피향 M" panose="02020603020101020101" pitchFamily="18" charset="-127"/>
              </a:defRPr>
            </a:lvl1pPr>
          </a:lstStyle>
          <a:p>
            <a:pPr lvl="0"/>
            <a:r>
              <a:rPr lang="ko-KR" altLang="en-US" dirty="0"/>
              <a:t>마스터 텍스트 스타일을 편집합니다</a:t>
            </a:r>
          </a:p>
        </p:txBody>
      </p:sp>
      <p:sp>
        <p:nvSpPr>
          <p:cNvPr id="32" name="텍스트 개체 틀 28"/>
          <p:cNvSpPr>
            <a:spLocks noGrp="1"/>
          </p:cNvSpPr>
          <p:nvPr>
            <p:ph type="body" sz="quarter" idx="13"/>
          </p:nvPr>
        </p:nvSpPr>
        <p:spPr>
          <a:xfrm>
            <a:off x="8163058" y="6309034"/>
            <a:ext cx="3562305" cy="286479"/>
          </a:xfrm>
          <a:noFill/>
          <a:ln>
            <a:noFill/>
          </a:ln>
        </p:spPr>
        <p:txBody>
          <a:bodyPr anchor="ctr">
            <a:noAutofit/>
          </a:bodyPr>
          <a:lstStyle>
            <a:lvl1pPr marL="0" indent="0" algn="l">
              <a:buNone/>
              <a:defRPr sz="1103">
                <a:latin typeface="Rix모던고딕 B" pitchFamily="18" charset="-127"/>
                <a:ea typeface="Rix모던고딕 B" pitchFamily="18" charset="-127"/>
              </a:defRPr>
            </a:lvl1pPr>
          </a:lstStyle>
          <a:p>
            <a:pPr lvl="0"/>
            <a:r>
              <a:rPr lang="ko-KR" altLang="en-US" dirty="0"/>
              <a:t>마스터 텍스트 스타일을 편집합니다</a:t>
            </a:r>
          </a:p>
        </p:txBody>
      </p:sp>
      <p:sp>
        <p:nvSpPr>
          <p:cNvPr id="34" name="텍스트 개체 틀 28"/>
          <p:cNvSpPr>
            <a:spLocks noGrp="1"/>
          </p:cNvSpPr>
          <p:nvPr>
            <p:ph type="body" sz="quarter" idx="14"/>
          </p:nvPr>
        </p:nvSpPr>
        <p:spPr>
          <a:xfrm>
            <a:off x="732407" y="1742184"/>
            <a:ext cx="6655700" cy="271677"/>
          </a:xfrm>
          <a:noFill/>
          <a:ln>
            <a:noFill/>
          </a:ln>
        </p:spPr>
        <p:txBody>
          <a:bodyPr anchor="t">
            <a:spAutoFit/>
          </a:bodyPr>
          <a:lstStyle>
            <a:lvl1pPr marL="143246" indent="-143246" algn="just">
              <a:lnSpc>
                <a:spcPts val="1504"/>
              </a:lnSpc>
              <a:spcBef>
                <a:spcPts val="0"/>
              </a:spcBef>
              <a:buNone/>
              <a:defRPr sz="1003">
                <a:latin typeface="Rix모던명조 L" pitchFamily="18" charset="-127"/>
                <a:ea typeface="Rix모던명조 L" pitchFamily="18" charset="-127"/>
              </a:defRPr>
            </a:lvl1pPr>
          </a:lstStyle>
          <a:p>
            <a:pPr lvl="0"/>
            <a:r>
              <a:rPr lang="ko-KR" altLang="en-US" dirty="0"/>
              <a:t>마스터 텍스트 스타일을 편집합니다</a:t>
            </a:r>
          </a:p>
        </p:txBody>
      </p:sp>
      <p:sp>
        <p:nvSpPr>
          <p:cNvPr id="6" name="슬라이드 번호 개체 틀 5"/>
          <p:cNvSpPr>
            <a:spLocks noGrp="1"/>
          </p:cNvSpPr>
          <p:nvPr>
            <p:ph type="sldNum" sz="quarter" idx="17"/>
          </p:nvPr>
        </p:nvSpPr>
        <p:spPr>
          <a:xfrm>
            <a:off x="8712296" y="425377"/>
            <a:ext cx="2845351" cy="408498"/>
          </a:xfrm>
        </p:spPr>
        <p:txBody>
          <a:bodyPr/>
          <a:lstStyle>
            <a:lvl1pPr>
              <a:defRPr sz="3208" b="1" cap="none" spc="0">
                <a:ln w="10160">
                  <a:solidFill>
                    <a:schemeClr val="tx1">
                      <a:lumMod val="50000"/>
                      <a:lumOff val="50000"/>
                    </a:schemeClr>
                  </a:solidFill>
                  <a:prstDash val="solid"/>
                </a:ln>
                <a:solidFill>
                  <a:srgbClr val="FFFFFF"/>
                </a:solidFill>
                <a:effectLst/>
              </a:defRPr>
            </a:lvl1pPr>
          </a:lstStyle>
          <a:p>
            <a:fld id="{67DDBD9C-31A1-4AC6-979A-EBB296D195A4}" type="slidenum">
              <a:rPr lang="ko-KR" altLang="en-US" smtClean="0"/>
              <a:pPr/>
              <a:t>‹#›</a:t>
            </a:fld>
            <a:endParaRPr lang="ko-KR" altLang="en-US" dirty="0"/>
          </a:p>
        </p:txBody>
      </p:sp>
    </p:spTree>
    <p:extLst>
      <p:ext uri="{BB962C8B-B14F-4D97-AF65-F5344CB8AC3E}">
        <p14:creationId xmlns:p14="http://schemas.microsoft.com/office/powerpoint/2010/main" val="27102662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6_제목 슬라이드">
    <p:spTree>
      <p:nvGrpSpPr>
        <p:cNvPr id="1" name=""/>
        <p:cNvGrpSpPr/>
        <p:nvPr/>
      </p:nvGrpSpPr>
      <p:grpSpPr>
        <a:xfrm>
          <a:off x="0" y="0"/>
          <a:ext cx="0" cy="0"/>
          <a:chOff x="0" y="0"/>
          <a:chExt cx="0" cy="0"/>
        </a:xfrm>
      </p:grpSpPr>
      <p:sp>
        <p:nvSpPr>
          <p:cNvPr id="2" name="제목 1"/>
          <p:cNvSpPr>
            <a:spLocks noGrp="1"/>
          </p:cNvSpPr>
          <p:nvPr>
            <p:ph type="ctrTitle"/>
          </p:nvPr>
        </p:nvSpPr>
        <p:spPr>
          <a:xfrm>
            <a:off x="730881" y="911580"/>
            <a:ext cx="6657226" cy="285420"/>
          </a:xfrm>
        </p:spPr>
        <p:txBody>
          <a:bodyPr lIns="90000" anchor="t">
            <a:spAutoFit/>
          </a:bodyPr>
          <a:lstStyle>
            <a:lvl1pPr algn="just">
              <a:lnSpc>
                <a:spcPts val="1504"/>
              </a:lnSpc>
              <a:defRPr sz="1103">
                <a:latin typeface="Rix모던고딕 M" panose="02020603020101020101" pitchFamily="18" charset="-127"/>
                <a:ea typeface="Rix모던고딕 M" panose="02020603020101020101" pitchFamily="18" charset="-127"/>
              </a:defRPr>
            </a:lvl1pPr>
          </a:lstStyle>
          <a:p>
            <a:r>
              <a:rPr lang="ko-KR" altLang="en-US" dirty="0"/>
              <a:t>마스터 제목 스타일 편집</a:t>
            </a:r>
          </a:p>
        </p:txBody>
      </p:sp>
      <p:sp>
        <p:nvSpPr>
          <p:cNvPr id="3" name="부제목 2"/>
          <p:cNvSpPr>
            <a:spLocks noGrp="1"/>
          </p:cNvSpPr>
          <p:nvPr>
            <p:ph type="subTitle" idx="1"/>
          </p:nvPr>
        </p:nvSpPr>
        <p:spPr>
          <a:xfrm>
            <a:off x="7388107" y="916735"/>
            <a:ext cx="4169541" cy="5417531"/>
          </a:xfrm>
        </p:spPr>
        <p:txBody>
          <a:bodyPr lIns="54000" rIns="0">
            <a:noAutofit/>
          </a:bodyPr>
          <a:lstStyle>
            <a:lvl1pPr marL="0" indent="0" algn="just">
              <a:lnSpc>
                <a:spcPts val="1103"/>
              </a:lnSpc>
              <a:buNone/>
              <a:defRPr sz="852">
                <a:solidFill>
                  <a:schemeClr val="tx1"/>
                </a:solidFill>
                <a:latin typeface="산돌신문제비 L" pitchFamily="18" charset="-127"/>
                <a:ea typeface="산돌신문제비 L" pitchFamily="18" charset="-127"/>
              </a:defRPr>
            </a:lvl1pPr>
            <a:lvl2pPr marL="458389" indent="0" algn="ctr">
              <a:buNone/>
              <a:defRPr>
                <a:solidFill>
                  <a:schemeClr val="tx1">
                    <a:tint val="75000"/>
                  </a:schemeClr>
                </a:solidFill>
              </a:defRPr>
            </a:lvl2pPr>
            <a:lvl3pPr marL="916777" indent="0" algn="ctr">
              <a:buNone/>
              <a:defRPr>
                <a:solidFill>
                  <a:schemeClr val="tx1">
                    <a:tint val="75000"/>
                  </a:schemeClr>
                </a:solidFill>
              </a:defRPr>
            </a:lvl3pPr>
            <a:lvl4pPr marL="1375166" indent="0" algn="ctr">
              <a:buNone/>
              <a:defRPr>
                <a:solidFill>
                  <a:schemeClr val="tx1">
                    <a:tint val="75000"/>
                  </a:schemeClr>
                </a:solidFill>
              </a:defRPr>
            </a:lvl4pPr>
            <a:lvl5pPr marL="1833555" indent="0" algn="ctr">
              <a:buNone/>
              <a:defRPr>
                <a:solidFill>
                  <a:schemeClr val="tx1">
                    <a:tint val="75000"/>
                  </a:schemeClr>
                </a:solidFill>
              </a:defRPr>
            </a:lvl5pPr>
            <a:lvl6pPr marL="2291944" indent="0" algn="ctr">
              <a:buNone/>
              <a:defRPr>
                <a:solidFill>
                  <a:schemeClr val="tx1">
                    <a:tint val="75000"/>
                  </a:schemeClr>
                </a:solidFill>
              </a:defRPr>
            </a:lvl6pPr>
            <a:lvl7pPr marL="2750332" indent="0" algn="ctr">
              <a:buNone/>
              <a:defRPr>
                <a:solidFill>
                  <a:schemeClr val="tx1">
                    <a:tint val="75000"/>
                  </a:schemeClr>
                </a:solidFill>
              </a:defRPr>
            </a:lvl7pPr>
            <a:lvl8pPr marL="3208721" indent="0" algn="ctr">
              <a:buNone/>
              <a:defRPr>
                <a:solidFill>
                  <a:schemeClr val="tx1">
                    <a:tint val="75000"/>
                  </a:schemeClr>
                </a:solidFill>
              </a:defRPr>
            </a:lvl8pPr>
            <a:lvl9pPr marL="3667110" indent="0" algn="ctr">
              <a:buNone/>
              <a:defRPr>
                <a:solidFill>
                  <a:schemeClr val="tx1">
                    <a:tint val="75000"/>
                  </a:schemeClr>
                </a:solidFill>
              </a:defRPr>
            </a:lvl9pPr>
          </a:lstStyle>
          <a:p>
            <a:r>
              <a:rPr lang="ko-KR" altLang="en-US" dirty="0"/>
              <a:t>마스터 부제목 스타일 편집</a:t>
            </a:r>
          </a:p>
        </p:txBody>
      </p:sp>
      <p:cxnSp>
        <p:nvCxnSpPr>
          <p:cNvPr id="7" name="직선 연결선 6"/>
          <p:cNvCxnSpPr/>
          <p:nvPr userDrawn="1"/>
        </p:nvCxnSpPr>
        <p:spPr>
          <a:xfrm>
            <a:off x="7388107" y="540361"/>
            <a:ext cx="0" cy="5793905"/>
          </a:xfrm>
          <a:prstGeom prst="line">
            <a:avLst/>
          </a:prstGeom>
          <a:ln w="12700">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 name="모서리가 둥근 직사각형 9"/>
          <p:cNvSpPr/>
          <p:nvPr userDrawn="1"/>
        </p:nvSpPr>
        <p:spPr>
          <a:xfrm>
            <a:off x="7487537" y="549176"/>
            <a:ext cx="803668" cy="284700"/>
          </a:xfrm>
          <a:prstGeom prst="roundRect">
            <a:avLst>
              <a:gd name="adj" fmla="val 0"/>
            </a:avLst>
          </a:prstGeom>
          <a:solidFill>
            <a:schemeClr val="accent1">
              <a:lumMod val="60000"/>
              <a:lumOff val="40000"/>
            </a:schemeClr>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103" dirty="0">
                <a:solidFill>
                  <a:schemeClr val="tx1"/>
                </a:solidFill>
                <a:latin typeface="Rix커피향 M" panose="02020603020101020101" pitchFamily="18" charset="-127"/>
                <a:ea typeface="Rix커피향 M" panose="02020603020101020101" pitchFamily="18" charset="-127"/>
              </a:rPr>
              <a:t>해 설</a:t>
            </a:r>
          </a:p>
        </p:txBody>
      </p:sp>
      <p:sp>
        <p:nvSpPr>
          <p:cNvPr id="13" name="모서리가 둥근 직사각형 12"/>
          <p:cNvSpPr/>
          <p:nvPr userDrawn="1"/>
        </p:nvSpPr>
        <p:spPr>
          <a:xfrm>
            <a:off x="7388106" y="6342676"/>
            <a:ext cx="635127" cy="229360"/>
          </a:xfrm>
          <a:prstGeom prst="roundRect">
            <a:avLst/>
          </a:prstGeom>
          <a:solidFill>
            <a:schemeClr val="bg1">
              <a:lumMod val="95000"/>
            </a:schemeClr>
          </a:solidFill>
          <a:ln w="1270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53" b="1" dirty="0">
                <a:solidFill>
                  <a:schemeClr val="tx2"/>
                </a:solidFill>
                <a:latin typeface="Rix커피향 M" panose="02020603020101020101" pitchFamily="18" charset="-127"/>
                <a:ea typeface="Rix커피향 M" panose="02020603020101020101" pitchFamily="18" charset="-127"/>
              </a:rPr>
              <a:t>정 답</a:t>
            </a:r>
          </a:p>
        </p:txBody>
      </p:sp>
      <p:sp>
        <p:nvSpPr>
          <p:cNvPr id="29" name="텍스트 개체 틀 28"/>
          <p:cNvSpPr>
            <a:spLocks noGrp="1"/>
          </p:cNvSpPr>
          <p:nvPr>
            <p:ph type="body" sz="quarter" idx="10"/>
          </p:nvPr>
        </p:nvSpPr>
        <p:spPr>
          <a:xfrm>
            <a:off x="732408" y="549176"/>
            <a:ext cx="2529141" cy="286479"/>
          </a:xfrm>
          <a:solidFill>
            <a:schemeClr val="accent1">
              <a:lumMod val="60000"/>
              <a:lumOff val="40000"/>
            </a:schemeClr>
          </a:solidFill>
          <a:ln>
            <a:solidFill>
              <a:schemeClr val="bg1">
                <a:lumMod val="85000"/>
              </a:schemeClr>
            </a:solidFill>
          </a:ln>
        </p:spPr>
        <p:txBody>
          <a:bodyPr lIns="36000" rIns="36000" anchor="ctr">
            <a:noAutofit/>
          </a:bodyPr>
          <a:lstStyle>
            <a:lvl1pPr marL="0" indent="0" algn="ctr">
              <a:buNone/>
              <a:defRPr sz="1053">
                <a:latin typeface="Rix모던고딕 L" panose="02020603020101020101" pitchFamily="18" charset="-127"/>
                <a:ea typeface="Rix모던고딕 L" panose="02020603020101020101" pitchFamily="18" charset="-127"/>
              </a:defRPr>
            </a:lvl1pPr>
          </a:lstStyle>
          <a:p>
            <a:pPr lvl="0"/>
            <a:r>
              <a:rPr lang="ko-KR" altLang="en-US" dirty="0"/>
              <a:t>마스터 텍스트 스타일을 편집합니다</a:t>
            </a:r>
          </a:p>
        </p:txBody>
      </p:sp>
      <p:sp>
        <p:nvSpPr>
          <p:cNvPr id="30" name="텍스트 개체 틀 28"/>
          <p:cNvSpPr>
            <a:spLocks noGrp="1"/>
          </p:cNvSpPr>
          <p:nvPr>
            <p:ph type="body" sz="quarter" idx="11"/>
          </p:nvPr>
        </p:nvSpPr>
        <p:spPr>
          <a:xfrm>
            <a:off x="3261549" y="549176"/>
            <a:ext cx="2885485" cy="286479"/>
          </a:xfrm>
          <a:solidFill>
            <a:schemeClr val="accent1">
              <a:lumMod val="20000"/>
              <a:lumOff val="80000"/>
            </a:schemeClr>
          </a:solidFill>
          <a:ln>
            <a:solidFill>
              <a:schemeClr val="bg1">
                <a:lumMod val="85000"/>
              </a:schemeClr>
            </a:solidFill>
          </a:ln>
        </p:spPr>
        <p:txBody>
          <a:bodyPr lIns="36000" rIns="36000" anchor="ctr">
            <a:normAutofit/>
          </a:bodyPr>
          <a:lstStyle>
            <a:lvl1pPr marL="0" indent="0" algn="ctr">
              <a:buNone/>
              <a:defRPr sz="1053">
                <a:latin typeface="Rix모던고딕 L" panose="02020603020101020101" pitchFamily="18" charset="-127"/>
                <a:ea typeface="Rix모던고딕 L" panose="02020603020101020101" pitchFamily="18" charset="-127"/>
              </a:defRPr>
            </a:lvl1pPr>
          </a:lstStyle>
          <a:p>
            <a:pPr lvl="0"/>
            <a:r>
              <a:rPr lang="ko-KR" altLang="en-US" dirty="0"/>
              <a:t>마스터 텍스트 스타일을 편집합니다</a:t>
            </a:r>
          </a:p>
        </p:txBody>
      </p:sp>
      <p:sp>
        <p:nvSpPr>
          <p:cNvPr id="31" name="텍스트 개체 틀 28"/>
          <p:cNvSpPr>
            <a:spLocks noGrp="1"/>
          </p:cNvSpPr>
          <p:nvPr>
            <p:ph type="body" sz="quarter" idx="12"/>
          </p:nvPr>
        </p:nvSpPr>
        <p:spPr>
          <a:xfrm>
            <a:off x="6144263" y="549176"/>
            <a:ext cx="1141160" cy="286479"/>
          </a:xfrm>
          <a:solidFill>
            <a:schemeClr val="bg1">
              <a:lumMod val="95000"/>
            </a:schemeClr>
          </a:solidFill>
          <a:ln>
            <a:solidFill>
              <a:schemeClr val="bg1">
                <a:lumMod val="85000"/>
              </a:schemeClr>
            </a:solidFill>
          </a:ln>
        </p:spPr>
        <p:txBody>
          <a:bodyPr lIns="36000" rIns="36000" anchor="ctr">
            <a:noAutofit/>
          </a:bodyPr>
          <a:lstStyle>
            <a:lvl1pPr marL="0" indent="0" algn="ctr">
              <a:buNone/>
              <a:defRPr sz="1053">
                <a:latin typeface="Rix커피향 M" panose="02020603020101020101" pitchFamily="18" charset="-127"/>
                <a:ea typeface="Rix커피향 M" panose="02020603020101020101" pitchFamily="18" charset="-127"/>
              </a:defRPr>
            </a:lvl1pPr>
          </a:lstStyle>
          <a:p>
            <a:pPr lvl="0"/>
            <a:r>
              <a:rPr lang="ko-KR" altLang="en-US" dirty="0"/>
              <a:t>마스터 텍스트 스타일을 편집합니다</a:t>
            </a:r>
          </a:p>
        </p:txBody>
      </p:sp>
      <p:sp>
        <p:nvSpPr>
          <p:cNvPr id="32" name="텍스트 개체 틀 28"/>
          <p:cNvSpPr>
            <a:spLocks noGrp="1"/>
          </p:cNvSpPr>
          <p:nvPr>
            <p:ph type="body" sz="quarter" idx="13"/>
          </p:nvPr>
        </p:nvSpPr>
        <p:spPr>
          <a:xfrm>
            <a:off x="8163058" y="6309034"/>
            <a:ext cx="3562305" cy="286479"/>
          </a:xfrm>
          <a:noFill/>
          <a:ln>
            <a:noFill/>
          </a:ln>
        </p:spPr>
        <p:txBody>
          <a:bodyPr anchor="ctr">
            <a:noAutofit/>
          </a:bodyPr>
          <a:lstStyle>
            <a:lvl1pPr marL="0" indent="0" algn="l">
              <a:buNone/>
              <a:defRPr sz="1103">
                <a:latin typeface="Rix모던고딕 B" pitchFamily="18" charset="-127"/>
                <a:ea typeface="Rix모던고딕 B" pitchFamily="18" charset="-127"/>
              </a:defRPr>
            </a:lvl1pPr>
          </a:lstStyle>
          <a:p>
            <a:pPr lvl="0"/>
            <a:r>
              <a:rPr lang="ko-KR" altLang="en-US" dirty="0"/>
              <a:t>마스터 텍스트 스타일을 편집합니다</a:t>
            </a:r>
          </a:p>
        </p:txBody>
      </p:sp>
      <p:sp>
        <p:nvSpPr>
          <p:cNvPr id="34" name="텍스트 개체 틀 28"/>
          <p:cNvSpPr>
            <a:spLocks noGrp="1"/>
          </p:cNvSpPr>
          <p:nvPr>
            <p:ph type="body" sz="quarter" idx="14"/>
          </p:nvPr>
        </p:nvSpPr>
        <p:spPr>
          <a:xfrm>
            <a:off x="732407" y="1742184"/>
            <a:ext cx="6655700" cy="271677"/>
          </a:xfrm>
          <a:noFill/>
          <a:ln>
            <a:noFill/>
          </a:ln>
        </p:spPr>
        <p:txBody>
          <a:bodyPr anchor="t">
            <a:spAutoFit/>
          </a:bodyPr>
          <a:lstStyle>
            <a:lvl1pPr marL="143246" indent="-143246" algn="just">
              <a:lnSpc>
                <a:spcPts val="1504"/>
              </a:lnSpc>
              <a:spcBef>
                <a:spcPts val="0"/>
              </a:spcBef>
              <a:buNone/>
              <a:defRPr sz="1003">
                <a:latin typeface="Rix모던명조 L" pitchFamily="18" charset="-127"/>
                <a:ea typeface="Rix모던명조 L" pitchFamily="18" charset="-127"/>
              </a:defRPr>
            </a:lvl1pPr>
          </a:lstStyle>
          <a:p>
            <a:pPr lvl="0"/>
            <a:r>
              <a:rPr lang="ko-KR" altLang="en-US" dirty="0"/>
              <a:t>마스터 텍스트 스타일을 편집합니다</a:t>
            </a:r>
          </a:p>
        </p:txBody>
      </p:sp>
      <p:sp>
        <p:nvSpPr>
          <p:cNvPr id="6" name="슬라이드 번호 개체 틀 5"/>
          <p:cNvSpPr>
            <a:spLocks noGrp="1"/>
          </p:cNvSpPr>
          <p:nvPr>
            <p:ph type="sldNum" sz="quarter" idx="17"/>
          </p:nvPr>
        </p:nvSpPr>
        <p:spPr>
          <a:xfrm>
            <a:off x="8712296" y="425377"/>
            <a:ext cx="2845351" cy="408498"/>
          </a:xfrm>
        </p:spPr>
        <p:txBody>
          <a:bodyPr/>
          <a:lstStyle>
            <a:lvl1pPr>
              <a:defRPr sz="3208" b="1" cap="none" spc="0">
                <a:ln w="10160">
                  <a:solidFill>
                    <a:schemeClr val="tx1">
                      <a:lumMod val="50000"/>
                      <a:lumOff val="50000"/>
                    </a:schemeClr>
                  </a:solidFill>
                  <a:prstDash val="solid"/>
                </a:ln>
                <a:solidFill>
                  <a:srgbClr val="FFFFFF"/>
                </a:solidFill>
                <a:effectLst/>
              </a:defRPr>
            </a:lvl1pPr>
          </a:lstStyle>
          <a:p>
            <a:fld id="{67DDBD9C-31A1-4AC6-979A-EBB296D195A4}" type="slidenum">
              <a:rPr lang="ko-KR" altLang="en-US" smtClean="0"/>
              <a:pPr/>
              <a:t>‹#›</a:t>
            </a:fld>
            <a:endParaRPr lang="ko-KR" altLang="en-US" dirty="0"/>
          </a:p>
        </p:txBody>
      </p:sp>
    </p:spTree>
    <p:extLst>
      <p:ext uri="{BB962C8B-B14F-4D97-AF65-F5344CB8AC3E}">
        <p14:creationId xmlns:p14="http://schemas.microsoft.com/office/powerpoint/2010/main" val="357808859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제목 개체 틀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ko-KR" altLang="en-US"/>
              <a:t>마스터 제목 스타일 편집</a:t>
            </a:r>
          </a:p>
        </p:txBody>
      </p:sp>
      <p:sp>
        <p:nvSpPr>
          <p:cNvPr id="3" name="텍스트 개체 틀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ko-KR" altLang="en-US"/>
              <a:t>마스터 텍스트 스타일을 편집합니다</a:t>
            </a:r>
          </a:p>
          <a:p>
            <a:pPr lvl="1"/>
            <a:r>
              <a:rPr lang="ko-KR" altLang="en-US"/>
              <a:t>둘째 수준</a:t>
            </a:r>
          </a:p>
          <a:p>
            <a:pPr lvl="2"/>
            <a:r>
              <a:rPr lang="ko-KR" altLang="en-US"/>
              <a:t>셋째 수준</a:t>
            </a:r>
          </a:p>
          <a:p>
            <a:pPr lvl="3"/>
            <a:r>
              <a:rPr lang="ko-KR" altLang="en-US"/>
              <a:t>넷째 수준</a:t>
            </a:r>
          </a:p>
          <a:p>
            <a:pPr lvl="4"/>
            <a:r>
              <a:rPr lang="ko-KR" altLang="en-US"/>
              <a:t>다섯째 수준</a:t>
            </a:r>
          </a:p>
        </p:txBody>
      </p:sp>
      <p:sp>
        <p:nvSpPr>
          <p:cNvPr id="4" name="날짜 개체 틀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16AA719-D96A-4F3C-897B-F269EE83DF44}" type="datetime1">
              <a:rPr lang="ko-KR" altLang="en-US" smtClean="0"/>
              <a:t>2026-06-13</a:t>
            </a:fld>
            <a:endParaRPr lang="ko-KR" altLang="en-US"/>
          </a:p>
        </p:txBody>
      </p:sp>
      <p:sp>
        <p:nvSpPr>
          <p:cNvPr id="5" name="바닥글 개체 틀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ko-KR" altLang="en-US"/>
          </a:p>
        </p:txBody>
      </p:sp>
      <p:sp>
        <p:nvSpPr>
          <p:cNvPr id="6" name="슬라이드 번호 개체 틀 5"/>
          <p:cNvSpPr>
            <a:spLocks noGrp="1"/>
          </p:cNvSpPr>
          <p:nvPr>
            <p:ph type="sldNum" sz="quarter" idx="4"/>
          </p:nvPr>
        </p:nvSpPr>
        <p:spPr>
          <a:xfrm>
            <a:off x="11129210" y="0"/>
            <a:ext cx="1062789" cy="733926"/>
          </a:xfrm>
          <a:prstGeom prst="rect">
            <a:avLst/>
          </a:prstGeom>
        </p:spPr>
        <p:txBody>
          <a:bodyPr vert="horz" lIns="91440" tIns="45720" rIns="91440" bIns="45720" rtlCol="0" anchor="ctr"/>
          <a:lstStyle>
            <a:lvl1pPr algn="ctr">
              <a:defRPr sz="3600" b="1" cap="none" spc="0">
                <a:ln w="12700">
                  <a:solidFill>
                    <a:schemeClr val="tx2">
                      <a:satMod val="155000"/>
                    </a:schemeClr>
                  </a:solidFill>
                  <a:prstDash val="solid"/>
                </a:ln>
                <a:solidFill>
                  <a:schemeClr val="bg2">
                    <a:tint val="85000"/>
                    <a:satMod val="155000"/>
                  </a:schemeClr>
                </a:solidFill>
                <a:effectLst/>
              </a:defRPr>
            </a:lvl1pPr>
          </a:lstStyle>
          <a:p>
            <a:fld id="{3875FC6C-1516-4DC4-8C58-3090F7D4F003}" type="slidenum">
              <a:rPr lang="ko-KR" altLang="en-US" smtClean="0"/>
              <a:pPr/>
              <a:t>‹#›</a:t>
            </a:fld>
            <a:endParaRPr lang="ko-KR" altLang="en-US" dirty="0"/>
          </a:p>
        </p:txBody>
      </p:sp>
    </p:spTree>
    <p:extLst>
      <p:ext uri="{BB962C8B-B14F-4D97-AF65-F5344CB8AC3E}">
        <p14:creationId xmlns:p14="http://schemas.microsoft.com/office/powerpoint/2010/main" val="2748634420"/>
      </p:ext>
    </p:extLst>
  </p:cSld>
  <p:clrMap bg1="lt1" tx1="dk1" bg2="lt2" tx2="dk2" accent1="accent1" accent2="accent2" accent3="accent3" accent4="accent4" accent5="accent5" accent6="accent6" hlink="hlink" folHlink="folHlink"/>
  <p:sldLayoutIdLst>
    <p:sldLayoutId id="2147483649" r:id="rId1"/>
    <p:sldLayoutId id="2147483657" r:id="rId2"/>
    <p:sldLayoutId id="2147483650" r:id="rId3"/>
    <p:sldLayoutId id="2147483654" r:id="rId4"/>
    <p:sldLayoutId id="2147483655" r:id="rId5"/>
    <p:sldLayoutId id="2147483656" r:id="rId6"/>
  </p:sldLayoutIdLst>
  <p:hf hdr="0" ftr="0" dt="0"/>
  <p:txStyles>
    <p:titleStyle>
      <a:lvl1pPr algn="l" defTabSz="914400" rtl="0" eaLnBrk="1" latinLnBrk="1"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1"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1"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1"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1"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ko-KR"/>
      </a:defPPr>
      <a:lvl1pPr marL="0" algn="l" defTabSz="914400" rtl="0" eaLnBrk="1" latinLnBrk="1" hangingPunct="1">
        <a:defRPr sz="1800" kern="1200">
          <a:solidFill>
            <a:schemeClr val="tx1"/>
          </a:solidFill>
          <a:latin typeface="+mn-lt"/>
          <a:ea typeface="+mn-ea"/>
          <a:cs typeface="+mn-cs"/>
        </a:defRPr>
      </a:lvl1pPr>
      <a:lvl2pPr marL="457200" algn="l" defTabSz="914400" rtl="0" eaLnBrk="1" latinLnBrk="1" hangingPunct="1">
        <a:defRPr sz="1800" kern="1200">
          <a:solidFill>
            <a:schemeClr val="tx1"/>
          </a:solidFill>
          <a:latin typeface="+mn-lt"/>
          <a:ea typeface="+mn-ea"/>
          <a:cs typeface="+mn-cs"/>
        </a:defRPr>
      </a:lvl2pPr>
      <a:lvl3pPr marL="914400" algn="l" defTabSz="914400" rtl="0" eaLnBrk="1" latinLnBrk="1" hangingPunct="1">
        <a:defRPr sz="1800" kern="1200">
          <a:solidFill>
            <a:schemeClr val="tx1"/>
          </a:solidFill>
          <a:latin typeface="+mn-lt"/>
          <a:ea typeface="+mn-ea"/>
          <a:cs typeface="+mn-cs"/>
        </a:defRPr>
      </a:lvl3pPr>
      <a:lvl4pPr marL="1371600" algn="l" defTabSz="914400" rtl="0" eaLnBrk="1" latinLnBrk="1" hangingPunct="1">
        <a:defRPr sz="1800" kern="1200">
          <a:solidFill>
            <a:schemeClr val="tx1"/>
          </a:solidFill>
          <a:latin typeface="+mn-lt"/>
          <a:ea typeface="+mn-ea"/>
          <a:cs typeface="+mn-cs"/>
        </a:defRPr>
      </a:lvl4pPr>
      <a:lvl5pPr marL="1828800" algn="l" defTabSz="914400" rtl="0" eaLnBrk="1" latinLnBrk="1" hangingPunct="1">
        <a:defRPr sz="1800" kern="1200">
          <a:solidFill>
            <a:schemeClr val="tx1"/>
          </a:solidFill>
          <a:latin typeface="+mn-lt"/>
          <a:ea typeface="+mn-ea"/>
          <a:cs typeface="+mn-cs"/>
        </a:defRPr>
      </a:lvl5pPr>
      <a:lvl6pPr marL="2286000" algn="l" defTabSz="914400" rtl="0" eaLnBrk="1" latinLnBrk="1" hangingPunct="1">
        <a:defRPr sz="1800" kern="1200">
          <a:solidFill>
            <a:schemeClr val="tx1"/>
          </a:solidFill>
          <a:latin typeface="+mn-lt"/>
          <a:ea typeface="+mn-ea"/>
          <a:cs typeface="+mn-cs"/>
        </a:defRPr>
      </a:lvl6pPr>
      <a:lvl7pPr marL="2743200" algn="l" defTabSz="914400" rtl="0" eaLnBrk="1" latinLnBrk="1" hangingPunct="1">
        <a:defRPr sz="1800" kern="1200">
          <a:solidFill>
            <a:schemeClr val="tx1"/>
          </a:solidFill>
          <a:latin typeface="+mn-lt"/>
          <a:ea typeface="+mn-ea"/>
          <a:cs typeface="+mn-cs"/>
        </a:defRPr>
      </a:lvl7pPr>
      <a:lvl8pPr marL="3200400" algn="l" defTabSz="914400" rtl="0" eaLnBrk="1" latinLnBrk="1" hangingPunct="1">
        <a:defRPr sz="1800" kern="1200">
          <a:solidFill>
            <a:schemeClr val="tx1"/>
          </a:solidFill>
          <a:latin typeface="+mn-lt"/>
          <a:ea typeface="+mn-ea"/>
          <a:cs typeface="+mn-cs"/>
        </a:defRPr>
      </a:lvl8pPr>
      <a:lvl9pPr marL="3657600" algn="l" defTabSz="914400" rtl="0" eaLnBrk="1" latinLnBrk="1"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3.jpeg"/></Relationships>
</file>

<file path=ppt/slides/_rels/slide15.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0.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1.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1.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 name="직사각형 11"/>
          <p:cNvSpPr/>
          <p:nvPr/>
        </p:nvSpPr>
        <p:spPr>
          <a:xfrm>
            <a:off x="11129211" y="44623"/>
            <a:ext cx="1062789" cy="966965"/>
          </a:xfrm>
          <a:prstGeom prst="rect">
            <a:avLst/>
          </a:prstGeom>
          <a:solidFill>
            <a:schemeClr val="tx1">
              <a:lumMod val="65000"/>
              <a:lumOff val="3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b="1" dirty="0">
                <a:solidFill>
                  <a:schemeClr val="accent4"/>
                </a:solidFill>
              </a:rPr>
              <a:t>총칙</a:t>
            </a:r>
            <a:r>
              <a:rPr lang="en-US" altLang="ko-KR" sz="2000" b="1" dirty="0">
                <a:solidFill>
                  <a:schemeClr val="accent4"/>
                </a:solidFill>
              </a:rPr>
              <a:t>/</a:t>
            </a:r>
          </a:p>
          <a:p>
            <a:pPr algn="ctr"/>
            <a:r>
              <a:rPr lang="ko-KR" altLang="en-US" sz="2000" b="1" dirty="0" err="1">
                <a:solidFill>
                  <a:schemeClr val="accent4"/>
                </a:solidFill>
              </a:rPr>
              <a:t>보칙</a:t>
            </a:r>
            <a:endParaRPr lang="ko-KR" altLang="en-US" sz="2000" b="1" dirty="0">
              <a:solidFill>
                <a:schemeClr val="accent4"/>
              </a:solidFill>
            </a:endParaRPr>
          </a:p>
        </p:txBody>
      </p:sp>
      <p:sp>
        <p:nvSpPr>
          <p:cNvPr id="13" name="직사각형 12"/>
          <p:cNvSpPr/>
          <p:nvPr/>
        </p:nvSpPr>
        <p:spPr>
          <a:xfrm>
            <a:off x="11129211" y="1011588"/>
            <a:ext cx="1062789" cy="966965"/>
          </a:xfrm>
          <a:prstGeom prst="rect">
            <a:avLst/>
          </a:prstGeom>
          <a:solidFill>
            <a:schemeClr val="bg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b="1" dirty="0"/>
              <a:t>특허</a:t>
            </a:r>
            <a:endParaRPr lang="en-US" altLang="ko-KR" sz="2000" b="1" dirty="0"/>
          </a:p>
          <a:p>
            <a:pPr algn="ctr"/>
            <a:r>
              <a:rPr lang="ko-KR" altLang="en-US" sz="2000" b="1" dirty="0"/>
              <a:t>요건</a:t>
            </a:r>
          </a:p>
        </p:txBody>
      </p:sp>
      <p:sp>
        <p:nvSpPr>
          <p:cNvPr id="14" name="직사각형 13"/>
          <p:cNvSpPr/>
          <p:nvPr/>
        </p:nvSpPr>
        <p:spPr>
          <a:xfrm>
            <a:off x="11129211" y="1978552"/>
            <a:ext cx="1062789" cy="966965"/>
          </a:xfrm>
          <a:prstGeom prst="rect">
            <a:avLst/>
          </a:prstGeom>
          <a:solidFill>
            <a:schemeClr val="bg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b="1" dirty="0"/>
              <a:t>이익</a:t>
            </a:r>
            <a:endParaRPr lang="en-US" altLang="ko-KR" sz="2000" b="1" dirty="0"/>
          </a:p>
          <a:p>
            <a:pPr algn="ctr"/>
            <a:r>
              <a:rPr lang="ko-KR" altLang="en-US" sz="2000" b="1" dirty="0"/>
              <a:t>제도</a:t>
            </a:r>
          </a:p>
        </p:txBody>
      </p:sp>
      <p:sp>
        <p:nvSpPr>
          <p:cNvPr id="15" name="직사각형 14"/>
          <p:cNvSpPr/>
          <p:nvPr/>
        </p:nvSpPr>
        <p:spPr>
          <a:xfrm>
            <a:off x="11129211" y="2945517"/>
            <a:ext cx="1062789" cy="966965"/>
          </a:xfrm>
          <a:prstGeom prst="rect">
            <a:avLst/>
          </a:prstGeom>
          <a:solidFill>
            <a:schemeClr val="bg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b="1" dirty="0"/>
              <a:t>심사</a:t>
            </a:r>
            <a:endParaRPr lang="en-US" altLang="ko-KR" sz="2000" b="1" dirty="0"/>
          </a:p>
          <a:p>
            <a:pPr algn="ctr"/>
            <a:r>
              <a:rPr lang="en-US" altLang="ko-KR" sz="2000" b="1" dirty="0"/>
              <a:t>(</a:t>
            </a:r>
            <a:r>
              <a:rPr lang="ko-KR" altLang="en-US" sz="2000" b="1" dirty="0"/>
              <a:t>제도</a:t>
            </a:r>
            <a:r>
              <a:rPr lang="en-US" altLang="ko-KR" sz="2000" b="1" dirty="0"/>
              <a:t>)</a:t>
            </a:r>
            <a:endParaRPr lang="ko-KR" altLang="en-US" sz="2000" b="1" dirty="0"/>
          </a:p>
        </p:txBody>
      </p:sp>
      <p:sp>
        <p:nvSpPr>
          <p:cNvPr id="16" name="직사각형 15"/>
          <p:cNvSpPr/>
          <p:nvPr/>
        </p:nvSpPr>
        <p:spPr>
          <a:xfrm>
            <a:off x="11129211" y="3912483"/>
            <a:ext cx="1062789" cy="966965"/>
          </a:xfrm>
          <a:prstGeom prst="rect">
            <a:avLst/>
          </a:prstGeom>
          <a:solidFill>
            <a:schemeClr val="bg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b="1" dirty="0"/>
              <a:t>특허권</a:t>
            </a:r>
          </a:p>
        </p:txBody>
      </p:sp>
      <p:sp>
        <p:nvSpPr>
          <p:cNvPr id="17" name="직사각형 16"/>
          <p:cNvSpPr/>
          <p:nvPr/>
        </p:nvSpPr>
        <p:spPr>
          <a:xfrm>
            <a:off x="11129211" y="4879448"/>
            <a:ext cx="1062789" cy="966965"/>
          </a:xfrm>
          <a:prstGeom prst="rect">
            <a:avLst/>
          </a:prstGeom>
          <a:solidFill>
            <a:schemeClr val="bg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2000" b="1" dirty="0"/>
              <a:t>심판</a:t>
            </a:r>
            <a:r>
              <a:rPr lang="en-US" altLang="ko-KR" sz="2000" b="1" dirty="0"/>
              <a:t>/</a:t>
            </a:r>
          </a:p>
          <a:p>
            <a:pPr algn="ctr"/>
            <a:r>
              <a:rPr lang="ko-KR" altLang="en-US" sz="2000" b="1" dirty="0"/>
              <a:t>소송</a:t>
            </a:r>
          </a:p>
        </p:txBody>
      </p:sp>
      <p:sp>
        <p:nvSpPr>
          <p:cNvPr id="18" name="직사각형 17"/>
          <p:cNvSpPr/>
          <p:nvPr/>
        </p:nvSpPr>
        <p:spPr>
          <a:xfrm>
            <a:off x="11129211" y="5846412"/>
            <a:ext cx="1062789" cy="966965"/>
          </a:xfrm>
          <a:prstGeom prst="rect">
            <a:avLst/>
          </a:prstGeom>
          <a:solidFill>
            <a:schemeClr val="bg1">
              <a:lumMod val="75000"/>
            </a:schemeClr>
          </a:solidFill>
          <a:ln w="381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000" b="1" dirty="0"/>
              <a:t>PCT</a:t>
            </a:r>
            <a:endParaRPr lang="ko-KR" altLang="en-US" sz="2000" b="1" dirty="0"/>
          </a:p>
        </p:txBody>
      </p:sp>
      <p:sp>
        <p:nvSpPr>
          <p:cNvPr id="21" name="제목 1">
            <a:extLst>
              <a:ext uri="{FF2B5EF4-FFF2-40B4-BE49-F238E27FC236}">
                <a16:creationId xmlns:a16="http://schemas.microsoft.com/office/drawing/2014/main" id="{659FB31F-8893-589E-D96C-BD44EFC8E761}"/>
              </a:ext>
            </a:extLst>
          </p:cNvPr>
          <p:cNvSpPr txBox="1">
            <a:spLocks/>
          </p:cNvSpPr>
          <p:nvPr/>
        </p:nvSpPr>
        <p:spPr>
          <a:xfrm>
            <a:off x="1961128" y="1991045"/>
            <a:ext cx="7162800" cy="1193800"/>
          </a:xfrm>
          <a:prstGeom prst="rect">
            <a:avLst/>
          </a:prstGeom>
        </p:spPr>
        <p:txBody>
          <a:bodyPr vert="horz" lIns="91440" tIns="45720" rIns="91440" bIns="45720" rtlCol="0" anchor="t">
            <a:normAutofit/>
          </a:bodyPr>
          <a:lstStyle>
            <a:lvl1pPr algn="ctr" defTabSz="914400" rtl="0" eaLnBrk="1" latinLnBrk="1" hangingPunct="1">
              <a:lnSpc>
                <a:spcPct val="90000"/>
              </a:lnSpc>
              <a:spcBef>
                <a:spcPct val="0"/>
              </a:spcBef>
              <a:buNone/>
              <a:defRPr sz="2400" kern="1200">
                <a:solidFill>
                  <a:schemeClr val="accent4"/>
                </a:solidFill>
                <a:latin typeface="Rix모던명조 B" panose="02020603020101020101" pitchFamily="18" charset="-127"/>
                <a:ea typeface="Rix모던명조 B" panose="02020603020101020101" pitchFamily="18" charset="-127"/>
                <a:cs typeface="+mj-cs"/>
              </a:defRPr>
            </a:lvl1pPr>
          </a:lstStyle>
          <a:p>
            <a:r>
              <a:rPr lang="ko-KR" altLang="en-US" sz="8000" dirty="0">
                <a:solidFill>
                  <a:schemeClr val="tx1">
                    <a:lumMod val="50000"/>
                    <a:lumOff val="50000"/>
                  </a:schemeClr>
                </a:solidFill>
                <a:latin typeface="Rix모던고딕 EB" panose="02020603020101020101" pitchFamily="18" charset="-127"/>
                <a:ea typeface="Rix모던고딕 EB" panose="02020603020101020101" pitchFamily="18" charset="-127"/>
              </a:rPr>
              <a:t>특허법 강의노트</a:t>
            </a:r>
          </a:p>
        </p:txBody>
      </p:sp>
      <p:sp>
        <p:nvSpPr>
          <p:cNvPr id="22" name="제목 1">
            <a:extLst>
              <a:ext uri="{FF2B5EF4-FFF2-40B4-BE49-F238E27FC236}">
                <a16:creationId xmlns:a16="http://schemas.microsoft.com/office/drawing/2014/main" id="{5BEF12BF-7E29-93F0-83B2-F81F53C94BF9}"/>
              </a:ext>
            </a:extLst>
          </p:cNvPr>
          <p:cNvSpPr txBox="1">
            <a:spLocks/>
          </p:cNvSpPr>
          <p:nvPr/>
        </p:nvSpPr>
        <p:spPr>
          <a:xfrm>
            <a:off x="2185246" y="3197545"/>
            <a:ext cx="6684682" cy="104455"/>
          </a:xfrm>
          <a:prstGeom prst="rect">
            <a:avLst/>
          </a:prstGeom>
          <a:solidFill>
            <a:schemeClr val="bg2">
              <a:lumMod val="90000"/>
            </a:schemeClr>
          </a:solidFill>
        </p:spPr>
        <p:txBody>
          <a:bodyPr vert="horz" lIns="540000" tIns="0" rIns="540000" bIns="0" rtlCol="0" anchor="ctr">
            <a:no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pPr algn="dist"/>
            <a:endParaRPr lang="ko-KR" altLang="en-US" sz="4000" dirty="0">
              <a:solidFill>
                <a:schemeClr val="accent4"/>
              </a:solidFill>
              <a:latin typeface="+mn-ea"/>
              <a:ea typeface="+mn-ea"/>
              <a:cs typeface="Tahoma" panose="020B0604030504040204" pitchFamily="34" charset="0"/>
            </a:endParaRPr>
          </a:p>
        </p:txBody>
      </p:sp>
      <p:sp>
        <p:nvSpPr>
          <p:cNvPr id="23" name="제목 1">
            <a:extLst>
              <a:ext uri="{FF2B5EF4-FFF2-40B4-BE49-F238E27FC236}">
                <a16:creationId xmlns:a16="http://schemas.microsoft.com/office/drawing/2014/main" id="{44AAFD81-C4E6-5CB5-9106-863F7748ADDC}"/>
              </a:ext>
            </a:extLst>
          </p:cNvPr>
          <p:cNvSpPr txBox="1">
            <a:spLocks/>
          </p:cNvSpPr>
          <p:nvPr/>
        </p:nvSpPr>
        <p:spPr>
          <a:xfrm>
            <a:off x="4565375" y="4873198"/>
            <a:ext cx="1954306" cy="649061"/>
          </a:xfrm>
          <a:prstGeom prst="rect">
            <a:avLst/>
          </a:prstGeom>
        </p:spPr>
        <p:txBody>
          <a:bodyPr vert="horz" lIns="91440" tIns="45720" rIns="91440" bIns="45720" rtlCol="0" anchor="t">
            <a:norm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3600">
                <a:solidFill>
                  <a:schemeClr val="tx1">
                    <a:lumMod val="50000"/>
                    <a:lumOff val="50000"/>
                  </a:schemeClr>
                </a:solidFill>
                <a:latin typeface="Rix모던고딕 EB" panose="02020603020101020101" pitchFamily="18" charset="-127"/>
                <a:ea typeface="Rix모던고딕 EB" panose="02020603020101020101" pitchFamily="18" charset="-127"/>
              </a:rPr>
              <a:t>2026</a:t>
            </a:r>
            <a:endParaRPr lang="ko-KR" altLang="en-US" sz="3600" dirty="0">
              <a:solidFill>
                <a:schemeClr val="tx1">
                  <a:lumMod val="50000"/>
                  <a:lumOff val="50000"/>
                </a:schemeClr>
              </a:solidFill>
              <a:latin typeface="Rix모던고딕 EB" panose="02020603020101020101" pitchFamily="18" charset="-127"/>
              <a:ea typeface="Rix모던고딕 EB" panose="02020603020101020101" pitchFamily="18" charset="-127"/>
            </a:endParaRPr>
          </a:p>
        </p:txBody>
      </p:sp>
      <p:sp>
        <p:nvSpPr>
          <p:cNvPr id="24" name="제목 1">
            <a:extLst>
              <a:ext uri="{FF2B5EF4-FFF2-40B4-BE49-F238E27FC236}">
                <a16:creationId xmlns:a16="http://schemas.microsoft.com/office/drawing/2014/main" id="{02E0A04C-2DB3-8DEF-DD5F-64796A224621}"/>
              </a:ext>
            </a:extLst>
          </p:cNvPr>
          <p:cNvSpPr txBox="1">
            <a:spLocks/>
          </p:cNvSpPr>
          <p:nvPr/>
        </p:nvSpPr>
        <p:spPr>
          <a:xfrm>
            <a:off x="2185246" y="3467433"/>
            <a:ext cx="6684682" cy="545768"/>
          </a:xfrm>
          <a:prstGeom prst="roundRect">
            <a:avLst>
              <a:gd name="adj" fmla="val 50000"/>
            </a:avLst>
          </a:prstGeom>
          <a:solidFill>
            <a:schemeClr val="accent4"/>
          </a:solidFill>
        </p:spPr>
        <p:txBody>
          <a:bodyPr vert="horz" lIns="0" tIns="0" rIns="0" bIns="0" rtlCol="0" anchor="ctr">
            <a:noAutofit/>
          </a:bodyPr>
          <a:lstStyle>
            <a:lvl1pPr algn="ctr" defTabSz="914400" rtl="0" eaLnBrk="1" latinLnBrk="1" hangingPunct="1">
              <a:lnSpc>
                <a:spcPct val="90000"/>
              </a:lnSpc>
              <a:spcBef>
                <a:spcPct val="0"/>
              </a:spcBef>
              <a:buNone/>
              <a:defRPr sz="6000" kern="1200">
                <a:solidFill>
                  <a:schemeClr val="tx1"/>
                </a:solidFill>
                <a:latin typeface="+mj-lt"/>
                <a:ea typeface="+mj-ea"/>
                <a:cs typeface="+mj-cs"/>
              </a:defRPr>
            </a:lvl1pPr>
          </a:lstStyle>
          <a:p>
            <a:r>
              <a:rPr lang="en-US" altLang="ko-KR" sz="2800" dirty="0" err="1">
                <a:solidFill>
                  <a:schemeClr val="bg1"/>
                </a:solidFill>
                <a:latin typeface="Rix모던고딕 EB" panose="02020603020101020101" pitchFamily="18" charset="-127"/>
                <a:ea typeface="Rix모던고딕 EB" panose="02020603020101020101" pitchFamily="18" charset="-127"/>
              </a:rPr>
              <a:t>Yim</a:t>
            </a:r>
            <a:r>
              <a:rPr lang="en-US" altLang="ko-KR" sz="2800" dirty="0">
                <a:solidFill>
                  <a:schemeClr val="bg1"/>
                </a:solidFill>
                <a:latin typeface="Rix모던고딕 EB" panose="02020603020101020101" pitchFamily="18" charset="-127"/>
                <a:ea typeface="Rix모던고딕 EB" panose="02020603020101020101" pitchFamily="18" charset="-127"/>
              </a:rPr>
              <a:t>, </a:t>
            </a:r>
            <a:r>
              <a:rPr lang="en-US" altLang="ko-KR" sz="2800" dirty="0" err="1">
                <a:solidFill>
                  <a:schemeClr val="bg1"/>
                </a:solidFill>
                <a:latin typeface="Rix모던고딕 EB" panose="02020603020101020101" pitchFamily="18" charset="-127"/>
                <a:ea typeface="Rix모던고딕 EB" panose="02020603020101020101" pitchFamily="18" charset="-127"/>
              </a:rPr>
              <a:t>Byung-Woong</a:t>
            </a:r>
            <a:r>
              <a:rPr lang="en-US" altLang="ko-KR" sz="2800" dirty="0">
                <a:solidFill>
                  <a:schemeClr val="bg1"/>
                </a:solidFill>
                <a:latin typeface="Rix모던고딕 EB" panose="02020603020101020101" pitchFamily="18" charset="-127"/>
                <a:ea typeface="Rix모던고딕 EB" panose="02020603020101020101" pitchFamily="18" charset="-127"/>
              </a:rPr>
              <a:t> All Rights Reserved.</a:t>
            </a:r>
            <a:endParaRPr lang="ko-KR" altLang="en-US" sz="2800" dirty="0">
              <a:solidFill>
                <a:schemeClr val="bg1"/>
              </a:solidFill>
              <a:latin typeface="Rix모던고딕 EB" panose="02020603020101020101" pitchFamily="18" charset="-127"/>
              <a:ea typeface="Rix모던고딕 EB" panose="02020603020101020101" pitchFamily="18" charset="-127"/>
            </a:endParaRPr>
          </a:p>
        </p:txBody>
      </p:sp>
    </p:spTree>
    <p:extLst>
      <p:ext uri="{BB962C8B-B14F-4D97-AF65-F5344CB8AC3E}">
        <p14:creationId xmlns:p14="http://schemas.microsoft.com/office/powerpoint/2010/main" val="8074363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3875FC6C-1516-4DC4-8C58-3090F7D4F003}" type="slidenum">
              <a:rPr lang="ko-KR" altLang="en-US" smtClean="0"/>
              <a:t>1</a:t>
            </a:fld>
            <a:endParaRPr lang="ko-KR" altLang="en-US"/>
          </a:p>
        </p:txBody>
      </p:sp>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특허법 체계</a:t>
            </a:r>
          </a:p>
        </p:txBody>
      </p:sp>
      <p:sp>
        <p:nvSpPr>
          <p:cNvPr id="6" name="직사각형 5"/>
          <p:cNvSpPr/>
          <p:nvPr/>
        </p:nvSpPr>
        <p:spPr>
          <a:xfrm>
            <a:off x="1244284" y="2152137"/>
            <a:ext cx="552862" cy="498328"/>
          </a:xfrm>
          <a:prstGeom prst="rect">
            <a:avLst/>
          </a:prstGeom>
          <a:ln w="6350"/>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ko-KR" altLang="en-US" sz="1200" dirty="0"/>
              <a:t>총칙</a:t>
            </a:r>
            <a:r>
              <a:rPr lang="en-US" altLang="ko-KR" sz="1200" dirty="0"/>
              <a:t>/</a:t>
            </a:r>
          </a:p>
          <a:p>
            <a:pPr algn="ctr"/>
            <a:r>
              <a:rPr lang="ko-KR" altLang="en-US" sz="1200" dirty="0" err="1"/>
              <a:t>보칙</a:t>
            </a:r>
            <a:endParaRPr lang="ko-KR" altLang="en-US" sz="1200" dirty="0"/>
          </a:p>
        </p:txBody>
      </p:sp>
      <p:sp>
        <p:nvSpPr>
          <p:cNvPr id="7" name="직사각형 6"/>
          <p:cNvSpPr/>
          <p:nvPr/>
        </p:nvSpPr>
        <p:spPr>
          <a:xfrm>
            <a:off x="2118397" y="994294"/>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목적</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a:t>
            </a:r>
            <a:endParaRPr lang="ko-KR" altLang="en-US" sz="1000" dirty="0">
              <a:solidFill>
                <a:schemeClr val="tx1"/>
              </a:solidFill>
            </a:endParaRPr>
          </a:p>
        </p:txBody>
      </p:sp>
      <p:sp>
        <p:nvSpPr>
          <p:cNvPr id="8" name="직사각형 7"/>
          <p:cNvSpPr/>
          <p:nvPr/>
        </p:nvSpPr>
        <p:spPr>
          <a:xfrm>
            <a:off x="2118397" y="1236286"/>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정의</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a:t>
            </a:r>
            <a:endParaRPr lang="ko-KR" altLang="en-US" sz="1000" dirty="0">
              <a:solidFill>
                <a:schemeClr val="tx1"/>
              </a:solidFill>
            </a:endParaRPr>
          </a:p>
        </p:txBody>
      </p:sp>
      <p:sp>
        <p:nvSpPr>
          <p:cNvPr id="9" name="직사각형 8"/>
          <p:cNvSpPr/>
          <p:nvPr/>
        </p:nvSpPr>
        <p:spPr>
          <a:xfrm>
            <a:off x="2118397" y="1471128"/>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행위능력</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3~5①)</a:t>
            </a:r>
            <a:endParaRPr lang="ko-KR" altLang="en-US" sz="1000" dirty="0">
              <a:solidFill>
                <a:schemeClr val="tx1"/>
              </a:solidFill>
            </a:endParaRPr>
          </a:p>
        </p:txBody>
      </p:sp>
      <p:sp>
        <p:nvSpPr>
          <p:cNvPr id="10" name="직사각형 9"/>
          <p:cNvSpPr/>
          <p:nvPr/>
        </p:nvSpPr>
        <p:spPr>
          <a:xfrm>
            <a:off x="2118397" y="1713120"/>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대리인</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3②, 5②~10, 12)</a:t>
            </a:r>
            <a:endParaRPr lang="ko-KR" altLang="en-US" sz="1000" dirty="0">
              <a:solidFill>
                <a:schemeClr val="tx1"/>
              </a:solidFill>
            </a:endParaRPr>
          </a:p>
        </p:txBody>
      </p:sp>
      <p:sp>
        <p:nvSpPr>
          <p:cNvPr id="11" name="직사각형 10"/>
          <p:cNvSpPr/>
          <p:nvPr/>
        </p:nvSpPr>
        <p:spPr>
          <a:xfrm>
            <a:off x="2118397" y="1945643"/>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복수당사자 대표</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11)</a:t>
            </a:r>
            <a:endParaRPr lang="ko-KR" altLang="en-US" sz="1000" dirty="0">
              <a:solidFill>
                <a:schemeClr val="tx1"/>
              </a:solidFill>
            </a:endParaRPr>
          </a:p>
        </p:txBody>
      </p:sp>
      <p:sp>
        <p:nvSpPr>
          <p:cNvPr id="12" name="직사각형 11"/>
          <p:cNvSpPr/>
          <p:nvPr/>
        </p:nvSpPr>
        <p:spPr>
          <a:xfrm>
            <a:off x="2118397" y="2187635"/>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err="1">
                <a:solidFill>
                  <a:schemeClr val="tx1"/>
                </a:solidFill>
              </a:rPr>
              <a:t>재외자의</a:t>
            </a:r>
            <a:r>
              <a:rPr lang="ko-KR" altLang="en-US" sz="1000" dirty="0">
                <a:solidFill>
                  <a:schemeClr val="tx1"/>
                </a:solidFill>
              </a:rPr>
              <a:t> 재판관할</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13)</a:t>
            </a:r>
            <a:endParaRPr lang="ko-KR" altLang="en-US" sz="1000" dirty="0">
              <a:solidFill>
                <a:schemeClr val="tx1"/>
              </a:solidFill>
            </a:endParaRPr>
          </a:p>
        </p:txBody>
      </p:sp>
      <p:sp>
        <p:nvSpPr>
          <p:cNvPr id="13" name="직사각형 12"/>
          <p:cNvSpPr/>
          <p:nvPr/>
        </p:nvSpPr>
        <p:spPr>
          <a:xfrm>
            <a:off x="2118397" y="2438415"/>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기일과 기간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14, 15)</a:t>
            </a:r>
            <a:endParaRPr lang="ko-KR" altLang="en-US" sz="1000" dirty="0">
              <a:solidFill>
                <a:schemeClr val="tx1"/>
              </a:solidFill>
            </a:endParaRPr>
          </a:p>
        </p:txBody>
      </p:sp>
      <p:sp>
        <p:nvSpPr>
          <p:cNvPr id="14" name="직사각형 13"/>
          <p:cNvSpPr/>
          <p:nvPr/>
        </p:nvSpPr>
        <p:spPr>
          <a:xfrm>
            <a:off x="2118397" y="2670267"/>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특허에 관한 절차 일반</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16, 28~28</a:t>
            </a:r>
            <a:r>
              <a:rPr lang="ko-KR" altLang="en-US" sz="1000" dirty="0">
                <a:solidFill>
                  <a:schemeClr val="tx1"/>
                </a:solidFill>
              </a:rPr>
              <a:t>의</a:t>
            </a:r>
            <a:r>
              <a:rPr lang="en-US" altLang="ko-KR" sz="1000" dirty="0">
                <a:solidFill>
                  <a:schemeClr val="tx1"/>
                </a:solidFill>
              </a:rPr>
              <a:t>5)</a:t>
            </a:r>
            <a:endParaRPr lang="ko-KR" altLang="en-US" sz="1000" dirty="0">
              <a:solidFill>
                <a:schemeClr val="tx1"/>
              </a:solidFill>
            </a:endParaRPr>
          </a:p>
        </p:txBody>
      </p:sp>
      <p:sp>
        <p:nvSpPr>
          <p:cNvPr id="15" name="직사각형 14"/>
          <p:cNvSpPr/>
          <p:nvPr/>
        </p:nvSpPr>
        <p:spPr>
          <a:xfrm>
            <a:off x="2118397" y="2908446"/>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추후보완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17, 67</a:t>
            </a:r>
            <a:r>
              <a:rPr lang="ko-KR" altLang="en-US" sz="1000" dirty="0">
                <a:solidFill>
                  <a:schemeClr val="tx1"/>
                </a:solidFill>
              </a:rPr>
              <a:t>의</a:t>
            </a:r>
            <a:r>
              <a:rPr lang="en-US" altLang="ko-KR" sz="1000">
                <a:solidFill>
                  <a:schemeClr val="tx1"/>
                </a:solidFill>
              </a:rPr>
              <a:t>3)</a:t>
            </a:r>
            <a:endParaRPr lang="ko-KR" altLang="en-US" sz="1000" dirty="0">
              <a:solidFill>
                <a:schemeClr val="tx1"/>
              </a:solidFill>
            </a:endParaRPr>
          </a:p>
        </p:txBody>
      </p:sp>
      <p:sp>
        <p:nvSpPr>
          <p:cNvPr id="16" name="직사각형 15"/>
          <p:cNvSpPr/>
          <p:nvPr/>
        </p:nvSpPr>
        <p:spPr>
          <a:xfrm>
            <a:off x="2118397" y="3139884"/>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절차의 효력의 승계 및 절차의 속행</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18, 19)</a:t>
            </a:r>
            <a:endParaRPr lang="ko-KR" altLang="en-US" sz="1000" dirty="0">
              <a:solidFill>
                <a:schemeClr val="tx1"/>
              </a:solidFill>
            </a:endParaRPr>
          </a:p>
        </p:txBody>
      </p:sp>
      <p:sp>
        <p:nvSpPr>
          <p:cNvPr id="17" name="직사각형 16"/>
          <p:cNvSpPr/>
          <p:nvPr/>
        </p:nvSpPr>
        <p:spPr>
          <a:xfrm>
            <a:off x="2118397" y="3371736"/>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절차의 정지</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20~24, 78, 164)</a:t>
            </a:r>
            <a:endParaRPr lang="ko-KR" altLang="en-US" sz="1000" dirty="0">
              <a:solidFill>
                <a:schemeClr val="tx1"/>
              </a:solidFill>
            </a:endParaRPr>
          </a:p>
        </p:txBody>
      </p:sp>
      <p:cxnSp>
        <p:nvCxnSpPr>
          <p:cNvPr id="18" name="꺾인 연결선 17"/>
          <p:cNvCxnSpPr>
            <a:cxnSpLocks/>
            <a:stCxn id="6" idx="3"/>
            <a:endCxn id="7" idx="1"/>
          </p:cNvCxnSpPr>
          <p:nvPr/>
        </p:nvCxnSpPr>
        <p:spPr>
          <a:xfrm flipV="1">
            <a:off x="1797146" y="1085041"/>
            <a:ext cx="321251" cy="1316260"/>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꺾인 연결선 18"/>
          <p:cNvCxnSpPr>
            <a:cxnSpLocks/>
            <a:stCxn id="6" idx="3"/>
            <a:endCxn id="17" idx="1"/>
          </p:cNvCxnSpPr>
          <p:nvPr/>
        </p:nvCxnSpPr>
        <p:spPr>
          <a:xfrm>
            <a:off x="1797146" y="2401301"/>
            <a:ext cx="321251" cy="1061182"/>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꺾인 연결선 19"/>
          <p:cNvCxnSpPr>
            <a:cxnSpLocks/>
            <a:stCxn id="6" idx="3"/>
            <a:endCxn id="8" idx="1"/>
          </p:cNvCxnSpPr>
          <p:nvPr/>
        </p:nvCxnSpPr>
        <p:spPr>
          <a:xfrm flipV="1">
            <a:off x="1797146" y="1327033"/>
            <a:ext cx="321251" cy="1074268"/>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꺾인 연결선 20"/>
          <p:cNvCxnSpPr>
            <a:cxnSpLocks/>
            <a:stCxn id="6" idx="3"/>
            <a:endCxn id="9" idx="1"/>
          </p:cNvCxnSpPr>
          <p:nvPr/>
        </p:nvCxnSpPr>
        <p:spPr>
          <a:xfrm flipV="1">
            <a:off x="1797146" y="1561875"/>
            <a:ext cx="321251" cy="839426"/>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2" name="꺾인 연결선 21"/>
          <p:cNvCxnSpPr>
            <a:cxnSpLocks/>
            <a:stCxn id="6" idx="3"/>
            <a:endCxn id="13" idx="1"/>
          </p:cNvCxnSpPr>
          <p:nvPr/>
        </p:nvCxnSpPr>
        <p:spPr>
          <a:xfrm>
            <a:off x="1797146" y="2401301"/>
            <a:ext cx="321251" cy="127861"/>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꺾인 연결선 22"/>
          <p:cNvCxnSpPr>
            <a:cxnSpLocks/>
            <a:stCxn id="6" idx="3"/>
            <a:endCxn id="14" idx="1"/>
          </p:cNvCxnSpPr>
          <p:nvPr/>
        </p:nvCxnSpPr>
        <p:spPr>
          <a:xfrm>
            <a:off x="1797146" y="2401301"/>
            <a:ext cx="321251" cy="359713"/>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꺾인 연결선 23"/>
          <p:cNvCxnSpPr>
            <a:cxnSpLocks/>
            <a:stCxn id="6" idx="3"/>
            <a:endCxn id="15" idx="1"/>
          </p:cNvCxnSpPr>
          <p:nvPr/>
        </p:nvCxnSpPr>
        <p:spPr>
          <a:xfrm>
            <a:off x="1797146" y="2401301"/>
            <a:ext cx="321251" cy="597892"/>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꺾인 연결선 24"/>
          <p:cNvCxnSpPr>
            <a:cxnSpLocks/>
            <a:stCxn id="6" idx="3"/>
            <a:endCxn id="16" idx="1"/>
          </p:cNvCxnSpPr>
          <p:nvPr/>
        </p:nvCxnSpPr>
        <p:spPr>
          <a:xfrm>
            <a:off x="1797146" y="2401301"/>
            <a:ext cx="321251" cy="829330"/>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꺾인 연결선 25"/>
          <p:cNvCxnSpPr>
            <a:cxnSpLocks/>
            <a:stCxn id="6" idx="3"/>
            <a:endCxn id="10" idx="1"/>
          </p:cNvCxnSpPr>
          <p:nvPr/>
        </p:nvCxnSpPr>
        <p:spPr>
          <a:xfrm flipV="1">
            <a:off x="1797146" y="1803867"/>
            <a:ext cx="321251" cy="597434"/>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꺾인 연결선 26"/>
          <p:cNvCxnSpPr>
            <a:cxnSpLocks/>
            <a:stCxn id="6" idx="3"/>
            <a:endCxn id="11" idx="1"/>
          </p:cNvCxnSpPr>
          <p:nvPr/>
        </p:nvCxnSpPr>
        <p:spPr>
          <a:xfrm flipV="1">
            <a:off x="1797146" y="2036390"/>
            <a:ext cx="321251" cy="364911"/>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꺾인 연결선 27"/>
          <p:cNvCxnSpPr>
            <a:cxnSpLocks/>
            <a:stCxn id="6" idx="3"/>
            <a:endCxn id="12" idx="1"/>
          </p:cNvCxnSpPr>
          <p:nvPr/>
        </p:nvCxnSpPr>
        <p:spPr>
          <a:xfrm flipV="1">
            <a:off x="1797146" y="2278382"/>
            <a:ext cx="321251" cy="122919"/>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29" name="그룹 28"/>
          <p:cNvGrpSpPr/>
          <p:nvPr/>
        </p:nvGrpSpPr>
        <p:grpSpPr>
          <a:xfrm>
            <a:off x="6536267" y="1171792"/>
            <a:ext cx="4444979" cy="2279356"/>
            <a:chOff x="3987793" y="1037128"/>
            <a:chExt cx="3733785" cy="1752532"/>
          </a:xfrm>
        </p:grpSpPr>
        <p:sp>
          <p:nvSpPr>
            <p:cNvPr id="30" name="직사각형 29"/>
            <p:cNvSpPr/>
            <p:nvPr/>
          </p:nvSpPr>
          <p:spPr>
            <a:xfrm>
              <a:off x="3987793" y="1888138"/>
              <a:ext cx="398311" cy="385993"/>
            </a:xfrm>
            <a:prstGeom prst="rect">
              <a:avLst/>
            </a:prstGeom>
            <a:ln w="6350">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lIns="0" rIns="0" rtlCol="0" anchor="ctr"/>
            <a:lstStyle/>
            <a:p>
              <a:pPr algn="ctr"/>
              <a:r>
                <a:rPr lang="ko-KR" altLang="en-US" sz="1200" dirty="0"/>
                <a:t>특허</a:t>
              </a:r>
              <a:endParaRPr lang="en-US" altLang="ko-KR" sz="1200" dirty="0"/>
            </a:p>
            <a:p>
              <a:pPr algn="ctr"/>
              <a:r>
                <a:rPr lang="ko-KR" altLang="en-US" sz="1200" dirty="0"/>
                <a:t>요건</a:t>
              </a:r>
            </a:p>
          </p:txBody>
        </p:sp>
        <p:sp>
          <p:nvSpPr>
            <p:cNvPr id="31" name="직사각형 30"/>
            <p:cNvSpPr/>
            <p:nvPr/>
          </p:nvSpPr>
          <p:spPr>
            <a:xfrm>
              <a:off x="4546567" y="1605364"/>
              <a:ext cx="950303" cy="337776"/>
            </a:xfrm>
            <a:prstGeom prst="rect">
              <a:avLst/>
            </a:prstGeom>
            <a:solidFill>
              <a:schemeClr val="accent4">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특허를 받을 수 </a:t>
              </a:r>
              <a:endParaRPr lang="en-US" altLang="ko-KR" sz="1000" dirty="0">
                <a:solidFill>
                  <a:schemeClr val="tx1"/>
                </a:solidFill>
              </a:endParaRPr>
            </a:p>
            <a:p>
              <a:pPr algn="ctr"/>
              <a:r>
                <a:rPr lang="ko-KR" altLang="en-US" sz="1000" dirty="0">
                  <a:solidFill>
                    <a:schemeClr val="tx1"/>
                  </a:solidFill>
                </a:rPr>
                <a:t>없는 발명</a:t>
              </a:r>
            </a:p>
          </p:txBody>
        </p:sp>
        <p:sp>
          <p:nvSpPr>
            <p:cNvPr id="32" name="직사각형 31"/>
            <p:cNvSpPr/>
            <p:nvPr/>
          </p:nvSpPr>
          <p:spPr>
            <a:xfrm>
              <a:off x="4546568" y="1990474"/>
              <a:ext cx="950302" cy="337776"/>
            </a:xfrm>
            <a:prstGeom prst="rect">
              <a:avLst/>
            </a:prstGeom>
            <a:solidFill>
              <a:schemeClr val="accent4">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특허를 받을 수 </a:t>
              </a:r>
              <a:endParaRPr lang="en-US" altLang="ko-KR" sz="1000" dirty="0">
                <a:solidFill>
                  <a:schemeClr val="tx1"/>
                </a:solidFill>
              </a:endParaRPr>
            </a:p>
            <a:p>
              <a:pPr algn="ctr"/>
              <a:r>
                <a:rPr lang="ko-KR" altLang="en-US" sz="1000" dirty="0">
                  <a:solidFill>
                    <a:schemeClr val="tx1"/>
                  </a:solidFill>
                </a:rPr>
                <a:t>있는 자</a:t>
              </a:r>
            </a:p>
          </p:txBody>
        </p:sp>
        <p:sp>
          <p:nvSpPr>
            <p:cNvPr id="33" name="직사각형 32"/>
            <p:cNvSpPr/>
            <p:nvPr/>
          </p:nvSpPr>
          <p:spPr>
            <a:xfrm>
              <a:off x="4546567" y="1205114"/>
              <a:ext cx="950303" cy="337776"/>
            </a:xfrm>
            <a:prstGeom prst="rect">
              <a:avLst/>
            </a:prstGeom>
            <a:solidFill>
              <a:schemeClr val="accent4">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특허를 받을 수 </a:t>
              </a:r>
              <a:endParaRPr lang="en-US" altLang="ko-KR" sz="1000" dirty="0">
                <a:solidFill>
                  <a:schemeClr val="tx1"/>
                </a:solidFill>
              </a:endParaRPr>
            </a:p>
            <a:p>
              <a:pPr algn="ctr"/>
              <a:r>
                <a:rPr lang="ko-KR" altLang="en-US" sz="1000" dirty="0">
                  <a:solidFill>
                    <a:schemeClr val="tx1"/>
                  </a:solidFill>
                </a:rPr>
                <a:t>있는 발명</a:t>
              </a:r>
            </a:p>
          </p:txBody>
        </p:sp>
        <p:sp>
          <p:nvSpPr>
            <p:cNvPr id="34" name="직사각형 33"/>
            <p:cNvSpPr/>
            <p:nvPr/>
          </p:nvSpPr>
          <p:spPr>
            <a:xfrm>
              <a:off x="4546568" y="2378317"/>
              <a:ext cx="950302" cy="337776"/>
            </a:xfrm>
            <a:prstGeom prst="rect">
              <a:avLst/>
            </a:prstGeom>
            <a:solidFill>
              <a:schemeClr val="accent4">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특허를 받을 수 </a:t>
              </a:r>
              <a:endParaRPr lang="en-US" altLang="ko-KR" sz="1000" dirty="0">
                <a:solidFill>
                  <a:schemeClr val="tx1"/>
                </a:solidFill>
              </a:endParaRPr>
            </a:p>
            <a:p>
              <a:pPr algn="ctr"/>
              <a:r>
                <a:rPr lang="ko-KR" altLang="en-US" sz="1000" dirty="0">
                  <a:solidFill>
                    <a:schemeClr val="tx1"/>
                  </a:solidFill>
                </a:rPr>
                <a:t>있는 출원</a:t>
              </a:r>
            </a:p>
          </p:txBody>
        </p:sp>
        <p:grpSp>
          <p:nvGrpSpPr>
            <p:cNvPr id="35" name="그룹 34"/>
            <p:cNvGrpSpPr/>
            <p:nvPr/>
          </p:nvGrpSpPr>
          <p:grpSpPr>
            <a:xfrm>
              <a:off x="5713090" y="1037128"/>
              <a:ext cx="2008488" cy="1752532"/>
              <a:chOff x="9836379" y="3177270"/>
              <a:chExt cx="2251744" cy="1752532"/>
            </a:xfrm>
            <a:solidFill>
              <a:schemeClr val="accent1">
                <a:lumMod val="20000"/>
                <a:lumOff val="80000"/>
              </a:schemeClr>
            </a:solidFill>
          </p:grpSpPr>
          <p:sp>
            <p:nvSpPr>
              <p:cNvPr id="49" name="직사각형 48"/>
              <p:cNvSpPr/>
              <p:nvPr/>
            </p:nvSpPr>
            <p:spPr>
              <a:xfrm>
                <a:off x="9836379" y="3177270"/>
                <a:ext cx="2251744" cy="155896"/>
              </a:xfrm>
              <a:prstGeom prst="rect">
                <a:avLst/>
              </a:prstGeom>
              <a:grp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협의의 특허요건</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29)</a:t>
                </a:r>
                <a:endParaRPr lang="ko-KR" altLang="en-US" sz="1000" dirty="0">
                  <a:solidFill>
                    <a:schemeClr val="tx1"/>
                  </a:solidFill>
                </a:endParaRPr>
              </a:p>
            </p:txBody>
          </p:sp>
          <p:sp>
            <p:nvSpPr>
              <p:cNvPr id="50" name="직사각형 49"/>
              <p:cNvSpPr/>
              <p:nvPr/>
            </p:nvSpPr>
            <p:spPr>
              <a:xfrm>
                <a:off x="9836379" y="3385132"/>
                <a:ext cx="2251744" cy="155896"/>
              </a:xfrm>
              <a:prstGeom prst="rect">
                <a:avLst/>
              </a:prstGeom>
              <a:grp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선출원주의</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36)</a:t>
                </a:r>
                <a:endParaRPr lang="ko-KR" altLang="en-US" sz="1000" dirty="0">
                  <a:solidFill>
                    <a:schemeClr val="tx1"/>
                  </a:solidFill>
                </a:endParaRPr>
              </a:p>
            </p:txBody>
          </p:sp>
          <p:sp>
            <p:nvSpPr>
              <p:cNvPr id="51" name="직사각형 50"/>
              <p:cNvSpPr/>
              <p:nvPr/>
            </p:nvSpPr>
            <p:spPr>
              <a:xfrm>
                <a:off x="9836379" y="3574340"/>
                <a:ext cx="2251744" cy="155896"/>
              </a:xfrm>
              <a:prstGeom prst="rect">
                <a:avLst/>
              </a:prstGeom>
              <a:grp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err="1">
                    <a:solidFill>
                      <a:schemeClr val="tx1"/>
                    </a:solidFill>
                  </a:rPr>
                  <a:t>불특허발명</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32)</a:t>
                </a:r>
                <a:endParaRPr lang="ko-KR" altLang="en-US" sz="1000" dirty="0">
                  <a:solidFill>
                    <a:schemeClr val="tx1"/>
                  </a:solidFill>
                </a:endParaRPr>
              </a:p>
            </p:txBody>
          </p:sp>
          <p:sp>
            <p:nvSpPr>
              <p:cNvPr id="52" name="직사각형 51"/>
              <p:cNvSpPr/>
              <p:nvPr/>
            </p:nvSpPr>
            <p:spPr>
              <a:xfrm>
                <a:off x="9836379" y="3782202"/>
                <a:ext cx="2251744" cy="155896"/>
              </a:xfrm>
              <a:prstGeom prst="rect">
                <a:avLst/>
              </a:prstGeom>
              <a:grp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국방상 필요한 발명</a:t>
                </a:r>
                <a:r>
                  <a:rPr lang="en-US" altLang="ko-KR" sz="1000" dirty="0">
                    <a:solidFill>
                      <a:schemeClr val="tx1"/>
                    </a:solidFill>
                  </a:rPr>
                  <a:t>(</a:t>
                </a:r>
                <a:r>
                  <a:rPr lang="ko-KR" altLang="en-US" sz="1000" dirty="0">
                    <a:solidFill>
                      <a:schemeClr val="tx1"/>
                    </a:solidFill>
                  </a:rPr>
                  <a:t>法</a:t>
                </a:r>
                <a:r>
                  <a:rPr lang="en-US" altLang="ko-KR" sz="1000" dirty="0">
                    <a:solidFill>
                      <a:schemeClr val="tx1"/>
                    </a:solidFill>
                  </a:rPr>
                  <a:t> 41, 106)</a:t>
                </a:r>
                <a:endParaRPr lang="ko-KR" altLang="en-US" sz="1000" dirty="0">
                  <a:solidFill>
                    <a:schemeClr val="tx1"/>
                  </a:solidFill>
                </a:endParaRPr>
              </a:p>
            </p:txBody>
          </p:sp>
          <p:sp>
            <p:nvSpPr>
              <p:cNvPr id="53" name="직사각형 52"/>
              <p:cNvSpPr/>
              <p:nvPr/>
            </p:nvSpPr>
            <p:spPr>
              <a:xfrm>
                <a:off x="9836379" y="3969271"/>
                <a:ext cx="2251744" cy="155896"/>
              </a:xfrm>
              <a:prstGeom prst="rect">
                <a:avLst/>
              </a:prstGeom>
              <a:grp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출원인</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25, 33, 44)</a:t>
                </a:r>
                <a:endParaRPr lang="ko-KR" altLang="en-US" sz="1000" dirty="0">
                  <a:solidFill>
                    <a:schemeClr val="tx1"/>
                  </a:solidFill>
                </a:endParaRPr>
              </a:p>
            </p:txBody>
          </p:sp>
          <p:sp>
            <p:nvSpPr>
              <p:cNvPr id="54" name="직사각형 53"/>
              <p:cNvSpPr/>
              <p:nvPr/>
            </p:nvSpPr>
            <p:spPr>
              <a:xfrm>
                <a:off x="9836379" y="4160199"/>
                <a:ext cx="2251744" cy="155896"/>
              </a:xfrm>
              <a:prstGeom prst="rect">
                <a:avLst/>
              </a:prstGeom>
              <a:grp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특허를 받을 수 있는 권리</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37, 38)</a:t>
                </a:r>
                <a:endParaRPr lang="ko-KR" altLang="en-US" sz="1000" dirty="0">
                  <a:solidFill>
                    <a:schemeClr val="tx1"/>
                  </a:solidFill>
                </a:endParaRPr>
              </a:p>
            </p:txBody>
          </p:sp>
          <p:sp>
            <p:nvSpPr>
              <p:cNvPr id="55" name="직사각형 54"/>
              <p:cNvSpPr/>
              <p:nvPr/>
            </p:nvSpPr>
            <p:spPr>
              <a:xfrm>
                <a:off x="9836379" y="4358676"/>
                <a:ext cx="2251744" cy="155896"/>
              </a:xfrm>
              <a:prstGeom prst="rect">
                <a:avLst/>
              </a:prstGeom>
              <a:grp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직무발명</a:t>
                </a:r>
                <a:r>
                  <a:rPr lang="en-US" altLang="ko-KR" sz="1000" dirty="0">
                    <a:solidFill>
                      <a:schemeClr val="tx1"/>
                    </a:solidFill>
                  </a:rPr>
                  <a:t>(</a:t>
                </a:r>
                <a:r>
                  <a:rPr lang="ko-KR" altLang="en-US" sz="1000" dirty="0" err="1">
                    <a:solidFill>
                      <a:schemeClr val="tx1"/>
                    </a:solidFill>
                  </a:rPr>
                  <a:t>발진법</a:t>
                </a:r>
                <a:r>
                  <a:rPr lang="ko-KR" altLang="en-US" sz="1000" dirty="0">
                    <a:solidFill>
                      <a:schemeClr val="tx1"/>
                    </a:solidFill>
                  </a:rPr>
                  <a:t> </a:t>
                </a:r>
                <a:r>
                  <a:rPr lang="en-US" altLang="ko-KR" sz="1000" dirty="0">
                    <a:solidFill>
                      <a:schemeClr val="tx1"/>
                    </a:solidFill>
                  </a:rPr>
                  <a:t>2, 10~19, 58)</a:t>
                </a:r>
                <a:endParaRPr lang="ko-KR" altLang="en-US" sz="1000" dirty="0">
                  <a:solidFill>
                    <a:schemeClr val="tx1"/>
                  </a:solidFill>
                </a:endParaRPr>
              </a:p>
            </p:txBody>
          </p:sp>
          <p:sp>
            <p:nvSpPr>
              <p:cNvPr id="56" name="직사각형 55"/>
              <p:cNvSpPr/>
              <p:nvPr/>
            </p:nvSpPr>
            <p:spPr>
              <a:xfrm>
                <a:off x="9836379" y="4558495"/>
                <a:ext cx="2251744" cy="155896"/>
              </a:xfrm>
              <a:prstGeom prst="rect">
                <a:avLst/>
              </a:prstGeom>
              <a:grp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특허출원</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42~42</a:t>
                </a:r>
                <a:r>
                  <a:rPr lang="ko-KR" altLang="en-US" sz="1000" dirty="0">
                    <a:solidFill>
                      <a:schemeClr val="tx1"/>
                    </a:solidFill>
                  </a:rPr>
                  <a:t>의</a:t>
                </a:r>
                <a:r>
                  <a:rPr lang="en-US" altLang="ko-KR" sz="1000" dirty="0">
                    <a:solidFill>
                      <a:schemeClr val="tx1"/>
                    </a:solidFill>
                  </a:rPr>
                  <a:t>3, 43)</a:t>
                </a:r>
                <a:endParaRPr lang="ko-KR" altLang="en-US" sz="1000" dirty="0">
                  <a:solidFill>
                    <a:schemeClr val="tx1"/>
                  </a:solidFill>
                </a:endParaRPr>
              </a:p>
            </p:txBody>
          </p:sp>
          <p:sp>
            <p:nvSpPr>
              <p:cNvPr id="57" name="직사각형 56"/>
              <p:cNvSpPr/>
              <p:nvPr/>
            </p:nvSpPr>
            <p:spPr>
              <a:xfrm>
                <a:off x="9836379" y="4773906"/>
                <a:ext cx="2251744" cy="155896"/>
              </a:xfrm>
              <a:prstGeom prst="rect">
                <a:avLst/>
              </a:prstGeom>
              <a:grp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하나의 특허출원의 범위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45)</a:t>
                </a:r>
                <a:endParaRPr lang="ko-KR" altLang="en-US" sz="1000" dirty="0">
                  <a:solidFill>
                    <a:schemeClr val="tx1"/>
                  </a:solidFill>
                </a:endParaRPr>
              </a:p>
            </p:txBody>
          </p:sp>
        </p:grpSp>
        <p:cxnSp>
          <p:nvCxnSpPr>
            <p:cNvPr id="36" name="꺾인 연결선 35"/>
            <p:cNvCxnSpPr>
              <a:stCxn id="30" idx="3"/>
              <a:endCxn id="33" idx="1"/>
            </p:cNvCxnSpPr>
            <p:nvPr/>
          </p:nvCxnSpPr>
          <p:spPr>
            <a:xfrm flipV="1">
              <a:off x="4386104" y="1374002"/>
              <a:ext cx="160463" cy="707133"/>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꺾인 연결선 36"/>
            <p:cNvCxnSpPr>
              <a:stCxn id="30" idx="3"/>
              <a:endCxn id="34" idx="1"/>
            </p:cNvCxnSpPr>
            <p:nvPr/>
          </p:nvCxnSpPr>
          <p:spPr>
            <a:xfrm>
              <a:off x="4386104" y="2081135"/>
              <a:ext cx="160464" cy="466070"/>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꺾인 연결선 37"/>
            <p:cNvCxnSpPr>
              <a:stCxn id="30" idx="3"/>
              <a:endCxn id="31" idx="1"/>
            </p:cNvCxnSpPr>
            <p:nvPr/>
          </p:nvCxnSpPr>
          <p:spPr>
            <a:xfrm flipV="1">
              <a:off x="4386104" y="1774252"/>
              <a:ext cx="160463" cy="306883"/>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꺾인 연결선 38"/>
            <p:cNvCxnSpPr>
              <a:stCxn id="30" idx="3"/>
              <a:endCxn id="32" idx="1"/>
            </p:cNvCxnSpPr>
            <p:nvPr/>
          </p:nvCxnSpPr>
          <p:spPr>
            <a:xfrm>
              <a:off x="4386104" y="2081135"/>
              <a:ext cx="160464" cy="78227"/>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꺾인 연결선 39"/>
            <p:cNvCxnSpPr>
              <a:stCxn id="33" idx="3"/>
              <a:endCxn id="49" idx="1"/>
            </p:cNvCxnSpPr>
            <p:nvPr/>
          </p:nvCxnSpPr>
          <p:spPr>
            <a:xfrm flipV="1">
              <a:off x="5496870" y="1115076"/>
              <a:ext cx="216220" cy="258926"/>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1" name="꺾인 연결선 40"/>
            <p:cNvCxnSpPr>
              <a:stCxn id="33" idx="3"/>
              <a:endCxn id="50" idx="1"/>
            </p:cNvCxnSpPr>
            <p:nvPr/>
          </p:nvCxnSpPr>
          <p:spPr>
            <a:xfrm flipV="1">
              <a:off x="5496870" y="1322938"/>
              <a:ext cx="216220" cy="51064"/>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2" name="꺾인 연결선 41"/>
            <p:cNvCxnSpPr>
              <a:stCxn id="31" idx="3"/>
              <a:endCxn id="51" idx="1"/>
            </p:cNvCxnSpPr>
            <p:nvPr/>
          </p:nvCxnSpPr>
          <p:spPr>
            <a:xfrm flipV="1">
              <a:off x="5496870" y="1512146"/>
              <a:ext cx="216220" cy="262106"/>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3" name="꺾인 연결선 42"/>
            <p:cNvCxnSpPr>
              <a:stCxn id="31" idx="3"/>
              <a:endCxn id="52" idx="1"/>
            </p:cNvCxnSpPr>
            <p:nvPr/>
          </p:nvCxnSpPr>
          <p:spPr>
            <a:xfrm flipV="1">
              <a:off x="5496870" y="1720008"/>
              <a:ext cx="216220" cy="54244"/>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꺾인 연결선 43"/>
            <p:cNvCxnSpPr>
              <a:stCxn id="32" idx="3"/>
              <a:endCxn id="53" idx="1"/>
            </p:cNvCxnSpPr>
            <p:nvPr/>
          </p:nvCxnSpPr>
          <p:spPr>
            <a:xfrm flipV="1">
              <a:off x="5496870" y="1907077"/>
              <a:ext cx="216220" cy="252285"/>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꺾인 연결선 44"/>
            <p:cNvCxnSpPr>
              <a:stCxn id="32" idx="3"/>
              <a:endCxn id="54" idx="1"/>
            </p:cNvCxnSpPr>
            <p:nvPr/>
          </p:nvCxnSpPr>
          <p:spPr>
            <a:xfrm flipV="1">
              <a:off x="5496870" y="2098005"/>
              <a:ext cx="216220" cy="61357"/>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꺾인 연결선 45"/>
            <p:cNvCxnSpPr>
              <a:stCxn id="32" idx="3"/>
              <a:endCxn id="55" idx="1"/>
            </p:cNvCxnSpPr>
            <p:nvPr/>
          </p:nvCxnSpPr>
          <p:spPr>
            <a:xfrm>
              <a:off x="5496870" y="2159362"/>
              <a:ext cx="216220" cy="137120"/>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꺾인 연결선 46"/>
            <p:cNvCxnSpPr>
              <a:stCxn id="34" idx="3"/>
              <a:endCxn id="56" idx="1"/>
            </p:cNvCxnSpPr>
            <p:nvPr/>
          </p:nvCxnSpPr>
          <p:spPr>
            <a:xfrm flipV="1">
              <a:off x="5496870" y="2496301"/>
              <a:ext cx="216220" cy="50904"/>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8" name="꺾인 연결선 47"/>
            <p:cNvCxnSpPr>
              <a:stCxn id="34" idx="3"/>
              <a:endCxn id="57" idx="1"/>
            </p:cNvCxnSpPr>
            <p:nvPr/>
          </p:nvCxnSpPr>
          <p:spPr>
            <a:xfrm>
              <a:off x="5496870" y="2547205"/>
              <a:ext cx="216220" cy="164507"/>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59" name="직사각형 58"/>
          <p:cNvSpPr/>
          <p:nvPr/>
        </p:nvSpPr>
        <p:spPr>
          <a:xfrm>
            <a:off x="906097" y="4898289"/>
            <a:ext cx="472526" cy="503727"/>
          </a:xfrm>
          <a:prstGeom prst="rect">
            <a:avLst/>
          </a:prstGeom>
          <a:ln w="6350">
            <a:solidFill>
              <a:schemeClr val="bg1">
                <a:lumMod val="50000"/>
              </a:schemeClr>
            </a:solidFill>
          </a:ln>
        </p:spPr>
        <p:style>
          <a:lnRef idx="2">
            <a:schemeClr val="accent5">
              <a:shade val="50000"/>
            </a:schemeClr>
          </a:lnRef>
          <a:fillRef idx="1">
            <a:schemeClr val="accent5"/>
          </a:fillRef>
          <a:effectRef idx="0">
            <a:schemeClr val="accent5"/>
          </a:effectRef>
          <a:fontRef idx="minor">
            <a:schemeClr val="lt1"/>
          </a:fontRef>
        </p:style>
        <p:txBody>
          <a:bodyPr lIns="0" rIns="0" rtlCol="0" anchor="ctr"/>
          <a:lstStyle/>
          <a:p>
            <a:pPr algn="ctr"/>
            <a:r>
              <a:rPr lang="ko-KR" altLang="en-US" sz="1200" dirty="0"/>
              <a:t>이익</a:t>
            </a:r>
            <a:endParaRPr lang="en-US" altLang="ko-KR" sz="1200" dirty="0"/>
          </a:p>
          <a:p>
            <a:pPr algn="ctr"/>
            <a:r>
              <a:rPr lang="ko-KR" altLang="en-US" sz="1200" dirty="0"/>
              <a:t>제도</a:t>
            </a:r>
          </a:p>
        </p:txBody>
      </p:sp>
      <p:sp>
        <p:nvSpPr>
          <p:cNvPr id="72" name="직사각형 71"/>
          <p:cNvSpPr/>
          <p:nvPr/>
        </p:nvSpPr>
        <p:spPr>
          <a:xfrm>
            <a:off x="2487992" y="4226191"/>
            <a:ext cx="2634340" cy="203447"/>
          </a:xfrm>
          <a:prstGeom prst="rect">
            <a:avLst/>
          </a:prstGeom>
          <a:solidFill>
            <a:schemeClr val="accent1">
              <a:lumMod val="20000"/>
              <a:lumOff val="80000"/>
            </a:schemeClr>
          </a:solidFill>
          <a:ln w="63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공지예외적용주장출원</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30)</a:t>
            </a:r>
            <a:endParaRPr lang="ko-KR" altLang="en-US" sz="1000" dirty="0">
              <a:solidFill>
                <a:schemeClr val="tx1"/>
              </a:solidFill>
            </a:endParaRPr>
          </a:p>
        </p:txBody>
      </p:sp>
      <p:sp>
        <p:nvSpPr>
          <p:cNvPr id="73" name="직사각형 72"/>
          <p:cNvSpPr/>
          <p:nvPr/>
        </p:nvSpPr>
        <p:spPr>
          <a:xfrm>
            <a:off x="2487992" y="4599179"/>
            <a:ext cx="2634340" cy="203447"/>
          </a:xfrm>
          <a:prstGeom prst="rect">
            <a:avLst/>
          </a:prstGeom>
          <a:solidFill>
            <a:schemeClr val="accent1">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정당한 권리자의 보호</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34, 35, 99</a:t>
            </a:r>
            <a:r>
              <a:rPr lang="ko-KR" altLang="en-US" sz="1000" dirty="0">
                <a:solidFill>
                  <a:schemeClr val="tx1"/>
                </a:solidFill>
              </a:rPr>
              <a:t>의</a:t>
            </a:r>
            <a:r>
              <a:rPr lang="en-US" altLang="ko-KR" sz="1000" dirty="0">
                <a:solidFill>
                  <a:schemeClr val="tx1"/>
                </a:solidFill>
              </a:rPr>
              <a:t>2)</a:t>
            </a:r>
            <a:endParaRPr lang="ko-KR" altLang="en-US" sz="1000" dirty="0">
              <a:solidFill>
                <a:schemeClr val="tx1"/>
              </a:solidFill>
            </a:endParaRPr>
          </a:p>
        </p:txBody>
      </p:sp>
      <p:sp>
        <p:nvSpPr>
          <p:cNvPr id="74" name="직사각형 73"/>
          <p:cNvSpPr/>
          <p:nvPr/>
        </p:nvSpPr>
        <p:spPr>
          <a:xfrm>
            <a:off x="2487992" y="4870443"/>
            <a:ext cx="2634340" cy="203447"/>
          </a:xfrm>
          <a:prstGeom prst="rect">
            <a:avLst/>
          </a:prstGeom>
          <a:solidFill>
            <a:schemeClr val="accent1">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보정</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46, 47, 51)</a:t>
            </a:r>
            <a:endParaRPr lang="ko-KR" altLang="en-US" sz="1000" dirty="0">
              <a:solidFill>
                <a:schemeClr val="tx1"/>
              </a:solidFill>
            </a:endParaRPr>
          </a:p>
        </p:txBody>
      </p:sp>
      <p:sp>
        <p:nvSpPr>
          <p:cNvPr id="75" name="직사각형 74"/>
          <p:cNvSpPr/>
          <p:nvPr/>
        </p:nvSpPr>
        <p:spPr>
          <a:xfrm>
            <a:off x="2487992" y="5446506"/>
            <a:ext cx="2634340" cy="203447"/>
          </a:xfrm>
          <a:prstGeom prst="rect">
            <a:avLst/>
          </a:prstGeom>
          <a:solidFill>
            <a:schemeClr val="accent1">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분리출원</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52</a:t>
            </a:r>
            <a:r>
              <a:rPr lang="ko-KR" altLang="en-US" sz="1000" dirty="0">
                <a:solidFill>
                  <a:schemeClr val="tx1"/>
                </a:solidFill>
              </a:rPr>
              <a:t>의</a:t>
            </a:r>
            <a:r>
              <a:rPr lang="en-US" altLang="ko-KR" sz="1000" dirty="0">
                <a:solidFill>
                  <a:schemeClr val="tx1"/>
                </a:solidFill>
              </a:rPr>
              <a:t>2)</a:t>
            </a:r>
            <a:endParaRPr lang="ko-KR" altLang="en-US" sz="1000" dirty="0">
              <a:solidFill>
                <a:schemeClr val="tx1"/>
              </a:solidFill>
            </a:endParaRPr>
          </a:p>
        </p:txBody>
      </p:sp>
      <p:sp>
        <p:nvSpPr>
          <p:cNvPr id="76" name="직사각형 75"/>
          <p:cNvSpPr/>
          <p:nvPr/>
        </p:nvSpPr>
        <p:spPr>
          <a:xfrm>
            <a:off x="2487992" y="5717771"/>
            <a:ext cx="2634340" cy="203447"/>
          </a:xfrm>
          <a:prstGeom prst="rect">
            <a:avLst/>
          </a:prstGeom>
          <a:solidFill>
            <a:schemeClr val="accent1">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err="1">
                <a:solidFill>
                  <a:schemeClr val="tx1"/>
                </a:solidFill>
              </a:rPr>
              <a:t>변경출원</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53)</a:t>
            </a:r>
            <a:endParaRPr lang="ko-KR" altLang="en-US" sz="1000" dirty="0">
              <a:solidFill>
                <a:schemeClr val="tx1"/>
              </a:solidFill>
            </a:endParaRPr>
          </a:p>
        </p:txBody>
      </p:sp>
      <p:sp>
        <p:nvSpPr>
          <p:cNvPr id="77" name="직사각형 76"/>
          <p:cNvSpPr/>
          <p:nvPr/>
        </p:nvSpPr>
        <p:spPr>
          <a:xfrm>
            <a:off x="2487992" y="6022943"/>
            <a:ext cx="2634340" cy="203447"/>
          </a:xfrm>
          <a:prstGeom prst="rect">
            <a:avLst/>
          </a:prstGeom>
          <a:solidFill>
            <a:schemeClr val="accent1">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조약우선권주장출원</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54)</a:t>
            </a:r>
            <a:endParaRPr lang="ko-KR" altLang="en-US" sz="1000" dirty="0">
              <a:solidFill>
                <a:schemeClr val="tx1"/>
              </a:solidFill>
            </a:endParaRPr>
          </a:p>
        </p:txBody>
      </p:sp>
      <p:sp>
        <p:nvSpPr>
          <p:cNvPr id="78" name="직사각형 77"/>
          <p:cNvSpPr/>
          <p:nvPr/>
        </p:nvSpPr>
        <p:spPr>
          <a:xfrm>
            <a:off x="2487992" y="6294208"/>
            <a:ext cx="2634340" cy="203447"/>
          </a:xfrm>
          <a:prstGeom prst="rect">
            <a:avLst/>
          </a:prstGeom>
          <a:solidFill>
            <a:schemeClr val="accent1">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국내우선권주장출원</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55, 56)</a:t>
            </a:r>
            <a:endParaRPr lang="ko-KR" altLang="en-US" sz="1000" dirty="0">
              <a:solidFill>
                <a:schemeClr val="tx1"/>
              </a:solidFill>
            </a:endParaRPr>
          </a:p>
        </p:txBody>
      </p:sp>
      <p:sp>
        <p:nvSpPr>
          <p:cNvPr id="61" name="직사각형 60"/>
          <p:cNvSpPr/>
          <p:nvPr/>
        </p:nvSpPr>
        <p:spPr>
          <a:xfrm>
            <a:off x="1519197" y="5145136"/>
            <a:ext cx="722622" cy="440804"/>
          </a:xfrm>
          <a:prstGeom prst="rect">
            <a:avLst/>
          </a:prstGeom>
          <a:solidFill>
            <a:schemeClr val="accent4">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출원일</a:t>
            </a:r>
            <a:endParaRPr lang="en-US" altLang="ko-KR" sz="1000" dirty="0">
              <a:solidFill>
                <a:schemeClr val="tx1"/>
              </a:solidFill>
            </a:endParaRPr>
          </a:p>
          <a:p>
            <a:pPr algn="ctr"/>
            <a:r>
              <a:rPr lang="ko-KR" altLang="en-US" sz="1000" dirty="0">
                <a:solidFill>
                  <a:schemeClr val="tx1"/>
                </a:solidFill>
              </a:rPr>
              <a:t>소급제도</a:t>
            </a:r>
          </a:p>
        </p:txBody>
      </p:sp>
      <p:sp>
        <p:nvSpPr>
          <p:cNvPr id="62" name="직사각형 61"/>
          <p:cNvSpPr/>
          <p:nvPr/>
        </p:nvSpPr>
        <p:spPr>
          <a:xfrm>
            <a:off x="1519197" y="6056851"/>
            <a:ext cx="722622" cy="440804"/>
          </a:xfrm>
          <a:prstGeom prst="rect">
            <a:avLst/>
          </a:prstGeom>
          <a:solidFill>
            <a:schemeClr val="accent4">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a:solidFill>
                  <a:schemeClr val="tx1"/>
                </a:solidFill>
              </a:rPr>
              <a:t>판단시점</a:t>
            </a:r>
            <a:endParaRPr lang="en-US" altLang="ko-KR" sz="1000" dirty="0">
              <a:solidFill>
                <a:schemeClr val="tx1"/>
              </a:solidFill>
            </a:endParaRPr>
          </a:p>
          <a:p>
            <a:pPr algn="ctr"/>
            <a:r>
              <a:rPr lang="ko-KR" altLang="en-US" sz="1000">
                <a:solidFill>
                  <a:schemeClr val="tx1"/>
                </a:solidFill>
              </a:rPr>
              <a:t>소급제도</a:t>
            </a:r>
            <a:endParaRPr lang="ko-KR" altLang="en-US" sz="1000" dirty="0">
              <a:solidFill>
                <a:schemeClr val="tx1"/>
              </a:solidFill>
            </a:endParaRPr>
          </a:p>
        </p:txBody>
      </p:sp>
      <p:cxnSp>
        <p:nvCxnSpPr>
          <p:cNvPr id="63" name="꺾인 연결선 62"/>
          <p:cNvCxnSpPr>
            <a:stCxn id="59" idx="3"/>
            <a:endCxn id="72" idx="1"/>
          </p:cNvCxnSpPr>
          <p:nvPr/>
        </p:nvCxnSpPr>
        <p:spPr>
          <a:xfrm flipV="1">
            <a:off x="1378623" y="4327915"/>
            <a:ext cx="1109369" cy="822238"/>
          </a:xfrm>
          <a:prstGeom prst="bentConnector3">
            <a:avLst>
              <a:gd name="adj1" fmla="val 6212"/>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꺾인 연결선 63"/>
          <p:cNvCxnSpPr>
            <a:stCxn id="59" idx="3"/>
            <a:endCxn id="62" idx="1"/>
          </p:cNvCxnSpPr>
          <p:nvPr/>
        </p:nvCxnSpPr>
        <p:spPr>
          <a:xfrm>
            <a:off x="1378623" y="5150153"/>
            <a:ext cx="140574" cy="1127101"/>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5" name="꺾인 연결선 64"/>
          <p:cNvCxnSpPr>
            <a:stCxn id="59" idx="3"/>
            <a:endCxn id="61" idx="1"/>
          </p:cNvCxnSpPr>
          <p:nvPr/>
        </p:nvCxnSpPr>
        <p:spPr>
          <a:xfrm>
            <a:off x="1378623" y="5150153"/>
            <a:ext cx="140574" cy="215386"/>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꺾인 연결선 65"/>
          <p:cNvCxnSpPr>
            <a:stCxn id="61" idx="3"/>
            <a:endCxn id="73" idx="1"/>
          </p:cNvCxnSpPr>
          <p:nvPr/>
        </p:nvCxnSpPr>
        <p:spPr>
          <a:xfrm flipV="1">
            <a:off x="2241819" y="4700903"/>
            <a:ext cx="246173" cy="664635"/>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꺾인 연결선 66"/>
          <p:cNvCxnSpPr>
            <a:stCxn id="61" idx="3"/>
            <a:endCxn id="76" idx="1"/>
          </p:cNvCxnSpPr>
          <p:nvPr/>
        </p:nvCxnSpPr>
        <p:spPr>
          <a:xfrm>
            <a:off x="2241819" y="5365539"/>
            <a:ext cx="246173" cy="453957"/>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8" name="꺾인 연결선 67"/>
          <p:cNvCxnSpPr>
            <a:stCxn id="61" idx="3"/>
            <a:endCxn id="74" idx="1"/>
          </p:cNvCxnSpPr>
          <p:nvPr/>
        </p:nvCxnSpPr>
        <p:spPr>
          <a:xfrm flipV="1">
            <a:off x="2241819" y="4972167"/>
            <a:ext cx="246173" cy="393371"/>
          </a:xfrm>
          <a:prstGeom prst="bentConnector3">
            <a:avLst>
              <a:gd name="adj1" fmla="val 50001"/>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꺾인 연결선 68"/>
          <p:cNvCxnSpPr>
            <a:stCxn id="61" idx="3"/>
            <a:endCxn id="75" idx="1"/>
          </p:cNvCxnSpPr>
          <p:nvPr/>
        </p:nvCxnSpPr>
        <p:spPr>
          <a:xfrm>
            <a:off x="2241819" y="5365539"/>
            <a:ext cx="246173" cy="182692"/>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꺾인 연결선 69"/>
          <p:cNvCxnSpPr>
            <a:cxnSpLocks/>
            <a:stCxn id="62" idx="3"/>
            <a:endCxn id="77" idx="1"/>
          </p:cNvCxnSpPr>
          <p:nvPr/>
        </p:nvCxnSpPr>
        <p:spPr>
          <a:xfrm flipV="1">
            <a:off x="2241819" y="6124667"/>
            <a:ext cx="246173" cy="152586"/>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꺾인 연결선 70"/>
          <p:cNvCxnSpPr>
            <a:cxnSpLocks/>
            <a:stCxn id="62" idx="3"/>
            <a:endCxn id="78" idx="1"/>
          </p:cNvCxnSpPr>
          <p:nvPr/>
        </p:nvCxnSpPr>
        <p:spPr>
          <a:xfrm>
            <a:off x="2241819" y="6277254"/>
            <a:ext cx="246173" cy="118678"/>
          </a:xfrm>
          <a:prstGeom prst="bentConnector3">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79" name="그룹 78"/>
          <p:cNvGrpSpPr/>
          <p:nvPr/>
        </p:nvGrpSpPr>
        <p:grpSpPr>
          <a:xfrm>
            <a:off x="7001934" y="4076201"/>
            <a:ext cx="3979312" cy="2368895"/>
            <a:chOff x="7340600" y="4076201"/>
            <a:chExt cx="3640645" cy="2368895"/>
          </a:xfrm>
        </p:grpSpPr>
        <p:sp>
          <p:nvSpPr>
            <p:cNvPr id="80" name="직사각형 79"/>
            <p:cNvSpPr/>
            <p:nvPr/>
          </p:nvSpPr>
          <p:spPr>
            <a:xfrm>
              <a:off x="7340600" y="5011587"/>
              <a:ext cx="448769" cy="399529"/>
            </a:xfrm>
            <a:prstGeom prst="rect">
              <a:avLst/>
            </a:prstGeom>
            <a:ln w="3175"/>
          </p:spPr>
          <p:style>
            <a:lnRef idx="2">
              <a:schemeClr val="accent5">
                <a:shade val="50000"/>
              </a:schemeClr>
            </a:lnRef>
            <a:fillRef idx="1">
              <a:schemeClr val="accent5"/>
            </a:fillRef>
            <a:effectRef idx="0">
              <a:schemeClr val="accent5"/>
            </a:effectRef>
            <a:fontRef idx="minor">
              <a:schemeClr val="lt1"/>
            </a:fontRef>
          </p:style>
          <p:txBody>
            <a:bodyPr lIns="0" rIns="0" rtlCol="0" anchor="ctr"/>
            <a:lstStyle/>
            <a:p>
              <a:pPr algn="ctr"/>
              <a:r>
                <a:rPr lang="ko-KR" altLang="en-US" sz="1200" dirty="0"/>
                <a:t>심사</a:t>
              </a:r>
              <a:endParaRPr lang="en-US" altLang="ko-KR" sz="1200" dirty="0"/>
            </a:p>
            <a:p>
              <a:pPr algn="ctr"/>
              <a:r>
                <a:rPr lang="en-US" altLang="ko-KR" sz="1200" dirty="0"/>
                <a:t>(</a:t>
              </a:r>
              <a:r>
                <a:rPr lang="ko-KR" altLang="en-US" sz="1200" dirty="0"/>
                <a:t>제도</a:t>
              </a:r>
              <a:r>
                <a:rPr lang="en-US" altLang="ko-KR" sz="1200" dirty="0"/>
                <a:t>)</a:t>
              </a:r>
              <a:endParaRPr lang="ko-KR" altLang="en-US" sz="1200" dirty="0"/>
            </a:p>
          </p:txBody>
        </p:sp>
        <p:grpSp>
          <p:nvGrpSpPr>
            <p:cNvPr id="81" name="그룹 80"/>
            <p:cNvGrpSpPr/>
            <p:nvPr/>
          </p:nvGrpSpPr>
          <p:grpSpPr>
            <a:xfrm>
              <a:off x="7967112" y="4305504"/>
              <a:ext cx="471444" cy="1770110"/>
              <a:chOff x="2707314" y="4441447"/>
              <a:chExt cx="786730" cy="1770110"/>
            </a:xfrm>
          </p:grpSpPr>
          <p:sp>
            <p:nvSpPr>
              <p:cNvPr id="108" name="직사각형 107"/>
              <p:cNvSpPr/>
              <p:nvPr/>
            </p:nvSpPr>
            <p:spPr>
              <a:xfrm>
                <a:off x="2707314" y="4441447"/>
                <a:ext cx="786730" cy="174811"/>
              </a:xfrm>
              <a:prstGeom prst="rect">
                <a:avLst/>
              </a:prstGeom>
              <a:solidFill>
                <a:schemeClr val="accent4">
                  <a:lumMod val="40000"/>
                  <a:lumOff val="6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주체</a:t>
                </a:r>
              </a:p>
            </p:txBody>
          </p:sp>
          <p:sp>
            <p:nvSpPr>
              <p:cNvPr id="109" name="직사각형 108"/>
              <p:cNvSpPr/>
              <p:nvPr/>
            </p:nvSpPr>
            <p:spPr>
              <a:xfrm>
                <a:off x="2707314" y="4839210"/>
                <a:ext cx="786730" cy="174811"/>
              </a:xfrm>
              <a:prstGeom prst="rect">
                <a:avLst/>
              </a:prstGeom>
              <a:solidFill>
                <a:schemeClr val="accent4">
                  <a:lumMod val="40000"/>
                  <a:lumOff val="6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청구</a:t>
                </a:r>
              </a:p>
            </p:txBody>
          </p:sp>
          <p:sp>
            <p:nvSpPr>
              <p:cNvPr id="110" name="직사각형 109"/>
              <p:cNvSpPr/>
              <p:nvPr/>
            </p:nvSpPr>
            <p:spPr>
              <a:xfrm>
                <a:off x="2707314" y="5258685"/>
                <a:ext cx="786730" cy="174811"/>
              </a:xfrm>
              <a:prstGeom prst="rect">
                <a:avLst/>
              </a:prstGeom>
              <a:solidFill>
                <a:schemeClr val="accent4">
                  <a:lumMod val="40000"/>
                  <a:lumOff val="6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진행</a:t>
                </a:r>
              </a:p>
            </p:txBody>
          </p:sp>
          <p:sp>
            <p:nvSpPr>
              <p:cNvPr id="111" name="직사각형 110"/>
              <p:cNvSpPr/>
              <p:nvPr/>
            </p:nvSpPr>
            <p:spPr>
              <a:xfrm>
                <a:off x="2707314" y="5656447"/>
                <a:ext cx="786730" cy="174811"/>
              </a:xfrm>
              <a:prstGeom prst="rect">
                <a:avLst/>
              </a:prstGeom>
              <a:solidFill>
                <a:schemeClr val="accent4">
                  <a:lumMod val="40000"/>
                  <a:lumOff val="6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종료</a:t>
                </a:r>
              </a:p>
            </p:txBody>
          </p:sp>
          <p:sp>
            <p:nvSpPr>
              <p:cNvPr id="112" name="직사각형 111"/>
              <p:cNvSpPr/>
              <p:nvPr/>
            </p:nvSpPr>
            <p:spPr>
              <a:xfrm>
                <a:off x="2707314" y="6036746"/>
                <a:ext cx="786730" cy="174811"/>
              </a:xfrm>
              <a:prstGeom prst="rect">
                <a:avLst/>
              </a:prstGeom>
              <a:solidFill>
                <a:schemeClr val="accent4">
                  <a:lumMod val="40000"/>
                  <a:lumOff val="6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관련</a:t>
                </a:r>
              </a:p>
            </p:txBody>
          </p:sp>
        </p:grpSp>
        <p:cxnSp>
          <p:nvCxnSpPr>
            <p:cNvPr id="82" name="꺾인 연결선 81"/>
            <p:cNvCxnSpPr>
              <a:stCxn id="80" idx="3"/>
              <a:endCxn id="108" idx="1"/>
            </p:cNvCxnSpPr>
            <p:nvPr/>
          </p:nvCxnSpPr>
          <p:spPr>
            <a:xfrm flipV="1">
              <a:off x="7789369" y="4392910"/>
              <a:ext cx="177743" cy="81844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꺾인 연결선 82"/>
            <p:cNvCxnSpPr>
              <a:stCxn id="80" idx="3"/>
              <a:endCxn id="112" idx="1"/>
            </p:cNvCxnSpPr>
            <p:nvPr/>
          </p:nvCxnSpPr>
          <p:spPr>
            <a:xfrm>
              <a:off x="7789369" y="5211352"/>
              <a:ext cx="177743" cy="77685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4" name="꺾인 연결선 83"/>
            <p:cNvCxnSpPr>
              <a:stCxn id="80" idx="3"/>
              <a:endCxn id="109" idx="1"/>
            </p:cNvCxnSpPr>
            <p:nvPr/>
          </p:nvCxnSpPr>
          <p:spPr>
            <a:xfrm flipV="1">
              <a:off x="7789369" y="4790673"/>
              <a:ext cx="177743" cy="42067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5" name="꺾인 연결선 84"/>
            <p:cNvCxnSpPr>
              <a:stCxn id="80" idx="3"/>
              <a:endCxn id="111" idx="1"/>
            </p:cNvCxnSpPr>
            <p:nvPr/>
          </p:nvCxnSpPr>
          <p:spPr>
            <a:xfrm>
              <a:off x="7789369" y="5211352"/>
              <a:ext cx="177743" cy="39655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6" name="꺾인 연결선 85"/>
            <p:cNvCxnSpPr>
              <a:stCxn id="80" idx="3"/>
              <a:endCxn id="110" idx="1"/>
            </p:cNvCxnSpPr>
            <p:nvPr/>
          </p:nvCxnSpPr>
          <p:spPr>
            <a:xfrm flipV="1">
              <a:off x="7789369" y="5210148"/>
              <a:ext cx="177743" cy="1204"/>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87" name="그룹 86"/>
            <p:cNvGrpSpPr/>
            <p:nvPr/>
          </p:nvGrpSpPr>
          <p:grpSpPr>
            <a:xfrm>
              <a:off x="8563424" y="4076201"/>
              <a:ext cx="2417821" cy="2368895"/>
              <a:chOff x="3618912" y="4212144"/>
              <a:chExt cx="3438525" cy="2368895"/>
            </a:xfrm>
          </p:grpSpPr>
          <p:sp>
            <p:nvSpPr>
              <p:cNvPr id="98" name="직사각형 97"/>
              <p:cNvSpPr/>
              <p:nvPr/>
            </p:nvSpPr>
            <p:spPr>
              <a:xfrm>
                <a:off x="3618912" y="4212144"/>
                <a:ext cx="3438525" cy="17481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심사관</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57</a:t>
                </a:r>
                <a:r>
                  <a:rPr lang="en-US" altLang="ko-KR" sz="1000">
                    <a:solidFill>
                      <a:schemeClr val="tx1"/>
                    </a:solidFill>
                  </a:rPr>
                  <a:t>, 68)</a:t>
                </a:r>
                <a:endParaRPr lang="ko-KR" altLang="en-US" sz="1000" dirty="0">
                  <a:solidFill>
                    <a:schemeClr val="tx1"/>
                  </a:solidFill>
                </a:endParaRPr>
              </a:p>
            </p:txBody>
          </p:sp>
          <p:sp>
            <p:nvSpPr>
              <p:cNvPr id="99" name="직사각형 98"/>
              <p:cNvSpPr/>
              <p:nvPr/>
            </p:nvSpPr>
            <p:spPr>
              <a:xfrm>
                <a:off x="3618912" y="4435206"/>
                <a:ext cx="3438525" cy="17481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전문기관</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58, 58</a:t>
                </a:r>
                <a:r>
                  <a:rPr lang="ko-KR" altLang="en-US" sz="1000" dirty="0">
                    <a:solidFill>
                      <a:schemeClr val="tx1"/>
                    </a:solidFill>
                  </a:rPr>
                  <a:t>의</a:t>
                </a:r>
                <a:r>
                  <a:rPr lang="en-US" altLang="ko-KR" sz="1000" dirty="0">
                    <a:solidFill>
                      <a:schemeClr val="tx1"/>
                    </a:solidFill>
                  </a:rPr>
                  <a:t>2)</a:t>
                </a:r>
                <a:endParaRPr lang="ko-KR" altLang="en-US" sz="1000" dirty="0">
                  <a:solidFill>
                    <a:schemeClr val="tx1"/>
                  </a:solidFill>
                </a:endParaRPr>
              </a:p>
            </p:txBody>
          </p:sp>
          <p:sp>
            <p:nvSpPr>
              <p:cNvPr id="100" name="직사각형 99"/>
              <p:cNvSpPr/>
              <p:nvPr/>
            </p:nvSpPr>
            <p:spPr>
              <a:xfrm>
                <a:off x="3618912" y="5479998"/>
                <a:ext cx="3438525" cy="17481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출원의 무효</a:t>
                </a:r>
                <a:r>
                  <a:rPr lang="en-US" altLang="ko-KR" sz="1000" dirty="0">
                    <a:solidFill>
                      <a:schemeClr val="tx1"/>
                    </a:solidFill>
                  </a:rPr>
                  <a:t>, </a:t>
                </a:r>
                <a:r>
                  <a:rPr lang="ko-KR" altLang="en-US" sz="1000" dirty="0">
                    <a:solidFill>
                      <a:schemeClr val="tx1"/>
                    </a:solidFill>
                  </a:rPr>
                  <a:t>취하</a:t>
                </a:r>
                <a:r>
                  <a:rPr lang="en-US" altLang="ko-KR" sz="1000" dirty="0">
                    <a:solidFill>
                      <a:schemeClr val="tx1"/>
                    </a:solidFill>
                  </a:rPr>
                  <a:t>, </a:t>
                </a:r>
                <a:r>
                  <a:rPr lang="ko-KR" altLang="en-US" sz="1000" dirty="0">
                    <a:solidFill>
                      <a:schemeClr val="tx1"/>
                    </a:solidFill>
                  </a:rPr>
                  <a:t>포기</a:t>
                </a:r>
                <a:r>
                  <a:rPr lang="en-US" altLang="ko-KR" sz="1000" dirty="0">
                    <a:solidFill>
                      <a:schemeClr val="tx1"/>
                    </a:solidFill>
                  </a:rPr>
                  <a:t>(</a:t>
                </a:r>
                <a:r>
                  <a:rPr lang="ko-KR" altLang="en-US" sz="1000" dirty="0">
                    <a:solidFill>
                      <a:schemeClr val="tx1"/>
                    </a:solidFill>
                  </a:rPr>
                  <a:t>제도</a:t>
                </a:r>
                <a:r>
                  <a:rPr lang="en-US" altLang="ko-KR" sz="1000" dirty="0">
                    <a:solidFill>
                      <a:schemeClr val="tx1"/>
                    </a:solidFill>
                  </a:rPr>
                  <a:t>)</a:t>
                </a:r>
                <a:endParaRPr lang="ko-KR" altLang="en-US" sz="1000" dirty="0">
                  <a:solidFill>
                    <a:schemeClr val="tx1"/>
                  </a:solidFill>
                </a:endParaRPr>
              </a:p>
            </p:txBody>
          </p:sp>
          <p:sp>
            <p:nvSpPr>
              <p:cNvPr id="101" name="직사각형 100"/>
              <p:cNvSpPr/>
              <p:nvPr/>
            </p:nvSpPr>
            <p:spPr>
              <a:xfrm>
                <a:off x="3618912" y="5703059"/>
                <a:ext cx="3438525" cy="17481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특허여부결정</a:t>
                </a:r>
                <a:r>
                  <a:rPr lang="en-US" altLang="ko-KR" sz="1000" dirty="0">
                    <a:solidFill>
                      <a:schemeClr val="tx1"/>
                    </a:solidFill>
                  </a:rPr>
                  <a:t>(</a:t>
                </a:r>
                <a:r>
                  <a:rPr lang="ko-KR" altLang="en-US" sz="1000" dirty="0">
                    <a:solidFill>
                      <a:schemeClr val="tx1"/>
                    </a:solidFill>
                  </a:rPr>
                  <a:t>제도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62, 63, 66~67</a:t>
                </a:r>
                <a:r>
                  <a:rPr lang="ko-KR" altLang="en-US" sz="1000" dirty="0">
                    <a:solidFill>
                      <a:schemeClr val="tx1"/>
                    </a:solidFill>
                  </a:rPr>
                  <a:t>의</a:t>
                </a:r>
                <a:r>
                  <a:rPr lang="en-US" altLang="ko-KR" sz="1000" dirty="0">
                    <a:solidFill>
                      <a:schemeClr val="tx1"/>
                    </a:solidFill>
                  </a:rPr>
                  <a:t>3)</a:t>
                </a:r>
                <a:endParaRPr lang="ko-KR" altLang="en-US" sz="1000" dirty="0">
                  <a:solidFill>
                    <a:schemeClr val="tx1"/>
                  </a:solidFill>
                </a:endParaRPr>
              </a:p>
            </p:txBody>
          </p:sp>
          <p:sp>
            <p:nvSpPr>
              <p:cNvPr id="102" name="직사각형 101"/>
              <p:cNvSpPr/>
              <p:nvPr/>
            </p:nvSpPr>
            <p:spPr>
              <a:xfrm>
                <a:off x="3618912" y="4668743"/>
                <a:ext cx="3438525" cy="17481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심사청구제도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59, 60)</a:t>
                </a:r>
                <a:endParaRPr lang="ko-KR" altLang="en-US" sz="1000" dirty="0">
                  <a:solidFill>
                    <a:schemeClr val="tx1"/>
                  </a:solidFill>
                </a:endParaRPr>
              </a:p>
            </p:txBody>
          </p:sp>
          <p:sp>
            <p:nvSpPr>
              <p:cNvPr id="103" name="직사각형 102"/>
              <p:cNvSpPr/>
              <p:nvPr/>
            </p:nvSpPr>
            <p:spPr>
              <a:xfrm>
                <a:off x="3618912" y="4891805"/>
                <a:ext cx="3438525" cy="17481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우선심사제도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61)</a:t>
                </a:r>
                <a:endParaRPr lang="ko-KR" altLang="en-US" sz="1000" dirty="0">
                  <a:solidFill>
                    <a:schemeClr val="tx1"/>
                  </a:solidFill>
                </a:endParaRPr>
              </a:p>
            </p:txBody>
          </p:sp>
          <p:sp>
            <p:nvSpPr>
              <p:cNvPr id="104" name="직사각형 103"/>
              <p:cNvSpPr/>
              <p:nvPr/>
            </p:nvSpPr>
            <p:spPr>
              <a:xfrm>
                <a:off x="3618912" y="5178975"/>
                <a:ext cx="3438525" cy="17481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심사의 진행</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62, 63, 63</a:t>
                </a:r>
                <a:r>
                  <a:rPr lang="ko-KR" altLang="en-US" sz="1000" dirty="0">
                    <a:solidFill>
                      <a:schemeClr val="tx1"/>
                    </a:solidFill>
                  </a:rPr>
                  <a:t>의</a:t>
                </a:r>
                <a:r>
                  <a:rPr lang="en-US" altLang="ko-KR" sz="1000" dirty="0">
                    <a:solidFill>
                      <a:schemeClr val="tx1"/>
                    </a:solidFill>
                  </a:rPr>
                  <a:t>3)</a:t>
                </a:r>
                <a:endParaRPr lang="ko-KR" altLang="en-US" sz="1000" dirty="0">
                  <a:solidFill>
                    <a:schemeClr val="tx1"/>
                  </a:solidFill>
                </a:endParaRPr>
              </a:p>
            </p:txBody>
          </p:sp>
          <p:sp>
            <p:nvSpPr>
              <p:cNvPr id="105" name="직사각형 104"/>
              <p:cNvSpPr/>
              <p:nvPr/>
            </p:nvSpPr>
            <p:spPr>
              <a:xfrm>
                <a:off x="3618912" y="5955831"/>
                <a:ext cx="3438525" cy="17481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정보제공제도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63</a:t>
                </a:r>
                <a:r>
                  <a:rPr lang="ko-KR" altLang="en-US" sz="1000" dirty="0">
                    <a:solidFill>
                      <a:schemeClr val="tx1"/>
                    </a:solidFill>
                  </a:rPr>
                  <a:t>의</a:t>
                </a:r>
                <a:r>
                  <a:rPr lang="en-US" altLang="ko-KR" sz="1000" dirty="0">
                    <a:solidFill>
                      <a:schemeClr val="tx1"/>
                    </a:solidFill>
                  </a:rPr>
                  <a:t>2)</a:t>
                </a:r>
                <a:endParaRPr lang="ko-KR" altLang="en-US" sz="1000" dirty="0">
                  <a:solidFill>
                    <a:schemeClr val="tx1"/>
                  </a:solidFill>
                </a:endParaRPr>
              </a:p>
            </p:txBody>
          </p:sp>
          <p:sp>
            <p:nvSpPr>
              <p:cNvPr id="106" name="직사각형 105"/>
              <p:cNvSpPr/>
              <p:nvPr/>
            </p:nvSpPr>
            <p:spPr>
              <a:xfrm>
                <a:off x="3618912" y="6178893"/>
                <a:ext cx="3438525" cy="17481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출원공개제도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64, 65)</a:t>
                </a:r>
                <a:endParaRPr lang="ko-KR" altLang="en-US" sz="1000" dirty="0">
                  <a:solidFill>
                    <a:schemeClr val="tx1"/>
                  </a:solidFill>
                </a:endParaRPr>
              </a:p>
            </p:txBody>
          </p:sp>
          <p:sp>
            <p:nvSpPr>
              <p:cNvPr id="107" name="직사각형 106"/>
              <p:cNvSpPr/>
              <p:nvPr/>
            </p:nvSpPr>
            <p:spPr>
              <a:xfrm>
                <a:off x="3618912" y="6406228"/>
                <a:ext cx="3438525" cy="17481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err="1">
                    <a:solidFill>
                      <a:schemeClr val="tx1"/>
                    </a:solidFill>
                  </a:rPr>
                  <a:t>타절차와의</a:t>
                </a:r>
                <a:r>
                  <a:rPr lang="ko-KR" altLang="en-US" sz="1000" dirty="0">
                    <a:solidFill>
                      <a:schemeClr val="tx1"/>
                    </a:solidFill>
                  </a:rPr>
                  <a:t> 관계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78)</a:t>
                </a:r>
                <a:endParaRPr lang="ko-KR" altLang="en-US" sz="1000" dirty="0">
                  <a:solidFill>
                    <a:schemeClr val="tx1"/>
                  </a:solidFill>
                </a:endParaRPr>
              </a:p>
            </p:txBody>
          </p:sp>
        </p:grpSp>
        <p:cxnSp>
          <p:nvCxnSpPr>
            <p:cNvPr id="88" name="꺾인 연결선 87"/>
            <p:cNvCxnSpPr>
              <a:stCxn id="108" idx="3"/>
              <a:endCxn id="98" idx="1"/>
            </p:cNvCxnSpPr>
            <p:nvPr/>
          </p:nvCxnSpPr>
          <p:spPr>
            <a:xfrm flipV="1">
              <a:off x="8438556" y="4163607"/>
              <a:ext cx="124868" cy="229303"/>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꺾인 연결선 88"/>
            <p:cNvCxnSpPr>
              <a:stCxn id="108" idx="3"/>
              <a:endCxn id="99" idx="1"/>
            </p:cNvCxnSpPr>
            <p:nvPr/>
          </p:nvCxnSpPr>
          <p:spPr>
            <a:xfrm flipV="1">
              <a:off x="8438556" y="4386669"/>
              <a:ext cx="124868" cy="6241"/>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꺾인 연결선 89"/>
            <p:cNvCxnSpPr>
              <a:stCxn id="109" idx="3"/>
              <a:endCxn id="102" idx="1"/>
            </p:cNvCxnSpPr>
            <p:nvPr/>
          </p:nvCxnSpPr>
          <p:spPr>
            <a:xfrm flipV="1">
              <a:off x="8438556" y="4620206"/>
              <a:ext cx="124868" cy="17046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꺾인 연결선 90"/>
            <p:cNvCxnSpPr>
              <a:stCxn id="109" idx="3"/>
              <a:endCxn id="103" idx="1"/>
            </p:cNvCxnSpPr>
            <p:nvPr/>
          </p:nvCxnSpPr>
          <p:spPr>
            <a:xfrm>
              <a:off x="8438556" y="4790673"/>
              <a:ext cx="124868" cy="5259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2" name="꺾인 연결선 91"/>
            <p:cNvCxnSpPr>
              <a:stCxn id="110" idx="3"/>
              <a:endCxn id="104" idx="1"/>
            </p:cNvCxnSpPr>
            <p:nvPr/>
          </p:nvCxnSpPr>
          <p:spPr>
            <a:xfrm flipV="1">
              <a:off x="8438556" y="5130438"/>
              <a:ext cx="124868" cy="7971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꺾인 연결선 92"/>
            <p:cNvCxnSpPr>
              <a:stCxn id="111" idx="3"/>
              <a:endCxn id="100" idx="1"/>
            </p:cNvCxnSpPr>
            <p:nvPr/>
          </p:nvCxnSpPr>
          <p:spPr>
            <a:xfrm flipV="1">
              <a:off x="8438556" y="5431461"/>
              <a:ext cx="124868" cy="17644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4" name="꺾인 연결선 93"/>
            <p:cNvCxnSpPr>
              <a:stCxn id="111" idx="3"/>
              <a:endCxn id="101" idx="1"/>
            </p:cNvCxnSpPr>
            <p:nvPr/>
          </p:nvCxnSpPr>
          <p:spPr>
            <a:xfrm>
              <a:off x="8438556" y="5607910"/>
              <a:ext cx="124868" cy="4661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꺾인 연결선 94"/>
            <p:cNvCxnSpPr>
              <a:stCxn id="112" idx="3"/>
              <a:endCxn id="105" idx="1"/>
            </p:cNvCxnSpPr>
            <p:nvPr/>
          </p:nvCxnSpPr>
          <p:spPr>
            <a:xfrm flipV="1">
              <a:off x="8438556" y="5907294"/>
              <a:ext cx="124868" cy="8091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6" name="꺾인 연결선 95"/>
            <p:cNvCxnSpPr>
              <a:stCxn id="112" idx="3"/>
              <a:endCxn id="106" idx="1"/>
            </p:cNvCxnSpPr>
            <p:nvPr/>
          </p:nvCxnSpPr>
          <p:spPr>
            <a:xfrm>
              <a:off x="8438556" y="5988209"/>
              <a:ext cx="124868" cy="14214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7" name="꺾인 연결선 96"/>
            <p:cNvCxnSpPr>
              <a:stCxn id="112" idx="3"/>
              <a:endCxn id="107" idx="1"/>
            </p:cNvCxnSpPr>
            <p:nvPr/>
          </p:nvCxnSpPr>
          <p:spPr>
            <a:xfrm>
              <a:off x="8438556" y="5988209"/>
              <a:ext cx="124868" cy="36948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113" name="직사각형 112"/>
          <p:cNvSpPr/>
          <p:nvPr/>
        </p:nvSpPr>
        <p:spPr>
          <a:xfrm>
            <a:off x="5960556" y="3393490"/>
            <a:ext cx="914400" cy="914400"/>
          </a:xfrm>
          <a:prstGeom prst="rect">
            <a:avLst/>
          </a:prstGeom>
          <a:solidFill>
            <a:schemeClr val="accent4"/>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t>특허법</a:t>
            </a:r>
            <a:endParaRPr lang="en-US" altLang="ko-KR" dirty="0"/>
          </a:p>
          <a:p>
            <a:pPr algn="ctr"/>
            <a:r>
              <a:rPr lang="ko-KR" altLang="en-US" dirty="0"/>
              <a:t>체계도</a:t>
            </a:r>
          </a:p>
        </p:txBody>
      </p:sp>
      <p:sp>
        <p:nvSpPr>
          <p:cNvPr id="114" name="타원 113"/>
          <p:cNvSpPr/>
          <p:nvPr/>
        </p:nvSpPr>
        <p:spPr>
          <a:xfrm>
            <a:off x="880857" y="2219587"/>
            <a:ext cx="363427" cy="3634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1</a:t>
            </a:r>
            <a:endParaRPr lang="ko-KR" altLang="en-US" dirty="0"/>
          </a:p>
        </p:txBody>
      </p:sp>
      <p:sp>
        <p:nvSpPr>
          <p:cNvPr id="115" name="타원 114"/>
          <p:cNvSpPr/>
          <p:nvPr/>
        </p:nvSpPr>
        <p:spPr>
          <a:xfrm>
            <a:off x="6163733" y="2366819"/>
            <a:ext cx="363427" cy="3634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2</a:t>
            </a:r>
            <a:endParaRPr lang="ko-KR" altLang="en-US" dirty="0"/>
          </a:p>
        </p:txBody>
      </p:sp>
      <p:sp>
        <p:nvSpPr>
          <p:cNvPr id="116" name="타원 115"/>
          <p:cNvSpPr/>
          <p:nvPr/>
        </p:nvSpPr>
        <p:spPr>
          <a:xfrm>
            <a:off x="542670" y="5005703"/>
            <a:ext cx="363427" cy="3634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3</a:t>
            </a:r>
            <a:endParaRPr lang="ko-KR" altLang="en-US" dirty="0"/>
          </a:p>
        </p:txBody>
      </p:sp>
      <p:sp>
        <p:nvSpPr>
          <p:cNvPr id="117" name="타원 116"/>
          <p:cNvSpPr/>
          <p:nvPr/>
        </p:nvSpPr>
        <p:spPr>
          <a:xfrm>
            <a:off x="6647019" y="5043860"/>
            <a:ext cx="363427" cy="3634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4</a:t>
            </a:r>
            <a:endParaRPr lang="ko-KR" altLang="en-US" dirty="0"/>
          </a:p>
        </p:txBody>
      </p:sp>
      <p:sp>
        <p:nvSpPr>
          <p:cNvPr id="118" name="자유형 117"/>
          <p:cNvSpPr/>
          <p:nvPr/>
        </p:nvSpPr>
        <p:spPr>
          <a:xfrm>
            <a:off x="1049867" y="2582332"/>
            <a:ext cx="4893733" cy="1423457"/>
          </a:xfrm>
          <a:custGeom>
            <a:avLst/>
            <a:gdLst>
              <a:gd name="connsiteX0" fmla="*/ 4893733 w 4893733"/>
              <a:gd name="connsiteY0" fmla="*/ 1295400 h 1295400"/>
              <a:gd name="connsiteX1" fmla="*/ 4893733 w 4893733"/>
              <a:gd name="connsiteY1" fmla="*/ 1295400 h 1295400"/>
              <a:gd name="connsiteX2" fmla="*/ 0 w 4893733"/>
              <a:gd name="connsiteY2" fmla="*/ 1295400 h 1295400"/>
              <a:gd name="connsiteX3" fmla="*/ 0 w 4893733"/>
              <a:gd name="connsiteY3" fmla="*/ 0 h 1295400"/>
            </a:gdLst>
            <a:ahLst/>
            <a:cxnLst>
              <a:cxn ang="0">
                <a:pos x="connsiteX0" y="connsiteY0"/>
              </a:cxn>
              <a:cxn ang="0">
                <a:pos x="connsiteX1" y="connsiteY1"/>
              </a:cxn>
              <a:cxn ang="0">
                <a:pos x="connsiteX2" y="connsiteY2"/>
              </a:cxn>
              <a:cxn ang="0">
                <a:pos x="connsiteX3" y="connsiteY3"/>
              </a:cxn>
            </a:cxnLst>
            <a:rect l="l" t="t" r="r" b="b"/>
            <a:pathLst>
              <a:path w="4893733" h="1295400">
                <a:moveTo>
                  <a:pt x="4893733" y="1295400"/>
                </a:moveTo>
                <a:lnTo>
                  <a:pt x="4893733" y="1295400"/>
                </a:lnTo>
                <a:lnTo>
                  <a:pt x="0" y="1295400"/>
                </a:lnTo>
                <a:lnTo>
                  <a:pt x="0" y="0"/>
                </a:lnTo>
              </a:path>
            </a:pathLst>
          </a:cu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19" name="자유형 118"/>
          <p:cNvSpPr/>
          <p:nvPr/>
        </p:nvSpPr>
        <p:spPr>
          <a:xfrm>
            <a:off x="718458" y="3993619"/>
            <a:ext cx="5233610" cy="997811"/>
          </a:xfrm>
          <a:custGeom>
            <a:avLst/>
            <a:gdLst>
              <a:gd name="connsiteX0" fmla="*/ 5215467 w 5215467"/>
              <a:gd name="connsiteY0" fmla="*/ 0 h 965200"/>
              <a:gd name="connsiteX1" fmla="*/ 0 w 5215467"/>
              <a:gd name="connsiteY1" fmla="*/ 0 h 965200"/>
              <a:gd name="connsiteX2" fmla="*/ 0 w 5215467"/>
              <a:gd name="connsiteY2" fmla="*/ 965200 h 965200"/>
            </a:gdLst>
            <a:ahLst/>
            <a:cxnLst>
              <a:cxn ang="0">
                <a:pos x="connsiteX0" y="connsiteY0"/>
              </a:cxn>
              <a:cxn ang="0">
                <a:pos x="connsiteX1" y="connsiteY1"/>
              </a:cxn>
              <a:cxn ang="0">
                <a:pos x="connsiteX2" y="connsiteY2"/>
              </a:cxn>
            </a:cxnLst>
            <a:rect l="l" t="t" r="r" b="b"/>
            <a:pathLst>
              <a:path w="5215467" h="965200">
                <a:moveTo>
                  <a:pt x="5215467" y="0"/>
                </a:moveTo>
                <a:lnTo>
                  <a:pt x="0" y="0"/>
                </a:lnTo>
                <a:lnTo>
                  <a:pt x="0" y="965200"/>
                </a:lnTo>
              </a:path>
            </a:pathLst>
          </a:cu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20" name="자유형 119"/>
          <p:cNvSpPr/>
          <p:nvPr/>
        </p:nvSpPr>
        <p:spPr>
          <a:xfrm>
            <a:off x="6383867" y="2726267"/>
            <a:ext cx="0" cy="668866"/>
          </a:xfrm>
          <a:custGeom>
            <a:avLst/>
            <a:gdLst>
              <a:gd name="connsiteX0" fmla="*/ 0 w 0"/>
              <a:gd name="connsiteY0" fmla="*/ 668866 h 668866"/>
              <a:gd name="connsiteX1" fmla="*/ 0 w 0"/>
              <a:gd name="connsiteY1" fmla="*/ 0 h 668866"/>
            </a:gdLst>
            <a:ahLst/>
            <a:cxnLst>
              <a:cxn ang="0">
                <a:pos x="connsiteX0" y="connsiteY0"/>
              </a:cxn>
              <a:cxn ang="0">
                <a:pos x="connsiteX1" y="connsiteY1"/>
              </a:cxn>
            </a:cxnLst>
            <a:rect l="l" t="t" r="r" b="b"/>
            <a:pathLst>
              <a:path h="668866">
                <a:moveTo>
                  <a:pt x="0" y="668866"/>
                </a:moveTo>
                <a:lnTo>
                  <a:pt x="0" y="0"/>
                </a:lnTo>
              </a:path>
            </a:pathLst>
          </a:cu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cxnSp>
        <p:nvCxnSpPr>
          <p:cNvPr id="121" name="직선 연결선 120"/>
          <p:cNvCxnSpPr>
            <a:stCxn id="113" idx="2"/>
            <a:endCxn id="113" idx="2"/>
          </p:cNvCxnSpPr>
          <p:nvPr/>
        </p:nvCxnSpPr>
        <p:spPr>
          <a:xfrm>
            <a:off x="6417756" y="4307890"/>
            <a:ext cx="0" cy="0"/>
          </a:xfrm>
          <a:prstGeom prst="line">
            <a:avLst/>
          </a:prstGeom>
          <a:ln w="1270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2" name="자유형 121"/>
          <p:cNvSpPr/>
          <p:nvPr/>
        </p:nvSpPr>
        <p:spPr>
          <a:xfrm>
            <a:off x="6400800" y="4318000"/>
            <a:ext cx="262467" cy="897467"/>
          </a:xfrm>
          <a:custGeom>
            <a:avLst/>
            <a:gdLst>
              <a:gd name="connsiteX0" fmla="*/ 0 w 262467"/>
              <a:gd name="connsiteY0" fmla="*/ 0 h 897467"/>
              <a:gd name="connsiteX1" fmla="*/ 0 w 262467"/>
              <a:gd name="connsiteY1" fmla="*/ 0 h 897467"/>
              <a:gd name="connsiteX2" fmla="*/ 0 w 262467"/>
              <a:gd name="connsiteY2" fmla="*/ 897467 h 897467"/>
              <a:gd name="connsiteX3" fmla="*/ 262467 w 262467"/>
              <a:gd name="connsiteY3" fmla="*/ 897467 h 897467"/>
            </a:gdLst>
            <a:ahLst/>
            <a:cxnLst>
              <a:cxn ang="0">
                <a:pos x="connsiteX0" y="connsiteY0"/>
              </a:cxn>
              <a:cxn ang="0">
                <a:pos x="connsiteX1" y="connsiteY1"/>
              </a:cxn>
              <a:cxn ang="0">
                <a:pos x="connsiteX2" y="connsiteY2"/>
              </a:cxn>
              <a:cxn ang="0">
                <a:pos x="connsiteX3" y="connsiteY3"/>
              </a:cxn>
            </a:cxnLst>
            <a:rect l="l" t="t" r="r" b="b"/>
            <a:pathLst>
              <a:path w="262467" h="897467">
                <a:moveTo>
                  <a:pt x="0" y="0"/>
                </a:moveTo>
                <a:lnTo>
                  <a:pt x="0" y="0"/>
                </a:lnTo>
                <a:lnTo>
                  <a:pt x="0" y="897467"/>
                </a:lnTo>
                <a:lnTo>
                  <a:pt x="262467" y="897467"/>
                </a:lnTo>
              </a:path>
            </a:pathLst>
          </a:cu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25" name="직사각형 124">
            <a:extLst>
              <a:ext uri="{FF2B5EF4-FFF2-40B4-BE49-F238E27FC236}">
                <a16:creationId xmlns:a16="http://schemas.microsoft.com/office/drawing/2014/main" id="{9012F393-65ED-4311-A56D-1073EA0A0D99}"/>
              </a:ext>
            </a:extLst>
          </p:cNvPr>
          <p:cNvSpPr/>
          <p:nvPr/>
        </p:nvSpPr>
        <p:spPr>
          <a:xfrm>
            <a:off x="2487992" y="5160972"/>
            <a:ext cx="2634340" cy="203447"/>
          </a:xfrm>
          <a:prstGeom prst="rect">
            <a:avLst/>
          </a:prstGeom>
          <a:solidFill>
            <a:schemeClr val="accent1">
              <a:lumMod val="20000"/>
              <a:lumOff val="80000"/>
            </a:schemeClr>
          </a:solidFill>
          <a:ln w="6350">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000" dirty="0">
                <a:solidFill>
                  <a:schemeClr val="tx1"/>
                </a:solidFill>
              </a:rPr>
              <a:t>분할출원</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52)</a:t>
            </a:r>
            <a:endParaRPr lang="ko-KR" altLang="en-US" sz="1000" dirty="0">
              <a:solidFill>
                <a:schemeClr val="tx1"/>
              </a:solidFill>
            </a:endParaRPr>
          </a:p>
        </p:txBody>
      </p:sp>
      <p:cxnSp>
        <p:nvCxnSpPr>
          <p:cNvPr id="127" name="꺾인 연결선 67">
            <a:extLst>
              <a:ext uri="{FF2B5EF4-FFF2-40B4-BE49-F238E27FC236}">
                <a16:creationId xmlns:a16="http://schemas.microsoft.com/office/drawing/2014/main" id="{E6B18D36-32CC-497B-A148-E8CED33A916F}"/>
              </a:ext>
            </a:extLst>
          </p:cNvPr>
          <p:cNvCxnSpPr>
            <a:cxnSpLocks/>
            <a:stCxn id="61" idx="3"/>
            <a:endCxn id="125" idx="1"/>
          </p:cNvCxnSpPr>
          <p:nvPr/>
        </p:nvCxnSpPr>
        <p:spPr>
          <a:xfrm flipV="1">
            <a:off x="2241819" y="5262696"/>
            <a:ext cx="246173" cy="102842"/>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8" name="꺾인 연결선 68">
            <a:extLst>
              <a:ext uri="{FF2B5EF4-FFF2-40B4-BE49-F238E27FC236}">
                <a16:creationId xmlns:a16="http://schemas.microsoft.com/office/drawing/2014/main" id="{15731FFB-002A-4D1A-B931-E4E3AE5EC565}"/>
              </a:ext>
            </a:extLst>
          </p:cNvPr>
          <p:cNvCxnSpPr>
            <a:cxnSpLocks/>
            <a:stCxn id="61" idx="3"/>
            <a:endCxn id="125" idx="1"/>
          </p:cNvCxnSpPr>
          <p:nvPr/>
        </p:nvCxnSpPr>
        <p:spPr>
          <a:xfrm flipV="1">
            <a:off x="2241819" y="5262696"/>
            <a:ext cx="246173" cy="102842"/>
          </a:xfrm>
          <a:prstGeom prst="bentConnector3">
            <a:avLst>
              <a:gd name="adj1" fmla="val 50000"/>
            </a:avLst>
          </a:prstGeom>
          <a:ln w="635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6" name="직사각형 135">
            <a:extLst>
              <a:ext uri="{FF2B5EF4-FFF2-40B4-BE49-F238E27FC236}">
                <a16:creationId xmlns:a16="http://schemas.microsoft.com/office/drawing/2014/main" id="{88952097-4047-B4C7-1974-88AE224120C6}"/>
              </a:ext>
            </a:extLst>
          </p:cNvPr>
          <p:cNvSpPr/>
          <p:nvPr/>
        </p:nvSpPr>
        <p:spPr>
          <a:xfrm>
            <a:off x="2118397" y="3622486"/>
            <a:ext cx="2591118" cy="181494"/>
          </a:xfrm>
          <a:prstGeom prst="rect">
            <a:avLst/>
          </a:prstGeom>
          <a:solidFill>
            <a:schemeClr val="accent1">
              <a:lumMod val="20000"/>
              <a:lumOff val="80000"/>
            </a:schemeClr>
          </a:solidFill>
          <a:ln w="6350">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000" dirty="0" err="1">
                <a:solidFill>
                  <a:schemeClr val="tx1"/>
                </a:solidFill>
              </a:rPr>
              <a:t>보칙</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215-224</a:t>
            </a:r>
            <a:r>
              <a:rPr lang="ko-KR" altLang="en-US" sz="1000" dirty="0">
                <a:solidFill>
                  <a:schemeClr val="tx1"/>
                </a:solidFill>
              </a:rPr>
              <a:t>의</a:t>
            </a:r>
            <a:r>
              <a:rPr lang="en-US" altLang="ko-KR" sz="1000" dirty="0">
                <a:solidFill>
                  <a:schemeClr val="tx1"/>
                </a:solidFill>
              </a:rPr>
              <a:t>2)</a:t>
            </a:r>
            <a:endParaRPr lang="ko-KR" altLang="en-US" sz="1000" dirty="0">
              <a:solidFill>
                <a:schemeClr val="tx1"/>
              </a:solidFill>
            </a:endParaRPr>
          </a:p>
        </p:txBody>
      </p:sp>
    </p:spTree>
    <p:extLst>
      <p:ext uri="{BB962C8B-B14F-4D97-AF65-F5344CB8AC3E}">
        <p14:creationId xmlns:p14="http://schemas.microsoft.com/office/powerpoint/2010/main" val="18249532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3875FC6C-1516-4DC4-8C58-3090F7D4F003}" type="slidenum">
              <a:rPr lang="ko-KR" altLang="en-US" smtClean="0"/>
              <a:t>2</a:t>
            </a:fld>
            <a:endParaRPr lang="ko-KR" altLang="en-US"/>
          </a:p>
        </p:txBody>
      </p:sp>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특허법 체계</a:t>
            </a:r>
          </a:p>
        </p:txBody>
      </p:sp>
      <p:sp>
        <p:nvSpPr>
          <p:cNvPr id="124" name="직사각형 123"/>
          <p:cNvSpPr/>
          <p:nvPr/>
        </p:nvSpPr>
        <p:spPr>
          <a:xfrm>
            <a:off x="680604" y="2547021"/>
            <a:ext cx="545064" cy="552230"/>
          </a:xfrm>
          <a:prstGeom prst="rect">
            <a:avLst/>
          </a:prstGeom>
          <a:ln w="3175"/>
        </p:spPr>
        <p:style>
          <a:lnRef idx="2">
            <a:schemeClr val="accent5">
              <a:shade val="50000"/>
            </a:schemeClr>
          </a:lnRef>
          <a:fillRef idx="1">
            <a:schemeClr val="accent5"/>
          </a:fillRef>
          <a:effectRef idx="0">
            <a:schemeClr val="accent5"/>
          </a:effectRef>
          <a:fontRef idx="minor">
            <a:schemeClr val="lt1"/>
          </a:fontRef>
        </p:style>
        <p:txBody>
          <a:bodyPr lIns="0" rIns="0" rtlCol="0" anchor="ctr"/>
          <a:lstStyle/>
          <a:p>
            <a:pPr algn="ctr"/>
            <a:r>
              <a:rPr lang="ko-KR" altLang="en-US" sz="1200"/>
              <a:t>특허권</a:t>
            </a:r>
            <a:endParaRPr lang="ko-KR" altLang="en-US" sz="1200" dirty="0"/>
          </a:p>
        </p:txBody>
      </p:sp>
      <p:sp>
        <p:nvSpPr>
          <p:cNvPr id="125" name="직사각형 124"/>
          <p:cNvSpPr/>
          <p:nvPr/>
        </p:nvSpPr>
        <p:spPr>
          <a:xfrm>
            <a:off x="1383335" y="1239993"/>
            <a:ext cx="391011" cy="241623"/>
          </a:xfrm>
          <a:prstGeom prst="rect">
            <a:avLst/>
          </a:prstGeom>
          <a:solidFill>
            <a:schemeClr val="accent4">
              <a:lumMod val="40000"/>
              <a:lumOff val="6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a:r>
              <a:rPr lang="ko-KR" altLang="en-US" sz="1000" dirty="0">
                <a:solidFill>
                  <a:schemeClr val="tx1"/>
                </a:solidFill>
              </a:rPr>
              <a:t>발생</a:t>
            </a:r>
          </a:p>
        </p:txBody>
      </p:sp>
      <p:sp>
        <p:nvSpPr>
          <p:cNvPr id="126" name="직사각형 125"/>
          <p:cNvSpPr/>
          <p:nvPr/>
        </p:nvSpPr>
        <p:spPr>
          <a:xfrm>
            <a:off x="1383335" y="1789781"/>
            <a:ext cx="391011" cy="241623"/>
          </a:xfrm>
          <a:prstGeom prst="rect">
            <a:avLst/>
          </a:prstGeom>
          <a:solidFill>
            <a:schemeClr val="accent4">
              <a:lumMod val="40000"/>
              <a:lumOff val="6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a:r>
              <a:rPr lang="ko-KR" altLang="en-US" sz="1000" dirty="0">
                <a:solidFill>
                  <a:schemeClr val="tx1"/>
                </a:solidFill>
              </a:rPr>
              <a:t>효력</a:t>
            </a:r>
          </a:p>
        </p:txBody>
      </p:sp>
      <p:sp>
        <p:nvSpPr>
          <p:cNvPr id="127" name="직사각형 126"/>
          <p:cNvSpPr/>
          <p:nvPr/>
        </p:nvSpPr>
        <p:spPr>
          <a:xfrm>
            <a:off x="1383335" y="2944739"/>
            <a:ext cx="391011" cy="241623"/>
          </a:xfrm>
          <a:prstGeom prst="rect">
            <a:avLst/>
          </a:prstGeom>
          <a:solidFill>
            <a:schemeClr val="accent4">
              <a:lumMod val="40000"/>
              <a:lumOff val="6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a:r>
              <a:rPr lang="ko-KR" altLang="en-US" sz="1000" dirty="0">
                <a:solidFill>
                  <a:schemeClr val="tx1"/>
                </a:solidFill>
              </a:rPr>
              <a:t>변동</a:t>
            </a:r>
          </a:p>
        </p:txBody>
      </p:sp>
      <p:sp>
        <p:nvSpPr>
          <p:cNvPr id="128" name="직사각형 127"/>
          <p:cNvSpPr/>
          <p:nvPr/>
        </p:nvSpPr>
        <p:spPr>
          <a:xfrm>
            <a:off x="1383335" y="3668083"/>
            <a:ext cx="391011" cy="241623"/>
          </a:xfrm>
          <a:prstGeom prst="rect">
            <a:avLst/>
          </a:prstGeom>
          <a:solidFill>
            <a:schemeClr val="accent4">
              <a:lumMod val="40000"/>
              <a:lumOff val="6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a:r>
              <a:rPr lang="ko-KR" altLang="en-US" sz="1000" dirty="0">
                <a:solidFill>
                  <a:schemeClr val="tx1"/>
                </a:solidFill>
              </a:rPr>
              <a:t>소멸</a:t>
            </a:r>
          </a:p>
        </p:txBody>
      </p:sp>
      <p:sp>
        <p:nvSpPr>
          <p:cNvPr id="129" name="직사각형 128"/>
          <p:cNvSpPr/>
          <p:nvPr/>
        </p:nvSpPr>
        <p:spPr>
          <a:xfrm>
            <a:off x="1383335" y="4175764"/>
            <a:ext cx="391011" cy="241623"/>
          </a:xfrm>
          <a:prstGeom prst="rect">
            <a:avLst/>
          </a:prstGeom>
          <a:solidFill>
            <a:schemeClr val="accent4">
              <a:lumMod val="40000"/>
              <a:lumOff val="6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a:r>
              <a:rPr lang="ko-KR" altLang="en-US" sz="1000" dirty="0">
                <a:solidFill>
                  <a:schemeClr val="tx1"/>
                </a:solidFill>
              </a:rPr>
              <a:t>관련</a:t>
            </a:r>
          </a:p>
        </p:txBody>
      </p:sp>
      <p:cxnSp>
        <p:nvCxnSpPr>
          <p:cNvPr id="130" name="꺾인 연결선 129"/>
          <p:cNvCxnSpPr>
            <a:stCxn id="124" idx="3"/>
            <a:endCxn id="125" idx="1"/>
          </p:cNvCxnSpPr>
          <p:nvPr/>
        </p:nvCxnSpPr>
        <p:spPr>
          <a:xfrm flipV="1">
            <a:off x="1225668" y="1360804"/>
            <a:ext cx="157667" cy="146233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꺾인 연결선 130"/>
          <p:cNvCxnSpPr>
            <a:stCxn id="124" idx="3"/>
            <a:endCxn id="129" idx="1"/>
          </p:cNvCxnSpPr>
          <p:nvPr/>
        </p:nvCxnSpPr>
        <p:spPr>
          <a:xfrm>
            <a:off x="1225668" y="2823136"/>
            <a:ext cx="157667" cy="147344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2" name="꺾인 연결선 131"/>
          <p:cNvCxnSpPr>
            <a:stCxn id="124" idx="3"/>
            <a:endCxn id="126" idx="1"/>
          </p:cNvCxnSpPr>
          <p:nvPr/>
        </p:nvCxnSpPr>
        <p:spPr>
          <a:xfrm flipV="1">
            <a:off x="1225668" y="1910593"/>
            <a:ext cx="157667" cy="91254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3" name="꺾인 연결선 132"/>
          <p:cNvCxnSpPr>
            <a:stCxn id="124" idx="3"/>
            <a:endCxn id="128" idx="1"/>
          </p:cNvCxnSpPr>
          <p:nvPr/>
        </p:nvCxnSpPr>
        <p:spPr>
          <a:xfrm>
            <a:off x="1225668" y="2823136"/>
            <a:ext cx="157667" cy="96575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꺾인 연결선 133"/>
          <p:cNvCxnSpPr>
            <a:stCxn id="124" idx="3"/>
            <a:endCxn id="127" idx="1"/>
          </p:cNvCxnSpPr>
          <p:nvPr/>
        </p:nvCxnSpPr>
        <p:spPr>
          <a:xfrm>
            <a:off x="1225668" y="2823136"/>
            <a:ext cx="157667" cy="24241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35" name="직사각형 134"/>
          <p:cNvSpPr/>
          <p:nvPr/>
        </p:nvSpPr>
        <p:spPr>
          <a:xfrm>
            <a:off x="1927293" y="1027643"/>
            <a:ext cx="1744315" cy="128636"/>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특허료의 납부 등</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79~86)</a:t>
            </a:r>
            <a:endParaRPr lang="ko-KR" altLang="en-US" sz="1000" dirty="0">
              <a:solidFill>
                <a:schemeClr val="tx2"/>
              </a:solidFill>
            </a:endParaRPr>
          </a:p>
        </p:txBody>
      </p:sp>
      <p:sp>
        <p:nvSpPr>
          <p:cNvPr id="136" name="직사각형 135"/>
          <p:cNvSpPr/>
          <p:nvPr/>
        </p:nvSpPr>
        <p:spPr>
          <a:xfrm>
            <a:off x="1927294" y="1199840"/>
            <a:ext cx="1744314" cy="146798"/>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설정등록 및 등록공고</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87)</a:t>
            </a:r>
            <a:endParaRPr lang="ko-KR" altLang="en-US" sz="1000" dirty="0">
              <a:solidFill>
                <a:schemeClr val="tx2"/>
              </a:solidFill>
            </a:endParaRPr>
          </a:p>
        </p:txBody>
      </p:sp>
      <p:sp>
        <p:nvSpPr>
          <p:cNvPr id="137" name="직사각형 136"/>
          <p:cNvSpPr/>
          <p:nvPr/>
        </p:nvSpPr>
        <p:spPr>
          <a:xfrm>
            <a:off x="1927295" y="3385001"/>
            <a:ext cx="991185" cy="187651"/>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질권</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121~123)</a:t>
            </a:r>
            <a:endParaRPr lang="ko-KR" altLang="en-US" sz="1000" dirty="0">
              <a:solidFill>
                <a:schemeClr val="tx2"/>
              </a:solidFill>
            </a:endParaRPr>
          </a:p>
        </p:txBody>
      </p:sp>
      <p:sp>
        <p:nvSpPr>
          <p:cNvPr id="138" name="직사각형 137"/>
          <p:cNvSpPr/>
          <p:nvPr/>
        </p:nvSpPr>
        <p:spPr>
          <a:xfrm>
            <a:off x="1931244" y="3908454"/>
            <a:ext cx="383526"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a:r>
              <a:rPr lang="ko-KR" altLang="en-US" sz="1000" dirty="0">
                <a:solidFill>
                  <a:schemeClr val="tx2"/>
                </a:solidFill>
              </a:rPr>
              <a:t>효과</a:t>
            </a:r>
          </a:p>
        </p:txBody>
      </p:sp>
      <p:sp>
        <p:nvSpPr>
          <p:cNvPr id="139" name="직사각형 138"/>
          <p:cNvSpPr/>
          <p:nvPr/>
        </p:nvSpPr>
        <p:spPr>
          <a:xfrm>
            <a:off x="1927295" y="1600786"/>
            <a:ext cx="387474"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a:r>
              <a:rPr lang="ko-KR" altLang="en-US" sz="1000" dirty="0">
                <a:solidFill>
                  <a:schemeClr val="tx2"/>
                </a:solidFill>
              </a:rPr>
              <a:t>범위</a:t>
            </a:r>
          </a:p>
        </p:txBody>
      </p:sp>
      <p:sp>
        <p:nvSpPr>
          <p:cNvPr id="140" name="직사각형 139"/>
          <p:cNvSpPr/>
          <p:nvPr/>
        </p:nvSpPr>
        <p:spPr>
          <a:xfrm>
            <a:off x="1927295" y="2235641"/>
            <a:ext cx="387474"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a:r>
              <a:rPr lang="ko-KR" altLang="en-US" sz="1000" dirty="0">
                <a:solidFill>
                  <a:schemeClr val="tx2"/>
                </a:solidFill>
              </a:rPr>
              <a:t>내용</a:t>
            </a:r>
          </a:p>
        </p:txBody>
      </p:sp>
      <p:sp>
        <p:nvSpPr>
          <p:cNvPr id="141" name="직사각형 140"/>
          <p:cNvSpPr/>
          <p:nvPr/>
        </p:nvSpPr>
        <p:spPr>
          <a:xfrm>
            <a:off x="1927295" y="3187241"/>
            <a:ext cx="991186"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fontAlgn="base"/>
            <a:r>
              <a:rPr lang="ko-KR" altLang="en-US" sz="1000" dirty="0" err="1">
                <a:solidFill>
                  <a:schemeClr val="tx2"/>
                </a:solidFill>
              </a:rPr>
              <a:t>실시권</a:t>
            </a:r>
            <a:endParaRPr lang="ko-KR" altLang="en-US" sz="1000" dirty="0">
              <a:solidFill>
                <a:schemeClr val="tx2"/>
              </a:solidFill>
            </a:endParaRPr>
          </a:p>
        </p:txBody>
      </p:sp>
      <p:sp>
        <p:nvSpPr>
          <p:cNvPr id="142" name="직사각형 141"/>
          <p:cNvSpPr/>
          <p:nvPr/>
        </p:nvSpPr>
        <p:spPr>
          <a:xfrm>
            <a:off x="1926619" y="4143059"/>
            <a:ext cx="1355344" cy="153518"/>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실시보고</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125)</a:t>
            </a:r>
            <a:endParaRPr lang="ko-KR" altLang="en-US" sz="1000" dirty="0">
              <a:solidFill>
                <a:schemeClr val="tx2"/>
              </a:solidFill>
            </a:endParaRPr>
          </a:p>
        </p:txBody>
      </p:sp>
      <p:sp>
        <p:nvSpPr>
          <p:cNvPr id="143" name="직사각형 142"/>
          <p:cNvSpPr/>
          <p:nvPr/>
        </p:nvSpPr>
        <p:spPr>
          <a:xfrm>
            <a:off x="1926619" y="4320845"/>
            <a:ext cx="1355344" cy="134176"/>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err="1">
                <a:solidFill>
                  <a:schemeClr val="tx2"/>
                </a:solidFill>
              </a:rPr>
              <a:t>집행권원</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125</a:t>
            </a:r>
            <a:r>
              <a:rPr lang="ko-KR" altLang="en-US" sz="1000" dirty="0">
                <a:solidFill>
                  <a:schemeClr val="tx2"/>
                </a:solidFill>
              </a:rPr>
              <a:t>의</a:t>
            </a:r>
            <a:r>
              <a:rPr lang="en-US" altLang="ko-KR" sz="1000" dirty="0">
                <a:solidFill>
                  <a:schemeClr val="tx2"/>
                </a:solidFill>
              </a:rPr>
              <a:t>2)</a:t>
            </a:r>
            <a:endParaRPr lang="ko-KR" altLang="en-US" sz="1000" dirty="0">
              <a:solidFill>
                <a:schemeClr val="tx2"/>
              </a:solidFill>
            </a:endParaRPr>
          </a:p>
        </p:txBody>
      </p:sp>
      <p:cxnSp>
        <p:nvCxnSpPr>
          <p:cNvPr id="144" name="꺾인 연결선 143"/>
          <p:cNvCxnSpPr>
            <a:stCxn id="125" idx="3"/>
            <a:endCxn id="135" idx="1"/>
          </p:cNvCxnSpPr>
          <p:nvPr/>
        </p:nvCxnSpPr>
        <p:spPr>
          <a:xfrm flipV="1">
            <a:off x="1774346" y="1091961"/>
            <a:ext cx="152947" cy="268843"/>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5" name="꺾인 연결선 144"/>
          <p:cNvCxnSpPr>
            <a:stCxn id="125" idx="3"/>
            <a:endCxn id="136" idx="1"/>
          </p:cNvCxnSpPr>
          <p:nvPr/>
        </p:nvCxnSpPr>
        <p:spPr>
          <a:xfrm flipV="1">
            <a:off x="1774346" y="1273240"/>
            <a:ext cx="152948" cy="87564"/>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6" name="꺾인 연결선 145"/>
          <p:cNvCxnSpPr>
            <a:stCxn id="126" idx="3"/>
            <a:endCxn id="139" idx="1"/>
          </p:cNvCxnSpPr>
          <p:nvPr/>
        </p:nvCxnSpPr>
        <p:spPr>
          <a:xfrm flipV="1">
            <a:off x="1774346" y="1680091"/>
            <a:ext cx="152949" cy="23050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7" name="꺾인 연결선 146"/>
          <p:cNvCxnSpPr>
            <a:stCxn id="126" idx="3"/>
            <a:endCxn id="140" idx="1"/>
          </p:cNvCxnSpPr>
          <p:nvPr/>
        </p:nvCxnSpPr>
        <p:spPr>
          <a:xfrm>
            <a:off x="1774346" y="1910593"/>
            <a:ext cx="152949" cy="40435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8" name="꺾인 연결선 147"/>
          <p:cNvCxnSpPr>
            <a:stCxn id="127" idx="3"/>
            <a:endCxn id="141" idx="1"/>
          </p:cNvCxnSpPr>
          <p:nvPr/>
        </p:nvCxnSpPr>
        <p:spPr>
          <a:xfrm>
            <a:off x="1774346" y="3065551"/>
            <a:ext cx="152949" cy="20099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9" name="꺾인 연결선 148"/>
          <p:cNvCxnSpPr>
            <a:stCxn id="128" idx="3"/>
            <a:endCxn id="138" idx="1"/>
          </p:cNvCxnSpPr>
          <p:nvPr/>
        </p:nvCxnSpPr>
        <p:spPr>
          <a:xfrm>
            <a:off x="1774346" y="3788895"/>
            <a:ext cx="156898" cy="198864"/>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꺾인 연결선 149"/>
          <p:cNvCxnSpPr>
            <a:stCxn id="129" idx="3"/>
            <a:endCxn id="142" idx="1"/>
          </p:cNvCxnSpPr>
          <p:nvPr/>
        </p:nvCxnSpPr>
        <p:spPr>
          <a:xfrm flipV="1">
            <a:off x="1774346" y="4219817"/>
            <a:ext cx="152273" cy="7675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1" name="꺾인 연결선 150"/>
          <p:cNvCxnSpPr>
            <a:stCxn id="129" idx="3"/>
            <a:endCxn id="143" idx="1"/>
          </p:cNvCxnSpPr>
          <p:nvPr/>
        </p:nvCxnSpPr>
        <p:spPr>
          <a:xfrm>
            <a:off x="1774346" y="4296575"/>
            <a:ext cx="152273" cy="9135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2" name="직사각형 151"/>
          <p:cNvSpPr/>
          <p:nvPr/>
        </p:nvSpPr>
        <p:spPr>
          <a:xfrm>
            <a:off x="2490834" y="1502332"/>
            <a:ext cx="427647"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시간적</a:t>
            </a:r>
          </a:p>
        </p:txBody>
      </p:sp>
      <p:sp>
        <p:nvSpPr>
          <p:cNvPr id="153" name="직사각형 152"/>
          <p:cNvSpPr/>
          <p:nvPr/>
        </p:nvSpPr>
        <p:spPr>
          <a:xfrm>
            <a:off x="2490834" y="1753955"/>
            <a:ext cx="427647"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내용적</a:t>
            </a:r>
          </a:p>
        </p:txBody>
      </p:sp>
      <p:sp>
        <p:nvSpPr>
          <p:cNvPr id="154" name="직사각형 153"/>
          <p:cNvSpPr/>
          <p:nvPr/>
        </p:nvSpPr>
        <p:spPr>
          <a:xfrm>
            <a:off x="2490834" y="1966576"/>
            <a:ext cx="427647"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지역적</a:t>
            </a:r>
          </a:p>
        </p:txBody>
      </p:sp>
      <p:sp>
        <p:nvSpPr>
          <p:cNvPr id="155" name="직사각형 154"/>
          <p:cNvSpPr/>
          <p:nvPr/>
        </p:nvSpPr>
        <p:spPr>
          <a:xfrm>
            <a:off x="3028012" y="1406769"/>
            <a:ext cx="1665788" cy="158610"/>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존속기간</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88)</a:t>
            </a:r>
            <a:endParaRPr lang="ko-KR" altLang="en-US" sz="1000" dirty="0">
              <a:solidFill>
                <a:schemeClr val="tx2"/>
              </a:solidFill>
            </a:endParaRPr>
          </a:p>
        </p:txBody>
      </p:sp>
      <p:sp>
        <p:nvSpPr>
          <p:cNvPr id="156" name="직사각형 155"/>
          <p:cNvSpPr/>
          <p:nvPr/>
        </p:nvSpPr>
        <p:spPr>
          <a:xfrm>
            <a:off x="3028012" y="1577847"/>
            <a:ext cx="1665790" cy="149257"/>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존속기간의 연장</a:t>
            </a:r>
            <a:r>
              <a:rPr lang="en-US" altLang="ko-KR" sz="800" dirty="0">
                <a:solidFill>
                  <a:schemeClr val="tx2"/>
                </a:solidFill>
              </a:rPr>
              <a:t>(</a:t>
            </a:r>
            <a:r>
              <a:rPr lang="ko-KR" altLang="en-US" sz="800" dirty="0">
                <a:solidFill>
                  <a:schemeClr val="tx2"/>
                </a:solidFill>
              </a:rPr>
              <a:t>法 </a:t>
            </a:r>
            <a:r>
              <a:rPr lang="en-US" altLang="ko-KR" sz="800" dirty="0">
                <a:solidFill>
                  <a:schemeClr val="tx2"/>
                </a:solidFill>
              </a:rPr>
              <a:t>89~93, 95)</a:t>
            </a:r>
            <a:endParaRPr lang="ko-KR" altLang="en-US" sz="800" dirty="0">
              <a:solidFill>
                <a:schemeClr val="tx2"/>
              </a:solidFill>
            </a:endParaRPr>
          </a:p>
        </p:txBody>
      </p:sp>
      <p:sp>
        <p:nvSpPr>
          <p:cNvPr id="157" name="직사각형 156"/>
          <p:cNvSpPr/>
          <p:nvPr/>
        </p:nvSpPr>
        <p:spPr>
          <a:xfrm>
            <a:off x="3028012" y="1745004"/>
            <a:ext cx="1665788" cy="185770"/>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청구범위</a:t>
            </a:r>
          </a:p>
        </p:txBody>
      </p:sp>
      <p:sp>
        <p:nvSpPr>
          <p:cNvPr id="158" name="직사각형 157"/>
          <p:cNvSpPr/>
          <p:nvPr/>
        </p:nvSpPr>
        <p:spPr>
          <a:xfrm>
            <a:off x="3028011" y="1966575"/>
            <a:ext cx="1665789" cy="158611"/>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속지주의</a:t>
            </a:r>
          </a:p>
        </p:txBody>
      </p:sp>
      <p:sp>
        <p:nvSpPr>
          <p:cNvPr id="159" name="직사각형 158"/>
          <p:cNvSpPr/>
          <p:nvPr/>
        </p:nvSpPr>
        <p:spPr>
          <a:xfrm>
            <a:off x="2500115" y="2247804"/>
            <a:ext cx="418366"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의의</a:t>
            </a:r>
          </a:p>
        </p:txBody>
      </p:sp>
      <p:sp>
        <p:nvSpPr>
          <p:cNvPr id="160" name="직사각형 159"/>
          <p:cNvSpPr/>
          <p:nvPr/>
        </p:nvSpPr>
        <p:spPr>
          <a:xfrm>
            <a:off x="2500114" y="2523982"/>
            <a:ext cx="2193687" cy="163408"/>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제한</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81</a:t>
            </a:r>
            <a:r>
              <a:rPr lang="ko-KR" altLang="en-US" sz="1000" dirty="0">
                <a:solidFill>
                  <a:schemeClr val="tx2"/>
                </a:solidFill>
              </a:rPr>
              <a:t>의</a:t>
            </a:r>
            <a:r>
              <a:rPr lang="en-US" altLang="ko-KR" sz="1000" dirty="0">
                <a:solidFill>
                  <a:schemeClr val="tx2"/>
                </a:solidFill>
              </a:rPr>
              <a:t>3④, 96, 181/98)</a:t>
            </a:r>
            <a:endParaRPr lang="ko-KR" altLang="en-US" sz="1000" dirty="0">
              <a:solidFill>
                <a:schemeClr val="tx2"/>
              </a:solidFill>
            </a:endParaRPr>
          </a:p>
        </p:txBody>
      </p:sp>
      <p:sp>
        <p:nvSpPr>
          <p:cNvPr id="161" name="직사각형 160"/>
          <p:cNvSpPr/>
          <p:nvPr/>
        </p:nvSpPr>
        <p:spPr>
          <a:xfrm>
            <a:off x="2500114" y="2714241"/>
            <a:ext cx="2193687" cy="158610"/>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확장</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127)</a:t>
            </a:r>
            <a:endParaRPr lang="ko-KR" altLang="en-US" sz="1000" dirty="0">
              <a:solidFill>
                <a:schemeClr val="tx2"/>
              </a:solidFill>
            </a:endParaRPr>
          </a:p>
        </p:txBody>
      </p:sp>
      <p:sp>
        <p:nvSpPr>
          <p:cNvPr id="162" name="직사각형 161"/>
          <p:cNvSpPr/>
          <p:nvPr/>
        </p:nvSpPr>
        <p:spPr>
          <a:xfrm>
            <a:off x="1927295" y="2927413"/>
            <a:ext cx="1564240" cy="193883"/>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이전 및 공유</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99, 99</a:t>
            </a:r>
            <a:r>
              <a:rPr lang="ko-KR" altLang="en-US" sz="1000" dirty="0">
                <a:solidFill>
                  <a:schemeClr val="tx2"/>
                </a:solidFill>
              </a:rPr>
              <a:t>의</a:t>
            </a:r>
            <a:r>
              <a:rPr lang="en-US" altLang="ko-KR" sz="1000" dirty="0">
                <a:solidFill>
                  <a:schemeClr val="tx2"/>
                </a:solidFill>
              </a:rPr>
              <a:t>2)</a:t>
            </a:r>
            <a:endParaRPr lang="ko-KR" altLang="en-US" sz="1000" dirty="0">
              <a:solidFill>
                <a:schemeClr val="tx2"/>
              </a:solidFill>
            </a:endParaRPr>
          </a:p>
        </p:txBody>
      </p:sp>
      <p:sp>
        <p:nvSpPr>
          <p:cNvPr id="163" name="직사각형 162"/>
          <p:cNvSpPr/>
          <p:nvPr/>
        </p:nvSpPr>
        <p:spPr>
          <a:xfrm>
            <a:off x="3109057" y="3518950"/>
            <a:ext cx="2829345" cy="133282"/>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err="1">
                <a:solidFill>
                  <a:schemeClr val="tx2"/>
                </a:solidFill>
              </a:rPr>
              <a:t>강제실시권</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106</a:t>
            </a:r>
            <a:r>
              <a:rPr lang="ko-KR" altLang="en-US" sz="1000" dirty="0">
                <a:solidFill>
                  <a:schemeClr val="tx2"/>
                </a:solidFill>
              </a:rPr>
              <a:t>의</a:t>
            </a:r>
            <a:r>
              <a:rPr lang="en-US" altLang="ko-KR" sz="1000" dirty="0">
                <a:solidFill>
                  <a:schemeClr val="tx2"/>
                </a:solidFill>
              </a:rPr>
              <a:t>2, 107~115, 138)</a:t>
            </a:r>
            <a:endParaRPr lang="ko-KR" altLang="en-US" sz="1000" dirty="0">
              <a:solidFill>
                <a:schemeClr val="tx2"/>
              </a:solidFill>
            </a:endParaRPr>
          </a:p>
        </p:txBody>
      </p:sp>
      <p:sp>
        <p:nvSpPr>
          <p:cNvPr id="164" name="직사각형 163"/>
          <p:cNvSpPr/>
          <p:nvPr/>
        </p:nvSpPr>
        <p:spPr>
          <a:xfrm>
            <a:off x="3109057" y="3339094"/>
            <a:ext cx="2829345" cy="139733"/>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err="1">
                <a:solidFill>
                  <a:schemeClr val="tx2"/>
                </a:solidFill>
              </a:rPr>
              <a:t>법정실시권</a:t>
            </a:r>
            <a:r>
              <a:rPr lang="en-US" altLang="ko-KR" sz="800" dirty="0">
                <a:solidFill>
                  <a:schemeClr val="tx2"/>
                </a:solidFill>
              </a:rPr>
              <a:t>(</a:t>
            </a:r>
            <a:r>
              <a:rPr lang="ko-KR" altLang="en-US" sz="800" dirty="0">
                <a:solidFill>
                  <a:schemeClr val="tx2"/>
                </a:solidFill>
              </a:rPr>
              <a:t>法 </a:t>
            </a:r>
            <a:r>
              <a:rPr lang="en-US" altLang="ko-KR" sz="800" dirty="0">
                <a:solidFill>
                  <a:schemeClr val="tx2"/>
                </a:solidFill>
              </a:rPr>
              <a:t>81</a:t>
            </a:r>
            <a:r>
              <a:rPr lang="ko-KR" altLang="en-US" sz="800" dirty="0">
                <a:solidFill>
                  <a:schemeClr val="tx2"/>
                </a:solidFill>
              </a:rPr>
              <a:t>의</a:t>
            </a:r>
            <a:r>
              <a:rPr lang="en-US" altLang="ko-KR" sz="800" dirty="0">
                <a:solidFill>
                  <a:schemeClr val="tx2"/>
                </a:solidFill>
              </a:rPr>
              <a:t>3, 103~105, 122, 182,183, </a:t>
            </a:r>
            <a:r>
              <a:rPr lang="ko-KR" altLang="en-US" sz="800" dirty="0" err="1">
                <a:solidFill>
                  <a:schemeClr val="tx2"/>
                </a:solidFill>
              </a:rPr>
              <a:t>발진법</a:t>
            </a:r>
            <a:r>
              <a:rPr lang="en-US" altLang="ko-KR" sz="800" dirty="0">
                <a:solidFill>
                  <a:schemeClr val="tx2"/>
                </a:solidFill>
              </a:rPr>
              <a:t>10</a:t>
            </a:r>
            <a:r>
              <a:rPr lang="ko-KR" altLang="en-US" sz="800" dirty="0">
                <a:solidFill>
                  <a:schemeClr val="tx2"/>
                </a:solidFill>
              </a:rPr>
              <a:t>①</a:t>
            </a:r>
            <a:r>
              <a:rPr lang="en-US" altLang="ko-KR" sz="800" dirty="0">
                <a:solidFill>
                  <a:schemeClr val="tx2"/>
                </a:solidFill>
              </a:rPr>
              <a:t>)</a:t>
            </a:r>
            <a:endParaRPr lang="ko-KR" altLang="en-US" sz="800" dirty="0">
              <a:solidFill>
                <a:schemeClr val="tx2"/>
              </a:solidFill>
            </a:endParaRPr>
          </a:p>
        </p:txBody>
      </p:sp>
      <p:sp>
        <p:nvSpPr>
          <p:cNvPr id="165" name="직사각형 164"/>
          <p:cNvSpPr/>
          <p:nvPr/>
        </p:nvSpPr>
        <p:spPr>
          <a:xfrm>
            <a:off x="3109057" y="3151440"/>
            <a:ext cx="2829345" cy="158610"/>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일반론</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100~102, 118)</a:t>
            </a:r>
            <a:endParaRPr lang="ko-KR" altLang="en-US" sz="1000" dirty="0">
              <a:solidFill>
                <a:schemeClr val="tx2"/>
              </a:solidFill>
            </a:endParaRPr>
          </a:p>
        </p:txBody>
      </p:sp>
      <p:sp>
        <p:nvSpPr>
          <p:cNvPr id="166" name="직사각형 165"/>
          <p:cNvSpPr/>
          <p:nvPr/>
        </p:nvSpPr>
        <p:spPr>
          <a:xfrm>
            <a:off x="1931244" y="3709590"/>
            <a:ext cx="383526"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a:r>
              <a:rPr lang="ko-KR" altLang="en-US" sz="1000" dirty="0">
                <a:solidFill>
                  <a:schemeClr val="tx2"/>
                </a:solidFill>
              </a:rPr>
              <a:t>원인</a:t>
            </a:r>
          </a:p>
        </p:txBody>
      </p:sp>
      <p:sp>
        <p:nvSpPr>
          <p:cNvPr id="167" name="직사각형 166"/>
          <p:cNvSpPr/>
          <p:nvPr/>
        </p:nvSpPr>
        <p:spPr>
          <a:xfrm>
            <a:off x="2426794" y="3883877"/>
            <a:ext cx="1721991" cy="209380"/>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장래소멸</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119, 120, 124)</a:t>
            </a:r>
            <a:endParaRPr lang="ko-KR" altLang="en-US" sz="1000" dirty="0">
              <a:solidFill>
                <a:schemeClr val="tx2"/>
              </a:solidFill>
            </a:endParaRPr>
          </a:p>
        </p:txBody>
      </p:sp>
      <p:sp>
        <p:nvSpPr>
          <p:cNvPr id="168" name="직사각형 167"/>
          <p:cNvSpPr/>
          <p:nvPr/>
        </p:nvSpPr>
        <p:spPr>
          <a:xfrm>
            <a:off x="2426794" y="3698412"/>
            <a:ext cx="1721991" cy="158610"/>
          </a:xfrm>
          <a:prstGeom prst="rect">
            <a:avLst/>
          </a:prstGeom>
          <a:solidFill>
            <a:schemeClr val="accent1">
              <a:lumMod val="20000"/>
              <a:lumOff val="80000"/>
            </a:schemeClr>
          </a:solidFill>
          <a:ln w="3175">
            <a:solidFill>
              <a:schemeClr val="tx1"/>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fontAlgn="base"/>
            <a:r>
              <a:rPr lang="ko-KR" altLang="en-US" sz="1000" dirty="0">
                <a:solidFill>
                  <a:schemeClr val="tx2"/>
                </a:solidFill>
              </a:rPr>
              <a:t>소급소멸</a:t>
            </a:r>
          </a:p>
        </p:txBody>
      </p:sp>
      <p:cxnSp>
        <p:nvCxnSpPr>
          <p:cNvPr id="169" name="꺾인 연결선 168"/>
          <p:cNvCxnSpPr>
            <a:stCxn id="139" idx="3"/>
            <a:endCxn id="152" idx="1"/>
          </p:cNvCxnSpPr>
          <p:nvPr/>
        </p:nvCxnSpPr>
        <p:spPr>
          <a:xfrm flipV="1">
            <a:off x="2314769" y="1581638"/>
            <a:ext cx="176065" cy="9845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0" name="꺾인 연결선 169"/>
          <p:cNvCxnSpPr>
            <a:stCxn id="139" idx="3"/>
            <a:endCxn id="153" idx="1"/>
          </p:cNvCxnSpPr>
          <p:nvPr/>
        </p:nvCxnSpPr>
        <p:spPr>
          <a:xfrm>
            <a:off x="2314769" y="1680091"/>
            <a:ext cx="176065" cy="15316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꺾인 연결선 170"/>
          <p:cNvCxnSpPr>
            <a:stCxn id="139" idx="3"/>
            <a:endCxn id="154" idx="1"/>
          </p:cNvCxnSpPr>
          <p:nvPr/>
        </p:nvCxnSpPr>
        <p:spPr>
          <a:xfrm>
            <a:off x="2314769" y="1680091"/>
            <a:ext cx="176065" cy="36579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꺾인 연결선 171"/>
          <p:cNvCxnSpPr>
            <a:stCxn id="152" idx="3"/>
            <a:endCxn id="155" idx="1"/>
          </p:cNvCxnSpPr>
          <p:nvPr/>
        </p:nvCxnSpPr>
        <p:spPr>
          <a:xfrm flipV="1">
            <a:off x="2918481" y="1486075"/>
            <a:ext cx="109531" cy="95563"/>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꺾인 연결선 172"/>
          <p:cNvCxnSpPr>
            <a:stCxn id="152" idx="3"/>
            <a:endCxn id="156" idx="1"/>
          </p:cNvCxnSpPr>
          <p:nvPr/>
        </p:nvCxnSpPr>
        <p:spPr>
          <a:xfrm>
            <a:off x="2918481" y="1581638"/>
            <a:ext cx="109531" cy="7083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4" name="직선 연결선 173"/>
          <p:cNvCxnSpPr>
            <a:stCxn id="153" idx="3"/>
            <a:endCxn id="157" idx="1"/>
          </p:cNvCxnSpPr>
          <p:nvPr/>
        </p:nvCxnSpPr>
        <p:spPr>
          <a:xfrm>
            <a:off x="2918481" y="1833260"/>
            <a:ext cx="109531" cy="4630"/>
          </a:xfrm>
          <a:prstGeom prst="line">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5" name="직선 연결선 174"/>
          <p:cNvCxnSpPr>
            <a:stCxn id="154" idx="3"/>
            <a:endCxn id="158" idx="1"/>
          </p:cNvCxnSpPr>
          <p:nvPr/>
        </p:nvCxnSpPr>
        <p:spPr>
          <a:xfrm flipV="1">
            <a:off x="2918481" y="2045880"/>
            <a:ext cx="109530" cy="1"/>
          </a:xfrm>
          <a:prstGeom prst="line">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꺾인 연결선 175"/>
          <p:cNvCxnSpPr>
            <a:stCxn id="140" idx="3"/>
            <a:endCxn id="161" idx="1"/>
          </p:cNvCxnSpPr>
          <p:nvPr/>
        </p:nvCxnSpPr>
        <p:spPr>
          <a:xfrm>
            <a:off x="2314769" y="2314946"/>
            <a:ext cx="185345" cy="47860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7" name="꺾인 연결선 176"/>
          <p:cNvCxnSpPr>
            <a:stCxn id="140" idx="3"/>
            <a:endCxn id="159" idx="1"/>
          </p:cNvCxnSpPr>
          <p:nvPr/>
        </p:nvCxnSpPr>
        <p:spPr>
          <a:xfrm>
            <a:off x="2314769" y="2314946"/>
            <a:ext cx="185346" cy="1216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8" name="꺾인 연결선 177"/>
          <p:cNvCxnSpPr>
            <a:stCxn id="140" idx="3"/>
            <a:endCxn id="160" idx="1"/>
          </p:cNvCxnSpPr>
          <p:nvPr/>
        </p:nvCxnSpPr>
        <p:spPr>
          <a:xfrm>
            <a:off x="2314769" y="2314946"/>
            <a:ext cx="185345" cy="29073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9" name="꺾인 연결선 178"/>
          <p:cNvCxnSpPr>
            <a:stCxn id="127" idx="3"/>
            <a:endCxn id="162" idx="1"/>
          </p:cNvCxnSpPr>
          <p:nvPr/>
        </p:nvCxnSpPr>
        <p:spPr>
          <a:xfrm flipV="1">
            <a:off x="1774346" y="3024355"/>
            <a:ext cx="152949" cy="4119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0" name="꺾인 연결선 179"/>
          <p:cNvCxnSpPr>
            <a:stCxn id="127" idx="3"/>
            <a:endCxn id="137" idx="1"/>
          </p:cNvCxnSpPr>
          <p:nvPr/>
        </p:nvCxnSpPr>
        <p:spPr>
          <a:xfrm>
            <a:off x="1774346" y="3065551"/>
            <a:ext cx="152949" cy="41327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1" name="꺾인 연결선 180"/>
          <p:cNvCxnSpPr>
            <a:stCxn id="141" idx="3"/>
            <a:endCxn id="163" idx="1"/>
          </p:cNvCxnSpPr>
          <p:nvPr/>
        </p:nvCxnSpPr>
        <p:spPr>
          <a:xfrm>
            <a:off x="2918481" y="3266547"/>
            <a:ext cx="190576" cy="31904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2" name="꺾인 연결선 181"/>
          <p:cNvCxnSpPr>
            <a:stCxn id="141" idx="3"/>
            <a:endCxn id="165" idx="1"/>
          </p:cNvCxnSpPr>
          <p:nvPr/>
        </p:nvCxnSpPr>
        <p:spPr>
          <a:xfrm flipV="1">
            <a:off x="2918481" y="3230745"/>
            <a:ext cx="190576" cy="35801"/>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3" name="꺾인 연결선 182"/>
          <p:cNvCxnSpPr>
            <a:stCxn id="141" idx="3"/>
            <a:endCxn id="164" idx="1"/>
          </p:cNvCxnSpPr>
          <p:nvPr/>
        </p:nvCxnSpPr>
        <p:spPr>
          <a:xfrm>
            <a:off x="2918481" y="3266547"/>
            <a:ext cx="190576" cy="142414"/>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4" name="꺾인 연결선 183"/>
          <p:cNvCxnSpPr>
            <a:stCxn id="128" idx="3"/>
            <a:endCxn id="166" idx="1"/>
          </p:cNvCxnSpPr>
          <p:nvPr/>
        </p:nvCxnSpPr>
        <p:spPr>
          <a:xfrm>
            <a:off x="1774346" y="3788895"/>
            <a:ext cx="156898" cy="1270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5" name="꺾인 연결선 184"/>
          <p:cNvCxnSpPr>
            <a:stCxn id="166" idx="3"/>
            <a:endCxn id="167" idx="1"/>
          </p:cNvCxnSpPr>
          <p:nvPr/>
        </p:nvCxnSpPr>
        <p:spPr>
          <a:xfrm>
            <a:off x="2314770" y="3788895"/>
            <a:ext cx="112024" cy="19967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86" name="꺾인 연결선 185"/>
          <p:cNvCxnSpPr>
            <a:stCxn id="166" idx="3"/>
            <a:endCxn id="168" idx="1"/>
          </p:cNvCxnSpPr>
          <p:nvPr/>
        </p:nvCxnSpPr>
        <p:spPr>
          <a:xfrm flipV="1">
            <a:off x="2314770" y="3777717"/>
            <a:ext cx="112024" cy="1117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87" name="직사각형 186"/>
          <p:cNvSpPr/>
          <p:nvPr/>
        </p:nvSpPr>
        <p:spPr>
          <a:xfrm>
            <a:off x="3281962" y="2158301"/>
            <a:ext cx="1411839" cy="16756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적극적 효력</a:t>
            </a: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94)</a:t>
            </a:r>
            <a:endParaRPr lang="ko-KR" altLang="en-US" sz="1000" dirty="0">
              <a:solidFill>
                <a:schemeClr val="tx2"/>
              </a:solidFill>
            </a:endParaRPr>
          </a:p>
        </p:txBody>
      </p:sp>
      <p:sp>
        <p:nvSpPr>
          <p:cNvPr id="188" name="직사각형 187"/>
          <p:cNvSpPr/>
          <p:nvPr/>
        </p:nvSpPr>
        <p:spPr>
          <a:xfrm>
            <a:off x="3281962" y="2341797"/>
            <a:ext cx="1411839" cy="15393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소극적 효력</a:t>
            </a:r>
            <a:r>
              <a:rPr lang="en-US" altLang="ko-KR" sz="1000" dirty="0">
                <a:solidFill>
                  <a:schemeClr val="tx2"/>
                </a:solidFill>
              </a:rPr>
              <a:t>(</a:t>
            </a:r>
            <a:r>
              <a:rPr lang="ko-KR" altLang="en-US" sz="1000" dirty="0">
                <a:solidFill>
                  <a:schemeClr val="tx2"/>
                </a:solidFill>
              </a:rPr>
              <a:t>침해</a:t>
            </a:r>
            <a:r>
              <a:rPr lang="en-US" altLang="ko-KR" sz="1000" dirty="0">
                <a:solidFill>
                  <a:schemeClr val="tx2"/>
                </a:solidFill>
              </a:rPr>
              <a:t>)</a:t>
            </a:r>
            <a:endParaRPr lang="ko-KR" altLang="en-US" sz="1000" dirty="0">
              <a:solidFill>
                <a:schemeClr val="tx2"/>
              </a:solidFill>
            </a:endParaRPr>
          </a:p>
        </p:txBody>
      </p:sp>
      <p:cxnSp>
        <p:nvCxnSpPr>
          <p:cNvPr id="189" name="꺾인 연결선 188"/>
          <p:cNvCxnSpPr>
            <a:stCxn id="159" idx="3"/>
            <a:endCxn id="188" idx="1"/>
          </p:cNvCxnSpPr>
          <p:nvPr/>
        </p:nvCxnSpPr>
        <p:spPr>
          <a:xfrm>
            <a:off x="2918481" y="2327109"/>
            <a:ext cx="363481" cy="91654"/>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0" name="꺾인 연결선 189"/>
          <p:cNvCxnSpPr>
            <a:stCxn id="159" idx="3"/>
            <a:endCxn id="187" idx="1"/>
          </p:cNvCxnSpPr>
          <p:nvPr/>
        </p:nvCxnSpPr>
        <p:spPr>
          <a:xfrm flipV="1">
            <a:off x="2918481" y="2242081"/>
            <a:ext cx="363481" cy="8502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1" name="직사각형 190"/>
          <p:cNvSpPr/>
          <p:nvPr/>
        </p:nvSpPr>
        <p:spPr>
          <a:xfrm>
            <a:off x="4891070" y="1400340"/>
            <a:ext cx="561412"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성립요건</a:t>
            </a:r>
          </a:p>
        </p:txBody>
      </p:sp>
      <p:sp>
        <p:nvSpPr>
          <p:cNvPr id="192" name="직사각형 191"/>
          <p:cNvSpPr/>
          <p:nvPr/>
        </p:nvSpPr>
        <p:spPr>
          <a:xfrm>
            <a:off x="4891070" y="1771241"/>
            <a:ext cx="561412"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종류</a:t>
            </a:r>
          </a:p>
        </p:txBody>
      </p:sp>
      <p:sp>
        <p:nvSpPr>
          <p:cNvPr id="193" name="직사각형 192"/>
          <p:cNvSpPr/>
          <p:nvPr/>
        </p:nvSpPr>
        <p:spPr>
          <a:xfrm>
            <a:off x="4891070" y="2381537"/>
            <a:ext cx="561412" cy="158610"/>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조치</a:t>
            </a:r>
          </a:p>
        </p:txBody>
      </p:sp>
      <p:cxnSp>
        <p:nvCxnSpPr>
          <p:cNvPr id="194" name="꺾인 연결선 193"/>
          <p:cNvCxnSpPr>
            <a:stCxn id="188" idx="3"/>
            <a:endCxn id="191" idx="1"/>
          </p:cNvCxnSpPr>
          <p:nvPr/>
        </p:nvCxnSpPr>
        <p:spPr>
          <a:xfrm flipV="1">
            <a:off x="4693801" y="1479645"/>
            <a:ext cx="197269" cy="939118"/>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5" name="꺾인 연결선 194"/>
          <p:cNvCxnSpPr>
            <a:stCxn id="188" idx="3"/>
            <a:endCxn id="193" idx="1"/>
          </p:cNvCxnSpPr>
          <p:nvPr/>
        </p:nvCxnSpPr>
        <p:spPr>
          <a:xfrm>
            <a:off x="4693801" y="2418763"/>
            <a:ext cx="197269" cy="42079"/>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6" name="꺾인 연결선 195"/>
          <p:cNvCxnSpPr>
            <a:stCxn id="188" idx="3"/>
            <a:endCxn id="192" idx="1"/>
          </p:cNvCxnSpPr>
          <p:nvPr/>
        </p:nvCxnSpPr>
        <p:spPr>
          <a:xfrm flipV="1">
            <a:off x="4693801" y="1850546"/>
            <a:ext cx="197269" cy="568217"/>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7" name="직사각형 196"/>
          <p:cNvSpPr/>
          <p:nvPr/>
        </p:nvSpPr>
        <p:spPr>
          <a:xfrm>
            <a:off x="5586610" y="1528907"/>
            <a:ext cx="833380" cy="32162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직접침해</a:t>
            </a:r>
            <a:endParaRPr lang="en-US" altLang="ko-KR" sz="1000" dirty="0">
              <a:solidFill>
                <a:schemeClr val="tx2"/>
              </a:solidFill>
            </a:endParaRPr>
          </a:p>
          <a:p>
            <a:pPr algn="ctr" fontAlgn="base"/>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97, 98)</a:t>
            </a:r>
            <a:endParaRPr lang="ko-KR" altLang="en-US" sz="1000" dirty="0">
              <a:solidFill>
                <a:schemeClr val="tx2"/>
              </a:solidFill>
            </a:endParaRPr>
          </a:p>
        </p:txBody>
      </p:sp>
      <p:sp>
        <p:nvSpPr>
          <p:cNvPr id="198" name="직사각형 197"/>
          <p:cNvSpPr/>
          <p:nvPr/>
        </p:nvSpPr>
        <p:spPr>
          <a:xfrm>
            <a:off x="5586610" y="1904907"/>
            <a:ext cx="833380" cy="321621"/>
          </a:xfrm>
          <a:prstGeom prst="rect">
            <a:avLst/>
          </a:prstGeom>
          <a:solidFill>
            <a:schemeClr val="accent1">
              <a:lumMod val="20000"/>
              <a:lumOff val="80000"/>
            </a:schemeClr>
          </a:solidFill>
          <a:ln w="3175">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lIns="0" rIns="0" rtlCol="0" anchor="ctr"/>
          <a:lstStyle/>
          <a:p>
            <a:pPr algn="ctr" fontAlgn="base"/>
            <a:r>
              <a:rPr lang="ko-KR" altLang="en-US" sz="1000" dirty="0">
                <a:solidFill>
                  <a:schemeClr val="tx2"/>
                </a:solidFill>
              </a:rPr>
              <a:t>간접침해</a:t>
            </a:r>
            <a:endParaRPr lang="en-US" altLang="ko-KR" sz="1000" dirty="0">
              <a:solidFill>
                <a:schemeClr val="tx2"/>
              </a:solidFill>
            </a:endParaRPr>
          </a:p>
          <a:p>
            <a:pPr algn="ctr" fontAlgn="base"/>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127)</a:t>
            </a:r>
            <a:endParaRPr lang="ko-KR" altLang="en-US" sz="1000" dirty="0">
              <a:solidFill>
                <a:schemeClr val="tx2"/>
              </a:solidFill>
            </a:endParaRPr>
          </a:p>
        </p:txBody>
      </p:sp>
      <p:cxnSp>
        <p:nvCxnSpPr>
          <p:cNvPr id="199" name="꺾인 연결선 198"/>
          <p:cNvCxnSpPr>
            <a:stCxn id="192" idx="3"/>
            <a:endCxn id="197" idx="1"/>
          </p:cNvCxnSpPr>
          <p:nvPr/>
        </p:nvCxnSpPr>
        <p:spPr>
          <a:xfrm flipV="1">
            <a:off x="5452482" y="1689718"/>
            <a:ext cx="134128" cy="16082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0" name="꺾인 연결선 199"/>
          <p:cNvCxnSpPr>
            <a:stCxn id="192" idx="3"/>
            <a:endCxn id="198" idx="1"/>
          </p:cNvCxnSpPr>
          <p:nvPr/>
        </p:nvCxnSpPr>
        <p:spPr>
          <a:xfrm>
            <a:off x="5452482" y="1850546"/>
            <a:ext cx="134128" cy="215171"/>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1" name="모서리가 둥근 직사각형 200"/>
          <p:cNvSpPr/>
          <p:nvPr/>
        </p:nvSpPr>
        <p:spPr>
          <a:xfrm>
            <a:off x="5586610" y="2318465"/>
            <a:ext cx="833380" cy="300825"/>
          </a:xfrm>
          <a:prstGeom prst="roundRect">
            <a:avLst>
              <a:gd name="adj" fmla="val 0"/>
            </a:avLst>
          </a:prstGeom>
          <a:solidFill>
            <a:schemeClr val="accent1">
              <a:lumMod val="20000"/>
              <a:lumOff val="80000"/>
            </a:schemeClr>
          </a:solidFill>
          <a:ln w="3175">
            <a:solidFill>
              <a:schemeClr val="bg1">
                <a:lumMod val="50000"/>
              </a:schemeClr>
            </a:solidFill>
          </a:ln>
        </p:spPr>
        <p:style>
          <a:lnRef idx="1">
            <a:schemeClr val="accent5"/>
          </a:lnRef>
          <a:fillRef idx="3">
            <a:schemeClr val="accent5"/>
          </a:fillRef>
          <a:effectRef idx="2">
            <a:schemeClr val="accent5"/>
          </a:effectRef>
          <a:fontRef idx="minor">
            <a:schemeClr val="lt1"/>
          </a:fontRef>
        </p:style>
        <p:txBody>
          <a:bodyPr lIns="0" rIns="0" rtlCol="0" anchor="ctr"/>
          <a:lstStyle/>
          <a:p>
            <a:pPr algn="ctr"/>
            <a:r>
              <a:rPr lang="ko-KR" altLang="en-US" sz="1000" dirty="0">
                <a:solidFill>
                  <a:schemeClr val="tx2"/>
                </a:solidFill>
              </a:rPr>
              <a:t>민사적 조치</a:t>
            </a:r>
            <a:endParaRPr lang="en-US" altLang="ko-KR" sz="1000" dirty="0">
              <a:solidFill>
                <a:schemeClr val="tx2"/>
              </a:solidFill>
            </a:endParaRPr>
          </a:p>
          <a:p>
            <a:pPr algn="ct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126-132)</a:t>
            </a:r>
            <a:endParaRPr lang="ko-KR" altLang="en-US" sz="1000" dirty="0">
              <a:solidFill>
                <a:schemeClr val="tx2"/>
              </a:solidFill>
            </a:endParaRPr>
          </a:p>
        </p:txBody>
      </p:sp>
      <p:sp>
        <p:nvSpPr>
          <p:cNvPr id="202" name="모서리가 둥근 직사각형 201"/>
          <p:cNvSpPr/>
          <p:nvPr/>
        </p:nvSpPr>
        <p:spPr>
          <a:xfrm>
            <a:off x="5586609" y="2663316"/>
            <a:ext cx="833381" cy="341821"/>
          </a:xfrm>
          <a:prstGeom prst="roundRect">
            <a:avLst>
              <a:gd name="adj" fmla="val 0"/>
            </a:avLst>
          </a:prstGeom>
          <a:solidFill>
            <a:schemeClr val="accent1">
              <a:lumMod val="20000"/>
              <a:lumOff val="80000"/>
            </a:schemeClr>
          </a:solidFill>
          <a:ln w="3175">
            <a:solidFill>
              <a:schemeClr val="bg1">
                <a:lumMod val="50000"/>
              </a:schemeClr>
            </a:solidFill>
          </a:ln>
        </p:spPr>
        <p:style>
          <a:lnRef idx="1">
            <a:schemeClr val="accent5"/>
          </a:lnRef>
          <a:fillRef idx="3">
            <a:schemeClr val="accent5"/>
          </a:fillRef>
          <a:effectRef idx="2">
            <a:schemeClr val="accent5"/>
          </a:effectRef>
          <a:fontRef idx="minor">
            <a:schemeClr val="lt1"/>
          </a:fontRef>
        </p:style>
        <p:txBody>
          <a:bodyPr lIns="0" rIns="0" rtlCol="0" anchor="ctr"/>
          <a:lstStyle/>
          <a:p>
            <a:pPr algn="ctr"/>
            <a:r>
              <a:rPr lang="ko-KR" altLang="en-US" sz="1000" dirty="0">
                <a:solidFill>
                  <a:schemeClr val="tx2"/>
                </a:solidFill>
              </a:rPr>
              <a:t>형사적 조치</a:t>
            </a:r>
            <a:endParaRPr lang="en-US" altLang="ko-KR" sz="1000" dirty="0">
              <a:solidFill>
                <a:schemeClr val="tx2"/>
              </a:solidFill>
            </a:endParaRPr>
          </a:p>
          <a:p>
            <a:pPr algn="ctr"/>
            <a:r>
              <a:rPr lang="en-US" altLang="ko-KR" sz="1000" dirty="0">
                <a:solidFill>
                  <a:schemeClr val="tx2"/>
                </a:solidFill>
              </a:rPr>
              <a:t>(</a:t>
            </a:r>
            <a:r>
              <a:rPr lang="ko-KR" altLang="en-US" sz="1000" dirty="0">
                <a:solidFill>
                  <a:schemeClr val="tx2"/>
                </a:solidFill>
              </a:rPr>
              <a:t>法 </a:t>
            </a:r>
            <a:r>
              <a:rPr lang="en-US" altLang="ko-KR" sz="1000" dirty="0">
                <a:solidFill>
                  <a:schemeClr val="tx2"/>
                </a:solidFill>
              </a:rPr>
              <a:t>225-232)</a:t>
            </a:r>
            <a:endParaRPr lang="ko-KR" altLang="en-US" sz="1000" dirty="0">
              <a:solidFill>
                <a:schemeClr val="tx2"/>
              </a:solidFill>
            </a:endParaRPr>
          </a:p>
        </p:txBody>
      </p:sp>
      <p:cxnSp>
        <p:nvCxnSpPr>
          <p:cNvPr id="203" name="꺾인 연결선 202"/>
          <p:cNvCxnSpPr>
            <a:stCxn id="193" idx="3"/>
            <a:endCxn id="201" idx="1"/>
          </p:cNvCxnSpPr>
          <p:nvPr/>
        </p:nvCxnSpPr>
        <p:spPr>
          <a:xfrm>
            <a:off x="5452482" y="2460843"/>
            <a:ext cx="134128" cy="803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4" name="꺾인 연결선 203"/>
          <p:cNvCxnSpPr>
            <a:stCxn id="193" idx="3"/>
            <a:endCxn id="202" idx="1"/>
          </p:cNvCxnSpPr>
          <p:nvPr/>
        </p:nvCxnSpPr>
        <p:spPr>
          <a:xfrm>
            <a:off x="5452482" y="2460843"/>
            <a:ext cx="134127" cy="373384"/>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05" name="직사각형 204"/>
          <p:cNvSpPr/>
          <p:nvPr/>
        </p:nvSpPr>
        <p:spPr>
          <a:xfrm>
            <a:off x="7780806" y="2184608"/>
            <a:ext cx="555844" cy="610645"/>
          </a:xfrm>
          <a:prstGeom prst="rect">
            <a:avLst/>
          </a:prstGeom>
          <a:solidFill>
            <a:schemeClr val="accent6">
              <a:lumMod val="50000"/>
            </a:schemeClr>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solidFill>
                  <a:schemeClr val="bg1"/>
                </a:solidFill>
              </a:rPr>
              <a:t>심판절차 </a:t>
            </a:r>
            <a:endParaRPr lang="en-US" altLang="ko-KR" sz="1000" dirty="0">
              <a:solidFill>
                <a:schemeClr val="bg1"/>
              </a:solidFill>
            </a:endParaRPr>
          </a:p>
          <a:p>
            <a:pPr algn="ctr"/>
            <a:r>
              <a:rPr lang="ko-KR" altLang="en-US" sz="1000" dirty="0">
                <a:solidFill>
                  <a:schemeClr val="bg1"/>
                </a:solidFill>
              </a:rPr>
              <a:t>일반</a:t>
            </a:r>
            <a:endParaRPr lang="en-US" altLang="ko-KR" sz="1000" dirty="0">
              <a:solidFill>
                <a:schemeClr val="bg1"/>
              </a:solidFill>
            </a:endParaRPr>
          </a:p>
          <a:p>
            <a:pPr algn="ctr"/>
            <a:r>
              <a:rPr lang="en-US" altLang="ko-KR" sz="1000" dirty="0">
                <a:solidFill>
                  <a:schemeClr val="bg1"/>
                </a:solidFill>
              </a:rPr>
              <a:t>(</a:t>
            </a:r>
            <a:r>
              <a:rPr lang="ko-KR" altLang="en-US" sz="1000" dirty="0">
                <a:solidFill>
                  <a:schemeClr val="bg1"/>
                </a:solidFill>
              </a:rPr>
              <a:t>총론</a:t>
            </a:r>
            <a:r>
              <a:rPr lang="en-US" altLang="ko-KR" sz="1000" dirty="0">
                <a:solidFill>
                  <a:schemeClr val="bg1"/>
                </a:solidFill>
              </a:rPr>
              <a:t>)</a:t>
            </a:r>
            <a:endParaRPr lang="ko-KR" altLang="en-US" sz="1000" dirty="0">
              <a:solidFill>
                <a:schemeClr val="bg1"/>
              </a:solidFill>
            </a:endParaRPr>
          </a:p>
        </p:txBody>
      </p:sp>
      <p:sp>
        <p:nvSpPr>
          <p:cNvPr id="206" name="직사각형 205"/>
          <p:cNvSpPr/>
          <p:nvPr/>
        </p:nvSpPr>
        <p:spPr>
          <a:xfrm>
            <a:off x="7780806" y="4163272"/>
            <a:ext cx="555844" cy="610645"/>
          </a:xfrm>
          <a:prstGeom prst="rect">
            <a:avLst/>
          </a:prstGeom>
          <a:solidFill>
            <a:schemeClr val="accent5">
              <a:lumMod val="50000"/>
            </a:schemeClr>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solidFill>
                  <a:schemeClr val="bg1"/>
                </a:solidFill>
              </a:rPr>
              <a:t>심판의</a:t>
            </a:r>
            <a:endParaRPr lang="en-US" altLang="ko-KR" sz="1000" dirty="0">
              <a:solidFill>
                <a:schemeClr val="bg1"/>
              </a:solidFill>
            </a:endParaRPr>
          </a:p>
          <a:p>
            <a:pPr algn="ctr"/>
            <a:r>
              <a:rPr lang="ko-KR" altLang="en-US" sz="1000" dirty="0">
                <a:solidFill>
                  <a:schemeClr val="bg1"/>
                </a:solidFill>
              </a:rPr>
              <a:t>종류</a:t>
            </a:r>
            <a:endParaRPr lang="en-US" altLang="ko-KR" sz="1000" dirty="0">
              <a:solidFill>
                <a:schemeClr val="bg1"/>
              </a:solidFill>
            </a:endParaRPr>
          </a:p>
          <a:p>
            <a:pPr algn="ctr"/>
            <a:r>
              <a:rPr lang="en-US" altLang="ko-KR" sz="1000" dirty="0">
                <a:solidFill>
                  <a:schemeClr val="bg1"/>
                </a:solidFill>
              </a:rPr>
              <a:t>(</a:t>
            </a:r>
            <a:r>
              <a:rPr lang="ko-KR" altLang="en-US" sz="1000" dirty="0">
                <a:solidFill>
                  <a:schemeClr val="bg1"/>
                </a:solidFill>
              </a:rPr>
              <a:t>각론</a:t>
            </a:r>
            <a:r>
              <a:rPr lang="en-US" altLang="ko-KR" sz="1000" dirty="0">
                <a:solidFill>
                  <a:schemeClr val="bg1"/>
                </a:solidFill>
              </a:rPr>
              <a:t>)</a:t>
            </a:r>
            <a:endParaRPr lang="ko-KR" altLang="en-US" sz="1000" dirty="0">
              <a:solidFill>
                <a:schemeClr val="bg1"/>
              </a:solidFill>
            </a:endParaRPr>
          </a:p>
        </p:txBody>
      </p:sp>
      <p:sp>
        <p:nvSpPr>
          <p:cNvPr id="207" name="직사각형 206"/>
          <p:cNvSpPr/>
          <p:nvPr/>
        </p:nvSpPr>
        <p:spPr>
          <a:xfrm>
            <a:off x="8500191" y="1313084"/>
            <a:ext cx="710030" cy="171015"/>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a:t>주체</a:t>
            </a:r>
            <a:endParaRPr lang="ko-KR" altLang="en-US" sz="1000" dirty="0"/>
          </a:p>
        </p:txBody>
      </p:sp>
      <p:sp>
        <p:nvSpPr>
          <p:cNvPr id="208" name="직사각형 207"/>
          <p:cNvSpPr/>
          <p:nvPr/>
        </p:nvSpPr>
        <p:spPr>
          <a:xfrm>
            <a:off x="8500191" y="1804594"/>
            <a:ext cx="710030" cy="171015"/>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청구</a:t>
            </a:r>
          </a:p>
        </p:txBody>
      </p:sp>
      <p:sp>
        <p:nvSpPr>
          <p:cNvPr id="209" name="직사각형 208"/>
          <p:cNvSpPr/>
          <p:nvPr/>
        </p:nvSpPr>
        <p:spPr>
          <a:xfrm>
            <a:off x="8500191" y="2449052"/>
            <a:ext cx="710030" cy="171015"/>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진행</a:t>
            </a:r>
          </a:p>
        </p:txBody>
      </p:sp>
      <p:sp>
        <p:nvSpPr>
          <p:cNvPr id="210" name="직사각형 209"/>
          <p:cNvSpPr/>
          <p:nvPr/>
        </p:nvSpPr>
        <p:spPr>
          <a:xfrm>
            <a:off x="8500191" y="2977875"/>
            <a:ext cx="710030" cy="171015"/>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종료</a:t>
            </a:r>
          </a:p>
        </p:txBody>
      </p:sp>
      <p:sp>
        <p:nvSpPr>
          <p:cNvPr id="211" name="직사각형 210"/>
          <p:cNvSpPr/>
          <p:nvPr/>
        </p:nvSpPr>
        <p:spPr>
          <a:xfrm>
            <a:off x="9363869" y="805651"/>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심판원</a:t>
            </a:r>
            <a:r>
              <a:rPr lang="en-US" altLang="ko-KR" sz="1000" dirty="0"/>
              <a:t>(</a:t>
            </a:r>
            <a:r>
              <a:rPr lang="ko-KR" altLang="en-US" sz="1000" dirty="0"/>
              <a:t>法 </a:t>
            </a:r>
            <a:r>
              <a:rPr lang="en-US" altLang="ko-KR" sz="1000" dirty="0"/>
              <a:t>132</a:t>
            </a:r>
            <a:r>
              <a:rPr lang="ko-KR" altLang="en-US" sz="1000" dirty="0"/>
              <a:t>의</a:t>
            </a:r>
            <a:r>
              <a:rPr lang="en-US" altLang="ko-KR" sz="1000" dirty="0"/>
              <a:t>16, 143~153</a:t>
            </a:r>
            <a:r>
              <a:rPr lang="ko-KR" altLang="en-US" sz="1000" dirty="0"/>
              <a:t>의</a:t>
            </a:r>
            <a:r>
              <a:rPr lang="en-US" altLang="ko-KR" sz="1000" dirty="0"/>
              <a:t>2)</a:t>
            </a:r>
            <a:endParaRPr lang="ko-KR" altLang="en-US" sz="1000" dirty="0"/>
          </a:p>
        </p:txBody>
      </p:sp>
      <p:sp>
        <p:nvSpPr>
          <p:cNvPr id="212" name="직사각형 211"/>
          <p:cNvSpPr/>
          <p:nvPr/>
        </p:nvSpPr>
        <p:spPr>
          <a:xfrm>
            <a:off x="9363869" y="996229"/>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심판의 당사자</a:t>
            </a:r>
            <a:r>
              <a:rPr lang="en-US" altLang="ko-KR" sz="1000" dirty="0"/>
              <a:t>(</a:t>
            </a:r>
            <a:r>
              <a:rPr lang="ko-KR" altLang="en-US" sz="1000" dirty="0"/>
              <a:t>法 </a:t>
            </a:r>
            <a:r>
              <a:rPr lang="en-US" altLang="ko-KR" sz="1000" dirty="0"/>
              <a:t>139)</a:t>
            </a:r>
            <a:endParaRPr lang="ko-KR" altLang="en-US" sz="1000" dirty="0"/>
          </a:p>
        </p:txBody>
      </p:sp>
      <p:sp>
        <p:nvSpPr>
          <p:cNvPr id="213" name="직사각형 212"/>
          <p:cNvSpPr/>
          <p:nvPr/>
        </p:nvSpPr>
        <p:spPr>
          <a:xfrm>
            <a:off x="9363869" y="1183511"/>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심판의 참가인</a:t>
            </a:r>
            <a:r>
              <a:rPr lang="en-US" altLang="ko-KR" sz="1000" dirty="0"/>
              <a:t>(</a:t>
            </a:r>
            <a:r>
              <a:rPr lang="ko-KR" altLang="en-US" sz="1000" dirty="0"/>
              <a:t>法 </a:t>
            </a:r>
            <a:r>
              <a:rPr lang="en-US" altLang="ko-KR" sz="1000" dirty="0"/>
              <a:t>155, 156)</a:t>
            </a:r>
            <a:endParaRPr lang="ko-KR" altLang="en-US" sz="1000" dirty="0"/>
          </a:p>
        </p:txBody>
      </p:sp>
      <p:sp>
        <p:nvSpPr>
          <p:cNvPr id="214" name="직사각형 213"/>
          <p:cNvSpPr/>
          <p:nvPr/>
        </p:nvSpPr>
        <p:spPr>
          <a:xfrm>
            <a:off x="9363869" y="1703773"/>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심판의 청구</a:t>
            </a:r>
            <a:r>
              <a:rPr lang="en-US" altLang="ko-KR" sz="1000" dirty="0"/>
              <a:t>(</a:t>
            </a:r>
            <a:r>
              <a:rPr lang="ko-KR" altLang="en-US" sz="1000" dirty="0"/>
              <a:t>法 </a:t>
            </a:r>
            <a:r>
              <a:rPr lang="en-US" altLang="ko-KR" sz="1000" dirty="0"/>
              <a:t>140, 140</a:t>
            </a:r>
            <a:r>
              <a:rPr lang="ko-KR" altLang="en-US" sz="1000" dirty="0"/>
              <a:t>의</a:t>
            </a:r>
            <a:r>
              <a:rPr lang="en-US" altLang="ko-KR" sz="1000" dirty="0"/>
              <a:t>2)</a:t>
            </a:r>
            <a:endParaRPr lang="ko-KR" altLang="en-US" sz="1000" dirty="0"/>
          </a:p>
        </p:txBody>
      </p:sp>
      <p:sp>
        <p:nvSpPr>
          <p:cNvPr id="215" name="직사각형 214"/>
          <p:cNvSpPr/>
          <p:nvPr/>
        </p:nvSpPr>
        <p:spPr>
          <a:xfrm>
            <a:off x="9363869" y="1894351"/>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심판청구서의 보정</a:t>
            </a:r>
            <a:r>
              <a:rPr lang="en-US" altLang="ko-KR" sz="1000" dirty="0"/>
              <a:t>(</a:t>
            </a:r>
            <a:r>
              <a:rPr lang="ko-KR" altLang="en-US" sz="1000" dirty="0"/>
              <a:t>法 </a:t>
            </a:r>
            <a:r>
              <a:rPr lang="en-US" altLang="ko-KR" sz="1000" dirty="0"/>
              <a:t>140②, 140</a:t>
            </a:r>
            <a:r>
              <a:rPr lang="ko-KR" altLang="en-US" sz="1000" dirty="0"/>
              <a:t>의</a:t>
            </a:r>
            <a:r>
              <a:rPr lang="en-US" altLang="ko-KR" sz="1000" dirty="0"/>
              <a:t>2②)</a:t>
            </a:r>
          </a:p>
        </p:txBody>
      </p:sp>
      <p:sp>
        <p:nvSpPr>
          <p:cNvPr id="216" name="직사각형 215"/>
          <p:cNvSpPr/>
          <p:nvPr/>
        </p:nvSpPr>
        <p:spPr>
          <a:xfrm>
            <a:off x="9363869" y="2269829"/>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방식심리</a:t>
            </a:r>
            <a:r>
              <a:rPr lang="en-US" altLang="ko-KR" sz="1000" dirty="0"/>
              <a:t>(</a:t>
            </a:r>
            <a:r>
              <a:rPr lang="ko-KR" altLang="en-US" sz="1000" dirty="0"/>
              <a:t>法 </a:t>
            </a:r>
            <a:r>
              <a:rPr lang="en-US" altLang="ko-KR" sz="1000" dirty="0"/>
              <a:t>141)</a:t>
            </a:r>
            <a:endParaRPr lang="ko-KR" altLang="en-US" sz="1000" dirty="0"/>
          </a:p>
        </p:txBody>
      </p:sp>
      <p:sp>
        <p:nvSpPr>
          <p:cNvPr id="217" name="직사각형 216"/>
          <p:cNvSpPr/>
          <p:nvPr/>
        </p:nvSpPr>
        <p:spPr>
          <a:xfrm>
            <a:off x="9363869" y="2458014"/>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적법성 심리</a:t>
            </a:r>
            <a:r>
              <a:rPr lang="en-US" altLang="ko-KR" sz="1000" dirty="0"/>
              <a:t>(</a:t>
            </a:r>
            <a:r>
              <a:rPr lang="ko-KR" altLang="en-US" sz="1000" dirty="0"/>
              <a:t>法 </a:t>
            </a:r>
            <a:r>
              <a:rPr lang="en-US" altLang="ko-KR" sz="1000" dirty="0"/>
              <a:t>142)</a:t>
            </a:r>
            <a:endParaRPr lang="ko-KR" altLang="en-US" sz="1000" dirty="0"/>
          </a:p>
        </p:txBody>
      </p:sp>
      <p:sp>
        <p:nvSpPr>
          <p:cNvPr id="218" name="직사각형 217"/>
          <p:cNvSpPr/>
          <p:nvPr/>
        </p:nvSpPr>
        <p:spPr>
          <a:xfrm>
            <a:off x="9363869" y="2646662"/>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err="1"/>
              <a:t>본안심리</a:t>
            </a:r>
            <a:r>
              <a:rPr lang="en-US" altLang="ko-KR" sz="1000" dirty="0"/>
              <a:t>(</a:t>
            </a:r>
            <a:r>
              <a:rPr lang="ko-KR" altLang="en-US" sz="1000" dirty="0"/>
              <a:t>法 </a:t>
            </a:r>
            <a:r>
              <a:rPr lang="en-US" altLang="ko-KR" sz="1000" dirty="0"/>
              <a:t>154, 157-160)</a:t>
            </a:r>
            <a:endParaRPr lang="ko-KR" altLang="en-US" sz="1000" dirty="0"/>
          </a:p>
        </p:txBody>
      </p:sp>
      <p:sp>
        <p:nvSpPr>
          <p:cNvPr id="219" name="직사각형 218"/>
          <p:cNvSpPr/>
          <p:nvPr/>
        </p:nvSpPr>
        <p:spPr>
          <a:xfrm>
            <a:off x="9363869" y="2884499"/>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심판청구의 취하</a:t>
            </a:r>
            <a:r>
              <a:rPr lang="en-US" altLang="ko-KR" sz="1000" dirty="0"/>
              <a:t>(</a:t>
            </a:r>
            <a:r>
              <a:rPr lang="ko-KR" altLang="en-US" sz="1000" dirty="0"/>
              <a:t>法 </a:t>
            </a:r>
            <a:r>
              <a:rPr lang="en-US" altLang="ko-KR" sz="1000" dirty="0"/>
              <a:t>161)</a:t>
            </a:r>
            <a:endParaRPr lang="ko-KR" altLang="en-US" sz="1000" dirty="0"/>
          </a:p>
        </p:txBody>
      </p:sp>
      <p:sp>
        <p:nvSpPr>
          <p:cNvPr id="220" name="직사각형 219"/>
          <p:cNvSpPr/>
          <p:nvPr/>
        </p:nvSpPr>
        <p:spPr>
          <a:xfrm>
            <a:off x="9363869" y="3072684"/>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err="1"/>
              <a:t>심결</a:t>
            </a:r>
            <a:r>
              <a:rPr lang="en-US" altLang="ko-KR" sz="1000" dirty="0"/>
              <a:t>(</a:t>
            </a:r>
            <a:r>
              <a:rPr lang="ko-KR" altLang="en-US" sz="1000" dirty="0"/>
              <a:t>法 </a:t>
            </a:r>
            <a:r>
              <a:rPr lang="en-US" altLang="ko-KR" sz="1000" dirty="0"/>
              <a:t>162, 163)</a:t>
            </a:r>
            <a:endParaRPr lang="ko-KR" altLang="en-US" sz="1000" dirty="0"/>
          </a:p>
        </p:txBody>
      </p:sp>
      <p:sp>
        <p:nvSpPr>
          <p:cNvPr id="221" name="직사각형 220"/>
          <p:cNvSpPr/>
          <p:nvPr/>
        </p:nvSpPr>
        <p:spPr>
          <a:xfrm>
            <a:off x="8500191" y="4104276"/>
            <a:ext cx="710030" cy="171015"/>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err="1"/>
              <a:t>결정계</a:t>
            </a:r>
            <a:r>
              <a:rPr lang="ko-KR" altLang="en-US" sz="1000" dirty="0"/>
              <a:t> 심판</a:t>
            </a:r>
          </a:p>
        </p:txBody>
      </p:sp>
      <p:sp>
        <p:nvSpPr>
          <p:cNvPr id="222" name="직사각형 221"/>
          <p:cNvSpPr/>
          <p:nvPr/>
        </p:nvSpPr>
        <p:spPr>
          <a:xfrm>
            <a:off x="8500191" y="4475324"/>
            <a:ext cx="710030" cy="364286"/>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당사자계 </a:t>
            </a:r>
            <a:endParaRPr lang="en-US" altLang="ko-KR" sz="1000" dirty="0"/>
          </a:p>
          <a:p>
            <a:pPr algn="ctr"/>
            <a:r>
              <a:rPr lang="ko-KR" altLang="en-US" sz="1000" dirty="0"/>
              <a:t>심판</a:t>
            </a:r>
          </a:p>
        </p:txBody>
      </p:sp>
      <p:sp>
        <p:nvSpPr>
          <p:cNvPr id="223" name="직사각형 222"/>
          <p:cNvSpPr/>
          <p:nvPr/>
        </p:nvSpPr>
        <p:spPr>
          <a:xfrm>
            <a:off x="8500189" y="5251229"/>
            <a:ext cx="1308145" cy="158677"/>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재심</a:t>
            </a:r>
            <a:r>
              <a:rPr lang="en-US" altLang="ko-KR" sz="1000" dirty="0"/>
              <a:t>(</a:t>
            </a:r>
            <a:r>
              <a:rPr lang="ko-KR" altLang="en-US" sz="1000" dirty="0"/>
              <a:t>法 </a:t>
            </a:r>
            <a:r>
              <a:rPr lang="en-US" altLang="ko-KR" sz="1000" dirty="0"/>
              <a:t>178~185)</a:t>
            </a:r>
            <a:endParaRPr lang="ko-KR" altLang="en-US" sz="1000" dirty="0"/>
          </a:p>
        </p:txBody>
      </p:sp>
      <p:sp>
        <p:nvSpPr>
          <p:cNvPr id="224" name="직사각형 223"/>
          <p:cNvSpPr/>
          <p:nvPr/>
        </p:nvSpPr>
        <p:spPr>
          <a:xfrm>
            <a:off x="9363869" y="4012193"/>
            <a:ext cx="2333212" cy="138557"/>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거절결정불복심판</a:t>
            </a:r>
            <a:r>
              <a:rPr lang="en-US" altLang="ko-KR" sz="900" dirty="0"/>
              <a:t>(</a:t>
            </a:r>
            <a:r>
              <a:rPr lang="ko-KR" altLang="en-US" sz="900" dirty="0"/>
              <a:t>法 </a:t>
            </a:r>
            <a:r>
              <a:rPr lang="en-US" altLang="ko-KR" sz="900" dirty="0"/>
              <a:t>132</a:t>
            </a:r>
            <a:r>
              <a:rPr lang="ko-KR" altLang="en-US" sz="900" dirty="0"/>
              <a:t>의</a:t>
            </a:r>
            <a:r>
              <a:rPr lang="en-US" altLang="ko-KR" sz="900" dirty="0"/>
              <a:t>17, 170~172, 176)</a:t>
            </a:r>
            <a:endParaRPr lang="ko-KR" altLang="en-US" sz="900" dirty="0"/>
          </a:p>
        </p:txBody>
      </p:sp>
      <p:sp>
        <p:nvSpPr>
          <p:cNvPr id="225" name="직사각형 224"/>
          <p:cNvSpPr/>
          <p:nvPr/>
        </p:nvSpPr>
        <p:spPr>
          <a:xfrm>
            <a:off x="9363869" y="4202771"/>
            <a:ext cx="2333212" cy="138557"/>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정정심판</a:t>
            </a:r>
            <a:r>
              <a:rPr lang="en-US" altLang="ko-KR" sz="1000" dirty="0"/>
              <a:t>(</a:t>
            </a:r>
            <a:r>
              <a:rPr lang="ko-KR" altLang="en-US" sz="1000" dirty="0"/>
              <a:t>法 </a:t>
            </a:r>
            <a:r>
              <a:rPr lang="en-US" altLang="ko-KR" sz="1000" dirty="0"/>
              <a:t>136)</a:t>
            </a:r>
            <a:endParaRPr lang="ko-KR" altLang="en-US" sz="1000" dirty="0"/>
          </a:p>
        </p:txBody>
      </p:sp>
      <p:sp>
        <p:nvSpPr>
          <p:cNvPr id="226" name="직사각형 225"/>
          <p:cNvSpPr/>
          <p:nvPr/>
        </p:nvSpPr>
        <p:spPr>
          <a:xfrm>
            <a:off x="9363869" y="4383751"/>
            <a:ext cx="2333212" cy="138557"/>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무효심판</a:t>
            </a:r>
            <a:r>
              <a:rPr lang="en-US" altLang="ko-KR" sz="1000" dirty="0"/>
              <a:t>(</a:t>
            </a:r>
            <a:r>
              <a:rPr lang="ko-KR" altLang="en-US" sz="1000" dirty="0"/>
              <a:t>法 </a:t>
            </a:r>
            <a:r>
              <a:rPr lang="en-US" altLang="ko-KR" sz="1000" dirty="0"/>
              <a:t>133, 134, 137)</a:t>
            </a:r>
            <a:endParaRPr lang="ko-KR" altLang="en-US" sz="1000" dirty="0"/>
          </a:p>
        </p:txBody>
      </p:sp>
      <p:sp>
        <p:nvSpPr>
          <p:cNvPr id="227" name="직사각형 226"/>
          <p:cNvSpPr/>
          <p:nvPr/>
        </p:nvSpPr>
        <p:spPr>
          <a:xfrm>
            <a:off x="9363869" y="4579753"/>
            <a:ext cx="2333212" cy="138557"/>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권리범위확인심판</a:t>
            </a:r>
            <a:r>
              <a:rPr lang="en-US" altLang="ko-KR" sz="1000" dirty="0"/>
              <a:t>(</a:t>
            </a:r>
            <a:r>
              <a:rPr lang="ko-KR" altLang="en-US" sz="1000" dirty="0"/>
              <a:t>法 </a:t>
            </a:r>
            <a:r>
              <a:rPr lang="en-US" altLang="ko-KR" sz="1000" dirty="0"/>
              <a:t>135)</a:t>
            </a:r>
            <a:endParaRPr lang="ko-KR" altLang="en-US" sz="1000" dirty="0"/>
          </a:p>
        </p:txBody>
      </p:sp>
      <p:sp>
        <p:nvSpPr>
          <p:cNvPr id="228" name="직사각형 227"/>
          <p:cNvSpPr/>
          <p:nvPr/>
        </p:nvSpPr>
        <p:spPr>
          <a:xfrm>
            <a:off x="9363869" y="4770331"/>
            <a:ext cx="2333212" cy="138557"/>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err="1"/>
              <a:t>통상실시권허락심판</a:t>
            </a:r>
            <a:r>
              <a:rPr lang="en-US" altLang="ko-KR" sz="1000" dirty="0"/>
              <a:t>(</a:t>
            </a:r>
            <a:r>
              <a:rPr lang="ko-KR" altLang="en-US" sz="1000" dirty="0"/>
              <a:t>法 </a:t>
            </a:r>
            <a:r>
              <a:rPr lang="en-US" altLang="ko-KR" sz="1000" dirty="0"/>
              <a:t>138)</a:t>
            </a:r>
            <a:endParaRPr lang="ko-KR" altLang="en-US" sz="1000" dirty="0"/>
          </a:p>
        </p:txBody>
      </p:sp>
      <p:cxnSp>
        <p:nvCxnSpPr>
          <p:cNvPr id="229" name="꺾인 연결선 228"/>
          <p:cNvCxnSpPr>
            <a:stCxn id="205" idx="1"/>
            <a:endCxn id="252" idx="3"/>
          </p:cNvCxnSpPr>
          <p:nvPr/>
        </p:nvCxnSpPr>
        <p:spPr>
          <a:xfrm rot="10800000" flipV="1">
            <a:off x="7557110" y="2489931"/>
            <a:ext cx="223697" cy="347276"/>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0" name="꺾인 연결선 229"/>
          <p:cNvCxnSpPr>
            <a:stCxn id="205" idx="3"/>
            <a:endCxn id="207" idx="1"/>
          </p:cNvCxnSpPr>
          <p:nvPr/>
        </p:nvCxnSpPr>
        <p:spPr>
          <a:xfrm flipV="1">
            <a:off x="8336650" y="1398592"/>
            <a:ext cx="163541" cy="109133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1" name="꺾인 연결선 230"/>
          <p:cNvCxnSpPr>
            <a:stCxn id="205" idx="3"/>
            <a:endCxn id="210" idx="1"/>
          </p:cNvCxnSpPr>
          <p:nvPr/>
        </p:nvCxnSpPr>
        <p:spPr>
          <a:xfrm>
            <a:off x="8336650" y="2489931"/>
            <a:ext cx="163541" cy="57345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2" name="꺾인 연결선 231"/>
          <p:cNvCxnSpPr>
            <a:stCxn id="205" idx="3"/>
            <a:endCxn id="208" idx="1"/>
          </p:cNvCxnSpPr>
          <p:nvPr/>
        </p:nvCxnSpPr>
        <p:spPr>
          <a:xfrm flipV="1">
            <a:off x="8336650" y="1890102"/>
            <a:ext cx="163541" cy="59982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3" name="꺾인 연결선 232"/>
          <p:cNvCxnSpPr>
            <a:stCxn id="205" idx="3"/>
            <a:endCxn id="209" idx="1"/>
          </p:cNvCxnSpPr>
          <p:nvPr/>
        </p:nvCxnSpPr>
        <p:spPr>
          <a:xfrm>
            <a:off x="8336650" y="2489931"/>
            <a:ext cx="163541" cy="4462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4" name="꺾인 연결선 233"/>
          <p:cNvCxnSpPr>
            <a:stCxn id="207" idx="3"/>
            <a:endCxn id="211" idx="1"/>
          </p:cNvCxnSpPr>
          <p:nvPr/>
        </p:nvCxnSpPr>
        <p:spPr>
          <a:xfrm flipV="1">
            <a:off x="9210221" y="874930"/>
            <a:ext cx="153648" cy="52366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5" name="꺾인 연결선 234"/>
          <p:cNvCxnSpPr>
            <a:stCxn id="207" idx="3"/>
            <a:endCxn id="213" idx="1"/>
          </p:cNvCxnSpPr>
          <p:nvPr/>
        </p:nvCxnSpPr>
        <p:spPr>
          <a:xfrm flipV="1">
            <a:off x="9210221" y="1252790"/>
            <a:ext cx="153648" cy="14580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6" name="꺾인 연결선 235"/>
          <p:cNvCxnSpPr>
            <a:cxnSpLocks/>
            <a:stCxn id="207" idx="3"/>
            <a:endCxn id="288" idx="1"/>
          </p:cNvCxnSpPr>
          <p:nvPr/>
        </p:nvCxnSpPr>
        <p:spPr>
          <a:xfrm>
            <a:off x="9210221" y="1398592"/>
            <a:ext cx="148622" cy="11085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7" name="꺾인 연결선 236"/>
          <p:cNvCxnSpPr>
            <a:stCxn id="208" idx="3"/>
            <a:endCxn id="214" idx="1"/>
          </p:cNvCxnSpPr>
          <p:nvPr/>
        </p:nvCxnSpPr>
        <p:spPr>
          <a:xfrm flipV="1">
            <a:off x="9210221" y="1773052"/>
            <a:ext cx="153648" cy="11705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8" name="꺾인 연결선 237"/>
          <p:cNvCxnSpPr>
            <a:stCxn id="208" idx="3"/>
            <a:endCxn id="215" idx="1"/>
          </p:cNvCxnSpPr>
          <p:nvPr/>
        </p:nvCxnSpPr>
        <p:spPr>
          <a:xfrm>
            <a:off x="9210221" y="1890102"/>
            <a:ext cx="153648" cy="7352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9" name="꺾인 연결선 238"/>
          <p:cNvCxnSpPr>
            <a:stCxn id="209" idx="3"/>
            <a:endCxn id="216" idx="1"/>
          </p:cNvCxnSpPr>
          <p:nvPr/>
        </p:nvCxnSpPr>
        <p:spPr>
          <a:xfrm flipV="1">
            <a:off x="9210221" y="2339108"/>
            <a:ext cx="153648" cy="19545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0" name="꺾인 연결선 239"/>
          <p:cNvCxnSpPr>
            <a:stCxn id="209" idx="3"/>
            <a:endCxn id="218" idx="1"/>
          </p:cNvCxnSpPr>
          <p:nvPr/>
        </p:nvCxnSpPr>
        <p:spPr>
          <a:xfrm>
            <a:off x="9210221" y="2534560"/>
            <a:ext cx="153648" cy="181381"/>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1" name="꺾인 연결선 240"/>
          <p:cNvCxnSpPr>
            <a:stCxn id="209" idx="3"/>
            <a:endCxn id="217" idx="1"/>
          </p:cNvCxnSpPr>
          <p:nvPr/>
        </p:nvCxnSpPr>
        <p:spPr>
          <a:xfrm flipV="1">
            <a:off x="9210221" y="2527293"/>
            <a:ext cx="153648" cy="726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2" name="꺾인 연결선 241"/>
          <p:cNvCxnSpPr>
            <a:stCxn id="221" idx="1"/>
            <a:endCxn id="206" idx="3"/>
          </p:cNvCxnSpPr>
          <p:nvPr/>
        </p:nvCxnSpPr>
        <p:spPr>
          <a:xfrm rot="10800000" flipV="1">
            <a:off x="8336651" y="4189783"/>
            <a:ext cx="163541" cy="278811"/>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3" name="꺾인 연결선 242"/>
          <p:cNvCxnSpPr>
            <a:stCxn id="206" idx="3"/>
            <a:endCxn id="223" idx="1"/>
          </p:cNvCxnSpPr>
          <p:nvPr/>
        </p:nvCxnSpPr>
        <p:spPr>
          <a:xfrm>
            <a:off x="8336650" y="4468595"/>
            <a:ext cx="163539" cy="86197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4" name="꺾인 연결선 243"/>
          <p:cNvCxnSpPr>
            <a:stCxn id="206" idx="3"/>
            <a:endCxn id="222" idx="1"/>
          </p:cNvCxnSpPr>
          <p:nvPr/>
        </p:nvCxnSpPr>
        <p:spPr>
          <a:xfrm>
            <a:off x="8336650" y="4468595"/>
            <a:ext cx="163541" cy="18887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5" name="꺾인 연결선 244"/>
          <p:cNvCxnSpPr>
            <a:stCxn id="210" idx="3"/>
            <a:endCxn id="219" idx="1"/>
          </p:cNvCxnSpPr>
          <p:nvPr/>
        </p:nvCxnSpPr>
        <p:spPr>
          <a:xfrm flipV="1">
            <a:off x="9210221" y="2953778"/>
            <a:ext cx="153648" cy="10960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6" name="꺾인 연결선 245"/>
          <p:cNvCxnSpPr>
            <a:stCxn id="210" idx="3"/>
            <a:endCxn id="220" idx="1"/>
          </p:cNvCxnSpPr>
          <p:nvPr/>
        </p:nvCxnSpPr>
        <p:spPr>
          <a:xfrm>
            <a:off x="9210221" y="3063383"/>
            <a:ext cx="153648" cy="7858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7" name="꺾인 연결선 246"/>
          <p:cNvCxnSpPr>
            <a:stCxn id="221" idx="3"/>
            <a:endCxn id="224" idx="1"/>
          </p:cNvCxnSpPr>
          <p:nvPr/>
        </p:nvCxnSpPr>
        <p:spPr>
          <a:xfrm flipV="1">
            <a:off x="9210221" y="4081472"/>
            <a:ext cx="153648" cy="10831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8" name="꺾인 연결선 247"/>
          <p:cNvCxnSpPr>
            <a:stCxn id="221" idx="3"/>
            <a:endCxn id="225" idx="1"/>
          </p:cNvCxnSpPr>
          <p:nvPr/>
        </p:nvCxnSpPr>
        <p:spPr>
          <a:xfrm>
            <a:off x="9210221" y="4189784"/>
            <a:ext cx="153648" cy="8226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9" name="꺾인 연결선 248"/>
          <p:cNvCxnSpPr>
            <a:stCxn id="222" idx="3"/>
            <a:endCxn id="226" idx="1"/>
          </p:cNvCxnSpPr>
          <p:nvPr/>
        </p:nvCxnSpPr>
        <p:spPr>
          <a:xfrm flipV="1">
            <a:off x="9210221" y="4453030"/>
            <a:ext cx="153648" cy="20443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0" name="꺾인 연결선 249"/>
          <p:cNvCxnSpPr>
            <a:stCxn id="222" idx="3"/>
            <a:endCxn id="227" idx="1"/>
          </p:cNvCxnSpPr>
          <p:nvPr/>
        </p:nvCxnSpPr>
        <p:spPr>
          <a:xfrm flipV="1">
            <a:off x="9210221" y="4649032"/>
            <a:ext cx="153648" cy="843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1" name="꺾인 연결선 250"/>
          <p:cNvCxnSpPr>
            <a:stCxn id="222" idx="3"/>
            <a:endCxn id="228" idx="1"/>
          </p:cNvCxnSpPr>
          <p:nvPr/>
        </p:nvCxnSpPr>
        <p:spPr>
          <a:xfrm>
            <a:off x="9210221" y="4657467"/>
            <a:ext cx="153648" cy="18214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2" name="직사각형 251"/>
          <p:cNvSpPr/>
          <p:nvPr/>
        </p:nvSpPr>
        <p:spPr>
          <a:xfrm>
            <a:off x="7136327" y="2620124"/>
            <a:ext cx="420782" cy="434166"/>
          </a:xfrm>
          <a:prstGeom prst="rect">
            <a:avLst/>
          </a:prstGeom>
          <a:solidFill>
            <a:schemeClr val="accent5"/>
          </a:solidFill>
          <a:ln w="3175">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200" dirty="0">
                <a:solidFill>
                  <a:schemeClr val="bg1"/>
                </a:solidFill>
              </a:rPr>
              <a:t>심판</a:t>
            </a:r>
            <a:endParaRPr lang="en-US" altLang="ko-KR" sz="1200" dirty="0">
              <a:solidFill>
                <a:schemeClr val="bg1"/>
              </a:solidFill>
            </a:endParaRPr>
          </a:p>
          <a:p>
            <a:pPr algn="ctr"/>
            <a:r>
              <a:rPr lang="ko-KR" altLang="en-US" sz="1200" dirty="0">
                <a:solidFill>
                  <a:schemeClr val="bg1"/>
                </a:solidFill>
              </a:rPr>
              <a:t>제도</a:t>
            </a:r>
          </a:p>
        </p:txBody>
      </p:sp>
      <p:cxnSp>
        <p:nvCxnSpPr>
          <p:cNvPr id="253" name="꺾인 연결선 252"/>
          <p:cNvCxnSpPr>
            <a:stCxn id="252" idx="3"/>
            <a:endCxn id="206" idx="1"/>
          </p:cNvCxnSpPr>
          <p:nvPr/>
        </p:nvCxnSpPr>
        <p:spPr>
          <a:xfrm>
            <a:off x="7557109" y="2837207"/>
            <a:ext cx="223697" cy="163138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4" name="직사각형 253"/>
          <p:cNvSpPr/>
          <p:nvPr/>
        </p:nvSpPr>
        <p:spPr>
          <a:xfrm>
            <a:off x="8500189" y="5000342"/>
            <a:ext cx="2075729" cy="158677"/>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fontAlgn="base"/>
            <a:r>
              <a:rPr lang="ko-KR" altLang="en-US" sz="1000" dirty="0"/>
              <a:t>특허취소신청</a:t>
            </a:r>
            <a:r>
              <a:rPr lang="en-US" altLang="ko-KR" sz="1000" dirty="0"/>
              <a:t>(</a:t>
            </a:r>
            <a:r>
              <a:rPr lang="ko-KR" altLang="en-US" sz="1000" dirty="0"/>
              <a:t>法 </a:t>
            </a:r>
            <a:r>
              <a:rPr lang="en-US" altLang="ko-KR" sz="1000" dirty="0"/>
              <a:t>132</a:t>
            </a:r>
            <a:r>
              <a:rPr lang="ko-KR" altLang="en-US" sz="1000" dirty="0"/>
              <a:t>의</a:t>
            </a:r>
            <a:r>
              <a:rPr lang="en-US" altLang="ko-KR" sz="1000" dirty="0"/>
              <a:t>2~132</a:t>
            </a:r>
            <a:r>
              <a:rPr lang="ko-KR" altLang="en-US" sz="1000" dirty="0"/>
              <a:t>의</a:t>
            </a:r>
            <a:r>
              <a:rPr lang="en-US" altLang="ko-KR" sz="1000" dirty="0"/>
              <a:t>15)</a:t>
            </a:r>
            <a:endParaRPr lang="ko-KR" altLang="en-US" sz="1000" dirty="0"/>
          </a:p>
        </p:txBody>
      </p:sp>
      <p:cxnSp>
        <p:nvCxnSpPr>
          <p:cNvPr id="255" name="꺾인 연결선 254"/>
          <p:cNvCxnSpPr>
            <a:stCxn id="206" idx="3"/>
            <a:endCxn id="254" idx="1"/>
          </p:cNvCxnSpPr>
          <p:nvPr/>
        </p:nvCxnSpPr>
        <p:spPr>
          <a:xfrm>
            <a:off x="8336650" y="4468595"/>
            <a:ext cx="163539" cy="61108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56" name="직사각형 255"/>
          <p:cNvSpPr/>
          <p:nvPr/>
        </p:nvSpPr>
        <p:spPr>
          <a:xfrm>
            <a:off x="9363869" y="2079620"/>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중복심판청구금지</a:t>
            </a:r>
            <a:r>
              <a:rPr lang="en-US" altLang="ko-KR" sz="1000" dirty="0"/>
              <a:t>(</a:t>
            </a:r>
            <a:r>
              <a:rPr lang="ko-KR" altLang="en-US" sz="1000" dirty="0"/>
              <a:t>法 </a:t>
            </a:r>
            <a:r>
              <a:rPr lang="en-US" altLang="ko-KR" sz="1000" dirty="0"/>
              <a:t>154⑧ </a:t>
            </a:r>
            <a:r>
              <a:rPr lang="ko-KR" altLang="en-US" sz="1000" dirty="0"/>
              <a:t>준용</a:t>
            </a:r>
            <a:r>
              <a:rPr lang="en-US" altLang="ko-KR" sz="1000" dirty="0"/>
              <a:t> </a:t>
            </a:r>
            <a:r>
              <a:rPr lang="ko-KR" altLang="en-US" sz="1000" dirty="0"/>
              <a:t>민소</a:t>
            </a:r>
            <a:r>
              <a:rPr lang="en-US" altLang="ko-KR" sz="1000" dirty="0"/>
              <a:t>259)</a:t>
            </a:r>
          </a:p>
        </p:txBody>
      </p:sp>
      <p:sp>
        <p:nvSpPr>
          <p:cNvPr id="257" name="직사각형 256"/>
          <p:cNvSpPr/>
          <p:nvPr/>
        </p:nvSpPr>
        <p:spPr>
          <a:xfrm>
            <a:off x="8237008" y="5752000"/>
            <a:ext cx="420212" cy="364286"/>
          </a:xfrm>
          <a:prstGeom prst="rect">
            <a:avLst/>
          </a:prstGeom>
          <a:solidFill>
            <a:schemeClr val="accent5"/>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en-US" altLang="ko-KR" sz="1200" dirty="0">
                <a:solidFill>
                  <a:schemeClr val="bg1"/>
                </a:solidFill>
              </a:rPr>
              <a:t>PCT</a:t>
            </a:r>
            <a:endParaRPr lang="ko-KR" altLang="en-US" sz="1200" dirty="0">
              <a:solidFill>
                <a:schemeClr val="bg1"/>
              </a:solidFill>
            </a:endParaRPr>
          </a:p>
        </p:txBody>
      </p:sp>
      <p:sp>
        <p:nvSpPr>
          <p:cNvPr id="258" name="직사각형 257"/>
          <p:cNvSpPr/>
          <p:nvPr/>
        </p:nvSpPr>
        <p:spPr>
          <a:xfrm>
            <a:off x="8810868" y="5660427"/>
            <a:ext cx="2333212" cy="138557"/>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fontAlgn="base"/>
            <a:r>
              <a:rPr lang="ko-KR" altLang="en-US" sz="1000" dirty="0"/>
              <a:t>특허출원절차</a:t>
            </a:r>
            <a:r>
              <a:rPr lang="en-US" altLang="ko-KR" sz="1000" dirty="0"/>
              <a:t>(</a:t>
            </a:r>
            <a:r>
              <a:rPr lang="ko-KR" altLang="en-US" sz="1000" dirty="0"/>
              <a:t>法 </a:t>
            </a:r>
            <a:r>
              <a:rPr lang="en-US" altLang="ko-KR" sz="1000" dirty="0"/>
              <a:t>192~198)</a:t>
            </a:r>
            <a:endParaRPr lang="ko-KR" altLang="en-US" sz="1000" dirty="0"/>
          </a:p>
        </p:txBody>
      </p:sp>
      <p:sp>
        <p:nvSpPr>
          <p:cNvPr id="259" name="직사각형 258"/>
          <p:cNvSpPr/>
          <p:nvPr/>
        </p:nvSpPr>
        <p:spPr>
          <a:xfrm>
            <a:off x="8810868" y="5856429"/>
            <a:ext cx="2333212" cy="138557"/>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fontAlgn="base"/>
            <a:r>
              <a:rPr lang="ko-KR" altLang="en-US" sz="1000" dirty="0"/>
              <a:t>국제조사 및 국제예비심사</a:t>
            </a:r>
            <a:r>
              <a:rPr lang="en-US" altLang="ko-KR" sz="1000" dirty="0"/>
              <a:t>(</a:t>
            </a:r>
            <a:r>
              <a:rPr lang="ko-KR" altLang="en-US" sz="1000" dirty="0"/>
              <a:t>法 </a:t>
            </a:r>
            <a:r>
              <a:rPr lang="en-US" altLang="ko-KR" sz="1000" dirty="0"/>
              <a:t>198</a:t>
            </a:r>
            <a:r>
              <a:rPr lang="ko-KR" altLang="en-US" sz="1000" dirty="0"/>
              <a:t>의</a:t>
            </a:r>
            <a:r>
              <a:rPr lang="en-US" altLang="ko-KR" sz="1000" dirty="0"/>
              <a:t>2)</a:t>
            </a:r>
            <a:endParaRPr lang="ko-KR" altLang="en-US" sz="1000" dirty="0"/>
          </a:p>
        </p:txBody>
      </p:sp>
      <p:sp>
        <p:nvSpPr>
          <p:cNvPr id="260" name="직사각형 259"/>
          <p:cNvSpPr/>
          <p:nvPr/>
        </p:nvSpPr>
        <p:spPr>
          <a:xfrm>
            <a:off x="8810868" y="6047007"/>
            <a:ext cx="2333212" cy="138557"/>
          </a:xfrm>
          <a:prstGeom prst="rect">
            <a:avLst/>
          </a:prstGeom>
          <a:solidFill>
            <a:schemeClr val="accent5">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fontAlgn="base"/>
            <a:r>
              <a:rPr lang="ko-KR" altLang="en-US" sz="1000" dirty="0"/>
              <a:t>국제특허출원에 관한 특례</a:t>
            </a:r>
            <a:r>
              <a:rPr lang="en-US" altLang="ko-KR" sz="1000" dirty="0"/>
              <a:t>(</a:t>
            </a:r>
            <a:r>
              <a:rPr lang="ko-KR" altLang="en-US" sz="1000" dirty="0"/>
              <a:t>法 </a:t>
            </a:r>
            <a:r>
              <a:rPr lang="en-US" altLang="ko-KR" sz="1000" dirty="0"/>
              <a:t>199~214)</a:t>
            </a:r>
            <a:endParaRPr lang="ko-KR" altLang="en-US" sz="1000" dirty="0"/>
          </a:p>
        </p:txBody>
      </p:sp>
      <p:cxnSp>
        <p:nvCxnSpPr>
          <p:cNvPr id="261" name="꺾인 연결선 260"/>
          <p:cNvCxnSpPr>
            <a:stCxn id="257" idx="3"/>
            <a:endCxn id="258" idx="1"/>
          </p:cNvCxnSpPr>
          <p:nvPr/>
        </p:nvCxnSpPr>
        <p:spPr>
          <a:xfrm flipV="1">
            <a:off x="8657220" y="5729706"/>
            <a:ext cx="153648" cy="20443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2" name="꺾인 연결선 261"/>
          <p:cNvCxnSpPr>
            <a:stCxn id="257" idx="3"/>
            <a:endCxn id="259" idx="1"/>
          </p:cNvCxnSpPr>
          <p:nvPr/>
        </p:nvCxnSpPr>
        <p:spPr>
          <a:xfrm flipV="1">
            <a:off x="8657220" y="5925708"/>
            <a:ext cx="153648" cy="843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3" name="꺾인 연결선 262"/>
          <p:cNvCxnSpPr>
            <a:stCxn id="257" idx="3"/>
            <a:endCxn id="260" idx="1"/>
          </p:cNvCxnSpPr>
          <p:nvPr/>
        </p:nvCxnSpPr>
        <p:spPr>
          <a:xfrm>
            <a:off x="8657220" y="5934143"/>
            <a:ext cx="153648" cy="18214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4" name="꺾인 연결선 263"/>
          <p:cNvCxnSpPr>
            <a:stCxn id="273" idx="3"/>
            <a:endCxn id="295" idx="1"/>
          </p:cNvCxnSpPr>
          <p:nvPr/>
        </p:nvCxnSpPr>
        <p:spPr>
          <a:xfrm flipV="1">
            <a:off x="4278775" y="4164703"/>
            <a:ext cx="168733" cy="44072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5" name="꺾인 연결선 264"/>
          <p:cNvCxnSpPr>
            <a:stCxn id="273" idx="3"/>
            <a:endCxn id="296" idx="1"/>
          </p:cNvCxnSpPr>
          <p:nvPr/>
        </p:nvCxnSpPr>
        <p:spPr>
          <a:xfrm flipV="1">
            <a:off x="4278775" y="4328505"/>
            <a:ext cx="168733" cy="27692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6" name="직사각형 265"/>
          <p:cNvSpPr/>
          <p:nvPr/>
        </p:nvSpPr>
        <p:spPr>
          <a:xfrm>
            <a:off x="612833" y="5324052"/>
            <a:ext cx="355015" cy="364286"/>
          </a:xfrm>
          <a:prstGeom prst="rect">
            <a:avLst/>
          </a:prstGeom>
          <a:solidFill>
            <a:schemeClr val="accent5"/>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200" dirty="0">
                <a:solidFill>
                  <a:schemeClr val="bg1"/>
                </a:solidFill>
              </a:rPr>
              <a:t>소송</a:t>
            </a:r>
          </a:p>
        </p:txBody>
      </p:sp>
      <p:sp>
        <p:nvSpPr>
          <p:cNvPr id="267" name="직사각형 266"/>
          <p:cNvSpPr/>
          <p:nvPr/>
        </p:nvSpPr>
        <p:spPr>
          <a:xfrm>
            <a:off x="1121497" y="5232479"/>
            <a:ext cx="2333212" cy="138557"/>
          </a:xfrm>
          <a:prstGeom prst="rect">
            <a:avLst/>
          </a:prstGeom>
          <a:solidFill>
            <a:schemeClr val="accent4">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fontAlgn="base"/>
            <a:r>
              <a:rPr lang="ko-KR" altLang="en-US" sz="1000" dirty="0" err="1"/>
              <a:t>심결취소소송</a:t>
            </a:r>
            <a:r>
              <a:rPr lang="en-US" altLang="ko-KR" sz="1000" dirty="0"/>
              <a:t>(</a:t>
            </a:r>
            <a:r>
              <a:rPr lang="ko-KR" altLang="en-US" sz="1000" dirty="0"/>
              <a:t>法 </a:t>
            </a:r>
            <a:r>
              <a:rPr lang="en-US" altLang="ko-KR" sz="1000" dirty="0"/>
              <a:t>186~189)</a:t>
            </a:r>
            <a:endParaRPr lang="ko-KR" altLang="en-US" sz="1000" dirty="0"/>
          </a:p>
        </p:txBody>
      </p:sp>
      <p:sp>
        <p:nvSpPr>
          <p:cNvPr id="268" name="직사각형 267"/>
          <p:cNvSpPr/>
          <p:nvPr/>
        </p:nvSpPr>
        <p:spPr>
          <a:xfrm>
            <a:off x="1121497" y="5428481"/>
            <a:ext cx="2333212" cy="138557"/>
          </a:xfrm>
          <a:prstGeom prst="rect">
            <a:avLst/>
          </a:prstGeom>
          <a:solidFill>
            <a:schemeClr val="accent4">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fontAlgn="base"/>
            <a:r>
              <a:rPr lang="ko-KR" altLang="en-US" sz="1000" dirty="0"/>
              <a:t>보상금</a:t>
            </a:r>
            <a:r>
              <a:rPr lang="en-US" altLang="ko-KR" sz="1000" dirty="0"/>
              <a:t>/</a:t>
            </a:r>
            <a:r>
              <a:rPr lang="ko-KR" altLang="en-US" sz="1000" dirty="0"/>
              <a:t>대가에 대한 소송</a:t>
            </a:r>
            <a:r>
              <a:rPr lang="en-US" altLang="ko-KR" sz="1000" dirty="0"/>
              <a:t>(</a:t>
            </a:r>
            <a:r>
              <a:rPr lang="ko-KR" altLang="en-US" sz="1000" dirty="0"/>
              <a:t>法 </a:t>
            </a:r>
            <a:r>
              <a:rPr lang="en-US" altLang="ko-KR" sz="1000" dirty="0"/>
              <a:t>190, 191)</a:t>
            </a:r>
            <a:endParaRPr lang="ko-KR" altLang="en-US" sz="1000" dirty="0"/>
          </a:p>
        </p:txBody>
      </p:sp>
      <p:sp>
        <p:nvSpPr>
          <p:cNvPr id="269" name="직사각형 268"/>
          <p:cNvSpPr/>
          <p:nvPr/>
        </p:nvSpPr>
        <p:spPr>
          <a:xfrm>
            <a:off x="1121497" y="5619059"/>
            <a:ext cx="2333212" cy="138557"/>
          </a:xfrm>
          <a:prstGeom prst="rect">
            <a:avLst/>
          </a:prstGeom>
          <a:solidFill>
            <a:schemeClr val="accent4">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fontAlgn="base"/>
            <a:r>
              <a:rPr lang="ko-KR" altLang="en-US" sz="1000" dirty="0"/>
              <a:t>변리사 보수</a:t>
            </a:r>
            <a:r>
              <a:rPr lang="en-US" altLang="ko-KR" sz="1000" dirty="0"/>
              <a:t>(</a:t>
            </a:r>
            <a:r>
              <a:rPr lang="ko-KR" altLang="en-US" sz="1000" dirty="0"/>
              <a:t>法 </a:t>
            </a:r>
            <a:r>
              <a:rPr lang="en-US" altLang="ko-KR" sz="1000" dirty="0"/>
              <a:t>191</a:t>
            </a:r>
            <a:r>
              <a:rPr lang="ko-KR" altLang="en-US" sz="1000" dirty="0"/>
              <a:t>의</a:t>
            </a:r>
            <a:r>
              <a:rPr lang="en-US" altLang="ko-KR" sz="1000" dirty="0"/>
              <a:t>2)</a:t>
            </a:r>
            <a:endParaRPr lang="ko-KR" altLang="en-US" sz="1000" dirty="0"/>
          </a:p>
        </p:txBody>
      </p:sp>
      <p:cxnSp>
        <p:nvCxnSpPr>
          <p:cNvPr id="270" name="꺾인 연결선 269"/>
          <p:cNvCxnSpPr>
            <a:stCxn id="266" idx="3"/>
            <a:endCxn id="267" idx="1"/>
          </p:cNvCxnSpPr>
          <p:nvPr/>
        </p:nvCxnSpPr>
        <p:spPr>
          <a:xfrm flipV="1">
            <a:off x="967848" y="5301758"/>
            <a:ext cx="153649" cy="20443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1" name="꺾인 연결선 270"/>
          <p:cNvCxnSpPr>
            <a:stCxn id="266" idx="3"/>
            <a:endCxn id="268" idx="1"/>
          </p:cNvCxnSpPr>
          <p:nvPr/>
        </p:nvCxnSpPr>
        <p:spPr>
          <a:xfrm flipV="1">
            <a:off x="967848" y="5497760"/>
            <a:ext cx="153649" cy="843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2" name="꺾인 연결선 271"/>
          <p:cNvCxnSpPr>
            <a:stCxn id="266" idx="3"/>
            <a:endCxn id="269" idx="1"/>
          </p:cNvCxnSpPr>
          <p:nvPr/>
        </p:nvCxnSpPr>
        <p:spPr>
          <a:xfrm>
            <a:off x="967848" y="5506195"/>
            <a:ext cx="153649" cy="18214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73" name="직사각형 272"/>
          <p:cNvSpPr/>
          <p:nvPr/>
        </p:nvSpPr>
        <p:spPr>
          <a:xfrm>
            <a:off x="3609544" y="4480740"/>
            <a:ext cx="669231" cy="249375"/>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solidFill>
                  <a:schemeClr val="accent3">
                    <a:lumMod val="50000"/>
                  </a:schemeClr>
                </a:solidFill>
              </a:rPr>
              <a:t>소송요건</a:t>
            </a:r>
            <a:endParaRPr lang="en-US" altLang="ko-KR" sz="1000" dirty="0">
              <a:solidFill>
                <a:schemeClr val="accent3">
                  <a:lumMod val="50000"/>
                </a:schemeClr>
              </a:solidFill>
            </a:endParaRPr>
          </a:p>
          <a:p>
            <a:pPr algn="ctr"/>
            <a:r>
              <a:rPr lang="en-US" altLang="ko-KR" sz="700" dirty="0">
                <a:solidFill>
                  <a:schemeClr val="accent3">
                    <a:lumMod val="50000"/>
                  </a:schemeClr>
                </a:solidFill>
              </a:rPr>
              <a:t>(</a:t>
            </a:r>
            <a:r>
              <a:rPr lang="ko-KR" altLang="en-US" sz="700" dirty="0">
                <a:solidFill>
                  <a:schemeClr val="accent3">
                    <a:lumMod val="50000"/>
                  </a:schemeClr>
                </a:solidFill>
              </a:rPr>
              <a:t>法 </a:t>
            </a:r>
            <a:r>
              <a:rPr lang="en-US" altLang="ko-KR" sz="700" dirty="0">
                <a:solidFill>
                  <a:schemeClr val="accent3">
                    <a:lumMod val="50000"/>
                  </a:schemeClr>
                </a:solidFill>
              </a:rPr>
              <a:t>186, 187)</a:t>
            </a:r>
            <a:endParaRPr lang="ko-KR" altLang="en-US" sz="700" dirty="0">
              <a:solidFill>
                <a:schemeClr val="accent3">
                  <a:lumMod val="50000"/>
                </a:schemeClr>
              </a:solidFill>
            </a:endParaRPr>
          </a:p>
        </p:txBody>
      </p:sp>
      <p:sp>
        <p:nvSpPr>
          <p:cNvPr id="274" name="직사각형 273"/>
          <p:cNvSpPr/>
          <p:nvPr/>
        </p:nvSpPr>
        <p:spPr>
          <a:xfrm>
            <a:off x="3609544" y="5109654"/>
            <a:ext cx="669231" cy="249375"/>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소송제기</a:t>
            </a:r>
          </a:p>
        </p:txBody>
      </p:sp>
      <p:sp>
        <p:nvSpPr>
          <p:cNvPr id="275" name="직사각형 274"/>
          <p:cNvSpPr/>
          <p:nvPr/>
        </p:nvSpPr>
        <p:spPr>
          <a:xfrm>
            <a:off x="3609544" y="5640678"/>
            <a:ext cx="669231" cy="249375"/>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소송심리</a:t>
            </a:r>
          </a:p>
        </p:txBody>
      </p:sp>
      <p:sp>
        <p:nvSpPr>
          <p:cNvPr id="276" name="직사각형 275"/>
          <p:cNvSpPr/>
          <p:nvPr/>
        </p:nvSpPr>
        <p:spPr>
          <a:xfrm>
            <a:off x="3609544" y="6249551"/>
            <a:ext cx="669231" cy="249375"/>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소송종료</a:t>
            </a:r>
          </a:p>
        </p:txBody>
      </p:sp>
      <p:cxnSp>
        <p:nvCxnSpPr>
          <p:cNvPr id="277" name="꺾인 연결선 276"/>
          <p:cNvCxnSpPr>
            <a:stCxn id="267" idx="3"/>
            <a:endCxn id="273" idx="1"/>
          </p:cNvCxnSpPr>
          <p:nvPr/>
        </p:nvCxnSpPr>
        <p:spPr>
          <a:xfrm flipV="1">
            <a:off x="3454709" y="4605428"/>
            <a:ext cx="154835" cy="696330"/>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8" name="꺾인 연결선 277"/>
          <p:cNvCxnSpPr>
            <a:stCxn id="267" idx="3"/>
            <a:endCxn id="276" idx="1"/>
          </p:cNvCxnSpPr>
          <p:nvPr/>
        </p:nvCxnSpPr>
        <p:spPr>
          <a:xfrm>
            <a:off x="3454709" y="5301758"/>
            <a:ext cx="154835" cy="1072481"/>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9" name="꺾인 연결선 278"/>
          <p:cNvCxnSpPr>
            <a:stCxn id="267" idx="3"/>
            <a:endCxn id="274" idx="1"/>
          </p:cNvCxnSpPr>
          <p:nvPr/>
        </p:nvCxnSpPr>
        <p:spPr>
          <a:xfrm flipV="1">
            <a:off x="3454709" y="5234342"/>
            <a:ext cx="154835" cy="6741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0" name="꺾인 연결선 279"/>
          <p:cNvCxnSpPr>
            <a:stCxn id="267" idx="3"/>
            <a:endCxn id="275" idx="1"/>
          </p:cNvCxnSpPr>
          <p:nvPr/>
        </p:nvCxnSpPr>
        <p:spPr>
          <a:xfrm>
            <a:off x="3454709" y="5301758"/>
            <a:ext cx="154835" cy="46360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1" name="꺾인 연결선 280"/>
          <p:cNvCxnSpPr>
            <a:stCxn id="273" idx="3"/>
            <a:endCxn id="297" idx="1"/>
          </p:cNvCxnSpPr>
          <p:nvPr/>
        </p:nvCxnSpPr>
        <p:spPr>
          <a:xfrm flipV="1">
            <a:off x="4278775" y="4489475"/>
            <a:ext cx="168733" cy="11595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2" name="꺾인 연결선 281"/>
          <p:cNvCxnSpPr>
            <a:stCxn id="274" idx="3"/>
            <a:endCxn id="298" idx="1"/>
          </p:cNvCxnSpPr>
          <p:nvPr/>
        </p:nvCxnSpPr>
        <p:spPr>
          <a:xfrm flipV="1">
            <a:off x="4278775" y="5070329"/>
            <a:ext cx="168733" cy="16401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3" name="꺾인 연결선 282"/>
          <p:cNvCxnSpPr>
            <a:stCxn id="274" idx="3"/>
            <a:endCxn id="299" idx="1"/>
          </p:cNvCxnSpPr>
          <p:nvPr/>
        </p:nvCxnSpPr>
        <p:spPr>
          <a:xfrm flipV="1">
            <a:off x="4278775" y="5234131"/>
            <a:ext cx="168733" cy="211"/>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4" name="꺾인 연결선 283"/>
          <p:cNvCxnSpPr>
            <a:stCxn id="275" idx="3"/>
            <a:endCxn id="300" idx="1"/>
          </p:cNvCxnSpPr>
          <p:nvPr/>
        </p:nvCxnSpPr>
        <p:spPr>
          <a:xfrm flipV="1">
            <a:off x="4278775" y="5762383"/>
            <a:ext cx="168733" cy="298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5" name="꺾인 연결선 284"/>
          <p:cNvCxnSpPr>
            <a:cxnSpLocks/>
            <a:stCxn id="275" idx="3"/>
            <a:endCxn id="301" idx="1"/>
          </p:cNvCxnSpPr>
          <p:nvPr/>
        </p:nvCxnSpPr>
        <p:spPr>
          <a:xfrm>
            <a:off x="4278775" y="5765366"/>
            <a:ext cx="168733" cy="24859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6" name="꺾인 연결선 285"/>
          <p:cNvCxnSpPr>
            <a:stCxn id="276" idx="3"/>
            <a:endCxn id="302" idx="1"/>
          </p:cNvCxnSpPr>
          <p:nvPr/>
        </p:nvCxnSpPr>
        <p:spPr>
          <a:xfrm flipV="1">
            <a:off x="4278775" y="6284664"/>
            <a:ext cx="168733" cy="8957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7" name="꺾인 연결선 286"/>
          <p:cNvCxnSpPr>
            <a:cxnSpLocks/>
            <a:stCxn id="276" idx="3"/>
            <a:endCxn id="303" idx="1"/>
          </p:cNvCxnSpPr>
          <p:nvPr/>
        </p:nvCxnSpPr>
        <p:spPr>
          <a:xfrm>
            <a:off x="4278775" y="6374239"/>
            <a:ext cx="168733" cy="174441"/>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9" name="직사각형 288"/>
          <p:cNvSpPr/>
          <p:nvPr/>
        </p:nvSpPr>
        <p:spPr>
          <a:xfrm>
            <a:off x="5954614" y="5228714"/>
            <a:ext cx="1396961" cy="328990"/>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변론주의 원칙</a:t>
            </a:r>
            <a:endParaRPr lang="en-US" altLang="ko-KR" sz="1000" dirty="0"/>
          </a:p>
          <a:p>
            <a:pPr algn="ctr"/>
            <a:r>
              <a:rPr lang="en-US" altLang="ko-KR" sz="1000" dirty="0"/>
              <a:t>(</a:t>
            </a:r>
            <a:r>
              <a:rPr lang="ko-KR" altLang="en-US" sz="1000" dirty="0"/>
              <a:t>직권주의 가미</a:t>
            </a:r>
            <a:r>
              <a:rPr lang="en-US" altLang="ko-KR" sz="1000" dirty="0"/>
              <a:t>)</a:t>
            </a:r>
            <a:endParaRPr lang="ko-KR" altLang="en-US" sz="1000" dirty="0"/>
          </a:p>
        </p:txBody>
      </p:sp>
      <p:sp>
        <p:nvSpPr>
          <p:cNvPr id="290" name="직사각형 289"/>
          <p:cNvSpPr/>
          <p:nvPr/>
        </p:nvSpPr>
        <p:spPr>
          <a:xfrm>
            <a:off x="5954614" y="5591097"/>
            <a:ext cx="1396961"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위법판단의 기준시점</a:t>
            </a:r>
          </a:p>
        </p:txBody>
      </p:sp>
      <p:sp>
        <p:nvSpPr>
          <p:cNvPr id="291" name="직사각형 290"/>
          <p:cNvSpPr/>
          <p:nvPr/>
        </p:nvSpPr>
        <p:spPr>
          <a:xfrm>
            <a:off x="5954614" y="5753241"/>
            <a:ext cx="1396961"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심리범위</a:t>
            </a:r>
          </a:p>
        </p:txBody>
      </p:sp>
      <p:sp>
        <p:nvSpPr>
          <p:cNvPr id="292" name="직사각형 291"/>
          <p:cNvSpPr/>
          <p:nvPr/>
        </p:nvSpPr>
        <p:spPr>
          <a:xfrm>
            <a:off x="5954614" y="5911001"/>
            <a:ext cx="1396961"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주장증명책임</a:t>
            </a:r>
          </a:p>
        </p:txBody>
      </p:sp>
      <p:sp>
        <p:nvSpPr>
          <p:cNvPr id="293" name="직사각형 292"/>
          <p:cNvSpPr/>
          <p:nvPr/>
        </p:nvSpPr>
        <p:spPr>
          <a:xfrm>
            <a:off x="5954614" y="6071372"/>
            <a:ext cx="1396961"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자백</a:t>
            </a:r>
          </a:p>
        </p:txBody>
      </p:sp>
      <p:sp>
        <p:nvSpPr>
          <p:cNvPr id="295" name="직사각형 294"/>
          <p:cNvSpPr/>
          <p:nvPr/>
        </p:nvSpPr>
        <p:spPr>
          <a:xfrm>
            <a:off x="4447508" y="4100527"/>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err="1"/>
              <a:t>소송물</a:t>
            </a:r>
            <a:endParaRPr lang="ko-KR" altLang="en-US" sz="1000" dirty="0"/>
          </a:p>
        </p:txBody>
      </p:sp>
      <p:sp>
        <p:nvSpPr>
          <p:cNvPr id="296" name="직사각형 295"/>
          <p:cNvSpPr/>
          <p:nvPr/>
        </p:nvSpPr>
        <p:spPr>
          <a:xfrm>
            <a:off x="4447508" y="4264329"/>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소의 이익</a:t>
            </a:r>
          </a:p>
        </p:txBody>
      </p:sp>
      <p:sp>
        <p:nvSpPr>
          <p:cNvPr id="297" name="직사각형 296"/>
          <p:cNvSpPr/>
          <p:nvPr/>
        </p:nvSpPr>
        <p:spPr>
          <a:xfrm>
            <a:off x="4447508" y="4425299"/>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관할</a:t>
            </a:r>
          </a:p>
        </p:txBody>
      </p:sp>
      <p:sp>
        <p:nvSpPr>
          <p:cNvPr id="298" name="직사각형 297"/>
          <p:cNvSpPr/>
          <p:nvPr/>
        </p:nvSpPr>
        <p:spPr>
          <a:xfrm>
            <a:off x="4447508" y="5006153"/>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소장의 제출</a:t>
            </a:r>
          </a:p>
        </p:txBody>
      </p:sp>
      <p:sp>
        <p:nvSpPr>
          <p:cNvPr id="299" name="직사각형 298"/>
          <p:cNvSpPr/>
          <p:nvPr/>
        </p:nvSpPr>
        <p:spPr>
          <a:xfrm>
            <a:off x="4447508" y="5169955"/>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solidFill>
                  <a:schemeClr val="tx1"/>
                </a:solidFill>
              </a:rPr>
              <a:t>심판원장에게 통지</a:t>
            </a:r>
            <a:r>
              <a:rPr lang="en-US" altLang="ko-KR" sz="600" dirty="0">
                <a:solidFill>
                  <a:schemeClr val="tx1"/>
                </a:solidFill>
              </a:rPr>
              <a:t>(</a:t>
            </a:r>
            <a:r>
              <a:rPr lang="ko-KR" altLang="en-US" sz="600" dirty="0">
                <a:solidFill>
                  <a:schemeClr val="tx1"/>
                </a:solidFill>
              </a:rPr>
              <a:t>法 </a:t>
            </a:r>
            <a:r>
              <a:rPr lang="en-US" altLang="ko-KR" sz="600" dirty="0">
                <a:solidFill>
                  <a:schemeClr val="tx1"/>
                </a:solidFill>
              </a:rPr>
              <a:t>188)</a:t>
            </a:r>
            <a:endParaRPr lang="en-US" altLang="ko-KR" sz="1000" dirty="0">
              <a:solidFill>
                <a:schemeClr val="tx1"/>
              </a:solidFill>
            </a:endParaRPr>
          </a:p>
        </p:txBody>
      </p:sp>
      <p:sp>
        <p:nvSpPr>
          <p:cNvPr id="300" name="직사각형 299"/>
          <p:cNvSpPr/>
          <p:nvPr/>
        </p:nvSpPr>
        <p:spPr>
          <a:xfrm>
            <a:off x="4447508" y="5698207"/>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err="1"/>
              <a:t>본안심리</a:t>
            </a:r>
            <a:endParaRPr lang="ko-KR" altLang="en-US" sz="1000" dirty="0"/>
          </a:p>
        </p:txBody>
      </p:sp>
      <p:sp>
        <p:nvSpPr>
          <p:cNvPr id="301" name="직사각형 300"/>
          <p:cNvSpPr/>
          <p:nvPr/>
        </p:nvSpPr>
        <p:spPr>
          <a:xfrm>
            <a:off x="4447508" y="5859952"/>
            <a:ext cx="1380067" cy="308020"/>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solidFill>
                  <a:schemeClr val="tx1"/>
                </a:solidFill>
              </a:rPr>
              <a:t>기술심리관의 관여</a:t>
            </a:r>
            <a:endParaRPr lang="en-US" altLang="ko-KR" sz="1000" dirty="0">
              <a:solidFill>
                <a:schemeClr val="tx1"/>
              </a:solidFill>
            </a:endParaRPr>
          </a:p>
          <a:p>
            <a:pPr algn="ctr"/>
            <a:r>
              <a:rPr lang="en-US" altLang="ko-KR" sz="800" dirty="0">
                <a:solidFill>
                  <a:schemeClr val="tx1"/>
                </a:solidFill>
              </a:rPr>
              <a:t>(</a:t>
            </a:r>
            <a:r>
              <a:rPr lang="ko-KR" altLang="en-US" sz="800" dirty="0">
                <a:solidFill>
                  <a:schemeClr val="tx1"/>
                </a:solidFill>
              </a:rPr>
              <a:t>法 </a:t>
            </a:r>
            <a:r>
              <a:rPr lang="en-US" altLang="ko-KR" sz="800" dirty="0">
                <a:solidFill>
                  <a:schemeClr val="tx1"/>
                </a:solidFill>
              </a:rPr>
              <a:t>188</a:t>
            </a:r>
            <a:r>
              <a:rPr lang="ko-KR" altLang="en-US" sz="800" dirty="0">
                <a:solidFill>
                  <a:schemeClr val="tx1"/>
                </a:solidFill>
              </a:rPr>
              <a:t>의</a:t>
            </a:r>
            <a:r>
              <a:rPr lang="en-US" altLang="ko-KR" sz="800" dirty="0">
                <a:solidFill>
                  <a:schemeClr val="tx1"/>
                </a:solidFill>
              </a:rPr>
              <a:t>2)</a:t>
            </a:r>
            <a:endParaRPr lang="ko-KR" altLang="en-US" sz="1000" dirty="0">
              <a:solidFill>
                <a:schemeClr val="tx1"/>
              </a:solidFill>
            </a:endParaRPr>
          </a:p>
        </p:txBody>
      </p:sp>
      <p:sp>
        <p:nvSpPr>
          <p:cNvPr id="302" name="직사각형 301"/>
          <p:cNvSpPr/>
          <p:nvPr/>
        </p:nvSpPr>
        <p:spPr>
          <a:xfrm>
            <a:off x="4447508" y="6220488"/>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당사자에 의한 종결</a:t>
            </a:r>
          </a:p>
        </p:txBody>
      </p:sp>
      <p:sp>
        <p:nvSpPr>
          <p:cNvPr id="303" name="직사각형 302"/>
          <p:cNvSpPr/>
          <p:nvPr/>
        </p:nvSpPr>
        <p:spPr>
          <a:xfrm>
            <a:off x="4447508" y="6382234"/>
            <a:ext cx="1380067" cy="33289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solidFill>
                  <a:schemeClr val="tx1"/>
                </a:solidFill>
              </a:rPr>
              <a:t>종국판결에 의한 종결</a:t>
            </a:r>
            <a:endParaRPr lang="en-US" altLang="ko-KR" sz="1000" dirty="0">
              <a:solidFill>
                <a:schemeClr val="tx1"/>
              </a:solidFill>
            </a:endParaRPr>
          </a:p>
          <a:p>
            <a:pPr algn="ctr"/>
            <a:r>
              <a:rPr lang="en-US" altLang="ko-KR" sz="800" dirty="0">
                <a:solidFill>
                  <a:schemeClr val="tx1"/>
                </a:solidFill>
              </a:rPr>
              <a:t>(</a:t>
            </a:r>
            <a:r>
              <a:rPr lang="ko-KR" altLang="en-US" sz="800" dirty="0">
                <a:solidFill>
                  <a:schemeClr val="tx1"/>
                </a:solidFill>
              </a:rPr>
              <a:t>法 </a:t>
            </a:r>
            <a:r>
              <a:rPr lang="en-US" altLang="ko-KR" sz="800" dirty="0">
                <a:solidFill>
                  <a:schemeClr val="tx1"/>
                </a:solidFill>
              </a:rPr>
              <a:t>189)</a:t>
            </a:r>
            <a:endParaRPr lang="ko-KR" altLang="en-US" sz="1000" dirty="0">
              <a:solidFill>
                <a:schemeClr val="tx1"/>
              </a:solidFill>
            </a:endParaRPr>
          </a:p>
        </p:txBody>
      </p:sp>
      <p:sp>
        <p:nvSpPr>
          <p:cNvPr id="304" name="직사각형 303"/>
          <p:cNvSpPr/>
          <p:nvPr/>
        </p:nvSpPr>
        <p:spPr>
          <a:xfrm>
            <a:off x="4447508" y="4594038"/>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당사자</a:t>
            </a:r>
          </a:p>
        </p:txBody>
      </p:sp>
      <p:sp>
        <p:nvSpPr>
          <p:cNvPr id="305" name="직사각형 304"/>
          <p:cNvSpPr/>
          <p:nvPr/>
        </p:nvSpPr>
        <p:spPr>
          <a:xfrm>
            <a:off x="4447508" y="5541835"/>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소송요건의 심리</a:t>
            </a:r>
            <a:endParaRPr lang="en-US" altLang="ko-KR" sz="1000" dirty="0"/>
          </a:p>
        </p:txBody>
      </p:sp>
      <p:sp>
        <p:nvSpPr>
          <p:cNvPr id="306" name="직사각형 305"/>
          <p:cNvSpPr/>
          <p:nvPr/>
        </p:nvSpPr>
        <p:spPr>
          <a:xfrm>
            <a:off x="4447508" y="5338441"/>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소장의 심사</a:t>
            </a:r>
            <a:endParaRPr lang="en-US" altLang="ko-KR" sz="1000" dirty="0"/>
          </a:p>
        </p:txBody>
      </p:sp>
      <p:sp>
        <p:nvSpPr>
          <p:cNvPr id="307" name="직사각형 306"/>
          <p:cNvSpPr/>
          <p:nvPr/>
        </p:nvSpPr>
        <p:spPr>
          <a:xfrm>
            <a:off x="4447508" y="4764128"/>
            <a:ext cx="1380067" cy="128351"/>
          </a:xfrm>
          <a:prstGeom prst="rect">
            <a:avLst/>
          </a:prstGeom>
          <a:solidFill>
            <a:schemeClr val="accent1">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t>제소기간</a:t>
            </a:r>
          </a:p>
        </p:txBody>
      </p:sp>
      <p:cxnSp>
        <p:nvCxnSpPr>
          <p:cNvPr id="309" name="꺾인 연결선 308"/>
          <p:cNvCxnSpPr>
            <a:stCxn id="273" idx="3"/>
            <a:endCxn id="304" idx="1"/>
          </p:cNvCxnSpPr>
          <p:nvPr/>
        </p:nvCxnSpPr>
        <p:spPr>
          <a:xfrm>
            <a:off x="4278775" y="4605428"/>
            <a:ext cx="168733" cy="5278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0" name="꺾인 연결선 309"/>
          <p:cNvCxnSpPr>
            <a:stCxn id="273" idx="3"/>
            <a:endCxn id="307" idx="1"/>
          </p:cNvCxnSpPr>
          <p:nvPr/>
        </p:nvCxnSpPr>
        <p:spPr>
          <a:xfrm>
            <a:off x="4278775" y="4605428"/>
            <a:ext cx="168733" cy="22287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1" name="꺾인 연결선 310"/>
          <p:cNvCxnSpPr>
            <a:stCxn id="274" idx="3"/>
            <a:endCxn id="306" idx="1"/>
          </p:cNvCxnSpPr>
          <p:nvPr/>
        </p:nvCxnSpPr>
        <p:spPr>
          <a:xfrm>
            <a:off x="4278775" y="5234342"/>
            <a:ext cx="168733" cy="16827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2" name="꺾인 연결선 311"/>
          <p:cNvCxnSpPr>
            <a:stCxn id="275" idx="3"/>
            <a:endCxn id="305" idx="1"/>
          </p:cNvCxnSpPr>
          <p:nvPr/>
        </p:nvCxnSpPr>
        <p:spPr>
          <a:xfrm flipV="1">
            <a:off x="4278775" y="5606011"/>
            <a:ext cx="168733" cy="15935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3" name="꺾인 연결선 312"/>
          <p:cNvCxnSpPr>
            <a:stCxn id="300" idx="3"/>
            <a:endCxn id="289" idx="1"/>
          </p:cNvCxnSpPr>
          <p:nvPr/>
        </p:nvCxnSpPr>
        <p:spPr>
          <a:xfrm flipV="1">
            <a:off x="5827575" y="5393209"/>
            <a:ext cx="127039" cy="369174"/>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4" name="꺾인 연결선 313"/>
          <p:cNvCxnSpPr>
            <a:stCxn id="300" idx="3"/>
            <a:endCxn id="290" idx="1"/>
          </p:cNvCxnSpPr>
          <p:nvPr/>
        </p:nvCxnSpPr>
        <p:spPr>
          <a:xfrm flipV="1">
            <a:off x="5827575" y="5655273"/>
            <a:ext cx="127039" cy="10711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5" name="꺾인 연결선 314"/>
          <p:cNvCxnSpPr>
            <a:stCxn id="300" idx="3"/>
            <a:endCxn id="291" idx="1"/>
          </p:cNvCxnSpPr>
          <p:nvPr/>
        </p:nvCxnSpPr>
        <p:spPr>
          <a:xfrm>
            <a:off x="5827575" y="5762383"/>
            <a:ext cx="127039" cy="55034"/>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6" name="꺾인 연결선 315"/>
          <p:cNvCxnSpPr>
            <a:stCxn id="300" idx="3"/>
            <a:endCxn id="292" idx="1"/>
          </p:cNvCxnSpPr>
          <p:nvPr/>
        </p:nvCxnSpPr>
        <p:spPr>
          <a:xfrm>
            <a:off x="5827575" y="5762383"/>
            <a:ext cx="127039" cy="212794"/>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17" name="꺾인 연결선 316"/>
          <p:cNvCxnSpPr>
            <a:endCxn id="293" idx="1"/>
          </p:cNvCxnSpPr>
          <p:nvPr/>
        </p:nvCxnSpPr>
        <p:spPr>
          <a:xfrm rot="16200000" flipH="1">
            <a:off x="5802218" y="5983152"/>
            <a:ext cx="293982" cy="10810"/>
          </a:xfrm>
          <a:prstGeom prst="bentConnector2">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18" name="직사각형 317"/>
          <p:cNvSpPr/>
          <p:nvPr/>
        </p:nvSpPr>
        <p:spPr>
          <a:xfrm>
            <a:off x="6103431" y="3574465"/>
            <a:ext cx="914400" cy="914400"/>
          </a:xfrm>
          <a:prstGeom prst="rect">
            <a:avLst/>
          </a:prstGeom>
          <a:solidFill>
            <a:schemeClr val="accent4"/>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t>특허법</a:t>
            </a:r>
            <a:endParaRPr lang="en-US" altLang="ko-KR" dirty="0"/>
          </a:p>
          <a:p>
            <a:pPr algn="ctr"/>
            <a:r>
              <a:rPr lang="ko-KR" altLang="en-US" dirty="0"/>
              <a:t>체계도</a:t>
            </a:r>
          </a:p>
        </p:txBody>
      </p:sp>
      <p:sp>
        <p:nvSpPr>
          <p:cNvPr id="319" name="타원 318"/>
          <p:cNvSpPr/>
          <p:nvPr/>
        </p:nvSpPr>
        <p:spPr>
          <a:xfrm>
            <a:off x="322118" y="2686891"/>
            <a:ext cx="363427" cy="3634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5</a:t>
            </a:r>
            <a:endParaRPr lang="ko-KR" altLang="en-US" dirty="0"/>
          </a:p>
        </p:txBody>
      </p:sp>
      <p:sp>
        <p:nvSpPr>
          <p:cNvPr id="320" name="타원 319"/>
          <p:cNvSpPr/>
          <p:nvPr/>
        </p:nvSpPr>
        <p:spPr>
          <a:xfrm>
            <a:off x="262164" y="5316045"/>
            <a:ext cx="363427" cy="3634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7</a:t>
            </a:r>
            <a:endParaRPr lang="ko-KR" altLang="en-US" dirty="0"/>
          </a:p>
        </p:txBody>
      </p:sp>
      <p:sp>
        <p:nvSpPr>
          <p:cNvPr id="321" name="타원 320"/>
          <p:cNvSpPr/>
          <p:nvPr/>
        </p:nvSpPr>
        <p:spPr>
          <a:xfrm>
            <a:off x="7873581" y="5757616"/>
            <a:ext cx="363427" cy="3634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8</a:t>
            </a:r>
            <a:endParaRPr lang="ko-KR" altLang="en-US" dirty="0"/>
          </a:p>
        </p:txBody>
      </p:sp>
      <p:sp>
        <p:nvSpPr>
          <p:cNvPr id="322" name="타원 321"/>
          <p:cNvSpPr/>
          <p:nvPr/>
        </p:nvSpPr>
        <p:spPr>
          <a:xfrm>
            <a:off x="6772900" y="2666961"/>
            <a:ext cx="363427" cy="3634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6</a:t>
            </a:r>
            <a:endParaRPr lang="ko-KR" altLang="en-US" dirty="0"/>
          </a:p>
        </p:txBody>
      </p:sp>
      <p:sp>
        <p:nvSpPr>
          <p:cNvPr id="323" name="자유형 322"/>
          <p:cNvSpPr/>
          <p:nvPr/>
        </p:nvSpPr>
        <p:spPr>
          <a:xfrm>
            <a:off x="523875" y="3059642"/>
            <a:ext cx="5571067" cy="1845733"/>
          </a:xfrm>
          <a:custGeom>
            <a:avLst/>
            <a:gdLst>
              <a:gd name="connsiteX0" fmla="*/ 5571067 w 5571067"/>
              <a:gd name="connsiteY0" fmla="*/ 872066 h 1845733"/>
              <a:gd name="connsiteX1" fmla="*/ 3708400 w 5571067"/>
              <a:gd name="connsiteY1" fmla="*/ 872066 h 1845733"/>
              <a:gd name="connsiteX2" fmla="*/ 3708400 w 5571067"/>
              <a:gd name="connsiteY2" fmla="*/ 1244600 h 1845733"/>
              <a:gd name="connsiteX3" fmla="*/ 2853267 w 5571067"/>
              <a:gd name="connsiteY3" fmla="*/ 1244600 h 1845733"/>
              <a:gd name="connsiteX4" fmla="*/ 2853267 w 5571067"/>
              <a:gd name="connsiteY4" fmla="*/ 1845733 h 1845733"/>
              <a:gd name="connsiteX5" fmla="*/ 0 w 5571067"/>
              <a:gd name="connsiteY5" fmla="*/ 1845733 h 1845733"/>
              <a:gd name="connsiteX6" fmla="*/ 0 w 5571067"/>
              <a:gd name="connsiteY6" fmla="*/ 0 h 18457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571067" h="1845733">
                <a:moveTo>
                  <a:pt x="5571067" y="872066"/>
                </a:moveTo>
                <a:lnTo>
                  <a:pt x="3708400" y="872066"/>
                </a:lnTo>
                <a:lnTo>
                  <a:pt x="3708400" y="1244600"/>
                </a:lnTo>
                <a:lnTo>
                  <a:pt x="2853267" y="1244600"/>
                </a:lnTo>
                <a:lnTo>
                  <a:pt x="2853267" y="1845733"/>
                </a:lnTo>
                <a:lnTo>
                  <a:pt x="0" y="1845733"/>
                </a:lnTo>
                <a:lnTo>
                  <a:pt x="0" y="0"/>
                </a:lnTo>
              </a:path>
            </a:pathLst>
          </a:cu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24" name="자유형 323"/>
          <p:cNvSpPr/>
          <p:nvPr/>
        </p:nvSpPr>
        <p:spPr>
          <a:xfrm>
            <a:off x="422275" y="4905375"/>
            <a:ext cx="84667" cy="397933"/>
          </a:xfrm>
          <a:custGeom>
            <a:avLst/>
            <a:gdLst>
              <a:gd name="connsiteX0" fmla="*/ 84667 w 84667"/>
              <a:gd name="connsiteY0" fmla="*/ 0 h 397933"/>
              <a:gd name="connsiteX1" fmla="*/ 0 w 84667"/>
              <a:gd name="connsiteY1" fmla="*/ 0 h 397933"/>
              <a:gd name="connsiteX2" fmla="*/ 0 w 84667"/>
              <a:gd name="connsiteY2" fmla="*/ 397933 h 397933"/>
            </a:gdLst>
            <a:ahLst/>
            <a:cxnLst>
              <a:cxn ang="0">
                <a:pos x="connsiteX0" y="connsiteY0"/>
              </a:cxn>
              <a:cxn ang="0">
                <a:pos x="connsiteX1" y="connsiteY1"/>
              </a:cxn>
              <a:cxn ang="0">
                <a:pos x="connsiteX2" y="connsiteY2"/>
              </a:cxn>
            </a:cxnLst>
            <a:rect l="l" t="t" r="r" b="b"/>
            <a:pathLst>
              <a:path w="84667" h="397933">
                <a:moveTo>
                  <a:pt x="84667" y="0"/>
                </a:moveTo>
                <a:lnTo>
                  <a:pt x="0" y="0"/>
                </a:lnTo>
                <a:lnTo>
                  <a:pt x="0" y="397933"/>
                </a:lnTo>
              </a:path>
            </a:pathLst>
          </a:cu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25" name="자유형 324"/>
          <p:cNvSpPr/>
          <p:nvPr/>
        </p:nvSpPr>
        <p:spPr>
          <a:xfrm>
            <a:off x="6569075" y="2839508"/>
            <a:ext cx="186267" cy="745067"/>
          </a:xfrm>
          <a:custGeom>
            <a:avLst/>
            <a:gdLst>
              <a:gd name="connsiteX0" fmla="*/ 0 w 186267"/>
              <a:gd name="connsiteY0" fmla="*/ 745067 h 745067"/>
              <a:gd name="connsiteX1" fmla="*/ 0 w 186267"/>
              <a:gd name="connsiteY1" fmla="*/ 745067 h 745067"/>
              <a:gd name="connsiteX2" fmla="*/ 0 w 186267"/>
              <a:gd name="connsiteY2" fmla="*/ 0 h 745067"/>
              <a:gd name="connsiteX3" fmla="*/ 186267 w 186267"/>
              <a:gd name="connsiteY3" fmla="*/ 0 h 745067"/>
            </a:gdLst>
            <a:ahLst/>
            <a:cxnLst>
              <a:cxn ang="0">
                <a:pos x="connsiteX0" y="connsiteY0"/>
              </a:cxn>
              <a:cxn ang="0">
                <a:pos x="connsiteX1" y="connsiteY1"/>
              </a:cxn>
              <a:cxn ang="0">
                <a:pos x="connsiteX2" y="connsiteY2"/>
              </a:cxn>
              <a:cxn ang="0">
                <a:pos x="connsiteX3" y="connsiteY3"/>
              </a:cxn>
            </a:cxnLst>
            <a:rect l="l" t="t" r="r" b="b"/>
            <a:pathLst>
              <a:path w="186267" h="745067">
                <a:moveTo>
                  <a:pt x="0" y="745067"/>
                </a:moveTo>
                <a:lnTo>
                  <a:pt x="0" y="745067"/>
                </a:lnTo>
                <a:lnTo>
                  <a:pt x="0" y="0"/>
                </a:lnTo>
                <a:lnTo>
                  <a:pt x="186267" y="0"/>
                </a:lnTo>
              </a:path>
            </a:pathLst>
          </a:cu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326" name="자유형 325"/>
          <p:cNvSpPr/>
          <p:nvPr/>
        </p:nvSpPr>
        <p:spPr>
          <a:xfrm>
            <a:off x="6577542" y="4498975"/>
            <a:ext cx="1498600" cy="1244600"/>
          </a:xfrm>
          <a:custGeom>
            <a:avLst/>
            <a:gdLst>
              <a:gd name="connsiteX0" fmla="*/ 0 w 1498600"/>
              <a:gd name="connsiteY0" fmla="*/ 0 h 1244600"/>
              <a:gd name="connsiteX1" fmla="*/ 0 w 1498600"/>
              <a:gd name="connsiteY1" fmla="*/ 423333 h 1244600"/>
              <a:gd name="connsiteX2" fmla="*/ 1498600 w 1498600"/>
              <a:gd name="connsiteY2" fmla="*/ 423333 h 1244600"/>
              <a:gd name="connsiteX3" fmla="*/ 1498600 w 1498600"/>
              <a:gd name="connsiteY3" fmla="*/ 1244600 h 1244600"/>
            </a:gdLst>
            <a:ahLst/>
            <a:cxnLst>
              <a:cxn ang="0">
                <a:pos x="connsiteX0" y="connsiteY0"/>
              </a:cxn>
              <a:cxn ang="0">
                <a:pos x="connsiteX1" y="connsiteY1"/>
              </a:cxn>
              <a:cxn ang="0">
                <a:pos x="connsiteX2" y="connsiteY2"/>
              </a:cxn>
              <a:cxn ang="0">
                <a:pos x="connsiteX3" y="connsiteY3"/>
              </a:cxn>
            </a:cxnLst>
            <a:rect l="l" t="t" r="r" b="b"/>
            <a:pathLst>
              <a:path w="1498600" h="1244600">
                <a:moveTo>
                  <a:pt x="0" y="0"/>
                </a:moveTo>
                <a:lnTo>
                  <a:pt x="0" y="423333"/>
                </a:lnTo>
                <a:lnTo>
                  <a:pt x="1498600" y="423333"/>
                </a:lnTo>
                <a:lnTo>
                  <a:pt x="1498600" y="1244600"/>
                </a:lnTo>
              </a:path>
            </a:pathLst>
          </a:custGeom>
          <a:ln w="57150">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294" name="직사각형 293">
            <a:extLst>
              <a:ext uri="{FF2B5EF4-FFF2-40B4-BE49-F238E27FC236}">
                <a16:creationId xmlns:a16="http://schemas.microsoft.com/office/drawing/2014/main" id="{9B6DE0DF-BFFF-497F-9FD1-C58A8CA97621}"/>
              </a:ext>
            </a:extLst>
          </p:cNvPr>
          <p:cNvSpPr/>
          <p:nvPr/>
        </p:nvSpPr>
        <p:spPr>
          <a:xfrm>
            <a:off x="8500191" y="3384273"/>
            <a:ext cx="710030" cy="171015"/>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관련</a:t>
            </a:r>
          </a:p>
        </p:txBody>
      </p:sp>
      <p:sp>
        <p:nvSpPr>
          <p:cNvPr id="327" name="직사각형 326">
            <a:extLst>
              <a:ext uri="{FF2B5EF4-FFF2-40B4-BE49-F238E27FC236}">
                <a16:creationId xmlns:a16="http://schemas.microsoft.com/office/drawing/2014/main" id="{A6BC253F-D9C4-4A98-984C-D8D62D28E8E9}"/>
              </a:ext>
            </a:extLst>
          </p:cNvPr>
          <p:cNvSpPr/>
          <p:nvPr/>
        </p:nvSpPr>
        <p:spPr>
          <a:xfrm>
            <a:off x="9363869" y="3290897"/>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타절차와의 관계</a:t>
            </a:r>
            <a:r>
              <a:rPr lang="en-US" altLang="ko-KR" sz="1000" dirty="0"/>
              <a:t>(</a:t>
            </a:r>
            <a:r>
              <a:rPr lang="ko-KR" altLang="en-US" sz="1000" dirty="0"/>
              <a:t>法 </a:t>
            </a:r>
            <a:r>
              <a:rPr lang="en-US" altLang="ko-KR" sz="1000" dirty="0"/>
              <a:t>164)</a:t>
            </a:r>
            <a:endParaRPr lang="ko-KR" altLang="en-US" sz="1000" dirty="0"/>
          </a:p>
        </p:txBody>
      </p:sp>
      <p:sp>
        <p:nvSpPr>
          <p:cNvPr id="328" name="직사각형 327">
            <a:extLst>
              <a:ext uri="{FF2B5EF4-FFF2-40B4-BE49-F238E27FC236}">
                <a16:creationId xmlns:a16="http://schemas.microsoft.com/office/drawing/2014/main" id="{855EA2A3-2862-42AE-AC8B-FB8E8761530B}"/>
              </a:ext>
            </a:extLst>
          </p:cNvPr>
          <p:cNvSpPr/>
          <p:nvPr/>
        </p:nvSpPr>
        <p:spPr>
          <a:xfrm>
            <a:off x="9363869" y="3720622"/>
            <a:ext cx="2333212" cy="138557"/>
          </a:xfrm>
          <a:prstGeom prst="rect">
            <a:avLst/>
          </a:prstGeom>
          <a:solidFill>
            <a:schemeClr val="accent6">
              <a:lumMod val="20000"/>
              <a:lumOff val="80000"/>
            </a:schemeClr>
          </a:solidFill>
          <a:ln w="3175">
            <a:solidFill>
              <a:schemeClr val="tx1">
                <a:lumMod val="50000"/>
                <a:lumOff val="50000"/>
              </a:schemeClr>
            </a:solidFill>
          </a:ln>
        </p:spPr>
        <p:style>
          <a:lnRef idx="2">
            <a:schemeClr val="accent1"/>
          </a:lnRef>
          <a:fillRef idx="1">
            <a:schemeClr val="lt1"/>
          </a:fillRef>
          <a:effectRef idx="0">
            <a:schemeClr val="accent1"/>
          </a:effectRef>
          <a:fontRef idx="minor">
            <a:schemeClr val="dk1"/>
          </a:fontRef>
        </p:style>
        <p:txBody>
          <a:bodyPr lIns="0" rIns="0" rtlCol="0" anchor="ctr"/>
          <a:lstStyle/>
          <a:p>
            <a:pPr algn="ctr"/>
            <a:r>
              <a:rPr lang="ko-KR" altLang="en-US" sz="1000" dirty="0"/>
              <a:t>심판비용</a:t>
            </a:r>
            <a:r>
              <a:rPr lang="en-US" altLang="ko-KR" sz="1000" dirty="0"/>
              <a:t>(</a:t>
            </a:r>
            <a:r>
              <a:rPr lang="ko-KR" altLang="en-US" sz="1000" dirty="0"/>
              <a:t>法 </a:t>
            </a:r>
            <a:r>
              <a:rPr lang="en-US" altLang="ko-KR" sz="1000" dirty="0"/>
              <a:t>165, 166)</a:t>
            </a:r>
            <a:endParaRPr lang="ko-KR" altLang="en-US" sz="1000" dirty="0"/>
          </a:p>
        </p:txBody>
      </p:sp>
      <p:cxnSp>
        <p:nvCxnSpPr>
          <p:cNvPr id="329" name="꺾인 연결선 244">
            <a:extLst>
              <a:ext uri="{FF2B5EF4-FFF2-40B4-BE49-F238E27FC236}">
                <a16:creationId xmlns:a16="http://schemas.microsoft.com/office/drawing/2014/main" id="{A54F89B3-B4E9-4E0A-BB23-C1DB0F7A25D8}"/>
              </a:ext>
            </a:extLst>
          </p:cNvPr>
          <p:cNvCxnSpPr>
            <a:cxnSpLocks/>
            <a:stCxn id="294" idx="3"/>
            <a:endCxn id="308" idx="1"/>
          </p:cNvCxnSpPr>
          <p:nvPr/>
        </p:nvCxnSpPr>
        <p:spPr>
          <a:xfrm>
            <a:off x="9210221" y="3469781"/>
            <a:ext cx="151225" cy="10774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0" name="꺾인 연결선 245">
            <a:extLst>
              <a:ext uri="{FF2B5EF4-FFF2-40B4-BE49-F238E27FC236}">
                <a16:creationId xmlns:a16="http://schemas.microsoft.com/office/drawing/2014/main" id="{48543D6B-7C92-4D3D-B213-6D84DC780C17}"/>
              </a:ext>
            </a:extLst>
          </p:cNvPr>
          <p:cNvCxnSpPr>
            <a:cxnSpLocks/>
            <a:stCxn id="294" idx="3"/>
            <a:endCxn id="328" idx="1"/>
          </p:cNvCxnSpPr>
          <p:nvPr/>
        </p:nvCxnSpPr>
        <p:spPr>
          <a:xfrm>
            <a:off x="9210221" y="3469781"/>
            <a:ext cx="153648" cy="32012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 name="연결선: 꺾임 6">
            <a:extLst>
              <a:ext uri="{FF2B5EF4-FFF2-40B4-BE49-F238E27FC236}">
                <a16:creationId xmlns:a16="http://schemas.microsoft.com/office/drawing/2014/main" id="{B370871F-6F80-4244-8543-0634A44D09BD}"/>
              </a:ext>
            </a:extLst>
          </p:cNvPr>
          <p:cNvCxnSpPr>
            <a:stCxn id="205" idx="3"/>
            <a:endCxn id="294" idx="1"/>
          </p:cNvCxnSpPr>
          <p:nvPr/>
        </p:nvCxnSpPr>
        <p:spPr>
          <a:xfrm>
            <a:off x="8336650" y="2489931"/>
            <a:ext cx="163541" cy="979850"/>
          </a:xfrm>
          <a:prstGeom prst="bentConnector3">
            <a:avLst/>
          </a:prstGeom>
          <a:ln w="12700">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8" name="직사각형 287">
            <a:extLst>
              <a:ext uri="{FF2B5EF4-FFF2-40B4-BE49-F238E27FC236}">
                <a16:creationId xmlns:a16="http://schemas.microsoft.com/office/drawing/2014/main" id="{CCF75EB5-ACDA-45AD-A3D7-EAD9647556E3}"/>
              </a:ext>
            </a:extLst>
          </p:cNvPr>
          <p:cNvSpPr/>
          <p:nvPr/>
        </p:nvSpPr>
        <p:spPr>
          <a:xfrm>
            <a:off x="9358843" y="1365202"/>
            <a:ext cx="2333212" cy="288480"/>
          </a:xfrm>
          <a:prstGeom prst="rect">
            <a:avLst/>
          </a:prstGeom>
          <a:solidFill>
            <a:schemeClr val="accent6">
              <a:lumMod val="20000"/>
              <a:lumOff val="80000"/>
            </a:schemeClr>
          </a:solidFill>
          <a:ln w="6350">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solidFill>
                  <a:schemeClr val="tx1"/>
                </a:solidFill>
              </a:rPr>
              <a:t>국선대리인</a:t>
            </a:r>
            <a:r>
              <a:rPr lang="en-US" altLang="ko-KR" sz="1000" dirty="0">
                <a:solidFill>
                  <a:schemeClr val="tx1"/>
                </a:solidFill>
              </a:rPr>
              <a:t>, </a:t>
            </a:r>
            <a:r>
              <a:rPr lang="ko-KR" altLang="en-US" sz="1000" dirty="0">
                <a:solidFill>
                  <a:schemeClr val="tx1"/>
                </a:solidFill>
              </a:rPr>
              <a:t>전문심리위원 및 참고인</a:t>
            </a:r>
            <a:endParaRPr lang="en-US" altLang="ko-KR" sz="1000" dirty="0">
              <a:solidFill>
                <a:schemeClr val="tx1"/>
              </a:solidFill>
            </a:endParaRPr>
          </a:p>
          <a:p>
            <a:pPr algn="ctr"/>
            <a:r>
              <a:rPr lang="en-US" altLang="ko-KR" sz="900" dirty="0">
                <a:solidFill>
                  <a:schemeClr val="tx1"/>
                </a:solidFill>
              </a:rPr>
              <a:t>(</a:t>
            </a:r>
            <a:r>
              <a:rPr lang="ko-KR" altLang="en-US" sz="900" dirty="0">
                <a:solidFill>
                  <a:schemeClr val="tx1"/>
                </a:solidFill>
              </a:rPr>
              <a:t>法 </a:t>
            </a:r>
            <a:r>
              <a:rPr lang="en-US" altLang="ko-KR" sz="900" dirty="0">
                <a:solidFill>
                  <a:schemeClr val="tx1"/>
                </a:solidFill>
              </a:rPr>
              <a:t>139</a:t>
            </a:r>
            <a:r>
              <a:rPr lang="ko-KR" altLang="en-US" sz="900" dirty="0">
                <a:solidFill>
                  <a:schemeClr val="tx1"/>
                </a:solidFill>
              </a:rPr>
              <a:t>의</a:t>
            </a:r>
            <a:r>
              <a:rPr lang="en-US" altLang="ko-KR" sz="900" dirty="0">
                <a:solidFill>
                  <a:schemeClr val="tx1"/>
                </a:solidFill>
              </a:rPr>
              <a:t>2, 154</a:t>
            </a:r>
            <a:r>
              <a:rPr lang="ko-KR" altLang="en-US" sz="900" dirty="0">
                <a:solidFill>
                  <a:schemeClr val="tx1"/>
                </a:solidFill>
              </a:rPr>
              <a:t>의</a:t>
            </a:r>
            <a:r>
              <a:rPr lang="en-US" altLang="ko-KR" sz="900" dirty="0">
                <a:solidFill>
                  <a:schemeClr val="tx1"/>
                </a:solidFill>
              </a:rPr>
              <a:t>2, 154</a:t>
            </a:r>
            <a:r>
              <a:rPr lang="ko-KR" altLang="en-US" sz="900" dirty="0">
                <a:solidFill>
                  <a:schemeClr val="tx1"/>
                </a:solidFill>
              </a:rPr>
              <a:t>의</a:t>
            </a:r>
            <a:r>
              <a:rPr lang="en-US" altLang="ko-KR" sz="900" dirty="0">
                <a:solidFill>
                  <a:schemeClr val="tx1"/>
                </a:solidFill>
              </a:rPr>
              <a:t>3)</a:t>
            </a:r>
            <a:endParaRPr lang="ko-KR" altLang="en-US" sz="1100" dirty="0">
              <a:solidFill>
                <a:schemeClr val="tx1"/>
              </a:solidFill>
            </a:endParaRPr>
          </a:p>
        </p:txBody>
      </p:sp>
      <p:sp>
        <p:nvSpPr>
          <p:cNvPr id="308" name="직사각형 307">
            <a:extLst>
              <a:ext uri="{FF2B5EF4-FFF2-40B4-BE49-F238E27FC236}">
                <a16:creationId xmlns:a16="http://schemas.microsoft.com/office/drawing/2014/main" id="{FBCE5317-4D8A-4C1C-92B6-ECD14431C289}"/>
              </a:ext>
            </a:extLst>
          </p:cNvPr>
          <p:cNvSpPr/>
          <p:nvPr/>
        </p:nvSpPr>
        <p:spPr>
          <a:xfrm>
            <a:off x="9361446" y="3486404"/>
            <a:ext cx="2330609" cy="182239"/>
          </a:xfrm>
          <a:prstGeom prst="rect">
            <a:avLst/>
          </a:prstGeom>
          <a:solidFill>
            <a:schemeClr val="accent6">
              <a:lumMod val="20000"/>
              <a:lumOff val="80000"/>
            </a:schemeClr>
          </a:solidFill>
          <a:ln w="6350">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r>
              <a:rPr lang="ko-KR" altLang="en-US" sz="1000" dirty="0">
                <a:solidFill>
                  <a:schemeClr val="tx1"/>
                </a:solidFill>
              </a:rPr>
              <a:t>조정위원회 회부</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164</a:t>
            </a:r>
            <a:r>
              <a:rPr lang="ko-KR" altLang="en-US" sz="1000" dirty="0">
                <a:solidFill>
                  <a:schemeClr val="tx1"/>
                </a:solidFill>
              </a:rPr>
              <a:t>의</a:t>
            </a:r>
            <a:r>
              <a:rPr lang="en-US" altLang="ko-KR" sz="1000" dirty="0">
                <a:solidFill>
                  <a:schemeClr val="tx1"/>
                </a:solidFill>
              </a:rPr>
              <a:t>2)</a:t>
            </a:r>
            <a:endParaRPr lang="ko-KR" altLang="en-US" sz="1000" dirty="0">
              <a:solidFill>
                <a:schemeClr val="tx1"/>
              </a:solidFill>
            </a:endParaRPr>
          </a:p>
        </p:txBody>
      </p:sp>
      <p:cxnSp>
        <p:nvCxnSpPr>
          <p:cNvPr id="331" name="꺾인 연결선 245">
            <a:extLst>
              <a:ext uri="{FF2B5EF4-FFF2-40B4-BE49-F238E27FC236}">
                <a16:creationId xmlns:a16="http://schemas.microsoft.com/office/drawing/2014/main" id="{8272E89B-C399-461C-82CA-028F1E621707}"/>
              </a:ext>
            </a:extLst>
          </p:cNvPr>
          <p:cNvCxnSpPr>
            <a:cxnSpLocks/>
            <a:stCxn id="294" idx="3"/>
            <a:endCxn id="327" idx="1"/>
          </p:cNvCxnSpPr>
          <p:nvPr/>
        </p:nvCxnSpPr>
        <p:spPr>
          <a:xfrm flipV="1">
            <a:off x="9210221" y="3360176"/>
            <a:ext cx="153648" cy="10960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18183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1</a:t>
            </a:r>
            <a:r>
              <a:rPr lang="ko-KR" altLang="en-US" dirty="0"/>
              <a:t>조</a:t>
            </a:r>
          </a:p>
        </p:txBody>
      </p:sp>
      <p:sp>
        <p:nvSpPr>
          <p:cNvPr id="4" name="텍스트 개체 틀 3"/>
          <p:cNvSpPr>
            <a:spLocks noGrp="1"/>
          </p:cNvSpPr>
          <p:nvPr>
            <p:ph type="body" sz="quarter" idx="13"/>
          </p:nvPr>
        </p:nvSpPr>
        <p:spPr/>
        <p:txBody>
          <a:bodyPr/>
          <a:lstStyle/>
          <a:p>
            <a:r>
              <a:rPr lang="ko-KR" altLang="en-US" dirty="0"/>
              <a:t>지식재산권의 분류</a:t>
            </a:r>
          </a:p>
        </p:txBody>
      </p:sp>
      <p:sp>
        <p:nvSpPr>
          <p:cNvPr id="7" name="TextBox 6"/>
          <p:cNvSpPr txBox="1"/>
          <p:nvPr/>
        </p:nvSpPr>
        <p:spPr>
          <a:xfrm>
            <a:off x="77875" y="986046"/>
            <a:ext cx="11936323" cy="1600438"/>
          </a:xfrm>
          <a:prstGeom prst="rect">
            <a:avLst/>
          </a:prstGeom>
          <a:noFill/>
        </p:spPr>
        <p:txBody>
          <a:bodyPr wrap="square" rtlCol="0">
            <a:spAutoFit/>
          </a:bodyPr>
          <a:lstStyle/>
          <a:p>
            <a:pPr fontAlgn="base"/>
            <a:r>
              <a:rPr lang="ko-KR" altLang="en-US" sz="1400" dirty="0">
                <a:solidFill>
                  <a:schemeClr val="tx2"/>
                </a:solidFill>
              </a:rPr>
              <a:t>기존의 전통적인 분류에 의하면 지식재산권은 보호의 목적에 따라</a:t>
            </a:r>
            <a:r>
              <a:rPr lang="ko-KR" altLang="en-US" sz="1400" dirty="0"/>
              <a:t> </a:t>
            </a:r>
            <a:r>
              <a:rPr lang="ko-KR" altLang="en-US" sz="1400" dirty="0">
                <a:highlight>
                  <a:srgbClr val="FFFF00"/>
                </a:highlight>
              </a:rPr>
              <a:t>산업발전에 이바지할 수 있는 창작물 등을 객체로 하는 권리인  산업재산권과 문화 및 관련 산업의 향상발전에 이바지할 수 있는 창작물을 객체로 하는 권리인 저작권</a:t>
            </a:r>
            <a:r>
              <a:rPr lang="ko-KR" altLang="en-US" sz="1400" dirty="0"/>
              <a:t>으로</a:t>
            </a:r>
            <a:r>
              <a:rPr lang="ko-KR" altLang="en-US" sz="1400" dirty="0">
                <a:solidFill>
                  <a:schemeClr val="tx2"/>
                </a:solidFill>
              </a:rPr>
              <a:t> 구별된다</a:t>
            </a:r>
            <a:r>
              <a:rPr lang="en-US" altLang="ko-KR" sz="1400" dirty="0">
                <a:solidFill>
                  <a:schemeClr val="tx2"/>
                </a:solidFill>
              </a:rPr>
              <a:t>.  </a:t>
            </a:r>
            <a:r>
              <a:rPr lang="ko-KR" altLang="en-US" sz="1400" dirty="0">
                <a:solidFill>
                  <a:schemeClr val="tx2"/>
                </a:solidFill>
              </a:rPr>
              <a:t>산업재산권</a:t>
            </a:r>
            <a:r>
              <a:rPr lang="en-US" altLang="ko-KR" sz="1400" dirty="0">
                <a:solidFill>
                  <a:schemeClr val="tx2"/>
                </a:solidFill>
              </a:rPr>
              <a:t>(Industrial property)</a:t>
            </a:r>
            <a:r>
              <a:rPr lang="ko-KR" altLang="en-US" sz="1400" dirty="0">
                <a:solidFill>
                  <a:schemeClr val="tx2"/>
                </a:solidFill>
              </a:rPr>
              <a:t>은 발명</a:t>
            </a:r>
            <a:r>
              <a:rPr lang="en-US" altLang="ko-KR" sz="1400" dirty="0">
                <a:solidFill>
                  <a:schemeClr val="tx2"/>
                </a:solidFill>
              </a:rPr>
              <a:t>, </a:t>
            </a:r>
            <a:r>
              <a:rPr lang="ko-KR" altLang="en-US" sz="1400" dirty="0">
                <a:solidFill>
                  <a:schemeClr val="tx2"/>
                </a:solidFill>
              </a:rPr>
              <a:t>고안</a:t>
            </a:r>
            <a:r>
              <a:rPr lang="en-US" altLang="ko-KR" sz="1400" dirty="0">
                <a:solidFill>
                  <a:schemeClr val="tx2"/>
                </a:solidFill>
              </a:rPr>
              <a:t>, </a:t>
            </a:r>
            <a:r>
              <a:rPr lang="ko-KR" altLang="en-US" sz="1400" dirty="0">
                <a:solidFill>
                  <a:schemeClr val="tx2"/>
                </a:solidFill>
              </a:rPr>
              <a:t>디자인</a:t>
            </a:r>
            <a:r>
              <a:rPr lang="en-US" altLang="ko-KR" sz="1400" dirty="0">
                <a:solidFill>
                  <a:schemeClr val="tx2"/>
                </a:solidFill>
              </a:rPr>
              <a:t>, </a:t>
            </a:r>
            <a:r>
              <a:rPr lang="ko-KR" altLang="en-US" sz="1400" dirty="0">
                <a:solidFill>
                  <a:schemeClr val="tx2"/>
                </a:solidFill>
              </a:rPr>
              <a:t>상표 등을 보호하는 권리인 특허권</a:t>
            </a:r>
            <a:r>
              <a:rPr lang="en-US" altLang="ko-KR" sz="1400" dirty="0">
                <a:solidFill>
                  <a:schemeClr val="tx2"/>
                </a:solidFill>
              </a:rPr>
              <a:t>, </a:t>
            </a:r>
            <a:r>
              <a:rPr lang="ko-KR" altLang="en-US" sz="1400" dirty="0" err="1">
                <a:solidFill>
                  <a:schemeClr val="tx2"/>
                </a:solidFill>
              </a:rPr>
              <a:t>실용신안권</a:t>
            </a:r>
            <a:r>
              <a:rPr lang="en-US" altLang="ko-KR" sz="1400" dirty="0">
                <a:solidFill>
                  <a:schemeClr val="tx2"/>
                </a:solidFill>
              </a:rPr>
              <a:t>, </a:t>
            </a:r>
            <a:r>
              <a:rPr lang="ko-KR" altLang="en-US" sz="1400" dirty="0" err="1">
                <a:solidFill>
                  <a:schemeClr val="tx2"/>
                </a:solidFill>
              </a:rPr>
              <a:t>디자인권</a:t>
            </a:r>
            <a:r>
              <a:rPr lang="en-US" altLang="ko-KR" sz="1400" dirty="0">
                <a:solidFill>
                  <a:schemeClr val="tx2"/>
                </a:solidFill>
              </a:rPr>
              <a:t>, </a:t>
            </a:r>
            <a:r>
              <a:rPr lang="ko-KR" altLang="en-US" sz="1400" dirty="0">
                <a:solidFill>
                  <a:schemeClr val="tx2"/>
                </a:solidFill>
              </a:rPr>
              <a:t>상표권으로 다시 분류할 수 있다</a:t>
            </a:r>
            <a:r>
              <a:rPr lang="en-US" altLang="ko-KR" sz="1400" dirty="0">
                <a:solidFill>
                  <a:schemeClr val="tx2"/>
                </a:solidFill>
              </a:rPr>
              <a:t>. </a:t>
            </a:r>
          </a:p>
          <a:p>
            <a:pPr fontAlgn="base"/>
            <a:r>
              <a:rPr lang="ko-KR" altLang="en-US" sz="1400" dirty="0">
                <a:solidFill>
                  <a:schemeClr val="tx2"/>
                </a:solidFill>
              </a:rPr>
              <a:t>한편</a:t>
            </a:r>
            <a:r>
              <a:rPr lang="en-US" altLang="ko-KR" sz="1400" dirty="0">
                <a:solidFill>
                  <a:schemeClr val="tx2"/>
                </a:solidFill>
              </a:rPr>
              <a:t>, </a:t>
            </a:r>
            <a:r>
              <a:rPr lang="ko-KR" altLang="en-US" sz="1400" dirty="0">
                <a:solidFill>
                  <a:schemeClr val="tx2"/>
                </a:solidFill>
              </a:rPr>
              <a:t>지식재산권의 보호 객체인 지식재산은 그 개념이 고정되어 있다기보다는 </a:t>
            </a:r>
            <a:r>
              <a:rPr lang="ko-KR" altLang="en-US" sz="1400" dirty="0" err="1">
                <a:solidFill>
                  <a:schemeClr val="tx2"/>
                </a:solidFill>
              </a:rPr>
              <a:t>경제ㆍ사회</a:t>
            </a:r>
            <a:r>
              <a:rPr lang="ko-KR" altLang="en-US" sz="1400" dirty="0">
                <a:solidFill>
                  <a:schemeClr val="tx2"/>
                </a:solidFill>
              </a:rPr>
              <a:t> 또는 문화의 변화나 과학기술의 발전에 따라 그 외연이 점차 확대되어 종래와는 다른 새로운 개념</a:t>
            </a:r>
            <a:r>
              <a:rPr lang="en-US" altLang="ko-KR" sz="1400" dirty="0">
                <a:solidFill>
                  <a:schemeClr val="tx2"/>
                </a:solidFill>
              </a:rPr>
              <a:t>(</a:t>
            </a:r>
            <a:r>
              <a:rPr lang="ko-KR" altLang="en-US" sz="1400" dirty="0">
                <a:solidFill>
                  <a:schemeClr val="tx2"/>
                </a:solidFill>
              </a:rPr>
              <a:t>예를 들어</a:t>
            </a:r>
            <a:r>
              <a:rPr lang="en-US" altLang="ko-KR" sz="1400" dirty="0">
                <a:solidFill>
                  <a:schemeClr val="tx2"/>
                </a:solidFill>
              </a:rPr>
              <a:t>, </a:t>
            </a:r>
            <a:r>
              <a:rPr lang="ko-KR" altLang="en-US" sz="1400" dirty="0">
                <a:solidFill>
                  <a:schemeClr val="tx2"/>
                </a:solidFill>
              </a:rPr>
              <a:t>컴퓨터 프로그램</a:t>
            </a:r>
            <a:r>
              <a:rPr lang="en-US" altLang="ko-KR" sz="1400" dirty="0">
                <a:solidFill>
                  <a:schemeClr val="tx2"/>
                </a:solidFill>
              </a:rPr>
              <a:t>, </a:t>
            </a:r>
            <a:r>
              <a:rPr lang="ko-KR" altLang="en-US" sz="1400" dirty="0">
                <a:solidFill>
                  <a:schemeClr val="tx2"/>
                </a:solidFill>
              </a:rPr>
              <a:t>반도체 </a:t>
            </a:r>
            <a:r>
              <a:rPr lang="ko-KR" altLang="en-US" sz="1400" dirty="0" err="1">
                <a:solidFill>
                  <a:schemeClr val="tx2"/>
                </a:solidFill>
              </a:rPr>
              <a:t>배치설계</a:t>
            </a:r>
            <a:r>
              <a:rPr lang="en-US" altLang="ko-KR" sz="1400" dirty="0">
                <a:solidFill>
                  <a:schemeClr val="tx2"/>
                </a:solidFill>
              </a:rPr>
              <a:t>, </a:t>
            </a:r>
            <a:r>
              <a:rPr lang="ko-KR" altLang="en-US" sz="1400" dirty="0" err="1">
                <a:solidFill>
                  <a:schemeClr val="tx2"/>
                </a:solidFill>
              </a:rPr>
              <a:t>식물신품종</a:t>
            </a:r>
            <a:r>
              <a:rPr lang="en-US" altLang="ko-KR" sz="1400" dirty="0">
                <a:solidFill>
                  <a:schemeClr val="tx2"/>
                </a:solidFill>
              </a:rPr>
              <a:t>, </a:t>
            </a:r>
            <a:r>
              <a:rPr lang="ko-KR" altLang="en-US" sz="1400" dirty="0">
                <a:solidFill>
                  <a:schemeClr val="tx2"/>
                </a:solidFill>
              </a:rPr>
              <a:t>데이터베이스 등</a:t>
            </a:r>
            <a:r>
              <a:rPr lang="en-US" altLang="ko-KR" sz="1400" dirty="0">
                <a:solidFill>
                  <a:schemeClr val="tx2"/>
                </a:solidFill>
              </a:rPr>
              <a:t>)</a:t>
            </a:r>
            <a:r>
              <a:rPr lang="ko-KR" altLang="en-US" sz="1400" dirty="0">
                <a:solidFill>
                  <a:schemeClr val="tx2"/>
                </a:solidFill>
              </a:rPr>
              <a:t>에서의 보호되어야 할 </a:t>
            </a:r>
            <a:r>
              <a:rPr lang="ko-KR" altLang="en-US" sz="1400" dirty="0">
                <a:solidFill>
                  <a:schemeClr val="tx2"/>
                </a:solidFill>
                <a:highlight>
                  <a:srgbClr val="FFFF00"/>
                </a:highlight>
              </a:rPr>
              <a:t>지식재산이 등장</a:t>
            </a:r>
            <a:r>
              <a:rPr lang="ko-KR" altLang="en-US" sz="1400" dirty="0">
                <a:solidFill>
                  <a:schemeClr val="tx2"/>
                </a:solidFill>
              </a:rPr>
              <a:t>하고 있다</a:t>
            </a:r>
            <a:r>
              <a:rPr lang="en-US" altLang="ko-KR" sz="1400" dirty="0">
                <a:solidFill>
                  <a:schemeClr val="tx2"/>
                </a:solidFill>
              </a:rPr>
              <a:t>. </a:t>
            </a:r>
            <a:r>
              <a:rPr lang="ko-KR" altLang="en-US" sz="1400" dirty="0">
                <a:solidFill>
                  <a:schemeClr val="tx2"/>
                </a:solidFill>
              </a:rPr>
              <a:t>이러한</a:t>
            </a:r>
            <a:r>
              <a:rPr lang="ko-KR" altLang="en-US" sz="1400" dirty="0">
                <a:solidFill>
                  <a:srgbClr val="FF0000"/>
                </a:solidFill>
              </a:rPr>
              <a:t> </a:t>
            </a:r>
            <a:r>
              <a:rPr lang="ko-KR" altLang="en-US" sz="1400" dirty="0">
                <a:highlight>
                  <a:srgbClr val="FFFF00"/>
                </a:highlight>
              </a:rPr>
              <a:t>새로운 지식재산에 대해서는 기존의 전통적인 권리의 테두리 안에서 보호하거나 새로운 법을 제정하여 권리로써 보호</a:t>
            </a:r>
            <a:r>
              <a:rPr lang="ko-KR" altLang="en-US" sz="1400" dirty="0">
                <a:solidFill>
                  <a:schemeClr val="tx2"/>
                </a:solidFill>
              </a:rPr>
              <a:t>하려는 노력을 하고 있으며</a:t>
            </a:r>
            <a:r>
              <a:rPr lang="en-US" altLang="ko-KR" sz="1400" dirty="0">
                <a:solidFill>
                  <a:schemeClr val="tx2"/>
                </a:solidFill>
              </a:rPr>
              <a:t>, </a:t>
            </a:r>
            <a:r>
              <a:rPr lang="ko-KR" altLang="en-US" sz="1400" dirty="0">
                <a:solidFill>
                  <a:schemeClr val="tx2"/>
                </a:solidFill>
              </a:rPr>
              <a:t>이를 </a:t>
            </a:r>
            <a:r>
              <a:rPr lang="ko-KR" altLang="en-US" sz="1400" dirty="0" err="1">
                <a:highlight>
                  <a:srgbClr val="FFFF00"/>
                </a:highlight>
              </a:rPr>
              <a:t>신지식재산권</a:t>
            </a:r>
            <a:r>
              <a:rPr lang="ko-KR" altLang="en-US" sz="1400" dirty="0" err="1">
                <a:solidFill>
                  <a:schemeClr val="tx2"/>
                </a:solidFill>
              </a:rPr>
              <a:t>이라고</a:t>
            </a:r>
            <a:r>
              <a:rPr lang="ko-KR" altLang="en-US" sz="1400" dirty="0">
                <a:solidFill>
                  <a:schemeClr val="tx2"/>
                </a:solidFill>
              </a:rPr>
              <a:t> 부르고 있다</a:t>
            </a:r>
            <a:r>
              <a:rPr lang="en-US" altLang="ko-KR" sz="1400" dirty="0">
                <a:solidFill>
                  <a:schemeClr val="tx2"/>
                </a:solidFill>
              </a:rPr>
              <a:t>.</a:t>
            </a:r>
            <a:endParaRPr lang="ko-KR" altLang="en-US" sz="1400" dirty="0">
              <a:solidFill>
                <a:schemeClr val="tx2"/>
              </a:solidFill>
            </a:endParaRPr>
          </a:p>
        </p:txBody>
      </p:sp>
      <p:cxnSp>
        <p:nvCxnSpPr>
          <p:cNvPr id="51" name="직선 연결선 50"/>
          <p:cNvCxnSpPr/>
          <p:nvPr/>
        </p:nvCxnSpPr>
        <p:spPr>
          <a:xfrm>
            <a:off x="0" y="2581796"/>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3</a:t>
            </a:fld>
            <a:endParaRPr lang="ko-KR" altLang="en-US"/>
          </a:p>
        </p:txBody>
      </p:sp>
      <p:grpSp>
        <p:nvGrpSpPr>
          <p:cNvPr id="6" name="그룹 5">
            <a:extLst>
              <a:ext uri="{FF2B5EF4-FFF2-40B4-BE49-F238E27FC236}">
                <a16:creationId xmlns:a16="http://schemas.microsoft.com/office/drawing/2014/main" id="{18D7B69C-D921-73FA-B396-961EE0AA7BA3}"/>
              </a:ext>
            </a:extLst>
          </p:cNvPr>
          <p:cNvGrpSpPr/>
          <p:nvPr/>
        </p:nvGrpSpPr>
        <p:grpSpPr>
          <a:xfrm>
            <a:off x="839215" y="2787777"/>
            <a:ext cx="10257337" cy="3792441"/>
            <a:chOff x="839215" y="2787777"/>
            <a:chExt cx="10257337" cy="3792441"/>
          </a:xfrm>
        </p:grpSpPr>
        <p:sp>
          <p:nvSpPr>
            <p:cNvPr id="22" name="직사각형 21"/>
            <p:cNvSpPr/>
            <p:nvPr/>
          </p:nvSpPr>
          <p:spPr>
            <a:xfrm>
              <a:off x="839215" y="4227203"/>
              <a:ext cx="977349" cy="310662"/>
            </a:xfrm>
            <a:prstGeom prst="rect">
              <a:avLst/>
            </a:prstGeom>
            <a:solidFill>
              <a:schemeClr val="bg2">
                <a:lumMod val="1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00" b="1" dirty="0">
                  <a:latin typeface="+mn-ea"/>
                </a:rPr>
                <a:t>지식재산의 보호</a:t>
              </a:r>
            </a:p>
          </p:txBody>
        </p:sp>
        <p:sp>
          <p:nvSpPr>
            <p:cNvPr id="75" name="직사각형 74">
              <a:extLst>
                <a:ext uri="{FF2B5EF4-FFF2-40B4-BE49-F238E27FC236}">
                  <a16:creationId xmlns:a16="http://schemas.microsoft.com/office/drawing/2014/main" id="{36B2A593-A252-44A0-A412-2DD08C8C335E}"/>
                </a:ext>
              </a:extLst>
            </p:cNvPr>
            <p:cNvSpPr/>
            <p:nvPr/>
          </p:nvSpPr>
          <p:spPr>
            <a:xfrm>
              <a:off x="2209581" y="3525329"/>
              <a:ext cx="511193" cy="461719"/>
            </a:xfrm>
            <a:prstGeom prst="rect">
              <a:avLst/>
            </a:prstGeom>
            <a:solidFill>
              <a:schemeClr val="bg2">
                <a:lumMod val="1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00" b="1" dirty="0">
                  <a:latin typeface="+mn-ea"/>
                </a:rPr>
                <a:t>권리</a:t>
              </a:r>
              <a:endParaRPr lang="en-US" altLang="ko-KR" sz="1000" b="1" dirty="0">
                <a:latin typeface="+mn-ea"/>
              </a:endParaRPr>
            </a:p>
            <a:p>
              <a:pPr algn="ctr"/>
              <a:r>
                <a:rPr lang="ko-KR" altLang="en-US" sz="1000" b="1" dirty="0">
                  <a:latin typeface="+mn-ea"/>
                </a:rPr>
                <a:t>부여</a:t>
              </a:r>
            </a:p>
          </p:txBody>
        </p:sp>
        <p:sp>
          <p:nvSpPr>
            <p:cNvPr id="76" name="직사각형 75">
              <a:extLst>
                <a:ext uri="{FF2B5EF4-FFF2-40B4-BE49-F238E27FC236}">
                  <a16:creationId xmlns:a16="http://schemas.microsoft.com/office/drawing/2014/main" id="{5C48899C-FC8E-48C6-A2B7-64357D38482C}"/>
                </a:ext>
              </a:extLst>
            </p:cNvPr>
            <p:cNvSpPr/>
            <p:nvPr/>
          </p:nvSpPr>
          <p:spPr>
            <a:xfrm>
              <a:off x="2209581" y="5951060"/>
              <a:ext cx="511193" cy="461719"/>
            </a:xfrm>
            <a:prstGeom prst="rect">
              <a:avLst/>
            </a:prstGeom>
            <a:solidFill>
              <a:schemeClr val="bg2">
                <a:lumMod val="1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00" b="1" dirty="0">
                  <a:latin typeface="+mn-ea"/>
                </a:rPr>
                <a:t>행위</a:t>
              </a:r>
              <a:endParaRPr lang="en-US" altLang="ko-KR" sz="1000" b="1" dirty="0">
                <a:latin typeface="+mn-ea"/>
              </a:endParaRPr>
            </a:p>
            <a:p>
              <a:pPr algn="ctr"/>
              <a:r>
                <a:rPr lang="ko-KR" altLang="en-US" sz="1000" b="1" dirty="0">
                  <a:latin typeface="+mn-ea"/>
                </a:rPr>
                <a:t>규제</a:t>
              </a:r>
            </a:p>
          </p:txBody>
        </p:sp>
        <p:cxnSp>
          <p:nvCxnSpPr>
            <p:cNvPr id="77" name="연결선: 꺾임 76">
              <a:extLst>
                <a:ext uri="{FF2B5EF4-FFF2-40B4-BE49-F238E27FC236}">
                  <a16:creationId xmlns:a16="http://schemas.microsoft.com/office/drawing/2014/main" id="{F6516EE3-0222-4715-83CF-720CC80D18E2}"/>
                </a:ext>
              </a:extLst>
            </p:cNvPr>
            <p:cNvCxnSpPr>
              <a:cxnSpLocks/>
              <a:stCxn id="22" idx="3"/>
              <a:endCxn id="75" idx="1"/>
            </p:cNvCxnSpPr>
            <p:nvPr/>
          </p:nvCxnSpPr>
          <p:spPr>
            <a:xfrm flipV="1">
              <a:off x="1816564" y="3756189"/>
              <a:ext cx="393017" cy="62634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연결선: 꺾임 78">
              <a:extLst>
                <a:ext uri="{FF2B5EF4-FFF2-40B4-BE49-F238E27FC236}">
                  <a16:creationId xmlns:a16="http://schemas.microsoft.com/office/drawing/2014/main" id="{628BBD52-B5D5-4BA3-B0A5-1955583D919C}"/>
                </a:ext>
              </a:extLst>
            </p:cNvPr>
            <p:cNvCxnSpPr>
              <a:cxnSpLocks/>
              <a:stCxn id="22" idx="3"/>
              <a:endCxn id="76" idx="1"/>
            </p:cNvCxnSpPr>
            <p:nvPr/>
          </p:nvCxnSpPr>
          <p:spPr>
            <a:xfrm>
              <a:off x="1816564" y="4382534"/>
              <a:ext cx="393017" cy="1799386"/>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nvGrpSpPr>
            <p:cNvPr id="58" name="그룹 57"/>
            <p:cNvGrpSpPr/>
            <p:nvPr/>
          </p:nvGrpSpPr>
          <p:grpSpPr>
            <a:xfrm flipH="1">
              <a:off x="7637568" y="5548854"/>
              <a:ext cx="45719" cy="218202"/>
              <a:chOff x="2474392" y="6228804"/>
              <a:chExt cx="144016" cy="504056"/>
            </a:xfrm>
          </p:grpSpPr>
          <p:sp>
            <p:nvSpPr>
              <p:cNvPr id="52" name="타원 51"/>
              <p:cNvSpPr/>
              <p:nvPr/>
            </p:nvSpPr>
            <p:spPr>
              <a:xfrm>
                <a:off x="2474392" y="6228804"/>
                <a:ext cx="144016" cy="144016"/>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3" name="타원 52"/>
              <p:cNvSpPr/>
              <p:nvPr/>
            </p:nvSpPr>
            <p:spPr>
              <a:xfrm>
                <a:off x="2474392" y="6406687"/>
                <a:ext cx="144016" cy="144016"/>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4" name="타원 53"/>
              <p:cNvSpPr/>
              <p:nvPr/>
            </p:nvSpPr>
            <p:spPr>
              <a:xfrm>
                <a:off x="2474392" y="6588844"/>
                <a:ext cx="144016" cy="144016"/>
              </a:xfrm>
              <a:prstGeom prst="ellipse">
                <a:avLst/>
              </a:prstGeom>
              <a:solidFill>
                <a:schemeClr val="bg1">
                  <a:lumMod val="8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15" name="직사각형 14"/>
            <p:cNvSpPr/>
            <p:nvPr/>
          </p:nvSpPr>
          <p:spPr>
            <a:xfrm>
              <a:off x="3370092" y="3926061"/>
              <a:ext cx="1121820" cy="248238"/>
            </a:xfrm>
            <a:prstGeom prst="rect">
              <a:avLst/>
            </a:prstGeom>
            <a:solidFill>
              <a:schemeClr val="accent6">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저작권</a:t>
              </a:r>
              <a:endParaRPr lang="ko-KR" altLang="en-US" sz="600" dirty="0">
                <a:solidFill>
                  <a:schemeClr val="bg1"/>
                </a:solidFill>
                <a:latin typeface="+mn-ea"/>
              </a:endParaRPr>
            </a:p>
          </p:txBody>
        </p:sp>
        <p:sp>
          <p:nvSpPr>
            <p:cNvPr id="20" name="직사각형 19"/>
            <p:cNvSpPr/>
            <p:nvPr/>
          </p:nvSpPr>
          <p:spPr>
            <a:xfrm>
              <a:off x="3370092" y="2973174"/>
              <a:ext cx="1121820" cy="248238"/>
            </a:xfrm>
            <a:prstGeom prst="rect">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산업재산권</a:t>
              </a:r>
            </a:p>
          </p:txBody>
        </p:sp>
        <p:sp>
          <p:nvSpPr>
            <p:cNvPr id="21" name="직사각형 20"/>
            <p:cNvSpPr/>
            <p:nvPr/>
          </p:nvSpPr>
          <p:spPr>
            <a:xfrm>
              <a:off x="3370092" y="4555276"/>
              <a:ext cx="1121820" cy="248238"/>
            </a:xfrm>
            <a:prstGeom prst="rect">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신지식재산권</a:t>
              </a:r>
            </a:p>
          </p:txBody>
        </p:sp>
        <p:sp>
          <p:nvSpPr>
            <p:cNvPr id="11" name="직사각형 10"/>
            <p:cNvSpPr/>
            <p:nvPr/>
          </p:nvSpPr>
          <p:spPr>
            <a:xfrm>
              <a:off x="4743672" y="2787777"/>
              <a:ext cx="1675182" cy="212283"/>
            </a:xfrm>
            <a:prstGeom prst="rect">
              <a:avLst/>
            </a:prstGeom>
            <a:solidFill>
              <a:schemeClr val="accent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특허권</a:t>
              </a:r>
              <a:endParaRPr lang="ko-KR" altLang="en-US" sz="600" dirty="0">
                <a:solidFill>
                  <a:schemeClr val="bg1"/>
                </a:solidFill>
                <a:latin typeface="+mn-ea"/>
              </a:endParaRPr>
            </a:p>
          </p:txBody>
        </p:sp>
        <p:sp>
          <p:nvSpPr>
            <p:cNvPr id="12" name="직사각형 11"/>
            <p:cNvSpPr/>
            <p:nvPr/>
          </p:nvSpPr>
          <p:spPr>
            <a:xfrm>
              <a:off x="4743672" y="3069017"/>
              <a:ext cx="1675182" cy="212283"/>
            </a:xfrm>
            <a:prstGeom prst="rect">
              <a:avLst/>
            </a:prstGeom>
            <a:solidFill>
              <a:schemeClr val="accent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err="1">
                  <a:solidFill>
                    <a:schemeClr val="bg1"/>
                  </a:solidFill>
                  <a:latin typeface="+mn-ea"/>
                </a:rPr>
                <a:t>실용신안권</a:t>
              </a:r>
              <a:endParaRPr lang="ko-KR" altLang="en-US" sz="1050" dirty="0">
                <a:solidFill>
                  <a:schemeClr val="bg1"/>
                </a:solidFill>
                <a:latin typeface="+mn-ea"/>
              </a:endParaRPr>
            </a:p>
          </p:txBody>
        </p:sp>
        <p:sp>
          <p:nvSpPr>
            <p:cNvPr id="13" name="직사각형 12"/>
            <p:cNvSpPr/>
            <p:nvPr/>
          </p:nvSpPr>
          <p:spPr>
            <a:xfrm>
              <a:off x="4743672" y="3350256"/>
              <a:ext cx="1675182" cy="212283"/>
            </a:xfrm>
            <a:prstGeom prst="rect">
              <a:avLst/>
            </a:prstGeom>
            <a:solidFill>
              <a:schemeClr val="accent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err="1">
                  <a:solidFill>
                    <a:schemeClr val="bg1"/>
                  </a:solidFill>
                  <a:latin typeface="+mn-ea"/>
                </a:rPr>
                <a:t>디자인권</a:t>
              </a:r>
              <a:endParaRPr lang="ko-KR" altLang="en-US" sz="1050" dirty="0">
                <a:solidFill>
                  <a:schemeClr val="bg1"/>
                </a:solidFill>
                <a:latin typeface="+mn-ea"/>
              </a:endParaRPr>
            </a:p>
          </p:txBody>
        </p:sp>
        <p:sp>
          <p:nvSpPr>
            <p:cNvPr id="14" name="직사각형 13"/>
            <p:cNvSpPr/>
            <p:nvPr/>
          </p:nvSpPr>
          <p:spPr>
            <a:xfrm>
              <a:off x="4743672" y="3631495"/>
              <a:ext cx="1675182" cy="212283"/>
            </a:xfrm>
            <a:prstGeom prst="rect">
              <a:avLst/>
            </a:prstGeom>
            <a:solidFill>
              <a:schemeClr val="accent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상표권</a:t>
              </a:r>
              <a:r>
                <a:rPr lang="en-US" altLang="ko-KR" sz="1050" dirty="0">
                  <a:solidFill>
                    <a:schemeClr val="bg1"/>
                  </a:solidFill>
                  <a:latin typeface="+mn-ea"/>
                </a:rPr>
                <a:t>(</a:t>
              </a:r>
              <a:r>
                <a:rPr lang="ko-KR" altLang="en-US" sz="1050" dirty="0" err="1">
                  <a:solidFill>
                    <a:schemeClr val="bg1"/>
                  </a:solidFill>
                  <a:latin typeface="+mn-ea"/>
                </a:rPr>
                <a:t>서비스권</a:t>
              </a:r>
              <a:r>
                <a:rPr lang="en-US" altLang="ko-KR" sz="1050" dirty="0">
                  <a:solidFill>
                    <a:schemeClr val="bg1"/>
                  </a:solidFill>
                  <a:latin typeface="+mn-ea"/>
                </a:rPr>
                <a:t>)</a:t>
              </a:r>
              <a:endParaRPr lang="ko-KR" altLang="en-US" sz="1050" dirty="0">
                <a:solidFill>
                  <a:schemeClr val="bg1"/>
                </a:solidFill>
                <a:latin typeface="+mn-ea"/>
              </a:endParaRPr>
            </a:p>
          </p:txBody>
        </p:sp>
        <p:sp>
          <p:nvSpPr>
            <p:cNvPr id="17" name="직사각형 16"/>
            <p:cNvSpPr/>
            <p:nvPr/>
          </p:nvSpPr>
          <p:spPr>
            <a:xfrm>
              <a:off x="4779886" y="4259678"/>
              <a:ext cx="1675182" cy="212283"/>
            </a:xfrm>
            <a:prstGeom prst="rect">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저작권</a:t>
              </a:r>
              <a:endParaRPr lang="ko-KR" altLang="en-US" sz="600" dirty="0">
                <a:solidFill>
                  <a:schemeClr val="bg1"/>
                </a:solidFill>
                <a:latin typeface="+mn-ea"/>
              </a:endParaRPr>
            </a:p>
          </p:txBody>
        </p:sp>
        <p:sp>
          <p:nvSpPr>
            <p:cNvPr id="18" name="직사각형 17"/>
            <p:cNvSpPr/>
            <p:nvPr/>
          </p:nvSpPr>
          <p:spPr>
            <a:xfrm>
              <a:off x="4779886" y="4540918"/>
              <a:ext cx="1675182" cy="212283"/>
            </a:xfrm>
            <a:prstGeom prst="rect">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저작권 및 특허권</a:t>
              </a:r>
            </a:p>
          </p:txBody>
        </p:sp>
        <p:sp>
          <p:nvSpPr>
            <p:cNvPr id="19" name="직사각형 18"/>
            <p:cNvSpPr/>
            <p:nvPr/>
          </p:nvSpPr>
          <p:spPr>
            <a:xfrm>
              <a:off x="4779886" y="4814475"/>
              <a:ext cx="1675182" cy="212283"/>
            </a:xfrm>
            <a:prstGeom prst="rect">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err="1">
                  <a:solidFill>
                    <a:schemeClr val="bg1"/>
                  </a:solidFill>
                  <a:latin typeface="+mn-ea"/>
                </a:rPr>
                <a:t>품종보호권</a:t>
              </a:r>
              <a:endParaRPr lang="ko-KR" altLang="en-US" sz="1050" dirty="0">
                <a:solidFill>
                  <a:schemeClr val="bg1"/>
                </a:solidFill>
                <a:latin typeface="+mn-ea"/>
              </a:endParaRPr>
            </a:p>
          </p:txBody>
        </p:sp>
        <p:sp>
          <p:nvSpPr>
            <p:cNvPr id="42" name="모서리가 둥근 직사각형 41"/>
            <p:cNvSpPr/>
            <p:nvPr/>
          </p:nvSpPr>
          <p:spPr>
            <a:xfrm>
              <a:off x="6825596" y="2787778"/>
              <a:ext cx="1815164" cy="212283"/>
            </a:xfrm>
            <a:prstGeom prst="roundRect">
              <a:avLst/>
            </a:prstGeom>
            <a:solidFill>
              <a:schemeClr val="accent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발명</a:t>
              </a:r>
            </a:p>
          </p:txBody>
        </p:sp>
        <p:sp>
          <p:nvSpPr>
            <p:cNvPr id="43" name="모서리가 둥근 직사각형 42"/>
            <p:cNvSpPr/>
            <p:nvPr/>
          </p:nvSpPr>
          <p:spPr>
            <a:xfrm>
              <a:off x="6825596" y="3069018"/>
              <a:ext cx="1815164" cy="212283"/>
            </a:xfrm>
            <a:prstGeom prst="roundRect">
              <a:avLst/>
            </a:prstGeom>
            <a:solidFill>
              <a:schemeClr val="accent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고안</a:t>
              </a:r>
            </a:p>
          </p:txBody>
        </p:sp>
        <p:sp>
          <p:nvSpPr>
            <p:cNvPr id="44" name="모서리가 둥근 직사각형 43"/>
            <p:cNvSpPr/>
            <p:nvPr/>
          </p:nvSpPr>
          <p:spPr>
            <a:xfrm>
              <a:off x="6825596" y="3350257"/>
              <a:ext cx="1815164" cy="212283"/>
            </a:xfrm>
            <a:prstGeom prst="roundRect">
              <a:avLst/>
            </a:prstGeom>
            <a:solidFill>
              <a:schemeClr val="accent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디자인</a:t>
              </a:r>
            </a:p>
          </p:txBody>
        </p:sp>
        <p:sp>
          <p:nvSpPr>
            <p:cNvPr id="45" name="모서리가 둥근 직사각형 44"/>
            <p:cNvSpPr/>
            <p:nvPr/>
          </p:nvSpPr>
          <p:spPr>
            <a:xfrm>
              <a:off x="6825596" y="3631496"/>
              <a:ext cx="1815164" cy="212283"/>
            </a:xfrm>
            <a:prstGeom prst="roundRect">
              <a:avLst/>
            </a:prstGeom>
            <a:solidFill>
              <a:schemeClr val="accent1">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상표</a:t>
              </a:r>
              <a:r>
                <a:rPr lang="en-US" altLang="ko-KR" sz="1050" dirty="0">
                  <a:solidFill>
                    <a:schemeClr val="bg1"/>
                  </a:solidFill>
                  <a:latin typeface="+mn-ea"/>
                </a:rPr>
                <a:t>(</a:t>
              </a:r>
              <a:r>
                <a:rPr lang="ko-KR" altLang="en-US" sz="1050" dirty="0" err="1">
                  <a:solidFill>
                    <a:schemeClr val="bg1"/>
                  </a:solidFill>
                  <a:latin typeface="+mn-ea"/>
                </a:rPr>
                <a:t>서비스표</a:t>
              </a:r>
              <a:r>
                <a:rPr lang="en-US" altLang="ko-KR" sz="1050" dirty="0">
                  <a:solidFill>
                    <a:schemeClr val="bg1"/>
                  </a:solidFill>
                  <a:latin typeface="+mn-ea"/>
                </a:rPr>
                <a:t>)</a:t>
              </a:r>
              <a:endParaRPr lang="ko-KR" altLang="en-US" sz="1050" dirty="0">
                <a:solidFill>
                  <a:schemeClr val="bg1"/>
                </a:solidFill>
                <a:latin typeface="+mn-ea"/>
              </a:endParaRPr>
            </a:p>
          </p:txBody>
        </p:sp>
        <p:sp>
          <p:nvSpPr>
            <p:cNvPr id="46" name="모서리가 둥근 직사각형 45"/>
            <p:cNvSpPr/>
            <p:nvPr/>
          </p:nvSpPr>
          <p:spPr>
            <a:xfrm>
              <a:off x="6825596" y="3944520"/>
              <a:ext cx="1815164" cy="212283"/>
            </a:xfrm>
            <a:prstGeom prst="roundRect">
              <a:avLst/>
            </a:prstGeom>
            <a:solidFill>
              <a:schemeClr val="accent6">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저작물</a:t>
              </a:r>
            </a:p>
          </p:txBody>
        </p:sp>
        <p:sp>
          <p:nvSpPr>
            <p:cNvPr id="48" name="모서리가 둥근 직사각형 47"/>
            <p:cNvSpPr/>
            <p:nvPr/>
          </p:nvSpPr>
          <p:spPr>
            <a:xfrm>
              <a:off x="6816545" y="4262059"/>
              <a:ext cx="1815164" cy="212283"/>
            </a:xfrm>
            <a:prstGeom prst="roundRect">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데이터베이스</a:t>
              </a:r>
            </a:p>
          </p:txBody>
        </p:sp>
        <p:sp>
          <p:nvSpPr>
            <p:cNvPr id="49" name="모서리가 둥근 직사각형 48"/>
            <p:cNvSpPr/>
            <p:nvPr/>
          </p:nvSpPr>
          <p:spPr>
            <a:xfrm>
              <a:off x="6816545" y="4543299"/>
              <a:ext cx="1815164" cy="212283"/>
            </a:xfrm>
            <a:prstGeom prst="roundRect">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컴퓨터프로그램</a:t>
              </a:r>
            </a:p>
          </p:txBody>
        </p:sp>
        <p:sp>
          <p:nvSpPr>
            <p:cNvPr id="50" name="모서리가 둥근 직사각형 49"/>
            <p:cNvSpPr/>
            <p:nvPr/>
          </p:nvSpPr>
          <p:spPr>
            <a:xfrm>
              <a:off x="6816545" y="4816856"/>
              <a:ext cx="1815164" cy="212283"/>
            </a:xfrm>
            <a:prstGeom prst="roundRect">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식물신품종</a:t>
              </a:r>
            </a:p>
          </p:txBody>
        </p:sp>
        <p:sp>
          <p:nvSpPr>
            <p:cNvPr id="60" name="직사각형 59"/>
            <p:cNvSpPr/>
            <p:nvPr/>
          </p:nvSpPr>
          <p:spPr>
            <a:xfrm>
              <a:off x="4779886" y="5089858"/>
              <a:ext cx="1675182" cy="362860"/>
            </a:xfrm>
            <a:prstGeom prst="rect">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err="1">
                  <a:solidFill>
                    <a:schemeClr val="bg1"/>
                  </a:solidFill>
                  <a:latin typeface="+mn-ea"/>
                </a:rPr>
                <a:t>배치설계권</a:t>
              </a:r>
              <a:endParaRPr lang="ko-KR" altLang="en-US" sz="1050" dirty="0">
                <a:solidFill>
                  <a:schemeClr val="bg1"/>
                </a:solidFill>
                <a:latin typeface="+mn-ea"/>
              </a:endParaRPr>
            </a:p>
          </p:txBody>
        </p:sp>
        <p:sp>
          <p:nvSpPr>
            <p:cNvPr id="62" name="모서리가 둥근 직사각형 61"/>
            <p:cNvSpPr/>
            <p:nvPr/>
          </p:nvSpPr>
          <p:spPr>
            <a:xfrm>
              <a:off x="6816545" y="5092239"/>
              <a:ext cx="1815164" cy="362860"/>
            </a:xfrm>
            <a:prstGeom prst="roundRect">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반도체 </a:t>
              </a:r>
              <a:r>
                <a:rPr lang="ko-KR" altLang="en-US" sz="1050" dirty="0" err="1">
                  <a:solidFill>
                    <a:schemeClr val="bg1"/>
                  </a:solidFill>
                  <a:latin typeface="+mn-ea"/>
                </a:rPr>
                <a:t>배치설계</a:t>
              </a:r>
              <a:endParaRPr lang="ko-KR" altLang="en-US" sz="1050" dirty="0">
                <a:solidFill>
                  <a:schemeClr val="bg1"/>
                </a:solidFill>
                <a:latin typeface="+mn-ea"/>
              </a:endParaRPr>
            </a:p>
          </p:txBody>
        </p:sp>
        <p:sp>
          <p:nvSpPr>
            <p:cNvPr id="68" name="모서리가 둥근 직사각형 49">
              <a:extLst>
                <a:ext uri="{FF2B5EF4-FFF2-40B4-BE49-F238E27FC236}">
                  <a16:creationId xmlns:a16="http://schemas.microsoft.com/office/drawing/2014/main" id="{7C4B2164-3E31-4B94-ACEC-636F503026C7}"/>
                </a:ext>
              </a:extLst>
            </p:cNvPr>
            <p:cNvSpPr/>
            <p:nvPr/>
          </p:nvSpPr>
          <p:spPr>
            <a:xfrm>
              <a:off x="6816545" y="5811187"/>
              <a:ext cx="1815164" cy="212283"/>
            </a:xfrm>
            <a:prstGeom prst="roundRect">
              <a:avLst/>
            </a:prstGeom>
            <a:solidFill>
              <a:schemeClr val="accent4">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부정경쟁행위</a:t>
              </a:r>
            </a:p>
          </p:txBody>
        </p:sp>
        <p:sp>
          <p:nvSpPr>
            <p:cNvPr id="71" name="모서리가 둥근 직사각형 61">
              <a:extLst>
                <a:ext uri="{FF2B5EF4-FFF2-40B4-BE49-F238E27FC236}">
                  <a16:creationId xmlns:a16="http://schemas.microsoft.com/office/drawing/2014/main" id="{37D31224-B247-418A-A845-408626A05810}"/>
                </a:ext>
              </a:extLst>
            </p:cNvPr>
            <p:cNvSpPr/>
            <p:nvPr/>
          </p:nvSpPr>
          <p:spPr>
            <a:xfrm>
              <a:off x="6816545" y="6086570"/>
              <a:ext cx="1815164" cy="212283"/>
            </a:xfrm>
            <a:prstGeom prst="roundRect">
              <a:avLst/>
            </a:prstGeom>
            <a:solidFill>
              <a:schemeClr val="accent4">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영업비밀침해행위</a:t>
              </a:r>
            </a:p>
          </p:txBody>
        </p:sp>
        <p:sp>
          <p:nvSpPr>
            <p:cNvPr id="91" name="직사각형 90">
              <a:extLst>
                <a:ext uri="{FF2B5EF4-FFF2-40B4-BE49-F238E27FC236}">
                  <a16:creationId xmlns:a16="http://schemas.microsoft.com/office/drawing/2014/main" id="{319EFFFF-0926-4A16-9858-1B602D76C545}"/>
                </a:ext>
              </a:extLst>
            </p:cNvPr>
            <p:cNvSpPr/>
            <p:nvPr/>
          </p:nvSpPr>
          <p:spPr>
            <a:xfrm>
              <a:off x="9312728" y="2788250"/>
              <a:ext cx="1747610" cy="212283"/>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tx1"/>
                  </a:solidFill>
                  <a:latin typeface="+mn-ea"/>
                </a:rPr>
                <a:t>특허법</a:t>
              </a:r>
              <a:endParaRPr lang="ko-KR" altLang="en-US" sz="600" dirty="0">
                <a:solidFill>
                  <a:schemeClr val="tx1"/>
                </a:solidFill>
                <a:latin typeface="+mn-ea"/>
              </a:endParaRPr>
            </a:p>
          </p:txBody>
        </p:sp>
        <p:sp>
          <p:nvSpPr>
            <p:cNvPr id="92" name="직사각형 91">
              <a:extLst>
                <a:ext uri="{FF2B5EF4-FFF2-40B4-BE49-F238E27FC236}">
                  <a16:creationId xmlns:a16="http://schemas.microsoft.com/office/drawing/2014/main" id="{2D69F8E6-6F98-4A58-B0BA-4C9E95499D59}"/>
                </a:ext>
              </a:extLst>
            </p:cNvPr>
            <p:cNvSpPr/>
            <p:nvPr/>
          </p:nvSpPr>
          <p:spPr>
            <a:xfrm>
              <a:off x="9312728" y="3069490"/>
              <a:ext cx="1747610" cy="212283"/>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tx1"/>
                  </a:solidFill>
                  <a:latin typeface="+mn-ea"/>
                </a:rPr>
                <a:t>실용신안법</a:t>
              </a:r>
            </a:p>
          </p:txBody>
        </p:sp>
        <p:sp>
          <p:nvSpPr>
            <p:cNvPr id="93" name="직사각형 92">
              <a:extLst>
                <a:ext uri="{FF2B5EF4-FFF2-40B4-BE49-F238E27FC236}">
                  <a16:creationId xmlns:a16="http://schemas.microsoft.com/office/drawing/2014/main" id="{43722BC9-D0F1-4CFB-97C1-2034EC274505}"/>
                </a:ext>
              </a:extLst>
            </p:cNvPr>
            <p:cNvSpPr/>
            <p:nvPr/>
          </p:nvSpPr>
          <p:spPr>
            <a:xfrm>
              <a:off x="9312728" y="3350729"/>
              <a:ext cx="1747610" cy="212283"/>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tx1"/>
                  </a:solidFill>
                  <a:latin typeface="+mn-ea"/>
                </a:rPr>
                <a:t>디자인보호법</a:t>
              </a:r>
            </a:p>
          </p:txBody>
        </p:sp>
        <p:sp>
          <p:nvSpPr>
            <p:cNvPr id="94" name="직사각형 93">
              <a:extLst>
                <a:ext uri="{FF2B5EF4-FFF2-40B4-BE49-F238E27FC236}">
                  <a16:creationId xmlns:a16="http://schemas.microsoft.com/office/drawing/2014/main" id="{420BA846-6326-4FCD-B7AD-587406CD1653}"/>
                </a:ext>
              </a:extLst>
            </p:cNvPr>
            <p:cNvSpPr/>
            <p:nvPr/>
          </p:nvSpPr>
          <p:spPr>
            <a:xfrm>
              <a:off x="9312728" y="3631968"/>
              <a:ext cx="1747610" cy="212283"/>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tx1"/>
                  </a:solidFill>
                  <a:latin typeface="+mn-ea"/>
                </a:rPr>
                <a:t>상표법</a:t>
              </a:r>
            </a:p>
          </p:txBody>
        </p:sp>
        <p:sp>
          <p:nvSpPr>
            <p:cNvPr id="95" name="직사각형 94">
              <a:extLst>
                <a:ext uri="{FF2B5EF4-FFF2-40B4-BE49-F238E27FC236}">
                  <a16:creationId xmlns:a16="http://schemas.microsoft.com/office/drawing/2014/main" id="{E1C75262-95E6-450A-9F6D-21BF65F783A2}"/>
                </a:ext>
              </a:extLst>
            </p:cNvPr>
            <p:cNvSpPr/>
            <p:nvPr/>
          </p:nvSpPr>
          <p:spPr>
            <a:xfrm>
              <a:off x="9348942" y="4260789"/>
              <a:ext cx="1747610" cy="212283"/>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tx1"/>
                  </a:solidFill>
                  <a:latin typeface="+mn-ea"/>
                </a:rPr>
                <a:t>저작권법</a:t>
              </a:r>
              <a:endParaRPr lang="ko-KR" altLang="en-US" sz="600" dirty="0">
                <a:solidFill>
                  <a:schemeClr val="tx1"/>
                </a:solidFill>
                <a:latin typeface="+mn-ea"/>
              </a:endParaRPr>
            </a:p>
          </p:txBody>
        </p:sp>
        <p:sp>
          <p:nvSpPr>
            <p:cNvPr id="96" name="직사각형 95">
              <a:extLst>
                <a:ext uri="{FF2B5EF4-FFF2-40B4-BE49-F238E27FC236}">
                  <a16:creationId xmlns:a16="http://schemas.microsoft.com/office/drawing/2014/main" id="{2A7F5407-188C-489B-B85B-0FC93D15A1B5}"/>
                </a:ext>
              </a:extLst>
            </p:cNvPr>
            <p:cNvSpPr/>
            <p:nvPr/>
          </p:nvSpPr>
          <p:spPr>
            <a:xfrm>
              <a:off x="9348942" y="4542029"/>
              <a:ext cx="1747610" cy="212283"/>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tx1"/>
                  </a:solidFill>
                  <a:latin typeface="+mn-ea"/>
                </a:rPr>
                <a:t>저작권법 및 특허법</a:t>
              </a:r>
            </a:p>
          </p:txBody>
        </p:sp>
        <p:sp>
          <p:nvSpPr>
            <p:cNvPr id="97" name="직사각형 96">
              <a:extLst>
                <a:ext uri="{FF2B5EF4-FFF2-40B4-BE49-F238E27FC236}">
                  <a16:creationId xmlns:a16="http://schemas.microsoft.com/office/drawing/2014/main" id="{ADC4A631-55E0-4DD3-B646-212AA52D30A7}"/>
                </a:ext>
              </a:extLst>
            </p:cNvPr>
            <p:cNvSpPr/>
            <p:nvPr/>
          </p:nvSpPr>
          <p:spPr>
            <a:xfrm>
              <a:off x="9348942" y="4815586"/>
              <a:ext cx="1747610" cy="212283"/>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err="1">
                  <a:solidFill>
                    <a:schemeClr val="tx1"/>
                  </a:solidFill>
                  <a:latin typeface="+mn-ea"/>
                </a:rPr>
                <a:t>식물신품종보호법</a:t>
              </a:r>
              <a:endParaRPr lang="ko-KR" altLang="en-US" sz="1050" dirty="0">
                <a:solidFill>
                  <a:schemeClr val="tx1"/>
                </a:solidFill>
                <a:latin typeface="+mn-ea"/>
              </a:endParaRPr>
            </a:p>
          </p:txBody>
        </p:sp>
        <p:sp>
          <p:nvSpPr>
            <p:cNvPr id="98" name="직사각형 97">
              <a:extLst>
                <a:ext uri="{FF2B5EF4-FFF2-40B4-BE49-F238E27FC236}">
                  <a16:creationId xmlns:a16="http://schemas.microsoft.com/office/drawing/2014/main" id="{70C7559B-BAEB-405F-BD42-BFFA6E179BE5}"/>
                </a:ext>
              </a:extLst>
            </p:cNvPr>
            <p:cNvSpPr/>
            <p:nvPr/>
          </p:nvSpPr>
          <p:spPr>
            <a:xfrm>
              <a:off x="9348942" y="5090969"/>
              <a:ext cx="1747610" cy="36286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tx1"/>
                  </a:solidFill>
                  <a:latin typeface="+mn-ea"/>
                </a:rPr>
                <a:t>반도체집적회로의 배치설계에 관한 법률</a:t>
              </a:r>
            </a:p>
          </p:txBody>
        </p:sp>
        <p:sp>
          <p:nvSpPr>
            <p:cNvPr id="99" name="직사각형 98">
              <a:extLst>
                <a:ext uri="{FF2B5EF4-FFF2-40B4-BE49-F238E27FC236}">
                  <a16:creationId xmlns:a16="http://schemas.microsoft.com/office/drawing/2014/main" id="{661CAEE0-8819-43B4-B8E7-768D483C8491}"/>
                </a:ext>
              </a:extLst>
            </p:cNvPr>
            <p:cNvSpPr/>
            <p:nvPr/>
          </p:nvSpPr>
          <p:spPr>
            <a:xfrm>
              <a:off x="9348942" y="5811188"/>
              <a:ext cx="1747610" cy="487665"/>
            </a:xfrm>
            <a:prstGeom prst="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tx1"/>
                  </a:solidFill>
                  <a:latin typeface="+mn-ea"/>
                </a:rPr>
                <a:t>부정경쟁방지 및 </a:t>
              </a:r>
              <a:endParaRPr lang="en-US" altLang="ko-KR" sz="1050" dirty="0">
                <a:solidFill>
                  <a:schemeClr val="tx1"/>
                </a:solidFill>
                <a:latin typeface="+mn-ea"/>
              </a:endParaRPr>
            </a:p>
            <a:p>
              <a:pPr algn="ctr"/>
              <a:r>
                <a:rPr lang="ko-KR" altLang="en-US" sz="1050" dirty="0">
                  <a:solidFill>
                    <a:schemeClr val="tx1"/>
                  </a:solidFill>
                  <a:latin typeface="+mn-ea"/>
                </a:rPr>
                <a:t>영업비밀보호에 관한 법률</a:t>
              </a:r>
            </a:p>
          </p:txBody>
        </p:sp>
        <p:sp>
          <p:nvSpPr>
            <p:cNvPr id="102" name="직사각형 101">
              <a:extLst>
                <a:ext uri="{FF2B5EF4-FFF2-40B4-BE49-F238E27FC236}">
                  <a16:creationId xmlns:a16="http://schemas.microsoft.com/office/drawing/2014/main" id="{B8526FF9-F856-440B-848C-F9F96E937F97}"/>
                </a:ext>
              </a:extLst>
            </p:cNvPr>
            <p:cNvSpPr/>
            <p:nvPr/>
          </p:nvSpPr>
          <p:spPr>
            <a:xfrm>
              <a:off x="9348942" y="6369510"/>
              <a:ext cx="1747610" cy="210708"/>
            </a:xfrm>
            <a:prstGeom prst="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a:solidFill>
                    <a:schemeClr val="tx1"/>
                  </a:solidFill>
                  <a:latin typeface="+mn-ea"/>
                </a:rPr>
                <a:t>민법</a:t>
              </a:r>
              <a:endParaRPr lang="ko-KR" altLang="en-US" sz="1050" dirty="0">
                <a:solidFill>
                  <a:schemeClr val="tx1"/>
                </a:solidFill>
                <a:latin typeface="+mn-ea"/>
              </a:endParaRPr>
            </a:p>
          </p:txBody>
        </p:sp>
        <p:sp>
          <p:nvSpPr>
            <p:cNvPr id="103" name="모서리가 둥근 직사각형 61">
              <a:extLst>
                <a:ext uri="{FF2B5EF4-FFF2-40B4-BE49-F238E27FC236}">
                  <a16:creationId xmlns:a16="http://schemas.microsoft.com/office/drawing/2014/main" id="{B24F8D3D-64A8-45FE-9B2F-B7E1B9CDB23F}"/>
                </a:ext>
              </a:extLst>
            </p:cNvPr>
            <p:cNvSpPr/>
            <p:nvPr/>
          </p:nvSpPr>
          <p:spPr>
            <a:xfrm>
              <a:off x="6816545" y="6367935"/>
              <a:ext cx="1815164" cy="212283"/>
            </a:xfrm>
            <a:prstGeom prst="roundRect">
              <a:avLst/>
            </a:prstGeom>
            <a:solidFill>
              <a:schemeClr val="accent4">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bg1"/>
                  </a:solidFill>
                  <a:latin typeface="+mn-ea"/>
                </a:rPr>
                <a:t>불법행위</a:t>
              </a:r>
            </a:p>
          </p:txBody>
        </p:sp>
        <p:cxnSp>
          <p:nvCxnSpPr>
            <p:cNvPr id="105" name="연결선: 꺾임 104">
              <a:extLst>
                <a:ext uri="{FF2B5EF4-FFF2-40B4-BE49-F238E27FC236}">
                  <a16:creationId xmlns:a16="http://schemas.microsoft.com/office/drawing/2014/main" id="{4D4BB6A9-340F-4286-8BE3-4FAAC5722EBF}"/>
                </a:ext>
              </a:extLst>
            </p:cNvPr>
            <p:cNvCxnSpPr>
              <a:stCxn id="75" idx="3"/>
              <a:endCxn id="20" idx="1"/>
            </p:cNvCxnSpPr>
            <p:nvPr/>
          </p:nvCxnSpPr>
          <p:spPr>
            <a:xfrm flipV="1">
              <a:off x="2720774" y="3097293"/>
              <a:ext cx="649318" cy="658896"/>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연결선: 꺾임 106">
              <a:extLst>
                <a:ext uri="{FF2B5EF4-FFF2-40B4-BE49-F238E27FC236}">
                  <a16:creationId xmlns:a16="http://schemas.microsoft.com/office/drawing/2014/main" id="{5B07AB83-102E-4A74-9AE9-CDE314DEA1AD}"/>
                </a:ext>
              </a:extLst>
            </p:cNvPr>
            <p:cNvCxnSpPr>
              <a:stCxn id="75" idx="3"/>
              <a:endCxn id="15" idx="1"/>
            </p:cNvCxnSpPr>
            <p:nvPr/>
          </p:nvCxnSpPr>
          <p:spPr>
            <a:xfrm>
              <a:off x="2720774" y="3756189"/>
              <a:ext cx="649318" cy="29399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9" name="연결선: 꺾임 108">
              <a:extLst>
                <a:ext uri="{FF2B5EF4-FFF2-40B4-BE49-F238E27FC236}">
                  <a16:creationId xmlns:a16="http://schemas.microsoft.com/office/drawing/2014/main" id="{60F74D45-B3DE-441C-A9B3-82A6B9A31FD2}"/>
                </a:ext>
              </a:extLst>
            </p:cNvPr>
            <p:cNvCxnSpPr>
              <a:stCxn id="75" idx="3"/>
              <a:endCxn id="21" idx="1"/>
            </p:cNvCxnSpPr>
            <p:nvPr/>
          </p:nvCxnSpPr>
          <p:spPr>
            <a:xfrm>
              <a:off x="2720774" y="3756189"/>
              <a:ext cx="649318" cy="923206"/>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9" name="연결선: 꺾임 118">
              <a:extLst>
                <a:ext uri="{FF2B5EF4-FFF2-40B4-BE49-F238E27FC236}">
                  <a16:creationId xmlns:a16="http://schemas.microsoft.com/office/drawing/2014/main" id="{52A52FBD-376E-4EB2-9518-B5B6D415BEE0}"/>
                </a:ext>
              </a:extLst>
            </p:cNvPr>
            <p:cNvCxnSpPr>
              <a:cxnSpLocks/>
              <a:stCxn id="20" idx="3"/>
              <a:endCxn id="11" idx="1"/>
            </p:cNvCxnSpPr>
            <p:nvPr/>
          </p:nvCxnSpPr>
          <p:spPr>
            <a:xfrm flipV="1">
              <a:off x="4491912" y="2893919"/>
              <a:ext cx="251760" cy="203374"/>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연결선: 꺾임 120">
              <a:extLst>
                <a:ext uri="{FF2B5EF4-FFF2-40B4-BE49-F238E27FC236}">
                  <a16:creationId xmlns:a16="http://schemas.microsoft.com/office/drawing/2014/main" id="{11488D6B-8454-4AC0-857D-191AABCF4FE2}"/>
                </a:ext>
              </a:extLst>
            </p:cNvPr>
            <p:cNvCxnSpPr>
              <a:cxnSpLocks/>
              <a:stCxn id="20" idx="3"/>
              <a:endCxn id="12" idx="1"/>
            </p:cNvCxnSpPr>
            <p:nvPr/>
          </p:nvCxnSpPr>
          <p:spPr>
            <a:xfrm>
              <a:off x="4491912" y="3097293"/>
              <a:ext cx="251760" cy="77866"/>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연결선: 꺾임 122">
              <a:extLst>
                <a:ext uri="{FF2B5EF4-FFF2-40B4-BE49-F238E27FC236}">
                  <a16:creationId xmlns:a16="http://schemas.microsoft.com/office/drawing/2014/main" id="{31F6FC3F-CF3A-4223-9997-19641DA1231E}"/>
                </a:ext>
              </a:extLst>
            </p:cNvPr>
            <p:cNvCxnSpPr>
              <a:cxnSpLocks/>
              <a:stCxn id="20" idx="3"/>
              <a:endCxn id="13" idx="1"/>
            </p:cNvCxnSpPr>
            <p:nvPr/>
          </p:nvCxnSpPr>
          <p:spPr>
            <a:xfrm>
              <a:off x="4491912" y="3097293"/>
              <a:ext cx="251760" cy="35910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5" name="연결선: 꺾임 124">
              <a:extLst>
                <a:ext uri="{FF2B5EF4-FFF2-40B4-BE49-F238E27FC236}">
                  <a16:creationId xmlns:a16="http://schemas.microsoft.com/office/drawing/2014/main" id="{25D17925-43B2-4046-9CAF-4470F78B9E78}"/>
                </a:ext>
              </a:extLst>
            </p:cNvPr>
            <p:cNvCxnSpPr>
              <a:cxnSpLocks/>
              <a:stCxn id="20" idx="3"/>
              <a:endCxn id="14" idx="1"/>
            </p:cNvCxnSpPr>
            <p:nvPr/>
          </p:nvCxnSpPr>
          <p:spPr>
            <a:xfrm>
              <a:off x="4491912" y="3097293"/>
              <a:ext cx="251760" cy="640344"/>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7" name="연결선: 꺾임 126">
              <a:extLst>
                <a:ext uri="{FF2B5EF4-FFF2-40B4-BE49-F238E27FC236}">
                  <a16:creationId xmlns:a16="http://schemas.microsoft.com/office/drawing/2014/main" id="{00E45AA8-65FA-4001-A1FA-06C2910FE896}"/>
                </a:ext>
              </a:extLst>
            </p:cNvPr>
            <p:cNvCxnSpPr>
              <a:cxnSpLocks/>
              <a:stCxn id="11" idx="3"/>
              <a:endCxn id="42" idx="1"/>
            </p:cNvCxnSpPr>
            <p:nvPr/>
          </p:nvCxnSpPr>
          <p:spPr>
            <a:xfrm>
              <a:off x="6418854" y="2893919"/>
              <a:ext cx="406742" cy="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9" name="연결선: 꺾임 128">
              <a:extLst>
                <a:ext uri="{FF2B5EF4-FFF2-40B4-BE49-F238E27FC236}">
                  <a16:creationId xmlns:a16="http://schemas.microsoft.com/office/drawing/2014/main" id="{B7C066A6-C085-482C-849F-A3642CCA0137}"/>
                </a:ext>
              </a:extLst>
            </p:cNvPr>
            <p:cNvCxnSpPr>
              <a:stCxn id="12" idx="3"/>
              <a:endCxn id="43" idx="1"/>
            </p:cNvCxnSpPr>
            <p:nvPr/>
          </p:nvCxnSpPr>
          <p:spPr>
            <a:xfrm>
              <a:off x="6418854" y="3175159"/>
              <a:ext cx="406742" cy="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1" name="연결선: 꺾임 130">
              <a:extLst>
                <a:ext uri="{FF2B5EF4-FFF2-40B4-BE49-F238E27FC236}">
                  <a16:creationId xmlns:a16="http://schemas.microsoft.com/office/drawing/2014/main" id="{5F75B0B7-7881-4F5A-BEF4-1989FA9A7846}"/>
                </a:ext>
              </a:extLst>
            </p:cNvPr>
            <p:cNvCxnSpPr>
              <a:cxnSpLocks/>
              <a:stCxn id="13" idx="3"/>
              <a:endCxn id="44" idx="1"/>
            </p:cNvCxnSpPr>
            <p:nvPr/>
          </p:nvCxnSpPr>
          <p:spPr>
            <a:xfrm>
              <a:off x="6418854" y="3456398"/>
              <a:ext cx="406742" cy="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연결선: 꺾임 133">
              <a:extLst>
                <a:ext uri="{FF2B5EF4-FFF2-40B4-BE49-F238E27FC236}">
                  <a16:creationId xmlns:a16="http://schemas.microsoft.com/office/drawing/2014/main" id="{921EF6C0-0942-4602-A1D0-D332BA9A7EBD}"/>
                </a:ext>
              </a:extLst>
            </p:cNvPr>
            <p:cNvCxnSpPr>
              <a:cxnSpLocks/>
              <a:stCxn id="14" idx="3"/>
              <a:endCxn id="45" idx="1"/>
            </p:cNvCxnSpPr>
            <p:nvPr/>
          </p:nvCxnSpPr>
          <p:spPr>
            <a:xfrm>
              <a:off x="6418854" y="3737637"/>
              <a:ext cx="406742" cy="1"/>
            </a:xfrm>
            <a:prstGeom prst="bentConnector3">
              <a:avLst>
                <a:gd name="adj1" fmla="val 53747"/>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8" name="연결선: 꺾임 147">
              <a:extLst>
                <a:ext uri="{FF2B5EF4-FFF2-40B4-BE49-F238E27FC236}">
                  <a16:creationId xmlns:a16="http://schemas.microsoft.com/office/drawing/2014/main" id="{AA58EE66-FD75-4DE7-989F-8F5CFC2D94D7}"/>
                </a:ext>
              </a:extLst>
            </p:cNvPr>
            <p:cNvCxnSpPr>
              <a:cxnSpLocks/>
              <a:stCxn id="21" idx="3"/>
              <a:endCxn id="17" idx="1"/>
            </p:cNvCxnSpPr>
            <p:nvPr/>
          </p:nvCxnSpPr>
          <p:spPr>
            <a:xfrm flipV="1">
              <a:off x="4491912" y="4365820"/>
              <a:ext cx="287974" cy="31357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연결선: 꺾임 149">
              <a:extLst>
                <a:ext uri="{FF2B5EF4-FFF2-40B4-BE49-F238E27FC236}">
                  <a16:creationId xmlns:a16="http://schemas.microsoft.com/office/drawing/2014/main" id="{1EE34F40-B5B4-4155-8F30-5DDE11D97DF7}"/>
                </a:ext>
              </a:extLst>
            </p:cNvPr>
            <p:cNvCxnSpPr>
              <a:cxnSpLocks/>
              <a:stCxn id="21" idx="3"/>
              <a:endCxn id="18" idx="1"/>
            </p:cNvCxnSpPr>
            <p:nvPr/>
          </p:nvCxnSpPr>
          <p:spPr>
            <a:xfrm flipV="1">
              <a:off x="4491912" y="4647060"/>
              <a:ext cx="287974" cy="3233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연결선: 꺾임 151">
              <a:extLst>
                <a:ext uri="{FF2B5EF4-FFF2-40B4-BE49-F238E27FC236}">
                  <a16:creationId xmlns:a16="http://schemas.microsoft.com/office/drawing/2014/main" id="{052BE524-ADE7-41B5-9157-B9EE24EC8287}"/>
                </a:ext>
              </a:extLst>
            </p:cNvPr>
            <p:cNvCxnSpPr>
              <a:cxnSpLocks/>
              <a:stCxn id="21" idx="3"/>
              <a:endCxn id="19" idx="1"/>
            </p:cNvCxnSpPr>
            <p:nvPr/>
          </p:nvCxnSpPr>
          <p:spPr>
            <a:xfrm>
              <a:off x="4491912" y="4679395"/>
              <a:ext cx="287974" cy="24122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4" name="연결선: 꺾임 153">
              <a:extLst>
                <a:ext uri="{FF2B5EF4-FFF2-40B4-BE49-F238E27FC236}">
                  <a16:creationId xmlns:a16="http://schemas.microsoft.com/office/drawing/2014/main" id="{D3495E55-47EF-4E72-865C-09FA3F7ED674}"/>
                </a:ext>
              </a:extLst>
            </p:cNvPr>
            <p:cNvCxnSpPr>
              <a:cxnSpLocks/>
              <a:stCxn id="21" idx="3"/>
              <a:endCxn id="60" idx="1"/>
            </p:cNvCxnSpPr>
            <p:nvPr/>
          </p:nvCxnSpPr>
          <p:spPr>
            <a:xfrm>
              <a:off x="4491912" y="4679395"/>
              <a:ext cx="287974" cy="591893"/>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6" name="연결선: 꺾임 155">
              <a:extLst>
                <a:ext uri="{FF2B5EF4-FFF2-40B4-BE49-F238E27FC236}">
                  <a16:creationId xmlns:a16="http://schemas.microsoft.com/office/drawing/2014/main" id="{42571724-F495-4EB3-AC4F-EF8E79BEE53B}"/>
                </a:ext>
              </a:extLst>
            </p:cNvPr>
            <p:cNvCxnSpPr>
              <a:stCxn id="17" idx="3"/>
              <a:endCxn id="48" idx="1"/>
            </p:cNvCxnSpPr>
            <p:nvPr/>
          </p:nvCxnSpPr>
          <p:spPr>
            <a:xfrm>
              <a:off x="6455068" y="4365820"/>
              <a:ext cx="361477" cy="238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연결선: 꺾임 156">
              <a:extLst>
                <a:ext uri="{FF2B5EF4-FFF2-40B4-BE49-F238E27FC236}">
                  <a16:creationId xmlns:a16="http://schemas.microsoft.com/office/drawing/2014/main" id="{E496CA6E-957E-474D-B70E-BA87A08C6493}"/>
                </a:ext>
              </a:extLst>
            </p:cNvPr>
            <p:cNvCxnSpPr>
              <a:cxnSpLocks/>
              <a:stCxn id="18" idx="3"/>
              <a:endCxn id="49" idx="1"/>
            </p:cNvCxnSpPr>
            <p:nvPr/>
          </p:nvCxnSpPr>
          <p:spPr>
            <a:xfrm>
              <a:off x="6455068" y="4647060"/>
              <a:ext cx="361477" cy="238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8" name="연결선: 꺾임 157">
              <a:extLst>
                <a:ext uri="{FF2B5EF4-FFF2-40B4-BE49-F238E27FC236}">
                  <a16:creationId xmlns:a16="http://schemas.microsoft.com/office/drawing/2014/main" id="{C459EF4A-BEE8-428E-A5F8-E2E8B61BF782}"/>
                </a:ext>
              </a:extLst>
            </p:cNvPr>
            <p:cNvCxnSpPr>
              <a:cxnSpLocks/>
              <a:stCxn id="19" idx="3"/>
              <a:endCxn id="50" idx="1"/>
            </p:cNvCxnSpPr>
            <p:nvPr/>
          </p:nvCxnSpPr>
          <p:spPr>
            <a:xfrm>
              <a:off x="6455068" y="4920617"/>
              <a:ext cx="361477" cy="238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9" name="연결선: 꺾임 158">
              <a:extLst>
                <a:ext uri="{FF2B5EF4-FFF2-40B4-BE49-F238E27FC236}">
                  <a16:creationId xmlns:a16="http://schemas.microsoft.com/office/drawing/2014/main" id="{986AA70C-7251-4D62-94C5-30AF48D317FE}"/>
                </a:ext>
              </a:extLst>
            </p:cNvPr>
            <p:cNvCxnSpPr>
              <a:cxnSpLocks/>
              <a:stCxn id="60" idx="3"/>
              <a:endCxn id="62" idx="1"/>
            </p:cNvCxnSpPr>
            <p:nvPr/>
          </p:nvCxnSpPr>
          <p:spPr>
            <a:xfrm>
              <a:off x="6455068" y="5271288"/>
              <a:ext cx="361477" cy="238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4" name="연결선: 꺾임 173">
              <a:extLst>
                <a:ext uri="{FF2B5EF4-FFF2-40B4-BE49-F238E27FC236}">
                  <a16:creationId xmlns:a16="http://schemas.microsoft.com/office/drawing/2014/main" id="{4403E067-2B8A-4B33-8B5D-49B27B651AC5}"/>
                </a:ext>
              </a:extLst>
            </p:cNvPr>
            <p:cNvCxnSpPr>
              <a:cxnSpLocks/>
              <a:stCxn id="76" idx="3"/>
              <a:endCxn id="68" idx="1"/>
            </p:cNvCxnSpPr>
            <p:nvPr/>
          </p:nvCxnSpPr>
          <p:spPr>
            <a:xfrm flipV="1">
              <a:off x="2720774" y="5917329"/>
              <a:ext cx="4095771" cy="26459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연결선: 꺾임 175">
              <a:extLst>
                <a:ext uri="{FF2B5EF4-FFF2-40B4-BE49-F238E27FC236}">
                  <a16:creationId xmlns:a16="http://schemas.microsoft.com/office/drawing/2014/main" id="{A550633D-4DA3-44C1-81CA-0FB45970E8B5}"/>
                </a:ext>
              </a:extLst>
            </p:cNvPr>
            <p:cNvCxnSpPr>
              <a:cxnSpLocks/>
              <a:stCxn id="76" idx="3"/>
              <a:endCxn id="71" idx="1"/>
            </p:cNvCxnSpPr>
            <p:nvPr/>
          </p:nvCxnSpPr>
          <p:spPr>
            <a:xfrm>
              <a:off x="2720774" y="6181920"/>
              <a:ext cx="4095771" cy="1079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8" name="연결선: 꺾임 177">
              <a:extLst>
                <a:ext uri="{FF2B5EF4-FFF2-40B4-BE49-F238E27FC236}">
                  <a16:creationId xmlns:a16="http://schemas.microsoft.com/office/drawing/2014/main" id="{B74F8373-2DBE-4013-9F22-05131DB0042F}"/>
                </a:ext>
              </a:extLst>
            </p:cNvPr>
            <p:cNvCxnSpPr>
              <a:cxnSpLocks/>
              <a:stCxn id="76" idx="3"/>
              <a:endCxn id="103" idx="1"/>
            </p:cNvCxnSpPr>
            <p:nvPr/>
          </p:nvCxnSpPr>
          <p:spPr>
            <a:xfrm>
              <a:off x="2720774" y="6181920"/>
              <a:ext cx="4095771" cy="29215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9" name="연결선: 꺾임 88">
              <a:extLst>
                <a:ext uri="{FF2B5EF4-FFF2-40B4-BE49-F238E27FC236}">
                  <a16:creationId xmlns:a16="http://schemas.microsoft.com/office/drawing/2014/main" id="{751305D8-105E-EE2A-7AB8-6A3403FFB8B6}"/>
                </a:ext>
              </a:extLst>
            </p:cNvPr>
            <p:cNvCxnSpPr>
              <a:cxnSpLocks/>
              <a:stCxn id="42" idx="3"/>
              <a:endCxn id="91" idx="1"/>
            </p:cNvCxnSpPr>
            <p:nvPr/>
          </p:nvCxnSpPr>
          <p:spPr>
            <a:xfrm>
              <a:off x="8640760" y="2893920"/>
              <a:ext cx="671968" cy="47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연결선: 꺾임 100">
              <a:extLst>
                <a:ext uri="{FF2B5EF4-FFF2-40B4-BE49-F238E27FC236}">
                  <a16:creationId xmlns:a16="http://schemas.microsoft.com/office/drawing/2014/main" id="{623A5F00-DB6E-1FDE-58E6-F4A3632D6C64}"/>
                </a:ext>
              </a:extLst>
            </p:cNvPr>
            <p:cNvCxnSpPr>
              <a:cxnSpLocks/>
              <a:stCxn id="43" idx="3"/>
              <a:endCxn id="92" idx="1"/>
            </p:cNvCxnSpPr>
            <p:nvPr/>
          </p:nvCxnSpPr>
          <p:spPr>
            <a:xfrm>
              <a:off x="8640760" y="3175160"/>
              <a:ext cx="671968" cy="47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8" name="연결선: 꺾임 107">
              <a:extLst>
                <a:ext uri="{FF2B5EF4-FFF2-40B4-BE49-F238E27FC236}">
                  <a16:creationId xmlns:a16="http://schemas.microsoft.com/office/drawing/2014/main" id="{76783B07-181E-A93D-6A34-5B0850172F83}"/>
                </a:ext>
              </a:extLst>
            </p:cNvPr>
            <p:cNvCxnSpPr>
              <a:cxnSpLocks/>
              <a:stCxn id="44" idx="3"/>
              <a:endCxn id="93" idx="1"/>
            </p:cNvCxnSpPr>
            <p:nvPr/>
          </p:nvCxnSpPr>
          <p:spPr>
            <a:xfrm>
              <a:off x="8640760" y="3456399"/>
              <a:ext cx="671968" cy="47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연결선: 꺾임 113">
              <a:extLst>
                <a:ext uri="{FF2B5EF4-FFF2-40B4-BE49-F238E27FC236}">
                  <a16:creationId xmlns:a16="http://schemas.microsoft.com/office/drawing/2014/main" id="{C625FCF4-5ECF-4F6D-9CEE-3DD9C8D197E4}"/>
                </a:ext>
              </a:extLst>
            </p:cNvPr>
            <p:cNvCxnSpPr>
              <a:cxnSpLocks/>
              <a:stCxn id="45" idx="3"/>
              <a:endCxn id="94" idx="1"/>
            </p:cNvCxnSpPr>
            <p:nvPr/>
          </p:nvCxnSpPr>
          <p:spPr>
            <a:xfrm>
              <a:off x="8640760" y="3737638"/>
              <a:ext cx="671968" cy="47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0" name="연결선: 꺾임 119">
              <a:extLst>
                <a:ext uri="{FF2B5EF4-FFF2-40B4-BE49-F238E27FC236}">
                  <a16:creationId xmlns:a16="http://schemas.microsoft.com/office/drawing/2014/main" id="{047A0813-DF79-CECA-3281-3EF1326C58E3}"/>
                </a:ext>
              </a:extLst>
            </p:cNvPr>
            <p:cNvCxnSpPr>
              <a:cxnSpLocks/>
              <a:stCxn id="46" idx="3"/>
              <a:endCxn id="124" idx="1"/>
            </p:cNvCxnSpPr>
            <p:nvPr/>
          </p:nvCxnSpPr>
          <p:spPr>
            <a:xfrm>
              <a:off x="8640760" y="4050662"/>
              <a:ext cx="671968" cy="1613"/>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4" name="직사각형 123">
              <a:extLst>
                <a:ext uri="{FF2B5EF4-FFF2-40B4-BE49-F238E27FC236}">
                  <a16:creationId xmlns:a16="http://schemas.microsoft.com/office/drawing/2014/main" id="{351D1B14-8585-9DDF-B63C-723865377C08}"/>
                </a:ext>
              </a:extLst>
            </p:cNvPr>
            <p:cNvSpPr/>
            <p:nvPr/>
          </p:nvSpPr>
          <p:spPr>
            <a:xfrm>
              <a:off x="9312728" y="3946133"/>
              <a:ext cx="1747610" cy="212283"/>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68580" tIns="34290" rIns="68580" bIns="34290" numCol="1" spcCol="0" rtlCol="0" fromWordArt="0" anchor="ctr" anchorCtr="0" forceAA="0" compatLnSpc="1">
              <a:prstTxWarp prst="textNoShape">
                <a:avLst/>
              </a:prstTxWarp>
              <a:noAutofit/>
            </a:bodyPr>
            <a:lstStyle>
              <a:defPPr>
                <a:defRPr lang="ko-KR"/>
              </a:defPPr>
              <a:lvl1pPr marL="0" algn="l" defTabSz="914400" rtl="0" eaLnBrk="1" latinLnBrk="1" hangingPunct="1">
                <a:defRPr sz="1800" kern="1200">
                  <a:solidFill>
                    <a:schemeClr val="lt1"/>
                  </a:solidFill>
                  <a:latin typeface="+mn-lt"/>
                  <a:ea typeface="+mn-ea"/>
                  <a:cs typeface="+mn-cs"/>
                </a:defRPr>
              </a:lvl1pPr>
              <a:lvl2pPr marL="457200" algn="l" defTabSz="914400" rtl="0" eaLnBrk="1" latinLnBrk="1" hangingPunct="1">
                <a:defRPr sz="1800" kern="1200">
                  <a:solidFill>
                    <a:schemeClr val="lt1"/>
                  </a:solidFill>
                  <a:latin typeface="+mn-lt"/>
                  <a:ea typeface="+mn-ea"/>
                  <a:cs typeface="+mn-cs"/>
                </a:defRPr>
              </a:lvl2pPr>
              <a:lvl3pPr marL="914400" algn="l" defTabSz="914400" rtl="0" eaLnBrk="1" latinLnBrk="1" hangingPunct="1">
                <a:defRPr sz="1800" kern="1200">
                  <a:solidFill>
                    <a:schemeClr val="lt1"/>
                  </a:solidFill>
                  <a:latin typeface="+mn-lt"/>
                  <a:ea typeface="+mn-ea"/>
                  <a:cs typeface="+mn-cs"/>
                </a:defRPr>
              </a:lvl3pPr>
              <a:lvl4pPr marL="1371600" algn="l" defTabSz="914400" rtl="0" eaLnBrk="1" latinLnBrk="1" hangingPunct="1">
                <a:defRPr sz="1800" kern="1200">
                  <a:solidFill>
                    <a:schemeClr val="lt1"/>
                  </a:solidFill>
                  <a:latin typeface="+mn-lt"/>
                  <a:ea typeface="+mn-ea"/>
                  <a:cs typeface="+mn-cs"/>
                </a:defRPr>
              </a:lvl4pPr>
              <a:lvl5pPr marL="1828800" algn="l" defTabSz="914400" rtl="0" eaLnBrk="1" latinLnBrk="1" hangingPunct="1">
                <a:defRPr sz="1800" kern="1200">
                  <a:solidFill>
                    <a:schemeClr val="lt1"/>
                  </a:solidFill>
                  <a:latin typeface="+mn-lt"/>
                  <a:ea typeface="+mn-ea"/>
                  <a:cs typeface="+mn-cs"/>
                </a:defRPr>
              </a:lvl5pPr>
              <a:lvl6pPr marL="2286000" algn="l" defTabSz="914400" rtl="0" eaLnBrk="1" latinLnBrk="1" hangingPunct="1">
                <a:defRPr sz="1800" kern="1200">
                  <a:solidFill>
                    <a:schemeClr val="lt1"/>
                  </a:solidFill>
                  <a:latin typeface="+mn-lt"/>
                  <a:ea typeface="+mn-ea"/>
                  <a:cs typeface="+mn-cs"/>
                </a:defRPr>
              </a:lvl6pPr>
              <a:lvl7pPr marL="2743200" algn="l" defTabSz="914400" rtl="0" eaLnBrk="1" latinLnBrk="1" hangingPunct="1">
                <a:defRPr sz="1800" kern="1200">
                  <a:solidFill>
                    <a:schemeClr val="lt1"/>
                  </a:solidFill>
                  <a:latin typeface="+mn-lt"/>
                  <a:ea typeface="+mn-ea"/>
                  <a:cs typeface="+mn-cs"/>
                </a:defRPr>
              </a:lvl7pPr>
              <a:lvl8pPr marL="3200400" algn="l" defTabSz="914400" rtl="0" eaLnBrk="1" latinLnBrk="1" hangingPunct="1">
                <a:defRPr sz="1800" kern="1200">
                  <a:solidFill>
                    <a:schemeClr val="lt1"/>
                  </a:solidFill>
                  <a:latin typeface="+mn-lt"/>
                  <a:ea typeface="+mn-ea"/>
                  <a:cs typeface="+mn-cs"/>
                </a:defRPr>
              </a:lvl8pPr>
              <a:lvl9pPr marL="3657600" algn="l" defTabSz="914400" rtl="0" eaLnBrk="1" latinLnBrk="1" hangingPunct="1">
                <a:defRPr sz="1800" kern="1200">
                  <a:solidFill>
                    <a:schemeClr val="lt1"/>
                  </a:solidFill>
                  <a:latin typeface="+mn-lt"/>
                  <a:ea typeface="+mn-ea"/>
                  <a:cs typeface="+mn-cs"/>
                </a:defRPr>
              </a:lvl9pPr>
            </a:lstStyle>
            <a:p>
              <a:pPr algn="ctr"/>
              <a:r>
                <a:rPr lang="ko-KR" altLang="en-US" sz="1050" dirty="0">
                  <a:solidFill>
                    <a:schemeClr val="tx1"/>
                  </a:solidFill>
                  <a:latin typeface="+mn-ea"/>
                </a:rPr>
                <a:t>저작권법</a:t>
              </a:r>
            </a:p>
          </p:txBody>
        </p:sp>
        <p:cxnSp>
          <p:nvCxnSpPr>
            <p:cNvPr id="130" name="연결선: 꺾임 129">
              <a:extLst>
                <a:ext uri="{FF2B5EF4-FFF2-40B4-BE49-F238E27FC236}">
                  <a16:creationId xmlns:a16="http://schemas.microsoft.com/office/drawing/2014/main" id="{98464F19-9A64-1C7D-AE56-4514607A0456}"/>
                </a:ext>
              </a:extLst>
            </p:cNvPr>
            <p:cNvCxnSpPr>
              <a:cxnSpLocks/>
              <a:stCxn id="15" idx="3"/>
              <a:endCxn id="46" idx="1"/>
            </p:cNvCxnSpPr>
            <p:nvPr/>
          </p:nvCxnSpPr>
          <p:spPr>
            <a:xfrm>
              <a:off x="4491912" y="4050180"/>
              <a:ext cx="2333684" cy="482"/>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연결선: 꺾임 135">
              <a:extLst>
                <a:ext uri="{FF2B5EF4-FFF2-40B4-BE49-F238E27FC236}">
                  <a16:creationId xmlns:a16="http://schemas.microsoft.com/office/drawing/2014/main" id="{021735CF-BE61-F839-94A3-545EC5CEEC64}"/>
                </a:ext>
              </a:extLst>
            </p:cNvPr>
            <p:cNvCxnSpPr>
              <a:cxnSpLocks/>
              <a:stCxn id="48" idx="3"/>
              <a:endCxn id="95" idx="1"/>
            </p:cNvCxnSpPr>
            <p:nvPr/>
          </p:nvCxnSpPr>
          <p:spPr>
            <a:xfrm flipV="1">
              <a:off x="8631709" y="4366931"/>
              <a:ext cx="717233" cy="1270"/>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1" name="연결선: 꺾임 140">
              <a:extLst>
                <a:ext uri="{FF2B5EF4-FFF2-40B4-BE49-F238E27FC236}">
                  <a16:creationId xmlns:a16="http://schemas.microsoft.com/office/drawing/2014/main" id="{9681B905-174F-3D1A-655A-14332834BE4A}"/>
                </a:ext>
              </a:extLst>
            </p:cNvPr>
            <p:cNvCxnSpPr>
              <a:cxnSpLocks/>
              <a:stCxn id="49" idx="3"/>
              <a:endCxn id="96" idx="1"/>
            </p:cNvCxnSpPr>
            <p:nvPr/>
          </p:nvCxnSpPr>
          <p:spPr>
            <a:xfrm flipV="1">
              <a:off x="8631709" y="4648171"/>
              <a:ext cx="717233" cy="1270"/>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7" name="연결선: 꺾임 146">
              <a:extLst>
                <a:ext uri="{FF2B5EF4-FFF2-40B4-BE49-F238E27FC236}">
                  <a16:creationId xmlns:a16="http://schemas.microsoft.com/office/drawing/2014/main" id="{28F87552-B942-1430-4030-BA6C58519016}"/>
                </a:ext>
              </a:extLst>
            </p:cNvPr>
            <p:cNvCxnSpPr>
              <a:cxnSpLocks/>
              <a:stCxn id="50" idx="3"/>
              <a:endCxn id="97" idx="1"/>
            </p:cNvCxnSpPr>
            <p:nvPr/>
          </p:nvCxnSpPr>
          <p:spPr>
            <a:xfrm flipV="1">
              <a:off x="8631709" y="4921728"/>
              <a:ext cx="717233" cy="1270"/>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3" name="연결선: 꺾임 152">
              <a:extLst>
                <a:ext uri="{FF2B5EF4-FFF2-40B4-BE49-F238E27FC236}">
                  <a16:creationId xmlns:a16="http://schemas.microsoft.com/office/drawing/2014/main" id="{91E5784B-5A93-ADA9-1047-F6142B1D27C7}"/>
                </a:ext>
              </a:extLst>
            </p:cNvPr>
            <p:cNvCxnSpPr>
              <a:cxnSpLocks/>
              <a:stCxn id="62" idx="3"/>
              <a:endCxn id="98" idx="1"/>
            </p:cNvCxnSpPr>
            <p:nvPr/>
          </p:nvCxnSpPr>
          <p:spPr>
            <a:xfrm flipV="1">
              <a:off x="8631709" y="5272399"/>
              <a:ext cx="717233" cy="1270"/>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1" name="연결선: 꺾임 160">
              <a:extLst>
                <a:ext uri="{FF2B5EF4-FFF2-40B4-BE49-F238E27FC236}">
                  <a16:creationId xmlns:a16="http://schemas.microsoft.com/office/drawing/2014/main" id="{3695EF9F-45FE-AE7F-68BC-FE27928549BB}"/>
                </a:ext>
              </a:extLst>
            </p:cNvPr>
            <p:cNvCxnSpPr>
              <a:cxnSpLocks/>
              <a:stCxn id="68" idx="3"/>
              <a:endCxn id="99" idx="1"/>
            </p:cNvCxnSpPr>
            <p:nvPr/>
          </p:nvCxnSpPr>
          <p:spPr>
            <a:xfrm>
              <a:off x="8631709" y="5917329"/>
              <a:ext cx="717233" cy="13769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4" name="연결선: 꺾임 163">
              <a:extLst>
                <a:ext uri="{FF2B5EF4-FFF2-40B4-BE49-F238E27FC236}">
                  <a16:creationId xmlns:a16="http://schemas.microsoft.com/office/drawing/2014/main" id="{EF508B38-D705-B81F-AA49-9F94B6407CD2}"/>
                </a:ext>
              </a:extLst>
            </p:cNvPr>
            <p:cNvCxnSpPr>
              <a:cxnSpLocks/>
              <a:endCxn id="99" idx="1"/>
            </p:cNvCxnSpPr>
            <p:nvPr/>
          </p:nvCxnSpPr>
          <p:spPr>
            <a:xfrm flipV="1">
              <a:off x="8631709" y="6055021"/>
              <a:ext cx="717233" cy="129414"/>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7" name="연결선: 꺾임 166">
              <a:extLst>
                <a:ext uri="{FF2B5EF4-FFF2-40B4-BE49-F238E27FC236}">
                  <a16:creationId xmlns:a16="http://schemas.microsoft.com/office/drawing/2014/main" id="{933AEA0A-D84A-45C8-BB7D-E32B1B98D904}"/>
                </a:ext>
              </a:extLst>
            </p:cNvPr>
            <p:cNvCxnSpPr>
              <a:cxnSpLocks/>
              <a:stCxn id="103" idx="3"/>
              <a:endCxn id="102" idx="1"/>
            </p:cNvCxnSpPr>
            <p:nvPr/>
          </p:nvCxnSpPr>
          <p:spPr>
            <a:xfrm>
              <a:off x="8631709" y="6474077"/>
              <a:ext cx="717233" cy="78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242070985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그림 27"/>
          <p:cNvPicPr>
            <a:picLocks noChangeAspect="1"/>
          </p:cNvPicPr>
          <p:nvPr/>
        </p:nvPicPr>
        <p:blipFill>
          <a:blip r:embed="rId3"/>
          <a:stretch>
            <a:fillRect/>
          </a:stretch>
        </p:blipFill>
        <p:spPr>
          <a:xfrm>
            <a:off x="3423969" y="2424314"/>
            <a:ext cx="4715525" cy="2414151"/>
          </a:xfrm>
          <a:prstGeom prst="rect">
            <a:avLst/>
          </a:prstGeom>
        </p:spPr>
      </p:pic>
      <p:sp>
        <p:nvSpPr>
          <p:cNvPr id="30" name="타원 29"/>
          <p:cNvSpPr/>
          <p:nvPr/>
        </p:nvSpPr>
        <p:spPr>
          <a:xfrm>
            <a:off x="4167893" y="2051566"/>
            <a:ext cx="3971601" cy="3452420"/>
          </a:xfrm>
          <a:prstGeom prst="ellipse">
            <a:avLst/>
          </a:pr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TextBox 30"/>
          <p:cNvSpPr txBox="1"/>
          <p:nvPr/>
        </p:nvSpPr>
        <p:spPr>
          <a:xfrm>
            <a:off x="8400257" y="1352322"/>
            <a:ext cx="2138983" cy="307777"/>
          </a:xfrm>
          <a:prstGeom prst="rect">
            <a:avLst/>
          </a:prstGeom>
          <a:noFill/>
        </p:spPr>
        <p:txBody>
          <a:bodyPr wrap="none" rtlCol="0">
            <a:spAutoFit/>
          </a:bodyPr>
          <a:lstStyle/>
          <a:p>
            <a:r>
              <a:rPr lang="ko-KR" altLang="en-US" sz="1400" dirty="0">
                <a:solidFill>
                  <a:srgbClr val="C00000"/>
                </a:solidFill>
                <a:latin typeface="+mj-ea"/>
                <a:ea typeface="+mj-ea"/>
              </a:rPr>
              <a:t>상표권</a:t>
            </a:r>
            <a:r>
              <a:rPr lang="en-US" altLang="ko-KR" sz="1400" dirty="0">
                <a:solidFill>
                  <a:srgbClr val="C00000"/>
                </a:solidFill>
                <a:latin typeface="+mj-ea"/>
                <a:ea typeface="+mj-ea"/>
              </a:rPr>
              <a:t>(Trademark Right)</a:t>
            </a:r>
            <a:endParaRPr lang="ko-KR" altLang="en-US" sz="1400" dirty="0">
              <a:solidFill>
                <a:srgbClr val="C00000"/>
              </a:solidFill>
              <a:latin typeface="+mj-ea"/>
              <a:ea typeface="+mj-ea"/>
            </a:endParaRPr>
          </a:p>
        </p:txBody>
      </p:sp>
      <p:sp>
        <p:nvSpPr>
          <p:cNvPr id="32" name="TextBox 31"/>
          <p:cNvSpPr txBox="1"/>
          <p:nvPr/>
        </p:nvSpPr>
        <p:spPr>
          <a:xfrm>
            <a:off x="8400256" y="1712362"/>
            <a:ext cx="3646063" cy="1577355"/>
          </a:xfrm>
          <a:prstGeom prst="rect">
            <a:avLst/>
          </a:prstGeom>
          <a:noFill/>
        </p:spPr>
        <p:txBody>
          <a:bodyPr wrap="none" rtlCol="0">
            <a:spAutoFit/>
          </a:bodyPr>
          <a:lstStyle/>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보호대상</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상품의 명칭</a:t>
            </a:r>
            <a:endParaRPr lang="en-US" altLang="ko-KR" sz="1400" dirty="0">
              <a:solidFill>
                <a:schemeClr val="tx1">
                  <a:lumMod val="65000"/>
                  <a:lumOff val="35000"/>
                </a:schemeClr>
              </a:solidFill>
              <a:latin typeface="+mn-ea"/>
            </a:endParaRPr>
          </a:p>
          <a:p>
            <a:pPr>
              <a:spcAft>
                <a:spcPts val="300"/>
              </a:spcAft>
            </a:pPr>
            <a:r>
              <a:rPr lang="en-US" altLang="ko-KR" sz="1400" dirty="0">
                <a:solidFill>
                  <a:schemeClr val="tx1">
                    <a:lumMod val="65000"/>
                    <a:lumOff val="35000"/>
                  </a:schemeClr>
                </a:solidFill>
                <a:latin typeface="+mn-ea"/>
              </a:rPr>
              <a:t>   ex) </a:t>
            </a:r>
            <a:r>
              <a:rPr lang="ko-KR" altLang="en-US" sz="1400" dirty="0">
                <a:solidFill>
                  <a:schemeClr val="tx1">
                    <a:lumMod val="65000"/>
                    <a:lumOff val="35000"/>
                  </a:schemeClr>
                </a:solidFill>
                <a:latin typeface="+mn-ea"/>
              </a:rPr>
              <a:t>자동차 명칭</a:t>
            </a:r>
            <a:r>
              <a:rPr lang="en-US" altLang="ko-KR" sz="1400" dirty="0">
                <a:solidFill>
                  <a:schemeClr val="tx1">
                    <a:lumMod val="65000"/>
                    <a:lumOff val="35000"/>
                  </a:schemeClr>
                </a:solidFill>
                <a:latin typeface="+mn-ea"/>
              </a:rPr>
              <a:t>(</a:t>
            </a:r>
            <a:r>
              <a:rPr lang="ko-KR" altLang="en-US" sz="1400" dirty="0" err="1">
                <a:solidFill>
                  <a:schemeClr val="tx1">
                    <a:lumMod val="65000"/>
                    <a:lumOff val="35000"/>
                  </a:schemeClr>
                </a:solidFill>
                <a:latin typeface="+mn-ea"/>
              </a:rPr>
              <a:t>제네시스</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제작사 명칭</a:t>
            </a:r>
            <a:r>
              <a:rPr lang="en-US" altLang="ko-KR" sz="1400" dirty="0">
                <a:solidFill>
                  <a:schemeClr val="tx1">
                    <a:lumMod val="65000"/>
                    <a:lumOff val="35000"/>
                  </a:schemeClr>
                </a:solidFill>
                <a:latin typeface="+mn-ea"/>
              </a:rPr>
              <a:t>(</a:t>
            </a:r>
            <a:r>
              <a:rPr lang="ko-KR" altLang="en-US" sz="1400" dirty="0">
                <a:solidFill>
                  <a:schemeClr val="tx1">
                    <a:lumMod val="65000"/>
                    <a:lumOff val="35000"/>
                  </a:schemeClr>
                </a:solidFill>
                <a:latin typeface="+mn-ea"/>
              </a:rPr>
              <a:t>현대</a:t>
            </a:r>
            <a:r>
              <a:rPr lang="en-US" altLang="ko-KR" sz="1400" dirty="0">
                <a:solidFill>
                  <a:schemeClr val="tx1">
                    <a:lumMod val="65000"/>
                    <a:lumOff val="35000"/>
                  </a:schemeClr>
                </a:solidFill>
                <a:latin typeface="+mn-ea"/>
              </a:rPr>
              <a:t>)</a:t>
            </a: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권리해석</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문자</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도형 등의 상표견본</a:t>
            </a:r>
            <a:endParaRPr lang="en-US" altLang="ko-KR" sz="1400" dirty="0">
              <a:solidFill>
                <a:schemeClr val="tx1">
                  <a:lumMod val="65000"/>
                  <a:lumOff val="35000"/>
                </a:schemeClr>
              </a:solidFill>
              <a:latin typeface="+mn-ea"/>
            </a:endParaRP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침해판단</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상표의 동일 또는 유사</a:t>
            </a:r>
            <a:endParaRPr lang="en-US" altLang="ko-KR" sz="1400" dirty="0">
              <a:solidFill>
                <a:schemeClr val="tx1">
                  <a:lumMod val="65000"/>
                  <a:lumOff val="35000"/>
                </a:schemeClr>
              </a:solidFill>
              <a:latin typeface="+mn-ea"/>
            </a:endParaRP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보호기간</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등록일로부터 </a:t>
            </a:r>
            <a:r>
              <a:rPr lang="en-US" altLang="ko-KR" sz="1400" dirty="0">
                <a:solidFill>
                  <a:schemeClr val="tx1">
                    <a:lumMod val="65000"/>
                    <a:lumOff val="35000"/>
                  </a:schemeClr>
                </a:solidFill>
                <a:latin typeface="+mn-ea"/>
              </a:rPr>
              <a:t>10</a:t>
            </a:r>
            <a:r>
              <a:rPr lang="ko-KR" altLang="en-US" sz="1400" dirty="0">
                <a:solidFill>
                  <a:schemeClr val="tx1">
                    <a:lumMod val="65000"/>
                    <a:lumOff val="35000"/>
                  </a:schemeClr>
                </a:solidFill>
                <a:latin typeface="+mn-ea"/>
              </a:rPr>
              <a:t>년</a:t>
            </a:r>
            <a:endParaRPr lang="en-US" altLang="ko-KR" sz="1400" dirty="0">
              <a:solidFill>
                <a:schemeClr val="tx1">
                  <a:lumMod val="65000"/>
                  <a:lumOff val="35000"/>
                </a:schemeClr>
              </a:solidFill>
              <a:latin typeface="+mn-ea"/>
            </a:endParaRPr>
          </a:p>
          <a:p>
            <a:pPr>
              <a:spcAft>
                <a:spcPts val="300"/>
              </a:spcAft>
            </a:pPr>
            <a:r>
              <a:rPr lang="en-US" altLang="ko-KR" sz="1400" dirty="0">
                <a:solidFill>
                  <a:schemeClr val="tx1">
                    <a:lumMod val="65000"/>
                    <a:lumOff val="35000"/>
                  </a:schemeClr>
                </a:solidFill>
                <a:latin typeface="+mn-ea"/>
              </a:rPr>
              <a:t>  * </a:t>
            </a:r>
            <a:r>
              <a:rPr lang="ko-KR" altLang="en-US" sz="1400" dirty="0">
                <a:solidFill>
                  <a:schemeClr val="tx1">
                    <a:lumMod val="65000"/>
                    <a:lumOff val="35000"/>
                  </a:schemeClr>
                </a:solidFill>
                <a:latin typeface="+mn-ea"/>
              </a:rPr>
              <a:t>갱신가능</a:t>
            </a:r>
            <a:r>
              <a:rPr lang="en-US" altLang="ko-KR" sz="1400" dirty="0">
                <a:solidFill>
                  <a:schemeClr val="tx1">
                    <a:lumMod val="65000"/>
                    <a:lumOff val="35000"/>
                  </a:schemeClr>
                </a:solidFill>
                <a:latin typeface="+mn-ea"/>
              </a:rPr>
              <a:t>(</a:t>
            </a:r>
            <a:r>
              <a:rPr lang="ko-KR" altLang="en-US" sz="1400" dirty="0">
                <a:solidFill>
                  <a:schemeClr val="tx1">
                    <a:lumMod val="65000"/>
                    <a:lumOff val="35000"/>
                  </a:schemeClr>
                </a:solidFill>
                <a:latin typeface="+mn-ea"/>
              </a:rPr>
              <a:t>반영구적 보호</a:t>
            </a:r>
            <a:r>
              <a:rPr lang="en-US" altLang="ko-KR" sz="1400" dirty="0">
                <a:solidFill>
                  <a:schemeClr val="tx1">
                    <a:lumMod val="65000"/>
                    <a:lumOff val="35000"/>
                  </a:schemeClr>
                </a:solidFill>
                <a:latin typeface="+mn-ea"/>
              </a:rPr>
              <a:t>)</a:t>
            </a:r>
            <a:endParaRPr lang="ko-KR" altLang="en-US" sz="1400" dirty="0">
              <a:solidFill>
                <a:schemeClr val="tx1">
                  <a:lumMod val="65000"/>
                  <a:lumOff val="35000"/>
                </a:schemeClr>
              </a:solidFill>
              <a:latin typeface="+mn-ea"/>
            </a:endParaRPr>
          </a:p>
        </p:txBody>
      </p:sp>
      <p:sp>
        <p:nvSpPr>
          <p:cNvPr id="33" name="TextBox 32"/>
          <p:cNvSpPr txBox="1"/>
          <p:nvPr/>
        </p:nvSpPr>
        <p:spPr>
          <a:xfrm>
            <a:off x="340902" y="1568346"/>
            <a:ext cx="1999265" cy="307777"/>
          </a:xfrm>
          <a:prstGeom prst="rect">
            <a:avLst/>
          </a:prstGeom>
          <a:noFill/>
        </p:spPr>
        <p:txBody>
          <a:bodyPr wrap="none" rtlCol="0">
            <a:spAutoFit/>
          </a:bodyPr>
          <a:lstStyle/>
          <a:p>
            <a:r>
              <a:rPr lang="ko-KR" altLang="en-US" sz="1400" dirty="0" err="1">
                <a:solidFill>
                  <a:srgbClr val="C00000"/>
                </a:solidFill>
                <a:latin typeface="+mj-ea"/>
                <a:ea typeface="+mj-ea"/>
              </a:rPr>
              <a:t>디자인권</a:t>
            </a:r>
            <a:r>
              <a:rPr lang="en-US" altLang="ko-KR" sz="1400" dirty="0">
                <a:solidFill>
                  <a:srgbClr val="C00000"/>
                </a:solidFill>
                <a:latin typeface="+mj-ea"/>
                <a:ea typeface="+mj-ea"/>
              </a:rPr>
              <a:t>(Design Right)</a:t>
            </a:r>
            <a:endParaRPr lang="ko-KR" altLang="en-US" sz="1400" dirty="0">
              <a:solidFill>
                <a:srgbClr val="C00000"/>
              </a:solidFill>
              <a:latin typeface="+mj-ea"/>
              <a:ea typeface="+mj-ea"/>
            </a:endParaRPr>
          </a:p>
        </p:txBody>
      </p:sp>
      <p:sp>
        <p:nvSpPr>
          <p:cNvPr id="34" name="TextBox 33"/>
          <p:cNvSpPr txBox="1"/>
          <p:nvPr/>
        </p:nvSpPr>
        <p:spPr>
          <a:xfrm>
            <a:off x="373263" y="1938240"/>
            <a:ext cx="3344698" cy="1323439"/>
          </a:xfrm>
          <a:prstGeom prst="rect">
            <a:avLst/>
          </a:prstGeom>
          <a:noFill/>
        </p:spPr>
        <p:txBody>
          <a:bodyPr wrap="none" rtlCol="0">
            <a:spAutoFit/>
          </a:bodyPr>
          <a:lstStyle/>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보호대상</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물품의 외관</a:t>
            </a:r>
            <a:endParaRPr lang="en-US" altLang="ko-KR" sz="1400" dirty="0">
              <a:solidFill>
                <a:schemeClr val="tx1">
                  <a:lumMod val="65000"/>
                  <a:lumOff val="35000"/>
                </a:schemeClr>
              </a:solidFill>
              <a:latin typeface="+mn-ea"/>
            </a:endParaRPr>
          </a:p>
          <a:p>
            <a:pPr>
              <a:spcAft>
                <a:spcPts val="300"/>
              </a:spcAft>
            </a:pPr>
            <a:r>
              <a:rPr lang="en-US" altLang="ko-KR" sz="1400" dirty="0">
                <a:solidFill>
                  <a:schemeClr val="tx1">
                    <a:lumMod val="65000"/>
                    <a:lumOff val="35000"/>
                  </a:schemeClr>
                </a:solidFill>
                <a:latin typeface="+mn-ea"/>
              </a:rPr>
              <a:t>  ex) </a:t>
            </a:r>
            <a:r>
              <a:rPr lang="ko-KR" altLang="en-US" sz="1400" dirty="0">
                <a:solidFill>
                  <a:schemeClr val="tx1">
                    <a:lumMod val="65000"/>
                    <a:lumOff val="35000"/>
                  </a:schemeClr>
                </a:solidFill>
                <a:latin typeface="+mn-ea"/>
              </a:rPr>
              <a:t>자체 형상</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전방램프 형상</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의자형상 등</a:t>
            </a:r>
            <a:endParaRPr lang="en-US" altLang="ko-KR" sz="1400" dirty="0">
              <a:solidFill>
                <a:schemeClr val="tx1">
                  <a:lumMod val="65000"/>
                  <a:lumOff val="35000"/>
                </a:schemeClr>
              </a:solidFill>
              <a:latin typeface="+mn-ea"/>
            </a:endParaRP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권리해석</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물품의 도면</a:t>
            </a:r>
            <a:endParaRPr lang="en-US" altLang="ko-KR" sz="1400" dirty="0">
              <a:solidFill>
                <a:schemeClr val="tx1">
                  <a:lumMod val="65000"/>
                  <a:lumOff val="35000"/>
                </a:schemeClr>
              </a:solidFill>
              <a:latin typeface="+mn-ea"/>
            </a:endParaRP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침해판단</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디자인의 동일 또는 유사</a:t>
            </a:r>
            <a:endParaRPr lang="en-US" altLang="ko-KR" sz="1400" dirty="0">
              <a:solidFill>
                <a:schemeClr val="tx1">
                  <a:lumMod val="65000"/>
                  <a:lumOff val="35000"/>
                </a:schemeClr>
              </a:solidFill>
              <a:latin typeface="+mn-ea"/>
            </a:endParaRP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보호기간</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등록된 후 출원일로부터 </a:t>
            </a:r>
            <a:r>
              <a:rPr lang="en-US" altLang="ko-KR" sz="1400" dirty="0">
                <a:solidFill>
                  <a:schemeClr val="tx1">
                    <a:lumMod val="65000"/>
                    <a:lumOff val="35000"/>
                  </a:schemeClr>
                </a:solidFill>
                <a:latin typeface="+mn-ea"/>
              </a:rPr>
              <a:t>20</a:t>
            </a:r>
            <a:r>
              <a:rPr lang="ko-KR" altLang="en-US" sz="1400" dirty="0">
                <a:solidFill>
                  <a:schemeClr val="tx1">
                    <a:lumMod val="65000"/>
                    <a:lumOff val="35000"/>
                  </a:schemeClr>
                </a:solidFill>
                <a:latin typeface="+mn-ea"/>
              </a:rPr>
              <a:t>년</a:t>
            </a:r>
          </a:p>
        </p:txBody>
      </p:sp>
      <p:sp>
        <p:nvSpPr>
          <p:cNvPr id="35" name="TextBox 34"/>
          <p:cNvSpPr txBox="1"/>
          <p:nvPr/>
        </p:nvSpPr>
        <p:spPr>
          <a:xfrm>
            <a:off x="340902" y="4253661"/>
            <a:ext cx="2648482" cy="523220"/>
          </a:xfrm>
          <a:prstGeom prst="rect">
            <a:avLst/>
          </a:prstGeom>
          <a:noFill/>
        </p:spPr>
        <p:txBody>
          <a:bodyPr wrap="none" rtlCol="0">
            <a:spAutoFit/>
          </a:bodyPr>
          <a:lstStyle/>
          <a:p>
            <a:r>
              <a:rPr lang="ko-KR" altLang="en-US" sz="1400" dirty="0">
                <a:solidFill>
                  <a:srgbClr val="C00000"/>
                </a:solidFill>
                <a:latin typeface="+mj-ea"/>
                <a:ea typeface="+mj-ea"/>
              </a:rPr>
              <a:t>특허권</a:t>
            </a:r>
            <a:r>
              <a:rPr lang="en-US" altLang="ko-KR" sz="1400" dirty="0">
                <a:solidFill>
                  <a:srgbClr val="C00000"/>
                </a:solidFill>
                <a:latin typeface="+mj-ea"/>
                <a:ea typeface="+mj-ea"/>
              </a:rPr>
              <a:t>(Patent Right)/</a:t>
            </a:r>
          </a:p>
          <a:p>
            <a:r>
              <a:rPr lang="ko-KR" altLang="en-US" sz="1400" dirty="0" err="1">
                <a:solidFill>
                  <a:srgbClr val="C00000"/>
                </a:solidFill>
                <a:latin typeface="+mj-ea"/>
                <a:ea typeface="+mj-ea"/>
              </a:rPr>
              <a:t>실용신안권</a:t>
            </a:r>
            <a:r>
              <a:rPr lang="en-US" altLang="ko-KR" sz="1400" dirty="0">
                <a:solidFill>
                  <a:srgbClr val="C00000"/>
                </a:solidFill>
                <a:latin typeface="+mj-ea"/>
                <a:ea typeface="+mj-ea"/>
              </a:rPr>
              <a:t>(Utility model Right)</a:t>
            </a:r>
            <a:endParaRPr lang="ko-KR" altLang="en-US" sz="1400" dirty="0">
              <a:solidFill>
                <a:srgbClr val="C00000"/>
              </a:solidFill>
              <a:latin typeface="+mj-ea"/>
              <a:ea typeface="+mj-ea"/>
            </a:endParaRPr>
          </a:p>
        </p:txBody>
      </p:sp>
      <p:sp>
        <p:nvSpPr>
          <p:cNvPr id="36" name="TextBox 35"/>
          <p:cNvSpPr txBox="1"/>
          <p:nvPr/>
        </p:nvSpPr>
        <p:spPr>
          <a:xfrm>
            <a:off x="373264" y="4838466"/>
            <a:ext cx="4851328" cy="1323439"/>
          </a:xfrm>
          <a:prstGeom prst="rect">
            <a:avLst/>
          </a:prstGeom>
          <a:noFill/>
        </p:spPr>
        <p:txBody>
          <a:bodyPr wrap="none" rtlCol="0">
            <a:spAutoFit/>
          </a:bodyPr>
          <a:lstStyle/>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보호대상</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기술</a:t>
            </a:r>
            <a:endParaRPr lang="en-US" altLang="ko-KR" sz="1400" dirty="0">
              <a:solidFill>
                <a:schemeClr val="tx1">
                  <a:lumMod val="65000"/>
                  <a:lumOff val="35000"/>
                </a:schemeClr>
              </a:solidFill>
              <a:latin typeface="+mn-ea"/>
            </a:endParaRPr>
          </a:p>
          <a:p>
            <a:pPr>
              <a:spcAft>
                <a:spcPts val="300"/>
              </a:spcAft>
            </a:pPr>
            <a:r>
              <a:rPr lang="en-US" altLang="ko-KR" sz="1400" dirty="0">
                <a:solidFill>
                  <a:schemeClr val="tx1">
                    <a:lumMod val="65000"/>
                    <a:lumOff val="35000"/>
                  </a:schemeClr>
                </a:solidFill>
                <a:latin typeface="+mn-ea"/>
              </a:rPr>
              <a:t>  ex) ABS</a:t>
            </a:r>
            <a:r>
              <a:rPr lang="ko-KR" altLang="en-US" sz="1400" dirty="0">
                <a:solidFill>
                  <a:schemeClr val="tx1">
                    <a:lumMod val="65000"/>
                    <a:lumOff val="35000"/>
                  </a:schemeClr>
                </a:solidFill>
                <a:latin typeface="+mn-ea"/>
              </a:rPr>
              <a:t>브레이크</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변속기</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의자높낮이 조절 등</a:t>
            </a:r>
            <a:endParaRPr lang="en-US" altLang="ko-KR" sz="1400" dirty="0">
              <a:solidFill>
                <a:schemeClr val="tx1">
                  <a:lumMod val="65000"/>
                  <a:lumOff val="35000"/>
                </a:schemeClr>
              </a:solidFill>
              <a:latin typeface="+mn-ea"/>
            </a:endParaRP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권리해석</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청구범위</a:t>
            </a:r>
            <a:endParaRPr lang="en-US" altLang="ko-KR" sz="1400" dirty="0">
              <a:solidFill>
                <a:schemeClr val="tx1">
                  <a:lumMod val="65000"/>
                  <a:lumOff val="35000"/>
                </a:schemeClr>
              </a:solidFill>
              <a:latin typeface="+mn-ea"/>
            </a:endParaRP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침해판단</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청구범위에 기재된 발명 실시 여부</a:t>
            </a:r>
            <a:endParaRPr lang="en-US" altLang="ko-KR" sz="1400" dirty="0">
              <a:solidFill>
                <a:schemeClr val="tx1">
                  <a:lumMod val="65000"/>
                  <a:lumOff val="35000"/>
                </a:schemeClr>
              </a:solidFill>
              <a:latin typeface="+mn-ea"/>
            </a:endParaRP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보호기간</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등록된 후 출원일로부터 </a:t>
            </a:r>
            <a:r>
              <a:rPr lang="en-US" altLang="ko-KR" sz="1400" dirty="0">
                <a:solidFill>
                  <a:schemeClr val="tx1">
                    <a:lumMod val="65000"/>
                    <a:lumOff val="35000"/>
                  </a:schemeClr>
                </a:solidFill>
                <a:latin typeface="+mn-ea"/>
              </a:rPr>
              <a:t>20</a:t>
            </a:r>
            <a:r>
              <a:rPr lang="ko-KR" altLang="en-US" sz="1400" dirty="0">
                <a:solidFill>
                  <a:schemeClr val="tx1">
                    <a:lumMod val="65000"/>
                    <a:lumOff val="35000"/>
                  </a:schemeClr>
                </a:solidFill>
                <a:latin typeface="+mn-ea"/>
              </a:rPr>
              <a:t>년</a:t>
            </a:r>
            <a:r>
              <a:rPr lang="en-US" altLang="ko-KR" sz="1400" dirty="0">
                <a:solidFill>
                  <a:schemeClr val="tx1">
                    <a:lumMod val="65000"/>
                    <a:lumOff val="35000"/>
                  </a:schemeClr>
                </a:solidFill>
                <a:latin typeface="+mn-ea"/>
              </a:rPr>
              <a:t>(</a:t>
            </a:r>
            <a:r>
              <a:rPr lang="ko-KR" altLang="en-US" sz="1400" dirty="0">
                <a:solidFill>
                  <a:schemeClr val="tx1">
                    <a:lumMod val="65000"/>
                    <a:lumOff val="35000"/>
                  </a:schemeClr>
                </a:solidFill>
                <a:latin typeface="+mn-ea"/>
              </a:rPr>
              <a:t>특허</a:t>
            </a:r>
            <a:r>
              <a:rPr lang="en-US" altLang="ko-KR" sz="1400" dirty="0">
                <a:solidFill>
                  <a:schemeClr val="tx1">
                    <a:lumMod val="65000"/>
                    <a:lumOff val="35000"/>
                  </a:schemeClr>
                </a:solidFill>
                <a:latin typeface="+mn-ea"/>
              </a:rPr>
              <a:t>), 10</a:t>
            </a:r>
            <a:r>
              <a:rPr lang="ko-KR" altLang="en-US" sz="1400" dirty="0">
                <a:solidFill>
                  <a:schemeClr val="tx1">
                    <a:lumMod val="65000"/>
                    <a:lumOff val="35000"/>
                  </a:schemeClr>
                </a:solidFill>
                <a:latin typeface="+mn-ea"/>
              </a:rPr>
              <a:t>년</a:t>
            </a:r>
            <a:r>
              <a:rPr lang="en-US" altLang="ko-KR" sz="1400" dirty="0">
                <a:solidFill>
                  <a:schemeClr val="tx1">
                    <a:lumMod val="65000"/>
                    <a:lumOff val="35000"/>
                  </a:schemeClr>
                </a:solidFill>
                <a:latin typeface="+mn-ea"/>
              </a:rPr>
              <a:t>(</a:t>
            </a:r>
            <a:r>
              <a:rPr lang="ko-KR" altLang="en-US" sz="1400" dirty="0">
                <a:solidFill>
                  <a:schemeClr val="tx1">
                    <a:lumMod val="65000"/>
                    <a:lumOff val="35000"/>
                  </a:schemeClr>
                </a:solidFill>
                <a:latin typeface="+mn-ea"/>
              </a:rPr>
              <a:t>실용신안</a:t>
            </a:r>
            <a:r>
              <a:rPr lang="en-US" altLang="ko-KR" sz="1400" dirty="0">
                <a:solidFill>
                  <a:schemeClr val="tx1">
                    <a:lumMod val="65000"/>
                    <a:lumOff val="35000"/>
                  </a:schemeClr>
                </a:solidFill>
                <a:latin typeface="+mn-ea"/>
              </a:rPr>
              <a:t>)</a:t>
            </a:r>
            <a:endParaRPr lang="ko-KR" altLang="en-US" sz="1400" dirty="0">
              <a:solidFill>
                <a:schemeClr val="tx1">
                  <a:lumMod val="65000"/>
                  <a:lumOff val="35000"/>
                </a:schemeClr>
              </a:solidFill>
              <a:latin typeface="+mn-ea"/>
            </a:endParaRPr>
          </a:p>
        </p:txBody>
      </p:sp>
      <p:sp>
        <p:nvSpPr>
          <p:cNvPr id="37" name="TextBox 36"/>
          <p:cNvSpPr txBox="1"/>
          <p:nvPr/>
        </p:nvSpPr>
        <p:spPr>
          <a:xfrm>
            <a:off x="8400257" y="4068881"/>
            <a:ext cx="1675074" cy="307777"/>
          </a:xfrm>
          <a:prstGeom prst="rect">
            <a:avLst/>
          </a:prstGeom>
          <a:noFill/>
        </p:spPr>
        <p:txBody>
          <a:bodyPr wrap="none" rtlCol="0">
            <a:spAutoFit/>
          </a:bodyPr>
          <a:lstStyle/>
          <a:p>
            <a:r>
              <a:rPr lang="ko-KR" altLang="en-US" sz="1400" dirty="0">
                <a:solidFill>
                  <a:srgbClr val="C00000"/>
                </a:solidFill>
                <a:latin typeface="+mj-ea"/>
                <a:ea typeface="+mj-ea"/>
              </a:rPr>
              <a:t>저작권</a:t>
            </a:r>
            <a:r>
              <a:rPr lang="en-US" altLang="ko-KR" sz="1400" dirty="0">
                <a:solidFill>
                  <a:srgbClr val="C00000"/>
                </a:solidFill>
                <a:latin typeface="+mj-ea"/>
                <a:ea typeface="+mj-ea"/>
              </a:rPr>
              <a:t>(Copy Right)</a:t>
            </a:r>
            <a:endParaRPr lang="ko-KR" altLang="en-US" sz="1400" dirty="0">
              <a:solidFill>
                <a:srgbClr val="C00000"/>
              </a:solidFill>
              <a:latin typeface="+mj-ea"/>
              <a:ea typeface="+mj-ea"/>
            </a:endParaRPr>
          </a:p>
        </p:txBody>
      </p:sp>
      <p:sp>
        <p:nvSpPr>
          <p:cNvPr id="38" name="TextBox 37"/>
          <p:cNvSpPr txBox="1"/>
          <p:nvPr/>
        </p:nvSpPr>
        <p:spPr>
          <a:xfrm>
            <a:off x="8400256" y="4376658"/>
            <a:ext cx="3642664" cy="1323439"/>
          </a:xfrm>
          <a:prstGeom prst="rect">
            <a:avLst/>
          </a:prstGeom>
          <a:noFill/>
        </p:spPr>
        <p:txBody>
          <a:bodyPr wrap="none" rtlCol="0">
            <a:spAutoFit/>
          </a:bodyPr>
          <a:lstStyle/>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보호대상</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인간의 사상과 감정을 표현한 창작물</a:t>
            </a:r>
            <a:endParaRPr lang="en-US" altLang="ko-KR" sz="1400" dirty="0">
              <a:solidFill>
                <a:schemeClr val="tx1">
                  <a:lumMod val="65000"/>
                  <a:lumOff val="35000"/>
                </a:schemeClr>
              </a:solidFill>
              <a:latin typeface="+mn-ea"/>
            </a:endParaRPr>
          </a:p>
          <a:p>
            <a:pPr>
              <a:spcAft>
                <a:spcPts val="300"/>
              </a:spcAft>
            </a:pPr>
            <a:r>
              <a:rPr lang="en-US" altLang="ko-KR" sz="1400" dirty="0">
                <a:solidFill>
                  <a:schemeClr val="tx1">
                    <a:lumMod val="65000"/>
                    <a:lumOff val="35000"/>
                  </a:schemeClr>
                </a:solidFill>
                <a:latin typeface="+mn-ea"/>
              </a:rPr>
              <a:t>   ex) </a:t>
            </a:r>
            <a:r>
              <a:rPr lang="ko-KR" altLang="en-US" sz="1400" dirty="0">
                <a:solidFill>
                  <a:schemeClr val="tx1">
                    <a:lumMod val="65000"/>
                    <a:lumOff val="35000"/>
                  </a:schemeClr>
                </a:solidFill>
                <a:latin typeface="+mn-ea"/>
              </a:rPr>
              <a:t>디지털 </a:t>
            </a:r>
            <a:r>
              <a:rPr lang="ko-KR" altLang="en-US" sz="1400" dirty="0" err="1">
                <a:solidFill>
                  <a:schemeClr val="tx1">
                    <a:lumMod val="65000"/>
                    <a:lumOff val="35000"/>
                  </a:schemeClr>
                </a:solidFill>
                <a:latin typeface="+mn-ea"/>
              </a:rPr>
              <a:t>컨텐츠</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멜로디</a:t>
            </a:r>
            <a:endParaRPr lang="en-US" altLang="ko-KR" sz="1400" dirty="0">
              <a:solidFill>
                <a:schemeClr val="tx1">
                  <a:lumMod val="65000"/>
                  <a:lumOff val="35000"/>
                </a:schemeClr>
              </a:solidFill>
              <a:latin typeface="+mn-ea"/>
            </a:endParaRP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권리해석</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저작물에 대한 표현</a:t>
            </a:r>
            <a:endParaRPr lang="en-US" altLang="ko-KR" sz="1400" dirty="0">
              <a:solidFill>
                <a:schemeClr val="tx1">
                  <a:lumMod val="65000"/>
                  <a:lumOff val="35000"/>
                </a:schemeClr>
              </a:solidFill>
              <a:latin typeface="+mn-ea"/>
            </a:endParaRP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침해판단</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저작물의 카피</a:t>
            </a:r>
            <a:r>
              <a:rPr lang="en-US" altLang="ko-KR" sz="1400" dirty="0">
                <a:solidFill>
                  <a:schemeClr val="tx1">
                    <a:lumMod val="65000"/>
                    <a:lumOff val="35000"/>
                  </a:schemeClr>
                </a:solidFill>
                <a:latin typeface="+mn-ea"/>
              </a:rPr>
              <a:t>(Copy)</a:t>
            </a:r>
          </a:p>
          <a:p>
            <a:pPr marL="84138" indent="-84138">
              <a:spcAft>
                <a:spcPts val="300"/>
              </a:spcAft>
              <a:buFont typeface="Arial" panose="020B0604020202020204" pitchFamily="34" charset="0"/>
              <a:buChar char="•"/>
            </a:pPr>
            <a:r>
              <a:rPr lang="ko-KR" altLang="en-US" sz="1400" dirty="0">
                <a:solidFill>
                  <a:schemeClr val="tx1">
                    <a:lumMod val="65000"/>
                    <a:lumOff val="35000"/>
                  </a:schemeClr>
                </a:solidFill>
                <a:latin typeface="+mn-ea"/>
              </a:rPr>
              <a:t>보호기간</a:t>
            </a:r>
            <a:r>
              <a:rPr lang="en-US" altLang="ko-KR" sz="1400" dirty="0">
                <a:solidFill>
                  <a:schemeClr val="tx1">
                    <a:lumMod val="65000"/>
                    <a:lumOff val="35000"/>
                  </a:schemeClr>
                </a:solidFill>
                <a:latin typeface="+mn-ea"/>
              </a:rPr>
              <a:t>: </a:t>
            </a:r>
            <a:r>
              <a:rPr lang="ko-KR" altLang="en-US" sz="1400" dirty="0">
                <a:solidFill>
                  <a:schemeClr val="tx1">
                    <a:lumMod val="65000"/>
                    <a:lumOff val="35000"/>
                  </a:schemeClr>
                </a:solidFill>
                <a:latin typeface="+mn-ea"/>
              </a:rPr>
              <a:t>저작자 사후 </a:t>
            </a:r>
            <a:r>
              <a:rPr lang="en-US" altLang="ko-KR" sz="1400" dirty="0">
                <a:solidFill>
                  <a:schemeClr val="tx1">
                    <a:lumMod val="65000"/>
                    <a:lumOff val="35000"/>
                  </a:schemeClr>
                </a:solidFill>
                <a:latin typeface="+mn-ea"/>
              </a:rPr>
              <a:t>70</a:t>
            </a:r>
            <a:r>
              <a:rPr lang="ko-KR" altLang="en-US" sz="1400" dirty="0">
                <a:solidFill>
                  <a:schemeClr val="tx1">
                    <a:lumMod val="65000"/>
                    <a:lumOff val="35000"/>
                  </a:schemeClr>
                </a:solidFill>
                <a:latin typeface="+mn-ea"/>
              </a:rPr>
              <a:t>년</a:t>
            </a:r>
          </a:p>
        </p:txBody>
      </p:sp>
      <p:sp>
        <p:nvSpPr>
          <p:cNvPr id="39" name="자유형 38"/>
          <p:cNvSpPr/>
          <p:nvPr/>
        </p:nvSpPr>
        <p:spPr>
          <a:xfrm>
            <a:off x="7570177" y="1683170"/>
            <a:ext cx="4557656" cy="904775"/>
          </a:xfrm>
          <a:custGeom>
            <a:avLst/>
            <a:gdLst>
              <a:gd name="connsiteX0" fmla="*/ 0 w 3570973"/>
              <a:gd name="connsiteY0" fmla="*/ 904775 h 904775"/>
              <a:gd name="connsiteX1" fmla="*/ 404261 w 3570973"/>
              <a:gd name="connsiteY1" fmla="*/ 904775 h 904775"/>
              <a:gd name="connsiteX2" fmla="*/ 693019 w 3570973"/>
              <a:gd name="connsiteY2" fmla="*/ 0 h 904775"/>
              <a:gd name="connsiteX3" fmla="*/ 3570973 w 3570973"/>
              <a:gd name="connsiteY3" fmla="*/ 0 h 904775"/>
            </a:gdLst>
            <a:ahLst/>
            <a:cxnLst>
              <a:cxn ang="0">
                <a:pos x="connsiteX0" y="connsiteY0"/>
              </a:cxn>
              <a:cxn ang="0">
                <a:pos x="connsiteX1" y="connsiteY1"/>
              </a:cxn>
              <a:cxn ang="0">
                <a:pos x="connsiteX2" y="connsiteY2"/>
              </a:cxn>
              <a:cxn ang="0">
                <a:pos x="connsiteX3" y="connsiteY3"/>
              </a:cxn>
            </a:cxnLst>
            <a:rect l="l" t="t" r="r" b="b"/>
            <a:pathLst>
              <a:path w="3570973" h="904775">
                <a:moveTo>
                  <a:pt x="0" y="904775"/>
                </a:moveTo>
                <a:lnTo>
                  <a:pt x="404261" y="904775"/>
                </a:lnTo>
                <a:lnTo>
                  <a:pt x="693019" y="0"/>
                </a:lnTo>
                <a:lnTo>
                  <a:pt x="3570973" y="0"/>
                </a:lnTo>
              </a:path>
            </a:pathLst>
          </a:cu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0" name="자유형 39"/>
          <p:cNvSpPr/>
          <p:nvPr/>
        </p:nvSpPr>
        <p:spPr>
          <a:xfrm>
            <a:off x="179674" y="1923802"/>
            <a:ext cx="4209448" cy="1001027"/>
          </a:xfrm>
          <a:custGeom>
            <a:avLst/>
            <a:gdLst>
              <a:gd name="connsiteX0" fmla="*/ 3253339 w 3253339"/>
              <a:gd name="connsiteY0" fmla="*/ 1001027 h 1001027"/>
              <a:gd name="connsiteX1" fmla="*/ 2954955 w 3253339"/>
              <a:gd name="connsiteY1" fmla="*/ 1001027 h 1001027"/>
              <a:gd name="connsiteX2" fmla="*/ 2954955 w 3253339"/>
              <a:gd name="connsiteY2" fmla="*/ 0 h 1001027"/>
              <a:gd name="connsiteX3" fmla="*/ 0 w 3253339"/>
              <a:gd name="connsiteY3" fmla="*/ 0 h 1001027"/>
            </a:gdLst>
            <a:ahLst/>
            <a:cxnLst>
              <a:cxn ang="0">
                <a:pos x="connsiteX0" y="connsiteY0"/>
              </a:cxn>
              <a:cxn ang="0">
                <a:pos x="connsiteX1" y="connsiteY1"/>
              </a:cxn>
              <a:cxn ang="0">
                <a:pos x="connsiteX2" y="connsiteY2"/>
              </a:cxn>
              <a:cxn ang="0">
                <a:pos x="connsiteX3" y="connsiteY3"/>
              </a:cxn>
            </a:cxnLst>
            <a:rect l="l" t="t" r="r" b="b"/>
            <a:pathLst>
              <a:path w="3253339" h="1001027">
                <a:moveTo>
                  <a:pt x="3253339" y="1001027"/>
                </a:moveTo>
                <a:lnTo>
                  <a:pt x="2954955" y="1001027"/>
                </a:lnTo>
                <a:lnTo>
                  <a:pt x="2954955" y="0"/>
                </a:lnTo>
                <a:lnTo>
                  <a:pt x="0" y="0"/>
                </a:lnTo>
              </a:path>
            </a:pathLst>
          </a:cu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1" name="자유형 40"/>
          <p:cNvSpPr/>
          <p:nvPr/>
        </p:nvSpPr>
        <p:spPr>
          <a:xfrm>
            <a:off x="192507" y="4455245"/>
            <a:ext cx="4106932" cy="365760"/>
          </a:xfrm>
          <a:custGeom>
            <a:avLst/>
            <a:gdLst>
              <a:gd name="connsiteX0" fmla="*/ 3147461 w 3147461"/>
              <a:gd name="connsiteY0" fmla="*/ 0 h 365760"/>
              <a:gd name="connsiteX1" fmla="*/ 2820202 w 3147461"/>
              <a:gd name="connsiteY1" fmla="*/ 365760 h 365760"/>
              <a:gd name="connsiteX2" fmla="*/ 0 w 3147461"/>
              <a:gd name="connsiteY2" fmla="*/ 365760 h 365760"/>
            </a:gdLst>
            <a:ahLst/>
            <a:cxnLst>
              <a:cxn ang="0">
                <a:pos x="connsiteX0" y="connsiteY0"/>
              </a:cxn>
              <a:cxn ang="0">
                <a:pos x="connsiteX1" y="connsiteY1"/>
              </a:cxn>
              <a:cxn ang="0">
                <a:pos x="connsiteX2" y="connsiteY2"/>
              </a:cxn>
            </a:cxnLst>
            <a:rect l="l" t="t" r="r" b="b"/>
            <a:pathLst>
              <a:path w="3147461" h="365760">
                <a:moveTo>
                  <a:pt x="3147461" y="0"/>
                </a:moveTo>
                <a:lnTo>
                  <a:pt x="2820202" y="365760"/>
                </a:lnTo>
                <a:lnTo>
                  <a:pt x="0" y="365760"/>
                </a:lnTo>
              </a:path>
            </a:pathLst>
          </a:cu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2" name="자유형 41"/>
          <p:cNvSpPr/>
          <p:nvPr/>
        </p:nvSpPr>
        <p:spPr>
          <a:xfrm>
            <a:off x="8085221" y="4118362"/>
            <a:ext cx="4042611" cy="250257"/>
          </a:xfrm>
          <a:custGeom>
            <a:avLst/>
            <a:gdLst>
              <a:gd name="connsiteX0" fmla="*/ 0 w 3031958"/>
              <a:gd name="connsiteY0" fmla="*/ 0 h 250257"/>
              <a:gd name="connsiteX1" fmla="*/ 250257 w 3031958"/>
              <a:gd name="connsiteY1" fmla="*/ 250257 h 250257"/>
              <a:gd name="connsiteX2" fmla="*/ 3031958 w 3031958"/>
              <a:gd name="connsiteY2" fmla="*/ 250257 h 250257"/>
            </a:gdLst>
            <a:ahLst/>
            <a:cxnLst>
              <a:cxn ang="0">
                <a:pos x="connsiteX0" y="connsiteY0"/>
              </a:cxn>
              <a:cxn ang="0">
                <a:pos x="connsiteX1" y="connsiteY1"/>
              </a:cxn>
              <a:cxn ang="0">
                <a:pos x="connsiteX2" y="connsiteY2"/>
              </a:cxn>
            </a:cxnLst>
            <a:rect l="l" t="t" r="r" b="b"/>
            <a:pathLst>
              <a:path w="3031958" h="250257">
                <a:moveTo>
                  <a:pt x="0" y="0"/>
                </a:moveTo>
                <a:lnTo>
                  <a:pt x="250257" y="250257"/>
                </a:lnTo>
                <a:lnTo>
                  <a:pt x="3031958" y="250257"/>
                </a:lnTo>
              </a:path>
            </a:pathLst>
          </a:custGeom>
          <a:noFill/>
          <a:ln>
            <a:solidFill>
              <a:schemeClr val="accent2">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제목 1"/>
          <p:cNvSpPr>
            <a:spLocks noGrp="1"/>
          </p:cNvSpPr>
          <p:nvPr>
            <p:ph type="title"/>
          </p:nvPr>
        </p:nvSpPr>
        <p:spPr/>
        <p:txBody>
          <a:bodyPr/>
          <a:lstStyle/>
          <a:p>
            <a:r>
              <a:rPr lang="ko-KR" altLang="en-US" dirty="0"/>
              <a:t>제</a:t>
            </a:r>
            <a:r>
              <a:rPr lang="en-US" altLang="ko-KR" dirty="0"/>
              <a:t>1</a:t>
            </a:r>
            <a:r>
              <a:rPr lang="ko-KR" altLang="en-US" dirty="0"/>
              <a:t>조</a:t>
            </a:r>
          </a:p>
        </p:txBody>
      </p:sp>
      <p:sp>
        <p:nvSpPr>
          <p:cNvPr id="3" name="텍스트 개체 틀 2"/>
          <p:cNvSpPr>
            <a:spLocks noGrp="1"/>
          </p:cNvSpPr>
          <p:nvPr>
            <p:ph type="body" sz="quarter" idx="13"/>
          </p:nvPr>
        </p:nvSpPr>
        <p:spPr/>
        <p:txBody>
          <a:bodyPr/>
          <a:lstStyle/>
          <a:p>
            <a:r>
              <a:rPr lang="ko-KR" altLang="en-US" dirty="0"/>
              <a:t>전통적인 분류에 의한 보호 예시</a:t>
            </a:r>
          </a:p>
        </p:txBody>
      </p:sp>
      <p:sp>
        <p:nvSpPr>
          <p:cNvPr id="4" name="슬라이드 번호 개체 틀 3"/>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4</a:t>
            </a:fld>
            <a:endParaRPr lang="ko-KR" altLang="en-US"/>
          </a:p>
        </p:txBody>
      </p:sp>
    </p:spTree>
    <p:extLst>
      <p:ext uri="{BB962C8B-B14F-4D97-AF65-F5344CB8AC3E}">
        <p14:creationId xmlns:p14="http://schemas.microsoft.com/office/powerpoint/2010/main" val="343379087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제</a:t>
            </a:r>
            <a:r>
              <a:rPr lang="en-US" altLang="ko-KR" dirty="0"/>
              <a:t>1</a:t>
            </a:r>
            <a:r>
              <a:rPr lang="ko-KR" altLang="en-US" dirty="0"/>
              <a:t>조</a:t>
            </a:r>
          </a:p>
        </p:txBody>
      </p:sp>
      <p:sp>
        <p:nvSpPr>
          <p:cNvPr id="3" name="텍스트 개체 틀 2"/>
          <p:cNvSpPr>
            <a:spLocks noGrp="1"/>
          </p:cNvSpPr>
          <p:nvPr>
            <p:ph type="body" sz="quarter" idx="13"/>
          </p:nvPr>
        </p:nvSpPr>
        <p:spPr/>
        <p:txBody>
          <a:bodyPr/>
          <a:lstStyle/>
          <a:p>
            <a:r>
              <a:rPr lang="ko-KR" altLang="en-US" dirty="0"/>
              <a:t>특허제도의 존립근거</a:t>
            </a:r>
          </a:p>
        </p:txBody>
      </p:sp>
      <p:grpSp>
        <p:nvGrpSpPr>
          <p:cNvPr id="18" name="그룹 17"/>
          <p:cNvGrpSpPr/>
          <p:nvPr/>
        </p:nvGrpSpPr>
        <p:grpSpPr>
          <a:xfrm>
            <a:off x="456507" y="1365496"/>
            <a:ext cx="5152986" cy="5199063"/>
            <a:chOff x="342379" y="980728"/>
            <a:chExt cx="5165725" cy="5199063"/>
          </a:xfrm>
        </p:grpSpPr>
        <p:sp>
          <p:nvSpPr>
            <p:cNvPr id="19" name="자유형 18"/>
            <p:cNvSpPr/>
            <p:nvPr/>
          </p:nvSpPr>
          <p:spPr>
            <a:xfrm>
              <a:off x="2215629" y="2869853"/>
              <a:ext cx="1420813" cy="1420813"/>
            </a:xfrm>
            <a:custGeom>
              <a:avLst/>
              <a:gdLst>
                <a:gd name="connsiteX0" fmla="*/ 0 w 1420731"/>
                <a:gd name="connsiteY0" fmla="*/ 710366 h 1420731"/>
                <a:gd name="connsiteX1" fmla="*/ 710366 w 1420731"/>
                <a:gd name="connsiteY1" fmla="*/ 0 h 1420731"/>
                <a:gd name="connsiteX2" fmla="*/ 1420732 w 1420731"/>
                <a:gd name="connsiteY2" fmla="*/ 710366 h 1420731"/>
                <a:gd name="connsiteX3" fmla="*/ 710366 w 1420731"/>
                <a:gd name="connsiteY3" fmla="*/ 1420732 h 1420731"/>
                <a:gd name="connsiteX4" fmla="*/ 0 w 1420731"/>
                <a:gd name="connsiteY4" fmla="*/ 710366 h 1420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0731" h="1420731">
                  <a:moveTo>
                    <a:pt x="0" y="710366"/>
                  </a:moveTo>
                  <a:cubicBezTo>
                    <a:pt x="0" y="318042"/>
                    <a:pt x="318042" y="0"/>
                    <a:pt x="710366" y="0"/>
                  </a:cubicBezTo>
                  <a:cubicBezTo>
                    <a:pt x="1102690" y="0"/>
                    <a:pt x="1420732" y="318042"/>
                    <a:pt x="1420732" y="710366"/>
                  </a:cubicBezTo>
                  <a:cubicBezTo>
                    <a:pt x="1420732" y="1102690"/>
                    <a:pt x="1102690" y="1420732"/>
                    <a:pt x="710366" y="1420732"/>
                  </a:cubicBezTo>
                  <a:cubicBezTo>
                    <a:pt x="318042" y="1420732"/>
                    <a:pt x="0" y="1102690"/>
                    <a:pt x="0" y="71036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30921" tIns="230921" rIns="230921" bIns="230921" spcCol="1270" anchor="ctr"/>
            <a:lstStyle/>
            <a:p>
              <a:pPr algn="ctr" defTabSz="800100">
                <a:lnSpc>
                  <a:spcPct val="90000"/>
                </a:lnSpc>
                <a:spcAft>
                  <a:spcPct val="35000"/>
                </a:spcAft>
                <a:defRPr/>
              </a:pPr>
              <a:r>
                <a:rPr lang="en-US" altLang="ko-KR" sz="1800" dirty="0">
                  <a:solidFill>
                    <a:prstClr val="white"/>
                  </a:solidFill>
                </a:rPr>
                <a:t>PATENT</a:t>
              </a:r>
              <a:endParaRPr lang="ko-KR" altLang="en-US" sz="1800" dirty="0">
                <a:solidFill>
                  <a:prstClr val="white"/>
                </a:solidFill>
              </a:endParaRPr>
            </a:p>
          </p:txBody>
        </p:sp>
        <p:sp>
          <p:nvSpPr>
            <p:cNvPr id="20" name="자유형 19"/>
            <p:cNvSpPr/>
            <p:nvPr/>
          </p:nvSpPr>
          <p:spPr>
            <a:xfrm rot="16200000">
              <a:off x="2749029" y="2306291"/>
              <a:ext cx="352425" cy="482600"/>
            </a:xfrm>
            <a:custGeom>
              <a:avLst/>
              <a:gdLst>
                <a:gd name="connsiteX0" fmla="*/ 0 w 352365"/>
                <a:gd name="connsiteY0" fmla="*/ 241524 h 483048"/>
                <a:gd name="connsiteX1" fmla="*/ 176183 w 352365"/>
                <a:gd name="connsiteY1" fmla="*/ 0 h 483048"/>
                <a:gd name="connsiteX2" fmla="*/ 176183 w 352365"/>
                <a:gd name="connsiteY2" fmla="*/ 120762 h 483048"/>
                <a:gd name="connsiteX3" fmla="*/ 352365 w 352365"/>
                <a:gd name="connsiteY3" fmla="*/ 120762 h 483048"/>
                <a:gd name="connsiteX4" fmla="*/ 352365 w 352365"/>
                <a:gd name="connsiteY4" fmla="*/ 362286 h 483048"/>
                <a:gd name="connsiteX5" fmla="*/ 176183 w 352365"/>
                <a:gd name="connsiteY5" fmla="*/ 362286 h 483048"/>
                <a:gd name="connsiteX6" fmla="*/ 176183 w 352365"/>
                <a:gd name="connsiteY6" fmla="*/ 483048 h 483048"/>
                <a:gd name="connsiteX7" fmla="*/ 0 w 352365"/>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365" h="483048">
                  <a:moveTo>
                    <a:pt x="0" y="241524"/>
                  </a:moveTo>
                  <a:lnTo>
                    <a:pt x="176183" y="0"/>
                  </a:lnTo>
                  <a:lnTo>
                    <a:pt x="176183" y="120762"/>
                  </a:lnTo>
                  <a:lnTo>
                    <a:pt x="352365" y="120762"/>
                  </a:lnTo>
                  <a:lnTo>
                    <a:pt x="352365" y="362286"/>
                  </a:lnTo>
                  <a:lnTo>
                    <a:pt x="176183" y="362286"/>
                  </a:lnTo>
                  <a:lnTo>
                    <a:pt x="176183" y="483048"/>
                  </a:lnTo>
                  <a:lnTo>
                    <a:pt x="0" y="241524"/>
                  </a:lnTo>
                  <a:close/>
                </a:path>
              </a:pathLst>
            </a:cu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lIns="-1" tIns="96610" rIns="105710" bIns="96609" spcCol="1270" anchor="ctr"/>
            <a:lstStyle/>
            <a:p>
              <a:pPr algn="ctr" defTabSz="622300">
                <a:lnSpc>
                  <a:spcPct val="90000"/>
                </a:lnSpc>
                <a:spcAft>
                  <a:spcPct val="35000"/>
                </a:spcAft>
                <a:defRPr/>
              </a:pPr>
              <a:endParaRPr lang="ko-KR" altLang="en-US" sz="1400" b="0" dirty="0">
                <a:solidFill>
                  <a:prstClr val="white"/>
                </a:solidFill>
              </a:endParaRPr>
            </a:p>
          </p:txBody>
        </p:sp>
        <p:sp>
          <p:nvSpPr>
            <p:cNvPr id="21" name="자유형 20"/>
            <p:cNvSpPr/>
            <p:nvPr/>
          </p:nvSpPr>
          <p:spPr>
            <a:xfrm>
              <a:off x="2329929" y="98072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lIns="78429" tIns="78429" rIns="78429" bIns="78429" spcCol="1270" anchor="ctr"/>
            <a:lstStyle/>
            <a:p>
              <a:pPr algn="ctr" defTabSz="711200">
                <a:lnSpc>
                  <a:spcPct val="90000"/>
                </a:lnSpc>
                <a:spcAft>
                  <a:spcPct val="35000"/>
                </a:spcAft>
                <a:defRPr/>
              </a:pPr>
              <a:r>
                <a:rPr lang="ko-KR" altLang="en-US" sz="1600" b="0" dirty="0">
                  <a:solidFill>
                    <a:prstClr val="white"/>
                  </a:solidFill>
                </a:rPr>
                <a:t>정부</a:t>
              </a:r>
              <a:endParaRPr lang="en-US" altLang="ko-KR" sz="1600" b="0" dirty="0">
                <a:solidFill>
                  <a:prstClr val="white"/>
                </a:solidFill>
              </a:endParaRPr>
            </a:p>
            <a:p>
              <a:pPr algn="ctr" defTabSz="711200">
                <a:lnSpc>
                  <a:spcPct val="90000"/>
                </a:lnSpc>
                <a:spcAft>
                  <a:spcPct val="35000"/>
                </a:spcAft>
                <a:defRPr/>
              </a:pPr>
              <a:r>
                <a:rPr lang="en-US" altLang="ko-KR" sz="1600" b="0" dirty="0">
                  <a:solidFill>
                    <a:prstClr val="white"/>
                  </a:solidFill>
                </a:rPr>
                <a:t>Political</a:t>
              </a:r>
              <a:endParaRPr lang="ko-KR" altLang="en-US" sz="1600" b="0" dirty="0">
                <a:solidFill>
                  <a:prstClr val="white"/>
                </a:solidFill>
              </a:endParaRPr>
            </a:p>
          </p:txBody>
        </p:sp>
        <p:sp>
          <p:nvSpPr>
            <p:cNvPr id="22" name="자유형 21"/>
            <p:cNvSpPr/>
            <p:nvPr/>
          </p:nvSpPr>
          <p:spPr>
            <a:xfrm>
              <a:off x="3785667" y="3338166"/>
              <a:ext cx="361950" cy="484187"/>
            </a:xfrm>
            <a:custGeom>
              <a:avLst/>
              <a:gdLst>
                <a:gd name="connsiteX0" fmla="*/ 0 w 361314"/>
                <a:gd name="connsiteY0" fmla="*/ 241524 h 483048"/>
                <a:gd name="connsiteX1" fmla="*/ 180657 w 361314"/>
                <a:gd name="connsiteY1" fmla="*/ 0 h 483048"/>
                <a:gd name="connsiteX2" fmla="*/ 180657 w 361314"/>
                <a:gd name="connsiteY2" fmla="*/ 120762 h 483048"/>
                <a:gd name="connsiteX3" fmla="*/ 361314 w 361314"/>
                <a:gd name="connsiteY3" fmla="*/ 120762 h 483048"/>
                <a:gd name="connsiteX4" fmla="*/ 361314 w 361314"/>
                <a:gd name="connsiteY4" fmla="*/ 362286 h 483048"/>
                <a:gd name="connsiteX5" fmla="*/ 180657 w 361314"/>
                <a:gd name="connsiteY5" fmla="*/ 362286 h 483048"/>
                <a:gd name="connsiteX6" fmla="*/ 180657 w 361314"/>
                <a:gd name="connsiteY6" fmla="*/ 483048 h 483048"/>
                <a:gd name="connsiteX7" fmla="*/ 0 w 361314"/>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314" h="483048">
                  <a:moveTo>
                    <a:pt x="0" y="241524"/>
                  </a:moveTo>
                  <a:lnTo>
                    <a:pt x="180657" y="0"/>
                  </a:lnTo>
                  <a:lnTo>
                    <a:pt x="180657" y="120762"/>
                  </a:lnTo>
                  <a:lnTo>
                    <a:pt x="361314" y="120762"/>
                  </a:lnTo>
                  <a:lnTo>
                    <a:pt x="361314" y="362286"/>
                  </a:lnTo>
                  <a:lnTo>
                    <a:pt x="180657" y="362286"/>
                  </a:lnTo>
                  <a:lnTo>
                    <a:pt x="180657" y="483048"/>
                  </a:lnTo>
                  <a:lnTo>
                    <a:pt x="0" y="241524"/>
                  </a:lnTo>
                  <a:close/>
                </a:path>
              </a:pathLst>
            </a:cu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lIns="0" tIns="96610" rIns="108394" bIns="96610" spcCol="1270" anchor="ctr"/>
            <a:lstStyle/>
            <a:p>
              <a:pPr algn="ctr" defTabSz="622300">
                <a:lnSpc>
                  <a:spcPct val="90000"/>
                </a:lnSpc>
                <a:spcAft>
                  <a:spcPct val="35000"/>
                </a:spcAft>
                <a:defRPr/>
              </a:pPr>
              <a:endParaRPr lang="ko-KR" altLang="en-US" sz="1400" b="0" dirty="0">
                <a:solidFill>
                  <a:prstClr val="white"/>
                </a:solidFill>
              </a:endParaRPr>
            </a:p>
          </p:txBody>
        </p:sp>
        <p:sp>
          <p:nvSpPr>
            <p:cNvPr id="23" name="자유형 22"/>
            <p:cNvSpPr/>
            <p:nvPr/>
          </p:nvSpPr>
          <p:spPr>
            <a:xfrm>
              <a:off x="4317479" y="296827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lIns="78429" tIns="78429" rIns="78429" bIns="78429" spcCol="1270" anchor="ctr"/>
            <a:lstStyle/>
            <a:p>
              <a:pPr algn="ctr" defTabSz="711200">
                <a:lnSpc>
                  <a:spcPct val="90000"/>
                </a:lnSpc>
                <a:spcAft>
                  <a:spcPct val="35000"/>
                </a:spcAft>
                <a:defRPr/>
              </a:pPr>
              <a:r>
                <a:rPr lang="ko-KR" altLang="en-US" sz="1600" b="0" dirty="0">
                  <a:solidFill>
                    <a:prstClr val="white"/>
                  </a:solidFill>
                </a:rPr>
                <a:t>경영자</a:t>
              </a:r>
              <a:endParaRPr lang="en-US" altLang="ko-KR" sz="1600" b="0" dirty="0">
                <a:solidFill>
                  <a:prstClr val="white"/>
                </a:solidFill>
              </a:endParaRPr>
            </a:p>
            <a:p>
              <a:pPr algn="ctr" defTabSz="711200">
                <a:lnSpc>
                  <a:spcPct val="90000"/>
                </a:lnSpc>
                <a:spcAft>
                  <a:spcPct val="35000"/>
                </a:spcAft>
                <a:defRPr/>
              </a:pPr>
              <a:r>
                <a:rPr lang="en-US" altLang="ko-KR" sz="1400" b="0" dirty="0">
                  <a:solidFill>
                    <a:prstClr val="white"/>
                  </a:solidFill>
                </a:rPr>
                <a:t>Economical</a:t>
              </a:r>
              <a:endParaRPr lang="ko-KR" altLang="en-US" sz="1400" b="0" dirty="0">
                <a:solidFill>
                  <a:prstClr val="white"/>
                </a:solidFill>
              </a:endParaRPr>
            </a:p>
          </p:txBody>
        </p:sp>
        <p:sp>
          <p:nvSpPr>
            <p:cNvPr id="24" name="자유형 23"/>
            <p:cNvSpPr/>
            <p:nvPr/>
          </p:nvSpPr>
          <p:spPr>
            <a:xfrm rot="5400000">
              <a:off x="2749029" y="4371629"/>
              <a:ext cx="352425" cy="482600"/>
            </a:xfrm>
            <a:custGeom>
              <a:avLst/>
              <a:gdLst>
                <a:gd name="connsiteX0" fmla="*/ 0 w 352365"/>
                <a:gd name="connsiteY0" fmla="*/ 241524 h 483048"/>
                <a:gd name="connsiteX1" fmla="*/ 176183 w 352365"/>
                <a:gd name="connsiteY1" fmla="*/ 0 h 483048"/>
                <a:gd name="connsiteX2" fmla="*/ 176183 w 352365"/>
                <a:gd name="connsiteY2" fmla="*/ 120762 h 483048"/>
                <a:gd name="connsiteX3" fmla="*/ 352365 w 352365"/>
                <a:gd name="connsiteY3" fmla="*/ 120762 h 483048"/>
                <a:gd name="connsiteX4" fmla="*/ 352365 w 352365"/>
                <a:gd name="connsiteY4" fmla="*/ 362286 h 483048"/>
                <a:gd name="connsiteX5" fmla="*/ 176183 w 352365"/>
                <a:gd name="connsiteY5" fmla="*/ 362286 h 483048"/>
                <a:gd name="connsiteX6" fmla="*/ 176183 w 352365"/>
                <a:gd name="connsiteY6" fmla="*/ 483048 h 483048"/>
                <a:gd name="connsiteX7" fmla="*/ 0 w 352365"/>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365" h="483048">
                  <a:moveTo>
                    <a:pt x="0" y="241524"/>
                  </a:moveTo>
                  <a:lnTo>
                    <a:pt x="176183" y="0"/>
                  </a:lnTo>
                  <a:lnTo>
                    <a:pt x="176183" y="120762"/>
                  </a:lnTo>
                  <a:lnTo>
                    <a:pt x="352365" y="120762"/>
                  </a:lnTo>
                  <a:lnTo>
                    <a:pt x="352365" y="362286"/>
                  </a:lnTo>
                  <a:lnTo>
                    <a:pt x="176183" y="362286"/>
                  </a:lnTo>
                  <a:lnTo>
                    <a:pt x="176183" y="483048"/>
                  </a:lnTo>
                  <a:lnTo>
                    <a:pt x="0" y="241524"/>
                  </a:lnTo>
                  <a:close/>
                </a:path>
              </a:pathLst>
            </a:cu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lIns="0" tIns="96609" rIns="105709" bIns="96611" spcCol="1270" anchor="ctr"/>
            <a:lstStyle/>
            <a:p>
              <a:pPr algn="ctr" defTabSz="622300">
                <a:lnSpc>
                  <a:spcPct val="90000"/>
                </a:lnSpc>
                <a:spcAft>
                  <a:spcPct val="35000"/>
                </a:spcAft>
                <a:defRPr/>
              </a:pPr>
              <a:endParaRPr lang="ko-KR" altLang="en-US" sz="1400" b="0" dirty="0">
                <a:solidFill>
                  <a:prstClr val="white"/>
                </a:solidFill>
              </a:endParaRPr>
            </a:p>
          </p:txBody>
        </p:sp>
        <p:sp>
          <p:nvSpPr>
            <p:cNvPr id="25" name="자유형 24"/>
            <p:cNvSpPr/>
            <p:nvPr/>
          </p:nvSpPr>
          <p:spPr>
            <a:xfrm>
              <a:off x="2329929" y="495582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lIns="78429" tIns="78429" rIns="78429" bIns="78429" spcCol="1270" anchor="ctr"/>
            <a:lstStyle/>
            <a:p>
              <a:pPr algn="ctr" defTabSz="711200">
                <a:lnSpc>
                  <a:spcPct val="90000"/>
                </a:lnSpc>
                <a:spcAft>
                  <a:spcPct val="35000"/>
                </a:spcAft>
                <a:defRPr/>
              </a:pPr>
              <a:r>
                <a:rPr lang="ko-KR" altLang="en-US" sz="1600" b="0" dirty="0">
                  <a:solidFill>
                    <a:prstClr val="white"/>
                  </a:solidFill>
                </a:rPr>
                <a:t>국민</a:t>
              </a:r>
              <a:endParaRPr lang="en-US" altLang="ko-KR" sz="1600" b="0" dirty="0">
                <a:solidFill>
                  <a:prstClr val="white"/>
                </a:solidFill>
              </a:endParaRPr>
            </a:p>
            <a:p>
              <a:pPr algn="ctr" defTabSz="711200">
                <a:lnSpc>
                  <a:spcPct val="90000"/>
                </a:lnSpc>
                <a:spcAft>
                  <a:spcPct val="35000"/>
                </a:spcAft>
                <a:defRPr/>
              </a:pPr>
              <a:r>
                <a:rPr lang="en-US" altLang="ko-KR" sz="1600" b="0" dirty="0">
                  <a:solidFill>
                    <a:prstClr val="white"/>
                  </a:solidFill>
                </a:rPr>
                <a:t>Social</a:t>
              </a:r>
              <a:endParaRPr lang="ko-KR" altLang="en-US" sz="1600" b="0" dirty="0">
                <a:solidFill>
                  <a:prstClr val="white"/>
                </a:solidFill>
              </a:endParaRPr>
            </a:p>
          </p:txBody>
        </p:sp>
        <p:sp>
          <p:nvSpPr>
            <p:cNvPr id="26" name="자유형 25"/>
            <p:cNvSpPr/>
            <p:nvPr/>
          </p:nvSpPr>
          <p:spPr>
            <a:xfrm>
              <a:off x="1704454" y="3338166"/>
              <a:ext cx="360363" cy="484187"/>
            </a:xfrm>
            <a:custGeom>
              <a:avLst/>
              <a:gdLst>
                <a:gd name="connsiteX0" fmla="*/ 0 w 361314"/>
                <a:gd name="connsiteY0" fmla="*/ 241524 h 483048"/>
                <a:gd name="connsiteX1" fmla="*/ 180657 w 361314"/>
                <a:gd name="connsiteY1" fmla="*/ 0 h 483048"/>
                <a:gd name="connsiteX2" fmla="*/ 180657 w 361314"/>
                <a:gd name="connsiteY2" fmla="*/ 120762 h 483048"/>
                <a:gd name="connsiteX3" fmla="*/ 361314 w 361314"/>
                <a:gd name="connsiteY3" fmla="*/ 120762 h 483048"/>
                <a:gd name="connsiteX4" fmla="*/ 361314 w 361314"/>
                <a:gd name="connsiteY4" fmla="*/ 362286 h 483048"/>
                <a:gd name="connsiteX5" fmla="*/ 180657 w 361314"/>
                <a:gd name="connsiteY5" fmla="*/ 362286 h 483048"/>
                <a:gd name="connsiteX6" fmla="*/ 180657 w 361314"/>
                <a:gd name="connsiteY6" fmla="*/ 483048 h 483048"/>
                <a:gd name="connsiteX7" fmla="*/ 0 w 361314"/>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314" h="483048">
                  <a:moveTo>
                    <a:pt x="361314" y="241524"/>
                  </a:moveTo>
                  <a:lnTo>
                    <a:pt x="180657" y="483048"/>
                  </a:lnTo>
                  <a:lnTo>
                    <a:pt x="180657" y="362286"/>
                  </a:lnTo>
                  <a:lnTo>
                    <a:pt x="0" y="362286"/>
                  </a:lnTo>
                  <a:lnTo>
                    <a:pt x="0" y="120762"/>
                  </a:lnTo>
                  <a:lnTo>
                    <a:pt x="180657" y="120762"/>
                  </a:lnTo>
                  <a:lnTo>
                    <a:pt x="180657" y="0"/>
                  </a:lnTo>
                  <a:lnTo>
                    <a:pt x="361314" y="241524"/>
                  </a:lnTo>
                  <a:close/>
                </a:path>
              </a:pathLst>
            </a:cu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108394" tIns="96611" rIns="1" bIns="96610" spcCol="1270" anchor="ctr"/>
            <a:lstStyle/>
            <a:p>
              <a:pPr algn="ctr" defTabSz="622300">
                <a:lnSpc>
                  <a:spcPct val="90000"/>
                </a:lnSpc>
                <a:spcAft>
                  <a:spcPct val="35000"/>
                </a:spcAft>
                <a:defRPr/>
              </a:pPr>
              <a:endParaRPr lang="ko-KR" altLang="en-US" sz="1400" b="0" dirty="0">
                <a:solidFill>
                  <a:prstClr val="white"/>
                </a:solidFill>
              </a:endParaRPr>
            </a:p>
          </p:txBody>
        </p:sp>
        <p:sp>
          <p:nvSpPr>
            <p:cNvPr id="27" name="자유형 26"/>
            <p:cNvSpPr/>
            <p:nvPr/>
          </p:nvSpPr>
          <p:spPr>
            <a:xfrm>
              <a:off x="342379" y="296827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58109" tIns="78429" rIns="58109" bIns="78429" spcCol="1270" anchor="ctr"/>
            <a:lstStyle/>
            <a:p>
              <a:pPr algn="ctr" defTabSz="711200">
                <a:lnSpc>
                  <a:spcPct val="90000"/>
                </a:lnSpc>
                <a:spcAft>
                  <a:spcPct val="35000"/>
                </a:spcAft>
                <a:defRPr/>
              </a:pPr>
              <a:r>
                <a:rPr lang="ko-KR" altLang="en-US" sz="1600" b="0" dirty="0">
                  <a:solidFill>
                    <a:prstClr val="white"/>
                  </a:solidFill>
                </a:rPr>
                <a:t>발명자</a:t>
              </a:r>
              <a:endParaRPr lang="en-US" altLang="ko-KR" sz="1600" b="0" dirty="0">
                <a:solidFill>
                  <a:prstClr val="white"/>
                </a:solidFill>
              </a:endParaRPr>
            </a:p>
            <a:p>
              <a:pPr algn="ctr" defTabSz="711200">
                <a:lnSpc>
                  <a:spcPct val="90000"/>
                </a:lnSpc>
                <a:spcAft>
                  <a:spcPct val="35000"/>
                </a:spcAft>
                <a:defRPr/>
              </a:pPr>
              <a:r>
                <a:rPr lang="en-US" altLang="ko-KR" sz="1200" b="0" dirty="0">
                  <a:solidFill>
                    <a:prstClr val="white"/>
                  </a:solidFill>
                </a:rPr>
                <a:t>Technological</a:t>
              </a:r>
              <a:endParaRPr lang="ko-KR" altLang="en-US" sz="1200" b="0" dirty="0">
                <a:solidFill>
                  <a:prstClr val="white"/>
                </a:solidFill>
              </a:endParaRPr>
            </a:p>
          </p:txBody>
        </p:sp>
      </p:grpSp>
      <p:graphicFrame>
        <p:nvGraphicFramePr>
          <p:cNvPr id="29" name="표 28"/>
          <p:cNvGraphicFramePr>
            <a:graphicFrameLocks noGrp="1"/>
          </p:cNvGraphicFramePr>
          <p:nvPr>
            <p:extLst>
              <p:ext uri="{D42A27DB-BD31-4B8C-83A1-F6EECF244321}">
                <p14:modId xmlns:p14="http://schemas.microsoft.com/office/powerpoint/2010/main" val="3225409976"/>
              </p:ext>
            </p:extLst>
          </p:nvPr>
        </p:nvGraphicFramePr>
        <p:xfrm>
          <a:off x="4546809" y="4900406"/>
          <a:ext cx="6720747" cy="1483360"/>
        </p:xfrm>
        <a:graphic>
          <a:graphicData uri="http://schemas.openxmlformats.org/drawingml/2006/table">
            <a:tbl>
              <a:tblPr firstRow="1">
                <a:tableStyleId>{616DA210-FB5B-4158-B5E0-FEB733F419BA}</a:tableStyleId>
              </a:tblPr>
              <a:tblGrid>
                <a:gridCol w="1824203">
                  <a:extLst>
                    <a:ext uri="{9D8B030D-6E8A-4147-A177-3AD203B41FA5}">
                      <a16:colId xmlns:a16="http://schemas.microsoft.com/office/drawing/2014/main" val="20000"/>
                    </a:ext>
                  </a:extLst>
                </a:gridCol>
                <a:gridCol w="4896544">
                  <a:extLst>
                    <a:ext uri="{9D8B030D-6E8A-4147-A177-3AD203B41FA5}">
                      <a16:colId xmlns:a16="http://schemas.microsoft.com/office/drawing/2014/main" val="20001"/>
                    </a:ext>
                  </a:extLst>
                </a:gridCol>
              </a:tblGrid>
              <a:tr h="370840">
                <a:tc>
                  <a:txBody>
                    <a:bodyPr/>
                    <a:lstStyle/>
                    <a:p>
                      <a:pPr latinLnBrk="1"/>
                      <a:r>
                        <a:rPr lang="en-US" altLang="ko-KR" sz="1400" b="1" dirty="0">
                          <a:solidFill>
                            <a:schemeClr val="accent2"/>
                          </a:solidFill>
                          <a:latin typeface="+mn-ea"/>
                          <a:ea typeface="+mn-ea"/>
                        </a:rPr>
                        <a:t>Political</a:t>
                      </a:r>
                      <a:endParaRPr lang="ko-KR" altLang="en-US" sz="1400" b="1" dirty="0">
                        <a:solidFill>
                          <a:schemeClr val="accent2"/>
                        </a:solidFill>
                        <a:latin typeface="+mn-ea"/>
                        <a:ea typeface="+mn-ea"/>
                      </a:endParaRPr>
                    </a:p>
                  </a:txBody>
                  <a:tcPr marL="121920" marR="12192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ko-KR" altLang="en-US" sz="1400" b="0" dirty="0">
                          <a:latin typeface="+mn-ea"/>
                          <a:ea typeface="+mn-ea"/>
                        </a:rPr>
                        <a:t>산업발전을 위한 토대</a:t>
                      </a:r>
                    </a:p>
                  </a:txBody>
                  <a:tcPr marL="121920" marR="12192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0"/>
                  </a:ext>
                </a:extLst>
              </a:tr>
              <a:tr h="370840">
                <a:tc>
                  <a:txBody>
                    <a:bodyPr/>
                    <a:lstStyle/>
                    <a:p>
                      <a:pPr latinLnBrk="1"/>
                      <a:r>
                        <a:rPr lang="en-US" altLang="ko-KR" sz="1400" b="1" dirty="0">
                          <a:solidFill>
                            <a:schemeClr val="accent3"/>
                          </a:solidFill>
                          <a:latin typeface="+mn-ea"/>
                          <a:ea typeface="+mn-ea"/>
                        </a:rPr>
                        <a:t>Economical</a:t>
                      </a:r>
                      <a:endParaRPr lang="ko-KR" altLang="en-US" sz="1400" b="1" dirty="0">
                        <a:solidFill>
                          <a:schemeClr val="accent3"/>
                        </a:solidFill>
                        <a:latin typeface="+mn-ea"/>
                        <a:ea typeface="+mn-ea"/>
                      </a:endParaRPr>
                    </a:p>
                  </a:txBody>
                  <a:tcPr marL="121920" marR="12192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ko-KR" altLang="en-US" sz="1400" b="1" dirty="0">
                          <a:solidFill>
                            <a:srgbClr val="FF0000"/>
                          </a:solidFill>
                          <a:latin typeface="+mn-ea"/>
                          <a:ea typeface="+mn-ea"/>
                        </a:rPr>
                        <a:t>수익을 창출하기 위한 수단</a:t>
                      </a:r>
                      <a:r>
                        <a:rPr lang="en-US" altLang="ko-KR" sz="1400" b="1" dirty="0">
                          <a:solidFill>
                            <a:srgbClr val="FF0000"/>
                          </a:solidFill>
                          <a:latin typeface="+mn-ea"/>
                          <a:ea typeface="+mn-ea"/>
                        </a:rPr>
                        <a:t>(ROI)</a:t>
                      </a:r>
                      <a:endParaRPr lang="ko-KR" altLang="en-US" sz="1400" b="1" dirty="0">
                        <a:solidFill>
                          <a:srgbClr val="FF0000"/>
                        </a:solidFill>
                        <a:latin typeface="+mn-ea"/>
                        <a:ea typeface="+mn-ea"/>
                      </a:endParaRPr>
                    </a:p>
                  </a:txBody>
                  <a:tcPr marL="121920" marR="12192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1"/>
                  </a:ext>
                </a:extLst>
              </a:tr>
              <a:tr h="370840">
                <a:tc>
                  <a:txBody>
                    <a:bodyPr/>
                    <a:lstStyle/>
                    <a:p>
                      <a:pPr latinLnBrk="1"/>
                      <a:r>
                        <a:rPr lang="en-US" altLang="ko-KR" sz="1400" b="1" dirty="0">
                          <a:solidFill>
                            <a:schemeClr val="accent4"/>
                          </a:solidFill>
                          <a:latin typeface="+mn-ea"/>
                          <a:ea typeface="+mn-ea"/>
                        </a:rPr>
                        <a:t>Social</a:t>
                      </a:r>
                      <a:endParaRPr lang="ko-KR" altLang="en-US" sz="1400" b="1" dirty="0">
                        <a:solidFill>
                          <a:schemeClr val="accent4"/>
                        </a:solidFill>
                        <a:latin typeface="+mn-ea"/>
                        <a:ea typeface="+mn-ea"/>
                      </a:endParaRPr>
                    </a:p>
                  </a:txBody>
                  <a:tcPr marL="121920" marR="12192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ko-KR" altLang="en-US" sz="1400" b="0" dirty="0">
                          <a:latin typeface="+mn-ea"/>
                          <a:ea typeface="+mn-ea"/>
                        </a:rPr>
                        <a:t>발명이라는 객체를 보호하는 권리</a:t>
                      </a:r>
                    </a:p>
                  </a:txBody>
                  <a:tcPr marL="121920" marR="12192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2"/>
                  </a:ext>
                </a:extLst>
              </a:tr>
              <a:tr h="370840">
                <a:tc>
                  <a:txBody>
                    <a:bodyPr/>
                    <a:lstStyle/>
                    <a:p>
                      <a:pPr latinLnBrk="1"/>
                      <a:r>
                        <a:rPr lang="en-US" altLang="ko-KR" sz="1400" b="1" dirty="0">
                          <a:solidFill>
                            <a:schemeClr val="accent5"/>
                          </a:solidFill>
                          <a:latin typeface="+mn-ea"/>
                          <a:ea typeface="+mn-ea"/>
                        </a:rPr>
                        <a:t>Technological</a:t>
                      </a:r>
                      <a:endParaRPr lang="ko-KR" altLang="en-US" sz="1400" b="1" dirty="0">
                        <a:solidFill>
                          <a:schemeClr val="accent5"/>
                        </a:solidFill>
                        <a:latin typeface="+mn-ea"/>
                        <a:ea typeface="+mn-ea"/>
                      </a:endParaRPr>
                    </a:p>
                  </a:txBody>
                  <a:tcPr marL="121920" marR="12192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latinLnBrk="1"/>
                      <a:r>
                        <a:rPr lang="ko-KR" altLang="en-US" sz="1400" b="0" dirty="0">
                          <a:latin typeface="+mn-ea"/>
                          <a:ea typeface="+mn-ea"/>
                        </a:rPr>
                        <a:t>종래의 문제점을 개선한 것</a:t>
                      </a:r>
                    </a:p>
                  </a:txBody>
                  <a:tcPr marL="121920" marR="121920">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003"/>
                  </a:ext>
                </a:extLst>
              </a:tr>
            </a:tbl>
          </a:graphicData>
        </a:graphic>
      </p:graphicFrame>
      <p:sp>
        <p:nvSpPr>
          <p:cNvPr id="4" name="모서리가 둥근 사각형 설명선 3"/>
          <p:cNvSpPr/>
          <p:nvPr/>
        </p:nvSpPr>
        <p:spPr>
          <a:xfrm>
            <a:off x="8166962" y="3683255"/>
            <a:ext cx="2426677" cy="1022823"/>
          </a:xfrm>
          <a:prstGeom prst="wedgeRoundRectCallout">
            <a:avLst>
              <a:gd name="adj1" fmla="val -53152"/>
              <a:gd name="adj2" fmla="val 80552"/>
              <a:gd name="adj3" fmla="val 16667"/>
            </a:avLst>
          </a:prstGeom>
          <a:solidFill>
            <a:schemeClr val="bg2"/>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buFont typeface="Wingdings" pitchFamily="2" charset="2"/>
              <a:buChar char="§"/>
            </a:pPr>
            <a:r>
              <a:rPr lang="ko-KR" altLang="en-US" sz="1400" dirty="0" err="1">
                <a:solidFill>
                  <a:schemeClr val="tx1"/>
                </a:solidFill>
              </a:rPr>
              <a:t>비밀공개설</a:t>
            </a:r>
            <a:endParaRPr lang="en-US" altLang="ko-KR" sz="1400" dirty="0">
              <a:solidFill>
                <a:schemeClr val="tx1"/>
              </a:solidFill>
            </a:endParaRPr>
          </a:p>
          <a:p>
            <a:pPr marL="342900" indent="-342900">
              <a:buFont typeface="Wingdings" pitchFamily="2" charset="2"/>
              <a:buChar char="§"/>
            </a:pPr>
            <a:r>
              <a:rPr lang="ko-KR" altLang="en-US" sz="1400" dirty="0" err="1">
                <a:solidFill>
                  <a:schemeClr val="tx1"/>
                </a:solidFill>
              </a:rPr>
              <a:t>발명장려설</a:t>
            </a:r>
            <a:endParaRPr lang="en-US" altLang="ko-KR" sz="1400" dirty="0">
              <a:solidFill>
                <a:schemeClr val="tx1"/>
              </a:solidFill>
            </a:endParaRPr>
          </a:p>
          <a:p>
            <a:pPr marL="342900" indent="-342900">
              <a:buFont typeface="Wingdings" pitchFamily="2" charset="2"/>
              <a:buChar char="§"/>
            </a:pPr>
            <a:r>
              <a:rPr lang="ko-KR" altLang="en-US" sz="1400" dirty="0" err="1">
                <a:solidFill>
                  <a:schemeClr val="tx1"/>
                </a:solidFill>
              </a:rPr>
              <a:t>과당경쟁방지설</a:t>
            </a:r>
            <a:endParaRPr lang="en-US" altLang="ko-KR" sz="1400" dirty="0">
              <a:solidFill>
                <a:schemeClr val="tx1"/>
              </a:solidFill>
            </a:endParaRPr>
          </a:p>
          <a:p>
            <a:pPr marL="342900" indent="-342900">
              <a:buFont typeface="Wingdings" pitchFamily="2" charset="2"/>
              <a:buChar char="§"/>
            </a:pPr>
            <a:r>
              <a:rPr lang="ko-KR" altLang="en-US" sz="1400" dirty="0" err="1">
                <a:solidFill>
                  <a:schemeClr val="tx1"/>
                </a:solidFill>
              </a:rPr>
              <a:t>국제교류설</a:t>
            </a:r>
            <a:endParaRPr lang="ko-KR" altLang="en-US" sz="1400" dirty="0">
              <a:solidFill>
                <a:schemeClr val="tx1"/>
              </a:solidFill>
            </a:endParaRPr>
          </a:p>
        </p:txBody>
      </p:sp>
      <p:grpSp>
        <p:nvGrpSpPr>
          <p:cNvPr id="43" name="그룹 42"/>
          <p:cNvGrpSpPr/>
          <p:nvPr/>
        </p:nvGrpSpPr>
        <p:grpSpPr>
          <a:xfrm>
            <a:off x="6272390" y="1187925"/>
            <a:ext cx="2181980" cy="2116152"/>
            <a:chOff x="683568" y="2132856"/>
            <a:chExt cx="2736304" cy="2736304"/>
          </a:xfrm>
        </p:grpSpPr>
        <p:sp>
          <p:nvSpPr>
            <p:cNvPr id="44" name="타원 43"/>
            <p:cNvSpPr/>
            <p:nvPr/>
          </p:nvSpPr>
          <p:spPr>
            <a:xfrm>
              <a:off x="683568" y="2132856"/>
              <a:ext cx="2736304" cy="2736304"/>
            </a:xfrm>
            <a:prstGeom prst="ellipse">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45" name="그룹 44"/>
            <p:cNvGrpSpPr/>
            <p:nvPr/>
          </p:nvGrpSpPr>
          <p:grpSpPr>
            <a:xfrm>
              <a:off x="1115616" y="2564904"/>
              <a:ext cx="1878470" cy="1800200"/>
              <a:chOff x="342379" y="980728"/>
              <a:chExt cx="5165725" cy="5199063"/>
            </a:xfrm>
          </p:grpSpPr>
          <p:sp>
            <p:nvSpPr>
              <p:cNvPr id="46" name="자유형 45"/>
              <p:cNvSpPr/>
              <p:nvPr/>
            </p:nvSpPr>
            <p:spPr>
              <a:xfrm>
                <a:off x="2215629" y="2869853"/>
                <a:ext cx="1420813" cy="1420813"/>
              </a:xfrm>
              <a:custGeom>
                <a:avLst/>
                <a:gdLst>
                  <a:gd name="connsiteX0" fmla="*/ 0 w 1420731"/>
                  <a:gd name="connsiteY0" fmla="*/ 710366 h 1420731"/>
                  <a:gd name="connsiteX1" fmla="*/ 710366 w 1420731"/>
                  <a:gd name="connsiteY1" fmla="*/ 0 h 1420731"/>
                  <a:gd name="connsiteX2" fmla="*/ 1420732 w 1420731"/>
                  <a:gd name="connsiteY2" fmla="*/ 710366 h 1420731"/>
                  <a:gd name="connsiteX3" fmla="*/ 710366 w 1420731"/>
                  <a:gd name="connsiteY3" fmla="*/ 1420732 h 1420731"/>
                  <a:gd name="connsiteX4" fmla="*/ 0 w 1420731"/>
                  <a:gd name="connsiteY4" fmla="*/ 710366 h 1420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0731" h="1420731">
                    <a:moveTo>
                      <a:pt x="0" y="710366"/>
                    </a:moveTo>
                    <a:cubicBezTo>
                      <a:pt x="0" y="318042"/>
                      <a:pt x="318042" y="0"/>
                      <a:pt x="710366" y="0"/>
                    </a:cubicBezTo>
                    <a:cubicBezTo>
                      <a:pt x="1102690" y="0"/>
                      <a:pt x="1420732" y="318042"/>
                      <a:pt x="1420732" y="710366"/>
                    </a:cubicBezTo>
                    <a:cubicBezTo>
                      <a:pt x="1420732" y="1102690"/>
                      <a:pt x="1102690" y="1420732"/>
                      <a:pt x="710366" y="1420732"/>
                    </a:cubicBezTo>
                    <a:cubicBezTo>
                      <a:pt x="318042" y="1420732"/>
                      <a:pt x="0" y="1102690"/>
                      <a:pt x="0" y="71036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30921" tIns="230921" rIns="230921" bIns="230921" spcCol="1270" anchor="ctr"/>
              <a:lstStyle/>
              <a:p>
                <a:pPr algn="ctr" defTabSz="800100">
                  <a:lnSpc>
                    <a:spcPct val="90000"/>
                  </a:lnSpc>
                  <a:spcAft>
                    <a:spcPct val="35000"/>
                  </a:spcAft>
                  <a:defRPr/>
                </a:pPr>
                <a:endParaRPr lang="ko-KR" altLang="en-US" sz="900" dirty="0">
                  <a:solidFill>
                    <a:prstClr val="white"/>
                  </a:solidFill>
                </a:endParaRPr>
              </a:p>
            </p:txBody>
          </p:sp>
          <p:sp>
            <p:nvSpPr>
              <p:cNvPr id="47" name="자유형 46"/>
              <p:cNvSpPr/>
              <p:nvPr/>
            </p:nvSpPr>
            <p:spPr>
              <a:xfrm rot="16200000">
                <a:off x="2749029" y="2306291"/>
                <a:ext cx="352425" cy="482600"/>
              </a:xfrm>
              <a:custGeom>
                <a:avLst/>
                <a:gdLst>
                  <a:gd name="connsiteX0" fmla="*/ 0 w 352365"/>
                  <a:gd name="connsiteY0" fmla="*/ 241524 h 483048"/>
                  <a:gd name="connsiteX1" fmla="*/ 176183 w 352365"/>
                  <a:gd name="connsiteY1" fmla="*/ 0 h 483048"/>
                  <a:gd name="connsiteX2" fmla="*/ 176183 w 352365"/>
                  <a:gd name="connsiteY2" fmla="*/ 120762 h 483048"/>
                  <a:gd name="connsiteX3" fmla="*/ 352365 w 352365"/>
                  <a:gd name="connsiteY3" fmla="*/ 120762 h 483048"/>
                  <a:gd name="connsiteX4" fmla="*/ 352365 w 352365"/>
                  <a:gd name="connsiteY4" fmla="*/ 362286 h 483048"/>
                  <a:gd name="connsiteX5" fmla="*/ 176183 w 352365"/>
                  <a:gd name="connsiteY5" fmla="*/ 362286 h 483048"/>
                  <a:gd name="connsiteX6" fmla="*/ 176183 w 352365"/>
                  <a:gd name="connsiteY6" fmla="*/ 483048 h 483048"/>
                  <a:gd name="connsiteX7" fmla="*/ 0 w 352365"/>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365" h="483048">
                    <a:moveTo>
                      <a:pt x="0" y="241524"/>
                    </a:moveTo>
                    <a:lnTo>
                      <a:pt x="176183" y="0"/>
                    </a:lnTo>
                    <a:lnTo>
                      <a:pt x="176183" y="120762"/>
                    </a:lnTo>
                    <a:lnTo>
                      <a:pt x="352365" y="120762"/>
                    </a:lnTo>
                    <a:lnTo>
                      <a:pt x="352365" y="362286"/>
                    </a:lnTo>
                    <a:lnTo>
                      <a:pt x="176183" y="362286"/>
                    </a:lnTo>
                    <a:lnTo>
                      <a:pt x="176183" y="483048"/>
                    </a:lnTo>
                    <a:lnTo>
                      <a:pt x="0" y="241524"/>
                    </a:lnTo>
                    <a:close/>
                  </a:path>
                </a:pathLst>
              </a:cu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lIns="-1" tIns="96610" rIns="105710" bIns="96609" spcCol="1270" anchor="ctr"/>
              <a:lstStyle/>
              <a:p>
                <a:pPr algn="ctr" defTabSz="622300">
                  <a:lnSpc>
                    <a:spcPct val="90000"/>
                  </a:lnSpc>
                  <a:spcAft>
                    <a:spcPct val="35000"/>
                  </a:spcAft>
                  <a:defRPr/>
                </a:pPr>
                <a:endParaRPr lang="ko-KR" altLang="en-US" sz="700" b="0" dirty="0">
                  <a:solidFill>
                    <a:prstClr val="white"/>
                  </a:solidFill>
                </a:endParaRPr>
              </a:p>
            </p:txBody>
          </p:sp>
          <p:sp>
            <p:nvSpPr>
              <p:cNvPr id="48" name="자유형 47"/>
              <p:cNvSpPr/>
              <p:nvPr/>
            </p:nvSpPr>
            <p:spPr>
              <a:xfrm>
                <a:off x="2329929" y="98072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lIns="78429" tIns="78429" rIns="78429" bIns="78429" spcCol="1270" anchor="ctr"/>
              <a:lstStyle/>
              <a:p>
                <a:pPr algn="ctr" defTabSz="711200">
                  <a:lnSpc>
                    <a:spcPct val="90000"/>
                  </a:lnSpc>
                  <a:spcAft>
                    <a:spcPct val="35000"/>
                  </a:spcAft>
                  <a:defRPr/>
                </a:pPr>
                <a:endParaRPr lang="ko-KR" altLang="en-US" sz="800" b="0" dirty="0">
                  <a:solidFill>
                    <a:prstClr val="white"/>
                  </a:solidFill>
                </a:endParaRPr>
              </a:p>
            </p:txBody>
          </p:sp>
          <p:sp>
            <p:nvSpPr>
              <p:cNvPr id="49" name="자유형 48"/>
              <p:cNvSpPr/>
              <p:nvPr/>
            </p:nvSpPr>
            <p:spPr>
              <a:xfrm>
                <a:off x="3785667" y="3338166"/>
                <a:ext cx="361950" cy="484187"/>
              </a:xfrm>
              <a:custGeom>
                <a:avLst/>
                <a:gdLst>
                  <a:gd name="connsiteX0" fmla="*/ 0 w 361314"/>
                  <a:gd name="connsiteY0" fmla="*/ 241524 h 483048"/>
                  <a:gd name="connsiteX1" fmla="*/ 180657 w 361314"/>
                  <a:gd name="connsiteY1" fmla="*/ 0 h 483048"/>
                  <a:gd name="connsiteX2" fmla="*/ 180657 w 361314"/>
                  <a:gd name="connsiteY2" fmla="*/ 120762 h 483048"/>
                  <a:gd name="connsiteX3" fmla="*/ 361314 w 361314"/>
                  <a:gd name="connsiteY3" fmla="*/ 120762 h 483048"/>
                  <a:gd name="connsiteX4" fmla="*/ 361314 w 361314"/>
                  <a:gd name="connsiteY4" fmla="*/ 362286 h 483048"/>
                  <a:gd name="connsiteX5" fmla="*/ 180657 w 361314"/>
                  <a:gd name="connsiteY5" fmla="*/ 362286 h 483048"/>
                  <a:gd name="connsiteX6" fmla="*/ 180657 w 361314"/>
                  <a:gd name="connsiteY6" fmla="*/ 483048 h 483048"/>
                  <a:gd name="connsiteX7" fmla="*/ 0 w 361314"/>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314" h="483048">
                    <a:moveTo>
                      <a:pt x="0" y="241524"/>
                    </a:moveTo>
                    <a:lnTo>
                      <a:pt x="180657" y="0"/>
                    </a:lnTo>
                    <a:lnTo>
                      <a:pt x="180657" y="120762"/>
                    </a:lnTo>
                    <a:lnTo>
                      <a:pt x="361314" y="120762"/>
                    </a:lnTo>
                    <a:lnTo>
                      <a:pt x="361314" y="362286"/>
                    </a:lnTo>
                    <a:lnTo>
                      <a:pt x="180657" y="362286"/>
                    </a:lnTo>
                    <a:lnTo>
                      <a:pt x="180657" y="483048"/>
                    </a:lnTo>
                    <a:lnTo>
                      <a:pt x="0" y="241524"/>
                    </a:lnTo>
                    <a:close/>
                  </a:path>
                </a:pathLst>
              </a:cu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lIns="0" tIns="96610" rIns="108394" bIns="96610" spcCol="1270" anchor="ctr"/>
              <a:lstStyle/>
              <a:p>
                <a:pPr algn="ctr" defTabSz="622300">
                  <a:lnSpc>
                    <a:spcPct val="90000"/>
                  </a:lnSpc>
                  <a:spcAft>
                    <a:spcPct val="35000"/>
                  </a:spcAft>
                  <a:defRPr/>
                </a:pPr>
                <a:endParaRPr lang="ko-KR" altLang="en-US" sz="700" b="0" dirty="0">
                  <a:solidFill>
                    <a:prstClr val="white"/>
                  </a:solidFill>
                </a:endParaRPr>
              </a:p>
            </p:txBody>
          </p:sp>
          <p:sp>
            <p:nvSpPr>
              <p:cNvPr id="50" name="자유형 49"/>
              <p:cNvSpPr/>
              <p:nvPr/>
            </p:nvSpPr>
            <p:spPr>
              <a:xfrm>
                <a:off x="4317479" y="296827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lIns="78429" tIns="78429" rIns="78429" bIns="78429" spcCol="1270" anchor="ctr"/>
              <a:lstStyle/>
              <a:p>
                <a:pPr algn="ctr" defTabSz="711200">
                  <a:lnSpc>
                    <a:spcPct val="90000"/>
                  </a:lnSpc>
                  <a:spcAft>
                    <a:spcPct val="35000"/>
                  </a:spcAft>
                  <a:defRPr/>
                </a:pPr>
                <a:endParaRPr lang="ko-KR" altLang="en-US" sz="700" b="0" dirty="0">
                  <a:solidFill>
                    <a:prstClr val="white"/>
                  </a:solidFill>
                </a:endParaRPr>
              </a:p>
            </p:txBody>
          </p:sp>
          <p:sp>
            <p:nvSpPr>
              <p:cNvPr id="51" name="자유형 50"/>
              <p:cNvSpPr/>
              <p:nvPr/>
            </p:nvSpPr>
            <p:spPr>
              <a:xfrm rot="5400000">
                <a:off x="2749029" y="4371629"/>
                <a:ext cx="352425" cy="482600"/>
              </a:xfrm>
              <a:custGeom>
                <a:avLst/>
                <a:gdLst>
                  <a:gd name="connsiteX0" fmla="*/ 0 w 352365"/>
                  <a:gd name="connsiteY0" fmla="*/ 241524 h 483048"/>
                  <a:gd name="connsiteX1" fmla="*/ 176183 w 352365"/>
                  <a:gd name="connsiteY1" fmla="*/ 0 h 483048"/>
                  <a:gd name="connsiteX2" fmla="*/ 176183 w 352365"/>
                  <a:gd name="connsiteY2" fmla="*/ 120762 h 483048"/>
                  <a:gd name="connsiteX3" fmla="*/ 352365 w 352365"/>
                  <a:gd name="connsiteY3" fmla="*/ 120762 h 483048"/>
                  <a:gd name="connsiteX4" fmla="*/ 352365 w 352365"/>
                  <a:gd name="connsiteY4" fmla="*/ 362286 h 483048"/>
                  <a:gd name="connsiteX5" fmla="*/ 176183 w 352365"/>
                  <a:gd name="connsiteY5" fmla="*/ 362286 h 483048"/>
                  <a:gd name="connsiteX6" fmla="*/ 176183 w 352365"/>
                  <a:gd name="connsiteY6" fmla="*/ 483048 h 483048"/>
                  <a:gd name="connsiteX7" fmla="*/ 0 w 352365"/>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365" h="483048">
                    <a:moveTo>
                      <a:pt x="0" y="241524"/>
                    </a:moveTo>
                    <a:lnTo>
                      <a:pt x="176183" y="0"/>
                    </a:lnTo>
                    <a:lnTo>
                      <a:pt x="176183" y="120762"/>
                    </a:lnTo>
                    <a:lnTo>
                      <a:pt x="352365" y="120762"/>
                    </a:lnTo>
                    <a:lnTo>
                      <a:pt x="352365" y="362286"/>
                    </a:lnTo>
                    <a:lnTo>
                      <a:pt x="176183" y="362286"/>
                    </a:lnTo>
                    <a:lnTo>
                      <a:pt x="176183" y="483048"/>
                    </a:lnTo>
                    <a:lnTo>
                      <a:pt x="0" y="241524"/>
                    </a:lnTo>
                    <a:close/>
                  </a:path>
                </a:pathLst>
              </a:cu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lIns="0" tIns="96609" rIns="105709" bIns="96611" spcCol="1270" anchor="ctr"/>
              <a:lstStyle/>
              <a:p>
                <a:pPr algn="ctr" defTabSz="622300">
                  <a:lnSpc>
                    <a:spcPct val="90000"/>
                  </a:lnSpc>
                  <a:spcAft>
                    <a:spcPct val="35000"/>
                  </a:spcAft>
                  <a:defRPr/>
                </a:pPr>
                <a:endParaRPr lang="ko-KR" altLang="en-US" sz="700" b="0" dirty="0">
                  <a:solidFill>
                    <a:prstClr val="white"/>
                  </a:solidFill>
                </a:endParaRPr>
              </a:p>
            </p:txBody>
          </p:sp>
          <p:sp>
            <p:nvSpPr>
              <p:cNvPr id="52" name="자유형 51"/>
              <p:cNvSpPr/>
              <p:nvPr/>
            </p:nvSpPr>
            <p:spPr>
              <a:xfrm>
                <a:off x="2329929" y="495582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lIns="78429" tIns="78429" rIns="78429" bIns="78429" spcCol="1270" anchor="ctr"/>
              <a:lstStyle/>
              <a:p>
                <a:pPr algn="ctr" defTabSz="711200">
                  <a:lnSpc>
                    <a:spcPct val="90000"/>
                  </a:lnSpc>
                  <a:spcAft>
                    <a:spcPct val="35000"/>
                  </a:spcAft>
                  <a:defRPr/>
                </a:pPr>
                <a:endParaRPr lang="ko-KR" altLang="en-US" sz="800" b="0" dirty="0">
                  <a:solidFill>
                    <a:prstClr val="white"/>
                  </a:solidFill>
                </a:endParaRPr>
              </a:p>
            </p:txBody>
          </p:sp>
          <p:sp>
            <p:nvSpPr>
              <p:cNvPr id="53" name="자유형 52"/>
              <p:cNvSpPr/>
              <p:nvPr/>
            </p:nvSpPr>
            <p:spPr>
              <a:xfrm>
                <a:off x="1704454" y="3338166"/>
                <a:ext cx="360363" cy="484187"/>
              </a:xfrm>
              <a:custGeom>
                <a:avLst/>
                <a:gdLst>
                  <a:gd name="connsiteX0" fmla="*/ 0 w 361314"/>
                  <a:gd name="connsiteY0" fmla="*/ 241524 h 483048"/>
                  <a:gd name="connsiteX1" fmla="*/ 180657 w 361314"/>
                  <a:gd name="connsiteY1" fmla="*/ 0 h 483048"/>
                  <a:gd name="connsiteX2" fmla="*/ 180657 w 361314"/>
                  <a:gd name="connsiteY2" fmla="*/ 120762 h 483048"/>
                  <a:gd name="connsiteX3" fmla="*/ 361314 w 361314"/>
                  <a:gd name="connsiteY3" fmla="*/ 120762 h 483048"/>
                  <a:gd name="connsiteX4" fmla="*/ 361314 w 361314"/>
                  <a:gd name="connsiteY4" fmla="*/ 362286 h 483048"/>
                  <a:gd name="connsiteX5" fmla="*/ 180657 w 361314"/>
                  <a:gd name="connsiteY5" fmla="*/ 362286 h 483048"/>
                  <a:gd name="connsiteX6" fmla="*/ 180657 w 361314"/>
                  <a:gd name="connsiteY6" fmla="*/ 483048 h 483048"/>
                  <a:gd name="connsiteX7" fmla="*/ 0 w 361314"/>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314" h="483048">
                    <a:moveTo>
                      <a:pt x="361314" y="241524"/>
                    </a:moveTo>
                    <a:lnTo>
                      <a:pt x="180657" y="483048"/>
                    </a:lnTo>
                    <a:lnTo>
                      <a:pt x="180657" y="362286"/>
                    </a:lnTo>
                    <a:lnTo>
                      <a:pt x="0" y="362286"/>
                    </a:lnTo>
                    <a:lnTo>
                      <a:pt x="0" y="120762"/>
                    </a:lnTo>
                    <a:lnTo>
                      <a:pt x="180657" y="120762"/>
                    </a:lnTo>
                    <a:lnTo>
                      <a:pt x="180657" y="0"/>
                    </a:lnTo>
                    <a:lnTo>
                      <a:pt x="361314" y="241524"/>
                    </a:lnTo>
                    <a:close/>
                  </a:path>
                </a:pathLst>
              </a:cu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108394" tIns="96611" rIns="1" bIns="96610" spcCol="1270" anchor="ctr"/>
              <a:lstStyle/>
              <a:p>
                <a:pPr algn="ctr" defTabSz="622300">
                  <a:lnSpc>
                    <a:spcPct val="90000"/>
                  </a:lnSpc>
                  <a:spcAft>
                    <a:spcPct val="35000"/>
                  </a:spcAft>
                  <a:defRPr/>
                </a:pPr>
                <a:endParaRPr lang="ko-KR" altLang="en-US" sz="700" b="0" dirty="0">
                  <a:solidFill>
                    <a:prstClr val="white"/>
                  </a:solidFill>
                </a:endParaRPr>
              </a:p>
            </p:txBody>
          </p:sp>
          <p:sp>
            <p:nvSpPr>
              <p:cNvPr id="54" name="자유형 53"/>
              <p:cNvSpPr/>
              <p:nvPr/>
            </p:nvSpPr>
            <p:spPr>
              <a:xfrm>
                <a:off x="342379" y="296827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58109" tIns="78429" rIns="58109" bIns="78429" spcCol="1270" anchor="ctr"/>
              <a:lstStyle/>
              <a:p>
                <a:pPr algn="ctr" defTabSz="711200">
                  <a:lnSpc>
                    <a:spcPct val="90000"/>
                  </a:lnSpc>
                  <a:spcAft>
                    <a:spcPct val="35000"/>
                  </a:spcAft>
                  <a:defRPr/>
                </a:pPr>
                <a:endParaRPr lang="ko-KR" altLang="en-US" sz="600" b="0" dirty="0">
                  <a:solidFill>
                    <a:prstClr val="white"/>
                  </a:solidFill>
                </a:endParaRPr>
              </a:p>
            </p:txBody>
          </p:sp>
        </p:grpSp>
      </p:grpSp>
      <p:grpSp>
        <p:nvGrpSpPr>
          <p:cNvPr id="55" name="그룹 54"/>
          <p:cNvGrpSpPr/>
          <p:nvPr/>
        </p:nvGrpSpPr>
        <p:grpSpPr>
          <a:xfrm>
            <a:off x="10252647" y="1492416"/>
            <a:ext cx="1279788" cy="1255839"/>
            <a:chOff x="5796136" y="2132856"/>
            <a:chExt cx="2736304" cy="2736304"/>
          </a:xfrm>
        </p:grpSpPr>
        <p:sp>
          <p:nvSpPr>
            <p:cNvPr id="56" name="타원 55"/>
            <p:cNvSpPr/>
            <p:nvPr/>
          </p:nvSpPr>
          <p:spPr>
            <a:xfrm>
              <a:off x="5796136" y="2132856"/>
              <a:ext cx="2736304" cy="2736304"/>
            </a:xfrm>
            <a:prstGeom prst="ellipse">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7" name="그룹 56"/>
            <p:cNvGrpSpPr/>
            <p:nvPr/>
          </p:nvGrpSpPr>
          <p:grpSpPr>
            <a:xfrm>
              <a:off x="6228184" y="2564904"/>
              <a:ext cx="1878470" cy="1800200"/>
              <a:chOff x="342379" y="980728"/>
              <a:chExt cx="5165725" cy="5199063"/>
            </a:xfrm>
          </p:grpSpPr>
          <p:sp>
            <p:nvSpPr>
              <p:cNvPr id="58" name="자유형 57"/>
              <p:cNvSpPr/>
              <p:nvPr/>
            </p:nvSpPr>
            <p:spPr>
              <a:xfrm>
                <a:off x="2215629" y="2869853"/>
                <a:ext cx="1420813" cy="1420813"/>
              </a:xfrm>
              <a:custGeom>
                <a:avLst/>
                <a:gdLst>
                  <a:gd name="connsiteX0" fmla="*/ 0 w 1420731"/>
                  <a:gd name="connsiteY0" fmla="*/ 710366 h 1420731"/>
                  <a:gd name="connsiteX1" fmla="*/ 710366 w 1420731"/>
                  <a:gd name="connsiteY1" fmla="*/ 0 h 1420731"/>
                  <a:gd name="connsiteX2" fmla="*/ 1420732 w 1420731"/>
                  <a:gd name="connsiteY2" fmla="*/ 710366 h 1420731"/>
                  <a:gd name="connsiteX3" fmla="*/ 710366 w 1420731"/>
                  <a:gd name="connsiteY3" fmla="*/ 1420732 h 1420731"/>
                  <a:gd name="connsiteX4" fmla="*/ 0 w 1420731"/>
                  <a:gd name="connsiteY4" fmla="*/ 710366 h 14207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420731" h="1420731">
                    <a:moveTo>
                      <a:pt x="0" y="710366"/>
                    </a:moveTo>
                    <a:cubicBezTo>
                      <a:pt x="0" y="318042"/>
                      <a:pt x="318042" y="0"/>
                      <a:pt x="710366" y="0"/>
                    </a:cubicBezTo>
                    <a:cubicBezTo>
                      <a:pt x="1102690" y="0"/>
                      <a:pt x="1420732" y="318042"/>
                      <a:pt x="1420732" y="710366"/>
                    </a:cubicBezTo>
                    <a:cubicBezTo>
                      <a:pt x="1420732" y="1102690"/>
                      <a:pt x="1102690" y="1420732"/>
                      <a:pt x="710366" y="1420732"/>
                    </a:cubicBezTo>
                    <a:cubicBezTo>
                      <a:pt x="318042" y="1420732"/>
                      <a:pt x="0" y="1102690"/>
                      <a:pt x="0" y="710366"/>
                    </a:cubicBezTo>
                    <a:close/>
                  </a:path>
                </a:pathLst>
              </a:custGeom>
            </p:spPr>
            <p:style>
              <a:lnRef idx="2">
                <a:schemeClr val="lt1">
                  <a:hueOff val="0"/>
                  <a:satOff val="0"/>
                  <a:lumOff val="0"/>
                  <a:alphaOff val="0"/>
                </a:schemeClr>
              </a:lnRef>
              <a:fillRef idx="1">
                <a:schemeClr val="accent1">
                  <a:hueOff val="0"/>
                  <a:satOff val="0"/>
                  <a:lumOff val="0"/>
                  <a:alphaOff val="0"/>
                </a:schemeClr>
              </a:fillRef>
              <a:effectRef idx="0">
                <a:schemeClr val="accent1">
                  <a:hueOff val="0"/>
                  <a:satOff val="0"/>
                  <a:lumOff val="0"/>
                  <a:alphaOff val="0"/>
                </a:schemeClr>
              </a:effectRef>
              <a:fontRef idx="minor">
                <a:schemeClr val="lt1"/>
              </a:fontRef>
            </p:style>
            <p:txBody>
              <a:bodyPr lIns="230921" tIns="230921" rIns="230921" bIns="230921" spcCol="1270" anchor="ctr"/>
              <a:lstStyle/>
              <a:p>
                <a:pPr algn="ctr" defTabSz="800100">
                  <a:lnSpc>
                    <a:spcPct val="90000"/>
                  </a:lnSpc>
                  <a:spcAft>
                    <a:spcPct val="35000"/>
                  </a:spcAft>
                  <a:defRPr/>
                </a:pPr>
                <a:endParaRPr lang="ko-KR" altLang="en-US" sz="900" dirty="0">
                  <a:solidFill>
                    <a:prstClr val="white"/>
                  </a:solidFill>
                </a:endParaRPr>
              </a:p>
            </p:txBody>
          </p:sp>
          <p:sp>
            <p:nvSpPr>
              <p:cNvPr id="59" name="자유형 58"/>
              <p:cNvSpPr/>
              <p:nvPr/>
            </p:nvSpPr>
            <p:spPr>
              <a:xfrm rot="16200000">
                <a:off x="2749029" y="2306291"/>
                <a:ext cx="352425" cy="482600"/>
              </a:xfrm>
              <a:custGeom>
                <a:avLst/>
                <a:gdLst>
                  <a:gd name="connsiteX0" fmla="*/ 0 w 352365"/>
                  <a:gd name="connsiteY0" fmla="*/ 241524 h 483048"/>
                  <a:gd name="connsiteX1" fmla="*/ 176183 w 352365"/>
                  <a:gd name="connsiteY1" fmla="*/ 0 h 483048"/>
                  <a:gd name="connsiteX2" fmla="*/ 176183 w 352365"/>
                  <a:gd name="connsiteY2" fmla="*/ 120762 h 483048"/>
                  <a:gd name="connsiteX3" fmla="*/ 352365 w 352365"/>
                  <a:gd name="connsiteY3" fmla="*/ 120762 h 483048"/>
                  <a:gd name="connsiteX4" fmla="*/ 352365 w 352365"/>
                  <a:gd name="connsiteY4" fmla="*/ 362286 h 483048"/>
                  <a:gd name="connsiteX5" fmla="*/ 176183 w 352365"/>
                  <a:gd name="connsiteY5" fmla="*/ 362286 h 483048"/>
                  <a:gd name="connsiteX6" fmla="*/ 176183 w 352365"/>
                  <a:gd name="connsiteY6" fmla="*/ 483048 h 483048"/>
                  <a:gd name="connsiteX7" fmla="*/ 0 w 352365"/>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365" h="483048">
                    <a:moveTo>
                      <a:pt x="0" y="241524"/>
                    </a:moveTo>
                    <a:lnTo>
                      <a:pt x="176183" y="0"/>
                    </a:lnTo>
                    <a:lnTo>
                      <a:pt x="176183" y="120762"/>
                    </a:lnTo>
                    <a:lnTo>
                      <a:pt x="352365" y="120762"/>
                    </a:lnTo>
                    <a:lnTo>
                      <a:pt x="352365" y="362286"/>
                    </a:lnTo>
                    <a:lnTo>
                      <a:pt x="176183" y="362286"/>
                    </a:lnTo>
                    <a:lnTo>
                      <a:pt x="176183" y="483048"/>
                    </a:lnTo>
                    <a:lnTo>
                      <a:pt x="0" y="241524"/>
                    </a:lnTo>
                    <a:close/>
                  </a:path>
                </a:pathLst>
              </a:custGeom>
            </p:spPr>
            <p:style>
              <a:lnRef idx="0">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lIns="-1" tIns="96610" rIns="105710" bIns="96609" spcCol="1270" anchor="ctr"/>
              <a:lstStyle/>
              <a:p>
                <a:pPr algn="ctr" defTabSz="622300">
                  <a:lnSpc>
                    <a:spcPct val="90000"/>
                  </a:lnSpc>
                  <a:spcAft>
                    <a:spcPct val="35000"/>
                  </a:spcAft>
                  <a:defRPr/>
                </a:pPr>
                <a:endParaRPr lang="ko-KR" altLang="en-US" sz="700" b="0" dirty="0">
                  <a:solidFill>
                    <a:prstClr val="white"/>
                  </a:solidFill>
                </a:endParaRPr>
              </a:p>
            </p:txBody>
          </p:sp>
          <p:sp>
            <p:nvSpPr>
              <p:cNvPr id="60" name="자유형 59"/>
              <p:cNvSpPr/>
              <p:nvPr/>
            </p:nvSpPr>
            <p:spPr>
              <a:xfrm>
                <a:off x="2329929" y="98072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2">
                  <a:hueOff val="0"/>
                  <a:satOff val="0"/>
                  <a:lumOff val="0"/>
                  <a:alphaOff val="0"/>
                </a:schemeClr>
              </a:fillRef>
              <a:effectRef idx="0">
                <a:schemeClr val="accent2">
                  <a:hueOff val="0"/>
                  <a:satOff val="0"/>
                  <a:lumOff val="0"/>
                  <a:alphaOff val="0"/>
                </a:schemeClr>
              </a:effectRef>
              <a:fontRef idx="minor">
                <a:schemeClr val="lt1"/>
              </a:fontRef>
            </p:style>
            <p:txBody>
              <a:bodyPr lIns="78429" tIns="78429" rIns="78429" bIns="78429" spcCol="1270" anchor="ctr"/>
              <a:lstStyle/>
              <a:p>
                <a:pPr algn="ctr" defTabSz="711200">
                  <a:lnSpc>
                    <a:spcPct val="90000"/>
                  </a:lnSpc>
                  <a:spcAft>
                    <a:spcPct val="35000"/>
                  </a:spcAft>
                  <a:defRPr/>
                </a:pPr>
                <a:endParaRPr lang="ko-KR" altLang="en-US" sz="800" b="0" dirty="0">
                  <a:solidFill>
                    <a:prstClr val="white"/>
                  </a:solidFill>
                </a:endParaRPr>
              </a:p>
            </p:txBody>
          </p:sp>
          <p:sp>
            <p:nvSpPr>
              <p:cNvPr id="61" name="자유형 60"/>
              <p:cNvSpPr/>
              <p:nvPr/>
            </p:nvSpPr>
            <p:spPr>
              <a:xfrm>
                <a:off x="3785667" y="3338166"/>
                <a:ext cx="361950" cy="484187"/>
              </a:xfrm>
              <a:custGeom>
                <a:avLst/>
                <a:gdLst>
                  <a:gd name="connsiteX0" fmla="*/ 0 w 361314"/>
                  <a:gd name="connsiteY0" fmla="*/ 241524 h 483048"/>
                  <a:gd name="connsiteX1" fmla="*/ 180657 w 361314"/>
                  <a:gd name="connsiteY1" fmla="*/ 0 h 483048"/>
                  <a:gd name="connsiteX2" fmla="*/ 180657 w 361314"/>
                  <a:gd name="connsiteY2" fmla="*/ 120762 h 483048"/>
                  <a:gd name="connsiteX3" fmla="*/ 361314 w 361314"/>
                  <a:gd name="connsiteY3" fmla="*/ 120762 h 483048"/>
                  <a:gd name="connsiteX4" fmla="*/ 361314 w 361314"/>
                  <a:gd name="connsiteY4" fmla="*/ 362286 h 483048"/>
                  <a:gd name="connsiteX5" fmla="*/ 180657 w 361314"/>
                  <a:gd name="connsiteY5" fmla="*/ 362286 h 483048"/>
                  <a:gd name="connsiteX6" fmla="*/ 180657 w 361314"/>
                  <a:gd name="connsiteY6" fmla="*/ 483048 h 483048"/>
                  <a:gd name="connsiteX7" fmla="*/ 0 w 361314"/>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314" h="483048">
                    <a:moveTo>
                      <a:pt x="0" y="241524"/>
                    </a:moveTo>
                    <a:lnTo>
                      <a:pt x="180657" y="0"/>
                    </a:lnTo>
                    <a:lnTo>
                      <a:pt x="180657" y="120762"/>
                    </a:lnTo>
                    <a:lnTo>
                      <a:pt x="361314" y="120762"/>
                    </a:lnTo>
                    <a:lnTo>
                      <a:pt x="361314" y="362286"/>
                    </a:lnTo>
                    <a:lnTo>
                      <a:pt x="180657" y="362286"/>
                    </a:lnTo>
                    <a:lnTo>
                      <a:pt x="180657" y="483048"/>
                    </a:lnTo>
                    <a:lnTo>
                      <a:pt x="0" y="241524"/>
                    </a:lnTo>
                    <a:close/>
                  </a:path>
                </a:pathLst>
              </a:custGeom>
            </p:spPr>
            <p:style>
              <a:lnRef idx="0">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lIns="0" tIns="96610" rIns="108394" bIns="96610" spcCol="1270" anchor="ctr"/>
              <a:lstStyle/>
              <a:p>
                <a:pPr algn="ctr" defTabSz="622300">
                  <a:lnSpc>
                    <a:spcPct val="90000"/>
                  </a:lnSpc>
                  <a:spcAft>
                    <a:spcPct val="35000"/>
                  </a:spcAft>
                  <a:defRPr/>
                </a:pPr>
                <a:endParaRPr lang="ko-KR" altLang="en-US" sz="700" b="0" dirty="0">
                  <a:solidFill>
                    <a:prstClr val="white"/>
                  </a:solidFill>
                </a:endParaRPr>
              </a:p>
            </p:txBody>
          </p:sp>
          <p:sp>
            <p:nvSpPr>
              <p:cNvPr id="62" name="자유형 61"/>
              <p:cNvSpPr/>
              <p:nvPr/>
            </p:nvSpPr>
            <p:spPr>
              <a:xfrm>
                <a:off x="4317479" y="296827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lIns="78429" tIns="78429" rIns="78429" bIns="78429" spcCol="1270" anchor="ctr"/>
              <a:lstStyle/>
              <a:p>
                <a:pPr algn="ctr" defTabSz="711200">
                  <a:lnSpc>
                    <a:spcPct val="90000"/>
                  </a:lnSpc>
                  <a:spcAft>
                    <a:spcPct val="35000"/>
                  </a:spcAft>
                  <a:defRPr/>
                </a:pPr>
                <a:endParaRPr lang="ko-KR" altLang="en-US" sz="700" b="0" dirty="0">
                  <a:solidFill>
                    <a:prstClr val="white"/>
                  </a:solidFill>
                </a:endParaRPr>
              </a:p>
            </p:txBody>
          </p:sp>
          <p:sp>
            <p:nvSpPr>
              <p:cNvPr id="63" name="자유형 62"/>
              <p:cNvSpPr/>
              <p:nvPr/>
            </p:nvSpPr>
            <p:spPr>
              <a:xfrm rot="5400000">
                <a:off x="2749029" y="4371629"/>
                <a:ext cx="352425" cy="482600"/>
              </a:xfrm>
              <a:custGeom>
                <a:avLst/>
                <a:gdLst>
                  <a:gd name="connsiteX0" fmla="*/ 0 w 352365"/>
                  <a:gd name="connsiteY0" fmla="*/ 241524 h 483048"/>
                  <a:gd name="connsiteX1" fmla="*/ 176183 w 352365"/>
                  <a:gd name="connsiteY1" fmla="*/ 0 h 483048"/>
                  <a:gd name="connsiteX2" fmla="*/ 176183 w 352365"/>
                  <a:gd name="connsiteY2" fmla="*/ 120762 h 483048"/>
                  <a:gd name="connsiteX3" fmla="*/ 352365 w 352365"/>
                  <a:gd name="connsiteY3" fmla="*/ 120762 h 483048"/>
                  <a:gd name="connsiteX4" fmla="*/ 352365 w 352365"/>
                  <a:gd name="connsiteY4" fmla="*/ 362286 h 483048"/>
                  <a:gd name="connsiteX5" fmla="*/ 176183 w 352365"/>
                  <a:gd name="connsiteY5" fmla="*/ 362286 h 483048"/>
                  <a:gd name="connsiteX6" fmla="*/ 176183 w 352365"/>
                  <a:gd name="connsiteY6" fmla="*/ 483048 h 483048"/>
                  <a:gd name="connsiteX7" fmla="*/ 0 w 352365"/>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2365" h="483048">
                    <a:moveTo>
                      <a:pt x="0" y="241524"/>
                    </a:moveTo>
                    <a:lnTo>
                      <a:pt x="176183" y="0"/>
                    </a:lnTo>
                    <a:lnTo>
                      <a:pt x="176183" y="120762"/>
                    </a:lnTo>
                    <a:lnTo>
                      <a:pt x="352365" y="120762"/>
                    </a:lnTo>
                    <a:lnTo>
                      <a:pt x="352365" y="362286"/>
                    </a:lnTo>
                    <a:lnTo>
                      <a:pt x="176183" y="362286"/>
                    </a:lnTo>
                    <a:lnTo>
                      <a:pt x="176183" y="483048"/>
                    </a:lnTo>
                    <a:lnTo>
                      <a:pt x="0" y="241524"/>
                    </a:lnTo>
                    <a:close/>
                  </a:path>
                </a:pathLst>
              </a:custGeom>
            </p:spPr>
            <p:style>
              <a:lnRef idx="0">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lIns="0" tIns="96609" rIns="105709" bIns="96611" spcCol="1270" anchor="ctr"/>
              <a:lstStyle/>
              <a:p>
                <a:pPr algn="ctr" defTabSz="622300">
                  <a:lnSpc>
                    <a:spcPct val="90000"/>
                  </a:lnSpc>
                  <a:spcAft>
                    <a:spcPct val="35000"/>
                  </a:spcAft>
                  <a:defRPr/>
                </a:pPr>
                <a:endParaRPr lang="ko-KR" altLang="en-US" sz="700" b="0" dirty="0">
                  <a:solidFill>
                    <a:prstClr val="white"/>
                  </a:solidFill>
                </a:endParaRPr>
              </a:p>
            </p:txBody>
          </p:sp>
          <p:sp>
            <p:nvSpPr>
              <p:cNvPr id="64" name="자유형 63"/>
              <p:cNvSpPr/>
              <p:nvPr/>
            </p:nvSpPr>
            <p:spPr>
              <a:xfrm>
                <a:off x="2329929" y="495582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4">
                  <a:hueOff val="0"/>
                  <a:satOff val="0"/>
                  <a:lumOff val="0"/>
                  <a:alphaOff val="0"/>
                </a:schemeClr>
              </a:fillRef>
              <a:effectRef idx="0">
                <a:schemeClr val="accent4">
                  <a:hueOff val="0"/>
                  <a:satOff val="0"/>
                  <a:lumOff val="0"/>
                  <a:alphaOff val="0"/>
                </a:schemeClr>
              </a:effectRef>
              <a:fontRef idx="minor">
                <a:schemeClr val="lt1"/>
              </a:fontRef>
            </p:style>
            <p:txBody>
              <a:bodyPr lIns="78429" tIns="78429" rIns="78429" bIns="78429" spcCol="1270" anchor="ctr"/>
              <a:lstStyle/>
              <a:p>
                <a:pPr algn="ctr" defTabSz="711200">
                  <a:lnSpc>
                    <a:spcPct val="90000"/>
                  </a:lnSpc>
                  <a:spcAft>
                    <a:spcPct val="35000"/>
                  </a:spcAft>
                  <a:defRPr/>
                </a:pPr>
                <a:endParaRPr lang="ko-KR" altLang="en-US" sz="800" b="0" dirty="0">
                  <a:solidFill>
                    <a:prstClr val="white"/>
                  </a:solidFill>
                </a:endParaRPr>
              </a:p>
            </p:txBody>
          </p:sp>
          <p:sp>
            <p:nvSpPr>
              <p:cNvPr id="65" name="자유형 64"/>
              <p:cNvSpPr/>
              <p:nvPr/>
            </p:nvSpPr>
            <p:spPr>
              <a:xfrm>
                <a:off x="1704454" y="3338166"/>
                <a:ext cx="360363" cy="484187"/>
              </a:xfrm>
              <a:custGeom>
                <a:avLst/>
                <a:gdLst>
                  <a:gd name="connsiteX0" fmla="*/ 0 w 361314"/>
                  <a:gd name="connsiteY0" fmla="*/ 241524 h 483048"/>
                  <a:gd name="connsiteX1" fmla="*/ 180657 w 361314"/>
                  <a:gd name="connsiteY1" fmla="*/ 0 h 483048"/>
                  <a:gd name="connsiteX2" fmla="*/ 180657 w 361314"/>
                  <a:gd name="connsiteY2" fmla="*/ 120762 h 483048"/>
                  <a:gd name="connsiteX3" fmla="*/ 361314 w 361314"/>
                  <a:gd name="connsiteY3" fmla="*/ 120762 h 483048"/>
                  <a:gd name="connsiteX4" fmla="*/ 361314 w 361314"/>
                  <a:gd name="connsiteY4" fmla="*/ 362286 h 483048"/>
                  <a:gd name="connsiteX5" fmla="*/ 180657 w 361314"/>
                  <a:gd name="connsiteY5" fmla="*/ 362286 h 483048"/>
                  <a:gd name="connsiteX6" fmla="*/ 180657 w 361314"/>
                  <a:gd name="connsiteY6" fmla="*/ 483048 h 483048"/>
                  <a:gd name="connsiteX7" fmla="*/ 0 w 361314"/>
                  <a:gd name="connsiteY7" fmla="*/ 241524 h 4830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61314" h="483048">
                    <a:moveTo>
                      <a:pt x="361314" y="241524"/>
                    </a:moveTo>
                    <a:lnTo>
                      <a:pt x="180657" y="483048"/>
                    </a:lnTo>
                    <a:lnTo>
                      <a:pt x="180657" y="362286"/>
                    </a:lnTo>
                    <a:lnTo>
                      <a:pt x="0" y="362286"/>
                    </a:lnTo>
                    <a:lnTo>
                      <a:pt x="0" y="120762"/>
                    </a:lnTo>
                    <a:lnTo>
                      <a:pt x="180657" y="120762"/>
                    </a:lnTo>
                    <a:lnTo>
                      <a:pt x="180657" y="0"/>
                    </a:lnTo>
                    <a:lnTo>
                      <a:pt x="361314" y="241524"/>
                    </a:lnTo>
                    <a:close/>
                  </a:path>
                </a:pathLst>
              </a:custGeom>
            </p:spPr>
            <p:style>
              <a:lnRef idx="0">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108394" tIns="96611" rIns="1" bIns="96610" spcCol="1270" anchor="ctr"/>
              <a:lstStyle/>
              <a:p>
                <a:pPr algn="ctr" defTabSz="622300">
                  <a:lnSpc>
                    <a:spcPct val="90000"/>
                  </a:lnSpc>
                  <a:spcAft>
                    <a:spcPct val="35000"/>
                  </a:spcAft>
                  <a:defRPr/>
                </a:pPr>
                <a:endParaRPr lang="ko-KR" altLang="en-US" sz="700" b="0" dirty="0">
                  <a:solidFill>
                    <a:prstClr val="white"/>
                  </a:solidFill>
                </a:endParaRPr>
              </a:p>
            </p:txBody>
          </p:sp>
          <p:sp>
            <p:nvSpPr>
              <p:cNvPr id="66" name="자유형 65"/>
              <p:cNvSpPr/>
              <p:nvPr/>
            </p:nvSpPr>
            <p:spPr>
              <a:xfrm>
                <a:off x="342379" y="2968278"/>
                <a:ext cx="1190625" cy="1223963"/>
              </a:xfrm>
              <a:custGeom>
                <a:avLst/>
                <a:gdLst>
                  <a:gd name="connsiteX0" fmla="*/ 0 w 1190359"/>
                  <a:gd name="connsiteY0" fmla="*/ 198397 h 1224130"/>
                  <a:gd name="connsiteX1" fmla="*/ 198397 w 1190359"/>
                  <a:gd name="connsiteY1" fmla="*/ 0 h 1224130"/>
                  <a:gd name="connsiteX2" fmla="*/ 991962 w 1190359"/>
                  <a:gd name="connsiteY2" fmla="*/ 0 h 1224130"/>
                  <a:gd name="connsiteX3" fmla="*/ 1190359 w 1190359"/>
                  <a:gd name="connsiteY3" fmla="*/ 198397 h 1224130"/>
                  <a:gd name="connsiteX4" fmla="*/ 1190359 w 1190359"/>
                  <a:gd name="connsiteY4" fmla="*/ 1025733 h 1224130"/>
                  <a:gd name="connsiteX5" fmla="*/ 991962 w 1190359"/>
                  <a:gd name="connsiteY5" fmla="*/ 1224130 h 1224130"/>
                  <a:gd name="connsiteX6" fmla="*/ 198397 w 1190359"/>
                  <a:gd name="connsiteY6" fmla="*/ 1224130 h 1224130"/>
                  <a:gd name="connsiteX7" fmla="*/ 0 w 1190359"/>
                  <a:gd name="connsiteY7" fmla="*/ 1025733 h 1224130"/>
                  <a:gd name="connsiteX8" fmla="*/ 0 w 1190359"/>
                  <a:gd name="connsiteY8" fmla="*/ 198397 h 122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90359" h="1224130">
                    <a:moveTo>
                      <a:pt x="0" y="198397"/>
                    </a:moveTo>
                    <a:cubicBezTo>
                      <a:pt x="0" y="88825"/>
                      <a:pt x="88825" y="0"/>
                      <a:pt x="198397" y="0"/>
                    </a:cubicBezTo>
                    <a:lnTo>
                      <a:pt x="991962" y="0"/>
                    </a:lnTo>
                    <a:cubicBezTo>
                      <a:pt x="1101534" y="0"/>
                      <a:pt x="1190359" y="88825"/>
                      <a:pt x="1190359" y="198397"/>
                    </a:cubicBezTo>
                    <a:lnTo>
                      <a:pt x="1190359" y="1025733"/>
                    </a:lnTo>
                    <a:cubicBezTo>
                      <a:pt x="1190359" y="1135305"/>
                      <a:pt x="1101534" y="1224130"/>
                      <a:pt x="991962" y="1224130"/>
                    </a:cubicBezTo>
                    <a:lnTo>
                      <a:pt x="198397" y="1224130"/>
                    </a:lnTo>
                    <a:cubicBezTo>
                      <a:pt x="88825" y="1224130"/>
                      <a:pt x="0" y="1135305"/>
                      <a:pt x="0" y="1025733"/>
                    </a:cubicBezTo>
                    <a:lnTo>
                      <a:pt x="0" y="198397"/>
                    </a:lnTo>
                    <a:close/>
                  </a:path>
                </a:pathLst>
              </a:custGeom>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lIns="58109" tIns="78429" rIns="58109" bIns="78429" spcCol="1270" anchor="ctr"/>
              <a:lstStyle/>
              <a:p>
                <a:pPr algn="ctr" defTabSz="711200">
                  <a:lnSpc>
                    <a:spcPct val="90000"/>
                  </a:lnSpc>
                  <a:spcAft>
                    <a:spcPct val="35000"/>
                  </a:spcAft>
                  <a:defRPr/>
                </a:pPr>
                <a:endParaRPr lang="ko-KR" altLang="en-US" sz="600" b="0" dirty="0">
                  <a:solidFill>
                    <a:prstClr val="white"/>
                  </a:solidFill>
                </a:endParaRPr>
              </a:p>
            </p:txBody>
          </p:sp>
        </p:grpSp>
      </p:grpSp>
      <p:sp>
        <p:nvSpPr>
          <p:cNvPr id="67" name="오른쪽 화살표 66"/>
          <p:cNvSpPr/>
          <p:nvPr/>
        </p:nvSpPr>
        <p:spPr>
          <a:xfrm>
            <a:off x="8660544" y="1806335"/>
            <a:ext cx="1539033" cy="613328"/>
          </a:xfrm>
          <a:prstGeom prst="rightArrow">
            <a:avLst/>
          </a:prstGeom>
          <a:solidFill>
            <a:schemeClr val="accent1">
              <a:lumMod val="20000"/>
              <a:lumOff val="80000"/>
            </a:schemeClr>
          </a:solidFill>
          <a:ln>
            <a:solidFill>
              <a:schemeClr val="accent2">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지 배 수 단</a:t>
            </a:r>
          </a:p>
        </p:txBody>
      </p:sp>
      <p:sp>
        <p:nvSpPr>
          <p:cNvPr id="68" name="TextBox 67"/>
          <p:cNvSpPr txBox="1"/>
          <p:nvPr/>
        </p:nvSpPr>
        <p:spPr>
          <a:xfrm>
            <a:off x="6921225" y="1074209"/>
            <a:ext cx="862476" cy="373261"/>
          </a:xfrm>
          <a:prstGeom prst="roundRect">
            <a:avLst>
              <a:gd name="adj" fmla="val 31306"/>
            </a:avLst>
          </a:prstGeom>
          <a:solidFill>
            <a:schemeClr val="accent1">
              <a:lumMod val="20000"/>
              <a:lumOff val="80000"/>
            </a:schemeClr>
          </a:solidFill>
          <a:ln>
            <a:solidFill>
              <a:schemeClr val="bg1">
                <a:lumMod val="50000"/>
              </a:schemeClr>
            </a:solidFill>
          </a:ln>
        </p:spPr>
        <p:txBody>
          <a:bodyPr wrap="square" rtlCol="0">
            <a:spAutoFit/>
          </a:bodyPr>
          <a:lstStyle/>
          <a:p>
            <a:pPr algn="dist"/>
            <a:r>
              <a:rPr lang="ko-KR" altLang="en-US" sz="1400" dirty="0"/>
              <a:t>선진국</a:t>
            </a:r>
          </a:p>
        </p:txBody>
      </p:sp>
      <p:sp>
        <p:nvSpPr>
          <p:cNvPr id="69" name="TextBox 68"/>
          <p:cNvSpPr txBox="1"/>
          <p:nvPr/>
        </p:nvSpPr>
        <p:spPr>
          <a:xfrm>
            <a:off x="10470817" y="1292079"/>
            <a:ext cx="862476" cy="373261"/>
          </a:xfrm>
          <a:prstGeom prst="roundRect">
            <a:avLst>
              <a:gd name="adj" fmla="val 31306"/>
            </a:avLst>
          </a:prstGeom>
          <a:solidFill>
            <a:schemeClr val="accent1">
              <a:lumMod val="20000"/>
              <a:lumOff val="80000"/>
            </a:schemeClr>
          </a:solidFill>
          <a:ln>
            <a:solidFill>
              <a:schemeClr val="bg1">
                <a:lumMod val="50000"/>
              </a:schemeClr>
            </a:solidFill>
          </a:ln>
        </p:spPr>
        <p:txBody>
          <a:bodyPr wrap="square" rtlCol="0">
            <a:spAutoFit/>
          </a:bodyPr>
          <a:lstStyle/>
          <a:p>
            <a:pPr algn="dist"/>
            <a:r>
              <a:rPr lang="ko-KR" altLang="en-US" sz="1400" dirty="0"/>
              <a:t>후진국</a:t>
            </a:r>
          </a:p>
        </p:txBody>
      </p:sp>
      <p:sp>
        <p:nvSpPr>
          <p:cNvPr id="70" name="TextBox 69"/>
          <p:cNvSpPr txBox="1"/>
          <p:nvPr/>
        </p:nvSpPr>
        <p:spPr>
          <a:xfrm>
            <a:off x="8680701" y="2527171"/>
            <a:ext cx="1890261" cy="584775"/>
          </a:xfrm>
          <a:prstGeom prst="rect">
            <a:avLst/>
          </a:prstGeom>
          <a:noFill/>
        </p:spPr>
        <p:txBody>
          <a:bodyPr wrap="none" rtlCol="0">
            <a:spAutoFit/>
          </a:bodyPr>
          <a:lstStyle/>
          <a:p>
            <a:r>
              <a:rPr lang="ko-KR" altLang="en-US" sz="1600" dirty="0"/>
              <a:t>기존</a:t>
            </a:r>
            <a:r>
              <a:rPr lang="en-US" altLang="ko-KR" sz="1600" dirty="0"/>
              <a:t>: </a:t>
            </a:r>
            <a:r>
              <a:rPr lang="ko-KR" altLang="en-US" sz="1600" dirty="0"/>
              <a:t>군사력</a:t>
            </a:r>
            <a:endParaRPr lang="en-US" altLang="ko-KR" sz="1600" dirty="0"/>
          </a:p>
          <a:p>
            <a:r>
              <a:rPr lang="ko-KR" altLang="en-US" sz="1600" dirty="0">
                <a:solidFill>
                  <a:srgbClr val="FF0000"/>
                </a:solidFill>
              </a:rPr>
              <a:t>현재</a:t>
            </a:r>
            <a:r>
              <a:rPr lang="en-US" altLang="ko-KR" sz="1600" dirty="0">
                <a:solidFill>
                  <a:srgbClr val="FF0000"/>
                </a:solidFill>
              </a:rPr>
              <a:t>: </a:t>
            </a:r>
            <a:r>
              <a:rPr lang="ko-KR" altLang="en-US" sz="1600" dirty="0">
                <a:solidFill>
                  <a:srgbClr val="FF0000"/>
                </a:solidFill>
              </a:rPr>
              <a:t>경제력</a:t>
            </a:r>
            <a:r>
              <a:rPr lang="en-US" altLang="ko-KR" sz="1600" dirty="0">
                <a:solidFill>
                  <a:srgbClr val="FF0000"/>
                </a:solidFill>
              </a:rPr>
              <a:t>, </a:t>
            </a:r>
            <a:r>
              <a:rPr lang="ko-KR" altLang="en-US" sz="1600" dirty="0">
                <a:solidFill>
                  <a:srgbClr val="FF0000"/>
                </a:solidFill>
              </a:rPr>
              <a:t>기술력</a:t>
            </a:r>
          </a:p>
        </p:txBody>
      </p:sp>
      <p:sp>
        <p:nvSpPr>
          <p:cNvPr id="6" name="직사각형 5"/>
          <p:cNvSpPr/>
          <p:nvPr/>
        </p:nvSpPr>
        <p:spPr>
          <a:xfrm>
            <a:off x="6084273" y="914394"/>
            <a:ext cx="5706208" cy="2523392"/>
          </a:xfrm>
          <a:prstGeom prst="rect">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슬라이드 번호 개체 틀 4"/>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5</a:t>
            </a:fld>
            <a:endParaRPr lang="ko-KR" altLang="en-US"/>
          </a:p>
        </p:txBody>
      </p:sp>
      <p:sp>
        <p:nvSpPr>
          <p:cNvPr id="8" name="TextBox 7">
            <a:extLst>
              <a:ext uri="{FF2B5EF4-FFF2-40B4-BE49-F238E27FC236}">
                <a16:creationId xmlns:a16="http://schemas.microsoft.com/office/drawing/2014/main" id="{9373EB3B-6180-629C-66BD-3EA4A140E228}"/>
              </a:ext>
            </a:extLst>
          </p:cNvPr>
          <p:cNvSpPr txBox="1"/>
          <p:nvPr/>
        </p:nvSpPr>
        <p:spPr>
          <a:xfrm>
            <a:off x="269318" y="1074209"/>
            <a:ext cx="1187689" cy="369332"/>
          </a:xfrm>
          <a:prstGeom prst="rect">
            <a:avLst/>
          </a:prstGeom>
          <a:solidFill>
            <a:schemeClr val="tx1">
              <a:lumMod val="65000"/>
              <a:lumOff val="35000"/>
            </a:schemeClr>
          </a:solidFill>
          <a:ln>
            <a:solidFill>
              <a:schemeClr val="bg1">
                <a:lumMod val="50000"/>
              </a:schemeClr>
            </a:solidFill>
          </a:ln>
        </p:spPr>
        <p:txBody>
          <a:bodyPr wrap="square">
            <a:spAutoFit/>
          </a:bodyPr>
          <a:lstStyle/>
          <a:p>
            <a:r>
              <a:rPr lang="en-US" altLang="ko-KR" dirty="0">
                <a:solidFill>
                  <a:srgbClr val="FFFF00"/>
                </a:solidFill>
              </a:rPr>
              <a:t>PEST </a:t>
            </a:r>
            <a:r>
              <a:rPr lang="ko-KR" altLang="en-US" dirty="0">
                <a:solidFill>
                  <a:srgbClr val="FFFF00"/>
                </a:solidFill>
              </a:rPr>
              <a:t>분석</a:t>
            </a:r>
          </a:p>
        </p:txBody>
      </p:sp>
    </p:spTree>
    <p:extLst>
      <p:ext uri="{BB962C8B-B14F-4D97-AF65-F5344CB8AC3E}">
        <p14:creationId xmlns:p14="http://schemas.microsoft.com/office/powerpoint/2010/main" val="9686022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1</a:t>
            </a:r>
            <a:r>
              <a:rPr lang="ko-KR" altLang="en-US" dirty="0"/>
              <a:t>조</a:t>
            </a:r>
          </a:p>
        </p:txBody>
      </p:sp>
      <p:sp>
        <p:nvSpPr>
          <p:cNvPr id="4" name="텍스트 개체 틀 3"/>
          <p:cNvSpPr>
            <a:spLocks noGrp="1"/>
          </p:cNvSpPr>
          <p:nvPr>
            <p:ph type="body" sz="quarter" idx="13"/>
          </p:nvPr>
        </p:nvSpPr>
        <p:spPr/>
        <p:txBody>
          <a:bodyPr/>
          <a:lstStyle/>
          <a:p>
            <a:r>
              <a:rPr lang="ko-KR" altLang="en-US" dirty="0"/>
              <a:t>특허법의 목적</a:t>
            </a:r>
          </a:p>
        </p:txBody>
      </p:sp>
      <p:sp>
        <p:nvSpPr>
          <p:cNvPr id="2" name="TextBox 1"/>
          <p:cNvSpPr txBox="1"/>
          <p:nvPr/>
        </p:nvSpPr>
        <p:spPr>
          <a:xfrm>
            <a:off x="366258" y="3924300"/>
            <a:ext cx="1564816" cy="619363"/>
          </a:xfrm>
          <a:prstGeom prst="roundRect">
            <a:avLst>
              <a:gd name="adj" fmla="val 27198"/>
            </a:avLst>
          </a:prstGeom>
          <a:solidFill>
            <a:schemeClr val="bg2">
              <a:lumMod val="25000"/>
            </a:schemeClr>
          </a:solidFill>
        </p:spPr>
        <p:style>
          <a:lnRef idx="2">
            <a:schemeClr val="accent1"/>
          </a:lnRef>
          <a:fillRef idx="1">
            <a:schemeClr val="lt1"/>
          </a:fillRef>
          <a:effectRef idx="0">
            <a:schemeClr val="accent1"/>
          </a:effectRef>
          <a:fontRef idx="minor">
            <a:schemeClr val="dk1"/>
          </a:fontRef>
        </p:style>
        <p:txBody>
          <a:bodyPr wrap="none" rtlCol="0">
            <a:spAutoFit/>
          </a:bodyPr>
          <a:lstStyle/>
          <a:p>
            <a:r>
              <a:rPr lang="en-US" altLang="ko-KR" sz="2800" dirty="0">
                <a:solidFill>
                  <a:srgbClr val="FFFF00"/>
                </a:solidFill>
              </a:rPr>
              <a:t>PATENT</a:t>
            </a:r>
            <a:endParaRPr lang="ko-KR" altLang="en-US" sz="2800" dirty="0">
              <a:solidFill>
                <a:srgbClr val="FFFF00"/>
              </a:solidFill>
            </a:endParaRPr>
          </a:p>
        </p:txBody>
      </p:sp>
      <p:sp>
        <p:nvSpPr>
          <p:cNvPr id="17" name="TextBox 16"/>
          <p:cNvSpPr txBox="1"/>
          <p:nvPr/>
        </p:nvSpPr>
        <p:spPr>
          <a:xfrm>
            <a:off x="2870708" y="2870200"/>
            <a:ext cx="1803699" cy="523220"/>
          </a:xfrm>
          <a:prstGeom prst="rect">
            <a:avLst/>
          </a:prstGeom>
          <a:solidFill>
            <a:schemeClr val="accent1">
              <a:lumMod val="20000"/>
              <a:lumOff val="80000"/>
            </a:schemeClr>
          </a:solidFill>
          <a:ln>
            <a:solidFill>
              <a:schemeClr val="bg1">
                <a:lumMod val="50000"/>
              </a:schemeClr>
            </a:solidFill>
          </a:ln>
        </p:spPr>
        <p:txBody>
          <a:bodyPr wrap="none" rtlCol="0" anchor="ctr">
            <a:noAutofit/>
          </a:bodyPr>
          <a:lstStyle/>
          <a:p>
            <a:pPr algn="ctr"/>
            <a:r>
              <a:rPr lang="ko-KR" altLang="en-US" sz="2000" dirty="0" err="1"/>
              <a:t>독점배타적</a:t>
            </a:r>
            <a:endParaRPr lang="ko-KR" altLang="en-US" sz="2000" dirty="0"/>
          </a:p>
        </p:txBody>
      </p:sp>
      <p:sp>
        <p:nvSpPr>
          <p:cNvPr id="19" name="TextBox 18"/>
          <p:cNvSpPr txBox="1"/>
          <p:nvPr/>
        </p:nvSpPr>
        <p:spPr>
          <a:xfrm>
            <a:off x="2870708" y="5118100"/>
            <a:ext cx="1803699" cy="523220"/>
          </a:xfrm>
          <a:prstGeom prst="rect">
            <a:avLst/>
          </a:prstGeom>
          <a:solidFill>
            <a:schemeClr val="accent1">
              <a:lumMod val="20000"/>
              <a:lumOff val="80000"/>
            </a:schemeClr>
          </a:solidFill>
          <a:ln>
            <a:solidFill>
              <a:schemeClr val="bg1">
                <a:lumMod val="50000"/>
              </a:schemeClr>
            </a:solidFill>
          </a:ln>
        </p:spPr>
        <p:txBody>
          <a:bodyPr wrap="none" rtlCol="0" anchor="ctr">
            <a:noAutofit/>
          </a:bodyPr>
          <a:lstStyle/>
          <a:p>
            <a:pPr algn="ctr"/>
            <a:r>
              <a:rPr lang="ko-KR" altLang="en-US" sz="2000" dirty="0"/>
              <a:t>공개</a:t>
            </a:r>
          </a:p>
        </p:txBody>
      </p:sp>
      <p:sp>
        <p:nvSpPr>
          <p:cNvPr id="20" name="TextBox 19"/>
          <p:cNvSpPr txBox="1"/>
          <p:nvPr/>
        </p:nvSpPr>
        <p:spPr>
          <a:xfrm>
            <a:off x="5105400" y="2870200"/>
            <a:ext cx="1803699" cy="523220"/>
          </a:xfrm>
          <a:prstGeom prst="rect">
            <a:avLst/>
          </a:prstGeom>
          <a:solidFill>
            <a:schemeClr val="accent1">
              <a:lumMod val="40000"/>
              <a:lumOff val="60000"/>
            </a:schemeClr>
          </a:solidFill>
          <a:ln>
            <a:solidFill>
              <a:schemeClr val="bg1">
                <a:lumMod val="50000"/>
              </a:schemeClr>
            </a:solidFill>
          </a:ln>
        </p:spPr>
        <p:txBody>
          <a:bodyPr wrap="none" rtlCol="0" anchor="ctr">
            <a:noAutofit/>
          </a:bodyPr>
          <a:lstStyle/>
          <a:p>
            <a:pPr algn="ctr"/>
            <a:r>
              <a:rPr lang="ko-KR" altLang="en-US" sz="2000" dirty="0"/>
              <a:t>보호와 장려</a:t>
            </a:r>
          </a:p>
        </p:txBody>
      </p:sp>
      <p:sp>
        <p:nvSpPr>
          <p:cNvPr id="21" name="TextBox 20"/>
          <p:cNvSpPr txBox="1"/>
          <p:nvPr/>
        </p:nvSpPr>
        <p:spPr>
          <a:xfrm>
            <a:off x="5105399" y="5118100"/>
            <a:ext cx="1803699" cy="523220"/>
          </a:xfrm>
          <a:prstGeom prst="rect">
            <a:avLst/>
          </a:prstGeom>
          <a:solidFill>
            <a:schemeClr val="accent1">
              <a:lumMod val="40000"/>
              <a:lumOff val="60000"/>
            </a:schemeClr>
          </a:solidFill>
          <a:ln>
            <a:solidFill>
              <a:schemeClr val="bg1">
                <a:lumMod val="50000"/>
              </a:schemeClr>
            </a:solidFill>
          </a:ln>
        </p:spPr>
        <p:txBody>
          <a:bodyPr wrap="none" rtlCol="0" anchor="ctr">
            <a:noAutofit/>
          </a:bodyPr>
          <a:lstStyle/>
          <a:p>
            <a:pPr algn="ctr"/>
            <a:r>
              <a:rPr lang="ko-KR" altLang="en-US" sz="2000" dirty="0" err="1"/>
              <a:t>이용도모</a:t>
            </a:r>
            <a:endParaRPr lang="ko-KR" altLang="en-US" sz="2000" dirty="0"/>
          </a:p>
        </p:txBody>
      </p:sp>
      <p:sp>
        <p:nvSpPr>
          <p:cNvPr id="22" name="TextBox 21"/>
          <p:cNvSpPr txBox="1"/>
          <p:nvPr/>
        </p:nvSpPr>
        <p:spPr>
          <a:xfrm>
            <a:off x="7683500" y="3934226"/>
            <a:ext cx="1803699" cy="523220"/>
          </a:xfrm>
          <a:prstGeom prst="rect">
            <a:avLst/>
          </a:prstGeom>
          <a:solidFill>
            <a:schemeClr val="accent1">
              <a:lumMod val="60000"/>
              <a:lumOff val="40000"/>
            </a:schemeClr>
          </a:solidFill>
          <a:ln>
            <a:solidFill>
              <a:schemeClr val="bg1">
                <a:lumMod val="50000"/>
              </a:schemeClr>
            </a:solidFill>
          </a:ln>
        </p:spPr>
        <p:txBody>
          <a:bodyPr wrap="none" rtlCol="0" anchor="ctr">
            <a:noAutofit/>
          </a:bodyPr>
          <a:lstStyle/>
          <a:p>
            <a:pPr algn="ctr"/>
            <a:r>
              <a:rPr lang="ko-KR" altLang="en-US" sz="2000" dirty="0"/>
              <a:t>기술발전촉진</a:t>
            </a:r>
          </a:p>
        </p:txBody>
      </p:sp>
      <p:sp>
        <p:nvSpPr>
          <p:cNvPr id="23" name="TextBox 22"/>
          <p:cNvSpPr txBox="1"/>
          <p:nvPr/>
        </p:nvSpPr>
        <p:spPr>
          <a:xfrm>
            <a:off x="9921748" y="3934226"/>
            <a:ext cx="1803699" cy="523220"/>
          </a:xfrm>
          <a:prstGeom prst="rect">
            <a:avLst/>
          </a:prstGeom>
          <a:solidFill>
            <a:schemeClr val="accent1">
              <a:lumMod val="50000"/>
            </a:schemeClr>
          </a:solidFill>
          <a:ln>
            <a:solidFill>
              <a:schemeClr val="bg1">
                <a:lumMod val="50000"/>
              </a:schemeClr>
            </a:solidFill>
          </a:ln>
        </p:spPr>
        <p:txBody>
          <a:bodyPr wrap="none" rtlCol="0" anchor="ctr">
            <a:noAutofit/>
          </a:bodyPr>
          <a:lstStyle/>
          <a:p>
            <a:pPr algn="ctr"/>
            <a:r>
              <a:rPr lang="ko-KR" altLang="en-US" sz="2000" dirty="0">
                <a:solidFill>
                  <a:schemeClr val="bg1"/>
                </a:solidFill>
              </a:rPr>
              <a:t>산업발전이바지</a:t>
            </a:r>
          </a:p>
        </p:txBody>
      </p:sp>
      <p:cxnSp>
        <p:nvCxnSpPr>
          <p:cNvPr id="8" name="꺾인 연결선 7"/>
          <p:cNvCxnSpPr>
            <a:cxnSpLocks/>
            <a:stCxn id="2" idx="3"/>
            <a:endCxn id="17" idx="1"/>
          </p:cNvCxnSpPr>
          <p:nvPr/>
        </p:nvCxnSpPr>
        <p:spPr>
          <a:xfrm flipV="1">
            <a:off x="1931074" y="3131810"/>
            <a:ext cx="939634" cy="1102172"/>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0" name="꺾인 연결선 9"/>
          <p:cNvCxnSpPr>
            <a:cxnSpLocks/>
            <a:stCxn id="2" idx="3"/>
            <a:endCxn id="19" idx="1"/>
          </p:cNvCxnSpPr>
          <p:nvPr/>
        </p:nvCxnSpPr>
        <p:spPr>
          <a:xfrm>
            <a:off x="1931074" y="4233982"/>
            <a:ext cx="939634" cy="1145728"/>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2" name="직선 화살표 연결선 11"/>
          <p:cNvCxnSpPr>
            <a:stCxn id="17" idx="3"/>
            <a:endCxn id="20" idx="1"/>
          </p:cNvCxnSpPr>
          <p:nvPr/>
        </p:nvCxnSpPr>
        <p:spPr>
          <a:xfrm>
            <a:off x="4674407" y="3131810"/>
            <a:ext cx="430993"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직선 화살표 연결선 13"/>
          <p:cNvCxnSpPr>
            <a:stCxn id="19" idx="3"/>
            <a:endCxn id="21" idx="1"/>
          </p:cNvCxnSpPr>
          <p:nvPr/>
        </p:nvCxnSpPr>
        <p:spPr>
          <a:xfrm>
            <a:off x="4674407" y="5379710"/>
            <a:ext cx="430992"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6" name="꺾인 연결선 15"/>
          <p:cNvCxnSpPr>
            <a:stCxn id="21" idx="3"/>
            <a:endCxn id="22" idx="1"/>
          </p:cNvCxnSpPr>
          <p:nvPr/>
        </p:nvCxnSpPr>
        <p:spPr>
          <a:xfrm flipV="1">
            <a:off x="6909098" y="4195836"/>
            <a:ext cx="774402" cy="1183874"/>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20" idx="3"/>
            <a:endCxn id="22" idx="1"/>
          </p:cNvCxnSpPr>
          <p:nvPr/>
        </p:nvCxnSpPr>
        <p:spPr>
          <a:xfrm>
            <a:off x="6909099" y="3131810"/>
            <a:ext cx="774401" cy="1064026"/>
          </a:xfrm>
          <a:prstGeom prst="bentConnector3">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p:cNvCxnSpPr>
            <a:stCxn id="22" idx="3"/>
            <a:endCxn id="23" idx="1"/>
          </p:cNvCxnSpPr>
          <p:nvPr/>
        </p:nvCxnSpPr>
        <p:spPr>
          <a:xfrm>
            <a:off x="9487199" y="4195836"/>
            <a:ext cx="434549" cy="0"/>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8" name="TextBox 27"/>
          <p:cNvSpPr txBox="1"/>
          <p:nvPr/>
        </p:nvSpPr>
        <p:spPr>
          <a:xfrm>
            <a:off x="2117344" y="3431520"/>
            <a:ext cx="98644" cy="523220"/>
          </a:xfrm>
          <a:prstGeom prst="rect">
            <a:avLst/>
          </a:prstGeom>
          <a:noFill/>
        </p:spPr>
        <p:txBody>
          <a:bodyPr wrap="square" rtlCol="0">
            <a:spAutoFit/>
          </a:bodyPr>
          <a:lstStyle/>
          <a:p>
            <a:r>
              <a:rPr lang="ko-KR" altLang="en-US" sz="1400" dirty="0"/>
              <a:t>사전</a:t>
            </a:r>
          </a:p>
        </p:txBody>
      </p:sp>
      <p:sp>
        <p:nvSpPr>
          <p:cNvPr id="41" name="TextBox 40"/>
          <p:cNvSpPr txBox="1"/>
          <p:nvPr/>
        </p:nvSpPr>
        <p:spPr>
          <a:xfrm>
            <a:off x="2117344" y="4592335"/>
            <a:ext cx="98644" cy="523220"/>
          </a:xfrm>
          <a:prstGeom prst="rect">
            <a:avLst/>
          </a:prstGeom>
          <a:noFill/>
        </p:spPr>
        <p:txBody>
          <a:bodyPr wrap="square" rtlCol="0">
            <a:spAutoFit/>
          </a:bodyPr>
          <a:lstStyle/>
          <a:p>
            <a:r>
              <a:rPr lang="ko-KR" altLang="en-US" sz="1400" dirty="0"/>
              <a:t>어원</a:t>
            </a:r>
          </a:p>
        </p:txBody>
      </p:sp>
      <p:sp>
        <p:nvSpPr>
          <p:cNvPr id="29" name="TextBox 28"/>
          <p:cNvSpPr txBox="1"/>
          <p:nvPr/>
        </p:nvSpPr>
        <p:spPr>
          <a:xfrm>
            <a:off x="5593354" y="3396972"/>
            <a:ext cx="877163" cy="369332"/>
          </a:xfrm>
          <a:prstGeom prst="rect">
            <a:avLst/>
          </a:prstGeom>
          <a:noFill/>
        </p:spPr>
        <p:txBody>
          <a:bodyPr wrap="none" rtlCol="0">
            <a:spAutoFit/>
          </a:bodyPr>
          <a:lstStyle/>
          <a:p>
            <a:r>
              <a:rPr lang="en-US" altLang="ko-KR" dirty="0"/>
              <a:t>&lt;</a:t>
            </a:r>
            <a:r>
              <a:rPr lang="ko-KR" altLang="en-US" dirty="0"/>
              <a:t>사익</a:t>
            </a:r>
            <a:r>
              <a:rPr lang="en-US" altLang="ko-KR" dirty="0"/>
              <a:t>&gt;</a:t>
            </a:r>
            <a:endParaRPr lang="ko-KR" altLang="en-US" dirty="0"/>
          </a:p>
        </p:txBody>
      </p:sp>
      <p:sp>
        <p:nvSpPr>
          <p:cNvPr id="43" name="TextBox 42"/>
          <p:cNvSpPr txBox="1"/>
          <p:nvPr/>
        </p:nvSpPr>
        <p:spPr>
          <a:xfrm>
            <a:off x="5593354" y="4745216"/>
            <a:ext cx="877163" cy="369332"/>
          </a:xfrm>
          <a:prstGeom prst="rect">
            <a:avLst/>
          </a:prstGeom>
          <a:noFill/>
        </p:spPr>
        <p:txBody>
          <a:bodyPr wrap="none" rtlCol="0">
            <a:spAutoFit/>
          </a:bodyPr>
          <a:lstStyle/>
          <a:p>
            <a:r>
              <a:rPr lang="en-US" altLang="ko-KR" dirty="0"/>
              <a:t>&lt;</a:t>
            </a:r>
            <a:r>
              <a:rPr lang="ko-KR" altLang="en-US" dirty="0"/>
              <a:t>공익</a:t>
            </a:r>
            <a:r>
              <a:rPr lang="en-US" altLang="ko-KR" dirty="0"/>
              <a:t>&gt;</a:t>
            </a:r>
            <a:endParaRPr lang="ko-KR" altLang="en-US" dirty="0"/>
          </a:p>
        </p:txBody>
      </p:sp>
      <p:sp>
        <p:nvSpPr>
          <p:cNvPr id="30" name="등호 29"/>
          <p:cNvSpPr/>
          <p:nvPr/>
        </p:nvSpPr>
        <p:spPr>
          <a:xfrm rot="5400000">
            <a:off x="5707654" y="4043640"/>
            <a:ext cx="756646" cy="388660"/>
          </a:xfrm>
          <a:prstGeom prst="mathEqual">
            <a:avLst/>
          </a:prstGeom>
          <a:solidFill>
            <a:schemeClr val="accent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45" name="TextBox 44"/>
          <p:cNvSpPr txBox="1"/>
          <p:nvPr/>
        </p:nvSpPr>
        <p:spPr>
          <a:xfrm>
            <a:off x="77875" y="986046"/>
            <a:ext cx="11936323" cy="954107"/>
          </a:xfrm>
          <a:prstGeom prst="rect">
            <a:avLst/>
          </a:prstGeom>
          <a:noFill/>
        </p:spPr>
        <p:txBody>
          <a:bodyPr wrap="square" rtlCol="0">
            <a:spAutoFit/>
          </a:bodyPr>
          <a:lstStyle/>
          <a:p>
            <a:pPr fontAlgn="base"/>
            <a:r>
              <a:rPr lang="ko-KR" altLang="en-US" sz="1400" dirty="0">
                <a:solidFill>
                  <a:schemeClr val="tx2"/>
                </a:solidFill>
              </a:rPr>
              <a:t>특허법은 발명을 </a:t>
            </a:r>
            <a:r>
              <a:rPr lang="ko-KR" altLang="en-US" sz="1400" dirty="0" err="1">
                <a:solidFill>
                  <a:schemeClr val="tx2"/>
                </a:solidFill>
              </a:rPr>
              <a:t>보호ㆍ장려하고</a:t>
            </a:r>
            <a:r>
              <a:rPr lang="ko-KR" altLang="en-US" sz="1400" dirty="0">
                <a:solidFill>
                  <a:schemeClr val="tx2"/>
                </a:solidFill>
              </a:rPr>
              <a:t> 그 이용을 도모함으로써 기술의 발전을 촉진하여 산업발전에 이바지함을 그 목적으로 한다</a:t>
            </a:r>
            <a:r>
              <a:rPr lang="en-US" altLang="ko-KR" sz="1400" dirty="0">
                <a:solidFill>
                  <a:schemeClr val="tx2"/>
                </a:solidFill>
              </a:rPr>
              <a:t>(</a:t>
            </a:r>
            <a:r>
              <a:rPr lang="ko-KR" altLang="en-US" sz="1400" dirty="0">
                <a:solidFill>
                  <a:schemeClr val="tx2"/>
                </a:solidFill>
              </a:rPr>
              <a:t>法 </a:t>
            </a:r>
            <a:r>
              <a:rPr lang="en-US" altLang="ko-KR" sz="1400" dirty="0">
                <a:solidFill>
                  <a:schemeClr val="tx2"/>
                </a:solidFill>
              </a:rPr>
              <a:t>1). </a:t>
            </a:r>
            <a:r>
              <a:rPr lang="ko-KR" altLang="en-US" sz="1400" dirty="0">
                <a:solidFill>
                  <a:schemeClr val="tx2"/>
                </a:solidFill>
              </a:rPr>
              <a:t>즉</a:t>
            </a:r>
            <a:r>
              <a:rPr lang="en-US" altLang="ko-KR" sz="1400" dirty="0">
                <a:solidFill>
                  <a:schemeClr val="tx2"/>
                </a:solidFill>
              </a:rPr>
              <a:t>, </a:t>
            </a:r>
            <a:r>
              <a:rPr lang="ko-KR" altLang="en-US" sz="1400" dirty="0">
                <a:solidFill>
                  <a:schemeClr val="tx2"/>
                </a:solidFill>
              </a:rPr>
              <a:t>특허법은 </a:t>
            </a:r>
            <a:r>
              <a:rPr lang="ko-KR" altLang="en-US" sz="1400" dirty="0">
                <a:highlight>
                  <a:srgbClr val="FFFF00"/>
                </a:highlight>
              </a:rPr>
              <a:t>발명의 </a:t>
            </a:r>
            <a:r>
              <a:rPr lang="ko-KR" altLang="en-US" sz="1400" dirty="0" err="1">
                <a:highlight>
                  <a:srgbClr val="FFFF00"/>
                </a:highlight>
              </a:rPr>
              <a:t>보호ㆍ장려라는</a:t>
            </a:r>
            <a:r>
              <a:rPr lang="ko-KR" altLang="en-US" sz="1400" dirty="0">
                <a:highlight>
                  <a:srgbClr val="FFFF00"/>
                </a:highlight>
              </a:rPr>
              <a:t> </a:t>
            </a:r>
            <a:r>
              <a:rPr lang="ko-KR" altLang="en-US" sz="1400" dirty="0" err="1">
                <a:highlight>
                  <a:srgbClr val="FFFF00"/>
                </a:highlight>
              </a:rPr>
              <a:t>사익적</a:t>
            </a:r>
            <a:r>
              <a:rPr lang="ko-KR" altLang="en-US" sz="1400" dirty="0">
                <a:highlight>
                  <a:srgbClr val="FFFF00"/>
                </a:highlight>
              </a:rPr>
              <a:t> 측면과 제</a:t>
            </a:r>
            <a:r>
              <a:rPr lang="en-US" altLang="ko-KR" sz="1400" dirty="0">
                <a:highlight>
                  <a:srgbClr val="FFFF00"/>
                </a:highlight>
              </a:rPr>
              <a:t>3</a:t>
            </a:r>
            <a:r>
              <a:rPr lang="ko-KR" altLang="en-US" sz="1400" dirty="0">
                <a:highlight>
                  <a:srgbClr val="FFFF00"/>
                </a:highlight>
              </a:rPr>
              <a:t>자의 이용 </a:t>
            </a:r>
            <a:r>
              <a:rPr lang="ko-KR" altLang="en-US" sz="1400" dirty="0" err="1">
                <a:highlight>
                  <a:srgbClr val="FFFF00"/>
                </a:highlight>
              </a:rPr>
              <a:t>도모라는</a:t>
            </a:r>
            <a:r>
              <a:rPr lang="ko-KR" altLang="en-US" sz="1400" dirty="0">
                <a:highlight>
                  <a:srgbClr val="FFFF00"/>
                </a:highlight>
              </a:rPr>
              <a:t> 공익적 측면의 조화</a:t>
            </a:r>
            <a:r>
              <a:rPr lang="ko-KR" altLang="en-US" sz="1400" dirty="0">
                <a:solidFill>
                  <a:schemeClr val="tx2"/>
                </a:solidFill>
              </a:rPr>
              <a:t>를 통해 기술발전을 촉진시키고</a:t>
            </a:r>
            <a:r>
              <a:rPr lang="en-US" altLang="ko-KR" sz="1400" dirty="0">
                <a:solidFill>
                  <a:schemeClr val="tx2"/>
                </a:solidFill>
              </a:rPr>
              <a:t>, </a:t>
            </a:r>
            <a:r>
              <a:rPr lang="ko-KR" altLang="en-US" sz="1400" dirty="0">
                <a:solidFill>
                  <a:schemeClr val="tx2"/>
                </a:solidFill>
              </a:rPr>
              <a:t>그 결과 산업발전에 이바지하고자 한다</a:t>
            </a:r>
            <a:r>
              <a:rPr lang="en-US" altLang="ko-KR" sz="1400" dirty="0">
                <a:solidFill>
                  <a:schemeClr val="tx2"/>
                </a:solidFill>
              </a:rPr>
              <a:t>. </a:t>
            </a:r>
            <a:r>
              <a:rPr lang="ko-KR" altLang="en-US" sz="1400" dirty="0">
                <a:solidFill>
                  <a:schemeClr val="tx2"/>
                </a:solidFill>
              </a:rPr>
              <a:t>특허법의 목적을 규정하고 있는 제</a:t>
            </a:r>
            <a:r>
              <a:rPr lang="en-US" altLang="ko-KR" sz="1400" dirty="0">
                <a:solidFill>
                  <a:schemeClr val="tx2"/>
                </a:solidFill>
              </a:rPr>
              <a:t>1</a:t>
            </a:r>
            <a:r>
              <a:rPr lang="ko-KR" altLang="en-US" sz="1400" dirty="0">
                <a:solidFill>
                  <a:schemeClr val="tx2"/>
                </a:solidFill>
              </a:rPr>
              <a:t>조 이외의 나머지 규정들은 특허법의 목적을 달성하기 위해 존재한다고 할 수 있다</a:t>
            </a:r>
            <a:r>
              <a:rPr lang="en-US" altLang="ko-KR" sz="1400" dirty="0">
                <a:solidFill>
                  <a:schemeClr val="tx2"/>
                </a:solidFill>
              </a:rPr>
              <a:t>. </a:t>
            </a:r>
            <a:r>
              <a:rPr lang="ko-KR" altLang="en-US" sz="1400" dirty="0">
                <a:solidFill>
                  <a:schemeClr val="tx2"/>
                </a:solidFill>
              </a:rPr>
              <a:t>따라서 제</a:t>
            </a:r>
            <a:r>
              <a:rPr lang="en-US" altLang="ko-KR" sz="1400" dirty="0">
                <a:solidFill>
                  <a:schemeClr val="tx2"/>
                </a:solidFill>
              </a:rPr>
              <a:t>1</a:t>
            </a:r>
            <a:r>
              <a:rPr lang="ko-KR" altLang="en-US" sz="1400" dirty="0">
                <a:solidFill>
                  <a:schemeClr val="tx2"/>
                </a:solidFill>
              </a:rPr>
              <a:t>조의 특허법의 목적은 </a:t>
            </a:r>
            <a:r>
              <a:rPr lang="ko-KR" altLang="en-US" sz="1400" dirty="0">
                <a:highlight>
                  <a:srgbClr val="FFFF00"/>
                </a:highlight>
              </a:rPr>
              <a:t>모든 조문의 해석기준</a:t>
            </a:r>
            <a:r>
              <a:rPr lang="ko-KR" altLang="en-US" sz="1400" dirty="0">
                <a:solidFill>
                  <a:schemeClr val="tx2"/>
                </a:solidFill>
              </a:rPr>
              <a:t>이 되며</a:t>
            </a:r>
            <a:r>
              <a:rPr lang="en-US" altLang="ko-KR" sz="1400" dirty="0">
                <a:solidFill>
                  <a:schemeClr val="tx2"/>
                </a:solidFill>
              </a:rPr>
              <a:t>, </a:t>
            </a:r>
            <a:r>
              <a:rPr lang="ko-KR" altLang="en-US" sz="1400" dirty="0">
                <a:solidFill>
                  <a:schemeClr val="tx2"/>
                </a:solidFill>
              </a:rPr>
              <a:t>나머지 규정들이 서로 충돌할 때는 제</a:t>
            </a:r>
            <a:r>
              <a:rPr lang="en-US" altLang="ko-KR" sz="1400" dirty="0">
                <a:solidFill>
                  <a:schemeClr val="tx2"/>
                </a:solidFill>
              </a:rPr>
              <a:t>1</a:t>
            </a:r>
            <a:r>
              <a:rPr lang="ko-KR" altLang="en-US" sz="1400" dirty="0">
                <a:solidFill>
                  <a:schemeClr val="tx2"/>
                </a:solidFill>
              </a:rPr>
              <a:t>조에 부합하게 해석하여야 한다</a:t>
            </a:r>
            <a:r>
              <a:rPr lang="en-US" altLang="ko-KR" sz="1400" dirty="0">
                <a:solidFill>
                  <a:schemeClr val="tx2"/>
                </a:solidFill>
              </a:rPr>
              <a:t>.</a:t>
            </a:r>
            <a:endParaRPr lang="ko-KR" altLang="en-US" sz="1400" dirty="0">
              <a:solidFill>
                <a:schemeClr val="tx2"/>
              </a:solidFill>
            </a:endParaRPr>
          </a:p>
        </p:txBody>
      </p:sp>
      <p:cxnSp>
        <p:nvCxnSpPr>
          <p:cNvPr id="46" name="직선 연결선 45"/>
          <p:cNvCxnSpPr/>
          <p:nvPr/>
        </p:nvCxnSpPr>
        <p:spPr>
          <a:xfrm>
            <a:off x="0" y="1943849"/>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슬라이드 번호 개체 틀 4"/>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6</a:t>
            </a:fld>
            <a:endParaRPr lang="ko-KR" altLang="en-US"/>
          </a:p>
        </p:txBody>
      </p:sp>
    </p:spTree>
    <p:extLst>
      <p:ext uri="{BB962C8B-B14F-4D97-AF65-F5344CB8AC3E}">
        <p14:creationId xmlns:p14="http://schemas.microsoft.com/office/powerpoint/2010/main" val="23613358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1</a:t>
            </a:r>
            <a:r>
              <a:rPr lang="ko-KR" altLang="en-US" dirty="0"/>
              <a:t>조</a:t>
            </a:r>
          </a:p>
        </p:txBody>
      </p:sp>
      <p:sp>
        <p:nvSpPr>
          <p:cNvPr id="4" name="텍스트 개체 틀 3"/>
          <p:cNvSpPr>
            <a:spLocks noGrp="1"/>
          </p:cNvSpPr>
          <p:nvPr>
            <p:ph type="body" sz="quarter" idx="13"/>
          </p:nvPr>
        </p:nvSpPr>
        <p:spPr/>
        <p:txBody>
          <a:bodyPr/>
          <a:lstStyle/>
          <a:p>
            <a:r>
              <a:rPr lang="ko-KR" altLang="en-US" dirty="0"/>
              <a:t>발명의 실체적 보호</a:t>
            </a:r>
          </a:p>
        </p:txBody>
      </p:sp>
      <p:sp>
        <p:nvSpPr>
          <p:cNvPr id="45" name="TextBox 44"/>
          <p:cNvSpPr txBox="1"/>
          <p:nvPr/>
        </p:nvSpPr>
        <p:spPr>
          <a:xfrm>
            <a:off x="77875" y="986046"/>
            <a:ext cx="11936323" cy="523220"/>
          </a:xfrm>
          <a:prstGeom prst="rect">
            <a:avLst/>
          </a:prstGeom>
          <a:noFill/>
        </p:spPr>
        <p:txBody>
          <a:bodyPr wrap="square" rtlCol="0">
            <a:spAutoFit/>
          </a:bodyPr>
          <a:lstStyle/>
          <a:p>
            <a:pPr fontAlgn="base"/>
            <a:r>
              <a:rPr lang="ko-KR" altLang="en-US" sz="1400" dirty="0">
                <a:solidFill>
                  <a:schemeClr val="tx2"/>
                </a:solidFill>
              </a:rPr>
              <a:t>정의 규정의 만족으로 발생한 발명은 등록 전에는 </a:t>
            </a:r>
            <a:r>
              <a:rPr lang="ko-KR" altLang="en-US" sz="1400" dirty="0">
                <a:highlight>
                  <a:srgbClr val="FFFF00"/>
                </a:highlight>
              </a:rPr>
              <a:t>특허를 받을 수 있는 권리</a:t>
            </a:r>
            <a:r>
              <a:rPr lang="ko-KR" altLang="en-US" sz="1400" dirty="0">
                <a:solidFill>
                  <a:schemeClr val="tx2"/>
                </a:solidFill>
              </a:rPr>
              <a:t>에 의하여</a:t>
            </a:r>
            <a:r>
              <a:rPr lang="en-US" altLang="ko-KR" sz="1400" dirty="0">
                <a:solidFill>
                  <a:schemeClr val="tx2"/>
                </a:solidFill>
              </a:rPr>
              <a:t>, </a:t>
            </a:r>
            <a:r>
              <a:rPr lang="ko-KR" altLang="en-US" sz="1400" dirty="0">
                <a:solidFill>
                  <a:schemeClr val="tx2"/>
                </a:solidFill>
              </a:rPr>
              <a:t>등록 후에는 </a:t>
            </a:r>
            <a:r>
              <a:rPr lang="ko-KR" altLang="en-US" sz="1400" dirty="0">
                <a:highlight>
                  <a:srgbClr val="FFFF00"/>
                </a:highlight>
              </a:rPr>
              <a:t>특허권</a:t>
            </a:r>
            <a:r>
              <a:rPr lang="ko-KR" altLang="en-US" sz="1400" dirty="0">
                <a:solidFill>
                  <a:schemeClr val="tx2"/>
                </a:solidFill>
              </a:rPr>
              <a:t>에 의하여 보호를 받게 된다</a:t>
            </a:r>
            <a:r>
              <a:rPr lang="en-US" altLang="ko-KR" sz="1400" dirty="0">
                <a:solidFill>
                  <a:schemeClr val="tx2"/>
                </a:solidFill>
              </a:rPr>
              <a:t>. </a:t>
            </a:r>
            <a:r>
              <a:rPr lang="ko-KR" altLang="en-US" sz="1400" dirty="0">
                <a:solidFill>
                  <a:schemeClr val="tx2"/>
                </a:solidFill>
              </a:rPr>
              <a:t>이와 같은 발명 중 특허출원에서 등록 전까지의 발명을 </a:t>
            </a:r>
            <a:r>
              <a:rPr lang="ko-KR" altLang="en-US" sz="1400" dirty="0">
                <a:highlight>
                  <a:srgbClr val="FFFF00"/>
                </a:highlight>
              </a:rPr>
              <a:t>출원발명</a:t>
            </a:r>
            <a:r>
              <a:rPr lang="ko-KR" altLang="en-US" sz="1400" dirty="0">
                <a:solidFill>
                  <a:schemeClr val="tx2"/>
                </a:solidFill>
              </a:rPr>
              <a:t>이라 지칭하며</a:t>
            </a:r>
            <a:r>
              <a:rPr lang="en-US" altLang="ko-KR" sz="1400" dirty="0">
                <a:solidFill>
                  <a:schemeClr val="tx2"/>
                </a:solidFill>
              </a:rPr>
              <a:t>, </a:t>
            </a:r>
            <a:r>
              <a:rPr lang="ko-KR" altLang="en-US" sz="1400" dirty="0">
                <a:solidFill>
                  <a:schemeClr val="tx2"/>
                </a:solidFill>
              </a:rPr>
              <a:t>등록 후의 발명을 </a:t>
            </a:r>
            <a:r>
              <a:rPr lang="ko-KR" altLang="en-US" sz="1400" dirty="0">
                <a:highlight>
                  <a:srgbClr val="FFFF00"/>
                </a:highlight>
              </a:rPr>
              <a:t>특허발명</a:t>
            </a:r>
            <a:r>
              <a:rPr lang="ko-KR" altLang="en-US" sz="1400" dirty="0">
                <a:solidFill>
                  <a:schemeClr val="tx2"/>
                </a:solidFill>
              </a:rPr>
              <a:t>이라 지칭한다</a:t>
            </a:r>
            <a:r>
              <a:rPr lang="en-US" altLang="ko-KR" sz="1400" dirty="0">
                <a:solidFill>
                  <a:schemeClr val="tx2"/>
                </a:solidFill>
              </a:rPr>
              <a:t>.</a:t>
            </a:r>
            <a:endParaRPr lang="ko-KR" altLang="en-US" sz="1400" dirty="0">
              <a:solidFill>
                <a:schemeClr val="tx2"/>
              </a:solidFill>
            </a:endParaRPr>
          </a:p>
        </p:txBody>
      </p:sp>
      <p:cxnSp>
        <p:nvCxnSpPr>
          <p:cNvPr id="46" name="직선 연결선 45"/>
          <p:cNvCxnSpPr/>
          <p:nvPr/>
        </p:nvCxnSpPr>
        <p:spPr>
          <a:xfrm>
            <a:off x="0" y="1512049"/>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a:off x="9652000" y="1987566"/>
            <a:ext cx="0" cy="4502134"/>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0" name="직선 연결선 59"/>
          <p:cNvCxnSpPr/>
          <p:nvPr/>
        </p:nvCxnSpPr>
        <p:spPr>
          <a:xfrm>
            <a:off x="3289300" y="1987566"/>
            <a:ext cx="0" cy="4502134"/>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18" name="직선 연결선 17"/>
          <p:cNvCxnSpPr/>
          <p:nvPr/>
        </p:nvCxnSpPr>
        <p:spPr>
          <a:xfrm>
            <a:off x="2019300" y="1987566"/>
            <a:ext cx="0" cy="4502134"/>
          </a:xfrm>
          <a:prstGeom prst="line">
            <a:avLst/>
          </a:prstGeom>
          <a:ln>
            <a:solidFill>
              <a:schemeClr val="bg1">
                <a:lumMod val="50000"/>
              </a:schemeClr>
            </a:solidFill>
            <a:prstDash val="sysDot"/>
          </a:ln>
        </p:spPr>
        <p:style>
          <a:lnRef idx="1">
            <a:schemeClr val="accent1"/>
          </a:lnRef>
          <a:fillRef idx="0">
            <a:schemeClr val="accent1"/>
          </a:fillRef>
          <a:effectRef idx="0">
            <a:schemeClr val="accent1"/>
          </a:effectRef>
          <a:fontRef idx="minor">
            <a:schemeClr val="tx1"/>
          </a:fontRef>
        </p:style>
      </p:cxnSp>
      <p:cxnSp>
        <p:nvCxnSpPr>
          <p:cNvPr id="6" name="직선 연결선 5"/>
          <p:cNvCxnSpPr/>
          <p:nvPr/>
        </p:nvCxnSpPr>
        <p:spPr>
          <a:xfrm>
            <a:off x="1320800" y="2709062"/>
            <a:ext cx="105537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7" name="직사각형 6"/>
          <p:cNvSpPr/>
          <p:nvPr/>
        </p:nvSpPr>
        <p:spPr>
          <a:xfrm>
            <a:off x="1638300" y="2390775"/>
            <a:ext cx="775180" cy="6365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발명</a:t>
            </a:r>
            <a:endParaRPr lang="en-US" altLang="ko-KR" sz="1400" dirty="0"/>
          </a:p>
          <a:p>
            <a:pPr algn="ctr"/>
            <a:r>
              <a:rPr lang="ko-KR" altLang="en-US" sz="1400" dirty="0"/>
              <a:t>완성</a:t>
            </a:r>
          </a:p>
        </p:txBody>
      </p:sp>
      <p:sp>
        <p:nvSpPr>
          <p:cNvPr id="31" name="직사각형 30"/>
          <p:cNvSpPr/>
          <p:nvPr/>
        </p:nvSpPr>
        <p:spPr>
          <a:xfrm>
            <a:off x="2910046" y="2390775"/>
            <a:ext cx="775180" cy="6365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특허</a:t>
            </a:r>
            <a:endParaRPr lang="en-US" altLang="ko-KR" sz="1400" dirty="0"/>
          </a:p>
          <a:p>
            <a:pPr algn="ctr"/>
            <a:r>
              <a:rPr lang="ko-KR" altLang="en-US" sz="1400" dirty="0"/>
              <a:t>출원</a:t>
            </a:r>
          </a:p>
        </p:txBody>
      </p:sp>
      <p:sp>
        <p:nvSpPr>
          <p:cNvPr id="32" name="직사각형 31"/>
          <p:cNvSpPr/>
          <p:nvPr/>
        </p:nvSpPr>
        <p:spPr>
          <a:xfrm>
            <a:off x="4181792" y="2390775"/>
            <a:ext cx="775180" cy="636574"/>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2">
                    <a:lumMod val="50000"/>
                  </a:schemeClr>
                </a:solidFill>
              </a:rPr>
              <a:t>출원</a:t>
            </a:r>
            <a:endParaRPr lang="en-US" altLang="ko-KR" sz="1400" dirty="0">
              <a:solidFill>
                <a:schemeClr val="tx2">
                  <a:lumMod val="50000"/>
                </a:schemeClr>
              </a:solidFill>
            </a:endParaRPr>
          </a:p>
          <a:p>
            <a:pPr algn="ctr"/>
            <a:r>
              <a:rPr lang="ko-KR" altLang="en-US" sz="1400" dirty="0">
                <a:solidFill>
                  <a:schemeClr val="tx2">
                    <a:lumMod val="50000"/>
                  </a:schemeClr>
                </a:solidFill>
              </a:rPr>
              <a:t>공개</a:t>
            </a:r>
          </a:p>
        </p:txBody>
      </p:sp>
      <p:sp>
        <p:nvSpPr>
          <p:cNvPr id="33" name="직사각형 32"/>
          <p:cNvSpPr/>
          <p:nvPr/>
        </p:nvSpPr>
        <p:spPr>
          <a:xfrm>
            <a:off x="5453537" y="2390775"/>
            <a:ext cx="775180" cy="636574"/>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2">
                    <a:lumMod val="50000"/>
                  </a:schemeClr>
                </a:solidFill>
              </a:rPr>
              <a:t>실체</a:t>
            </a:r>
            <a:endParaRPr lang="en-US" altLang="ko-KR" sz="1400" dirty="0">
              <a:solidFill>
                <a:schemeClr val="tx2">
                  <a:lumMod val="50000"/>
                </a:schemeClr>
              </a:solidFill>
            </a:endParaRPr>
          </a:p>
          <a:p>
            <a:pPr algn="ctr"/>
            <a:r>
              <a:rPr lang="ko-KR" altLang="en-US" sz="1400" dirty="0">
                <a:solidFill>
                  <a:schemeClr val="tx2">
                    <a:lumMod val="50000"/>
                  </a:schemeClr>
                </a:solidFill>
              </a:rPr>
              <a:t>심사</a:t>
            </a:r>
          </a:p>
        </p:txBody>
      </p:sp>
      <p:sp>
        <p:nvSpPr>
          <p:cNvPr id="34" name="직사각형 33"/>
          <p:cNvSpPr/>
          <p:nvPr/>
        </p:nvSpPr>
        <p:spPr>
          <a:xfrm>
            <a:off x="6725283" y="2390775"/>
            <a:ext cx="775180" cy="636574"/>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2">
                    <a:lumMod val="50000"/>
                  </a:schemeClr>
                </a:solidFill>
              </a:rPr>
              <a:t>특허</a:t>
            </a:r>
            <a:endParaRPr lang="en-US" altLang="ko-KR" sz="1400" dirty="0">
              <a:solidFill>
                <a:schemeClr val="tx2">
                  <a:lumMod val="50000"/>
                </a:schemeClr>
              </a:solidFill>
            </a:endParaRPr>
          </a:p>
          <a:p>
            <a:pPr algn="ctr"/>
            <a:r>
              <a:rPr lang="ko-KR" altLang="en-US" sz="1400" dirty="0">
                <a:solidFill>
                  <a:schemeClr val="tx2">
                    <a:lumMod val="50000"/>
                  </a:schemeClr>
                </a:solidFill>
              </a:rPr>
              <a:t>결정</a:t>
            </a:r>
          </a:p>
        </p:txBody>
      </p:sp>
      <p:sp>
        <p:nvSpPr>
          <p:cNvPr id="35" name="직사각형 34"/>
          <p:cNvSpPr/>
          <p:nvPr/>
        </p:nvSpPr>
        <p:spPr>
          <a:xfrm>
            <a:off x="7997029" y="2390775"/>
            <a:ext cx="775180" cy="636574"/>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2">
                    <a:lumMod val="50000"/>
                  </a:schemeClr>
                </a:solidFill>
              </a:rPr>
              <a:t>특허료</a:t>
            </a:r>
            <a:endParaRPr lang="en-US" altLang="ko-KR" sz="1400" dirty="0">
              <a:solidFill>
                <a:schemeClr val="tx2">
                  <a:lumMod val="50000"/>
                </a:schemeClr>
              </a:solidFill>
            </a:endParaRPr>
          </a:p>
          <a:p>
            <a:pPr algn="ctr"/>
            <a:r>
              <a:rPr lang="ko-KR" altLang="en-US" sz="1400" dirty="0">
                <a:solidFill>
                  <a:schemeClr val="tx2">
                    <a:lumMod val="50000"/>
                  </a:schemeClr>
                </a:solidFill>
              </a:rPr>
              <a:t>납부</a:t>
            </a:r>
          </a:p>
        </p:txBody>
      </p:sp>
      <p:sp>
        <p:nvSpPr>
          <p:cNvPr id="36" name="직사각형 35"/>
          <p:cNvSpPr/>
          <p:nvPr/>
        </p:nvSpPr>
        <p:spPr>
          <a:xfrm>
            <a:off x="9268775" y="2390775"/>
            <a:ext cx="775180" cy="636574"/>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설정</a:t>
            </a:r>
            <a:endParaRPr lang="en-US" altLang="ko-KR" sz="1400" dirty="0"/>
          </a:p>
          <a:p>
            <a:pPr algn="ctr"/>
            <a:r>
              <a:rPr lang="ko-KR" altLang="en-US" sz="1400" dirty="0"/>
              <a:t>등록</a:t>
            </a:r>
          </a:p>
        </p:txBody>
      </p:sp>
      <p:sp>
        <p:nvSpPr>
          <p:cNvPr id="37" name="직사각형 36"/>
          <p:cNvSpPr/>
          <p:nvPr/>
        </p:nvSpPr>
        <p:spPr>
          <a:xfrm>
            <a:off x="10540520" y="2390775"/>
            <a:ext cx="775180" cy="636574"/>
          </a:xfrm>
          <a:prstGeom prst="rect">
            <a:avLst/>
          </a:prstGeom>
          <a:solidFill>
            <a:schemeClr val="bg2">
              <a:lumMod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2">
                    <a:lumMod val="50000"/>
                  </a:schemeClr>
                </a:solidFill>
              </a:rPr>
              <a:t>등록</a:t>
            </a:r>
            <a:endParaRPr lang="en-US" altLang="ko-KR" sz="1400" dirty="0">
              <a:solidFill>
                <a:schemeClr val="tx2">
                  <a:lumMod val="50000"/>
                </a:schemeClr>
              </a:solidFill>
            </a:endParaRPr>
          </a:p>
          <a:p>
            <a:pPr algn="ctr"/>
            <a:r>
              <a:rPr lang="ko-KR" altLang="en-US" sz="1400" dirty="0">
                <a:solidFill>
                  <a:schemeClr val="tx2">
                    <a:lumMod val="50000"/>
                  </a:schemeClr>
                </a:solidFill>
              </a:rPr>
              <a:t>공고</a:t>
            </a:r>
          </a:p>
        </p:txBody>
      </p:sp>
      <p:cxnSp>
        <p:nvCxnSpPr>
          <p:cNvPr id="38" name="직선 연결선 37"/>
          <p:cNvCxnSpPr/>
          <p:nvPr/>
        </p:nvCxnSpPr>
        <p:spPr>
          <a:xfrm>
            <a:off x="1320800" y="3560427"/>
            <a:ext cx="105537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40" name="모서리가 둥근 직사각형 39"/>
          <p:cNvSpPr/>
          <p:nvPr/>
        </p:nvSpPr>
        <p:spPr>
          <a:xfrm>
            <a:off x="1563557" y="3343978"/>
            <a:ext cx="924666" cy="432898"/>
          </a:xfrm>
          <a:prstGeom prst="roundRect">
            <a:avLst>
              <a:gd name="adj" fmla="val 50000"/>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발명</a:t>
            </a:r>
          </a:p>
        </p:txBody>
      </p:sp>
      <p:sp>
        <p:nvSpPr>
          <p:cNvPr id="52" name="모서리가 둥근 직사각형 51"/>
          <p:cNvSpPr/>
          <p:nvPr/>
        </p:nvSpPr>
        <p:spPr>
          <a:xfrm>
            <a:off x="341547" y="2492613"/>
            <a:ext cx="775180" cy="432898"/>
          </a:xfrm>
          <a:prstGeom prst="roundRect">
            <a:avLst>
              <a:gd name="adj" fmla="val 50000"/>
            </a:avLst>
          </a:prstGeom>
          <a:solidFill>
            <a:schemeClr val="accent2">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절차</a:t>
            </a:r>
          </a:p>
        </p:txBody>
      </p:sp>
      <p:sp>
        <p:nvSpPr>
          <p:cNvPr id="53" name="모서리가 둥근 직사각형 52"/>
          <p:cNvSpPr/>
          <p:nvPr/>
        </p:nvSpPr>
        <p:spPr>
          <a:xfrm>
            <a:off x="341547" y="3343978"/>
            <a:ext cx="775180" cy="432898"/>
          </a:xfrm>
          <a:prstGeom prst="roundRect">
            <a:avLst>
              <a:gd name="adj" fmla="val 50000"/>
            </a:avLst>
          </a:prstGeom>
          <a:solidFill>
            <a:schemeClr val="accent2">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객체</a:t>
            </a:r>
          </a:p>
        </p:txBody>
      </p:sp>
      <p:cxnSp>
        <p:nvCxnSpPr>
          <p:cNvPr id="54" name="직선 연결선 53"/>
          <p:cNvCxnSpPr/>
          <p:nvPr/>
        </p:nvCxnSpPr>
        <p:spPr>
          <a:xfrm>
            <a:off x="1320800" y="4411791"/>
            <a:ext cx="105537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6" name="모서리가 둥근 직사각형 55"/>
          <p:cNvSpPr/>
          <p:nvPr/>
        </p:nvSpPr>
        <p:spPr>
          <a:xfrm>
            <a:off x="341547" y="4195342"/>
            <a:ext cx="775180" cy="432898"/>
          </a:xfrm>
          <a:prstGeom prst="roundRect">
            <a:avLst>
              <a:gd name="adj" fmla="val 50000"/>
            </a:avLst>
          </a:prstGeom>
          <a:solidFill>
            <a:schemeClr val="accent2">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권리</a:t>
            </a:r>
          </a:p>
        </p:txBody>
      </p:sp>
      <p:cxnSp>
        <p:nvCxnSpPr>
          <p:cNvPr id="57" name="직선 연결선 56"/>
          <p:cNvCxnSpPr/>
          <p:nvPr/>
        </p:nvCxnSpPr>
        <p:spPr>
          <a:xfrm>
            <a:off x="1320800" y="5263155"/>
            <a:ext cx="10553700" cy="0"/>
          </a:xfrm>
          <a:prstGeom prst="line">
            <a:avLst/>
          </a:pr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cxnSp>
      <p:sp>
        <p:nvSpPr>
          <p:cNvPr id="58" name="모서리가 둥근 직사각형 57"/>
          <p:cNvSpPr/>
          <p:nvPr/>
        </p:nvSpPr>
        <p:spPr>
          <a:xfrm>
            <a:off x="1563557" y="5046706"/>
            <a:ext cx="924666" cy="432898"/>
          </a:xfrm>
          <a:prstGeom prst="roundRect">
            <a:avLst>
              <a:gd name="adj" fmla="val 50000"/>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발명자</a:t>
            </a:r>
          </a:p>
        </p:txBody>
      </p:sp>
      <p:sp>
        <p:nvSpPr>
          <p:cNvPr id="59" name="모서리가 둥근 직사각형 58"/>
          <p:cNvSpPr/>
          <p:nvPr/>
        </p:nvSpPr>
        <p:spPr>
          <a:xfrm>
            <a:off x="341547" y="5046706"/>
            <a:ext cx="775180" cy="432898"/>
          </a:xfrm>
          <a:prstGeom prst="roundRect">
            <a:avLst>
              <a:gd name="adj" fmla="val 50000"/>
            </a:avLst>
          </a:prstGeom>
          <a:solidFill>
            <a:schemeClr val="accent2">
              <a:lumMod val="50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주체</a:t>
            </a:r>
          </a:p>
        </p:txBody>
      </p:sp>
      <p:cxnSp>
        <p:nvCxnSpPr>
          <p:cNvPr id="26" name="직선 화살표 연결선 25"/>
          <p:cNvCxnSpPr/>
          <p:nvPr/>
        </p:nvCxnSpPr>
        <p:spPr>
          <a:xfrm>
            <a:off x="3289300" y="3343978"/>
            <a:ext cx="6362700" cy="0"/>
          </a:xfrm>
          <a:prstGeom prst="straightConnector1">
            <a:avLst/>
          </a:prstGeom>
          <a:ln w="57150">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직선 화살표 연결선 61"/>
          <p:cNvCxnSpPr/>
          <p:nvPr/>
        </p:nvCxnSpPr>
        <p:spPr>
          <a:xfrm>
            <a:off x="3289300" y="5681622"/>
            <a:ext cx="6362700" cy="0"/>
          </a:xfrm>
          <a:prstGeom prst="straightConnector1">
            <a:avLst/>
          </a:prstGeom>
          <a:ln w="57150">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직선 화살표 연결선 62"/>
          <p:cNvCxnSpPr/>
          <p:nvPr/>
        </p:nvCxnSpPr>
        <p:spPr>
          <a:xfrm>
            <a:off x="9652000" y="5681622"/>
            <a:ext cx="2222500" cy="0"/>
          </a:xfrm>
          <a:prstGeom prst="straightConnector1">
            <a:avLst/>
          </a:prstGeom>
          <a:ln w="57150">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5" name="직선 화살표 연결선 64"/>
          <p:cNvCxnSpPr/>
          <p:nvPr/>
        </p:nvCxnSpPr>
        <p:spPr>
          <a:xfrm>
            <a:off x="9652000" y="3343978"/>
            <a:ext cx="2222500" cy="0"/>
          </a:xfrm>
          <a:prstGeom prst="straightConnector1">
            <a:avLst/>
          </a:prstGeom>
          <a:ln w="57150">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6" name="직선 화살표 연결선 65"/>
          <p:cNvCxnSpPr/>
          <p:nvPr/>
        </p:nvCxnSpPr>
        <p:spPr>
          <a:xfrm>
            <a:off x="9652000" y="4180912"/>
            <a:ext cx="2222500" cy="0"/>
          </a:xfrm>
          <a:prstGeom prst="straightConnector1">
            <a:avLst/>
          </a:prstGeom>
          <a:ln w="57150">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7" name="직선 화살표 연결선 66"/>
          <p:cNvCxnSpPr/>
          <p:nvPr/>
        </p:nvCxnSpPr>
        <p:spPr>
          <a:xfrm>
            <a:off x="2019300" y="4180912"/>
            <a:ext cx="7632700" cy="0"/>
          </a:xfrm>
          <a:prstGeom prst="straightConnector1">
            <a:avLst/>
          </a:prstGeom>
          <a:ln w="57150">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a:off x="6251222" y="3194526"/>
            <a:ext cx="832279" cy="307777"/>
          </a:xfrm>
          <a:prstGeom prst="rect">
            <a:avLst/>
          </a:prstGeom>
          <a:solidFill>
            <a:schemeClr val="bg1"/>
          </a:solidFill>
        </p:spPr>
        <p:txBody>
          <a:bodyPr wrap="none" rtlCol="0">
            <a:spAutoFit/>
          </a:bodyPr>
          <a:lstStyle/>
          <a:p>
            <a:r>
              <a:rPr lang="ko-KR" altLang="en-US" sz="1400" dirty="0" err="1"/>
              <a:t>출원발명</a:t>
            </a:r>
            <a:endParaRPr lang="ko-KR" altLang="en-US" sz="1400" dirty="0"/>
          </a:p>
        </p:txBody>
      </p:sp>
      <p:sp>
        <p:nvSpPr>
          <p:cNvPr id="70" name="TextBox 69"/>
          <p:cNvSpPr txBox="1"/>
          <p:nvPr/>
        </p:nvSpPr>
        <p:spPr>
          <a:xfrm>
            <a:off x="10506784" y="3194526"/>
            <a:ext cx="832279" cy="307777"/>
          </a:xfrm>
          <a:prstGeom prst="rect">
            <a:avLst/>
          </a:prstGeom>
          <a:solidFill>
            <a:schemeClr val="bg1"/>
          </a:solidFill>
        </p:spPr>
        <p:txBody>
          <a:bodyPr wrap="none" rtlCol="0">
            <a:spAutoFit/>
          </a:bodyPr>
          <a:lstStyle/>
          <a:p>
            <a:r>
              <a:rPr lang="ko-KR" altLang="en-US" sz="1400" dirty="0" err="1"/>
              <a:t>특허발명</a:t>
            </a:r>
            <a:endParaRPr lang="ko-KR" altLang="en-US" sz="1400" dirty="0"/>
          </a:p>
        </p:txBody>
      </p:sp>
      <p:sp>
        <p:nvSpPr>
          <p:cNvPr id="71" name="TextBox 70"/>
          <p:cNvSpPr txBox="1"/>
          <p:nvPr/>
        </p:nvSpPr>
        <p:spPr>
          <a:xfrm>
            <a:off x="5554198" y="4029711"/>
            <a:ext cx="2002471" cy="307777"/>
          </a:xfrm>
          <a:prstGeom prst="rect">
            <a:avLst/>
          </a:prstGeom>
          <a:solidFill>
            <a:schemeClr val="bg1"/>
          </a:solidFill>
        </p:spPr>
        <p:txBody>
          <a:bodyPr wrap="none" rtlCol="0">
            <a:spAutoFit/>
          </a:bodyPr>
          <a:lstStyle/>
          <a:p>
            <a:r>
              <a:rPr lang="ko-KR" altLang="en-US" sz="1400" dirty="0"/>
              <a:t>특허를 받을 수 있는 권리</a:t>
            </a:r>
          </a:p>
        </p:txBody>
      </p:sp>
      <p:sp>
        <p:nvSpPr>
          <p:cNvPr id="72" name="TextBox 71"/>
          <p:cNvSpPr txBox="1"/>
          <p:nvPr/>
        </p:nvSpPr>
        <p:spPr>
          <a:xfrm>
            <a:off x="10546869" y="4029711"/>
            <a:ext cx="670376" cy="307777"/>
          </a:xfrm>
          <a:prstGeom prst="rect">
            <a:avLst/>
          </a:prstGeom>
          <a:solidFill>
            <a:schemeClr val="bg1"/>
          </a:solidFill>
        </p:spPr>
        <p:txBody>
          <a:bodyPr wrap="none" rtlCol="0">
            <a:spAutoFit/>
          </a:bodyPr>
          <a:lstStyle/>
          <a:p>
            <a:r>
              <a:rPr lang="ko-KR" altLang="en-US" sz="1400" dirty="0"/>
              <a:t>특허권</a:t>
            </a:r>
          </a:p>
        </p:txBody>
      </p:sp>
      <p:sp>
        <p:nvSpPr>
          <p:cNvPr id="73" name="TextBox 72"/>
          <p:cNvSpPr txBox="1"/>
          <p:nvPr/>
        </p:nvSpPr>
        <p:spPr>
          <a:xfrm>
            <a:off x="6251222" y="5526727"/>
            <a:ext cx="670376" cy="307777"/>
          </a:xfrm>
          <a:prstGeom prst="rect">
            <a:avLst/>
          </a:prstGeom>
          <a:solidFill>
            <a:schemeClr val="bg1"/>
          </a:solidFill>
        </p:spPr>
        <p:txBody>
          <a:bodyPr wrap="none" rtlCol="0">
            <a:spAutoFit/>
          </a:bodyPr>
          <a:lstStyle/>
          <a:p>
            <a:r>
              <a:rPr lang="ko-KR" altLang="en-US" sz="1400" dirty="0"/>
              <a:t>출원인</a:t>
            </a:r>
          </a:p>
        </p:txBody>
      </p:sp>
      <p:sp>
        <p:nvSpPr>
          <p:cNvPr id="74" name="TextBox 73"/>
          <p:cNvSpPr txBox="1"/>
          <p:nvPr/>
        </p:nvSpPr>
        <p:spPr>
          <a:xfrm>
            <a:off x="10587735" y="5526727"/>
            <a:ext cx="832279" cy="307777"/>
          </a:xfrm>
          <a:prstGeom prst="rect">
            <a:avLst/>
          </a:prstGeom>
          <a:solidFill>
            <a:schemeClr val="bg1"/>
          </a:solidFill>
        </p:spPr>
        <p:txBody>
          <a:bodyPr wrap="none" rtlCol="0">
            <a:spAutoFit/>
          </a:bodyPr>
          <a:lstStyle/>
          <a:p>
            <a:r>
              <a:rPr lang="ko-KR" altLang="en-US" sz="1400" dirty="0" err="1"/>
              <a:t>특허권자</a:t>
            </a:r>
            <a:endParaRPr lang="ko-KR" altLang="en-US" sz="1400" dirty="0"/>
          </a:p>
        </p:txBody>
      </p:sp>
      <p:sp>
        <p:nvSpPr>
          <p:cNvPr id="75" name="TextBox 74"/>
          <p:cNvSpPr txBox="1"/>
          <p:nvPr/>
        </p:nvSpPr>
        <p:spPr>
          <a:xfrm>
            <a:off x="6129745" y="5115471"/>
            <a:ext cx="1226618" cy="307777"/>
          </a:xfrm>
          <a:prstGeom prst="rect">
            <a:avLst/>
          </a:prstGeom>
          <a:solidFill>
            <a:schemeClr val="bg1"/>
          </a:solidFill>
        </p:spPr>
        <p:txBody>
          <a:bodyPr wrap="none" rtlCol="0">
            <a:spAutoFit/>
          </a:bodyPr>
          <a:lstStyle/>
          <a:p>
            <a:r>
              <a:rPr lang="ko-KR" altLang="en-US" sz="1400"/>
              <a:t>발명자</a:t>
            </a:r>
            <a:r>
              <a:rPr lang="en-US" altLang="ko-KR" sz="1400" dirty="0"/>
              <a:t>/</a:t>
            </a:r>
            <a:r>
              <a:rPr lang="ko-KR" altLang="en-US" sz="1400" dirty="0"/>
              <a:t>승계인</a:t>
            </a:r>
          </a:p>
        </p:txBody>
      </p:sp>
      <p:sp>
        <p:nvSpPr>
          <p:cNvPr id="76" name="TextBox 75"/>
          <p:cNvSpPr txBox="1"/>
          <p:nvPr/>
        </p:nvSpPr>
        <p:spPr>
          <a:xfrm>
            <a:off x="10392546" y="5115471"/>
            <a:ext cx="1226618" cy="307777"/>
          </a:xfrm>
          <a:prstGeom prst="rect">
            <a:avLst/>
          </a:prstGeom>
          <a:solidFill>
            <a:schemeClr val="bg1"/>
          </a:solidFill>
        </p:spPr>
        <p:txBody>
          <a:bodyPr wrap="none" rtlCol="0">
            <a:spAutoFit/>
          </a:bodyPr>
          <a:lstStyle/>
          <a:p>
            <a:r>
              <a:rPr lang="ko-KR" altLang="en-US" sz="1400"/>
              <a:t>발명자</a:t>
            </a:r>
            <a:r>
              <a:rPr lang="en-US" altLang="ko-KR" sz="1400" dirty="0"/>
              <a:t>/</a:t>
            </a:r>
            <a:r>
              <a:rPr lang="ko-KR" altLang="en-US" sz="1400" dirty="0"/>
              <a:t>승계인</a:t>
            </a:r>
          </a:p>
        </p:txBody>
      </p:sp>
      <p:cxnSp>
        <p:nvCxnSpPr>
          <p:cNvPr id="78" name="직선 화살표 연결선 77"/>
          <p:cNvCxnSpPr>
            <a:stCxn id="59" idx="0"/>
            <a:endCxn id="56" idx="2"/>
          </p:cNvCxnSpPr>
          <p:nvPr/>
        </p:nvCxnSpPr>
        <p:spPr>
          <a:xfrm flipV="1">
            <a:off x="729137" y="4628240"/>
            <a:ext cx="0" cy="418466"/>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0" name="직선 화살표 연결선 79"/>
          <p:cNvCxnSpPr>
            <a:stCxn id="56" idx="0"/>
            <a:endCxn id="53" idx="2"/>
          </p:cNvCxnSpPr>
          <p:nvPr/>
        </p:nvCxnSpPr>
        <p:spPr>
          <a:xfrm flipV="1">
            <a:off x="729137" y="3776876"/>
            <a:ext cx="0" cy="418466"/>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82" name="직선 화살표 연결선 81"/>
          <p:cNvCxnSpPr>
            <a:stCxn id="53" idx="0"/>
            <a:endCxn id="52" idx="2"/>
          </p:cNvCxnSpPr>
          <p:nvPr/>
        </p:nvCxnSpPr>
        <p:spPr>
          <a:xfrm flipV="1">
            <a:off x="729137" y="2925511"/>
            <a:ext cx="0" cy="418468"/>
          </a:xfrm>
          <a:prstGeom prst="straightConnector1">
            <a:avLst/>
          </a:prstGeom>
          <a:ln>
            <a:solidFill>
              <a:schemeClr val="bg1">
                <a:lumMod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765896" y="3835958"/>
            <a:ext cx="508473" cy="307777"/>
          </a:xfrm>
          <a:prstGeom prst="rect">
            <a:avLst/>
          </a:prstGeom>
          <a:solidFill>
            <a:schemeClr val="bg1"/>
          </a:solidFill>
        </p:spPr>
        <p:txBody>
          <a:bodyPr wrap="none" rtlCol="0">
            <a:spAutoFit/>
          </a:bodyPr>
          <a:lstStyle/>
          <a:p>
            <a:r>
              <a:rPr lang="ko-KR" altLang="en-US" sz="1400" dirty="0"/>
              <a:t>보호</a:t>
            </a:r>
          </a:p>
        </p:txBody>
      </p: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7</a:t>
            </a:fld>
            <a:endParaRPr lang="ko-KR" altLang="en-US"/>
          </a:p>
        </p:txBody>
      </p:sp>
    </p:spTree>
    <p:extLst>
      <p:ext uri="{BB962C8B-B14F-4D97-AF65-F5344CB8AC3E}">
        <p14:creationId xmlns:p14="http://schemas.microsoft.com/office/powerpoint/2010/main" val="5372620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7" name="직선 연결선 6"/>
          <p:cNvCxnSpPr/>
          <p:nvPr/>
        </p:nvCxnSpPr>
        <p:spPr>
          <a:xfrm>
            <a:off x="896595" y="3104986"/>
            <a:ext cx="9067538" cy="0"/>
          </a:xfrm>
          <a:prstGeom prst="line">
            <a:avLst/>
          </a:prstGeom>
          <a:ln w="5715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 name="제목 2"/>
          <p:cNvSpPr>
            <a:spLocks noGrp="1"/>
          </p:cNvSpPr>
          <p:nvPr>
            <p:ph type="title"/>
          </p:nvPr>
        </p:nvSpPr>
        <p:spPr/>
        <p:txBody>
          <a:bodyPr/>
          <a:lstStyle/>
          <a:p>
            <a:r>
              <a:rPr lang="ko-KR" altLang="en-US" dirty="0"/>
              <a:t>제</a:t>
            </a:r>
            <a:r>
              <a:rPr lang="en-US" altLang="ko-KR" dirty="0"/>
              <a:t>2</a:t>
            </a:r>
            <a:r>
              <a:rPr lang="ko-KR" altLang="en-US" dirty="0"/>
              <a:t>조</a:t>
            </a:r>
          </a:p>
        </p:txBody>
      </p:sp>
      <p:sp>
        <p:nvSpPr>
          <p:cNvPr id="4" name="텍스트 개체 틀 3"/>
          <p:cNvSpPr>
            <a:spLocks noGrp="1"/>
          </p:cNvSpPr>
          <p:nvPr>
            <p:ph type="body" sz="quarter" idx="13"/>
          </p:nvPr>
        </p:nvSpPr>
        <p:spPr/>
        <p:txBody>
          <a:bodyPr/>
          <a:lstStyle/>
          <a:p>
            <a:r>
              <a:rPr lang="ko-KR" altLang="en-US" dirty="0"/>
              <a:t>기술적 사상의 의미</a:t>
            </a:r>
          </a:p>
        </p:txBody>
      </p:sp>
      <p:sp>
        <p:nvSpPr>
          <p:cNvPr id="45" name="TextBox 44"/>
          <p:cNvSpPr txBox="1"/>
          <p:nvPr/>
        </p:nvSpPr>
        <p:spPr>
          <a:xfrm>
            <a:off x="77875" y="986046"/>
            <a:ext cx="11936323" cy="1169551"/>
          </a:xfrm>
          <a:prstGeom prst="rect">
            <a:avLst/>
          </a:prstGeom>
          <a:noFill/>
        </p:spPr>
        <p:txBody>
          <a:bodyPr wrap="square" rtlCol="0">
            <a:spAutoFit/>
          </a:bodyPr>
          <a:lstStyle/>
          <a:p>
            <a:pPr fontAlgn="base"/>
            <a:r>
              <a:rPr lang="ko-KR" altLang="en-US" sz="1400" dirty="0">
                <a:solidFill>
                  <a:schemeClr val="tx2"/>
                </a:solidFill>
              </a:rPr>
              <a:t>❶의 시기에 특허출원을 하는 경우 특허출원일 당시 미완성발명이기 때문에 특허를 받을 수 없다</a:t>
            </a:r>
            <a:r>
              <a:rPr lang="en-US" altLang="ko-KR" sz="1400" dirty="0">
                <a:solidFill>
                  <a:schemeClr val="tx2"/>
                </a:solidFill>
              </a:rPr>
              <a:t>. </a:t>
            </a:r>
            <a:r>
              <a:rPr lang="ko-KR" altLang="en-US" sz="1400" dirty="0">
                <a:solidFill>
                  <a:schemeClr val="tx2"/>
                </a:solidFill>
              </a:rPr>
              <a:t>즉</a:t>
            </a:r>
            <a:r>
              <a:rPr lang="en-US" altLang="ko-KR" sz="1400" dirty="0">
                <a:solidFill>
                  <a:schemeClr val="tx2"/>
                </a:solidFill>
              </a:rPr>
              <a:t>, </a:t>
            </a:r>
            <a:r>
              <a:rPr lang="ko-KR" altLang="en-US" sz="1400" dirty="0">
                <a:highlight>
                  <a:srgbClr val="FFFF00"/>
                </a:highlight>
              </a:rPr>
              <a:t>발명은 출원일 당시 단순한 사상이어서는 아니 되고 기술적 </a:t>
            </a:r>
            <a:r>
              <a:rPr lang="ko-KR" altLang="en-US" sz="1400" dirty="0" err="1">
                <a:highlight>
                  <a:srgbClr val="FFFF00"/>
                </a:highlight>
              </a:rPr>
              <a:t>사상이어야</a:t>
            </a:r>
            <a:r>
              <a:rPr lang="ko-KR" altLang="en-US" sz="1400" dirty="0">
                <a:highlight>
                  <a:srgbClr val="FFFF00"/>
                </a:highlight>
              </a:rPr>
              <a:t> 한다</a:t>
            </a:r>
            <a:r>
              <a:rPr lang="en-US" altLang="ko-KR" sz="1400" dirty="0">
                <a:highlight>
                  <a:srgbClr val="FFFF00"/>
                </a:highlight>
              </a:rPr>
              <a:t>.</a:t>
            </a:r>
            <a:r>
              <a:rPr lang="en-US" altLang="ko-KR" sz="1400" dirty="0">
                <a:solidFill>
                  <a:schemeClr val="tx2"/>
                </a:solidFill>
              </a:rPr>
              <a:t> ❷❸</a:t>
            </a:r>
            <a:r>
              <a:rPr lang="ko-KR" altLang="en-US" sz="1400" dirty="0">
                <a:solidFill>
                  <a:schemeClr val="tx2"/>
                </a:solidFill>
              </a:rPr>
              <a:t>의 시기에 특허출원을 하는 경우 특허출원일 당시 완성된 </a:t>
            </a:r>
            <a:r>
              <a:rPr lang="ko-KR" altLang="en-US" sz="1400" dirty="0" err="1">
                <a:solidFill>
                  <a:schemeClr val="tx2"/>
                </a:solidFill>
              </a:rPr>
              <a:t>발명으로서</a:t>
            </a:r>
            <a:r>
              <a:rPr lang="ko-KR" altLang="en-US" sz="1400" dirty="0">
                <a:solidFill>
                  <a:schemeClr val="tx2"/>
                </a:solidFill>
              </a:rPr>
              <a:t> 특허를 받을 수 있다</a:t>
            </a:r>
            <a:r>
              <a:rPr lang="en-US" altLang="ko-KR" sz="1400" dirty="0">
                <a:solidFill>
                  <a:schemeClr val="tx2"/>
                </a:solidFill>
              </a:rPr>
              <a:t>. </a:t>
            </a:r>
            <a:r>
              <a:rPr lang="ko-KR" altLang="en-US" sz="1400" dirty="0">
                <a:solidFill>
                  <a:schemeClr val="tx2"/>
                </a:solidFill>
              </a:rPr>
              <a:t>다만</a:t>
            </a:r>
            <a:r>
              <a:rPr lang="en-US" altLang="ko-KR" sz="1400" dirty="0">
                <a:solidFill>
                  <a:schemeClr val="tx2"/>
                </a:solidFill>
              </a:rPr>
              <a:t>, </a:t>
            </a:r>
            <a:r>
              <a:rPr lang="ko-KR" altLang="en-US" sz="1400" dirty="0">
                <a:solidFill>
                  <a:schemeClr val="tx2"/>
                </a:solidFill>
              </a:rPr>
              <a:t>기술적 사상일 때인 ❷의 시기 이후에 특허출원을 하는 것이 기술로서 구현된 때인 ❸의 시기에 특허출원을 하는 것보다 더 넓은 권리범위를 가진 특허로서 보호될 가능성이 높다</a:t>
            </a:r>
            <a:r>
              <a:rPr lang="en-US" altLang="ko-KR" sz="1400" dirty="0">
                <a:solidFill>
                  <a:schemeClr val="tx2"/>
                </a:solidFill>
              </a:rPr>
              <a:t>. </a:t>
            </a:r>
            <a:r>
              <a:rPr lang="ko-KR" altLang="en-US" sz="1400" dirty="0">
                <a:solidFill>
                  <a:schemeClr val="tx2"/>
                </a:solidFill>
              </a:rPr>
              <a:t>즉</a:t>
            </a:r>
            <a:r>
              <a:rPr lang="en-US" altLang="ko-KR" sz="1400" dirty="0">
                <a:solidFill>
                  <a:schemeClr val="tx2"/>
                </a:solidFill>
              </a:rPr>
              <a:t>, </a:t>
            </a:r>
            <a:r>
              <a:rPr lang="ko-KR" altLang="en-US" sz="1400" dirty="0">
                <a:highlight>
                  <a:srgbClr val="FFFF00"/>
                </a:highlight>
              </a:rPr>
              <a:t>발명은 기술적 사상이면 되고 기술 자체로 제한되는 것은 아니기 때문에</a:t>
            </a:r>
            <a:r>
              <a:rPr lang="en-US" altLang="ko-KR" sz="1400" dirty="0">
                <a:solidFill>
                  <a:schemeClr val="tx2"/>
                </a:solidFill>
              </a:rPr>
              <a:t>, </a:t>
            </a:r>
            <a:r>
              <a:rPr lang="ko-KR" altLang="en-US" sz="1400" dirty="0">
                <a:solidFill>
                  <a:schemeClr val="tx2"/>
                </a:solidFill>
              </a:rPr>
              <a:t>구체적인 기술보다는 기술적 사상을 특허로서 보호하는 것이 바람직하다고 할 것이다</a:t>
            </a:r>
            <a:r>
              <a:rPr lang="en-US" altLang="ko-KR" sz="1400" dirty="0">
                <a:solidFill>
                  <a:schemeClr val="tx2"/>
                </a:solidFill>
              </a:rPr>
              <a:t>. </a:t>
            </a:r>
            <a:r>
              <a:rPr lang="ko-KR" altLang="en-US" sz="1400" dirty="0">
                <a:solidFill>
                  <a:schemeClr val="tx2"/>
                </a:solidFill>
              </a:rPr>
              <a:t>물론 강력한 </a:t>
            </a:r>
            <a:r>
              <a:rPr lang="ko-KR" altLang="en-US" sz="1400" dirty="0" err="1">
                <a:solidFill>
                  <a:schemeClr val="tx2"/>
                </a:solidFill>
              </a:rPr>
              <a:t>특허망을</a:t>
            </a:r>
            <a:r>
              <a:rPr lang="ko-KR" altLang="en-US" sz="1400" dirty="0">
                <a:solidFill>
                  <a:schemeClr val="tx2"/>
                </a:solidFill>
              </a:rPr>
              <a:t> 구축하기 위해서는 기술적 사상과 기술에 해당하는 발명 모두를 특허로 보호하여야 한다</a:t>
            </a:r>
            <a:r>
              <a:rPr lang="en-US" altLang="ko-KR" sz="1400" dirty="0">
                <a:solidFill>
                  <a:schemeClr val="tx2"/>
                </a:solidFill>
              </a:rPr>
              <a:t>.</a:t>
            </a:r>
          </a:p>
        </p:txBody>
      </p:sp>
      <p:cxnSp>
        <p:nvCxnSpPr>
          <p:cNvPr id="46" name="직선 연결선 45"/>
          <p:cNvCxnSpPr/>
          <p:nvPr/>
        </p:nvCxnSpPr>
        <p:spPr>
          <a:xfrm>
            <a:off x="0" y="2162495"/>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 name="직사각형 7"/>
          <p:cNvSpPr/>
          <p:nvPr/>
        </p:nvSpPr>
        <p:spPr>
          <a:xfrm>
            <a:off x="2227129" y="2831772"/>
            <a:ext cx="1143434" cy="5464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사상</a:t>
            </a:r>
            <a:endParaRPr lang="en-US" altLang="ko-KR" sz="1400" dirty="0"/>
          </a:p>
          <a:p>
            <a:pPr algn="ctr"/>
            <a:r>
              <a:rPr lang="en-US" altLang="ko-KR" sz="1400" dirty="0"/>
              <a:t>(</a:t>
            </a:r>
            <a:r>
              <a:rPr lang="ko-KR" altLang="en-US" sz="1400" dirty="0"/>
              <a:t>착상</a:t>
            </a:r>
            <a:r>
              <a:rPr lang="en-US" altLang="ko-KR" sz="1400" dirty="0"/>
              <a:t>)</a:t>
            </a:r>
            <a:endParaRPr lang="ko-KR" altLang="en-US" sz="1400" dirty="0"/>
          </a:p>
        </p:txBody>
      </p:sp>
      <p:sp>
        <p:nvSpPr>
          <p:cNvPr id="9" name="직사각형 8"/>
          <p:cNvSpPr/>
          <p:nvPr/>
        </p:nvSpPr>
        <p:spPr>
          <a:xfrm>
            <a:off x="4471731" y="2831772"/>
            <a:ext cx="1143434" cy="546428"/>
          </a:xfrm>
          <a:prstGeom prst="rect">
            <a:avLst/>
          </a:prstGeom>
          <a:solidFill>
            <a:schemeClr val="accent1">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기술적 사상</a:t>
            </a:r>
          </a:p>
        </p:txBody>
      </p:sp>
      <p:sp>
        <p:nvSpPr>
          <p:cNvPr id="14" name="직사각형 13"/>
          <p:cNvSpPr/>
          <p:nvPr/>
        </p:nvSpPr>
        <p:spPr>
          <a:xfrm>
            <a:off x="6624255" y="2831772"/>
            <a:ext cx="1143434" cy="546428"/>
          </a:xfrm>
          <a:prstGeom prst="rect">
            <a:avLst/>
          </a:prstGeom>
          <a:solidFill>
            <a:schemeClr val="accent1">
              <a:lumMod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기술</a:t>
            </a:r>
            <a:endParaRPr lang="en-US" altLang="ko-KR" sz="1400" dirty="0"/>
          </a:p>
          <a:p>
            <a:pPr algn="ctr"/>
            <a:r>
              <a:rPr lang="en-US" altLang="ko-KR" sz="1400" dirty="0"/>
              <a:t>(</a:t>
            </a:r>
            <a:r>
              <a:rPr lang="ko-KR" altLang="en-US" sz="1400" dirty="0"/>
              <a:t>구현</a:t>
            </a:r>
            <a:r>
              <a:rPr lang="en-US" altLang="ko-KR" sz="1400" dirty="0"/>
              <a:t>)</a:t>
            </a:r>
            <a:endParaRPr lang="ko-KR" altLang="en-US" sz="1400" dirty="0"/>
          </a:p>
        </p:txBody>
      </p:sp>
      <p:sp>
        <p:nvSpPr>
          <p:cNvPr id="15" name="직사각형 14"/>
          <p:cNvSpPr/>
          <p:nvPr/>
        </p:nvSpPr>
        <p:spPr>
          <a:xfrm>
            <a:off x="10116315" y="2888537"/>
            <a:ext cx="1563496" cy="43289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2">
                    <a:lumMod val="50000"/>
                  </a:schemeClr>
                </a:solidFill>
              </a:rPr>
              <a:t>발명의 </a:t>
            </a:r>
            <a:r>
              <a:rPr lang="ko-KR" altLang="en-US" sz="1600" dirty="0" err="1">
                <a:solidFill>
                  <a:schemeClr val="tx2">
                    <a:lumMod val="50000"/>
                  </a:schemeClr>
                </a:solidFill>
              </a:rPr>
              <a:t>완성과정</a:t>
            </a:r>
            <a:endParaRPr lang="ko-KR" altLang="en-US" sz="1600" dirty="0">
              <a:solidFill>
                <a:schemeClr val="tx2">
                  <a:lumMod val="50000"/>
                </a:schemeClr>
              </a:solidFill>
            </a:endParaRPr>
          </a:p>
        </p:txBody>
      </p:sp>
      <p:sp>
        <p:nvSpPr>
          <p:cNvPr id="6" name="타원 5"/>
          <p:cNvSpPr/>
          <p:nvPr/>
        </p:nvSpPr>
        <p:spPr>
          <a:xfrm>
            <a:off x="577858" y="2506201"/>
            <a:ext cx="1130378" cy="471340"/>
          </a:xfrm>
          <a:prstGeom prst="ellipse">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2">
                    <a:lumMod val="10000"/>
                  </a:schemeClr>
                </a:solidFill>
              </a:rPr>
              <a:t>추상적</a:t>
            </a:r>
          </a:p>
        </p:txBody>
      </p:sp>
      <p:sp>
        <p:nvSpPr>
          <p:cNvPr id="19" name="타원 18"/>
          <p:cNvSpPr/>
          <p:nvPr/>
        </p:nvSpPr>
        <p:spPr>
          <a:xfrm>
            <a:off x="8833756" y="2506201"/>
            <a:ext cx="1130378" cy="471340"/>
          </a:xfrm>
          <a:prstGeom prst="ellipse">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2">
                    <a:lumMod val="10000"/>
                  </a:schemeClr>
                </a:solidFill>
              </a:rPr>
              <a:t>구체적</a:t>
            </a:r>
          </a:p>
        </p:txBody>
      </p:sp>
      <p:cxnSp>
        <p:nvCxnSpPr>
          <p:cNvPr id="20" name="직선 연결선 19"/>
          <p:cNvCxnSpPr/>
          <p:nvPr/>
        </p:nvCxnSpPr>
        <p:spPr>
          <a:xfrm flipH="1">
            <a:off x="3956837" y="3456430"/>
            <a:ext cx="1" cy="512256"/>
          </a:xfrm>
          <a:prstGeom prst="line">
            <a:avLst/>
          </a:prstGeom>
          <a:ln>
            <a:solidFill>
              <a:schemeClr val="bg1">
                <a:lumMod val="50000"/>
              </a:schemeClr>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21" name="직사각형 20"/>
          <p:cNvSpPr/>
          <p:nvPr/>
        </p:nvSpPr>
        <p:spPr>
          <a:xfrm>
            <a:off x="3633671" y="2781820"/>
            <a:ext cx="646331" cy="646331"/>
          </a:xfrm>
          <a:prstGeom prst="rect">
            <a:avLst/>
          </a:prstGeom>
          <a:solidFill>
            <a:schemeClr val="bg1"/>
          </a:solidFill>
        </p:spPr>
        <p:txBody>
          <a:bodyPr wrap="none">
            <a:spAutoFit/>
          </a:bodyPr>
          <a:lstStyle/>
          <a:p>
            <a:r>
              <a:rPr lang="ko-KR" altLang="en-US" sz="3600" dirty="0">
                <a:solidFill>
                  <a:schemeClr val="tx2"/>
                </a:solidFill>
              </a:rPr>
              <a:t>❶</a:t>
            </a:r>
            <a:endParaRPr lang="ko-KR" altLang="en-US" sz="3600" dirty="0"/>
          </a:p>
        </p:txBody>
      </p:sp>
      <p:sp>
        <p:nvSpPr>
          <p:cNvPr id="26" name="TextBox 25"/>
          <p:cNvSpPr txBox="1"/>
          <p:nvPr/>
        </p:nvSpPr>
        <p:spPr>
          <a:xfrm>
            <a:off x="3352684" y="3833803"/>
            <a:ext cx="1241045" cy="538609"/>
          </a:xfrm>
          <a:prstGeom prst="rect">
            <a:avLst/>
          </a:prstGeom>
          <a:solidFill>
            <a:schemeClr val="bg1"/>
          </a:solidFill>
        </p:spPr>
        <p:txBody>
          <a:bodyPr wrap="none" rtlCol="0">
            <a:spAutoFit/>
          </a:bodyPr>
          <a:lstStyle/>
          <a:p>
            <a:pPr algn="ctr"/>
            <a:r>
              <a:rPr lang="ko-KR" altLang="en-US" dirty="0"/>
              <a:t>특허출원</a:t>
            </a:r>
            <a:endParaRPr lang="en-US" altLang="ko-KR" dirty="0"/>
          </a:p>
          <a:p>
            <a:pPr algn="ctr"/>
            <a:r>
              <a:rPr lang="en-US" altLang="ko-KR" sz="1050" dirty="0"/>
              <a:t>(</a:t>
            </a:r>
            <a:r>
              <a:rPr lang="ko-KR" altLang="en-US" sz="1050" dirty="0"/>
              <a:t>수지상 세포 사건</a:t>
            </a:r>
            <a:r>
              <a:rPr lang="en-US" altLang="ko-KR" sz="1050" dirty="0"/>
              <a:t>)</a:t>
            </a:r>
            <a:endParaRPr lang="ko-KR" altLang="en-US" sz="1050" dirty="0"/>
          </a:p>
        </p:txBody>
      </p:sp>
      <p:cxnSp>
        <p:nvCxnSpPr>
          <p:cNvPr id="29" name="직선 연결선 28"/>
          <p:cNvCxnSpPr/>
          <p:nvPr/>
        </p:nvCxnSpPr>
        <p:spPr>
          <a:xfrm flipH="1">
            <a:off x="6151985" y="3456430"/>
            <a:ext cx="1" cy="512256"/>
          </a:xfrm>
          <a:prstGeom prst="line">
            <a:avLst/>
          </a:prstGeom>
          <a:ln>
            <a:solidFill>
              <a:schemeClr val="bg1">
                <a:lumMod val="50000"/>
              </a:schemeClr>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0" name="직사각형 29"/>
          <p:cNvSpPr/>
          <p:nvPr/>
        </p:nvSpPr>
        <p:spPr>
          <a:xfrm>
            <a:off x="5828819" y="2781820"/>
            <a:ext cx="646331" cy="646331"/>
          </a:xfrm>
          <a:prstGeom prst="rect">
            <a:avLst/>
          </a:prstGeom>
          <a:solidFill>
            <a:schemeClr val="bg1"/>
          </a:solidFill>
        </p:spPr>
        <p:txBody>
          <a:bodyPr wrap="none">
            <a:spAutoFit/>
          </a:bodyPr>
          <a:lstStyle/>
          <a:p>
            <a:r>
              <a:rPr lang="en-US" altLang="ko-KR" sz="3600" dirty="0">
                <a:solidFill>
                  <a:schemeClr val="tx2"/>
                </a:solidFill>
              </a:rPr>
              <a:t>❷</a:t>
            </a:r>
            <a:endParaRPr lang="ko-KR" altLang="en-US" sz="3600" dirty="0"/>
          </a:p>
        </p:txBody>
      </p:sp>
      <p:sp>
        <p:nvSpPr>
          <p:cNvPr id="31" name="TextBox 30"/>
          <p:cNvSpPr txBox="1"/>
          <p:nvPr/>
        </p:nvSpPr>
        <p:spPr>
          <a:xfrm>
            <a:off x="5648652" y="3833803"/>
            <a:ext cx="1018227" cy="369332"/>
          </a:xfrm>
          <a:prstGeom prst="rect">
            <a:avLst/>
          </a:prstGeom>
          <a:solidFill>
            <a:schemeClr val="bg1"/>
          </a:solidFill>
        </p:spPr>
        <p:txBody>
          <a:bodyPr wrap="none" rtlCol="0">
            <a:spAutoFit/>
          </a:bodyPr>
          <a:lstStyle/>
          <a:p>
            <a:r>
              <a:rPr lang="ko-KR" altLang="en-US" dirty="0"/>
              <a:t>특허출원</a:t>
            </a:r>
          </a:p>
        </p:txBody>
      </p:sp>
      <p:cxnSp>
        <p:nvCxnSpPr>
          <p:cNvPr id="32" name="직선 연결선 31"/>
          <p:cNvCxnSpPr/>
          <p:nvPr/>
        </p:nvCxnSpPr>
        <p:spPr>
          <a:xfrm flipH="1">
            <a:off x="8328737" y="3456430"/>
            <a:ext cx="1" cy="512256"/>
          </a:xfrm>
          <a:prstGeom prst="line">
            <a:avLst/>
          </a:prstGeom>
          <a:ln>
            <a:solidFill>
              <a:schemeClr val="bg1">
                <a:lumMod val="50000"/>
              </a:schemeClr>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33" name="직사각형 32"/>
          <p:cNvSpPr/>
          <p:nvPr/>
        </p:nvSpPr>
        <p:spPr>
          <a:xfrm>
            <a:off x="8005571" y="2781820"/>
            <a:ext cx="646331" cy="646331"/>
          </a:xfrm>
          <a:prstGeom prst="rect">
            <a:avLst/>
          </a:prstGeom>
          <a:solidFill>
            <a:schemeClr val="bg1"/>
          </a:solidFill>
        </p:spPr>
        <p:txBody>
          <a:bodyPr wrap="none">
            <a:spAutoFit/>
          </a:bodyPr>
          <a:lstStyle/>
          <a:p>
            <a:r>
              <a:rPr lang="ko-KR" altLang="en-US" sz="3600" dirty="0">
                <a:solidFill>
                  <a:schemeClr val="tx2"/>
                </a:solidFill>
              </a:rPr>
              <a:t>❸</a:t>
            </a:r>
            <a:endParaRPr lang="ko-KR" altLang="en-US" sz="3600" dirty="0"/>
          </a:p>
        </p:txBody>
      </p:sp>
      <p:sp>
        <p:nvSpPr>
          <p:cNvPr id="34" name="TextBox 33"/>
          <p:cNvSpPr txBox="1"/>
          <p:nvPr/>
        </p:nvSpPr>
        <p:spPr>
          <a:xfrm>
            <a:off x="7825404" y="3833803"/>
            <a:ext cx="1018227" cy="369332"/>
          </a:xfrm>
          <a:prstGeom prst="rect">
            <a:avLst/>
          </a:prstGeom>
          <a:solidFill>
            <a:schemeClr val="bg1"/>
          </a:solidFill>
        </p:spPr>
        <p:txBody>
          <a:bodyPr wrap="none" rtlCol="0">
            <a:spAutoFit/>
          </a:bodyPr>
          <a:lstStyle/>
          <a:p>
            <a:r>
              <a:rPr lang="ko-KR" altLang="en-US" dirty="0"/>
              <a:t>특허출원</a:t>
            </a:r>
          </a:p>
        </p:txBody>
      </p:sp>
      <p:sp>
        <p:nvSpPr>
          <p:cNvPr id="35" name="직사각형 34"/>
          <p:cNvSpPr/>
          <p:nvPr/>
        </p:nvSpPr>
        <p:spPr bwMode="auto">
          <a:xfrm>
            <a:off x="348791" y="5363401"/>
            <a:ext cx="11519555" cy="975339"/>
          </a:xfrm>
          <a:prstGeom prst="rect">
            <a:avLst/>
          </a:prstGeom>
          <a:ln>
            <a:solidFill>
              <a:schemeClr val="accent3"/>
            </a:solidFill>
            <a:headEnd type="none" w="med" len="med"/>
            <a:tailEnd type="none"/>
          </a:ln>
        </p:spPr>
        <p:style>
          <a:lnRef idx="1">
            <a:schemeClr val="accent4"/>
          </a:lnRef>
          <a:fillRef idx="0">
            <a:schemeClr val="accent4"/>
          </a:fillRef>
          <a:effectRef idx="0">
            <a:schemeClr val="accent4"/>
          </a:effectRef>
          <a:fontRef idx="minor">
            <a:schemeClr val="tx1"/>
          </a:fontRef>
        </p:style>
        <p:txBody>
          <a:bodyPr tIns="72000" bIns="72000" rtlCol="0" anchor="ctr"/>
          <a:lstStyle/>
          <a:p>
            <a:r>
              <a:rPr lang="ko-KR" altLang="en-US" sz="1400" dirty="0"/>
              <a:t>특허출원발명의 </a:t>
            </a:r>
            <a:r>
              <a:rPr lang="ko-KR" altLang="en-US" sz="1400" dirty="0">
                <a:highlight>
                  <a:srgbClr val="FFFF00"/>
                </a:highlight>
              </a:rPr>
              <a:t>출원일 당시 </a:t>
            </a:r>
            <a:r>
              <a:rPr lang="ko-KR" altLang="en-US" sz="1400" dirty="0"/>
              <a:t>수지상 세포는 혈액 </a:t>
            </a:r>
            <a:r>
              <a:rPr lang="ko-KR" altLang="en-US" sz="1400" dirty="0" err="1"/>
              <a:t>단핵세포의</a:t>
            </a:r>
            <a:r>
              <a:rPr lang="ko-KR" altLang="en-US" sz="1400" dirty="0"/>
              <a:t> </a:t>
            </a:r>
            <a:r>
              <a:rPr lang="en-US" altLang="ko-KR" sz="1400" dirty="0"/>
              <a:t>0.5% </a:t>
            </a:r>
            <a:r>
              <a:rPr lang="ko-KR" altLang="en-US" sz="1400" dirty="0"/>
              <a:t>미만으로 존재하고 분리된 후에는 수일 내로 사멸하기 때문에 연구하기가 쉽지 아니하여 혈액으로부터 충분한 양의 수지상 세포를 분리해 내는 것은 기술적으로 쉽지 않고</a:t>
            </a:r>
            <a:r>
              <a:rPr lang="en-US" altLang="ko-KR" sz="1400" dirty="0"/>
              <a:t>, </a:t>
            </a:r>
            <a:r>
              <a:rPr lang="ko-KR" altLang="en-US" sz="1400" dirty="0">
                <a:highlight>
                  <a:srgbClr val="FFFF00"/>
                </a:highlight>
              </a:rPr>
              <a:t>출원일 이후 </a:t>
            </a:r>
            <a:r>
              <a:rPr lang="ko-KR" altLang="en-US" sz="1400" dirty="0"/>
              <a:t>기술의 발전에 따라 사람의 혈액으로부터 수지상 세포를 추출하고 이를 이용하여 면역반응을 유발시키는 기술이 임상적으로 실시되고 있다는 것이므로</a:t>
            </a:r>
            <a:r>
              <a:rPr lang="en-US" altLang="ko-KR" sz="1400" dirty="0"/>
              <a:t>, </a:t>
            </a:r>
            <a:r>
              <a:rPr lang="ko-KR" altLang="en-US" sz="1400" dirty="0"/>
              <a:t>결국 출원발명의 출원일 당시를 기준으로 수지상 세포를 사람의 혈액으로부터 분리하여 </a:t>
            </a:r>
            <a:r>
              <a:rPr lang="ko-KR" altLang="en-US" sz="1400" dirty="0" err="1"/>
              <a:t>출원발명에</a:t>
            </a:r>
            <a:r>
              <a:rPr lang="ko-KR" altLang="en-US" sz="1400" dirty="0"/>
              <a:t> 사용하는 기술이 장래에 산업상 이용가능성이 있다고 보기는 어렵다</a:t>
            </a:r>
            <a:r>
              <a:rPr lang="en-US" altLang="ko-KR" sz="1400" dirty="0"/>
              <a:t>.</a:t>
            </a:r>
            <a:endParaRPr lang="ko-KR" altLang="en-US" sz="1400" dirty="0">
              <a:solidFill>
                <a:srgbClr val="FF0000"/>
              </a:solidFill>
            </a:endParaRPr>
          </a:p>
        </p:txBody>
      </p:sp>
      <p:sp>
        <p:nvSpPr>
          <p:cNvPr id="36" name="모서리가 둥근 직사각형 35"/>
          <p:cNvSpPr/>
          <p:nvPr/>
        </p:nvSpPr>
        <p:spPr bwMode="auto">
          <a:xfrm>
            <a:off x="348791" y="5073086"/>
            <a:ext cx="4680521" cy="288032"/>
          </a:xfrm>
          <a:prstGeom prst="roundRect">
            <a:avLst>
              <a:gd name="adj" fmla="val 0"/>
            </a:avLst>
          </a:prstGeom>
          <a:solidFill>
            <a:schemeClr val="accent2">
              <a:lumMod val="75000"/>
            </a:schemeClr>
          </a:solidFill>
          <a:ln>
            <a:solidFill>
              <a:schemeClr val="accent3"/>
            </a:solidFill>
            <a:headEnd type="none" w="med" len="med"/>
            <a:tailEnd type="none"/>
          </a:ln>
        </p:spPr>
        <p:style>
          <a:lnRef idx="1">
            <a:schemeClr val="accent2"/>
          </a:lnRef>
          <a:fillRef idx="3">
            <a:schemeClr val="accent2"/>
          </a:fillRef>
          <a:effectRef idx="2">
            <a:schemeClr val="accent2"/>
          </a:effectRef>
          <a:fontRef idx="minor">
            <a:schemeClr val="lt1"/>
          </a:fontRef>
        </p:style>
        <p:txBody>
          <a:bodyPr rtlCol="0" anchor="ctr"/>
          <a:lstStyle/>
          <a:p>
            <a:pPr algn="ctr"/>
            <a:r>
              <a:rPr lang="ko-KR" altLang="en-US" sz="1400" dirty="0"/>
              <a:t>대법원 </a:t>
            </a:r>
            <a:r>
              <a:rPr lang="en-US" altLang="ko-KR" sz="1400" dirty="0"/>
              <a:t>2003. 3. 14. </a:t>
            </a:r>
            <a:r>
              <a:rPr lang="ko-KR" altLang="en-US" sz="1400" dirty="0"/>
              <a:t>선고 </a:t>
            </a:r>
            <a:r>
              <a:rPr lang="en-US" altLang="ko-KR" sz="1400" dirty="0"/>
              <a:t>2001</a:t>
            </a:r>
            <a:r>
              <a:rPr lang="ko-KR" altLang="en-US" sz="1400" dirty="0"/>
              <a:t>후</a:t>
            </a:r>
            <a:r>
              <a:rPr lang="en-US" altLang="ko-KR" sz="1400" dirty="0"/>
              <a:t>2801 </a:t>
            </a:r>
            <a:r>
              <a:rPr lang="ko-KR" altLang="en-US" sz="1400" dirty="0"/>
              <a:t>판결</a:t>
            </a:r>
            <a:r>
              <a:rPr lang="en-US" altLang="ko-KR" sz="1400" dirty="0"/>
              <a:t>【</a:t>
            </a:r>
            <a:r>
              <a:rPr lang="ko-KR" altLang="en-US" sz="1400" dirty="0" err="1"/>
              <a:t>거절사정</a:t>
            </a:r>
            <a:r>
              <a:rPr lang="en-US" altLang="ko-KR" sz="1400" dirty="0"/>
              <a:t>(</a:t>
            </a:r>
            <a:r>
              <a:rPr lang="ko-KR" altLang="en-US" sz="1400" dirty="0" err="1"/>
              <a:t>특</a:t>
            </a:r>
            <a:r>
              <a:rPr lang="en-US" altLang="ko-KR" sz="1400" dirty="0"/>
              <a:t>)】</a:t>
            </a:r>
            <a:endParaRPr lang="ko-KR" altLang="en-US" sz="1400" dirty="0"/>
          </a:p>
        </p:txBody>
      </p: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8</a:t>
            </a:fld>
            <a:endParaRPr lang="ko-KR" altLang="en-US"/>
          </a:p>
        </p:txBody>
      </p:sp>
    </p:spTree>
    <p:extLst>
      <p:ext uri="{BB962C8B-B14F-4D97-AF65-F5344CB8AC3E}">
        <p14:creationId xmlns:p14="http://schemas.microsoft.com/office/powerpoint/2010/main" val="142980700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 name="타원 214">
            <a:extLst>
              <a:ext uri="{FF2B5EF4-FFF2-40B4-BE49-F238E27FC236}">
                <a16:creationId xmlns:a16="http://schemas.microsoft.com/office/drawing/2014/main" id="{FB0E2737-90F8-454C-82AA-808BAB5E7B05}"/>
              </a:ext>
            </a:extLst>
          </p:cNvPr>
          <p:cNvSpPr/>
          <p:nvPr/>
        </p:nvSpPr>
        <p:spPr>
          <a:xfrm>
            <a:off x="10286456" y="3816961"/>
            <a:ext cx="406599" cy="406599"/>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ko-KR" dirty="0"/>
              <a:t>1</a:t>
            </a:r>
            <a:endParaRPr lang="ko-KR" altLang="en-US" dirty="0"/>
          </a:p>
        </p:txBody>
      </p:sp>
      <p:sp>
        <p:nvSpPr>
          <p:cNvPr id="216" name="타원 215">
            <a:extLst>
              <a:ext uri="{FF2B5EF4-FFF2-40B4-BE49-F238E27FC236}">
                <a16:creationId xmlns:a16="http://schemas.microsoft.com/office/drawing/2014/main" id="{E55C5ED9-CAE3-47BA-B50D-9607527F965A}"/>
              </a:ext>
            </a:extLst>
          </p:cNvPr>
          <p:cNvSpPr/>
          <p:nvPr/>
        </p:nvSpPr>
        <p:spPr>
          <a:xfrm>
            <a:off x="10286456" y="4338664"/>
            <a:ext cx="406599" cy="406599"/>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ko-KR" dirty="0"/>
              <a:t>2</a:t>
            </a:r>
            <a:endParaRPr lang="ko-KR" altLang="en-US" dirty="0"/>
          </a:p>
        </p:txBody>
      </p:sp>
      <p:sp>
        <p:nvSpPr>
          <p:cNvPr id="217" name="타원 216">
            <a:extLst>
              <a:ext uri="{FF2B5EF4-FFF2-40B4-BE49-F238E27FC236}">
                <a16:creationId xmlns:a16="http://schemas.microsoft.com/office/drawing/2014/main" id="{E39AF090-71F1-484A-A8B6-6C315D407778}"/>
              </a:ext>
            </a:extLst>
          </p:cNvPr>
          <p:cNvSpPr/>
          <p:nvPr/>
        </p:nvSpPr>
        <p:spPr>
          <a:xfrm>
            <a:off x="10286456" y="4850296"/>
            <a:ext cx="406599" cy="406599"/>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ko-KR" dirty="0"/>
              <a:t>3</a:t>
            </a:r>
            <a:endParaRPr lang="ko-KR" altLang="en-US" dirty="0"/>
          </a:p>
        </p:txBody>
      </p:sp>
      <p:sp>
        <p:nvSpPr>
          <p:cNvPr id="218" name="타원 217">
            <a:extLst>
              <a:ext uri="{FF2B5EF4-FFF2-40B4-BE49-F238E27FC236}">
                <a16:creationId xmlns:a16="http://schemas.microsoft.com/office/drawing/2014/main" id="{32A3C54F-6B0B-4693-A47E-52E88E22DCB5}"/>
              </a:ext>
            </a:extLst>
          </p:cNvPr>
          <p:cNvSpPr/>
          <p:nvPr/>
        </p:nvSpPr>
        <p:spPr>
          <a:xfrm>
            <a:off x="10286456" y="5377942"/>
            <a:ext cx="406599" cy="406599"/>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ko-KR" dirty="0"/>
              <a:t>4</a:t>
            </a:r>
            <a:endParaRPr lang="ko-KR" altLang="en-US" dirty="0"/>
          </a:p>
        </p:txBody>
      </p:sp>
      <p:sp>
        <p:nvSpPr>
          <p:cNvPr id="219" name="타원 218">
            <a:extLst>
              <a:ext uri="{FF2B5EF4-FFF2-40B4-BE49-F238E27FC236}">
                <a16:creationId xmlns:a16="http://schemas.microsoft.com/office/drawing/2014/main" id="{8142920C-7275-480E-A009-EBA76ECBE456}"/>
              </a:ext>
            </a:extLst>
          </p:cNvPr>
          <p:cNvSpPr/>
          <p:nvPr/>
        </p:nvSpPr>
        <p:spPr>
          <a:xfrm>
            <a:off x="10286456" y="5892019"/>
            <a:ext cx="406599" cy="406599"/>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ko-KR" altLang="en-US" dirty="0"/>
          </a:p>
        </p:txBody>
      </p:sp>
      <p:sp>
        <p:nvSpPr>
          <p:cNvPr id="220" name="TextBox 219">
            <a:extLst>
              <a:ext uri="{FF2B5EF4-FFF2-40B4-BE49-F238E27FC236}">
                <a16:creationId xmlns:a16="http://schemas.microsoft.com/office/drawing/2014/main" id="{85418316-32E3-4923-AC33-5051E0D7CB9B}"/>
              </a:ext>
            </a:extLst>
          </p:cNvPr>
          <p:cNvSpPr txBox="1"/>
          <p:nvPr/>
        </p:nvSpPr>
        <p:spPr>
          <a:xfrm>
            <a:off x="10787777" y="3850982"/>
            <a:ext cx="922047" cy="338554"/>
          </a:xfrm>
          <a:prstGeom prst="rect">
            <a:avLst/>
          </a:prstGeom>
          <a:noFill/>
        </p:spPr>
        <p:txBody>
          <a:bodyPr wrap="none" rtlCol="0">
            <a:spAutoFit/>
          </a:bodyPr>
          <a:lstStyle/>
          <a:p>
            <a:r>
              <a:rPr lang="ko-KR" altLang="en-US" sz="1600" dirty="0" err="1"/>
              <a:t>하방전개</a:t>
            </a:r>
            <a:endParaRPr lang="ko-KR" altLang="en-US" sz="1600" dirty="0"/>
          </a:p>
        </p:txBody>
      </p:sp>
      <p:sp>
        <p:nvSpPr>
          <p:cNvPr id="221" name="TextBox 220">
            <a:extLst>
              <a:ext uri="{FF2B5EF4-FFF2-40B4-BE49-F238E27FC236}">
                <a16:creationId xmlns:a16="http://schemas.microsoft.com/office/drawing/2014/main" id="{AE423DD9-0C36-4342-8FCC-31443F518C51}"/>
              </a:ext>
            </a:extLst>
          </p:cNvPr>
          <p:cNvSpPr txBox="1"/>
          <p:nvPr/>
        </p:nvSpPr>
        <p:spPr>
          <a:xfrm>
            <a:off x="10787777" y="4352681"/>
            <a:ext cx="922047" cy="338554"/>
          </a:xfrm>
          <a:prstGeom prst="rect">
            <a:avLst/>
          </a:prstGeom>
          <a:noFill/>
        </p:spPr>
        <p:txBody>
          <a:bodyPr wrap="none" rtlCol="0">
            <a:spAutoFit/>
          </a:bodyPr>
          <a:lstStyle/>
          <a:p>
            <a:r>
              <a:rPr lang="ko-KR" altLang="en-US" sz="1600" dirty="0"/>
              <a:t>수평전개</a:t>
            </a:r>
          </a:p>
        </p:txBody>
      </p:sp>
      <p:sp>
        <p:nvSpPr>
          <p:cNvPr id="222" name="TextBox 221">
            <a:extLst>
              <a:ext uri="{FF2B5EF4-FFF2-40B4-BE49-F238E27FC236}">
                <a16:creationId xmlns:a16="http://schemas.microsoft.com/office/drawing/2014/main" id="{374B2391-564D-458D-9622-28DF3987D3C0}"/>
              </a:ext>
            </a:extLst>
          </p:cNvPr>
          <p:cNvSpPr txBox="1"/>
          <p:nvPr/>
        </p:nvSpPr>
        <p:spPr>
          <a:xfrm>
            <a:off x="10787777" y="4905465"/>
            <a:ext cx="922047" cy="338554"/>
          </a:xfrm>
          <a:prstGeom prst="rect">
            <a:avLst/>
          </a:prstGeom>
          <a:noFill/>
        </p:spPr>
        <p:txBody>
          <a:bodyPr wrap="none" rtlCol="0">
            <a:spAutoFit/>
          </a:bodyPr>
          <a:lstStyle/>
          <a:p>
            <a:r>
              <a:rPr lang="ko-KR" altLang="en-US" sz="1600" dirty="0"/>
              <a:t>상방전개</a:t>
            </a:r>
          </a:p>
        </p:txBody>
      </p:sp>
      <p:sp>
        <p:nvSpPr>
          <p:cNvPr id="223" name="TextBox 222">
            <a:extLst>
              <a:ext uri="{FF2B5EF4-FFF2-40B4-BE49-F238E27FC236}">
                <a16:creationId xmlns:a16="http://schemas.microsoft.com/office/drawing/2014/main" id="{325F2AF6-CF09-4FF8-B095-3C8CF8A1500E}"/>
              </a:ext>
            </a:extLst>
          </p:cNvPr>
          <p:cNvSpPr txBox="1"/>
          <p:nvPr/>
        </p:nvSpPr>
        <p:spPr>
          <a:xfrm>
            <a:off x="10787777" y="5409522"/>
            <a:ext cx="922047" cy="338554"/>
          </a:xfrm>
          <a:prstGeom prst="rect">
            <a:avLst/>
          </a:prstGeom>
          <a:noFill/>
        </p:spPr>
        <p:txBody>
          <a:bodyPr wrap="none" rtlCol="0">
            <a:spAutoFit/>
          </a:bodyPr>
          <a:lstStyle/>
          <a:p>
            <a:r>
              <a:rPr lang="ko-KR" altLang="en-US" sz="1600" dirty="0"/>
              <a:t>제품전개</a:t>
            </a:r>
          </a:p>
        </p:txBody>
      </p:sp>
      <p:sp>
        <p:nvSpPr>
          <p:cNvPr id="224" name="TextBox 223">
            <a:extLst>
              <a:ext uri="{FF2B5EF4-FFF2-40B4-BE49-F238E27FC236}">
                <a16:creationId xmlns:a16="http://schemas.microsoft.com/office/drawing/2014/main" id="{1CD31943-CB67-4FED-9674-9A0D2B6D3762}"/>
              </a:ext>
            </a:extLst>
          </p:cNvPr>
          <p:cNvSpPr txBox="1"/>
          <p:nvPr/>
        </p:nvSpPr>
        <p:spPr>
          <a:xfrm>
            <a:off x="10787777" y="5926040"/>
            <a:ext cx="922047" cy="338554"/>
          </a:xfrm>
          <a:prstGeom prst="rect">
            <a:avLst/>
          </a:prstGeom>
          <a:noFill/>
        </p:spPr>
        <p:txBody>
          <a:bodyPr wrap="none" rtlCol="0">
            <a:spAutoFit/>
          </a:bodyPr>
          <a:lstStyle/>
          <a:p>
            <a:r>
              <a:rPr lang="ko-KR" altLang="en-US" sz="1600" dirty="0"/>
              <a:t>경쟁제품</a:t>
            </a:r>
          </a:p>
        </p:txBody>
      </p:sp>
      <p:sp>
        <p:nvSpPr>
          <p:cNvPr id="2" name="슬라이드 번호 개체 틀 1"/>
          <p:cNvSpPr>
            <a:spLocks noGrp="1"/>
          </p:cNvSpPr>
          <p:nvPr>
            <p:ph type="sldNum" sz="quarter" idx="12"/>
          </p:nvPr>
        </p:nvSpPr>
        <p:spPr/>
        <p:txBody>
          <a:bodyPr/>
          <a:lstStyle/>
          <a:p>
            <a:fld id="{3875FC6C-1516-4DC4-8C58-3090F7D4F003}" type="slidenum">
              <a:rPr lang="ko-KR" altLang="en-US" smtClean="0"/>
              <a:t>9</a:t>
            </a:fld>
            <a:endParaRPr lang="ko-KR" altLang="en-US"/>
          </a:p>
        </p:txBody>
      </p:sp>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권리범위가 넓은 특허를 확보하기 위한 노력은</a:t>
            </a:r>
            <a:r>
              <a:rPr lang="en-US" altLang="ko-KR" dirty="0"/>
              <a:t>?</a:t>
            </a:r>
            <a:endParaRPr lang="ko-KR" altLang="en-US" dirty="0"/>
          </a:p>
        </p:txBody>
      </p:sp>
      <p:graphicFrame>
        <p:nvGraphicFramePr>
          <p:cNvPr id="123" name="표 122">
            <a:extLst>
              <a:ext uri="{FF2B5EF4-FFF2-40B4-BE49-F238E27FC236}">
                <a16:creationId xmlns:a16="http://schemas.microsoft.com/office/drawing/2014/main" id="{B7FAA322-4DD7-4609-9103-D1D6B28EDFE4}"/>
              </a:ext>
            </a:extLst>
          </p:cNvPr>
          <p:cNvGraphicFramePr>
            <a:graphicFrameLocks noGrp="1"/>
          </p:cNvGraphicFramePr>
          <p:nvPr>
            <p:extLst>
              <p:ext uri="{D42A27DB-BD31-4B8C-83A1-F6EECF244321}">
                <p14:modId xmlns:p14="http://schemas.microsoft.com/office/powerpoint/2010/main" val="3438984392"/>
              </p:ext>
            </p:extLst>
          </p:nvPr>
        </p:nvGraphicFramePr>
        <p:xfrm>
          <a:off x="126930" y="2193959"/>
          <a:ext cx="3204140" cy="2363755"/>
        </p:xfrm>
        <a:graphic>
          <a:graphicData uri="http://schemas.openxmlformats.org/drawingml/2006/table">
            <a:tbl>
              <a:tblPr firstRow="1" bandRow="1">
                <a:tableStyleId>{1FECB4D8-DB02-4DC6-A0A2-4F2EBAE1DC90}</a:tableStyleId>
              </a:tblPr>
              <a:tblGrid>
                <a:gridCol w="1602070">
                  <a:extLst>
                    <a:ext uri="{9D8B030D-6E8A-4147-A177-3AD203B41FA5}">
                      <a16:colId xmlns:a16="http://schemas.microsoft.com/office/drawing/2014/main" val="20000"/>
                    </a:ext>
                  </a:extLst>
                </a:gridCol>
                <a:gridCol w="1602070">
                  <a:extLst>
                    <a:ext uri="{9D8B030D-6E8A-4147-A177-3AD203B41FA5}">
                      <a16:colId xmlns:a16="http://schemas.microsoft.com/office/drawing/2014/main" val="20001"/>
                    </a:ext>
                  </a:extLst>
                </a:gridCol>
              </a:tblGrid>
              <a:tr h="472751">
                <a:tc>
                  <a:txBody>
                    <a:bodyPr/>
                    <a:lstStyle/>
                    <a:p>
                      <a:pPr algn="ctr" latinLnBrk="1"/>
                      <a:r>
                        <a:rPr lang="ko-KR" altLang="en-US" sz="1200" dirty="0"/>
                        <a:t>선행 특허</a:t>
                      </a:r>
                      <a:endParaRPr lang="en-US" altLang="ko-KR" sz="1200" dirty="0"/>
                    </a:p>
                    <a:p>
                      <a:pPr algn="ctr" latinLnBrk="1"/>
                      <a:r>
                        <a:rPr lang="en-US" altLang="ko-KR" sz="1200" dirty="0"/>
                        <a:t>(</a:t>
                      </a:r>
                      <a:r>
                        <a:rPr lang="ko-KR" altLang="en-US" sz="1200" dirty="0"/>
                        <a:t>기본특허</a:t>
                      </a:r>
                      <a:r>
                        <a:rPr lang="en-US" altLang="ko-KR" sz="1200" dirty="0"/>
                        <a:t>)</a:t>
                      </a:r>
                      <a:endParaRPr lang="ko-KR" altLang="en-US" sz="1200" b="1" dirty="0">
                        <a:solidFill>
                          <a:schemeClr val="tx1"/>
                        </a:solidFill>
                        <a:latin typeface="Rix모던고딕 L" panose="02020603020101020101" pitchFamily="18" charset="-127"/>
                        <a:ea typeface="Rix모던고딕 L" panose="02020603020101020101" pitchFamily="18" charset="-127"/>
                      </a:endParaRPr>
                    </a:p>
                  </a:txBody>
                  <a:tcPr marL="91439" marR="91439" marT="45719" marB="45719" anchor="ctr"/>
                </a:tc>
                <a:tc>
                  <a:txBody>
                    <a:bodyPr/>
                    <a:lstStyle/>
                    <a:p>
                      <a:pPr algn="ctr" latinLnBrk="1"/>
                      <a:r>
                        <a:rPr lang="ko-KR" altLang="en-US" sz="1200" dirty="0"/>
                        <a:t>후행 특허</a:t>
                      </a:r>
                      <a:endParaRPr lang="en-US" altLang="ko-KR" sz="1200" dirty="0"/>
                    </a:p>
                    <a:p>
                      <a:pPr algn="ctr" latinLnBrk="1"/>
                      <a:r>
                        <a:rPr lang="en-US" altLang="ko-KR" sz="1200" dirty="0"/>
                        <a:t>(</a:t>
                      </a:r>
                      <a:r>
                        <a:rPr lang="ko-KR" altLang="en-US" sz="1200" dirty="0"/>
                        <a:t>개량특허</a:t>
                      </a:r>
                      <a:r>
                        <a:rPr lang="en-US" altLang="ko-KR" sz="1200" dirty="0"/>
                        <a:t>)</a:t>
                      </a:r>
                      <a:endParaRPr lang="ko-KR" altLang="en-US" sz="1200" b="1" dirty="0">
                        <a:solidFill>
                          <a:schemeClr val="tx1"/>
                        </a:solidFill>
                        <a:latin typeface="Rix모던고딕 L" panose="02020603020101020101" pitchFamily="18" charset="-127"/>
                        <a:ea typeface="Rix모던고딕 L" panose="02020603020101020101" pitchFamily="18" charset="-127"/>
                      </a:endParaRPr>
                    </a:p>
                  </a:txBody>
                  <a:tcPr marL="91439" marR="91439" marT="45719" marB="45719" anchor="ctr"/>
                </a:tc>
                <a:extLst>
                  <a:ext uri="{0D108BD9-81ED-4DB2-BD59-A6C34878D82A}">
                    <a16:rowId xmlns:a16="http://schemas.microsoft.com/office/drawing/2014/main" val="10000"/>
                  </a:ext>
                </a:extLst>
              </a:tr>
              <a:tr h="472751">
                <a:tc>
                  <a:txBody>
                    <a:bodyPr/>
                    <a:lstStyle/>
                    <a:p>
                      <a:pPr algn="ctr" latinLnBrk="1"/>
                      <a:r>
                        <a:rPr lang="ko-KR" altLang="en-US" sz="1200" dirty="0"/>
                        <a:t>개념 </a:t>
                      </a:r>
                      <a:endParaRPr lang="ko-KR" altLang="en-US" sz="1200" b="1" dirty="0">
                        <a:solidFill>
                          <a:schemeClr val="tx1"/>
                        </a:solidFill>
                        <a:latin typeface="Rix모던고딕 L" panose="02020603020101020101" pitchFamily="18" charset="-127"/>
                        <a:ea typeface="Rix모던고딕 L" panose="02020603020101020101" pitchFamily="18" charset="-127"/>
                      </a:endParaRPr>
                    </a:p>
                  </a:txBody>
                  <a:tcPr marL="91439" marR="91439" marT="45719" marB="45719" anchor="ctr"/>
                </a:tc>
                <a:tc>
                  <a:txBody>
                    <a:bodyPr/>
                    <a:lstStyle/>
                    <a:p>
                      <a:pPr algn="ctr" latinLnBrk="1"/>
                      <a:r>
                        <a:rPr lang="ko-KR" altLang="en-US" sz="1200" dirty="0"/>
                        <a:t>개선</a:t>
                      </a:r>
                      <a:endParaRPr lang="ko-KR" altLang="en-US" sz="1200" b="1" dirty="0">
                        <a:solidFill>
                          <a:schemeClr val="tx1"/>
                        </a:solidFill>
                        <a:latin typeface="Rix모던고딕 L" panose="02020603020101020101" pitchFamily="18" charset="-127"/>
                        <a:ea typeface="Rix모던고딕 L" panose="02020603020101020101" pitchFamily="18" charset="-127"/>
                      </a:endParaRPr>
                    </a:p>
                  </a:txBody>
                  <a:tcPr marL="91439" marR="91439" marT="45719" marB="45719" anchor="ctr"/>
                </a:tc>
                <a:extLst>
                  <a:ext uri="{0D108BD9-81ED-4DB2-BD59-A6C34878D82A}">
                    <a16:rowId xmlns:a16="http://schemas.microsoft.com/office/drawing/2014/main" val="10001"/>
                  </a:ext>
                </a:extLst>
              </a:tr>
              <a:tr h="472751">
                <a:tc>
                  <a:txBody>
                    <a:bodyPr/>
                    <a:lstStyle/>
                    <a:p>
                      <a:pPr algn="ctr" latinLnBrk="1"/>
                      <a:r>
                        <a:rPr lang="ko-KR" altLang="en-US" sz="1200" dirty="0"/>
                        <a:t>기본발명</a:t>
                      </a:r>
                      <a:endParaRPr lang="ko-KR" altLang="en-US" sz="1200" b="1" dirty="0">
                        <a:solidFill>
                          <a:schemeClr val="tx1"/>
                        </a:solidFill>
                        <a:latin typeface="Rix모던고딕 L" panose="02020603020101020101" pitchFamily="18" charset="-127"/>
                        <a:ea typeface="Rix모던고딕 L" panose="02020603020101020101" pitchFamily="18" charset="-127"/>
                      </a:endParaRPr>
                    </a:p>
                  </a:txBody>
                  <a:tcPr marL="91439" marR="91439" marT="45719" marB="45719" anchor="ctr"/>
                </a:tc>
                <a:tc>
                  <a:txBody>
                    <a:bodyPr/>
                    <a:lstStyle/>
                    <a:p>
                      <a:pPr algn="ctr" latinLnBrk="1"/>
                      <a:r>
                        <a:rPr lang="ko-KR" altLang="en-US" sz="1200" dirty="0"/>
                        <a:t>개량발명</a:t>
                      </a:r>
                      <a:endParaRPr lang="ko-KR" altLang="en-US" sz="1200" b="1" dirty="0">
                        <a:solidFill>
                          <a:schemeClr val="tx1"/>
                        </a:solidFill>
                        <a:latin typeface="Rix모던고딕 L" panose="02020603020101020101" pitchFamily="18" charset="-127"/>
                        <a:ea typeface="Rix모던고딕 L" panose="02020603020101020101" pitchFamily="18" charset="-127"/>
                      </a:endParaRPr>
                    </a:p>
                  </a:txBody>
                  <a:tcPr marL="91439" marR="91439" marT="45719" marB="45719" anchor="ctr"/>
                </a:tc>
                <a:extLst>
                  <a:ext uri="{0D108BD9-81ED-4DB2-BD59-A6C34878D82A}">
                    <a16:rowId xmlns:a16="http://schemas.microsoft.com/office/drawing/2014/main" val="10002"/>
                  </a:ext>
                </a:extLst>
              </a:tr>
              <a:tr h="472751">
                <a:tc>
                  <a:txBody>
                    <a:bodyPr/>
                    <a:lstStyle/>
                    <a:p>
                      <a:pPr algn="ctr" latinLnBrk="1"/>
                      <a:r>
                        <a:rPr lang="en-US" altLang="ko-KR" sz="1200" dirty="0"/>
                        <a:t>High</a:t>
                      </a:r>
                      <a:r>
                        <a:rPr lang="en-US" altLang="ko-KR" sz="1200" baseline="0" dirty="0"/>
                        <a:t> Return</a:t>
                      </a:r>
                      <a:endParaRPr lang="ko-KR" altLang="en-US" sz="1200" b="1" dirty="0">
                        <a:solidFill>
                          <a:schemeClr val="tx1"/>
                        </a:solidFill>
                        <a:latin typeface="Rix모던고딕 L" panose="02020603020101020101" pitchFamily="18" charset="-127"/>
                        <a:ea typeface="Rix모던고딕 L" panose="02020603020101020101" pitchFamily="18" charset="-127"/>
                      </a:endParaRPr>
                    </a:p>
                  </a:txBody>
                  <a:tcPr marL="91439" marR="91439" marT="45719" marB="45719" anchor="ctr"/>
                </a:tc>
                <a:tc>
                  <a:txBody>
                    <a:bodyPr/>
                    <a:lstStyle/>
                    <a:p>
                      <a:pPr algn="ctr" latinLnBrk="1"/>
                      <a:r>
                        <a:rPr lang="en-US" altLang="ko-KR" sz="1200" dirty="0"/>
                        <a:t>Low Return</a:t>
                      </a:r>
                      <a:endParaRPr lang="ko-KR" altLang="en-US" sz="1200" b="1" dirty="0">
                        <a:solidFill>
                          <a:schemeClr val="tx1"/>
                        </a:solidFill>
                        <a:latin typeface="Rix모던고딕 L" panose="02020603020101020101" pitchFamily="18" charset="-127"/>
                        <a:ea typeface="Rix모던고딕 L" panose="02020603020101020101" pitchFamily="18" charset="-127"/>
                      </a:endParaRPr>
                    </a:p>
                  </a:txBody>
                  <a:tcPr marL="91439" marR="91439" marT="45719" marB="45719" anchor="ctr"/>
                </a:tc>
                <a:extLst>
                  <a:ext uri="{0D108BD9-81ED-4DB2-BD59-A6C34878D82A}">
                    <a16:rowId xmlns:a16="http://schemas.microsoft.com/office/drawing/2014/main" val="10003"/>
                  </a:ext>
                </a:extLst>
              </a:tr>
              <a:tr h="472751">
                <a:tc>
                  <a:txBody>
                    <a:bodyPr/>
                    <a:lstStyle/>
                    <a:p>
                      <a:pPr algn="ctr" latinLnBrk="1"/>
                      <a:r>
                        <a:rPr lang="en-US" altLang="ko-KR" sz="1200" dirty="0"/>
                        <a:t>High Risk</a:t>
                      </a:r>
                      <a:endParaRPr lang="ko-KR" altLang="en-US" sz="1200" b="1" dirty="0">
                        <a:solidFill>
                          <a:schemeClr val="tx1"/>
                        </a:solidFill>
                        <a:latin typeface="Rix모던고딕 L" panose="02020603020101020101" pitchFamily="18" charset="-127"/>
                        <a:ea typeface="Rix모던고딕 L" panose="02020603020101020101" pitchFamily="18" charset="-127"/>
                      </a:endParaRPr>
                    </a:p>
                  </a:txBody>
                  <a:tcPr marL="91439" marR="91439" marT="45719" marB="45719" anchor="ctr"/>
                </a:tc>
                <a:tc>
                  <a:txBody>
                    <a:bodyPr/>
                    <a:lstStyle/>
                    <a:p>
                      <a:pPr algn="ctr" latinLnBrk="1"/>
                      <a:r>
                        <a:rPr lang="en-US" altLang="ko-KR" sz="1200" dirty="0"/>
                        <a:t>Low Risk</a:t>
                      </a:r>
                      <a:endParaRPr lang="ko-KR" altLang="en-US" sz="1200" b="1" dirty="0">
                        <a:solidFill>
                          <a:schemeClr val="tx1"/>
                        </a:solidFill>
                        <a:latin typeface="Rix모던고딕 L" panose="02020603020101020101" pitchFamily="18" charset="-127"/>
                        <a:ea typeface="Rix모던고딕 L" panose="02020603020101020101" pitchFamily="18" charset="-127"/>
                      </a:endParaRPr>
                    </a:p>
                  </a:txBody>
                  <a:tcPr marL="91439" marR="91439" marT="45719" marB="45719" anchor="ctr"/>
                </a:tc>
                <a:extLst>
                  <a:ext uri="{0D108BD9-81ED-4DB2-BD59-A6C34878D82A}">
                    <a16:rowId xmlns:a16="http://schemas.microsoft.com/office/drawing/2014/main" val="10004"/>
                  </a:ext>
                </a:extLst>
              </a:tr>
            </a:tbl>
          </a:graphicData>
        </a:graphic>
      </p:graphicFrame>
      <p:sp>
        <p:nvSpPr>
          <p:cNvPr id="125" name="오른쪽 화살표 7">
            <a:extLst>
              <a:ext uri="{FF2B5EF4-FFF2-40B4-BE49-F238E27FC236}">
                <a16:creationId xmlns:a16="http://schemas.microsoft.com/office/drawing/2014/main" id="{9EC85F48-A10F-4B90-B512-C8FB1D1AFD4C}"/>
              </a:ext>
            </a:extLst>
          </p:cNvPr>
          <p:cNvSpPr/>
          <p:nvPr/>
        </p:nvSpPr>
        <p:spPr bwMode="auto">
          <a:xfrm>
            <a:off x="4341611" y="2224847"/>
            <a:ext cx="6722690" cy="1242993"/>
          </a:xfrm>
          <a:prstGeom prst="rightArrow">
            <a:avLst>
              <a:gd name="adj1" fmla="val 65873"/>
              <a:gd name="adj2" fmla="val 60582"/>
            </a:avLst>
          </a:prstGeom>
          <a:solidFill>
            <a:schemeClr val="accent2">
              <a:lumMod val="20000"/>
              <a:lumOff val="80000"/>
            </a:schemeClr>
          </a:solidFill>
          <a:ln>
            <a:headEnd type="none" w="med" len="med"/>
            <a:tailEnd type="none"/>
          </a:ln>
        </p:spPr>
        <p:style>
          <a:lnRef idx="1">
            <a:schemeClr val="accent4"/>
          </a:lnRef>
          <a:fillRef idx="0">
            <a:schemeClr val="accent4"/>
          </a:fillRef>
          <a:effectRef idx="0">
            <a:schemeClr val="accent4"/>
          </a:effectRef>
          <a:fontRef idx="minor">
            <a:schemeClr val="tx1"/>
          </a:fontRef>
        </p:style>
        <p:txBody>
          <a:bodyPr rtlCol="0" anchor="ctr"/>
          <a:lstStyle/>
          <a:p>
            <a:pPr algn="ctr"/>
            <a:endParaRPr lang="ko-KR" altLang="en-US"/>
          </a:p>
        </p:txBody>
      </p:sp>
      <p:sp>
        <p:nvSpPr>
          <p:cNvPr id="126" name="직사각형 125">
            <a:extLst>
              <a:ext uri="{FF2B5EF4-FFF2-40B4-BE49-F238E27FC236}">
                <a16:creationId xmlns:a16="http://schemas.microsoft.com/office/drawing/2014/main" id="{F4B124CF-30CF-4300-8CAA-7956A0399473}"/>
              </a:ext>
            </a:extLst>
          </p:cNvPr>
          <p:cNvSpPr/>
          <p:nvPr/>
        </p:nvSpPr>
        <p:spPr bwMode="auto">
          <a:xfrm>
            <a:off x="6463982" y="963968"/>
            <a:ext cx="789007" cy="2312146"/>
          </a:xfrm>
          <a:prstGeom prst="rect">
            <a:avLst/>
          </a:prstGeom>
          <a:solidFill>
            <a:schemeClr val="accent3">
              <a:lumMod val="50000"/>
              <a:alpha val="70000"/>
            </a:schemeClr>
          </a:solidFill>
          <a:ln>
            <a:noFill/>
            <a:headEnd type="none" w="med" len="med"/>
            <a:tailEnd type="non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2">
                  <a:lumMod val="50000"/>
                </a:schemeClr>
              </a:solidFill>
            </a:endParaRPr>
          </a:p>
        </p:txBody>
      </p:sp>
      <p:sp>
        <p:nvSpPr>
          <p:cNvPr id="127" name="TextBox 126">
            <a:extLst>
              <a:ext uri="{FF2B5EF4-FFF2-40B4-BE49-F238E27FC236}">
                <a16:creationId xmlns:a16="http://schemas.microsoft.com/office/drawing/2014/main" id="{F6FF7AD9-2455-4E42-8FF4-963557FED9F2}"/>
              </a:ext>
            </a:extLst>
          </p:cNvPr>
          <p:cNvSpPr txBox="1"/>
          <p:nvPr/>
        </p:nvSpPr>
        <p:spPr>
          <a:xfrm>
            <a:off x="6609058" y="2628043"/>
            <a:ext cx="498855" cy="461665"/>
          </a:xfrm>
          <a:prstGeom prst="rect">
            <a:avLst/>
          </a:prstGeom>
          <a:noFill/>
        </p:spPr>
        <p:txBody>
          <a:bodyPr wrap="none" rtlCol="0">
            <a:spAutoFit/>
          </a:bodyPr>
          <a:lstStyle/>
          <a:p>
            <a:pPr algn="ctr"/>
            <a:r>
              <a:rPr lang="en-US" altLang="ko-KR" sz="1200" b="1" dirty="0">
                <a:solidFill>
                  <a:schemeClr val="bg1"/>
                </a:solidFill>
                <a:latin typeface="+mn-ea"/>
              </a:rPr>
              <a:t>R&amp;D</a:t>
            </a:r>
          </a:p>
          <a:p>
            <a:pPr algn="ctr"/>
            <a:r>
              <a:rPr lang="ko-KR" altLang="en-US" sz="1200" b="1" dirty="0">
                <a:solidFill>
                  <a:schemeClr val="bg1"/>
                </a:solidFill>
                <a:latin typeface="+mn-ea"/>
              </a:rPr>
              <a:t>구간</a:t>
            </a:r>
          </a:p>
        </p:txBody>
      </p:sp>
      <p:sp>
        <p:nvSpPr>
          <p:cNvPr id="128" name="타원 127">
            <a:extLst>
              <a:ext uri="{FF2B5EF4-FFF2-40B4-BE49-F238E27FC236}">
                <a16:creationId xmlns:a16="http://schemas.microsoft.com/office/drawing/2014/main" id="{CB77D5AF-885D-48AB-AC40-D2A31852BD6A}"/>
              </a:ext>
            </a:extLst>
          </p:cNvPr>
          <p:cNvSpPr/>
          <p:nvPr/>
        </p:nvSpPr>
        <p:spPr>
          <a:xfrm>
            <a:off x="3503712" y="2462322"/>
            <a:ext cx="813198" cy="770636"/>
          </a:xfrm>
          <a:prstGeom prst="ellipse">
            <a:avLst/>
          </a:prstGeom>
          <a:solidFill>
            <a:schemeClr val="accent5">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100" dirty="0"/>
              <a:t>Abstract</a:t>
            </a:r>
            <a:endParaRPr lang="ko-KR" altLang="en-US" sz="1100" dirty="0"/>
          </a:p>
        </p:txBody>
      </p:sp>
      <p:sp>
        <p:nvSpPr>
          <p:cNvPr id="129" name="타원 128">
            <a:extLst>
              <a:ext uri="{FF2B5EF4-FFF2-40B4-BE49-F238E27FC236}">
                <a16:creationId xmlns:a16="http://schemas.microsoft.com/office/drawing/2014/main" id="{1C0DC3AF-7043-4922-A91D-B034B17BF246}"/>
              </a:ext>
            </a:extLst>
          </p:cNvPr>
          <p:cNvSpPr/>
          <p:nvPr/>
        </p:nvSpPr>
        <p:spPr>
          <a:xfrm>
            <a:off x="11064300" y="2462322"/>
            <a:ext cx="813198" cy="770636"/>
          </a:xfrm>
          <a:prstGeom prst="ellipse">
            <a:avLst/>
          </a:prstGeom>
          <a:solidFill>
            <a:schemeClr val="accent6">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en-US" altLang="ko-KR" sz="1050" dirty="0"/>
              <a:t>Concrete</a:t>
            </a:r>
            <a:endParaRPr lang="ko-KR" altLang="en-US" sz="1050" dirty="0"/>
          </a:p>
        </p:txBody>
      </p:sp>
      <p:sp>
        <p:nvSpPr>
          <p:cNvPr id="130" name="직사각형 129">
            <a:extLst>
              <a:ext uri="{FF2B5EF4-FFF2-40B4-BE49-F238E27FC236}">
                <a16:creationId xmlns:a16="http://schemas.microsoft.com/office/drawing/2014/main" id="{01BAF49B-38DC-4C0B-B87D-D6ED493DD072}"/>
              </a:ext>
            </a:extLst>
          </p:cNvPr>
          <p:cNvSpPr/>
          <p:nvPr/>
        </p:nvSpPr>
        <p:spPr bwMode="auto">
          <a:xfrm>
            <a:off x="9996220" y="2509423"/>
            <a:ext cx="736574" cy="666594"/>
          </a:xfrm>
          <a:prstGeom prst="rect">
            <a:avLst/>
          </a:prstGeom>
          <a:ln>
            <a:noFill/>
            <a:headEnd type="none" w="med" len="med"/>
            <a:tailEnd type="none"/>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ko-KR" altLang="en-US" sz="1400" dirty="0"/>
              <a:t>구현</a:t>
            </a:r>
            <a:endParaRPr lang="en-US" altLang="ko-KR" sz="1400" dirty="0"/>
          </a:p>
          <a:p>
            <a:pPr algn="ctr"/>
            <a:r>
              <a:rPr lang="en-US" altLang="ko-KR" sz="1400" dirty="0"/>
              <a:t>(</a:t>
            </a:r>
            <a:r>
              <a:rPr lang="ko-KR" altLang="en-US" sz="1400" dirty="0"/>
              <a:t>기술</a:t>
            </a:r>
            <a:r>
              <a:rPr lang="en-US" altLang="ko-KR" sz="1400" dirty="0"/>
              <a:t>)</a:t>
            </a:r>
            <a:endParaRPr lang="ko-KR" altLang="en-US" sz="1400" dirty="0"/>
          </a:p>
        </p:txBody>
      </p:sp>
      <p:sp>
        <p:nvSpPr>
          <p:cNvPr id="149" name="왼쪽/오른쪽 화살표 73">
            <a:extLst>
              <a:ext uri="{FF2B5EF4-FFF2-40B4-BE49-F238E27FC236}">
                <a16:creationId xmlns:a16="http://schemas.microsoft.com/office/drawing/2014/main" id="{5F0F5480-0B78-46DB-B3AF-9D688DFCB984}"/>
              </a:ext>
            </a:extLst>
          </p:cNvPr>
          <p:cNvSpPr/>
          <p:nvPr/>
        </p:nvSpPr>
        <p:spPr>
          <a:xfrm>
            <a:off x="5157699" y="2484027"/>
            <a:ext cx="1306282" cy="691991"/>
          </a:xfrm>
          <a:prstGeom prst="leftRightArrow">
            <a:avLst>
              <a:gd name="adj1" fmla="val 70784"/>
              <a:gd name="adj2" fmla="val 33835"/>
            </a:avLst>
          </a:prstGeom>
        </p:spPr>
        <p:style>
          <a:lnRef idx="2">
            <a:schemeClr val="accent2">
              <a:shade val="50000"/>
            </a:schemeClr>
          </a:lnRef>
          <a:fillRef idx="1">
            <a:schemeClr val="accent2"/>
          </a:fillRef>
          <a:effectRef idx="0">
            <a:schemeClr val="accent2"/>
          </a:effectRef>
          <a:fontRef idx="minor">
            <a:schemeClr val="lt1"/>
          </a:fontRef>
        </p:style>
        <p:txBody>
          <a:bodyPr lIns="36000" rIns="36000" rtlCol="0" anchor="ctr"/>
          <a:lstStyle/>
          <a:p>
            <a:pPr algn="ctr"/>
            <a:r>
              <a:rPr lang="ko-KR" altLang="en-US" sz="1200" dirty="0"/>
              <a:t>선행특허</a:t>
            </a:r>
          </a:p>
        </p:txBody>
      </p:sp>
      <p:grpSp>
        <p:nvGrpSpPr>
          <p:cNvPr id="225" name="그룹 224">
            <a:extLst>
              <a:ext uri="{FF2B5EF4-FFF2-40B4-BE49-F238E27FC236}">
                <a16:creationId xmlns:a16="http://schemas.microsoft.com/office/drawing/2014/main" id="{59A2C76E-79AE-4C01-8A18-8253ED29007E}"/>
              </a:ext>
            </a:extLst>
          </p:cNvPr>
          <p:cNvGrpSpPr/>
          <p:nvPr/>
        </p:nvGrpSpPr>
        <p:grpSpPr>
          <a:xfrm>
            <a:off x="4729095" y="899851"/>
            <a:ext cx="6875636" cy="1615002"/>
            <a:chOff x="4729095" y="939863"/>
            <a:chExt cx="6875636" cy="1975042"/>
          </a:xfrm>
        </p:grpSpPr>
        <p:grpSp>
          <p:nvGrpSpPr>
            <p:cNvPr id="131" name="그룹 130">
              <a:extLst>
                <a:ext uri="{FF2B5EF4-FFF2-40B4-BE49-F238E27FC236}">
                  <a16:creationId xmlns:a16="http://schemas.microsoft.com/office/drawing/2014/main" id="{8DF8C92C-A546-460A-AA47-E00B0DACC6AB}"/>
                </a:ext>
              </a:extLst>
            </p:cNvPr>
            <p:cNvGrpSpPr/>
            <p:nvPr/>
          </p:nvGrpSpPr>
          <p:grpSpPr>
            <a:xfrm>
              <a:off x="4734717" y="941932"/>
              <a:ext cx="5629991" cy="1972973"/>
              <a:chOff x="1691680" y="1772816"/>
              <a:chExt cx="5762988" cy="2376264"/>
            </a:xfrm>
          </p:grpSpPr>
          <p:cxnSp>
            <p:nvCxnSpPr>
              <p:cNvPr id="132" name="직선 연결선 131">
                <a:extLst>
                  <a:ext uri="{FF2B5EF4-FFF2-40B4-BE49-F238E27FC236}">
                    <a16:creationId xmlns:a16="http://schemas.microsoft.com/office/drawing/2014/main" id="{D259008C-414B-456F-8473-AE940EFD0EE3}"/>
                  </a:ext>
                </a:extLst>
              </p:cNvPr>
              <p:cNvCxnSpPr/>
              <p:nvPr/>
            </p:nvCxnSpPr>
            <p:spPr>
              <a:xfrm>
                <a:off x="1691680" y="1772816"/>
                <a:ext cx="0" cy="23762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3" name="직선 연결선 132">
                <a:extLst>
                  <a:ext uri="{FF2B5EF4-FFF2-40B4-BE49-F238E27FC236}">
                    <a16:creationId xmlns:a16="http://schemas.microsoft.com/office/drawing/2014/main" id="{75BE21C8-D09A-43EB-A718-E85B6B59C857}"/>
                  </a:ext>
                </a:extLst>
              </p:cNvPr>
              <p:cNvCxnSpPr/>
              <p:nvPr/>
            </p:nvCxnSpPr>
            <p:spPr>
              <a:xfrm>
                <a:off x="3131840" y="1772816"/>
                <a:ext cx="0" cy="23762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4" name="직선 연결선 133">
                <a:extLst>
                  <a:ext uri="{FF2B5EF4-FFF2-40B4-BE49-F238E27FC236}">
                    <a16:creationId xmlns:a16="http://schemas.microsoft.com/office/drawing/2014/main" id="{FAEC568D-88FB-4B9F-A0B8-4A763766DECB}"/>
                  </a:ext>
                </a:extLst>
              </p:cNvPr>
              <p:cNvCxnSpPr/>
              <p:nvPr/>
            </p:nvCxnSpPr>
            <p:spPr>
              <a:xfrm>
                <a:off x="4569652" y="1772816"/>
                <a:ext cx="0" cy="23762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5" name="직선 연결선 134">
                <a:extLst>
                  <a:ext uri="{FF2B5EF4-FFF2-40B4-BE49-F238E27FC236}">
                    <a16:creationId xmlns:a16="http://schemas.microsoft.com/office/drawing/2014/main" id="{C1C5D4DF-BA4A-43A2-86EB-19CFFC78DA9A}"/>
                  </a:ext>
                </a:extLst>
              </p:cNvPr>
              <p:cNvCxnSpPr/>
              <p:nvPr/>
            </p:nvCxnSpPr>
            <p:spPr>
              <a:xfrm>
                <a:off x="6014508" y="1772816"/>
                <a:ext cx="0" cy="2376264"/>
              </a:xfrm>
              <a:prstGeom prst="line">
                <a:avLst/>
              </a:prstGeom>
            </p:spPr>
            <p:style>
              <a:lnRef idx="1">
                <a:schemeClr val="accent1"/>
              </a:lnRef>
              <a:fillRef idx="0">
                <a:schemeClr val="accent1"/>
              </a:fillRef>
              <a:effectRef idx="0">
                <a:schemeClr val="accent1"/>
              </a:effectRef>
              <a:fontRef idx="minor">
                <a:schemeClr val="tx1"/>
              </a:fontRef>
            </p:style>
          </p:cxnSp>
          <p:cxnSp>
            <p:nvCxnSpPr>
              <p:cNvPr id="136" name="직선 연결선 135">
                <a:extLst>
                  <a:ext uri="{FF2B5EF4-FFF2-40B4-BE49-F238E27FC236}">
                    <a16:creationId xmlns:a16="http://schemas.microsoft.com/office/drawing/2014/main" id="{92C48FC9-E2A3-479D-AA0A-F96D94C844B2}"/>
                  </a:ext>
                </a:extLst>
              </p:cNvPr>
              <p:cNvCxnSpPr/>
              <p:nvPr/>
            </p:nvCxnSpPr>
            <p:spPr>
              <a:xfrm>
                <a:off x="7454668" y="1772816"/>
                <a:ext cx="0" cy="2376264"/>
              </a:xfrm>
              <a:prstGeom prst="line">
                <a:avLst/>
              </a:prstGeom>
            </p:spPr>
            <p:style>
              <a:lnRef idx="1">
                <a:schemeClr val="accent1"/>
              </a:lnRef>
              <a:fillRef idx="0">
                <a:schemeClr val="accent1"/>
              </a:fillRef>
              <a:effectRef idx="0">
                <a:schemeClr val="accent1"/>
              </a:effectRef>
              <a:fontRef idx="minor">
                <a:schemeClr val="tx1"/>
              </a:fontRef>
            </p:style>
          </p:cxnSp>
        </p:grpSp>
        <p:sp>
          <p:nvSpPr>
            <p:cNvPr id="137" name="자유형 57">
              <a:extLst>
                <a:ext uri="{FF2B5EF4-FFF2-40B4-BE49-F238E27FC236}">
                  <a16:creationId xmlns:a16="http://schemas.microsoft.com/office/drawing/2014/main" id="{C8CC4804-5C16-4F18-BC0A-61726238F063}"/>
                </a:ext>
              </a:extLst>
            </p:cNvPr>
            <p:cNvSpPr/>
            <p:nvPr/>
          </p:nvSpPr>
          <p:spPr>
            <a:xfrm>
              <a:off x="4729095" y="1424257"/>
              <a:ext cx="5657552" cy="1389963"/>
            </a:xfrm>
            <a:custGeom>
              <a:avLst/>
              <a:gdLst>
                <a:gd name="connsiteX0" fmla="*/ 0 w 5791200"/>
                <a:gd name="connsiteY0" fmla="*/ 2115468 h 2115468"/>
                <a:gd name="connsiteX1" fmla="*/ 1438275 w 5791200"/>
                <a:gd name="connsiteY1" fmla="*/ 1743993 h 2115468"/>
                <a:gd name="connsiteX2" fmla="*/ 2886075 w 5791200"/>
                <a:gd name="connsiteY2" fmla="*/ 381918 h 2115468"/>
                <a:gd name="connsiteX3" fmla="*/ 4343400 w 5791200"/>
                <a:gd name="connsiteY3" fmla="*/ 918 h 2115468"/>
                <a:gd name="connsiteX4" fmla="*/ 5791200 w 5791200"/>
                <a:gd name="connsiteY4" fmla="*/ 296193 h 211546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91200" h="2115468">
                  <a:moveTo>
                    <a:pt x="0" y="2115468"/>
                  </a:moveTo>
                  <a:cubicBezTo>
                    <a:pt x="478631" y="2074193"/>
                    <a:pt x="957263" y="2032918"/>
                    <a:pt x="1438275" y="1743993"/>
                  </a:cubicBezTo>
                  <a:cubicBezTo>
                    <a:pt x="1919288" y="1455068"/>
                    <a:pt x="2401888" y="672430"/>
                    <a:pt x="2886075" y="381918"/>
                  </a:cubicBezTo>
                  <a:cubicBezTo>
                    <a:pt x="3370263" y="91405"/>
                    <a:pt x="3859213" y="15205"/>
                    <a:pt x="4343400" y="918"/>
                  </a:cubicBezTo>
                  <a:cubicBezTo>
                    <a:pt x="4827588" y="-13370"/>
                    <a:pt x="5309394" y="141411"/>
                    <a:pt x="5791200" y="296193"/>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8" name="자유형 58">
              <a:extLst>
                <a:ext uri="{FF2B5EF4-FFF2-40B4-BE49-F238E27FC236}">
                  <a16:creationId xmlns:a16="http://schemas.microsoft.com/office/drawing/2014/main" id="{D2429D04-920E-418A-843A-F58BBE5019D8}"/>
                </a:ext>
              </a:extLst>
            </p:cNvPr>
            <p:cNvSpPr/>
            <p:nvPr/>
          </p:nvSpPr>
          <p:spPr>
            <a:xfrm>
              <a:off x="4729095" y="1493456"/>
              <a:ext cx="5648248" cy="1397061"/>
            </a:xfrm>
            <a:custGeom>
              <a:avLst/>
              <a:gdLst>
                <a:gd name="connsiteX0" fmla="*/ 0 w 5781675"/>
                <a:gd name="connsiteY0" fmla="*/ 2126271 h 2126271"/>
                <a:gd name="connsiteX1" fmla="*/ 1466850 w 5781675"/>
                <a:gd name="connsiteY1" fmla="*/ 1773846 h 2126271"/>
                <a:gd name="connsiteX2" fmla="*/ 2886075 w 5781675"/>
                <a:gd name="connsiteY2" fmla="*/ 468921 h 2126271"/>
                <a:gd name="connsiteX3" fmla="*/ 4333875 w 5781675"/>
                <a:gd name="connsiteY3" fmla="*/ 2196 h 2126271"/>
                <a:gd name="connsiteX4" fmla="*/ 5781675 w 5781675"/>
                <a:gd name="connsiteY4" fmla="*/ 326046 h 212627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781675" h="2126271">
                  <a:moveTo>
                    <a:pt x="0" y="2126271"/>
                  </a:moveTo>
                  <a:cubicBezTo>
                    <a:pt x="492919" y="2088171"/>
                    <a:pt x="985838" y="2050071"/>
                    <a:pt x="1466850" y="1773846"/>
                  </a:cubicBezTo>
                  <a:cubicBezTo>
                    <a:pt x="1947862" y="1497621"/>
                    <a:pt x="2408238" y="764196"/>
                    <a:pt x="2886075" y="468921"/>
                  </a:cubicBezTo>
                  <a:cubicBezTo>
                    <a:pt x="3363913" y="173646"/>
                    <a:pt x="3851275" y="26008"/>
                    <a:pt x="4333875" y="2196"/>
                  </a:cubicBezTo>
                  <a:cubicBezTo>
                    <a:pt x="4816475" y="-21616"/>
                    <a:pt x="5299075" y="152215"/>
                    <a:pt x="5781675" y="326046"/>
                  </a:cubicBezTo>
                </a:path>
              </a:pathLst>
            </a:custGeom>
            <a:noFill/>
            <a:ln>
              <a:solidFill>
                <a:schemeClr val="accent6">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39" name="직선 화살표 연결선 138">
              <a:extLst>
                <a:ext uri="{FF2B5EF4-FFF2-40B4-BE49-F238E27FC236}">
                  <a16:creationId xmlns:a16="http://schemas.microsoft.com/office/drawing/2014/main" id="{348E2EB6-B3B3-44EA-91DA-17132ED4320A}"/>
                </a:ext>
              </a:extLst>
            </p:cNvPr>
            <p:cNvCxnSpPr/>
            <p:nvPr/>
          </p:nvCxnSpPr>
          <p:spPr>
            <a:xfrm>
              <a:off x="4734716" y="1080329"/>
              <a:ext cx="1406924"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40" name="직선 화살표 연결선 139">
              <a:extLst>
                <a:ext uri="{FF2B5EF4-FFF2-40B4-BE49-F238E27FC236}">
                  <a16:creationId xmlns:a16="http://schemas.microsoft.com/office/drawing/2014/main" id="{2B7D6953-6C23-4F6B-BAFA-9F78F75DA5E5}"/>
                </a:ext>
              </a:extLst>
            </p:cNvPr>
            <p:cNvCxnSpPr/>
            <p:nvPr/>
          </p:nvCxnSpPr>
          <p:spPr>
            <a:xfrm>
              <a:off x="6155022" y="1080329"/>
              <a:ext cx="1406924"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41" name="직선 화살표 연결선 140">
              <a:extLst>
                <a:ext uri="{FF2B5EF4-FFF2-40B4-BE49-F238E27FC236}">
                  <a16:creationId xmlns:a16="http://schemas.microsoft.com/office/drawing/2014/main" id="{9045C202-CC42-43FF-B97B-5352E3C224F3}"/>
                </a:ext>
              </a:extLst>
            </p:cNvPr>
            <p:cNvCxnSpPr/>
            <p:nvPr/>
          </p:nvCxnSpPr>
          <p:spPr>
            <a:xfrm>
              <a:off x="7546272" y="1080329"/>
              <a:ext cx="1406924"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cxnSp>
          <p:nvCxnSpPr>
            <p:cNvPr id="142" name="직선 화살표 연결선 141">
              <a:extLst>
                <a:ext uri="{FF2B5EF4-FFF2-40B4-BE49-F238E27FC236}">
                  <a16:creationId xmlns:a16="http://schemas.microsoft.com/office/drawing/2014/main" id="{80C6D712-244F-4E8E-AD9B-E98EEC9A07C4}"/>
                </a:ext>
              </a:extLst>
            </p:cNvPr>
            <p:cNvCxnSpPr/>
            <p:nvPr/>
          </p:nvCxnSpPr>
          <p:spPr>
            <a:xfrm>
              <a:off x="8957784" y="1080329"/>
              <a:ext cx="1406924" cy="0"/>
            </a:xfrm>
            <a:prstGeom prst="straightConnector1">
              <a:avLst/>
            </a:prstGeom>
            <a:ln>
              <a:headEnd type="arrow"/>
              <a:tailEnd type="arrow"/>
            </a:ln>
          </p:spPr>
          <p:style>
            <a:lnRef idx="1">
              <a:schemeClr val="accent1"/>
            </a:lnRef>
            <a:fillRef idx="0">
              <a:schemeClr val="accent1"/>
            </a:fillRef>
            <a:effectRef idx="0">
              <a:schemeClr val="accent1"/>
            </a:effectRef>
            <a:fontRef idx="minor">
              <a:schemeClr val="tx1"/>
            </a:fontRef>
          </p:style>
        </p:cxnSp>
        <p:sp>
          <p:nvSpPr>
            <p:cNvPr id="143" name="TextBox 142">
              <a:extLst>
                <a:ext uri="{FF2B5EF4-FFF2-40B4-BE49-F238E27FC236}">
                  <a16:creationId xmlns:a16="http://schemas.microsoft.com/office/drawing/2014/main" id="{2250A2A9-04E8-4B94-AFE1-1D7383E54757}"/>
                </a:ext>
              </a:extLst>
            </p:cNvPr>
            <p:cNvSpPr txBox="1"/>
            <p:nvPr/>
          </p:nvSpPr>
          <p:spPr>
            <a:xfrm>
              <a:off x="5148334" y="939863"/>
              <a:ext cx="670375" cy="307777"/>
            </a:xfrm>
            <a:prstGeom prst="rect">
              <a:avLst/>
            </a:prstGeom>
            <a:solidFill>
              <a:schemeClr val="bg1"/>
            </a:solidFill>
          </p:spPr>
          <p:txBody>
            <a:bodyPr wrap="none" rtlCol="0">
              <a:spAutoFit/>
            </a:bodyPr>
            <a:lstStyle/>
            <a:p>
              <a:pPr algn="ctr"/>
              <a:r>
                <a:rPr lang="ko-KR" altLang="en-US" sz="1400" b="1">
                  <a:solidFill>
                    <a:schemeClr val="accent4">
                      <a:lumMod val="50000"/>
                    </a:schemeClr>
                  </a:solidFill>
                  <a:latin typeface="+mn-ea"/>
                </a:rPr>
                <a:t>도입기</a:t>
              </a:r>
              <a:endParaRPr lang="ko-KR" altLang="en-US" sz="1400" b="1" dirty="0">
                <a:solidFill>
                  <a:schemeClr val="accent4">
                    <a:lumMod val="50000"/>
                  </a:schemeClr>
                </a:solidFill>
                <a:latin typeface="+mn-ea"/>
              </a:endParaRPr>
            </a:p>
          </p:txBody>
        </p:sp>
        <p:sp>
          <p:nvSpPr>
            <p:cNvPr id="144" name="TextBox 143">
              <a:extLst>
                <a:ext uri="{FF2B5EF4-FFF2-40B4-BE49-F238E27FC236}">
                  <a16:creationId xmlns:a16="http://schemas.microsoft.com/office/drawing/2014/main" id="{81C4A5C1-962D-468F-AFD9-93E7BBF7BE74}"/>
                </a:ext>
              </a:extLst>
            </p:cNvPr>
            <p:cNvSpPr txBox="1"/>
            <p:nvPr/>
          </p:nvSpPr>
          <p:spPr>
            <a:xfrm>
              <a:off x="6523300" y="939863"/>
              <a:ext cx="670375" cy="307777"/>
            </a:xfrm>
            <a:prstGeom prst="rect">
              <a:avLst/>
            </a:prstGeom>
            <a:solidFill>
              <a:schemeClr val="bg1"/>
            </a:solidFill>
          </p:spPr>
          <p:txBody>
            <a:bodyPr wrap="none" rtlCol="0">
              <a:spAutoFit/>
            </a:bodyPr>
            <a:lstStyle/>
            <a:p>
              <a:pPr algn="ctr"/>
              <a:r>
                <a:rPr lang="ko-KR" altLang="en-US" sz="1400" b="1">
                  <a:solidFill>
                    <a:schemeClr val="accent4">
                      <a:lumMod val="50000"/>
                    </a:schemeClr>
                  </a:solidFill>
                  <a:latin typeface="+mn-ea"/>
                </a:rPr>
                <a:t>팽창기</a:t>
              </a:r>
              <a:endParaRPr lang="ko-KR" altLang="en-US" sz="1400" b="1" dirty="0">
                <a:solidFill>
                  <a:schemeClr val="accent4">
                    <a:lumMod val="50000"/>
                  </a:schemeClr>
                </a:solidFill>
                <a:latin typeface="+mn-ea"/>
              </a:endParaRPr>
            </a:p>
          </p:txBody>
        </p:sp>
        <p:sp>
          <p:nvSpPr>
            <p:cNvPr id="145" name="TextBox 144">
              <a:extLst>
                <a:ext uri="{FF2B5EF4-FFF2-40B4-BE49-F238E27FC236}">
                  <a16:creationId xmlns:a16="http://schemas.microsoft.com/office/drawing/2014/main" id="{D75B5B1D-E981-40CA-81BB-803319926863}"/>
                </a:ext>
              </a:extLst>
            </p:cNvPr>
            <p:cNvSpPr txBox="1"/>
            <p:nvPr/>
          </p:nvSpPr>
          <p:spPr>
            <a:xfrm>
              <a:off x="7943173" y="939863"/>
              <a:ext cx="670375" cy="307777"/>
            </a:xfrm>
            <a:prstGeom prst="rect">
              <a:avLst/>
            </a:prstGeom>
            <a:solidFill>
              <a:schemeClr val="bg1"/>
            </a:solidFill>
          </p:spPr>
          <p:txBody>
            <a:bodyPr wrap="none" rtlCol="0">
              <a:spAutoFit/>
            </a:bodyPr>
            <a:lstStyle/>
            <a:p>
              <a:pPr algn="ctr"/>
              <a:r>
                <a:rPr lang="ko-KR" altLang="en-US" sz="1400" b="1">
                  <a:solidFill>
                    <a:schemeClr val="accent4">
                      <a:lumMod val="50000"/>
                    </a:schemeClr>
                  </a:solidFill>
                  <a:latin typeface="+mn-ea"/>
                </a:rPr>
                <a:t>성숙기</a:t>
              </a:r>
              <a:endParaRPr lang="ko-KR" altLang="en-US" sz="1400" b="1" dirty="0">
                <a:solidFill>
                  <a:schemeClr val="accent4">
                    <a:lumMod val="50000"/>
                  </a:schemeClr>
                </a:solidFill>
                <a:latin typeface="+mn-ea"/>
              </a:endParaRPr>
            </a:p>
          </p:txBody>
        </p:sp>
        <p:sp>
          <p:nvSpPr>
            <p:cNvPr id="146" name="TextBox 145">
              <a:extLst>
                <a:ext uri="{FF2B5EF4-FFF2-40B4-BE49-F238E27FC236}">
                  <a16:creationId xmlns:a16="http://schemas.microsoft.com/office/drawing/2014/main" id="{443B5DDF-726A-4409-95FA-5798512A7341}"/>
                </a:ext>
              </a:extLst>
            </p:cNvPr>
            <p:cNvSpPr txBox="1"/>
            <p:nvPr/>
          </p:nvSpPr>
          <p:spPr>
            <a:xfrm>
              <a:off x="9334669" y="939863"/>
              <a:ext cx="670375" cy="307777"/>
            </a:xfrm>
            <a:prstGeom prst="rect">
              <a:avLst/>
            </a:prstGeom>
            <a:solidFill>
              <a:schemeClr val="bg1"/>
            </a:solidFill>
          </p:spPr>
          <p:txBody>
            <a:bodyPr wrap="none" rtlCol="0">
              <a:spAutoFit/>
            </a:bodyPr>
            <a:lstStyle/>
            <a:p>
              <a:pPr algn="ctr"/>
              <a:r>
                <a:rPr lang="ko-KR" altLang="en-US" sz="1400" b="1" dirty="0">
                  <a:solidFill>
                    <a:schemeClr val="accent4">
                      <a:lumMod val="50000"/>
                    </a:schemeClr>
                  </a:solidFill>
                  <a:latin typeface="+mn-ea"/>
                </a:rPr>
                <a:t>퇴조기</a:t>
              </a:r>
            </a:p>
          </p:txBody>
        </p:sp>
        <p:sp>
          <p:nvSpPr>
            <p:cNvPr id="147" name="TextBox 146">
              <a:extLst>
                <a:ext uri="{FF2B5EF4-FFF2-40B4-BE49-F238E27FC236}">
                  <a16:creationId xmlns:a16="http://schemas.microsoft.com/office/drawing/2014/main" id="{3D1BC979-C149-4566-8849-96E927B0CF52}"/>
                </a:ext>
              </a:extLst>
            </p:cNvPr>
            <p:cNvSpPr txBox="1"/>
            <p:nvPr/>
          </p:nvSpPr>
          <p:spPr>
            <a:xfrm>
              <a:off x="10353409" y="1400762"/>
              <a:ext cx="1251322" cy="261610"/>
            </a:xfrm>
            <a:prstGeom prst="rect">
              <a:avLst/>
            </a:prstGeom>
            <a:solidFill>
              <a:schemeClr val="accent1">
                <a:lumMod val="50000"/>
              </a:schemeClr>
            </a:solidFill>
          </p:spPr>
          <p:txBody>
            <a:bodyPr wrap="square" rtlCol="0">
              <a:spAutoFit/>
            </a:bodyPr>
            <a:lstStyle/>
            <a:p>
              <a:pPr algn="ctr"/>
              <a:r>
                <a:rPr lang="ko-KR" altLang="en-US" sz="1100">
                  <a:solidFill>
                    <a:schemeClr val="bg1"/>
                  </a:solidFill>
                  <a:latin typeface="+mn-ea"/>
                </a:rPr>
                <a:t>시장의 성장곡선</a:t>
              </a:r>
              <a:endParaRPr lang="ko-KR" altLang="en-US" sz="1100" dirty="0">
                <a:solidFill>
                  <a:schemeClr val="bg1"/>
                </a:solidFill>
                <a:latin typeface="+mn-ea"/>
              </a:endParaRPr>
            </a:p>
          </p:txBody>
        </p:sp>
        <p:sp>
          <p:nvSpPr>
            <p:cNvPr id="148" name="TextBox 147">
              <a:extLst>
                <a:ext uri="{FF2B5EF4-FFF2-40B4-BE49-F238E27FC236}">
                  <a16:creationId xmlns:a16="http://schemas.microsoft.com/office/drawing/2014/main" id="{E870E694-E436-49BF-A4E7-CB4A8304BFCC}"/>
                </a:ext>
              </a:extLst>
            </p:cNvPr>
            <p:cNvSpPr txBox="1"/>
            <p:nvPr/>
          </p:nvSpPr>
          <p:spPr>
            <a:xfrm>
              <a:off x="10315094" y="1715420"/>
              <a:ext cx="1251322" cy="261610"/>
            </a:xfrm>
            <a:prstGeom prst="rect">
              <a:avLst/>
            </a:prstGeom>
            <a:solidFill>
              <a:schemeClr val="accent2">
                <a:lumMod val="50000"/>
              </a:schemeClr>
            </a:solidFill>
          </p:spPr>
          <p:txBody>
            <a:bodyPr wrap="square" rtlCol="0">
              <a:spAutoFit/>
            </a:bodyPr>
            <a:lstStyle/>
            <a:p>
              <a:pPr algn="ctr"/>
              <a:r>
                <a:rPr lang="ko-KR" altLang="en-US" sz="1100" dirty="0">
                  <a:solidFill>
                    <a:schemeClr val="bg1"/>
                  </a:solidFill>
                  <a:latin typeface="+mn-ea"/>
                </a:rPr>
                <a:t>특허출원건수</a:t>
              </a:r>
            </a:p>
          </p:txBody>
        </p:sp>
        <p:sp>
          <p:nvSpPr>
            <p:cNvPr id="150" name="Text Box 5">
              <a:extLst>
                <a:ext uri="{FF2B5EF4-FFF2-40B4-BE49-F238E27FC236}">
                  <a16:creationId xmlns:a16="http://schemas.microsoft.com/office/drawing/2014/main" id="{7A0C1591-EC86-4D05-87A1-058E7C2F4959}"/>
                </a:ext>
              </a:extLst>
            </p:cNvPr>
            <p:cNvSpPr txBox="1">
              <a:spLocks noChangeArrowheads="1"/>
            </p:cNvSpPr>
            <p:nvPr/>
          </p:nvSpPr>
          <p:spPr bwMode="auto">
            <a:xfrm>
              <a:off x="4828074" y="1678549"/>
              <a:ext cx="1220206" cy="41549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a:spAutoFit/>
            </a:bodyPr>
            <a:lstStyle>
              <a:lvl1pPr eaLnBrk="0" hangingPunct="0">
                <a:defRPr kumimoji="1" sz="1200" b="1">
                  <a:solidFill>
                    <a:schemeClr val="bg1"/>
                  </a:solidFill>
                  <a:latin typeface="Arial" pitchFamily="34" charset="0"/>
                  <a:ea typeface="맑은 고딕" pitchFamily="50" charset="-127"/>
                </a:defRPr>
              </a:lvl1pPr>
              <a:lvl2pPr marL="742950" indent="-285750" eaLnBrk="0" hangingPunct="0">
                <a:defRPr kumimoji="1" sz="1200" b="1">
                  <a:solidFill>
                    <a:schemeClr val="bg1"/>
                  </a:solidFill>
                  <a:latin typeface="Arial" pitchFamily="34" charset="0"/>
                  <a:ea typeface="맑은 고딕" pitchFamily="50" charset="-127"/>
                </a:defRPr>
              </a:lvl2pPr>
              <a:lvl3pPr marL="1143000" indent="-228600" eaLnBrk="0" hangingPunct="0">
                <a:defRPr kumimoji="1" sz="1200" b="1">
                  <a:solidFill>
                    <a:schemeClr val="bg1"/>
                  </a:solidFill>
                  <a:latin typeface="Arial" pitchFamily="34" charset="0"/>
                  <a:ea typeface="맑은 고딕" pitchFamily="50" charset="-127"/>
                </a:defRPr>
              </a:lvl3pPr>
              <a:lvl4pPr marL="1600200" indent="-228600" eaLnBrk="0" hangingPunct="0">
                <a:defRPr kumimoji="1" sz="1200" b="1">
                  <a:solidFill>
                    <a:schemeClr val="bg1"/>
                  </a:solidFill>
                  <a:latin typeface="Arial" pitchFamily="34" charset="0"/>
                  <a:ea typeface="맑은 고딕" pitchFamily="50" charset="-127"/>
                </a:defRPr>
              </a:lvl4pPr>
              <a:lvl5pPr marL="2057400" indent="-228600" eaLnBrk="0" hangingPunct="0">
                <a:defRPr kumimoji="1" sz="1200" b="1">
                  <a:solidFill>
                    <a:schemeClr val="bg1"/>
                  </a:solidFill>
                  <a:latin typeface="Arial" pitchFamily="34" charset="0"/>
                  <a:ea typeface="맑은 고딕" pitchFamily="50" charset="-127"/>
                </a:defRPr>
              </a:lvl5pPr>
              <a:lvl6pPr marL="2514600" indent="-228600" algn="ctr" eaLnBrk="0" fontAlgn="base" hangingPunct="0">
                <a:spcBef>
                  <a:spcPct val="50000"/>
                </a:spcBef>
                <a:spcAft>
                  <a:spcPct val="0"/>
                </a:spcAft>
                <a:defRPr kumimoji="1" sz="1200" b="1">
                  <a:solidFill>
                    <a:schemeClr val="bg1"/>
                  </a:solidFill>
                  <a:latin typeface="Arial" pitchFamily="34" charset="0"/>
                  <a:ea typeface="맑은 고딕" pitchFamily="50" charset="-127"/>
                </a:defRPr>
              </a:lvl6pPr>
              <a:lvl7pPr marL="2971800" indent="-228600" algn="ctr" eaLnBrk="0" fontAlgn="base" hangingPunct="0">
                <a:spcBef>
                  <a:spcPct val="50000"/>
                </a:spcBef>
                <a:spcAft>
                  <a:spcPct val="0"/>
                </a:spcAft>
                <a:defRPr kumimoji="1" sz="1200" b="1">
                  <a:solidFill>
                    <a:schemeClr val="bg1"/>
                  </a:solidFill>
                  <a:latin typeface="Arial" pitchFamily="34" charset="0"/>
                  <a:ea typeface="맑은 고딕" pitchFamily="50" charset="-127"/>
                </a:defRPr>
              </a:lvl7pPr>
              <a:lvl8pPr marL="3429000" indent="-228600" algn="ctr" eaLnBrk="0" fontAlgn="base" hangingPunct="0">
                <a:spcBef>
                  <a:spcPct val="50000"/>
                </a:spcBef>
                <a:spcAft>
                  <a:spcPct val="0"/>
                </a:spcAft>
                <a:defRPr kumimoji="1" sz="1200" b="1">
                  <a:solidFill>
                    <a:schemeClr val="bg1"/>
                  </a:solidFill>
                  <a:latin typeface="Arial" pitchFamily="34" charset="0"/>
                  <a:ea typeface="맑은 고딕" pitchFamily="50" charset="-127"/>
                </a:defRPr>
              </a:lvl8pPr>
              <a:lvl9pPr marL="3886200" indent="-228600" algn="ctr" eaLnBrk="0" fontAlgn="base" hangingPunct="0">
                <a:spcBef>
                  <a:spcPct val="50000"/>
                </a:spcBef>
                <a:spcAft>
                  <a:spcPct val="0"/>
                </a:spcAft>
                <a:defRPr kumimoji="1" sz="1200" b="1">
                  <a:solidFill>
                    <a:schemeClr val="bg1"/>
                  </a:solidFill>
                  <a:latin typeface="Arial" pitchFamily="34" charset="0"/>
                  <a:ea typeface="맑은 고딕" pitchFamily="50" charset="-127"/>
                </a:defRPr>
              </a:lvl9pPr>
            </a:lstStyle>
            <a:p>
              <a:pPr algn="ctr" eaLnBrk="1" hangingPunct="1"/>
              <a:r>
                <a:rPr lang="en-US" altLang="ko-KR" sz="1050" b="0" dirty="0">
                  <a:solidFill>
                    <a:schemeClr val="tx1"/>
                  </a:solidFill>
                  <a:latin typeface="+mn-ea"/>
                  <a:ea typeface="+mn-ea"/>
                </a:rPr>
                <a:t>NICHIA </a:t>
              </a:r>
              <a:r>
                <a:rPr lang="ko-KR" altLang="en-US" sz="1050" b="0" dirty="0">
                  <a:solidFill>
                    <a:schemeClr val="tx1"/>
                  </a:solidFill>
                  <a:latin typeface="+mn-ea"/>
                  <a:ea typeface="+mn-ea"/>
                </a:rPr>
                <a:t>화학의</a:t>
              </a:r>
            </a:p>
            <a:p>
              <a:pPr algn="ctr" eaLnBrk="1" hangingPunct="1"/>
              <a:r>
                <a:rPr lang="ko-KR" altLang="en-US" sz="1050" b="0" dirty="0">
                  <a:solidFill>
                    <a:schemeClr val="tx1"/>
                  </a:solidFill>
                  <a:latin typeface="+mn-ea"/>
                  <a:ea typeface="+mn-ea"/>
                </a:rPr>
                <a:t>청색 </a:t>
              </a:r>
              <a:r>
                <a:rPr lang="en-US" altLang="ko-KR" sz="1050" b="0" dirty="0">
                  <a:solidFill>
                    <a:schemeClr val="tx1"/>
                  </a:solidFill>
                  <a:latin typeface="+mn-ea"/>
                  <a:ea typeface="+mn-ea"/>
                </a:rPr>
                <a:t>LED </a:t>
              </a:r>
              <a:r>
                <a:rPr lang="ko-KR" altLang="en-US" sz="1050" b="0" dirty="0">
                  <a:solidFill>
                    <a:schemeClr val="tx1"/>
                  </a:solidFill>
                  <a:latin typeface="+mn-ea"/>
                  <a:ea typeface="+mn-ea"/>
                </a:rPr>
                <a:t>특허출원</a:t>
              </a:r>
            </a:p>
          </p:txBody>
        </p:sp>
        <p:cxnSp>
          <p:nvCxnSpPr>
            <p:cNvPr id="151" name="직선 화살표 연결선 150">
              <a:extLst>
                <a:ext uri="{FF2B5EF4-FFF2-40B4-BE49-F238E27FC236}">
                  <a16:creationId xmlns:a16="http://schemas.microsoft.com/office/drawing/2014/main" id="{AF43A15B-2581-4455-880D-10AFEE3F374B}"/>
                </a:ext>
              </a:extLst>
            </p:cNvPr>
            <p:cNvCxnSpPr>
              <a:stCxn id="150" idx="2"/>
            </p:cNvCxnSpPr>
            <p:nvPr/>
          </p:nvCxnSpPr>
          <p:spPr>
            <a:xfrm>
              <a:off x="5438178" y="2094047"/>
              <a:ext cx="1" cy="720172"/>
            </a:xfrm>
            <a:prstGeom prst="straightConnector1">
              <a:avLst/>
            </a:prstGeom>
            <a:ln>
              <a:solidFill>
                <a:srgbClr val="FF0000"/>
              </a:solidFill>
              <a:tailEnd type="arrow"/>
            </a:ln>
          </p:spPr>
          <p:style>
            <a:lnRef idx="1">
              <a:schemeClr val="accent1"/>
            </a:lnRef>
            <a:fillRef idx="0">
              <a:schemeClr val="accent1"/>
            </a:fillRef>
            <a:effectRef idx="0">
              <a:schemeClr val="accent1"/>
            </a:effectRef>
            <a:fontRef idx="minor">
              <a:schemeClr val="tx1"/>
            </a:fontRef>
          </p:style>
        </p:cxnSp>
      </p:grpSp>
      <p:sp>
        <p:nvSpPr>
          <p:cNvPr id="152" name="왼쪽/오른쪽 화살표 79">
            <a:extLst>
              <a:ext uri="{FF2B5EF4-FFF2-40B4-BE49-F238E27FC236}">
                <a16:creationId xmlns:a16="http://schemas.microsoft.com/office/drawing/2014/main" id="{C06ED323-FDD9-4608-B232-6066C67D8243}"/>
              </a:ext>
            </a:extLst>
          </p:cNvPr>
          <p:cNvSpPr/>
          <p:nvPr/>
        </p:nvSpPr>
        <p:spPr>
          <a:xfrm>
            <a:off x="7252990" y="2484027"/>
            <a:ext cx="2743231" cy="691991"/>
          </a:xfrm>
          <a:prstGeom prst="leftRightArrow">
            <a:avLst>
              <a:gd name="adj1" fmla="val 70784"/>
              <a:gd name="adj2" fmla="val 33835"/>
            </a:avLst>
          </a:prstGeom>
        </p:spPr>
        <p:style>
          <a:lnRef idx="2">
            <a:schemeClr val="accent4">
              <a:shade val="50000"/>
            </a:schemeClr>
          </a:lnRef>
          <a:fillRef idx="1">
            <a:schemeClr val="accent4"/>
          </a:fillRef>
          <a:effectRef idx="0">
            <a:schemeClr val="accent4"/>
          </a:effectRef>
          <a:fontRef idx="minor">
            <a:schemeClr val="lt1"/>
          </a:fontRef>
        </p:style>
        <p:txBody>
          <a:bodyPr lIns="36000" rIns="36000" rtlCol="0" anchor="ctr"/>
          <a:lstStyle/>
          <a:p>
            <a:pPr algn="ctr"/>
            <a:r>
              <a:rPr lang="ko-KR" altLang="en-US" sz="1200" dirty="0"/>
              <a:t>후행특허</a:t>
            </a:r>
          </a:p>
        </p:txBody>
      </p:sp>
      <p:sp>
        <p:nvSpPr>
          <p:cNvPr id="153" name="TextBox 152">
            <a:extLst>
              <a:ext uri="{FF2B5EF4-FFF2-40B4-BE49-F238E27FC236}">
                <a16:creationId xmlns:a16="http://schemas.microsoft.com/office/drawing/2014/main" id="{D18AEDE3-FCA8-4811-A309-5B092D289C1B}"/>
              </a:ext>
            </a:extLst>
          </p:cNvPr>
          <p:cNvSpPr txBox="1"/>
          <p:nvPr/>
        </p:nvSpPr>
        <p:spPr>
          <a:xfrm>
            <a:off x="4341612" y="2477386"/>
            <a:ext cx="853117" cy="400110"/>
          </a:xfrm>
          <a:prstGeom prst="rect">
            <a:avLst/>
          </a:prstGeom>
          <a:noFill/>
        </p:spPr>
        <p:txBody>
          <a:bodyPr wrap="square" rtlCol="0">
            <a:spAutoFit/>
          </a:bodyPr>
          <a:lstStyle/>
          <a:p>
            <a:pPr algn="ctr"/>
            <a:r>
              <a:rPr lang="ko-KR" altLang="en-US" sz="1000" dirty="0">
                <a:solidFill>
                  <a:schemeClr val="accent3">
                    <a:lumMod val="20000"/>
                    <a:lumOff val="80000"/>
                  </a:schemeClr>
                </a:solidFill>
                <a:latin typeface="+mn-ea"/>
              </a:rPr>
              <a:t>사상</a:t>
            </a:r>
            <a:endParaRPr lang="en-US" altLang="ko-KR" sz="1000" dirty="0">
              <a:solidFill>
                <a:schemeClr val="accent3">
                  <a:lumMod val="20000"/>
                  <a:lumOff val="80000"/>
                </a:schemeClr>
              </a:solidFill>
              <a:latin typeface="+mn-ea"/>
            </a:endParaRPr>
          </a:p>
          <a:p>
            <a:pPr algn="ctr"/>
            <a:r>
              <a:rPr lang="en-US" altLang="ko-KR" sz="1000" dirty="0">
                <a:solidFill>
                  <a:schemeClr val="accent3">
                    <a:lumMod val="20000"/>
                    <a:lumOff val="80000"/>
                  </a:schemeClr>
                </a:solidFill>
                <a:latin typeface="+mn-ea"/>
              </a:rPr>
              <a:t>(</a:t>
            </a:r>
            <a:r>
              <a:rPr lang="ko-KR" altLang="en-US" sz="1000" dirty="0">
                <a:solidFill>
                  <a:schemeClr val="accent3">
                    <a:lumMod val="20000"/>
                    <a:lumOff val="80000"/>
                  </a:schemeClr>
                </a:solidFill>
                <a:latin typeface="+mn-ea"/>
              </a:rPr>
              <a:t>착상</a:t>
            </a:r>
            <a:r>
              <a:rPr lang="en-US" altLang="ko-KR" sz="1000" dirty="0">
                <a:solidFill>
                  <a:schemeClr val="accent3">
                    <a:lumMod val="20000"/>
                    <a:lumOff val="80000"/>
                  </a:schemeClr>
                </a:solidFill>
                <a:latin typeface="+mn-ea"/>
              </a:rPr>
              <a:t>)</a:t>
            </a:r>
            <a:endParaRPr lang="ko-KR" altLang="en-US" sz="1000" dirty="0">
              <a:solidFill>
                <a:schemeClr val="accent3">
                  <a:lumMod val="20000"/>
                  <a:lumOff val="80000"/>
                </a:schemeClr>
              </a:solidFill>
              <a:latin typeface="+mn-ea"/>
            </a:endParaRPr>
          </a:p>
        </p:txBody>
      </p:sp>
      <p:sp>
        <p:nvSpPr>
          <p:cNvPr id="154" name="직사각형 153">
            <a:extLst>
              <a:ext uri="{FF2B5EF4-FFF2-40B4-BE49-F238E27FC236}">
                <a16:creationId xmlns:a16="http://schemas.microsoft.com/office/drawing/2014/main" id="{B089C261-E0EE-45A9-B3FA-84868011A4AE}"/>
              </a:ext>
            </a:extLst>
          </p:cNvPr>
          <p:cNvSpPr/>
          <p:nvPr/>
        </p:nvSpPr>
        <p:spPr bwMode="auto">
          <a:xfrm>
            <a:off x="4341612" y="2512041"/>
            <a:ext cx="777910" cy="663977"/>
          </a:xfrm>
          <a:prstGeom prst="rect">
            <a:avLst/>
          </a:prstGeom>
          <a:ln>
            <a:noFill/>
            <a:headEnd type="none" w="med" len="med"/>
            <a:tailEnd type="none"/>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ko-KR" altLang="en-US" sz="1400" dirty="0"/>
              <a:t>착상</a:t>
            </a:r>
            <a:endParaRPr lang="en-US" altLang="ko-KR" sz="1400" dirty="0"/>
          </a:p>
          <a:p>
            <a:pPr algn="ctr"/>
            <a:r>
              <a:rPr lang="en-US" altLang="ko-KR" sz="1400" dirty="0"/>
              <a:t>(</a:t>
            </a:r>
            <a:r>
              <a:rPr lang="ko-KR" altLang="en-US" sz="1400" dirty="0"/>
              <a:t>사상</a:t>
            </a:r>
            <a:r>
              <a:rPr lang="en-US" altLang="ko-KR" sz="1400" dirty="0"/>
              <a:t>)</a:t>
            </a:r>
            <a:endParaRPr lang="ko-KR" altLang="en-US" sz="1400" dirty="0"/>
          </a:p>
        </p:txBody>
      </p:sp>
      <p:sp>
        <p:nvSpPr>
          <p:cNvPr id="157" name="직사각형 156">
            <a:extLst>
              <a:ext uri="{FF2B5EF4-FFF2-40B4-BE49-F238E27FC236}">
                <a16:creationId xmlns:a16="http://schemas.microsoft.com/office/drawing/2014/main" id="{DFA80068-0ED8-4DC8-9EA1-8A135A3D5752}"/>
              </a:ext>
            </a:extLst>
          </p:cNvPr>
          <p:cNvSpPr/>
          <p:nvPr/>
        </p:nvSpPr>
        <p:spPr>
          <a:xfrm>
            <a:off x="5146171" y="3290822"/>
            <a:ext cx="424407" cy="330915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8" name="직사각형 157">
            <a:extLst>
              <a:ext uri="{FF2B5EF4-FFF2-40B4-BE49-F238E27FC236}">
                <a16:creationId xmlns:a16="http://schemas.microsoft.com/office/drawing/2014/main" id="{78B56254-1C73-4281-8C51-4FD040C7C8F4}"/>
              </a:ext>
            </a:extLst>
          </p:cNvPr>
          <p:cNvSpPr/>
          <p:nvPr/>
        </p:nvSpPr>
        <p:spPr>
          <a:xfrm>
            <a:off x="5687115" y="3290822"/>
            <a:ext cx="424407" cy="3309158"/>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9" name="직사각형 158">
            <a:extLst>
              <a:ext uri="{FF2B5EF4-FFF2-40B4-BE49-F238E27FC236}">
                <a16:creationId xmlns:a16="http://schemas.microsoft.com/office/drawing/2014/main" id="{A9EC1715-8BA9-4FA7-85F7-8B459C010BE9}"/>
              </a:ext>
            </a:extLst>
          </p:cNvPr>
          <p:cNvSpPr/>
          <p:nvPr/>
        </p:nvSpPr>
        <p:spPr>
          <a:xfrm>
            <a:off x="6247548" y="3290822"/>
            <a:ext cx="424407" cy="330915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0" name="타원 159">
            <a:extLst>
              <a:ext uri="{FF2B5EF4-FFF2-40B4-BE49-F238E27FC236}">
                <a16:creationId xmlns:a16="http://schemas.microsoft.com/office/drawing/2014/main" id="{3979865C-AA59-4EDB-BADB-E97E577B5C04}"/>
              </a:ext>
            </a:extLst>
          </p:cNvPr>
          <p:cNvSpPr/>
          <p:nvPr/>
        </p:nvSpPr>
        <p:spPr>
          <a:xfrm>
            <a:off x="5155315" y="4848101"/>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61" name="타원 160">
            <a:extLst>
              <a:ext uri="{FF2B5EF4-FFF2-40B4-BE49-F238E27FC236}">
                <a16:creationId xmlns:a16="http://schemas.microsoft.com/office/drawing/2014/main" id="{F528377E-727E-4D02-A788-A1D911DFA6E7}"/>
              </a:ext>
            </a:extLst>
          </p:cNvPr>
          <p:cNvSpPr/>
          <p:nvPr/>
        </p:nvSpPr>
        <p:spPr>
          <a:xfrm>
            <a:off x="5709731" y="4455341"/>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62" name="타원 161">
            <a:extLst>
              <a:ext uri="{FF2B5EF4-FFF2-40B4-BE49-F238E27FC236}">
                <a16:creationId xmlns:a16="http://schemas.microsoft.com/office/drawing/2014/main" id="{90857905-C196-4B89-A442-8700FAE1EEEC}"/>
              </a:ext>
            </a:extLst>
          </p:cNvPr>
          <p:cNvSpPr/>
          <p:nvPr/>
        </p:nvSpPr>
        <p:spPr>
          <a:xfrm>
            <a:off x="5709731" y="5282630"/>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63" name="타원 162">
            <a:extLst>
              <a:ext uri="{FF2B5EF4-FFF2-40B4-BE49-F238E27FC236}">
                <a16:creationId xmlns:a16="http://schemas.microsoft.com/office/drawing/2014/main" id="{EF0B6384-5F73-4CFE-AAC0-D0EDE91E12FA}"/>
              </a:ext>
            </a:extLst>
          </p:cNvPr>
          <p:cNvSpPr/>
          <p:nvPr/>
        </p:nvSpPr>
        <p:spPr>
          <a:xfrm>
            <a:off x="6270164" y="4159880"/>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64" name="타원 163">
            <a:extLst>
              <a:ext uri="{FF2B5EF4-FFF2-40B4-BE49-F238E27FC236}">
                <a16:creationId xmlns:a16="http://schemas.microsoft.com/office/drawing/2014/main" id="{1947F6DD-B169-4341-8F86-6D3F43F0519F}"/>
              </a:ext>
            </a:extLst>
          </p:cNvPr>
          <p:cNvSpPr/>
          <p:nvPr/>
        </p:nvSpPr>
        <p:spPr>
          <a:xfrm>
            <a:off x="6270164" y="5261746"/>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65" name="타원 164">
            <a:extLst>
              <a:ext uri="{FF2B5EF4-FFF2-40B4-BE49-F238E27FC236}">
                <a16:creationId xmlns:a16="http://schemas.microsoft.com/office/drawing/2014/main" id="{997A5662-A618-46DF-ACB9-30DF37741406}"/>
              </a:ext>
            </a:extLst>
          </p:cNvPr>
          <p:cNvSpPr/>
          <p:nvPr/>
        </p:nvSpPr>
        <p:spPr>
          <a:xfrm>
            <a:off x="6270164" y="4656819"/>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66" name="직사각형 165">
            <a:extLst>
              <a:ext uri="{FF2B5EF4-FFF2-40B4-BE49-F238E27FC236}">
                <a16:creationId xmlns:a16="http://schemas.microsoft.com/office/drawing/2014/main" id="{A5D2985D-101D-4D91-914E-E6B6228547BD}"/>
              </a:ext>
            </a:extLst>
          </p:cNvPr>
          <p:cNvSpPr/>
          <p:nvPr/>
        </p:nvSpPr>
        <p:spPr>
          <a:xfrm>
            <a:off x="6762737" y="3290822"/>
            <a:ext cx="424407" cy="330915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7" name="직사각형 166">
            <a:extLst>
              <a:ext uri="{FF2B5EF4-FFF2-40B4-BE49-F238E27FC236}">
                <a16:creationId xmlns:a16="http://schemas.microsoft.com/office/drawing/2014/main" id="{C0EA8867-55A6-4E87-A2D1-8AED1004C4CE}"/>
              </a:ext>
            </a:extLst>
          </p:cNvPr>
          <p:cNvSpPr/>
          <p:nvPr/>
        </p:nvSpPr>
        <p:spPr>
          <a:xfrm>
            <a:off x="7303682" y="3290822"/>
            <a:ext cx="424407" cy="330915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8" name="직사각형 167">
            <a:extLst>
              <a:ext uri="{FF2B5EF4-FFF2-40B4-BE49-F238E27FC236}">
                <a16:creationId xmlns:a16="http://schemas.microsoft.com/office/drawing/2014/main" id="{E64012E2-B939-4690-80C9-A3E9DCEE3863}"/>
              </a:ext>
            </a:extLst>
          </p:cNvPr>
          <p:cNvSpPr/>
          <p:nvPr/>
        </p:nvSpPr>
        <p:spPr>
          <a:xfrm>
            <a:off x="7864115" y="3290822"/>
            <a:ext cx="424407" cy="330915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9" name="타원 168">
            <a:extLst>
              <a:ext uri="{FF2B5EF4-FFF2-40B4-BE49-F238E27FC236}">
                <a16:creationId xmlns:a16="http://schemas.microsoft.com/office/drawing/2014/main" id="{A88D5CD6-6AC1-4093-A0CF-9AACBF92F07B}"/>
              </a:ext>
            </a:extLst>
          </p:cNvPr>
          <p:cNvSpPr/>
          <p:nvPr/>
        </p:nvSpPr>
        <p:spPr>
          <a:xfrm>
            <a:off x="6785354" y="4337157"/>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dirty="0">
              <a:solidFill>
                <a:schemeClr val="accent2">
                  <a:lumMod val="50000"/>
                </a:schemeClr>
              </a:solidFill>
            </a:endParaRPr>
          </a:p>
        </p:txBody>
      </p:sp>
      <p:sp>
        <p:nvSpPr>
          <p:cNvPr id="170" name="타원 169">
            <a:extLst>
              <a:ext uri="{FF2B5EF4-FFF2-40B4-BE49-F238E27FC236}">
                <a16:creationId xmlns:a16="http://schemas.microsoft.com/office/drawing/2014/main" id="{90AB3B9B-134B-4D91-A584-1C35BB84E521}"/>
              </a:ext>
            </a:extLst>
          </p:cNvPr>
          <p:cNvSpPr/>
          <p:nvPr/>
        </p:nvSpPr>
        <p:spPr>
          <a:xfrm>
            <a:off x="6785354" y="5261746"/>
            <a:ext cx="379175" cy="33366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ko-KR" dirty="0">
                <a:solidFill>
                  <a:schemeClr val="bg1"/>
                </a:solidFill>
              </a:rPr>
              <a:t>4</a:t>
            </a:r>
            <a:endParaRPr lang="ko-KR" altLang="en-US" dirty="0">
              <a:solidFill>
                <a:schemeClr val="bg1"/>
              </a:solidFill>
            </a:endParaRPr>
          </a:p>
        </p:txBody>
      </p:sp>
      <p:sp>
        <p:nvSpPr>
          <p:cNvPr id="171" name="타원 170">
            <a:extLst>
              <a:ext uri="{FF2B5EF4-FFF2-40B4-BE49-F238E27FC236}">
                <a16:creationId xmlns:a16="http://schemas.microsoft.com/office/drawing/2014/main" id="{137C5317-F3DF-41D0-B30D-71F39930FAC2}"/>
              </a:ext>
            </a:extLst>
          </p:cNvPr>
          <p:cNvSpPr/>
          <p:nvPr/>
        </p:nvSpPr>
        <p:spPr>
          <a:xfrm>
            <a:off x="6785354" y="5734483"/>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72" name="타원 171">
            <a:extLst>
              <a:ext uri="{FF2B5EF4-FFF2-40B4-BE49-F238E27FC236}">
                <a16:creationId xmlns:a16="http://schemas.microsoft.com/office/drawing/2014/main" id="{6C73F458-0EED-495E-A577-B51A81D2AD07}"/>
              </a:ext>
            </a:extLst>
          </p:cNvPr>
          <p:cNvSpPr/>
          <p:nvPr/>
        </p:nvSpPr>
        <p:spPr>
          <a:xfrm>
            <a:off x="6785354" y="3902628"/>
            <a:ext cx="379175" cy="33366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ko-KR" dirty="0"/>
              <a:t>3</a:t>
            </a:r>
            <a:endParaRPr lang="ko-KR" altLang="en-US" dirty="0"/>
          </a:p>
        </p:txBody>
      </p:sp>
      <p:sp>
        <p:nvSpPr>
          <p:cNvPr id="173" name="직사각형 172">
            <a:extLst>
              <a:ext uri="{FF2B5EF4-FFF2-40B4-BE49-F238E27FC236}">
                <a16:creationId xmlns:a16="http://schemas.microsoft.com/office/drawing/2014/main" id="{05C56FE6-6DE6-4280-9D5A-D20AC5E330A0}"/>
              </a:ext>
            </a:extLst>
          </p:cNvPr>
          <p:cNvSpPr/>
          <p:nvPr/>
        </p:nvSpPr>
        <p:spPr>
          <a:xfrm>
            <a:off x="7307555" y="3290822"/>
            <a:ext cx="424407" cy="3309158"/>
          </a:xfrm>
          <a:prstGeom prst="rect">
            <a:avLst/>
          </a:prstGeom>
          <a:solidFill>
            <a:schemeClr val="accent5">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4" name="타원 173">
            <a:extLst>
              <a:ext uri="{FF2B5EF4-FFF2-40B4-BE49-F238E27FC236}">
                <a16:creationId xmlns:a16="http://schemas.microsoft.com/office/drawing/2014/main" id="{959C3E57-DDD5-48BD-9AA4-1E8BE6C71684}"/>
              </a:ext>
            </a:extLst>
          </p:cNvPr>
          <p:cNvSpPr/>
          <p:nvPr/>
        </p:nvSpPr>
        <p:spPr>
          <a:xfrm>
            <a:off x="7330171" y="4337157"/>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75" name="타원 174">
            <a:extLst>
              <a:ext uri="{FF2B5EF4-FFF2-40B4-BE49-F238E27FC236}">
                <a16:creationId xmlns:a16="http://schemas.microsoft.com/office/drawing/2014/main" id="{35339881-F2FB-4813-B1EC-6F1CA784FB4F}"/>
              </a:ext>
            </a:extLst>
          </p:cNvPr>
          <p:cNvSpPr/>
          <p:nvPr/>
        </p:nvSpPr>
        <p:spPr>
          <a:xfrm>
            <a:off x="7330171" y="5025378"/>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76" name="타원 175">
            <a:extLst>
              <a:ext uri="{FF2B5EF4-FFF2-40B4-BE49-F238E27FC236}">
                <a16:creationId xmlns:a16="http://schemas.microsoft.com/office/drawing/2014/main" id="{ADF85F70-C0D1-4A13-AF00-ADA38164019D}"/>
              </a:ext>
            </a:extLst>
          </p:cNvPr>
          <p:cNvSpPr/>
          <p:nvPr/>
        </p:nvSpPr>
        <p:spPr>
          <a:xfrm>
            <a:off x="7330171" y="5498114"/>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77" name="타원 176">
            <a:extLst>
              <a:ext uri="{FF2B5EF4-FFF2-40B4-BE49-F238E27FC236}">
                <a16:creationId xmlns:a16="http://schemas.microsoft.com/office/drawing/2014/main" id="{B209CA35-6CA6-4396-98F0-C2129259AC74}"/>
              </a:ext>
            </a:extLst>
          </p:cNvPr>
          <p:cNvSpPr/>
          <p:nvPr/>
        </p:nvSpPr>
        <p:spPr>
          <a:xfrm>
            <a:off x="7330171" y="3902628"/>
            <a:ext cx="379175" cy="333668"/>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dirty="0">
              <a:solidFill>
                <a:schemeClr val="accent2">
                  <a:lumMod val="50000"/>
                </a:schemeClr>
              </a:solidFill>
            </a:endParaRPr>
          </a:p>
        </p:txBody>
      </p:sp>
      <p:sp>
        <p:nvSpPr>
          <p:cNvPr id="178" name="타원 177">
            <a:extLst>
              <a:ext uri="{FF2B5EF4-FFF2-40B4-BE49-F238E27FC236}">
                <a16:creationId xmlns:a16="http://schemas.microsoft.com/office/drawing/2014/main" id="{98884E21-3181-4E49-B040-5E7B72FEF278}"/>
              </a:ext>
            </a:extLst>
          </p:cNvPr>
          <p:cNvSpPr/>
          <p:nvPr/>
        </p:nvSpPr>
        <p:spPr>
          <a:xfrm>
            <a:off x="7330171" y="5970851"/>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79" name="타원 178">
            <a:extLst>
              <a:ext uri="{FF2B5EF4-FFF2-40B4-BE49-F238E27FC236}">
                <a16:creationId xmlns:a16="http://schemas.microsoft.com/office/drawing/2014/main" id="{D1F7019B-5E93-4EEC-AF59-228B2FFDCE9C}"/>
              </a:ext>
            </a:extLst>
          </p:cNvPr>
          <p:cNvSpPr/>
          <p:nvPr/>
        </p:nvSpPr>
        <p:spPr>
          <a:xfrm>
            <a:off x="7330171" y="3492180"/>
            <a:ext cx="379175" cy="33366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ko-KR" dirty="0"/>
              <a:t>2</a:t>
            </a:r>
            <a:endParaRPr lang="ko-KR" altLang="en-US" dirty="0"/>
          </a:p>
        </p:txBody>
      </p:sp>
      <p:sp>
        <p:nvSpPr>
          <p:cNvPr id="180" name="타원 179">
            <a:extLst>
              <a:ext uri="{FF2B5EF4-FFF2-40B4-BE49-F238E27FC236}">
                <a16:creationId xmlns:a16="http://schemas.microsoft.com/office/drawing/2014/main" id="{DBDB0B8A-489A-44AE-A3F6-1D4D8367A98D}"/>
              </a:ext>
            </a:extLst>
          </p:cNvPr>
          <p:cNvSpPr/>
          <p:nvPr/>
        </p:nvSpPr>
        <p:spPr>
          <a:xfrm>
            <a:off x="7882700" y="4573525"/>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81" name="타원 180">
            <a:extLst>
              <a:ext uri="{FF2B5EF4-FFF2-40B4-BE49-F238E27FC236}">
                <a16:creationId xmlns:a16="http://schemas.microsoft.com/office/drawing/2014/main" id="{CCD3BEAC-0E73-461B-AF2D-829D5DEA0D69}"/>
              </a:ext>
            </a:extLst>
          </p:cNvPr>
          <p:cNvSpPr/>
          <p:nvPr/>
        </p:nvSpPr>
        <p:spPr>
          <a:xfrm>
            <a:off x="7882700" y="5439022"/>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82" name="타원 181">
            <a:extLst>
              <a:ext uri="{FF2B5EF4-FFF2-40B4-BE49-F238E27FC236}">
                <a16:creationId xmlns:a16="http://schemas.microsoft.com/office/drawing/2014/main" id="{9FC2A105-43F1-46F2-A8AF-AEB14AF55F5D}"/>
              </a:ext>
            </a:extLst>
          </p:cNvPr>
          <p:cNvSpPr/>
          <p:nvPr/>
        </p:nvSpPr>
        <p:spPr>
          <a:xfrm>
            <a:off x="7882700" y="5831783"/>
            <a:ext cx="379175" cy="33366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ko-KR" altLang="en-US"/>
          </a:p>
        </p:txBody>
      </p:sp>
      <p:sp>
        <p:nvSpPr>
          <p:cNvPr id="183" name="타원 182">
            <a:extLst>
              <a:ext uri="{FF2B5EF4-FFF2-40B4-BE49-F238E27FC236}">
                <a16:creationId xmlns:a16="http://schemas.microsoft.com/office/drawing/2014/main" id="{689ABE04-CA4B-4BEB-985D-5113B9956A62}"/>
              </a:ext>
            </a:extLst>
          </p:cNvPr>
          <p:cNvSpPr/>
          <p:nvPr/>
        </p:nvSpPr>
        <p:spPr>
          <a:xfrm>
            <a:off x="7882700" y="4138996"/>
            <a:ext cx="379175" cy="33366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ko-KR" altLang="en-US" dirty="0">
              <a:solidFill>
                <a:schemeClr val="accent2">
                  <a:lumMod val="50000"/>
                </a:schemeClr>
              </a:solidFill>
            </a:endParaRPr>
          </a:p>
        </p:txBody>
      </p:sp>
      <p:sp>
        <p:nvSpPr>
          <p:cNvPr id="184" name="타원 183">
            <a:extLst>
              <a:ext uri="{FF2B5EF4-FFF2-40B4-BE49-F238E27FC236}">
                <a16:creationId xmlns:a16="http://schemas.microsoft.com/office/drawing/2014/main" id="{41ED5D4B-C57A-4A44-9E0B-4D439570B9A6}"/>
              </a:ext>
            </a:extLst>
          </p:cNvPr>
          <p:cNvSpPr/>
          <p:nvPr/>
        </p:nvSpPr>
        <p:spPr>
          <a:xfrm>
            <a:off x="7882700" y="6207220"/>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85" name="타원 184">
            <a:extLst>
              <a:ext uri="{FF2B5EF4-FFF2-40B4-BE49-F238E27FC236}">
                <a16:creationId xmlns:a16="http://schemas.microsoft.com/office/drawing/2014/main" id="{FB9460DB-B32C-4296-8909-259C8471B53B}"/>
              </a:ext>
            </a:extLst>
          </p:cNvPr>
          <p:cNvSpPr/>
          <p:nvPr/>
        </p:nvSpPr>
        <p:spPr>
          <a:xfrm>
            <a:off x="7882700" y="3728549"/>
            <a:ext cx="379175" cy="333668"/>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altLang="ko-KR" dirty="0"/>
              <a:t>1</a:t>
            </a:r>
            <a:endParaRPr lang="ko-KR" altLang="en-US" dirty="0"/>
          </a:p>
        </p:txBody>
      </p:sp>
      <p:sp>
        <p:nvSpPr>
          <p:cNvPr id="186" name="타원 185">
            <a:extLst>
              <a:ext uri="{FF2B5EF4-FFF2-40B4-BE49-F238E27FC236}">
                <a16:creationId xmlns:a16="http://schemas.microsoft.com/office/drawing/2014/main" id="{BEB757B0-0F87-4427-8FC9-FC3E56A09145}"/>
              </a:ext>
            </a:extLst>
          </p:cNvPr>
          <p:cNvSpPr/>
          <p:nvPr/>
        </p:nvSpPr>
        <p:spPr>
          <a:xfrm>
            <a:off x="7882700" y="3325346"/>
            <a:ext cx="379175" cy="333668"/>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ko-KR" altLang="en-US"/>
          </a:p>
        </p:txBody>
      </p:sp>
      <p:sp>
        <p:nvSpPr>
          <p:cNvPr id="187" name="타원 186">
            <a:extLst>
              <a:ext uri="{FF2B5EF4-FFF2-40B4-BE49-F238E27FC236}">
                <a16:creationId xmlns:a16="http://schemas.microsoft.com/office/drawing/2014/main" id="{D0F72F7E-041E-4355-9CDD-6939B5A8611D}"/>
              </a:ext>
            </a:extLst>
          </p:cNvPr>
          <p:cNvSpPr/>
          <p:nvPr/>
        </p:nvSpPr>
        <p:spPr>
          <a:xfrm>
            <a:off x="7882700" y="5028736"/>
            <a:ext cx="379175" cy="333668"/>
          </a:xfrm>
          <a:prstGeom prst="ellipse">
            <a:avLst/>
          </a:prstGeom>
          <a:noFill/>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ko-KR" altLang="en-US"/>
          </a:p>
        </p:txBody>
      </p:sp>
      <p:sp>
        <p:nvSpPr>
          <p:cNvPr id="188" name="타원 187">
            <a:extLst>
              <a:ext uri="{FF2B5EF4-FFF2-40B4-BE49-F238E27FC236}">
                <a16:creationId xmlns:a16="http://schemas.microsoft.com/office/drawing/2014/main" id="{E6C3CA0C-71A3-4DDA-B1E0-67E3EF9DB14A}"/>
              </a:ext>
            </a:extLst>
          </p:cNvPr>
          <p:cNvSpPr/>
          <p:nvPr/>
        </p:nvSpPr>
        <p:spPr>
          <a:xfrm flipH="1">
            <a:off x="8621764" y="4853068"/>
            <a:ext cx="104925" cy="9233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189" name="타원 188">
            <a:extLst>
              <a:ext uri="{FF2B5EF4-FFF2-40B4-BE49-F238E27FC236}">
                <a16:creationId xmlns:a16="http://schemas.microsoft.com/office/drawing/2014/main" id="{5F31C18C-015B-49AD-ADAE-E5062ED0C0A2}"/>
              </a:ext>
            </a:extLst>
          </p:cNvPr>
          <p:cNvSpPr/>
          <p:nvPr/>
        </p:nvSpPr>
        <p:spPr>
          <a:xfrm flipH="1">
            <a:off x="8931614" y="4853068"/>
            <a:ext cx="104925" cy="9233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ko-KR" altLang="en-US"/>
          </a:p>
        </p:txBody>
      </p:sp>
      <p:sp>
        <p:nvSpPr>
          <p:cNvPr id="190" name="타원 189">
            <a:extLst>
              <a:ext uri="{FF2B5EF4-FFF2-40B4-BE49-F238E27FC236}">
                <a16:creationId xmlns:a16="http://schemas.microsoft.com/office/drawing/2014/main" id="{76EB1ED3-754C-4DB6-BE56-37E2BE02C16E}"/>
              </a:ext>
            </a:extLst>
          </p:cNvPr>
          <p:cNvSpPr/>
          <p:nvPr/>
        </p:nvSpPr>
        <p:spPr>
          <a:xfrm flipH="1">
            <a:off x="9226126" y="4853068"/>
            <a:ext cx="104925" cy="92333"/>
          </a:xfrm>
          <a:prstGeom prst="ellipse">
            <a:avLst/>
          </a:prstGeom>
        </p:spPr>
        <p:style>
          <a:lnRef idx="2">
            <a:schemeClr val="dk1">
              <a:shade val="50000"/>
            </a:schemeClr>
          </a:lnRef>
          <a:fillRef idx="1">
            <a:schemeClr val="dk1"/>
          </a:fillRef>
          <a:effectRef idx="0">
            <a:schemeClr val="dk1"/>
          </a:effectRef>
          <a:fontRef idx="minor">
            <a:schemeClr val="lt1"/>
          </a:fontRef>
        </p:style>
        <p:txBody>
          <a:bodyPr rtlCol="0" anchor="ctr"/>
          <a:lstStyle/>
          <a:p>
            <a:pPr algn="ctr"/>
            <a:endParaRPr lang="ko-KR" altLang="en-US"/>
          </a:p>
        </p:txBody>
      </p:sp>
      <p:cxnSp>
        <p:nvCxnSpPr>
          <p:cNvPr id="191" name="직선 연결선 190">
            <a:extLst>
              <a:ext uri="{FF2B5EF4-FFF2-40B4-BE49-F238E27FC236}">
                <a16:creationId xmlns:a16="http://schemas.microsoft.com/office/drawing/2014/main" id="{D311760E-FDD7-41CC-A899-0349848099DA}"/>
              </a:ext>
            </a:extLst>
          </p:cNvPr>
          <p:cNvCxnSpPr>
            <a:stCxn id="160" idx="7"/>
            <a:endCxn id="161" idx="3"/>
          </p:cNvCxnSpPr>
          <p:nvPr/>
        </p:nvCxnSpPr>
        <p:spPr>
          <a:xfrm flipV="1">
            <a:off x="5478962" y="4740144"/>
            <a:ext cx="286299" cy="156821"/>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2" name="직선 연결선 191">
            <a:extLst>
              <a:ext uri="{FF2B5EF4-FFF2-40B4-BE49-F238E27FC236}">
                <a16:creationId xmlns:a16="http://schemas.microsoft.com/office/drawing/2014/main" id="{D2CF5F3B-2EA8-4BC9-8708-8DE590A22F31}"/>
              </a:ext>
            </a:extLst>
          </p:cNvPr>
          <p:cNvCxnSpPr>
            <a:stCxn id="160" idx="5"/>
            <a:endCxn id="162" idx="1"/>
          </p:cNvCxnSpPr>
          <p:nvPr/>
        </p:nvCxnSpPr>
        <p:spPr>
          <a:xfrm>
            <a:off x="5478962" y="5132904"/>
            <a:ext cx="286299" cy="19859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3" name="직선 연결선 192">
            <a:extLst>
              <a:ext uri="{FF2B5EF4-FFF2-40B4-BE49-F238E27FC236}">
                <a16:creationId xmlns:a16="http://schemas.microsoft.com/office/drawing/2014/main" id="{17FB711D-A718-49C4-8CBA-7C8C0A52E359}"/>
              </a:ext>
            </a:extLst>
          </p:cNvPr>
          <p:cNvCxnSpPr>
            <a:endCxn id="163" idx="3"/>
          </p:cNvCxnSpPr>
          <p:nvPr/>
        </p:nvCxnSpPr>
        <p:spPr>
          <a:xfrm flipV="1">
            <a:off x="6111522" y="4444683"/>
            <a:ext cx="214170" cy="11661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4" name="직선 연결선 193">
            <a:extLst>
              <a:ext uri="{FF2B5EF4-FFF2-40B4-BE49-F238E27FC236}">
                <a16:creationId xmlns:a16="http://schemas.microsoft.com/office/drawing/2014/main" id="{5C150D68-5E5A-4CE1-A278-DA85AC84EB3B}"/>
              </a:ext>
            </a:extLst>
          </p:cNvPr>
          <p:cNvCxnSpPr>
            <a:stCxn id="161" idx="6"/>
            <a:endCxn id="165" idx="1"/>
          </p:cNvCxnSpPr>
          <p:nvPr/>
        </p:nvCxnSpPr>
        <p:spPr>
          <a:xfrm>
            <a:off x="6088906" y="4622175"/>
            <a:ext cx="236787" cy="8350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5" name="직선 연결선 194">
            <a:extLst>
              <a:ext uri="{FF2B5EF4-FFF2-40B4-BE49-F238E27FC236}">
                <a16:creationId xmlns:a16="http://schemas.microsoft.com/office/drawing/2014/main" id="{B12783B6-E2D3-47F2-9753-0CA6875BB6E9}"/>
              </a:ext>
            </a:extLst>
          </p:cNvPr>
          <p:cNvCxnSpPr>
            <a:stCxn id="162" idx="6"/>
            <a:endCxn id="164" idx="2"/>
          </p:cNvCxnSpPr>
          <p:nvPr/>
        </p:nvCxnSpPr>
        <p:spPr>
          <a:xfrm flipV="1">
            <a:off x="6088907" y="5428581"/>
            <a:ext cx="181258" cy="20884"/>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6" name="직선 연결선 195">
            <a:extLst>
              <a:ext uri="{FF2B5EF4-FFF2-40B4-BE49-F238E27FC236}">
                <a16:creationId xmlns:a16="http://schemas.microsoft.com/office/drawing/2014/main" id="{FA6CF977-67C6-43AE-A737-265FDE0EABA1}"/>
              </a:ext>
            </a:extLst>
          </p:cNvPr>
          <p:cNvCxnSpPr/>
          <p:nvPr/>
        </p:nvCxnSpPr>
        <p:spPr>
          <a:xfrm flipV="1">
            <a:off x="6649340" y="4138996"/>
            <a:ext cx="136014" cy="97299"/>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7" name="직선 연결선 196">
            <a:extLst>
              <a:ext uri="{FF2B5EF4-FFF2-40B4-BE49-F238E27FC236}">
                <a16:creationId xmlns:a16="http://schemas.microsoft.com/office/drawing/2014/main" id="{B0DCC699-66BC-4F11-B8C0-0E05181839F8}"/>
              </a:ext>
            </a:extLst>
          </p:cNvPr>
          <p:cNvCxnSpPr>
            <a:endCxn id="169" idx="2"/>
          </p:cNvCxnSpPr>
          <p:nvPr/>
        </p:nvCxnSpPr>
        <p:spPr>
          <a:xfrm>
            <a:off x="6671956" y="4415352"/>
            <a:ext cx="113398" cy="8863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8" name="직선 연결선 197">
            <a:extLst>
              <a:ext uri="{FF2B5EF4-FFF2-40B4-BE49-F238E27FC236}">
                <a16:creationId xmlns:a16="http://schemas.microsoft.com/office/drawing/2014/main" id="{B4196EB8-60A0-4D99-8713-9219C6467903}"/>
              </a:ext>
            </a:extLst>
          </p:cNvPr>
          <p:cNvCxnSpPr>
            <a:stCxn id="172" idx="7"/>
            <a:endCxn id="179" idx="3"/>
          </p:cNvCxnSpPr>
          <p:nvPr/>
        </p:nvCxnSpPr>
        <p:spPr>
          <a:xfrm flipV="1">
            <a:off x="7108999" y="3776984"/>
            <a:ext cx="276700" cy="17450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199" name="직선 연결선 198">
            <a:extLst>
              <a:ext uri="{FF2B5EF4-FFF2-40B4-BE49-F238E27FC236}">
                <a16:creationId xmlns:a16="http://schemas.microsoft.com/office/drawing/2014/main" id="{151A3DC5-3A40-4FB8-B0D8-51C36A6BC280}"/>
              </a:ext>
            </a:extLst>
          </p:cNvPr>
          <p:cNvCxnSpPr>
            <a:stCxn id="172" idx="6"/>
            <a:endCxn id="177" idx="2"/>
          </p:cNvCxnSpPr>
          <p:nvPr/>
        </p:nvCxnSpPr>
        <p:spPr>
          <a:xfrm>
            <a:off x="7164528" y="4069461"/>
            <a:ext cx="165642"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0" name="직선 연결선 199">
            <a:extLst>
              <a:ext uri="{FF2B5EF4-FFF2-40B4-BE49-F238E27FC236}">
                <a16:creationId xmlns:a16="http://schemas.microsoft.com/office/drawing/2014/main" id="{6CF0AEED-F17D-4263-8366-36E8E50B2074}"/>
              </a:ext>
            </a:extLst>
          </p:cNvPr>
          <p:cNvCxnSpPr>
            <a:stCxn id="169" idx="6"/>
            <a:endCxn id="174" idx="2"/>
          </p:cNvCxnSpPr>
          <p:nvPr/>
        </p:nvCxnSpPr>
        <p:spPr>
          <a:xfrm>
            <a:off x="7164528" y="4503990"/>
            <a:ext cx="165642"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1" name="직선 연결선 200">
            <a:extLst>
              <a:ext uri="{FF2B5EF4-FFF2-40B4-BE49-F238E27FC236}">
                <a16:creationId xmlns:a16="http://schemas.microsoft.com/office/drawing/2014/main" id="{5B975322-8CC6-43CE-B259-4E87CF80F3F9}"/>
              </a:ext>
            </a:extLst>
          </p:cNvPr>
          <p:cNvCxnSpPr>
            <a:stCxn id="164" idx="6"/>
            <a:endCxn id="170" idx="2"/>
          </p:cNvCxnSpPr>
          <p:nvPr/>
        </p:nvCxnSpPr>
        <p:spPr>
          <a:xfrm>
            <a:off x="6649340" y="5428580"/>
            <a:ext cx="136014" cy="0"/>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2" name="직선 연결선 201">
            <a:extLst>
              <a:ext uri="{FF2B5EF4-FFF2-40B4-BE49-F238E27FC236}">
                <a16:creationId xmlns:a16="http://schemas.microsoft.com/office/drawing/2014/main" id="{75F9131E-496D-47F9-93F3-8633EE2FA60A}"/>
              </a:ext>
            </a:extLst>
          </p:cNvPr>
          <p:cNvCxnSpPr>
            <a:stCxn id="164" idx="5"/>
            <a:endCxn id="171" idx="1"/>
          </p:cNvCxnSpPr>
          <p:nvPr/>
        </p:nvCxnSpPr>
        <p:spPr>
          <a:xfrm>
            <a:off x="6593811" y="5546550"/>
            <a:ext cx="247072" cy="23679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3" name="직선 연결선 202">
            <a:extLst>
              <a:ext uri="{FF2B5EF4-FFF2-40B4-BE49-F238E27FC236}">
                <a16:creationId xmlns:a16="http://schemas.microsoft.com/office/drawing/2014/main" id="{0EAF4C58-5725-4C0B-B82F-746CA1E93E3A}"/>
              </a:ext>
            </a:extLst>
          </p:cNvPr>
          <p:cNvCxnSpPr>
            <a:stCxn id="171" idx="5"/>
            <a:endCxn id="178" idx="2"/>
          </p:cNvCxnSpPr>
          <p:nvPr/>
        </p:nvCxnSpPr>
        <p:spPr>
          <a:xfrm>
            <a:off x="7109000" y="6019286"/>
            <a:ext cx="221171" cy="118399"/>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4" name="직선 연결선 203">
            <a:extLst>
              <a:ext uri="{FF2B5EF4-FFF2-40B4-BE49-F238E27FC236}">
                <a16:creationId xmlns:a16="http://schemas.microsoft.com/office/drawing/2014/main" id="{85D56B43-4C7A-4A44-85F8-838C6B1C848A}"/>
              </a:ext>
            </a:extLst>
          </p:cNvPr>
          <p:cNvCxnSpPr>
            <a:stCxn id="171" idx="6"/>
            <a:endCxn id="176" idx="3"/>
          </p:cNvCxnSpPr>
          <p:nvPr/>
        </p:nvCxnSpPr>
        <p:spPr>
          <a:xfrm flipV="1">
            <a:off x="7164529" y="5782917"/>
            <a:ext cx="221171" cy="118399"/>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5" name="직선 연결선 204">
            <a:extLst>
              <a:ext uri="{FF2B5EF4-FFF2-40B4-BE49-F238E27FC236}">
                <a16:creationId xmlns:a16="http://schemas.microsoft.com/office/drawing/2014/main" id="{84B97130-08C5-4F5D-9502-9A4E6E0CC761}"/>
              </a:ext>
            </a:extLst>
          </p:cNvPr>
          <p:cNvCxnSpPr>
            <a:stCxn id="170" idx="6"/>
            <a:endCxn id="175" idx="3"/>
          </p:cNvCxnSpPr>
          <p:nvPr/>
        </p:nvCxnSpPr>
        <p:spPr>
          <a:xfrm flipV="1">
            <a:off x="7164529" y="5310181"/>
            <a:ext cx="221171" cy="118399"/>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6" name="직선 연결선 205">
            <a:extLst>
              <a:ext uri="{FF2B5EF4-FFF2-40B4-BE49-F238E27FC236}">
                <a16:creationId xmlns:a16="http://schemas.microsoft.com/office/drawing/2014/main" id="{42C60B42-408F-4578-B981-EC1F1E3525C8}"/>
              </a:ext>
            </a:extLst>
          </p:cNvPr>
          <p:cNvCxnSpPr>
            <a:stCxn id="178" idx="5"/>
            <a:endCxn id="184" idx="2"/>
          </p:cNvCxnSpPr>
          <p:nvPr/>
        </p:nvCxnSpPr>
        <p:spPr>
          <a:xfrm>
            <a:off x="7653817" y="6255654"/>
            <a:ext cx="228882" cy="118399"/>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7" name="직선 연결선 206">
            <a:extLst>
              <a:ext uri="{FF2B5EF4-FFF2-40B4-BE49-F238E27FC236}">
                <a16:creationId xmlns:a16="http://schemas.microsoft.com/office/drawing/2014/main" id="{DF1728B6-F7D1-4B53-BD20-98616863D09E}"/>
              </a:ext>
            </a:extLst>
          </p:cNvPr>
          <p:cNvCxnSpPr>
            <a:endCxn id="186" idx="2"/>
          </p:cNvCxnSpPr>
          <p:nvPr/>
        </p:nvCxnSpPr>
        <p:spPr>
          <a:xfrm flipV="1">
            <a:off x="7709347" y="3492179"/>
            <a:ext cx="173353" cy="83417"/>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8" name="직선 연결선 207">
            <a:extLst>
              <a:ext uri="{FF2B5EF4-FFF2-40B4-BE49-F238E27FC236}">
                <a16:creationId xmlns:a16="http://schemas.microsoft.com/office/drawing/2014/main" id="{D903561F-62C6-41CB-B9A9-9074EB15537B}"/>
              </a:ext>
            </a:extLst>
          </p:cNvPr>
          <p:cNvCxnSpPr>
            <a:stCxn id="177" idx="7"/>
            <a:endCxn id="185" idx="2"/>
          </p:cNvCxnSpPr>
          <p:nvPr/>
        </p:nvCxnSpPr>
        <p:spPr>
          <a:xfrm flipV="1">
            <a:off x="7653817" y="3895383"/>
            <a:ext cx="228882" cy="56109"/>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09" name="직선 연결선 208">
            <a:extLst>
              <a:ext uri="{FF2B5EF4-FFF2-40B4-BE49-F238E27FC236}">
                <a16:creationId xmlns:a16="http://schemas.microsoft.com/office/drawing/2014/main" id="{2BDD2A5E-2BB4-47C4-BDFC-437318F3F343}"/>
              </a:ext>
            </a:extLst>
          </p:cNvPr>
          <p:cNvCxnSpPr>
            <a:stCxn id="177" idx="5"/>
            <a:endCxn id="183" idx="2"/>
          </p:cNvCxnSpPr>
          <p:nvPr/>
        </p:nvCxnSpPr>
        <p:spPr>
          <a:xfrm>
            <a:off x="7653817" y="4187431"/>
            <a:ext cx="228882" cy="118399"/>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0" name="직선 연결선 209">
            <a:extLst>
              <a:ext uri="{FF2B5EF4-FFF2-40B4-BE49-F238E27FC236}">
                <a16:creationId xmlns:a16="http://schemas.microsoft.com/office/drawing/2014/main" id="{88646FB1-7F9D-4DF1-96D9-D346A0E2B2C4}"/>
              </a:ext>
            </a:extLst>
          </p:cNvPr>
          <p:cNvCxnSpPr>
            <a:stCxn id="174" idx="5"/>
            <a:endCxn id="180" idx="2"/>
          </p:cNvCxnSpPr>
          <p:nvPr/>
        </p:nvCxnSpPr>
        <p:spPr>
          <a:xfrm>
            <a:off x="7653817" y="4621960"/>
            <a:ext cx="228882" cy="118399"/>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1" name="직선 연결선 210">
            <a:extLst>
              <a:ext uri="{FF2B5EF4-FFF2-40B4-BE49-F238E27FC236}">
                <a16:creationId xmlns:a16="http://schemas.microsoft.com/office/drawing/2014/main" id="{D1DFEB27-FCD5-4F5B-8E9D-7FE2DA895B81}"/>
              </a:ext>
            </a:extLst>
          </p:cNvPr>
          <p:cNvCxnSpPr>
            <a:stCxn id="175" idx="6"/>
            <a:endCxn id="187" idx="2"/>
          </p:cNvCxnSpPr>
          <p:nvPr/>
        </p:nvCxnSpPr>
        <p:spPr>
          <a:xfrm>
            <a:off x="7709347" y="5192211"/>
            <a:ext cx="173353" cy="335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2" name="직선 연결선 211">
            <a:extLst>
              <a:ext uri="{FF2B5EF4-FFF2-40B4-BE49-F238E27FC236}">
                <a16:creationId xmlns:a16="http://schemas.microsoft.com/office/drawing/2014/main" id="{23E04F05-1AC9-44A8-AAE5-805167D422F9}"/>
              </a:ext>
            </a:extLst>
          </p:cNvPr>
          <p:cNvCxnSpPr>
            <a:stCxn id="176" idx="6"/>
            <a:endCxn id="181" idx="2"/>
          </p:cNvCxnSpPr>
          <p:nvPr/>
        </p:nvCxnSpPr>
        <p:spPr>
          <a:xfrm flipV="1">
            <a:off x="7709347" y="5605856"/>
            <a:ext cx="173353" cy="59092"/>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cxnSp>
        <p:nvCxnSpPr>
          <p:cNvPr id="213" name="직선 연결선 212">
            <a:extLst>
              <a:ext uri="{FF2B5EF4-FFF2-40B4-BE49-F238E27FC236}">
                <a16:creationId xmlns:a16="http://schemas.microsoft.com/office/drawing/2014/main" id="{3C527ABF-4F52-490F-AA4D-AB602C7B29BA}"/>
              </a:ext>
            </a:extLst>
          </p:cNvPr>
          <p:cNvCxnSpPr>
            <a:stCxn id="178" idx="6"/>
            <a:endCxn id="182" idx="2"/>
          </p:cNvCxnSpPr>
          <p:nvPr/>
        </p:nvCxnSpPr>
        <p:spPr>
          <a:xfrm flipV="1">
            <a:off x="7709347" y="5998617"/>
            <a:ext cx="173353" cy="139068"/>
          </a:xfrm>
          <a:prstGeom prst="line">
            <a:avLst/>
          </a:prstGeom>
          <a:ln>
            <a:solidFill>
              <a:schemeClr val="accent2">
                <a:lumMod val="50000"/>
              </a:schemeClr>
            </a:solidFill>
          </a:ln>
        </p:spPr>
        <p:style>
          <a:lnRef idx="1">
            <a:schemeClr val="accent1"/>
          </a:lnRef>
          <a:fillRef idx="0">
            <a:schemeClr val="accent1"/>
          </a:fillRef>
          <a:effectRef idx="0">
            <a:schemeClr val="accent1"/>
          </a:effectRef>
          <a:fontRef idx="minor">
            <a:schemeClr val="tx1"/>
          </a:fontRef>
        </p:style>
      </p:cxnSp>
      <p:sp>
        <p:nvSpPr>
          <p:cNvPr id="214" name="TextBox 213">
            <a:extLst>
              <a:ext uri="{FF2B5EF4-FFF2-40B4-BE49-F238E27FC236}">
                <a16:creationId xmlns:a16="http://schemas.microsoft.com/office/drawing/2014/main" id="{52E48FD5-D6EF-493E-9086-17DB8949D71B}"/>
              </a:ext>
            </a:extLst>
          </p:cNvPr>
          <p:cNvSpPr txBox="1"/>
          <p:nvPr/>
        </p:nvSpPr>
        <p:spPr>
          <a:xfrm>
            <a:off x="5301972" y="6246380"/>
            <a:ext cx="1166925" cy="353600"/>
          </a:xfrm>
          <a:prstGeom prst="rect">
            <a:avLst/>
          </a:prstGeom>
          <a:noFill/>
        </p:spPr>
        <p:txBody>
          <a:bodyPr wrap="square" rtlCol="0">
            <a:spAutoFit/>
          </a:bodyPr>
          <a:lstStyle/>
          <a:p>
            <a:pPr algn="ctr"/>
            <a:r>
              <a:rPr lang="ko-KR" altLang="en-US" sz="1100">
                <a:latin typeface="+mn-ea"/>
              </a:rPr>
              <a:t>공지</a:t>
            </a:r>
            <a:endParaRPr lang="en-US" altLang="ko-KR" sz="1100" dirty="0">
              <a:latin typeface="+mn-ea"/>
            </a:endParaRPr>
          </a:p>
          <a:p>
            <a:pPr algn="ctr"/>
            <a:r>
              <a:rPr lang="ko-KR" altLang="en-US" sz="1100" dirty="0">
                <a:latin typeface="+mn-ea"/>
              </a:rPr>
              <a:t>기술</a:t>
            </a:r>
          </a:p>
        </p:txBody>
      </p:sp>
      <p:cxnSp>
        <p:nvCxnSpPr>
          <p:cNvPr id="155" name="직선 연결선 154">
            <a:extLst>
              <a:ext uri="{FF2B5EF4-FFF2-40B4-BE49-F238E27FC236}">
                <a16:creationId xmlns:a16="http://schemas.microsoft.com/office/drawing/2014/main" id="{89EA022B-B748-44C8-9EF3-CB122DAEF7FA}"/>
              </a:ext>
            </a:extLst>
          </p:cNvPr>
          <p:cNvCxnSpPr/>
          <p:nvPr/>
        </p:nvCxnSpPr>
        <p:spPr>
          <a:xfrm>
            <a:off x="5119522" y="2509423"/>
            <a:ext cx="0" cy="4077355"/>
          </a:xfrm>
          <a:prstGeom prst="line">
            <a:avLst/>
          </a:prstGeom>
        </p:spPr>
        <p:style>
          <a:lnRef idx="1">
            <a:schemeClr val="accent1"/>
          </a:lnRef>
          <a:fillRef idx="0">
            <a:schemeClr val="accent1"/>
          </a:fillRef>
          <a:effectRef idx="0">
            <a:schemeClr val="accent1"/>
          </a:effectRef>
          <a:fontRef idx="minor">
            <a:schemeClr val="tx1"/>
          </a:fontRef>
        </p:style>
      </p:cxnSp>
      <p:cxnSp>
        <p:nvCxnSpPr>
          <p:cNvPr id="156" name="직선 연결선 155">
            <a:extLst>
              <a:ext uri="{FF2B5EF4-FFF2-40B4-BE49-F238E27FC236}">
                <a16:creationId xmlns:a16="http://schemas.microsoft.com/office/drawing/2014/main" id="{843C847A-A62A-476A-B494-2940B8C485D0}"/>
              </a:ext>
            </a:extLst>
          </p:cNvPr>
          <p:cNvCxnSpPr/>
          <p:nvPr/>
        </p:nvCxnSpPr>
        <p:spPr>
          <a:xfrm>
            <a:off x="9996220" y="2479474"/>
            <a:ext cx="0" cy="4077355"/>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40684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err="1"/>
              <a:t>참고노트</a:t>
            </a:r>
            <a:endParaRPr lang="ko-KR" altLang="en-US" dirty="0"/>
          </a:p>
        </p:txBody>
      </p:sp>
      <p:sp>
        <p:nvSpPr>
          <p:cNvPr id="4" name="텍스트 개체 틀 3"/>
          <p:cNvSpPr>
            <a:spLocks noGrp="1"/>
          </p:cNvSpPr>
          <p:nvPr>
            <p:ph type="body" sz="quarter" idx="13"/>
          </p:nvPr>
        </p:nvSpPr>
        <p:spPr/>
        <p:txBody>
          <a:bodyPr/>
          <a:lstStyle/>
          <a:p>
            <a:r>
              <a:rPr lang="ko-KR" altLang="en-US" dirty="0"/>
              <a:t>특허출원절차 개괄</a:t>
            </a:r>
          </a:p>
        </p:txBody>
      </p:sp>
      <p:sp>
        <p:nvSpPr>
          <p:cNvPr id="2" name="슬라이드 번호 개체 틀 1"/>
          <p:cNvSpPr>
            <a:spLocks noGrp="1"/>
          </p:cNvSpPr>
          <p:nvPr>
            <p:ph type="sldNum" sz="quarter" idx="12"/>
          </p:nvPr>
        </p:nvSpPr>
        <p:spPr/>
        <p:txBody>
          <a:bodyPr/>
          <a:lstStyle/>
          <a:p>
            <a:fld id="{3875FC6C-1516-4DC4-8C58-3090F7D4F003}" type="slidenum">
              <a:rPr lang="ko-KR" altLang="en-US" smtClean="0"/>
              <a:t>10</a:t>
            </a:fld>
            <a:endParaRPr lang="ko-KR" altLang="en-US"/>
          </a:p>
        </p:txBody>
      </p:sp>
      <p:sp>
        <p:nvSpPr>
          <p:cNvPr id="82" name="Rectangle 5">
            <a:extLst>
              <a:ext uri="{FF2B5EF4-FFF2-40B4-BE49-F238E27FC236}">
                <a16:creationId xmlns:a16="http://schemas.microsoft.com/office/drawing/2014/main" id="{E1FB3872-BEA7-4118-810D-D2A6EDD076C0}"/>
              </a:ext>
            </a:extLst>
          </p:cNvPr>
          <p:cNvSpPr>
            <a:spLocks noChangeArrowheads="1"/>
          </p:cNvSpPr>
          <p:nvPr/>
        </p:nvSpPr>
        <p:spPr bwMode="auto">
          <a:xfrm>
            <a:off x="1805666" y="1373037"/>
            <a:ext cx="1133475" cy="348102"/>
          </a:xfrm>
          <a:prstGeom prst="rect">
            <a:avLst/>
          </a:prstGeom>
          <a:solidFill>
            <a:schemeClr val="accent2"/>
          </a:solidFill>
          <a:ln w="9525" algn="ctr">
            <a:solidFill>
              <a:srgbClr val="5F5F5F"/>
            </a:solidFill>
            <a:miter lim="800000"/>
            <a:headEnd/>
            <a:tailEnd/>
          </a:ln>
        </p:spPr>
        <p:txBody>
          <a:bodyPr wrap="none" anchor="ctr"/>
          <a:lstStyle/>
          <a:p>
            <a:pPr algn="ctr"/>
            <a:r>
              <a:rPr lang="ko-KR" altLang="en-US" sz="1100" dirty="0">
                <a:latin typeface="+mj-ea"/>
                <a:ea typeface="+mj-ea"/>
              </a:rPr>
              <a:t>특허출원</a:t>
            </a:r>
            <a:endParaRPr lang="ko-KR" altLang="en-US" sz="1100" b="0" dirty="0">
              <a:solidFill>
                <a:schemeClr val="tx1"/>
              </a:solidFill>
              <a:latin typeface="+mj-ea"/>
              <a:ea typeface="+mj-ea"/>
            </a:endParaRPr>
          </a:p>
        </p:txBody>
      </p:sp>
      <p:cxnSp>
        <p:nvCxnSpPr>
          <p:cNvPr id="83" name="직선 화살표 연결선 14">
            <a:extLst>
              <a:ext uri="{FF2B5EF4-FFF2-40B4-BE49-F238E27FC236}">
                <a16:creationId xmlns:a16="http://schemas.microsoft.com/office/drawing/2014/main" id="{87F16451-2319-45F6-9AC1-26AADF25A3A2}"/>
              </a:ext>
            </a:extLst>
          </p:cNvPr>
          <p:cNvCxnSpPr>
            <a:cxnSpLocks noChangeShapeType="1"/>
            <a:stCxn id="82" idx="2"/>
          </p:cNvCxnSpPr>
          <p:nvPr/>
        </p:nvCxnSpPr>
        <p:spPr bwMode="auto">
          <a:xfrm flipH="1">
            <a:off x="2372403" y="1721139"/>
            <a:ext cx="1" cy="143844"/>
          </a:xfrm>
          <a:prstGeom prst="straightConnector1">
            <a:avLst/>
          </a:prstGeom>
          <a:noFill/>
          <a:ln w="19050">
            <a:solidFill>
              <a:schemeClr val="bg1"/>
            </a:solidFill>
            <a:round/>
            <a:headEnd/>
            <a:tailEnd type="arrow" w="med" len="med"/>
          </a:ln>
          <a:extLst>
            <a:ext uri="{909E8E84-426E-40DD-AFC4-6F175D3DCCD1}">
              <a14:hiddenFill xmlns:a14="http://schemas.microsoft.com/office/drawing/2010/main">
                <a:noFill/>
              </a14:hiddenFill>
            </a:ext>
          </a:extLst>
        </p:spPr>
      </p:cxnSp>
      <p:sp>
        <p:nvSpPr>
          <p:cNvPr id="84" name="Rectangle 5">
            <a:extLst>
              <a:ext uri="{FF2B5EF4-FFF2-40B4-BE49-F238E27FC236}">
                <a16:creationId xmlns:a16="http://schemas.microsoft.com/office/drawing/2014/main" id="{7AFEC911-D436-4A11-9082-3DDD51019F44}"/>
              </a:ext>
            </a:extLst>
          </p:cNvPr>
          <p:cNvSpPr>
            <a:spLocks noChangeArrowheads="1"/>
          </p:cNvSpPr>
          <p:nvPr/>
        </p:nvSpPr>
        <p:spPr bwMode="auto">
          <a:xfrm>
            <a:off x="1805666" y="2310632"/>
            <a:ext cx="1133475"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특허분류</a:t>
            </a:r>
            <a:endParaRPr lang="en-US" altLang="ko-KR" sz="1100" b="0" dirty="0">
              <a:solidFill>
                <a:schemeClr val="tx1"/>
              </a:solidFill>
              <a:latin typeface="+mj-ea"/>
              <a:ea typeface="+mj-ea"/>
            </a:endParaRPr>
          </a:p>
          <a:p>
            <a:pPr algn="ctr"/>
            <a:r>
              <a:rPr lang="en-US" altLang="ko-KR" sz="900" dirty="0">
                <a:latin typeface="+mj-ea"/>
                <a:ea typeface="+mj-ea"/>
              </a:rPr>
              <a:t>(IPC, CPC)</a:t>
            </a:r>
            <a:endParaRPr lang="ko-KR" altLang="en-US" sz="900" b="0" dirty="0">
              <a:solidFill>
                <a:schemeClr val="tx1"/>
              </a:solidFill>
              <a:latin typeface="+mj-ea"/>
              <a:ea typeface="+mj-ea"/>
            </a:endParaRPr>
          </a:p>
        </p:txBody>
      </p:sp>
      <p:sp>
        <p:nvSpPr>
          <p:cNvPr id="85" name="AutoShape 11">
            <a:extLst>
              <a:ext uri="{FF2B5EF4-FFF2-40B4-BE49-F238E27FC236}">
                <a16:creationId xmlns:a16="http://schemas.microsoft.com/office/drawing/2014/main" id="{8368012E-BB49-467B-8D9C-F6C5EF8D60ED}"/>
              </a:ext>
            </a:extLst>
          </p:cNvPr>
          <p:cNvSpPr>
            <a:spLocks noChangeArrowheads="1"/>
          </p:cNvSpPr>
          <p:nvPr/>
        </p:nvSpPr>
        <p:spPr bwMode="auto">
          <a:xfrm>
            <a:off x="1805664" y="3240883"/>
            <a:ext cx="1133478" cy="471808"/>
          </a:xfrm>
          <a:prstGeom prst="flowChartDecision">
            <a:avLst/>
          </a:prstGeom>
          <a:solidFill>
            <a:schemeClr val="accent5">
              <a:lumMod val="75000"/>
            </a:schemeClr>
          </a:solidFill>
          <a:ln>
            <a:solidFill>
              <a:schemeClr val="bg1">
                <a:lumMod val="50000"/>
              </a:schemeClr>
            </a:solidFill>
            <a:headEnd/>
            <a:tailEnd/>
          </a:ln>
          <a:effectLst/>
        </p:spPr>
        <p:style>
          <a:lnRef idx="1">
            <a:schemeClr val="accent5"/>
          </a:lnRef>
          <a:fillRef idx="3">
            <a:schemeClr val="accent5"/>
          </a:fillRef>
          <a:effectRef idx="2">
            <a:schemeClr val="accent5"/>
          </a:effectRef>
          <a:fontRef idx="minor">
            <a:schemeClr val="lt1"/>
          </a:fontRef>
        </p:style>
        <p:txBody>
          <a:bodyPr wrap="none" anchor="ctr"/>
          <a:lstStyle/>
          <a:p>
            <a:pPr algn="ctr">
              <a:defRPr/>
            </a:pPr>
            <a:r>
              <a:rPr lang="ko-KR" altLang="en-US" sz="1100" b="0" dirty="0">
                <a:solidFill>
                  <a:schemeClr val="bg1"/>
                </a:solidFill>
                <a:latin typeface="+mj-ea"/>
                <a:ea typeface="+mj-ea"/>
              </a:rPr>
              <a:t>실체심사</a:t>
            </a:r>
          </a:p>
        </p:txBody>
      </p:sp>
      <p:cxnSp>
        <p:nvCxnSpPr>
          <p:cNvPr id="86" name="직선 화살표 연결선 85">
            <a:extLst>
              <a:ext uri="{FF2B5EF4-FFF2-40B4-BE49-F238E27FC236}">
                <a16:creationId xmlns:a16="http://schemas.microsoft.com/office/drawing/2014/main" id="{FC27FC38-D5C7-4D65-98DC-50D0884F360D}"/>
              </a:ext>
            </a:extLst>
          </p:cNvPr>
          <p:cNvCxnSpPr>
            <a:stCxn id="82" idx="2"/>
            <a:endCxn id="84" idx="0"/>
          </p:cNvCxnSpPr>
          <p:nvPr/>
        </p:nvCxnSpPr>
        <p:spPr>
          <a:xfrm>
            <a:off x="2372404" y="1721139"/>
            <a:ext cx="0" cy="589493"/>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8" name="직선 화살표 연결선 87">
            <a:extLst>
              <a:ext uri="{FF2B5EF4-FFF2-40B4-BE49-F238E27FC236}">
                <a16:creationId xmlns:a16="http://schemas.microsoft.com/office/drawing/2014/main" id="{AA5F77FB-2864-4AAC-B667-4568131B61F1}"/>
              </a:ext>
            </a:extLst>
          </p:cNvPr>
          <p:cNvCxnSpPr>
            <a:stCxn id="84" idx="2"/>
            <a:endCxn id="85" idx="0"/>
          </p:cNvCxnSpPr>
          <p:nvPr/>
        </p:nvCxnSpPr>
        <p:spPr>
          <a:xfrm flipH="1">
            <a:off x="2372403" y="2658734"/>
            <a:ext cx="1" cy="582149"/>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0" name="꺾인 연결선 17">
            <a:extLst>
              <a:ext uri="{FF2B5EF4-FFF2-40B4-BE49-F238E27FC236}">
                <a16:creationId xmlns:a16="http://schemas.microsoft.com/office/drawing/2014/main" id="{A15CFD52-6FBB-4293-A058-8F7B788246EB}"/>
              </a:ext>
            </a:extLst>
          </p:cNvPr>
          <p:cNvCxnSpPr>
            <a:stCxn id="82" idx="1"/>
          </p:cNvCxnSpPr>
          <p:nvPr/>
        </p:nvCxnSpPr>
        <p:spPr>
          <a:xfrm rot="10800000" flipH="1" flipV="1">
            <a:off x="1805666" y="1547087"/>
            <a:ext cx="566738" cy="1507779"/>
          </a:xfrm>
          <a:prstGeom prst="bentConnector4">
            <a:avLst>
              <a:gd name="adj1" fmla="val -161344"/>
              <a:gd name="adj2" fmla="val 100090"/>
            </a:avLst>
          </a:prstGeom>
          <a:ln>
            <a:solidFill>
              <a:schemeClr val="bg1">
                <a:lumMod val="50000"/>
              </a:schemeClr>
            </a:solidFill>
            <a:prstDash val="sysDash"/>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2" name="Rectangle 5">
            <a:extLst>
              <a:ext uri="{FF2B5EF4-FFF2-40B4-BE49-F238E27FC236}">
                <a16:creationId xmlns:a16="http://schemas.microsoft.com/office/drawing/2014/main" id="{1725DB28-2917-4575-97AB-C92F4C07015D}"/>
              </a:ext>
            </a:extLst>
          </p:cNvPr>
          <p:cNvSpPr>
            <a:spLocks noChangeArrowheads="1"/>
          </p:cNvSpPr>
          <p:nvPr/>
        </p:nvSpPr>
        <p:spPr bwMode="auto">
          <a:xfrm>
            <a:off x="331993" y="1915050"/>
            <a:ext cx="1133475"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dirty="0">
                <a:latin typeface="+mj-ea"/>
                <a:ea typeface="+mj-ea"/>
              </a:rPr>
              <a:t>출원공개</a:t>
            </a:r>
            <a:endParaRPr lang="en-US" altLang="ko-KR" sz="1000" dirty="0">
              <a:latin typeface="+mj-ea"/>
              <a:ea typeface="+mj-ea"/>
            </a:endParaRPr>
          </a:p>
          <a:p>
            <a:pPr algn="ctr"/>
            <a:r>
              <a:rPr lang="en-US" altLang="ko-KR" sz="900" b="0" dirty="0">
                <a:solidFill>
                  <a:schemeClr val="tx1"/>
                </a:solidFill>
                <a:latin typeface="+mj-ea"/>
                <a:ea typeface="+mj-ea"/>
              </a:rPr>
              <a:t>(</a:t>
            </a:r>
            <a:r>
              <a:rPr lang="ko-KR" altLang="en-US" sz="900" b="0" dirty="0">
                <a:solidFill>
                  <a:schemeClr val="tx1"/>
                </a:solidFill>
                <a:latin typeface="+mj-ea"/>
                <a:ea typeface="+mj-ea"/>
              </a:rPr>
              <a:t>조기공개신청</a:t>
            </a:r>
            <a:r>
              <a:rPr lang="en-US" altLang="ko-KR" sz="900" b="0" dirty="0">
                <a:solidFill>
                  <a:schemeClr val="tx1"/>
                </a:solidFill>
                <a:latin typeface="+mj-ea"/>
                <a:ea typeface="+mj-ea"/>
              </a:rPr>
              <a:t>)</a:t>
            </a:r>
            <a:endParaRPr lang="ko-KR" altLang="en-US" sz="900" b="0" dirty="0">
              <a:solidFill>
                <a:schemeClr val="tx1"/>
              </a:solidFill>
              <a:latin typeface="+mj-ea"/>
              <a:ea typeface="+mj-ea"/>
            </a:endParaRPr>
          </a:p>
        </p:txBody>
      </p:sp>
      <p:sp>
        <p:nvSpPr>
          <p:cNvPr id="93" name="Rectangle 5">
            <a:extLst>
              <a:ext uri="{FF2B5EF4-FFF2-40B4-BE49-F238E27FC236}">
                <a16:creationId xmlns:a16="http://schemas.microsoft.com/office/drawing/2014/main" id="{021C88C9-4517-4334-8BF6-CECCA4F2ABB4}"/>
              </a:ext>
            </a:extLst>
          </p:cNvPr>
          <p:cNvSpPr>
            <a:spLocks noChangeArrowheads="1"/>
          </p:cNvSpPr>
          <p:nvPr/>
        </p:nvSpPr>
        <p:spPr bwMode="auto">
          <a:xfrm>
            <a:off x="331993" y="2487037"/>
            <a:ext cx="1133475" cy="348102"/>
          </a:xfrm>
          <a:prstGeom prst="rect">
            <a:avLst/>
          </a:prstGeom>
          <a:solidFill>
            <a:schemeClr val="bg1"/>
          </a:solidFill>
          <a:ln w="57150" algn="ctr">
            <a:solidFill>
              <a:srgbClr val="5F5F5F"/>
            </a:solidFill>
            <a:miter lim="800000"/>
            <a:headEnd/>
            <a:tailEnd/>
          </a:ln>
        </p:spPr>
        <p:txBody>
          <a:bodyPr wrap="none" anchor="ctr"/>
          <a:lstStyle/>
          <a:p>
            <a:pPr algn="ctr"/>
            <a:r>
              <a:rPr lang="ko-KR" altLang="en-US" sz="1100" dirty="0">
                <a:latin typeface="+mj-ea"/>
                <a:ea typeface="+mj-ea"/>
              </a:rPr>
              <a:t>심사청구</a:t>
            </a:r>
            <a:endParaRPr lang="en-US" altLang="ko-KR" sz="1100" dirty="0">
              <a:latin typeface="+mj-ea"/>
              <a:ea typeface="+mj-ea"/>
            </a:endParaRPr>
          </a:p>
          <a:p>
            <a:pPr algn="ctr"/>
            <a:r>
              <a:rPr lang="en-US" altLang="ko-KR" sz="900" b="0" dirty="0">
                <a:solidFill>
                  <a:schemeClr val="tx1"/>
                </a:solidFill>
                <a:latin typeface="+mj-ea"/>
                <a:ea typeface="+mj-ea"/>
              </a:rPr>
              <a:t>(</a:t>
            </a:r>
            <a:r>
              <a:rPr lang="ko-KR" altLang="en-US" sz="900" b="0" dirty="0">
                <a:solidFill>
                  <a:schemeClr val="tx1"/>
                </a:solidFill>
                <a:latin typeface="+mj-ea"/>
                <a:ea typeface="+mj-ea"/>
              </a:rPr>
              <a:t>우선심사신청</a:t>
            </a:r>
            <a:r>
              <a:rPr lang="en-US" altLang="ko-KR" sz="900" b="0" dirty="0">
                <a:solidFill>
                  <a:schemeClr val="tx1"/>
                </a:solidFill>
                <a:latin typeface="+mj-ea"/>
                <a:ea typeface="+mj-ea"/>
              </a:rPr>
              <a:t>)</a:t>
            </a:r>
            <a:endParaRPr lang="ko-KR" altLang="en-US" sz="900" b="0" dirty="0">
              <a:solidFill>
                <a:schemeClr val="tx1"/>
              </a:solidFill>
              <a:latin typeface="+mj-ea"/>
              <a:ea typeface="+mj-ea"/>
            </a:endParaRPr>
          </a:p>
        </p:txBody>
      </p:sp>
      <p:sp>
        <p:nvSpPr>
          <p:cNvPr id="94" name="Rectangle 5">
            <a:extLst>
              <a:ext uri="{FF2B5EF4-FFF2-40B4-BE49-F238E27FC236}">
                <a16:creationId xmlns:a16="http://schemas.microsoft.com/office/drawing/2014/main" id="{A5355123-79AE-4FAB-9B2C-BB6D79262781}"/>
              </a:ext>
            </a:extLst>
          </p:cNvPr>
          <p:cNvSpPr>
            <a:spLocks noChangeArrowheads="1"/>
          </p:cNvSpPr>
          <p:nvPr/>
        </p:nvSpPr>
        <p:spPr bwMode="auto">
          <a:xfrm>
            <a:off x="4843096" y="3684147"/>
            <a:ext cx="1133475"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특허결정</a:t>
            </a:r>
            <a:endParaRPr lang="en-US" altLang="ko-KR" sz="1100" b="0" dirty="0">
              <a:solidFill>
                <a:schemeClr val="tx1"/>
              </a:solidFill>
              <a:latin typeface="+mj-ea"/>
              <a:ea typeface="+mj-ea"/>
            </a:endParaRPr>
          </a:p>
          <a:p>
            <a:pPr algn="ctr"/>
            <a:r>
              <a:rPr lang="en-US" altLang="ko-KR" sz="900" b="0" dirty="0">
                <a:solidFill>
                  <a:schemeClr val="tx1"/>
                </a:solidFill>
                <a:latin typeface="+mj-ea"/>
                <a:ea typeface="+mj-ea"/>
              </a:rPr>
              <a:t>(</a:t>
            </a:r>
            <a:r>
              <a:rPr lang="ko-KR" altLang="en-US" sz="900" dirty="0">
                <a:latin typeface="+mj-ea"/>
                <a:ea typeface="+mj-ea"/>
              </a:rPr>
              <a:t>직권보정</a:t>
            </a:r>
            <a:r>
              <a:rPr lang="en-US" altLang="ko-KR" sz="900" b="0" dirty="0">
                <a:solidFill>
                  <a:schemeClr val="tx1"/>
                </a:solidFill>
                <a:latin typeface="+mj-ea"/>
                <a:ea typeface="+mj-ea"/>
              </a:rPr>
              <a:t>)</a:t>
            </a:r>
            <a:endParaRPr lang="ko-KR" altLang="en-US" sz="900" b="0" dirty="0">
              <a:solidFill>
                <a:schemeClr val="tx1"/>
              </a:solidFill>
              <a:latin typeface="+mj-ea"/>
              <a:ea typeface="+mj-ea"/>
            </a:endParaRPr>
          </a:p>
        </p:txBody>
      </p:sp>
      <p:sp>
        <p:nvSpPr>
          <p:cNvPr id="96" name="Rectangle 5">
            <a:extLst>
              <a:ext uri="{FF2B5EF4-FFF2-40B4-BE49-F238E27FC236}">
                <a16:creationId xmlns:a16="http://schemas.microsoft.com/office/drawing/2014/main" id="{CBD4A3C8-31B1-4C1F-AE67-8BEADAA27D9C}"/>
              </a:ext>
            </a:extLst>
          </p:cNvPr>
          <p:cNvSpPr>
            <a:spLocks noChangeArrowheads="1"/>
          </p:cNvSpPr>
          <p:nvPr/>
        </p:nvSpPr>
        <p:spPr bwMode="auto">
          <a:xfrm>
            <a:off x="3252421" y="2709513"/>
            <a:ext cx="1133475"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거절이유통지</a:t>
            </a:r>
          </a:p>
        </p:txBody>
      </p:sp>
      <p:sp>
        <p:nvSpPr>
          <p:cNvPr id="97" name="Rectangle 5">
            <a:extLst>
              <a:ext uri="{FF2B5EF4-FFF2-40B4-BE49-F238E27FC236}">
                <a16:creationId xmlns:a16="http://schemas.microsoft.com/office/drawing/2014/main" id="{9761BC38-AACA-4112-B3CC-CE491BD4AD53}"/>
              </a:ext>
            </a:extLst>
          </p:cNvPr>
          <p:cNvSpPr>
            <a:spLocks noChangeArrowheads="1"/>
          </p:cNvSpPr>
          <p:nvPr/>
        </p:nvSpPr>
        <p:spPr bwMode="auto">
          <a:xfrm>
            <a:off x="3252421" y="2053823"/>
            <a:ext cx="1133475" cy="348102"/>
          </a:xfrm>
          <a:prstGeom prst="rect">
            <a:avLst/>
          </a:prstGeom>
          <a:solidFill>
            <a:schemeClr val="accent2"/>
          </a:solidFill>
          <a:ln w="9525" algn="ctr">
            <a:solidFill>
              <a:srgbClr val="5F5F5F"/>
            </a:solidFill>
            <a:miter lim="800000"/>
            <a:headEnd/>
            <a:tailEnd/>
          </a:ln>
        </p:spPr>
        <p:txBody>
          <a:bodyPr wrap="none" anchor="ctr"/>
          <a:lstStyle/>
          <a:p>
            <a:pPr algn="ctr"/>
            <a:r>
              <a:rPr lang="ko-KR" altLang="en-US" sz="1100" dirty="0">
                <a:latin typeface="+mj-ea"/>
                <a:ea typeface="+mj-ea"/>
              </a:rPr>
              <a:t>의견서</a:t>
            </a:r>
            <a:r>
              <a:rPr lang="en-US" altLang="ko-KR" sz="1100" dirty="0">
                <a:latin typeface="+mj-ea"/>
                <a:ea typeface="+mj-ea"/>
              </a:rPr>
              <a:t>/</a:t>
            </a:r>
            <a:r>
              <a:rPr lang="ko-KR" altLang="en-US" sz="1100" dirty="0">
                <a:latin typeface="+mj-ea"/>
                <a:ea typeface="+mj-ea"/>
              </a:rPr>
              <a:t>보정서</a:t>
            </a:r>
            <a:endParaRPr lang="ko-KR" altLang="en-US" sz="1100" b="0" dirty="0">
              <a:solidFill>
                <a:schemeClr val="tx1"/>
              </a:solidFill>
              <a:latin typeface="+mj-ea"/>
              <a:ea typeface="+mj-ea"/>
            </a:endParaRPr>
          </a:p>
        </p:txBody>
      </p:sp>
      <p:sp>
        <p:nvSpPr>
          <p:cNvPr id="100" name="AutoShape 11">
            <a:extLst>
              <a:ext uri="{FF2B5EF4-FFF2-40B4-BE49-F238E27FC236}">
                <a16:creationId xmlns:a16="http://schemas.microsoft.com/office/drawing/2014/main" id="{36EF0994-F7E0-49D3-80F1-8E14BC8AC1EE}"/>
              </a:ext>
            </a:extLst>
          </p:cNvPr>
          <p:cNvSpPr>
            <a:spLocks noChangeArrowheads="1"/>
          </p:cNvSpPr>
          <p:nvPr/>
        </p:nvSpPr>
        <p:spPr bwMode="auto">
          <a:xfrm>
            <a:off x="4844667" y="2802883"/>
            <a:ext cx="1133478" cy="471808"/>
          </a:xfrm>
          <a:prstGeom prst="flowChartDecision">
            <a:avLst/>
          </a:prstGeom>
          <a:solidFill>
            <a:schemeClr val="accent5">
              <a:lumMod val="75000"/>
            </a:schemeClr>
          </a:solidFill>
          <a:ln>
            <a:solidFill>
              <a:schemeClr val="bg1">
                <a:lumMod val="50000"/>
              </a:schemeClr>
            </a:solidFill>
            <a:headEnd/>
            <a:tailEnd/>
          </a:ln>
          <a:effectLst/>
        </p:spPr>
        <p:style>
          <a:lnRef idx="1">
            <a:schemeClr val="accent5"/>
          </a:lnRef>
          <a:fillRef idx="3">
            <a:schemeClr val="accent5"/>
          </a:fillRef>
          <a:effectRef idx="2">
            <a:schemeClr val="accent5"/>
          </a:effectRef>
          <a:fontRef idx="minor">
            <a:schemeClr val="lt1"/>
          </a:fontRef>
        </p:style>
        <p:txBody>
          <a:bodyPr wrap="none" anchor="ctr"/>
          <a:lstStyle/>
          <a:p>
            <a:pPr algn="ctr">
              <a:defRPr/>
            </a:pPr>
            <a:r>
              <a:rPr lang="ko-KR" altLang="en-US" sz="1100" b="0" dirty="0">
                <a:solidFill>
                  <a:schemeClr val="bg1"/>
                </a:solidFill>
                <a:latin typeface="+mj-ea"/>
                <a:ea typeface="+mj-ea"/>
              </a:rPr>
              <a:t>실체심사</a:t>
            </a:r>
          </a:p>
        </p:txBody>
      </p:sp>
      <p:cxnSp>
        <p:nvCxnSpPr>
          <p:cNvPr id="102" name="꺾인 연결선 24">
            <a:extLst>
              <a:ext uri="{FF2B5EF4-FFF2-40B4-BE49-F238E27FC236}">
                <a16:creationId xmlns:a16="http://schemas.microsoft.com/office/drawing/2014/main" id="{5B0E2218-2569-4640-995C-969343824C41}"/>
              </a:ext>
            </a:extLst>
          </p:cNvPr>
          <p:cNvCxnSpPr>
            <a:stCxn id="85" idx="3"/>
            <a:endCxn id="96" idx="2"/>
          </p:cNvCxnSpPr>
          <p:nvPr/>
        </p:nvCxnSpPr>
        <p:spPr>
          <a:xfrm flipV="1">
            <a:off x="2939142" y="3057615"/>
            <a:ext cx="880017" cy="419172"/>
          </a:xfrm>
          <a:prstGeom prst="bentConnector2">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3" name="직선 화살표 연결선 102">
            <a:extLst>
              <a:ext uri="{FF2B5EF4-FFF2-40B4-BE49-F238E27FC236}">
                <a16:creationId xmlns:a16="http://schemas.microsoft.com/office/drawing/2014/main" id="{D8B84D3C-7A09-40B8-8B19-0D790846B526}"/>
              </a:ext>
            </a:extLst>
          </p:cNvPr>
          <p:cNvCxnSpPr>
            <a:stCxn id="96" idx="0"/>
            <a:endCxn id="97" idx="2"/>
          </p:cNvCxnSpPr>
          <p:nvPr/>
        </p:nvCxnSpPr>
        <p:spPr>
          <a:xfrm flipV="1">
            <a:off x="3819159" y="2401925"/>
            <a:ext cx="0" cy="307588"/>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4" name="꺾인 연결선 26">
            <a:extLst>
              <a:ext uri="{FF2B5EF4-FFF2-40B4-BE49-F238E27FC236}">
                <a16:creationId xmlns:a16="http://schemas.microsoft.com/office/drawing/2014/main" id="{C79D8F9A-0AD5-4D6C-8630-67B126EB8A37}"/>
              </a:ext>
            </a:extLst>
          </p:cNvPr>
          <p:cNvCxnSpPr>
            <a:stCxn id="97" idx="0"/>
            <a:endCxn id="100" idx="1"/>
          </p:cNvCxnSpPr>
          <p:nvPr/>
        </p:nvCxnSpPr>
        <p:spPr>
          <a:xfrm rot="16200000" flipH="1">
            <a:off x="3839431" y="2033551"/>
            <a:ext cx="984964" cy="1025508"/>
          </a:xfrm>
          <a:prstGeom prst="bentConnector4">
            <a:avLst>
              <a:gd name="adj1" fmla="val -23209"/>
              <a:gd name="adj2" fmla="val 77632"/>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05" name="꺾인 연결선 28">
            <a:extLst>
              <a:ext uri="{FF2B5EF4-FFF2-40B4-BE49-F238E27FC236}">
                <a16:creationId xmlns:a16="http://schemas.microsoft.com/office/drawing/2014/main" id="{FEB47D08-EE14-4326-B083-662AECA84A03}"/>
              </a:ext>
            </a:extLst>
          </p:cNvPr>
          <p:cNvCxnSpPr>
            <a:stCxn id="85" idx="2"/>
            <a:endCxn id="94" idx="1"/>
          </p:cNvCxnSpPr>
          <p:nvPr/>
        </p:nvCxnSpPr>
        <p:spPr>
          <a:xfrm rot="16200000" flipH="1">
            <a:off x="3534996" y="2550097"/>
            <a:ext cx="145507" cy="2470693"/>
          </a:xfrm>
          <a:prstGeom prst="bentConnector2">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6" name="Rectangle 5">
            <a:extLst>
              <a:ext uri="{FF2B5EF4-FFF2-40B4-BE49-F238E27FC236}">
                <a16:creationId xmlns:a16="http://schemas.microsoft.com/office/drawing/2014/main" id="{FD89F283-02A5-437A-A744-79AED956CF12}"/>
              </a:ext>
            </a:extLst>
          </p:cNvPr>
          <p:cNvSpPr>
            <a:spLocks noChangeArrowheads="1"/>
          </p:cNvSpPr>
          <p:nvPr/>
        </p:nvSpPr>
        <p:spPr bwMode="auto">
          <a:xfrm>
            <a:off x="4843096" y="4344726"/>
            <a:ext cx="1133475" cy="348102"/>
          </a:xfrm>
          <a:prstGeom prst="rect">
            <a:avLst/>
          </a:prstGeom>
          <a:solidFill>
            <a:schemeClr val="bg1"/>
          </a:solidFill>
          <a:ln w="57150" algn="ctr">
            <a:solidFill>
              <a:schemeClr val="bg1">
                <a:lumMod val="50000"/>
              </a:schemeClr>
            </a:solidFill>
            <a:miter lim="800000"/>
            <a:headEnd/>
            <a:tailEnd/>
          </a:ln>
        </p:spPr>
        <p:txBody>
          <a:bodyPr wrap="none" anchor="ctr"/>
          <a:lstStyle/>
          <a:p>
            <a:pPr algn="ctr"/>
            <a:r>
              <a:rPr lang="ko-KR" altLang="en-US" sz="1100" b="0" dirty="0">
                <a:solidFill>
                  <a:schemeClr val="tx1"/>
                </a:solidFill>
                <a:latin typeface="+mj-ea"/>
                <a:ea typeface="+mj-ea"/>
              </a:rPr>
              <a:t>특허료 납부</a:t>
            </a:r>
          </a:p>
        </p:txBody>
      </p:sp>
      <p:sp>
        <p:nvSpPr>
          <p:cNvPr id="107" name="Rectangle 5">
            <a:extLst>
              <a:ext uri="{FF2B5EF4-FFF2-40B4-BE49-F238E27FC236}">
                <a16:creationId xmlns:a16="http://schemas.microsoft.com/office/drawing/2014/main" id="{105CE292-DF53-4F06-A360-C0ACA04D85E8}"/>
              </a:ext>
            </a:extLst>
          </p:cNvPr>
          <p:cNvSpPr>
            <a:spLocks noChangeArrowheads="1"/>
          </p:cNvSpPr>
          <p:nvPr/>
        </p:nvSpPr>
        <p:spPr bwMode="auto">
          <a:xfrm>
            <a:off x="4843096" y="4887651"/>
            <a:ext cx="1133475"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설정등록</a:t>
            </a:r>
          </a:p>
        </p:txBody>
      </p:sp>
      <p:sp>
        <p:nvSpPr>
          <p:cNvPr id="108" name="Rectangle 5">
            <a:extLst>
              <a:ext uri="{FF2B5EF4-FFF2-40B4-BE49-F238E27FC236}">
                <a16:creationId xmlns:a16="http://schemas.microsoft.com/office/drawing/2014/main" id="{86D33FE4-E8EC-41A2-898E-E671305087B7}"/>
              </a:ext>
            </a:extLst>
          </p:cNvPr>
          <p:cNvSpPr>
            <a:spLocks noChangeArrowheads="1"/>
          </p:cNvSpPr>
          <p:nvPr/>
        </p:nvSpPr>
        <p:spPr bwMode="auto">
          <a:xfrm>
            <a:off x="4843096" y="5422653"/>
            <a:ext cx="1133475"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dirty="0">
                <a:latin typeface="+mj-ea"/>
                <a:ea typeface="+mj-ea"/>
              </a:rPr>
              <a:t>등록공고</a:t>
            </a:r>
            <a:endParaRPr lang="ko-KR" altLang="en-US" sz="1100" b="0" dirty="0">
              <a:solidFill>
                <a:schemeClr val="tx1"/>
              </a:solidFill>
              <a:latin typeface="+mj-ea"/>
              <a:ea typeface="+mj-ea"/>
            </a:endParaRPr>
          </a:p>
        </p:txBody>
      </p:sp>
      <p:cxnSp>
        <p:nvCxnSpPr>
          <p:cNvPr id="109" name="직선 화살표 연결선 108">
            <a:extLst>
              <a:ext uri="{FF2B5EF4-FFF2-40B4-BE49-F238E27FC236}">
                <a16:creationId xmlns:a16="http://schemas.microsoft.com/office/drawing/2014/main" id="{BD7E6628-CD30-48AC-BA51-1464B09F4451}"/>
              </a:ext>
            </a:extLst>
          </p:cNvPr>
          <p:cNvCxnSpPr>
            <a:stCxn id="100" idx="2"/>
            <a:endCxn id="94" idx="0"/>
          </p:cNvCxnSpPr>
          <p:nvPr/>
        </p:nvCxnSpPr>
        <p:spPr>
          <a:xfrm flipH="1">
            <a:off x="5409834" y="3274691"/>
            <a:ext cx="1572" cy="409456"/>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0" name="직선 화살표 연결선 109">
            <a:extLst>
              <a:ext uri="{FF2B5EF4-FFF2-40B4-BE49-F238E27FC236}">
                <a16:creationId xmlns:a16="http://schemas.microsoft.com/office/drawing/2014/main" id="{553C9595-92A8-49F9-9EC9-19EEAB9C56EF}"/>
              </a:ext>
            </a:extLst>
          </p:cNvPr>
          <p:cNvCxnSpPr>
            <a:stCxn id="94" idx="2"/>
            <a:endCxn id="106" idx="0"/>
          </p:cNvCxnSpPr>
          <p:nvPr/>
        </p:nvCxnSpPr>
        <p:spPr>
          <a:xfrm>
            <a:off x="5409834" y="4032249"/>
            <a:ext cx="0" cy="312477"/>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1" name="직선 화살표 연결선 110">
            <a:extLst>
              <a:ext uri="{FF2B5EF4-FFF2-40B4-BE49-F238E27FC236}">
                <a16:creationId xmlns:a16="http://schemas.microsoft.com/office/drawing/2014/main" id="{BF4F7264-4587-4CA2-8258-BB98A88E0BDF}"/>
              </a:ext>
            </a:extLst>
          </p:cNvPr>
          <p:cNvCxnSpPr>
            <a:stCxn id="106" idx="2"/>
            <a:endCxn id="107" idx="0"/>
          </p:cNvCxnSpPr>
          <p:nvPr/>
        </p:nvCxnSpPr>
        <p:spPr>
          <a:xfrm>
            <a:off x="5409834" y="4692828"/>
            <a:ext cx="0" cy="194823"/>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2" name="직선 화살표 연결선 111">
            <a:extLst>
              <a:ext uri="{FF2B5EF4-FFF2-40B4-BE49-F238E27FC236}">
                <a16:creationId xmlns:a16="http://schemas.microsoft.com/office/drawing/2014/main" id="{F3AAE792-1357-4DA4-A47B-A52956B142A4}"/>
              </a:ext>
            </a:extLst>
          </p:cNvPr>
          <p:cNvCxnSpPr>
            <a:stCxn id="107" idx="2"/>
            <a:endCxn id="108" idx="0"/>
          </p:cNvCxnSpPr>
          <p:nvPr/>
        </p:nvCxnSpPr>
        <p:spPr>
          <a:xfrm>
            <a:off x="5409834" y="5235753"/>
            <a:ext cx="0" cy="186900"/>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3" name="Rectangle 5">
            <a:extLst>
              <a:ext uri="{FF2B5EF4-FFF2-40B4-BE49-F238E27FC236}">
                <a16:creationId xmlns:a16="http://schemas.microsoft.com/office/drawing/2014/main" id="{B1B3F6C2-CB95-48C7-87CF-7152FF86769A}"/>
              </a:ext>
            </a:extLst>
          </p:cNvPr>
          <p:cNvSpPr>
            <a:spLocks noChangeArrowheads="1"/>
          </p:cNvSpPr>
          <p:nvPr/>
        </p:nvSpPr>
        <p:spPr bwMode="auto">
          <a:xfrm>
            <a:off x="6900496" y="1917460"/>
            <a:ext cx="1133475"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거절결정</a:t>
            </a:r>
          </a:p>
        </p:txBody>
      </p:sp>
      <p:sp>
        <p:nvSpPr>
          <p:cNvPr id="117" name="Rectangle 5">
            <a:extLst>
              <a:ext uri="{FF2B5EF4-FFF2-40B4-BE49-F238E27FC236}">
                <a16:creationId xmlns:a16="http://schemas.microsoft.com/office/drawing/2014/main" id="{44F6F490-F350-40B0-BA17-C0F3723D6219}"/>
              </a:ext>
            </a:extLst>
          </p:cNvPr>
          <p:cNvSpPr>
            <a:spLocks noChangeArrowheads="1"/>
          </p:cNvSpPr>
          <p:nvPr/>
        </p:nvSpPr>
        <p:spPr bwMode="auto">
          <a:xfrm>
            <a:off x="6900496" y="2601706"/>
            <a:ext cx="1133475" cy="348102"/>
          </a:xfrm>
          <a:prstGeom prst="rect">
            <a:avLst/>
          </a:prstGeom>
          <a:solidFill>
            <a:schemeClr val="accent2"/>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재심사청구</a:t>
            </a:r>
            <a:r>
              <a:rPr lang="en-US" altLang="ko-KR" sz="1100" b="0" dirty="0">
                <a:solidFill>
                  <a:schemeClr val="tx1"/>
                </a:solidFill>
                <a:latin typeface="+mj-ea"/>
                <a:ea typeface="+mj-ea"/>
              </a:rPr>
              <a:t>(</a:t>
            </a:r>
            <a:r>
              <a:rPr lang="ko-KR" altLang="en-US" sz="1100" b="0" dirty="0">
                <a:solidFill>
                  <a:schemeClr val="tx1"/>
                </a:solidFill>
                <a:latin typeface="+mj-ea"/>
                <a:ea typeface="+mj-ea"/>
              </a:rPr>
              <a:t>보정</a:t>
            </a:r>
            <a:r>
              <a:rPr lang="en-US" altLang="ko-KR" sz="1100" b="0" dirty="0">
                <a:solidFill>
                  <a:schemeClr val="tx1"/>
                </a:solidFill>
                <a:latin typeface="+mj-ea"/>
                <a:ea typeface="+mj-ea"/>
              </a:rPr>
              <a:t>)</a:t>
            </a:r>
            <a:endParaRPr lang="ko-KR" altLang="en-US" sz="1100" b="0" dirty="0">
              <a:solidFill>
                <a:schemeClr val="tx1"/>
              </a:solidFill>
              <a:latin typeface="+mj-ea"/>
              <a:ea typeface="+mj-ea"/>
            </a:endParaRPr>
          </a:p>
        </p:txBody>
      </p:sp>
      <p:sp>
        <p:nvSpPr>
          <p:cNvPr id="119" name="AutoShape 11">
            <a:extLst>
              <a:ext uri="{FF2B5EF4-FFF2-40B4-BE49-F238E27FC236}">
                <a16:creationId xmlns:a16="http://schemas.microsoft.com/office/drawing/2014/main" id="{23C30C20-5C21-4459-B228-5DDA7D101BA1}"/>
              </a:ext>
            </a:extLst>
          </p:cNvPr>
          <p:cNvSpPr>
            <a:spLocks noChangeArrowheads="1"/>
          </p:cNvSpPr>
          <p:nvPr/>
        </p:nvSpPr>
        <p:spPr bwMode="auto">
          <a:xfrm>
            <a:off x="6900496" y="3271417"/>
            <a:ext cx="1133478" cy="471808"/>
          </a:xfrm>
          <a:prstGeom prst="flowChartDecision">
            <a:avLst/>
          </a:prstGeom>
          <a:solidFill>
            <a:schemeClr val="accent5">
              <a:lumMod val="75000"/>
            </a:schemeClr>
          </a:solidFill>
          <a:ln>
            <a:solidFill>
              <a:schemeClr val="bg1">
                <a:lumMod val="50000"/>
              </a:schemeClr>
            </a:solidFill>
            <a:headEnd/>
            <a:tailEnd/>
          </a:ln>
          <a:effectLst/>
        </p:spPr>
        <p:style>
          <a:lnRef idx="1">
            <a:schemeClr val="accent5"/>
          </a:lnRef>
          <a:fillRef idx="3">
            <a:schemeClr val="accent5"/>
          </a:fillRef>
          <a:effectRef idx="2">
            <a:schemeClr val="accent5"/>
          </a:effectRef>
          <a:fontRef idx="minor">
            <a:schemeClr val="lt1"/>
          </a:fontRef>
        </p:style>
        <p:txBody>
          <a:bodyPr wrap="none" anchor="ctr"/>
          <a:lstStyle/>
          <a:p>
            <a:pPr algn="ctr">
              <a:defRPr/>
            </a:pPr>
            <a:r>
              <a:rPr lang="ko-KR" altLang="en-US" sz="1100" b="0" dirty="0">
                <a:solidFill>
                  <a:schemeClr val="bg1"/>
                </a:solidFill>
                <a:latin typeface="+mj-ea"/>
                <a:ea typeface="+mj-ea"/>
              </a:rPr>
              <a:t>실체심사</a:t>
            </a:r>
          </a:p>
        </p:txBody>
      </p:sp>
      <p:sp>
        <p:nvSpPr>
          <p:cNvPr id="121" name="Rectangle 5">
            <a:extLst>
              <a:ext uri="{FF2B5EF4-FFF2-40B4-BE49-F238E27FC236}">
                <a16:creationId xmlns:a16="http://schemas.microsoft.com/office/drawing/2014/main" id="{6FF1FD76-FF5E-44CC-9685-83B37CFC65DB}"/>
              </a:ext>
            </a:extLst>
          </p:cNvPr>
          <p:cNvSpPr>
            <a:spLocks noChangeArrowheads="1"/>
          </p:cNvSpPr>
          <p:nvPr/>
        </p:nvSpPr>
        <p:spPr bwMode="auto">
          <a:xfrm>
            <a:off x="6900496" y="4059619"/>
            <a:ext cx="1133475"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거절결정</a:t>
            </a:r>
          </a:p>
        </p:txBody>
      </p:sp>
      <p:sp>
        <p:nvSpPr>
          <p:cNvPr id="124" name="Rectangle 5">
            <a:extLst>
              <a:ext uri="{FF2B5EF4-FFF2-40B4-BE49-F238E27FC236}">
                <a16:creationId xmlns:a16="http://schemas.microsoft.com/office/drawing/2014/main" id="{10101FDD-F994-4B3C-A656-53069C6626D8}"/>
              </a:ext>
            </a:extLst>
          </p:cNvPr>
          <p:cNvSpPr>
            <a:spLocks noChangeArrowheads="1"/>
          </p:cNvSpPr>
          <p:nvPr/>
        </p:nvSpPr>
        <p:spPr bwMode="auto">
          <a:xfrm>
            <a:off x="8795971" y="2052308"/>
            <a:ext cx="1281479" cy="348102"/>
          </a:xfrm>
          <a:prstGeom prst="rect">
            <a:avLst/>
          </a:prstGeom>
          <a:solidFill>
            <a:schemeClr val="accent2"/>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거절결정불복심판청구</a:t>
            </a:r>
            <a:endParaRPr lang="en-US" altLang="ko-KR" sz="1100" b="0" dirty="0">
              <a:solidFill>
                <a:schemeClr val="tx1"/>
              </a:solidFill>
              <a:latin typeface="+mj-ea"/>
              <a:ea typeface="+mj-ea"/>
            </a:endParaRPr>
          </a:p>
          <a:p>
            <a:pPr algn="ctr"/>
            <a:r>
              <a:rPr lang="en-US" altLang="ko-KR" sz="900" dirty="0">
                <a:latin typeface="+mj-ea"/>
                <a:ea typeface="+mj-ea"/>
              </a:rPr>
              <a:t>(</a:t>
            </a:r>
            <a:r>
              <a:rPr lang="ko-KR" altLang="en-US" sz="900" dirty="0">
                <a:latin typeface="+mj-ea"/>
                <a:ea typeface="+mj-ea"/>
              </a:rPr>
              <a:t>특허심판원</a:t>
            </a:r>
            <a:r>
              <a:rPr lang="en-US" altLang="ko-KR" sz="900" dirty="0">
                <a:latin typeface="+mj-ea"/>
                <a:ea typeface="+mj-ea"/>
              </a:rPr>
              <a:t>)</a:t>
            </a:r>
            <a:endParaRPr lang="en-US" altLang="ko-KR" sz="900" b="0" dirty="0">
              <a:solidFill>
                <a:schemeClr val="tx1"/>
              </a:solidFill>
              <a:latin typeface="+mj-ea"/>
              <a:ea typeface="+mj-ea"/>
            </a:endParaRPr>
          </a:p>
        </p:txBody>
      </p:sp>
      <p:sp>
        <p:nvSpPr>
          <p:cNvPr id="125" name="Rectangle 5">
            <a:extLst>
              <a:ext uri="{FF2B5EF4-FFF2-40B4-BE49-F238E27FC236}">
                <a16:creationId xmlns:a16="http://schemas.microsoft.com/office/drawing/2014/main" id="{5C2B1491-17CF-418E-9BE2-772126FB59A5}"/>
              </a:ext>
            </a:extLst>
          </p:cNvPr>
          <p:cNvSpPr>
            <a:spLocks noChangeArrowheads="1"/>
          </p:cNvSpPr>
          <p:nvPr/>
        </p:nvSpPr>
        <p:spPr bwMode="auto">
          <a:xfrm>
            <a:off x="10467551" y="2247258"/>
            <a:ext cx="800524"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dirty="0" err="1">
                <a:latin typeface="+mj-ea"/>
                <a:ea typeface="+mj-ea"/>
              </a:rPr>
              <a:t>인용심결</a:t>
            </a:r>
            <a:endParaRPr lang="en-US" altLang="ko-KR" sz="1100" dirty="0">
              <a:latin typeface="+mj-ea"/>
              <a:ea typeface="+mj-ea"/>
            </a:endParaRPr>
          </a:p>
          <a:p>
            <a:pPr algn="ctr"/>
            <a:r>
              <a:rPr lang="en-US" altLang="ko-KR" sz="900" dirty="0">
                <a:latin typeface="+mj-ea"/>
                <a:ea typeface="+mj-ea"/>
              </a:rPr>
              <a:t>(</a:t>
            </a:r>
            <a:r>
              <a:rPr lang="ko-KR" altLang="en-US" sz="900" dirty="0">
                <a:latin typeface="+mj-ea"/>
                <a:ea typeface="+mj-ea"/>
              </a:rPr>
              <a:t>거절결정취소</a:t>
            </a:r>
            <a:r>
              <a:rPr lang="en-US" altLang="ko-KR" sz="900" dirty="0">
                <a:latin typeface="+mj-ea"/>
                <a:ea typeface="+mj-ea"/>
              </a:rPr>
              <a:t>)</a:t>
            </a:r>
            <a:endParaRPr lang="ko-KR" altLang="en-US" sz="900" dirty="0">
              <a:latin typeface="+mj-ea"/>
              <a:ea typeface="+mj-ea"/>
            </a:endParaRPr>
          </a:p>
        </p:txBody>
      </p:sp>
      <p:sp>
        <p:nvSpPr>
          <p:cNvPr id="127" name="Rectangle 5">
            <a:extLst>
              <a:ext uri="{FF2B5EF4-FFF2-40B4-BE49-F238E27FC236}">
                <a16:creationId xmlns:a16="http://schemas.microsoft.com/office/drawing/2014/main" id="{AEFEB5BD-1927-4261-BB1D-2359948EE591}"/>
              </a:ext>
            </a:extLst>
          </p:cNvPr>
          <p:cNvSpPr>
            <a:spLocks noChangeArrowheads="1"/>
          </p:cNvSpPr>
          <p:nvPr/>
        </p:nvSpPr>
        <p:spPr bwMode="auto">
          <a:xfrm>
            <a:off x="10467551" y="1820131"/>
            <a:ext cx="800524"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dirty="0" err="1">
                <a:latin typeface="+mj-ea"/>
                <a:ea typeface="+mj-ea"/>
              </a:rPr>
              <a:t>기각</a:t>
            </a:r>
            <a:r>
              <a:rPr lang="ko-KR" altLang="en-US" sz="1100" b="0" dirty="0" err="1">
                <a:solidFill>
                  <a:schemeClr val="tx1"/>
                </a:solidFill>
                <a:latin typeface="+mj-ea"/>
                <a:ea typeface="+mj-ea"/>
              </a:rPr>
              <a:t>심결</a:t>
            </a:r>
            <a:endParaRPr lang="ko-KR" altLang="en-US" sz="1100" b="0" dirty="0">
              <a:solidFill>
                <a:schemeClr val="tx1"/>
              </a:solidFill>
              <a:latin typeface="+mj-ea"/>
              <a:ea typeface="+mj-ea"/>
            </a:endParaRPr>
          </a:p>
        </p:txBody>
      </p:sp>
      <p:sp>
        <p:nvSpPr>
          <p:cNvPr id="128" name="Rectangle 5">
            <a:extLst>
              <a:ext uri="{FF2B5EF4-FFF2-40B4-BE49-F238E27FC236}">
                <a16:creationId xmlns:a16="http://schemas.microsoft.com/office/drawing/2014/main" id="{059FA2E6-857D-445A-8C58-0EA116A7B558}"/>
              </a:ext>
            </a:extLst>
          </p:cNvPr>
          <p:cNvSpPr>
            <a:spLocks noChangeArrowheads="1"/>
          </p:cNvSpPr>
          <p:nvPr/>
        </p:nvSpPr>
        <p:spPr bwMode="auto">
          <a:xfrm>
            <a:off x="9977071" y="4045073"/>
            <a:ext cx="1281479" cy="348102"/>
          </a:xfrm>
          <a:prstGeom prst="rect">
            <a:avLst/>
          </a:prstGeom>
          <a:solidFill>
            <a:schemeClr val="bg1"/>
          </a:solidFill>
          <a:ln w="57150" algn="ctr">
            <a:solidFill>
              <a:srgbClr val="5F5F5F"/>
            </a:solidFill>
            <a:miter lim="800000"/>
            <a:headEnd/>
            <a:tailEnd/>
          </a:ln>
        </p:spPr>
        <p:txBody>
          <a:bodyPr wrap="none" anchor="ctr"/>
          <a:lstStyle/>
          <a:p>
            <a:pPr algn="ctr"/>
            <a:r>
              <a:rPr lang="ko-KR" altLang="en-US" sz="1100" dirty="0">
                <a:latin typeface="+mj-ea"/>
                <a:ea typeface="+mj-ea"/>
              </a:rPr>
              <a:t>소제기</a:t>
            </a:r>
            <a:endParaRPr lang="en-US" altLang="ko-KR" sz="1100" dirty="0">
              <a:latin typeface="+mj-ea"/>
              <a:ea typeface="+mj-ea"/>
            </a:endParaRPr>
          </a:p>
          <a:p>
            <a:pPr algn="ctr"/>
            <a:r>
              <a:rPr lang="en-US" altLang="ko-KR" sz="900" dirty="0">
                <a:latin typeface="+mj-ea"/>
                <a:ea typeface="+mj-ea"/>
              </a:rPr>
              <a:t>(</a:t>
            </a:r>
            <a:r>
              <a:rPr lang="ko-KR" altLang="en-US" sz="900" dirty="0">
                <a:latin typeface="+mj-ea"/>
                <a:ea typeface="+mj-ea"/>
              </a:rPr>
              <a:t>특허법원</a:t>
            </a:r>
            <a:r>
              <a:rPr lang="en-US" altLang="ko-KR" sz="900" dirty="0">
                <a:latin typeface="+mj-ea"/>
                <a:ea typeface="+mj-ea"/>
              </a:rPr>
              <a:t>)</a:t>
            </a:r>
            <a:endParaRPr lang="en-US" altLang="ko-KR" sz="900" b="0" dirty="0">
              <a:solidFill>
                <a:schemeClr val="tx1"/>
              </a:solidFill>
              <a:latin typeface="+mj-ea"/>
              <a:ea typeface="+mj-ea"/>
            </a:endParaRPr>
          </a:p>
        </p:txBody>
      </p:sp>
      <p:sp>
        <p:nvSpPr>
          <p:cNvPr id="129" name="Rectangle 5">
            <a:extLst>
              <a:ext uri="{FF2B5EF4-FFF2-40B4-BE49-F238E27FC236}">
                <a16:creationId xmlns:a16="http://schemas.microsoft.com/office/drawing/2014/main" id="{2D8B77A1-12D5-44EB-839F-002B85ECFDF7}"/>
              </a:ext>
            </a:extLst>
          </p:cNvPr>
          <p:cNvSpPr>
            <a:spLocks noChangeArrowheads="1"/>
          </p:cNvSpPr>
          <p:nvPr/>
        </p:nvSpPr>
        <p:spPr bwMode="auto">
          <a:xfrm>
            <a:off x="9977071" y="4846989"/>
            <a:ext cx="1281479" cy="348102"/>
          </a:xfrm>
          <a:prstGeom prst="rect">
            <a:avLst/>
          </a:prstGeom>
          <a:solidFill>
            <a:schemeClr val="bg1"/>
          </a:solidFill>
          <a:ln w="57150" algn="ctr">
            <a:solidFill>
              <a:srgbClr val="5F5F5F"/>
            </a:solidFill>
            <a:miter lim="800000"/>
            <a:headEnd/>
            <a:tailEnd/>
          </a:ln>
        </p:spPr>
        <p:txBody>
          <a:bodyPr wrap="none" anchor="ctr"/>
          <a:lstStyle/>
          <a:p>
            <a:pPr algn="ctr"/>
            <a:r>
              <a:rPr lang="ko-KR" altLang="en-US" sz="1100" dirty="0">
                <a:latin typeface="+mj-ea"/>
                <a:ea typeface="+mj-ea"/>
              </a:rPr>
              <a:t>상고</a:t>
            </a:r>
            <a:endParaRPr lang="en-US" altLang="ko-KR" sz="1100" dirty="0">
              <a:latin typeface="+mj-ea"/>
              <a:ea typeface="+mj-ea"/>
            </a:endParaRPr>
          </a:p>
          <a:p>
            <a:pPr algn="ctr"/>
            <a:r>
              <a:rPr lang="en-US" altLang="ko-KR" sz="900" dirty="0">
                <a:latin typeface="+mj-ea"/>
                <a:ea typeface="+mj-ea"/>
              </a:rPr>
              <a:t>(</a:t>
            </a:r>
            <a:r>
              <a:rPr lang="ko-KR" altLang="en-US" sz="900" dirty="0">
                <a:latin typeface="+mj-ea"/>
                <a:ea typeface="+mj-ea"/>
              </a:rPr>
              <a:t>대법원</a:t>
            </a:r>
            <a:r>
              <a:rPr lang="en-US" altLang="ko-KR" sz="900" dirty="0">
                <a:latin typeface="+mj-ea"/>
                <a:ea typeface="+mj-ea"/>
              </a:rPr>
              <a:t>)</a:t>
            </a:r>
            <a:endParaRPr lang="en-US" altLang="ko-KR" sz="900" b="0" dirty="0">
              <a:solidFill>
                <a:schemeClr val="tx1"/>
              </a:solidFill>
              <a:latin typeface="+mj-ea"/>
              <a:ea typeface="+mj-ea"/>
            </a:endParaRPr>
          </a:p>
        </p:txBody>
      </p:sp>
      <p:sp>
        <p:nvSpPr>
          <p:cNvPr id="134" name="Rectangle 5">
            <a:extLst>
              <a:ext uri="{FF2B5EF4-FFF2-40B4-BE49-F238E27FC236}">
                <a16:creationId xmlns:a16="http://schemas.microsoft.com/office/drawing/2014/main" id="{6B9EE4C4-68CA-46EB-88CE-6165AA5C5A3C}"/>
              </a:ext>
            </a:extLst>
          </p:cNvPr>
          <p:cNvSpPr>
            <a:spLocks noChangeArrowheads="1"/>
          </p:cNvSpPr>
          <p:nvPr/>
        </p:nvSpPr>
        <p:spPr bwMode="auto">
          <a:xfrm>
            <a:off x="6624271" y="5144533"/>
            <a:ext cx="1281479" cy="348102"/>
          </a:xfrm>
          <a:prstGeom prst="rect">
            <a:avLst/>
          </a:prstGeom>
          <a:solidFill>
            <a:schemeClr val="accent4"/>
          </a:solidFill>
          <a:ln w="9525" algn="ctr">
            <a:solidFill>
              <a:srgbClr val="5F5F5F"/>
            </a:solidFill>
            <a:miter lim="800000"/>
            <a:headEnd/>
            <a:tailEnd/>
          </a:ln>
        </p:spPr>
        <p:txBody>
          <a:bodyPr wrap="none" anchor="ctr"/>
          <a:lstStyle/>
          <a:p>
            <a:pPr algn="ctr"/>
            <a:r>
              <a:rPr lang="ko-KR" altLang="en-US" sz="1100" dirty="0">
                <a:latin typeface="+mj-ea"/>
                <a:ea typeface="+mj-ea"/>
              </a:rPr>
              <a:t>특허취소신청</a:t>
            </a:r>
            <a:endParaRPr lang="en-US" altLang="ko-KR" sz="1100" dirty="0">
              <a:latin typeface="+mj-ea"/>
              <a:ea typeface="+mj-ea"/>
            </a:endParaRPr>
          </a:p>
          <a:p>
            <a:pPr algn="ctr"/>
            <a:r>
              <a:rPr lang="en-US" altLang="ko-KR" sz="900" dirty="0">
                <a:latin typeface="+mj-ea"/>
                <a:ea typeface="+mj-ea"/>
              </a:rPr>
              <a:t>(</a:t>
            </a:r>
            <a:r>
              <a:rPr lang="ko-KR" altLang="en-US" sz="900" dirty="0">
                <a:latin typeface="+mj-ea"/>
                <a:ea typeface="+mj-ea"/>
              </a:rPr>
              <a:t>특허심판원</a:t>
            </a:r>
            <a:r>
              <a:rPr lang="en-US" altLang="ko-KR" sz="900" dirty="0">
                <a:latin typeface="+mj-ea"/>
                <a:ea typeface="+mj-ea"/>
              </a:rPr>
              <a:t>)</a:t>
            </a:r>
            <a:endParaRPr lang="en-US" altLang="ko-KR" sz="900" b="0" dirty="0">
              <a:solidFill>
                <a:schemeClr val="tx1"/>
              </a:solidFill>
              <a:latin typeface="+mj-ea"/>
              <a:ea typeface="+mj-ea"/>
            </a:endParaRPr>
          </a:p>
        </p:txBody>
      </p:sp>
      <p:sp>
        <p:nvSpPr>
          <p:cNvPr id="135" name="Rectangle 5">
            <a:extLst>
              <a:ext uri="{FF2B5EF4-FFF2-40B4-BE49-F238E27FC236}">
                <a16:creationId xmlns:a16="http://schemas.microsoft.com/office/drawing/2014/main" id="{DDA09E28-5665-42DD-8AED-EB00736D4888}"/>
              </a:ext>
            </a:extLst>
          </p:cNvPr>
          <p:cNvSpPr>
            <a:spLocks noChangeArrowheads="1"/>
          </p:cNvSpPr>
          <p:nvPr/>
        </p:nvSpPr>
        <p:spPr bwMode="auto">
          <a:xfrm>
            <a:off x="8252622" y="4947402"/>
            <a:ext cx="800524"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dirty="0">
                <a:latin typeface="+mj-ea"/>
                <a:ea typeface="+mj-ea"/>
              </a:rPr>
              <a:t>취소</a:t>
            </a:r>
            <a:r>
              <a:rPr lang="ko-KR" altLang="en-US" sz="1100" b="0" dirty="0">
                <a:solidFill>
                  <a:schemeClr val="tx1"/>
                </a:solidFill>
                <a:latin typeface="+mj-ea"/>
                <a:ea typeface="+mj-ea"/>
              </a:rPr>
              <a:t>결정</a:t>
            </a:r>
          </a:p>
        </p:txBody>
      </p:sp>
      <p:sp>
        <p:nvSpPr>
          <p:cNvPr id="137" name="Rectangle 5">
            <a:extLst>
              <a:ext uri="{FF2B5EF4-FFF2-40B4-BE49-F238E27FC236}">
                <a16:creationId xmlns:a16="http://schemas.microsoft.com/office/drawing/2014/main" id="{3C984F43-730F-4A17-B3E7-4AB553A4D3FE}"/>
              </a:ext>
            </a:extLst>
          </p:cNvPr>
          <p:cNvSpPr>
            <a:spLocks noChangeArrowheads="1"/>
          </p:cNvSpPr>
          <p:nvPr/>
        </p:nvSpPr>
        <p:spPr bwMode="auto">
          <a:xfrm>
            <a:off x="8252622" y="5341857"/>
            <a:ext cx="800524"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dirty="0">
                <a:latin typeface="+mj-ea"/>
                <a:ea typeface="+mj-ea"/>
              </a:rPr>
              <a:t>기각</a:t>
            </a:r>
            <a:r>
              <a:rPr lang="ko-KR" altLang="en-US" sz="1100" b="0" dirty="0">
                <a:solidFill>
                  <a:schemeClr val="tx1"/>
                </a:solidFill>
                <a:latin typeface="+mj-ea"/>
                <a:ea typeface="+mj-ea"/>
              </a:rPr>
              <a:t>결정</a:t>
            </a:r>
            <a:endParaRPr lang="en-US" altLang="ko-KR" sz="1100" b="0" dirty="0">
              <a:solidFill>
                <a:schemeClr val="tx1"/>
              </a:solidFill>
              <a:latin typeface="+mj-ea"/>
              <a:ea typeface="+mj-ea"/>
            </a:endParaRPr>
          </a:p>
        </p:txBody>
      </p:sp>
      <p:sp>
        <p:nvSpPr>
          <p:cNvPr id="138" name="Rectangle 5">
            <a:extLst>
              <a:ext uri="{FF2B5EF4-FFF2-40B4-BE49-F238E27FC236}">
                <a16:creationId xmlns:a16="http://schemas.microsoft.com/office/drawing/2014/main" id="{A19BC395-BF06-4866-8341-618835963EF5}"/>
              </a:ext>
            </a:extLst>
          </p:cNvPr>
          <p:cNvSpPr>
            <a:spLocks noChangeArrowheads="1"/>
          </p:cNvSpPr>
          <p:nvPr/>
        </p:nvSpPr>
        <p:spPr bwMode="auto">
          <a:xfrm>
            <a:off x="6624271" y="5983939"/>
            <a:ext cx="1281479" cy="348102"/>
          </a:xfrm>
          <a:prstGeom prst="rect">
            <a:avLst/>
          </a:prstGeom>
          <a:solidFill>
            <a:schemeClr val="accent4"/>
          </a:solidFill>
          <a:ln w="9525" algn="ctr">
            <a:solidFill>
              <a:srgbClr val="5F5F5F"/>
            </a:solidFill>
            <a:miter lim="800000"/>
            <a:headEnd/>
            <a:tailEnd/>
          </a:ln>
        </p:spPr>
        <p:txBody>
          <a:bodyPr wrap="none" anchor="ctr"/>
          <a:lstStyle/>
          <a:p>
            <a:pPr algn="ctr"/>
            <a:r>
              <a:rPr lang="ko-KR" altLang="en-US" sz="1100" dirty="0">
                <a:latin typeface="+mj-ea"/>
                <a:ea typeface="+mj-ea"/>
              </a:rPr>
              <a:t>특허무효심판청구</a:t>
            </a:r>
            <a:endParaRPr lang="en-US" altLang="ko-KR" sz="1100" dirty="0">
              <a:latin typeface="+mj-ea"/>
              <a:ea typeface="+mj-ea"/>
            </a:endParaRPr>
          </a:p>
          <a:p>
            <a:pPr algn="ctr"/>
            <a:r>
              <a:rPr lang="en-US" altLang="ko-KR" sz="900" dirty="0">
                <a:latin typeface="+mj-ea"/>
                <a:ea typeface="+mj-ea"/>
              </a:rPr>
              <a:t>(</a:t>
            </a:r>
            <a:r>
              <a:rPr lang="ko-KR" altLang="en-US" sz="900" dirty="0">
                <a:latin typeface="+mj-ea"/>
                <a:ea typeface="+mj-ea"/>
              </a:rPr>
              <a:t>특허심판원</a:t>
            </a:r>
            <a:r>
              <a:rPr lang="en-US" altLang="ko-KR" sz="900" dirty="0">
                <a:latin typeface="+mj-ea"/>
                <a:ea typeface="+mj-ea"/>
              </a:rPr>
              <a:t>)</a:t>
            </a:r>
            <a:endParaRPr lang="en-US" altLang="ko-KR" sz="900" b="0" dirty="0">
              <a:solidFill>
                <a:schemeClr val="tx1"/>
              </a:solidFill>
              <a:latin typeface="+mj-ea"/>
              <a:ea typeface="+mj-ea"/>
            </a:endParaRPr>
          </a:p>
        </p:txBody>
      </p:sp>
      <p:sp>
        <p:nvSpPr>
          <p:cNvPr id="140" name="Rectangle 5">
            <a:extLst>
              <a:ext uri="{FF2B5EF4-FFF2-40B4-BE49-F238E27FC236}">
                <a16:creationId xmlns:a16="http://schemas.microsoft.com/office/drawing/2014/main" id="{0B7887A2-AD0E-4B8F-A764-106F93C9BF01}"/>
              </a:ext>
            </a:extLst>
          </p:cNvPr>
          <p:cNvSpPr>
            <a:spLocks noChangeArrowheads="1"/>
          </p:cNvSpPr>
          <p:nvPr/>
        </p:nvSpPr>
        <p:spPr bwMode="auto">
          <a:xfrm>
            <a:off x="8252622" y="5786808"/>
            <a:ext cx="800524"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dirty="0" err="1">
                <a:latin typeface="+mj-ea"/>
                <a:ea typeface="+mj-ea"/>
              </a:rPr>
              <a:t>인용</a:t>
            </a:r>
            <a:r>
              <a:rPr lang="ko-KR" altLang="en-US" sz="1100" b="0" dirty="0" err="1">
                <a:solidFill>
                  <a:schemeClr val="tx1"/>
                </a:solidFill>
                <a:latin typeface="+mj-ea"/>
                <a:ea typeface="+mj-ea"/>
              </a:rPr>
              <a:t>심결</a:t>
            </a:r>
            <a:endParaRPr lang="ko-KR" altLang="en-US" sz="1100" b="0" dirty="0">
              <a:solidFill>
                <a:schemeClr val="tx1"/>
              </a:solidFill>
              <a:latin typeface="+mj-ea"/>
              <a:ea typeface="+mj-ea"/>
            </a:endParaRPr>
          </a:p>
        </p:txBody>
      </p:sp>
      <p:sp>
        <p:nvSpPr>
          <p:cNvPr id="141" name="Rectangle 5">
            <a:extLst>
              <a:ext uri="{FF2B5EF4-FFF2-40B4-BE49-F238E27FC236}">
                <a16:creationId xmlns:a16="http://schemas.microsoft.com/office/drawing/2014/main" id="{D99CDB0E-6C6F-4F62-9915-17E97959FC54}"/>
              </a:ext>
            </a:extLst>
          </p:cNvPr>
          <p:cNvSpPr>
            <a:spLocks noChangeArrowheads="1"/>
          </p:cNvSpPr>
          <p:nvPr/>
        </p:nvSpPr>
        <p:spPr bwMode="auto">
          <a:xfrm>
            <a:off x="8252622" y="6181263"/>
            <a:ext cx="800524"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b="0" dirty="0" err="1">
                <a:solidFill>
                  <a:schemeClr val="tx1"/>
                </a:solidFill>
                <a:latin typeface="+mj-ea"/>
                <a:ea typeface="+mj-ea"/>
              </a:rPr>
              <a:t>기각심결</a:t>
            </a:r>
            <a:endParaRPr lang="en-US" altLang="ko-KR" sz="1100" b="0" dirty="0">
              <a:solidFill>
                <a:schemeClr val="tx1"/>
              </a:solidFill>
              <a:latin typeface="+mj-ea"/>
              <a:ea typeface="+mj-ea"/>
            </a:endParaRPr>
          </a:p>
        </p:txBody>
      </p:sp>
      <p:sp>
        <p:nvSpPr>
          <p:cNvPr id="143" name="Rectangle 5">
            <a:extLst>
              <a:ext uri="{FF2B5EF4-FFF2-40B4-BE49-F238E27FC236}">
                <a16:creationId xmlns:a16="http://schemas.microsoft.com/office/drawing/2014/main" id="{EBC6AD86-7A38-4F3D-A26B-089914665790}"/>
              </a:ext>
            </a:extLst>
          </p:cNvPr>
          <p:cNvSpPr>
            <a:spLocks noChangeArrowheads="1"/>
          </p:cNvSpPr>
          <p:nvPr/>
        </p:nvSpPr>
        <p:spPr bwMode="auto">
          <a:xfrm>
            <a:off x="2723784" y="3198619"/>
            <a:ext cx="1133475" cy="348102"/>
          </a:xfrm>
          <a:prstGeom prst="rect">
            <a:avLst/>
          </a:prstGeom>
          <a:noFill/>
          <a:ln w="9525" algn="ctr">
            <a:noFill/>
            <a:miter lim="800000"/>
            <a:headEnd/>
            <a:tailEnd/>
          </a:ln>
        </p:spPr>
        <p:txBody>
          <a:bodyPr wrap="none" anchor="ctr"/>
          <a:lstStyle/>
          <a:p>
            <a:pPr algn="ctr"/>
            <a:r>
              <a:rPr lang="ko-KR" altLang="en-US" sz="1050" b="0" dirty="0">
                <a:solidFill>
                  <a:schemeClr val="tx1"/>
                </a:solidFill>
                <a:latin typeface="+mj-ea"/>
                <a:ea typeface="+mj-ea"/>
              </a:rPr>
              <a:t>거절이유 있음</a:t>
            </a:r>
          </a:p>
        </p:txBody>
      </p:sp>
      <p:sp>
        <p:nvSpPr>
          <p:cNvPr id="144" name="Rectangle 5">
            <a:extLst>
              <a:ext uri="{FF2B5EF4-FFF2-40B4-BE49-F238E27FC236}">
                <a16:creationId xmlns:a16="http://schemas.microsoft.com/office/drawing/2014/main" id="{4328EAD1-C617-4F66-AA97-D02F6E86A41A}"/>
              </a:ext>
            </a:extLst>
          </p:cNvPr>
          <p:cNvSpPr>
            <a:spLocks noChangeArrowheads="1"/>
          </p:cNvSpPr>
          <p:nvPr/>
        </p:nvSpPr>
        <p:spPr bwMode="auto">
          <a:xfrm>
            <a:off x="2491099" y="3582818"/>
            <a:ext cx="1133475" cy="348102"/>
          </a:xfrm>
          <a:prstGeom prst="rect">
            <a:avLst/>
          </a:prstGeom>
          <a:noFill/>
          <a:ln w="9525" algn="ctr">
            <a:noFill/>
            <a:miter lim="800000"/>
            <a:headEnd/>
            <a:tailEnd/>
          </a:ln>
        </p:spPr>
        <p:txBody>
          <a:bodyPr wrap="none" anchor="ctr"/>
          <a:lstStyle/>
          <a:p>
            <a:pPr algn="ctr"/>
            <a:r>
              <a:rPr lang="ko-KR" altLang="en-US" sz="1050" b="0" dirty="0">
                <a:solidFill>
                  <a:schemeClr val="tx1"/>
                </a:solidFill>
                <a:latin typeface="+mj-ea"/>
                <a:ea typeface="+mj-ea"/>
              </a:rPr>
              <a:t>거절이유 없음</a:t>
            </a:r>
          </a:p>
        </p:txBody>
      </p:sp>
      <p:sp>
        <p:nvSpPr>
          <p:cNvPr id="145" name="Rectangle 5">
            <a:extLst>
              <a:ext uri="{FF2B5EF4-FFF2-40B4-BE49-F238E27FC236}">
                <a16:creationId xmlns:a16="http://schemas.microsoft.com/office/drawing/2014/main" id="{CACE614A-EBE9-4143-AF25-DA8625531E16}"/>
              </a:ext>
            </a:extLst>
          </p:cNvPr>
          <p:cNvSpPr>
            <a:spLocks noChangeArrowheads="1"/>
          </p:cNvSpPr>
          <p:nvPr/>
        </p:nvSpPr>
        <p:spPr bwMode="auto">
          <a:xfrm>
            <a:off x="3057836" y="4034218"/>
            <a:ext cx="1133475" cy="348102"/>
          </a:xfrm>
          <a:prstGeom prst="rect">
            <a:avLst/>
          </a:prstGeom>
          <a:solidFill>
            <a:schemeClr val="bg1"/>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직권재심사</a:t>
            </a:r>
          </a:p>
        </p:txBody>
      </p:sp>
      <p:cxnSp>
        <p:nvCxnSpPr>
          <p:cNvPr id="146" name="꺾인 연결선 57">
            <a:extLst>
              <a:ext uri="{FF2B5EF4-FFF2-40B4-BE49-F238E27FC236}">
                <a16:creationId xmlns:a16="http://schemas.microsoft.com/office/drawing/2014/main" id="{38DE766F-41C1-4202-9608-4C0657AB43FB}"/>
              </a:ext>
            </a:extLst>
          </p:cNvPr>
          <p:cNvCxnSpPr>
            <a:stCxn id="94" idx="2"/>
            <a:endCxn id="145" idx="3"/>
          </p:cNvCxnSpPr>
          <p:nvPr/>
        </p:nvCxnSpPr>
        <p:spPr>
          <a:xfrm rot="5400000">
            <a:off x="4712563" y="3510998"/>
            <a:ext cx="176020" cy="1218523"/>
          </a:xfrm>
          <a:prstGeom prst="bentConnector2">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49" name="꺾인 연결선 58">
            <a:extLst>
              <a:ext uri="{FF2B5EF4-FFF2-40B4-BE49-F238E27FC236}">
                <a16:creationId xmlns:a16="http://schemas.microsoft.com/office/drawing/2014/main" id="{5F717704-C719-405E-A606-2C2FEF6C4671}"/>
              </a:ext>
            </a:extLst>
          </p:cNvPr>
          <p:cNvCxnSpPr>
            <a:stCxn id="145" idx="1"/>
            <a:endCxn id="85" idx="1"/>
          </p:cNvCxnSpPr>
          <p:nvPr/>
        </p:nvCxnSpPr>
        <p:spPr>
          <a:xfrm rot="10800000">
            <a:off x="1805664" y="3476787"/>
            <a:ext cx="1252172" cy="731482"/>
          </a:xfrm>
          <a:prstGeom prst="bentConnector3">
            <a:avLst>
              <a:gd name="adj1" fmla="val 118256"/>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0" name="Rectangle 5">
            <a:extLst>
              <a:ext uri="{FF2B5EF4-FFF2-40B4-BE49-F238E27FC236}">
                <a16:creationId xmlns:a16="http://schemas.microsoft.com/office/drawing/2014/main" id="{C88476E5-0273-4736-B7DE-E97B50FF7AFD}"/>
              </a:ext>
            </a:extLst>
          </p:cNvPr>
          <p:cNvSpPr>
            <a:spLocks noChangeArrowheads="1"/>
          </p:cNvSpPr>
          <p:nvPr/>
        </p:nvSpPr>
        <p:spPr bwMode="auto">
          <a:xfrm>
            <a:off x="5243825" y="3246116"/>
            <a:ext cx="1004576" cy="348102"/>
          </a:xfrm>
          <a:prstGeom prst="rect">
            <a:avLst/>
          </a:prstGeom>
          <a:noFill/>
          <a:ln w="9525" algn="ctr">
            <a:noFill/>
            <a:miter lim="800000"/>
            <a:headEnd/>
            <a:tailEnd/>
          </a:ln>
        </p:spPr>
        <p:txBody>
          <a:bodyPr wrap="none" anchor="ctr"/>
          <a:lstStyle/>
          <a:p>
            <a:pPr algn="ctr"/>
            <a:r>
              <a:rPr lang="ko-KR" altLang="en-US" sz="1050" b="0" dirty="0">
                <a:solidFill>
                  <a:schemeClr val="tx1"/>
                </a:solidFill>
                <a:latin typeface="+mj-ea"/>
                <a:ea typeface="+mj-ea"/>
              </a:rPr>
              <a:t>거절이유 </a:t>
            </a:r>
            <a:endParaRPr lang="en-US" altLang="ko-KR" sz="1050" b="0" dirty="0">
              <a:solidFill>
                <a:schemeClr val="tx1"/>
              </a:solidFill>
              <a:latin typeface="+mj-ea"/>
              <a:ea typeface="+mj-ea"/>
            </a:endParaRPr>
          </a:p>
          <a:p>
            <a:pPr algn="ctr"/>
            <a:r>
              <a:rPr lang="ko-KR" altLang="en-US" sz="1050" b="0" dirty="0">
                <a:solidFill>
                  <a:schemeClr val="tx1"/>
                </a:solidFill>
                <a:latin typeface="+mj-ea"/>
                <a:ea typeface="+mj-ea"/>
              </a:rPr>
              <a:t>해소</a:t>
            </a:r>
          </a:p>
        </p:txBody>
      </p:sp>
      <p:cxnSp>
        <p:nvCxnSpPr>
          <p:cNvPr id="164" name="꺾인 연결선 60">
            <a:extLst>
              <a:ext uri="{FF2B5EF4-FFF2-40B4-BE49-F238E27FC236}">
                <a16:creationId xmlns:a16="http://schemas.microsoft.com/office/drawing/2014/main" id="{B0B193EF-A2F3-4E31-9440-714114FCDCA4}"/>
              </a:ext>
            </a:extLst>
          </p:cNvPr>
          <p:cNvCxnSpPr>
            <a:stCxn id="100" idx="3"/>
            <a:endCxn id="113" idx="0"/>
          </p:cNvCxnSpPr>
          <p:nvPr/>
        </p:nvCxnSpPr>
        <p:spPr>
          <a:xfrm flipV="1">
            <a:off x="5978145" y="1917460"/>
            <a:ext cx="1489089" cy="1121327"/>
          </a:xfrm>
          <a:prstGeom prst="bentConnector4">
            <a:avLst>
              <a:gd name="adj1" fmla="val 30970"/>
              <a:gd name="adj2" fmla="val 120387"/>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5" name="Rectangle 5">
            <a:extLst>
              <a:ext uri="{FF2B5EF4-FFF2-40B4-BE49-F238E27FC236}">
                <a16:creationId xmlns:a16="http://schemas.microsoft.com/office/drawing/2014/main" id="{9076B539-3685-401F-ADB0-F65DFDD47CE9}"/>
              </a:ext>
            </a:extLst>
          </p:cNvPr>
          <p:cNvSpPr>
            <a:spLocks noChangeArrowheads="1"/>
          </p:cNvSpPr>
          <p:nvPr/>
        </p:nvSpPr>
        <p:spPr bwMode="auto">
          <a:xfrm>
            <a:off x="5671716" y="2658734"/>
            <a:ext cx="1004576" cy="348102"/>
          </a:xfrm>
          <a:prstGeom prst="rect">
            <a:avLst/>
          </a:prstGeom>
          <a:noFill/>
          <a:ln w="9525" algn="ctr">
            <a:noFill/>
            <a:miter lim="800000"/>
            <a:headEnd/>
            <a:tailEnd/>
          </a:ln>
        </p:spPr>
        <p:txBody>
          <a:bodyPr wrap="none" anchor="ctr"/>
          <a:lstStyle/>
          <a:p>
            <a:pPr algn="ctr"/>
            <a:r>
              <a:rPr lang="ko-KR" altLang="en-US" sz="1050" b="0" dirty="0">
                <a:solidFill>
                  <a:schemeClr val="tx1"/>
                </a:solidFill>
                <a:latin typeface="+mj-ea"/>
                <a:ea typeface="+mj-ea"/>
              </a:rPr>
              <a:t>거절이유 </a:t>
            </a:r>
            <a:endParaRPr lang="en-US" altLang="ko-KR" sz="1050" b="0" dirty="0">
              <a:solidFill>
                <a:schemeClr val="tx1"/>
              </a:solidFill>
              <a:latin typeface="+mj-ea"/>
              <a:ea typeface="+mj-ea"/>
            </a:endParaRPr>
          </a:p>
          <a:p>
            <a:pPr algn="ctr"/>
            <a:r>
              <a:rPr lang="ko-KR" altLang="en-US" sz="1050" b="0" dirty="0" err="1">
                <a:solidFill>
                  <a:schemeClr val="tx1"/>
                </a:solidFill>
                <a:latin typeface="+mj-ea"/>
                <a:ea typeface="+mj-ea"/>
              </a:rPr>
              <a:t>미해소</a:t>
            </a:r>
            <a:endParaRPr lang="ko-KR" altLang="en-US" sz="1050" b="0" dirty="0">
              <a:solidFill>
                <a:schemeClr val="tx1"/>
              </a:solidFill>
              <a:latin typeface="+mj-ea"/>
              <a:ea typeface="+mj-ea"/>
            </a:endParaRPr>
          </a:p>
        </p:txBody>
      </p:sp>
      <p:cxnSp>
        <p:nvCxnSpPr>
          <p:cNvPr id="168" name="꺾인 연결선 62">
            <a:extLst>
              <a:ext uri="{FF2B5EF4-FFF2-40B4-BE49-F238E27FC236}">
                <a16:creationId xmlns:a16="http://schemas.microsoft.com/office/drawing/2014/main" id="{F4B51237-F7B7-45DC-BEFF-4A50B2A7627D}"/>
              </a:ext>
            </a:extLst>
          </p:cNvPr>
          <p:cNvCxnSpPr>
            <a:stCxn id="113" idx="3"/>
            <a:endCxn id="124" idx="0"/>
          </p:cNvCxnSpPr>
          <p:nvPr/>
        </p:nvCxnSpPr>
        <p:spPr>
          <a:xfrm flipV="1">
            <a:off x="8033971" y="2052308"/>
            <a:ext cx="1402740" cy="39203"/>
          </a:xfrm>
          <a:prstGeom prst="bentConnector4">
            <a:avLst>
              <a:gd name="adj1" fmla="val 27161"/>
              <a:gd name="adj2" fmla="val 1027092"/>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9" name="직선 화살표 연결선 168">
            <a:extLst>
              <a:ext uri="{FF2B5EF4-FFF2-40B4-BE49-F238E27FC236}">
                <a16:creationId xmlns:a16="http://schemas.microsoft.com/office/drawing/2014/main" id="{5DBD9267-F692-4ACA-BC24-8552532071B6}"/>
              </a:ext>
            </a:extLst>
          </p:cNvPr>
          <p:cNvCxnSpPr>
            <a:stCxn id="113" idx="2"/>
            <a:endCxn id="117" idx="0"/>
          </p:cNvCxnSpPr>
          <p:nvPr/>
        </p:nvCxnSpPr>
        <p:spPr>
          <a:xfrm>
            <a:off x="7467234" y="2265562"/>
            <a:ext cx="0" cy="336144"/>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0" name="직선 화살표 연결선 169">
            <a:extLst>
              <a:ext uri="{FF2B5EF4-FFF2-40B4-BE49-F238E27FC236}">
                <a16:creationId xmlns:a16="http://schemas.microsoft.com/office/drawing/2014/main" id="{44DFCEBB-AE3F-4AB7-AAC9-816ADCF18BBD}"/>
              </a:ext>
            </a:extLst>
          </p:cNvPr>
          <p:cNvCxnSpPr>
            <a:stCxn id="117" idx="2"/>
            <a:endCxn id="119" idx="0"/>
          </p:cNvCxnSpPr>
          <p:nvPr/>
        </p:nvCxnSpPr>
        <p:spPr>
          <a:xfrm>
            <a:off x="7467234" y="2949808"/>
            <a:ext cx="1" cy="321609"/>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2" name="직선 화살표 연결선 171">
            <a:extLst>
              <a:ext uri="{FF2B5EF4-FFF2-40B4-BE49-F238E27FC236}">
                <a16:creationId xmlns:a16="http://schemas.microsoft.com/office/drawing/2014/main" id="{9213C994-3992-46FA-9218-C57DC8988D85}"/>
              </a:ext>
            </a:extLst>
          </p:cNvPr>
          <p:cNvCxnSpPr>
            <a:stCxn id="119" idx="2"/>
            <a:endCxn id="121" idx="0"/>
          </p:cNvCxnSpPr>
          <p:nvPr/>
        </p:nvCxnSpPr>
        <p:spPr>
          <a:xfrm flipH="1">
            <a:off x="7467234" y="3743225"/>
            <a:ext cx="1" cy="316394"/>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3" name="꺾인 연결선 66">
            <a:extLst>
              <a:ext uri="{FF2B5EF4-FFF2-40B4-BE49-F238E27FC236}">
                <a16:creationId xmlns:a16="http://schemas.microsoft.com/office/drawing/2014/main" id="{80588D81-1B7D-493C-A2AE-08733DF7BA97}"/>
              </a:ext>
            </a:extLst>
          </p:cNvPr>
          <p:cNvCxnSpPr>
            <a:stCxn id="121" idx="3"/>
            <a:endCxn id="124" idx="1"/>
          </p:cNvCxnSpPr>
          <p:nvPr/>
        </p:nvCxnSpPr>
        <p:spPr>
          <a:xfrm flipV="1">
            <a:off x="8033971" y="2226359"/>
            <a:ext cx="762000" cy="2007311"/>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4" name="꺾인 연결선 67">
            <a:extLst>
              <a:ext uri="{FF2B5EF4-FFF2-40B4-BE49-F238E27FC236}">
                <a16:creationId xmlns:a16="http://schemas.microsoft.com/office/drawing/2014/main" id="{3D98E770-95DE-4EC8-BD7D-A81018ECC7BE}"/>
              </a:ext>
            </a:extLst>
          </p:cNvPr>
          <p:cNvCxnSpPr>
            <a:stCxn id="124" idx="3"/>
            <a:endCxn id="127" idx="1"/>
          </p:cNvCxnSpPr>
          <p:nvPr/>
        </p:nvCxnSpPr>
        <p:spPr>
          <a:xfrm flipV="1">
            <a:off x="10077450" y="1994182"/>
            <a:ext cx="390101" cy="232177"/>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6" name="꺾인 연결선 68">
            <a:extLst>
              <a:ext uri="{FF2B5EF4-FFF2-40B4-BE49-F238E27FC236}">
                <a16:creationId xmlns:a16="http://schemas.microsoft.com/office/drawing/2014/main" id="{95F66091-24AC-4515-B314-6F7BBDC27B65}"/>
              </a:ext>
            </a:extLst>
          </p:cNvPr>
          <p:cNvCxnSpPr>
            <a:stCxn id="124" idx="3"/>
            <a:endCxn id="125" idx="1"/>
          </p:cNvCxnSpPr>
          <p:nvPr/>
        </p:nvCxnSpPr>
        <p:spPr>
          <a:xfrm>
            <a:off x="10077450" y="2226359"/>
            <a:ext cx="390101" cy="194950"/>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7" name="꺾인 연결선 69">
            <a:extLst>
              <a:ext uri="{FF2B5EF4-FFF2-40B4-BE49-F238E27FC236}">
                <a16:creationId xmlns:a16="http://schemas.microsoft.com/office/drawing/2014/main" id="{55BE86B0-3EEA-4173-A1A0-1C5A6FFC2439}"/>
              </a:ext>
            </a:extLst>
          </p:cNvPr>
          <p:cNvCxnSpPr>
            <a:stCxn id="125" idx="3"/>
            <a:endCxn id="85" idx="1"/>
          </p:cNvCxnSpPr>
          <p:nvPr/>
        </p:nvCxnSpPr>
        <p:spPr>
          <a:xfrm flipH="1">
            <a:off x="1805664" y="2421309"/>
            <a:ext cx="9462411" cy="1055478"/>
          </a:xfrm>
          <a:prstGeom prst="bentConnector5">
            <a:avLst>
              <a:gd name="adj1" fmla="val -2416"/>
              <a:gd name="adj2" fmla="val 403532"/>
              <a:gd name="adj3" fmla="val 102416"/>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9" name="직선 화살표 연결선 178">
            <a:extLst>
              <a:ext uri="{FF2B5EF4-FFF2-40B4-BE49-F238E27FC236}">
                <a16:creationId xmlns:a16="http://schemas.microsoft.com/office/drawing/2014/main" id="{10C03F4E-148C-4882-8129-C048E9EAA574}"/>
              </a:ext>
            </a:extLst>
          </p:cNvPr>
          <p:cNvCxnSpPr>
            <a:stCxn id="128" idx="2"/>
            <a:endCxn id="129" idx="0"/>
          </p:cNvCxnSpPr>
          <p:nvPr/>
        </p:nvCxnSpPr>
        <p:spPr>
          <a:xfrm>
            <a:off x="10617811" y="4393175"/>
            <a:ext cx="0" cy="453814"/>
          </a:xfrm>
          <a:prstGeom prst="straightConnector1">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0" name="꺾인 연결선 71">
            <a:extLst>
              <a:ext uri="{FF2B5EF4-FFF2-40B4-BE49-F238E27FC236}">
                <a16:creationId xmlns:a16="http://schemas.microsoft.com/office/drawing/2014/main" id="{A7C3CCE4-44E0-41C5-9BC3-86E2B9BF556D}"/>
              </a:ext>
            </a:extLst>
          </p:cNvPr>
          <p:cNvCxnSpPr>
            <a:stCxn id="119" idx="1"/>
            <a:endCxn id="94" idx="3"/>
          </p:cNvCxnSpPr>
          <p:nvPr/>
        </p:nvCxnSpPr>
        <p:spPr>
          <a:xfrm rot="10800000" flipV="1">
            <a:off x="5976572" y="3507320"/>
            <a:ext cx="923925" cy="350877"/>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83" name="Rectangle 5">
            <a:extLst>
              <a:ext uri="{FF2B5EF4-FFF2-40B4-BE49-F238E27FC236}">
                <a16:creationId xmlns:a16="http://schemas.microsoft.com/office/drawing/2014/main" id="{968AD6F3-4EDE-40F7-824D-494E64DDDE48}"/>
              </a:ext>
            </a:extLst>
          </p:cNvPr>
          <p:cNvSpPr>
            <a:spLocks noChangeArrowheads="1"/>
          </p:cNvSpPr>
          <p:nvPr/>
        </p:nvSpPr>
        <p:spPr bwMode="auto">
          <a:xfrm>
            <a:off x="7284060" y="3695641"/>
            <a:ext cx="1004576" cy="348102"/>
          </a:xfrm>
          <a:prstGeom prst="rect">
            <a:avLst/>
          </a:prstGeom>
          <a:noFill/>
          <a:ln w="9525" algn="ctr">
            <a:noFill/>
            <a:miter lim="800000"/>
            <a:headEnd/>
            <a:tailEnd/>
          </a:ln>
        </p:spPr>
        <p:txBody>
          <a:bodyPr wrap="none" anchor="ctr"/>
          <a:lstStyle/>
          <a:p>
            <a:pPr algn="ctr"/>
            <a:r>
              <a:rPr lang="ko-KR" altLang="en-US" sz="1050" b="0" dirty="0">
                <a:solidFill>
                  <a:schemeClr val="tx1"/>
                </a:solidFill>
                <a:latin typeface="+mj-ea"/>
                <a:ea typeface="+mj-ea"/>
              </a:rPr>
              <a:t>거절이유 </a:t>
            </a:r>
            <a:endParaRPr lang="en-US" altLang="ko-KR" sz="1050" b="0" dirty="0">
              <a:solidFill>
                <a:schemeClr val="tx1"/>
              </a:solidFill>
              <a:latin typeface="+mj-ea"/>
              <a:ea typeface="+mj-ea"/>
            </a:endParaRPr>
          </a:p>
          <a:p>
            <a:pPr algn="ctr"/>
            <a:r>
              <a:rPr lang="ko-KR" altLang="en-US" sz="1050" b="0" dirty="0" err="1">
                <a:solidFill>
                  <a:schemeClr val="tx1"/>
                </a:solidFill>
                <a:latin typeface="+mj-ea"/>
                <a:ea typeface="+mj-ea"/>
              </a:rPr>
              <a:t>미해소</a:t>
            </a:r>
            <a:endParaRPr lang="ko-KR" altLang="en-US" sz="1050" b="0" dirty="0">
              <a:solidFill>
                <a:schemeClr val="tx1"/>
              </a:solidFill>
              <a:latin typeface="+mj-ea"/>
              <a:ea typeface="+mj-ea"/>
            </a:endParaRPr>
          </a:p>
        </p:txBody>
      </p:sp>
      <p:sp>
        <p:nvSpPr>
          <p:cNvPr id="184" name="Rectangle 5">
            <a:extLst>
              <a:ext uri="{FF2B5EF4-FFF2-40B4-BE49-F238E27FC236}">
                <a16:creationId xmlns:a16="http://schemas.microsoft.com/office/drawing/2014/main" id="{34F4BC5C-414E-418E-A3E9-89A38D9A689C}"/>
              </a:ext>
            </a:extLst>
          </p:cNvPr>
          <p:cNvSpPr>
            <a:spLocks noChangeArrowheads="1"/>
          </p:cNvSpPr>
          <p:nvPr/>
        </p:nvSpPr>
        <p:spPr bwMode="auto">
          <a:xfrm>
            <a:off x="6212104" y="3150367"/>
            <a:ext cx="1004576" cy="348102"/>
          </a:xfrm>
          <a:prstGeom prst="rect">
            <a:avLst/>
          </a:prstGeom>
          <a:noFill/>
          <a:ln w="9525" algn="ctr">
            <a:noFill/>
            <a:miter lim="800000"/>
            <a:headEnd/>
            <a:tailEnd/>
          </a:ln>
        </p:spPr>
        <p:txBody>
          <a:bodyPr wrap="none" anchor="ctr"/>
          <a:lstStyle/>
          <a:p>
            <a:pPr algn="ctr"/>
            <a:r>
              <a:rPr lang="ko-KR" altLang="en-US" sz="1050" b="0" dirty="0">
                <a:solidFill>
                  <a:schemeClr val="tx1"/>
                </a:solidFill>
                <a:latin typeface="+mj-ea"/>
                <a:ea typeface="+mj-ea"/>
              </a:rPr>
              <a:t>거절이유 </a:t>
            </a:r>
            <a:endParaRPr lang="en-US" altLang="ko-KR" sz="1050" b="0" dirty="0">
              <a:solidFill>
                <a:schemeClr val="tx1"/>
              </a:solidFill>
              <a:latin typeface="+mj-ea"/>
              <a:ea typeface="+mj-ea"/>
            </a:endParaRPr>
          </a:p>
          <a:p>
            <a:pPr algn="ctr"/>
            <a:r>
              <a:rPr lang="ko-KR" altLang="en-US" sz="1050" b="0" dirty="0">
                <a:solidFill>
                  <a:schemeClr val="tx1"/>
                </a:solidFill>
                <a:latin typeface="+mj-ea"/>
                <a:ea typeface="+mj-ea"/>
              </a:rPr>
              <a:t>해소</a:t>
            </a:r>
          </a:p>
        </p:txBody>
      </p:sp>
      <p:cxnSp>
        <p:nvCxnSpPr>
          <p:cNvPr id="187" name="꺾인 연결선 74">
            <a:extLst>
              <a:ext uri="{FF2B5EF4-FFF2-40B4-BE49-F238E27FC236}">
                <a16:creationId xmlns:a16="http://schemas.microsoft.com/office/drawing/2014/main" id="{F2088C27-4AFD-4673-9DB7-4DF6319492C9}"/>
              </a:ext>
            </a:extLst>
          </p:cNvPr>
          <p:cNvCxnSpPr>
            <a:stCxn id="108" idx="3"/>
            <a:endCxn id="134" idx="1"/>
          </p:cNvCxnSpPr>
          <p:nvPr/>
        </p:nvCxnSpPr>
        <p:spPr>
          <a:xfrm flipV="1">
            <a:off x="5976571" y="5318584"/>
            <a:ext cx="647700" cy="278120"/>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88" name="꺾인 연결선 75">
            <a:extLst>
              <a:ext uri="{FF2B5EF4-FFF2-40B4-BE49-F238E27FC236}">
                <a16:creationId xmlns:a16="http://schemas.microsoft.com/office/drawing/2014/main" id="{8F1929ED-23BE-4E89-91DB-6CA5D8B0DA85}"/>
              </a:ext>
            </a:extLst>
          </p:cNvPr>
          <p:cNvCxnSpPr>
            <a:stCxn id="108" idx="2"/>
            <a:endCxn id="138" idx="1"/>
          </p:cNvCxnSpPr>
          <p:nvPr/>
        </p:nvCxnSpPr>
        <p:spPr>
          <a:xfrm rot="16200000" flipH="1">
            <a:off x="5823435" y="5357153"/>
            <a:ext cx="387235" cy="1214437"/>
          </a:xfrm>
          <a:prstGeom prst="bentConnector2">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0" name="꺾인 연결선 76">
            <a:extLst>
              <a:ext uri="{FF2B5EF4-FFF2-40B4-BE49-F238E27FC236}">
                <a16:creationId xmlns:a16="http://schemas.microsoft.com/office/drawing/2014/main" id="{A10026E0-A295-4116-82E0-FCA82F0C7C97}"/>
              </a:ext>
            </a:extLst>
          </p:cNvPr>
          <p:cNvCxnSpPr>
            <a:stCxn id="134" idx="3"/>
            <a:endCxn id="135" idx="1"/>
          </p:cNvCxnSpPr>
          <p:nvPr/>
        </p:nvCxnSpPr>
        <p:spPr>
          <a:xfrm flipV="1">
            <a:off x="7905750" y="5121453"/>
            <a:ext cx="346872" cy="197131"/>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1" name="꺾인 연결선 77">
            <a:extLst>
              <a:ext uri="{FF2B5EF4-FFF2-40B4-BE49-F238E27FC236}">
                <a16:creationId xmlns:a16="http://schemas.microsoft.com/office/drawing/2014/main" id="{9B415053-E0BB-4D95-928F-1F8327C8255E}"/>
              </a:ext>
            </a:extLst>
          </p:cNvPr>
          <p:cNvCxnSpPr>
            <a:stCxn id="138" idx="3"/>
            <a:endCxn id="140" idx="1"/>
          </p:cNvCxnSpPr>
          <p:nvPr/>
        </p:nvCxnSpPr>
        <p:spPr>
          <a:xfrm flipV="1">
            <a:off x="7905750" y="5960859"/>
            <a:ext cx="346872" cy="197131"/>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3" name="꺾인 연결선 78">
            <a:extLst>
              <a:ext uri="{FF2B5EF4-FFF2-40B4-BE49-F238E27FC236}">
                <a16:creationId xmlns:a16="http://schemas.microsoft.com/office/drawing/2014/main" id="{FA84365F-FF59-4A13-A63F-267294CFD401}"/>
              </a:ext>
            </a:extLst>
          </p:cNvPr>
          <p:cNvCxnSpPr>
            <a:stCxn id="138" idx="3"/>
            <a:endCxn id="141" idx="1"/>
          </p:cNvCxnSpPr>
          <p:nvPr/>
        </p:nvCxnSpPr>
        <p:spPr>
          <a:xfrm>
            <a:off x="7905750" y="6157990"/>
            <a:ext cx="346872" cy="197324"/>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4" name="꺾인 연결선 79">
            <a:extLst>
              <a:ext uri="{FF2B5EF4-FFF2-40B4-BE49-F238E27FC236}">
                <a16:creationId xmlns:a16="http://schemas.microsoft.com/office/drawing/2014/main" id="{650C0E66-83A8-4B32-82FF-C20180D2F3BD}"/>
              </a:ext>
            </a:extLst>
          </p:cNvPr>
          <p:cNvCxnSpPr>
            <a:stCxn id="134" idx="3"/>
            <a:endCxn id="137" idx="1"/>
          </p:cNvCxnSpPr>
          <p:nvPr/>
        </p:nvCxnSpPr>
        <p:spPr>
          <a:xfrm>
            <a:off x="7905750" y="5318584"/>
            <a:ext cx="346872" cy="197324"/>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6" name="꺾인 연결선 80">
            <a:extLst>
              <a:ext uri="{FF2B5EF4-FFF2-40B4-BE49-F238E27FC236}">
                <a16:creationId xmlns:a16="http://schemas.microsoft.com/office/drawing/2014/main" id="{EB81E389-F664-41A2-91F6-71DFE7E8438A}"/>
              </a:ext>
            </a:extLst>
          </p:cNvPr>
          <p:cNvCxnSpPr>
            <a:stCxn id="135" idx="3"/>
            <a:endCxn id="128" idx="0"/>
          </p:cNvCxnSpPr>
          <p:nvPr/>
        </p:nvCxnSpPr>
        <p:spPr>
          <a:xfrm flipV="1">
            <a:off x="9053146" y="4045073"/>
            <a:ext cx="1564665" cy="1076380"/>
          </a:xfrm>
          <a:prstGeom prst="bentConnector4">
            <a:avLst>
              <a:gd name="adj1" fmla="val 29525"/>
              <a:gd name="adj2" fmla="val 121238"/>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7" name="꺾인 연결선 81">
            <a:extLst>
              <a:ext uri="{FF2B5EF4-FFF2-40B4-BE49-F238E27FC236}">
                <a16:creationId xmlns:a16="http://schemas.microsoft.com/office/drawing/2014/main" id="{2D55CEEC-D5C6-432F-B01E-91E6F7A8BF84}"/>
              </a:ext>
            </a:extLst>
          </p:cNvPr>
          <p:cNvCxnSpPr>
            <a:stCxn id="140" idx="3"/>
            <a:endCxn id="128" idx="1"/>
          </p:cNvCxnSpPr>
          <p:nvPr/>
        </p:nvCxnSpPr>
        <p:spPr>
          <a:xfrm flipV="1">
            <a:off x="9053146" y="4219124"/>
            <a:ext cx="923925" cy="1741735"/>
          </a:xfrm>
          <a:prstGeom prst="bentConnector3">
            <a:avLst>
              <a:gd name="adj1" fmla="val 75773"/>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8" name="꺾인 연결선 82">
            <a:extLst>
              <a:ext uri="{FF2B5EF4-FFF2-40B4-BE49-F238E27FC236}">
                <a16:creationId xmlns:a16="http://schemas.microsoft.com/office/drawing/2014/main" id="{A9D67A2A-3500-4AE3-A8A1-DC0D05F767FE}"/>
              </a:ext>
            </a:extLst>
          </p:cNvPr>
          <p:cNvCxnSpPr>
            <a:stCxn id="141" idx="3"/>
            <a:endCxn id="128" idx="1"/>
          </p:cNvCxnSpPr>
          <p:nvPr/>
        </p:nvCxnSpPr>
        <p:spPr>
          <a:xfrm flipV="1">
            <a:off x="9053146" y="4219124"/>
            <a:ext cx="923925" cy="2136190"/>
          </a:xfrm>
          <a:prstGeom prst="bentConnector3">
            <a:avLst>
              <a:gd name="adj1" fmla="val 75773"/>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00" name="꺾인 연결선 83">
            <a:extLst>
              <a:ext uri="{FF2B5EF4-FFF2-40B4-BE49-F238E27FC236}">
                <a16:creationId xmlns:a16="http://schemas.microsoft.com/office/drawing/2014/main" id="{65B3296B-44C7-4A22-8F75-EA0A53DDFC43}"/>
              </a:ext>
            </a:extLst>
          </p:cNvPr>
          <p:cNvCxnSpPr>
            <a:stCxn id="127" idx="3"/>
            <a:endCxn id="128" idx="3"/>
          </p:cNvCxnSpPr>
          <p:nvPr/>
        </p:nvCxnSpPr>
        <p:spPr>
          <a:xfrm flipH="1">
            <a:off x="11258550" y="1994182"/>
            <a:ext cx="9525" cy="2224942"/>
          </a:xfrm>
          <a:prstGeom prst="bentConnector3">
            <a:avLst>
              <a:gd name="adj1" fmla="val -530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01" name="Rectangle 5">
            <a:extLst>
              <a:ext uri="{FF2B5EF4-FFF2-40B4-BE49-F238E27FC236}">
                <a16:creationId xmlns:a16="http://schemas.microsoft.com/office/drawing/2014/main" id="{DE1C78B9-F68C-4000-A6CE-3F7896B07E44}"/>
              </a:ext>
            </a:extLst>
          </p:cNvPr>
          <p:cNvSpPr>
            <a:spLocks noChangeArrowheads="1"/>
          </p:cNvSpPr>
          <p:nvPr/>
        </p:nvSpPr>
        <p:spPr bwMode="auto">
          <a:xfrm>
            <a:off x="10951285" y="2130133"/>
            <a:ext cx="1004576" cy="348102"/>
          </a:xfrm>
          <a:prstGeom prst="rect">
            <a:avLst/>
          </a:prstGeom>
          <a:noFill/>
          <a:ln w="9525" algn="ctr">
            <a:noFill/>
            <a:miter lim="800000"/>
            <a:headEnd/>
            <a:tailEnd/>
          </a:ln>
        </p:spPr>
        <p:txBody>
          <a:bodyPr wrap="none" anchor="ctr"/>
          <a:lstStyle/>
          <a:p>
            <a:pPr algn="ctr"/>
            <a:r>
              <a:rPr lang="ko-KR" altLang="en-US" sz="1050" b="0">
                <a:solidFill>
                  <a:schemeClr val="tx1"/>
                </a:solidFill>
                <a:latin typeface="+mj-ea"/>
                <a:ea typeface="+mj-ea"/>
              </a:rPr>
              <a:t>환송</a:t>
            </a:r>
            <a:endParaRPr lang="ko-KR" altLang="en-US" sz="1050" b="0" dirty="0">
              <a:solidFill>
                <a:schemeClr val="tx1"/>
              </a:solidFill>
              <a:latin typeface="+mj-ea"/>
              <a:ea typeface="+mj-ea"/>
            </a:endParaRPr>
          </a:p>
        </p:txBody>
      </p:sp>
      <p:sp>
        <p:nvSpPr>
          <p:cNvPr id="202" name="자유형 85">
            <a:extLst>
              <a:ext uri="{FF2B5EF4-FFF2-40B4-BE49-F238E27FC236}">
                <a16:creationId xmlns:a16="http://schemas.microsoft.com/office/drawing/2014/main" id="{6CDFAA7A-0CB6-4D55-B1C0-E176EDFFF06D}"/>
              </a:ext>
            </a:extLst>
          </p:cNvPr>
          <p:cNvSpPr/>
          <p:nvPr/>
        </p:nvSpPr>
        <p:spPr>
          <a:xfrm>
            <a:off x="5972175" y="2600324"/>
            <a:ext cx="4886325" cy="2189915"/>
          </a:xfrm>
          <a:custGeom>
            <a:avLst/>
            <a:gdLst>
              <a:gd name="connsiteX0" fmla="*/ 4886325 w 4886325"/>
              <a:gd name="connsiteY0" fmla="*/ 0 h 2019300"/>
              <a:gd name="connsiteX1" fmla="*/ 4886325 w 4886325"/>
              <a:gd name="connsiteY1" fmla="*/ 457200 h 2019300"/>
              <a:gd name="connsiteX2" fmla="*/ 2952750 w 4886325"/>
              <a:gd name="connsiteY2" fmla="*/ 457200 h 2019300"/>
              <a:gd name="connsiteX3" fmla="*/ 2952750 w 4886325"/>
              <a:gd name="connsiteY3" fmla="*/ 2019300 h 2019300"/>
              <a:gd name="connsiteX4" fmla="*/ 428625 w 4886325"/>
              <a:gd name="connsiteY4" fmla="*/ 2019300 h 2019300"/>
              <a:gd name="connsiteX5" fmla="*/ 428625 w 4886325"/>
              <a:gd name="connsiteY5" fmla="*/ 1219200 h 2019300"/>
              <a:gd name="connsiteX6" fmla="*/ 0 w 4886325"/>
              <a:gd name="connsiteY6" fmla="*/ 1219200 h 2019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86325" h="2019300">
                <a:moveTo>
                  <a:pt x="4886325" y="0"/>
                </a:moveTo>
                <a:lnTo>
                  <a:pt x="4886325" y="457200"/>
                </a:lnTo>
                <a:lnTo>
                  <a:pt x="2952750" y="457200"/>
                </a:lnTo>
                <a:lnTo>
                  <a:pt x="2952750" y="2019300"/>
                </a:lnTo>
                <a:lnTo>
                  <a:pt x="428625" y="2019300"/>
                </a:lnTo>
                <a:lnTo>
                  <a:pt x="428625" y="1219200"/>
                </a:lnTo>
                <a:lnTo>
                  <a:pt x="0" y="1219200"/>
                </a:lnTo>
              </a:path>
            </a:pathLst>
          </a:cu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sz="2400"/>
          </a:p>
        </p:txBody>
      </p:sp>
      <p:sp>
        <p:nvSpPr>
          <p:cNvPr id="204" name="Rectangle 5">
            <a:extLst>
              <a:ext uri="{FF2B5EF4-FFF2-40B4-BE49-F238E27FC236}">
                <a16:creationId xmlns:a16="http://schemas.microsoft.com/office/drawing/2014/main" id="{85079916-9AE2-44AE-A616-F9335BBA4FC7}"/>
              </a:ext>
            </a:extLst>
          </p:cNvPr>
          <p:cNvSpPr>
            <a:spLocks noChangeArrowheads="1"/>
          </p:cNvSpPr>
          <p:nvPr/>
        </p:nvSpPr>
        <p:spPr bwMode="auto">
          <a:xfrm>
            <a:off x="10182198" y="2588592"/>
            <a:ext cx="1004576" cy="348102"/>
          </a:xfrm>
          <a:prstGeom prst="rect">
            <a:avLst/>
          </a:prstGeom>
          <a:noFill/>
          <a:ln w="9525" algn="ctr">
            <a:noFill/>
            <a:miter lim="800000"/>
            <a:headEnd/>
            <a:tailEnd/>
          </a:ln>
        </p:spPr>
        <p:txBody>
          <a:bodyPr wrap="none" anchor="ctr"/>
          <a:lstStyle/>
          <a:p>
            <a:pPr algn="ctr"/>
            <a:r>
              <a:rPr lang="ko-KR" altLang="en-US" sz="1050" b="0" dirty="0">
                <a:solidFill>
                  <a:schemeClr val="tx1"/>
                </a:solidFill>
                <a:latin typeface="+mj-ea"/>
                <a:ea typeface="+mj-ea"/>
              </a:rPr>
              <a:t>자판</a:t>
            </a:r>
          </a:p>
        </p:txBody>
      </p:sp>
      <p:sp>
        <p:nvSpPr>
          <p:cNvPr id="205" name="Rectangle 5">
            <a:extLst>
              <a:ext uri="{FF2B5EF4-FFF2-40B4-BE49-F238E27FC236}">
                <a16:creationId xmlns:a16="http://schemas.microsoft.com/office/drawing/2014/main" id="{EA5972D1-C44C-47BF-AB1A-1C3B08CE3A9F}"/>
              </a:ext>
            </a:extLst>
          </p:cNvPr>
          <p:cNvSpPr>
            <a:spLocks noChangeArrowheads="1"/>
          </p:cNvSpPr>
          <p:nvPr/>
        </p:nvSpPr>
        <p:spPr bwMode="auto">
          <a:xfrm>
            <a:off x="5671716" y="1071260"/>
            <a:ext cx="1133475" cy="348102"/>
          </a:xfrm>
          <a:prstGeom prst="rect">
            <a:avLst/>
          </a:prstGeom>
          <a:solidFill>
            <a:schemeClr val="accent4"/>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정보제공</a:t>
            </a:r>
          </a:p>
        </p:txBody>
      </p:sp>
      <p:cxnSp>
        <p:nvCxnSpPr>
          <p:cNvPr id="207" name="직선 화살표 연결선 206">
            <a:extLst>
              <a:ext uri="{FF2B5EF4-FFF2-40B4-BE49-F238E27FC236}">
                <a16:creationId xmlns:a16="http://schemas.microsoft.com/office/drawing/2014/main" id="{9E5CDF70-442D-45E3-B9C2-82F2B8BFD169}"/>
              </a:ext>
            </a:extLst>
          </p:cNvPr>
          <p:cNvCxnSpPr>
            <a:stCxn id="205" idx="2"/>
          </p:cNvCxnSpPr>
          <p:nvPr/>
        </p:nvCxnSpPr>
        <p:spPr>
          <a:xfrm flipH="1">
            <a:off x="2581275" y="1419362"/>
            <a:ext cx="3657179" cy="1855329"/>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08" name="직선 화살표 연결선 207">
            <a:extLst>
              <a:ext uri="{FF2B5EF4-FFF2-40B4-BE49-F238E27FC236}">
                <a16:creationId xmlns:a16="http://schemas.microsoft.com/office/drawing/2014/main" id="{90EBF60A-1120-4280-9D83-3C98E3CF2803}"/>
              </a:ext>
            </a:extLst>
          </p:cNvPr>
          <p:cNvCxnSpPr>
            <a:stCxn id="205" idx="2"/>
            <a:endCxn id="100" idx="0"/>
          </p:cNvCxnSpPr>
          <p:nvPr/>
        </p:nvCxnSpPr>
        <p:spPr>
          <a:xfrm flipH="1">
            <a:off x="5411406" y="1419362"/>
            <a:ext cx="827048" cy="1383521"/>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10" name="직선 화살표 연결선 209">
            <a:extLst>
              <a:ext uri="{FF2B5EF4-FFF2-40B4-BE49-F238E27FC236}">
                <a16:creationId xmlns:a16="http://schemas.microsoft.com/office/drawing/2014/main" id="{3EAAAF1B-3DC8-458C-8D0D-BB5EF24F7250}"/>
              </a:ext>
            </a:extLst>
          </p:cNvPr>
          <p:cNvCxnSpPr>
            <a:stCxn id="205" idx="2"/>
          </p:cNvCxnSpPr>
          <p:nvPr/>
        </p:nvCxnSpPr>
        <p:spPr>
          <a:xfrm>
            <a:off x="6238454" y="1419362"/>
            <a:ext cx="1045606" cy="1905056"/>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211" name="직선 화살표 연결선 210">
            <a:extLst>
              <a:ext uri="{FF2B5EF4-FFF2-40B4-BE49-F238E27FC236}">
                <a16:creationId xmlns:a16="http://schemas.microsoft.com/office/drawing/2014/main" id="{32A011D1-90F7-485E-8A70-233160B697D8}"/>
              </a:ext>
            </a:extLst>
          </p:cNvPr>
          <p:cNvCxnSpPr>
            <a:stCxn id="205" idx="2"/>
          </p:cNvCxnSpPr>
          <p:nvPr/>
        </p:nvCxnSpPr>
        <p:spPr>
          <a:xfrm>
            <a:off x="6238454" y="1419362"/>
            <a:ext cx="2557517" cy="634461"/>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212" name="Rectangle 5">
            <a:extLst>
              <a:ext uri="{FF2B5EF4-FFF2-40B4-BE49-F238E27FC236}">
                <a16:creationId xmlns:a16="http://schemas.microsoft.com/office/drawing/2014/main" id="{D75161CD-4F05-42F4-AE51-D0D99DC92FF3}"/>
              </a:ext>
            </a:extLst>
          </p:cNvPr>
          <p:cNvSpPr>
            <a:spLocks noChangeArrowheads="1"/>
          </p:cNvSpPr>
          <p:nvPr/>
        </p:nvSpPr>
        <p:spPr bwMode="auto">
          <a:xfrm>
            <a:off x="3057836" y="4543012"/>
            <a:ext cx="1133475" cy="348102"/>
          </a:xfrm>
          <a:prstGeom prst="rect">
            <a:avLst/>
          </a:prstGeom>
          <a:solidFill>
            <a:schemeClr val="accent2"/>
          </a:solidFill>
          <a:ln w="9525" algn="ctr">
            <a:solidFill>
              <a:srgbClr val="5F5F5F"/>
            </a:solidFill>
            <a:miter lim="800000"/>
            <a:headEnd/>
            <a:tailEnd/>
          </a:ln>
        </p:spPr>
        <p:txBody>
          <a:bodyPr wrap="none" anchor="ctr"/>
          <a:lstStyle/>
          <a:p>
            <a:pPr algn="ctr"/>
            <a:r>
              <a:rPr lang="ko-KR" altLang="en-US" sz="1100" b="0" dirty="0">
                <a:solidFill>
                  <a:schemeClr val="tx1"/>
                </a:solidFill>
                <a:latin typeface="+mj-ea"/>
                <a:ea typeface="+mj-ea"/>
              </a:rPr>
              <a:t>재심사청구</a:t>
            </a:r>
            <a:r>
              <a:rPr lang="en-US" altLang="ko-KR" sz="1100" b="0" dirty="0">
                <a:solidFill>
                  <a:schemeClr val="tx1"/>
                </a:solidFill>
                <a:latin typeface="+mj-ea"/>
                <a:ea typeface="+mj-ea"/>
              </a:rPr>
              <a:t>(</a:t>
            </a:r>
            <a:r>
              <a:rPr lang="ko-KR" altLang="en-US" sz="1100" b="0" dirty="0">
                <a:solidFill>
                  <a:schemeClr val="tx1"/>
                </a:solidFill>
                <a:latin typeface="+mj-ea"/>
                <a:ea typeface="+mj-ea"/>
              </a:rPr>
              <a:t>보정</a:t>
            </a:r>
            <a:r>
              <a:rPr lang="en-US" altLang="ko-KR" sz="1100" b="0" dirty="0">
                <a:solidFill>
                  <a:schemeClr val="tx1"/>
                </a:solidFill>
                <a:latin typeface="+mj-ea"/>
                <a:ea typeface="+mj-ea"/>
              </a:rPr>
              <a:t>)</a:t>
            </a:r>
            <a:endParaRPr lang="ko-KR" altLang="en-US" sz="1100" b="0" dirty="0">
              <a:solidFill>
                <a:schemeClr val="tx1"/>
              </a:solidFill>
              <a:latin typeface="+mj-ea"/>
              <a:ea typeface="+mj-ea"/>
            </a:endParaRPr>
          </a:p>
        </p:txBody>
      </p:sp>
      <p:cxnSp>
        <p:nvCxnSpPr>
          <p:cNvPr id="213" name="연결선: 꺾임 212">
            <a:extLst>
              <a:ext uri="{FF2B5EF4-FFF2-40B4-BE49-F238E27FC236}">
                <a16:creationId xmlns:a16="http://schemas.microsoft.com/office/drawing/2014/main" id="{807443B2-A52E-4FA5-99A1-5F841176A108}"/>
              </a:ext>
            </a:extLst>
          </p:cNvPr>
          <p:cNvCxnSpPr>
            <a:cxnSpLocks/>
            <a:stCxn id="212" idx="1"/>
            <a:endCxn id="119" idx="3"/>
          </p:cNvCxnSpPr>
          <p:nvPr/>
        </p:nvCxnSpPr>
        <p:spPr>
          <a:xfrm rot="10800000" flipH="1">
            <a:off x="3057836" y="3507321"/>
            <a:ext cx="4976138" cy="1209742"/>
          </a:xfrm>
          <a:prstGeom prst="bentConnector5">
            <a:avLst>
              <a:gd name="adj1" fmla="val -4594"/>
              <a:gd name="adj2" fmla="val -169586"/>
              <a:gd name="adj3" fmla="val 124607"/>
            </a:avLst>
          </a:prstGeom>
          <a:ln w="127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15" name="자유형: 도형 214">
            <a:extLst>
              <a:ext uri="{FF2B5EF4-FFF2-40B4-BE49-F238E27FC236}">
                <a16:creationId xmlns:a16="http://schemas.microsoft.com/office/drawing/2014/main" id="{DC05E5B8-AF53-4F9C-9FF3-D53A24EE89B1}"/>
              </a:ext>
            </a:extLst>
          </p:cNvPr>
          <p:cNvSpPr/>
          <p:nvPr/>
        </p:nvSpPr>
        <p:spPr>
          <a:xfrm>
            <a:off x="4190260" y="4208016"/>
            <a:ext cx="337352" cy="523782"/>
          </a:xfrm>
          <a:custGeom>
            <a:avLst/>
            <a:gdLst>
              <a:gd name="connsiteX0" fmla="*/ 337352 w 337352"/>
              <a:gd name="connsiteY0" fmla="*/ 0 h 523782"/>
              <a:gd name="connsiteX1" fmla="*/ 337352 w 337352"/>
              <a:gd name="connsiteY1" fmla="*/ 523782 h 523782"/>
              <a:gd name="connsiteX2" fmla="*/ 0 w 337352"/>
              <a:gd name="connsiteY2" fmla="*/ 523782 h 523782"/>
            </a:gdLst>
            <a:ahLst/>
            <a:cxnLst>
              <a:cxn ang="0">
                <a:pos x="connsiteX0" y="connsiteY0"/>
              </a:cxn>
              <a:cxn ang="0">
                <a:pos x="connsiteX1" y="connsiteY1"/>
              </a:cxn>
              <a:cxn ang="0">
                <a:pos x="connsiteX2" y="connsiteY2"/>
              </a:cxn>
            </a:cxnLst>
            <a:rect l="l" t="t" r="r" b="b"/>
            <a:pathLst>
              <a:path w="337352" h="523782">
                <a:moveTo>
                  <a:pt x="337352" y="0"/>
                </a:moveTo>
                <a:lnTo>
                  <a:pt x="337352" y="523782"/>
                </a:lnTo>
                <a:lnTo>
                  <a:pt x="0" y="523782"/>
                </a:lnTo>
              </a:path>
            </a:pathLst>
          </a:custGeom>
          <a:noFill/>
          <a:ln>
            <a:solidFill>
              <a:schemeClr val="bg1">
                <a:lumMod val="50000"/>
              </a:schemeClr>
            </a:solidFill>
            <a:tailEnd type="triangle"/>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Tree>
    <p:extLst>
      <p:ext uri="{BB962C8B-B14F-4D97-AF65-F5344CB8AC3E}">
        <p14:creationId xmlns:p14="http://schemas.microsoft.com/office/powerpoint/2010/main" val="26920662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normAutofit/>
          </a:bodyPr>
          <a:lstStyle/>
          <a:p>
            <a:r>
              <a:rPr lang="ko-KR" altLang="en-US" sz="2400" dirty="0"/>
              <a:t>거절이유</a:t>
            </a:r>
            <a:r>
              <a:rPr lang="en-US" altLang="ko-KR" sz="2400" dirty="0"/>
              <a:t>, </a:t>
            </a:r>
            <a:r>
              <a:rPr lang="ko-KR" altLang="en-US" sz="2400" dirty="0"/>
              <a:t>정보제공사유</a:t>
            </a:r>
            <a:r>
              <a:rPr lang="en-US" altLang="ko-KR" sz="2400" dirty="0"/>
              <a:t>, </a:t>
            </a:r>
            <a:r>
              <a:rPr lang="ko-KR" altLang="en-US" sz="2400" dirty="0"/>
              <a:t>특허무효사유 및 특허취소사유의 비교</a:t>
            </a:r>
          </a:p>
        </p:txBody>
      </p:sp>
      <p:graphicFrame>
        <p:nvGraphicFramePr>
          <p:cNvPr id="2" name="표 1"/>
          <p:cNvGraphicFramePr>
            <a:graphicFrameLocks noGrp="1"/>
          </p:cNvGraphicFramePr>
          <p:nvPr>
            <p:extLst>
              <p:ext uri="{D42A27DB-BD31-4B8C-83A1-F6EECF244321}">
                <p14:modId xmlns:p14="http://schemas.microsoft.com/office/powerpoint/2010/main" val="3964912402"/>
              </p:ext>
            </p:extLst>
          </p:nvPr>
        </p:nvGraphicFramePr>
        <p:xfrm>
          <a:off x="503276" y="1037535"/>
          <a:ext cx="11145799" cy="5784218"/>
        </p:xfrm>
        <a:graphic>
          <a:graphicData uri="http://schemas.openxmlformats.org/drawingml/2006/table">
            <a:tbl>
              <a:tblPr/>
              <a:tblGrid>
                <a:gridCol w="1135024">
                  <a:extLst>
                    <a:ext uri="{9D8B030D-6E8A-4147-A177-3AD203B41FA5}">
                      <a16:colId xmlns:a16="http://schemas.microsoft.com/office/drawing/2014/main" val="20000"/>
                    </a:ext>
                  </a:extLst>
                </a:gridCol>
                <a:gridCol w="5991225">
                  <a:extLst>
                    <a:ext uri="{9D8B030D-6E8A-4147-A177-3AD203B41FA5}">
                      <a16:colId xmlns:a16="http://schemas.microsoft.com/office/drawing/2014/main" val="20001"/>
                    </a:ext>
                  </a:extLst>
                </a:gridCol>
                <a:gridCol w="962025">
                  <a:extLst>
                    <a:ext uri="{9D8B030D-6E8A-4147-A177-3AD203B41FA5}">
                      <a16:colId xmlns:a16="http://schemas.microsoft.com/office/drawing/2014/main" val="20002"/>
                    </a:ext>
                  </a:extLst>
                </a:gridCol>
                <a:gridCol w="1047750">
                  <a:extLst>
                    <a:ext uri="{9D8B030D-6E8A-4147-A177-3AD203B41FA5}">
                      <a16:colId xmlns:a16="http://schemas.microsoft.com/office/drawing/2014/main" val="20003"/>
                    </a:ext>
                  </a:extLst>
                </a:gridCol>
                <a:gridCol w="1038225">
                  <a:extLst>
                    <a:ext uri="{9D8B030D-6E8A-4147-A177-3AD203B41FA5}">
                      <a16:colId xmlns:a16="http://schemas.microsoft.com/office/drawing/2014/main" val="20004"/>
                    </a:ext>
                  </a:extLst>
                </a:gridCol>
                <a:gridCol w="971550">
                  <a:extLst>
                    <a:ext uri="{9D8B030D-6E8A-4147-A177-3AD203B41FA5}">
                      <a16:colId xmlns:a16="http://schemas.microsoft.com/office/drawing/2014/main" val="20005"/>
                    </a:ext>
                  </a:extLst>
                </a:gridCol>
              </a:tblGrid>
              <a:tr h="192084">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요건</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내 용</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거절이유</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정보제공사유</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특허무효사유</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특허취소사유</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727064">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주체적</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외국인의 권리능력</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25)</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특허를 받을 수 있는 권리를 가지는 자</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33</a:t>
                      </a:r>
                      <a:r>
                        <a:rPr lang="ko-KR" altLang="en-US" sz="1100" kern="1200" dirty="0">
                          <a:solidFill>
                            <a:schemeClr val="tx2"/>
                          </a:solidFill>
                          <a:latin typeface="+mn-lt"/>
                          <a:ea typeface="+mn-ea"/>
                          <a:cs typeface="+mn-cs"/>
                        </a:rPr>
                        <a:t>①본문</a:t>
                      </a:r>
                      <a:r>
                        <a:rPr lang="en-US" altLang="ko-KR" sz="1100" kern="1200" dirty="0">
                          <a:solidFill>
                            <a:schemeClr val="tx2"/>
                          </a:solidFill>
                          <a:latin typeface="+mn-lt"/>
                          <a:ea typeface="+mn-ea"/>
                          <a:cs typeface="+mn-cs"/>
                        </a:rPr>
                        <a:t>)</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특허를 받을 수 없는 자</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33</a:t>
                      </a:r>
                      <a:r>
                        <a:rPr lang="ko-KR" altLang="en-US" sz="1100" kern="1200" dirty="0">
                          <a:solidFill>
                            <a:schemeClr val="tx2"/>
                          </a:solidFill>
                          <a:latin typeface="+mn-lt"/>
                          <a:ea typeface="+mn-ea"/>
                          <a:cs typeface="+mn-cs"/>
                        </a:rPr>
                        <a:t>①단서</a:t>
                      </a:r>
                      <a:r>
                        <a:rPr lang="en-US" altLang="ko-KR" sz="1100" kern="1200" dirty="0">
                          <a:solidFill>
                            <a:schemeClr val="tx2"/>
                          </a:solidFill>
                          <a:latin typeface="+mn-lt"/>
                          <a:ea typeface="+mn-ea"/>
                          <a:cs typeface="+mn-cs"/>
                        </a:rPr>
                        <a:t>)</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공동출원</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44)</a:t>
                      </a:r>
                      <a:endParaRPr lang="ko-KR" altLang="en-US" sz="1100" kern="1200" dirty="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endParaRPr lang="ko-KR" altLang="en-US" sz="1100" kern="120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905391">
                <a:tc rowSpan="2">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실체적</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산업상 이용가능성</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29</a:t>
                      </a:r>
                      <a:r>
                        <a:rPr lang="ko-KR" altLang="en-US" sz="1100" kern="1200" dirty="0">
                          <a:solidFill>
                            <a:schemeClr val="tx2"/>
                          </a:solidFill>
                          <a:latin typeface="+mn-lt"/>
                          <a:ea typeface="+mn-ea"/>
                          <a:cs typeface="+mn-cs"/>
                        </a:rPr>
                        <a:t>①본문</a:t>
                      </a:r>
                      <a:r>
                        <a:rPr lang="en-US" altLang="ko-KR" sz="1100" kern="1200" dirty="0">
                          <a:solidFill>
                            <a:schemeClr val="tx2"/>
                          </a:solidFill>
                          <a:latin typeface="+mn-lt"/>
                          <a:ea typeface="+mn-ea"/>
                          <a:cs typeface="+mn-cs"/>
                        </a:rPr>
                        <a:t>)</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err="1">
                          <a:solidFill>
                            <a:schemeClr val="tx2"/>
                          </a:solidFill>
                          <a:latin typeface="+mn-lt"/>
                          <a:ea typeface="+mn-ea"/>
                          <a:cs typeface="+mn-cs"/>
                        </a:rPr>
                        <a:t>신규성</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29</a:t>
                      </a:r>
                      <a:r>
                        <a:rPr lang="ko-KR" altLang="en-US" sz="1100" kern="1200" dirty="0">
                          <a:solidFill>
                            <a:schemeClr val="tx2"/>
                          </a:solidFill>
                          <a:latin typeface="+mn-lt"/>
                          <a:ea typeface="+mn-ea"/>
                          <a:cs typeface="+mn-cs"/>
                        </a:rPr>
                        <a:t>①각호</a:t>
                      </a:r>
                      <a:r>
                        <a:rPr lang="en-US" altLang="ko-KR" sz="1100" kern="1200" dirty="0">
                          <a:solidFill>
                            <a:schemeClr val="tx2"/>
                          </a:solidFill>
                          <a:latin typeface="+mn-lt"/>
                          <a:ea typeface="+mn-ea"/>
                          <a:cs typeface="+mn-cs"/>
                        </a:rPr>
                        <a:t>) </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진보성</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29</a:t>
                      </a:r>
                      <a:r>
                        <a:rPr lang="ko-KR" altLang="en-US" sz="1100" kern="1200" dirty="0">
                          <a:solidFill>
                            <a:schemeClr val="tx2"/>
                          </a:solidFill>
                          <a:latin typeface="+mn-lt"/>
                          <a:ea typeface="+mn-ea"/>
                          <a:cs typeface="+mn-cs"/>
                        </a:rPr>
                        <a:t>②</a:t>
                      </a:r>
                      <a:r>
                        <a:rPr lang="en-US" altLang="ko-KR" sz="1100" kern="1200" dirty="0">
                          <a:solidFill>
                            <a:schemeClr val="tx2"/>
                          </a:solidFill>
                          <a:latin typeface="+mn-lt"/>
                          <a:ea typeface="+mn-ea"/>
                          <a:cs typeface="+mn-cs"/>
                        </a:rPr>
                        <a:t>) </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확대된 </a:t>
                      </a:r>
                      <a:r>
                        <a:rPr lang="ko-KR" altLang="en-US" sz="1100" kern="1200" dirty="0" err="1">
                          <a:solidFill>
                            <a:schemeClr val="tx2"/>
                          </a:solidFill>
                          <a:latin typeface="+mn-lt"/>
                          <a:ea typeface="+mn-ea"/>
                          <a:cs typeface="+mn-cs"/>
                        </a:rPr>
                        <a:t>선출원</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29</a:t>
                      </a:r>
                      <a:r>
                        <a:rPr lang="ko-KR" altLang="en-US" sz="1100" kern="1200" dirty="0">
                          <a:solidFill>
                            <a:schemeClr val="tx2"/>
                          </a:solidFill>
                          <a:latin typeface="+mn-lt"/>
                          <a:ea typeface="+mn-ea"/>
                          <a:cs typeface="+mn-cs"/>
                        </a:rPr>
                        <a:t>③④⑤⑥⑦</a:t>
                      </a:r>
                      <a:r>
                        <a:rPr lang="en-US" altLang="ko-KR" sz="1100" kern="1200" dirty="0">
                          <a:solidFill>
                            <a:schemeClr val="tx2"/>
                          </a:solidFill>
                          <a:latin typeface="+mn-lt"/>
                          <a:ea typeface="+mn-ea"/>
                          <a:cs typeface="+mn-cs"/>
                        </a:rPr>
                        <a:t>) </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선출원주의</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36</a:t>
                      </a:r>
                      <a:r>
                        <a:rPr lang="ko-KR" altLang="en-US" sz="1100" kern="1200" dirty="0">
                          <a:solidFill>
                            <a:schemeClr val="tx2"/>
                          </a:solidFill>
                          <a:latin typeface="+mn-lt"/>
                          <a:ea typeface="+mn-ea"/>
                          <a:cs typeface="+mn-cs"/>
                        </a:rPr>
                        <a:t>①②③</a:t>
                      </a:r>
                      <a:r>
                        <a:rPr lang="en-US" altLang="ko-KR" sz="1100" kern="1200" dirty="0">
                          <a:solidFill>
                            <a:schemeClr val="tx2"/>
                          </a:solidFill>
                          <a:latin typeface="+mn-lt"/>
                          <a:ea typeface="+mn-ea"/>
                          <a:cs typeface="+mn-cs"/>
                        </a:rPr>
                        <a:t>) </a:t>
                      </a:r>
                      <a:endParaRPr lang="ko-KR" altLang="en-US" sz="1100" kern="1200" dirty="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17780" marR="17780" indent="0" algn="ctr" fontAlgn="base" latinLnBrk="0">
                        <a:lnSpc>
                          <a:spcPct val="130000"/>
                        </a:lnSpc>
                        <a:spcBef>
                          <a:spcPts val="0"/>
                        </a:spcBef>
                        <a:spcAft>
                          <a:spcPts val="0"/>
                        </a:spcAft>
                      </a:pPr>
                      <a:r>
                        <a:rPr lang="ko-KR" altLang="en-US" sz="1100" kern="120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17780" marR="17780" indent="0" algn="ctr" fontAlgn="base" latinLnBrk="0">
                        <a:lnSpc>
                          <a:spcPct val="130000"/>
                        </a:lnSpc>
                        <a:spcBef>
                          <a:spcPts val="0"/>
                        </a:spcBef>
                        <a:spcAft>
                          <a:spcPts val="0"/>
                        </a:spcAft>
                      </a:pPr>
                      <a:r>
                        <a:rPr lang="ko-KR" altLang="en-US" sz="1100" kern="1200" dirty="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marL="17780" marR="17780" indent="0" algn="ctr" fontAlgn="base" latinLnBrk="0">
                        <a:lnSpc>
                          <a:spcPct val="130000"/>
                        </a:lnSpc>
                        <a:spcBef>
                          <a:spcPts val="0"/>
                        </a:spcBef>
                        <a:spcAft>
                          <a:spcPts val="0"/>
                        </a:spcAft>
                      </a:pPr>
                      <a:r>
                        <a:rPr lang="ko-KR" altLang="en-US" sz="1100" kern="1200" dirty="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dirty="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1262045">
                <a:tc vMerge="1">
                  <a:txBody>
                    <a:bodyPr/>
                    <a:lstStyle/>
                    <a:p>
                      <a:pPr latinLnBrk="1"/>
                      <a:endParaRPr lang="ko-KR" altLang="en-US"/>
                    </a:p>
                  </a:txBody>
                  <a:tcPr/>
                </a:tc>
                <a:tc>
                  <a:txBody>
                    <a:bodyPr/>
                    <a:lstStyle/>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err="1">
                          <a:solidFill>
                            <a:schemeClr val="tx2"/>
                          </a:solidFill>
                          <a:latin typeface="+mn-lt"/>
                          <a:ea typeface="+mn-ea"/>
                          <a:cs typeface="+mn-cs"/>
                        </a:rPr>
                        <a:t>불특허발명</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32) </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일반적 발명의 설명 기재</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42</a:t>
                      </a:r>
                      <a:r>
                        <a:rPr lang="ko-KR" altLang="en-US" sz="1100" kern="1200" dirty="0">
                          <a:solidFill>
                            <a:schemeClr val="tx2"/>
                          </a:solidFill>
                          <a:latin typeface="+mn-lt"/>
                          <a:ea typeface="+mn-ea"/>
                          <a:cs typeface="+mn-cs"/>
                        </a:rPr>
                        <a:t>③</a:t>
                      </a:r>
                      <a:r>
                        <a:rPr lang="en-US" altLang="ko-KR" sz="1100" kern="1200" dirty="0">
                          <a:solidFill>
                            <a:schemeClr val="tx2"/>
                          </a:solidFill>
                          <a:latin typeface="+mn-lt"/>
                          <a:ea typeface="+mn-ea"/>
                          <a:cs typeface="+mn-cs"/>
                        </a:rPr>
                        <a:t>Ⅰ) </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청구범위 기재</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42</a:t>
                      </a:r>
                      <a:r>
                        <a:rPr lang="ko-KR" altLang="en-US" sz="1100" kern="1200" dirty="0">
                          <a:solidFill>
                            <a:schemeClr val="tx2"/>
                          </a:solidFill>
                          <a:latin typeface="+mn-lt"/>
                          <a:ea typeface="+mn-ea"/>
                          <a:cs typeface="+mn-cs"/>
                        </a:rPr>
                        <a:t>④</a:t>
                      </a:r>
                      <a:r>
                        <a:rPr lang="en-US" altLang="ko-KR" sz="1100" kern="1200" dirty="0">
                          <a:solidFill>
                            <a:schemeClr val="tx2"/>
                          </a:solidFill>
                          <a:latin typeface="+mn-lt"/>
                          <a:ea typeface="+mn-ea"/>
                          <a:cs typeface="+mn-cs"/>
                        </a:rPr>
                        <a:t>)</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신규사항추가금지</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47</a:t>
                      </a:r>
                      <a:r>
                        <a:rPr lang="ko-KR" altLang="en-US" sz="1100" kern="1200" dirty="0">
                          <a:solidFill>
                            <a:schemeClr val="tx2"/>
                          </a:solidFill>
                          <a:latin typeface="+mn-lt"/>
                          <a:ea typeface="+mn-ea"/>
                          <a:cs typeface="+mn-cs"/>
                        </a:rPr>
                        <a:t>②</a:t>
                      </a:r>
                      <a:r>
                        <a:rPr lang="en-US" altLang="ko-KR" sz="1100" kern="1200" dirty="0">
                          <a:solidFill>
                            <a:schemeClr val="tx2"/>
                          </a:solidFill>
                          <a:latin typeface="+mn-lt"/>
                          <a:ea typeface="+mn-ea"/>
                          <a:cs typeface="+mn-cs"/>
                        </a:rPr>
                        <a:t>)</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분할출원의 범위를 벗어난 경우</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52</a:t>
                      </a:r>
                      <a:r>
                        <a:rPr lang="ko-KR" altLang="en-US" sz="1100" kern="1200" dirty="0">
                          <a:solidFill>
                            <a:schemeClr val="tx2"/>
                          </a:solidFill>
                          <a:latin typeface="+mn-lt"/>
                          <a:ea typeface="+mn-ea"/>
                          <a:cs typeface="+mn-cs"/>
                        </a:rPr>
                        <a:t>①</a:t>
                      </a:r>
                      <a:r>
                        <a:rPr lang="en-US" altLang="ko-KR" sz="1100" kern="1200" dirty="0">
                          <a:solidFill>
                            <a:schemeClr val="tx2"/>
                          </a:solidFill>
                          <a:latin typeface="+mn-lt"/>
                          <a:ea typeface="+mn-ea"/>
                          <a:cs typeface="+mn-cs"/>
                        </a:rPr>
                        <a:t>)</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분리출원의 범위를 벗어난 경우</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52</a:t>
                      </a:r>
                      <a:r>
                        <a:rPr lang="ko-KR" altLang="en-US" sz="1100" kern="1200" dirty="0">
                          <a:solidFill>
                            <a:schemeClr val="tx2"/>
                          </a:solidFill>
                          <a:latin typeface="+mn-lt"/>
                          <a:ea typeface="+mn-ea"/>
                          <a:cs typeface="+mn-cs"/>
                        </a:rPr>
                        <a:t>의</a:t>
                      </a:r>
                      <a:r>
                        <a:rPr lang="en-US" altLang="ko-KR" sz="1100" kern="1200" dirty="0">
                          <a:solidFill>
                            <a:schemeClr val="tx2"/>
                          </a:solidFill>
                          <a:latin typeface="+mn-lt"/>
                          <a:ea typeface="+mn-ea"/>
                          <a:cs typeface="+mn-cs"/>
                        </a:rPr>
                        <a:t>2</a:t>
                      </a:r>
                      <a:r>
                        <a:rPr lang="ko-KR" altLang="en-US" sz="1100" kern="1200" dirty="0">
                          <a:solidFill>
                            <a:schemeClr val="tx2"/>
                          </a:solidFill>
                          <a:latin typeface="+mn-lt"/>
                          <a:ea typeface="+mn-ea"/>
                          <a:cs typeface="+mn-cs"/>
                        </a:rPr>
                        <a:t>①</a:t>
                      </a:r>
                      <a:r>
                        <a:rPr lang="en-US" altLang="ko-KR" sz="1100" kern="1200" dirty="0">
                          <a:solidFill>
                            <a:schemeClr val="tx2"/>
                          </a:solidFill>
                          <a:latin typeface="+mn-lt"/>
                          <a:ea typeface="+mn-ea"/>
                          <a:cs typeface="+mn-cs"/>
                        </a:rPr>
                        <a:t>)</a:t>
                      </a:r>
                    </a:p>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변경출원의 범위를 벗어난 경우</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53</a:t>
                      </a:r>
                      <a:r>
                        <a:rPr lang="ko-KR" altLang="en-US" sz="1100" kern="1200" dirty="0">
                          <a:solidFill>
                            <a:schemeClr val="tx2"/>
                          </a:solidFill>
                          <a:latin typeface="+mn-lt"/>
                          <a:ea typeface="+mn-ea"/>
                          <a:cs typeface="+mn-cs"/>
                        </a:rPr>
                        <a:t>①</a:t>
                      </a:r>
                      <a:r>
                        <a:rPr lang="en-US" altLang="ko-KR" sz="1100" kern="1200" dirty="0">
                          <a:solidFill>
                            <a:schemeClr val="tx2"/>
                          </a:solidFill>
                          <a:latin typeface="+mn-lt"/>
                          <a:ea typeface="+mn-ea"/>
                          <a:cs typeface="+mn-cs"/>
                        </a:rPr>
                        <a:t>)</a:t>
                      </a:r>
                      <a:endParaRPr lang="ko-KR" altLang="en-US" sz="1100" kern="1200" dirty="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vMerge="1">
                  <a:txBody>
                    <a:bodyPr/>
                    <a:lstStyle/>
                    <a:p>
                      <a:pPr latinLnBrk="1"/>
                      <a:endParaRPr lang="ko-KR" altLang="en-US"/>
                    </a:p>
                  </a:txBody>
                  <a:tcPr/>
                </a:tc>
                <a:tc vMerge="1">
                  <a:txBody>
                    <a:bodyPr/>
                    <a:lstStyle/>
                    <a:p>
                      <a:pPr latinLnBrk="1"/>
                      <a:endParaRPr lang="ko-KR" altLang="en-US"/>
                    </a:p>
                  </a:txBody>
                  <a:tcPr/>
                </a:tc>
                <a:tc vMerge="1">
                  <a:txBody>
                    <a:bodyPr/>
                    <a:lstStyle/>
                    <a:p>
                      <a:pPr latinLnBrk="1"/>
                      <a:endParaRPr lang="ko-KR" altLang="en-US"/>
                    </a:p>
                  </a:txBody>
                  <a:tcPr/>
                </a:tc>
                <a:tc>
                  <a:txBody>
                    <a:bodyPr/>
                    <a:lstStyle/>
                    <a:p>
                      <a:pPr marL="17780" marR="17780" indent="0" algn="ctr" fontAlgn="base" latinLnBrk="0">
                        <a:lnSpc>
                          <a:spcPct val="130000"/>
                        </a:lnSpc>
                        <a:spcBef>
                          <a:spcPts val="0"/>
                        </a:spcBef>
                        <a:spcAft>
                          <a:spcPts val="0"/>
                        </a:spcAft>
                      </a:pPr>
                      <a:endParaRPr lang="ko-KR" altLang="en-US" sz="1100" kern="120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203950">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조약</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8923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조약을 위반한 경우</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dirty="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endParaRPr lang="ko-KR" altLang="en-US" sz="1100" kern="120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548737">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절차적 </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발명의 설명 중 배경기술 기재</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42</a:t>
                      </a:r>
                      <a:r>
                        <a:rPr lang="ko-KR" altLang="en-US" sz="1100" kern="1200" dirty="0">
                          <a:solidFill>
                            <a:schemeClr val="tx2"/>
                          </a:solidFill>
                          <a:latin typeface="+mn-lt"/>
                          <a:ea typeface="+mn-ea"/>
                          <a:cs typeface="+mn-cs"/>
                        </a:rPr>
                        <a:t>③</a:t>
                      </a:r>
                      <a:r>
                        <a:rPr lang="en-US" altLang="ko-KR" sz="1100" kern="1200" dirty="0">
                          <a:solidFill>
                            <a:schemeClr val="tx2"/>
                          </a:solidFill>
                          <a:latin typeface="+mn-lt"/>
                          <a:ea typeface="+mn-ea"/>
                          <a:cs typeface="+mn-cs"/>
                        </a:rPr>
                        <a:t>Ⅱ)</a:t>
                      </a:r>
                    </a:p>
                    <a:p>
                      <a:pPr marL="171450" marR="17780" indent="-171450" algn="just" fontAlgn="base" latinLnBrk="1">
                        <a:lnSpc>
                          <a:spcPct val="130000"/>
                        </a:lnSpc>
                        <a:spcBef>
                          <a:spcPts val="0"/>
                        </a:spcBef>
                        <a:spcAft>
                          <a:spcPts val="0"/>
                        </a:spcAft>
                        <a:buFont typeface="Wingdings" pitchFamily="2" charset="2"/>
                        <a:buChar char="§"/>
                      </a:pPr>
                      <a:r>
                        <a:rPr lang="ko-KR" altLang="en-US" sz="1100" kern="1200" dirty="0" err="1">
                          <a:solidFill>
                            <a:schemeClr val="tx2"/>
                          </a:solidFill>
                          <a:latin typeface="+mn-lt"/>
                          <a:ea typeface="+mn-ea"/>
                          <a:cs typeface="+mn-cs"/>
                        </a:rPr>
                        <a:t>다항제</a:t>
                      </a:r>
                      <a:r>
                        <a:rPr lang="ko-KR" altLang="en-US" sz="1100" kern="1200" dirty="0">
                          <a:solidFill>
                            <a:schemeClr val="tx2"/>
                          </a:solidFill>
                          <a:latin typeface="+mn-lt"/>
                          <a:ea typeface="+mn-ea"/>
                          <a:cs typeface="+mn-cs"/>
                        </a:rPr>
                        <a:t> 기재방법</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42</a:t>
                      </a:r>
                      <a:r>
                        <a:rPr lang="ko-KR" altLang="en-US" sz="1100" kern="1200" dirty="0">
                          <a:solidFill>
                            <a:schemeClr val="tx2"/>
                          </a:solidFill>
                          <a:latin typeface="+mn-lt"/>
                          <a:ea typeface="+mn-ea"/>
                          <a:cs typeface="+mn-cs"/>
                        </a:rPr>
                        <a:t>⑧</a:t>
                      </a:r>
                      <a:r>
                        <a:rPr lang="en-US" altLang="ko-KR" sz="1100" kern="1200" dirty="0">
                          <a:solidFill>
                            <a:schemeClr val="tx2"/>
                          </a:solidFill>
                          <a:latin typeface="+mn-lt"/>
                          <a:ea typeface="+mn-ea"/>
                          <a:cs typeface="+mn-cs"/>
                        </a:rPr>
                        <a:t>)</a:t>
                      </a:r>
                    </a:p>
                    <a:p>
                      <a:pPr marL="17145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하나의 특허출원의 범위</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45)</a:t>
                      </a:r>
                      <a:endParaRPr lang="ko-KR" altLang="en-US" sz="1100" kern="1200" dirty="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dirty="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endParaRPr lang="ko-KR" altLang="en-US" sz="1100" kern="1200" dirty="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endParaRPr lang="ko-KR" altLang="en-US" sz="1100" kern="1200" dirty="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endParaRPr lang="ko-KR" altLang="en-US" sz="1100" kern="120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203950">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후발적 무효사유</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marL="171450" marR="17780" indent="-171450" algn="just" fontAlgn="base" latinLnBrk="1">
                        <a:lnSpc>
                          <a:spcPct val="130000"/>
                        </a:lnSpc>
                        <a:spcBef>
                          <a:spcPts val="0"/>
                        </a:spcBef>
                        <a:spcAft>
                          <a:spcPts val="0"/>
                        </a:spcAft>
                        <a:buFont typeface="Wingdings" pitchFamily="2" charset="2"/>
                        <a:buChar char="§"/>
                      </a:pPr>
                      <a:r>
                        <a:rPr lang="ko-KR" altLang="en-US" sz="1100" kern="1200" dirty="0">
                          <a:solidFill>
                            <a:schemeClr val="tx2"/>
                          </a:solidFill>
                          <a:latin typeface="+mn-lt"/>
                          <a:ea typeface="+mn-ea"/>
                          <a:cs typeface="+mn-cs"/>
                        </a:rPr>
                        <a:t>특허 후 특허권자가 특허권을 누릴 수 없는 자로 되거나 그 특허가 조약을 위반한 경우</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endParaRPr lang="ko-KR" altLang="en-US" sz="1100" kern="120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endParaRPr lang="ko-KR" altLang="en-US" sz="1100" kern="120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dirty="0">
                          <a:solidFill>
                            <a:schemeClr val="tx2"/>
                          </a:solidFill>
                          <a:latin typeface="+mn-lt"/>
                          <a:ea typeface="+mn-ea"/>
                          <a:cs typeface="+mn-cs"/>
                        </a:rPr>
                        <a:t>○</a:t>
                      </a: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endParaRPr lang="ko-KR" altLang="en-US" sz="1100" kern="1200" dirty="0">
                        <a:solidFill>
                          <a:schemeClr val="tx2"/>
                        </a:solidFill>
                        <a:latin typeface="+mn-lt"/>
                        <a:ea typeface="+mn-ea"/>
                        <a:cs typeface="+mn-cs"/>
                      </a:endParaRPr>
                    </a:p>
                  </a:txBody>
                  <a:tcPr marL="16915" marR="16915" marT="16915" marB="16915"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r h="713554">
                <a:tc gridSpan="6">
                  <a:txBody>
                    <a:bodyPr/>
                    <a:lstStyle/>
                    <a:p>
                      <a:pPr marL="165100" marR="17780" indent="-165100" algn="just" fontAlgn="base" latinLnBrk="1">
                        <a:lnSpc>
                          <a:spcPct val="100000"/>
                        </a:lnSpc>
                        <a:spcBef>
                          <a:spcPts val="0"/>
                        </a:spcBef>
                        <a:spcAft>
                          <a:spcPts val="0"/>
                        </a:spcAft>
                      </a:pPr>
                      <a:r>
                        <a:rPr lang="ko-KR" altLang="en-US" sz="1100" kern="1200" dirty="0">
                          <a:solidFill>
                            <a:schemeClr val="tx2"/>
                          </a:solidFill>
                          <a:latin typeface="+mn-lt"/>
                          <a:ea typeface="+mn-ea"/>
                          <a:cs typeface="+mn-cs"/>
                        </a:rPr>
                        <a:t>* 단</a:t>
                      </a:r>
                      <a:r>
                        <a:rPr lang="en-US" altLang="ko-KR" sz="1100" kern="1200" dirty="0">
                          <a:solidFill>
                            <a:schemeClr val="tx2"/>
                          </a:solidFill>
                          <a:latin typeface="+mn-lt"/>
                          <a:ea typeface="+mn-ea"/>
                          <a:cs typeface="+mn-cs"/>
                        </a:rPr>
                        <a:t>, </a:t>
                      </a:r>
                      <a:r>
                        <a:rPr lang="ko-KR" altLang="en-US" sz="1100" kern="1200" dirty="0">
                          <a:solidFill>
                            <a:schemeClr val="tx2"/>
                          </a:solidFill>
                          <a:latin typeface="+mn-lt"/>
                          <a:ea typeface="+mn-ea"/>
                          <a:cs typeface="+mn-cs"/>
                        </a:rPr>
                        <a:t>특허를 받을 수 있는 권리를 가지는 자</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33</a:t>
                      </a:r>
                      <a:r>
                        <a:rPr lang="ko-KR" altLang="en-US" sz="1100" kern="1200" dirty="0">
                          <a:solidFill>
                            <a:schemeClr val="tx2"/>
                          </a:solidFill>
                          <a:latin typeface="+mn-lt"/>
                          <a:ea typeface="+mn-ea"/>
                          <a:cs typeface="+mn-cs"/>
                        </a:rPr>
                        <a:t>①본문</a:t>
                      </a:r>
                      <a:r>
                        <a:rPr lang="en-US" altLang="ko-KR" sz="1100" kern="1200" dirty="0">
                          <a:solidFill>
                            <a:schemeClr val="tx2"/>
                          </a:solidFill>
                          <a:latin typeface="+mn-lt"/>
                          <a:ea typeface="+mn-ea"/>
                          <a:cs typeface="+mn-cs"/>
                        </a:rPr>
                        <a:t>) </a:t>
                      </a:r>
                      <a:r>
                        <a:rPr lang="ko-KR" altLang="en-US" sz="1100" kern="1200" dirty="0">
                          <a:solidFill>
                            <a:schemeClr val="tx2"/>
                          </a:solidFill>
                          <a:latin typeface="+mn-lt"/>
                          <a:ea typeface="+mn-ea"/>
                          <a:cs typeface="+mn-cs"/>
                        </a:rPr>
                        <a:t>위반과 공동출원</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44) </a:t>
                      </a:r>
                      <a:r>
                        <a:rPr lang="ko-KR" altLang="en-US" sz="1100" kern="1200" dirty="0">
                          <a:solidFill>
                            <a:schemeClr val="tx2"/>
                          </a:solidFill>
                          <a:latin typeface="+mn-lt"/>
                          <a:ea typeface="+mn-ea"/>
                          <a:cs typeface="+mn-cs"/>
                        </a:rPr>
                        <a:t>위반은 제</a:t>
                      </a:r>
                      <a:r>
                        <a:rPr lang="en-US" altLang="ko-KR" sz="1100" kern="1200" dirty="0">
                          <a:solidFill>
                            <a:schemeClr val="tx2"/>
                          </a:solidFill>
                          <a:latin typeface="+mn-lt"/>
                          <a:ea typeface="+mn-ea"/>
                          <a:cs typeface="+mn-cs"/>
                        </a:rPr>
                        <a:t>99</a:t>
                      </a:r>
                      <a:r>
                        <a:rPr lang="ko-KR" altLang="en-US" sz="1100" kern="1200" dirty="0">
                          <a:solidFill>
                            <a:schemeClr val="tx2"/>
                          </a:solidFill>
                          <a:latin typeface="+mn-lt"/>
                          <a:ea typeface="+mn-ea"/>
                          <a:cs typeface="+mn-cs"/>
                        </a:rPr>
                        <a:t>조의</a:t>
                      </a:r>
                      <a:r>
                        <a:rPr lang="en-US" altLang="ko-KR" sz="1100" kern="1200" dirty="0">
                          <a:solidFill>
                            <a:schemeClr val="tx2"/>
                          </a:solidFill>
                          <a:latin typeface="+mn-lt"/>
                          <a:ea typeface="+mn-ea"/>
                          <a:cs typeface="+mn-cs"/>
                        </a:rPr>
                        <a:t>2</a:t>
                      </a:r>
                      <a:r>
                        <a:rPr lang="ko-KR" altLang="en-US" sz="1100" kern="1200" dirty="0">
                          <a:solidFill>
                            <a:schemeClr val="tx2"/>
                          </a:solidFill>
                          <a:latin typeface="+mn-lt"/>
                          <a:ea typeface="+mn-ea"/>
                          <a:cs typeface="+mn-cs"/>
                        </a:rPr>
                        <a:t>제</a:t>
                      </a:r>
                      <a:r>
                        <a:rPr lang="en-US" altLang="ko-KR" sz="1100" kern="1200" dirty="0">
                          <a:solidFill>
                            <a:schemeClr val="tx2"/>
                          </a:solidFill>
                          <a:latin typeface="+mn-lt"/>
                          <a:ea typeface="+mn-ea"/>
                          <a:cs typeface="+mn-cs"/>
                        </a:rPr>
                        <a:t>2</a:t>
                      </a:r>
                      <a:r>
                        <a:rPr lang="ko-KR" altLang="en-US" sz="1100" kern="1200" dirty="0">
                          <a:solidFill>
                            <a:schemeClr val="tx2"/>
                          </a:solidFill>
                          <a:latin typeface="+mn-lt"/>
                          <a:ea typeface="+mn-ea"/>
                          <a:cs typeface="+mn-cs"/>
                        </a:rPr>
                        <a:t>항에 따라 </a:t>
                      </a:r>
                      <a:r>
                        <a:rPr lang="ko-KR" altLang="en-US" sz="1100" kern="1200" dirty="0" err="1">
                          <a:solidFill>
                            <a:schemeClr val="tx2"/>
                          </a:solidFill>
                          <a:latin typeface="+mn-lt"/>
                          <a:ea typeface="+mn-ea"/>
                          <a:cs typeface="+mn-cs"/>
                        </a:rPr>
                        <a:t>이전등록된</a:t>
                      </a:r>
                      <a:r>
                        <a:rPr lang="ko-KR" altLang="en-US" sz="1100" kern="1200" dirty="0">
                          <a:solidFill>
                            <a:schemeClr val="tx2"/>
                          </a:solidFill>
                          <a:latin typeface="+mn-lt"/>
                          <a:ea typeface="+mn-ea"/>
                          <a:cs typeface="+mn-cs"/>
                        </a:rPr>
                        <a:t> 경우에 제외</a:t>
                      </a:r>
                    </a:p>
                    <a:p>
                      <a:pPr marL="195263" marR="17780" indent="-195263" algn="just" fontAlgn="base" latinLnBrk="1">
                        <a:lnSpc>
                          <a:spcPct val="100000"/>
                        </a:lnSpc>
                        <a:spcBef>
                          <a:spcPts val="0"/>
                        </a:spcBef>
                        <a:spcAft>
                          <a:spcPts val="0"/>
                        </a:spcAft>
                      </a:pPr>
                      <a:r>
                        <a:rPr lang="ko-KR" altLang="en-US" sz="1100" kern="1200" dirty="0">
                          <a:solidFill>
                            <a:schemeClr val="tx2"/>
                          </a:solidFill>
                          <a:latin typeface="+mn-lt"/>
                          <a:ea typeface="+mn-ea"/>
                          <a:cs typeface="+mn-cs"/>
                        </a:rPr>
                        <a:t>** 단</a:t>
                      </a:r>
                      <a:r>
                        <a:rPr lang="en-US" altLang="ko-KR" sz="1100" kern="1200" dirty="0">
                          <a:solidFill>
                            <a:schemeClr val="tx2"/>
                          </a:solidFill>
                          <a:latin typeface="+mn-lt"/>
                          <a:ea typeface="+mn-ea"/>
                          <a:cs typeface="+mn-cs"/>
                        </a:rPr>
                        <a:t>, </a:t>
                      </a:r>
                      <a:r>
                        <a:rPr lang="ko-KR" altLang="en-US" sz="1100" kern="1200" dirty="0">
                          <a:solidFill>
                            <a:schemeClr val="tx2"/>
                          </a:solidFill>
                          <a:latin typeface="+mn-lt"/>
                          <a:ea typeface="+mn-ea"/>
                          <a:cs typeface="+mn-cs"/>
                        </a:rPr>
                        <a:t>신규사항추가금지</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47</a:t>
                      </a:r>
                      <a:r>
                        <a:rPr lang="ko-KR" altLang="en-US" sz="1100" kern="1200" dirty="0">
                          <a:solidFill>
                            <a:schemeClr val="tx2"/>
                          </a:solidFill>
                          <a:latin typeface="+mn-lt"/>
                          <a:ea typeface="+mn-ea"/>
                          <a:cs typeface="+mn-cs"/>
                        </a:rPr>
                        <a:t>②</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는 원문의 범위</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47</a:t>
                      </a:r>
                      <a:r>
                        <a:rPr lang="ko-KR" altLang="en-US" sz="1100" kern="1200" dirty="0">
                          <a:solidFill>
                            <a:schemeClr val="tx2"/>
                          </a:solidFill>
                          <a:latin typeface="+mn-lt"/>
                          <a:ea typeface="+mn-ea"/>
                          <a:cs typeface="+mn-cs"/>
                        </a:rPr>
                        <a:t>②전단</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를 벗어난 경우</a:t>
                      </a:r>
                      <a:r>
                        <a:rPr lang="en-US" altLang="ko-KR" sz="1100" kern="1200" dirty="0">
                          <a:solidFill>
                            <a:schemeClr val="tx2"/>
                          </a:solidFill>
                          <a:latin typeface="+mn-lt"/>
                          <a:ea typeface="+mn-ea"/>
                          <a:cs typeface="+mn-cs"/>
                        </a:rPr>
                        <a:t>, </a:t>
                      </a:r>
                      <a:r>
                        <a:rPr lang="ko-KR" altLang="en-US" sz="1100" kern="1200" dirty="0">
                          <a:solidFill>
                            <a:schemeClr val="tx2"/>
                          </a:solidFill>
                          <a:latin typeface="+mn-lt"/>
                          <a:ea typeface="+mn-ea"/>
                          <a:cs typeface="+mn-cs"/>
                        </a:rPr>
                        <a:t>분리출원의 경우 원출원의 최초 명세서</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도면에 기재된 범위</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法 </a:t>
                      </a:r>
                      <a:r>
                        <a:rPr lang="en-US" altLang="ko-KR" sz="1100" kern="1200" dirty="0">
                          <a:solidFill>
                            <a:schemeClr val="tx2"/>
                          </a:solidFill>
                          <a:latin typeface="+mn-lt"/>
                          <a:ea typeface="+mn-ea"/>
                          <a:cs typeface="+mn-cs"/>
                        </a:rPr>
                        <a:t>52</a:t>
                      </a:r>
                      <a:r>
                        <a:rPr lang="ko-KR" altLang="en-US" sz="1100" kern="1200" dirty="0">
                          <a:solidFill>
                            <a:schemeClr val="tx2"/>
                          </a:solidFill>
                          <a:latin typeface="+mn-lt"/>
                          <a:ea typeface="+mn-ea"/>
                          <a:cs typeface="+mn-cs"/>
                        </a:rPr>
                        <a:t>의</a:t>
                      </a:r>
                      <a:r>
                        <a:rPr lang="en-US" altLang="ko-KR" sz="1100" kern="1200" dirty="0">
                          <a:solidFill>
                            <a:schemeClr val="tx2"/>
                          </a:solidFill>
                          <a:latin typeface="+mn-lt"/>
                          <a:ea typeface="+mn-ea"/>
                          <a:cs typeface="+mn-cs"/>
                        </a:rPr>
                        <a:t>2</a:t>
                      </a:r>
                      <a:r>
                        <a:rPr lang="ko-KR" altLang="en-US" sz="1100" kern="1200" dirty="0">
                          <a:solidFill>
                            <a:schemeClr val="tx2"/>
                          </a:solidFill>
                          <a:latin typeface="+mn-lt"/>
                          <a:ea typeface="+mn-ea"/>
                          <a:cs typeface="+mn-cs"/>
                        </a:rPr>
                        <a:t>①각호외의 부분 전단</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를 벗어난 경우에만 특허무효사유에 해당</a:t>
                      </a:r>
                    </a:p>
                    <a:p>
                      <a:pPr marL="266700" marR="17780" indent="-266700" algn="just" fontAlgn="base" latinLnBrk="1">
                        <a:lnSpc>
                          <a:spcPct val="100000"/>
                        </a:lnSpc>
                        <a:spcBef>
                          <a:spcPts val="0"/>
                        </a:spcBef>
                        <a:spcAft>
                          <a:spcPts val="0"/>
                        </a:spcAft>
                      </a:pPr>
                      <a:r>
                        <a:rPr lang="ko-KR" altLang="en-US" sz="1100" kern="1200" dirty="0">
                          <a:solidFill>
                            <a:schemeClr val="tx2"/>
                          </a:solidFill>
                          <a:latin typeface="+mn-lt"/>
                          <a:ea typeface="+mn-ea"/>
                          <a:cs typeface="+mn-cs"/>
                        </a:rPr>
                        <a:t>*** 제</a:t>
                      </a:r>
                      <a:r>
                        <a:rPr lang="en-US" altLang="ko-KR" sz="1100" kern="1200" dirty="0">
                          <a:solidFill>
                            <a:schemeClr val="tx2"/>
                          </a:solidFill>
                          <a:latin typeface="+mn-lt"/>
                          <a:ea typeface="+mn-ea"/>
                          <a:cs typeface="+mn-cs"/>
                        </a:rPr>
                        <a:t>29</a:t>
                      </a:r>
                      <a:r>
                        <a:rPr lang="ko-KR" altLang="en-US" sz="1100" kern="1200" dirty="0">
                          <a:solidFill>
                            <a:schemeClr val="tx2"/>
                          </a:solidFill>
                          <a:latin typeface="+mn-lt"/>
                          <a:ea typeface="+mn-ea"/>
                          <a:cs typeface="+mn-cs"/>
                        </a:rPr>
                        <a:t>조</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같은 조 제</a:t>
                      </a:r>
                      <a:r>
                        <a:rPr lang="en-US" altLang="ko-KR" sz="1100" kern="1200" dirty="0">
                          <a:solidFill>
                            <a:schemeClr val="tx2"/>
                          </a:solidFill>
                          <a:latin typeface="+mn-lt"/>
                          <a:ea typeface="+mn-ea"/>
                          <a:cs typeface="+mn-cs"/>
                        </a:rPr>
                        <a:t>1</a:t>
                      </a:r>
                      <a:r>
                        <a:rPr lang="ko-KR" altLang="en-US" sz="1100" kern="1200" dirty="0" err="1">
                          <a:solidFill>
                            <a:schemeClr val="tx2"/>
                          </a:solidFill>
                          <a:latin typeface="+mn-lt"/>
                          <a:ea typeface="+mn-ea"/>
                          <a:cs typeface="+mn-cs"/>
                        </a:rPr>
                        <a:t>항제</a:t>
                      </a:r>
                      <a:r>
                        <a:rPr lang="en-US" altLang="ko-KR" sz="1100" kern="1200" dirty="0">
                          <a:solidFill>
                            <a:schemeClr val="tx2"/>
                          </a:solidFill>
                          <a:latin typeface="+mn-lt"/>
                          <a:ea typeface="+mn-ea"/>
                          <a:cs typeface="+mn-cs"/>
                        </a:rPr>
                        <a:t>1</a:t>
                      </a:r>
                      <a:r>
                        <a:rPr lang="ko-KR" altLang="en-US" sz="1100" kern="1200" dirty="0">
                          <a:solidFill>
                            <a:schemeClr val="tx2"/>
                          </a:solidFill>
                          <a:latin typeface="+mn-lt"/>
                          <a:ea typeface="+mn-ea"/>
                          <a:cs typeface="+mn-cs"/>
                        </a:rPr>
                        <a:t>호에 해당하는 경우와 같은 호에 해당하는 발명에 의하여 쉽게 발명할 수 있는 경우는 제외한다</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와 제</a:t>
                      </a:r>
                      <a:r>
                        <a:rPr lang="en-US" altLang="ko-KR" sz="1100" kern="1200" dirty="0">
                          <a:solidFill>
                            <a:schemeClr val="tx2"/>
                          </a:solidFill>
                          <a:latin typeface="+mn-lt"/>
                          <a:ea typeface="+mn-ea"/>
                          <a:cs typeface="+mn-cs"/>
                        </a:rPr>
                        <a:t>36</a:t>
                      </a:r>
                      <a:r>
                        <a:rPr lang="ko-KR" altLang="en-US" sz="1100" kern="1200" dirty="0">
                          <a:solidFill>
                            <a:schemeClr val="tx2"/>
                          </a:solidFill>
                          <a:latin typeface="+mn-lt"/>
                          <a:ea typeface="+mn-ea"/>
                          <a:cs typeface="+mn-cs"/>
                        </a:rPr>
                        <a:t>조 제</a:t>
                      </a:r>
                      <a:r>
                        <a:rPr lang="en-US" altLang="ko-KR" sz="1100" kern="1200" dirty="0">
                          <a:solidFill>
                            <a:schemeClr val="tx2"/>
                          </a:solidFill>
                          <a:latin typeface="+mn-lt"/>
                          <a:ea typeface="+mn-ea"/>
                          <a:cs typeface="+mn-cs"/>
                        </a:rPr>
                        <a:t>1</a:t>
                      </a:r>
                      <a:r>
                        <a:rPr lang="ko-KR" altLang="en-US" sz="1100" kern="1200" dirty="0">
                          <a:solidFill>
                            <a:schemeClr val="tx2"/>
                          </a:solidFill>
                          <a:latin typeface="+mn-lt"/>
                          <a:ea typeface="+mn-ea"/>
                          <a:cs typeface="+mn-cs"/>
                        </a:rPr>
                        <a:t>항 내지 제</a:t>
                      </a:r>
                      <a:r>
                        <a:rPr lang="en-US" altLang="ko-KR" sz="1100" kern="1200" dirty="0">
                          <a:solidFill>
                            <a:schemeClr val="tx2"/>
                          </a:solidFill>
                          <a:latin typeface="+mn-lt"/>
                          <a:ea typeface="+mn-ea"/>
                          <a:cs typeface="+mn-cs"/>
                        </a:rPr>
                        <a:t>3</a:t>
                      </a:r>
                      <a:r>
                        <a:rPr lang="ko-KR" altLang="en-US" sz="1100" kern="1200" dirty="0">
                          <a:solidFill>
                            <a:schemeClr val="tx2"/>
                          </a:solidFill>
                          <a:latin typeface="+mn-lt"/>
                          <a:ea typeface="+mn-ea"/>
                          <a:cs typeface="+mn-cs"/>
                        </a:rPr>
                        <a:t>항에 한하되</a:t>
                      </a:r>
                      <a:r>
                        <a:rPr lang="en-US" altLang="ko-KR" sz="1100" kern="1200" dirty="0">
                          <a:solidFill>
                            <a:schemeClr val="tx2"/>
                          </a:solidFill>
                          <a:latin typeface="+mn-lt"/>
                          <a:ea typeface="+mn-ea"/>
                          <a:cs typeface="+mn-cs"/>
                        </a:rPr>
                        <a:t>, </a:t>
                      </a:r>
                      <a:r>
                        <a:rPr lang="ko-KR" altLang="en-US" sz="1100" kern="1200" dirty="0">
                          <a:solidFill>
                            <a:schemeClr val="tx2"/>
                          </a:solidFill>
                          <a:latin typeface="+mn-lt"/>
                          <a:ea typeface="+mn-ea"/>
                          <a:cs typeface="+mn-cs"/>
                        </a:rPr>
                        <a:t>등록특허공보에 게재된 선행기술을 기초로는 불가</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심판실무상 제</a:t>
                      </a:r>
                      <a:r>
                        <a:rPr lang="en-US" altLang="ko-KR" sz="1100" kern="1200" dirty="0">
                          <a:solidFill>
                            <a:schemeClr val="tx2"/>
                          </a:solidFill>
                          <a:latin typeface="+mn-lt"/>
                          <a:ea typeface="+mn-ea"/>
                          <a:cs typeface="+mn-cs"/>
                        </a:rPr>
                        <a:t>29</a:t>
                      </a:r>
                      <a:r>
                        <a:rPr lang="ko-KR" altLang="en-US" sz="1100" kern="1200" dirty="0">
                          <a:solidFill>
                            <a:schemeClr val="tx2"/>
                          </a:solidFill>
                          <a:latin typeface="+mn-lt"/>
                          <a:ea typeface="+mn-ea"/>
                          <a:cs typeface="+mn-cs"/>
                        </a:rPr>
                        <a:t>조제</a:t>
                      </a:r>
                      <a:r>
                        <a:rPr lang="en-US" altLang="ko-KR" sz="1100" kern="1200" dirty="0">
                          <a:solidFill>
                            <a:schemeClr val="tx2"/>
                          </a:solidFill>
                          <a:latin typeface="+mn-lt"/>
                          <a:ea typeface="+mn-ea"/>
                          <a:cs typeface="+mn-cs"/>
                        </a:rPr>
                        <a:t>1</a:t>
                      </a:r>
                      <a:r>
                        <a:rPr lang="ko-KR" altLang="en-US" sz="1100" kern="1200" dirty="0" err="1">
                          <a:solidFill>
                            <a:schemeClr val="tx2"/>
                          </a:solidFill>
                          <a:latin typeface="+mn-lt"/>
                          <a:ea typeface="+mn-ea"/>
                          <a:cs typeface="+mn-cs"/>
                        </a:rPr>
                        <a:t>항본문</a:t>
                      </a:r>
                      <a:r>
                        <a:rPr lang="ko-KR" altLang="en-US" sz="1100" kern="1200" dirty="0">
                          <a:solidFill>
                            <a:schemeClr val="tx2"/>
                          </a:solidFill>
                          <a:latin typeface="+mn-lt"/>
                          <a:ea typeface="+mn-ea"/>
                          <a:cs typeface="+mn-cs"/>
                        </a:rPr>
                        <a:t> 위반도 제외</a:t>
                      </a:r>
                    </a:p>
                  </a:txBody>
                  <a:tcPr marL="16915" marR="16915" marT="16915" marB="16915" anchor="ctr">
                    <a:lnL>
                      <a:noFill/>
                    </a:lnL>
                    <a:lnR>
                      <a:noFill/>
                    </a:lnR>
                    <a:lnT w="12700" cap="flat" cmpd="sng" algn="ctr">
                      <a:solidFill>
                        <a:schemeClr val="tx1"/>
                      </a:solidFill>
                      <a:prstDash val="solid"/>
                      <a:round/>
                      <a:headEnd type="none" w="med" len="med"/>
                      <a:tailEnd type="none" w="med" len="med"/>
                    </a:lnT>
                    <a:lnB>
                      <a:noFill/>
                    </a:lnB>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10007"/>
                  </a:ext>
                </a:extLst>
              </a:tr>
            </a:tbl>
          </a:graphicData>
        </a:graphic>
      </p:graphicFrame>
      <p:sp>
        <p:nvSpPr>
          <p:cNvPr id="5" name="슬라이드 번호 개체 틀 4"/>
          <p:cNvSpPr>
            <a:spLocks noGrp="1"/>
          </p:cNvSpPr>
          <p:nvPr>
            <p:ph type="sldNum" sz="quarter" idx="12"/>
          </p:nvPr>
        </p:nvSpPr>
        <p:spPr/>
        <p:txBody>
          <a:bodyPr/>
          <a:lstStyle/>
          <a:p>
            <a:fld id="{3875FC6C-1516-4DC4-8C58-3090F7D4F003}" type="slidenum">
              <a:rPr lang="ko-KR" altLang="en-US" smtClean="0"/>
              <a:t>11</a:t>
            </a:fld>
            <a:endParaRPr lang="ko-KR" altLang="en-US"/>
          </a:p>
        </p:txBody>
      </p:sp>
    </p:spTree>
    <p:extLst>
      <p:ext uri="{BB962C8B-B14F-4D97-AF65-F5344CB8AC3E}">
        <p14:creationId xmlns:p14="http://schemas.microsoft.com/office/powerpoint/2010/main" val="29157741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명세서의 구조</a:t>
            </a:r>
          </a:p>
        </p:txBody>
      </p:sp>
      <p:sp>
        <p:nvSpPr>
          <p:cNvPr id="2" name="슬라이드 번호 개체 틀 1"/>
          <p:cNvSpPr>
            <a:spLocks noGrp="1"/>
          </p:cNvSpPr>
          <p:nvPr>
            <p:ph type="sldNum" sz="quarter" idx="12"/>
          </p:nvPr>
        </p:nvSpPr>
        <p:spPr/>
        <p:txBody>
          <a:bodyPr/>
          <a:lstStyle/>
          <a:p>
            <a:fld id="{3875FC6C-1516-4DC4-8C58-3090F7D4F003}" type="slidenum">
              <a:rPr lang="ko-KR" altLang="en-US" smtClean="0"/>
              <a:t>12</a:t>
            </a:fld>
            <a:endParaRPr lang="ko-KR" altLang="en-US"/>
          </a:p>
        </p:txBody>
      </p:sp>
      <p:sp>
        <p:nvSpPr>
          <p:cNvPr id="36" name="한쪽 모서리가 잘린 사각형 41">
            <a:extLst>
              <a:ext uri="{FF2B5EF4-FFF2-40B4-BE49-F238E27FC236}">
                <a16:creationId xmlns:a16="http://schemas.microsoft.com/office/drawing/2014/main" id="{C5DC9B61-F023-E3F5-DFEE-07F1F6638F30}"/>
              </a:ext>
            </a:extLst>
          </p:cNvPr>
          <p:cNvSpPr/>
          <p:nvPr/>
        </p:nvSpPr>
        <p:spPr bwMode="auto">
          <a:xfrm>
            <a:off x="431371" y="1232123"/>
            <a:ext cx="5568949" cy="2679700"/>
          </a:xfrm>
          <a:prstGeom prst="snip1Rect">
            <a:avLst/>
          </a:prstGeom>
          <a:ln>
            <a:solidFill>
              <a:schemeClr val="tx2">
                <a:lumMod val="50000"/>
              </a:schemeClr>
            </a:solidFill>
            <a:headEnd type="none" w="med" len="med"/>
            <a:tailEnd type="none" w="med" len="med"/>
          </a:ln>
        </p:spPr>
        <p:style>
          <a:lnRef idx="2">
            <a:schemeClr val="accent4"/>
          </a:lnRef>
          <a:fillRef idx="1">
            <a:schemeClr val="lt1"/>
          </a:fillRef>
          <a:effectRef idx="0">
            <a:schemeClr val="accent4"/>
          </a:effectRef>
          <a:fontRef idx="minor">
            <a:schemeClr val="dk1"/>
          </a:fontRef>
        </p:style>
        <p:txBody>
          <a:bodyPr lIns="90000" tIns="46800" rIns="90000" bIns="46800"/>
          <a:lstStyle/>
          <a:p>
            <a:pPr algn="ctr">
              <a:buFont typeface="Wingdings" pitchFamily="2" charset="2"/>
              <a:buNone/>
              <a:defRPr/>
            </a:pPr>
            <a:endParaRPr lang="ko-KR" altLang="en-US" sz="2000" b="0">
              <a:solidFill>
                <a:srgbClr val="1C1C1C"/>
              </a:solidFill>
              <a:latin typeface="+mn-ea"/>
            </a:endParaRPr>
          </a:p>
        </p:txBody>
      </p:sp>
      <p:sp>
        <p:nvSpPr>
          <p:cNvPr id="37" name="Rectangle 7">
            <a:extLst>
              <a:ext uri="{FF2B5EF4-FFF2-40B4-BE49-F238E27FC236}">
                <a16:creationId xmlns:a16="http://schemas.microsoft.com/office/drawing/2014/main" id="{BC53DE68-4DF1-E830-1EBF-D636A24C8565}"/>
              </a:ext>
            </a:extLst>
          </p:cNvPr>
          <p:cNvSpPr>
            <a:spLocks noChangeArrowheads="1"/>
          </p:cNvSpPr>
          <p:nvPr/>
        </p:nvSpPr>
        <p:spPr bwMode="auto">
          <a:xfrm>
            <a:off x="816605" y="1628800"/>
            <a:ext cx="1150937" cy="260746"/>
          </a:xfrm>
          <a:prstGeom prst="rect">
            <a:avLst/>
          </a:prstGeom>
          <a:solidFill>
            <a:schemeClr val="accent1">
              <a:lumMod val="20000"/>
              <a:lumOff val="80000"/>
            </a:schemeClr>
          </a:solidFill>
          <a:ln>
            <a:headEnd/>
            <a:tailEnd/>
          </a:ln>
        </p:spPr>
        <p:style>
          <a:lnRef idx="2">
            <a:schemeClr val="accent2">
              <a:shade val="50000"/>
            </a:schemeClr>
          </a:lnRef>
          <a:fillRef idx="1">
            <a:schemeClr val="accent2"/>
          </a:fillRef>
          <a:effectRef idx="0">
            <a:schemeClr val="accent2"/>
          </a:effectRef>
          <a:fontRef idx="minor">
            <a:schemeClr val="lt1"/>
          </a:fontRef>
        </p:style>
        <p:txBody>
          <a:bodyPr wrap="none" anchor="ctr"/>
          <a:lstStyle/>
          <a:p>
            <a:pPr algn="ctr">
              <a:defRPr/>
            </a:pPr>
            <a:r>
              <a:rPr lang="ko-KR" altLang="en-US" sz="1200" b="0">
                <a:solidFill>
                  <a:schemeClr val="tx1"/>
                </a:solidFill>
                <a:latin typeface="+mn-ea"/>
              </a:rPr>
              <a:t>출원서</a:t>
            </a:r>
          </a:p>
        </p:txBody>
      </p:sp>
      <p:sp>
        <p:nvSpPr>
          <p:cNvPr id="38" name="Rectangle 8">
            <a:extLst>
              <a:ext uri="{FF2B5EF4-FFF2-40B4-BE49-F238E27FC236}">
                <a16:creationId xmlns:a16="http://schemas.microsoft.com/office/drawing/2014/main" id="{49B0B647-03FB-24E7-9244-1AAEFC5581A6}"/>
              </a:ext>
            </a:extLst>
          </p:cNvPr>
          <p:cNvSpPr>
            <a:spLocks noChangeArrowheads="1"/>
          </p:cNvSpPr>
          <p:nvPr/>
        </p:nvSpPr>
        <p:spPr bwMode="auto">
          <a:xfrm>
            <a:off x="816605" y="2194389"/>
            <a:ext cx="1150937" cy="260746"/>
          </a:xfrm>
          <a:prstGeom prst="rect">
            <a:avLst/>
          </a:prstGeom>
          <a:solidFill>
            <a:schemeClr val="accent1">
              <a:lumMod val="20000"/>
              <a:lumOff val="80000"/>
            </a:schemeClr>
          </a:solidFill>
          <a:ln>
            <a:solidFill>
              <a:schemeClr val="accent4">
                <a:lumMod val="50000"/>
              </a:schemeClr>
            </a:solidFill>
            <a:headEnd/>
            <a:tailEnd/>
          </a:ln>
        </p:spPr>
        <p:style>
          <a:lnRef idx="2">
            <a:schemeClr val="accent4">
              <a:shade val="50000"/>
            </a:schemeClr>
          </a:lnRef>
          <a:fillRef idx="1">
            <a:schemeClr val="accent4"/>
          </a:fillRef>
          <a:effectRef idx="0">
            <a:schemeClr val="accent4"/>
          </a:effectRef>
          <a:fontRef idx="minor">
            <a:schemeClr val="lt1"/>
          </a:fontRef>
        </p:style>
        <p:txBody>
          <a:bodyPr wrap="none" anchor="ctr"/>
          <a:lstStyle/>
          <a:p>
            <a:pPr algn="ctr">
              <a:defRPr/>
            </a:pPr>
            <a:r>
              <a:rPr lang="ko-KR" altLang="en-US" sz="1200" b="0" dirty="0">
                <a:solidFill>
                  <a:schemeClr val="tx1"/>
                </a:solidFill>
                <a:latin typeface="+mn-ea"/>
              </a:rPr>
              <a:t>명세서</a:t>
            </a:r>
          </a:p>
        </p:txBody>
      </p:sp>
      <p:sp>
        <p:nvSpPr>
          <p:cNvPr id="39" name="Rectangle 9">
            <a:extLst>
              <a:ext uri="{FF2B5EF4-FFF2-40B4-BE49-F238E27FC236}">
                <a16:creationId xmlns:a16="http://schemas.microsoft.com/office/drawing/2014/main" id="{51CCB645-7BD2-15DC-F9C1-A9BE8C1C0A12}"/>
              </a:ext>
            </a:extLst>
          </p:cNvPr>
          <p:cNvSpPr>
            <a:spLocks noChangeArrowheads="1"/>
          </p:cNvSpPr>
          <p:nvPr/>
        </p:nvSpPr>
        <p:spPr bwMode="auto">
          <a:xfrm>
            <a:off x="816605" y="2803116"/>
            <a:ext cx="1150937" cy="260746"/>
          </a:xfrm>
          <a:prstGeom prst="rect">
            <a:avLst/>
          </a:prstGeom>
          <a:solidFill>
            <a:schemeClr val="accent1">
              <a:lumMod val="20000"/>
              <a:lumOff val="80000"/>
            </a:schemeClr>
          </a:solidFill>
          <a:ln>
            <a:headEnd/>
            <a:tailEnd/>
          </a:ln>
        </p:spPr>
        <p:style>
          <a:lnRef idx="2">
            <a:schemeClr val="accent5">
              <a:shade val="50000"/>
            </a:schemeClr>
          </a:lnRef>
          <a:fillRef idx="1">
            <a:schemeClr val="accent5"/>
          </a:fillRef>
          <a:effectRef idx="0">
            <a:schemeClr val="accent5"/>
          </a:effectRef>
          <a:fontRef idx="minor">
            <a:schemeClr val="lt1"/>
          </a:fontRef>
        </p:style>
        <p:txBody>
          <a:bodyPr wrap="none" anchor="ctr"/>
          <a:lstStyle/>
          <a:p>
            <a:pPr algn="ctr">
              <a:defRPr/>
            </a:pPr>
            <a:r>
              <a:rPr lang="ko-KR" altLang="en-US" sz="1200" b="0" dirty="0">
                <a:solidFill>
                  <a:schemeClr val="tx1"/>
                </a:solidFill>
                <a:latin typeface="+mn-ea"/>
              </a:rPr>
              <a:t>필요한 도면</a:t>
            </a:r>
          </a:p>
        </p:txBody>
      </p:sp>
      <p:sp>
        <p:nvSpPr>
          <p:cNvPr id="42" name="Rectangle 10">
            <a:extLst>
              <a:ext uri="{FF2B5EF4-FFF2-40B4-BE49-F238E27FC236}">
                <a16:creationId xmlns:a16="http://schemas.microsoft.com/office/drawing/2014/main" id="{A9552D65-B461-4102-3CED-3FB5814C24A7}"/>
              </a:ext>
            </a:extLst>
          </p:cNvPr>
          <p:cNvSpPr>
            <a:spLocks noChangeArrowheads="1"/>
          </p:cNvSpPr>
          <p:nvPr/>
        </p:nvSpPr>
        <p:spPr bwMode="auto">
          <a:xfrm>
            <a:off x="816605" y="3368705"/>
            <a:ext cx="1150937" cy="260746"/>
          </a:xfrm>
          <a:prstGeom prst="rect">
            <a:avLst/>
          </a:prstGeom>
          <a:solidFill>
            <a:schemeClr val="accent1">
              <a:lumMod val="20000"/>
              <a:lumOff val="80000"/>
            </a:schemeClr>
          </a:solidFill>
          <a:ln>
            <a:headEnd/>
            <a:tailEnd/>
          </a:ln>
        </p:spPr>
        <p:style>
          <a:lnRef idx="2">
            <a:schemeClr val="accent6">
              <a:shade val="50000"/>
            </a:schemeClr>
          </a:lnRef>
          <a:fillRef idx="1">
            <a:schemeClr val="accent6"/>
          </a:fillRef>
          <a:effectRef idx="0">
            <a:schemeClr val="accent6"/>
          </a:effectRef>
          <a:fontRef idx="minor">
            <a:schemeClr val="lt1"/>
          </a:fontRef>
        </p:style>
        <p:txBody>
          <a:bodyPr wrap="none" anchor="ctr"/>
          <a:lstStyle/>
          <a:p>
            <a:pPr algn="ctr">
              <a:defRPr/>
            </a:pPr>
            <a:r>
              <a:rPr lang="ko-KR" altLang="en-US" sz="1200" b="0">
                <a:solidFill>
                  <a:schemeClr val="tx1"/>
                </a:solidFill>
                <a:latin typeface="+mn-ea"/>
              </a:rPr>
              <a:t>요약서</a:t>
            </a:r>
          </a:p>
        </p:txBody>
      </p:sp>
      <p:cxnSp>
        <p:nvCxnSpPr>
          <p:cNvPr id="44" name="AutoShape 11">
            <a:extLst>
              <a:ext uri="{FF2B5EF4-FFF2-40B4-BE49-F238E27FC236}">
                <a16:creationId xmlns:a16="http://schemas.microsoft.com/office/drawing/2014/main" id="{104EC371-41D8-99AA-EC32-33DEF666A3C4}"/>
              </a:ext>
            </a:extLst>
          </p:cNvPr>
          <p:cNvCxnSpPr>
            <a:cxnSpLocks noChangeShapeType="1"/>
            <a:stCxn id="37" idx="2"/>
            <a:endCxn id="38" idx="0"/>
          </p:cNvCxnSpPr>
          <p:nvPr/>
        </p:nvCxnSpPr>
        <p:spPr bwMode="auto">
          <a:xfrm>
            <a:off x="1392073" y="1889546"/>
            <a:ext cx="0" cy="304843"/>
          </a:xfrm>
          <a:prstGeom prst="straightConnector1">
            <a:avLst/>
          </a:prstGeom>
          <a:ln>
            <a:headEnd/>
            <a:tailEnd/>
          </a:ln>
        </p:spPr>
        <p:style>
          <a:lnRef idx="2">
            <a:schemeClr val="accent4">
              <a:shade val="50000"/>
            </a:schemeClr>
          </a:lnRef>
          <a:fillRef idx="1">
            <a:schemeClr val="accent4"/>
          </a:fillRef>
          <a:effectRef idx="0">
            <a:schemeClr val="accent4"/>
          </a:effectRef>
          <a:fontRef idx="minor">
            <a:schemeClr val="lt1"/>
          </a:fontRef>
        </p:style>
      </p:cxnSp>
      <p:cxnSp>
        <p:nvCxnSpPr>
          <p:cNvPr id="45" name="AutoShape 12">
            <a:extLst>
              <a:ext uri="{FF2B5EF4-FFF2-40B4-BE49-F238E27FC236}">
                <a16:creationId xmlns:a16="http://schemas.microsoft.com/office/drawing/2014/main" id="{F361BEF3-A113-4A3C-025C-D6CE532C48EF}"/>
              </a:ext>
            </a:extLst>
          </p:cNvPr>
          <p:cNvCxnSpPr>
            <a:cxnSpLocks noChangeShapeType="1"/>
            <a:stCxn id="38" idx="2"/>
            <a:endCxn id="39" idx="0"/>
          </p:cNvCxnSpPr>
          <p:nvPr/>
        </p:nvCxnSpPr>
        <p:spPr bwMode="auto">
          <a:xfrm>
            <a:off x="1392073" y="2455136"/>
            <a:ext cx="0" cy="347981"/>
          </a:xfrm>
          <a:prstGeom prst="straightConnector1">
            <a:avLst/>
          </a:prstGeom>
          <a:ln>
            <a:headEnd/>
            <a:tailEnd/>
          </a:ln>
        </p:spPr>
        <p:style>
          <a:lnRef idx="2">
            <a:schemeClr val="accent5">
              <a:shade val="50000"/>
            </a:schemeClr>
          </a:lnRef>
          <a:fillRef idx="1">
            <a:schemeClr val="accent5"/>
          </a:fillRef>
          <a:effectRef idx="0">
            <a:schemeClr val="accent5"/>
          </a:effectRef>
          <a:fontRef idx="minor">
            <a:schemeClr val="lt1"/>
          </a:fontRef>
        </p:style>
      </p:cxnSp>
      <p:cxnSp>
        <p:nvCxnSpPr>
          <p:cNvPr id="46" name="AutoShape 13">
            <a:extLst>
              <a:ext uri="{FF2B5EF4-FFF2-40B4-BE49-F238E27FC236}">
                <a16:creationId xmlns:a16="http://schemas.microsoft.com/office/drawing/2014/main" id="{09E505C5-2073-1968-442E-5AB4A9031244}"/>
              </a:ext>
            </a:extLst>
          </p:cNvPr>
          <p:cNvCxnSpPr>
            <a:cxnSpLocks noChangeShapeType="1"/>
            <a:stCxn id="39" idx="2"/>
            <a:endCxn id="42" idx="0"/>
          </p:cNvCxnSpPr>
          <p:nvPr/>
        </p:nvCxnSpPr>
        <p:spPr bwMode="auto">
          <a:xfrm>
            <a:off x="1392073" y="3063863"/>
            <a:ext cx="0" cy="304843"/>
          </a:xfrm>
          <a:prstGeom prst="straightConnector1">
            <a:avLst/>
          </a:prstGeom>
          <a:ln>
            <a:headEnd/>
            <a:tailEnd/>
          </a:ln>
        </p:spPr>
        <p:style>
          <a:lnRef idx="2">
            <a:schemeClr val="accent6">
              <a:shade val="50000"/>
            </a:schemeClr>
          </a:lnRef>
          <a:fillRef idx="1">
            <a:schemeClr val="accent6"/>
          </a:fillRef>
          <a:effectRef idx="0">
            <a:schemeClr val="accent6"/>
          </a:effectRef>
          <a:fontRef idx="minor">
            <a:schemeClr val="lt1"/>
          </a:fontRef>
        </p:style>
      </p:cxnSp>
      <p:sp>
        <p:nvSpPr>
          <p:cNvPr id="47" name="AutoShape 14">
            <a:extLst>
              <a:ext uri="{FF2B5EF4-FFF2-40B4-BE49-F238E27FC236}">
                <a16:creationId xmlns:a16="http://schemas.microsoft.com/office/drawing/2014/main" id="{0E4152DD-AE52-6640-FDAE-8F17E1E42FC2}"/>
              </a:ext>
            </a:extLst>
          </p:cNvPr>
          <p:cNvSpPr>
            <a:spLocks noChangeArrowheads="1"/>
          </p:cNvSpPr>
          <p:nvPr/>
        </p:nvSpPr>
        <p:spPr bwMode="auto">
          <a:xfrm>
            <a:off x="2929038" y="2107155"/>
            <a:ext cx="2592916" cy="241870"/>
          </a:xfrm>
          <a:prstGeom prst="roundRect">
            <a:avLst>
              <a:gd name="adj" fmla="val 16667"/>
            </a:avLst>
          </a:prstGeom>
          <a:solidFill>
            <a:schemeClr val="accent6">
              <a:lumMod val="50000"/>
            </a:schemeClr>
          </a:solidFill>
          <a:ln>
            <a:solidFill>
              <a:schemeClr val="accent4">
                <a:lumMod val="50000"/>
              </a:schemeClr>
            </a:solidFill>
            <a:headEnd/>
            <a:tailEnd/>
          </a:ln>
        </p:spPr>
        <p:style>
          <a:lnRef idx="2">
            <a:schemeClr val="accent4"/>
          </a:lnRef>
          <a:fillRef idx="1">
            <a:schemeClr val="lt1"/>
          </a:fillRef>
          <a:effectRef idx="0">
            <a:schemeClr val="accent4"/>
          </a:effectRef>
          <a:fontRef idx="minor">
            <a:schemeClr val="dk1"/>
          </a:fontRef>
        </p:style>
        <p:txBody>
          <a:bodyPr wrap="none" anchor="ctr"/>
          <a:lstStyle/>
          <a:p>
            <a:pPr algn="ctr">
              <a:defRPr/>
            </a:pPr>
            <a:r>
              <a:rPr lang="ko-KR" altLang="en-US" sz="1200" b="0" dirty="0">
                <a:solidFill>
                  <a:schemeClr val="bg1"/>
                </a:solidFill>
                <a:latin typeface="+mn-ea"/>
              </a:rPr>
              <a:t>발명의 설명</a:t>
            </a:r>
            <a:r>
              <a:rPr lang="en-US" altLang="ko-KR" sz="1200" b="0" dirty="0">
                <a:solidFill>
                  <a:schemeClr val="bg1"/>
                </a:solidFill>
                <a:latin typeface="+mn-ea"/>
              </a:rPr>
              <a:t>(A, B, C)</a:t>
            </a:r>
            <a:endParaRPr lang="ko-KR" altLang="en-US" sz="1200" b="0" dirty="0">
              <a:solidFill>
                <a:schemeClr val="bg1"/>
              </a:solidFill>
              <a:latin typeface="+mn-ea"/>
            </a:endParaRPr>
          </a:p>
        </p:txBody>
      </p:sp>
      <p:sp>
        <p:nvSpPr>
          <p:cNvPr id="48" name="AutoShape 17">
            <a:extLst>
              <a:ext uri="{FF2B5EF4-FFF2-40B4-BE49-F238E27FC236}">
                <a16:creationId xmlns:a16="http://schemas.microsoft.com/office/drawing/2014/main" id="{2B55328F-3CAC-E33A-6EE4-75F5FA34E9DE}"/>
              </a:ext>
            </a:extLst>
          </p:cNvPr>
          <p:cNvSpPr>
            <a:spLocks noChangeArrowheads="1"/>
          </p:cNvSpPr>
          <p:nvPr/>
        </p:nvSpPr>
        <p:spPr bwMode="auto">
          <a:xfrm>
            <a:off x="2929038" y="2446911"/>
            <a:ext cx="2592916" cy="241870"/>
          </a:xfrm>
          <a:prstGeom prst="roundRect">
            <a:avLst>
              <a:gd name="adj" fmla="val 16667"/>
            </a:avLst>
          </a:prstGeom>
          <a:solidFill>
            <a:schemeClr val="accent4"/>
          </a:solidFill>
          <a:ln>
            <a:solidFill>
              <a:schemeClr val="accent4">
                <a:lumMod val="50000"/>
              </a:schemeClr>
            </a:solidFill>
            <a:headEnd/>
            <a:tailEnd/>
          </a:ln>
        </p:spPr>
        <p:style>
          <a:lnRef idx="2">
            <a:schemeClr val="accent4"/>
          </a:lnRef>
          <a:fillRef idx="1">
            <a:schemeClr val="lt1"/>
          </a:fillRef>
          <a:effectRef idx="0">
            <a:schemeClr val="accent4"/>
          </a:effectRef>
          <a:fontRef idx="minor">
            <a:schemeClr val="dk1"/>
          </a:fontRef>
        </p:style>
        <p:txBody>
          <a:bodyPr wrap="none" anchor="ctr"/>
          <a:lstStyle/>
          <a:p>
            <a:pPr algn="ctr">
              <a:defRPr/>
            </a:pPr>
            <a:r>
              <a:rPr lang="ko-KR" altLang="en-US" sz="1200" b="0" dirty="0">
                <a:solidFill>
                  <a:schemeClr val="tx1"/>
                </a:solidFill>
                <a:latin typeface="+mn-ea"/>
              </a:rPr>
              <a:t>청구범위</a:t>
            </a:r>
            <a:r>
              <a:rPr lang="en-US" altLang="ko-KR" sz="1200" b="0" dirty="0">
                <a:solidFill>
                  <a:schemeClr val="tx1"/>
                </a:solidFill>
                <a:latin typeface="+mn-ea"/>
              </a:rPr>
              <a:t>(A, B)</a:t>
            </a:r>
            <a:endParaRPr lang="ko-KR" altLang="en-US" sz="1200" b="0" dirty="0">
              <a:solidFill>
                <a:schemeClr val="tx1"/>
              </a:solidFill>
              <a:latin typeface="+mn-ea"/>
            </a:endParaRPr>
          </a:p>
        </p:txBody>
      </p:sp>
      <p:cxnSp>
        <p:nvCxnSpPr>
          <p:cNvPr id="49" name="AutoShape 19">
            <a:extLst>
              <a:ext uri="{FF2B5EF4-FFF2-40B4-BE49-F238E27FC236}">
                <a16:creationId xmlns:a16="http://schemas.microsoft.com/office/drawing/2014/main" id="{C5C01786-5E3C-F073-49D9-83C0D091D94E}"/>
              </a:ext>
            </a:extLst>
          </p:cNvPr>
          <p:cNvCxnSpPr>
            <a:cxnSpLocks noChangeShapeType="1"/>
            <a:stCxn id="38" idx="3"/>
            <a:endCxn id="47" idx="1"/>
          </p:cNvCxnSpPr>
          <p:nvPr/>
        </p:nvCxnSpPr>
        <p:spPr bwMode="auto">
          <a:xfrm flipV="1">
            <a:off x="1967541" y="2228090"/>
            <a:ext cx="961496" cy="96672"/>
          </a:xfrm>
          <a:prstGeom prst="bentConnector3">
            <a:avLst>
              <a:gd name="adj1" fmla="val 50000"/>
            </a:avLst>
          </a:prstGeom>
          <a:ln>
            <a:solidFill>
              <a:schemeClr val="accent4">
                <a:lumMod val="50000"/>
              </a:schemeClr>
            </a:solidFill>
            <a:headEnd/>
            <a:tailEnd/>
          </a:ln>
        </p:spPr>
        <p:style>
          <a:lnRef idx="2">
            <a:schemeClr val="accent4"/>
          </a:lnRef>
          <a:fillRef idx="1">
            <a:schemeClr val="lt1"/>
          </a:fillRef>
          <a:effectRef idx="0">
            <a:schemeClr val="accent4"/>
          </a:effectRef>
          <a:fontRef idx="minor">
            <a:schemeClr val="dk1"/>
          </a:fontRef>
        </p:style>
      </p:cxnSp>
      <p:cxnSp>
        <p:nvCxnSpPr>
          <p:cNvPr id="50" name="AutoShape 22">
            <a:extLst>
              <a:ext uri="{FF2B5EF4-FFF2-40B4-BE49-F238E27FC236}">
                <a16:creationId xmlns:a16="http://schemas.microsoft.com/office/drawing/2014/main" id="{E93C6F3F-F081-9F48-1768-8A9E3C91AA35}"/>
              </a:ext>
            </a:extLst>
          </p:cNvPr>
          <p:cNvCxnSpPr>
            <a:cxnSpLocks noChangeShapeType="1"/>
            <a:stCxn id="38" idx="3"/>
            <a:endCxn id="48" idx="1"/>
          </p:cNvCxnSpPr>
          <p:nvPr/>
        </p:nvCxnSpPr>
        <p:spPr bwMode="auto">
          <a:xfrm>
            <a:off x="1967541" y="2324762"/>
            <a:ext cx="961496" cy="243084"/>
          </a:xfrm>
          <a:prstGeom prst="bentConnector3">
            <a:avLst>
              <a:gd name="adj1" fmla="val 50000"/>
            </a:avLst>
          </a:prstGeom>
          <a:ln>
            <a:solidFill>
              <a:schemeClr val="accent4">
                <a:lumMod val="50000"/>
              </a:schemeClr>
            </a:solidFill>
            <a:headEnd/>
            <a:tailEnd/>
          </a:ln>
        </p:spPr>
        <p:style>
          <a:lnRef idx="2">
            <a:schemeClr val="accent4"/>
          </a:lnRef>
          <a:fillRef idx="1">
            <a:schemeClr val="lt1"/>
          </a:fillRef>
          <a:effectRef idx="0">
            <a:schemeClr val="accent4"/>
          </a:effectRef>
          <a:fontRef idx="minor">
            <a:schemeClr val="dk1"/>
          </a:fontRef>
        </p:style>
      </p:cxnSp>
      <p:sp>
        <p:nvSpPr>
          <p:cNvPr id="51" name="모서리가 둥근 직사각형 53">
            <a:extLst>
              <a:ext uri="{FF2B5EF4-FFF2-40B4-BE49-F238E27FC236}">
                <a16:creationId xmlns:a16="http://schemas.microsoft.com/office/drawing/2014/main" id="{572D7694-02ED-BD45-6D04-147C4C62BEEF}"/>
              </a:ext>
            </a:extLst>
          </p:cNvPr>
          <p:cNvSpPr/>
          <p:nvPr/>
        </p:nvSpPr>
        <p:spPr bwMode="auto">
          <a:xfrm>
            <a:off x="719237" y="1052736"/>
            <a:ext cx="3073400" cy="360362"/>
          </a:xfrm>
          <a:prstGeom prst="roundRect">
            <a:avLst>
              <a:gd name="adj" fmla="val 50000"/>
            </a:avLst>
          </a:prstGeom>
          <a:solidFill>
            <a:schemeClr val="accent2"/>
          </a:solidFill>
          <a:ln>
            <a:solidFill>
              <a:schemeClr val="bg1">
                <a:lumMod val="50000"/>
              </a:schemeClr>
            </a:solidFill>
            <a:headEnd type="none" w="med" len="med"/>
            <a:tailEnd type="none" w="med" len="med"/>
          </a:ln>
          <a:effectLst/>
        </p:spPr>
        <p:style>
          <a:lnRef idx="1">
            <a:schemeClr val="accent1"/>
          </a:lnRef>
          <a:fillRef idx="3">
            <a:schemeClr val="accent1"/>
          </a:fillRef>
          <a:effectRef idx="2">
            <a:schemeClr val="accent1"/>
          </a:effectRef>
          <a:fontRef idx="minor">
            <a:schemeClr val="lt1"/>
          </a:fontRef>
        </p:style>
        <p:txBody>
          <a:bodyPr lIns="90000" tIns="46800" rIns="90000" bIns="46800" anchor="ctr"/>
          <a:lstStyle/>
          <a:p>
            <a:pPr algn="ctr">
              <a:defRPr/>
            </a:pPr>
            <a:r>
              <a:rPr lang="ko-KR" altLang="en-US" sz="1400" b="0" dirty="0">
                <a:latin typeface="+mj-ea"/>
                <a:ea typeface="+mj-ea"/>
              </a:rPr>
              <a:t>특허출원에 필요한 서류</a:t>
            </a:r>
            <a:endParaRPr lang="ko-KR" altLang="en-US" sz="1400" b="0" dirty="0">
              <a:solidFill>
                <a:srgbClr val="1C1C1C"/>
              </a:solidFill>
              <a:latin typeface="+mj-ea"/>
              <a:ea typeface="+mj-ea"/>
            </a:endParaRPr>
          </a:p>
        </p:txBody>
      </p:sp>
      <p:sp>
        <p:nvSpPr>
          <p:cNvPr id="52" name="직사각형 2">
            <a:extLst>
              <a:ext uri="{FF2B5EF4-FFF2-40B4-BE49-F238E27FC236}">
                <a16:creationId xmlns:a16="http://schemas.microsoft.com/office/drawing/2014/main" id="{8AF3CFE1-B65C-2C24-81B3-3C34C5C6A2C5}"/>
              </a:ext>
            </a:extLst>
          </p:cNvPr>
          <p:cNvSpPr>
            <a:spLocks noChangeArrowheads="1"/>
          </p:cNvSpPr>
          <p:nvPr/>
        </p:nvSpPr>
        <p:spPr bwMode="auto">
          <a:xfrm>
            <a:off x="7384826" y="1842629"/>
            <a:ext cx="3744384" cy="287338"/>
          </a:xfrm>
          <a:prstGeom prst="rect">
            <a:avLst/>
          </a:prstGeom>
          <a:solidFill>
            <a:schemeClr val="bg1"/>
          </a:solidFill>
          <a:ln>
            <a:noFill/>
          </a:ln>
          <a:extLst>
            <a:ext uri="{91240B29-F687-4F45-9708-019B960494DF}">
              <a14:hiddenLine xmlns:a14="http://schemas.microsoft.com/office/drawing/2010/main" w="28575" algn="ctr">
                <a:solidFill>
                  <a:srgbClr val="000000"/>
                </a:solidFill>
                <a:round/>
                <a:headEnd/>
                <a:tailEnd/>
              </a14:hiddenLine>
            </a:ext>
          </a:extLst>
        </p:spPr>
        <p:txBody>
          <a:bodyPr lIns="90000" tIns="46800" rIns="90000" bIns="46800"/>
          <a:lstStyle/>
          <a:p>
            <a:r>
              <a:rPr lang="en-US" altLang="ko-KR" sz="1400" b="0" dirty="0">
                <a:solidFill>
                  <a:schemeClr val="accent6">
                    <a:lumMod val="50000"/>
                  </a:schemeClr>
                </a:solidFill>
                <a:latin typeface="+mn-ea"/>
              </a:rPr>
              <a:t>【</a:t>
            </a:r>
            <a:r>
              <a:rPr lang="ko-KR" altLang="en-US" sz="1400" b="0" dirty="0">
                <a:solidFill>
                  <a:schemeClr val="accent6">
                    <a:lumMod val="50000"/>
                  </a:schemeClr>
                </a:solidFill>
                <a:latin typeface="+mn-ea"/>
              </a:rPr>
              <a:t>발명의 명칭</a:t>
            </a:r>
            <a:r>
              <a:rPr lang="en-US" altLang="ko-KR" sz="1400" b="0" dirty="0">
                <a:solidFill>
                  <a:schemeClr val="accent6">
                    <a:lumMod val="50000"/>
                  </a:schemeClr>
                </a:solidFill>
                <a:latin typeface="+mn-ea"/>
              </a:rPr>
              <a:t>】</a:t>
            </a:r>
            <a:r>
              <a:rPr lang="en-US" altLang="ko-KR" sz="1400" b="0" dirty="0">
                <a:solidFill>
                  <a:srgbClr val="FF0000"/>
                </a:solidFill>
                <a:latin typeface="+mn-ea"/>
              </a:rPr>
              <a:t>(</a:t>
            </a:r>
            <a:r>
              <a:rPr lang="ko-KR" altLang="en-US" sz="1400" b="0" dirty="0">
                <a:solidFill>
                  <a:srgbClr val="FF0000"/>
                </a:solidFill>
                <a:latin typeface="+mn-ea"/>
              </a:rPr>
              <a:t>필수</a:t>
            </a:r>
            <a:r>
              <a:rPr lang="en-US" altLang="ko-KR" sz="1400" b="0" dirty="0">
                <a:solidFill>
                  <a:srgbClr val="FF0000"/>
                </a:solidFill>
                <a:latin typeface="+mn-ea"/>
              </a:rPr>
              <a:t>)</a:t>
            </a:r>
          </a:p>
        </p:txBody>
      </p:sp>
      <p:sp>
        <p:nvSpPr>
          <p:cNvPr id="53" name="직사각형 52">
            <a:extLst>
              <a:ext uri="{FF2B5EF4-FFF2-40B4-BE49-F238E27FC236}">
                <a16:creationId xmlns:a16="http://schemas.microsoft.com/office/drawing/2014/main" id="{6B9792C6-B0CE-EC18-E197-6386DE1ABA53}"/>
              </a:ext>
            </a:extLst>
          </p:cNvPr>
          <p:cNvSpPr/>
          <p:nvPr/>
        </p:nvSpPr>
        <p:spPr bwMode="auto">
          <a:xfrm>
            <a:off x="7384826" y="2133143"/>
            <a:ext cx="3744384" cy="288925"/>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6">
                    <a:lumMod val="50000"/>
                  </a:schemeClr>
                </a:solidFill>
                <a:latin typeface="+mn-ea"/>
              </a:rPr>
              <a:t>【</a:t>
            </a:r>
            <a:r>
              <a:rPr lang="ko-KR" altLang="en-US" sz="1400" b="0" dirty="0">
                <a:solidFill>
                  <a:schemeClr val="accent6">
                    <a:lumMod val="50000"/>
                  </a:schemeClr>
                </a:solidFill>
                <a:latin typeface="+mn-ea"/>
              </a:rPr>
              <a:t>기술분야</a:t>
            </a:r>
            <a:r>
              <a:rPr lang="en-US" altLang="ko-KR" sz="1400" b="0" dirty="0">
                <a:solidFill>
                  <a:schemeClr val="accent6">
                    <a:lumMod val="50000"/>
                  </a:schemeClr>
                </a:solidFill>
                <a:latin typeface="+mn-ea"/>
              </a:rPr>
              <a:t>】</a:t>
            </a:r>
          </a:p>
        </p:txBody>
      </p:sp>
      <p:sp>
        <p:nvSpPr>
          <p:cNvPr id="54" name="직사각형 53">
            <a:extLst>
              <a:ext uri="{FF2B5EF4-FFF2-40B4-BE49-F238E27FC236}">
                <a16:creationId xmlns:a16="http://schemas.microsoft.com/office/drawing/2014/main" id="{D96FF621-0D02-6BD9-BD01-CAAB30D46114}"/>
              </a:ext>
            </a:extLst>
          </p:cNvPr>
          <p:cNvSpPr/>
          <p:nvPr/>
        </p:nvSpPr>
        <p:spPr bwMode="auto">
          <a:xfrm>
            <a:off x="7384826" y="2737979"/>
            <a:ext cx="3744384" cy="287338"/>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6">
                    <a:lumMod val="50000"/>
                  </a:schemeClr>
                </a:solidFill>
                <a:latin typeface="+mn-ea"/>
              </a:rPr>
              <a:t>【</a:t>
            </a:r>
            <a:r>
              <a:rPr lang="ko-KR" altLang="en-US" sz="1400" b="0" dirty="0">
                <a:solidFill>
                  <a:schemeClr val="accent6">
                    <a:lumMod val="50000"/>
                  </a:schemeClr>
                </a:solidFill>
                <a:latin typeface="+mn-ea"/>
              </a:rPr>
              <a:t>발명의 내용</a:t>
            </a:r>
            <a:r>
              <a:rPr lang="en-US" altLang="ko-KR" sz="1400" b="0" dirty="0">
                <a:solidFill>
                  <a:schemeClr val="accent6">
                    <a:lumMod val="50000"/>
                  </a:schemeClr>
                </a:solidFill>
                <a:latin typeface="+mn-ea"/>
              </a:rPr>
              <a:t>】</a:t>
            </a:r>
          </a:p>
        </p:txBody>
      </p:sp>
      <p:sp>
        <p:nvSpPr>
          <p:cNvPr id="55" name="직사각형 54">
            <a:extLst>
              <a:ext uri="{FF2B5EF4-FFF2-40B4-BE49-F238E27FC236}">
                <a16:creationId xmlns:a16="http://schemas.microsoft.com/office/drawing/2014/main" id="{EEC2AB12-8C37-1628-2B8A-C9BB0F6EA3F8}"/>
              </a:ext>
            </a:extLst>
          </p:cNvPr>
          <p:cNvSpPr/>
          <p:nvPr/>
        </p:nvSpPr>
        <p:spPr bwMode="auto">
          <a:xfrm>
            <a:off x="7672692" y="3028493"/>
            <a:ext cx="3744384" cy="288925"/>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6">
                    <a:lumMod val="50000"/>
                  </a:schemeClr>
                </a:solidFill>
                <a:latin typeface="+mn-ea"/>
              </a:rPr>
              <a:t>【</a:t>
            </a:r>
            <a:r>
              <a:rPr lang="ko-KR" altLang="en-US" sz="1400" b="0" dirty="0">
                <a:solidFill>
                  <a:schemeClr val="accent6">
                    <a:lumMod val="50000"/>
                  </a:schemeClr>
                </a:solidFill>
                <a:latin typeface="+mn-ea"/>
              </a:rPr>
              <a:t>해결하고자 하는 과제</a:t>
            </a:r>
            <a:r>
              <a:rPr lang="en-US" altLang="ko-KR" sz="1400" b="0" dirty="0">
                <a:solidFill>
                  <a:schemeClr val="accent6">
                    <a:lumMod val="50000"/>
                  </a:schemeClr>
                </a:solidFill>
                <a:latin typeface="+mn-ea"/>
              </a:rPr>
              <a:t>】</a:t>
            </a:r>
          </a:p>
        </p:txBody>
      </p:sp>
      <p:sp>
        <p:nvSpPr>
          <p:cNvPr id="56" name="직사각형 55">
            <a:extLst>
              <a:ext uri="{FF2B5EF4-FFF2-40B4-BE49-F238E27FC236}">
                <a16:creationId xmlns:a16="http://schemas.microsoft.com/office/drawing/2014/main" id="{2BBA35A4-36AF-EC6F-E569-B15BEBE64AA9}"/>
              </a:ext>
            </a:extLst>
          </p:cNvPr>
          <p:cNvSpPr/>
          <p:nvPr/>
        </p:nvSpPr>
        <p:spPr bwMode="auto">
          <a:xfrm>
            <a:off x="7672692" y="3309479"/>
            <a:ext cx="3744384" cy="287338"/>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6">
                    <a:lumMod val="50000"/>
                  </a:schemeClr>
                </a:solidFill>
                <a:latin typeface="+mn-ea"/>
              </a:rPr>
              <a:t>【</a:t>
            </a:r>
            <a:r>
              <a:rPr lang="ko-KR" altLang="en-US" sz="1400" b="0" dirty="0">
                <a:solidFill>
                  <a:schemeClr val="accent6">
                    <a:lumMod val="50000"/>
                  </a:schemeClr>
                </a:solidFill>
                <a:latin typeface="+mn-ea"/>
              </a:rPr>
              <a:t>과제 해결 수단</a:t>
            </a:r>
            <a:r>
              <a:rPr lang="en-US" altLang="ko-KR" sz="1400" b="0" dirty="0">
                <a:solidFill>
                  <a:schemeClr val="accent6">
                    <a:lumMod val="50000"/>
                  </a:schemeClr>
                </a:solidFill>
                <a:latin typeface="+mn-ea"/>
              </a:rPr>
              <a:t>】</a:t>
            </a:r>
          </a:p>
        </p:txBody>
      </p:sp>
      <p:sp>
        <p:nvSpPr>
          <p:cNvPr id="57" name="직사각형 56">
            <a:extLst>
              <a:ext uri="{FF2B5EF4-FFF2-40B4-BE49-F238E27FC236}">
                <a16:creationId xmlns:a16="http://schemas.microsoft.com/office/drawing/2014/main" id="{5DD3BC7B-4243-9FE1-5CF1-A96C63C64F84}"/>
              </a:ext>
            </a:extLst>
          </p:cNvPr>
          <p:cNvSpPr/>
          <p:nvPr/>
        </p:nvSpPr>
        <p:spPr bwMode="auto">
          <a:xfrm>
            <a:off x="7672692" y="3599993"/>
            <a:ext cx="3744384" cy="287337"/>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6">
                    <a:lumMod val="50000"/>
                  </a:schemeClr>
                </a:solidFill>
                <a:latin typeface="+mn-ea"/>
              </a:rPr>
              <a:t>【</a:t>
            </a:r>
            <a:r>
              <a:rPr lang="ko-KR" altLang="en-US" sz="1400" b="0" dirty="0">
                <a:solidFill>
                  <a:schemeClr val="accent6">
                    <a:lumMod val="50000"/>
                  </a:schemeClr>
                </a:solidFill>
                <a:latin typeface="+mn-ea"/>
              </a:rPr>
              <a:t>효과</a:t>
            </a:r>
            <a:r>
              <a:rPr lang="en-US" altLang="ko-KR" sz="1400" b="0" dirty="0">
                <a:solidFill>
                  <a:schemeClr val="accent6">
                    <a:lumMod val="50000"/>
                  </a:schemeClr>
                </a:solidFill>
                <a:latin typeface="+mn-ea"/>
              </a:rPr>
              <a:t>】</a:t>
            </a:r>
          </a:p>
        </p:txBody>
      </p:sp>
      <p:sp>
        <p:nvSpPr>
          <p:cNvPr id="58" name="직사각형 28">
            <a:extLst>
              <a:ext uri="{FF2B5EF4-FFF2-40B4-BE49-F238E27FC236}">
                <a16:creationId xmlns:a16="http://schemas.microsoft.com/office/drawing/2014/main" id="{AA2DE04C-15D5-1988-3370-A609524B04A8}"/>
              </a:ext>
            </a:extLst>
          </p:cNvPr>
          <p:cNvSpPr>
            <a:spLocks noChangeArrowheads="1"/>
          </p:cNvSpPr>
          <p:nvPr/>
        </p:nvSpPr>
        <p:spPr bwMode="auto">
          <a:xfrm>
            <a:off x="7384826" y="3868279"/>
            <a:ext cx="3744384" cy="287338"/>
          </a:xfrm>
          <a:prstGeom prst="rect">
            <a:avLst/>
          </a:prstGeom>
          <a:solidFill>
            <a:schemeClr val="bg1"/>
          </a:solidFill>
          <a:ln>
            <a:noFill/>
          </a:ln>
          <a:extLst>
            <a:ext uri="{91240B29-F687-4F45-9708-019B960494DF}">
              <a14:hiddenLine xmlns:a14="http://schemas.microsoft.com/office/drawing/2010/main" w="28575" algn="ctr">
                <a:solidFill>
                  <a:srgbClr val="000000"/>
                </a:solidFill>
                <a:round/>
                <a:headEnd/>
                <a:tailEnd/>
              </a14:hiddenLine>
            </a:ext>
          </a:extLst>
        </p:spPr>
        <p:txBody>
          <a:bodyPr lIns="90000" tIns="46800" rIns="90000" bIns="46800"/>
          <a:lstStyle/>
          <a:p>
            <a:r>
              <a:rPr lang="en-US" altLang="ko-KR" sz="1400" b="0">
                <a:solidFill>
                  <a:schemeClr val="accent6">
                    <a:lumMod val="50000"/>
                  </a:schemeClr>
                </a:solidFill>
                <a:latin typeface="+mn-ea"/>
              </a:rPr>
              <a:t>【</a:t>
            </a:r>
            <a:r>
              <a:rPr lang="ko-KR" altLang="en-US" sz="1400" b="0">
                <a:solidFill>
                  <a:schemeClr val="accent6">
                    <a:lumMod val="50000"/>
                  </a:schemeClr>
                </a:solidFill>
                <a:latin typeface="+mn-ea"/>
              </a:rPr>
              <a:t>도면의 간단한 설명</a:t>
            </a:r>
            <a:r>
              <a:rPr lang="en-US" altLang="ko-KR" sz="1400" b="0">
                <a:solidFill>
                  <a:schemeClr val="accent6">
                    <a:lumMod val="50000"/>
                  </a:schemeClr>
                </a:solidFill>
                <a:latin typeface="+mn-ea"/>
              </a:rPr>
              <a:t>】</a:t>
            </a:r>
          </a:p>
        </p:txBody>
      </p:sp>
      <p:sp>
        <p:nvSpPr>
          <p:cNvPr id="59" name="직사각형 58">
            <a:extLst>
              <a:ext uri="{FF2B5EF4-FFF2-40B4-BE49-F238E27FC236}">
                <a16:creationId xmlns:a16="http://schemas.microsoft.com/office/drawing/2014/main" id="{7AAE483F-292F-044F-0E3D-10EF6EFE89A8}"/>
              </a:ext>
            </a:extLst>
          </p:cNvPr>
          <p:cNvSpPr/>
          <p:nvPr/>
        </p:nvSpPr>
        <p:spPr bwMode="auto">
          <a:xfrm>
            <a:off x="7384826" y="4158793"/>
            <a:ext cx="4225131" cy="287337"/>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6">
                    <a:lumMod val="50000"/>
                  </a:schemeClr>
                </a:solidFill>
                <a:latin typeface="+mn-ea"/>
              </a:rPr>
              <a:t>【</a:t>
            </a:r>
            <a:r>
              <a:rPr lang="ko-KR" altLang="en-US" sz="1400" b="0" dirty="0">
                <a:solidFill>
                  <a:schemeClr val="accent6">
                    <a:lumMod val="50000"/>
                  </a:schemeClr>
                </a:solidFill>
                <a:latin typeface="+mn-ea"/>
              </a:rPr>
              <a:t>발명의 실시를 위한 구체적인 내용</a:t>
            </a:r>
            <a:r>
              <a:rPr lang="en-US" altLang="ko-KR" sz="1400" b="0" dirty="0">
                <a:solidFill>
                  <a:schemeClr val="accent6">
                    <a:lumMod val="50000"/>
                  </a:schemeClr>
                </a:solidFill>
                <a:latin typeface="+mn-ea"/>
              </a:rPr>
              <a:t>】</a:t>
            </a:r>
            <a:r>
              <a:rPr lang="en-US" altLang="ko-KR" sz="1400" dirty="0">
                <a:solidFill>
                  <a:srgbClr val="FF0000"/>
                </a:solidFill>
                <a:latin typeface="+mn-ea"/>
              </a:rPr>
              <a:t>(</a:t>
            </a:r>
            <a:r>
              <a:rPr lang="ko-KR" altLang="en-US" sz="1400" dirty="0">
                <a:solidFill>
                  <a:srgbClr val="FF0000"/>
                </a:solidFill>
                <a:latin typeface="+mn-ea"/>
              </a:rPr>
              <a:t>필수</a:t>
            </a:r>
            <a:r>
              <a:rPr lang="en-US" altLang="ko-KR" sz="1400" dirty="0">
                <a:solidFill>
                  <a:srgbClr val="FF0000"/>
                </a:solidFill>
                <a:latin typeface="+mn-ea"/>
              </a:rPr>
              <a:t>)</a:t>
            </a:r>
            <a:endParaRPr lang="en-US" altLang="ko-KR" sz="1400" b="0" dirty="0">
              <a:solidFill>
                <a:schemeClr val="accent6">
                  <a:lumMod val="50000"/>
                </a:schemeClr>
              </a:solidFill>
              <a:latin typeface="+mn-ea"/>
            </a:endParaRPr>
          </a:p>
        </p:txBody>
      </p:sp>
      <p:sp>
        <p:nvSpPr>
          <p:cNvPr id="60" name="직사각형 59">
            <a:extLst>
              <a:ext uri="{FF2B5EF4-FFF2-40B4-BE49-F238E27FC236}">
                <a16:creationId xmlns:a16="http://schemas.microsoft.com/office/drawing/2014/main" id="{67E71FFF-66A4-E359-3AFC-5732FD413C06}"/>
              </a:ext>
            </a:extLst>
          </p:cNvPr>
          <p:cNvSpPr/>
          <p:nvPr/>
        </p:nvSpPr>
        <p:spPr bwMode="auto">
          <a:xfrm>
            <a:off x="7672692" y="4454068"/>
            <a:ext cx="3744384" cy="287337"/>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6">
                    <a:lumMod val="50000"/>
                  </a:schemeClr>
                </a:solidFill>
                <a:latin typeface="+mn-ea"/>
              </a:rPr>
              <a:t>【</a:t>
            </a:r>
            <a:r>
              <a:rPr lang="ko-KR" altLang="en-US" sz="1400" b="0" dirty="0" err="1">
                <a:solidFill>
                  <a:schemeClr val="accent6">
                    <a:lumMod val="50000"/>
                  </a:schemeClr>
                </a:solidFill>
                <a:latin typeface="+mn-ea"/>
              </a:rPr>
              <a:t>실시예</a:t>
            </a:r>
            <a:r>
              <a:rPr lang="ko-KR" altLang="en-US" sz="1400" b="0" dirty="0">
                <a:solidFill>
                  <a:schemeClr val="accent6">
                    <a:lumMod val="50000"/>
                  </a:schemeClr>
                </a:solidFill>
                <a:latin typeface="+mn-ea"/>
              </a:rPr>
              <a:t> </a:t>
            </a:r>
            <a:r>
              <a:rPr lang="en-US" altLang="ko-KR" sz="1400" b="0" dirty="0">
                <a:solidFill>
                  <a:schemeClr val="accent6">
                    <a:lumMod val="50000"/>
                  </a:schemeClr>
                </a:solidFill>
                <a:latin typeface="+mn-ea"/>
              </a:rPr>
              <a:t>1】x, y</a:t>
            </a:r>
            <a:r>
              <a:rPr lang="ko-KR" altLang="en-US" sz="1400" b="0" dirty="0">
                <a:solidFill>
                  <a:schemeClr val="accent6">
                    <a:lumMod val="50000"/>
                  </a:schemeClr>
                </a:solidFill>
                <a:latin typeface="+mn-ea"/>
              </a:rPr>
              <a:t>를 포함하는 발명</a:t>
            </a:r>
            <a:endParaRPr lang="en-US" altLang="ko-KR" sz="1400" b="0" dirty="0">
              <a:solidFill>
                <a:schemeClr val="accent6">
                  <a:lumMod val="50000"/>
                </a:schemeClr>
              </a:solidFill>
              <a:latin typeface="+mn-ea"/>
            </a:endParaRPr>
          </a:p>
        </p:txBody>
      </p:sp>
      <p:sp>
        <p:nvSpPr>
          <p:cNvPr id="61" name="직사각형 60">
            <a:extLst>
              <a:ext uri="{FF2B5EF4-FFF2-40B4-BE49-F238E27FC236}">
                <a16:creationId xmlns:a16="http://schemas.microsoft.com/office/drawing/2014/main" id="{0A2AAC01-F660-FDB1-63B3-7350CF3DA00F}"/>
              </a:ext>
            </a:extLst>
          </p:cNvPr>
          <p:cNvSpPr/>
          <p:nvPr/>
        </p:nvSpPr>
        <p:spPr bwMode="auto">
          <a:xfrm>
            <a:off x="7672692" y="4744580"/>
            <a:ext cx="3744384" cy="288925"/>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6">
                    <a:lumMod val="50000"/>
                  </a:schemeClr>
                </a:solidFill>
                <a:latin typeface="+mn-ea"/>
              </a:rPr>
              <a:t>【</a:t>
            </a:r>
            <a:r>
              <a:rPr lang="ko-KR" altLang="en-US" sz="1400" b="0" dirty="0" err="1">
                <a:solidFill>
                  <a:schemeClr val="accent6">
                    <a:lumMod val="50000"/>
                  </a:schemeClr>
                </a:solidFill>
                <a:latin typeface="+mn-ea"/>
              </a:rPr>
              <a:t>실시예</a:t>
            </a:r>
            <a:r>
              <a:rPr lang="ko-KR" altLang="en-US" sz="1400" b="0" dirty="0">
                <a:solidFill>
                  <a:schemeClr val="accent6">
                    <a:lumMod val="50000"/>
                  </a:schemeClr>
                </a:solidFill>
                <a:latin typeface="+mn-ea"/>
              </a:rPr>
              <a:t> </a:t>
            </a:r>
            <a:r>
              <a:rPr lang="en-US" altLang="ko-KR" sz="1400" b="0" dirty="0">
                <a:solidFill>
                  <a:schemeClr val="accent6">
                    <a:lumMod val="50000"/>
                  </a:schemeClr>
                </a:solidFill>
                <a:latin typeface="+mn-ea"/>
              </a:rPr>
              <a:t>2】x, y, z</a:t>
            </a:r>
            <a:r>
              <a:rPr lang="ko-KR" altLang="en-US" sz="1400" b="0" dirty="0">
                <a:solidFill>
                  <a:schemeClr val="accent6">
                    <a:lumMod val="50000"/>
                  </a:schemeClr>
                </a:solidFill>
                <a:latin typeface="+mn-ea"/>
              </a:rPr>
              <a:t>를 포함하는 발명</a:t>
            </a:r>
            <a:endParaRPr lang="en-US" altLang="ko-KR" sz="1400" b="0" dirty="0">
              <a:solidFill>
                <a:schemeClr val="accent6">
                  <a:lumMod val="50000"/>
                </a:schemeClr>
              </a:solidFill>
              <a:latin typeface="+mn-ea"/>
            </a:endParaRPr>
          </a:p>
        </p:txBody>
      </p:sp>
      <p:sp>
        <p:nvSpPr>
          <p:cNvPr id="62" name="직사각형 61">
            <a:extLst>
              <a:ext uri="{FF2B5EF4-FFF2-40B4-BE49-F238E27FC236}">
                <a16:creationId xmlns:a16="http://schemas.microsoft.com/office/drawing/2014/main" id="{BA9215B2-F32C-1B0C-338A-A12733BC3163}"/>
              </a:ext>
            </a:extLst>
          </p:cNvPr>
          <p:cNvSpPr/>
          <p:nvPr/>
        </p:nvSpPr>
        <p:spPr bwMode="auto">
          <a:xfrm>
            <a:off x="7151787" y="5285018"/>
            <a:ext cx="3744384" cy="287337"/>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4"/>
                </a:solidFill>
                <a:latin typeface="+mn-ea"/>
              </a:rPr>
              <a:t>【</a:t>
            </a:r>
            <a:r>
              <a:rPr lang="ko-KR" altLang="en-US" sz="1400" b="0" dirty="0">
                <a:solidFill>
                  <a:schemeClr val="accent4"/>
                </a:solidFill>
                <a:latin typeface="+mn-ea"/>
              </a:rPr>
              <a:t>청구범위</a:t>
            </a:r>
            <a:r>
              <a:rPr lang="en-US" altLang="ko-KR" sz="1400" b="0" dirty="0">
                <a:solidFill>
                  <a:schemeClr val="accent4"/>
                </a:solidFill>
                <a:latin typeface="+mn-ea"/>
              </a:rPr>
              <a:t>】</a:t>
            </a:r>
            <a:r>
              <a:rPr lang="en-US" altLang="ko-KR" sz="1400" dirty="0">
                <a:solidFill>
                  <a:srgbClr val="FF0000"/>
                </a:solidFill>
                <a:latin typeface="+mn-ea"/>
              </a:rPr>
              <a:t>(</a:t>
            </a:r>
            <a:r>
              <a:rPr lang="ko-KR" altLang="en-US" sz="1400" dirty="0">
                <a:solidFill>
                  <a:srgbClr val="FF0000"/>
                </a:solidFill>
                <a:latin typeface="+mn-ea"/>
              </a:rPr>
              <a:t>필수</a:t>
            </a:r>
            <a:r>
              <a:rPr lang="en-US" altLang="ko-KR" sz="1400" dirty="0">
                <a:solidFill>
                  <a:srgbClr val="FF0000"/>
                </a:solidFill>
                <a:latin typeface="+mn-ea"/>
              </a:rPr>
              <a:t>)</a:t>
            </a:r>
            <a:endParaRPr lang="en-US" altLang="ko-KR" sz="1400" b="0" dirty="0">
              <a:solidFill>
                <a:schemeClr val="accent4"/>
              </a:solidFill>
              <a:latin typeface="+mn-ea"/>
            </a:endParaRPr>
          </a:p>
        </p:txBody>
      </p:sp>
      <p:sp>
        <p:nvSpPr>
          <p:cNvPr id="63" name="직사각형 62">
            <a:extLst>
              <a:ext uri="{FF2B5EF4-FFF2-40B4-BE49-F238E27FC236}">
                <a16:creationId xmlns:a16="http://schemas.microsoft.com/office/drawing/2014/main" id="{84653CB2-EED9-63A0-5744-53FA694A87C6}"/>
              </a:ext>
            </a:extLst>
          </p:cNvPr>
          <p:cNvSpPr/>
          <p:nvPr/>
        </p:nvSpPr>
        <p:spPr bwMode="auto">
          <a:xfrm>
            <a:off x="7439653" y="5575530"/>
            <a:ext cx="3744384" cy="288925"/>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4"/>
                </a:solidFill>
                <a:latin typeface="+mn-ea"/>
              </a:rPr>
              <a:t>【</a:t>
            </a:r>
            <a:r>
              <a:rPr lang="ko-KR" altLang="en-US" sz="1400" b="0" dirty="0" err="1">
                <a:solidFill>
                  <a:schemeClr val="accent4"/>
                </a:solidFill>
                <a:latin typeface="+mn-ea"/>
              </a:rPr>
              <a:t>청구항</a:t>
            </a:r>
            <a:r>
              <a:rPr lang="ko-KR" altLang="en-US" sz="1400" b="0" dirty="0">
                <a:solidFill>
                  <a:schemeClr val="accent4"/>
                </a:solidFill>
                <a:latin typeface="+mn-ea"/>
              </a:rPr>
              <a:t> </a:t>
            </a:r>
            <a:r>
              <a:rPr lang="en-US" altLang="ko-KR" sz="1400" b="0" dirty="0">
                <a:solidFill>
                  <a:schemeClr val="accent4"/>
                </a:solidFill>
                <a:latin typeface="+mn-ea"/>
              </a:rPr>
              <a:t>1】</a:t>
            </a:r>
            <a:r>
              <a:rPr lang="en-US" altLang="ko-KR" sz="1400" dirty="0">
                <a:solidFill>
                  <a:schemeClr val="accent4"/>
                </a:solidFill>
                <a:latin typeface="+mn-ea"/>
              </a:rPr>
              <a:t>x, y</a:t>
            </a:r>
            <a:r>
              <a:rPr lang="ko-KR" altLang="en-US" sz="1400" dirty="0">
                <a:solidFill>
                  <a:schemeClr val="accent4"/>
                </a:solidFill>
                <a:latin typeface="+mn-ea"/>
              </a:rPr>
              <a:t>를 포함하는 발명 </a:t>
            </a:r>
            <a:r>
              <a:rPr lang="en-US" altLang="ko-KR" sz="1400" dirty="0">
                <a:solidFill>
                  <a:srgbClr val="FF0000"/>
                </a:solidFill>
                <a:latin typeface="+mn-ea"/>
              </a:rPr>
              <a:t>(</a:t>
            </a:r>
            <a:r>
              <a:rPr lang="ko-KR" altLang="en-US" sz="1400" dirty="0">
                <a:solidFill>
                  <a:srgbClr val="FF0000"/>
                </a:solidFill>
                <a:latin typeface="+mn-ea"/>
              </a:rPr>
              <a:t>필수</a:t>
            </a:r>
            <a:r>
              <a:rPr lang="en-US" altLang="ko-KR" sz="1400" dirty="0">
                <a:solidFill>
                  <a:srgbClr val="FF0000"/>
                </a:solidFill>
                <a:latin typeface="+mn-ea"/>
              </a:rPr>
              <a:t>)</a:t>
            </a:r>
            <a:endParaRPr lang="en-US" altLang="ko-KR" sz="1400" b="0" dirty="0">
              <a:solidFill>
                <a:schemeClr val="accent4"/>
              </a:solidFill>
              <a:latin typeface="+mn-ea"/>
            </a:endParaRPr>
          </a:p>
        </p:txBody>
      </p:sp>
      <p:sp>
        <p:nvSpPr>
          <p:cNvPr id="64" name="직사각형 63">
            <a:extLst>
              <a:ext uri="{FF2B5EF4-FFF2-40B4-BE49-F238E27FC236}">
                <a16:creationId xmlns:a16="http://schemas.microsoft.com/office/drawing/2014/main" id="{AFD5961E-CB9C-5878-7F29-6B034D41B3EE}"/>
              </a:ext>
            </a:extLst>
          </p:cNvPr>
          <p:cNvSpPr/>
          <p:nvPr/>
        </p:nvSpPr>
        <p:spPr bwMode="auto">
          <a:xfrm>
            <a:off x="7439652" y="5856518"/>
            <a:ext cx="3977423" cy="287337"/>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4"/>
                </a:solidFill>
                <a:latin typeface="+mn-ea"/>
              </a:rPr>
              <a:t>【</a:t>
            </a:r>
            <a:r>
              <a:rPr lang="ko-KR" altLang="en-US" sz="1400" b="0" dirty="0" err="1">
                <a:solidFill>
                  <a:schemeClr val="accent4"/>
                </a:solidFill>
                <a:latin typeface="+mn-ea"/>
              </a:rPr>
              <a:t>청구항</a:t>
            </a:r>
            <a:r>
              <a:rPr lang="ko-KR" altLang="en-US" sz="1400" b="0" dirty="0">
                <a:solidFill>
                  <a:schemeClr val="accent4"/>
                </a:solidFill>
                <a:latin typeface="+mn-ea"/>
              </a:rPr>
              <a:t> </a:t>
            </a:r>
            <a:r>
              <a:rPr lang="en-US" altLang="ko-KR" sz="1400" b="0" dirty="0">
                <a:solidFill>
                  <a:schemeClr val="accent4"/>
                </a:solidFill>
                <a:latin typeface="+mn-ea"/>
              </a:rPr>
              <a:t>2】</a:t>
            </a:r>
            <a:r>
              <a:rPr lang="ko-KR" altLang="en-US" sz="1400" b="0" dirty="0">
                <a:solidFill>
                  <a:schemeClr val="accent4"/>
                </a:solidFill>
                <a:latin typeface="+mn-ea"/>
              </a:rPr>
              <a:t>제</a:t>
            </a:r>
            <a:r>
              <a:rPr lang="en-US" altLang="ko-KR" sz="1400" b="0" dirty="0">
                <a:solidFill>
                  <a:schemeClr val="accent4"/>
                </a:solidFill>
                <a:latin typeface="+mn-ea"/>
              </a:rPr>
              <a:t>1</a:t>
            </a:r>
            <a:r>
              <a:rPr lang="ko-KR" altLang="en-US" sz="1400" b="0" dirty="0">
                <a:solidFill>
                  <a:schemeClr val="accent4"/>
                </a:solidFill>
                <a:latin typeface="+mn-ea"/>
              </a:rPr>
              <a:t>항에 있어서</a:t>
            </a:r>
            <a:r>
              <a:rPr lang="en-US" altLang="ko-KR" sz="1400" b="0" dirty="0">
                <a:solidFill>
                  <a:schemeClr val="accent4"/>
                </a:solidFill>
                <a:latin typeface="+mn-ea"/>
              </a:rPr>
              <a:t>, z</a:t>
            </a:r>
            <a:r>
              <a:rPr lang="ko-KR" altLang="en-US" sz="1400" b="0" dirty="0">
                <a:solidFill>
                  <a:schemeClr val="accent4"/>
                </a:solidFill>
                <a:latin typeface="+mn-ea"/>
              </a:rPr>
              <a:t>를 더 포함하는 발명</a:t>
            </a:r>
            <a:endParaRPr lang="en-US" altLang="ko-KR" sz="1400" b="0" dirty="0">
              <a:solidFill>
                <a:schemeClr val="accent4"/>
              </a:solidFill>
              <a:latin typeface="+mn-ea"/>
            </a:endParaRPr>
          </a:p>
        </p:txBody>
      </p:sp>
      <p:sp>
        <p:nvSpPr>
          <p:cNvPr id="65" name="직사각형 38">
            <a:extLst>
              <a:ext uri="{FF2B5EF4-FFF2-40B4-BE49-F238E27FC236}">
                <a16:creationId xmlns:a16="http://schemas.microsoft.com/office/drawing/2014/main" id="{CC824A95-6C6E-EB20-C979-B642B871A301}"/>
              </a:ext>
            </a:extLst>
          </p:cNvPr>
          <p:cNvSpPr>
            <a:spLocks noChangeArrowheads="1"/>
          </p:cNvSpPr>
          <p:nvPr/>
        </p:nvSpPr>
        <p:spPr bwMode="auto">
          <a:xfrm>
            <a:off x="7151787" y="1227724"/>
            <a:ext cx="3744384" cy="287338"/>
          </a:xfrm>
          <a:prstGeom prst="rect">
            <a:avLst/>
          </a:prstGeom>
          <a:solidFill>
            <a:schemeClr val="bg1"/>
          </a:solidFill>
          <a:ln>
            <a:noFill/>
          </a:ln>
          <a:extLst>
            <a:ext uri="{91240B29-F687-4F45-9708-019B960494DF}">
              <a14:hiddenLine xmlns:a14="http://schemas.microsoft.com/office/drawing/2010/main" w="28575" algn="ctr">
                <a:solidFill>
                  <a:srgbClr val="000000"/>
                </a:solidFill>
                <a:round/>
                <a:headEnd/>
                <a:tailEnd/>
              </a14:hiddenLine>
            </a:ext>
          </a:extLst>
        </p:spPr>
        <p:txBody>
          <a:bodyPr lIns="90000" tIns="46800" rIns="90000" bIns="46800"/>
          <a:lstStyle/>
          <a:p>
            <a:pPr algn="ctr"/>
            <a:r>
              <a:rPr lang="en-US" altLang="ko-KR" sz="1400" b="0" dirty="0">
                <a:solidFill>
                  <a:srgbClr val="1C1C1C"/>
                </a:solidFill>
                <a:latin typeface="+mn-ea"/>
              </a:rPr>
              <a:t>【</a:t>
            </a:r>
            <a:r>
              <a:rPr lang="ko-KR" altLang="en-US" sz="1400" b="0" dirty="0">
                <a:solidFill>
                  <a:srgbClr val="1C1C1C"/>
                </a:solidFill>
                <a:latin typeface="+mn-ea"/>
              </a:rPr>
              <a:t>명세서</a:t>
            </a:r>
            <a:r>
              <a:rPr lang="en-US" altLang="ko-KR" sz="1400" b="0" dirty="0">
                <a:solidFill>
                  <a:srgbClr val="1C1C1C"/>
                </a:solidFill>
                <a:latin typeface="+mn-ea"/>
              </a:rPr>
              <a:t>】</a:t>
            </a:r>
          </a:p>
        </p:txBody>
      </p:sp>
      <p:cxnSp>
        <p:nvCxnSpPr>
          <p:cNvPr id="66" name="꺾인 연결선 4">
            <a:extLst>
              <a:ext uri="{FF2B5EF4-FFF2-40B4-BE49-F238E27FC236}">
                <a16:creationId xmlns:a16="http://schemas.microsoft.com/office/drawing/2014/main" id="{317A15CC-10A2-2009-978A-D352A36BF15C}"/>
              </a:ext>
            </a:extLst>
          </p:cNvPr>
          <p:cNvCxnSpPr>
            <a:cxnSpLocks noChangeShapeType="1"/>
            <a:stCxn id="47" idx="3"/>
            <a:endCxn id="72" idx="1"/>
          </p:cNvCxnSpPr>
          <p:nvPr/>
        </p:nvCxnSpPr>
        <p:spPr bwMode="auto">
          <a:xfrm flipV="1">
            <a:off x="5521954" y="1699744"/>
            <a:ext cx="1629833" cy="528346"/>
          </a:xfrm>
          <a:prstGeom prst="bentConnector3">
            <a:avLst>
              <a:gd name="adj1" fmla="val 50000"/>
            </a:avLst>
          </a:prstGeom>
          <a:noFill/>
          <a:ln w="9525">
            <a:solidFill>
              <a:srgbClr val="5F5F5F"/>
            </a:solidFill>
            <a:round/>
            <a:headEnd/>
            <a:tailEnd type="arrow" w="med" len="med"/>
          </a:ln>
          <a:extLst>
            <a:ext uri="{909E8E84-426E-40DD-AFC4-6F175D3DCCD1}">
              <a14:hiddenFill xmlns:a14="http://schemas.microsoft.com/office/drawing/2010/main">
                <a:noFill/>
              </a14:hiddenFill>
            </a:ext>
          </a:extLst>
        </p:spPr>
      </p:cxnSp>
      <p:cxnSp>
        <p:nvCxnSpPr>
          <p:cNvPr id="67" name="꺾인 연결선 6">
            <a:extLst>
              <a:ext uri="{FF2B5EF4-FFF2-40B4-BE49-F238E27FC236}">
                <a16:creationId xmlns:a16="http://schemas.microsoft.com/office/drawing/2014/main" id="{7E97B0E0-2B6D-DEA0-09FB-EB99A290DEBA}"/>
              </a:ext>
            </a:extLst>
          </p:cNvPr>
          <p:cNvCxnSpPr>
            <a:cxnSpLocks noChangeShapeType="1"/>
            <a:stCxn id="48" idx="3"/>
            <a:endCxn id="62" idx="1"/>
          </p:cNvCxnSpPr>
          <p:nvPr/>
        </p:nvCxnSpPr>
        <p:spPr bwMode="auto">
          <a:xfrm>
            <a:off x="5521954" y="2567846"/>
            <a:ext cx="1629833" cy="2860841"/>
          </a:xfrm>
          <a:prstGeom prst="bentConnector3">
            <a:avLst>
              <a:gd name="adj1" fmla="val 50000"/>
            </a:avLst>
          </a:prstGeom>
          <a:noFill/>
          <a:ln w="9525">
            <a:solidFill>
              <a:srgbClr val="5F5F5F"/>
            </a:solidFill>
            <a:round/>
            <a:headEnd/>
            <a:tailEnd type="arrow" w="med" len="med"/>
          </a:ln>
          <a:extLst>
            <a:ext uri="{909E8E84-426E-40DD-AFC4-6F175D3DCCD1}">
              <a14:hiddenFill xmlns:a14="http://schemas.microsoft.com/office/drawing/2010/main">
                <a:noFill/>
              </a14:hiddenFill>
            </a:ext>
          </a:extLst>
        </p:spPr>
      </p:cxnSp>
      <p:sp>
        <p:nvSpPr>
          <p:cNvPr id="68" name="직사각형 67">
            <a:extLst>
              <a:ext uri="{FF2B5EF4-FFF2-40B4-BE49-F238E27FC236}">
                <a16:creationId xmlns:a16="http://schemas.microsoft.com/office/drawing/2014/main" id="{68C25349-2121-F605-D195-0CDF6896EB3A}"/>
              </a:ext>
            </a:extLst>
          </p:cNvPr>
          <p:cNvSpPr/>
          <p:nvPr/>
        </p:nvSpPr>
        <p:spPr bwMode="auto">
          <a:xfrm>
            <a:off x="7384826" y="2449054"/>
            <a:ext cx="3744384" cy="287338"/>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6">
                    <a:lumMod val="50000"/>
                  </a:schemeClr>
                </a:solidFill>
                <a:latin typeface="+mn-ea"/>
              </a:rPr>
              <a:t>【</a:t>
            </a:r>
            <a:r>
              <a:rPr lang="ko-KR" altLang="en-US" sz="1400" b="0" dirty="0">
                <a:solidFill>
                  <a:schemeClr val="accent6">
                    <a:lumMod val="50000"/>
                  </a:schemeClr>
                </a:solidFill>
                <a:latin typeface="+mn-ea"/>
              </a:rPr>
              <a:t>배경기술</a:t>
            </a:r>
            <a:r>
              <a:rPr lang="en-US" altLang="ko-KR" sz="1400" b="0" dirty="0">
                <a:solidFill>
                  <a:schemeClr val="accent6">
                    <a:lumMod val="50000"/>
                  </a:schemeClr>
                </a:solidFill>
                <a:latin typeface="+mn-ea"/>
              </a:rPr>
              <a:t>】</a:t>
            </a:r>
            <a:r>
              <a:rPr lang="en-US" altLang="ko-KR" sz="1400" dirty="0">
                <a:solidFill>
                  <a:srgbClr val="FF0000"/>
                </a:solidFill>
                <a:latin typeface="+mn-ea"/>
              </a:rPr>
              <a:t>(</a:t>
            </a:r>
            <a:r>
              <a:rPr lang="ko-KR" altLang="en-US" sz="1400" dirty="0">
                <a:solidFill>
                  <a:srgbClr val="FF0000"/>
                </a:solidFill>
                <a:latin typeface="+mn-ea"/>
              </a:rPr>
              <a:t>필수</a:t>
            </a:r>
            <a:r>
              <a:rPr lang="en-US" altLang="ko-KR" sz="1400" dirty="0">
                <a:solidFill>
                  <a:srgbClr val="FF0000"/>
                </a:solidFill>
                <a:latin typeface="+mn-ea"/>
              </a:rPr>
              <a:t>)</a:t>
            </a:r>
            <a:endParaRPr lang="en-US" altLang="ko-KR" sz="1400" b="0" dirty="0">
              <a:solidFill>
                <a:schemeClr val="accent6">
                  <a:lumMod val="50000"/>
                </a:schemeClr>
              </a:solidFill>
              <a:latin typeface="+mn-ea"/>
            </a:endParaRPr>
          </a:p>
        </p:txBody>
      </p:sp>
      <p:sp>
        <p:nvSpPr>
          <p:cNvPr id="69" name="직사각형 68">
            <a:extLst>
              <a:ext uri="{FF2B5EF4-FFF2-40B4-BE49-F238E27FC236}">
                <a16:creationId xmlns:a16="http://schemas.microsoft.com/office/drawing/2014/main" id="{39E1ADB8-8E0B-1FC3-43D0-03E92F185874}"/>
              </a:ext>
            </a:extLst>
          </p:cNvPr>
          <p:cNvSpPr/>
          <p:nvPr/>
        </p:nvSpPr>
        <p:spPr bwMode="auto">
          <a:xfrm>
            <a:off x="6768672" y="1195612"/>
            <a:ext cx="4992289" cy="4968875"/>
          </a:xfrm>
          <a:prstGeom prst="rect">
            <a:avLst/>
          </a:prstGeom>
          <a:noFill/>
          <a:ln w="28575" cap="flat" cmpd="sng" algn="ctr">
            <a:solidFill>
              <a:schemeClr val="bg2">
                <a:lumMod val="75000"/>
              </a:schemeClr>
            </a:solidFill>
            <a:prstDash val="solid"/>
            <a:round/>
            <a:headEnd type="none" w="med" len="med"/>
            <a:tailEnd type="none" w="med" len="med"/>
          </a:ln>
          <a:effectLst/>
        </p:spPr>
        <p:txBody>
          <a:bodyPr lIns="90000" tIns="46800" rIns="90000" bIns="46800"/>
          <a:lstStyle/>
          <a:p>
            <a:pPr algn="ctr">
              <a:buFont typeface="Wingdings" pitchFamily="2" charset="2"/>
              <a:buNone/>
              <a:defRPr/>
            </a:pPr>
            <a:endParaRPr lang="ko-KR" altLang="en-US" sz="2000">
              <a:solidFill>
                <a:srgbClr val="1C1C1C"/>
              </a:solidFill>
              <a:latin typeface="+mn-ea"/>
            </a:endParaRPr>
          </a:p>
        </p:txBody>
      </p:sp>
      <p:graphicFrame>
        <p:nvGraphicFramePr>
          <p:cNvPr id="70" name="Group 224">
            <a:extLst>
              <a:ext uri="{FF2B5EF4-FFF2-40B4-BE49-F238E27FC236}">
                <a16:creationId xmlns:a16="http://schemas.microsoft.com/office/drawing/2014/main" id="{C7324699-4A10-9A2B-C756-1C516C3B7992}"/>
              </a:ext>
            </a:extLst>
          </p:cNvPr>
          <p:cNvGraphicFramePr>
            <a:graphicFrameLocks noGrp="1"/>
          </p:cNvGraphicFramePr>
          <p:nvPr>
            <p:extLst>
              <p:ext uri="{D42A27DB-BD31-4B8C-83A1-F6EECF244321}">
                <p14:modId xmlns:p14="http://schemas.microsoft.com/office/powerpoint/2010/main" val="2318796477"/>
              </p:ext>
            </p:extLst>
          </p:nvPr>
        </p:nvGraphicFramePr>
        <p:xfrm>
          <a:off x="431371" y="4149080"/>
          <a:ext cx="5568949" cy="2015408"/>
        </p:xfrm>
        <a:graphic>
          <a:graphicData uri="http://schemas.openxmlformats.org/drawingml/2006/table">
            <a:tbl>
              <a:tblPr firstRow="1">
                <a:tableStyleId>{BC89EF96-8CEA-46FF-86C4-4CE0E7609802}</a:tableStyleId>
              </a:tblPr>
              <a:tblGrid>
                <a:gridCol w="1152128">
                  <a:extLst>
                    <a:ext uri="{9D8B030D-6E8A-4147-A177-3AD203B41FA5}">
                      <a16:colId xmlns:a16="http://schemas.microsoft.com/office/drawing/2014/main" val="20000"/>
                    </a:ext>
                  </a:extLst>
                </a:gridCol>
                <a:gridCol w="2157209">
                  <a:extLst>
                    <a:ext uri="{9D8B030D-6E8A-4147-A177-3AD203B41FA5}">
                      <a16:colId xmlns:a16="http://schemas.microsoft.com/office/drawing/2014/main" val="20001"/>
                    </a:ext>
                  </a:extLst>
                </a:gridCol>
                <a:gridCol w="2259612">
                  <a:extLst>
                    <a:ext uri="{9D8B030D-6E8A-4147-A177-3AD203B41FA5}">
                      <a16:colId xmlns:a16="http://schemas.microsoft.com/office/drawing/2014/main" val="20002"/>
                    </a:ext>
                  </a:extLst>
                </a:gridCol>
              </a:tblGrid>
              <a:tr h="403082">
                <a:tc>
                  <a:txBody>
                    <a:bodyPr/>
                    <a:lstStyle/>
                    <a:p>
                      <a:pPr marL="0" marR="0" lvl="0" indent="0" algn="ctr" defTabSz="914400" rtl="0" eaLnBrk="1" fontAlgn="ctr" latinLnBrk="1" hangingPunct="1">
                        <a:lnSpc>
                          <a:spcPct val="100000"/>
                        </a:lnSpc>
                        <a:spcBef>
                          <a:spcPct val="50000"/>
                        </a:spcBef>
                        <a:spcAft>
                          <a:spcPts val="0"/>
                        </a:spcAft>
                        <a:buClrTx/>
                        <a:buSzTx/>
                        <a:buFont typeface="Wingdings" pitchFamily="2" charset="2"/>
                        <a:buNone/>
                        <a:tabLst/>
                      </a:pPr>
                      <a:r>
                        <a:rPr kumimoji="1" lang="ko-KR" altLang="en-US" sz="1400" u="none" strike="noStrike" cap="none" normalizeH="0" baseline="0" dirty="0">
                          <a:ln>
                            <a:noFill/>
                          </a:ln>
                          <a:effectLst/>
                        </a:rPr>
                        <a:t>구분</a:t>
                      </a:r>
                      <a:endParaRPr kumimoji="1" lang="ko-KR" altLang="ko-KR" sz="1400" b="1" i="0" u="none" strike="noStrike" cap="none" normalizeH="0" baseline="0" dirty="0">
                        <a:ln>
                          <a:noFill/>
                        </a:ln>
                        <a:solidFill>
                          <a:schemeClr val="bg1"/>
                        </a:solidFill>
                        <a:effectLst/>
                        <a:latin typeface="Rix모던고딕 L" panose="02020603020101020101" pitchFamily="18" charset="-127"/>
                        <a:ea typeface="Rix모던고딕 L" panose="02020603020101020101" pitchFamily="18" charset="-127"/>
                      </a:endParaRPr>
                    </a:p>
                  </a:txBody>
                  <a:tcPr marL="48000" marR="4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ctr" latinLnBrk="1" hangingPunct="1">
                        <a:lnSpc>
                          <a:spcPct val="100000"/>
                        </a:lnSpc>
                        <a:spcBef>
                          <a:spcPct val="0"/>
                        </a:spcBef>
                        <a:spcAft>
                          <a:spcPts val="0"/>
                        </a:spcAft>
                        <a:buClrTx/>
                        <a:buSzTx/>
                        <a:buFontTx/>
                        <a:buNone/>
                        <a:tabLst/>
                      </a:pPr>
                      <a:r>
                        <a:rPr kumimoji="1" lang="ko-KR" altLang="en-US" sz="1400" u="none" strike="noStrike" cap="none" normalizeH="0" baseline="0" dirty="0">
                          <a:ln>
                            <a:noFill/>
                          </a:ln>
                          <a:effectLst/>
                        </a:rPr>
                        <a:t>출원인</a:t>
                      </a:r>
                      <a:endParaRPr kumimoji="1" lang="ko-KR" altLang="en-US" sz="1400" b="1" i="0" u="none" strike="noStrike" cap="none" normalizeH="0" baseline="0" dirty="0">
                        <a:ln>
                          <a:noFill/>
                        </a:ln>
                        <a:solidFill>
                          <a:schemeClr val="bg1"/>
                        </a:solidFill>
                        <a:effectLst/>
                        <a:latin typeface="Rix모던고딕 L" panose="02020603020101020101" pitchFamily="18" charset="-127"/>
                        <a:ea typeface="Rix모던고딕 L" panose="02020603020101020101" pitchFamily="18" charset="-127"/>
                      </a:endParaRPr>
                    </a:p>
                  </a:txBody>
                  <a:tcPr marL="48000" marR="4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tc>
                  <a:txBody>
                    <a:bodyPr/>
                    <a:lstStyle/>
                    <a:p>
                      <a:pPr marL="0" marR="0" lvl="0" indent="0" algn="ctr" defTabSz="914400" rtl="0" eaLnBrk="1" fontAlgn="ctr" latinLnBrk="1" hangingPunct="1">
                        <a:lnSpc>
                          <a:spcPct val="100000"/>
                        </a:lnSpc>
                        <a:spcBef>
                          <a:spcPct val="0"/>
                        </a:spcBef>
                        <a:spcAft>
                          <a:spcPts val="0"/>
                        </a:spcAft>
                        <a:buClrTx/>
                        <a:buSzTx/>
                        <a:buFontTx/>
                        <a:buNone/>
                        <a:tabLst/>
                      </a:pPr>
                      <a:r>
                        <a:rPr kumimoji="1" lang="ko-KR" altLang="en-US" sz="1400" u="none" strike="noStrike" cap="none" normalizeH="0" baseline="0" dirty="0">
                          <a:ln>
                            <a:noFill/>
                          </a:ln>
                          <a:effectLst/>
                        </a:rPr>
                        <a:t>제</a:t>
                      </a:r>
                      <a:r>
                        <a:rPr kumimoji="1" lang="en-US" altLang="ko-KR" sz="1400" u="none" strike="noStrike" cap="none" normalizeH="0" baseline="0" dirty="0">
                          <a:ln>
                            <a:noFill/>
                          </a:ln>
                          <a:effectLst/>
                        </a:rPr>
                        <a:t>3</a:t>
                      </a:r>
                      <a:r>
                        <a:rPr kumimoji="1" lang="ko-KR" altLang="en-US" sz="1400" u="none" strike="noStrike" cap="none" normalizeH="0" baseline="0" dirty="0">
                          <a:ln>
                            <a:noFill/>
                          </a:ln>
                          <a:effectLst/>
                        </a:rPr>
                        <a:t>자</a:t>
                      </a:r>
                      <a:endParaRPr kumimoji="1" lang="ko-KR" altLang="en-US" sz="1400" b="1" i="0" u="none" strike="noStrike" cap="none" normalizeH="0" baseline="0" dirty="0">
                        <a:ln>
                          <a:noFill/>
                        </a:ln>
                        <a:solidFill>
                          <a:schemeClr val="bg1"/>
                        </a:solidFill>
                        <a:effectLst/>
                        <a:latin typeface="Rix모던고딕 L" panose="02020603020101020101" pitchFamily="18" charset="-127"/>
                        <a:ea typeface="Rix모던고딕 L" panose="02020603020101020101" pitchFamily="18" charset="-127"/>
                      </a:endParaRPr>
                    </a:p>
                  </a:txBody>
                  <a:tcPr marL="48000" marR="4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0000"/>
                  </a:ext>
                </a:extLst>
              </a:tr>
              <a:tr h="403082">
                <a:tc>
                  <a:txBody>
                    <a:bodyPr/>
                    <a:lstStyle/>
                    <a:p>
                      <a:pPr marL="0" marR="0" lvl="0" indent="0" algn="ctr" defTabSz="914400" rtl="0" eaLnBrk="1" fontAlgn="ctr" latinLnBrk="1" hangingPunct="1">
                        <a:lnSpc>
                          <a:spcPct val="100000"/>
                        </a:lnSpc>
                        <a:spcBef>
                          <a:spcPct val="50000"/>
                        </a:spcBef>
                        <a:spcAft>
                          <a:spcPts val="0"/>
                        </a:spcAft>
                        <a:buClrTx/>
                        <a:buSzTx/>
                        <a:buFont typeface="Wingdings" pitchFamily="2" charset="2"/>
                        <a:buNone/>
                        <a:tabLst/>
                      </a:pPr>
                      <a:r>
                        <a:rPr kumimoji="1" lang="ko-KR" altLang="en-US" sz="1400" u="none" strike="noStrike" cap="none" normalizeH="0" baseline="0" dirty="0">
                          <a:ln>
                            <a:noFill/>
                          </a:ln>
                          <a:effectLst/>
                        </a:rPr>
                        <a:t>발명의 설명</a:t>
                      </a:r>
                      <a:endParaRPr kumimoji="1" lang="ko-KR" altLang="en-US" sz="1400" b="1" i="0" u="none" strike="noStrike" cap="none" normalizeH="0" baseline="0" dirty="0">
                        <a:ln>
                          <a:noFill/>
                        </a:ln>
                        <a:solidFill>
                          <a:schemeClr val="bg1"/>
                        </a:solidFill>
                        <a:effectLst/>
                        <a:latin typeface="Rix모던고딕 L" panose="02020603020101020101" pitchFamily="18" charset="-127"/>
                        <a:ea typeface="Rix모던고딕 L" panose="02020603020101020101" pitchFamily="18" charset="-127"/>
                      </a:endParaRPr>
                    </a:p>
                  </a:txBody>
                  <a:tcPr marL="48000" marR="4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ct val="50000"/>
                        </a:spcBef>
                        <a:spcAft>
                          <a:spcPts val="0"/>
                        </a:spcAft>
                        <a:buClrTx/>
                        <a:buSzTx/>
                        <a:buFont typeface="Wingdings" pitchFamily="2" charset="2"/>
                        <a:buNone/>
                        <a:tabLst/>
                      </a:pPr>
                      <a:r>
                        <a:rPr kumimoji="1" lang="ko-KR" altLang="en-US" sz="1400" u="none" strike="noStrike" cap="none" normalizeH="0" baseline="0" dirty="0">
                          <a:ln>
                            <a:noFill/>
                          </a:ln>
                          <a:effectLst/>
                        </a:rPr>
                        <a:t>권리해설서</a:t>
                      </a:r>
                      <a:endParaRPr kumimoji="1" lang="ko-KR" altLang="en-US" sz="1400" b="0" i="0" u="none" strike="noStrike" cap="none" normalizeH="0" baseline="0" dirty="0">
                        <a:ln>
                          <a:noFill/>
                        </a:ln>
                        <a:solidFill>
                          <a:srgbClr val="4D4D4D"/>
                        </a:solidFill>
                        <a:effectLst/>
                        <a:latin typeface="Rix모던고딕 L" panose="02020603020101020101" pitchFamily="18" charset="-127"/>
                        <a:ea typeface="Rix모던고딕 L" panose="02020603020101020101" pitchFamily="18" charset="-127"/>
                      </a:endParaRPr>
                    </a:p>
                  </a:txBody>
                  <a:tcPr marL="48000" marR="4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ctr" latinLnBrk="1" hangingPunct="1">
                        <a:lnSpc>
                          <a:spcPct val="100000"/>
                        </a:lnSpc>
                        <a:spcBef>
                          <a:spcPct val="50000"/>
                        </a:spcBef>
                        <a:spcAft>
                          <a:spcPts val="0"/>
                        </a:spcAft>
                        <a:buClrTx/>
                        <a:buSzTx/>
                        <a:buFont typeface="Wingdings" pitchFamily="2" charset="2"/>
                        <a:buNone/>
                        <a:tabLst/>
                      </a:pPr>
                      <a:r>
                        <a:rPr kumimoji="1" lang="ko-KR" altLang="en-US" sz="1400" b="1" u="none" strike="noStrike" cap="none" normalizeH="0" baseline="0" dirty="0">
                          <a:ln>
                            <a:noFill/>
                          </a:ln>
                          <a:solidFill>
                            <a:srgbClr val="FF0000"/>
                          </a:solidFill>
                          <a:effectLst/>
                        </a:rPr>
                        <a:t>기술문헌</a:t>
                      </a:r>
                      <a:endParaRPr kumimoji="1" lang="ko-KR" altLang="en-US" sz="1400" b="1" i="0" u="none" strike="noStrike" cap="none" normalizeH="0" baseline="0" dirty="0">
                        <a:ln>
                          <a:noFill/>
                        </a:ln>
                        <a:solidFill>
                          <a:srgbClr val="FF0000"/>
                        </a:solidFill>
                        <a:effectLst/>
                        <a:latin typeface="Rix모던고딕 L" panose="02020603020101020101" pitchFamily="18" charset="-127"/>
                        <a:ea typeface="Rix모던고딕 L" panose="02020603020101020101" pitchFamily="18" charset="-127"/>
                      </a:endParaRPr>
                    </a:p>
                  </a:txBody>
                  <a:tcPr marL="48000" marR="4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1209244">
                <a:tc>
                  <a:txBody>
                    <a:bodyPr/>
                    <a:lstStyle/>
                    <a:p>
                      <a:pPr marL="0" marR="0" lvl="0" indent="0" algn="ctr" defTabSz="914400" rtl="0" eaLnBrk="1" fontAlgn="ctr" latinLnBrk="1" hangingPunct="1">
                        <a:lnSpc>
                          <a:spcPct val="100000"/>
                        </a:lnSpc>
                        <a:spcBef>
                          <a:spcPct val="50000"/>
                        </a:spcBef>
                        <a:spcAft>
                          <a:spcPts val="0"/>
                        </a:spcAft>
                        <a:buClrTx/>
                        <a:buSzTx/>
                        <a:buFont typeface="Wingdings" pitchFamily="2" charset="2"/>
                        <a:buNone/>
                        <a:tabLst/>
                      </a:pPr>
                      <a:r>
                        <a:rPr kumimoji="1" lang="ko-KR" altLang="en-US" sz="1400" u="none" strike="noStrike" cap="none" normalizeH="0" baseline="0" dirty="0">
                          <a:ln>
                            <a:noFill/>
                          </a:ln>
                          <a:effectLst/>
                        </a:rPr>
                        <a:t>청구범위</a:t>
                      </a:r>
                      <a:endParaRPr kumimoji="1" lang="ko-KR" altLang="en-US" sz="1400" b="1" i="0" u="none" strike="noStrike" cap="none" normalizeH="0" baseline="0" dirty="0">
                        <a:ln>
                          <a:noFill/>
                        </a:ln>
                        <a:solidFill>
                          <a:schemeClr val="bg1"/>
                        </a:solidFill>
                        <a:effectLst/>
                        <a:latin typeface="Rix모던고딕 L" panose="02020603020101020101" pitchFamily="18" charset="-127"/>
                        <a:ea typeface="Rix모던고딕 L" panose="02020603020101020101" pitchFamily="18" charset="-127"/>
                      </a:endParaRPr>
                    </a:p>
                  </a:txBody>
                  <a:tcPr marL="48000" marR="4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ctr" defTabSz="914400" rtl="0" eaLnBrk="1" fontAlgn="ctr" latinLnBrk="1" hangingPunct="1">
                        <a:lnSpc>
                          <a:spcPct val="100000"/>
                        </a:lnSpc>
                        <a:spcBef>
                          <a:spcPct val="0"/>
                        </a:spcBef>
                        <a:spcAft>
                          <a:spcPts val="0"/>
                        </a:spcAft>
                        <a:buClrTx/>
                        <a:buSzTx/>
                        <a:buFontTx/>
                        <a:buNone/>
                        <a:tabLst/>
                      </a:pPr>
                      <a:r>
                        <a:rPr kumimoji="1" lang="ko-KR" altLang="en-US" sz="1400" u="none" strike="noStrike" cap="none" normalizeH="0" baseline="0" dirty="0" err="1">
                          <a:ln>
                            <a:noFill/>
                          </a:ln>
                          <a:effectLst/>
                        </a:rPr>
                        <a:t>등록전</a:t>
                      </a:r>
                      <a:r>
                        <a:rPr kumimoji="1" lang="en-US" altLang="ko-KR" sz="1400" u="none" strike="noStrike" cap="none" normalizeH="0" baseline="0" dirty="0">
                          <a:ln>
                            <a:noFill/>
                          </a:ln>
                          <a:effectLst/>
                        </a:rPr>
                        <a:t>: </a:t>
                      </a:r>
                      <a:r>
                        <a:rPr kumimoji="1" lang="ko-KR" altLang="en-US" sz="1400" u="none" strike="noStrike" cap="none" normalizeH="0" baseline="0" dirty="0">
                          <a:ln>
                            <a:noFill/>
                          </a:ln>
                          <a:effectLst/>
                        </a:rPr>
                        <a:t>권리요구서</a:t>
                      </a:r>
                      <a:endParaRPr kumimoji="1" lang="en-US" altLang="ko-KR" sz="1400" u="none" strike="noStrike" cap="none" normalizeH="0" baseline="0" dirty="0">
                        <a:ln>
                          <a:noFill/>
                        </a:ln>
                        <a:effectLst/>
                      </a:endParaRPr>
                    </a:p>
                    <a:p>
                      <a:pPr marL="0" marR="0" lvl="0" indent="0" algn="ctr" defTabSz="914400" rtl="0" eaLnBrk="1" fontAlgn="ctr" latinLnBrk="1" hangingPunct="1">
                        <a:lnSpc>
                          <a:spcPct val="100000"/>
                        </a:lnSpc>
                        <a:spcBef>
                          <a:spcPct val="0"/>
                        </a:spcBef>
                        <a:spcAft>
                          <a:spcPts val="0"/>
                        </a:spcAft>
                        <a:buClrTx/>
                        <a:buSzTx/>
                        <a:buFontTx/>
                        <a:buNone/>
                        <a:tabLst/>
                      </a:pPr>
                      <a:r>
                        <a:rPr kumimoji="1" lang="ko-KR" altLang="en-US" sz="1400" b="1" u="none" strike="noStrike" cap="none" normalizeH="0" baseline="0" dirty="0" err="1">
                          <a:ln>
                            <a:noFill/>
                          </a:ln>
                          <a:solidFill>
                            <a:srgbClr val="FF0000"/>
                          </a:solidFill>
                          <a:effectLst/>
                        </a:rPr>
                        <a:t>등록후</a:t>
                      </a:r>
                      <a:r>
                        <a:rPr kumimoji="1" lang="en-US" altLang="ko-KR" sz="1400" b="1" u="none" strike="noStrike" cap="none" normalizeH="0" baseline="0" dirty="0">
                          <a:ln>
                            <a:noFill/>
                          </a:ln>
                          <a:solidFill>
                            <a:srgbClr val="FF0000"/>
                          </a:solidFill>
                          <a:effectLst/>
                        </a:rPr>
                        <a:t>: </a:t>
                      </a:r>
                      <a:r>
                        <a:rPr kumimoji="1" lang="ko-KR" altLang="en-US" sz="1400" b="1" u="none" strike="noStrike" cap="none" normalizeH="0" baseline="0" dirty="0">
                          <a:ln>
                            <a:noFill/>
                          </a:ln>
                          <a:solidFill>
                            <a:srgbClr val="FF0000"/>
                          </a:solidFill>
                          <a:effectLst/>
                        </a:rPr>
                        <a:t>권리서</a:t>
                      </a:r>
                      <a:endParaRPr kumimoji="1" lang="ko-KR" altLang="en-US" sz="1400" b="1" i="0" u="none" strike="noStrike" cap="none" normalizeH="0" baseline="0" dirty="0">
                        <a:ln>
                          <a:noFill/>
                        </a:ln>
                        <a:solidFill>
                          <a:srgbClr val="FF0000"/>
                        </a:solidFill>
                        <a:effectLst/>
                        <a:latin typeface="Rix모던고딕 L" panose="02020603020101020101" pitchFamily="18" charset="-127"/>
                        <a:ea typeface="Rix모던고딕 L" panose="02020603020101020101" pitchFamily="18" charset="-127"/>
                      </a:endParaRPr>
                    </a:p>
                  </a:txBody>
                  <a:tcPr marL="48000" marR="4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85000"/>
                      </a:schemeClr>
                    </a:solidFill>
                  </a:tcPr>
                </a:tc>
                <a:tc>
                  <a:txBody>
                    <a:bodyPr/>
                    <a:lstStyle/>
                    <a:p>
                      <a:pPr marL="0" marR="0" lvl="0" indent="0" algn="ctr" defTabSz="914400" rtl="0" eaLnBrk="1" fontAlgn="ctr" latinLnBrk="1" hangingPunct="1">
                        <a:lnSpc>
                          <a:spcPct val="100000"/>
                        </a:lnSpc>
                        <a:spcBef>
                          <a:spcPct val="0"/>
                        </a:spcBef>
                        <a:spcAft>
                          <a:spcPts val="0"/>
                        </a:spcAft>
                        <a:buClrTx/>
                        <a:buSzTx/>
                        <a:buFontTx/>
                        <a:buNone/>
                        <a:tabLst/>
                      </a:pPr>
                      <a:r>
                        <a:rPr kumimoji="1" lang="ko-KR" altLang="en-US" sz="1400" u="none" strike="noStrike" cap="none" normalizeH="0" baseline="0" dirty="0">
                          <a:ln>
                            <a:noFill/>
                          </a:ln>
                          <a:effectLst/>
                        </a:rPr>
                        <a:t>공공영역</a:t>
                      </a:r>
                      <a:r>
                        <a:rPr kumimoji="1" lang="en-US" altLang="ko-KR" sz="1400" u="none" strike="noStrike" cap="none" normalizeH="0" baseline="0" dirty="0">
                          <a:ln>
                            <a:noFill/>
                          </a:ln>
                          <a:effectLst/>
                        </a:rPr>
                        <a:t>(C)</a:t>
                      </a:r>
                      <a:r>
                        <a:rPr kumimoji="1" lang="ko-KR" altLang="en-US" sz="1400" u="none" strike="noStrike" cap="none" normalizeH="0" baseline="0" dirty="0">
                          <a:ln>
                            <a:noFill/>
                          </a:ln>
                          <a:effectLst/>
                        </a:rPr>
                        <a:t>과 </a:t>
                      </a:r>
                      <a:endParaRPr kumimoji="1" lang="en-US" altLang="ko-KR" sz="1400" u="none" strike="noStrike" cap="none" normalizeH="0" baseline="0" dirty="0">
                        <a:ln>
                          <a:noFill/>
                        </a:ln>
                        <a:effectLst/>
                      </a:endParaRPr>
                    </a:p>
                    <a:p>
                      <a:pPr marL="0" marR="0" lvl="0" indent="0" algn="ctr" defTabSz="914400" rtl="0" eaLnBrk="1" fontAlgn="ctr" latinLnBrk="1" hangingPunct="1">
                        <a:lnSpc>
                          <a:spcPct val="100000"/>
                        </a:lnSpc>
                        <a:spcBef>
                          <a:spcPct val="0"/>
                        </a:spcBef>
                        <a:spcAft>
                          <a:spcPts val="0"/>
                        </a:spcAft>
                        <a:buClrTx/>
                        <a:buSzTx/>
                        <a:buFontTx/>
                        <a:buNone/>
                        <a:tabLst/>
                      </a:pPr>
                      <a:r>
                        <a:rPr kumimoji="1" lang="ko-KR" altLang="en-US" sz="1400" u="none" strike="noStrike" cap="none" normalizeH="0" baseline="0" dirty="0">
                          <a:ln>
                            <a:noFill/>
                          </a:ln>
                          <a:effectLst/>
                        </a:rPr>
                        <a:t>권리범위</a:t>
                      </a:r>
                      <a:r>
                        <a:rPr kumimoji="1" lang="en-US" altLang="ko-KR" sz="1400" u="none" strike="noStrike" cap="none" normalizeH="0" baseline="0" dirty="0">
                          <a:ln>
                            <a:noFill/>
                          </a:ln>
                          <a:effectLst/>
                        </a:rPr>
                        <a:t>(A, B)</a:t>
                      </a:r>
                      <a:r>
                        <a:rPr kumimoji="1" lang="ko-KR" altLang="en-US" sz="1400" u="none" strike="noStrike" cap="none" normalizeH="0" baseline="0" dirty="0">
                          <a:ln>
                            <a:noFill/>
                          </a:ln>
                          <a:effectLst/>
                        </a:rPr>
                        <a:t>의 한계 특정 </a:t>
                      </a:r>
                      <a:endParaRPr kumimoji="1" lang="en-US" altLang="ko-KR" sz="1400" u="none" strike="noStrike" cap="none" normalizeH="0" baseline="0" dirty="0">
                        <a:ln>
                          <a:noFill/>
                        </a:ln>
                        <a:effectLst/>
                      </a:endParaRPr>
                    </a:p>
                    <a:p>
                      <a:pPr marL="0" marR="0" lvl="0" indent="0" algn="ctr" defTabSz="914400" rtl="0" eaLnBrk="1" fontAlgn="ctr" latinLnBrk="1" hangingPunct="1">
                        <a:lnSpc>
                          <a:spcPct val="100000"/>
                        </a:lnSpc>
                        <a:spcBef>
                          <a:spcPct val="0"/>
                        </a:spcBef>
                        <a:spcAft>
                          <a:spcPts val="0"/>
                        </a:spcAft>
                        <a:buClrTx/>
                        <a:buSzTx/>
                        <a:buFontTx/>
                        <a:buNone/>
                        <a:tabLst/>
                      </a:pPr>
                      <a:r>
                        <a:rPr kumimoji="1" lang="en-US" altLang="ko-KR" sz="1400" u="none" strike="noStrike" cap="none" normalizeH="0" baseline="0" dirty="0">
                          <a:ln>
                            <a:noFill/>
                          </a:ln>
                          <a:effectLst/>
                        </a:rPr>
                        <a:t>(</a:t>
                      </a:r>
                      <a:r>
                        <a:rPr kumimoji="1" lang="ko-KR" altLang="en-US" sz="1400" u="none" strike="noStrike" cap="none" normalizeH="0" baseline="0" dirty="0">
                          <a:ln>
                            <a:noFill/>
                          </a:ln>
                          <a:effectLst/>
                        </a:rPr>
                        <a:t>울타리 이론</a:t>
                      </a:r>
                      <a:r>
                        <a:rPr kumimoji="1" lang="en-US" altLang="ko-KR" sz="1400" u="none" strike="noStrike" cap="none" normalizeH="0" baseline="0" dirty="0">
                          <a:ln>
                            <a:noFill/>
                          </a:ln>
                          <a:effectLst/>
                        </a:rPr>
                        <a:t>)</a:t>
                      </a:r>
                      <a:endParaRPr kumimoji="1" lang="en-US" altLang="ko-KR" sz="1400" b="0" i="0" u="none" strike="noStrike" cap="none" normalizeH="0" baseline="0" dirty="0">
                        <a:ln>
                          <a:noFill/>
                        </a:ln>
                        <a:solidFill>
                          <a:srgbClr val="4D4D4D"/>
                        </a:solidFill>
                        <a:effectLst/>
                        <a:latin typeface="Rix모던고딕 L" panose="02020603020101020101" pitchFamily="18" charset="-127"/>
                        <a:ea typeface="Rix모던고딕 L" panose="02020603020101020101" pitchFamily="18" charset="-127"/>
                      </a:endParaRPr>
                    </a:p>
                  </a:txBody>
                  <a:tcPr marL="48000" marR="48000" marT="0" marB="0"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71" name="TextBox 70">
            <a:extLst>
              <a:ext uri="{FF2B5EF4-FFF2-40B4-BE49-F238E27FC236}">
                <a16:creationId xmlns:a16="http://schemas.microsoft.com/office/drawing/2014/main" id="{A8FA2AED-C529-1603-B69B-64A82047BBB3}"/>
              </a:ext>
            </a:extLst>
          </p:cNvPr>
          <p:cNvSpPr txBox="1"/>
          <p:nvPr/>
        </p:nvSpPr>
        <p:spPr>
          <a:xfrm>
            <a:off x="298020" y="6324600"/>
            <a:ext cx="11627279" cy="276999"/>
          </a:xfrm>
          <a:prstGeom prst="rect">
            <a:avLst/>
          </a:prstGeom>
          <a:noFill/>
        </p:spPr>
        <p:txBody>
          <a:bodyPr wrap="square" rtlCol="0">
            <a:spAutoFit/>
          </a:bodyPr>
          <a:lstStyle/>
          <a:p>
            <a:pPr marL="180975" indent="-180975"/>
            <a:r>
              <a:rPr lang="en-US" altLang="ko-KR" sz="1200" dirty="0"/>
              <a:t>* </a:t>
            </a:r>
            <a:r>
              <a:rPr lang="ko-KR" altLang="en-US" sz="1200" dirty="0"/>
              <a:t>심사관은 청구범위의 </a:t>
            </a:r>
            <a:r>
              <a:rPr lang="ko-KR" altLang="en-US" sz="1200" dirty="0" err="1"/>
              <a:t>청구항별로</a:t>
            </a:r>
            <a:r>
              <a:rPr lang="ko-KR" altLang="en-US" sz="1200" dirty="0"/>
              <a:t> 거절이유를 판단하지만</a:t>
            </a:r>
            <a:r>
              <a:rPr lang="en-US" altLang="ko-KR" sz="1200" dirty="0"/>
              <a:t>, </a:t>
            </a:r>
            <a:r>
              <a:rPr lang="ko-KR" altLang="en-US" sz="1200" dirty="0"/>
              <a:t>하나의 </a:t>
            </a:r>
            <a:r>
              <a:rPr lang="ko-KR" altLang="en-US" sz="1200" dirty="0" err="1"/>
              <a:t>청구항이라도</a:t>
            </a:r>
            <a:r>
              <a:rPr lang="ko-KR" altLang="en-US" sz="1200" dirty="0"/>
              <a:t> 거절이유가 있으면 출원 전체를 거절결정하며</a:t>
            </a:r>
            <a:r>
              <a:rPr lang="en-US" altLang="ko-KR" sz="1200" dirty="0"/>
              <a:t>, </a:t>
            </a:r>
            <a:r>
              <a:rPr lang="ko-KR" altLang="en-US" sz="1200" dirty="0"/>
              <a:t>이를 출원일체의 원칙</a:t>
            </a:r>
            <a:r>
              <a:rPr lang="en-US" altLang="ko-KR" sz="1200" dirty="0"/>
              <a:t>(All or Nothing Rule)</a:t>
            </a:r>
            <a:r>
              <a:rPr lang="ko-KR" altLang="en-US" sz="1200" dirty="0"/>
              <a:t>이라고 한다</a:t>
            </a:r>
            <a:r>
              <a:rPr lang="en-US" altLang="ko-KR" sz="1200" dirty="0"/>
              <a:t>.</a:t>
            </a:r>
            <a:endParaRPr lang="ko-KR" altLang="en-US" sz="1200" dirty="0"/>
          </a:p>
        </p:txBody>
      </p:sp>
      <p:sp>
        <p:nvSpPr>
          <p:cNvPr id="72" name="직사각형 2">
            <a:extLst>
              <a:ext uri="{FF2B5EF4-FFF2-40B4-BE49-F238E27FC236}">
                <a16:creationId xmlns:a16="http://schemas.microsoft.com/office/drawing/2014/main" id="{33339EA8-27D5-0A9A-6D11-CF7106005833}"/>
              </a:ext>
            </a:extLst>
          </p:cNvPr>
          <p:cNvSpPr>
            <a:spLocks noChangeArrowheads="1"/>
          </p:cNvSpPr>
          <p:nvPr/>
        </p:nvSpPr>
        <p:spPr bwMode="auto">
          <a:xfrm>
            <a:off x="7151787" y="1556075"/>
            <a:ext cx="3744384" cy="287338"/>
          </a:xfrm>
          <a:prstGeom prst="rect">
            <a:avLst/>
          </a:prstGeom>
          <a:solidFill>
            <a:schemeClr val="bg1"/>
          </a:solidFill>
          <a:ln>
            <a:noFill/>
          </a:ln>
          <a:extLst>
            <a:ext uri="{91240B29-F687-4F45-9708-019B960494DF}">
              <a14:hiddenLine xmlns:a14="http://schemas.microsoft.com/office/drawing/2010/main" w="28575" algn="ctr">
                <a:solidFill>
                  <a:srgbClr val="000000"/>
                </a:solidFill>
                <a:round/>
                <a:headEnd/>
                <a:tailEnd/>
              </a14:hiddenLine>
            </a:ext>
          </a:extLst>
        </p:spPr>
        <p:txBody>
          <a:bodyPr lIns="90000" tIns="46800" rIns="90000" bIns="46800"/>
          <a:lstStyle/>
          <a:p>
            <a:r>
              <a:rPr lang="en-US" altLang="ko-KR" sz="1400" b="0" dirty="0">
                <a:solidFill>
                  <a:schemeClr val="accent6">
                    <a:lumMod val="50000"/>
                  </a:schemeClr>
                </a:solidFill>
                <a:latin typeface="+mn-ea"/>
              </a:rPr>
              <a:t>【</a:t>
            </a:r>
            <a:r>
              <a:rPr lang="ko-KR" altLang="en-US" sz="1400" b="0" dirty="0">
                <a:solidFill>
                  <a:schemeClr val="accent6">
                    <a:lumMod val="50000"/>
                  </a:schemeClr>
                </a:solidFill>
                <a:latin typeface="+mn-ea"/>
              </a:rPr>
              <a:t>발명의 </a:t>
            </a:r>
            <a:r>
              <a:rPr lang="ko-KR" altLang="en-US" sz="1400" dirty="0">
                <a:solidFill>
                  <a:schemeClr val="accent6">
                    <a:lumMod val="50000"/>
                  </a:schemeClr>
                </a:solidFill>
                <a:latin typeface="+mn-ea"/>
              </a:rPr>
              <a:t>설명</a:t>
            </a:r>
            <a:r>
              <a:rPr lang="en-US" altLang="ko-KR" sz="1400" b="0" dirty="0">
                <a:solidFill>
                  <a:schemeClr val="accent6">
                    <a:lumMod val="50000"/>
                  </a:schemeClr>
                </a:solidFill>
                <a:latin typeface="+mn-ea"/>
              </a:rPr>
              <a:t>】</a:t>
            </a:r>
          </a:p>
        </p:txBody>
      </p:sp>
      <p:sp>
        <p:nvSpPr>
          <p:cNvPr id="73" name="직사각형 72">
            <a:extLst>
              <a:ext uri="{FF2B5EF4-FFF2-40B4-BE49-F238E27FC236}">
                <a16:creationId xmlns:a16="http://schemas.microsoft.com/office/drawing/2014/main" id="{6B37B208-B874-F9E1-FFC7-3F16E72591C5}"/>
              </a:ext>
            </a:extLst>
          </p:cNvPr>
          <p:cNvSpPr/>
          <p:nvPr/>
        </p:nvSpPr>
        <p:spPr>
          <a:xfrm>
            <a:off x="7384826" y="2403367"/>
            <a:ext cx="3112845" cy="92179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4" name="직사각형 73">
            <a:extLst>
              <a:ext uri="{FF2B5EF4-FFF2-40B4-BE49-F238E27FC236}">
                <a16:creationId xmlns:a16="http://schemas.microsoft.com/office/drawing/2014/main" id="{BA7C863F-E099-8CAF-6922-4BE89441448C}"/>
              </a:ext>
            </a:extLst>
          </p:cNvPr>
          <p:cNvSpPr/>
          <p:nvPr/>
        </p:nvSpPr>
        <p:spPr bwMode="auto">
          <a:xfrm>
            <a:off x="9253008" y="2099585"/>
            <a:ext cx="1244663" cy="287338"/>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ko-KR" altLang="en-US" sz="1400" b="0" dirty="0">
                <a:solidFill>
                  <a:srgbClr val="FF0000"/>
                </a:solidFill>
                <a:latin typeface="+mn-ea"/>
              </a:rPr>
              <a:t>발명의 동기</a:t>
            </a:r>
            <a:endParaRPr lang="en-US" altLang="ko-KR" sz="1400" b="0" dirty="0">
              <a:solidFill>
                <a:srgbClr val="FF0000"/>
              </a:solidFill>
              <a:latin typeface="+mn-ea"/>
            </a:endParaRPr>
          </a:p>
        </p:txBody>
      </p:sp>
      <p:sp>
        <p:nvSpPr>
          <p:cNvPr id="5" name="직사각형 4">
            <a:extLst>
              <a:ext uri="{FF2B5EF4-FFF2-40B4-BE49-F238E27FC236}">
                <a16:creationId xmlns:a16="http://schemas.microsoft.com/office/drawing/2014/main" id="{49E9160D-0BF2-24CD-2A83-A6E794EB7786}"/>
              </a:ext>
            </a:extLst>
          </p:cNvPr>
          <p:cNvSpPr/>
          <p:nvPr/>
        </p:nvSpPr>
        <p:spPr bwMode="auto">
          <a:xfrm>
            <a:off x="7672692" y="5014799"/>
            <a:ext cx="3744384" cy="288925"/>
          </a:xfrm>
          <a:prstGeom prst="rect">
            <a:avLst/>
          </a:prstGeom>
          <a:solidFill>
            <a:schemeClr val="bg1"/>
          </a:solidFill>
          <a:ln w="28575" cap="flat" cmpd="sng" algn="ctr">
            <a:noFill/>
            <a:prstDash val="solid"/>
            <a:round/>
            <a:headEnd type="none" w="med" len="med"/>
            <a:tailEnd type="none" w="med" len="med"/>
          </a:ln>
          <a:effectLst/>
        </p:spPr>
        <p:txBody>
          <a:bodyPr lIns="90000" tIns="46800" rIns="90000" bIns="46800"/>
          <a:lstStyle/>
          <a:p>
            <a:pPr>
              <a:defRPr/>
            </a:pPr>
            <a:r>
              <a:rPr lang="en-US" altLang="ko-KR" sz="1400" b="0" dirty="0">
                <a:solidFill>
                  <a:schemeClr val="accent6">
                    <a:lumMod val="50000"/>
                  </a:schemeClr>
                </a:solidFill>
                <a:latin typeface="+mn-ea"/>
              </a:rPr>
              <a:t>【</a:t>
            </a:r>
            <a:r>
              <a:rPr lang="ko-KR" altLang="en-US" sz="1400" b="0" dirty="0">
                <a:solidFill>
                  <a:schemeClr val="accent6">
                    <a:lumMod val="50000"/>
                  </a:schemeClr>
                </a:solidFill>
                <a:latin typeface="+mn-ea"/>
              </a:rPr>
              <a:t>실시예 </a:t>
            </a:r>
            <a:r>
              <a:rPr lang="en-US" altLang="ko-KR" sz="1400" dirty="0">
                <a:solidFill>
                  <a:schemeClr val="accent6">
                    <a:lumMod val="50000"/>
                  </a:schemeClr>
                </a:solidFill>
                <a:latin typeface="+mn-ea"/>
              </a:rPr>
              <a:t>3</a:t>
            </a:r>
            <a:r>
              <a:rPr lang="en-US" altLang="ko-KR" sz="1400" b="0" dirty="0">
                <a:solidFill>
                  <a:schemeClr val="accent6">
                    <a:lumMod val="50000"/>
                  </a:schemeClr>
                </a:solidFill>
                <a:latin typeface="+mn-ea"/>
              </a:rPr>
              <a:t>】x, y, z, w</a:t>
            </a:r>
            <a:r>
              <a:rPr lang="ko-KR" altLang="en-US" sz="1400" b="0" dirty="0">
                <a:solidFill>
                  <a:schemeClr val="accent6">
                    <a:lumMod val="50000"/>
                  </a:schemeClr>
                </a:solidFill>
                <a:latin typeface="+mn-ea"/>
              </a:rPr>
              <a:t>를 포함하는 발명</a:t>
            </a:r>
            <a:endParaRPr lang="en-US" altLang="ko-KR" sz="1400" b="0" dirty="0">
              <a:solidFill>
                <a:schemeClr val="accent6">
                  <a:lumMod val="50000"/>
                </a:schemeClr>
              </a:solidFill>
              <a:latin typeface="+mn-ea"/>
            </a:endParaRPr>
          </a:p>
        </p:txBody>
      </p:sp>
      <p:sp>
        <p:nvSpPr>
          <p:cNvPr id="6" name="말풍선: 모서리가 둥근 사각형 5">
            <a:extLst>
              <a:ext uri="{FF2B5EF4-FFF2-40B4-BE49-F238E27FC236}">
                <a16:creationId xmlns:a16="http://schemas.microsoft.com/office/drawing/2014/main" id="{D79526F6-2442-9FEC-A1DA-F24DEC86DD4A}"/>
              </a:ext>
            </a:extLst>
          </p:cNvPr>
          <p:cNvSpPr/>
          <p:nvPr/>
        </p:nvSpPr>
        <p:spPr>
          <a:xfrm>
            <a:off x="10583853" y="4487332"/>
            <a:ext cx="739318" cy="216045"/>
          </a:xfrm>
          <a:prstGeom prst="wedgeRoundRectCallout">
            <a:avLst>
              <a:gd name="adj1" fmla="val -82445"/>
              <a:gd name="adj2" fmla="val -325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t>A</a:t>
            </a:r>
            <a:r>
              <a:rPr lang="ko-KR" altLang="en-US" sz="1200" dirty="0"/>
              <a:t>발명</a:t>
            </a:r>
          </a:p>
        </p:txBody>
      </p:sp>
      <p:sp>
        <p:nvSpPr>
          <p:cNvPr id="7" name="말풍선: 모서리가 둥근 사각형 6">
            <a:extLst>
              <a:ext uri="{FF2B5EF4-FFF2-40B4-BE49-F238E27FC236}">
                <a16:creationId xmlns:a16="http://schemas.microsoft.com/office/drawing/2014/main" id="{2D84AD0E-C0A0-E35E-74A1-DBDDC276682D}"/>
              </a:ext>
            </a:extLst>
          </p:cNvPr>
          <p:cNvSpPr/>
          <p:nvPr/>
        </p:nvSpPr>
        <p:spPr>
          <a:xfrm>
            <a:off x="10682165" y="4804222"/>
            <a:ext cx="739318" cy="216045"/>
          </a:xfrm>
          <a:prstGeom prst="wedgeRoundRectCallout">
            <a:avLst>
              <a:gd name="adj1" fmla="val -82445"/>
              <a:gd name="adj2" fmla="val -325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t>B</a:t>
            </a:r>
            <a:r>
              <a:rPr lang="ko-KR" altLang="en-US" sz="1200" dirty="0"/>
              <a:t>발명</a:t>
            </a:r>
          </a:p>
        </p:txBody>
      </p:sp>
      <p:sp>
        <p:nvSpPr>
          <p:cNvPr id="8" name="말풍선: 모서리가 둥근 사각형 7">
            <a:extLst>
              <a:ext uri="{FF2B5EF4-FFF2-40B4-BE49-F238E27FC236}">
                <a16:creationId xmlns:a16="http://schemas.microsoft.com/office/drawing/2014/main" id="{B1140AC5-8CAE-3C0C-D14C-58383B7C03AB}"/>
              </a:ext>
            </a:extLst>
          </p:cNvPr>
          <p:cNvSpPr/>
          <p:nvPr/>
        </p:nvSpPr>
        <p:spPr>
          <a:xfrm>
            <a:off x="10932169" y="5128785"/>
            <a:ext cx="739318" cy="216045"/>
          </a:xfrm>
          <a:prstGeom prst="wedgeRoundRectCallout">
            <a:avLst>
              <a:gd name="adj1" fmla="val -82445"/>
              <a:gd name="adj2" fmla="val -3255"/>
              <a:gd name="adj3" fmla="val 16667"/>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200" dirty="0"/>
              <a:t>C</a:t>
            </a:r>
            <a:r>
              <a:rPr lang="ko-KR" altLang="en-US" sz="1200" dirty="0"/>
              <a:t>발명</a:t>
            </a:r>
          </a:p>
        </p:txBody>
      </p:sp>
    </p:spTree>
    <p:extLst>
      <p:ext uri="{BB962C8B-B14F-4D97-AF65-F5344CB8AC3E}">
        <p14:creationId xmlns:p14="http://schemas.microsoft.com/office/powerpoint/2010/main" val="756145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2</a:t>
            </a:r>
            <a:r>
              <a:rPr lang="ko-KR" altLang="en-US" dirty="0"/>
              <a:t>조</a:t>
            </a:r>
          </a:p>
        </p:txBody>
      </p:sp>
      <p:sp>
        <p:nvSpPr>
          <p:cNvPr id="4" name="텍스트 개체 틀 3"/>
          <p:cNvSpPr>
            <a:spLocks noGrp="1"/>
          </p:cNvSpPr>
          <p:nvPr>
            <p:ph type="body" sz="quarter" idx="13"/>
          </p:nvPr>
        </p:nvSpPr>
        <p:spPr/>
        <p:txBody>
          <a:bodyPr/>
          <a:lstStyle/>
          <a:p>
            <a:r>
              <a:rPr lang="ko-KR" altLang="en-US" dirty="0"/>
              <a:t>발명의 성립성과 관련된 </a:t>
            </a:r>
            <a:r>
              <a:rPr lang="en-US" altLang="ko-KR" dirty="0"/>
              <a:t>CASE</a:t>
            </a:r>
            <a:endParaRPr lang="ko-KR" altLang="en-US" dirty="0"/>
          </a:p>
        </p:txBody>
      </p:sp>
      <p:sp>
        <p:nvSpPr>
          <p:cNvPr id="2" name="슬라이드 번호 개체 틀 1"/>
          <p:cNvSpPr>
            <a:spLocks noGrp="1"/>
          </p:cNvSpPr>
          <p:nvPr>
            <p:ph type="sldNum" sz="quarter" idx="4294967295"/>
          </p:nvPr>
        </p:nvSpPr>
        <p:spPr>
          <a:xfrm>
            <a:off x="11129963" y="0"/>
            <a:ext cx="1062037" cy="733425"/>
          </a:xfrm>
        </p:spPr>
        <p:txBody>
          <a:bodyPr/>
          <a:lstStyle/>
          <a:p>
            <a:fld id="{3875FC6C-1516-4DC4-8C58-3090F7D4F003}" type="slidenum">
              <a:rPr lang="ko-KR" altLang="en-US" smtClean="0"/>
              <a:t>13</a:t>
            </a:fld>
            <a:endParaRPr lang="ko-KR" altLang="en-US"/>
          </a:p>
        </p:txBody>
      </p:sp>
      <p:sp>
        <p:nvSpPr>
          <p:cNvPr id="31" name="TextBox 30">
            <a:extLst>
              <a:ext uri="{FF2B5EF4-FFF2-40B4-BE49-F238E27FC236}">
                <a16:creationId xmlns:a16="http://schemas.microsoft.com/office/drawing/2014/main" id="{AA5C7073-BEB0-49CC-943A-AD3268F823F6}"/>
              </a:ext>
            </a:extLst>
          </p:cNvPr>
          <p:cNvSpPr txBox="1"/>
          <p:nvPr/>
        </p:nvSpPr>
        <p:spPr>
          <a:xfrm>
            <a:off x="384792" y="2986614"/>
            <a:ext cx="2652322" cy="3370643"/>
          </a:xfrm>
          <a:prstGeom prst="rect">
            <a:avLst/>
          </a:prstGeom>
          <a:solidFill>
            <a:schemeClr val="accent3">
              <a:lumMod val="20000"/>
              <a:lumOff val="80000"/>
            </a:schemeClr>
          </a:solidFill>
          <a:ln>
            <a:solidFill>
              <a:schemeClr val="bg1">
                <a:lumMod val="50000"/>
              </a:schemeClr>
            </a:solidFill>
          </a:ln>
        </p:spPr>
        <p:txBody>
          <a:bodyPr wrap="square" rtlCol="0" anchor="t">
            <a:noAutofit/>
          </a:bodyPr>
          <a:lstStyle/>
          <a:p>
            <a:pPr algn="just"/>
            <a:r>
              <a:rPr lang="ko-KR" altLang="en-US" sz="1400" dirty="0"/>
              <a:t>마법천자문 사건</a:t>
            </a:r>
            <a:r>
              <a:rPr lang="en-US" altLang="ko-KR" sz="1400" dirty="0"/>
              <a:t>(2009</a:t>
            </a:r>
            <a:r>
              <a:rPr lang="ko-KR" altLang="en-US" sz="1400" dirty="0"/>
              <a:t>허</a:t>
            </a:r>
            <a:r>
              <a:rPr lang="en-US" altLang="ko-KR" sz="1400" dirty="0"/>
              <a:t>351)</a:t>
            </a:r>
          </a:p>
          <a:p>
            <a:pPr algn="just"/>
            <a:endParaRPr lang="en-US" altLang="ko-KR" sz="1400" dirty="0"/>
          </a:p>
          <a:p>
            <a:pPr algn="just"/>
            <a:r>
              <a:rPr lang="ko-KR" altLang="en-US" sz="1100" dirty="0"/>
              <a:t>특허발명은 학습만화에 관한 것으로 그 기술분야는 만화 및 애니메이션 산업분야라 할 것이므로</a:t>
            </a:r>
            <a:r>
              <a:rPr lang="en-US" altLang="ko-KR" sz="1100" dirty="0"/>
              <a:t>, </a:t>
            </a:r>
            <a:r>
              <a:rPr lang="ko-KR" altLang="en-US" sz="1100" dirty="0"/>
              <a:t>이 발명이 속하는 기술분야에서 통상의 지식을 가진 사람</a:t>
            </a:r>
            <a:r>
              <a:rPr lang="en-US" altLang="ko-KR" sz="1100" dirty="0"/>
              <a:t>(</a:t>
            </a:r>
            <a:r>
              <a:rPr lang="ko-KR" altLang="en-US" sz="1100" dirty="0"/>
              <a:t>이하 ‘통상의 </a:t>
            </a:r>
            <a:r>
              <a:rPr lang="ko-KR" altLang="en-US" sz="1100" dirty="0" err="1"/>
              <a:t>기술자’라</a:t>
            </a:r>
            <a:r>
              <a:rPr lang="ko-KR" altLang="en-US" sz="1100" dirty="0"/>
              <a:t> 한다</a:t>
            </a:r>
            <a:r>
              <a:rPr lang="en-US" altLang="ko-KR" sz="1100" dirty="0"/>
              <a:t>)</a:t>
            </a:r>
            <a:r>
              <a:rPr lang="ko-KR" altLang="en-US" sz="1100" dirty="0"/>
              <a:t>이라면 특허발명에 개시된 기술적 수단을 이용하여 특허발명을 용이하게 </a:t>
            </a:r>
            <a:r>
              <a:rPr lang="ko-KR" altLang="en-US" sz="1100" dirty="0" err="1"/>
              <a:t>반복실시할</a:t>
            </a:r>
            <a:r>
              <a:rPr lang="ko-KR" altLang="en-US" sz="1100" dirty="0"/>
              <a:t> 수 있을 것으로 보이고</a:t>
            </a:r>
            <a:r>
              <a:rPr lang="en-US" altLang="ko-KR" sz="1100" dirty="0"/>
              <a:t>, </a:t>
            </a:r>
            <a:r>
              <a:rPr lang="ko-KR" altLang="en-US" sz="1100" dirty="0"/>
              <a:t>발명의 실시자에 따라 그 효과에 있어서 어느 정도의 차이가 발생할 수 있음은 이 특허발명의 </a:t>
            </a:r>
            <a:r>
              <a:rPr lang="ko-KR" altLang="en-US" sz="1100" dirty="0" err="1"/>
              <a:t>경우뿐만</a:t>
            </a:r>
            <a:r>
              <a:rPr lang="ko-KR" altLang="en-US" sz="1100" dirty="0"/>
              <a:t> 아니라 다른 발명의 경우에도 마찬가지라 할 것이고</a:t>
            </a:r>
            <a:r>
              <a:rPr lang="en-US" altLang="ko-KR" sz="1100" dirty="0"/>
              <a:t>, </a:t>
            </a:r>
            <a:r>
              <a:rPr lang="ko-KR" altLang="en-US" sz="1100" dirty="0">
                <a:highlight>
                  <a:srgbClr val="FFFF00"/>
                </a:highlight>
              </a:rPr>
              <a:t>특허발명에 </a:t>
            </a:r>
            <a:r>
              <a:rPr lang="ko-KR" altLang="en-US" sz="1100" dirty="0" err="1">
                <a:highlight>
                  <a:srgbClr val="FFFF00"/>
                </a:highlight>
              </a:rPr>
              <a:t>반복재현성이</a:t>
            </a:r>
            <a:r>
              <a:rPr lang="ko-KR" altLang="en-US" sz="1100" dirty="0">
                <a:highlight>
                  <a:srgbClr val="FFFF00"/>
                </a:highlight>
              </a:rPr>
              <a:t> 있는지 여부를 판단함에 있어 발명의 실시자를 특허발명이 속하는 기술분야인 만화 및 애니메이션 산업분야의 통상의 기술자로 보아야 할 것인 점에 비추어 보면</a:t>
            </a:r>
            <a:r>
              <a:rPr lang="en-US" altLang="ko-KR" sz="1100" dirty="0">
                <a:highlight>
                  <a:srgbClr val="FFFF00"/>
                </a:highlight>
              </a:rPr>
              <a:t>, </a:t>
            </a:r>
            <a:r>
              <a:rPr lang="ko-KR" altLang="en-US" sz="1100" dirty="0"/>
              <a:t>발명의 실시자에 따라 특허발명의 반복실시가 어렵다고 할 정도로 그 효과가 달라진다고 볼 수 없다</a:t>
            </a:r>
            <a:r>
              <a:rPr lang="en-US" altLang="ko-KR" sz="1100" dirty="0"/>
              <a:t>.</a:t>
            </a:r>
            <a:endParaRPr lang="ko-KR" altLang="en-US" sz="1400" dirty="0"/>
          </a:p>
        </p:txBody>
      </p:sp>
      <p:sp>
        <p:nvSpPr>
          <p:cNvPr id="33" name="TextBox 32">
            <a:extLst>
              <a:ext uri="{FF2B5EF4-FFF2-40B4-BE49-F238E27FC236}">
                <a16:creationId xmlns:a16="http://schemas.microsoft.com/office/drawing/2014/main" id="{B5BC74D5-D970-42CC-8EDB-9A85E3929BDB}"/>
              </a:ext>
            </a:extLst>
          </p:cNvPr>
          <p:cNvSpPr txBox="1"/>
          <p:nvPr/>
        </p:nvSpPr>
        <p:spPr>
          <a:xfrm>
            <a:off x="384792" y="1023464"/>
            <a:ext cx="4687950" cy="1787977"/>
          </a:xfrm>
          <a:prstGeom prst="rect">
            <a:avLst/>
          </a:prstGeom>
          <a:noFill/>
          <a:ln>
            <a:solidFill>
              <a:schemeClr val="bg1">
                <a:lumMod val="50000"/>
              </a:schemeClr>
            </a:solidFill>
          </a:ln>
        </p:spPr>
        <p:txBody>
          <a:bodyPr wrap="square" rtlCol="0" anchor="t">
            <a:noAutofit/>
          </a:bodyPr>
          <a:lstStyle/>
          <a:p>
            <a:r>
              <a:rPr lang="ko-KR" altLang="en-US" sz="1400" dirty="0"/>
              <a:t>외국어 발음표기 문자 형성방법 사건</a:t>
            </a:r>
            <a:r>
              <a:rPr lang="en-US" altLang="ko-KR" sz="1400" dirty="0"/>
              <a:t>(2001</a:t>
            </a:r>
            <a:r>
              <a:rPr lang="ko-KR" altLang="en-US" sz="1400" dirty="0"/>
              <a:t>허</a:t>
            </a:r>
            <a:r>
              <a:rPr lang="en-US" altLang="ko-KR" sz="1400" dirty="0"/>
              <a:t>3453)</a:t>
            </a:r>
          </a:p>
          <a:p>
            <a:endParaRPr lang="en-US" altLang="ko-KR" sz="1400" dirty="0"/>
          </a:p>
          <a:p>
            <a:r>
              <a:rPr lang="ko-KR" altLang="en-US" sz="1100" dirty="0"/>
              <a:t>문제가 된 청구항은 「외국어 발음표기 문자를 형성하는 방법에 있어서</a:t>
            </a:r>
            <a:r>
              <a:rPr lang="en-US" altLang="ko-KR" sz="1100" dirty="0"/>
              <a:t>, </a:t>
            </a:r>
            <a:r>
              <a:rPr lang="ko-KR" altLang="en-US" sz="1100" dirty="0"/>
              <a:t>문제에 대한 한글과 외국어의 발음상의 차이에 의하여 표기시에 차이가 생기는 문자들의 표시를 위하여 해당 문자의 발음시에 형성되는 사람의 목구멍의 형상과 </a:t>
            </a:r>
            <a:r>
              <a:rPr lang="ko-KR" altLang="en-US" sz="1100" dirty="0" err="1"/>
              <a:t>혓소리가</a:t>
            </a:r>
            <a:r>
              <a:rPr lang="ko-KR" altLang="en-US" sz="1100" dirty="0"/>
              <a:t> 발음상 변화를 일으키는 현상과 이에 따른 입술모양에 따라서 문자를 변형시켜서 형성하는 것을 특징으로 하는 외국어 발음표기 문자의 </a:t>
            </a:r>
            <a:r>
              <a:rPr lang="ko-KR" altLang="en-US" sz="1100" dirty="0" err="1"/>
              <a:t>형성방법」으로서</a:t>
            </a:r>
            <a:r>
              <a:rPr lang="ko-KR" altLang="en-US" sz="1100" dirty="0"/>
              <a:t> 이와 같은 </a:t>
            </a:r>
            <a:r>
              <a:rPr lang="ko-KR" altLang="en-US" sz="1100" dirty="0">
                <a:highlight>
                  <a:srgbClr val="FFFF00"/>
                </a:highlight>
              </a:rPr>
              <a:t>외국어 발음표기문자의 형성방법은 인위적인 약속에 지나지 않기 때문에</a:t>
            </a:r>
            <a:r>
              <a:rPr lang="ko-KR" altLang="en-US" sz="1100" dirty="0"/>
              <a:t> 자연법칙을 이용한 것이 아니다</a:t>
            </a:r>
          </a:p>
          <a:p>
            <a:endParaRPr lang="ko-KR" altLang="en-US" sz="1400" dirty="0"/>
          </a:p>
        </p:txBody>
      </p:sp>
      <p:sp>
        <p:nvSpPr>
          <p:cNvPr id="34" name="TextBox 33">
            <a:extLst>
              <a:ext uri="{FF2B5EF4-FFF2-40B4-BE49-F238E27FC236}">
                <a16:creationId xmlns:a16="http://schemas.microsoft.com/office/drawing/2014/main" id="{323904E6-520D-4C13-A889-62240018A4E0}"/>
              </a:ext>
            </a:extLst>
          </p:cNvPr>
          <p:cNvSpPr txBox="1"/>
          <p:nvPr/>
        </p:nvSpPr>
        <p:spPr>
          <a:xfrm>
            <a:off x="5181601" y="945268"/>
            <a:ext cx="6812526" cy="1493132"/>
          </a:xfrm>
          <a:prstGeom prst="rect">
            <a:avLst/>
          </a:prstGeom>
          <a:solidFill>
            <a:schemeClr val="accent4">
              <a:lumMod val="20000"/>
              <a:lumOff val="80000"/>
            </a:schemeClr>
          </a:solidFill>
          <a:ln>
            <a:solidFill>
              <a:schemeClr val="bg1">
                <a:lumMod val="50000"/>
              </a:schemeClr>
            </a:solidFill>
          </a:ln>
        </p:spPr>
        <p:txBody>
          <a:bodyPr wrap="square" rtlCol="0" anchor="t">
            <a:noAutofit/>
          </a:bodyPr>
          <a:lstStyle/>
          <a:p>
            <a:r>
              <a:rPr lang="ko-KR" altLang="en-US" sz="1400" dirty="0"/>
              <a:t>수치제어장치의 </a:t>
            </a:r>
            <a:r>
              <a:rPr lang="ko-KR" altLang="en-US" sz="1400" dirty="0" err="1"/>
              <a:t>가감속</a:t>
            </a:r>
            <a:r>
              <a:rPr lang="ko-KR" altLang="en-US" sz="1400" dirty="0"/>
              <a:t> 제어방법 사건</a:t>
            </a:r>
            <a:r>
              <a:rPr lang="en-US" altLang="ko-KR" sz="1400" dirty="0"/>
              <a:t>(97</a:t>
            </a:r>
            <a:r>
              <a:rPr lang="ko-KR" altLang="en-US" sz="1400" dirty="0"/>
              <a:t>후</a:t>
            </a:r>
            <a:r>
              <a:rPr lang="en-US" altLang="ko-KR" sz="1400" dirty="0"/>
              <a:t>2597)</a:t>
            </a:r>
          </a:p>
          <a:p>
            <a:endParaRPr lang="en-US" altLang="ko-KR" sz="1100" dirty="0"/>
          </a:p>
          <a:p>
            <a:r>
              <a:rPr lang="ko-KR" altLang="en-US" sz="1100" dirty="0"/>
              <a:t>출원발명이 </a:t>
            </a:r>
            <a:r>
              <a:rPr lang="ko-KR" altLang="en-US" sz="1100" dirty="0" err="1"/>
              <a:t>기본워드에</a:t>
            </a:r>
            <a:r>
              <a:rPr lang="ko-KR" altLang="en-US" sz="1100" dirty="0"/>
              <a:t> </a:t>
            </a:r>
            <a:r>
              <a:rPr lang="ko-KR" altLang="en-US" sz="1100" dirty="0" err="1"/>
              <a:t>서브워드를</a:t>
            </a:r>
            <a:r>
              <a:rPr lang="ko-KR" altLang="en-US" sz="1100" dirty="0"/>
              <a:t> 부가하여 명령어를 이루는 </a:t>
            </a:r>
            <a:r>
              <a:rPr lang="ko-KR" altLang="en-US" sz="1100" dirty="0" err="1"/>
              <a:t>제어입력포맷을</a:t>
            </a:r>
            <a:r>
              <a:rPr lang="ko-KR" altLang="en-US" sz="1100" dirty="0"/>
              <a:t> 다양하게 하고 워드의 개수에 따라 조합되는 제어명령어의 수를 증가시켜 하드웨어인 수치제어장치를 제어하는 방법에 관한 것으로서</a:t>
            </a:r>
            <a:r>
              <a:rPr lang="en-US" altLang="ko-KR" sz="1100" dirty="0"/>
              <a:t>, </a:t>
            </a:r>
            <a:r>
              <a:rPr lang="ko-KR" altLang="en-US" sz="1100" dirty="0"/>
              <a:t>결국 </a:t>
            </a:r>
            <a:r>
              <a:rPr lang="ko-KR" altLang="en-US" sz="1100" dirty="0" err="1"/>
              <a:t>수치제어입력포맷을</a:t>
            </a:r>
            <a:r>
              <a:rPr lang="ko-KR" altLang="en-US" sz="1100" dirty="0"/>
              <a:t> 사용하여 </a:t>
            </a:r>
            <a:r>
              <a:rPr lang="ko-KR" altLang="en-US" sz="1100" dirty="0">
                <a:highlight>
                  <a:srgbClr val="FFFF00"/>
                </a:highlight>
              </a:rPr>
              <a:t>소프트웨어인 </a:t>
            </a:r>
            <a:r>
              <a:rPr lang="ko-KR" altLang="en-US" sz="1100" dirty="0" err="1">
                <a:highlight>
                  <a:srgbClr val="FFFF00"/>
                </a:highlight>
              </a:rPr>
              <a:t>서브워드</a:t>
            </a:r>
            <a:r>
              <a:rPr lang="ko-KR" altLang="en-US" sz="1100" dirty="0">
                <a:highlight>
                  <a:srgbClr val="FFFF00"/>
                </a:highlight>
              </a:rPr>
              <a:t> 부가 가공프로그램을 </a:t>
            </a:r>
            <a:r>
              <a:rPr lang="ko-KR" altLang="en-US" sz="1100" dirty="0" err="1">
                <a:highlight>
                  <a:srgbClr val="FFFF00"/>
                </a:highlight>
              </a:rPr>
              <a:t>구동시켜</a:t>
            </a:r>
            <a:r>
              <a:rPr lang="ko-KR" altLang="en-US" sz="1100" dirty="0">
                <a:highlight>
                  <a:srgbClr val="FFFF00"/>
                </a:highlight>
              </a:rPr>
              <a:t> 하드웨어인 수치제어장치에 의하여 기계식별</a:t>
            </a:r>
            <a:r>
              <a:rPr lang="en-US" altLang="ko-KR" sz="1100" dirty="0">
                <a:highlight>
                  <a:srgbClr val="FFFF00"/>
                </a:highlight>
              </a:rPr>
              <a:t>·</a:t>
            </a:r>
            <a:r>
              <a:rPr lang="ko-KR" altLang="en-US" sz="1100" dirty="0">
                <a:highlight>
                  <a:srgbClr val="FFFF00"/>
                </a:highlight>
              </a:rPr>
              <a:t>제어</a:t>
            </a:r>
            <a:r>
              <a:rPr lang="en-US" altLang="ko-KR" sz="1100" dirty="0">
                <a:highlight>
                  <a:srgbClr val="FFFF00"/>
                </a:highlight>
              </a:rPr>
              <a:t>·</a:t>
            </a:r>
            <a:r>
              <a:rPr lang="ko-KR" altLang="en-US" sz="1100" dirty="0">
                <a:highlight>
                  <a:srgbClr val="FFFF00"/>
                </a:highlight>
              </a:rPr>
              <a:t>작동을 하게 하는 것일 뿐만 아니라 하드웨어 외부에서의 물리적 변환을 야기시켜 그 물리적 변환으로 인하여 실제적 이용가능성이 명세서에 개시</a:t>
            </a:r>
            <a:r>
              <a:rPr lang="ko-KR" altLang="en-US" sz="1100" dirty="0"/>
              <a:t>되어 있다는 이유로 그 출원발명을 자연법칙을 이용하지 않은 순수한 인간의 정신적 활동에 의한 것이라고 할 수는 없다</a:t>
            </a:r>
            <a:r>
              <a:rPr lang="en-US" altLang="ko-KR" sz="1100" dirty="0"/>
              <a:t>.</a:t>
            </a:r>
            <a:endParaRPr lang="ko-KR" altLang="en-US" sz="1100" dirty="0"/>
          </a:p>
          <a:p>
            <a:endParaRPr lang="ko-KR" altLang="en-US" sz="1400" dirty="0"/>
          </a:p>
        </p:txBody>
      </p:sp>
      <p:sp>
        <p:nvSpPr>
          <p:cNvPr id="10" name="TextBox 9">
            <a:extLst>
              <a:ext uri="{FF2B5EF4-FFF2-40B4-BE49-F238E27FC236}">
                <a16:creationId xmlns:a16="http://schemas.microsoft.com/office/drawing/2014/main" id="{9727D276-E2CE-454A-B273-37784B613BD3}"/>
              </a:ext>
            </a:extLst>
          </p:cNvPr>
          <p:cNvSpPr txBox="1"/>
          <p:nvPr/>
        </p:nvSpPr>
        <p:spPr>
          <a:xfrm>
            <a:off x="5226793" y="2545949"/>
            <a:ext cx="6767334" cy="2450593"/>
          </a:xfrm>
          <a:prstGeom prst="rect">
            <a:avLst/>
          </a:prstGeom>
          <a:noFill/>
          <a:ln>
            <a:solidFill>
              <a:schemeClr val="bg1">
                <a:lumMod val="50000"/>
              </a:schemeClr>
            </a:solidFill>
          </a:ln>
        </p:spPr>
        <p:txBody>
          <a:bodyPr wrap="square" rtlCol="0" anchor="t">
            <a:noAutofit/>
          </a:bodyPr>
          <a:lstStyle/>
          <a:p>
            <a:r>
              <a:rPr lang="ko-KR" altLang="en-US" sz="1400" dirty="0"/>
              <a:t>재활용 쓰레기 종합 관리 방법 사건</a:t>
            </a:r>
            <a:r>
              <a:rPr lang="en-US" altLang="ko-KR" sz="1400" dirty="0"/>
              <a:t>(2001</a:t>
            </a:r>
            <a:r>
              <a:rPr lang="ko-KR" altLang="en-US" sz="1400" dirty="0"/>
              <a:t>후</a:t>
            </a:r>
            <a:r>
              <a:rPr lang="en-US" altLang="ko-KR" sz="1400" dirty="0"/>
              <a:t>3149)</a:t>
            </a:r>
          </a:p>
          <a:p>
            <a:endParaRPr lang="en-US" altLang="ko-KR" sz="1100" dirty="0"/>
          </a:p>
          <a:p>
            <a:r>
              <a:rPr lang="ko-KR" altLang="en-US" sz="1100" dirty="0"/>
              <a:t>「</a:t>
            </a:r>
            <a:r>
              <a:rPr lang="ko-KR" altLang="en-US" sz="1100" dirty="0" err="1"/>
              <a:t>배출자</a:t>
            </a:r>
            <a:r>
              <a:rPr lang="ko-KR" altLang="en-US" sz="1100" dirty="0"/>
              <a:t> 신상정보가 입력된 바코드 스티커와</a:t>
            </a:r>
            <a:r>
              <a:rPr lang="en-US" altLang="ko-KR" sz="1100" dirty="0"/>
              <a:t>, </a:t>
            </a:r>
            <a:r>
              <a:rPr lang="ko-KR" altLang="en-US" sz="1100" dirty="0"/>
              <a:t>배출쓰레기가 표시된 달력지는 관할 관청에서 각 배출자에게 배포하고 각 배출자들은 정해진 규정에 의해 정확하게 분리된 쓰레기를 규정 쓰레기 봉투에 담아서 배출하되 반드시 </a:t>
            </a:r>
            <a:r>
              <a:rPr lang="ko-KR" altLang="en-US" sz="1100" dirty="0" err="1"/>
              <a:t>배출자</a:t>
            </a:r>
            <a:r>
              <a:rPr lang="ko-KR" altLang="en-US" sz="1100" dirty="0"/>
              <a:t> 신상정보가 입력된 바코드 스티커를 쓰레기 봉투에 부착하여 배출하며</a:t>
            </a:r>
            <a:r>
              <a:rPr lang="en-US" altLang="ko-KR" sz="1100" dirty="0"/>
              <a:t>, </a:t>
            </a:r>
            <a:r>
              <a:rPr lang="ko-KR" altLang="en-US" sz="1100" dirty="0"/>
              <a:t>수거자는 배출된 쓰레기를 요일별로 정확하게 분리 수거하여 집하장으로 이송하여 재활용쓰레기와 매립 소각될 쓰레기를 선별하여 처리과정을 거치며</a:t>
            </a:r>
            <a:r>
              <a:rPr lang="en-US" altLang="ko-KR" sz="1100" dirty="0"/>
              <a:t>, </a:t>
            </a:r>
            <a:r>
              <a:rPr lang="ko-KR" altLang="en-US" sz="1100" dirty="0" err="1"/>
              <a:t>잘못분류된</a:t>
            </a:r>
            <a:r>
              <a:rPr lang="ko-KR" altLang="en-US" sz="1100" dirty="0"/>
              <a:t> 쓰레기 봉투는 전면에 부착된 바코드를 판독하여 해당 배출자에게 시정명령을 지시하는 각 과정에서 얻어지는 자료들을 축적한 통계로 생활쓰레기를 </a:t>
            </a:r>
            <a:r>
              <a:rPr lang="ko-KR" altLang="en-US" sz="1100" dirty="0" err="1"/>
              <a:t>종합관리하도록</a:t>
            </a:r>
            <a:r>
              <a:rPr lang="ko-KR" altLang="en-US" sz="1100" dirty="0"/>
              <a:t> 하는 생활쓰레기 </a:t>
            </a:r>
            <a:r>
              <a:rPr lang="ko-KR" altLang="en-US" sz="1100" dirty="0" err="1"/>
              <a:t>재활용종합관리방법」은</a:t>
            </a:r>
            <a:r>
              <a:rPr lang="ko-KR" altLang="en-US" sz="1100" dirty="0"/>
              <a:t> </a:t>
            </a:r>
            <a:r>
              <a:rPr lang="ko-KR" altLang="en-US" sz="1100" dirty="0">
                <a:highlight>
                  <a:srgbClr val="FFFF00"/>
                </a:highlight>
              </a:rPr>
              <a:t>전체적으로 보면 그 자체로는 실시할 수 없고 관련 법령 등이 </a:t>
            </a:r>
            <a:r>
              <a:rPr lang="ko-KR" altLang="en-US" sz="1100" dirty="0" err="1">
                <a:highlight>
                  <a:srgbClr val="FFFF00"/>
                </a:highlight>
              </a:rPr>
              <a:t>구비되어야만</a:t>
            </a:r>
            <a:r>
              <a:rPr lang="ko-KR" altLang="en-US" sz="1100" dirty="0">
                <a:highlight>
                  <a:srgbClr val="FFFF00"/>
                </a:highlight>
              </a:rPr>
              <a:t> 실시할 수 있는 것으로 관할 관청</a:t>
            </a:r>
            <a:r>
              <a:rPr lang="en-US" altLang="ko-KR" sz="1100" dirty="0">
                <a:highlight>
                  <a:srgbClr val="FFFF00"/>
                </a:highlight>
              </a:rPr>
              <a:t>, </a:t>
            </a:r>
            <a:r>
              <a:rPr lang="ko-KR" altLang="en-US" sz="1100" dirty="0" err="1">
                <a:highlight>
                  <a:srgbClr val="FFFF00"/>
                </a:highlight>
              </a:rPr>
              <a:t>배출자</a:t>
            </a:r>
            <a:r>
              <a:rPr lang="en-US" altLang="ko-KR" sz="1100" dirty="0">
                <a:highlight>
                  <a:srgbClr val="FFFF00"/>
                </a:highlight>
              </a:rPr>
              <a:t>, </a:t>
            </a:r>
            <a:r>
              <a:rPr lang="ko-KR" altLang="en-US" sz="1100" dirty="0" err="1">
                <a:highlight>
                  <a:srgbClr val="FFFF00"/>
                </a:highlight>
              </a:rPr>
              <a:t>수거자</a:t>
            </a:r>
            <a:r>
              <a:rPr lang="ko-KR" altLang="en-US" sz="1100" dirty="0">
                <a:highlight>
                  <a:srgbClr val="FFFF00"/>
                </a:highlight>
              </a:rPr>
              <a:t> 간의 약속 등에 의하여 이루어지는 인위적 결정이거나 이에 따른 위 관할 관청 등의 정신적 판단 또는 인위적 결정에 불과하므로 자연법칙을 이용한 것이라고 할 수 없으며</a:t>
            </a:r>
            <a:r>
              <a:rPr lang="en-US" altLang="ko-KR" sz="1100" dirty="0">
                <a:highlight>
                  <a:srgbClr val="FFFF00"/>
                </a:highlight>
              </a:rPr>
              <a:t>, </a:t>
            </a:r>
            <a:r>
              <a:rPr lang="ko-KR" altLang="en-US" sz="1100" dirty="0">
                <a:highlight>
                  <a:srgbClr val="FFFF00"/>
                </a:highlight>
              </a:rPr>
              <a:t>그 각 단계가 컴퓨터의 온 라인</a:t>
            </a:r>
            <a:r>
              <a:rPr lang="en-US" altLang="ko-KR" sz="1100" dirty="0">
                <a:highlight>
                  <a:srgbClr val="FFFF00"/>
                </a:highlight>
              </a:rPr>
              <a:t>(on-line) </a:t>
            </a:r>
            <a:r>
              <a:rPr lang="ko-KR" altLang="en-US" sz="1100" dirty="0">
                <a:highlight>
                  <a:srgbClr val="FFFF00"/>
                </a:highlight>
              </a:rPr>
              <a:t>상에서 처리되는 것이 아니라 오프라인</a:t>
            </a:r>
            <a:r>
              <a:rPr lang="en-US" altLang="ko-KR" sz="1100" dirty="0">
                <a:highlight>
                  <a:srgbClr val="FFFF00"/>
                </a:highlight>
              </a:rPr>
              <a:t>(off-line) </a:t>
            </a:r>
            <a:r>
              <a:rPr lang="ko-KR" altLang="en-US" sz="1100" dirty="0">
                <a:highlight>
                  <a:srgbClr val="FFFF00"/>
                </a:highlight>
              </a:rPr>
              <a:t>상에서 처리되는 것이고</a:t>
            </a:r>
            <a:r>
              <a:rPr lang="en-US" altLang="ko-KR" sz="1100" dirty="0">
                <a:highlight>
                  <a:srgbClr val="FFFF00"/>
                </a:highlight>
              </a:rPr>
              <a:t>, </a:t>
            </a:r>
            <a:r>
              <a:rPr lang="ko-KR" altLang="en-US" sz="1100" dirty="0">
                <a:highlight>
                  <a:srgbClr val="FFFF00"/>
                </a:highlight>
              </a:rPr>
              <a:t>소프트웨어와 하드웨어가 연계되는 시스템이 구체적으로 실현되고 있는 것도 아니어서 이른바 비즈니스모델 발명의 범주에 </a:t>
            </a:r>
            <a:r>
              <a:rPr lang="ko-KR" altLang="en-US" sz="1100" dirty="0" err="1">
                <a:highlight>
                  <a:srgbClr val="FFFF00"/>
                </a:highlight>
              </a:rPr>
              <a:t>속하지도</a:t>
            </a:r>
            <a:r>
              <a:rPr lang="ko-KR" altLang="en-US" sz="1100" dirty="0">
                <a:highlight>
                  <a:srgbClr val="FFFF00"/>
                </a:highlight>
              </a:rPr>
              <a:t> 아니하므로 </a:t>
            </a:r>
            <a:r>
              <a:rPr lang="ko-KR" altLang="en-US" sz="1100" dirty="0"/>
              <a:t>이를 특허법 </a:t>
            </a:r>
            <a:r>
              <a:rPr lang="ko-KR" altLang="en-US" sz="1100" dirty="0">
                <a:highlight>
                  <a:srgbClr val="FFFF00"/>
                </a:highlight>
              </a:rPr>
              <a:t>제</a:t>
            </a:r>
            <a:r>
              <a:rPr lang="en-US" altLang="ko-KR" sz="1100" dirty="0">
                <a:highlight>
                  <a:srgbClr val="FFFF00"/>
                </a:highlight>
              </a:rPr>
              <a:t>29</a:t>
            </a:r>
            <a:r>
              <a:rPr lang="ko-KR" altLang="en-US" sz="1100" dirty="0">
                <a:highlight>
                  <a:srgbClr val="FFFF00"/>
                </a:highlight>
              </a:rPr>
              <a:t>조 제</a:t>
            </a:r>
            <a:r>
              <a:rPr lang="en-US" altLang="ko-KR" sz="1100" dirty="0">
                <a:highlight>
                  <a:srgbClr val="FFFF00"/>
                </a:highlight>
              </a:rPr>
              <a:t>1</a:t>
            </a:r>
            <a:r>
              <a:rPr lang="ko-KR" altLang="en-US" sz="1100" dirty="0">
                <a:highlight>
                  <a:srgbClr val="FFFF00"/>
                </a:highlight>
              </a:rPr>
              <a:t>항 본문의 “산업상 이용할 수 있는 </a:t>
            </a:r>
            <a:r>
              <a:rPr lang="ko-KR" altLang="en-US" sz="1100" dirty="0" err="1">
                <a:highlight>
                  <a:srgbClr val="FFFF00"/>
                </a:highlight>
              </a:rPr>
              <a:t>발명”이라고</a:t>
            </a:r>
            <a:r>
              <a:rPr lang="ko-KR" altLang="en-US" sz="1100" dirty="0">
                <a:highlight>
                  <a:srgbClr val="FFFF00"/>
                </a:highlight>
              </a:rPr>
              <a:t> 할 수 없다</a:t>
            </a:r>
            <a:endParaRPr lang="ko-KR" altLang="en-US" sz="1400" dirty="0">
              <a:highlight>
                <a:srgbClr val="FFFF00"/>
              </a:highlight>
            </a:endParaRPr>
          </a:p>
        </p:txBody>
      </p:sp>
      <p:pic>
        <p:nvPicPr>
          <p:cNvPr id="1027" name="_x285950880" descr="EMB00009ed425a5">
            <a:extLst>
              <a:ext uri="{FF2B5EF4-FFF2-40B4-BE49-F238E27FC236}">
                <a16:creationId xmlns:a16="http://schemas.microsoft.com/office/drawing/2014/main" id="{A846AA2E-AAB2-41DF-86F2-A300BCC2E4E5}"/>
              </a:ext>
            </a:extLst>
          </p:cNvP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191165" y="2986614"/>
            <a:ext cx="1881577" cy="1787977"/>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12">
            <a:extLst>
              <a:ext uri="{FF2B5EF4-FFF2-40B4-BE49-F238E27FC236}">
                <a16:creationId xmlns:a16="http://schemas.microsoft.com/office/drawing/2014/main" id="{B8C4BB0C-12B8-68A4-CC8C-35C4608D3A0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58000" y="4943227"/>
            <a:ext cx="5136127" cy="18457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460968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번호 개체 틀 1"/>
          <p:cNvSpPr>
            <a:spLocks noGrp="1"/>
          </p:cNvSpPr>
          <p:nvPr>
            <p:ph type="sldNum" sz="quarter" idx="12"/>
          </p:nvPr>
        </p:nvSpPr>
        <p:spPr/>
        <p:txBody>
          <a:bodyPr/>
          <a:lstStyle/>
          <a:p>
            <a:fld id="{3875FC6C-1516-4DC4-8C58-3090F7D4F003}" type="slidenum">
              <a:rPr lang="ko-KR" altLang="en-US" smtClean="0"/>
              <a:t>14</a:t>
            </a:fld>
            <a:endParaRPr lang="ko-KR" altLang="en-US"/>
          </a:p>
        </p:txBody>
      </p:sp>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지식재산의 보호방안</a:t>
            </a:r>
          </a:p>
        </p:txBody>
      </p:sp>
      <p:pic>
        <p:nvPicPr>
          <p:cNvPr id="113" name="Picture 54" descr="병웅"/>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878504" y="799405"/>
            <a:ext cx="1012825" cy="1595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7" name="AutoShape 3"/>
          <p:cNvSpPr>
            <a:spLocks noChangeArrowheads="1"/>
          </p:cNvSpPr>
          <p:nvPr/>
        </p:nvSpPr>
        <p:spPr bwMode="auto">
          <a:xfrm>
            <a:off x="3677099" y="1221346"/>
            <a:ext cx="3551289" cy="346133"/>
          </a:xfrm>
          <a:prstGeom prst="flowChartProcess">
            <a:avLst/>
          </a:prstGeom>
          <a:solidFill>
            <a:schemeClr val="accent2">
              <a:lumMod val="40000"/>
              <a:lumOff val="60000"/>
            </a:schemeClr>
          </a:solidFill>
          <a:ln>
            <a:solidFill>
              <a:schemeClr val="bg1">
                <a:lumMod val="50000"/>
              </a:schemeClr>
            </a:solidFill>
            <a:headEnd/>
            <a:tailEnd/>
          </a:ln>
          <a:effectLst/>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r>
              <a:rPr lang="ko-KR" altLang="en-US" sz="1200" b="0" dirty="0">
                <a:solidFill>
                  <a:schemeClr val="tx2">
                    <a:lumMod val="50000"/>
                  </a:schemeClr>
                </a:solidFill>
                <a:latin typeface="+mn-ea"/>
              </a:rPr>
              <a:t>지식재산 창출</a:t>
            </a:r>
          </a:p>
        </p:txBody>
      </p:sp>
      <p:sp>
        <p:nvSpPr>
          <p:cNvPr id="68" name="AutoShape 4"/>
          <p:cNvSpPr>
            <a:spLocks noChangeArrowheads="1"/>
          </p:cNvSpPr>
          <p:nvPr/>
        </p:nvSpPr>
        <p:spPr bwMode="auto">
          <a:xfrm>
            <a:off x="914985" y="4778058"/>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출원 </a:t>
            </a:r>
          </a:p>
        </p:txBody>
      </p:sp>
      <p:sp>
        <p:nvSpPr>
          <p:cNvPr id="69" name="AutoShape 5"/>
          <p:cNvSpPr>
            <a:spLocks noChangeArrowheads="1"/>
          </p:cNvSpPr>
          <p:nvPr/>
        </p:nvSpPr>
        <p:spPr bwMode="auto">
          <a:xfrm>
            <a:off x="914985" y="5314501"/>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심사</a:t>
            </a:r>
          </a:p>
        </p:txBody>
      </p:sp>
      <p:sp>
        <p:nvSpPr>
          <p:cNvPr id="70" name="AutoShape 6"/>
          <p:cNvSpPr>
            <a:spLocks noChangeArrowheads="1"/>
          </p:cNvSpPr>
          <p:nvPr/>
        </p:nvSpPr>
        <p:spPr bwMode="auto">
          <a:xfrm>
            <a:off x="4515597" y="3886360"/>
            <a:ext cx="1874291" cy="367847"/>
          </a:xfrm>
          <a:prstGeom prst="flowChartDecision">
            <a:avLst/>
          </a:prstGeom>
          <a:solidFill>
            <a:schemeClr val="accent2">
              <a:lumMod val="40000"/>
              <a:lumOff val="60000"/>
            </a:schemeClr>
          </a:solidFill>
          <a:ln>
            <a:solidFill>
              <a:schemeClr val="bg1">
                <a:lumMod val="50000"/>
              </a:schemeClr>
            </a:solidFill>
            <a:headEnd/>
            <a:tailEnd/>
          </a:ln>
          <a:effectLst/>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r>
              <a:rPr lang="ko-KR" altLang="en-US" sz="1200" b="0" dirty="0">
                <a:solidFill>
                  <a:schemeClr val="tx2">
                    <a:lumMod val="50000"/>
                  </a:schemeClr>
                </a:solidFill>
                <a:latin typeface="+mn-ea"/>
              </a:rPr>
              <a:t>타당성</a:t>
            </a:r>
            <a:r>
              <a:rPr lang="en-US" altLang="ko-KR" sz="1200" b="0" dirty="0">
                <a:solidFill>
                  <a:schemeClr val="tx2">
                    <a:lumMod val="50000"/>
                  </a:schemeClr>
                </a:solidFill>
                <a:latin typeface="+mn-ea"/>
              </a:rPr>
              <a:t>?</a:t>
            </a:r>
          </a:p>
        </p:txBody>
      </p:sp>
      <p:sp>
        <p:nvSpPr>
          <p:cNvPr id="71" name="Rectangle 7"/>
          <p:cNvSpPr>
            <a:spLocks noChangeArrowheads="1"/>
          </p:cNvSpPr>
          <p:nvPr/>
        </p:nvSpPr>
        <p:spPr bwMode="auto">
          <a:xfrm>
            <a:off x="7164124" y="3886360"/>
            <a:ext cx="1693604" cy="367847"/>
          </a:xfrm>
          <a:prstGeom prst="rect">
            <a:avLst/>
          </a:prstGeom>
          <a:solidFill>
            <a:schemeClr val="accent6">
              <a:lumMod val="50000"/>
            </a:schemeClr>
          </a:solidFill>
          <a:ln>
            <a:solidFill>
              <a:schemeClr val="bg1">
                <a:lumMod val="50000"/>
              </a:schemeClr>
            </a:solidFill>
            <a:headEnd/>
            <a:tailEnd/>
          </a:ln>
          <a:effectLst/>
        </p:spPr>
        <p:style>
          <a:lnRef idx="1">
            <a:schemeClr val="dk1"/>
          </a:lnRef>
          <a:fillRef idx="3">
            <a:schemeClr val="dk1"/>
          </a:fillRef>
          <a:effectRef idx="2">
            <a:schemeClr val="dk1"/>
          </a:effectRef>
          <a:fontRef idx="minor">
            <a:schemeClr val="lt1"/>
          </a:fontRef>
        </p:style>
        <p:txBody>
          <a:bodyPr anchor="ctr"/>
          <a:lstStyle/>
          <a:p>
            <a:pPr algn="ctr" fontAlgn="auto">
              <a:spcBef>
                <a:spcPts val="0"/>
              </a:spcBef>
              <a:spcAft>
                <a:spcPts val="0"/>
              </a:spcAft>
              <a:defRPr/>
            </a:pPr>
            <a:r>
              <a:rPr lang="ko-KR" altLang="en-US" sz="1200" b="0" dirty="0">
                <a:solidFill>
                  <a:srgbClr val="FFFFFF"/>
                </a:solidFill>
                <a:latin typeface="+mn-ea"/>
              </a:rPr>
              <a:t>대체 보호 수단 강구</a:t>
            </a:r>
          </a:p>
        </p:txBody>
      </p:sp>
      <p:sp>
        <p:nvSpPr>
          <p:cNvPr id="72" name="Text Box 8"/>
          <p:cNvSpPr txBox="1">
            <a:spLocks noChangeArrowheads="1"/>
          </p:cNvSpPr>
          <p:nvPr/>
        </p:nvSpPr>
        <p:spPr bwMode="auto">
          <a:xfrm>
            <a:off x="4900327" y="4233971"/>
            <a:ext cx="690528" cy="2707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b="1">
                <a:solidFill>
                  <a:schemeClr val="bg1"/>
                </a:solidFill>
                <a:latin typeface="Arial" pitchFamily="34" charset="0"/>
                <a:ea typeface="맑은 고딕" pitchFamily="50" charset="-127"/>
              </a:defRPr>
            </a:lvl1pPr>
            <a:lvl2pPr marL="742950" indent="-285750" eaLnBrk="0" hangingPunct="0">
              <a:defRPr kumimoji="1" sz="1200" b="1">
                <a:solidFill>
                  <a:schemeClr val="bg1"/>
                </a:solidFill>
                <a:latin typeface="Arial" pitchFamily="34" charset="0"/>
                <a:ea typeface="맑은 고딕" pitchFamily="50" charset="-127"/>
              </a:defRPr>
            </a:lvl2pPr>
            <a:lvl3pPr marL="1143000" indent="-228600" eaLnBrk="0" hangingPunct="0">
              <a:defRPr kumimoji="1" sz="1200" b="1">
                <a:solidFill>
                  <a:schemeClr val="bg1"/>
                </a:solidFill>
                <a:latin typeface="Arial" pitchFamily="34" charset="0"/>
                <a:ea typeface="맑은 고딕" pitchFamily="50" charset="-127"/>
              </a:defRPr>
            </a:lvl3pPr>
            <a:lvl4pPr marL="1600200" indent="-228600" eaLnBrk="0" hangingPunct="0">
              <a:defRPr kumimoji="1" sz="1200" b="1">
                <a:solidFill>
                  <a:schemeClr val="bg1"/>
                </a:solidFill>
                <a:latin typeface="Arial" pitchFamily="34" charset="0"/>
                <a:ea typeface="맑은 고딕" pitchFamily="50" charset="-127"/>
              </a:defRPr>
            </a:lvl4pPr>
            <a:lvl5pPr marL="2057400" indent="-228600" eaLnBrk="0" hangingPunct="0">
              <a:defRPr kumimoji="1" sz="1200" b="1">
                <a:solidFill>
                  <a:schemeClr val="bg1"/>
                </a:solidFill>
                <a:latin typeface="Arial" pitchFamily="34" charset="0"/>
                <a:ea typeface="맑은 고딕" pitchFamily="50" charset="-127"/>
              </a:defRPr>
            </a:lvl5pPr>
            <a:lvl6pPr marL="2514600" indent="-228600" eaLnBrk="0" fontAlgn="base" hangingPunct="0">
              <a:spcBef>
                <a:spcPct val="0"/>
              </a:spcBef>
              <a:spcAft>
                <a:spcPct val="0"/>
              </a:spcAft>
              <a:defRPr kumimoji="1" sz="1200" b="1">
                <a:solidFill>
                  <a:schemeClr val="bg1"/>
                </a:solidFill>
                <a:latin typeface="Arial" pitchFamily="34" charset="0"/>
                <a:ea typeface="맑은 고딕" pitchFamily="50" charset="-127"/>
              </a:defRPr>
            </a:lvl6pPr>
            <a:lvl7pPr marL="2971800" indent="-228600" eaLnBrk="0" fontAlgn="base" hangingPunct="0">
              <a:spcBef>
                <a:spcPct val="0"/>
              </a:spcBef>
              <a:spcAft>
                <a:spcPct val="0"/>
              </a:spcAft>
              <a:defRPr kumimoji="1" sz="1200" b="1">
                <a:solidFill>
                  <a:schemeClr val="bg1"/>
                </a:solidFill>
                <a:latin typeface="Arial" pitchFamily="34" charset="0"/>
                <a:ea typeface="맑은 고딕" pitchFamily="50" charset="-127"/>
              </a:defRPr>
            </a:lvl7pPr>
            <a:lvl8pPr marL="3429000" indent="-228600" eaLnBrk="0" fontAlgn="base" hangingPunct="0">
              <a:spcBef>
                <a:spcPct val="0"/>
              </a:spcBef>
              <a:spcAft>
                <a:spcPct val="0"/>
              </a:spcAft>
              <a:defRPr kumimoji="1" sz="1200" b="1">
                <a:solidFill>
                  <a:schemeClr val="bg1"/>
                </a:solidFill>
                <a:latin typeface="Arial" pitchFamily="34" charset="0"/>
                <a:ea typeface="맑은 고딕" pitchFamily="50" charset="-127"/>
              </a:defRPr>
            </a:lvl8pPr>
            <a:lvl9pPr marL="3886200" indent="-228600" eaLnBrk="0" fontAlgn="base" hangingPunct="0">
              <a:spcBef>
                <a:spcPct val="0"/>
              </a:spcBef>
              <a:spcAft>
                <a:spcPct val="0"/>
              </a:spcAft>
              <a:defRPr kumimoji="1" sz="1200" b="1">
                <a:solidFill>
                  <a:schemeClr val="bg1"/>
                </a:solidFill>
                <a:latin typeface="Arial" pitchFamily="34" charset="0"/>
                <a:ea typeface="맑은 고딕" pitchFamily="50" charset="-127"/>
              </a:defRPr>
            </a:lvl9pPr>
          </a:lstStyle>
          <a:p>
            <a:pPr algn="ctr" eaLnBrk="1" hangingPunct="1">
              <a:spcBef>
                <a:spcPct val="50000"/>
              </a:spcBef>
            </a:pPr>
            <a:r>
              <a:rPr lang="ko-KR" altLang="en-US" sz="1000" b="0">
                <a:solidFill>
                  <a:srgbClr val="000000"/>
                </a:solidFill>
                <a:latin typeface="+mn-ea"/>
                <a:ea typeface="+mn-ea"/>
              </a:rPr>
              <a:t>예</a:t>
            </a:r>
          </a:p>
        </p:txBody>
      </p:sp>
      <p:sp>
        <p:nvSpPr>
          <p:cNvPr id="73" name="Text Box 9"/>
          <p:cNvSpPr txBox="1">
            <a:spLocks noChangeArrowheads="1"/>
          </p:cNvSpPr>
          <p:nvPr/>
        </p:nvSpPr>
        <p:spPr bwMode="auto">
          <a:xfrm>
            <a:off x="6242751" y="4100149"/>
            <a:ext cx="887822" cy="2452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kumimoji="1" sz="1200" b="1">
                <a:solidFill>
                  <a:schemeClr val="bg1"/>
                </a:solidFill>
                <a:latin typeface="Arial" pitchFamily="34" charset="0"/>
                <a:ea typeface="맑은 고딕" pitchFamily="50" charset="-127"/>
              </a:defRPr>
            </a:lvl1pPr>
            <a:lvl2pPr marL="742950" indent="-285750" eaLnBrk="0" hangingPunct="0">
              <a:defRPr kumimoji="1" sz="1200" b="1">
                <a:solidFill>
                  <a:schemeClr val="bg1"/>
                </a:solidFill>
                <a:latin typeface="Arial" pitchFamily="34" charset="0"/>
                <a:ea typeface="맑은 고딕" pitchFamily="50" charset="-127"/>
              </a:defRPr>
            </a:lvl2pPr>
            <a:lvl3pPr marL="1143000" indent="-228600" eaLnBrk="0" hangingPunct="0">
              <a:defRPr kumimoji="1" sz="1200" b="1">
                <a:solidFill>
                  <a:schemeClr val="bg1"/>
                </a:solidFill>
                <a:latin typeface="Arial" pitchFamily="34" charset="0"/>
                <a:ea typeface="맑은 고딕" pitchFamily="50" charset="-127"/>
              </a:defRPr>
            </a:lvl3pPr>
            <a:lvl4pPr marL="1600200" indent="-228600" eaLnBrk="0" hangingPunct="0">
              <a:defRPr kumimoji="1" sz="1200" b="1">
                <a:solidFill>
                  <a:schemeClr val="bg1"/>
                </a:solidFill>
                <a:latin typeface="Arial" pitchFamily="34" charset="0"/>
                <a:ea typeface="맑은 고딕" pitchFamily="50" charset="-127"/>
              </a:defRPr>
            </a:lvl4pPr>
            <a:lvl5pPr marL="2057400" indent="-228600" eaLnBrk="0" hangingPunct="0">
              <a:defRPr kumimoji="1" sz="1200" b="1">
                <a:solidFill>
                  <a:schemeClr val="bg1"/>
                </a:solidFill>
                <a:latin typeface="Arial" pitchFamily="34" charset="0"/>
                <a:ea typeface="맑은 고딕" pitchFamily="50" charset="-127"/>
              </a:defRPr>
            </a:lvl5pPr>
            <a:lvl6pPr marL="2514600" indent="-228600" eaLnBrk="0" fontAlgn="base" hangingPunct="0">
              <a:spcBef>
                <a:spcPct val="0"/>
              </a:spcBef>
              <a:spcAft>
                <a:spcPct val="0"/>
              </a:spcAft>
              <a:defRPr kumimoji="1" sz="1200" b="1">
                <a:solidFill>
                  <a:schemeClr val="bg1"/>
                </a:solidFill>
                <a:latin typeface="Arial" pitchFamily="34" charset="0"/>
                <a:ea typeface="맑은 고딕" pitchFamily="50" charset="-127"/>
              </a:defRPr>
            </a:lvl6pPr>
            <a:lvl7pPr marL="2971800" indent="-228600" eaLnBrk="0" fontAlgn="base" hangingPunct="0">
              <a:spcBef>
                <a:spcPct val="0"/>
              </a:spcBef>
              <a:spcAft>
                <a:spcPct val="0"/>
              </a:spcAft>
              <a:defRPr kumimoji="1" sz="1200" b="1">
                <a:solidFill>
                  <a:schemeClr val="bg1"/>
                </a:solidFill>
                <a:latin typeface="Arial" pitchFamily="34" charset="0"/>
                <a:ea typeface="맑은 고딕" pitchFamily="50" charset="-127"/>
              </a:defRPr>
            </a:lvl7pPr>
            <a:lvl8pPr marL="3429000" indent="-228600" eaLnBrk="0" fontAlgn="base" hangingPunct="0">
              <a:spcBef>
                <a:spcPct val="0"/>
              </a:spcBef>
              <a:spcAft>
                <a:spcPct val="0"/>
              </a:spcAft>
              <a:defRPr kumimoji="1" sz="1200" b="1">
                <a:solidFill>
                  <a:schemeClr val="bg1"/>
                </a:solidFill>
                <a:latin typeface="Arial" pitchFamily="34" charset="0"/>
                <a:ea typeface="맑은 고딕" pitchFamily="50" charset="-127"/>
              </a:defRPr>
            </a:lvl8pPr>
            <a:lvl9pPr marL="3886200" indent="-228600" eaLnBrk="0" fontAlgn="base" hangingPunct="0">
              <a:spcBef>
                <a:spcPct val="0"/>
              </a:spcBef>
              <a:spcAft>
                <a:spcPct val="0"/>
              </a:spcAft>
              <a:defRPr kumimoji="1" sz="1200" b="1">
                <a:solidFill>
                  <a:schemeClr val="bg1"/>
                </a:solidFill>
                <a:latin typeface="Arial" pitchFamily="34" charset="0"/>
                <a:ea typeface="맑은 고딕" pitchFamily="50" charset="-127"/>
              </a:defRPr>
            </a:lvl9pPr>
          </a:lstStyle>
          <a:p>
            <a:pPr algn="ctr" eaLnBrk="1" hangingPunct="1">
              <a:spcBef>
                <a:spcPct val="50000"/>
              </a:spcBef>
            </a:pPr>
            <a:r>
              <a:rPr lang="ko-KR" altLang="en-US" sz="1000" b="0">
                <a:solidFill>
                  <a:srgbClr val="000000"/>
                </a:solidFill>
                <a:latin typeface="+mn-ea"/>
                <a:ea typeface="+mn-ea"/>
              </a:rPr>
              <a:t>아니요</a:t>
            </a:r>
          </a:p>
        </p:txBody>
      </p:sp>
      <p:sp>
        <p:nvSpPr>
          <p:cNvPr id="74" name="AutoShape 10"/>
          <p:cNvSpPr>
            <a:spLocks noChangeArrowheads="1"/>
          </p:cNvSpPr>
          <p:nvPr/>
        </p:nvSpPr>
        <p:spPr bwMode="auto">
          <a:xfrm>
            <a:off x="3479805" y="1690095"/>
            <a:ext cx="3945876" cy="490463"/>
          </a:xfrm>
          <a:prstGeom prst="flowChartDecision">
            <a:avLst/>
          </a:prstGeom>
          <a:solidFill>
            <a:schemeClr val="accent2">
              <a:lumMod val="40000"/>
              <a:lumOff val="60000"/>
            </a:schemeClr>
          </a:solidFill>
          <a:ln>
            <a:solidFill>
              <a:schemeClr val="bg1">
                <a:lumMod val="50000"/>
              </a:schemeClr>
            </a:solidFill>
            <a:headEnd/>
            <a:tailEnd/>
          </a:ln>
          <a:effectLst/>
        </p:spPr>
        <p:style>
          <a:lnRef idx="1">
            <a:schemeClr val="accent2"/>
          </a:lnRef>
          <a:fillRef idx="3">
            <a:schemeClr val="accent2"/>
          </a:fillRef>
          <a:effectRef idx="2">
            <a:schemeClr val="accent2"/>
          </a:effectRef>
          <a:fontRef idx="minor">
            <a:schemeClr val="lt1"/>
          </a:fontRef>
        </p:style>
        <p:txBody>
          <a:bodyPr anchor="ctr"/>
          <a:lstStyle/>
          <a:p>
            <a:pPr algn="ctr" fontAlgn="auto">
              <a:spcBef>
                <a:spcPts val="0"/>
              </a:spcBef>
              <a:spcAft>
                <a:spcPts val="0"/>
              </a:spcAft>
              <a:defRPr/>
            </a:pPr>
            <a:r>
              <a:rPr lang="ko-KR" altLang="en-US" sz="1200" b="0">
                <a:solidFill>
                  <a:schemeClr val="tx2">
                    <a:lumMod val="50000"/>
                  </a:schemeClr>
                </a:solidFill>
                <a:latin typeface="+mn-ea"/>
              </a:rPr>
              <a:t>적합한 보호 형태는</a:t>
            </a:r>
            <a:r>
              <a:rPr lang="en-US" altLang="ko-KR" sz="1200" b="0">
                <a:solidFill>
                  <a:schemeClr val="tx2">
                    <a:lumMod val="50000"/>
                  </a:schemeClr>
                </a:solidFill>
                <a:latin typeface="+mn-ea"/>
              </a:rPr>
              <a:t>? </a:t>
            </a:r>
          </a:p>
        </p:txBody>
      </p:sp>
      <p:sp>
        <p:nvSpPr>
          <p:cNvPr id="75" name="AutoShape 11"/>
          <p:cNvSpPr>
            <a:spLocks noChangeArrowheads="1"/>
          </p:cNvSpPr>
          <p:nvPr/>
        </p:nvSpPr>
        <p:spPr bwMode="auto">
          <a:xfrm>
            <a:off x="914985" y="2487097"/>
            <a:ext cx="1085116" cy="306539"/>
          </a:xfrm>
          <a:prstGeom prst="flowChartProcess">
            <a:avLst/>
          </a:prstGeom>
          <a:solidFill>
            <a:schemeClr val="accent1">
              <a:lumMod val="20000"/>
              <a:lumOff val="8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a:solidFill>
                  <a:schemeClr val="tx2">
                    <a:lumMod val="50000"/>
                  </a:schemeClr>
                </a:solidFill>
                <a:latin typeface="+mn-ea"/>
              </a:rPr>
              <a:t>발명</a:t>
            </a:r>
          </a:p>
        </p:txBody>
      </p:sp>
      <p:sp>
        <p:nvSpPr>
          <p:cNvPr id="76" name="AutoShape 12"/>
          <p:cNvSpPr>
            <a:spLocks noChangeArrowheads="1"/>
          </p:cNvSpPr>
          <p:nvPr/>
        </p:nvSpPr>
        <p:spPr bwMode="auto">
          <a:xfrm>
            <a:off x="2548825" y="2487097"/>
            <a:ext cx="1085116" cy="306539"/>
          </a:xfrm>
          <a:prstGeom prst="flowChartProcess">
            <a:avLst/>
          </a:prstGeom>
          <a:solidFill>
            <a:schemeClr val="accent1">
              <a:lumMod val="20000"/>
              <a:lumOff val="8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a:solidFill>
                  <a:schemeClr val="tx2">
                    <a:lumMod val="50000"/>
                  </a:schemeClr>
                </a:solidFill>
                <a:latin typeface="+mn-ea"/>
              </a:rPr>
              <a:t>고안</a:t>
            </a:r>
          </a:p>
        </p:txBody>
      </p:sp>
      <p:sp>
        <p:nvSpPr>
          <p:cNvPr id="77" name="AutoShape 14"/>
          <p:cNvSpPr>
            <a:spLocks noChangeArrowheads="1"/>
          </p:cNvSpPr>
          <p:nvPr/>
        </p:nvSpPr>
        <p:spPr bwMode="auto">
          <a:xfrm>
            <a:off x="7174954" y="2487097"/>
            <a:ext cx="1085116" cy="306539"/>
          </a:xfrm>
          <a:prstGeom prst="flowChartProcess">
            <a:avLst/>
          </a:prstGeom>
          <a:solidFill>
            <a:schemeClr val="accent1">
              <a:lumMod val="20000"/>
              <a:lumOff val="8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a:solidFill>
                  <a:schemeClr val="tx2">
                    <a:lumMod val="50000"/>
                  </a:schemeClr>
                </a:solidFill>
                <a:latin typeface="+mn-ea"/>
              </a:rPr>
              <a:t>디자인</a:t>
            </a:r>
          </a:p>
        </p:txBody>
      </p:sp>
      <p:sp>
        <p:nvSpPr>
          <p:cNvPr id="78" name="AutoShape 15"/>
          <p:cNvSpPr>
            <a:spLocks noChangeArrowheads="1"/>
          </p:cNvSpPr>
          <p:nvPr/>
        </p:nvSpPr>
        <p:spPr bwMode="auto">
          <a:xfrm>
            <a:off x="8699870" y="2487097"/>
            <a:ext cx="1085116" cy="306539"/>
          </a:xfrm>
          <a:prstGeom prst="flowChartProcess">
            <a:avLst/>
          </a:prstGeom>
          <a:solidFill>
            <a:schemeClr val="accent1">
              <a:lumMod val="20000"/>
              <a:lumOff val="8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a:solidFill>
                  <a:schemeClr val="tx2">
                    <a:lumMod val="50000"/>
                  </a:schemeClr>
                </a:solidFill>
                <a:latin typeface="+mn-ea"/>
              </a:rPr>
              <a:t>상표</a:t>
            </a:r>
          </a:p>
        </p:txBody>
      </p:sp>
      <p:sp>
        <p:nvSpPr>
          <p:cNvPr id="82" name="AutoShape 20"/>
          <p:cNvSpPr>
            <a:spLocks noChangeArrowheads="1"/>
          </p:cNvSpPr>
          <p:nvPr/>
        </p:nvSpPr>
        <p:spPr bwMode="auto">
          <a:xfrm>
            <a:off x="4133341" y="2487097"/>
            <a:ext cx="1085116" cy="306539"/>
          </a:xfrm>
          <a:prstGeom prst="flowChartProcess">
            <a:avLst/>
          </a:prstGeom>
          <a:solidFill>
            <a:schemeClr val="accent1">
              <a:lumMod val="20000"/>
              <a:lumOff val="8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a:solidFill>
                  <a:schemeClr val="tx2">
                    <a:lumMod val="50000"/>
                  </a:schemeClr>
                </a:solidFill>
                <a:latin typeface="+mn-ea"/>
              </a:rPr>
              <a:t>저작물</a:t>
            </a:r>
          </a:p>
        </p:txBody>
      </p:sp>
      <p:sp>
        <p:nvSpPr>
          <p:cNvPr id="83" name="AutoShape 21"/>
          <p:cNvSpPr>
            <a:spLocks noChangeArrowheads="1"/>
          </p:cNvSpPr>
          <p:nvPr/>
        </p:nvSpPr>
        <p:spPr bwMode="auto">
          <a:xfrm>
            <a:off x="4133341" y="4778058"/>
            <a:ext cx="1085115" cy="367847"/>
          </a:xfrm>
          <a:prstGeom prst="flowChartProcess">
            <a:avLst/>
          </a:prstGeom>
          <a:solidFill>
            <a:schemeClr val="accent2">
              <a:lumMod val="5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bg1"/>
                </a:solidFill>
                <a:latin typeface="+mn-ea"/>
              </a:rPr>
              <a:t>등록</a:t>
            </a:r>
          </a:p>
        </p:txBody>
      </p:sp>
      <p:cxnSp>
        <p:nvCxnSpPr>
          <p:cNvPr id="86" name="AutoShape 24"/>
          <p:cNvCxnSpPr>
            <a:cxnSpLocks noChangeShapeType="1"/>
            <a:stCxn id="67" idx="2"/>
            <a:endCxn id="74" idx="0"/>
          </p:cNvCxnSpPr>
          <p:nvPr/>
        </p:nvCxnSpPr>
        <p:spPr bwMode="auto">
          <a:xfrm rot="5400000">
            <a:off x="5391435" y="1628787"/>
            <a:ext cx="122616" cy="0"/>
          </a:xfrm>
          <a:prstGeom prst="straightConnector1">
            <a:avLst/>
          </a:prstGeom>
          <a:noFill/>
          <a:ln w="9525">
            <a:solidFill>
              <a:schemeClr val="bg1">
                <a:lumMod val="50000"/>
              </a:schemeClr>
            </a:solidFill>
            <a:round/>
            <a:headEnd/>
            <a:tailEnd type="triangle" w="med" len="med"/>
          </a:ln>
          <a:extLst>
            <a:ext uri="{909E8E84-426E-40DD-AFC4-6F175D3DCCD1}">
              <a14:hiddenFill xmlns:a14="http://schemas.microsoft.com/office/drawing/2010/main">
                <a:noFill/>
              </a14:hiddenFill>
            </a:ext>
          </a:extLst>
        </p:spPr>
      </p:cxnSp>
      <p:cxnSp>
        <p:nvCxnSpPr>
          <p:cNvPr id="87" name="AutoShape 25"/>
          <p:cNvCxnSpPr>
            <a:cxnSpLocks noChangeShapeType="1"/>
            <a:stCxn id="74" idx="2"/>
            <a:endCxn id="75" idx="0"/>
          </p:cNvCxnSpPr>
          <p:nvPr/>
        </p:nvCxnSpPr>
        <p:spPr bwMode="auto">
          <a:xfrm rot="5400000">
            <a:off x="3301873" y="336227"/>
            <a:ext cx="306539" cy="3995200"/>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88" name="AutoShape 26"/>
          <p:cNvCxnSpPr>
            <a:cxnSpLocks noChangeShapeType="1"/>
            <a:stCxn id="74" idx="2"/>
            <a:endCxn id="76" idx="0"/>
          </p:cNvCxnSpPr>
          <p:nvPr/>
        </p:nvCxnSpPr>
        <p:spPr bwMode="auto">
          <a:xfrm rot="5400000">
            <a:off x="4118794" y="1153147"/>
            <a:ext cx="306539" cy="2361360"/>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89" name="AutoShape 27"/>
          <p:cNvCxnSpPr>
            <a:cxnSpLocks noChangeShapeType="1"/>
            <a:stCxn id="74" idx="2"/>
            <a:endCxn id="82" idx="0"/>
          </p:cNvCxnSpPr>
          <p:nvPr/>
        </p:nvCxnSpPr>
        <p:spPr bwMode="auto">
          <a:xfrm rot="5400000">
            <a:off x="4911051" y="1945404"/>
            <a:ext cx="306539" cy="776844"/>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90" name="AutoShape 29"/>
          <p:cNvCxnSpPr>
            <a:cxnSpLocks noChangeShapeType="1"/>
            <a:stCxn id="74" idx="2"/>
            <a:endCxn id="77" idx="0"/>
          </p:cNvCxnSpPr>
          <p:nvPr/>
        </p:nvCxnSpPr>
        <p:spPr bwMode="auto">
          <a:xfrm rot="16200000" flipH="1">
            <a:off x="6431858" y="1201442"/>
            <a:ext cx="306539" cy="2264769"/>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91" name="AutoShape 30"/>
          <p:cNvCxnSpPr>
            <a:cxnSpLocks noChangeShapeType="1"/>
            <a:stCxn id="74" idx="2"/>
            <a:endCxn id="78" idx="0"/>
          </p:cNvCxnSpPr>
          <p:nvPr/>
        </p:nvCxnSpPr>
        <p:spPr bwMode="auto">
          <a:xfrm rot="16200000" flipH="1">
            <a:off x="7194316" y="438984"/>
            <a:ext cx="306539" cy="3789685"/>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93" name="AutoShape 32"/>
          <p:cNvCxnSpPr>
            <a:cxnSpLocks noChangeShapeType="1"/>
            <a:stCxn id="75" idx="2"/>
            <a:endCxn id="70" idx="0"/>
          </p:cNvCxnSpPr>
          <p:nvPr/>
        </p:nvCxnSpPr>
        <p:spPr bwMode="auto">
          <a:xfrm rot="16200000" flipH="1">
            <a:off x="2908781" y="1342398"/>
            <a:ext cx="1092724" cy="3995200"/>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94" name="AutoShape 33"/>
          <p:cNvCxnSpPr>
            <a:cxnSpLocks noChangeShapeType="1"/>
            <a:stCxn id="76" idx="2"/>
            <a:endCxn id="70" idx="0"/>
          </p:cNvCxnSpPr>
          <p:nvPr/>
        </p:nvCxnSpPr>
        <p:spPr bwMode="auto">
          <a:xfrm rot="16200000" flipH="1">
            <a:off x="3725700" y="2159318"/>
            <a:ext cx="1092724" cy="2361360"/>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95" name="AutoShape 34"/>
          <p:cNvCxnSpPr>
            <a:cxnSpLocks noChangeShapeType="1"/>
            <a:stCxn id="82" idx="2"/>
            <a:endCxn id="70" idx="0"/>
          </p:cNvCxnSpPr>
          <p:nvPr/>
        </p:nvCxnSpPr>
        <p:spPr bwMode="auto">
          <a:xfrm rot="16200000" flipH="1">
            <a:off x="4517958" y="2951575"/>
            <a:ext cx="1092724" cy="776844"/>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96" name="AutoShape 36"/>
          <p:cNvCxnSpPr>
            <a:cxnSpLocks noChangeShapeType="1"/>
            <a:stCxn id="77" idx="2"/>
            <a:endCxn id="70" idx="0"/>
          </p:cNvCxnSpPr>
          <p:nvPr/>
        </p:nvCxnSpPr>
        <p:spPr bwMode="auto">
          <a:xfrm rot="5400000">
            <a:off x="6038766" y="2207614"/>
            <a:ext cx="1092724" cy="2264769"/>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97" name="AutoShape 37"/>
          <p:cNvCxnSpPr>
            <a:cxnSpLocks noChangeShapeType="1"/>
            <a:stCxn id="78" idx="2"/>
            <a:endCxn id="70" idx="0"/>
          </p:cNvCxnSpPr>
          <p:nvPr/>
        </p:nvCxnSpPr>
        <p:spPr bwMode="auto">
          <a:xfrm rot="5400000">
            <a:off x="6801224" y="1445155"/>
            <a:ext cx="1092724" cy="3789685"/>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99" name="AutoShape 39"/>
          <p:cNvCxnSpPr>
            <a:cxnSpLocks noChangeShapeType="1"/>
            <a:stCxn id="70" idx="3"/>
            <a:endCxn id="71" idx="1"/>
          </p:cNvCxnSpPr>
          <p:nvPr/>
        </p:nvCxnSpPr>
        <p:spPr bwMode="auto">
          <a:xfrm>
            <a:off x="6389888" y="4070284"/>
            <a:ext cx="774236" cy="0"/>
          </a:xfrm>
          <a:prstGeom prst="straightConnector1">
            <a:avLst/>
          </a:prstGeom>
          <a:noFill/>
          <a:ln w="9525">
            <a:solidFill>
              <a:schemeClr val="bg1">
                <a:lumMod val="50000"/>
              </a:schemeClr>
            </a:solidFill>
            <a:round/>
            <a:headEnd/>
            <a:tailEnd type="triangle" w="med" len="med"/>
          </a:ln>
          <a:extLst>
            <a:ext uri="{909E8E84-426E-40DD-AFC4-6F175D3DCCD1}">
              <a14:hiddenFill xmlns:a14="http://schemas.microsoft.com/office/drawing/2010/main">
                <a:noFill/>
              </a14:hiddenFill>
            </a:ext>
          </a:extLst>
        </p:spPr>
      </p:cxnSp>
      <p:cxnSp>
        <p:nvCxnSpPr>
          <p:cNvPr id="100" name="AutoShape 40"/>
          <p:cNvCxnSpPr>
            <a:cxnSpLocks noChangeShapeType="1"/>
            <a:stCxn id="70" idx="2"/>
            <a:endCxn id="68" idx="0"/>
          </p:cNvCxnSpPr>
          <p:nvPr/>
        </p:nvCxnSpPr>
        <p:spPr bwMode="auto">
          <a:xfrm rot="5400000">
            <a:off x="3193218" y="2518532"/>
            <a:ext cx="523850" cy="3995200"/>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101" name="AutoShape 41"/>
          <p:cNvCxnSpPr>
            <a:cxnSpLocks noChangeShapeType="1"/>
            <a:stCxn id="70" idx="2"/>
          </p:cNvCxnSpPr>
          <p:nvPr/>
        </p:nvCxnSpPr>
        <p:spPr bwMode="auto">
          <a:xfrm rot="5400000">
            <a:off x="4010138" y="3335452"/>
            <a:ext cx="523850" cy="2361360"/>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102" name="AutoShape 42"/>
          <p:cNvCxnSpPr>
            <a:cxnSpLocks noChangeShapeType="1"/>
            <a:stCxn id="70" idx="2"/>
            <a:endCxn id="83" idx="0"/>
          </p:cNvCxnSpPr>
          <p:nvPr/>
        </p:nvCxnSpPr>
        <p:spPr bwMode="auto">
          <a:xfrm rot="5400000">
            <a:off x="4802396" y="4127710"/>
            <a:ext cx="523850" cy="776844"/>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103" name="AutoShape 44"/>
          <p:cNvCxnSpPr>
            <a:cxnSpLocks noChangeShapeType="1"/>
            <a:stCxn id="70" idx="2"/>
          </p:cNvCxnSpPr>
          <p:nvPr/>
        </p:nvCxnSpPr>
        <p:spPr bwMode="auto">
          <a:xfrm rot="16200000" flipH="1">
            <a:off x="7084119" y="2622830"/>
            <a:ext cx="523850" cy="3786603"/>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105" name="AutoShape 46"/>
          <p:cNvCxnSpPr>
            <a:cxnSpLocks noChangeShapeType="1"/>
            <a:stCxn id="68" idx="2"/>
            <a:endCxn id="69" idx="0"/>
          </p:cNvCxnSpPr>
          <p:nvPr/>
        </p:nvCxnSpPr>
        <p:spPr bwMode="auto">
          <a:xfrm>
            <a:off x="1457543" y="5145905"/>
            <a:ext cx="0" cy="168597"/>
          </a:xfrm>
          <a:prstGeom prst="straightConnector1">
            <a:avLst/>
          </a:prstGeom>
          <a:noFill/>
          <a:ln w="9525">
            <a:solidFill>
              <a:schemeClr val="bg1">
                <a:lumMod val="50000"/>
              </a:schemeClr>
            </a:solidFill>
            <a:round/>
            <a:headEnd/>
            <a:tailEnd type="triangle" w="med" len="med"/>
          </a:ln>
          <a:extLst>
            <a:ext uri="{909E8E84-426E-40DD-AFC4-6F175D3DCCD1}">
              <a14:hiddenFill xmlns:a14="http://schemas.microsoft.com/office/drawing/2010/main">
                <a:noFill/>
              </a14:hiddenFill>
            </a:ext>
          </a:extLst>
        </p:spPr>
      </p:cxnSp>
      <p:sp>
        <p:nvSpPr>
          <p:cNvPr id="107" name="AutoShape 48"/>
          <p:cNvSpPr>
            <a:spLocks noChangeArrowheads="1"/>
          </p:cNvSpPr>
          <p:nvPr/>
        </p:nvSpPr>
        <p:spPr bwMode="auto">
          <a:xfrm>
            <a:off x="5684975" y="2487097"/>
            <a:ext cx="1085116" cy="306539"/>
          </a:xfrm>
          <a:prstGeom prst="flowChartProcess">
            <a:avLst/>
          </a:prstGeom>
          <a:solidFill>
            <a:schemeClr val="accent1">
              <a:lumMod val="20000"/>
              <a:lumOff val="8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a:solidFill>
                  <a:schemeClr val="tx2">
                    <a:lumMod val="50000"/>
                  </a:schemeClr>
                </a:solidFill>
                <a:latin typeface="+mn-ea"/>
              </a:rPr>
              <a:t>배치설계</a:t>
            </a:r>
          </a:p>
        </p:txBody>
      </p:sp>
      <p:sp>
        <p:nvSpPr>
          <p:cNvPr id="108" name="AutoShape 49"/>
          <p:cNvSpPr>
            <a:spLocks noChangeArrowheads="1"/>
          </p:cNvSpPr>
          <p:nvPr/>
        </p:nvSpPr>
        <p:spPr bwMode="auto">
          <a:xfrm>
            <a:off x="5684975" y="4778058"/>
            <a:ext cx="1085115"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a:solidFill>
                  <a:schemeClr val="tx1"/>
                </a:solidFill>
                <a:latin typeface="+mn-ea"/>
              </a:rPr>
              <a:t>등록</a:t>
            </a:r>
          </a:p>
        </p:txBody>
      </p:sp>
      <p:cxnSp>
        <p:nvCxnSpPr>
          <p:cNvPr id="109" name="AutoShape 50"/>
          <p:cNvCxnSpPr>
            <a:cxnSpLocks noChangeShapeType="1"/>
            <a:stCxn id="70" idx="2"/>
            <a:endCxn id="108" idx="0"/>
          </p:cNvCxnSpPr>
          <p:nvPr/>
        </p:nvCxnSpPr>
        <p:spPr bwMode="auto">
          <a:xfrm rot="16200000" flipH="1">
            <a:off x="5578213" y="4128737"/>
            <a:ext cx="523850" cy="774790"/>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110" name="AutoShape 51"/>
          <p:cNvCxnSpPr>
            <a:cxnSpLocks noChangeShapeType="1"/>
            <a:stCxn id="74" idx="2"/>
            <a:endCxn id="107" idx="0"/>
          </p:cNvCxnSpPr>
          <p:nvPr/>
        </p:nvCxnSpPr>
        <p:spPr bwMode="auto">
          <a:xfrm rot="16200000" flipH="1">
            <a:off x="5686868" y="1946432"/>
            <a:ext cx="306539" cy="774790"/>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112" name="AutoShape 53"/>
          <p:cNvCxnSpPr>
            <a:cxnSpLocks noChangeShapeType="1"/>
            <a:stCxn id="70" idx="2"/>
          </p:cNvCxnSpPr>
          <p:nvPr/>
        </p:nvCxnSpPr>
        <p:spPr bwMode="auto">
          <a:xfrm rot="16200000" flipH="1">
            <a:off x="6330395" y="3376554"/>
            <a:ext cx="523850" cy="2279155"/>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sp>
        <p:nvSpPr>
          <p:cNvPr id="114" name="AutoShape 17"/>
          <p:cNvSpPr>
            <a:spLocks noChangeArrowheads="1"/>
          </p:cNvSpPr>
          <p:nvPr/>
        </p:nvSpPr>
        <p:spPr bwMode="auto">
          <a:xfrm>
            <a:off x="1888514" y="3377465"/>
            <a:ext cx="1932142" cy="1092725"/>
          </a:xfrm>
          <a:prstGeom prst="wedgeRoundRectCallout">
            <a:avLst>
              <a:gd name="adj1" fmla="val 82411"/>
              <a:gd name="adj2" fmla="val 14700"/>
              <a:gd name="adj3" fmla="val 16667"/>
            </a:avLst>
          </a:prstGeom>
          <a:ln>
            <a:solidFill>
              <a:schemeClr val="bg1">
                <a:lumMod val="50000"/>
              </a:schemeClr>
            </a:solidFill>
            <a:headEnd/>
            <a:tailEnd/>
          </a:ln>
        </p:spPr>
        <p:style>
          <a:lnRef idx="2">
            <a:schemeClr val="accent2"/>
          </a:lnRef>
          <a:fillRef idx="1">
            <a:schemeClr val="lt1"/>
          </a:fillRef>
          <a:effectRef idx="0">
            <a:schemeClr val="accent2"/>
          </a:effectRef>
          <a:fontRef idx="minor">
            <a:schemeClr val="dk1"/>
          </a:fontRef>
        </p:style>
        <p:txBody>
          <a:bodyPr anchor="ctr"/>
          <a:lstStyle/>
          <a:p>
            <a:pPr marL="0" lvl="2">
              <a:buClr>
                <a:srgbClr val="A50021"/>
              </a:buClr>
              <a:buFont typeface="Wingdings" pitchFamily="2" charset="2"/>
              <a:buChar char="§"/>
            </a:pPr>
            <a:r>
              <a:rPr lang="en-US" altLang="ko-KR" sz="1200" b="0" dirty="0">
                <a:solidFill>
                  <a:schemeClr val="tx2">
                    <a:lumMod val="50000"/>
                  </a:schemeClr>
                </a:solidFill>
                <a:latin typeface="+mn-ea"/>
              </a:rPr>
              <a:t> </a:t>
            </a:r>
            <a:r>
              <a:rPr lang="ko-KR" altLang="en-US" sz="1200" b="0" dirty="0">
                <a:solidFill>
                  <a:schemeClr val="tx2">
                    <a:lumMod val="50000"/>
                  </a:schemeClr>
                </a:solidFill>
                <a:latin typeface="+mn-ea"/>
              </a:rPr>
              <a:t>경제적 가치의 판단</a:t>
            </a:r>
          </a:p>
          <a:p>
            <a:pPr marL="0" lvl="2">
              <a:buClr>
                <a:srgbClr val="A50021"/>
              </a:buClr>
              <a:buFont typeface="Wingdings" pitchFamily="2" charset="2"/>
              <a:buChar char="§"/>
            </a:pPr>
            <a:r>
              <a:rPr lang="ko-KR" altLang="en-US" sz="1200" b="0" dirty="0">
                <a:solidFill>
                  <a:schemeClr val="tx2">
                    <a:lumMod val="50000"/>
                  </a:schemeClr>
                </a:solidFill>
                <a:latin typeface="+mn-ea"/>
              </a:rPr>
              <a:t> 시장 판단</a:t>
            </a:r>
          </a:p>
          <a:p>
            <a:pPr marL="0" lvl="2">
              <a:buClr>
                <a:srgbClr val="A50021"/>
              </a:buClr>
              <a:buFont typeface="Wingdings" pitchFamily="2" charset="2"/>
              <a:buChar char="§"/>
            </a:pPr>
            <a:r>
              <a:rPr lang="ko-KR" altLang="en-US" sz="1200" b="0" dirty="0">
                <a:solidFill>
                  <a:schemeClr val="tx2">
                    <a:lumMod val="50000"/>
                  </a:schemeClr>
                </a:solidFill>
                <a:latin typeface="+mn-ea"/>
              </a:rPr>
              <a:t> 등록 가능성 검토</a:t>
            </a:r>
          </a:p>
          <a:p>
            <a:pPr marL="0" lvl="2">
              <a:buClr>
                <a:srgbClr val="A50021"/>
              </a:buClr>
              <a:buFont typeface="Wingdings" pitchFamily="2" charset="2"/>
              <a:buChar char="§"/>
            </a:pPr>
            <a:r>
              <a:rPr lang="ko-KR" altLang="en-US" sz="1200" b="0" dirty="0">
                <a:solidFill>
                  <a:schemeClr val="tx2">
                    <a:lumMod val="50000"/>
                  </a:schemeClr>
                </a:solidFill>
                <a:latin typeface="+mn-ea"/>
              </a:rPr>
              <a:t> 보호 수단의 적합성</a:t>
            </a:r>
          </a:p>
          <a:p>
            <a:pPr marL="0" lvl="2">
              <a:buClr>
                <a:srgbClr val="A50021"/>
              </a:buClr>
              <a:buFont typeface="Wingdings" pitchFamily="2" charset="2"/>
              <a:buChar char="§"/>
            </a:pPr>
            <a:r>
              <a:rPr lang="ko-KR" altLang="en-US" sz="1200" b="0" dirty="0">
                <a:solidFill>
                  <a:schemeClr val="tx2">
                    <a:lumMod val="50000"/>
                  </a:schemeClr>
                </a:solidFill>
                <a:latin typeface="+mn-ea"/>
              </a:rPr>
              <a:t> 개량</a:t>
            </a:r>
            <a:r>
              <a:rPr lang="en-US" altLang="ko-KR" sz="1200" b="0" dirty="0">
                <a:solidFill>
                  <a:schemeClr val="tx2">
                    <a:lumMod val="50000"/>
                  </a:schemeClr>
                </a:solidFill>
                <a:latin typeface="+mn-ea"/>
              </a:rPr>
              <a:t>/</a:t>
            </a:r>
            <a:r>
              <a:rPr lang="ko-KR" altLang="en-US" sz="1200" b="0" dirty="0">
                <a:solidFill>
                  <a:schemeClr val="tx2">
                    <a:lumMod val="50000"/>
                  </a:schemeClr>
                </a:solidFill>
                <a:latin typeface="+mn-ea"/>
              </a:rPr>
              <a:t>보완의 가능성</a:t>
            </a:r>
            <a:endParaRPr lang="ko-KR" altLang="en-US" sz="1400" b="0" dirty="0">
              <a:solidFill>
                <a:schemeClr val="tx2">
                  <a:lumMod val="50000"/>
                </a:schemeClr>
              </a:solidFill>
              <a:latin typeface="+mn-ea"/>
            </a:endParaRPr>
          </a:p>
        </p:txBody>
      </p:sp>
      <p:sp>
        <p:nvSpPr>
          <p:cNvPr id="115" name="AutoShape 11"/>
          <p:cNvSpPr>
            <a:spLocks noChangeArrowheads="1"/>
          </p:cNvSpPr>
          <p:nvPr/>
        </p:nvSpPr>
        <p:spPr bwMode="auto">
          <a:xfrm>
            <a:off x="914985" y="2894582"/>
            <a:ext cx="1085116" cy="306539"/>
          </a:xfrm>
          <a:prstGeom prst="flowChartProcess">
            <a:avLst/>
          </a:prstGeom>
          <a:solidFill>
            <a:schemeClr val="accent1">
              <a:lumMod val="5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a:solidFill>
                  <a:schemeClr val="bg1">
                    <a:lumMod val="95000"/>
                  </a:schemeClr>
                </a:solidFill>
                <a:latin typeface="+mn-ea"/>
              </a:rPr>
              <a:t>특허권</a:t>
            </a:r>
          </a:p>
        </p:txBody>
      </p:sp>
      <p:sp>
        <p:nvSpPr>
          <p:cNvPr id="116" name="AutoShape 12"/>
          <p:cNvSpPr>
            <a:spLocks noChangeArrowheads="1"/>
          </p:cNvSpPr>
          <p:nvPr/>
        </p:nvSpPr>
        <p:spPr bwMode="auto">
          <a:xfrm>
            <a:off x="2548825" y="2894582"/>
            <a:ext cx="1085116" cy="306539"/>
          </a:xfrm>
          <a:prstGeom prst="flowChartProcess">
            <a:avLst/>
          </a:prstGeom>
          <a:solidFill>
            <a:schemeClr val="accent1">
              <a:lumMod val="5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err="1">
                <a:solidFill>
                  <a:schemeClr val="bg1">
                    <a:lumMod val="95000"/>
                  </a:schemeClr>
                </a:solidFill>
                <a:latin typeface="+mn-ea"/>
              </a:rPr>
              <a:t>실용신안권</a:t>
            </a:r>
            <a:endParaRPr lang="ko-KR" altLang="en-US" sz="1050" b="0" dirty="0">
              <a:solidFill>
                <a:schemeClr val="bg1">
                  <a:lumMod val="95000"/>
                </a:schemeClr>
              </a:solidFill>
              <a:latin typeface="+mn-ea"/>
            </a:endParaRPr>
          </a:p>
        </p:txBody>
      </p:sp>
      <p:sp>
        <p:nvSpPr>
          <p:cNvPr id="117" name="AutoShape 14"/>
          <p:cNvSpPr>
            <a:spLocks noChangeArrowheads="1"/>
          </p:cNvSpPr>
          <p:nvPr/>
        </p:nvSpPr>
        <p:spPr bwMode="auto">
          <a:xfrm>
            <a:off x="7174954" y="2894582"/>
            <a:ext cx="1085116" cy="306539"/>
          </a:xfrm>
          <a:prstGeom prst="flowChartProcess">
            <a:avLst/>
          </a:prstGeom>
          <a:solidFill>
            <a:schemeClr val="accent1">
              <a:lumMod val="5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a:solidFill>
                  <a:schemeClr val="bg1">
                    <a:lumMod val="95000"/>
                  </a:schemeClr>
                </a:solidFill>
                <a:latin typeface="+mn-ea"/>
              </a:rPr>
              <a:t>디자인권</a:t>
            </a:r>
          </a:p>
        </p:txBody>
      </p:sp>
      <p:sp>
        <p:nvSpPr>
          <p:cNvPr id="118" name="AutoShape 15"/>
          <p:cNvSpPr>
            <a:spLocks noChangeArrowheads="1"/>
          </p:cNvSpPr>
          <p:nvPr/>
        </p:nvSpPr>
        <p:spPr bwMode="auto">
          <a:xfrm>
            <a:off x="8699870" y="2894582"/>
            <a:ext cx="1085116" cy="306539"/>
          </a:xfrm>
          <a:prstGeom prst="flowChartProcess">
            <a:avLst/>
          </a:prstGeom>
          <a:solidFill>
            <a:schemeClr val="accent1">
              <a:lumMod val="5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a:solidFill>
                  <a:schemeClr val="bg1">
                    <a:lumMod val="95000"/>
                  </a:schemeClr>
                </a:solidFill>
                <a:latin typeface="+mn-ea"/>
              </a:rPr>
              <a:t>상표권</a:t>
            </a:r>
          </a:p>
        </p:txBody>
      </p:sp>
      <p:sp>
        <p:nvSpPr>
          <p:cNvPr id="120" name="AutoShape 20"/>
          <p:cNvSpPr>
            <a:spLocks noChangeArrowheads="1"/>
          </p:cNvSpPr>
          <p:nvPr/>
        </p:nvSpPr>
        <p:spPr bwMode="auto">
          <a:xfrm>
            <a:off x="4133341" y="2894582"/>
            <a:ext cx="1085116" cy="306539"/>
          </a:xfrm>
          <a:prstGeom prst="flowChartProcess">
            <a:avLst/>
          </a:prstGeom>
          <a:solidFill>
            <a:schemeClr val="accent1">
              <a:lumMod val="5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a:solidFill>
                  <a:schemeClr val="bg1">
                    <a:lumMod val="95000"/>
                  </a:schemeClr>
                </a:solidFill>
                <a:latin typeface="+mn-ea"/>
              </a:rPr>
              <a:t>저작권</a:t>
            </a:r>
          </a:p>
        </p:txBody>
      </p:sp>
      <p:cxnSp>
        <p:nvCxnSpPr>
          <p:cNvPr id="121" name="AutoShape 34"/>
          <p:cNvCxnSpPr>
            <a:cxnSpLocks noChangeShapeType="1"/>
            <a:stCxn id="107" idx="2"/>
            <a:endCxn id="70" idx="0"/>
          </p:cNvCxnSpPr>
          <p:nvPr/>
        </p:nvCxnSpPr>
        <p:spPr bwMode="auto">
          <a:xfrm rot="5400000">
            <a:off x="5293776" y="2952603"/>
            <a:ext cx="1092724" cy="774790"/>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sp>
        <p:nvSpPr>
          <p:cNvPr id="122" name="AutoShape 48"/>
          <p:cNvSpPr>
            <a:spLocks noChangeArrowheads="1"/>
          </p:cNvSpPr>
          <p:nvPr/>
        </p:nvSpPr>
        <p:spPr bwMode="auto">
          <a:xfrm>
            <a:off x="5684975" y="2894582"/>
            <a:ext cx="1085116" cy="306539"/>
          </a:xfrm>
          <a:prstGeom prst="flowChartProcess">
            <a:avLst/>
          </a:prstGeom>
          <a:solidFill>
            <a:schemeClr val="accent1">
              <a:lumMod val="50000"/>
            </a:schemeClr>
          </a:solidFill>
          <a:ln>
            <a:solidFill>
              <a:schemeClr val="bg1">
                <a:lumMod val="50000"/>
              </a:schemeClr>
            </a:solidFill>
            <a:headEnd/>
            <a:tailEnd/>
          </a:ln>
          <a:effectLst/>
        </p:spPr>
        <p:style>
          <a:lnRef idx="1">
            <a:schemeClr val="accent1"/>
          </a:lnRef>
          <a:fillRef idx="3">
            <a:schemeClr val="accent1"/>
          </a:fillRef>
          <a:effectRef idx="2">
            <a:schemeClr val="accent1"/>
          </a:effectRef>
          <a:fontRef idx="minor">
            <a:schemeClr val="lt1"/>
          </a:fontRef>
        </p:style>
        <p:txBody>
          <a:bodyPr anchor="ctr"/>
          <a:lstStyle/>
          <a:p>
            <a:pPr algn="ctr" fontAlgn="auto">
              <a:spcBef>
                <a:spcPts val="0"/>
              </a:spcBef>
              <a:spcAft>
                <a:spcPts val="0"/>
              </a:spcAft>
              <a:defRPr/>
            </a:pPr>
            <a:r>
              <a:rPr lang="ko-KR" altLang="en-US" sz="1050" b="0" dirty="0" err="1">
                <a:solidFill>
                  <a:schemeClr val="bg1">
                    <a:lumMod val="95000"/>
                  </a:schemeClr>
                </a:solidFill>
                <a:latin typeface="+mn-ea"/>
              </a:rPr>
              <a:t>배치설계권</a:t>
            </a:r>
            <a:endParaRPr lang="ko-KR" altLang="en-US" sz="1050" b="0" dirty="0">
              <a:solidFill>
                <a:schemeClr val="bg1">
                  <a:lumMod val="95000"/>
                </a:schemeClr>
              </a:solidFill>
              <a:latin typeface="+mn-ea"/>
            </a:endParaRPr>
          </a:p>
        </p:txBody>
      </p:sp>
      <p:sp>
        <p:nvSpPr>
          <p:cNvPr id="63" name="Rectangle 7">
            <a:extLst>
              <a:ext uri="{FF2B5EF4-FFF2-40B4-BE49-F238E27FC236}">
                <a16:creationId xmlns:a16="http://schemas.microsoft.com/office/drawing/2014/main" id="{C93E2E17-D27B-4891-9FE2-2DEC16F28C86}"/>
              </a:ext>
            </a:extLst>
          </p:cNvPr>
          <p:cNvSpPr>
            <a:spLocks noChangeArrowheads="1"/>
          </p:cNvSpPr>
          <p:nvPr/>
        </p:nvSpPr>
        <p:spPr bwMode="auto">
          <a:xfrm>
            <a:off x="9275980" y="3535177"/>
            <a:ext cx="1085116" cy="306539"/>
          </a:xfrm>
          <a:prstGeom prst="rect">
            <a:avLst/>
          </a:prstGeom>
          <a:solidFill>
            <a:schemeClr val="accent6">
              <a:lumMod val="20000"/>
              <a:lumOff val="80000"/>
            </a:schemeClr>
          </a:solidFill>
          <a:ln>
            <a:solidFill>
              <a:schemeClr val="bg1">
                <a:lumMod val="50000"/>
              </a:schemeClr>
            </a:solidFill>
            <a:headEnd/>
            <a:tailEnd/>
          </a:ln>
          <a:effectLst/>
        </p:spPr>
        <p:style>
          <a:lnRef idx="1">
            <a:schemeClr val="dk1"/>
          </a:lnRef>
          <a:fillRef idx="3">
            <a:schemeClr val="dk1"/>
          </a:fillRef>
          <a:effectRef idx="2">
            <a:schemeClr val="dk1"/>
          </a:effectRef>
          <a:fontRef idx="minor">
            <a:schemeClr val="lt1"/>
          </a:fontRef>
        </p:style>
        <p:txBody>
          <a:bodyPr anchor="ctr"/>
          <a:lstStyle/>
          <a:p>
            <a:pPr algn="ctr" fontAlgn="auto">
              <a:spcBef>
                <a:spcPts val="0"/>
              </a:spcBef>
              <a:spcAft>
                <a:spcPts val="0"/>
              </a:spcAft>
              <a:defRPr/>
            </a:pPr>
            <a:r>
              <a:rPr lang="ko-KR" altLang="en-US" sz="1200" b="0" dirty="0">
                <a:solidFill>
                  <a:schemeClr val="tx1"/>
                </a:solidFill>
                <a:latin typeface="+mn-ea"/>
              </a:rPr>
              <a:t>영업비밀</a:t>
            </a:r>
          </a:p>
        </p:txBody>
      </p:sp>
      <p:sp>
        <p:nvSpPr>
          <p:cNvPr id="64" name="Rectangle 7">
            <a:extLst>
              <a:ext uri="{FF2B5EF4-FFF2-40B4-BE49-F238E27FC236}">
                <a16:creationId xmlns:a16="http://schemas.microsoft.com/office/drawing/2014/main" id="{CE7D34F9-785B-4D6F-BE53-6D84C6119BA8}"/>
              </a:ext>
            </a:extLst>
          </p:cNvPr>
          <p:cNvSpPr>
            <a:spLocks noChangeArrowheads="1"/>
          </p:cNvSpPr>
          <p:nvPr/>
        </p:nvSpPr>
        <p:spPr bwMode="auto">
          <a:xfrm>
            <a:off x="9275980" y="3917768"/>
            <a:ext cx="1085116" cy="306539"/>
          </a:xfrm>
          <a:prstGeom prst="rect">
            <a:avLst/>
          </a:prstGeom>
          <a:solidFill>
            <a:schemeClr val="accent6">
              <a:lumMod val="20000"/>
              <a:lumOff val="80000"/>
            </a:schemeClr>
          </a:solidFill>
          <a:ln>
            <a:solidFill>
              <a:schemeClr val="bg1">
                <a:lumMod val="50000"/>
              </a:schemeClr>
            </a:solidFill>
            <a:headEnd/>
            <a:tailEnd/>
          </a:ln>
          <a:effectLst/>
        </p:spPr>
        <p:style>
          <a:lnRef idx="1">
            <a:schemeClr val="dk1"/>
          </a:lnRef>
          <a:fillRef idx="3">
            <a:schemeClr val="dk1"/>
          </a:fillRef>
          <a:effectRef idx="2">
            <a:schemeClr val="dk1"/>
          </a:effectRef>
          <a:fontRef idx="minor">
            <a:schemeClr val="lt1"/>
          </a:fontRef>
        </p:style>
        <p:txBody>
          <a:bodyPr anchor="ctr"/>
          <a:lstStyle/>
          <a:p>
            <a:pPr algn="ctr" fontAlgn="auto">
              <a:spcBef>
                <a:spcPts val="0"/>
              </a:spcBef>
              <a:spcAft>
                <a:spcPts val="0"/>
              </a:spcAft>
              <a:defRPr/>
            </a:pPr>
            <a:r>
              <a:rPr lang="ko-KR" altLang="en-US" sz="1200" b="0" dirty="0">
                <a:solidFill>
                  <a:schemeClr val="tx1"/>
                </a:solidFill>
                <a:latin typeface="+mn-ea"/>
              </a:rPr>
              <a:t>공개</a:t>
            </a:r>
          </a:p>
        </p:txBody>
      </p:sp>
      <p:cxnSp>
        <p:nvCxnSpPr>
          <p:cNvPr id="65" name="AutoShape 44">
            <a:extLst>
              <a:ext uri="{FF2B5EF4-FFF2-40B4-BE49-F238E27FC236}">
                <a16:creationId xmlns:a16="http://schemas.microsoft.com/office/drawing/2014/main" id="{99E65613-09E0-4A78-B540-CC6FE714D61C}"/>
              </a:ext>
            </a:extLst>
          </p:cNvPr>
          <p:cNvCxnSpPr>
            <a:cxnSpLocks noChangeShapeType="1"/>
            <a:stCxn id="71" idx="3"/>
            <a:endCxn id="63" idx="1"/>
          </p:cNvCxnSpPr>
          <p:nvPr/>
        </p:nvCxnSpPr>
        <p:spPr bwMode="auto">
          <a:xfrm flipV="1">
            <a:off x="8857728" y="3688446"/>
            <a:ext cx="418252" cy="381838"/>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cxnSp>
        <p:nvCxnSpPr>
          <p:cNvPr id="123" name="AutoShape 44">
            <a:extLst>
              <a:ext uri="{FF2B5EF4-FFF2-40B4-BE49-F238E27FC236}">
                <a16:creationId xmlns:a16="http://schemas.microsoft.com/office/drawing/2014/main" id="{E571F9FA-BE25-4AA2-AE0A-584F87FF974D}"/>
              </a:ext>
            </a:extLst>
          </p:cNvPr>
          <p:cNvCxnSpPr>
            <a:cxnSpLocks noChangeShapeType="1"/>
            <a:stCxn id="71" idx="3"/>
            <a:endCxn id="64" idx="1"/>
          </p:cNvCxnSpPr>
          <p:nvPr/>
        </p:nvCxnSpPr>
        <p:spPr bwMode="auto">
          <a:xfrm>
            <a:off x="8857728" y="4070284"/>
            <a:ext cx="418252" cy="754"/>
          </a:xfrm>
          <a:prstGeom prst="bentConnector3">
            <a:avLst>
              <a:gd name="adj1" fmla="val 50000"/>
            </a:avLst>
          </a:prstGeom>
          <a:noFill/>
          <a:ln w="9525">
            <a:solidFill>
              <a:schemeClr val="bg1">
                <a:lumMod val="50000"/>
              </a:schemeClr>
            </a:solidFill>
            <a:miter lim="800000"/>
            <a:headEnd/>
            <a:tailEnd type="triangle" w="med" len="med"/>
          </a:ln>
          <a:extLst>
            <a:ext uri="{909E8E84-426E-40DD-AFC4-6F175D3DCCD1}">
              <a14:hiddenFill xmlns:a14="http://schemas.microsoft.com/office/drawing/2010/main">
                <a:noFill/>
              </a14:hiddenFill>
            </a:ext>
          </a:extLst>
        </p:spPr>
      </p:cxnSp>
      <p:grpSp>
        <p:nvGrpSpPr>
          <p:cNvPr id="124" name="그룹 123">
            <a:extLst>
              <a:ext uri="{FF2B5EF4-FFF2-40B4-BE49-F238E27FC236}">
                <a16:creationId xmlns:a16="http://schemas.microsoft.com/office/drawing/2014/main" id="{8BC5A3A8-6119-4B51-9C15-AC74592BFC50}"/>
              </a:ext>
            </a:extLst>
          </p:cNvPr>
          <p:cNvGrpSpPr/>
          <p:nvPr/>
        </p:nvGrpSpPr>
        <p:grpSpPr>
          <a:xfrm flipH="1">
            <a:off x="9762573" y="4296626"/>
            <a:ext cx="79376" cy="271783"/>
            <a:chOff x="2474392" y="6228804"/>
            <a:chExt cx="144016" cy="504056"/>
          </a:xfrm>
          <a:solidFill>
            <a:schemeClr val="tx1"/>
          </a:solidFill>
        </p:grpSpPr>
        <p:sp>
          <p:nvSpPr>
            <p:cNvPr id="125" name="타원 124">
              <a:extLst>
                <a:ext uri="{FF2B5EF4-FFF2-40B4-BE49-F238E27FC236}">
                  <a16:creationId xmlns:a16="http://schemas.microsoft.com/office/drawing/2014/main" id="{F0B7F14D-8CED-4E32-911E-BAE0E0312404}"/>
                </a:ext>
              </a:extLst>
            </p:cNvPr>
            <p:cNvSpPr/>
            <p:nvPr/>
          </p:nvSpPr>
          <p:spPr>
            <a:xfrm>
              <a:off x="2474392" y="6228804"/>
              <a:ext cx="144016" cy="144016"/>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6" name="타원 125">
              <a:extLst>
                <a:ext uri="{FF2B5EF4-FFF2-40B4-BE49-F238E27FC236}">
                  <a16:creationId xmlns:a16="http://schemas.microsoft.com/office/drawing/2014/main" id="{8CEF0D0A-FCE5-4E64-AE84-A670CA16A719}"/>
                </a:ext>
              </a:extLst>
            </p:cNvPr>
            <p:cNvSpPr/>
            <p:nvPr/>
          </p:nvSpPr>
          <p:spPr>
            <a:xfrm>
              <a:off x="2474392" y="6406687"/>
              <a:ext cx="144016" cy="144016"/>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7" name="타원 126">
              <a:extLst>
                <a:ext uri="{FF2B5EF4-FFF2-40B4-BE49-F238E27FC236}">
                  <a16:creationId xmlns:a16="http://schemas.microsoft.com/office/drawing/2014/main" id="{74F7FC87-3888-4BDA-BF6D-4D346A07411B}"/>
                </a:ext>
              </a:extLst>
            </p:cNvPr>
            <p:cNvSpPr/>
            <p:nvPr/>
          </p:nvSpPr>
          <p:spPr>
            <a:xfrm>
              <a:off x="2474392" y="6588844"/>
              <a:ext cx="144016" cy="144016"/>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1" name="그룹 10">
            <a:extLst>
              <a:ext uri="{FF2B5EF4-FFF2-40B4-BE49-F238E27FC236}">
                <a16:creationId xmlns:a16="http://schemas.microsoft.com/office/drawing/2014/main" id="{2F033260-42C3-4D42-8F6B-6C14CED6693A}"/>
              </a:ext>
            </a:extLst>
          </p:cNvPr>
          <p:cNvGrpSpPr/>
          <p:nvPr/>
        </p:nvGrpSpPr>
        <p:grpSpPr>
          <a:xfrm>
            <a:off x="9963163" y="2643154"/>
            <a:ext cx="371984" cy="77653"/>
            <a:chOff x="9963163" y="2857889"/>
            <a:chExt cx="371984" cy="96515"/>
          </a:xfrm>
          <a:solidFill>
            <a:schemeClr val="tx1"/>
          </a:solidFill>
        </p:grpSpPr>
        <p:sp>
          <p:nvSpPr>
            <p:cNvPr id="129" name="타원 128">
              <a:extLst>
                <a:ext uri="{FF2B5EF4-FFF2-40B4-BE49-F238E27FC236}">
                  <a16:creationId xmlns:a16="http://schemas.microsoft.com/office/drawing/2014/main" id="{045C7363-686A-4736-A8E9-E4BA56C068FA}"/>
                </a:ext>
              </a:extLst>
            </p:cNvPr>
            <p:cNvSpPr/>
            <p:nvPr/>
          </p:nvSpPr>
          <p:spPr>
            <a:xfrm flipH="1">
              <a:off x="9963163" y="2857889"/>
              <a:ext cx="79376" cy="96515"/>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0" name="타원 129">
              <a:extLst>
                <a:ext uri="{FF2B5EF4-FFF2-40B4-BE49-F238E27FC236}">
                  <a16:creationId xmlns:a16="http://schemas.microsoft.com/office/drawing/2014/main" id="{6785B01F-1EC4-4531-9347-024780DBC451}"/>
                </a:ext>
              </a:extLst>
            </p:cNvPr>
            <p:cNvSpPr/>
            <p:nvPr/>
          </p:nvSpPr>
          <p:spPr>
            <a:xfrm flipH="1">
              <a:off x="10109467" y="2857889"/>
              <a:ext cx="79376" cy="96515"/>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1" name="타원 130">
              <a:extLst>
                <a:ext uri="{FF2B5EF4-FFF2-40B4-BE49-F238E27FC236}">
                  <a16:creationId xmlns:a16="http://schemas.microsoft.com/office/drawing/2014/main" id="{1D083D5D-CB4F-4B88-8222-4D1921740ED2}"/>
                </a:ext>
              </a:extLst>
            </p:cNvPr>
            <p:cNvSpPr/>
            <p:nvPr/>
          </p:nvSpPr>
          <p:spPr>
            <a:xfrm flipH="1">
              <a:off x="10255771" y="2857889"/>
              <a:ext cx="79376" cy="96515"/>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32" name="그룹 131">
            <a:extLst>
              <a:ext uri="{FF2B5EF4-FFF2-40B4-BE49-F238E27FC236}">
                <a16:creationId xmlns:a16="http://schemas.microsoft.com/office/drawing/2014/main" id="{FA8E78C7-3869-48BD-AD0C-119A4729A590}"/>
              </a:ext>
            </a:extLst>
          </p:cNvPr>
          <p:cNvGrpSpPr/>
          <p:nvPr/>
        </p:nvGrpSpPr>
        <p:grpSpPr>
          <a:xfrm>
            <a:off x="9900805" y="4923154"/>
            <a:ext cx="371984" cy="77653"/>
            <a:chOff x="9963163" y="2857889"/>
            <a:chExt cx="371984" cy="96515"/>
          </a:xfrm>
          <a:solidFill>
            <a:schemeClr val="tx1"/>
          </a:solidFill>
        </p:grpSpPr>
        <p:sp>
          <p:nvSpPr>
            <p:cNvPr id="133" name="타원 132">
              <a:extLst>
                <a:ext uri="{FF2B5EF4-FFF2-40B4-BE49-F238E27FC236}">
                  <a16:creationId xmlns:a16="http://schemas.microsoft.com/office/drawing/2014/main" id="{EB56D160-2562-4E0C-B8F8-F273AB81712E}"/>
                </a:ext>
              </a:extLst>
            </p:cNvPr>
            <p:cNvSpPr/>
            <p:nvPr/>
          </p:nvSpPr>
          <p:spPr>
            <a:xfrm flipH="1">
              <a:off x="9963163" y="2857889"/>
              <a:ext cx="79376" cy="96515"/>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4" name="타원 133">
              <a:extLst>
                <a:ext uri="{FF2B5EF4-FFF2-40B4-BE49-F238E27FC236}">
                  <a16:creationId xmlns:a16="http://schemas.microsoft.com/office/drawing/2014/main" id="{5A91A9AA-8D29-40B0-85A7-43209273309C}"/>
                </a:ext>
              </a:extLst>
            </p:cNvPr>
            <p:cNvSpPr/>
            <p:nvPr/>
          </p:nvSpPr>
          <p:spPr>
            <a:xfrm flipH="1">
              <a:off x="10109467" y="2857889"/>
              <a:ext cx="79376" cy="96515"/>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5" name="타원 134">
              <a:extLst>
                <a:ext uri="{FF2B5EF4-FFF2-40B4-BE49-F238E27FC236}">
                  <a16:creationId xmlns:a16="http://schemas.microsoft.com/office/drawing/2014/main" id="{1D70A4A8-14BA-40D1-B79E-9B7264149CD9}"/>
                </a:ext>
              </a:extLst>
            </p:cNvPr>
            <p:cNvSpPr/>
            <p:nvPr/>
          </p:nvSpPr>
          <p:spPr>
            <a:xfrm flipH="1">
              <a:off x="10255771" y="2857889"/>
              <a:ext cx="79376" cy="96515"/>
            </a:xfrm>
            <a:prstGeom prst="ellipse">
              <a:avLst/>
            </a:prstGeom>
            <a:grp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6" name="말풍선: 모서리가 둥근 사각형 5">
            <a:extLst>
              <a:ext uri="{FF2B5EF4-FFF2-40B4-BE49-F238E27FC236}">
                <a16:creationId xmlns:a16="http://schemas.microsoft.com/office/drawing/2014/main" id="{51CA8727-0023-46F1-B295-DCB938439BFC}"/>
              </a:ext>
            </a:extLst>
          </p:cNvPr>
          <p:cNvSpPr/>
          <p:nvPr/>
        </p:nvSpPr>
        <p:spPr>
          <a:xfrm>
            <a:off x="10361096" y="2867737"/>
            <a:ext cx="1085116" cy="480315"/>
          </a:xfrm>
          <a:prstGeom prst="wedgeRoundRectCallout">
            <a:avLst>
              <a:gd name="adj1" fmla="val -96112"/>
              <a:gd name="adj2" fmla="val -17148"/>
              <a:gd name="adj3" fmla="val 16667"/>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권리부여</a:t>
            </a:r>
          </a:p>
        </p:txBody>
      </p:sp>
      <p:sp>
        <p:nvSpPr>
          <p:cNvPr id="79" name="말풍선: 모서리가 둥근 사각형 78">
            <a:extLst>
              <a:ext uri="{FF2B5EF4-FFF2-40B4-BE49-F238E27FC236}">
                <a16:creationId xmlns:a16="http://schemas.microsoft.com/office/drawing/2014/main" id="{DC6F4BFA-E34D-4EA5-A3FA-6D1A44911E59}"/>
              </a:ext>
            </a:extLst>
          </p:cNvPr>
          <p:cNvSpPr/>
          <p:nvPr/>
        </p:nvSpPr>
        <p:spPr>
          <a:xfrm>
            <a:off x="10734458" y="3440825"/>
            <a:ext cx="1085116" cy="480315"/>
          </a:xfrm>
          <a:prstGeom prst="wedgeRoundRectCallout">
            <a:avLst>
              <a:gd name="adj1" fmla="val -80382"/>
              <a:gd name="adj2" fmla="val -11022"/>
              <a:gd name="adj3" fmla="val 16667"/>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행위규제</a:t>
            </a:r>
          </a:p>
        </p:txBody>
      </p:sp>
      <p:sp>
        <p:nvSpPr>
          <p:cNvPr id="85" name="말풍선: 모서리가 둥근 사각형 84">
            <a:extLst>
              <a:ext uri="{FF2B5EF4-FFF2-40B4-BE49-F238E27FC236}">
                <a16:creationId xmlns:a16="http://schemas.microsoft.com/office/drawing/2014/main" id="{5F966A30-3FF4-4A83-9486-FF6E0B341D26}"/>
              </a:ext>
            </a:extLst>
          </p:cNvPr>
          <p:cNvSpPr/>
          <p:nvPr/>
        </p:nvSpPr>
        <p:spPr>
          <a:xfrm>
            <a:off x="10734458" y="4113361"/>
            <a:ext cx="1085116" cy="480315"/>
          </a:xfrm>
          <a:prstGeom prst="wedgeRoundRectCallout">
            <a:avLst>
              <a:gd name="adj1" fmla="val -81506"/>
              <a:gd name="adj2" fmla="val -62078"/>
              <a:gd name="adj3" fmla="val 16667"/>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1600" dirty="0">
                <a:solidFill>
                  <a:schemeClr val="tx1"/>
                </a:solidFill>
              </a:rPr>
              <a:t>Public</a:t>
            </a:r>
          </a:p>
          <a:p>
            <a:pPr algn="ctr"/>
            <a:r>
              <a:rPr lang="en-US" altLang="ko-KR" sz="1600" dirty="0">
                <a:solidFill>
                  <a:schemeClr val="tx1"/>
                </a:solidFill>
              </a:rPr>
              <a:t>Domain</a:t>
            </a:r>
            <a:endParaRPr lang="ko-KR" altLang="en-US" sz="1600" dirty="0">
              <a:solidFill>
                <a:schemeClr val="tx1"/>
              </a:solidFill>
            </a:endParaRPr>
          </a:p>
        </p:txBody>
      </p:sp>
      <p:sp>
        <p:nvSpPr>
          <p:cNvPr id="92" name="말풍선: 모서리가 둥근 사각형 91">
            <a:extLst>
              <a:ext uri="{FF2B5EF4-FFF2-40B4-BE49-F238E27FC236}">
                <a16:creationId xmlns:a16="http://schemas.microsoft.com/office/drawing/2014/main" id="{5F7B8ADB-E0B8-406F-91DD-CCE452FE4EFC}"/>
              </a:ext>
            </a:extLst>
          </p:cNvPr>
          <p:cNvSpPr/>
          <p:nvPr/>
        </p:nvSpPr>
        <p:spPr>
          <a:xfrm>
            <a:off x="10222702" y="5539490"/>
            <a:ext cx="1634612" cy="339112"/>
          </a:xfrm>
          <a:prstGeom prst="wedgeRoundRectCallout">
            <a:avLst>
              <a:gd name="adj1" fmla="val -72452"/>
              <a:gd name="adj2" fmla="val -35725"/>
              <a:gd name="adj3" fmla="val 16667"/>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권리부여절차</a:t>
            </a:r>
          </a:p>
        </p:txBody>
      </p:sp>
      <p:sp>
        <p:nvSpPr>
          <p:cNvPr id="98" name="말풍선: 모서리가 둥근 사각형 97">
            <a:extLst>
              <a:ext uri="{FF2B5EF4-FFF2-40B4-BE49-F238E27FC236}">
                <a16:creationId xmlns:a16="http://schemas.microsoft.com/office/drawing/2014/main" id="{DC6C7C65-51FC-4957-B199-303D8EEA8120}"/>
              </a:ext>
            </a:extLst>
          </p:cNvPr>
          <p:cNvSpPr/>
          <p:nvPr/>
        </p:nvSpPr>
        <p:spPr>
          <a:xfrm>
            <a:off x="4665426" y="5469138"/>
            <a:ext cx="1713990" cy="322824"/>
          </a:xfrm>
          <a:prstGeom prst="wedgeRoundRectCallout">
            <a:avLst>
              <a:gd name="adj1" fmla="val -56672"/>
              <a:gd name="adj2" fmla="val -129833"/>
              <a:gd name="adj3" fmla="val 16667"/>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추정적 효력</a:t>
            </a:r>
          </a:p>
        </p:txBody>
      </p:sp>
      <p:sp>
        <p:nvSpPr>
          <p:cNvPr id="104" name="AutoShape 5">
            <a:extLst>
              <a:ext uri="{FF2B5EF4-FFF2-40B4-BE49-F238E27FC236}">
                <a16:creationId xmlns:a16="http://schemas.microsoft.com/office/drawing/2014/main" id="{441796DF-EF02-417C-BD4B-CF1586935161}"/>
              </a:ext>
            </a:extLst>
          </p:cNvPr>
          <p:cNvSpPr>
            <a:spLocks noChangeArrowheads="1"/>
          </p:cNvSpPr>
          <p:nvPr/>
        </p:nvSpPr>
        <p:spPr bwMode="auto">
          <a:xfrm>
            <a:off x="914985" y="5863203"/>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등록</a:t>
            </a:r>
          </a:p>
        </p:txBody>
      </p:sp>
      <p:cxnSp>
        <p:nvCxnSpPr>
          <p:cNvPr id="128" name="AutoShape 46">
            <a:extLst>
              <a:ext uri="{FF2B5EF4-FFF2-40B4-BE49-F238E27FC236}">
                <a16:creationId xmlns:a16="http://schemas.microsoft.com/office/drawing/2014/main" id="{42DE4292-5BCB-4220-B8EE-A00AD9C47DFA}"/>
              </a:ext>
            </a:extLst>
          </p:cNvPr>
          <p:cNvCxnSpPr>
            <a:cxnSpLocks noChangeShapeType="1"/>
            <a:stCxn id="69" idx="2"/>
            <a:endCxn id="104" idx="0"/>
          </p:cNvCxnSpPr>
          <p:nvPr/>
        </p:nvCxnSpPr>
        <p:spPr bwMode="auto">
          <a:xfrm>
            <a:off x="1457543" y="5682348"/>
            <a:ext cx="0" cy="180855"/>
          </a:xfrm>
          <a:prstGeom prst="straightConnector1">
            <a:avLst/>
          </a:prstGeom>
          <a:noFill/>
          <a:ln w="9525">
            <a:solidFill>
              <a:schemeClr val="bg1">
                <a:lumMod val="50000"/>
              </a:schemeClr>
            </a:solidFill>
            <a:round/>
            <a:headEnd/>
            <a:tailEnd type="triangle" w="med" len="med"/>
          </a:ln>
          <a:extLst>
            <a:ext uri="{909E8E84-426E-40DD-AFC4-6F175D3DCCD1}">
              <a14:hiddenFill xmlns:a14="http://schemas.microsoft.com/office/drawing/2010/main">
                <a:noFill/>
              </a14:hiddenFill>
            </a:ext>
          </a:extLst>
        </p:spPr>
      </p:cxnSp>
      <p:sp>
        <p:nvSpPr>
          <p:cNvPr id="136" name="AutoShape 4">
            <a:extLst>
              <a:ext uri="{FF2B5EF4-FFF2-40B4-BE49-F238E27FC236}">
                <a16:creationId xmlns:a16="http://schemas.microsoft.com/office/drawing/2014/main" id="{1D2F6892-8A97-4F39-B227-999CFAC2057F}"/>
              </a:ext>
            </a:extLst>
          </p:cNvPr>
          <p:cNvSpPr>
            <a:spLocks noChangeArrowheads="1"/>
          </p:cNvSpPr>
          <p:nvPr/>
        </p:nvSpPr>
        <p:spPr bwMode="auto">
          <a:xfrm>
            <a:off x="2548824" y="4778058"/>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출원 </a:t>
            </a:r>
          </a:p>
        </p:txBody>
      </p:sp>
      <p:sp>
        <p:nvSpPr>
          <p:cNvPr id="137" name="AutoShape 5">
            <a:extLst>
              <a:ext uri="{FF2B5EF4-FFF2-40B4-BE49-F238E27FC236}">
                <a16:creationId xmlns:a16="http://schemas.microsoft.com/office/drawing/2014/main" id="{943FA60F-48D7-470A-9A8E-D6C28065F2D1}"/>
              </a:ext>
            </a:extLst>
          </p:cNvPr>
          <p:cNvSpPr>
            <a:spLocks noChangeArrowheads="1"/>
          </p:cNvSpPr>
          <p:nvPr/>
        </p:nvSpPr>
        <p:spPr bwMode="auto">
          <a:xfrm>
            <a:off x="2548824" y="5314501"/>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심사</a:t>
            </a:r>
          </a:p>
        </p:txBody>
      </p:sp>
      <p:cxnSp>
        <p:nvCxnSpPr>
          <p:cNvPr id="138" name="AutoShape 46">
            <a:extLst>
              <a:ext uri="{FF2B5EF4-FFF2-40B4-BE49-F238E27FC236}">
                <a16:creationId xmlns:a16="http://schemas.microsoft.com/office/drawing/2014/main" id="{A3C9AA8A-C770-4813-AF5A-02993457C4DD}"/>
              </a:ext>
            </a:extLst>
          </p:cNvPr>
          <p:cNvCxnSpPr>
            <a:cxnSpLocks noChangeShapeType="1"/>
            <a:stCxn id="136" idx="2"/>
            <a:endCxn id="137" idx="0"/>
          </p:cNvCxnSpPr>
          <p:nvPr/>
        </p:nvCxnSpPr>
        <p:spPr bwMode="auto">
          <a:xfrm>
            <a:off x="3091382" y="5145905"/>
            <a:ext cx="0" cy="168597"/>
          </a:xfrm>
          <a:prstGeom prst="straightConnector1">
            <a:avLst/>
          </a:prstGeom>
          <a:noFill/>
          <a:ln w="9525">
            <a:solidFill>
              <a:schemeClr val="bg1">
                <a:lumMod val="50000"/>
              </a:schemeClr>
            </a:solidFill>
            <a:round/>
            <a:headEnd/>
            <a:tailEnd type="triangle" w="med" len="med"/>
          </a:ln>
          <a:extLst>
            <a:ext uri="{909E8E84-426E-40DD-AFC4-6F175D3DCCD1}">
              <a14:hiddenFill xmlns:a14="http://schemas.microsoft.com/office/drawing/2010/main">
                <a:noFill/>
              </a14:hiddenFill>
            </a:ext>
          </a:extLst>
        </p:spPr>
      </p:cxnSp>
      <p:sp>
        <p:nvSpPr>
          <p:cNvPr id="139" name="AutoShape 5">
            <a:extLst>
              <a:ext uri="{FF2B5EF4-FFF2-40B4-BE49-F238E27FC236}">
                <a16:creationId xmlns:a16="http://schemas.microsoft.com/office/drawing/2014/main" id="{95CCB36E-9077-4476-8771-52210FDC47CA}"/>
              </a:ext>
            </a:extLst>
          </p:cNvPr>
          <p:cNvSpPr>
            <a:spLocks noChangeArrowheads="1"/>
          </p:cNvSpPr>
          <p:nvPr/>
        </p:nvSpPr>
        <p:spPr bwMode="auto">
          <a:xfrm>
            <a:off x="2548824" y="5863203"/>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등록</a:t>
            </a:r>
          </a:p>
        </p:txBody>
      </p:sp>
      <p:cxnSp>
        <p:nvCxnSpPr>
          <p:cNvPr id="140" name="AutoShape 46">
            <a:extLst>
              <a:ext uri="{FF2B5EF4-FFF2-40B4-BE49-F238E27FC236}">
                <a16:creationId xmlns:a16="http://schemas.microsoft.com/office/drawing/2014/main" id="{A4DA08A9-0E3A-4394-9429-8705FE20DC3D}"/>
              </a:ext>
            </a:extLst>
          </p:cNvPr>
          <p:cNvCxnSpPr>
            <a:cxnSpLocks noChangeShapeType="1"/>
            <a:stCxn id="137" idx="2"/>
            <a:endCxn id="139" idx="0"/>
          </p:cNvCxnSpPr>
          <p:nvPr/>
        </p:nvCxnSpPr>
        <p:spPr bwMode="auto">
          <a:xfrm>
            <a:off x="3091382" y="5682348"/>
            <a:ext cx="0" cy="180855"/>
          </a:xfrm>
          <a:prstGeom prst="straightConnector1">
            <a:avLst/>
          </a:prstGeom>
          <a:noFill/>
          <a:ln w="9525">
            <a:solidFill>
              <a:schemeClr val="bg1">
                <a:lumMod val="50000"/>
              </a:schemeClr>
            </a:solidFill>
            <a:round/>
            <a:headEnd/>
            <a:tailEnd type="triangle" w="med" len="med"/>
          </a:ln>
          <a:extLst>
            <a:ext uri="{909E8E84-426E-40DD-AFC4-6F175D3DCCD1}">
              <a14:hiddenFill xmlns:a14="http://schemas.microsoft.com/office/drawing/2010/main">
                <a:noFill/>
              </a14:hiddenFill>
            </a:ext>
          </a:extLst>
        </p:spPr>
      </p:cxnSp>
      <p:sp>
        <p:nvSpPr>
          <p:cNvPr id="141" name="AutoShape 4">
            <a:extLst>
              <a:ext uri="{FF2B5EF4-FFF2-40B4-BE49-F238E27FC236}">
                <a16:creationId xmlns:a16="http://schemas.microsoft.com/office/drawing/2014/main" id="{E35EA0A2-582A-4B97-82EE-835CD3FC6291}"/>
              </a:ext>
            </a:extLst>
          </p:cNvPr>
          <p:cNvSpPr>
            <a:spLocks noChangeArrowheads="1"/>
          </p:cNvSpPr>
          <p:nvPr/>
        </p:nvSpPr>
        <p:spPr bwMode="auto">
          <a:xfrm>
            <a:off x="7185530" y="4778058"/>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출원 </a:t>
            </a:r>
          </a:p>
        </p:txBody>
      </p:sp>
      <p:sp>
        <p:nvSpPr>
          <p:cNvPr id="142" name="AutoShape 5">
            <a:extLst>
              <a:ext uri="{FF2B5EF4-FFF2-40B4-BE49-F238E27FC236}">
                <a16:creationId xmlns:a16="http://schemas.microsoft.com/office/drawing/2014/main" id="{3BBCFF8B-034D-4213-B462-55358272FD42}"/>
              </a:ext>
            </a:extLst>
          </p:cNvPr>
          <p:cNvSpPr>
            <a:spLocks noChangeArrowheads="1"/>
          </p:cNvSpPr>
          <p:nvPr/>
        </p:nvSpPr>
        <p:spPr bwMode="auto">
          <a:xfrm>
            <a:off x="7185530" y="5314501"/>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심사</a:t>
            </a:r>
          </a:p>
        </p:txBody>
      </p:sp>
      <p:cxnSp>
        <p:nvCxnSpPr>
          <p:cNvPr id="143" name="AutoShape 46">
            <a:extLst>
              <a:ext uri="{FF2B5EF4-FFF2-40B4-BE49-F238E27FC236}">
                <a16:creationId xmlns:a16="http://schemas.microsoft.com/office/drawing/2014/main" id="{0B7A1066-4CF2-4821-B6FD-B3F67EE0184D}"/>
              </a:ext>
            </a:extLst>
          </p:cNvPr>
          <p:cNvCxnSpPr>
            <a:cxnSpLocks noChangeShapeType="1"/>
            <a:stCxn id="141" idx="2"/>
            <a:endCxn id="142" idx="0"/>
          </p:cNvCxnSpPr>
          <p:nvPr/>
        </p:nvCxnSpPr>
        <p:spPr bwMode="auto">
          <a:xfrm>
            <a:off x="7728088" y="5145905"/>
            <a:ext cx="0" cy="168597"/>
          </a:xfrm>
          <a:prstGeom prst="straightConnector1">
            <a:avLst/>
          </a:prstGeom>
          <a:noFill/>
          <a:ln w="9525">
            <a:solidFill>
              <a:schemeClr val="bg1">
                <a:lumMod val="50000"/>
              </a:schemeClr>
            </a:solidFill>
            <a:round/>
            <a:headEnd/>
            <a:tailEnd type="triangle" w="med" len="med"/>
          </a:ln>
          <a:extLst>
            <a:ext uri="{909E8E84-426E-40DD-AFC4-6F175D3DCCD1}">
              <a14:hiddenFill xmlns:a14="http://schemas.microsoft.com/office/drawing/2010/main">
                <a:noFill/>
              </a14:hiddenFill>
            </a:ext>
          </a:extLst>
        </p:spPr>
      </p:cxnSp>
      <p:sp>
        <p:nvSpPr>
          <p:cNvPr id="144" name="AutoShape 5">
            <a:extLst>
              <a:ext uri="{FF2B5EF4-FFF2-40B4-BE49-F238E27FC236}">
                <a16:creationId xmlns:a16="http://schemas.microsoft.com/office/drawing/2014/main" id="{768E4829-5F45-45A8-8FB8-032AC536A2CD}"/>
              </a:ext>
            </a:extLst>
          </p:cNvPr>
          <p:cNvSpPr>
            <a:spLocks noChangeArrowheads="1"/>
          </p:cNvSpPr>
          <p:nvPr/>
        </p:nvSpPr>
        <p:spPr bwMode="auto">
          <a:xfrm>
            <a:off x="7185530" y="5863203"/>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등록</a:t>
            </a:r>
          </a:p>
        </p:txBody>
      </p:sp>
      <p:cxnSp>
        <p:nvCxnSpPr>
          <p:cNvPr id="145" name="AutoShape 46">
            <a:extLst>
              <a:ext uri="{FF2B5EF4-FFF2-40B4-BE49-F238E27FC236}">
                <a16:creationId xmlns:a16="http://schemas.microsoft.com/office/drawing/2014/main" id="{DDE61762-09C0-4F8A-A054-D21C3534D4BB}"/>
              </a:ext>
            </a:extLst>
          </p:cNvPr>
          <p:cNvCxnSpPr>
            <a:cxnSpLocks noChangeShapeType="1"/>
            <a:stCxn id="142" idx="2"/>
            <a:endCxn id="144" idx="0"/>
          </p:cNvCxnSpPr>
          <p:nvPr/>
        </p:nvCxnSpPr>
        <p:spPr bwMode="auto">
          <a:xfrm>
            <a:off x="7728088" y="5682348"/>
            <a:ext cx="0" cy="180855"/>
          </a:xfrm>
          <a:prstGeom prst="straightConnector1">
            <a:avLst/>
          </a:prstGeom>
          <a:noFill/>
          <a:ln w="9525">
            <a:solidFill>
              <a:schemeClr val="bg1">
                <a:lumMod val="50000"/>
              </a:schemeClr>
            </a:solidFill>
            <a:round/>
            <a:headEnd/>
            <a:tailEnd type="triangle" w="med" len="med"/>
          </a:ln>
          <a:extLst>
            <a:ext uri="{909E8E84-426E-40DD-AFC4-6F175D3DCCD1}">
              <a14:hiddenFill xmlns:a14="http://schemas.microsoft.com/office/drawing/2010/main">
                <a:noFill/>
              </a14:hiddenFill>
            </a:ext>
          </a:extLst>
        </p:spPr>
      </p:cxnSp>
      <p:sp>
        <p:nvSpPr>
          <p:cNvPr id="146" name="AutoShape 4">
            <a:extLst>
              <a:ext uri="{FF2B5EF4-FFF2-40B4-BE49-F238E27FC236}">
                <a16:creationId xmlns:a16="http://schemas.microsoft.com/office/drawing/2014/main" id="{4FFCDCBD-CC5C-4065-A56F-FE54110974B6}"/>
              </a:ext>
            </a:extLst>
          </p:cNvPr>
          <p:cNvSpPr>
            <a:spLocks noChangeArrowheads="1"/>
          </p:cNvSpPr>
          <p:nvPr/>
        </p:nvSpPr>
        <p:spPr bwMode="auto">
          <a:xfrm>
            <a:off x="8696788" y="4778058"/>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출원 </a:t>
            </a:r>
          </a:p>
        </p:txBody>
      </p:sp>
      <p:sp>
        <p:nvSpPr>
          <p:cNvPr id="147" name="AutoShape 5">
            <a:extLst>
              <a:ext uri="{FF2B5EF4-FFF2-40B4-BE49-F238E27FC236}">
                <a16:creationId xmlns:a16="http://schemas.microsoft.com/office/drawing/2014/main" id="{C228CD31-2EDE-4A29-975F-D4133D9E7D2F}"/>
              </a:ext>
            </a:extLst>
          </p:cNvPr>
          <p:cNvSpPr>
            <a:spLocks noChangeArrowheads="1"/>
          </p:cNvSpPr>
          <p:nvPr/>
        </p:nvSpPr>
        <p:spPr bwMode="auto">
          <a:xfrm>
            <a:off x="8696788" y="5314501"/>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심사</a:t>
            </a:r>
          </a:p>
        </p:txBody>
      </p:sp>
      <p:cxnSp>
        <p:nvCxnSpPr>
          <p:cNvPr id="148" name="AutoShape 46">
            <a:extLst>
              <a:ext uri="{FF2B5EF4-FFF2-40B4-BE49-F238E27FC236}">
                <a16:creationId xmlns:a16="http://schemas.microsoft.com/office/drawing/2014/main" id="{F6EF66F5-4562-447E-92DD-DA76B643B35F}"/>
              </a:ext>
            </a:extLst>
          </p:cNvPr>
          <p:cNvCxnSpPr>
            <a:cxnSpLocks noChangeShapeType="1"/>
            <a:stCxn id="146" idx="2"/>
            <a:endCxn id="147" idx="0"/>
          </p:cNvCxnSpPr>
          <p:nvPr/>
        </p:nvCxnSpPr>
        <p:spPr bwMode="auto">
          <a:xfrm>
            <a:off x="9239346" y="5145905"/>
            <a:ext cx="0" cy="168597"/>
          </a:xfrm>
          <a:prstGeom prst="straightConnector1">
            <a:avLst/>
          </a:prstGeom>
          <a:noFill/>
          <a:ln w="9525">
            <a:solidFill>
              <a:schemeClr val="bg1">
                <a:lumMod val="50000"/>
              </a:schemeClr>
            </a:solidFill>
            <a:round/>
            <a:headEnd/>
            <a:tailEnd type="triangle" w="med" len="med"/>
          </a:ln>
          <a:extLst>
            <a:ext uri="{909E8E84-426E-40DD-AFC4-6F175D3DCCD1}">
              <a14:hiddenFill xmlns:a14="http://schemas.microsoft.com/office/drawing/2010/main">
                <a:noFill/>
              </a14:hiddenFill>
            </a:ext>
          </a:extLst>
        </p:spPr>
      </p:cxnSp>
      <p:sp>
        <p:nvSpPr>
          <p:cNvPr id="149" name="AutoShape 5">
            <a:extLst>
              <a:ext uri="{FF2B5EF4-FFF2-40B4-BE49-F238E27FC236}">
                <a16:creationId xmlns:a16="http://schemas.microsoft.com/office/drawing/2014/main" id="{7F9F4A16-1733-42F5-A8BD-42E0E6AD57D0}"/>
              </a:ext>
            </a:extLst>
          </p:cNvPr>
          <p:cNvSpPr>
            <a:spLocks noChangeArrowheads="1"/>
          </p:cNvSpPr>
          <p:nvPr/>
        </p:nvSpPr>
        <p:spPr bwMode="auto">
          <a:xfrm>
            <a:off x="8696788" y="5863203"/>
            <a:ext cx="1085116" cy="367847"/>
          </a:xfrm>
          <a:prstGeom prst="flowChartProcess">
            <a:avLst/>
          </a:prstGeom>
          <a:solidFill>
            <a:schemeClr val="accent4">
              <a:lumMod val="60000"/>
              <a:lumOff val="40000"/>
            </a:schemeClr>
          </a:solidFill>
          <a:ln>
            <a:solidFill>
              <a:schemeClr val="bg1">
                <a:lumMod val="50000"/>
              </a:schemeClr>
            </a:solidFill>
            <a:headEnd/>
            <a:tailEnd/>
          </a:ln>
          <a:effectLst/>
        </p:spPr>
        <p:style>
          <a:lnRef idx="1">
            <a:schemeClr val="accent4"/>
          </a:lnRef>
          <a:fillRef idx="3">
            <a:schemeClr val="accent4"/>
          </a:fillRef>
          <a:effectRef idx="2">
            <a:schemeClr val="accent4"/>
          </a:effectRef>
          <a:fontRef idx="minor">
            <a:schemeClr val="lt1"/>
          </a:fontRef>
        </p:style>
        <p:txBody>
          <a:bodyPr anchor="ctr"/>
          <a:lstStyle/>
          <a:p>
            <a:pPr algn="ctr" fontAlgn="auto">
              <a:spcBef>
                <a:spcPts val="0"/>
              </a:spcBef>
              <a:spcAft>
                <a:spcPts val="0"/>
              </a:spcAft>
              <a:defRPr/>
            </a:pPr>
            <a:r>
              <a:rPr lang="ko-KR" altLang="en-US" sz="1100" dirty="0">
                <a:solidFill>
                  <a:schemeClr val="tx1"/>
                </a:solidFill>
                <a:latin typeface="+mn-ea"/>
              </a:rPr>
              <a:t>등록</a:t>
            </a:r>
          </a:p>
        </p:txBody>
      </p:sp>
      <p:cxnSp>
        <p:nvCxnSpPr>
          <p:cNvPr id="150" name="AutoShape 46">
            <a:extLst>
              <a:ext uri="{FF2B5EF4-FFF2-40B4-BE49-F238E27FC236}">
                <a16:creationId xmlns:a16="http://schemas.microsoft.com/office/drawing/2014/main" id="{A4A7FE65-671E-422E-8D81-00F500FA9A77}"/>
              </a:ext>
            </a:extLst>
          </p:cNvPr>
          <p:cNvCxnSpPr>
            <a:cxnSpLocks noChangeShapeType="1"/>
            <a:stCxn id="147" idx="2"/>
            <a:endCxn id="149" idx="0"/>
          </p:cNvCxnSpPr>
          <p:nvPr/>
        </p:nvCxnSpPr>
        <p:spPr bwMode="auto">
          <a:xfrm>
            <a:off x="9239346" y="5682348"/>
            <a:ext cx="0" cy="180855"/>
          </a:xfrm>
          <a:prstGeom prst="straightConnector1">
            <a:avLst/>
          </a:prstGeom>
          <a:noFill/>
          <a:ln w="9525">
            <a:solidFill>
              <a:schemeClr val="bg1">
                <a:lumMod val="50000"/>
              </a:schemeClr>
            </a:solidFill>
            <a:round/>
            <a:headEnd/>
            <a:tailEnd type="triangle" w="med" len="me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31548430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발명의 보호전략</a:t>
            </a:r>
            <a:r>
              <a:rPr lang="en-US" altLang="ko-KR" dirty="0"/>
              <a:t>: </a:t>
            </a:r>
            <a:r>
              <a:rPr lang="ko-KR" altLang="en-US" dirty="0"/>
              <a:t>일반</a:t>
            </a:r>
          </a:p>
        </p:txBody>
      </p:sp>
      <p:sp>
        <p:nvSpPr>
          <p:cNvPr id="5" name="TextBox 4"/>
          <p:cNvSpPr txBox="1"/>
          <p:nvPr/>
        </p:nvSpPr>
        <p:spPr>
          <a:xfrm>
            <a:off x="77875" y="986046"/>
            <a:ext cx="11936323" cy="954107"/>
          </a:xfrm>
          <a:prstGeom prst="rect">
            <a:avLst/>
          </a:prstGeom>
          <a:noFill/>
        </p:spPr>
        <p:txBody>
          <a:bodyPr wrap="square" rtlCol="0">
            <a:spAutoFit/>
          </a:bodyPr>
          <a:lstStyle/>
          <a:p>
            <a:pPr fontAlgn="base"/>
            <a:r>
              <a:rPr lang="ko-KR" altLang="en-US" sz="1400" dirty="0">
                <a:solidFill>
                  <a:schemeClr val="tx2"/>
                </a:solidFill>
              </a:rPr>
              <a:t>발명자 또는 승계인은 발명의 보호전략을 달리할 수 있다</a:t>
            </a:r>
            <a:r>
              <a:rPr lang="en-US" altLang="ko-KR" sz="1400" dirty="0">
                <a:solidFill>
                  <a:schemeClr val="tx2"/>
                </a:solidFill>
              </a:rPr>
              <a:t>. </a:t>
            </a:r>
            <a:r>
              <a:rPr lang="ko-KR" altLang="en-US" sz="1400" dirty="0">
                <a:solidFill>
                  <a:schemeClr val="tx2"/>
                </a:solidFill>
              </a:rPr>
              <a:t>구체적으로 </a:t>
            </a:r>
            <a:r>
              <a:rPr lang="ko-KR" altLang="en-US" sz="1400" dirty="0">
                <a:solidFill>
                  <a:schemeClr val="tx2"/>
                </a:solidFill>
                <a:highlight>
                  <a:srgbClr val="FFFF00"/>
                </a:highlight>
              </a:rPr>
              <a:t>특허출원</a:t>
            </a:r>
            <a:r>
              <a:rPr lang="ko-KR" altLang="en-US" sz="1400" dirty="0">
                <a:solidFill>
                  <a:schemeClr val="tx2"/>
                </a:solidFill>
              </a:rPr>
              <a:t>을 통해 발명을 보호할 수도 있으나</a:t>
            </a:r>
            <a:r>
              <a:rPr lang="en-US" altLang="ko-KR" sz="1400" dirty="0">
                <a:solidFill>
                  <a:schemeClr val="tx2"/>
                </a:solidFill>
              </a:rPr>
              <a:t>, </a:t>
            </a:r>
            <a:r>
              <a:rPr lang="ko-KR" altLang="en-US" sz="1400" dirty="0">
                <a:solidFill>
                  <a:schemeClr val="tx2"/>
                </a:solidFill>
              </a:rPr>
              <a:t>특허를 획득하더라도 침해 판정이 어렵거나 제품의 경쟁력을 좌우하는 핵심기술인 경우 </a:t>
            </a:r>
            <a:r>
              <a:rPr lang="ko-KR" altLang="en-US" sz="1400" dirty="0">
                <a:solidFill>
                  <a:schemeClr val="tx2"/>
                </a:solidFill>
                <a:highlight>
                  <a:srgbClr val="FFFF00"/>
                </a:highlight>
              </a:rPr>
              <a:t>노하우</a:t>
            </a:r>
            <a:r>
              <a:rPr lang="ko-KR" altLang="en-US" sz="1400" dirty="0">
                <a:solidFill>
                  <a:schemeClr val="tx2"/>
                </a:solidFill>
              </a:rPr>
              <a:t>로 보호하는 방안을 강구할 수 있다</a:t>
            </a:r>
            <a:r>
              <a:rPr lang="en-US" altLang="ko-KR" sz="1400" dirty="0">
                <a:solidFill>
                  <a:schemeClr val="tx2"/>
                </a:solidFill>
              </a:rPr>
              <a:t>. </a:t>
            </a:r>
            <a:r>
              <a:rPr lang="ko-KR" altLang="en-US" sz="1400" dirty="0">
                <a:solidFill>
                  <a:schemeClr val="tx2"/>
                </a:solidFill>
              </a:rPr>
              <a:t>또한</a:t>
            </a:r>
            <a:r>
              <a:rPr lang="en-US" altLang="ko-KR" sz="1400" dirty="0">
                <a:solidFill>
                  <a:schemeClr val="tx2"/>
                </a:solidFill>
              </a:rPr>
              <a:t>, </a:t>
            </a:r>
            <a:r>
              <a:rPr lang="ko-KR" altLang="en-US" sz="1400" dirty="0">
                <a:solidFill>
                  <a:schemeClr val="tx2"/>
                </a:solidFill>
              </a:rPr>
              <a:t>시간과 비용을 들여 특허를 확보할 의도는 없으나 타인의 특허권 확보를 저지하려는 경우에는 발명을 </a:t>
            </a:r>
            <a:r>
              <a:rPr lang="ko-KR" altLang="en-US" sz="1400" dirty="0">
                <a:solidFill>
                  <a:schemeClr val="tx2"/>
                </a:solidFill>
                <a:highlight>
                  <a:srgbClr val="FFFF00"/>
                </a:highlight>
              </a:rPr>
              <a:t>공개</a:t>
            </a:r>
            <a:r>
              <a:rPr lang="ko-KR" altLang="en-US" sz="1400" dirty="0">
                <a:solidFill>
                  <a:schemeClr val="tx2"/>
                </a:solidFill>
              </a:rPr>
              <a:t>할 수도 있다</a:t>
            </a:r>
            <a:r>
              <a:rPr lang="en-US" altLang="ko-KR" sz="1400" dirty="0">
                <a:solidFill>
                  <a:schemeClr val="tx2"/>
                </a:solidFill>
              </a:rPr>
              <a:t>. </a:t>
            </a:r>
            <a:r>
              <a:rPr lang="ko-KR" altLang="en-US" sz="1400" dirty="0">
                <a:solidFill>
                  <a:schemeClr val="tx2"/>
                </a:solidFill>
              </a:rPr>
              <a:t>발명을 공개할 때에는 공개일</a:t>
            </a:r>
            <a:r>
              <a:rPr lang="en-US" altLang="ko-KR" sz="1400" dirty="0">
                <a:solidFill>
                  <a:schemeClr val="tx2"/>
                </a:solidFill>
              </a:rPr>
              <a:t>, </a:t>
            </a:r>
            <a:r>
              <a:rPr lang="ko-KR" altLang="en-US" sz="1400" dirty="0">
                <a:solidFill>
                  <a:schemeClr val="tx2"/>
                </a:solidFill>
              </a:rPr>
              <a:t>공개내용에 대한 증명의 용이성을 위해 지식재산처의 인터넷기술공지제도를 활용해 보는 것을 검토해 볼 만 하다</a:t>
            </a:r>
            <a:r>
              <a:rPr lang="en-US" altLang="ko-KR" sz="1400" dirty="0">
                <a:solidFill>
                  <a:schemeClr val="tx2"/>
                </a:solidFill>
              </a:rPr>
              <a:t>.</a:t>
            </a:r>
            <a:endParaRPr lang="ko-KR" altLang="en-US" sz="1400" dirty="0">
              <a:solidFill>
                <a:schemeClr val="tx2"/>
              </a:solidFill>
            </a:endParaRPr>
          </a:p>
        </p:txBody>
      </p:sp>
      <p:cxnSp>
        <p:nvCxnSpPr>
          <p:cNvPr id="6" name="직선 연결선 5"/>
          <p:cNvCxnSpPr/>
          <p:nvPr/>
        </p:nvCxnSpPr>
        <p:spPr>
          <a:xfrm>
            <a:off x="0" y="1942857"/>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 name="자유형 11"/>
          <p:cNvSpPr/>
          <p:nvPr/>
        </p:nvSpPr>
        <p:spPr>
          <a:xfrm>
            <a:off x="3206364" y="4293396"/>
            <a:ext cx="506306" cy="1088558"/>
          </a:xfrm>
          <a:custGeom>
            <a:avLst/>
            <a:gdLst/>
            <a:ahLst/>
            <a:cxnLst/>
            <a:rect l="0" t="0" r="0" b="0"/>
            <a:pathLst>
              <a:path>
                <a:moveTo>
                  <a:pt x="0" y="0"/>
                </a:moveTo>
                <a:lnTo>
                  <a:pt x="253153" y="0"/>
                </a:lnTo>
                <a:lnTo>
                  <a:pt x="253153" y="1088558"/>
                </a:lnTo>
                <a:lnTo>
                  <a:pt x="506306" y="1088558"/>
                </a:lnTo>
              </a:path>
            </a:pathLst>
          </a:custGeom>
          <a:noFill/>
          <a:ln w="28575">
            <a:solidFill>
              <a:schemeClr val="bg1">
                <a:lumMod val="50000"/>
              </a:schemeClr>
            </a:solidFill>
          </a:ln>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ko-KR" altLang="en-US"/>
          </a:p>
        </p:txBody>
      </p:sp>
      <p:sp>
        <p:nvSpPr>
          <p:cNvPr id="13" name="자유형 12"/>
          <p:cNvSpPr/>
          <p:nvPr/>
        </p:nvSpPr>
        <p:spPr>
          <a:xfrm>
            <a:off x="3206364" y="4247675"/>
            <a:ext cx="506306" cy="91440"/>
          </a:xfrm>
          <a:custGeom>
            <a:avLst/>
            <a:gdLst/>
            <a:ahLst/>
            <a:cxnLst/>
            <a:rect l="0" t="0" r="0" b="0"/>
            <a:pathLst>
              <a:path>
                <a:moveTo>
                  <a:pt x="0" y="45720"/>
                </a:moveTo>
                <a:lnTo>
                  <a:pt x="506306" y="45720"/>
                </a:lnTo>
              </a:path>
            </a:pathLst>
          </a:custGeom>
          <a:noFill/>
          <a:ln w="28575">
            <a:solidFill>
              <a:schemeClr val="bg1">
                <a:lumMod val="50000"/>
              </a:schemeClr>
            </a:solidFill>
          </a:ln>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ko-KR" altLang="en-US"/>
          </a:p>
        </p:txBody>
      </p:sp>
      <p:sp>
        <p:nvSpPr>
          <p:cNvPr id="14" name="자유형 13"/>
          <p:cNvSpPr/>
          <p:nvPr/>
        </p:nvSpPr>
        <p:spPr>
          <a:xfrm>
            <a:off x="3206364" y="3204837"/>
            <a:ext cx="506306" cy="1088558"/>
          </a:xfrm>
          <a:custGeom>
            <a:avLst/>
            <a:gdLst/>
            <a:ahLst/>
            <a:cxnLst/>
            <a:rect l="0" t="0" r="0" b="0"/>
            <a:pathLst>
              <a:path>
                <a:moveTo>
                  <a:pt x="0" y="1088558"/>
                </a:moveTo>
                <a:lnTo>
                  <a:pt x="253153" y="1088558"/>
                </a:lnTo>
                <a:lnTo>
                  <a:pt x="253153" y="0"/>
                </a:lnTo>
                <a:lnTo>
                  <a:pt x="506306" y="0"/>
                </a:lnTo>
              </a:path>
            </a:pathLst>
          </a:custGeom>
          <a:noFill/>
          <a:ln w="28575">
            <a:solidFill>
              <a:schemeClr val="bg1">
                <a:lumMod val="50000"/>
              </a:schemeClr>
            </a:solidFill>
          </a:ln>
        </p:spPr>
        <p:style>
          <a:lnRef idx="2">
            <a:schemeClr val="accent5">
              <a:hueOff val="0"/>
              <a:satOff val="0"/>
              <a:lumOff val="0"/>
              <a:alphaOff val="0"/>
            </a:schemeClr>
          </a:lnRef>
          <a:fillRef idx="0">
            <a:scrgbClr r="0" g="0" b="0"/>
          </a:fillRef>
          <a:effectRef idx="0">
            <a:schemeClr val="accent4">
              <a:tint val="90000"/>
              <a:hueOff val="0"/>
              <a:satOff val="0"/>
              <a:lumOff val="0"/>
              <a:alphaOff val="0"/>
            </a:schemeClr>
          </a:effectRef>
          <a:fontRef idx="minor">
            <a:schemeClr val="tx1">
              <a:hueOff val="0"/>
              <a:satOff val="0"/>
              <a:lumOff val="0"/>
              <a:alphaOff val="0"/>
            </a:schemeClr>
          </a:fontRef>
        </p:style>
        <p:txBody>
          <a:bodyPr/>
          <a:lstStyle/>
          <a:p>
            <a:endParaRPr lang="ko-KR" altLang="en-US"/>
          </a:p>
        </p:txBody>
      </p:sp>
      <p:sp>
        <p:nvSpPr>
          <p:cNvPr id="15" name="자유형 14"/>
          <p:cNvSpPr/>
          <p:nvPr/>
        </p:nvSpPr>
        <p:spPr>
          <a:xfrm>
            <a:off x="1087498" y="3999389"/>
            <a:ext cx="2118866" cy="588013"/>
          </a:xfrm>
          <a:custGeom>
            <a:avLst/>
            <a:gdLst>
              <a:gd name="connsiteX0" fmla="*/ 0 w 2118866"/>
              <a:gd name="connsiteY0" fmla="*/ 0 h 588013"/>
              <a:gd name="connsiteX1" fmla="*/ 2118866 w 2118866"/>
              <a:gd name="connsiteY1" fmla="*/ 0 h 588013"/>
              <a:gd name="connsiteX2" fmla="*/ 2118866 w 2118866"/>
              <a:gd name="connsiteY2" fmla="*/ 588013 h 588013"/>
              <a:gd name="connsiteX3" fmla="*/ 0 w 2118866"/>
              <a:gd name="connsiteY3" fmla="*/ 588013 h 588013"/>
              <a:gd name="connsiteX4" fmla="*/ 0 w 2118866"/>
              <a:gd name="connsiteY4" fmla="*/ 0 h 5880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118866" h="588013">
                <a:moveTo>
                  <a:pt x="0" y="0"/>
                </a:moveTo>
                <a:lnTo>
                  <a:pt x="2118866" y="0"/>
                </a:lnTo>
                <a:lnTo>
                  <a:pt x="2118866" y="588013"/>
                </a:lnTo>
                <a:lnTo>
                  <a:pt x="0" y="588013"/>
                </a:lnTo>
                <a:lnTo>
                  <a:pt x="0" y="0"/>
                </a:lnTo>
                <a:close/>
              </a:path>
            </a:pathLst>
          </a:custGeom>
          <a:solidFill>
            <a:schemeClr val="accent2">
              <a:lumMod val="75000"/>
            </a:schemeClr>
          </a:solidFill>
          <a:ln>
            <a:solidFill>
              <a:schemeClr val="bg1">
                <a:lumMod val="50000"/>
              </a:schemeClr>
            </a:solidFill>
          </a:ln>
        </p:spPr>
        <p:style>
          <a:lnRef idx="2">
            <a:schemeClr val="lt1">
              <a:hueOff val="0"/>
              <a:satOff val="0"/>
              <a:lumOff val="0"/>
              <a:alphaOff val="0"/>
            </a:schemeClr>
          </a:lnRef>
          <a:fillRef idx="1">
            <a:schemeClr val="accent3">
              <a:hueOff val="0"/>
              <a:satOff val="0"/>
              <a:lumOff val="0"/>
              <a:alphaOff val="0"/>
            </a:schemeClr>
          </a:fillRef>
          <a:effectRef idx="0">
            <a:schemeClr val="accent3">
              <a:hueOff val="0"/>
              <a:satOff val="0"/>
              <a:lumOff val="0"/>
              <a:alphaOff val="0"/>
            </a:schemeClr>
          </a:effectRef>
          <a:fontRef idx="minor">
            <a:schemeClr val="lt1"/>
          </a:fontRef>
        </p:style>
        <p:txBody>
          <a:bodyPr spcFirstLastPara="0" vert="horz" wrap="square" lIns="8890" tIns="8890" rIns="8890" bIns="8890" numCol="1" spcCol="1270" anchor="ctr" anchorCtr="0">
            <a:noAutofit/>
          </a:bodyPr>
          <a:lstStyle/>
          <a:p>
            <a:pPr lvl="0" algn="ctr" defTabSz="622300" latinLnBrk="1">
              <a:lnSpc>
                <a:spcPct val="90000"/>
              </a:lnSpc>
              <a:spcBef>
                <a:spcPct val="0"/>
              </a:spcBef>
              <a:spcAft>
                <a:spcPct val="35000"/>
              </a:spcAft>
            </a:pPr>
            <a:r>
              <a:rPr lang="ko-KR" altLang="en-US" sz="2000" kern="1200" dirty="0">
                <a:latin typeface="+mj-ea"/>
                <a:ea typeface="+mj-ea"/>
              </a:rPr>
              <a:t>발명 보호 전략</a:t>
            </a:r>
          </a:p>
        </p:txBody>
      </p:sp>
      <p:sp>
        <p:nvSpPr>
          <p:cNvPr id="16" name="자유형 15"/>
          <p:cNvSpPr/>
          <p:nvPr/>
        </p:nvSpPr>
        <p:spPr>
          <a:xfrm>
            <a:off x="3712671" y="2818779"/>
            <a:ext cx="2531531" cy="772116"/>
          </a:xfrm>
          <a:custGeom>
            <a:avLst/>
            <a:gdLst>
              <a:gd name="connsiteX0" fmla="*/ 0 w 2531531"/>
              <a:gd name="connsiteY0" fmla="*/ 0 h 772116"/>
              <a:gd name="connsiteX1" fmla="*/ 2531531 w 2531531"/>
              <a:gd name="connsiteY1" fmla="*/ 0 h 772116"/>
              <a:gd name="connsiteX2" fmla="*/ 2531531 w 2531531"/>
              <a:gd name="connsiteY2" fmla="*/ 772116 h 772116"/>
              <a:gd name="connsiteX3" fmla="*/ 0 w 2531531"/>
              <a:gd name="connsiteY3" fmla="*/ 772116 h 772116"/>
              <a:gd name="connsiteX4" fmla="*/ 0 w 2531531"/>
              <a:gd name="connsiteY4" fmla="*/ 0 h 77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1531" h="772116">
                <a:moveTo>
                  <a:pt x="0" y="0"/>
                </a:moveTo>
                <a:lnTo>
                  <a:pt x="2531531" y="0"/>
                </a:lnTo>
                <a:lnTo>
                  <a:pt x="2531531" y="772116"/>
                </a:lnTo>
                <a:lnTo>
                  <a:pt x="0" y="772116"/>
                </a:lnTo>
                <a:lnTo>
                  <a:pt x="0" y="0"/>
                </a:lnTo>
                <a:close/>
              </a:path>
            </a:pathLst>
          </a:custGeom>
          <a:solidFill>
            <a:schemeClr val="accent1">
              <a:lumMod val="20000"/>
              <a:lumOff val="80000"/>
            </a:schemeClr>
          </a:solidFill>
          <a:ln>
            <a:solidFill>
              <a:schemeClr val="bg1">
                <a:lumMod val="50000"/>
              </a:schemeClr>
            </a:solid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8890" tIns="8890" rIns="8890" bIns="8890" numCol="1" spcCol="1270" anchor="ctr" anchorCtr="0">
            <a:noAutofit/>
          </a:bodyPr>
          <a:lstStyle/>
          <a:p>
            <a:pPr lvl="0" algn="ctr" defTabSz="622300" latinLnBrk="1">
              <a:lnSpc>
                <a:spcPct val="90000"/>
              </a:lnSpc>
              <a:spcBef>
                <a:spcPct val="0"/>
              </a:spcBef>
              <a:spcAft>
                <a:spcPct val="35000"/>
              </a:spcAft>
            </a:pPr>
            <a:r>
              <a:rPr kumimoji="0" lang="ko-KR" altLang="en-US" sz="1400" b="0" kern="1200" dirty="0">
                <a:solidFill>
                  <a:schemeClr val="tx1"/>
                </a:solidFill>
                <a:latin typeface="+mj-ea"/>
                <a:ea typeface="+mj-ea"/>
              </a:rPr>
              <a:t>공개</a:t>
            </a:r>
            <a:endParaRPr kumimoji="0" lang="en-US" altLang="ko-KR" sz="1400" b="0" kern="1200" dirty="0">
              <a:solidFill>
                <a:schemeClr val="tx1"/>
              </a:solidFill>
              <a:latin typeface="+mj-ea"/>
              <a:ea typeface="+mj-ea"/>
            </a:endParaRPr>
          </a:p>
          <a:p>
            <a:pPr lvl="0" algn="ctr" defTabSz="622300" latinLnBrk="1">
              <a:lnSpc>
                <a:spcPct val="90000"/>
              </a:lnSpc>
              <a:spcBef>
                <a:spcPct val="0"/>
              </a:spcBef>
              <a:spcAft>
                <a:spcPct val="35000"/>
              </a:spcAft>
            </a:pPr>
            <a:r>
              <a:rPr kumimoji="0" lang="en-US" altLang="ko-KR" sz="1400" b="0" kern="1200" dirty="0">
                <a:solidFill>
                  <a:schemeClr val="tx1"/>
                </a:solidFill>
                <a:latin typeface="+mj-ea"/>
                <a:ea typeface="+mj-ea"/>
              </a:rPr>
              <a:t>(</a:t>
            </a:r>
            <a:r>
              <a:rPr kumimoji="0" lang="ko-KR" altLang="en-US" sz="1400" b="0" kern="1200" dirty="0">
                <a:solidFill>
                  <a:schemeClr val="tx1"/>
                </a:solidFill>
                <a:latin typeface="+mj-ea"/>
                <a:ea typeface="+mj-ea"/>
              </a:rPr>
              <a:t>경쟁자에 의한 선점특허의 예방</a:t>
            </a:r>
            <a:r>
              <a:rPr kumimoji="0" lang="en-US" altLang="ko-KR" sz="1400" b="0" kern="1200" dirty="0">
                <a:solidFill>
                  <a:schemeClr val="tx1"/>
                </a:solidFill>
                <a:latin typeface="+mj-ea"/>
                <a:ea typeface="+mj-ea"/>
              </a:rPr>
              <a:t>)</a:t>
            </a:r>
            <a:endParaRPr lang="ko-KR" altLang="en-US" sz="1400" kern="1200" dirty="0">
              <a:solidFill>
                <a:schemeClr val="tx1"/>
              </a:solidFill>
              <a:latin typeface="+mj-ea"/>
              <a:ea typeface="+mj-ea"/>
            </a:endParaRPr>
          </a:p>
        </p:txBody>
      </p:sp>
      <p:sp>
        <p:nvSpPr>
          <p:cNvPr id="17" name="자유형 16"/>
          <p:cNvSpPr/>
          <p:nvPr/>
        </p:nvSpPr>
        <p:spPr>
          <a:xfrm>
            <a:off x="3712671" y="3907337"/>
            <a:ext cx="2531531" cy="772116"/>
          </a:xfrm>
          <a:custGeom>
            <a:avLst/>
            <a:gdLst>
              <a:gd name="connsiteX0" fmla="*/ 0 w 2531531"/>
              <a:gd name="connsiteY0" fmla="*/ 0 h 772116"/>
              <a:gd name="connsiteX1" fmla="*/ 2531531 w 2531531"/>
              <a:gd name="connsiteY1" fmla="*/ 0 h 772116"/>
              <a:gd name="connsiteX2" fmla="*/ 2531531 w 2531531"/>
              <a:gd name="connsiteY2" fmla="*/ 772116 h 772116"/>
              <a:gd name="connsiteX3" fmla="*/ 0 w 2531531"/>
              <a:gd name="connsiteY3" fmla="*/ 772116 h 772116"/>
              <a:gd name="connsiteX4" fmla="*/ 0 w 2531531"/>
              <a:gd name="connsiteY4" fmla="*/ 0 h 77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1531" h="772116">
                <a:moveTo>
                  <a:pt x="0" y="0"/>
                </a:moveTo>
                <a:lnTo>
                  <a:pt x="2531531" y="0"/>
                </a:lnTo>
                <a:lnTo>
                  <a:pt x="2531531" y="772116"/>
                </a:lnTo>
                <a:lnTo>
                  <a:pt x="0" y="772116"/>
                </a:lnTo>
                <a:lnTo>
                  <a:pt x="0" y="0"/>
                </a:lnTo>
                <a:close/>
              </a:path>
            </a:pathLst>
          </a:custGeom>
          <a:solidFill>
            <a:schemeClr val="accent1">
              <a:lumMod val="20000"/>
              <a:lumOff val="80000"/>
            </a:schemeClr>
          </a:solidFill>
          <a:ln>
            <a:solidFill>
              <a:schemeClr val="bg1">
                <a:lumMod val="50000"/>
              </a:schemeClr>
            </a:solid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8890" tIns="8890" rIns="8890" bIns="8890" numCol="1" spcCol="1270" anchor="ctr" anchorCtr="0">
            <a:noAutofit/>
          </a:bodyPr>
          <a:lstStyle/>
          <a:p>
            <a:pPr lvl="0" algn="ctr" defTabSz="622300" latinLnBrk="1">
              <a:lnSpc>
                <a:spcPct val="90000"/>
              </a:lnSpc>
              <a:spcBef>
                <a:spcPct val="0"/>
              </a:spcBef>
              <a:spcAft>
                <a:spcPct val="35000"/>
              </a:spcAft>
            </a:pPr>
            <a:r>
              <a:rPr kumimoji="0" lang="ko-KR" altLang="en-US" sz="1400" b="0" kern="1200" dirty="0">
                <a:solidFill>
                  <a:schemeClr val="tx1"/>
                </a:solidFill>
                <a:latin typeface="+mj-ea"/>
                <a:ea typeface="+mj-ea"/>
              </a:rPr>
              <a:t>노하우로 보호</a:t>
            </a:r>
            <a:endParaRPr kumimoji="0" lang="en-US" altLang="ko-KR" sz="1400" b="0" kern="1200" dirty="0">
              <a:solidFill>
                <a:schemeClr val="tx1"/>
              </a:solidFill>
              <a:latin typeface="+mj-ea"/>
              <a:ea typeface="+mj-ea"/>
            </a:endParaRPr>
          </a:p>
          <a:p>
            <a:pPr lvl="0" algn="ctr" defTabSz="622300" latinLnBrk="1">
              <a:lnSpc>
                <a:spcPct val="90000"/>
              </a:lnSpc>
              <a:spcBef>
                <a:spcPct val="0"/>
              </a:spcBef>
              <a:spcAft>
                <a:spcPct val="35000"/>
              </a:spcAft>
            </a:pPr>
            <a:r>
              <a:rPr kumimoji="0" lang="en-US" altLang="ko-KR" sz="1400" b="0" kern="1200" dirty="0">
                <a:solidFill>
                  <a:schemeClr val="tx1"/>
                </a:solidFill>
                <a:latin typeface="+mj-ea"/>
                <a:ea typeface="+mj-ea"/>
              </a:rPr>
              <a:t>(</a:t>
            </a:r>
            <a:r>
              <a:rPr kumimoji="0" lang="ko-KR" altLang="en-US" sz="1400" b="0" kern="1200" dirty="0">
                <a:solidFill>
                  <a:schemeClr val="tx1"/>
                </a:solidFill>
                <a:latin typeface="+mj-ea"/>
                <a:ea typeface="+mj-ea"/>
              </a:rPr>
              <a:t>제조방법의 경우 등</a:t>
            </a:r>
            <a:r>
              <a:rPr kumimoji="0" lang="en-US" altLang="ko-KR" sz="1400" b="0" kern="1200" dirty="0">
                <a:solidFill>
                  <a:schemeClr val="tx1"/>
                </a:solidFill>
                <a:latin typeface="+mj-ea"/>
                <a:ea typeface="+mj-ea"/>
              </a:rPr>
              <a:t>)</a:t>
            </a:r>
            <a:endParaRPr lang="ko-KR" altLang="en-US" sz="1400" b="1" kern="1200" dirty="0">
              <a:solidFill>
                <a:schemeClr val="tx1"/>
              </a:solidFill>
              <a:latin typeface="+mj-ea"/>
              <a:ea typeface="+mj-ea"/>
            </a:endParaRPr>
          </a:p>
        </p:txBody>
      </p:sp>
      <p:sp>
        <p:nvSpPr>
          <p:cNvPr id="18" name="자유형 17"/>
          <p:cNvSpPr/>
          <p:nvPr/>
        </p:nvSpPr>
        <p:spPr>
          <a:xfrm>
            <a:off x="3712671" y="4995895"/>
            <a:ext cx="2531531" cy="772116"/>
          </a:xfrm>
          <a:custGeom>
            <a:avLst/>
            <a:gdLst>
              <a:gd name="connsiteX0" fmla="*/ 0 w 2531531"/>
              <a:gd name="connsiteY0" fmla="*/ 0 h 772116"/>
              <a:gd name="connsiteX1" fmla="*/ 2531531 w 2531531"/>
              <a:gd name="connsiteY1" fmla="*/ 0 h 772116"/>
              <a:gd name="connsiteX2" fmla="*/ 2531531 w 2531531"/>
              <a:gd name="connsiteY2" fmla="*/ 772116 h 772116"/>
              <a:gd name="connsiteX3" fmla="*/ 0 w 2531531"/>
              <a:gd name="connsiteY3" fmla="*/ 772116 h 772116"/>
              <a:gd name="connsiteX4" fmla="*/ 0 w 2531531"/>
              <a:gd name="connsiteY4" fmla="*/ 0 h 772116"/>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31531" h="772116">
                <a:moveTo>
                  <a:pt x="0" y="0"/>
                </a:moveTo>
                <a:lnTo>
                  <a:pt x="2531531" y="0"/>
                </a:lnTo>
                <a:lnTo>
                  <a:pt x="2531531" y="772116"/>
                </a:lnTo>
                <a:lnTo>
                  <a:pt x="0" y="772116"/>
                </a:lnTo>
                <a:lnTo>
                  <a:pt x="0" y="0"/>
                </a:lnTo>
                <a:close/>
              </a:path>
            </a:pathLst>
          </a:custGeom>
          <a:solidFill>
            <a:schemeClr val="accent1">
              <a:lumMod val="20000"/>
              <a:lumOff val="80000"/>
            </a:schemeClr>
          </a:solidFill>
          <a:ln>
            <a:solidFill>
              <a:schemeClr val="bg1">
                <a:lumMod val="50000"/>
              </a:schemeClr>
            </a:solidFill>
          </a:ln>
        </p:spPr>
        <p:style>
          <a:lnRef idx="2">
            <a:schemeClr val="lt1">
              <a:hueOff val="0"/>
              <a:satOff val="0"/>
              <a:lumOff val="0"/>
              <a:alphaOff val="0"/>
            </a:schemeClr>
          </a:lnRef>
          <a:fillRef idx="1">
            <a:schemeClr val="accent5">
              <a:hueOff val="0"/>
              <a:satOff val="0"/>
              <a:lumOff val="0"/>
              <a:alphaOff val="0"/>
            </a:schemeClr>
          </a:fillRef>
          <a:effectRef idx="0">
            <a:schemeClr val="accent5">
              <a:hueOff val="0"/>
              <a:satOff val="0"/>
              <a:lumOff val="0"/>
              <a:alphaOff val="0"/>
            </a:schemeClr>
          </a:effectRef>
          <a:fontRef idx="minor">
            <a:schemeClr val="lt1"/>
          </a:fontRef>
        </p:style>
        <p:txBody>
          <a:bodyPr spcFirstLastPara="0" vert="horz" wrap="square" lIns="8890" tIns="8890" rIns="8890" bIns="8890" numCol="1" spcCol="1270" anchor="ctr" anchorCtr="0">
            <a:noAutofit/>
          </a:bodyPr>
          <a:lstStyle/>
          <a:p>
            <a:pPr lvl="0" algn="ctr" defTabSz="622300" latinLnBrk="1">
              <a:lnSpc>
                <a:spcPct val="90000"/>
              </a:lnSpc>
              <a:spcBef>
                <a:spcPct val="0"/>
              </a:spcBef>
              <a:spcAft>
                <a:spcPct val="35000"/>
              </a:spcAft>
            </a:pPr>
            <a:r>
              <a:rPr kumimoji="0" lang="ko-KR" altLang="en-US" sz="1400" b="0" kern="1200">
                <a:solidFill>
                  <a:schemeClr val="tx1"/>
                </a:solidFill>
                <a:latin typeface="+mj-ea"/>
                <a:ea typeface="+mj-ea"/>
              </a:rPr>
              <a:t>특허로 보호</a:t>
            </a:r>
            <a:endParaRPr lang="ko-KR" altLang="en-US" sz="1400" b="1" kern="1200" dirty="0">
              <a:solidFill>
                <a:schemeClr val="tx1"/>
              </a:solidFill>
              <a:latin typeface="+mj-ea"/>
              <a:ea typeface="+mj-ea"/>
            </a:endParaRPr>
          </a:p>
        </p:txBody>
      </p:sp>
      <p:sp>
        <p:nvSpPr>
          <p:cNvPr id="8" name="TextBox 7"/>
          <p:cNvSpPr txBox="1"/>
          <p:nvPr/>
        </p:nvSpPr>
        <p:spPr>
          <a:xfrm>
            <a:off x="6310505" y="3035560"/>
            <a:ext cx="2674130" cy="338554"/>
          </a:xfrm>
          <a:prstGeom prst="rect">
            <a:avLst/>
          </a:prstGeom>
          <a:noFill/>
        </p:spPr>
        <p:txBody>
          <a:bodyPr wrap="none" rtlCol="0">
            <a:spAutoFit/>
          </a:bodyPr>
          <a:lstStyle/>
          <a:p>
            <a:pPr marL="285750" indent="-285750">
              <a:buFontTx/>
              <a:buChar char="-"/>
            </a:pPr>
            <a:r>
              <a:rPr lang="ko-KR" altLang="en-US" sz="1600" dirty="0"/>
              <a:t>공개시점 및 내용의 명확화</a:t>
            </a:r>
            <a:endParaRPr lang="en-US" altLang="ko-KR" sz="1600" dirty="0"/>
          </a:p>
        </p:txBody>
      </p:sp>
      <p:sp>
        <p:nvSpPr>
          <p:cNvPr id="9" name="TextBox 8"/>
          <p:cNvSpPr txBox="1"/>
          <p:nvPr/>
        </p:nvSpPr>
        <p:spPr>
          <a:xfrm>
            <a:off x="6328090" y="5212676"/>
            <a:ext cx="3100529" cy="338554"/>
          </a:xfrm>
          <a:prstGeom prst="rect">
            <a:avLst/>
          </a:prstGeom>
          <a:noFill/>
        </p:spPr>
        <p:txBody>
          <a:bodyPr wrap="none" rtlCol="0">
            <a:spAutoFit/>
          </a:bodyPr>
          <a:lstStyle/>
          <a:p>
            <a:pPr marL="285750" indent="-285750">
              <a:buFontTx/>
              <a:buChar char="-"/>
            </a:pPr>
            <a:r>
              <a:rPr lang="ko-KR" altLang="en-US" sz="1600" dirty="0"/>
              <a:t>발명의 </a:t>
            </a:r>
            <a:r>
              <a:rPr lang="ko-KR" altLang="en-US" sz="1600" dirty="0" err="1"/>
              <a:t>성립성</a:t>
            </a:r>
            <a:r>
              <a:rPr lang="ko-KR" altLang="en-US" sz="1600" dirty="0"/>
              <a:t> 등 특허요건 구비</a:t>
            </a:r>
            <a:endParaRPr lang="en-US" altLang="ko-KR" sz="1600" dirty="0"/>
          </a:p>
        </p:txBody>
      </p:sp>
      <p:sp>
        <p:nvSpPr>
          <p:cNvPr id="10" name="TextBox 9"/>
          <p:cNvSpPr txBox="1"/>
          <p:nvPr/>
        </p:nvSpPr>
        <p:spPr>
          <a:xfrm>
            <a:off x="6310505" y="4016776"/>
            <a:ext cx="3158237" cy="584775"/>
          </a:xfrm>
          <a:prstGeom prst="rect">
            <a:avLst/>
          </a:prstGeom>
          <a:noFill/>
        </p:spPr>
        <p:txBody>
          <a:bodyPr wrap="none" rtlCol="0">
            <a:spAutoFit/>
          </a:bodyPr>
          <a:lstStyle/>
          <a:p>
            <a:pPr marL="285750" indent="-285750">
              <a:buFontTx/>
              <a:buChar char="-"/>
            </a:pPr>
            <a:r>
              <a:rPr lang="ko-KR" altLang="en-US" sz="1600" dirty="0"/>
              <a:t>영업비밀의 요건 충족 위한 관리</a:t>
            </a:r>
            <a:endParaRPr lang="en-US" altLang="ko-KR" sz="1600" dirty="0"/>
          </a:p>
          <a:p>
            <a:pPr marL="285750" indent="-285750">
              <a:buFontTx/>
              <a:buChar char="-"/>
            </a:pPr>
            <a:r>
              <a:rPr lang="ko-KR" altLang="en-US" sz="1600" dirty="0" err="1"/>
              <a:t>선사용권</a:t>
            </a:r>
            <a:r>
              <a:rPr lang="ko-KR" altLang="en-US" sz="1600" dirty="0"/>
              <a:t> 요건의 충족</a:t>
            </a:r>
          </a:p>
        </p:txBody>
      </p:sp>
      <p:sp>
        <p:nvSpPr>
          <p:cNvPr id="2" name="슬라이드 번호 개체 틀 1"/>
          <p:cNvSpPr>
            <a:spLocks noGrp="1"/>
          </p:cNvSpPr>
          <p:nvPr>
            <p:ph type="sldNum" sz="quarter" idx="12"/>
          </p:nvPr>
        </p:nvSpPr>
        <p:spPr/>
        <p:txBody>
          <a:bodyPr/>
          <a:lstStyle/>
          <a:p>
            <a:fld id="{3875FC6C-1516-4DC4-8C58-3090F7D4F003}" type="slidenum">
              <a:rPr lang="ko-KR" altLang="en-US" smtClean="0"/>
              <a:t>15</a:t>
            </a:fld>
            <a:endParaRPr lang="ko-KR" altLang="en-US"/>
          </a:p>
        </p:txBody>
      </p:sp>
    </p:spTree>
    <p:extLst>
      <p:ext uri="{BB962C8B-B14F-4D97-AF65-F5344CB8AC3E}">
        <p14:creationId xmlns:p14="http://schemas.microsoft.com/office/powerpoint/2010/main" val="2333164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발명의 보호전략</a:t>
            </a:r>
            <a:r>
              <a:rPr lang="en-US" altLang="ko-KR" dirty="0"/>
              <a:t>: </a:t>
            </a:r>
            <a:r>
              <a:rPr lang="ko-KR" altLang="en-US" dirty="0"/>
              <a:t>공개</a:t>
            </a:r>
          </a:p>
        </p:txBody>
      </p:sp>
      <p:sp>
        <p:nvSpPr>
          <p:cNvPr id="5" name="TextBox 4"/>
          <p:cNvSpPr txBox="1"/>
          <p:nvPr/>
        </p:nvSpPr>
        <p:spPr>
          <a:xfrm>
            <a:off x="77875" y="986046"/>
            <a:ext cx="11936323" cy="1169551"/>
          </a:xfrm>
          <a:prstGeom prst="rect">
            <a:avLst/>
          </a:prstGeom>
          <a:noFill/>
        </p:spPr>
        <p:txBody>
          <a:bodyPr wrap="square" rtlCol="0">
            <a:spAutoFit/>
          </a:bodyPr>
          <a:lstStyle/>
          <a:p>
            <a:pPr fontAlgn="base"/>
            <a:r>
              <a:rPr lang="ko-KR" altLang="en-US" sz="1400" dirty="0">
                <a:solidFill>
                  <a:schemeClr val="tx2"/>
                </a:solidFill>
              </a:rPr>
              <a:t>발명자는 발명이 특허나 노하우로 보호가치가 없다고 판단되는 경우 발명을 공개시킬 수 있다</a:t>
            </a:r>
            <a:r>
              <a:rPr lang="en-US" altLang="ko-KR" sz="1400" dirty="0">
                <a:solidFill>
                  <a:schemeClr val="tx2"/>
                </a:solidFill>
              </a:rPr>
              <a:t>. </a:t>
            </a:r>
            <a:r>
              <a:rPr lang="ko-KR" altLang="en-US" sz="1400" dirty="0">
                <a:solidFill>
                  <a:schemeClr val="tx2"/>
                </a:solidFill>
              </a:rPr>
              <a:t>발명이 공개되어 공지기술의 지위를 가지는 경우 </a:t>
            </a:r>
            <a:r>
              <a:rPr lang="ko-KR" altLang="en-US" sz="1400" dirty="0">
                <a:solidFill>
                  <a:schemeClr val="tx2"/>
                </a:solidFill>
                <a:highlight>
                  <a:srgbClr val="FFFF00"/>
                </a:highlight>
              </a:rPr>
              <a:t>타인의 특허등록을 저지</a:t>
            </a:r>
            <a:r>
              <a:rPr lang="ko-KR" altLang="en-US" sz="1400" dirty="0">
                <a:solidFill>
                  <a:schemeClr val="tx2"/>
                </a:solidFill>
              </a:rPr>
              <a:t>시킬 수 있으며</a:t>
            </a:r>
            <a:r>
              <a:rPr lang="en-US" altLang="ko-KR" sz="1400" dirty="0">
                <a:solidFill>
                  <a:schemeClr val="tx2"/>
                </a:solidFill>
              </a:rPr>
              <a:t>, </a:t>
            </a:r>
            <a:r>
              <a:rPr lang="ko-KR" altLang="en-US" sz="1400" dirty="0">
                <a:solidFill>
                  <a:schemeClr val="tx2"/>
                </a:solidFill>
              </a:rPr>
              <a:t>착오로 타인의 특허출원이 등록되더라도 권리범위를 부정하여 발명자를 역공격하는 것을 막을 수 있다</a:t>
            </a:r>
            <a:r>
              <a:rPr lang="en-US" altLang="ko-KR" sz="1400" dirty="0">
                <a:solidFill>
                  <a:schemeClr val="tx2"/>
                </a:solidFill>
              </a:rPr>
              <a:t>. </a:t>
            </a:r>
            <a:r>
              <a:rPr lang="ko-KR" altLang="en-US" sz="1400" dirty="0">
                <a:solidFill>
                  <a:schemeClr val="tx2"/>
                </a:solidFill>
              </a:rPr>
              <a:t>즉</a:t>
            </a:r>
            <a:r>
              <a:rPr lang="en-US" altLang="ko-KR" sz="1400" dirty="0">
                <a:solidFill>
                  <a:schemeClr val="tx2"/>
                </a:solidFill>
              </a:rPr>
              <a:t>, </a:t>
            </a:r>
            <a:r>
              <a:rPr lang="ko-KR" altLang="en-US" sz="1400" dirty="0">
                <a:solidFill>
                  <a:schemeClr val="tx2"/>
                </a:solidFill>
              </a:rPr>
              <a:t>시간과 비용을 들여 특허를 확보할 의도는 없으나 타인의 특허권 행사로부터 사업상의 불이익을 받는 것을 방지하고자 하는 경우 발명의 공개를 고려해 볼 수 있다</a:t>
            </a:r>
            <a:r>
              <a:rPr lang="en-US" altLang="ko-KR" sz="1400" dirty="0">
                <a:solidFill>
                  <a:schemeClr val="tx2"/>
                </a:solidFill>
              </a:rPr>
              <a:t>. </a:t>
            </a:r>
            <a:r>
              <a:rPr lang="ko-KR" altLang="en-US" sz="1400" dirty="0">
                <a:solidFill>
                  <a:schemeClr val="tx2"/>
                </a:solidFill>
              </a:rPr>
              <a:t>실무적으로 가장 주의하여야 할 점은 타인의 특허출원 전에 공지기술의 지위를 가진다는 점을 </a:t>
            </a:r>
            <a:r>
              <a:rPr lang="ko-KR" altLang="en-US" sz="1400" dirty="0">
                <a:solidFill>
                  <a:schemeClr val="tx2"/>
                </a:solidFill>
                <a:highlight>
                  <a:srgbClr val="FFFF00"/>
                </a:highlight>
              </a:rPr>
              <a:t>발명자가 증명하여야</a:t>
            </a:r>
            <a:r>
              <a:rPr lang="ko-KR" altLang="en-US" sz="1400" dirty="0">
                <a:solidFill>
                  <a:schemeClr val="tx2"/>
                </a:solidFill>
              </a:rPr>
              <a:t> 한다는 것이다</a:t>
            </a:r>
            <a:r>
              <a:rPr lang="en-US" altLang="ko-KR" sz="1400" dirty="0">
                <a:solidFill>
                  <a:schemeClr val="tx2"/>
                </a:solidFill>
              </a:rPr>
              <a:t>. </a:t>
            </a:r>
            <a:r>
              <a:rPr lang="ko-KR" altLang="en-US" sz="1400" dirty="0">
                <a:solidFill>
                  <a:schemeClr val="tx2"/>
                </a:solidFill>
              </a:rPr>
              <a:t>따라서 발명자는 공지기술이 된 시점 및 내용을 명확하게 확인할 수 있는 방법을 강구하여야 하며</a:t>
            </a:r>
            <a:r>
              <a:rPr lang="en-US" altLang="ko-KR" sz="1400" dirty="0">
                <a:solidFill>
                  <a:schemeClr val="tx2"/>
                </a:solidFill>
              </a:rPr>
              <a:t>, </a:t>
            </a:r>
            <a:r>
              <a:rPr lang="ko-KR" altLang="en-US" sz="1400" dirty="0">
                <a:solidFill>
                  <a:schemeClr val="tx2"/>
                </a:solidFill>
                <a:highlight>
                  <a:srgbClr val="FFFF00"/>
                </a:highlight>
              </a:rPr>
              <a:t>지식재산처의 인터넷 기술공지제도를 활용</a:t>
            </a:r>
            <a:r>
              <a:rPr lang="ko-KR" altLang="en-US" sz="1400" dirty="0">
                <a:solidFill>
                  <a:schemeClr val="tx2"/>
                </a:solidFill>
              </a:rPr>
              <a:t>하는 것을 고려해 볼 수 있다</a:t>
            </a:r>
            <a:r>
              <a:rPr lang="en-US" altLang="ko-KR" sz="1400" dirty="0">
                <a:solidFill>
                  <a:schemeClr val="tx2"/>
                </a:solidFill>
              </a:rPr>
              <a:t>. </a:t>
            </a:r>
            <a:endParaRPr lang="ko-KR" altLang="en-US" sz="1400" dirty="0">
              <a:solidFill>
                <a:schemeClr val="tx2"/>
              </a:solidFill>
            </a:endParaRPr>
          </a:p>
        </p:txBody>
      </p:sp>
      <p:cxnSp>
        <p:nvCxnSpPr>
          <p:cNvPr id="6" name="직선 연결선 5"/>
          <p:cNvCxnSpPr/>
          <p:nvPr/>
        </p:nvCxnSpPr>
        <p:spPr>
          <a:xfrm>
            <a:off x="0" y="2364873"/>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9" name="Group 3"/>
          <p:cNvGraphicFramePr>
            <a:graphicFrameLocks noGrp="1"/>
          </p:cNvGraphicFramePr>
          <p:nvPr>
            <p:extLst>
              <p:ext uri="{D42A27DB-BD31-4B8C-83A1-F6EECF244321}">
                <p14:modId xmlns:p14="http://schemas.microsoft.com/office/powerpoint/2010/main" val="642051746"/>
              </p:ext>
            </p:extLst>
          </p:nvPr>
        </p:nvGraphicFramePr>
        <p:xfrm>
          <a:off x="222739" y="3030414"/>
          <a:ext cx="3557953" cy="3128961"/>
        </p:xfrm>
        <a:graphic>
          <a:graphicData uri="http://schemas.openxmlformats.org/drawingml/2006/table">
            <a:tbl>
              <a:tblPr>
                <a:tableStyleId>{5DA37D80-6434-44D0-A028-1B22A696006F}</a:tableStyleId>
              </a:tblPr>
              <a:tblGrid>
                <a:gridCol w="586153">
                  <a:extLst>
                    <a:ext uri="{9D8B030D-6E8A-4147-A177-3AD203B41FA5}">
                      <a16:colId xmlns:a16="http://schemas.microsoft.com/office/drawing/2014/main" val="20000"/>
                    </a:ext>
                  </a:extLst>
                </a:gridCol>
                <a:gridCol w="2971800">
                  <a:extLst>
                    <a:ext uri="{9D8B030D-6E8A-4147-A177-3AD203B41FA5}">
                      <a16:colId xmlns:a16="http://schemas.microsoft.com/office/drawing/2014/main" val="20001"/>
                    </a:ext>
                  </a:extLst>
                </a:gridCol>
              </a:tblGrid>
              <a:tr h="280969">
                <a:tc>
                  <a:txBody>
                    <a:bodyPr/>
                    <a:lstStyle/>
                    <a:p>
                      <a:pPr marL="0" marR="0" lvl="0" indent="0" algn="ctr" defTabSz="914400" rtl="0" eaLnBrk="1" fontAlgn="base" latinLnBrk="1" hangingPunct="1">
                        <a:lnSpc>
                          <a:spcPct val="100000"/>
                        </a:lnSpc>
                        <a:spcBef>
                          <a:spcPct val="0"/>
                        </a:spcBef>
                        <a:spcAft>
                          <a:spcPct val="30000"/>
                        </a:spcAft>
                        <a:buClrTx/>
                        <a:buSzTx/>
                        <a:buFontTx/>
                        <a:buNone/>
                        <a:tabLst/>
                      </a:pPr>
                      <a:r>
                        <a:rPr kumimoji="1" lang="ko-KR" altLang="en-US" sz="1100" b="1" u="none" strike="noStrike" cap="none" normalizeH="0" baseline="0" dirty="0">
                          <a:ln>
                            <a:noFill/>
                          </a:ln>
                          <a:solidFill>
                            <a:sysClr val="windowText" lastClr="000000"/>
                          </a:solidFill>
                          <a:effectLst/>
                        </a:rPr>
                        <a:t>항목</a:t>
                      </a:r>
                      <a:endParaRPr kumimoji="1" lang="ko-KR" altLang="en-US" sz="1100" b="1" i="0" u="none" strike="noStrike" cap="none" normalizeH="0" baseline="0" dirty="0">
                        <a:ln>
                          <a:noFill/>
                        </a:ln>
                        <a:solidFill>
                          <a:sysClr val="windowText" lastClr="000000"/>
                        </a:solidFill>
                        <a:effectLst/>
                        <a:latin typeface="Rix모던고딕 L" panose="02020603020101020101" pitchFamily="18" charset="-127"/>
                        <a:ea typeface="Rix모던고딕 L" panose="02020603020101020101" pitchFamily="18" charset="-127"/>
                      </a:endParaRPr>
                    </a:p>
                  </a:txBody>
                  <a:tcPr marL="121941" marR="1219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0" marR="0" lvl="0" indent="0" algn="ctr" defTabSz="914400" rtl="0" eaLnBrk="1" fontAlgn="base" latinLnBrk="1" hangingPunct="1">
                        <a:lnSpc>
                          <a:spcPct val="100000"/>
                        </a:lnSpc>
                        <a:spcBef>
                          <a:spcPct val="0"/>
                        </a:spcBef>
                        <a:spcAft>
                          <a:spcPct val="30000"/>
                        </a:spcAft>
                        <a:buClrTx/>
                        <a:buSzTx/>
                        <a:buFontTx/>
                        <a:buNone/>
                        <a:tabLst/>
                      </a:pPr>
                      <a:r>
                        <a:rPr kumimoji="1" lang="ko-KR" altLang="en-US" sz="1100" b="1" u="none" strike="noStrike" cap="none" normalizeH="0" baseline="0" dirty="0">
                          <a:ln>
                            <a:noFill/>
                          </a:ln>
                          <a:solidFill>
                            <a:sysClr val="windowText" lastClr="000000"/>
                          </a:solidFill>
                          <a:effectLst/>
                        </a:rPr>
                        <a:t>내용</a:t>
                      </a:r>
                      <a:endParaRPr kumimoji="1" lang="ko-KR" altLang="en-US" sz="1100" b="1" i="0" u="none" strike="noStrike" cap="none" normalizeH="0" baseline="0" dirty="0">
                        <a:ln>
                          <a:noFill/>
                        </a:ln>
                        <a:solidFill>
                          <a:sysClr val="windowText" lastClr="000000"/>
                        </a:solidFill>
                        <a:effectLst/>
                        <a:latin typeface="Rix모던고딕 L" panose="02020603020101020101" pitchFamily="18" charset="-127"/>
                        <a:ea typeface="Rix모던고딕 L" panose="02020603020101020101" pitchFamily="18" charset="-127"/>
                      </a:endParaRPr>
                    </a:p>
                  </a:txBody>
                  <a:tcPr marL="121941" marR="1219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1370021">
                <a:tc>
                  <a:txBody>
                    <a:bodyPr/>
                    <a:lstStyle/>
                    <a:p>
                      <a:pPr marL="0" marR="0" lvl="0" indent="0" algn="ctr" defTabSz="914400" rtl="0" eaLnBrk="1" fontAlgn="base" latinLnBrk="1" hangingPunct="1">
                        <a:lnSpc>
                          <a:spcPct val="100000"/>
                        </a:lnSpc>
                        <a:spcBef>
                          <a:spcPct val="0"/>
                        </a:spcBef>
                        <a:spcAft>
                          <a:spcPct val="30000"/>
                        </a:spcAft>
                        <a:buClrTx/>
                        <a:buSzTx/>
                        <a:buFontTx/>
                        <a:buNone/>
                        <a:tabLst/>
                      </a:pPr>
                      <a:r>
                        <a:rPr kumimoji="1" lang="ko-KR" altLang="en-US" sz="1100" u="none" strike="noStrike" cap="none" normalizeH="0" baseline="0" dirty="0">
                          <a:ln>
                            <a:noFill/>
                          </a:ln>
                          <a:effectLst/>
                        </a:rPr>
                        <a:t>이용</a:t>
                      </a:r>
                    </a:p>
                    <a:p>
                      <a:pPr marL="0" marR="0" lvl="0" indent="0" algn="ctr" defTabSz="914400" rtl="0" eaLnBrk="0" fontAlgn="base" latinLnBrk="1" hangingPunct="0">
                        <a:lnSpc>
                          <a:spcPct val="100000"/>
                        </a:lnSpc>
                        <a:spcBef>
                          <a:spcPct val="0"/>
                        </a:spcBef>
                        <a:spcAft>
                          <a:spcPct val="30000"/>
                        </a:spcAft>
                        <a:buClrTx/>
                        <a:buSzTx/>
                        <a:buFontTx/>
                        <a:buNone/>
                        <a:tabLst/>
                      </a:pPr>
                      <a:r>
                        <a:rPr kumimoji="1" lang="ko-KR" altLang="en-US" sz="1100" u="none" strike="noStrike" cap="none" normalizeH="0" baseline="0" dirty="0">
                          <a:ln>
                            <a:noFill/>
                          </a:ln>
                          <a:effectLst/>
                        </a:rPr>
                        <a:t>효과</a:t>
                      </a:r>
                      <a:endParaRPr kumimoji="1" lang="ko-KR" altLang="en-US" sz="1100" b="0" i="0" u="none" strike="noStrike" cap="none" normalizeH="0" baseline="0" dirty="0">
                        <a:ln>
                          <a:noFill/>
                        </a:ln>
                        <a:solidFill>
                          <a:srgbClr val="4D4D4D"/>
                        </a:solidFill>
                        <a:effectLst/>
                        <a:latin typeface="Rix모던고딕 L" panose="02020603020101020101" pitchFamily="18" charset="-127"/>
                        <a:ea typeface="Rix모던고딕 L" panose="02020603020101020101" pitchFamily="18" charset="-127"/>
                      </a:endParaRPr>
                    </a:p>
                  </a:txBody>
                  <a:tcPr marL="121941" marR="1219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just" defTabSz="914400" rtl="0" eaLnBrk="1" fontAlgn="base" latinLnBrk="1" hangingPunct="1">
                        <a:lnSpc>
                          <a:spcPct val="100000"/>
                        </a:lnSpc>
                        <a:spcBef>
                          <a:spcPct val="0"/>
                        </a:spcBef>
                        <a:spcAft>
                          <a:spcPct val="30000"/>
                        </a:spcAft>
                        <a:buClr>
                          <a:schemeClr val="accent6">
                            <a:lumMod val="50000"/>
                          </a:schemeClr>
                        </a:buClr>
                        <a:buSzTx/>
                        <a:buFont typeface="Arial" pitchFamily="34" charset="0"/>
                        <a:buChar char="•"/>
                        <a:tabLst/>
                      </a:pPr>
                      <a:r>
                        <a:rPr kumimoji="1" lang="en-US" altLang="ko-KR" sz="1100" u="none" strike="noStrike" cap="none" normalizeH="0" baseline="0" dirty="0">
                          <a:ln>
                            <a:noFill/>
                          </a:ln>
                          <a:effectLst/>
                        </a:rPr>
                        <a:t> </a:t>
                      </a:r>
                      <a:r>
                        <a:rPr kumimoji="1" lang="ko-KR" altLang="en-US" sz="1100" u="none" strike="noStrike" cap="none" normalizeH="0" baseline="0" dirty="0">
                          <a:ln>
                            <a:noFill/>
                          </a:ln>
                          <a:effectLst/>
                        </a:rPr>
                        <a:t>방어목적</a:t>
                      </a:r>
                      <a:r>
                        <a:rPr kumimoji="1" lang="en-US" altLang="ko-KR" sz="1100" u="none" strike="noStrike" cap="none" normalizeH="0" baseline="0" dirty="0">
                          <a:ln>
                            <a:noFill/>
                          </a:ln>
                          <a:effectLst/>
                        </a:rPr>
                        <a:t>(</a:t>
                      </a:r>
                      <a:r>
                        <a:rPr kumimoji="1" lang="ko-KR" altLang="en-US" sz="1100" u="none" strike="noStrike" cap="none" normalizeH="0" baseline="0" dirty="0">
                          <a:ln>
                            <a:noFill/>
                          </a:ln>
                          <a:effectLst/>
                        </a:rPr>
                        <a:t>타인의 등록저지</a:t>
                      </a:r>
                      <a:r>
                        <a:rPr kumimoji="1" lang="en-US" altLang="ko-KR" sz="1100" u="none" strike="noStrike" cap="none" normalizeH="0" baseline="0" dirty="0">
                          <a:ln>
                            <a:noFill/>
                          </a:ln>
                          <a:effectLst/>
                        </a:rPr>
                        <a:t>)</a:t>
                      </a:r>
                      <a:r>
                        <a:rPr kumimoji="1" lang="ko-KR" altLang="en-US" sz="1100" u="none" strike="noStrike" cap="none" normalizeH="0" baseline="0" dirty="0">
                          <a:ln>
                            <a:noFill/>
                          </a:ln>
                          <a:effectLst/>
                        </a:rPr>
                        <a:t>의 출원을 하는 경우 </a:t>
                      </a:r>
                    </a:p>
                    <a:p>
                      <a:pPr marL="87313" marR="0" lvl="0" indent="-87313" algn="just" defTabSz="914400" rtl="0" eaLnBrk="0" fontAlgn="base" latinLnBrk="1" hangingPunct="0">
                        <a:lnSpc>
                          <a:spcPct val="100000"/>
                        </a:lnSpc>
                        <a:spcBef>
                          <a:spcPct val="0"/>
                        </a:spcBef>
                        <a:spcAft>
                          <a:spcPct val="30000"/>
                        </a:spcAft>
                        <a:buClr>
                          <a:schemeClr val="accent6">
                            <a:lumMod val="50000"/>
                          </a:schemeClr>
                        </a:buClr>
                        <a:buSzTx/>
                        <a:buFont typeface="Arial" pitchFamily="34" charset="0"/>
                        <a:buChar char="•"/>
                        <a:tabLst/>
                      </a:pPr>
                      <a:r>
                        <a:rPr kumimoji="1" lang="ko-KR" altLang="en-US" sz="1100" u="none" strike="noStrike" cap="none" normalizeH="0" baseline="0" dirty="0">
                          <a:ln>
                            <a:noFill/>
                          </a:ln>
                          <a:effectLst/>
                        </a:rPr>
                        <a:t>법적 대응을 위해 공증기관의 공증을 받고자 하는 경우</a:t>
                      </a:r>
                    </a:p>
                    <a:p>
                      <a:pPr marL="0" marR="0" lvl="0" indent="0" algn="just" defTabSz="914400" rtl="0" eaLnBrk="0" fontAlgn="base" latinLnBrk="1" hangingPunct="0">
                        <a:lnSpc>
                          <a:spcPct val="100000"/>
                        </a:lnSpc>
                        <a:spcBef>
                          <a:spcPct val="0"/>
                        </a:spcBef>
                        <a:spcAft>
                          <a:spcPct val="30000"/>
                        </a:spcAft>
                        <a:buClr>
                          <a:schemeClr val="accent6">
                            <a:lumMod val="50000"/>
                          </a:schemeClr>
                        </a:buClr>
                        <a:buSzTx/>
                        <a:buFont typeface="Arial" pitchFamily="34" charset="0"/>
                        <a:buChar char="•"/>
                        <a:tabLst/>
                      </a:pPr>
                      <a:r>
                        <a:rPr kumimoji="1" lang="ko-KR" altLang="en-US" sz="1100" u="none" strike="noStrike" cap="none" normalizeH="0" baseline="0" dirty="0">
                          <a:ln>
                            <a:noFill/>
                          </a:ln>
                          <a:effectLst/>
                        </a:rPr>
                        <a:t> 연구개발을 위해 기술동향이 필요한 경우</a:t>
                      </a:r>
                      <a:endParaRPr kumimoji="1" lang="en-US" altLang="ko-KR" sz="1100" u="none" strike="noStrike" cap="none" normalizeH="0" baseline="0" dirty="0">
                        <a:ln>
                          <a:noFill/>
                        </a:ln>
                        <a:effectLst/>
                      </a:endParaRPr>
                    </a:p>
                    <a:p>
                      <a:pPr marL="0" marR="0" lvl="0" indent="0" algn="just" defTabSz="914400" rtl="0" eaLnBrk="0" fontAlgn="base" latinLnBrk="1" hangingPunct="0">
                        <a:lnSpc>
                          <a:spcPct val="100000"/>
                        </a:lnSpc>
                        <a:spcBef>
                          <a:spcPct val="0"/>
                        </a:spcBef>
                        <a:spcAft>
                          <a:spcPct val="30000"/>
                        </a:spcAft>
                        <a:buClr>
                          <a:schemeClr val="accent6">
                            <a:lumMod val="50000"/>
                          </a:schemeClr>
                        </a:buClr>
                        <a:buSzTx/>
                        <a:buFont typeface="Arial" pitchFamily="34" charset="0"/>
                        <a:buChar char="•"/>
                        <a:tabLst/>
                      </a:pPr>
                      <a:r>
                        <a:rPr kumimoji="1" lang="en-US" altLang="ko-KR" sz="1100" b="0" i="0" u="none" strike="noStrike" cap="none" normalizeH="0" baseline="0" dirty="0">
                          <a:ln>
                            <a:noFill/>
                          </a:ln>
                          <a:solidFill>
                            <a:schemeClr val="tx1"/>
                          </a:solidFill>
                          <a:effectLst/>
                          <a:latin typeface="+mn-ea"/>
                          <a:ea typeface="+mn-ea"/>
                        </a:rPr>
                        <a:t> </a:t>
                      </a:r>
                      <a:r>
                        <a:rPr kumimoji="1" lang="ko-KR" altLang="en-US" sz="1100" b="0" i="0" u="none" strike="noStrike" cap="none" normalizeH="0" baseline="0" dirty="0">
                          <a:ln>
                            <a:noFill/>
                          </a:ln>
                          <a:solidFill>
                            <a:schemeClr val="tx1"/>
                          </a:solidFill>
                          <a:effectLst/>
                          <a:latin typeface="+mn-ea"/>
                          <a:ea typeface="+mn-ea"/>
                        </a:rPr>
                        <a:t>타인의 특허에 대한 권리범위의 부정</a:t>
                      </a:r>
                    </a:p>
                  </a:txBody>
                  <a:tcPr marL="121941" marR="1219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738192">
                <a:tc>
                  <a:txBody>
                    <a:bodyPr/>
                    <a:lstStyle/>
                    <a:p>
                      <a:pPr marL="0" marR="0" lvl="0" indent="0" algn="ctr" defTabSz="914400" rtl="0" eaLnBrk="1" fontAlgn="base" latinLnBrk="1" hangingPunct="1">
                        <a:lnSpc>
                          <a:spcPct val="100000"/>
                        </a:lnSpc>
                        <a:spcBef>
                          <a:spcPct val="0"/>
                        </a:spcBef>
                        <a:spcAft>
                          <a:spcPct val="30000"/>
                        </a:spcAft>
                        <a:buClrTx/>
                        <a:buSzTx/>
                        <a:buFontTx/>
                        <a:buNone/>
                        <a:tabLst/>
                      </a:pPr>
                      <a:r>
                        <a:rPr kumimoji="1" lang="ko-KR" altLang="en-US" sz="1100" u="none" strike="noStrike" cap="none" normalizeH="0" baseline="0" dirty="0">
                          <a:ln>
                            <a:noFill/>
                          </a:ln>
                          <a:effectLst/>
                        </a:rPr>
                        <a:t>이용</a:t>
                      </a:r>
                    </a:p>
                    <a:p>
                      <a:pPr marL="0" marR="0" lvl="0" indent="0" algn="ctr" defTabSz="914400" rtl="0" eaLnBrk="0" fontAlgn="base" latinLnBrk="1" hangingPunct="0">
                        <a:lnSpc>
                          <a:spcPct val="100000"/>
                        </a:lnSpc>
                        <a:spcBef>
                          <a:spcPct val="0"/>
                        </a:spcBef>
                        <a:spcAft>
                          <a:spcPct val="30000"/>
                        </a:spcAft>
                        <a:buClrTx/>
                        <a:buSzTx/>
                        <a:buFontTx/>
                        <a:buNone/>
                        <a:tabLst/>
                      </a:pPr>
                      <a:r>
                        <a:rPr kumimoji="1" lang="ko-KR" altLang="en-US" sz="1100" u="none" strike="noStrike" cap="none" normalizeH="0" baseline="0" dirty="0">
                          <a:ln>
                            <a:noFill/>
                          </a:ln>
                          <a:effectLst/>
                        </a:rPr>
                        <a:t>제한</a:t>
                      </a:r>
                      <a:endParaRPr kumimoji="1" lang="ko-KR" altLang="en-US" sz="1100" b="0" i="0" u="none" strike="noStrike" cap="none" normalizeH="0" baseline="0" dirty="0">
                        <a:ln>
                          <a:noFill/>
                        </a:ln>
                        <a:solidFill>
                          <a:srgbClr val="4D4D4D"/>
                        </a:solidFill>
                        <a:effectLst/>
                        <a:latin typeface="Rix모던고딕 L" panose="02020603020101020101" pitchFamily="18" charset="-127"/>
                        <a:ea typeface="Rix모던고딕 L" panose="02020603020101020101" pitchFamily="18" charset="-127"/>
                      </a:endParaRPr>
                    </a:p>
                  </a:txBody>
                  <a:tcPr marL="121941" marR="1219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87313" marR="0" lvl="0" indent="-87313" algn="just" defTabSz="914400" rtl="0" eaLnBrk="1" fontAlgn="base" latinLnBrk="1" hangingPunct="1">
                        <a:lnSpc>
                          <a:spcPct val="100000"/>
                        </a:lnSpc>
                        <a:spcBef>
                          <a:spcPct val="0"/>
                        </a:spcBef>
                        <a:spcAft>
                          <a:spcPct val="30000"/>
                        </a:spcAft>
                        <a:buClr>
                          <a:schemeClr val="accent6">
                            <a:lumMod val="50000"/>
                          </a:schemeClr>
                        </a:buClr>
                        <a:buSzTx/>
                        <a:buFont typeface="Arial" pitchFamily="34" charset="0"/>
                        <a:buChar char="•"/>
                        <a:tabLst/>
                      </a:pPr>
                      <a:r>
                        <a:rPr kumimoji="1" lang="ko-KR" altLang="en-US" sz="1100" u="none" strike="noStrike" cap="none" normalizeH="0" baseline="0" dirty="0">
                          <a:ln>
                            <a:noFill/>
                          </a:ln>
                          <a:effectLst/>
                        </a:rPr>
                        <a:t>출원절차를 밟아 특허권 행사를 하고자 하는 경우 </a:t>
                      </a:r>
                    </a:p>
                    <a:p>
                      <a:pPr marL="0" marR="0" lvl="0" indent="0" algn="just" defTabSz="914400" rtl="0" eaLnBrk="0" fontAlgn="base" latinLnBrk="1" hangingPunct="0">
                        <a:lnSpc>
                          <a:spcPct val="100000"/>
                        </a:lnSpc>
                        <a:spcBef>
                          <a:spcPct val="0"/>
                        </a:spcBef>
                        <a:spcAft>
                          <a:spcPct val="30000"/>
                        </a:spcAft>
                        <a:buClr>
                          <a:schemeClr val="accent6">
                            <a:lumMod val="50000"/>
                          </a:schemeClr>
                        </a:buClr>
                        <a:buSzTx/>
                        <a:buFont typeface="Arial" pitchFamily="34" charset="0"/>
                        <a:buChar char="•"/>
                        <a:tabLst/>
                      </a:pPr>
                      <a:r>
                        <a:rPr kumimoji="1" lang="ko-KR" altLang="en-US" sz="1100" u="none" strike="noStrike" cap="none" normalizeH="0" baseline="0" dirty="0">
                          <a:ln>
                            <a:noFill/>
                          </a:ln>
                          <a:effectLst/>
                        </a:rPr>
                        <a:t> 영업비밀로 보호해야 될 기술에 해당되는 경우 </a:t>
                      </a:r>
                      <a:endParaRPr kumimoji="1" lang="ko-KR" altLang="en-US" sz="1100" b="0" i="0" u="none" strike="noStrike" cap="none" normalizeH="0" baseline="0" dirty="0">
                        <a:ln>
                          <a:noFill/>
                        </a:ln>
                        <a:solidFill>
                          <a:srgbClr val="4D4D4D"/>
                        </a:solidFill>
                        <a:effectLst/>
                        <a:latin typeface="Rix모던고딕 L" panose="02020603020101020101" pitchFamily="18" charset="-127"/>
                        <a:ea typeface="Rix모던고딕 L" panose="02020603020101020101" pitchFamily="18" charset="-127"/>
                      </a:endParaRPr>
                    </a:p>
                  </a:txBody>
                  <a:tcPr marL="121941" marR="1219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39779">
                <a:tc>
                  <a:txBody>
                    <a:bodyPr/>
                    <a:lstStyle/>
                    <a:p>
                      <a:pPr marL="0" marR="0" lvl="0" indent="0" algn="ctr" defTabSz="914400" rtl="0" eaLnBrk="1" fontAlgn="base" latinLnBrk="1" hangingPunct="1">
                        <a:lnSpc>
                          <a:spcPct val="100000"/>
                        </a:lnSpc>
                        <a:spcBef>
                          <a:spcPct val="0"/>
                        </a:spcBef>
                        <a:spcAft>
                          <a:spcPct val="30000"/>
                        </a:spcAft>
                        <a:buClrTx/>
                        <a:buSzTx/>
                        <a:buFontTx/>
                        <a:buNone/>
                        <a:tabLst/>
                      </a:pPr>
                      <a:r>
                        <a:rPr kumimoji="1" lang="ko-KR" altLang="en-US" sz="1100" u="none" strike="noStrike" cap="none" normalizeH="0" baseline="0" dirty="0">
                          <a:ln>
                            <a:noFill/>
                          </a:ln>
                          <a:effectLst/>
                        </a:rPr>
                        <a:t>이용</a:t>
                      </a:r>
                    </a:p>
                    <a:p>
                      <a:pPr marL="0" marR="0" lvl="0" indent="0" algn="ctr" defTabSz="914400" rtl="0" eaLnBrk="0" fontAlgn="base" latinLnBrk="1" hangingPunct="0">
                        <a:lnSpc>
                          <a:spcPct val="100000"/>
                        </a:lnSpc>
                        <a:spcBef>
                          <a:spcPct val="0"/>
                        </a:spcBef>
                        <a:spcAft>
                          <a:spcPct val="30000"/>
                        </a:spcAft>
                        <a:buClrTx/>
                        <a:buSzTx/>
                        <a:buFontTx/>
                        <a:buNone/>
                        <a:tabLst/>
                      </a:pPr>
                      <a:r>
                        <a:rPr kumimoji="1" lang="ko-KR" altLang="en-US" sz="1100" u="none" strike="noStrike" cap="none" normalizeH="0" baseline="0" dirty="0">
                          <a:ln>
                            <a:noFill/>
                          </a:ln>
                          <a:effectLst/>
                        </a:rPr>
                        <a:t>절차</a:t>
                      </a:r>
                      <a:endParaRPr kumimoji="1" lang="ko-KR" altLang="en-US" sz="1100" b="0" i="0" u="none" strike="noStrike" cap="none" normalizeH="0" baseline="0" dirty="0">
                        <a:ln>
                          <a:noFill/>
                        </a:ln>
                        <a:solidFill>
                          <a:srgbClr val="4D4D4D"/>
                        </a:solidFill>
                        <a:effectLst/>
                        <a:latin typeface="Rix모던고딕 L" panose="02020603020101020101" pitchFamily="18" charset="-127"/>
                        <a:ea typeface="Rix모던고딕 L" panose="02020603020101020101" pitchFamily="18" charset="-127"/>
                      </a:endParaRPr>
                    </a:p>
                  </a:txBody>
                  <a:tcPr marL="121941" marR="1219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90488" marR="0" lvl="0" indent="-90488" algn="just" defTabSz="914400" rtl="0" eaLnBrk="1" fontAlgn="base" latinLnBrk="1" hangingPunct="1">
                        <a:lnSpc>
                          <a:spcPct val="100000"/>
                        </a:lnSpc>
                        <a:spcBef>
                          <a:spcPct val="0"/>
                        </a:spcBef>
                        <a:spcAft>
                          <a:spcPct val="30000"/>
                        </a:spcAft>
                        <a:buClr>
                          <a:schemeClr val="accent6">
                            <a:lumMod val="50000"/>
                          </a:schemeClr>
                        </a:buClr>
                        <a:buSzTx/>
                        <a:buFont typeface="Arial" pitchFamily="34" charset="0"/>
                        <a:buChar char="•"/>
                        <a:tabLst/>
                      </a:pPr>
                      <a:r>
                        <a:rPr kumimoji="1" lang="ko-KR" altLang="en-US" sz="1100" u="none" strike="noStrike" cap="none" normalizeH="0" baseline="0" dirty="0">
                          <a:ln>
                            <a:noFill/>
                          </a:ln>
                          <a:effectLst/>
                        </a:rPr>
                        <a:t>지식재산처 사이트에 접속한 후 사이버 공지를 신청하고 공지자료실에 공개를 원하는 기술내용을 등록하면 됨</a:t>
                      </a:r>
                      <a:endParaRPr kumimoji="1" lang="ko-KR" altLang="en-US" sz="1100" b="0" i="0" u="none" strike="noStrike" cap="none" normalizeH="0" baseline="0" dirty="0">
                        <a:ln>
                          <a:noFill/>
                        </a:ln>
                        <a:solidFill>
                          <a:srgbClr val="4D4D4D"/>
                        </a:solidFill>
                        <a:effectLst/>
                        <a:latin typeface="Rix모던고딕 L" panose="02020603020101020101" pitchFamily="18" charset="-127"/>
                        <a:ea typeface="Rix모던고딕 L" panose="02020603020101020101" pitchFamily="18" charset="-127"/>
                      </a:endParaRPr>
                    </a:p>
                  </a:txBody>
                  <a:tcPr marL="121941" marR="121941"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pic>
        <p:nvPicPr>
          <p:cNvPr id="1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899225" y="2371041"/>
            <a:ext cx="4188117" cy="441662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98350" y="2558560"/>
            <a:ext cx="3544033" cy="407267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슬라이드 번호 개체 틀 1"/>
          <p:cNvSpPr>
            <a:spLocks noGrp="1"/>
          </p:cNvSpPr>
          <p:nvPr>
            <p:ph type="sldNum" sz="quarter" idx="12"/>
          </p:nvPr>
        </p:nvSpPr>
        <p:spPr/>
        <p:txBody>
          <a:bodyPr/>
          <a:lstStyle/>
          <a:p>
            <a:fld id="{3875FC6C-1516-4DC4-8C58-3090F7D4F003}" type="slidenum">
              <a:rPr lang="ko-KR" altLang="en-US" smtClean="0"/>
              <a:t>16</a:t>
            </a:fld>
            <a:endParaRPr lang="ko-KR" altLang="en-US"/>
          </a:p>
        </p:txBody>
      </p:sp>
    </p:spTree>
    <p:extLst>
      <p:ext uri="{BB962C8B-B14F-4D97-AF65-F5344CB8AC3E}">
        <p14:creationId xmlns:p14="http://schemas.microsoft.com/office/powerpoint/2010/main" val="341659881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발명의 보호전략</a:t>
            </a:r>
            <a:r>
              <a:rPr lang="en-US" altLang="ko-KR" dirty="0"/>
              <a:t>: </a:t>
            </a:r>
            <a:r>
              <a:rPr lang="ko-KR" altLang="en-US" dirty="0"/>
              <a:t>노하우</a:t>
            </a:r>
          </a:p>
        </p:txBody>
      </p:sp>
      <p:sp>
        <p:nvSpPr>
          <p:cNvPr id="5" name="TextBox 4"/>
          <p:cNvSpPr txBox="1"/>
          <p:nvPr/>
        </p:nvSpPr>
        <p:spPr>
          <a:xfrm>
            <a:off x="77875" y="986046"/>
            <a:ext cx="11936323" cy="1384995"/>
          </a:xfrm>
          <a:prstGeom prst="rect">
            <a:avLst/>
          </a:prstGeom>
          <a:noFill/>
        </p:spPr>
        <p:txBody>
          <a:bodyPr wrap="square" rtlCol="0">
            <a:spAutoFit/>
          </a:bodyPr>
          <a:lstStyle/>
          <a:p>
            <a:pPr fontAlgn="base"/>
            <a:r>
              <a:rPr lang="ko-KR" altLang="en-US" sz="1400" dirty="0">
                <a:solidFill>
                  <a:schemeClr val="tx2"/>
                </a:solidFill>
              </a:rPr>
              <a:t>발명의 보호가치는 있으나 특허로 보호하기에는 적당하지 않는 경우가 있다</a:t>
            </a:r>
            <a:r>
              <a:rPr lang="en-US" altLang="ko-KR" sz="1400" dirty="0">
                <a:solidFill>
                  <a:schemeClr val="tx2"/>
                </a:solidFill>
              </a:rPr>
              <a:t>. </a:t>
            </a:r>
            <a:r>
              <a:rPr lang="ko-KR" altLang="en-US" sz="1400" dirty="0">
                <a:solidFill>
                  <a:schemeClr val="tx2"/>
                </a:solidFill>
              </a:rPr>
              <a:t>예를 들어</a:t>
            </a:r>
            <a:r>
              <a:rPr lang="en-US" altLang="ko-KR" sz="1400" dirty="0">
                <a:solidFill>
                  <a:schemeClr val="tx2"/>
                </a:solidFill>
              </a:rPr>
              <a:t>, </a:t>
            </a:r>
            <a:r>
              <a:rPr lang="ko-KR" altLang="en-US" sz="1400" dirty="0">
                <a:solidFill>
                  <a:schemeClr val="tx2"/>
                </a:solidFill>
              </a:rPr>
              <a:t>특허권을 행사하기 위해서는 침해 피의자의 실시가 특허권의 침해라는 것을 특허권자가 증명을 하여야 하는데</a:t>
            </a:r>
            <a:r>
              <a:rPr lang="en-US" altLang="ko-KR" sz="1400" dirty="0">
                <a:solidFill>
                  <a:schemeClr val="tx2"/>
                </a:solidFill>
              </a:rPr>
              <a:t>, </a:t>
            </a:r>
            <a:r>
              <a:rPr lang="ko-KR" altLang="en-US" sz="1400" dirty="0">
                <a:solidFill>
                  <a:schemeClr val="tx2"/>
                </a:solidFill>
              </a:rPr>
              <a:t>제조방법의 경우 제품에 녹아 있기 때문에 실제로 제품이 특허를 받은 제조방법에 의하여 생산되었는지 증명하기가 쉽지 않을 수 있다</a:t>
            </a:r>
            <a:r>
              <a:rPr lang="en-US" altLang="ko-KR" sz="1400" dirty="0">
                <a:solidFill>
                  <a:schemeClr val="tx2"/>
                </a:solidFill>
              </a:rPr>
              <a:t>. </a:t>
            </a:r>
            <a:r>
              <a:rPr lang="ko-KR" altLang="en-US" sz="1400" dirty="0">
                <a:solidFill>
                  <a:schemeClr val="tx2"/>
                </a:solidFill>
              </a:rPr>
              <a:t>이 경우 발명자는 발명을 공개시키지 않음으로써 노하우로 보호하는 것을 고려해 볼 수 있다</a:t>
            </a:r>
            <a:r>
              <a:rPr lang="en-US" altLang="ko-KR" sz="1400" dirty="0">
                <a:solidFill>
                  <a:schemeClr val="tx2"/>
                </a:solidFill>
              </a:rPr>
              <a:t>. </a:t>
            </a:r>
            <a:r>
              <a:rPr lang="ko-KR" altLang="en-US" sz="1400" dirty="0">
                <a:solidFill>
                  <a:schemeClr val="tx2"/>
                </a:solidFill>
              </a:rPr>
              <a:t>특허는 </a:t>
            </a:r>
            <a:r>
              <a:rPr lang="ko-KR" altLang="en-US" sz="1400" dirty="0">
                <a:solidFill>
                  <a:schemeClr val="tx2"/>
                </a:solidFill>
                <a:highlight>
                  <a:srgbClr val="FFFF00"/>
                </a:highlight>
              </a:rPr>
              <a:t>일정기간 경과 이후에 일반 공중이 이를 자유롭게 사용할 수 있도록 공개하는 조건으로 국가가 강력한 보호수단을 제공</a:t>
            </a:r>
            <a:r>
              <a:rPr lang="ko-KR" altLang="en-US" sz="1400" dirty="0">
                <a:solidFill>
                  <a:schemeClr val="tx2"/>
                </a:solidFill>
              </a:rPr>
              <a:t>하는 것을 말하며</a:t>
            </a:r>
            <a:r>
              <a:rPr lang="en-US" altLang="ko-KR" sz="1400" dirty="0">
                <a:solidFill>
                  <a:schemeClr val="tx2"/>
                </a:solidFill>
              </a:rPr>
              <a:t>, </a:t>
            </a:r>
            <a:r>
              <a:rPr lang="ko-KR" altLang="en-US" sz="1400" dirty="0">
                <a:solidFill>
                  <a:schemeClr val="tx2"/>
                </a:solidFill>
              </a:rPr>
              <a:t>국가는 이를 통하여 산업발전에 이바지라는 목적을 실현할 수 있다</a:t>
            </a:r>
            <a:r>
              <a:rPr lang="en-US" altLang="ko-KR" sz="1400" dirty="0">
                <a:solidFill>
                  <a:schemeClr val="tx2"/>
                </a:solidFill>
              </a:rPr>
              <a:t>. </a:t>
            </a:r>
            <a:r>
              <a:rPr lang="ko-KR" altLang="en-US" sz="1400" dirty="0">
                <a:solidFill>
                  <a:schemeClr val="tx2"/>
                </a:solidFill>
              </a:rPr>
              <a:t>반면 노하우는 이를 보유하고 있는 자 스스로가 적극적으로 비밀로서 유지</a:t>
            </a:r>
            <a:r>
              <a:rPr lang="en-US" altLang="ko-KR" sz="1400" dirty="0">
                <a:solidFill>
                  <a:schemeClr val="tx2"/>
                </a:solidFill>
              </a:rPr>
              <a:t>·</a:t>
            </a:r>
            <a:r>
              <a:rPr lang="ko-KR" altLang="en-US" sz="1400" dirty="0">
                <a:solidFill>
                  <a:schemeClr val="tx2"/>
                </a:solidFill>
              </a:rPr>
              <a:t>관리할 것이 요구되며</a:t>
            </a:r>
            <a:r>
              <a:rPr lang="en-US" altLang="ko-KR" sz="1400" dirty="0">
                <a:solidFill>
                  <a:schemeClr val="tx2"/>
                </a:solidFill>
              </a:rPr>
              <a:t>, </a:t>
            </a:r>
            <a:r>
              <a:rPr lang="ko-KR" altLang="en-US" sz="1400" dirty="0">
                <a:solidFill>
                  <a:schemeClr val="tx2"/>
                </a:solidFill>
                <a:highlight>
                  <a:srgbClr val="FFFF00"/>
                </a:highlight>
              </a:rPr>
              <a:t>국가는 노하우가 영업비밀에 해당할 때 이를 부정한 수단에 의하여 취득하거나 부정공개행위를 한 경우에만 보호</a:t>
            </a:r>
            <a:r>
              <a:rPr lang="ko-KR" altLang="en-US" sz="1400" dirty="0">
                <a:solidFill>
                  <a:schemeClr val="tx2"/>
                </a:solidFill>
              </a:rPr>
              <a:t>해주고 있다</a:t>
            </a:r>
            <a:r>
              <a:rPr lang="en-US" altLang="ko-KR" sz="1400" dirty="0">
                <a:solidFill>
                  <a:schemeClr val="tx2"/>
                </a:solidFill>
              </a:rPr>
              <a:t>. </a:t>
            </a:r>
            <a:endParaRPr lang="ko-KR" altLang="en-US" sz="1400" dirty="0">
              <a:solidFill>
                <a:schemeClr val="tx2"/>
              </a:solidFill>
            </a:endParaRPr>
          </a:p>
        </p:txBody>
      </p:sp>
      <p:cxnSp>
        <p:nvCxnSpPr>
          <p:cNvPr id="6" name="직선 연결선 5"/>
          <p:cNvCxnSpPr/>
          <p:nvPr/>
        </p:nvCxnSpPr>
        <p:spPr>
          <a:xfrm>
            <a:off x="0" y="2364873"/>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2" name="표 1"/>
          <p:cNvGraphicFramePr>
            <a:graphicFrameLocks noGrp="1"/>
          </p:cNvGraphicFramePr>
          <p:nvPr>
            <p:extLst>
              <p:ext uri="{D42A27DB-BD31-4B8C-83A1-F6EECF244321}">
                <p14:modId xmlns:p14="http://schemas.microsoft.com/office/powerpoint/2010/main" val="3336246693"/>
              </p:ext>
            </p:extLst>
          </p:nvPr>
        </p:nvGraphicFramePr>
        <p:xfrm>
          <a:off x="720969" y="2884748"/>
          <a:ext cx="10709031" cy="3357429"/>
        </p:xfrm>
        <a:graphic>
          <a:graphicData uri="http://schemas.openxmlformats.org/drawingml/2006/table">
            <a:tbl>
              <a:tblPr>
                <a:tableStyleId>{8799B23B-EC83-4686-B30A-512413B5E67A}</a:tableStyleId>
              </a:tblPr>
              <a:tblGrid>
                <a:gridCol w="1744106">
                  <a:extLst>
                    <a:ext uri="{9D8B030D-6E8A-4147-A177-3AD203B41FA5}">
                      <a16:colId xmlns:a16="http://schemas.microsoft.com/office/drawing/2014/main" val="20000"/>
                    </a:ext>
                  </a:extLst>
                </a:gridCol>
                <a:gridCol w="4104409">
                  <a:extLst>
                    <a:ext uri="{9D8B030D-6E8A-4147-A177-3AD203B41FA5}">
                      <a16:colId xmlns:a16="http://schemas.microsoft.com/office/drawing/2014/main" val="20001"/>
                    </a:ext>
                  </a:extLst>
                </a:gridCol>
                <a:gridCol w="4860516">
                  <a:extLst>
                    <a:ext uri="{9D8B030D-6E8A-4147-A177-3AD203B41FA5}">
                      <a16:colId xmlns:a16="http://schemas.microsoft.com/office/drawing/2014/main" val="20002"/>
                    </a:ext>
                  </a:extLst>
                </a:gridCol>
              </a:tblGrid>
              <a:tr h="327810">
                <a:tc>
                  <a:txBody>
                    <a:bodyPr/>
                    <a:lstStyle/>
                    <a:p>
                      <a:pPr marL="0" marR="0" indent="0" algn="ctr" fontAlgn="base" latinLnBrk="0">
                        <a:lnSpc>
                          <a:spcPct val="100000"/>
                        </a:lnSpc>
                        <a:spcBef>
                          <a:spcPts val="0"/>
                        </a:spcBef>
                        <a:spcAft>
                          <a:spcPts val="0"/>
                        </a:spcAft>
                      </a:pPr>
                      <a:r>
                        <a:rPr lang="ko-KR" altLang="en-US" sz="1400" kern="1200" dirty="0"/>
                        <a:t>구 분</a:t>
                      </a:r>
                      <a:endParaRPr lang="ko-KR" altLang="en-US" sz="1400" b="1" kern="1200" dirty="0">
                        <a:solidFill>
                          <a:schemeClr val="tx2"/>
                        </a:solidFill>
                        <a:latin typeface="+mn-lt"/>
                        <a:ea typeface="+mn-ea"/>
                        <a:cs typeface="+mn-cs"/>
                      </a:endParaRPr>
                    </a:p>
                  </a:txBody>
                  <a:tcPr marL="72136" marR="72136" marT="36068" marB="36068" anchor="ctr">
                    <a:solidFill>
                      <a:schemeClr val="accent1">
                        <a:lumMod val="20000"/>
                        <a:lumOff val="80000"/>
                      </a:schemeClr>
                    </a:solidFill>
                  </a:tcPr>
                </a:tc>
                <a:tc>
                  <a:txBody>
                    <a:bodyPr/>
                    <a:lstStyle/>
                    <a:p>
                      <a:pPr marL="0" marR="0" indent="0" algn="ctr" fontAlgn="base" latinLnBrk="0">
                        <a:lnSpc>
                          <a:spcPct val="100000"/>
                        </a:lnSpc>
                        <a:spcBef>
                          <a:spcPts val="0"/>
                        </a:spcBef>
                        <a:spcAft>
                          <a:spcPts val="0"/>
                        </a:spcAft>
                      </a:pPr>
                      <a:r>
                        <a:rPr lang="ko-KR" altLang="en-US" sz="1400" kern="1200" dirty="0" err="1"/>
                        <a:t>특</a:t>
                      </a:r>
                      <a:r>
                        <a:rPr lang="ko-KR" altLang="en-US" sz="1400" kern="1200" dirty="0"/>
                        <a:t> 허</a:t>
                      </a:r>
                      <a:endParaRPr lang="ko-KR" altLang="en-US" sz="1400" b="1" kern="1200" dirty="0">
                        <a:solidFill>
                          <a:schemeClr val="tx2"/>
                        </a:solidFill>
                        <a:latin typeface="+mn-lt"/>
                        <a:ea typeface="+mn-ea"/>
                        <a:cs typeface="+mn-cs"/>
                      </a:endParaRPr>
                    </a:p>
                  </a:txBody>
                  <a:tcPr marL="72136" marR="72136" marT="36068" marB="36068" anchor="ctr">
                    <a:solidFill>
                      <a:schemeClr val="accent1">
                        <a:lumMod val="20000"/>
                        <a:lumOff val="80000"/>
                      </a:schemeClr>
                    </a:solidFill>
                  </a:tcPr>
                </a:tc>
                <a:tc>
                  <a:txBody>
                    <a:bodyPr/>
                    <a:lstStyle/>
                    <a:p>
                      <a:pPr marL="0" marR="0" indent="0" algn="ctr" fontAlgn="base" latinLnBrk="0">
                        <a:lnSpc>
                          <a:spcPct val="100000"/>
                        </a:lnSpc>
                        <a:spcBef>
                          <a:spcPts val="0"/>
                        </a:spcBef>
                        <a:spcAft>
                          <a:spcPts val="0"/>
                        </a:spcAft>
                      </a:pPr>
                      <a:r>
                        <a:rPr lang="ko-KR" altLang="en-US" sz="1400" kern="1200" dirty="0"/>
                        <a:t>노 하 우</a:t>
                      </a:r>
                      <a:endParaRPr lang="ko-KR" altLang="en-US" sz="1400" b="1" kern="1200" dirty="0">
                        <a:solidFill>
                          <a:schemeClr val="tx2"/>
                        </a:solidFill>
                        <a:latin typeface="+mn-lt"/>
                        <a:ea typeface="+mn-ea"/>
                        <a:cs typeface="+mn-cs"/>
                      </a:endParaRPr>
                    </a:p>
                  </a:txBody>
                  <a:tcPr marL="72136" marR="72136" marT="36068" marB="36068" anchor="ctr">
                    <a:solidFill>
                      <a:schemeClr val="accent1">
                        <a:lumMod val="20000"/>
                        <a:lumOff val="80000"/>
                      </a:schemeClr>
                    </a:solidFill>
                  </a:tcPr>
                </a:tc>
                <a:extLst>
                  <a:ext uri="{0D108BD9-81ED-4DB2-BD59-A6C34878D82A}">
                    <a16:rowId xmlns:a16="http://schemas.microsoft.com/office/drawing/2014/main" val="10000"/>
                  </a:ext>
                </a:extLst>
              </a:tr>
              <a:tr h="327810">
                <a:tc>
                  <a:txBody>
                    <a:bodyPr/>
                    <a:lstStyle/>
                    <a:p>
                      <a:pPr marL="0" marR="0" indent="0" algn="ctr" fontAlgn="base" latinLnBrk="0">
                        <a:lnSpc>
                          <a:spcPct val="100000"/>
                        </a:lnSpc>
                        <a:spcBef>
                          <a:spcPts val="0"/>
                        </a:spcBef>
                        <a:spcAft>
                          <a:spcPts val="0"/>
                        </a:spcAft>
                      </a:pPr>
                      <a:r>
                        <a:rPr lang="ko-KR" altLang="en-US" sz="1400" kern="1200" dirty="0"/>
                        <a:t>공개여부</a:t>
                      </a:r>
                      <a:endParaRPr lang="ko-KR" altLang="en-US" sz="1400" b="1" kern="1200" dirty="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dirty="0"/>
                        <a:t>有</a:t>
                      </a:r>
                      <a:endParaRPr lang="ko-KR" altLang="en-US" sz="1400" kern="1200" dirty="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a:t>無</a:t>
                      </a:r>
                      <a:endParaRPr lang="ko-KR" altLang="en-US" sz="1400" kern="1200">
                        <a:solidFill>
                          <a:schemeClr val="tx2"/>
                        </a:solidFill>
                        <a:latin typeface="+mn-lt"/>
                        <a:ea typeface="+mn-ea"/>
                        <a:cs typeface="+mn-cs"/>
                      </a:endParaRPr>
                    </a:p>
                  </a:txBody>
                  <a:tcPr marL="72136" marR="72136" marT="36068" marB="36068" anchor="ctr"/>
                </a:tc>
                <a:extLst>
                  <a:ext uri="{0D108BD9-81ED-4DB2-BD59-A6C34878D82A}">
                    <a16:rowId xmlns:a16="http://schemas.microsoft.com/office/drawing/2014/main" val="10001"/>
                  </a:ext>
                </a:extLst>
              </a:tr>
              <a:tr h="327810">
                <a:tc>
                  <a:txBody>
                    <a:bodyPr/>
                    <a:lstStyle/>
                    <a:p>
                      <a:pPr marL="0" marR="0" indent="0" algn="ctr" fontAlgn="base" latinLnBrk="0">
                        <a:lnSpc>
                          <a:spcPct val="100000"/>
                        </a:lnSpc>
                        <a:spcBef>
                          <a:spcPts val="0"/>
                        </a:spcBef>
                        <a:spcAft>
                          <a:spcPts val="0"/>
                        </a:spcAft>
                      </a:pPr>
                      <a:r>
                        <a:rPr lang="ko-KR" altLang="en-US" sz="1400" kern="1200" dirty="0"/>
                        <a:t>성립요건</a:t>
                      </a:r>
                      <a:endParaRPr lang="ko-KR" altLang="en-US" sz="1400" b="1" kern="1200" dirty="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a:t>발명의 정의 규정</a:t>
                      </a:r>
                      <a:r>
                        <a:rPr lang="en-US" altLang="ko-KR" sz="1400" kern="1200"/>
                        <a:t>(</a:t>
                      </a:r>
                      <a:r>
                        <a:rPr lang="ko-KR" altLang="en-US" sz="1400" kern="1200"/>
                        <a:t>法 </a:t>
                      </a:r>
                      <a:r>
                        <a:rPr lang="en-US" altLang="ko-KR" sz="1400" kern="1200"/>
                        <a:t>2Ⅰ) </a:t>
                      </a:r>
                      <a:r>
                        <a:rPr lang="ko-KR" altLang="en-US" sz="1400" kern="1200"/>
                        <a:t>만족</a:t>
                      </a:r>
                      <a:endParaRPr lang="ko-KR" altLang="en-US" sz="1400" kern="120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a:t>특별한 정의 규정 </a:t>
                      </a:r>
                      <a:r>
                        <a:rPr lang="en-US" altLang="ko-KR" sz="1400" kern="1200"/>
                        <a:t>×</a:t>
                      </a:r>
                      <a:endParaRPr lang="ko-KR" altLang="en-US" sz="1400" kern="1200">
                        <a:solidFill>
                          <a:schemeClr val="tx2"/>
                        </a:solidFill>
                        <a:latin typeface="+mn-lt"/>
                        <a:ea typeface="+mn-ea"/>
                        <a:cs typeface="+mn-cs"/>
                      </a:endParaRPr>
                    </a:p>
                  </a:txBody>
                  <a:tcPr marL="72136" marR="72136" marT="36068" marB="36068" anchor="ctr"/>
                </a:tc>
                <a:extLst>
                  <a:ext uri="{0D108BD9-81ED-4DB2-BD59-A6C34878D82A}">
                    <a16:rowId xmlns:a16="http://schemas.microsoft.com/office/drawing/2014/main" val="10002"/>
                  </a:ext>
                </a:extLst>
              </a:tr>
              <a:tr h="327810">
                <a:tc>
                  <a:txBody>
                    <a:bodyPr/>
                    <a:lstStyle/>
                    <a:p>
                      <a:pPr marL="0" marR="0" indent="0" algn="ctr" fontAlgn="base" latinLnBrk="0">
                        <a:lnSpc>
                          <a:spcPct val="100000"/>
                        </a:lnSpc>
                        <a:spcBef>
                          <a:spcPts val="0"/>
                        </a:spcBef>
                        <a:spcAft>
                          <a:spcPts val="0"/>
                        </a:spcAft>
                      </a:pPr>
                      <a:r>
                        <a:rPr lang="ko-KR" altLang="en-US" sz="1400" kern="1200" dirty="0"/>
                        <a:t>특허요건</a:t>
                      </a:r>
                      <a:endParaRPr lang="ko-KR" altLang="en-US" sz="1400" b="1" kern="1200" dirty="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dirty="0"/>
                        <a:t>필요</a:t>
                      </a:r>
                      <a:endParaRPr lang="ko-KR" altLang="en-US" sz="1400" kern="1200" dirty="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a:t>불필요</a:t>
                      </a:r>
                      <a:endParaRPr lang="ko-KR" altLang="en-US" sz="1400" kern="1200">
                        <a:solidFill>
                          <a:schemeClr val="tx2"/>
                        </a:solidFill>
                        <a:latin typeface="+mn-lt"/>
                        <a:ea typeface="+mn-ea"/>
                        <a:cs typeface="+mn-cs"/>
                      </a:endParaRPr>
                    </a:p>
                  </a:txBody>
                  <a:tcPr marL="72136" marR="72136" marT="36068" marB="36068" anchor="ctr"/>
                </a:tc>
                <a:extLst>
                  <a:ext uri="{0D108BD9-81ED-4DB2-BD59-A6C34878D82A}">
                    <a16:rowId xmlns:a16="http://schemas.microsoft.com/office/drawing/2014/main" val="10003"/>
                  </a:ext>
                </a:extLst>
              </a:tr>
              <a:tr h="572793">
                <a:tc>
                  <a:txBody>
                    <a:bodyPr/>
                    <a:lstStyle/>
                    <a:p>
                      <a:pPr marL="0" marR="0" indent="0" algn="ctr" fontAlgn="base" latinLnBrk="0">
                        <a:lnSpc>
                          <a:spcPct val="100000"/>
                        </a:lnSpc>
                        <a:spcBef>
                          <a:spcPts val="0"/>
                        </a:spcBef>
                        <a:spcAft>
                          <a:spcPts val="0"/>
                        </a:spcAft>
                      </a:pPr>
                      <a:r>
                        <a:rPr lang="ko-KR" altLang="en-US" sz="1400" kern="1200" dirty="0"/>
                        <a:t>보호기간</a:t>
                      </a:r>
                      <a:endParaRPr lang="ko-KR" altLang="en-US" sz="1400" b="1" kern="1200" dirty="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a:t>일정기간</a:t>
                      </a:r>
                      <a:endParaRPr lang="ko-KR" altLang="en-US" sz="1400" kern="120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dirty="0"/>
                        <a:t>비밀이 유지되는 한 제한 </a:t>
                      </a:r>
                      <a:r>
                        <a:rPr lang="en-US" altLang="ko-KR" sz="1400" kern="1200" dirty="0"/>
                        <a:t>× (</a:t>
                      </a:r>
                      <a:r>
                        <a:rPr lang="ko-KR" altLang="en-US" sz="1400" kern="1200" dirty="0"/>
                        <a:t>단</a:t>
                      </a:r>
                      <a:r>
                        <a:rPr lang="en-US" altLang="ko-KR" sz="1400" kern="1200" dirty="0"/>
                        <a:t>, </a:t>
                      </a:r>
                      <a:r>
                        <a:rPr lang="ko-KR" altLang="en-US" sz="1400" kern="1200" dirty="0"/>
                        <a:t>타인이 특허를 받더라도 일정한 경우 특허법 제</a:t>
                      </a:r>
                      <a:r>
                        <a:rPr lang="en-US" altLang="ko-KR" sz="1400" kern="1200" dirty="0"/>
                        <a:t>96</a:t>
                      </a:r>
                      <a:r>
                        <a:rPr lang="ko-KR" altLang="en-US" sz="1400" kern="1200" dirty="0"/>
                        <a:t>조제</a:t>
                      </a:r>
                      <a:r>
                        <a:rPr lang="en-US" altLang="ko-KR" sz="1400" kern="1200" dirty="0"/>
                        <a:t>1</a:t>
                      </a:r>
                      <a:r>
                        <a:rPr lang="ko-KR" altLang="en-US" sz="1400" kern="1200" dirty="0" err="1"/>
                        <a:t>항제</a:t>
                      </a:r>
                      <a:r>
                        <a:rPr lang="en-US" altLang="ko-KR" sz="1400" kern="1200" dirty="0"/>
                        <a:t>3</a:t>
                      </a:r>
                      <a:r>
                        <a:rPr lang="ko-KR" altLang="en-US" sz="1400" kern="1200" dirty="0"/>
                        <a:t>호</a:t>
                      </a:r>
                      <a:r>
                        <a:rPr lang="en-US" altLang="ko-KR" sz="1400" kern="1200" dirty="0"/>
                        <a:t>, </a:t>
                      </a:r>
                      <a:r>
                        <a:rPr lang="ko-KR" altLang="en-US" sz="1400" kern="1200" dirty="0"/>
                        <a:t>제</a:t>
                      </a:r>
                      <a:r>
                        <a:rPr lang="en-US" altLang="ko-KR" sz="1400" kern="1200" dirty="0"/>
                        <a:t>103</a:t>
                      </a:r>
                      <a:r>
                        <a:rPr lang="ko-KR" altLang="en-US" sz="1400" kern="1200" dirty="0"/>
                        <a:t>조에 의하여 보호 가능</a:t>
                      </a:r>
                      <a:r>
                        <a:rPr lang="en-US" altLang="ko-KR" sz="1400" kern="1200" dirty="0"/>
                        <a:t>)</a:t>
                      </a:r>
                      <a:endParaRPr lang="ko-KR" altLang="en-US" sz="1400" kern="1200" dirty="0">
                        <a:solidFill>
                          <a:schemeClr val="tx2"/>
                        </a:solidFill>
                        <a:latin typeface="+mn-lt"/>
                        <a:ea typeface="+mn-ea"/>
                        <a:cs typeface="+mn-cs"/>
                      </a:endParaRPr>
                    </a:p>
                  </a:txBody>
                  <a:tcPr marL="72136" marR="72136" marT="36068" marB="36068" anchor="ctr"/>
                </a:tc>
                <a:extLst>
                  <a:ext uri="{0D108BD9-81ED-4DB2-BD59-A6C34878D82A}">
                    <a16:rowId xmlns:a16="http://schemas.microsoft.com/office/drawing/2014/main" val="10004"/>
                  </a:ext>
                </a:extLst>
              </a:tr>
              <a:tr h="327810">
                <a:tc>
                  <a:txBody>
                    <a:bodyPr/>
                    <a:lstStyle/>
                    <a:p>
                      <a:pPr marL="0" marR="0" indent="0" algn="ctr" fontAlgn="base" latinLnBrk="0">
                        <a:lnSpc>
                          <a:spcPct val="100000"/>
                        </a:lnSpc>
                        <a:spcBef>
                          <a:spcPts val="0"/>
                        </a:spcBef>
                        <a:spcAft>
                          <a:spcPts val="0"/>
                        </a:spcAft>
                      </a:pPr>
                      <a:r>
                        <a:rPr lang="ko-KR" altLang="en-US" sz="1400" kern="1200" dirty="0"/>
                        <a:t>보호범위</a:t>
                      </a:r>
                      <a:endParaRPr lang="ko-KR" altLang="en-US" sz="1400" b="1" kern="1200" dirty="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a:t>청구범위기재발명</a:t>
                      </a:r>
                      <a:endParaRPr lang="ko-KR" altLang="en-US" sz="1400" kern="120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a:t>불명확</a:t>
                      </a:r>
                      <a:endParaRPr lang="ko-KR" altLang="en-US" sz="1400" kern="1200">
                        <a:solidFill>
                          <a:schemeClr val="tx2"/>
                        </a:solidFill>
                        <a:latin typeface="+mn-lt"/>
                        <a:ea typeface="+mn-ea"/>
                        <a:cs typeface="+mn-cs"/>
                      </a:endParaRPr>
                    </a:p>
                  </a:txBody>
                  <a:tcPr marL="72136" marR="72136" marT="36068" marB="36068" anchor="ctr"/>
                </a:tc>
                <a:extLst>
                  <a:ext uri="{0D108BD9-81ED-4DB2-BD59-A6C34878D82A}">
                    <a16:rowId xmlns:a16="http://schemas.microsoft.com/office/drawing/2014/main" val="10005"/>
                  </a:ext>
                </a:extLst>
              </a:tr>
              <a:tr h="327810">
                <a:tc>
                  <a:txBody>
                    <a:bodyPr/>
                    <a:lstStyle/>
                    <a:p>
                      <a:pPr marL="0" marR="0" indent="0" algn="ctr" fontAlgn="base" latinLnBrk="0">
                        <a:lnSpc>
                          <a:spcPct val="100000"/>
                        </a:lnSpc>
                        <a:spcBef>
                          <a:spcPts val="0"/>
                        </a:spcBef>
                        <a:spcAft>
                          <a:spcPts val="0"/>
                        </a:spcAft>
                      </a:pPr>
                      <a:r>
                        <a:rPr lang="ko-KR" altLang="en-US" sz="1400" kern="1200" dirty="0" err="1"/>
                        <a:t>독점ㆍ배타성</a:t>
                      </a:r>
                      <a:endParaRPr lang="en-US" altLang="ko-KR" sz="1400" kern="1200" dirty="0"/>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dirty="0"/>
                        <a:t>有</a:t>
                      </a:r>
                      <a:endParaRPr lang="ko-KR" altLang="en-US" sz="1400" kern="1200" dirty="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dirty="0"/>
                        <a:t>無</a:t>
                      </a:r>
                      <a:endParaRPr lang="ko-KR" altLang="en-US" sz="1400" kern="1200" dirty="0">
                        <a:solidFill>
                          <a:schemeClr val="tx2"/>
                        </a:solidFill>
                        <a:latin typeface="+mn-lt"/>
                        <a:ea typeface="+mn-ea"/>
                        <a:cs typeface="+mn-cs"/>
                      </a:endParaRPr>
                    </a:p>
                  </a:txBody>
                  <a:tcPr marL="72136" marR="72136" marT="36068" marB="36068" anchor="ctr"/>
                </a:tc>
                <a:extLst>
                  <a:ext uri="{0D108BD9-81ED-4DB2-BD59-A6C34878D82A}">
                    <a16:rowId xmlns:a16="http://schemas.microsoft.com/office/drawing/2014/main" val="10006"/>
                  </a:ext>
                </a:extLst>
              </a:tr>
              <a:tr h="817776">
                <a:tc>
                  <a:txBody>
                    <a:bodyPr/>
                    <a:lstStyle/>
                    <a:p>
                      <a:pPr marL="0" marR="0" indent="0" algn="ctr" fontAlgn="base" latinLnBrk="0">
                        <a:lnSpc>
                          <a:spcPct val="100000"/>
                        </a:lnSpc>
                        <a:spcBef>
                          <a:spcPts val="0"/>
                        </a:spcBef>
                        <a:spcAft>
                          <a:spcPts val="0"/>
                        </a:spcAft>
                      </a:pPr>
                      <a:r>
                        <a:rPr lang="ko-KR" altLang="en-US" sz="1400" kern="1200" dirty="0"/>
                        <a:t>침해에 대한 구제</a:t>
                      </a:r>
                      <a:endParaRPr lang="ko-KR" altLang="en-US" sz="1400" b="1" kern="1200" dirty="0">
                        <a:solidFill>
                          <a:schemeClr val="tx2"/>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dirty="0"/>
                        <a:t>특허법상 </a:t>
                      </a:r>
                      <a:r>
                        <a:rPr lang="ko-KR" altLang="en-US" sz="1400" kern="1200" dirty="0">
                          <a:solidFill>
                            <a:srgbClr val="FF0000"/>
                          </a:solidFill>
                        </a:rPr>
                        <a:t>권리에 의한</a:t>
                      </a:r>
                      <a:r>
                        <a:rPr lang="ko-KR" altLang="en-US" sz="1400" kern="1200" dirty="0"/>
                        <a:t> 민형사상 조치</a:t>
                      </a:r>
                      <a:r>
                        <a:rPr lang="en-US" altLang="ko-KR" sz="1400" kern="1200" dirty="0">
                          <a:solidFill>
                            <a:srgbClr val="FF0000"/>
                          </a:solidFill>
                        </a:rPr>
                        <a:t>: </a:t>
                      </a:r>
                      <a:r>
                        <a:rPr lang="ko-KR" altLang="en-US" sz="1400" kern="1200" dirty="0">
                          <a:solidFill>
                            <a:srgbClr val="FF0000"/>
                          </a:solidFill>
                        </a:rPr>
                        <a:t>권리부여</a:t>
                      </a:r>
                      <a:endParaRPr lang="ko-KR" altLang="en-US" sz="1400" kern="1200" dirty="0">
                        <a:solidFill>
                          <a:srgbClr val="FF0000"/>
                        </a:solidFill>
                        <a:latin typeface="+mn-lt"/>
                        <a:ea typeface="+mn-ea"/>
                        <a:cs typeface="+mn-cs"/>
                      </a:endParaRPr>
                    </a:p>
                  </a:txBody>
                  <a:tcPr marL="72136" marR="72136" marT="36068" marB="36068" anchor="ctr"/>
                </a:tc>
                <a:tc>
                  <a:txBody>
                    <a:bodyPr/>
                    <a:lstStyle/>
                    <a:p>
                      <a:pPr marL="17780" marR="17780" indent="0" algn="just" fontAlgn="base" latinLnBrk="1">
                        <a:lnSpc>
                          <a:spcPct val="100000"/>
                        </a:lnSpc>
                        <a:spcBef>
                          <a:spcPts val="0"/>
                        </a:spcBef>
                        <a:spcAft>
                          <a:spcPts val="0"/>
                        </a:spcAft>
                      </a:pPr>
                      <a:r>
                        <a:rPr lang="ko-KR" altLang="en-US" sz="1400" kern="1200" dirty="0"/>
                        <a:t>계약내용에 의하여 보호 </a:t>
                      </a:r>
                      <a:r>
                        <a:rPr lang="en-US" altLang="ko-KR" sz="1400" kern="1200" dirty="0"/>
                        <a:t>(</a:t>
                      </a:r>
                      <a:r>
                        <a:rPr lang="ko-KR" altLang="en-US" sz="1400" kern="1200" dirty="0"/>
                        <a:t>단</a:t>
                      </a:r>
                      <a:r>
                        <a:rPr lang="en-US" altLang="ko-KR" sz="1400" kern="1200" dirty="0"/>
                        <a:t>, </a:t>
                      </a:r>
                      <a:r>
                        <a:rPr lang="ko-KR" altLang="en-US" sz="1400" kern="1200" dirty="0"/>
                        <a:t>부정경쟁방지 및 영업비밀보호에 관한 법률 또는 산업기술의 유출방지 및 보호에 관한 법률 등에 의하여 </a:t>
                      </a:r>
                      <a:r>
                        <a:rPr lang="ko-KR" altLang="en-US" sz="1400" kern="1200" dirty="0">
                          <a:solidFill>
                            <a:srgbClr val="FF0000"/>
                          </a:solidFill>
                        </a:rPr>
                        <a:t>일정 행위를 민형사상 규제가능</a:t>
                      </a:r>
                      <a:r>
                        <a:rPr lang="en-US" altLang="ko-KR" sz="1400" kern="1200" dirty="0">
                          <a:solidFill>
                            <a:srgbClr val="FF0000"/>
                          </a:solidFill>
                        </a:rPr>
                        <a:t>: </a:t>
                      </a:r>
                      <a:r>
                        <a:rPr lang="ko-KR" altLang="en-US" sz="1400" kern="1200" dirty="0">
                          <a:solidFill>
                            <a:srgbClr val="FF0000"/>
                          </a:solidFill>
                        </a:rPr>
                        <a:t>행위규제</a:t>
                      </a:r>
                      <a:r>
                        <a:rPr lang="en-US" altLang="ko-KR" sz="1400" kern="1200" dirty="0"/>
                        <a:t>)</a:t>
                      </a:r>
                      <a:endParaRPr lang="ko-KR" altLang="en-US" sz="1400" kern="1200" dirty="0">
                        <a:solidFill>
                          <a:schemeClr val="tx2"/>
                        </a:solidFill>
                        <a:latin typeface="+mn-lt"/>
                        <a:ea typeface="+mn-ea"/>
                        <a:cs typeface="+mn-cs"/>
                      </a:endParaRPr>
                    </a:p>
                  </a:txBody>
                  <a:tcPr marL="72136" marR="72136" marT="36068" marB="36068" anchor="ctr"/>
                </a:tc>
                <a:extLst>
                  <a:ext uri="{0D108BD9-81ED-4DB2-BD59-A6C34878D82A}">
                    <a16:rowId xmlns:a16="http://schemas.microsoft.com/office/drawing/2014/main" val="10007"/>
                  </a:ext>
                </a:extLst>
              </a:tr>
            </a:tbl>
          </a:graphicData>
        </a:graphic>
      </p:graphicFrame>
      <p:sp>
        <p:nvSpPr>
          <p:cNvPr id="7" name="슬라이드 번호 개체 틀 6"/>
          <p:cNvSpPr>
            <a:spLocks noGrp="1"/>
          </p:cNvSpPr>
          <p:nvPr>
            <p:ph type="sldNum" sz="quarter" idx="12"/>
          </p:nvPr>
        </p:nvSpPr>
        <p:spPr/>
        <p:txBody>
          <a:bodyPr/>
          <a:lstStyle/>
          <a:p>
            <a:fld id="{3875FC6C-1516-4DC4-8C58-3090F7D4F003}" type="slidenum">
              <a:rPr lang="ko-KR" altLang="en-US" smtClean="0"/>
              <a:t>17</a:t>
            </a:fld>
            <a:endParaRPr lang="ko-KR" altLang="en-US"/>
          </a:p>
        </p:txBody>
      </p:sp>
    </p:spTree>
    <p:extLst>
      <p:ext uri="{BB962C8B-B14F-4D97-AF65-F5344CB8AC3E}">
        <p14:creationId xmlns:p14="http://schemas.microsoft.com/office/powerpoint/2010/main" val="271770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발명의 보호전략</a:t>
            </a:r>
            <a:r>
              <a:rPr lang="en-US" altLang="ko-KR" dirty="0"/>
              <a:t>: </a:t>
            </a:r>
            <a:r>
              <a:rPr lang="ko-KR" altLang="en-US" dirty="0"/>
              <a:t>노하우</a:t>
            </a:r>
          </a:p>
        </p:txBody>
      </p:sp>
      <p:sp>
        <p:nvSpPr>
          <p:cNvPr id="9" name="직사각형 8"/>
          <p:cNvSpPr/>
          <p:nvPr/>
        </p:nvSpPr>
        <p:spPr>
          <a:xfrm>
            <a:off x="6665218" y="1285876"/>
            <a:ext cx="4000500" cy="500063"/>
          </a:xfrm>
          <a:prstGeom prst="rect">
            <a:avLst/>
          </a:prstGeom>
          <a:solidFill>
            <a:schemeClr val="accent2">
              <a:lumMod val="50000"/>
            </a:schemeClr>
          </a:solidFill>
        </p:spPr>
        <p:style>
          <a:lnRef idx="1">
            <a:schemeClr val="accent2"/>
          </a:lnRef>
          <a:fillRef idx="3">
            <a:schemeClr val="accent2"/>
          </a:fillRef>
          <a:effectRef idx="2">
            <a:schemeClr val="accent2"/>
          </a:effectRef>
          <a:fontRef idx="minor">
            <a:schemeClr val="lt1"/>
          </a:fontRef>
        </p:style>
        <p:txBody>
          <a:bodyPr anchor="ctr"/>
          <a:lstStyle/>
          <a:p>
            <a:pPr algn="ctr">
              <a:defRPr/>
            </a:pPr>
            <a:r>
              <a:rPr lang="en-US" altLang="ko-KR" b="0" dirty="0">
                <a:latin typeface="+mj-ea"/>
                <a:ea typeface="+mj-ea"/>
              </a:rPr>
              <a:t>Know-How</a:t>
            </a:r>
            <a:r>
              <a:rPr lang="ko-KR" altLang="en-US" b="0" dirty="0">
                <a:latin typeface="+mj-ea"/>
                <a:ea typeface="+mj-ea"/>
              </a:rPr>
              <a:t>로 보호</a:t>
            </a:r>
          </a:p>
        </p:txBody>
      </p:sp>
      <p:sp>
        <p:nvSpPr>
          <p:cNvPr id="10" name="모서리가 둥근 직사각형 9"/>
          <p:cNvSpPr/>
          <p:nvPr/>
        </p:nvSpPr>
        <p:spPr>
          <a:xfrm>
            <a:off x="8379717" y="2286000"/>
            <a:ext cx="2762251" cy="857250"/>
          </a:xfrm>
          <a:prstGeom prst="roundRect">
            <a:avLst/>
          </a:prstGeom>
          <a:solidFill>
            <a:schemeClr val="accent1">
              <a:lumMod val="50000"/>
            </a:schemeClr>
          </a:solidFill>
          <a:ln>
            <a:noFill/>
          </a:ln>
        </p:spPr>
        <p:style>
          <a:lnRef idx="1">
            <a:schemeClr val="accent3"/>
          </a:lnRef>
          <a:fillRef idx="3">
            <a:schemeClr val="accent3"/>
          </a:fillRef>
          <a:effectRef idx="2">
            <a:schemeClr val="accent3"/>
          </a:effectRef>
          <a:fontRef idx="minor">
            <a:schemeClr val="lt1"/>
          </a:fontRef>
        </p:style>
        <p:txBody>
          <a:bodyPr anchor="ctr"/>
          <a:lstStyle/>
          <a:p>
            <a:pPr>
              <a:defRPr/>
            </a:pPr>
            <a:r>
              <a:rPr lang="ko-KR" altLang="en-US" sz="1400" b="0" dirty="0">
                <a:latin typeface="+mj-ea"/>
                <a:ea typeface="+mj-ea"/>
              </a:rPr>
              <a:t>영업비밀로 관리</a:t>
            </a:r>
            <a:endParaRPr lang="en-US" altLang="ko-KR" sz="1400" b="0" dirty="0">
              <a:latin typeface="+mj-ea"/>
              <a:ea typeface="+mj-ea"/>
            </a:endParaRPr>
          </a:p>
          <a:p>
            <a:pPr>
              <a:defRPr/>
            </a:pPr>
            <a:r>
              <a:rPr lang="en-US" altLang="ko-KR" sz="1050" b="0" dirty="0">
                <a:latin typeface="+mj-ea"/>
                <a:ea typeface="+mj-ea"/>
              </a:rPr>
              <a:t> - </a:t>
            </a:r>
            <a:r>
              <a:rPr lang="ko-KR" altLang="en-US" sz="1050" b="0" dirty="0">
                <a:latin typeface="+mj-ea"/>
                <a:ea typeface="+mj-ea"/>
              </a:rPr>
              <a:t>영업비밀관리지침활용</a:t>
            </a:r>
            <a:endParaRPr lang="en-US" altLang="ko-KR" sz="1050" b="0" dirty="0">
              <a:latin typeface="+mj-ea"/>
              <a:ea typeface="+mj-ea"/>
            </a:endParaRPr>
          </a:p>
          <a:p>
            <a:pPr>
              <a:defRPr/>
            </a:pPr>
            <a:endParaRPr lang="ko-KR" altLang="en-US" sz="900" b="0" dirty="0">
              <a:latin typeface="+mj-ea"/>
              <a:ea typeface="+mj-ea"/>
            </a:endParaRPr>
          </a:p>
        </p:txBody>
      </p:sp>
      <p:sp>
        <p:nvSpPr>
          <p:cNvPr id="11" name="아래쪽 화살표 10"/>
          <p:cNvSpPr/>
          <p:nvPr/>
        </p:nvSpPr>
        <p:spPr>
          <a:xfrm>
            <a:off x="9713217" y="1857375"/>
            <a:ext cx="476251" cy="357188"/>
          </a:xfrm>
          <a:prstGeom prst="downArrow">
            <a:avLst/>
          </a:prstGeom>
          <a:solidFill>
            <a:schemeClr val="tx2">
              <a:lumMod val="20000"/>
              <a:lumOff val="80000"/>
            </a:schemeClr>
          </a:solidFill>
        </p:spPr>
        <p:style>
          <a:lnRef idx="1">
            <a:schemeClr val="accent3"/>
          </a:lnRef>
          <a:fillRef idx="2">
            <a:schemeClr val="accent3"/>
          </a:fillRef>
          <a:effectRef idx="1">
            <a:schemeClr val="accent3"/>
          </a:effectRef>
          <a:fontRef idx="minor">
            <a:schemeClr val="dk1"/>
          </a:fontRef>
        </p:style>
        <p:txBody>
          <a:bodyPr anchor="ctr"/>
          <a:lstStyle/>
          <a:p>
            <a:pPr algn="ctr">
              <a:defRPr/>
            </a:pPr>
            <a:endParaRPr lang="ko-KR" altLang="en-US" sz="1600" b="0">
              <a:latin typeface="+mj-ea"/>
              <a:ea typeface="+mj-ea"/>
            </a:endParaRPr>
          </a:p>
        </p:txBody>
      </p:sp>
      <p:sp>
        <p:nvSpPr>
          <p:cNvPr id="12" name="아래쪽 화살표 11"/>
          <p:cNvSpPr/>
          <p:nvPr/>
        </p:nvSpPr>
        <p:spPr>
          <a:xfrm>
            <a:off x="6950969" y="1857375"/>
            <a:ext cx="857249" cy="1714500"/>
          </a:xfrm>
          <a:prstGeom prst="downArrow">
            <a:avLst/>
          </a:prstGeom>
          <a:solidFill>
            <a:schemeClr val="accent3">
              <a:lumMod val="20000"/>
              <a:lumOff val="80000"/>
            </a:schemeClr>
          </a:solidFill>
          <a:ln>
            <a:solidFill>
              <a:schemeClr val="bg1">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ko-KR" altLang="en-US" sz="1600" b="0">
              <a:latin typeface="+mj-ea"/>
              <a:ea typeface="+mj-ea"/>
            </a:endParaRPr>
          </a:p>
        </p:txBody>
      </p:sp>
      <p:sp>
        <p:nvSpPr>
          <p:cNvPr id="13" name="왼쪽 화살표 12"/>
          <p:cNvSpPr/>
          <p:nvPr/>
        </p:nvSpPr>
        <p:spPr>
          <a:xfrm>
            <a:off x="7998718" y="2571750"/>
            <a:ext cx="285751" cy="285750"/>
          </a:xfrm>
          <a:prstGeom prst="leftArrow">
            <a:avLst/>
          </a:prstGeom>
          <a:ln>
            <a:noFill/>
          </a:ln>
        </p:spPr>
        <p:style>
          <a:lnRef idx="1">
            <a:schemeClr val="dk1"/>
          </a:lnRef>
          <a:fillRef idx="2">
            <a:schemeClr val="dk1"/>
          </a:fillRef>
          <a:effectRef idx="1">
            <a:schemeClr val="dk1"/>
          </a:effectRef>
          <a:fontRef idx="minor">
            <a:schemeClr val="dk1"/>
          </a:fontRef>
        </p:style>
        <p:txBody>
          <a:bodyPr anchor="ctr"/>
          <a:lstStyle/>
          <a:p>
            <a:pPr algn="ctr">
              <a:defRPr/>
            </a:pPr>
            <a:endParaRPr lang="ko-KR" altLang="en-US" sz="1600" b="0">
              <a:latin typeface="+mj-ea"/>
              <a:ea typeface="+mj-ea"/>
            </a:endParaRPr>
          </a:p>
        </p:txBody>
      </p:sp>
      <p:sp>
        <p:nvSpPr>
          <p:cNvPr id="14" name="순서도: 수동 입력 13"/>
          <p:cNvSpPr/>
          <p:nvPr/>
        </p:nvSpPr>
        <p:spPr>
          <a:xfrm>
            <a:off x="5807968" y="2214563"/>
            <a:ext cx="1524000" cy="785812"/>
          </a:xfrm>
          <a:prstGeom prst="flowChartManualInput">
            <a:avLst/>
          </a:prstGeom>
        </p:spPr>
        <p:style>
          <a:lnRef idx="1">
            <a:schemeClr val="accent5"/>
          </a:lnRef>
          <a:fillRef idx="3">
            <a:schemeClr val="accent5"/>
          </a:fillRef>
          <a:effectRef idx="2">
            <a:schemeClr val="accent5"/>
          </a:effectRef>
          <a:fontRef idx="minor">
            <a:schemeClr val="lt1"/>
          </a:fontRef>
        </p:style>
        <p:txBody>
          <a:bodyPr anchor="ctr"/>
          <a:lstStyle/>
          <a:p>
            <a:pPr algn="ctr">
              <a:defRPr/>
            </a:pPr>
            <a:r>
              <a:rPr lang="ko-KR" altLang="en-US" sz="1400" b="0" dirty="0" err="1">
                <a:latin typeface="+mj-ea"/>
                <a:ea typeface="+mj-ea"/>
              </a:rPr>
              <a:t>선사용권</a:t>
            </a:r>
            <a:endParaRPr lang="en-US" altLang="ko-KR" sz="1400" b="0" dirty="0">
              <a:latin typeface="+mj-ea"/>
              <a:ea typeface="+mj-ea"/>
            </a:endParaRPr>
          </a:p>
          <a:p>
            <a:pPr algn="ctr">
              <a:defRPr/>
            </a:pPr>
            <a:r>
              <a:rPr lang="ko-KR" altLang="en-US" sz="1400" b="0" dirty="0">
                <a:latin typeface="+mj-ea"/>
                <a:ea typeface="+mj-ea"/>
              </a:rPr>
              <a:t>제도의 활용</a:t>
            </a:r>
          </a:p>
        </p:txBody>
      </p:sp>
      <p:sp>
        <p:nvSpPr>
          <p:cNvPr id="15" name="모서리가 둥근 직사각형 14"/>
          <p:cNvSpPr/>
          <p:nvPr/>
        </p:nvSpPr>
        <p:spPr>
          <a:xfrm>
            <a:off x="6379469" y="3643313"/>
            <a:ext cx="2762249" cy="857250"/>
          </a:xfrm>
          <a:prstGeom prst="roundRect">
            <a:avLst/>
          </a:prstGeom>
          <a:solidFill>
            <a:schemeClr val="accent4"/>
          </a:solidFill>
          <a:ln>
            <a:solidFill>
              <a:schemeClr val="accent4">
                <a:lumMod val="50000"/>
              </a:schemeClr>
            </a:solidFill>
          </a:ln>
        </p:spPr>
        <p:style>
          <a:lnRef idx="1">
            <a:schemeClr val="accent4"/>
          </a:lnRef>
          <a:fillRef idx="3">
            <a:schemeClr val="accent4"/>
          </a:fillRef>
          <a:effectRef idx="2">
            <a:schemeClr val="accent4"/>
          </a:effectRef>
          <a:fontRef idx="minor">
            <a:schemeClr val="lt1"/>
          </a:fontRef>
        </p:style>
        <p:txBody>
          <a:bodyPr anchor="ctr"/>
          <a:lstStyle/>
          <a:p>
            <a:pPr>
              <a:defRPr/>
            </a:pPr>
            <a:r>
              <a:rPr lang="ko-KR" altLang="en-US" sz="1400" b="0" dirty="0" err="1">
                <a:latin typeface="+mj-ea"/>
                <a:ea typeface="+mj-ea"/>
              </a:rPr>
              <a:t>선사용권</a:t>
            </a:r>
            <a:r>
              <a:rPr lang="ko-KR" altLang="en-US" sz="1400" b="0" dirty="0">
                <a:latin typeface="+mj-ea"/>
                <a:ea typeface="+mj-ea"/>
              </a:rPr>
              <a:t> 증거 확보</a:t>
            </a:r>
            <a:endParaRPr lang="en-US" altLang="ko-KR" sz="1400" b="0" dirty="0">
              <a:latin typeface="+mj-ea"/>
              <a:ea typeface="+mj-ea"/>
            </a:endParaRPr>
          </a:p>
          <a:p>
            <a:pPr>
              <a:defRPr/>
            </a:pPr>
            <a:r>
              <a:rPr lang="en-US" altLang="ko-KR" sz="1050" b="0" dirty="0">
                <a:latin typeface="+mj-ea"/>
                <a:ea typeface="+mj-ea"/>
              </a:rPr>
              <a:t> - </a:t>
            </a:r>
            <a:r>
              <a:rPr lang="ko-KR" altLang="en-US" sz="1050" b="0" dirty="0">
                <a:latin typeface="+mj-ea"/>
                <a:ea typeface="+mj-ea"/>
              </a:rPr>
              <a:t>설계도</a:t>
            </a:r>
            <a:r>
              <a:rPr lang="en-US" altLang="ko-KR" sz="1050" b="0" dirty="0">
                <a:latin typeface="+mj-ea"/>
                <a:ea typeface="+mj-ea"/>
              </a:rPr>
              <a:t>, </a:t>
            </a:r>
            <a:r>
              <a:rPr lang="ko-KR" altLang="en-US" sz="1050" b="0" dirty="0">
                <a:latin typeface="+mj-ea"/>
                <a:ea typeface="+mj-ea"/>
              </a:rPr>
              <a:t>발주서류 등의 보존</a:t>
            </a:r>
            <a:endParaRPr lang="en-US" altLang="ko-KR" sz="1050" b="0" dirty="0">
              <a:latin typeface="+mj-ea"/>
              <a:ea typeface="+mj-ea"/>
            </a:endParaRPr>
          </a:p>
          <a:p>
            <a:pPr>
              <a:defRPr/>
            </a:pPr>
            <a:r>
              <a:rPr lang="en-US" altLang="ko-KR" sz="1050" b="0" dirty="0">
                <a:latin typeface="+mj-ea"/>
                <a:ea typeface="+mj-ea"/>
              </a:rPr>
              <a:t> - </a:t>
            </a:r>
            <a:r>
              <a:rPr lang="ko-KR" altLang="en-US" sz="1050" b="0" dirty="0">
                <a:latin typeface="+mj-ea"/>
                <a:ea typeface="+mj-ea"/>
              </a:rPr>
              <a:t>공증제도활용</a:t>
            </a:r>
            <a:endParaRPr lang="en-US" altLang="ko-KR" sz="1050" b="0" dirty="0">
              <a:latin typeface="+mj-ea"/>
              <a:ea typeface="+mj-ea"/>
            </a:endParaRPr>
          </a:p>
          <a:p>
            <a:pPr>
              <a:defRPr/>
            </a:pPr>
            <a:r>
              <a:rPr lang="en-US" altLang="ko-KR" sz="1050" b="0" dirty="0">
                <a:latin typeface="+mj-ea"/>
                <a:ea typeface="+mj-ea"/>
              </a:rPr>
              <a:t> - </a:t>
            </a:r>
            <a:r>
              <a:rPr lang="ko-KR" altLang="en-US" sz="1050" b="0" dirty="0">
                <a:latin typeface="+mj-ea"/>
                <a:ea typeface="+mj-ea"/>
              </a:rPr>
              <a:t>영업비밀원본서비스 증명제도 활용 등</a:t>
            </a:r>
          </a:p>
        </p:txBody>
      </p:sp>
      <p:sp>
        <p:nvSpPr>
          <p:cNvPr id="16" name="모서리가 둥근 직사각형 15"/>
          <p:cNvSpPr/>
          <p:nvPr/>
        </p:nvSpPr>
        <p:spPr>
          <a:xfrm>
            <a:off x="6379469" y="4857750"/>
            <a:ext cx="2762249" cy="857250"/>
          </a:xfrm>
          <a:prstGeom prst="roundRect">
            <a:avLst/>
          </a:prstGeom>
          <a:solidFill>
            <a:schemeClr val="accent4"/>
          </a:solidFill>
          <a:ln>
            <a:solidFill>
              <a:schemeClr val="accent4">
                <a:lumMod val="50000"/>
              </a:schemeClr>
            </a:solidFill>
          </a:ln>
        </p:spPr>
        <p:style>
          <a:lnRef idx="1">
            <a:schemeClr val="accent4"/>
          </a:lnRef>
          <a:fillRef idx="3">
            <a:schemeClr val="accent4"/>
          </a:fillRef>
          <a:effectRef idx="2">
            <a:schemeClr val="accent4"/>
          </a:effectRef>
          <a:fontRef idx="minor">
            <a:schemeClr val="lt1"/>
          </a:fontRef>
        </p:style>
        <p:txBody>
          <a:bodyPr anchor="ctr"/>
          <a:lstStyle/>
          <a:p>
            <a:pPr>
              <a:defRPr/>
            </a:pPr>
            <a:r>
              <a:rPr lang="ko-KR" altLang="en-US" sz="1400" b="0" dirty="0" err="1">
                <a:latin typeface="+mj-ea"/>
                <a:ea typeface="+mj-ea"/>
              </a:rPr>
              <a:t>선사용권</a:t>
            </a:r>
            <a:r>
              <a:rPr lang="ko-KR" altLang="en-US" sz="1400" b="0" dirty="0">
                <a:latin typeface="+mj-ea"/>
                <a:ea typeface="+mj-ea"/>
              </a:rPr>
              <a:t> 확보</a:t>
            </a:r>
            <a:endParaRPr lang="en-US" altLang="ko-KR" sz="1400" b="0" dirty="0">
              <a:latin typeface="+mj-ea"/>
              <a:ea typeface="+mj-ea"/>
            </a:endParaRPr>
          </a:p>
          <a:p>
            <a:pPr>
              <a:defRPr/>
            </a:pPr>
            <a:r>
              <a:rPr lang="en-US" altLang="ko-KR" sz="1050" b="0" dirty="0">
                <a:latin typeface="+mj-ea"/>
                <a:ea typeface="+mj-ea"/>
              </a:rPr>
              <a:t> - </a:t>
            </a:r>
            <a:r>
              <a:rPr lang="ko-KR" altLang="en-US" sz="1050" b="0" dirty="0">
                <a:latin typeface="+mj-ea"/>
                <a:ea typeface="+mj-ea"/>
              </a:rPr>
              <a:t>자기실시가능</a:t>
            </a:r>
          </a:p>
        </p:txBody>
      </p:sp>
      <p:sp>
        <p:nvSpPr>
          <p:cNvPr id="17" name="아래쪽 화살표 16"/>
          <p:cNvSpPr/>
          <p:nvPr/>
        </p:nvSpPr>
        <p:spPr>
          <a:xfrm>
            <a:off x="6950969" y="4500564"/>
            <a:ext cx="857249" cy="357187"/>
          </a:xfrm>
          <a:prstGeom prst="downArrow">
            <a:avLst/>
          </a:prstGeom>
          <a:solidFill>
            <a:schemeClr val="accent3">
              <a:lumMod val="20000"/>
              <a:lumOff val="80000"/>
            </a:schemeClr>
          </a:solidFill>
          <a:ln>
            <a:solidFill>
              <a:schemeClr val="bg1">
                <a:lumMod val="50000"/>
              </a:schemeClr>
            </a:solidFill>
          </a:ln>
        </p:spPr>
        <p:style>
          <a:lnRef idx="1">
            <a:schemeClr val="accent4"/>
          </a:lnRef>
          <a:fillRef idx="2">
            <a:schemeClr val="accent4"/>
          </a:fillRef>
          <a:effectRef idx="1">
            <a:schemeClr val="accent4"/>
          </a:effectRef>
          <a:fontRef idx="minor">
            <a:schemeClr val="dk1"/>
          </a:fontRef>
        </p:style>
        <p:txBody>
          <a:bodyPr anchor="ctr"/>
          <a:lstStyle/>
          <a:p>
            <a:pPr algn="ctr">
              <a:defRPr/>
            </a:pPr>
            <a:endParaRPr lang="ko-KR" altLang="en-US" sz="1600" b="0">
              <a:latin typeface="+mj-ea"/>
              <a:ea typeface="+mj-ea"/>
            </a:endParaRPr>
          </a:p>
        </p:txBody>
      </p:sp>
      <p:sp>
        <p:nvSpPr>
          <p:cNvPr id="18" name="모서리가 둥근 사각형 설명선 17"/>
          <p:cNvSpPr/>
          <p:nvPr/>
        </p:nvSpPr>
        <p:spPr>
          <a:xfrm>
            <a:off x="9360363" y="5445224"/>
            <a:ext cx="2400267" cy="626964"/>
          </a:xfrm>
          <a:prstGeom prst="wedgeRoundRectCallout">
            <a:avLst>
              <a:gd name="adj1" fmla="val -58884"/>
              <a:gd name="adj2" fmla="val -107387"/>
              <a:gd name="adj3" fmla="val 16667"/>
            </a:avLst>
          </a:prstGeom>
          <a:ln>
            <a:solidFill>
              <a:schemeClr val="accent4">
                <a:lumMod val="5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ko-KR" altLang="en-US" sz="1600" dirty="0"/>
              <a:t>특허권 침해주장 대항</a:t>
            </a:r>
          </a:p>
        </p:txBody>
      </p:sp>
      <p:sp>
        <p:nvSpPr>
          <p:cNvPr id="19" name="모서리가 둥근 사각형 설명선 18"/>
          <p:cNvSpPr/>
          <p:nvPr/>
        </p:nvSpPr>
        <p:spPr>
          <a:xfrm>
            <a:off x="9465584" y="3573016"/>
            <a:ext cx="2400267" cy="626964"/>
          </a:xfrm>
          <a:prstGeom prst="wedgeRoundRectCallout">
            <a:avLst>
              <a:gd name="adj1" fmla="val -8090"/>
              <a:gd name="adj2" fmla="val -112195"/>
              <a:gd name="adj3" fmla="val 16667"/>
            </a:avLst>
          </a:prstGeom>
        </p:spPr>
        <p:style>
          <a:lnRef idx="2">
            <a:schemeClr val="accent3"/>
          </a:lnRef>
          <a:fillRef idx="1">
            <a:schemeClr val="lt1"/>
          </a:fillRef>
          <a:effectRef idx="0">
            <a:schemeClr val="accent3"/>
          </a:effectRef>
          <a:fontRef idx="minor">
            <a:schemeClr val="dk1"/>
          </a:fontRef>
        </p:style>
        <p:txBody>
          <a:bodyPr rtlCol="0" anchor="ctr"/>
          <a:lstStyle/>
          <a:p>
            <a:pPr algn="ctr"/>
            <a:r>
              <a:rPr lang="ko-KR" altLang="en-US" sz="1600" dirty="0"/>
              <a:t>영업비밀보호법</a:t>
            </a:r>
            <a:endParaRPr lang="en-US" altLang="ko-KR" sz="1600" dirty="0"/>
          </a:p>
          <a:p>
            <a:pPr algn="ctr"/>
            <a:r>
              <a:rPr lang="ko-KR" altLang="en-US" sz="1600" dirty="0"/>
              <a:t>보호</a:t>
            </a:r>
          </a:p>
        </p:txBody>
      </p:sp>
      <p:sp>
        <p:nvSpPr>
          <p:cNvPr id="21" name="Rectangle 3"/>
          <p:cNvSpPr txBox="1">
            <a:spLocks noChangeArrowheads="1"/>
          </p:cNvSpPr>
          <p:nvPr/>
        </p:nvSpPr>
        <p:spPr>
          <a:xfrm>
            <a:off x="143339" y="1546227"/>
            <a:ext cx="5524500" cy="2026790"/>
          </a:xfrm>
          <a:prstGeom prst="rect">
            <a:avLst/>
          </a:prstGeom>
          <a:ln>
            <a:solidFill>
              <a:schemeClr val="bg1">
                <a:lumMod val="50000"/>
              </a:schemeClr>
            </a:solidFill>
          </a:ln>
        </p:spPr>
        <p:txBody>
          <a:bodyPr vert="horz" lIns="91440" tIns="45720" rIns="91440" bIns="45720" rtlCol="0">
            <a:normAutofit/>
          </a:bodyPr>
          <a:lstStyle>
            <a:lvl1pPr marL="342900" indent="-342900" algn="l" defTabSz="914400" rtl="0" eaLnBrk="1" latinLnBrk="1"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1"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1"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1" hangingPunct="1">
              <a:spcBef>
                <a:spcPct val="20000"/>
              </a:spcBef>
              <a:buFont typeface="Arial" pitchFamily="34" charset="0"/>
              <a:buChar char="•"/>
              <a:defRPr sz="2000" kern="1200">
                <a:solidFill>
                  <a:schemeClr val="tx1"/>
                </a:solidFill>
                <a:latin typeface="+mn-lt"/>
                <a:ea typeface="+mn-ea"/>
                <a:cs typeface="+mn-cs"/>
              </a:defRPr>
            </a:lvl9pPr>
          </a:lstStyle>
          <a:p>
            <a:pPr marL="180975" indent="-180975">
              <a:defRPr/>
            </a:pPr>
            <a:r>
              <a:rPr lang="ko-KR" altLang="en-US" sz="1800" dirty="0"/>
              <a:t>영업비밀로 보호한 경우의 문제점</a:t>
            </a:r>
          </a:p>
          <a:p>
            <a:pPr marL="361950" lvl="1" indent="-180975">
              <a:defRPr/>
            </a:pPr>
            <a:r>
              <a:rPr lang="ko-KR" altLang="en-US" sz="1400" dirty="0"/>
              <a:t>비밀의 영속성을 유지하기 어려움</a:t>
            </a:r>
            <a:endParaRPr lang="en-US" altLang="ko-KR" sz="1400" dirty="0"/>
          </a:p>
          <a:p>
            <a:pPr marL="361950" lvl="1" indent="-180975">
              <a:defRPr/>
            </a:pPr>
            <a:r>
              <a:rPr lang="ko-KR" altLang="en-US" sz="1400" dirty="0"/>
              <a:t>영업비밀이 이미 유출된 경우 회수가 불가능</a:t>
            </a:r>
            <a:endParaRPr lang="en-US" altLang="ko-KR" sz="1400" dirty="0"/>
          </a:p>
          <a:p>
            <a:pPr marL="361950" lvl="1" indent="-180975">
              <a:defRPr/>
            </a:pPr>
            <a:r>
              <a:rPr lang="ko-KR" altLang="en-US" sz="1400" dirty="0"/>
              <a:t>영업 비밀의 요건</a:t>
            </a:r>
            <a:r>
              <a:rPr lang="en-US" altLang="ko-KR" sz="1400" dirty="0"/>
              <a:t>(</a:t>
            </a:r>
            <a:r>
              <a:rPr lang="ko-KR" altLang="en-US" sz="1400" dirty="0" err="1"/>
              <a:t>비공지성</a:t>
            </a:r>
            <a:r>
              <a:rPr lang="en-US" altLang="ko-KR" sz="1400" dirty="0"/>
              <a:t>, </a:t>
            </a:r>
            <a:r>
              <a:rPr lang="ko-KR" altLang="en-US" sz="1400" dirty="0"/>
              <a:t>경제적 유용성 및 비밀 </a:t>
            </a:r>
            <a:r>
              <a:rPr lang="ko-KR" altLang="en-US" sz="1400" dirty="0" err="1"/>
              <a:t>관리성</a:t>
            </a:r>
            <a:r>
              <a:rPr lang="en-US" altLang="ko-KR" sz="1400" dirty="0"/>
              <a:t>)</a:t>
            </a:r>
            <a:r>
              <a:rPr lang="ko-KR" altLang="en-US" sz="1400" dirty="0"/>
              <a:t>의 증명이 곤란한 경우가 많음</a:t>
            </a:r>
            <a:endParaRPr lang="en-US" altLang="ko-KR" sz="1400" dirty="0"/>
          </a:p>
          <a:p>
            <a:pPr marL="361950" lvl="1" indent="-180975">
              <a:defRPr/>
            </a:pPr>
            <a:r>
              <a:rPr lang="ko-KR" altLang="en-US" sz="1400" dirty="0" err="1"/>
              <a:t>역설계에</a:t>
            </a:r>
            <a:r>
              <a:rPr lang="ko-KR" altLang="en-US" sz="1400" dirty="0"/>
              <a:t> 의한 영업 비밀의 획득은 적법한 행위로 인정됨</a:t>
            </a:r>
            <a:endParaRPr lang="en-US" altLang="ko-KR" sz="1400" dirty="0"/>
          </a:p>
          <a:p>
            <a:pPr marL="361950" lvl="1" indent="-180975">
              <a:defRPr/>
            </a:pPr>
            <a:r>
              <a:rPr lang="ko-KR" altLang="en-US" sz="1400" dirty="0"/>
              <a:t>국가별 제도 등의 상이로 인하여 보호의 곤란성</a:t>
            </a:r>
          </a:p>
          <a:p>
            <a:pPr>
              <a:defRPr/>
            </a:pPr>
            <a:endParaRPr lang="en-US" altLang="ko-KR" sz="1800" dirty="0"/>
          </a:p>
        </p:txBody>
      </p:sp>
      <p:sp>
        <p:nvSpPr>
          <p:cNvPr id="2" name="슬라이드 번호 개체 틀 1"/>
          <p:cNvSpPr>
            <a:spLocks noGrp="1"/>
          </p:cNvSpPr>
          <p:nvPr>
            <p:ph type="sldNum" sz="quarter" idx="12"/>
          </p:nvPr>
        </p:nvSpPr>
        <p:spPr/>
        <p:txBody>
          <a:bodyPr/>
          <a:lstStyle/>
          <a:p>
            <a:fld id="{3875FC6C-1516-4DC4-8C58-3090F7D4F003}" type="slidenum">
              <a:rPr lang="ko-KR" altLang="en-US" smtClean="0"/>
              <a:t>18</a:t>
            </a:fld>
            <a:endParaRPr lang="ko-KR" altLang="en-US"/>
          </a:p>
        </p:txBody>
      </p:sp>
    </p:spTree>
    <p:extLst>
      <p:ext uri="{BB962C8B-B14F-4D97-AF65-F5344CB8AC3E}">
        <p14:creationId xmlns:p14="http://schemas.microsoft.com/office/powerpoint/2010/main" val="368556480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Freeform 41"/>
          <p:cNvSpPr>
            <a:spLocks/>
          </p:cNvSpPr>
          <p:nvPr/>
        </p:nvSpPr>
        <p:spPr bwMode="auto">
          <a:xfrm>
            <a:off x="5611186" y="2397786"/>
            <a:ext cx="5189598" cy="360362"/>
          </a:xfrm>
          <a:custGeom>
            <a:avLst/>
            <a:gdLst>
              <a:gd name="T0" fmla="*/ 0 w 1270"/>
              <a:gd name="T1" fmla="*/ 2147483647 h 227"/>
              <a:gd name="T2" fmla="*/ 2147483647 w 1270"/>
              <a:gd name="T3" fmla="*/ 0 h 227"/>
              <a:gd name="T4" fmla="*/ 2147483647 w 1270"/>
              <a:gd name="T5" fmla="*/ 0 h 227"/>
              <a:gd name="T6" fmla="*/ 0 60000 65536"/>
              <a:gd name="T7" fmla="*/ 0 60000 65536"/>
              <a:gd name="T8" fmla="*/ 0 60000 65536"/>
              <a:gd name="T9" fmla="*/ 0 w 1270"/>
              <a:gd name="T10" fmla="*/ 0 h 227"/>
              <a:gd name="T11" fmla="*/ 1270 w 1270"/>
              <a:gd name="T12" fmla="*/ 227 h 227"/>
            </a:gdLst>
            <a:ahLst/>
            <a:cxnLst>
              <a:cxn ang="T6">
                <a:pos x="T0" y="T1"/>
              </a:cxn>
              <a:cxn ang="T7">
                <a:pos x="T2" y="T3"/>
              </a:cxn>
              <a:cxn ang="T8">
                <a:pos x="T4" y="T5"/>
              </a:cxn>
            </a:cxnLst>
            <a:rect l="T9" t="T10" r="T11" b="T12"/>
            <a:pathLst>
              <a:path w="1270" h="227">
                <a:moveTo>
                  <a:pt x="0" y="227"/>
                </a:moveTo>
                <a:lnTo>
                  <a:pt x="9" y="0"/>
                </a:lnTo>
                <a:lnTo>
                  <a:pt x="1270" y="0"/>
                </a:lnTo>
              </a:path>
            </a:pathLst>
          </a:custGeom>
          <a:noFill/>
          <a:ln w="28575" cap="flat" cmpd="sng">
            <a:solidFill>
              <a:schemeClr val="accent5">
                <a:lumMod val="50000"/>
              </a:schemeClr>
            </a:solidFill>
            <a:prstDash val="solid"/>
            <a:round/>
            <a:headEnd type="none" w="med" len="med"/>
            <a:tailEnd type="triangle" w="med" len="med"/>
          </a:ln>
        </p:spPr>
        <p:txBody>
          <a:bodyPr wrap="none" anchor="ctr"/>
          <a:lstStyle/>
          <a:p>
            <a:pPr>
              <a:defRPr/>
            </a:pPr>
            <a:endParaRPr lang="ko-KR" altLang="en-US" sz="1200">
              <a:latin typeface="+mn-ea"/>
              <a:ea typeface="+mn-ea"/>
            </a:endParaRPr>
          </a:p>
        </p:txBody>
      </p:sp>
      <p:cxnSp>
        <p:nvCxnSpPr>
          <p:cNvPr id="6" name="직선 화살표 연결선 5">
            <a:extLst>
              <a:ext uri="{FF2B5EF4-FFF2-40B4-BE49-F238E27FC236}">
                <a16:creationId xmlns:a16="http://schemas.microsoft.com/office/drawing/2014/main" id="{CAA4563D-A477-4318-BFA6-2BBE4E79C69F}"/>
              </a:ext>
            </a:extLst>
          </p:cNvPr>
          <p:cNvCxnSpPr/>
          <p:nvPr/>
        </p:nvCxnSpPr>
        <p:spPr>
          <a:xfrm>
            <a:off x="1213164" y="2788466"/>
            <a:ext cx="9750583" cy="0"/>
          </a:xfrm>
          <a:prstGeom prst="straightConnector1">
            <a:avLst/>
          </a:prstGeom>
          <a:ln w="5715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발명의 보호전략</a:t>
            </a:r>
            <a:r>
              <a:rPr lang="en-US" altLang="ko-KR" dirty="0"/>
              <a:t>: </a:t>
            </a:r>
            <a:r>
              <a:rPr lang="ko-KR" altLang="en-US" dirty="0"/>
              <a:t>노하우</a:t>
            </a:r>
          </a:p>
        </p:txBody>
      </p:sp>
      <p:sp>
        <p:nvSpPr>
          <p:cNvPr id="20" name="Rectangle 36"/>
          <p:cNvSpPr>
            <a:spLocks noChangeArrowheads="1"/>
          </p:cNvSpPr>
          <p:nvPr/>
        </p:nvSpPr>
        <p:spPr bwMode="auto">
          <a:xfrm>
            <a:off x="720968" y="1840231"/>
            <a:ext cx="10717823" cy="1655763"/>
          </a:xfrm>
          <a:prstGeom prst="rect">
            <a:avLst/>
          </a:prstGeom>
          <a:noFill/>
          <a:ln>
            <a:solidFill>
              <a:schemeClr val="accent5">
                <a:lumMod val="50000"/>
              </a:schemeClr>
            </a:solidFill>
            <a:headEnd/>
            <a:tailEnd/>
          </a:ln>
        </p:spPr>
        <p:style>
          <a:lnRef idx="2">
            <a:schemeClr val="accent5"/>
          </a:lnRef>
          <a:fillRef idx="1">
            <a:schemeClr val="lt1"/>
          </a:fillRef>
          <a:effectRef idx="0">
            <a:schemeClr val="accent5"/>
          </a:effectRef>
          <a:fontRef idx="minor">
            <a:schemeClr val="dk1"/>
          </a:fontRef>
        </p:style>
        <p:txBody>
          <a:bodyPr wrap="none" anchor="ctr"/>
          <a:lstStyle/>
          <a:p>
            <a:pPr>
              <a:defRPr/>
            </a:pPr>
            <a:endParaRPr lang="ko-KR" altLang="ko-KR" sz="1200" dirty="0">
              <a:solidFill>
                <a:srgbClr val="000000"/>
              </a:solidFill>
              <a:latin typeface="+mn-ea"/>
            </a:endParaRPr>
          </a:p>
        </p:txBody>
      </p:sp>
      <p:sp>
        <p:nvSpPr>
          <p:cNvPr id="23" name="Oval 16"/>
          <p:cNvSpPr>
            <a:spLocks noChangeArrowheads="1"/>
          </p:cNvSpPr>
          <p:nvPr/>
        </p:nvSpPr>
        <p:spPr bwMode="auto">
          <a:xfrm>
            <a:off x="5534025" y="2703831"/>
            <a:ext cx="152204" cy="144464"/>
          </a:xfrm>
          <a:prstGeom prst="ellipse">
            <a:avLst/>
          </a:prstGeom>
          <a:solidFill>
            <a:schemeClr val="accent4"/>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endParaRPr lang="ko-KR" altLang="ko-KR" sz="1200" b="0">
              <a:solidFill>
                <a:srgbClr val="000000"/>
              </a:solidFill>
              <a:latin typeface="+mn-ea"/>
              <a:ea typeface="+mn-ea"/>
            </a:endParaRPr>
          </a:p>
        </p:txBody>
      </p:sp>
      <p:sp>
        <p:nvSpPr>
          <p:cNvPr id="24" name="Oval 27"/>
          <p:cNvSpPr>
            <a:spLocks noChangeArrowheads="1"/>
          </p:cNvSpPr>
          <p:nvPr/>
        </p:nvSpPr>
        <p:spPr bwMode="auto">
          <a:xfrm>
            <a:off x="8895291" y="2703831"/>
            <a:ext cx="152204" cy="144464"/>
          </a:xfrm>
          <a:prstGeom prst="ellipse">
            <a:avLst/>
          </a:prstGeom>
          <a:solidFill>
            <a:schemeClr val="accent4"/>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endParaRPr lang="ko-KR" altLang="ko-KR" sz="1200" b="0">
              <a:solidFill>
                <a:srgbClr val="000000"/>
              </a:solidFill>
              <a:latin typeface="+mn-ea"/>
              <a:ea typeface="+mn-ea"/>
            </a:endParaRPr>
          </a:p>
        </p:txBody>
      </p:sp>
      <p:sp>
        <p:nvSpPr>
          <p:cNvPr id="25" name="Oval 28"/>
          <p:cNvSpPr>
            <a:spLocks noChangeArrowheads="1"/>
          </p:cNvSpPr>
          <p:nvPr/>
        </p:nvSpPr>
        <p:spPr bwMode="auto">
          <a:xfrm>
            <a:off x="3135619" y="2703831"/>
            <a:ext cx="150532" cy="144464"/>
          </a:xfrm>
          <a:prstGeom prst="ellipse">
            <a:avLst/>
          </a:prstGeom>
          <a:solidFill>
            <a:schemeClr val="accent4"/>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endParaRPr lang="ko-KR" altLang="ko-KR" sz="1200" b="0">
              <a:solidFill>
                <a:srgbClr val="000000"/>
              </a:solidFill>
              <a:latin typeface="+mn-ea"/>
              <a:ea typeface="+mn-ea"/>
            </a:endParaRPr>
          </a:p>
        </p:txBody>
      </p:sp>
      <p:sp>
        <p:nvSpPr>
          <p:cNvPr id="26" name="Oval 34"/>
          <p:cNvSpPr>
            <a:spLocks noChangeArrowheads="1"/>
          </p:cNvSpPr>
          <p:nvPr/>
        </p:nvSpPr>
        <p:spPr bwMode="auto">
          <a:xfrm>
            <a:off x="4382558" y="2703831"/>
            <a:ext cx="152204" cy="144464"/>
          </a:xfrm>
          <a:prstGeom prst="ellipse">
            <a:avLst/>
          </a:prstGeom>
          <a:solidFill>
            <a:schemeClr val="accent4"/>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endParaRPr lang="ko-KR" altLang="ko-KR" sz="1200" b="0">
              <a:solidFill>
                <a:srgbClr val="000000"/>
              </a:solidFill>
              <a:latin typeface="+mn-ea"/>
              <a:ea typeface="+mn-ea"/>
            </a:endParaRPr>
          </a:p>
        </p:txBody>
      </p:sp>
      <p:sp>
        <p:nvSpPr>
          <p:cNvPr id="27" name="AutoShape 20"/>
          <p:cNvSpPr>
            <a:spLocks noChangeArrowheads="1"/>
          </p:cNvSpPr>
          <p:nvPr/>
        </p:nvSpPr>
        <p:spPr bwMode="auto">
          <a:xfrm>
            <a:off x="1866802" y="2343469"/>
            <a:ext cx="2713567" cy="288925"/>
          </a:xfrm>
          <a:prstGeom prst="flowChartTerminator">
            <a:avLst/>
          </a:prstGeom>
          <a:noFill/>
          <a:ln w="9525">
            <a:noFill/>
            <a:miter lim="800000"/>
            <a:headEnd/>
            <a:tailEnd/>
          </a:ln>
        </p:spPr>
        <p:txBody>
          <a:bodyPr wrap="none" anchor="ctr"/>
          <a:lstStyle/>
          <a:p>
            <a:pPr algn="ctr">
              <a:defRPr/>
            </a:pPr>
            <a:r>
              <a:rPr lang="ko-KR" altLang="en-US" sz="1200" dirty="0">
                <a:solidFill>
                  <a:schemeClr val="tx1"/>
                </a:solidFill>
                <a:latin typeface="+mn-ea"/>
                <a:ea typeface="+mn-ea"/>
              </a:rPr>
              <a:t>甲 발명</a:t>
            </a:r>
          </a:p>
        </p:txBody>
      </p:sp>
      <p:sp>
        <p:nvSpPr>
          <p:cNvPr id="28" name="AutoShape 20"/>
          <p:cNvSpPr>
            <a:spLocks noChangeArrowheads="1"/>
          </p:cNvSpPr>
          <p:nvPr/>
        </p:nvSpPr>
        <p:spPr bwMode="auto">
          <a:xfrm>
            <a:off x="3113519" y="2919731"/>
            <a:ext cx="2713567" cy="288925"/>
          </a:xfrm>
          <a:prstGeom prst="flowChartTerminator">
            <a:avLst/>
          </a:prstGeom>
          <a:noFill/>
          <a:ln w="9525">
            <a:noFill/>
            <a:miter lim="800000"/>
            <a:headEnd/>
            <a:tailEnd/>
          </a:ln>
        </p:spPr>
        <p:txBody>
          <a:bodyPr wrap="none" anchor="ctr"/>
          <a:lstStyle/>
          <a:p>
            <a:pPr algn="ctr">
              <a:defRPr/>
            </a:pPr>
            <a:r>
              <a:rPr lang="ko-KR" altLang="en-US" sz="1200">
                <a:solidFill>
                  <a:schemeClr val="tx1"/>
                </a:solidFill>
                <a:latin typeface="+mn-ea"/>
                <a:ea typeface="+mn-ea"/>
              </a:rPr>
              <a:t>乙 발명</a:t>
            </a:r>
          </a:p>
        </p:txBody>
      </p:sp>
      <p:sp>
        <p:nvSpPr>
          <p:cNvPr id="30" name="AutoShape 20"/>
          <p:cNvSpPr>
            <a:spLocks noChangeArrowheads="1"/>
          </p:cNvSpPr>
          <p:nvPr/>
        </p:nvSpPr>
        <p:spPr bwMode="auto">
          <a:xfrm>
            <a:off x="6163636" y="2037425"/>
            <a:ext cx="4703233" cy="288925"/>
          </a:xfrm>
          <a:prstGeom prst="flowChartTerminator">
            <a:avLst/>
          </a:prstGeom>
          <a:noFill/>
          <a:ln w="9525">
            <a:noFill/>
            <a:miter lim="800000"/>
            <a:headEnd/>
            <a:tailEnd/>
          </a:ln>
        </p:spPr>
        <p:txBody>
          <a:bodyPr wrap="none" anchor="ctr"/>
          <a:lstStyle/>
          <a:p>
            <a:pPr>
              <a:defRPr/>
            </a:pPr>
            <a:r>
              <a:rPr lang="ko-KR" altLang="en-US" sz="1200">
                <a:solidFill>
                  <a:schemeClr val="tx1"/>
                </a:solidFill>
                <a:latin typeface="+mn-ea"/>
                <a:ea typeface="+mn-ea"/>
              </a:rPr>
              <a:t>甲이 국내에서 실시사업 또는 사업준비</a:t>
            </a:r>
          </a:p>
        </p:txBody>
      </p:sp>
      <p:sp>
        <p:nvSpPr>
          <p:cNvPr id="31" name="Oval 27"/>
          <p:cNvSpPr>
            <a:spLocks noChangeArrowheads="1"/>
          </p:cNvSpPr>
          <p:nvPr/>
        </p:nvSpPr>
        <p:spPr bwMode="auto">
          <a:xfrm>
            <a:off x="7165976" y="2703831"/>
            <a:ext cx="152204" cy="144464"/>
          </a:xfrm>
          <a:prstGeom prst="ellipse">
            <a:avLst/>
          </a:prstGeom>
          <a:solidFill>
            <a:schemeClr val="accent4"/>
          </a:solidFill>
          <a:ln>
            <a:headEnd/>
            <a:tailEnd/>
          </a:ln>
        </p:spPr>
        <p:style>
          <a:lnRef idx="2">
            <a:schemeClr val="accent1">
              <a:shade val="50000"/>
            </a:schemeClr>
          </a:lnRef>
          <a:fillRef idx="1">
            <a:schemeClr val="accent1"/>
          </a:fillRef>
          <a:effectRef idx="0">
            <a:schemeClr val="accent1"/>
          </a:effectRef>
          <a:fontRef idx="minor">
            <a:schemeClr val="lt1"/>
          </a:fontRef>
        </p:style>
        <p:txBody>
          <a:bodyPr wrap="none" anchor="ctr"/>
          <a:lstStyle/>
          <a:p>
            <a:pPr>
              <a:defRPr/>
            </a:pPr>
            <a:endParaRPr lang="ko-KR" altLang="ko-KR" sz="1200" b="0">
              <a:solidFill>
                <a:srgbClr val="000000"/>
              </a:solidFill>
              <a:latin typeface="+mn-ea"/>
              <a:ea typeface="+mn-ea"/>
            </a:endParaRPr>
          </a:p>
        </p:txBody>
      </p:sp>
      <p:sp>
        <p:nvSpPr>
          <p:cNvPr id="32" name="AutoShape 20"/>
          <p:cNvSpPr>
            <a:spLocks noChangeArrowheads="1"/>
          </p:cNvSpPr>
          <p:nvPr/>
        </p:nvSpPr>
        <p:spPr bwMode="auto">
          <a:xfrm>
            <a:off x="5801686" y="2919731"/>
            <a:ext cx="2713567" cy="288925"/>
          </a:xfrm>
          <a:prstGeom prst="flowChartTerminator">
            <a:avLst/>
          </a:prstGeom>
          <a:noFill/>
          <a:ln w="9525">
            <a:noFill/>
            <a:miter lim="800000"/>
            <a:headEnd/>
            <a:tailEnd/>
          </a:ln>
        </p:spPr>
        <p:txBody>
          <a:bodyPr wrap="none" anchor="ctr"/>
          <a:lstStyle/>
          <a:p>
            <a:pPr algn="ctr">
              <a:defRPr/>
            </a:pPr>
            <a:r>
              <a:rPr lang="ko-KR" altLang="en-US" sz="1200" dirty="0">
                <a:solidFill>
                  <a:schemeClr val="tx1"/>
                </a:solidFill>
                <a:latin typeface="+mn-ea"/>
                <a:ea typeface="+mn-ea"/>
              </a:rPr>
              <a:t>乙 특허출원</a:t>
            </a:r>
          </a:p>
        </p:txBody>
      </p:sp>
      <p:sp>
        <p:nvSpPr>
          <p:cNvPr id="33" name="AutoShape 20"/>
          <p:cNvSpPr>
            <a:spLocks noChangeArrowheads="1"/>
          </p:cNvSpPr>
          <p:nvPr/>
        </p:nvSpPr>
        <p:spPr bwMode="auto">
          <a:xfrm>
            <a:off x="7531002" y="2919731"/>
            <a:ext cx="2713567" cy="288925"/>
          </a:xfrm>
          <a:prstGeom prst="flowChartTerminator">
            <a:avLst/>
          </a:prstGeom>
          <a:noFill/>
          <a:ln w="9525">
            <a:noFill/>
            <a:miter lim="800000"/>
            <a:headEnd/>
            <a:tailEnd/>
          </a:ln>
        </p:spPr>
        <p:txBody>
          <a:bodyPr wrap="none" anchor="ctr"/>
          <a:lstStyle/>
          <a:p>
            <a:pPr algn="ctr">
              <a:defRPr/>
            </a:pPr>
            <a:r>
              <a:rPr lang="ko-KR" altLang="en-US" sz="1200">
                <a:solidFill>
                  <a:schemeClr val="tx1"/>
                </a:solidFill>
                <a:latin typeface="+mn-ea"/>
                <a:ea typeface="+mn-ea"/>
              </a:rPr>
              <a:t>乙 특허등록</a:t>
            </a:r>
          </a:p>
        </p:txBody>
      </p:sp>
      <p:graphicFrame>
        <p:nvGraphicFramePr>
          <p:cNvPr id="34" name="표 33"/>
          <p:cNvGraphicFramePr>
            <a:graphicFrameLocks noGrp="1"/>
          </p:cNvGraphicFramePr>
          <p:nvPr>
            <p:extLst>
              <p:ext uri="{D42A27DB-BD31-4B8C-83A1-F6EECF244321}">
                <p14:modId xmlns:p14="http://schemas.microsoft.com/office/powerpoint/2010/main" val="1817798501"/>
              </p:ext>
            </p:extLst>
          </p:nvPr>
        </p:nvGraphicFramePr>
        <p:xfrm>
          <a:off x="719403" y="3859376"/>
          <a:ext cx="10713000" cy="2520280"/>
        </p:xfrm>
        <a:graphic>
          <a:graphicData uri="http://schemas.openxmlformats.org/drawingml/2006/table">
            <a:tbl>
              <a:tblPr firstRow="1">
                <a:tableStyleId>{BC89EF96-8CEA-46FF-86C4-4CE0E7609802}</a:tableStyleId>
              </a:tblPr>
              <a:tblGrid>
                <a:gridCol w="1514899">
                  <a:extLst>
                    <a:ext uri="{9D8B030D-6E8A-4147-A177-3AD203B41FA5}">
                      <a16:colId xmlns:a16="http://schemas.microsoft.com/office/drawing/2014/main" val="20000"/>
                    </a:ext>
                  </a:extLst>
                </a:gridCol>
                <a:gridCol w="9198101">
                  <a:extLst>
                    <a:ext uri="{9D8B030D-6E8A-4147-A177-3AD203B41FA5}">
                      <a16:colId xmlns:a16="http://schemas.microsoft.com/office/drawing/2014/main" val="20001"/>
                    </a:ext>
                  </a:extLst>
                </a:gridCol>
              </a:tblGrid>
              <a:tr h="347587">
                <a:tc>
                  <a:txBody>
                    <a:bodyPr/>
                    <a:lstStyle/>
                    <a:p>
                      <a:pPr algn="ctr" latinLnBrk="1"/>
                      <a:r>
                        <a:rPr lang="ko-KR" altLang="en-US" sz="1200" dirty="0" err="1"/>
                        <a:t>선사용권</a:t>
                      </a:r>
                      <a:endParaRPr lang="ko-KR" altLang="en-US" sz="1200" dirty="0"/>
                    </a:p>
                  </a:txBody>
                  <a:tcPr marL="121920" marR="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ko-KR" altLang="en-US" sz="1200" dirty="0"/>
                        <a:t>내 용</a:t>
                      </a:r>
                    </a:p>
                  </a:txBody>
                  <a:tcPr marL="121920" marR="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931154">
                <a:tc>
                  <a:txBody>
                    <a:bodyPr/>
                    <a:lstStyle/>
                    <a:p>
                      <a:pPr algn="ctr" latinLnBrk="1"/>
                      <a:r>
                        <a:rPr lang="ko-KR" altLang="en-US" sz="1200" dirty="0"/>
                        <a:t>의의 및 효력</a:t>
                      </a:r>
                    </a:p>
                  </a:txBody>
                  <a:tcPr marL="121920" marR="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1" indent="0" algn="l" defTabSz="914400" rtl="0" eaLnBrk="1" fontAlgn="auto" latinLnBrk="1" hangingPunct="1">
                        <a:lnSpc>
                          <a:spcPct val="100000"/>
                        </a:lnSpc>
                        <a:spcBef>
                          <a:spcPts val="0"/>
                        </a:spcBef>
                        <a:spcAft>
                          <a:spcPts val="0"/>
                        </a:spcAft>
                        <a:buClrTx/>
                        <a:buSzTx/>
                        <a:buFontTx/>
                        <a:buNone/>
                        <a:tabLst/>
                        <a:defRPr/>
                      </a:pPr>
                      <a:r>
                        <a:rPr lang="ko-KR" altLang="ko-KR" sz="1200" dirty="0" err="1"/>
                        <a:t>선사용권이란</a:t>
                      </a:r>
                      <a:r>
                        <a:rPr lang="ko-KR" altLang="ko-KR" sz="1200" dirty="0"/>
                        <a:t> 특허출원</a:t>
                      </a:r>
                      <a:r>
                        <a:rPr lang="en-US" altLang="ko-KR" sz="1200" dirty="0"/>
                        <a:t> </a:t>
                      </a:r>
                      <a:r>
                        <a:rPr lang="ko-KR" altLang="ko-KR" sz="1200" dirty="0"/>
                        <a:t>시에 그 </a:t>
                      </a:r>
                      <a:r>
                        <a:rPr lang="ko-KR" altLang="ko-KR" sz="1200" dirty="0" err="1"/>
                        <a:t>특허출원된</a:t>
                      </a:r>
                      <a:r>
                        <a:rPr lang="ko-KR" altLang="ko-KR" sz="1200" dirty="0"/>
                        <a:t> 발명의 내용을 알지 못하고 그 발명을 하거나 그 발명을 한 </a:t>
                      </a:r>
                      <a:r>
                        <a:rPr lang="ko-KR" altLang="en-US" sz="1200" dirty="0"/>
                        <a:t>사람으로부터 알게 되어 </a:t>
                      </a:r>
                      <a:r>
                        <a:rPr lang="ko-KR" altLang="ko-KR" sz="1200" dirty="0"/>
                        <a:t>국내에서 그 발명의 실시사업 또는 그 사업준비를 하고 있는 자에게 그 실시 또는 준비를 하고 있는 발명 및 사업목적의 범위 안에서 그 </a:t>
                      </a:r>
                      <a:r>
                        <a:rPr lang="ko-KR" altLang="ko-KR" sz="1200" dirty="0" err="1"/>
                        <a:t>특허출원된</a:t>
                      </a:r>
                      <a:r>
                        <a:rPr lang="ko-KR" altLang="ko-KR" sz="1200" dirty="0"/>
                        <a:t> 발명에 대한 특허권에 대하여 인정되는 </a:t>
                      </a:r>
                      <a:r>
                        <a:rPr lang="ko-KR" altLang="ko-KR" sz="1200" dirty="0" err="1"/>
                        <a:t>통상실시권을</a:t>
                      </a:r>
                      <a:r>
                        <a:rPr lang="ko-KR" altLang="ko-KR" sz="1200" dirty="0"/>
                        <a:t> 말한다(특허법 제103조). </a:t>
                      </a:r>
                      <a:r>
                        <a:rPr lang="ko-KR" altLang="ko-KR" sz="1200" dirty="0" err="1"/>
                        <a:t>선사용권</a:t>
                      </a:r>
                      <a:r>
                        <a:rPr lang="ko-KR" altLang="en-US" sz="1200" dirty="0" err="1"/>
                        <a:t>이</a:t>
                      </a:r>
                      <a:r>
                        <a:rPr lang="ko-KR" altLang="ko-KR" sz="1200" dirty="0"/>
                        <a:t> </a:t>
                      </a:r>
                      <a:r>
                        <a:rPr lang="ko-KR" altLang="en-US" sz="1200" dirty="0"/>
                        <a:t>있</a:t>
                      </a:r>
                      <a:r>
                        <a:rPr lang="ko-KR" altLang="ko-KR" sz="1200" dirty="0"/>
                        <a:t>는 경우 특허권의 침해가 되지 않</a:t>
                      </a:r>
                      <a:r>
                        <a:rPr lang="ko-KR" altLang="en-US" sz="1200" dirty="0"/>
                        <a:t>는</a:t>
                      </a:r>
                      <a:r>
                        <a:rPr lang="ko-KR" altLang="ko-KR" sz="1200" dirty="0"/>
                        <a:t>다. </a:t>
                      </a:r>
                      <a:endParaRPr lang="en-US" altLang="ko-KR" sz="1200" dirty="0">
                        <a:latin typeface="Rix모던고딕 L" panose="02020603020101020101" pitchFamily="18" charset="-127"/>
                      </a:endParaRPr>
                    </a:p>
                  </a:txBody>
                  <a:tcPr marL="121920" marR="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517308">
                <a:tc>
                  <a:txBody>
                    <a:bodyPr/>
                    <a:lstStyle/>
                    <a:p>
                      <a:pPr algn="ctr" latinLnBrk="1"/>
                      <a:r>
                        <a:rPr lang="ko-KR" altLang="en-US" sz="1200" dirty="0"/>
                        <a:t>증명책임</a:t>
                      </a:r>
                    </a:p>
                  </a:txBody>
                  <a:tcPr marL="121920" marR="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indent="0">
                        <a:defRPr/>
                      </a:pPr>
                      <a:r>
                        <a:rPr lang="ko-KR" altLang="ko-KR" sz="1200" dirty="0"/>
                        <a:t>특허권자(乙)의 출원시에 제3자(甲)</a:t>
                      </a:r>
                      <a:r>
                        <a:rPr lang="ko-KR" altLang="en-US" sz="1200" dirty="0"/>
                        <a:t>가</a:t>
                      </a:r>
                      <a:r>
                        <a:rPr lang="ko-KR" altLang="ko-KR" sz="1200" dirty="0"/>
                        <a:t> 국내에서 선의로 실시사업 또는 사업준비를 하고 있는 경우에만 선사용권이 발생하</a:t>
                      </a:r>
                      <a:r>
                        <a:rPr lang="ko-KR" altLang="en-US" sz="1200" dirty="0"/>
                        <a:t>는데</a:t>
                      </a:r>
                      <a:r>
                        <a:rPr lang="ko-KR" altLang="ko-KR" sz="1200" dirty="0"/>
                        <a:t>, 이는 제3자가 </a:t>
                      </a:r>
                      <a:r>
                        <a:rPr lang="ko-KR" altLang="en-US" sz="1200" dirty="0"/>
                        <a:t>증명을</a:t>
                      </a:r>
                      <a:r>
                        <a:rPr lang="ko-KR" altLang="ko-KR" sz="1200" dirty="0"/>
                        <a:t> 해야 한다. </a:t>
                      </a:r>
                      <a:endParaRPr lang="ko-KR" altLang="en-US" sz="1200" dirty="0"/>
                    </a:p>
                  </a:txBody>
                  <a:tcPr marL="121920" marR="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724231">
                <a:tc>
                  <a:txBody>
                    <a:bodyPr/>
                    <a:lstStyle/>
                    <a:p>
                      <a:pPr algn="ctr" latinLnBrk="1"/>
                      <a:r>
                        <a:rPr lang="ko-KR" altLang="en-US" sz="1200" dirty="0"/>
                        <a:t>증명방법</a:t>
                      </a:r>
                    </a:p>
                  </a:txBody>
                  <a:tcPr marL="121920" marR="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71450" marR="0" lvl="1" indent="-171450" algn="l" defTabSz="914400" rtl="0" eaLnBrk="1" fontAlgn="auto" latinLnBrk="1" hangingPunct="1">
                        <a:lnSpc>
                          <a:spcPct val="100000"/>
                        </a:lnSpc>
                        <a:spcBef>
                          <a:spcPts val="0"/>
                        </a:spcBef>
                        <a:spcAft>
                          <a:spcPts val="0"/>
                        </a:spcAft>
                        <a:buClrTx/>
                        <a:buSzTx/>
                        <a:buFont typeface="Wingdings" pitchFamily="2" charset="2"/>
                        <a:buChar char="§"/>
                        <a:tabLst/>
                        <a:defRPr/>
                      </a:pPr>
                      <a:r>
                        <a:rPr lang="ko-KR" altLang="en-US" sz="1200" dirty="0"/>
                        <a:t>기술관련서류</a:t>
                      </a:r>
                      <a:r>
                        <a:rPr lang="en-US" altLang="ko-KR" sz="1200" dirty="0"/>
                        <a:t>, </a:t>
                      </a:r>
                      <a:r>
                        <a:rPr lang="ko-KR" altLang="en-US" sz="1200" dirty="0"/>
                        <a:t>사업관련서류</a:t>
                      </a:r>
                      <a:r>
                        <a:rPr lang="en-US" altLang="ko-KR" sz="1200" dirty="0"/>
                        <a:t>, </a:t>
                      </a:r>
                      <a:r>
                        <a:rPr lang="ko-KR" altLang="en-US" sz="1200" dirty="0"/>
                        <a:t>제품</a:t>
                      </a:r>
                      <a:r>
                        <a:rPr lang="en-US" altLang="ko-KR" sz="1200" dirty="0"/>
                        <a:t>, </a:t>
                      </a:r>
                      <a:r>
                        <a:rPr lang="ko-KR" altLang="en-US" sz="1200" dirty="0"/>
                        <a:t>영상 등을 잘 관리</a:t>
                      </a:r>
                      <a:endParaRPr lang="en-US" altLang="ko-KR" sz="1200" dirty="0"/>
                    </a:p>
                    <a:p>
                      <a:pPr marL="171450" marR="0" lvl="1" indent="-171450" algn="l" defTabSz="914400" rtl="0" eaLnBrk="1" fontAlgn="auto" latinLnBrk="1" hangingPunct="1">
                        <a:lnSpc>
                          <a:spcPct val="100000"/>
                        </a:lnSpc>
                        <a:spcBef>
                          <a:spcPts val="0"/>
                        </a:spcBef>
                        <a:spcAft>
                          <a:spcPts val="0"/>
                        </a:spcAft>
                        <a:buClrTx/>
                        <a:buSzTx/>
                        <a:buFont typeface="Wingdings" pitchFamily="2" charset="2"/>
                        <a:buChar char="§"/>
                        <a:tabLst/>
                        <a:defRPr/>
                      </a:pPr>
                      <a:r>
                        <a:rPr lang="ko-KR" altLang="en-US" sz="1200" dirty="0"/>
                        <a:t>공증사무소의 공증 활용</a:t>
                      </a:r>
                      <a:endParaRPr lang="en-US" altLang="ko-KR" sz="1200" dirty="0"/>
                    </a:p>
                    <a:p>
                      <a:pPr marL="171450" marR="0" lvl="1" indent="-171450" algn="l" defTabSz="914400" rtl="0" eaLnBrk="1" fontAlgn="auto" latinLnBrk="1" hangingPunct="1">
                        <a:lnSpc>
                          <a:spcPct val="100000"/>
                        </a:lnSpc>
                        <a:spcBef>
                          <a:spcPts val="0"/>
                        </a:spcBef>
                        <a:spcAft>
                          <a:spcPts val="0"/>
                        </a:spcAft>
                        <a:buClrTx/>
                        <a:buSzTx/>
                        <a:buFont typeface="Wingdings" pitchFamily="2" charset="2"/>
                        <a:buChar char="§"/>
                        <a:tabLst/>
                        <a:defRPr/>
                      </a:pPr>
                      <a:r>
                        <a:rPr lang="ko-KR" altLang="en-US" sz="1200" dirty="0"/>
                        <a:t>영업비밀 원본 증명 서비스 제도 활용</a:t>
                      </a:r>
                      <a:r>
                        <a:rPr lang="en-US" altLang="ko-KR" sz="1200" dirty="0"/>
                        <a:t>(</a:t>
                      </a:r>
                      <a:r>
                        <a:rPr lang="ko-KR" altLang="en-US" sz="1200" dirty="0"/>
                        <a:t>영업비밀보호센터 </a:t>
                      </a:r>
                      <a:r>
                        <a:rPr lang="en-US" altLang="ko-KR" sz="1200" dirty="0"/>
                        <a:t>www.tradesecret</a:t>
                      </a:r>
                      <a:r>
                        <a:rPr lang="en-US" altLang="ko-KR" sz="1200" baseline="0" dirty="0"/>
                        <a:t>.co.kr)</a:t>
                      </a:r>
                      <a:endParaRPr lang="ko-KR" altLang="en-US" sz="1200" dirty="0"/>
                    </a:p>
                  </a:txBody>
                  <a:tcPr marL="121920" marR="12192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35" name="Rectangle 5"/>
          <p:cNvSpPr>
            <a:spLocks noChangeArrowheads="1"/>
          </p:cNvSpPr>
          <p:nvPr/>
        </p:nvSpPr>
        <p:spPr bwMode="auto">
          <a:xfrm>
            <a:off x="195260" y="1254031"/>
            <a:ext cx="1481140"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err="1">
                <a:solidFill>
                  <a:schemeClr val="bg1"/>
                </a:solidFill>
                <a:latin typeface="+mj-ea"/>
                <a:ea typeface="+mj-ea"/>
              </a:rPr>
              <a:t>선사용권</a:t>
            </a:r>
            <a:endParaRPr lang="ko-KR" altLang="en-US" sz="1600" b="0" dirty="0">
              <a:solidFill>
                <a:schemeClr val="bg1"/>
              </a:solidFill>
              <a:latin typeface="+mj-ea"/>
              <a:ea typeface="+mj-ea"/>
            </a:endParaRPr>
          </a:p>
        </p:txBody>
      </p:sp>
      <p:sp>
        <p:nvSpPr>
          <p:cNvPr id="2" name="슬라이드 번호 개체 틀 1"/>
          <p:cNvSpPr>
            <a:spLocks noGrp="1"/>
          </p:cNvSpPr>
          <p:nvPr>
            <p:ph type="sldNum" sz="quarter" idx="12"/>
          </p:nvPr>
        </p:nvSpPr>
        <p:spPr/>
        <p:txBody>
          <a:bodyPr/>
          <a:lstStyle/>
          <a:p>
            <a:fld id="{3875FC6C-1516-4DC4-8C58-3090F7D4F003}" type="slidenum">
              <a:rPr lang="ko-KR" altLang="en-US" smtClean="0"/>
              <a:t>19</a:t>
            </a:fld>
            <a:endParaRPr lang="ko-KR" altLang="en-US"/>
          </a:p>
        </p:txBody>
      </p:sp>
    </p:spTree>
    <p:extLst>
      <p:ext uri="{BB962C8B-B14F-4D97-AF65-F5344CB8AC3E}">
        <p14:creationId xmlns:p14="http://schemas.microsoft.com/office/powerpoint/2010/main" val="27674964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발명의 보호전략</a:t>
            </a:r>
            <a:r>
              <a:rPr lang="en-US" altLang="ko-KR" dirty="0"/>
              <a:t>: </a:t>
            </a:r>
            <a:r>
              <a:rPr lang="ko-KR" altLang="en-US" dirty="0"/>
              <a:t>노하우</a:t>
            </a:r>
          </a:p>
        </p:txBody>
      </p:sp>
      <p:sp>
        <p:nvSpPr>
          <p:cNvPr id="19" name="Rectangle 5"/>
          <p:cNvSpPr>
            <a:spLocks noChangeArrowheads="1"/>
          </p:cNvSpPr>
          <p:nvPr/>
        </p:nvSpPr>
        <p:spPr bwMode="auto">
          <a:xfrm>
            <a:off x="195259" y="1075478"/>
            <a:ext cx="3321663"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a:solidFill>
                  <a:schemeClr val="bg1"/>
                </a:solidFill>
                <a:latin typeface="+mj-ea"/>
                <a:ea typeface="+mj-ea"/>
              </a:rPr>
              <a:t>영업비밀원본서비스 증명제도 활용</a:t>
            </a:r>
          </a:p>
        </p:txBody>
      </p:sp>
      <p:sp>
        <p:nvSpPr>
          <p:cNvPr id="5" name="Rectangle 7"/>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2" name="슬라이드 번호 개체 틀 1"/>
          <p:cNvSpPr>
            <a:spLocks noGrp="1"/>
          </p:cNvSpPr>
          <p:nvPr>
            <p:ph type="sldNum" sz="quarter" idx="12"/>
          </p:nvPr>
        </p:nvSpPr>
        <p:spPr/>
        <p:txBody>
          <a:bodyPr/>
          <a:lstStyle/>
          <a:p>
            <a:fld id="{3875FC6C-1516-4DC4-8C58-3090F7D4F003}" type="slidenum">
              <a:rPr lang="ko-KR" altLang="en-US" smtClean="0"/>
              <a:t>20</a:t>
            </a:fld>
            <a:endParaRPr lang="ko-KR" altLang="en-US"/>
          </a:p>
        </p:txBody>
      </p:sp>
      <p:sp>
        <p:nvSpPr>
          <p:cNvPr id="6" name="Rectangle 2"/>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cxnSp>
        <p:nvCxnSpPr>
          <p:cNvPr id="8" name="직선 연결선 7">
            <a:extLst>
              <a:ext uri="{FF2B5EF4-FFF2-40B4-BE49-F238E27FC236}">
                <a16:creationId xmlns:a16="http://schemas.microsoft.com/office/drawing/2014/main" id="{9292AAF5-F412-410F-B7ED-CE608F79ED43}"/>
              </a:ext>
            </a:extLst>
          </p:cNvPr>
          <p:cNvCxnSpPr>
            <a:cxnSpLocks/>
          </p:cNvCxnSpPr>
          <p:nvPr/>
        </p:nvCxnSpPr>
        <p:spPr>
          <a:xfrm>
            <a:off x="259079" y="3890815"/>
            <a:ext cx="11763923" cy="0"/>
          </a:xfrm>
          <a:prstGeom prst="line">
            <a:avLst/>
          </a:prstGeom>
          <a:ln w="38100">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pic>
        <p:nvPicPr>
          <p:cNvPr id="7" name="Picture 2">
            <a:extLst>
              <a:ext uri="{FF2B5EF4-FFF2-40B4-BE49-F238E27FC236}">
                <a16:creationId xmlns:a16="http://schemas.microsoft.com/office/drawing/2014/main" id="{60078AF9-68B8-DF4A-9AE1-CCE58CDBA2D8}"/>
              </a:ext>
            </a:extLst>
          </p:cNvPr>
          <p:cNvPicPr>
            <a:picLocks noChangeAspect="1"/>
          </p:cNvPicPr>
          <p:nvPr/>
        </p:nvPicPr>
        <p:blipFill rotWithShape="1">
          <a:blip r:embed="rId3"/>
          <a:srcRect l="13072" t="13629" r="12992" b="12778"/>
          <a:stretch/>
        </p:blipFill>
        <p:spPr>
          <a:xfrm>
            <a:off x="2456509" y="1569830"/>
            <a:ext cx="7278981" cy="2257614"/>
          </a:xfrm>
          <a:prstGeom prst="rect">
            <a:avLst/>
          </a:prstGeom>
          <a:noFill/>
          <a:ln>
            <a:noFill/>
          </a:ln>
          <a:effectLst/>
        </p:spPr>
      </p:pic>
      <p:pic>
        <p:nvPicPr>
          <p:cNvPr id="10" name="Picture 4">
            <a:extLst>
              <a:ext uri="{FF2B5EF4-FFF2-40B4-BE49-F238E27FC236}">
                <a16:creationId xmlns:a16="http://schemas.microsoft.com/office/drawing/2014/main" id="{4E8B5CAB-8177-9BB2-D11C-553537444575}"/>
              </a:ext>
            </a:extLst>
          </p:cNvPr>
          <p:cNvPicPr>
            <a:picLocks noChangeAspect="1"/>
          </p:cNvPicPr>
          <p:nvPr/>
        </p:nvPicPr>
        <p:blipFill rotWithShape="1">
          <a:blip r:embed="rId4"/>
          <a:srcRect t="55152"/>
          <a:stretch/>
        </p:blipFill>
        <p:spPr>
          <a:xfrm>
            <a:off x="6353369" y="4104170"/>
            <a:ext cx="5579547" cy="2684775"/>
          </a:xfrm>
          <a:prstGeom prst="rect">
            <a:avLst/>
          </a:prstGeom>
          <a:noFill/>
          <a:ln>
            <a:noFill/>
          </a:ln>
          <a:effectLst/>
        </p:spPr>
      </p:pic>
      <p:pic>
        <p:nvPicPr>
          <p:cNvPr id="11" name="Picture 4">
            <a:extLst>
              <a:ext uri="{FF2B5EF4-FFF2-40B4-BE49-F238E27FC236}">
                <a16:creationId xmlns:a16="http://schemas.microsoft.com/office/drawing/2014/main" id="{D52D5907-2053-046D-C186-677E59799117}"/>
              </a:ext>
            </a:extLst>
          </p:cNvPr>
          <p:cNvPicPr>
            <a:picLocks noChangeAspect="1"/>
          </p:cNvPicPr>
          <p:nvPr/>
        </p:nvPicPr>
        <p:blipFill rotWithShape="1">
          <a:blip r:embed="rId4"/>
          <a:srcRect b="51405"/>
          <a:stretch/>
        </p:blipFill>
        <p:spPr>
          <a:xfrm>
            <a:off x="259079" y="4092450"/>
            <a:ext cx="5711011" cy="2696495"/>
          </a:xfrm>
          <a:prstGeom prst="rect">
            <a:avLst/>
          </a:prstGeom>
          <a:noFill/>
          <a:ln>
            <a:noFill/>
          </a:ln>
          <a:effectLst/>
        </p:spPr>
      </p:pic>
      <p:sp>
        <p:nvSpPr>
          <p:cNvPr id="14" name="직사각형 13">
            <a:extLst>
              <a:ext uri="{FF2B5EF4-FFF2-40B4-BE49-F238E27FC236}">
                <a16:creationId xmlns:a16="http://schemas.microsoft.com/office/drawing/2014/main" id="{D3FADB18-529F-86A8-E0C2-7AFF88B6B289}"/>
              </a:ext>
            </a:extLst>
          </p:cNvPr>
          <p:cNvSpPr/>
          <p:nvPr/>
        </p:nvSpPr>
        <p:spPr>
          <a:xfrm>
            <a:off x="6353369" y="4372824"/>
            <a:ext cx="2835898" cy="1285592"/>
          </a:xfrm>
          <a:prstGeom prst="rect">
            <a:avLst/>
          </a:prstGeom>
          <a:noFill/>
          <a:ln w="571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9858561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발명의 보호전략</a:t>
            </a:r>
            <a:r>
              <a:rPr lang="en-US" altLang="ko-KR" dirty="0"/>
              <a:t>: </a:t>
            </a:r>
            <a:r>
              <a:rPr lang="ko-KR" altLang="en-US" dirty="0"/>
              <a:t>노하우</a:t>
            </a:r>
          </a:p>
        </p:txBody>
      </p:sp>
      <p:sp>
        <p:nvSpPr>
          <p:cNvPr id="5" name="Rectangle 7"/>
          <p:cNvSpPr>
            <a:spLocks noChangeArrowheads="1"/>
          </p:cNvSpPr>
          <p:nvPr/>
        </p:nvSpPr>
        <p:spPr bwMode="auto">
          <a:xfrm>
            <a:off x="0" y="0"/>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ko-KR" altLang="en-US"/>
          </a:p>
        </p:txBody>
      </p:sp>
      <p:sp>
        <p:nvSpPr>
          <p:cNvPr id="9" name="TextBox 8"/>
          <p:cNvSpPr txBox="1"/>
          <p:nvPr/>
        </p:nvSpPr>
        <p:spPr>
          <a:xfrm>
            <a:off x="77875" y="986046"/>
            <a:ext cx="11936323" cy="738664"/>
          </a:xfrm>
          <a:prstGeom prst="rect">
            <a:avLst/>
          </a:prstGeom>
          <a:noFill/>
        </p:spPr>
        <p:txBody>
          <a:bodyPr wrap="square" rtlCol="0">
            <a:spAutoFit/>
          </a:bodyPr>
          <a:lstStyle/>
          <a:p>
            <a:pPr fontAlgn="base"/>
            <a:r>
              <a:rPr lang="ko-KR" altLang="en-US" sz="1400" dirty="0">
                <a:solidFill>
                  <a:schemeClr val="tx2"/>
                </a:solidFill>
              </a:rPr>
              <a:t>영업비밀이란 공연히 알려져 있지 아니하고 독립된 경제적 가치를 가지는 것으로서</a:t>
            </a:r>
            <a:r>
              <a:rPr lang="en-US" altLang="ko-KR" sz="1400" dirty="0">
                <a:solidFill>
                  <a:schemeClr val="tx2"/>
                </a:solidFill>
              </a:rPr>
              <a:t>, </a:t>
            </a:r>
            <a:r>
              <a:rPr lang="ko-KR" altLang="en-US" sz="1400" dirty="0">
                <a:solidFill>
                  <a:schemeClr val="tx2"/>
                </a:solidFill>
              </a:rPr>
              <a:t>비밀로 관리된 생산방법</a:t>
            </a:r>
            <a:r>
              <a:rPr lang="en-US" altLang="ko-KR" sz="1400" dirty="0">
                <a:solidFill>
                  <a:schemeClr val="tx2"/>
                </a:solidFill>
              </a:rPr>
              <a:t>, </a:t>
            </a:r>
            <a:r>
              <a:rPr lang="ko-KR" altLang="en-US" sz="1400" dirty="0">
                <a:solidFill>
                  <a:schemeClr val="tx2"/>
                </a:solidFill>
              </a:rPr>
              <a:t>판매방법 기타 영업활동에 유용한 기술상 또는 경영상의 정보를 말한다</a:t>
            </a:r>
            <a:r>
              <a:rPr lang="en-US" altLang="ko-KR" sz="1400" dirty="0">
                <a:solidFill>
                  <a:schemeClr val="tx2"/>
                </a:solidFill>
              </a:rPr>
              <a:t>(</a:t>
            </a:r>
            <a:r>
              <a:rPr lang="ko-KR" altLang="en-US" sz="1400" dirty="0" err="1">
                <a:solidFill>
                  <a:schemeClr val="tx2"/>
                </a:solidFill>
              </a:rPr>
              <a:t>부정경쟁방지및영업비밀보호에관한법률</a:t>
            </a:r>
            <a:r>
              <a:rPr lang="ko-KR" altLang="en-US" sz="1400" dirty="0">
                <a:solidFill>
                  <a:schemeClr val="tx2"/>
                </a:solidFill>
              </a:rPr>
              <a:t> 제</a:t>
            </a:r>
            <a:r>
              <a:rPr lang="en-US" altLang="ko-KR" sz="1400" dirty="0">
                <a:solidFill>
                  <a:schemeClr val="tx2"/>
                </a:solidFill>
              </a:rPr>
              <a:t>2</a:t>
            </a:r>
            <a:r>
              <a:rPr lang="ko-KR" altLang="en-US" sz="1400" dirty="0">
                <a:solidFill>
                  <a:schemeClr val="tx2"/>
                </a:solidFill>
              </a:rPr>
              <a:t>조 제</a:t>
            </a:r>
            <a:r>
              <a:rPr lang="en-US" altLang="ko-KR" sz="1400" dirty="0">
                <a:solidFill>
                  <a:schemeClr val="tx2"/>
                </a:solidFill>
              </a:rPr>
              <a:t>2</a:t>
            </a:r>
            <a:r>
              <a:rPr lang="ko-KR" altLang="en-US" sz="1400" dirty="0">
                <a:solidFill>
                  <a:schemeClr val="tx2"/>
                </a:solidFill>
              </a:rPr>
              <a:t>호</a:t>
            </a:r>
            <a:r>
              <a:rPr lang="en-US" altLang="ko-KR" sz="1400" dirty="0">
                <a:solidFill>
                  <a:schemeClr val="tx2"/>
                </a:solidFill>
              </a:rPr>
              <a:t>). </a:t>
            </a:r>
            <a:r>
              <a:rPr lang="ko-KR" altLang="en-US" sz="1400" dirty="0">
                <a:solidFill>
                  <a:schemeClr val="tx2"/>
                </a:solidFill>
              </a:rPr>
              <a:t>영업비밀은 영업상의 이익 또는 사실상의 자산으로 이해되고 있으나</a:t>
            </a:r>
            <a:r>
              <a:rPr lang="en-US" altLang="ko-KR" sz="1400" dirty="0">
                <a:solidFill>
                  <a:schemeClr val="tx2"/>
                </a:solidFill>
              </a:rPr>
              <a:t>, </a:t>
            </a:r>
            <a:r>
              <a:rPr lang="ko-KR" altLang="en-US" sz="1400" dirty="0">
                <a:solidFill>
                  <a:schemeClr val="tx2"/>
                </a:solidFill>
                <a:highlight>
                  <a:srgbClr val="FFFF00"/>
                </a:highlight>
              </a:rPr>
              <a:t>공개의 대가로 배타적 권리를 부여하는 것이 아니고 공시제도가 존재하는 것도 아니므로 물권 또는 산업재산권과 같은 권리성은 인정되지 않는다</a:t>
            </a:r>
            <a:r>
              <a:rPr lang="en-US" altLang="ko-KR" sz="1400" dirty="0">
                <a:solidFill>
                  <a:schemeClr val="tx2"/>
                </a:solidFill>
                <a:highlight>
                  <a:srgbClr val="FFFF00"/>
                </a:highlight>
              </a:rPr>
              <a:t>.</a:t>
            </a:r>
            <a:endParaRPr lang="ko-KR" altLang="en-US" sz="1400" dirty="0">
              <a:solidFill>
                <a:schemeClr val="tx2"/>
              </a:solidFill>
              <a:highlight>
                <a:srgbClr val="FFFF00"/>
              </a:highlight>
            </a:endParaRPr>
          </a:p>
        </p:txBody>
      </p:sp>
      <p:cxnSp>
        <p:nvCxnSpPr>
          <p:cNvPr id="10" name="직선 연결선 9"/>
          <p:cNvCxnSpPr/>
          <p:nvPr/>
        </p:nvCxnSpPr>
        <p:spPr>
          <a:xfrm>
            <a:off x="0" y="1726698"/>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1" name="Group 66"/>
          <p:cNvGraphicFramePr>
            <a:graphicFrameLocks noGrp="1"/>
          </p:cNvGraphicFramePr>
          <p:nvPr>
            <p:extLst>
              <p:ext uri="{D42A27DB-BD31-4B8C-83A1-F6EECF244321}">
                <p14:modId xmlns:p14="http://schemas.microsoft.com/office/powerpoint/2010/main" val="2593805694"/>
              </p:ext>
            </p:extLst>
          </p:nvPr>
        </p:nvGraphicFramePr>
        <p:xfrm>
          <a:off x="431371" y="2562227"/>
          <a:ext cx="5216954" cy="3784977"/>
        </p:xfrm>
        <a:graphic>
          <a:graphicData uri="http://schemas.openxmlformats.org/drawingml/2006/table">
            <a:tbl>
              <a:tblPr firstCol="1" bandRow="1">
                <a:tableStyleId>{85BE263C-DBD7-4A20-BB59-AAB30ACAA65A}</a:tableStyleId>
              </a:tblPr>
              <a:tblGrid>
                <a:gridCol w="711629">
                  <a:extLst>
                    <a:ext uri="{9D8B030D-6E8A-4147-A177-3AD203B41FA5}">
                      <a16:colId xmlns:a16="http://schemas.microsoft.com/office/drawing/2014/main" val="20000"/>
                    </a:ext>
                  </a:extLst>
                </a:gridCol>
                <a:gridCol w="4505325">
                  <a:extLst>
                    <a:ext uri="{9D8B030D-6E8A-4147-A177-3AD203B41FA5}">
                      <a16:colId xmlns:a16="http://schemas.microsoft.com/office/drawing/2014/main" val="20001"/>
                    </a:ext>
                  </a:extLst>
                </a:gridCol>
              </a:tblGrid>
              <a:tr h="2032357">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ko-KR" altLang="en-US" sz="1400" u="none" strike="noStrike" cap="none" normalizeH="0" baseline="0" dirty="0">
                          <a:ln>
                            <a:noFill/>
                          </a:ln>
                          <a:solidFill>
                            <a:schemeClr val="tx1"/>
                          </a:solidFill>
                          <a:effectLst/>
                          <a:latin typeface="+mn-ea"/>
                          <a:ea typeface="+mn-ea"/>
                        </a:rPr>
                        <a:t>기술</a:t>
                      </a:r>
                    </a:p>
                    <a:p>
                      <a:pPr marL="0" marR="0" lvl="0" indent="0" algn="ctr" defTabSz="914400" rtl="0" eaLnBrk="0" fontAlgn="base" latinLnBrk="0" hangingPunct="0">
                        <a:lnSpc>
                          <a:spcPct val="150000"/>
                        </a:lnSpc>
                        <a:spcBef>
                          <a:spcPct val="0"/>
                        </a:spcBef>
                        <a:spcAft>
                          <a:spcPct val="0"/>
                        </a:spcAft>
                        <a:buClrTx/>
                        <a:buSzTx/>
                        <a:buFontTx/>
                        <a:buNone/>
                        <a:tabLst/>
                      </a:pPr>
                      <a:r>
                        <a:rPr kumimoji="0" lang="ko-KR" altLang="en-US" sz="1400" u="none" strike="noStrike" cap="none" normalizeH="0" baseline="0" dirty="0">
                          <a:ln>
                            <a:noFill/>
                          </a:ln>
                          <a:solidFill>
                            <a:schemeClr val="tx1"/>
                          </a:solidFill>
                          <a:effectLst/>
                          <a:latin typeface="+mn-ea"/>
                          <a:ea typeface="+mn-ea"/>
                        </a:rPr>
                        <a:t>정보</a:t>
                      </a:r>
                      <a:endParaRPr kumimoji="0" lang="ko-KR" altLang="en-US" sz="1400" b="1" i="0" u="none" strike="noStrike" cap="none" normalizeH="0" baseline="0" dirty="0">
                        <a:ln>
                          <a:noFill/>
                        </a:ln>
                        <a:solidFill>
                          <a:schemeClr val="tx1"/>
                        </a:solidFill>
                        <a:effectLst/>
                        <a:latin typeface="+mn-ea"/>
                        <a:ea typeface="+mn-ea"/>
                      </a:endParaRPr>
                    </a:p>
                  </a:txBody>
                  <a:tcPr marL="121919" marR="121919"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92075" marR="0" lvl="0" indent="-92075" algn="just" defTabSz="914400" rtl="0" eaLnBrk="1" fontAlgn="base" latinLnBrk="0" hangingPunct="1">
                        <a:lnSpc>
                          <a:spcPct val="150000"/>
                        </a:lnSpc>
                        <a:spcBef>
                          <a:spcPct val="0"/>
                        </a:spcBef>
                        <a:spcAft>
                          <a:spcPct val="0"/>
                        </a:spcAft>
                        <a:buClrTx/>
                        <a:buSzTx/>
                        <a:buFont typeface="Wingdings" pitchFamily="2" charset="2"/>
                        <a:buChar char="§"/>
                        <a:tabLst/>
                      </a:pPr>
                      <a:r>
                        <a:rPr kumimoji="0" lang="ko-KR" altLang="en-US" sz="1100" u="none" strike="noStrike" cap="none" normalizeH="0" baseline="0" dirty="0">
                          <a:ln>
                            <a:noFill/>
                          </a:ln>
                          <a:effectLst/>
                          <a:latin typeface="+mn-ea"/>
                          <a:ea typeface="+mn-ea"/>
                        </a:rPr>
                        <a:t>제조 공정</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설계 도면</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실험 데이터</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연구 리포트</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생산 방법 등</a:t>
                      </a:r>
                      <a:endParaRPr kumimoji="0" lang="en-US" altLang="ko-KR" sz="1100" u="none" strike="noStrike" cap="none" normalizeH="0" baseline="0" dirty="0">
                        <a:ln>
                          <a:noFill/>
                        </a:ln>
                        <a:effectLst/>
                        <a:latin typeface="+mn-ea"/>
                        <a:ea typeface="+mn-ea"/>
                      </a:endParaRPr>
                    </a:p>
                    <a:p>
                      <a:pPr marL="92075" marR="0" lvl="0" indent="-92075" algn="just" defTabSz="914400" rtl="0" eaLnBrk="1" fontAlgn="base" latinLnBrk="0" hangingPunct="1">
                        <a:lnSpc>
                          <a:spcPct val="150000"/>
                        </a:lnSpc>
                        <a:spcBef>
                          <a:spcPct val="0"/>
                        </a:spcBef>
                        <a:spcAft>
                          <a:spcPct val="0"/>
                        </a:spcAft>
                        <a:buClrTx/>
                        <a:buSzTx/>
                        <a:buFont typeface="Wingdings" pitchFamily="2" charset="2"/>
                        <a:buChar char="§"/>
                        <a:tabLst/>
                      </a:pPr>
                      <a:r>
                        <a:rPr kumimoji="0" lang="ko-KR" altLang="en-US" sz="1100" u="none" strike="noStrike" cap="none" normalizeH="0" baseline="0" dirty="0">
                          <a:ln>
                            <a:noFill/>
                          </a:ln>
                          <a:effectLst/>
                          <a:latin typeface="+mn-ea"/>
                          <a:ea typeface="+mn-ea"/>
                        </a:rPr>
                        <a:t>컴퓨터 프로그램</a:t>
                      </a:r>
                      <a:endParaRPr kumimoji="0" lang="en-US" altLang="ko-KR" sz="1100" u="none" strike="noStrike" cap="none" normalizeH="0" baseline="0" dirty="0">
                        <a:ln>
                          <a:noFill/>
                        </a:ln>
                        <a:effectLst/>
                        <a:latin typeface="+mn-ea"/>
                        <a:ea typeface="+mn-ea"/>
                      </a:endParaRPr>
                    </a:p>
                    <a:p>
                      <a:pPr marL="92075" marR="0" lvl="0" indent="-92075" algn="just" defTabSz="914400" rtl="0" eaLnBrk="1" fontAlgn="base" latinLnBrk="0" hangingPunct="1">
                        <a:lnSpc>
                          <a:spcPct val="150000"/>
                        </a:lnSpc>
                        <a:spcBef>
                          <a:spcPct val="0"/>
                        </a:spcBef>
                        <a:spcAft>
                          <a:spcPct val="0"/>
                        </a:spcAft>
                        <a:buClrTx/>
                        <a:buSzTx/>
                        <a:buFont typeface="Wingdings" pitchFamily="2" charset="2"/>
                        <a:buChar char="§"/>
                        <a:tabLst/>
                      </a:pPr>
                      <a:r>
                        <a:rPr kumimoji="0" lang="ko-KR" altLang="en-US" sz="1100" u="none" strike="noStrike" cap="none" normalizeH="0" baseline="0" dirty="0">
                          <a:ln>
                            <a:noFill/>
                          </a:ln>
                          <a:effectLst/>
                          <a:latin typeface="+mn-ea"/>
                          <a:ea typeface="+mn-ea"/>
                        </a:rPr>
                        <a:t>제조 시설의 배치 방법</a:t>
                      </a:r>
                      <a:endParaRPr kumimoji="0" lang="en-US" altLang="ko-KR" sz="1100" u="none" strike="noStrike" cap="none" normalizeH="0" baseline="0" dirty="0">
                        <a:ln>
                          <a:noFill/>
                        </a:ln>
                        <a:effectLst/>
                        <a:latin typeface="+mn-ea"/>
                        <a:ea typeface="+mn-ea"/>
                      </a:endParaRPr>
                    </a:p>
                    <a:p>
                      <a:pPr marL="92075" marR="0" lvl="0" indent="-92075" algn="just" defTabSz="914400" rtl="0" eaLnBrk="1" fontAlgn="base" latinLnBrk="0" hangingPunct="1">
                        <a:lnSpc>
                          <a:spcPct val="150000"/>
                        </a:lnSpc>
                        <a:spcBef>
                          <a:spcPct val="0"/>
                        </a:spcBef>
                        <a:spcAft>
                          <a:spcPct val="0"/>
                        </a:spcAft>
                        <a:buClrTx/>
                        <a:buSzTx/>
                        <a:buFont typeface="Wingdings" pitchFamily="2" charset="2"/>
                        <a:buChar char="§"/>
                        <a:tabLst/>
                      </a:pPr>
                      <a:r>
                        <a:rPr kumimoji="0" lang="ko-KR" altLang="en-US" sz="1100" u="none" strike="noStrike" cap="none" normalizeH="0" baseline="0" dirty="0">
                          <a:ln>
                            <a:noFill/>
                          </a:ln>
                          <a:effectLst/>
                          <a:latin typeface="+mn-ea"/>
                          <a:ea typeface="+mn-ea"/>
                        </a:rPr>
                        <a:t>의약품의 원료나 성분 또는 이들의 </a:t>
                      </a:r>
                      <a:r>
                        <a:rPr kumimoji="0" lang="ko-KR" altLang="en-US" sz="1100" u="none" strike="noStrike" cap="none" normalizeH="0" baseline="0" dirty="0" err="1">
                          <a:ln>
                            <a:noFill/>
                          </a:ln>
                          <a:effectLst/>
                          <a:latin typeface="+mn-ea"/>
                          <a:ea typeface="+mn-ea"/>
                        </a:rPr>
                        <a:t>배합비</a:t>
                      </a:r>
                      <a:r>
                        <a:rPr kumimoji="0" lang="ko-KR" altLang="en-US" sz="1100" u="none" strike="noStrike" cap="none" normalizeH="0" baseline="0" dirty="0">
                          <a:ln>
                            <a:noFill/>
                          </a:ln>
                          <a:effectLst/>
                          <a:latin typeface="+mn-ea"/>
                          <a:ea typeface="+mn-ea"/>
                        </a:rPr>
                        <a:t> 등의 </a:t>
                      </a:r>
                      <a:r>
                        <a:rPr kumimoji="0" lang="en-US" altLang="ko-KR" sz="1100" u="none" strike="noStrike" cap="none" normalizeH="0" baseline="0" dirty="0">
                          <a:ln>
                            <a:noFill/>
                          </a:ln>
                          <a:effectLst/>
                          <a:latin typeface="+mn-ea"/>
                          <a:ea typeface="+mn-ea"/>
                        </a:rPr>
                        <a:t>know-how</a:t>
                      </a:r>
                      <a:r>
                        <a:rPr kumimoji="0" lang="ko-KR" altLang="en-US" sz="1100" u="none" strike="noStrike" cap="none" normalizeH="0" baseline="0" dirty="0">
                          <a:ln>
                            <a:noFill/>
                          </a:ln>
                          <a:effectLst/>
                          <a:latin typeface="+mn-ea"/>
                          <a:ea typeface="+mn-ea"/>
                        </a:rPr>
                        <a:t>로 효능이 높은 특수약품을 제조하는 방법</a:t>
                      </a:r>
                      <a:endParaRPr kumimoji="0" lang="en-US" altLang="ko-KR" sz="1100" u="none" strike="noStrike" cap="none" normalizeH="0" baseline="0" dirty="0">
                        <a:ln>
                          <a:noFill/>
                        </a:ln>
                        <a:effectLst/>
                        <a:latin typeface="+mn-ea"/>
                        <a:ea typeface="+mn-ea"/>
                      </a:endParaRPr>
                    </a:p>
                    <a:p>
                      <a:pPr marL="92075" marR="0" lvl="0" indent="-92075" algn="just" defTabSz="914400" rtl="0" eaLnBrk="1" fontAlgn="base" latinLnBrk="0" hangingPunct="1">
                        <a:lnSpc>
                          <a:spcPct val="150000"/>
                        </a:lnSpc>
                        <a:spcBef>
                          <a:spcPct val="0"/>
                        </a:spcBef>
                        <a:spcAft>
                          <a:spcPct val="0"/>
                        </a:spcAft>
                        <a:buClrTx/>
                        <a:buSzTx/>
                        <a:buFont typeface="Wingdings" pitchFamily="2" charset="2"/>
                        <a:buChar char="§"/>
                        <a:tabLst/>
                      </a:pPr>
                      <a:r>
                        <a:rPr kumimoji="0" lang="ko-KR" altLang="en-US" sz="1100" u="none" strike="noStrike" cap="none" normalizeH="0" baseline="0" dirty="0">
                          <a:ln>
                            <a:noFill/>
                          </a:ln>
                          <a:effectLst/>
                          <a:latin typeface="+mn-ea"/>
                          <a:ea typeface="+mn-ea"/>
                        </a:rPr>
                        <a:t>기능성이 있는 디자인 </a:t>
                      </a:r>
                      <a:r>
                        <a:rPr kumimoji="0" lang="en-US" altLang="ko-KR" sz="1100" u="none" strike="noStrike" cap="none" normalizeH="0" baseline="0" dirty="0">
                          <a:ln>
                            <a:noFill/>
                          </a:ln>
                          <a:effectLst/>
                          <a:latin typeface="+mn-ea"/>
                          <a:ea typeface="+mn-ea"/>
                        </a:rPr>
                        <a:t>(</a:t>
                      </a:r>
                      <a:r>
                        <a:rPr kumimoji="0" lang="ko-KR" altLang="en-US" sz="1100" u="none" strike="noStrike" cap="none" normalizeH="0" baseline="0" dirty="0">
                          <a:ln>
                            <a:noFill/>
                          </a:ln>
                          <a:effectLst/>
                          <a:latin typeface="+mn-ea"/>
                          <a:ea typeface="+mn-ea"/>
                        </a:rPr>
                        <a:t>자동차 디자인</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건축디자인 등</a:t>
                      </a:r>
                      <a:r>
                        <a:rPr kumimoji="0" lang="en-US" altLang="ko-KR" sz="1100" u="none" strike="noStrike" cap="none" normalizeH="0" baseline="0" dirty="0">
                          <a:ln>
                            <a:noFill/>
                          </a:ln>
                          <a:effectLst/>
                          <a:latin typeface="+mn-ea"/>
                          <a:ea typeface="+mn-ea"/>
                        </a:rPr>
                        <a:t>)</a:t>
                      </a:r>
                    </a:p>
                    <a:p>
                      <a:pPr marL="92075" marR="0" lvl="0" indent="-92075" algn="just" defTabSz="914400" rtl="0" eaLnBrk="1" fontAlgn="base" latinLnBrk="0" hangingPunct="1">
                        <a:lnSpc>
                          <a:spcPct val="150000"/>
                        </a:lnSpc>
                        <a:spcBef>
                          <a:spcPct val="0"/>
                        </a:spcBef>
                        <a:spcAft>
                          <a:spcPct val="0"/>
                        </a:spcAft>
                        <a:buClrTx/>
                        <a:buSzTx/>
                        <a:buFont typeface="Wingdings" pitchFamily="2" charset="2"/>
                        <a:buChar char="§"/>
                        <a:tabLst/>
                      </a:pPr>
                      <a:r>
                        <a:rPr kumimoji="0" lang="ko-KR" altLang="en-US" sz="1100" u="none" strike="noStrike" cap="none" normalizeH="0" baseline="0" dirty="0">
                          <a:ln>
                            <a:noFill/>
                          </a:ln>
                          <a:effectLst/>
                          <a:latin typeface="+mn-ea"/>
                          <a:ea typeface="+mn-ea"/>
                        </a:rPr>
                        <a:t>독특한 식료품의 맛</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향기 등에 대한 </a:t>
                      </a:r>
                      <a:r>
                        <a:rPr kumimoji="0" lang="en-US" altLang="ko-KR" sz="1100" u="none" strike="noStrike" cap="none" normalizeH="0" baseline="0" dirty="0">
                          <a:ln>
                            <a:noFill/>
                          </a:ln>
                          <a:effectLst/>
                          <a:latin typeface="+mn-ea"/>
                          <a:ea typeface="+mn-ea"/>
                        </a:rPr>
                        <a:t>know-how (</a:t>
                      </a:r>
                      <a:r>
                        <a:rPr kumimoji="0" lang="ko-KR" altLang="en-US" sz="1100" u="none" strike="noStrike" cap="none" normalizeH="0" baseline="0" dirty="0">
                          <a:ln>
                            <a:noFill/>
                          </a:ln>
                          <a:effectLst/>
                          <a:latin typeface="+mn-ea"/>
                          <a:ea typeface="+mn-ea"/>
                        </a:rPr>
                        <a:t>코카콜라 맛 등</a:t>
                      </a:r>
                      <a:r>
                        <a:rPr kumimoji="0" lang="en-US" altLang="ko-KR" sz="1100" u="none" strike="noStrike" cap="none" normalizeH="0" baseline="0" dirty="0">
                          <a:ln>
                            <a:noFill/>
                          </a:ln>
                          <a:effectLst/>
                          <a:latin typeface="+mn-ea"/>
                          <a:ea typeface="+mn-ea"/>
                        </a:rPr>
                        <a:t>).</a:t>
                      </a:r>
                      <a:endParaRPr kumimoji="0" lang="en-US" altLang="ko-KR" sz="1100" b="0" i="0" u="none" strike="noStrike" cap="none" normalizeH="0" baseline="0" dirty="0">
                        <a:ln>
                          <a:noFill/>
                        </a:ln>
                        <a:solidFill>
                          <a:schemeClr val="tx1"/>
                        </a:solidFill>
                        <a:effectLst/>
                        <a:latin typeface="+mn-ea"/>
                        <a:ea typeface="+mn-ea"/>
                      </a:endParaRPr>
                    </a:p>
                  </a:txBody>
                  <a:tcPr marL="121919" marR="121919"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752620">
                <a:tc>
                  <a:txBody>
                    <a:bodyPr/>
                    <a:lstStyle/>
                    <a:p>
                      <a:pPr marL="0" marR="0" lvl="0" indent="0" algn="ctr" defTabSz="914400" rtl="0" eaLnBrk="1" fontAlgn="base" latinLnBrk="0" hangingPunct="1">
                        <a:lnSpc>
                          <a:spcPct val="150000"/>
                        </a:lnSpc>
                        <a:spcBef>
                          <a:spcPct val="0"/>
                        </a:spcBef>
                        <a:spcAft>
                          <a:spcPct val="0"/>
                        </a:spcAft>
                        <a:buClrTx/>
                        <a:buSzTx/>
                        <a:buFontTx/>
                        <a:buNone/>
                        <a:tabLst/>
                      </a:pPr>
                      <a:r>
                        <a:rPr kumimoji="0" lang="ko-KR" altLang="en-US" sz="1400" u="none" strike="noStrike" cap="none" normalizeH="0" baseline="0" dirty="0">
                          <a:ln>
                            <a:noFill/>
                          </a:ln>
                          <a:solidFill>
                            <a:schemeClr val="tx1"/>
                          </a:solidFill>
                          <a:effectLst/>
                          <a:latin typeface="+mn-ea"/>
                          <a:ea typeface="+mn-ea"/>
                        </a:rPr>
                        <a:t>경영</a:t>
                      </a:r>
                    </a:p>
                    <a:p>
                      <a:pPr marL="0" marR="0" lvl="0" indent="0" algn="ctr" defTabSz="914400" rtl="0" eaLnBrk="0" fontAlgn="base" latinLnBrk="0" hangingPunct="0">
                        <a:lnSpc>
                          <a:spcPct val="150000"/>
                        </a:lnSpc>
                        <a:spcBef>
                          <a:spcPct val="0"/>
                        </a:spcBef>
                        <a:spcAft>
                          <a:spcPct val="0"/>
                        </a:spcAft>
                        <a:buClrTx/>
                        <a:buSzTx/>
                        <a:buFontTx/>
                        <a:buNone/>
                        <a:tabLst/>
                      </a:pPr>
                      <a:r>
                        <a:rPr kumimoji="0" lang="ko-KR" altLang="en-US" sz="1400" u="none" strike="noStrike" cap="none" normalizeH="0" baseline="0" dirty="0">
                          <a:ln>
                            <a:noFill/>
                          </a:ln>
                          <a:solidFill>
                            <a:schemeClr val="tx1"/>
                          </a:solidFill>
                          <a:effectLst/>
                          <a:latin typeface="+mn-ea"/>
                          <a:ea typeface="+mn-ea"/>
                        </a:rPr>
                        <a:t>정보</a:t>
                      </a:r>
                      <a:endParaRPr kumimoji="0" lang="ko-KR" altLang="en-US" sz="1400" b="1" i="0" u="none" strike="noStrike" cap="none" normalizeH="0" baseline="0" dirty="0">
                        <a:ln>
                          <a:noFill/>
                        </a:ln>
                        <a:solidFill>
                          <a:schemeClr val="tx1"/>
                        </a:solidFill>
                        <a:effectLst/>
                        <a:latin typeface="+mn-ea"/>
                        <a:ea typeface="+mn-ea"/>
                      </a:endParaRPr>
                    </a:p>
                  </a:txBody>
                  <a:tcPr marL="121919" marR="121919"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90488" marR="0" lvl="0" indent="-90488" algn="just" defTabSz="914400" rtl="0" eaLnBrk="1" fontAlgn="base" latinLnBrk="0" hangingPunct="1">
                        <a:lnSpc>
                          <a:spcPct val="150000"/>
                        </a:lnSpc>
                        <a:spcBef>
                          <a:spcPct val="0"/>
                        </a:spcBef>
                        <a:spcAft>
                          <a:spcPct val="0"/>
                        </a:spcAft>
                        <a:buClrTx/>
                        <a:buSzTx/>
                        <a:buFont typeface="Wingdings" pitchFamily="2" charset="2"/>
                        <a:buChar char="§"/>
                        <a:tabLst/>
                      </a:pPr>
                      <a:r>
                        <a:rPr kumimoji="0" lang="ko-KR" altLang="en-US" sz="1100" u="none" strike="noStrike" cap="none" normalizeH="0" baseline="0" dirty="0">
                          <a:ln>
                            <a:noFill/>
                          </a:ln>
                          <a:effectLst/>
                          <a:latin typeface="+mn-ea"/>
                          <a:ea typeface="+mn-ea"/>
                        </a:rPr>
                        <a:t>고객명부</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대리점명부</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거래선의 루트</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원료구입처</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신용리스트</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가격산정기준</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상품공급조건</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할인율</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판매계획</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합병계획</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신제품의 생산계획</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상품의 원가</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사원의 급여나 수당의 액수</a:t>
                      </a:r>
                      <a:r>
                        <a:rPr kumimoji="0" lang="en-US" altLang="ko-KR" sz="1100" u="none" strike="noStrike" cap="none" normalizeH="0" baseline="0" dirty="0">
                          <a:ln>
                            <a:noFill/>
                          </a:ln>
                          <a:effectLst/>
                          <a:latin typeface="+mn-ea"/>
                          <a:ea typeface="+mn-ea"/>
                        </a:rPr>
                        <a:t>, </a:t>
                      </a:r>
                      <a:r>
                        <a:rPr kumimoji="0" lang="ko-KR" altLang="en-US" sz="1100" u="none" strike="noStrike" cap="none" normalizeH="0" baseline="0" dirty="0">
                          <a:ln>
                            <a:noFill/>
                          </a:ln>
                          <a:effectLst/>
                          <a:latin typeface="+mn-ea"/>
                          <a:ea typeface="+mn-ea"/>
                        </a:rPr>
                        <a:t>신입사원모집방법 등</a:t>
                      </a:r>
                      <a:endParaRPr kumimoji="0" lang="en-US" altLang="ko-KR" sz="1100" u="none" strike="noStrike" cap="none" normalizeH="0" baseline="0" dirty="0">
                        <a:ln>
                          <a:noFill/>
                        </a:ln>
                        <a:effectLst/>
                        <a:latin typeface="+mn-ea"/>
                        <a:ea typeface="+mn-ea"/>
                      </a:endParaRPr>
                    </a:p>
                    <a:p>
                      <a:pPr marL="90488" marR="0" lvl="0" indent="-90488" algn="just" defTabSz="914400" rtl="0" eaLnBrk="1" fontAlgn="base" latinLnBrk="0" hangingPunct="1">
                        <a:lnSpc>
                          <a:spcPct val="150000"/>
                        </a:lnSpc>
                        <a:spcBef>
                          <a:spcPct val="0"/>
                        </a:spcBef>
                        <a:spcAft>
                          <a:spcPct val="0"/>
                        </a:spcAft>
                        <a:buClrTx/>
                        <a:buSzTx/>
                        <a:buFont typeface="Wingdings" pitchFamily="2" charset="2"/>
                        <a:buChar char="§"/>
                        <a:tabLst/>
                      </a:pPr>
                      <a:r>
                        <a:rPr kumimoji="0" lang="ko-KR" altLang="en-US" sz="1100" u="none" strike="noStrike" cap="none" normalizeH="0" baseline="0" dirty="0">
                          <a:ln>
                            <a:noFill/>
                          </a:ln>
                          <a:effectLst/>
                          <a:latin typeface="+mn-ea"/>
                          <a:ea typeface="+mn-ea"/>
                        </a:rPr>
                        <a:t>특정상품에 대한 고객의 성별</a:t>
                      </a:r>
                      <a:r>
                        <a:rPr kumimoji="0" lang="en-US" altLang="ko-KR" sz="1100" u="none" strike="noStrike" cap="none" normalizeH="0" baseline="0" dirty="0">
                          <a:ln>
                            <a:noFill/>
                          </a:ln>
                          <a:effectLst/>
                          <a:latin typeface="+mn-ea"/>
                          <a:ea typeface="+mn-ea"/>
                        </a:rPr>
                        <a:t>·</a:t>
                      </a:r>
                      <a:r>
                        <a:rPr kumimoji="0" lang="ko-KR" altLang="en-US" sz="1100" u="none" strike="noStrike" cap="none" normalizeH="0" baseline="0" dirty="0">
                          <a:ln>
                            <a:noFill/>
                          </a:ln>
                          <a:effectLst/>
                          <a:latin typeface="+mn-ea"/>
                          <a:ea typeface="+mn-ea"/>
                        </a:rPr>
                        <a:t>연령별</a:t>
                      </a:r>
                      <a:r>
                        <a:rPr kumimoji="0" lang="en-US" altLang="ko-KR" sz="1100" u="none" strike="noStrike" cap="none" normalizeH="0" baseline="0" dirty="0">
                          <a:ln>
                            <a:noFill/>
                          </a:ln>
                          <a:effectLst/>
                          <a:latin typeface="+mn-ea"/>
                          <a:ea typeface="+mn-ea"/>
                        </a:rPr>
                        <a:t>·</a:t>
                      </a:r>
                      <a:r>
                        <a:rPr kumimoji="0" lang="ko-KR" altLang="en-US" sz="1100" u="none" strike="noStrike" cap="none" normalizeH="0" baseline="0" dirty="0">
                          <a:ln>
                            <a:noFill/>
                          </a:ln>
                          <a:effectLst/>
                          <a:latin typeface="+mn-ea"/>
                          <a:ea typeface="+mn-ea"/>
                        </a:rPr>
                        <a:t>직업별</a:t>
                      </a:r>
                      <a:r>
                        <a:rPr kumimoji="0" lang="en-US" altLang="ko-KR" sz="1100" u="none" strike="noStrike" cap="none" normalizeH="0" baseline="0" dirty="0">
                          <a:ln>
                            <a:noFill/>
                          </a:ln>
                          <a:effectLst/>
                          <a:latin typeface="+mn-ea"/>
                          <a:ea typeface="+mn-ea"/>
                        </a:rPr>
                        <a:t>·</a:t>
                      </a:r>
                      <a:r>
                        <a:rPr kumimoji="0" lang="ko-KR" altLang="en-US" sz="1100" u="none" strike="noStrike" cap="none" normalizeH="0" baseline="0" dirty="0">
                          <a:ln>
                            <a:noFill/>
                          </a:ln>
                          <a:effectLst/>
                          <a:latin typeface="+mn-ea"/>
                          <a:ea typeface="+mn-ea"/>
                        </a:rPr>
                        <a:t>소득수준별</a:t>
                      </a:r>
                      <a:r>
                        <a:rPr kumimoji="0" lang="en-US" altLang="ko-KR" sz="1100" u="none" strike="noStrike" cap="none" normalizeH="0" baseline="0" dirty="0">
                          <a:ln>
                            <a:noFill/>
                          </a:ln>
                          <a:effectLst/>
                          <a:latin typeface="+mn-ea"/>
                          <a:ea typeface="+mn-ea"/>
                        </a:rPr>
                        <a:t>·</a:t>
                      </a:r>
                      <a:r>
                        <a:rPr kumimoji="0" lang="ko-KR" altLang="en-US" sz="1100" u="none" strike="noStrike" cap="none" normalizeH="0" baseline="0" dirty="0">
                          <a:ln>
                            <a:noFill/>
                          </a:ln>
                          <a:effectLst/>
                          <a:latin typeface="+mn-ea"/>
                          <a:ea typeface="+mn-ea"/>
                        </a:rPr>
                        <a:t>계절별 소비성향과 향후 소비추이를 예측할 수 있는 지표설정 등에 필요한 정보활동</a:t>
                      </a:r>
                      <a:r>
                        <a:rPr kumimoji="0" lang="en-US" altLang="ko-KR" sz="1100" u="none" strike="noStrike" cap="none" normalizeH="0" baseline="0" dirty="0">
                          <a:ln>
                            <a:noFill/>
                          </a:ln>
                          <a:effectLst/>
                          <a:latin typeface="+mn-ea"/>
                          <a:ea typeface="+mn-ea"/>
                        </a:rPr>
                        <a:t>·</a:t>
                      </a:r>
                      <a:r>
                        <a:rPr kumimoji="0" lang="ko-KR" altLang="en-US" sz="1100" u="none" strike="noStrike" cap="none" normalizeH="0" baseline="0" dirty="0">
                          <a:ln>
                            <a:noFill/>
                          </a:ln>
                          <a:effectLst/>
                          <a:latin typeface="+mn-ea"/>
                          <a:ea typeface="+mn-ea"/>
                        </a:rPr>
                        <a:t>마케팅활동 등에 관한 각종 </a:t>
                      </a:r>
                      <a:r>
                        <a:rPr kumimoji="0" lang="ko-KR" altLang="en-US" sz="1100" u="none" strike="noStrike" cap="none" normalizeH="0" baseline="0" dirty="0" err="1">
                          <a:ln>
                            <a:noFill/>
                          </a:ln>
                          <a:effectLst/>
                          <a:latin typeface="+mn-ea"/>
                          <a:ea typeface="+mn-ea"/>
                        </a:rPr>
                        <a:t>매뉴얼류</a:t>
                      </a:r>
                      <a:r>
                        <a:rPr kumimoji="0" lang="ko-KR" altLang="en-US" sz="1100" u="none" strike="noStrike" cap="none" normalizeH="0" baseline="0" dirty="0">
                          <a:ln>
                            <a:noFill/>
                          </a:ln>
                          <a:effectLst/>
                          <a:latin typeface="+mn-ea"/>
                          <a:ea typeface="+mn-ea"/>
                        </a:rPr>
                        <a:t> 등</a:t>
                      </a:r>
                      <a:endParaRPr kumimoji="0" lang="ko-KR" altLang="en-US" sz="1100" b="0" i="0" u="none" strike="noStrike" cap="none" normalizeH="0" baseline="0" dirty="0">
                        <a:ln>
                          <a:noFill/>
                        </a:ln>
                        <a:solidFill>
                          <a:schemeClr val="tx1"/>
                        </a:solidFill>
                        <a:effectLst/>
                        <a:latin typeface="+mn-ea"/>
                        <a:ea typeface="+mn-ea"/>
                      </a:endParaRPr>
                    </a:p>
                  </a:txBody>
                  <a:tcPr marL="121919" marR="121919" marT="45729" marB="45729"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12" name="다이어그램 11"/>
          <p:cNvGraphicFramePr/>
          <p:nvPr>
            <p:extLst>
              <p:ext uri="{D42A27DB-BD31-4B8C-83A1-F6EECF244321}">
                <p14:modId xmlns:p14="http://schemas.microsoft.com/office/powerpoint/2010/main" val="34762874"/>
              </p:ext>
            </p:extLst>
          </p:nvPr>
        </p:nvGraphicFramePr>
        <p:xfrm>
          <a:off x="7440149" y="2633570"/>
          <a:ext cx="4000528" cy="306386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13" name="AutoShape 300"/>
          <p:cNvSpPr>
            <a:spLocks noChangeArrowheads="1"/>
          </p:cNvSpPr>
          <p:nvPr/>
        </p:nvSpPr>
        <p:spPr bwMode="gray">
          <a:xfrm>
            <a:off x="8279681" y="2087587"/>
            <a:ext cx="2197820" cy="285750"/>
          </a:xfrm>
          <a:prstGeom prst="roundRect">
            <a:avLst>
              <a:gd name="adj" fmla="val 50000"/>
            </a:avLst>
          </a:prstGeom>
          <a:ln>
            <a:solidFill>
              <a:schemeClr val="accent4">
                <a:lumMod val="50000"/>
              </a:schemeClr>
            </a:solidFill>
            <a:headEnd/>
            <a:tailEnd/>
          </a:ln>
        </p:spPr>
        <p:style>
          <a:lnRef idx="1">
            <a:schemeClr val="accent1"/>
          </a:lnRef>
          <a:fillRef idx="3">
            <a:schemeClr val="accent1"/>
          </a:fillRef>
          <a:effectRef idx="2">
            <a:schemeClr val="accent1"/>
          </a:effectRef>
          <a:fontRef idx="minor">
            <a:schemeClr val="lt1"/>
          </a:fontRef>
        </p:style>
        <p:txBody>
          <a:bodyPr wrap="none" anchor="ctr"/>
          <a:lstStyle/>
          <a:p>
            <a:pPr algn="ctr" eaLnBrk="0" latinLnBrk="0" hangingPunct="0">
              <a:defRPr/>
            </a:pPr>
            <a:r>
              <a:rPr lang="ko-KR" altLang="en-US" sz="1600" dirty="0">
                <a:solidFill>
                  <a:schemeClr val="bg1"/>
                </a:solidFill>
                <a:latin typeface="+mj-ea"/>
                <a:ea typeface="+mj-ea"/>
              </a:rPr>
              <a:t>영업비밀의 성립요건</a:t>
            </a:r>
          </a:p>
        </p:txBody>
      </p:sp>
      <p:sp>
        <p:nvSpPr>
          <p:cNvPr id="14" name="AutoShape 300"/>
          <p:cNvSpPr>
            <a:spLocks noChangeArrowheads="1"/>
          </p:cNvSpPr>
          <p:nvPr/>
        </p:nvSpPr>
        <p:spPr bwMode="gray">
          <a:xfrm>
            <a:off x="452703" y="2087587"/>
            <a:ext cx="1661848" cy="285750"/>
          </a:xfrm>
          <a:prstGeom prst="roundRect">
            <a:avLst>
              <a:gd name="adj" fmla="val 50000"/>
            </a:avLst>
          </a:prstGeom>
          <a:solidFill>
            <a:schemeClr val="accent1"/>
          </a:solidFill>
          <a:ln>
            <a:solidFill>
              <a:schemeClr val="accent4">
                <a:lumMod val="50000"/>
              </a:schemeClr>
            </a:solidFill>
            <a:headEnd/>
            <a:tailEnd/>
          </a:ln>
        </p:spPr>
        <p:style>
          <a:lnRef idx="1">
            <a:schemeClr val="accent2"/>
          </a:lnRef>
          <a:fillRef idx="3">
            <a:schemeClr val="accent2"/>
          </a:fillRef>
          <a:effectRef idx="2">
            <a:schemeClr val="accent2"/>
          </a:effectRef>
          <a:fontRef idx="minor">
            <a:schemeClr val="lt1"/>
          </a:fontRef>
        </p:style>
        <p:txBody>
          <a:bodyPr wrap="none" anchor="ctr"/>
          <a:lstStyle/>
          <a:p>
            <a:pPr algn="ctr" eaLnBrk="0" latinLnBrk="0" hangingPunct="0">
              <a:defRPr/>
            </a:pPr>
            <a:r>
              <a:rPr lang="ko-KR" altLang="en-US" sz="1600" dirty="0">
                <a:solidFill>
                  <a:schemeClr val="bg1"/>
                </a:solidFill>
                <a:latin typeface="+mj-ea"/>
                <a:ea typeface="+mj-ea"/>
              </a:rPr>
              <a:t>영업비밀의 예시</a:t>
            </a:r>
          </a:p>
        </p:txBody>
      </p:sp>
      <p:sp>
        <p:nvSpPr>
          <p:cNvPr id="15" name="모서리가 둥근 사각형 설명선 14"/>
          <p:cNvSpPr/>
          <p:nvPr/>
        </p:nvSpPr>
        <p:spPr>
          <a:xfrm>
            <a:off x="6824464" y="5701630"/>
            <a:ext cx="4729361" cy="708695"/>
          </a:xfrm>
          <a:prstGeom prst="wedgeRoundRectCallout">
            <a:avLst>
              <a:gd name="adj1" fmla="val -11590"/>
              <a:gd name="adj2" fmla="val -102361"/>
              <a:gd name="adj3" fmla="val 16667"/>
            </a:avLst>
          </a:prstGeom>
          <a:ln>
            <a:solidFill>
              <a:schemeClr val="accent4">
                <a:lumMod val="50000"/>
              </a:schemeClr>
            </a:solidFill>
          </a:ln>
        </p:spPr>
        <p:style>
          <a:lnRef idx="2">
            <a:schemeClr val="accent3"/>
          </a:lnRef>
          <a:fillRef idx="1">
            <a:schemeClr val="lt1"/>
          </a:fillRef>
          <a:effectRef idx="0">
            <a:schemeClr val="accent3"/>
          </a:effectRef>
          <a:fontRef idx="minor">
            <a:schemeClr val="dk1"/>
          </a:fontRef>
        </p:style>
        <p:txBody>
          <a:bodyPr rtlCol="0" anchor="ctr"/>
          <a:lstStyle/>
          <a:p>
            <a:pPr marL="90488" indent="-90488">
              <a:buFont typeface="Wingdings" pitchFamily="2" charset="2"/>
              <a:buChar char="§"/>
            </a:pPr>
            <a:r>
              <a:rPr lang="ko-KR" altLang="en-US" sz="1200" dirty="0"/>
              <a:t>정보접근자의 제한조치</a:t>
            </a:r>
            <a:endParaRPr lang="en-US" altLang="ko-KR" sz="1200" dirty="0"/>
          </a:p>
          <a:p>
            <a:pPr marL="90488" indent="-90488">
              <a:buFont typeface="Wingdings" pitchFamily="2" charset="2"/>
              <a:buChar char="§"/>
            </a:pPr>
            <a:r>
              <a:rPr lang="ko-KR" altLang="en-US" sz="1200" dirty="0"/>
              <a:t>정보접근자의 비공개의무부과</a:t>
            </a:r>
            <a:endParaRPr lang="en-US" altLang="ko-KR" sz="1200" dirty="0"/>
          </a:p>
          <a:p>
            <a:pPr marL="90488" indent="-90488">
              <a:buFont typeface="Wingdings" pitchFamily="2" charset="2"/>
              <a:buChar char="§"/>
            </a:pPr>
            <a:r>
              <a:rPr lang="ko-KR" altLang="en-US" sz="1200" dirty="0" err="1"/>
              <a:t>정보접근자에게</a:t>
            </a:r>
            <a:r>
              <a:rPr lang="ko-KR" altLang="en-US" sz="1200" dirty="0"/>
              <a:t> 영업비밀인 것을 알 수 있도록 하는 조치</a:t>
            </a:r>
            <a:r>
              <a:rPr lang="en-US" altLang="ko-KR" sz="1200" dirty="0"/>
              <a:t>(</a:t>
            </a:r>
            <a:r>
              <a:rPr lang="ko-KR" altLang="en-US" sz="1200" dirty="0"/>
              <a:t>대외비</a:t>
            </a:r>
            <a:r>
              <a:rPr lang="en-US" altLang="ko-KR" sz="1200" dirty="0"/>
              <a:t> </a:t>
            </a:r>
            <a:r>
              <a:rPr lang="ko-KR" altLang="en-US" sz="1200" dirty="0"/>
              <a:t>등</a:t>
            </a:r>
            <a:r>
              <a:rPr lang="en-US" altLang="ko-KR" sz="1200" dirty="0"/>
              <a:t>)</a:t>
            </a:r>
            <a:endParaRPr lang="ko-KR" altLang="en-US" sz="1200" dirty="0"/>
          </a:p>
        </p:txBody>
      </p:sp>
      <p:cxnSp>
        <p:nvCxnSpPr>
          <p:cNvPr id="16" name="직선 연결선 15"/>
          <p:cNvCxnSpPr/>
          <p:nvPr/>
        </p:nvCxnSpPr>
        <p:spPr>
          <a:xfrm>
            <a:off x="6096000" y="2085975"/>
            <a:ext cx="0" cy="4676775"/>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12"/>
          </p:nvPr>
        </p:nvSpPr>
        <p:spPr/>
        <p:txBody>
          <a:bodyPr/>
          <a:lstStyle/>
          <a:p>
            <a:fld id="{3875FC6C-1516-4DC4-8C58-3090F7D4F003}" type="slidenum">
              <a:rPr lang="ko-KR" altLang="en-US" smtClean="0"/>
              <a:t>21</a:t>
            </a:fld>
            <a:endParaRPr lang="ko-KR" altLang="en-US"/>
          </a:p>
        </p:txBody>
      </p:sp>
    </p:spTree>
    <p:extLst>
      <p:ext uri="{BB962C8B-B14F-4D97-AF65-F5344CB8AC3E}">
        <p14:creationId xmlns:p14="http://schemas.microsoft.com/office/powerpoint/2010/main" val="99813089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2</a:t>
            </a:r>
            <a:r>
              <a:rPr lang="ko-KR" altLang="en-US" dirty="0"/>
              <a:t>조</a:t>
            </a:r>
          </a:p>
        </p:txBody>
      </p:sp>
      <p:sp>
        <p:nvSpPr>
          <p:cNvPr id="4" name="텍스트 개체 틀 3"/>
          <p:cNvSpPr>
            <a:spLocks noGrp="1"/>
          </p:cNvSpPr>
          <p:nvPr>
            <p:ph type="body" sz="quarter" idx="13"/>
          </p:nvPr>
        </p:nvSpPr>
        <p:spPr/>
        <p:txBody>
          <a:bodyPr/>
          <a:lstStyle/>
          <a:p>
            <a:r>
              <a:rPr lang="ko-KR" altLang="en-US" dirty="0"/>
              <a:t>탄력적으로 해석되는 발명</a:t>
            </a:r>
          </a:p>
        </p:txBody>
      </p:sp>
      <p:sp>
        <p:nvSpPr>
          <p:cNvPr id="45" name="TextBox 44"/>
          <p:cNvSpPr txBox="1"/>
          <p:nvPr/>
        </p:nvSpPr>
        <p:spPr>
          <a:xfrm>
            <a:off x="77875" y="986046"/>
            <a:ext cx="11936323" cy="523220"/>
          </a:xfrm>
          <a:prstGeom prst="rect">
            <a:avLst/>
          </a:prstGeom>
          <a:noFill/>
        </p:spPr>
        <p:txBody>
          <a:bodyPr wrap="square" rtlCol="0">
            <a:spAutoFit/>
          </a:bodyPr>
          <a:lstStyle/>
          <a:p>
            <a:pPr fontAlgn="base"/>
            <a:r>
              <a:rPr lang="ko-KR" altLang="en-US" sz="1400" dirty="0">
                <a:solidFill>
                  <a:schemeClr val="tx2"/>
                </a:solidFill>
              </a:rPr>
              <a:t>원칙적으로 제</a:t>
            </a:r>
            <a:r>
              <a:rPr lang="en-US" altLang="ko-KR" sz="1400" dirty="0">
                <a:solidFill>
                  <a:schemeClr val="tx2"/>
                </a:solidFill>
              </a:rPr>
              <a:t>2</a:t>
            </a:r>
            <a:r>
              <a:rPr lang="ko-KR" altLang="en-US" sz="1400" dirty="0">
                <a:solidFill>
                  <a:schemeClr val="tx2"/>
                </a:solidFill>
              </a:rPr>
              <a:t>조제</a:t>
            </a:r>
            <a:r>
              <a:rPr lang="en-US" altLang="ko-KR" sz="1400" dirty="0">
                <a:solidFill>
                  <a:schemeClr val="tx2"/>
                </a:solidFill>
              </a:rPr>
              <a:t>1</a:t>
            </a:r>
            <a:r>
              <a:rPr lang="ko-KR" altLang="en-US" sz="1400" dirty="0">
                <a:solidFill>
                  <a:schemeClr val="tx2"/>
                </a:solidFill>
              </a:rPr>
              <a:t>호의 정의규정을 만족하는 발명에 대하여 성립성이 인정되나</a:t>
            </a:r>
            <a:r>
              <a:rPr lang="en-US" altLang="ko-KR" sz="1400" dirty="0">
                <a:solidFill>
                  <a:schemeClr val="tx2"/>
                </a:solidFill>
              </a:rPr>
              <a:t>, </a:t>
            </a:r>
            <a:r>
              <a:rPr lang="ko-KR" altLang="en-US" sz="1400" dirty="0">
                <a:solidFill>
                  <a:schemeClr val="tx2"/>
                </a:solidFill>
              </a:rPr>
              <a:t>예외적으로 정의규정을 만족하지 않거나 만족 여부가 상당히 </a:t>
            </a:r>
            <a:r>
              <a:rPr lang="ko-KR" altLang="en-US" sz="1400" dirty="0" err="1">
                <a:solidFill>
                  <a:schemeClr val="tx2"/>
                </a:solidFill>
              </a:rPr>
              <a:t>애매함에도</a:t>
            </a:r>
            <a:r>
              <a:rPr lang="ko-KR" altLang="en-US" sz="1400" dirty="0">
                <a:solidFill>
                  <a:schemeClr val="tx2"/>
                </a:solidFill>
              </a:rPr>
              <a:t> 불구하고 </a:t>
            </a:r>
            <a:r>
              <a:rPr lang="ko-KR" altLang="en-US" sz="1400" dirty="0" err="1">
                <a:solidFill>
                  <a:schemeClr val="tx2"/>
                </a:solidFill>
              </a:rPr>
              <a:t>성립성이</a:t>
            </a:r>
            <a:r>
              <a:rPr lang="ko-KR" altLang="en-US" sz="1400" dirty="0">
                <a:solidFill>
                  <a:schemeClr val="tx2"/>
                </a:solidFill>
              </a:rPr>
              <a:t> 인정되는 발명</a:t>
            </a:r>
            <a:r>
              <a:rPr lang="en-US" altLang="ko-KR" sz="1400" dirty="0">
                <a:solidFill>
                  <a:schemeClr val="tx2"/>
                </a:solidFill>
              </a:rPr>
              <a:t>(</a:t>
            </a:r>
            <a:r>
              <a:rPr lang="ko-KR" altLang="en-US" sz="1400" dirty="0">
                <a:solidFill>
                  <a:schemeClr val="tx2"/>
                </a:solidFill>
              </a:rPr>
              <a:t>컴퓨터 프로그램 관련 발명</a:t>
            </a:r>
            <a:r>
              <a:rPr lang="en-US" altLang="ko-KR" sz="1400" dirty="0">
                <a:solidFill>
                  <a:schemeClr val="tx2"/>
                </a:solidFill>
              </a:rPr>
              <a:t>, </a:t>
            </a:r>
            <a:r>
              <a:rPr lang="ko-KR" altLang="en-US" sz="1400" dirty="0">
                <a:solidFill>
                  <a:schemeClr val="tx2"/>
                </a:solidFill>
              </a:rPr>
              <a:t>식물발명</a:t>
            </a:r>
            <a:r>
              <a:rPr lang="en-US" altLang="ko-KR" sz="1400" dirty="0">
                <a:solidFill>
                  <a:schemeClr val="tx2"/>
                </a:solidFill>
              </a:rPr>
              <a:t>, </a:t>
            </a:r>
            <a:r>
              <a:rPr lang="ko-KR" altLang="en-US" sz="1400" dirty="0">
                <a:solidFill>
                  <a:schemeClr val="tx2"/>
                </a:solidFill>
              </a:rPr>
              <a:t>미생물 발명</a:t>
            </a:r>
            <a:r>
              <a:rPr lang="en-US" altLang="ko-KR" sz="1400" dirty="0">
                <a:solidFill>
                  <a:schemeClr val="tx2"/>
                </a:solidFill>
              </a:rPr>
              <a:t>, </a:t>
            </a:r>
            <a:r>
              <a:rPr lang="ko-KR" altLang="en-US" sz="1400" dirty="0" err="1">
                <a:solidFill>
                  <a:schemeClr val="tx2"/>
                </a:solidFill>
              </a:rPr>
              <a:t>용도발명</a:t>
            </a:r>
            <a:r>
              <a:rPr lang="en-US" altLang="ko-KR" sz="1400" dirty="0">
                <a:solidFill>
                  <a:schemeClr val="tx2"/>
                </a:solidFill>
              </a:rPr>
              <a:t>)</a:t>
            </a:r>
            <a:r>
              <a:rPr lang="ko-KR" altLang="en-US" sz="1400" dirty="0">
                <a:solidFill>
                  <a:schemeClr val="tx2"/>
                </a:solidFill>
              </a:rPr>
              <a:t>이 있다</a:t>
            </a:r>
            <a:r>
              <a:rPr lang="en-US" altLang="ko-KR" sz="1400" dirty="0">
                <a:solidFill>
                  <a:schemeClr val="tx2"/>
                </a:solidFill>
              </a:rPr>
              <a:t>.</a:t>
            </a:r>
            <a:r>
              <a:rPr lang="ko-KR" altLang="en-US" sz="1400" dirty="0">
                <a:solidFill>
                  <a:schemeClr val="tx2"/>
                </a:solidFill>
              </a:rPr>
              <a:t> </a:t>
            </a:r>
          </a:p>
        </p:txBody>
      </p:sp>
      <p:cxnSp>
        <p:nvCxnSpPr>
          <p:cNvPr id="46" name="직선 연결선 45"/>
          <p:cNvCxnSpPr/>
          <p:nvPr/>
        </p:nvCxnSpPr>
        <p:spPr>
          <a:xfrm>
            <a:off x="0" y="1512049"/>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5" name="표 4"/>
          <p:cNvGraphicFramePr>
            <a:graphicFrameLocks noGrp="1"/>
          </p:cNvGraphicFramePr>
          <p:nvPr>
            <p:extLst>
              <p:ext uri="{D42A27DB-BD31-4B8C-83A1-F6EECF244321}">
                <p14:modId xmlns:p14="http://schemas.microsoft.com/office/powerpoint/2010/main" val="3887080894"/>
              </p:ext>
            </p:extLst>
          </p:nvPr>
        </p:nvGraphicFramePr>
        <p:xfrm>
          <a:off x="330845" y="1857082"/>
          <a:ext cx="11528075" cy="4665014"/>
        </p:xfrm>
        <a:graphic>
          <a:graphicData uri="http://schemas.openxmlformats.org/drawingml/2006/table">
            <a:tbl>
              <a:tblPr/>
              <a:tblGrid>
                <a:gridCol w="1476917">
                  <a:extLst>
                    <a:ext uri="{9D8B030D-6E8A-4147-A177-3AD203B41FA5}">
                      <a16:colId xmlns:a16="http://schemas.microsoft.com/office/drawing/2014/main" val="137226875"/>
                    </a:ext>
                  </a:extLst>
                </a:gridCol>
                <a:gridCol w="2890241">
                  <a:extLst>
                    <a:ext uri="{9D8B030D-6E8A-4147-A177-3AD203B41FA5}">
                      <a16:colId xmlns:a16="http://schemas.microsoft.com/office/drawing/2014/main" val="2313024463"/>
                    </a:ext>
                  </a:extLst>
                </a:gridCol>
                <a:gridCol w="7160917">
                  <a:extLst>
                    <a:ext uri="{9D8B030D-6E8A-4147-A177-3AD203B41FA5}">
                      <a16:colId xmlns:a16="http://schemas.microsoft.com/office/drawing/2014/main" val="4049807812"/>
                    </a:ext>
                  </a:extLst>
                </a:gridCol>
              </a:tblGrid>
              <a:tr h="321260">
                <a:tc>
                  <a:txBody>
                    <a:bodyPr/>
                    <a:lstStyle/>
                    <a:p>
                      <a:pPr marL="0" marR="0" indent="0" algn="ctr" fontAlgn="base" latinLnBrk="0">
                        <a:lnSpc>
                          <a:spcPct val="130000"/>
                        </a:lnSpc>
                        <a:spcBef>
                          <a:spcPts val="0"/>
                        </a:spcBef>
                        <a:spcAft>
                          <a:spcPts val="0"/>
                        </a:spcAft>
                      </a:pPr>
                      <a:r>
                        <a:rPr lang="ko-KR" altLang="en-US" sz="1400" b="1" kern="1200" dirty="0">
                          <a:solidFill>
                            <a:schemeClr val="tx2"/>
                          </a:solidFill>
                          <a:latin typeface="+mn-lt"/>
                          <a:ea typeface="+mn-ea"/>
                          <a:cs typeface="+mn-cs"/>
                        </a:rPr>
                        <a:t>종류</a:t>
                      </a: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400" b="1" kern="1200" dirty="0">
                          <a:solidFill>
                            <a:schemeClr val="tx2"/>
                          </a:solidFill>
                          <a:latin typeface="+mn-lt"/>
                          <a:ea typeface="+mn-ea"/>
                          <a:cs typeface="+mn-cs"/>
                        </a:rPr>
                        <a:t>정의 규정의 만족 여부</a:t>
                      </a: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400" b="1" kern="1200" dirty="0" err="1">
                          <a:solidFill>
                            <a:schemeClr val="tx2"/>
                          </a:solidFill>
                          <a:latin typeface="+mn-lt"/>
                          <a:ea typeface="+mn-ea"/>
                          <a:cs typeface="+mn-cs"/>
                        </a:rPr>
                        <a:t>성립성</a:t>
                      </a:r>
                      <a:r>
                        <a:rPr lang="ko-KR" altLang="en-US" sz="1400" b="1" kern="1200" dirty="0">
                          <a:solidFill>
                            <a:schemeClr val="tx2"/>
                          </a:solidFill>
                          <a:latin typeface="+mn-lt"/>
                          <a:ea typeface="+mn-ea"/>
                          <a:cs typeface="+mn-cs"/>
                        </a:rPr>
                        <a:t> 인정 조건</a:t>
                      </a: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tx2">
                        <a:lumMod val="20000"/>
                        <a:lumOff val="80000"/>
                      </a:schemeClr>
                    </a:solidFill>
                  </a:tcPr>
                </a:tc>
                <a:extLst>
                  <a:ext uri="{0D108BD9-81ED-4DB2-BD59-A6C34878D82A}">
                    <a16:rowId xmlns:a16="http://schemas.microsoft.com/office/drawing/2014/main" val="245660339"/>
                  </a:ext>
                </a:extLst>
              </a:tr>
              <a:tr h="681147">
                <a:tc>
                  <a:txBody>
                    <a:bodyPr/>
                    <a:lstStyle/>
                    <a:p>
                      <a:pPr marL="0" marR="0" indent="0" algn="ctr" fontAlgn="base" latinLnBrk="0">
                        <a:lnSpc>
                          <a:spcPct val="130000"/>
                        </a:lnSpc>
                        <a:spcBef>
                          <a:spcPts val="0"/>
                        </a:spcBef>
                        <a:spcAft>
                          <a:spcPts val="0"/>
                        </a:spcAft>
                      </a:pPr>
                      <a:r>
                        <a:rPr lang="ko-KR" altLang="en-US" sz="1400" b="1" kern="1200" dirty="0" err="1">
                          <a:solidFill>
                            <a:schemeClr val="tx2"/>
                          </a:solidFill>
                          <a:latin typeface="+mn-lt"/>
                          <a:ea typeface="+mn-ea"/>
                          <a:cs typeface="+mn-cs"/>
                        </a:rPr>
                        <a:t>식물발명</a:t>
                      </a:r>
                      <a:endParaRPr lang="ko-KR" altLang="en-US" sz="1400" b="1" kern="1200" dirty="0">
                        <a:solidFill>
                          <a:schemeClr val="tx2"/>
                        </a:solidFill>
                        <a:latin typeface="+mn-lt"/>
                        <a:ea typeface="+mn-ea"/>
                        <a:cs typeface="+mn-cs"/>
                      </a:endParaRP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7780" marR="17780" indent="0" algn="ctr" fontAlgn="base" latinLnBrk="0">
                        <a:lnSpc>
                          <a:spcPct val="130000"/>
                        </a:lnSpc>
                        <a:spcBef>
                          <a:spcPts val="0"/>
                        </a:spcBef>
                        <a:spcAft>
                          <a:spcPts val="0"/>
                        </a:spcAft>
                      </a:pPr>
                      <a:r>
                        <a:rPr lang="ko-KR" altLang="en-US" sz="1400" kern="1200" dirty="0">
                          <a:solidFill>
                            <a:schemeClr val="tx2"/>
                          </a:solidFill>
                          <a:latin typeface="+mn-lt"/>
                          <a:ea typeface="+mn-ea"/>
                          <a:cs typeface="+mn-cs"/>
                        </a:rPr>
                        <a:t>자연법칙의 이용 △</a:t>
                      </a:r>
                      <a:endParaRPr lang="en-US" altLang="ko-KR" sz="1400" kern="1200" dirty="0">
                        <a:solidFill>
                          <a:schemeClr val="tx2"/>
                        </a:solidFill>
                        <a:latin typeface="+mn-lt"/>
                        <a:ea typeface="+mn-ea"/>
                        <a:cs typeface="+mn-cs"/>
                      </a:endParaRPr>
                    </a:p>
                    <a:p>
                      <a:pPr marL="17780" marR="17780" indent="0" algn="ctr" fontAlgn="base" latinLnBrk="0">
                        <a:lnSpc>
                          <a:spcPct val="130000"/>
                        </a:lnSpc>
                        <a:spcBef>
                          <a:spcPts val="0"/>
                        </a:spcBef>
                        <a:spcAft>
                          <a:spcPts val="0"/>
                        </a:spcAft>
                      </a:pPr>
                      <a:r>
                        <a:rPr lang="en-US" altLang="ko-KR" sz="1400" kern="1200" dirty="0">
                          <a:solidFill>
                            <a:schemeClr val="tx2"/>
                          </a:solidFill>
                          <a:latin typeface="+mn-lt"/>
                          <a:ea typeface="+mn-ea"/>
                          <a:cs typeface="+mn-cs"/>
                        </a:rPr>
                        <a:t>(</a:t>
                      </a:r>
                      <a:r>
                        <a:rPr lang="ko-KR" altLang="en-US" sz="1400" kern="1200" dirty="0">
                          <a:solidFill>
                            <a:schemeClr val="tx2"/>
                          </a:solidFill>
                          <a:latin typeface="+mn-lt"/>
                          <a:ea typeface="+mn-ea"/>
                          <a:cs typeface="+mn-cs"/>
                        </a:rPr>
                        <a:t>일정한 확실성 및 </a:t>
                      </a:r>
                      <a:r>
                        <a:rPr lang="ko-KR" altLang="en-US" sz="1400" kern="1200" dirty="0" err="1">
                          <a:solidFill>
                            <a:schemeClr val="tx2"/>
                          </a:solidFill>
                          <a:latin typeface="+mn-lt"/>
                          <a:ea typeface="+mn-ea"/>
                          <a:cs typeface="+mn-cs"/>
                        </a:rPr>
                        <a:t>반복가능성</a:t>
                      </a:r>
                      <a:r>
                        <a:rPr lang="en-US" altLang="ko-KR" sz="1400" kern="1200" dirty="0">
                          <a:solidFill>
                            <a:schemeClr val="tx2"/>
                          </a:solidFill>
                          <a:latin typeface="+mn-lt"/>
                          <a:ea typeface="+mn-ea"/>
                          <a:cs typeface="+mn-cs"/>
                        </a:rPr>
                        <a:t>)</a:t>
                      </a:r>
                      <a:endParaRPr lang="ko-KR" altLang="en-US" sz="1400" kern="1200" dirty="0">
                        <a:solidFill>
                          <a:schemeClr val="tx2"/>
                        </a:solidFill>
                        <a:latin typeface="+mn-lt"/>
                        <a:ea typeface="+mn-ea"/>
                        <a:cs typeface="+mn-cs"/>
                      </a:endParaRP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189230" marR="17780" indent="-171450" algn="just" fontAlgn="base" latinLnBrk="0">
                        <a:lnSpc>
                          <a:spcPct val="130000"/>
                        </a:lnSpc>
                        <a:spcBef>
                          <a:spcPts val="0"/>
                        </a:spcBef>
                        <a:spcAft>
                          <a:spcPts val="0"/>
                        </a:spcAft>
                        <a:buFontTx/>
                        <a:buChar char="-"/>
                      </a:pPr>
                      <a:r>
                        <a:rPr lang="ko-KR" altLang="en-US" sz="1400" kern="1200" dirty="0">
                          <a:solidFill>
                            <a:schemeClr val="tx2"/>
                          </a:solidFill>
                          <a:latin typeface="+mn-lt"/>
                          <a:ea typeface="+mn-ea"/>
                          <a:cs typeface="+mn-cs"/>
                        </a:rPr>
                        <a:t>발명의 특성을 재현할 수 있는 </a:t>
                      </a:r>
                      <a:r>
                        <a:rPr lang="ko-KR" altLang="en-US" sz="1400" kern="1200" dirty="0" err="1">
                          <a:solidFill>
                            <a:schemeClr val="tx2"/>
                          </a:solidFill>
                          <a:latin typeface="+mn-lt"/>
                          <a:ea typeface="+mn-ea"/>
                          <a:cs typeface="+mn-cs"/>
                        </a:rPr>
                        <a:t>육종경과를</a:t>
                      </a:r>
                      <a:r>
                        <a:rPr lang="ko-KR" altLang="en-US" sz="1400" kern="1200" dirty="0">
                          <a:solidFill>
                            <a:schemeClr val="tx2"/>
                          </a:solidFill>
                          <a:latin typeface="+mn-lt"/>
                          <a:ea typeface="+mn-ea"/>
                          <a:cs typeface="+mn-cs"/>
                        </a:rPr>
                        <a:t> 상세히 적은 경우 발명의 </a:t>
                      </a:r>
                      <a:r>
                        <a:rPr lang="ko-KR" altLang="en-US" sz="1400" kern="1200" dirty="0" err="1">
                          <a:solidFill>
                            <a:schemeClr val="tx2"/>
                          </a:solidFill>
                          <a:latin typeface="+mn-lt"/>
                          <a:ea typeface="+mn-ea"/>
                          <a:cs typeface="+mn-cs"/>
                        </a:rPr>
                        <a:t>성립성이</a:t>
                      </a:r>
                      <a:r>
                        <a:rPr lang="ko-KR" altLang="en-US" sz="1400" kern="1200" dirty="0">
                          <a:solidFill>
                            <a:schemeClr val="tx2"/>
                          </a:solidFill>
                          <a:latin typeface="+mn-lt"/>
                          <a:ea typeface="+mn-ea"/>
                          <a:cs typeface="+mn-cs"/>
                        </a:rPr>
                        <a:t> 인정된다</a:t>
                      </a:r>
                      <a:r>
                        <a:rPr lang="en-US" altLang="ko-KR" sz="1400" kern="1200" dirty="0">
                          <a:solidFill>
                            <a:schemeClr val="tx2"/>
                          </a:solidFill>
                          <a:latin typeface="+mn-lt"/>
                          <a:ea typeface="+mn-ea"/>
                          <a:cs typeface="+mn-cs"/>
                        </a:rPr>
                        <a:t>.</a:t>
                      </a: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125379924"/>
                  </a:ext>
                </a:extLst>
              </a:tr>
              <a:tr h="2154790">
                <a:tc>
                  <a:txBody>
                    <a:bodyPr/>
                    <a:lstStyle/>
                    <a:p>
                      <a:pPr marL="0" marR="0" indent="0" algn="ctr" fontAlgn="base" latinLnBrk="0">
                        <a:lnSpc>
                          <a:spcPct val="130000"/>
                        </a:lnSpc>
                        <a:spcBef>
                          <a:spcPts val="0"/>
                        </a:spcBef>
                        <a:spcAft>
                          <a:spcPts val="0"/>
                        </a:spcAft>
                      </a:pPr>
                      <a:r>
                        <a:rPr lang="ko-KR" altLang="en-US" sz="1400" b="1" kern="1200" dirty="0" err="1">
                          <a:solidFill>
                            <a:schemeClr val="tx2"/>
                          </a:solidFill>
                          <a:latin typeface="+mn-lt"/>
                          <a:ea typeface="+mn-ea"/>
                          <a:cs typeface="+mn-cs"/>
                        </a:rPr>
                        <a:t>미생물발명</a:t>
                      </a:r>
                      <a:endParaRPr lang="ko-KR" altLang="en-US" sz="1400" b="1" kern="1200" dirty="0">
                        <a:solidFill>
                          <a:schemeClr val="tx2"/>
                        </a:solidFill>
                        <a:latin typeface="+mn-lt"/>
                        <a:ea typeface="+mn-ea"/>
                        <a:cs typeface="+mn-cs"/>
                      </a:endParaRP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7780" marR="17780" indent="0" algn="ctr" fontAlgn="base" latinLnBrk="0">
                        <a:lnSpc>
                          <a:spcPct val="130000"/>
                        </a:lnSpc>
                        <a:spcBef>
                          <a:spcPts val="0"/>
                        </a:spcBef>
                        <a:spcAft>
                          <a:spcPts val="0"/>
                        </a:spcAft>
                      </a:pPr>
                      <a:r>
                        <a:rPr lang="ko-KR" altLang="en-US" sz="1400" kern="1200" dirty="0">
                          <a:solidFill>
                            <a:schemeClr val="tx2"/>
                          </a:solidFill>
                          <a:latin typeface="+mn-lt"/>
                          <a:ea typeface="+mn-ea"/>
                          <a:cs typeface="+mn-cs"/>
                        </a:rPr>
                        <a:t>자연법칙의 이용 △</a:t>
                      </a:r>
                      <a:endParaRPr lang="en-US" altLang="ko-KR" sz="1400" kern="1200" dirty="0">
                        <a:solidFill>
                          <a:schemeClr val="tx2"/>
                        </a:solidFill>
                        <a:latin typeface="+mn-lt"/>
                        <a:ea typeface="+mn-ea"/>
                        <a:cs typeface="+mn-cs"/>
                      </a:endParaRPr>
                    </a:p>
                    <a:p>
                      <a:pPr marL="17780" marR="17780" indent="0" algn="ctr" fontAlgn="base" latinLnBrk="0">
                        <a:lnSpc>
                          <a:spcPct val="130000"/>
                        </a:lnSpc>
                        <a:spcBef>
                          <a:spcPts val="0"/>
                        </a:spcBef>
                        <a:spcAft>
                          <a:spcPts val="0"/>
                        </a:spcAft>
                      </a:pPr>
                      <a:r>
                        <a:rPr lang="en-US" altLang="ko-KR" sz="1400" kern="1200" dirty="0">
                          <a:solidFill>
                            <a:schemeClr val="tx2"/>
                          </a:solidFill>
                          <a:latin typeface="+mn-lt"/>
                          <a:ea typeface="+mn-ea"/>
                          <a:cs typeface="+mn-cs"/>
                        </a:rPr>
                        <a:t>(</a:t>
                      </a:r>
                      <a:r>
                        <a:rPr lang="ko-KR" altLang="en-US" sz="1400" kern="1200" dirty="0">
                          <a:solidFill>
                            <a:schemeClr val="tx2"/>
                          </a:solidFill>
                          <a:latin typeface="+mn-lt"/>
                          <a:ea typeface="+mn-ea"/>
                          <a:cs typeface="+mn-cs"/>
                        </a:rPr>
                        <a:t>일정한 확실성 및 </a:t>
                      </a:r>
                      <a:r>
                        <a:rPr lang="ko-KR" altLang="en-US" sz="1400" kern="1200" dirty="0" err="1">
                          <a:solidFill>
                            <a:schemeClr val="tx2"/>
                          </a:solidFill>
                          <a:latin typeface="+mn-lt"/>
                          <a:ea typeface="+mn-ea"/>
                          <a:cs typeface="+mn-cs"/>
                        </a:rPr>
                        <a:t>반복가능성</a:t>
                      </a:r>
                      <a:r>
                        <a:rPr lang="en-US" altLang="ko-KR" sz="1400" kern="1200" dirty="0">
                          <a:solidFill>
                            <a:schemeClr val="tx2"/>
                          </a:solidFill>
                          <a:latin typeface="+mn-lt"/>
                          <a:ea typeface="+mn-ea"/>
                          <a:cs typeface="+mn-cs"/>
                        </a:rPr>
                        <a:t>)</a:t>
                      </a:r>
                      <a:endParaRPr lang="ko-KR" altLang="en-US" sz="1400" kern="1200" dirty="0">
                        <a:solidFill>
                          <a:schemeClr val="tx2"/>
                        </a:solidFill>
                        <a:latin typeface="+mn-lt"/>
                        <a:ea typeface="+mn-ea"/>
                        <a:cs typeface="+mn-cs"/>
                      </a:endParaRP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189230" marR="17780" indent="-171450" algn="just" defTabSz="914400" rtl="0" eaLnBrk="1" fontAlgn="base" latinLnBrk="0" hangingPunct="1">
                        <a:lnSpc>
                          <a:spcPct val="130000"/>
                        </a:lnSpc>
                        <a:spcBef>
                          <a:spcPts val="0"/>
                        </a:spcBef>
                        <a:spcAft>
                          <a:spcPts val="0"/>
                        </a:spcAft>
                        <a:buClrTx/>
                        <a:buSzTx/>
                        <a:buFontTx/>
                        <a:buChar char="-"/>
                        <a:tabLst/>
                        <a:defRPr/>
                      </a:pPr>
                      <a:r>
                        <a:rPr lang="ko-KR" altLang="en-US" sz="1400" kern="1200" dirty="0">
                          <a:solidFill>
                            <a:schemeClr val="tx1"/>
                          </a:solidFill>
                          <a:latin typeface="+mn-lt"/>
                          <a:ea typeface="+mn-ea"/>
                          <a:cs typeface="+mn-cs"/>
                        </a:rPr>
                        <a:t>통상의 기술자가 미생물 등을 쉽게 입수할 수 없는 경우에는 특허출원 전에 미생물을 국내기탁기관</a:t>
                      </a:r>
                      <a:r>
                        <a:rPr lang="en-US" altLang="ko-KR" sz="1400" kern="1200" dirty="0">
                          <a:solidFill>
                            <a:schemeClr val="tx1"/>
                          </a:solidFill>
                          <a:latin typeface="+mn-lt"/>
                          <a:ea typeface="+mn-ea"/>
                          <a:cs typeface="+mn-cs"/>
                        </a:rPr>
                        <a:t>, </a:t>
                      </a:r>
                      <a:r>
                        <a:rPr lang="ko-KR" altLang="en-US" sz="1400" kern="1200" dirty="0">
                          <a:solidFill>
                            <a:schemeClr val="tx1"/>
                          </a:solidFill>
                          <a:latin typeface="+mn-lt"/>
                          <a:ea typeface="+mn-ea"/>
                          <a:cs typeface="+mn-cs"/>
                        </a:rPr>
                        <a:t>지정기탁기관 또는 국제기탁기관에 기탁하고</a:t>
                      </a:r>
                      <a:r>
                        <a:rPr lang="en-US" altLang="ko-KR" sz="1400" kern="1200" dirty="0">
                          <a:solidFill>
                            <a:schemeClr val="tx1"/>
                          </a:solidFill>
                          <a:latin typeface="+mn-lt"/>
                          <a:ea typeface="+mn-ea"/>
                          <a:cs typeface="+mn-cs"/>
                        </a:rPr>
                        <a:t>, </a:t>
                      </a:r>
                      <a:r>
                        <a:rPr lang="ko-KR" altLang="en-US" sz="1400" kern="1200" dirty="0" err="1">
                          <a:solidFill>
                            <a:schemeClr val="tx1"/>
                          </a:solidFill>
                          <a:latin typeface="+mn-lt"/>
                          <a:ea typeface="+mn-ea"/>
                          <a:cs typeface="+mn-cs"/>
                        </a:rPr>
                        <a:t>출원서에</a:t>
                      </a:r>
                      <a:r>
                        <a:rPr lang="ko-KR" altLang="en-US" sz="1400" kern="1200" dirty="0">
                          <a:solidFill>
                            <a:schemeClr val="tx1"/>
                          </a:solidFill>
                          <a:latin typeface="+mn-lt"/>
                          <a:ea typeface="+mn-ea"/>
                          <a:cs typeface="+mn-cs"/>
                        </a:rPr>
                        <a:t> 그 취지를 적고 그 증명서류를 첨부하여야 하며</a:t>
                      </a:r>
                      <a:r>
                        <a:rPr lang="en-US" altLang="ko-KR" sz="1400" kern="1200" dirty="0">
                          <a:solidFill>
                            <a:schemeClr val="tx1"/>
                          </a:solidFill>
                          <a:latin typeface="+mn-lt"/>
                          <a:ea typeface="+mn-ea"/>
                          <a:cs typeface="+mn-cs"/>
                        </a:rPr>
                        <a:t>, </a:t>
                      </a:r>
                      <a:r>
                        <a:rPr lang="ko-KR" altLang="en-US" sz="1400" kern="1200" dirty="0">
                          <a:solidFill>
                            <a:schemeClr val="tx1"/>
                          </a:solidFill>
                          <a:latin typeface="+mn-lt"/>
                          <a:ea typeface="+mn-ea"/>
                          <a:cs typeface="+mn-cs"/>
                        </a:rPr>
                        <a:t>명세서에 </a:t>
                      </a:r>
                      <a:r>
                        <a:rPr lang="ko-KR" altLang="en-US" sz="1400" kern="1200" dirty="0" err="1">
                          <a:solidFill>
                            <a:schemeClr val="tx1"/>
                          </a:solidFill>
                          <a:latin typeface="+mn-lt"/>
                          <a:ea typeface="+mn-ea"/>
                          <a:cs typeface="+mn-cs"/>
                        </a:rPr>
                        <a:t>수탁번호를</a:t>
                      </a:r>
                      <a:r>
                        <a:rPr lang="ko-KR" altLang="en-US" sz="1400" kern="1200" dirty="0">
                          <a:solidFill>
                            <a:schemeClr val="tx1"/>
                          </a:solidFill>
                          <a:latin typeface="+mn-lt"/>
                          <a:ea typeface="+mn-ea"/>
                          <a:cs typeface="+mn-cs"/>
                        </a:rPr>
                        <a:t> 적어야만 발명의 </a:t>
                      </a:r>
                      <a:r>
                        <a:rPr lang="ko-KR" altLang="en-US" sz="1400" kern="1200" dirty="0" err="1">
                          <a:solidFill>
                            <a:schemeClr val="tx1"/>
                          </a:solidFill>
                          <a:latin typeface="+mn-lt"/>
                          <a:ea typeface="+mn-ea"/>
                          <a:cs typeface="+mn-cs"/>
                        </a:rPr>
                        <a:t>성립성이</a:t>
                      </a:r>
                      <a:r>
                        <a:rPr lang="ko-KR" altLang="en-US" sz="1400" kern="1200" dirty="0">
                          <a:solidFill>
                            <a:schemeClr val="tx1"/>
                          </a:solidFill>
                          <a:latin typeface="+mn-lt"/>
                          <a:ea typeface="+mn-ea"/>
                          <a:cs typeface="+mn-cs"/>
                        </a:rPr>
                        <a:t> 인정된다</a:t>
                      </a:r>
                      <a:r>
                        <a:rPr lang="en-US" altLang="ko-KR" sz="1400" kern="1200" dirty="0">
                          <a:solidFill>
                            <a:schemeClr val="tx1"/>
                          </a:solidFill>
                          <a:latin typeface="+mn-lt"/>
                          <a:ea typeface="+mn-ea"/>
                          <a:cs typeface="+mn-cs"/>
                        </a:rPr>
                        <a:t>. </a:t>
                      </a:r>
                      <a:r>
                        <a:rPr lang="ko-KR" altLang="en-US" sz="1400" kern="1200" dirty="0">
                          <a:solidFill>
                            <a:schemeClr val="tx2"/>
                          </a:solidFill>
                          <a:highlight>
                            <a:srgbClr val="FFFF00"/>
                          </a:highlight>
                          <a:latin typeface="+mn-lt"/>
                          <a:ea typeface="+mn-ea"/>
                          <a:cs typeface="+mn-cs"/>
                        </a:rPr>
                        <a:t>다만</a:t>
                      </a:r>
                      <a:r>
                        <a:rPr lang="en-US" altLang="ko-KR" sz="1400" kern="1200" dirty="0">
                          <a:solidFill>
                            <a:schemeClr val="tx2"/>
                          </a:solidFill>
                          <a:highlight>
                            <a:srgbClr val="FFFF00"/>
                          </a:highlight>
                          <a:latin typeface="+mn-lt"/>
                          <a:ea typeface="+mn-ea"/>
                          <a:cs typeface="+mn-cs"/>
                        </a:rPr>
                        <a:t>, </a:t>
                      </a:r>
                      <a:r>
                        <a:rPr lang="ko-KR" altLang="en-US" sz="1400" kern="1200" dirty="0">
                          <a:solidFill>
                            <a:schemeClr val="tx2"/>
                          </a:solidFill>
                          <a:highlight>
                            <a:srgbClr val="FFFF00"/>
                          </a:highlight>
                          <a:latin typeface="+mn-lt"/>
                          <a:ea typeface="+mn-ea"/>
                          <a:cs typeface="+mn-cs"/>
                        </a:rPr>
                        <a:t>국내에 소재지가 있는 국내기탁기관 또는 국제기탁기관에 해당 미생물을 기탁한 경우에는 미생물의 기탁 사실을 증명하는 서류를 첨부하지 않을 수 있다</a:t>
                      </a:r>
                      <a:r>
                        <a:rPr lang="en-US" altLang="ko-KR" sz="1400" kern="1200" dirty="0">
                          <a:solidFill>
                            <a:schemeClr val="tx2"/>
                          </a:solidFill>
                          <a:highlight>
                            <a:srgbClr val="FFFF00"/>
                          </a:highlight>
                          <a:latin typeface="+mn-lt"/>
                          <a:ea typeface="+mn-ea"/>
                          <a:cs typeface="+mn-cs"/>
                        </a:rPr>
                        <a:t>.</a:t>
                      </a:r>
                    </a:p>
                    <a:p>
                      <a:pPr marL="189230" marR="17780" indent="-171450" algn="just" defTabSz="914400" rtl="0" eaLnBrk="1" fontAlgn="base" latinLnBrk="0" hangingPunct="1">
                        <a:lnSpc>
                          <a:spcPct val="130000"/>
                        </a:lnSpc>
                        <a:spcBef>
                          <a:spcPts val="0"/>
                        </a:spcBef>
                        <a:spcAft>
                          <a:spcPts val="0"/>
                        </a:spcAft>
                        <a:buClrTx/>
                        <a:buSzTx/>
                        <a:buFontTx/>
                        <a:buChar char="-"/>
                        <a:tabLst/>
                        <a:defRPr/>
                      </a:pPr>
                      <a:r>
                        <a:rPr lang="ko-KR" altLang="en-US" sz="1400" kern="1200" dirty="0">
                          <a:solidFill>
                            <a:schemeClr val="tx1"/>
                          </a:solidFill>
                          <a:latin typeface="+mn-lt"/>
                          <a:ea typeface="+mn-ea"/>
                          <a:cs typeface="+mn-cs"/>
                        </a:rPr>
                        <a:t>다만</a:t>
                      </a:r>
                      <a:r>
                        <a:rPr lang="en-US" altLang="ko-KR" sz="1400" kern="1200" dirty="0">
                          <a:solidFill>
                            <a:schemeClr val="tx1"/>
                          </a:solidFill>
                          <a:latin typeface="+mn-lt"/>
                          <a:ea typeface="+mn-ea"/>
                          <a:cs typeface="+mn-cs"/>
                        </a:rPr>
                        <a:t>, </a:t>
                      </a:r>
                      <a:r>
                        <a:rPr lang="ko-KR" altLang="en-US" sz="1400" kern="1200" dirty="0">
                          <a:solidFill>
                            <a:schemeClr val="tx1"/>
                          </a:solidFill>
                          <a:latin typeface="+mn-lt"/>
                          <a:ea typeface="+mn-ea"/>
                          <a:cs typeface="+mn-cs"/>
                        </a:rPr>
                        <a:t>통상의 기술자가 미생물 등을 쉽게 입수할 수 있는 경우에는 </a:t>
                      </a:r>
                      <a:r>
                        <a:rPr lang="ko-KR" altLang="en-US" sz="1400" kern="1200" dirty="0" err="1">
                          <a:solidFill>
                            <a:schemeClr val="tx1"/>
                          </a:solidFill>
                          <a:latin typeface="+mn-lt"/>
                          <a:ea typeface="+mn-ea"/>
                          <a:cs typeface="+mn-cs"/>
                        </a:rPr>
                        <a:t>입수방법을</a:t>
                      </a:r>
                      <a:r>
                        <a:rPr lang="ko-KR" altLang="en-US" sz="1400" kern="1200" dirty="0">
                          <a:solidFill>
                            <a:schemeClr val="tx1"/>
                          </a:solidFill>
                          <a:latin typeface="+mn-lt"/>
                          <a:ea typeface="+mn-ea"/>
                          <a:cs typeface="+mn-cs"/>
                        </a:rPr>
                        <a:t> 명세서에 적으면 된다</a:t>
                      </a:r>
                      <a:r>
                        <a:rPr lang="en-US" altLang="ko-KR" sz="1400" kern="1200" dirty="0">
                          <a:solidFill>
                            <a:schemeClr val="tx1"/>
                          </a:solidFill>
                          <a:latin typeface="+mn-lt"/>
                          <a:ea typeface="+mn-ea"/>
                          <a:cs typeface="+mn-cs"/>
                        </a:rPr>
                        <a:t>(</a:t>
                      </a:r>
                      <a:r>
                        <a:rPr lang="ko-KR" altLang="en-US" sz="1400" kern="1200" dirty="0">
                          <a:solidFill>
                            <a:schemeClr val="tx1"/>
                          </a:solidFill>
                          <a:latin typeface="+mn-lt"/>
                          <a:ea typeface="+mn-ea"/>
                          <a:cs typeface="+mn-cs"/>
                        </a:rPr>
                        <a:t>令 </a:t>
                      </a:r>
                      <a:r>
                        <a:rPr lang="en-US" altLang="ko-KR" sz="1400" kern="1200" dirty="0">
                          <a:solidFill>
                            <a:schemeClr val="tx1"/>
                          </a:solidFill>
                          <a:latin typeface="+mn-lt"/>
                          <a:ea typeface="+mn-ea"/>
                          <a:cs typeface="+mn-cs"/>
                        </a:rPr>
                        <a:t>2, 3).</a:t>
                      </a:r>
                      <a:endParaRPr lang="ko-KR" altLang="en-US" sz="1400" kern="1200" dirty="0">
                        <a:solidFill>
                          <a:schemeClr val="tx1"/>
                        </a:solidFill>
                        <a:latin typeface="+mn-lt"/>
                        <a:ea typeface="+mn-ea"/>
                        <a:cs typeface="+mn-cs"/>
                      </a:endParaRP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69622514"/>
                  </a:ext>
                </a:extLst>
              </a:tr>
              <a:tr h="826670">
                <a:tc>
                  <a:txBody>
                    <a:bodyPr/>
                    <a:lstStyle/>
                    <a:p>
                      <a:pPr marL="0" marR="0" indent="0" algn="ctr" fontAlgn="base" latinLnBrk="0">
                        <a:lnSpc>
                          <a:spcPct val="130000"/>
                        </a:lnSpc>
                        <a:spcBef>
                          <a:spcPts val="0"/>
                        </a:spcBef>
                        <a:spcAft>
                          <a:spcPts val="0"/>
                        </a:spcAft>
                      </a:pPr>
                      <a:r>
                        <a:rPr lang="ko-KR" altLang="en-US" sz="1400" b="1" kern="1200" dirty="0" err="1">
                          <a:solidFill>
                            <a:schemeClr val="tx2"/>
                          </a:solidFill>
                          <a:latin typeface="+mn-lt"/>
                          <a:ea typeface="+mn-ea"/>
                          <a:cs typeface="+mn-cs"/>
                        </a:rPr>
                        <a:t>용도발명</a:t>
                      </a:r>
                      <a:endParaRPr lang="ko-KR" altLang="en-US" sz="1400" b="1" kern="1200" dirty="0">
                        <a:solidFill>
                          <a:schemeClr val="tx2"/>
                        </a:solidFill>
                        <a:latin typeface="+mn-lt"/>
                        <a:ea typeface="+mn-ea"/>
                        <a:cs typeface="+mn-cs"/>
                      </a:endParaRP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7780" marR="17780" indent="0" algn="ctr" fontAlgn="base" latinLnBrk="1">
                        <a:lnSpc>
                          <a:spcPct val="130000"/>
                        </a:lnSpc>
                        <a:spcBef>
                          <a:spcPts val="0"/>
                        </a:spcBef>
                        <a:spcAft>
                          <a:spcPts val="0"/>
                        </a:spcAft>
                      </a:pPr>
                      <a:r>
                        <a:rPr lang="ko-KR" altLang="en-US" sz="1400" kern="1200" dirty="0" err="1">
                          <a:solidFill>
                            <a:schemeClr val="tx2"/>
                          </a:solidFill>
                          <a:latin typeface="+mn-lt"/>
                          <a:ea typeface="+mn-ea"/>
                          <a:cs typeface="+mn-cs"/>
                        </a:rPr>
                        <a:t>창작성</a:t>
                      </a:r>
                      <a:r>
                        <a:rPr lang="ko-KR" altLang="en-US" sz="1400" kern="1200" dirty="0">
                          <a:solidFill>
                            <a:schemeClr val="tx2"/>
                          </a:solidFill>
                          <a:latin typeface="+mn-lt"/>
                          <a:ea typeface="+mn-ea"/>
                          <a:cs typeface="+mn-cs"/>
                        </a:rPr>
                        <a:t> </a:t>
                      </a:r>
                      <a:r>
                        <a:rPr lang="en-US" altLang="ko-KR" sz="1400" kern="1200" dirty="0">
                          <a:solidFill>
                            <a:schemeClr val="tx2"/>
                          </a:solidFill>
                          <a:latin typeface="+mn-lt"/>
                          <a:ea typeface="+mn-ea"/>
                          <a:cs typeface="+mn-cs"/>
                        </a:rPr>
                        <a:t>×</a:t>
                      </a:r>
                      <a:endParaRPr lang="ko-KR" altLang="en-US" sz="1400" kern="1200" dirty="0">
                        <a:solidFill>
                          <a:schemeClr val="tx2"/>
                        </a:solidFill>
                        <a:latin typeface="+mn-lt"/>
                        <a:ea typeface="+mn-ea"/>
                        <a:cs typeface="+mn-cs"/>
                      </a:endParaRP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171450" indent="-171450" algn="just" latinLnBrk="1">
                        <a:buFontTx/>
                        <a:buChar char="-"/>
                      </a:pPr>
                      <a:r>
                        <a:rPr lang="ko-KR" altLang="en-US" sz="1400" kern="1200" dirty="0">
                          <a:solidFill>
                            <a:schemeClr val="tx2"/>
                          </a:solidFill>
                          <a:latin typeface="+mn-lt"/>
                          <a:ea typeface="+mn-ea"/>
                          <a:cs typeface="+mn-cs"/>
                        </a:rPr>
                        <a:t>발견이지만 물질로부터 새로운 용도를 발견하고 이를 새로운 용도로 이용하는 과정에서 존재하는 창작적 요소가 보호할 가치가 있는 경우 발명의 </a:t>
                      </a:r>
                      <a:r>
                        <a:rPr lang="ko-KR" altLang="en-US" sz="1400" kern="1200" dirty="0" err="1">
                          <a:solidFill>
                            <a:schemeClr val="tx2"/>
                          </a:solidFill>
                          <a:latin typeface="+mn-lt"/>
                          <a:ea typeface="+mn-ea"/>
                          <a:cs typeface="+mn-cs"/>
                        </a:rPr>
                        <a:t>성립성이</a:t>
                      </a:r>
                      <a:r>
                        <a:rPr lang="ko-KR" altLang="en-US" sz="1400" kern="1200" dirty="0">
                          <a:solidFill>
                            <a:schemeClr val="tx2"/>
                          </a:solidFill>
                          <a:latin typeface="+mn-lt"/>
                          <a:ea typeface="+mn-ea"/>
                          <a:cs typeface="+mn-cs"/>
                        </a:rPr>
                        <a:t> 인정된다</a:t>
                      </a:r>
                      <a:r>
                        <a:rPr lang="en-US" altLang="ko-KR" sz="1400" kern="1200" dirty="0">
                          <a:solidFill>
                            <a:schemeClr val="tx2"/>
                          </a:solidFill>
                          <a:latin typeface="+mn-lt"/>
                          <a:ea typeface="+mn-ea"/>
                          <a:cs typeface="+mn-cs"/>
                        </a:rPr>
                        <a:t>.</a:t>
                      </a: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82458024"/>
                  </a:ext>
                </a:extLst>
              </a:tr>
              <a:tr h="681147">
                <a:tc>
                  <a:txBody>
                    <a:bodyPr/>
                    <a:lstStyle/>
                    <a:p>
                      <a:pPr algn="ctr" latinLnBrk="1"/>
                      <a:r>
                        <a:rPr lang="ko-KR" altLang="en-US" sz="1400" b="1" kern="1200" dirty="0">
                          <a:solidFill>
                            <a:schemeClr val="tx2"/>
                          </a:solidFill>
                          <a:latin typeface="+mn-lt"/>
                          <a:ea typeface="+mn-ea"/>
                          <a:cs typeface="+mn-cs"/>
                        </a:rPr>
                        <a:t>컴퓨터 프로그램 </a:t>
                      </a:r>
                      <a:endParaRPr lang="en-US" altLang="ko-KR" sz="1400" b="1" kern="1200" dirty="0">
                        <a:solidFill>
                          <a:schemeClr val="tx2"/>
                        </a:solidFill>
                        <a:latin typeface="+mn-lt"/>
                        <a:ea typeface="+mn-ea"/>
                        <a:cs typeface="+mn-cs"/>
                      </a:endParaRPr>
                    </a:p>
                    <a:p>
                      <a:pPr algn="ctr" latinLnBrk="1"/>
                      <a:r>
                        <a:rPr lang="ko-KR" altLang="en-US" sz="1400" b="1" kern="1200" dirty="0">
                          <a:solidFill>
                            <a:schemeClr val="tx2"/>
                          </a:solidFill>
                          <a:latin typeface="+mn-lt"/>
                          <a:ea typeface="+mn-ea"/>
                          <a:cs typeface="+mn-cs"/>
                        </a:rPr>
                        <a:t>관련 발명</a:t>
                      </a: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7780" marR="17780" indent="0" algn="ctr" defTabSz="914400" rtl="0" eaLnBrk="1" fontAlgn="base" latinLnBrk="0" hangingPunct="1">
                        <a:lnSpc>
                          <a:spcPct val="130000"/>
                        </a:lnSpc>
                        <a:spcBef>
                          <a:spcPts val="0"/>
                        </a:spcBef>
                        <a:spcAft>
                          <a:spcPts val="0"/>
                        </a:spcAft>
                        <a:buClrTx/>
                        <a:buSzTx/>
                        <a:buFontTx/>
                        <a:buNone/>
                        <a:tabLst/>
                        <a:defRPr/>
                      </a:pPr>
                      <a:r>
                        <a:rPr lang="ko-KR" altLang="en-US" sz="1400" kern="1200" dirty="0">
                          <a:solidFill>
                            <a:schemeClr val="tx2"/>
                          </a:solidFill>
                          <a:latin typeface="+mn-lt"/>
                          <a:ea typeface="+mn-ea"/>
                          <a:cs typeface="+mn-cs"/>
                        </a:rPr>
                        <a:t>자연법칙의 이용 </a:t>
                      </a:r>
                      <a:r>
                        <a:rPr lang="en-US" altLang="ko-KR" sz="1400" kern="1200" dirty="0">
                          <a:solidFill>
                            <a:schemeClr val="tx2"/>
                          </a:solidFill>
                          <a:latin typeface="+mn-lt"/>
                          <a:ea typeface="+mn-ea"/>
                          <a:cs typeface="+mn-cs"/>
                        </a:rPr>
                        <a:t>×</a:t>
                      </a:r>
                    </a:p>
                    <a:p>
                      <a:pPr marL="17780" marR="17780" indent="0" algn="ctr" fontAlgn="base" latinLnBrk="0">
                        <a:lnSpc>
                          <a:spcPct val="130000"/>
                        </a:lnSpc>
                        <a:spcBef>
                          <a:spcPts val="0"/>
                        </a:spcBef>
                        <a:spcAft>
                          <a:spcPts val="0"/>
                        </a:spcAft>
                      </a:pPr>
                      <a:r>
                        <a:rPr lang="en-US" altLang="ko-KR" sz="1400" kern="1200" dirty="0">
                          <a:solidFill>
                            <a:schemeClr val="tx2"/>
                          </a:solidFill>
                          <a:latin typeface="+mn-lt"/>
                          <a:ea typeface="+mn-ea"/>
                          <a:cs typeface="+mn-cs"/>
                        </a:rPr>
                        <a:t>(</a:t>
                      </a:r>
                      <a:r>
                        <a:rPr lang="ko-KR" altLang="en-US" sz="1400" kern="1200" dirty="0">
                          <a:solidFill>
                            <a:schemeClr val="tx2"/>
                          </a:solidFill>
                          <a:latin typeface="+mn-lt"/>
                          <a:ea typeface="+mn-ea"/>
                          <a:cs typeface="+mn-cs"/>
                        </a:rPr>
                        <a:t>전체적으로 이용</a:t>
                      </a:r>
                      <a:r>
                        <a:rPr lang="en-US" altLang="ko-KR" sz="1400" kern="1200" dirty="0">
                          <a:solidFill>
                            <a:schemeClr val="tx2"/>
                          </a:solidFill>
                          <a:latin typeface="+mn-lt"/>
                          <a:ea typeface="+mn-ea"/>
                          <a:cs typeface="+mn-cs"/>
                        </a:rPr>
                        <a:t>)</a:t>
                      </a:r>
                      <a:endParaRPr lang="ko-KR" altLang="en-US" sz="1400" kern="1200" dirty="0">
                        <a:solidFill>
                          <a:schemeClr val="tx2"/>
                        </a:solidFill>
                        <a:latin typeface="+mn-lt"/>
                        <a:ea typeface="+mn-ea"/>
                        <a:cs typeface="+mn-cs"/>
                      </a:endParaRP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171450" indent="-171450" algn="just" latinLnBrk="1">
                        <a:buFontTx/>
                        <a:buChar char="-"/>
                      </a:pPr>
                      <a:r>
                        <a:rPr lang="ko-KR" altLang="en-US" sz="1400" kern="1200" dirty="0">
                          <a:solidFill>
                            <a:schemeClr val="tx2"/>
                          </a:solidFill>
                          <a:latin typeface="+mn-lt"/>
                          <a:ea typeface="+mn-ea"/>
                          <a:cs typeface="+mn-cs"/>
                        </a:rPr>
                        <a:t>소프트웨어가 하드웨어의 물리적 변환을 야기시켜 그 물리적 변환으로 인하여 실제적 이용가능성이 명세서에 개시되어 있는 경우 발명의 </a:t>
                      </a:r>
                      <a:r>
                        <a:rPr lang="ko-KR" altLang="en-US" sz="1400" kern="1200" dirty="0" err="1">
                          <a:solidFill>
                            <a:schemeClr val="tx2"/>
                          </a:solidFill>
                          <a:latin typeface="+mn-lt"/>
                          <a:ea typeface="+mn-ea"/>
                          <a:cs typeface="+mn-cs"/>
                        </a:rPr>
                        <a:t>성립성이</a:t>
                      </a:r>
                      <a:r>
                        <a:rPr lang="ko-KR" altLang="en-US" sz="1400" kern="1200" dirty="0">
                          <a:solidFill>
                            <a:schemeClr val="tx2"/>
                          </a:solidFill>
                          <a:latin typeface="+mn-lt"/>
                          <a:ea typeface="+mn-ea"/>
                          <a:cs typeface="+mn-cs"/>
                        </a:rPr>
                        <a:t> 인정된다</a:t>
                      </a:r>
                      <a:r>
                        <a:rPr lang="en-US" altLang="ko-KR" sz="1400" kern="1200" dirty="0">
                          <a:solidFill>
                            <a:schemeClr val="tx2"/>
                          </a:solidFill>
                          <a:latin typeface="+mn-lt"/>
                          <a:ea typeface="+mn-ea"/>
                          <a:cs typeface="+mn-cs"/>
                        </a:rPr>
                        <a:t>(97</a:t>
                      </a:r>
                      <a:r>
                        <a:rPr lang="ko-KR" altLang="en-US" sz="1400" kern="1200" dirty="0">
                          <a:solidFill>
                            <a:schemeClr val="tx2"/>
                          </a:solidFill>
                          <a:latin typeface="+mn-lt"/>
                          <a:ea typeface="+mn-ea"/>
                          <a:cs typeface="+mn-cs"/>
                        </a:rPr>
                        <a:t>후</a:t>
                      </a:r>
                      <a:r>
                        <a:rPr lang="en-US" altLang="ko-KR" sz="1400" kern="1200" dirty="0">
                          <a:solidFill>
                            <a:schemeClr val="tx2"/>
                          </a:solidFill>
                          <a:latin typeface="+mn-lt"/>
                          <a:ea typeface="+mn-ea"/>
                          <a:cs typeface="+mn-cs"/>
                        </a:rPr>
                        <a:t>2507).</a:t>
                      </a:r>
                    </a:p>
                  </a:txBody>
                  <a:tcPr marL="108000" marR="108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4100260874"/>
                  </a:ext>
                </a:extLst>
              </a:tr>
            </a:tbl>
          </a:graphicData>
        </a:graphic>
      </p:graphicFrame>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22</a:t>
            </a:fld>
            <a:endParaRPr lang="ko-KR" altLang="en-US"/>
          </a:p>
        </p:txBody>
      </p:sp>
    </p:spTree>
    <p:extLst>
      <p:ext uri="{BB962C8B-B14F-4D97-AF65-F5344CB8AC3E}">
        <p14:creationId xmlns:p14="http://schemas.microsoft.com/office/powerpoint/2010/main" val="18955083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2</a:t>
            </a:r>
            <a:r>
              <a:rPr lang="ko-KR" altLang="en-US" dirty="0"/>
              <a:t>조</a:t>
            </a:r>
          </a:p>
        </p:txBody>
      </p:sp>
      <p:sp>
        <p:nvSpPr>
          <p:cNvPr id="4" name="텍스트 개체 틀 3"/>
          <p:cNvSpPr>
            <a:spLocks noGrp="1"/>
          </p:cNvSpPr>
          <p:nvPr>
            <p:ph type="body" sz="quarter" idx="13"/>
          </p:nvPr>
        </p:nvSpPr>
        <p:spPr/>
        <p:txBody>
          <a:bodyPr/>
          <a:lstStyle/>
          <a:p>
            <a:r>
              <a:rPr lang="ko-KR" altLang="en-US" dirty="0"/>
              <a:t>의약발명의 특허요건</a:t>
            </a:r>
          </a:p>
        </p:txBody>
      </p:sp>
      <p:sp>
        <p:nvSpPr>
          <p:cNvPr id="2" name="슬라이드 번호 개체 틀 1"/>
          <p:cNvSpPr>
            <a:spLocks noGrp="1"/>
          </p:cNvSpPr>
          <p:nvPr>
            <p:ph type="sldNum" sz="quarter" idx="4294967295"/>
          </p:nvPr>
        </p:nvSpPr>
        <p:spPr>
          <a:xfrm>
            <a:off x="11129963" y="0"/>
            <a:ext cx="1062037" cy="733425"/>
          </a:xfrm>
        </p:spPr>
        <p:txBody>
          <a:bodyPr/>
          <a:lstStyle/>
          <a:p>
            <a:fld id="{3875FC6C-1516-4DC4-8C58-3090F7D4F003}" type="slidenum">
              <a:rPr lang="ko-KR" altLang="en-US" smtClean="0"/>
              <a:t>23</a:t>
            </a:fld>
            <a:endParaRPr lang="ko-KR" altLang="en-US"/>
          </a:p>
        </p:txBody>
      </p:sp>
      <p:sp>
        <p:nvSpPr>
          <p:cNvPr id="31" name="TextBox 30">
            <a:extLst>
              <a:ext uri="{FF2B5EF4-FFF2-40B4-BE49-F238E27FC236}">
                <a16:creationId xmlns:a16="http://schemas.microsoft.com/office/drawing/2014/main" id="{AA5C7073-BEB0-49CC-943A-AD3268F823F6}"/>
              </a:ext>
            </a:extLst>
          </p:cNvPr>
          <p:cNvSpPr txBox="1"/>
          <p:nvPr/>
        </p:nvSpPr>
        <p:spPr>
          <a:xfrm>
            <a:off x="384792" y="1069095"/>
            <a:ext cx="3915604" cy="786866"/>
          </a:xfrm>
          <a:prstGeom prst="rect">
            <a:avLst/>
          </a:prstGeom>
          <a:solidFill>
            <a:schemeClr val="accent3">
              <a:lumMod val="20000"/>
              <a:lumOff val="80000"/>
            </a:schemeClr>
          </a:solidFill>
          <a:ln>
            <a:solidFill>
              <a:schemeClr val="bg1">
                <a:lumMod val="50000"/>
              </a:schemeClr>
            </a:solidFill>
          </a:ln>
        </p:spPr>
        <p:txBody>
          <a:bodyPr wrap="square" rtlCol="0" anchor="t">
            <a:noAutofit/>
          </a:bodyPr>
          <a:lstStyle/>
          <a:p>
            <a:r>
              <a:rPr lang="ko-KR" altLang="en-US" sz="1600" dirty="0"/>
              <a:t>발명의 </a:t>
            </a:r>
            <a:r>
              <a:rPr lang="ko-KR" altLang="en-US" sz="1600" dirty="0" err="1"/>
              <a:t>성립성</a:t>
            </a:r>
            <a:endParaRPr lang="en-US" altLang="ko-KR" sz="1600" dirty="0"/>
          </a:p>
          <a:p>
            <a:endParaRPr lang="en-US" altLang="ko-KR" sz="1600" dirty="0"/>
          </a:p>
          <a:p>
            <a:r>
              <a:rPr lang="ko-KR" altLang="en-US" sz="1200" dirty="0"/>
              <a:t>발견이지만 용도발명으로 </a:t>
            </a:r>
            <a:r>
              <a:rPr lang="ko-KR" altLang="en-US" sz="1200" dirty="0" err="1"/>
              <a:t>성립성</a:t>
            </a:r>
            <a:r>
              <a:rPr lang="ko-KR" altLang="en-US" sz="1200" dirty="0"/>
              <a:t> 인정</a:t>
            </a:r>
            <a:endParaRPr lang="en-US" altLang="ko-KR" sz="1200" dirty="0"/>
          </a:p>
          <a:p>
            <a:endParaRPr lang="ko-KR" altLang="en-US" sz="1600" dirty="0"/>
          </a:p>
        </p:txBody>
      </p:sp>
      <p:sp>
        <p:nvSpPr>
          <p:cNvPr id="33" name="TextBox 32">
            <a:extLst>
              <a:ext uri="{FF2B5EF4-FFF2-40B4-BE49-F238E27FC236}">
                <a16:creationId xmlns:a16="http://schemas.microsoft.com/office/drawing/2014/main" id="{B5BC74D5-D970-42CC-8EDB-9A85E3929BDB}"/>
              </a:ext>
            </a:extLst>
          </p:cNvPr>
          <p:cNvSpPr txBox="1"/>
          <p:nvPr/>
        </p:nvSpPr>
        <p:spPr>
          <a:xfrm>
            <a:off x="4381877" y="1069094"/>
            <a:ext cx="7481892" cy="2637747"/>
          </a:xfrm>
          <a:prstGeom prst="rect">
            <a:avLst/>
          </a:prstGeom>
          <a:noFill/>
          <a:ln>
            <a:solidFill>
              <a:schemeClr val="bg1">
                <a:lumMod val="50000"/>
              </a:schemeClr>
            </a:solidFill>
          </a:ln>
        </p:spPr>
        <p:txBody>
          <a:bodyPr wrap="square" rtlCol="0" anchor="t">
            <a:noAutofit/>
          </a:bodyPr>
          <a:lstStyle/>
          <a:p>
            <a:r>
              <a:rPr lang="ko-KR" altLang="en-US" sz="1600" dirty="0"/>
              <a:t>청구범위의 기재</a:t>
            </a:r>
            <a:endParaRPr lang="en-US" altLang="ko-KR" sz="1600" dirty="0"/>
          </a:p>
          <a:p>
            <a:endParaRPr lang="en-US" altLang="ko-KR" sz="1600" dirty="0"/>
          </a:p>
          <a:p>
            <a:r>
              <a:rPr lang="en-US" altLang="ko-KR" sz="1200" dirty="0"/>
              <a:t>[1] </a:t>
            </a:r>
            <a:r>
              <a:rPr lang="ko-KR" altLang="en-US" sz="1200" dirty="0"/>
              <a:t>의약용도발명의 구성요소</a:t>
            </a:r>
            <a:r>
              <a:rPr lang="en-US" altLang="ko-KR" sz="1200" dirty="0"/>
              <a:t>: </a:t>
            </a:r>
            <a:r>
              <a:rPr lang="ko-KR" altLang="en-US" sz="1200" dirty="0"/>
              <a:t>원칙은 </a:t>
            </a:r>
            <a:r>
              <a:rPr lang="ko-KR" altLang="en-US" sz="1200" dirty="0">
                <a:highlight>
                  <a:srgbClr val="FFFF00"/>
                </a:highlight>
              </a:rPr>
              <a:t>물질 </a:t>
            </a:r>
            <a:r>
              <a:rPr lang="en-US" altLang="ko-KR" sz="1200" dirty="0">
                <a:highlight>
                  <a:srgbClr val="FFFF00"/>
                </a:highlight>
              </a:rPr>
              <a:t>+</a:t>
            </a:r>
            <a:r>
              <a:rPr lang="ko-KR" altLang="en-US" sz="1200" dirty="0">
                <a:highlight>
                  <a:srgbClr val="FFFF00"/>
                </a:highlight>
              </a:rPr>
              <a:t> 용도</a:t>
            </a:r>
            <a:r>
              <a:rPr lang="en-US" altLang="ko-KR" sz="1200" dirty="0">
                <a:highlight>
                  <a:srgbClr val="FFFF00"/>
                </a:highlight>
              </a:rPr>
              <a:t>(</a:t>
            </a:r>
            <a:r>
              <a:rPr lang="ko-KR" altLang="en-US" sz="1200" dirty="0">
                <a:highlight>
                  <a:srgbClr val="FFFF00"/>
                </a:highlight>
              </a:rPr>
              <a:t>질병</a:t>
            </a:r>
            <a:r>
              <a:rPr lang="en-US" altLang="ko-KR" sz="1200" dirty="0">
                <a:highlight>
                  <a:srgbClr val="FFFF00"/>
                </a:highlight>
              </a:rPr>
              <a:t>, </a:t>
            </a:r>
            <a:r>
              <a:rPr lang="ko-KR" altLang="en-US" sz="1200" dirty="0">
                <a:highlight>
                  <a:srgbClr val="FFFF00"/>
                </a:highlight>
              </a:rPr>
              <a:t>약효</a:t>
            </a:r>
            <a:r>
              <a:rPr lang="en-US" altLang="ko-KR" sz="1200" dirty="0">
                <a:highlight>
                  <a:srgbClr val="FFFF00"/>
                </a:highlight>
              </a:rPr>
              <a:t>)</a:t>
            </a:r>
            <a:r>
              <a:rPr lang="ko-KR" altLang="en-US" sz="1200" dirty="0"/>
              <a:t>로 기재</a:t>
            </a:r>
            <a:endParaRPr lang="en-US" altLang="ko-KR" sz="1200" dirty="0"/>
          </a:p>
          <a:p>
            <a:pPr marL="227013" indent="-227013"/>
            <a:r>
              <a:rPr lang="en-US" altLang="ko-KR" sz="1200" dirty="0">
                <a:highlight>
                  <a:srgbClr val="FFFF00"/>
                </a:highlight>
              </a:rPr>
              <a:t>[2] </a:t>
            </a:r>
            <a:r>
              <a:rPr lang="ko-KR" altLang="en-US" sz="1200" dirty="0">
                <a:highlight>
                  <a:srgbClr val="FFFF00"/>
                </a:highlight>
              </a:rPr>
              <a:t>물질 </a:t>
            </a:r>
            <a:r>
              <a:rPr lang="en-US" altLang="ko-KR" sz="1200" dirty="0">
                <a:highlight>
                  <a:srgbClr val="FFFF00"/>
                </a:highlight>
              </a:rPr>
              <a:t>+</a:t>
            </a:r>
            <a:r>
              <a:rPr lang="ko-KR" altLang="en-US" sz="1200" dirty="0">
                <a:highlight>
                  <a:srgbClr val="FFFF00"/>
                </a:highlight>
              </a:rPr>
              <a:t> 약리기전</a:t>
            </a:r>
            <a:r>
              <a:rPr lang="en-US" altLang="ko-KR" sz="1200" dirty="0"/>
              <a:t>: </a:t>
            </a:r>
            <a:r>
              <a:rPr lang="ko-KR" altLang="en-US" sz="1200" dirty="0"/>
              <a:t>특정 물질의 의약용도가 약리기전만으로 기재되어 있다 하더라도 발명의 설명 등 명세서의 다른 기재나 기술상식에 의하여 </a:t>
            </a:r>
            <a:r>
              <a:rPr lang="ko-KR" altLang="en-US" sz="1200" dirty="0" err="1"/>
              <a:t>의약으로서의</a:t>
            </a:r>
            <a:r>
              <a:rPr lang="ko-KR" altLang="en-US" sz="1200" dirty="0"/>
              <a:t> 구체적인 용도를 명확하게 파악할 수 있는 경우에는 특허법 제</a:t>
            </a:r>
            <a:r>
              <a:rPr lang="en-US" altLang="ko-KR" sz="1200" dirty="0"/>
              <a:t>42</a:t>
            </a:r>
            <a:r>
              <a:rPr lang="ko-KR" altLang="en-US" sz="1200" dirty="0"/>
              <a:t>조 제</a:t>
            </a:r>
            <a:r>
              <a:rPr lang="en-US" altLang="ko-KR" sz="1200" dirty="0"/>
              <a:t>4</a:t>
            </a:r>
            <a:r>
              <a:rPr lang="ko-KR" altLang="en-US" sz="1200" dirty="0"/>
              <a:t>항 제</a:t>
            </a:r>
            <a:r>
              <a:rPr lang="en-US" altLang="ko-KR" sz="1200" dirty="0"/>
              <a:t>2</a:t>
            </a:r>
            <a:r>
              <a:rPr lang="ko-KR" altLang="en-US" sz="1200" dirty="0"/>
              <a:t>호가 정한 청구항의 명확성 요건을 충족</a:t>
            </a:r>
            <a:r>
              <a:rPr lang="en-US" altLang="ko-KR" sz="1200" dirty="0"/>
              <a:t>(</a:t>
            </a:r>
            <a:r>
              <a:rPr lang="ko-KR" altLang="en-US" sz="1200" dirty="0"/>
              <a:t>대법원 </a:t>
            </a:r>
            <a:r>
              <a:rPr lang="en-US" altLang="ko-KR" sz="1200" dirty="0"/>
              <a:t>2009. 11. 12. </a:t>
            </a:r>
            <a:r>
              <a:rPr lang="ko-KR" altLang="en-US" sz="1200" dirty="0"/>
              <a:t>선고 </a:t>
            </a:r>
            <a:r>
              <a:rPr lang="en-US" altLang="ko-KR" sz="1200" dirty="0"/>
              <a:t>2007</a:t>
            </a:r>
            <a:r>
              <a:rPr lang="ko-KR" altLang="en-US" sz="1200" dirty="0"/>
              <a:t>후</a:t>
            </a:r>
            <a:r>
              <a:rPr lang="en-US" altLang="ko-KR" sz="1200" dirty="0"/>
              <a:t>5215).</a:t>
            </a:r>
          </a:p>
          <a:p>
            <a:pPr marL="227013" indent="-227013"/>
            <a:r>
              <a:rPr lang="en-US" altLang="ko-KR" sz="1200" dirty="0">
                <a:highlight>
                  <a:srgbClr val="FFFF00"/>
                </a:highlight>
              </a:rPr>
              <a:t>[3] </a:t>
            </a:r>
            <a:r>
              <a:rPr lang="ko-KR" altLang="en-US" sz="1200" dirty="0">
                <a:highlight>
                  <a:srgbClr val="FFFF00"/>
                </a:highlight>
              </a:rPr>
              <a:t>물질 </a:t>
            </a:r>
            <a:r>
              <a:rPr lang="en-US" altLang="ko-KR" sz="1200" dirty="0">
                <a:highlight>
                  <a:srgbClr val="FFFF00"/>
                </a:highlight>
              </a:rPr>
              <a:t>+</a:t>
            </a:r>
            <a:r>
              <a:rPr lang="ko-KR" altLang="en-US" sz="1200" dirty="0">
                <a:highlight>
                  <a:srgbClr val="FFFF00"/>
                </a:highlight>
              </a:rPr>
              <a:t> 약리기전 </a:t>
            </a:r>
            <a:r>
              <a:rPr lang="en-US" altLang="ko-KR" sz="1200" dirty="0">
                <a:highlight>
                  <a:srgbClr val="FFFF00"/>
                </a:highlight>
              </a:rPr>
              <a:t>+ </a:t>
            </a:r>
            <a:r>
              <a:rPr lang="ko-KR" altLang="en-US" sz="1200" dirty="0">
                <a:highlight>
                  <a:srgbClr val="FFFF00"/>
                </a:highlight>
              </a:rPr>
              <a:t>용도</a:t>
            </a:r>
            <a:r>
              <a:rPr lang="en-US" altLang="ko-KR" sz="1200" dirty="0">
                <a:highlight>
                  <a:srgbClr val="FFFF00"/>
                </a:highlight>
              </a:rPr>
              <a:t>(</a:t>
            </a:r>
            <a:r>
              <a:rPr lang="ko-KR" altLang="en-US" sz="1200" dirty="0">
                <a:highlight>
                  <a:srgbClr val="FFFF00"/>
                </a:highlight>
              </a:rPr>
              <a:t>질병</a:t>
            </a:r>
            <a:r>
              <a:rPr lang="en-US" altLang="ko-KR" sz="1200" dirty="0">
                <a:highlight>
                  <a:srgbClr val="FFFF00"/>
                </a:highlight>
              </a:rPr>
              <a:t>, </a:t>
            </a:r>
            <a:r>
              <a:rPr lang="ko-KR" altLang="en-US" sz="1200" dirty="0">
                <a:highlight>
                  <a:srgbClr val="FFFF00"/>
                </a:highlight>
              </a:rPr>
              <a:t>약효</a:t>
            </a:r>
            <a:r>
              <a:rPr lang="en-US" altLang="ko-KR" sz="1200" dirty="0">
                <a:highlight>
                  <a:srgbClr val="FFFF00"/>
                </a:highlight>
              </a:rPr>
              <a:t>)</a:t>
            </a:r>
            <a:r>
              <a:rPr lang="en-US" altLang="ko-KR" sz="1200" dirty="0"/>
              <a:t>: </a:t>
            </a:r>
            <a:r>
              <a:rPr lang="ko-KR" altLang="en-US" sz="1200" dirty="0"/>
              <a:t>약리기전은 특정 물질이 가지고 있는 의약용도를 특정하는 한도 내에서만 발명의 구성요소로서 의미를 가질 뿐</a:t>
            </a:r>
            <a:r>
              <a:rPr lang="en-US" altLang="ko-KR" sz="1200" dirty="0"/>
              <a:t>, </a:t>
            </a:r>
            <a:r>
              <a:rPr lang="ko-KR" altLang="en-US" sz="1200" dirty="0"/>
              <a:t>약리기전 그 자체가 청구범위를 한정하는 구성요소라고 볼 수 없다</a:t>
            </a:r>
            <a:r>
              <a:rPr lang="en-US" altLang="ko-KR" sz="1200" dirty="0"/>
              <a:t>. </a:t>
            </a:r>
            <a:r>
              <a:rPr lang="ko-KR" altLang="en-US" sz="1200" dirty="0"/>
              <a:t>따라서</a:t>
            </a:r>
            <a:r>
              <a:rPr lang="en-US" altLang="ko-KR" sz="1200" dirty="0"/>
              <a:t>, </a:t>
            </a:r>
            <a:r>
              <a:rPr lang="ko-KR" altLang="en-US" sz="1200" dirty="0"/>
              <a:t>정정심판에서 약리기전을 추가하는 정정을 하는 경우 용도를 </a:t>
            </a:r>
            <a:r>
              <a:rPr lang="en-US" altLang="ko-KR" sz="1200" dirty="0"/>
              <a:t>2</a:t>
            </a:r>
            <a:r>
              <a:rPr lang="ko-KR" altLang="en-US" sz="1200" dirty="0"/>
              <a:t>번 기재하는 것에 지나지 않아서 청구범위의 감축이라 할 수 없기 때문에 정정을 인정할 수 없고</a:t>
            </a:r>
            <a:r>
              <a:rPr lang="en-US" altLang="ko-KR" sz="1200" dirty="0"/>
              <a:t>(</a:t>
            </a:r>
            <a:r>
              <a:rPr lang="ko-KR" altLang="en-US" sz="1200" dirty="0"/>
              <a:t>대법원 </a:t>
            </a:r>
            <a:r>
              <a:rPr lang="en-US" altLang="ko-KR" sz="1200" dirty="0"/>
              <a:t>2014. 5. 16. </a:t>
            </a:r>
            <a:r>
              <a:rPr lang="ko-KR" altLang="en-US" sz="1200" dirty="0"/>
              <a:t>선고 </a:t>
            </a:r>
            <a:r>
              <a:rPr lang="en-US" altLang="ko-KR" sz="1200" dirty="0"/>
              <a:t>2012</a:t>
            </a:r>
            <a:r>
              <a:rPr lang="ko-KR" altLang="en-US" sz="1200" dirty="0"/>
              <a:t>후</a:t>
            </a:r>
            <a:r>
              <a:rPr lang="en-US" altLang="ko-KR" sz="1200" dirty="0"/>
              <a:t>238), </a:t>
            </a:r>
            <a:r>
              <a:rPr lang="ko-KR" altLang="en-US" sz="1200" dirty="0"/>
              <a:t>거절결정불복심판에서 물질 </a:t>
            </a:r>
            <a:r>
              <a:rPr lang="en-US" altLang="ko-KR" sz="1200" dirty="0"/>
              <a:t>+ </a:t>
            </a:r>
            <a:r>
              <a:rPr lang="ko-KR" altLang="en-US" sz="1200" dirty="0"/>
              <a:t>약리기전 </a:t>
            </a:r>
            <a:r>
              <a:rPr lang="en-US" altLang="ko-KR" sz="1200" dirty="0"/>
              <a:t>+ </a:t>
            </a:r>
            <a:r>
              <a:rPr lang="ko-KR" altLang="en-US" sz="1200" dirty="0"/>
              <a:t>용도로 청구범위가 기재된 경우 물질 </a:t>
            </a:r>
            <a:r>
              <a:rPr lang="en-US" altLang="ko-KR" sz="1200" dirty="0"/>
              <a:t>+ </a:t>
            </a:r>
            <a:r>
              <a:rPr lang="ko-KR" altLang="en-US" sz="1200" dirty="0"/>
              <a:t>용도로 발명을 특정해야 함</a:t>
            </a:r>
            <a:r>
              <a:rPr lang="en-US" altLang="ko-KR" sz="1200" dirty="0"/>
              <a:t>(</a:t>
            </a:r>
            <a:r>
              <a:rPr lang="ko-KR" altLang="en-US" sz="1200" dirty="0"/>
              <a:t>대법원 </a:t>
            </a:r>
            <a:r>
              <a:rPr lang="en-US" altLang="ko-KR" sz="1200" dirty="0"/>
              <a:t>2014. 5. 16. </a:t>
            </a:r>
            <a:r>
              <a:rPr lang="ko-KR" altLang="en-US" sz="1200" dirty="0"/>
              <a:t>선고 </a:t>
            </a:r>
            <a:r>
              <a:rPr lang="en-US" altLang="ko-KR" sz="1200" dirty="0"/>
              <a:t>2012</a:t>
            </a:r>
            <a:r>
              <a:rPr lang="ko-KR" altLang="en-US" sz="1200" dirty="0"/>
              <a:t>후</a:t>
            </a:r>
            <a:r>
              <a:rPr lang="en-US" altLang="ko-KR" sz="1200" dirty="0"/>
              <a:t>3664).</a:t>
            </a:r>
          </a:p>
          <a:p>
            <a:pPr marL="227013" indent="-227013"/>
            <a:r>
              <a:rPr lang="en-US" altLang="ko-KR" sz="1200" dirty="0">
                <a:highlight>
                  <a:srgbClr val="FFFF00"/>
                </a:highlight>
                <a:latin typeface="+mn-ea"/>
              </a:rPr>
              <a:t>[4] </a:t>
            </a:r>
            <a:r>
              <a:rPr lang="ko-KR" altLang="en-US" sz="1200" dirty="0">
                <a:highlight>
                  <a:srgbClr val="FFFF00"/>
                </a:highlight>
                <a:latin typeface="+mn-ea"/>
              </a:rPr>
              <a:t>물질 </a:t>
            </a:r>
            <a:r>
              <a:rPr lang="en-US" altLang="ko-KR" sz="1200" dirty="0">
                <a:highlight>
                  <a:srgbClr val="FFFF00"/>
                </a:highlight>
                <a:latin typeface="+mn-ea"/>
              </a:rPr>
              <a:t>+ </a:t>
            </a:r>
            <a:r>
              <a:rPr lang="ko-KR" altLang="en-US" sz="1200" dirty="0">
                <a:highlight>
                  <a:srgbClr val="FFFF00"/>
                </a:highlight>
                <a:latin typeface="+mn-ea"/>
              </a:rPr>
              <a:t>용도</a:t>
            </a:r>
            <a:r>
              <a:rPr lang="en-US" altLang="ko-KR" sz="1200" dirty="0">
                <a:highlight>
                  <a:srgbClr val="FFFF00"/>
                </a:highlight>
                <a:latin typeface="+mn-ea"/>
              </a:rPr>
              <a:t>(</a:t>
            </a:r>
            <a:r>
              <a:rPr lang="ko-KR" altLang="en-US" sz="1200" dirty="0">
                <a:highlight>
                  <a:srgbClr val="FFFF00"/>
                </a:highlight>
                <a:latin typeface="+mn-ea"/>
              </a:rPr>
              <a:t>질병</a:t>
            </a:r>
            <a:r>
              <a:rPr lang="en-US" altLang="ko-KR" sz="1200" dirty="0">
                <a:highlight>
                  <a:srgbClr val="FFFF00"/>
                </a:highlight>
                <a:latin typeface="+mn-ea"/>
              </a:rPr>
              <a:t>, </a:t>
            </a:r>
            <a:r>
              <a:rPr lang="ko-KR" altLang="en-US" sz="1200" dirty="0">
                <a:highlight>
                  <a:srgbClr val="FFFF00"/>
                </a:highlight>
                <a:latin typeface="+mn-ea"/>
              </a:rPr>
              <a:t>약효</a:t>
            </a:r>
            <a:r>
              <a:rPr lang="en-US" altLang="ko-KR" sz="1200" dirty="0">
                <a:highlight>
                  <a:srgbClr val="FFFF00"/>
                </a:highlight>
                <a:latin typeface="+mn-ea"/>
              </a:rPr>
              <a:t>) + </a:t>
            </a:r>
            <a:r>
              <a:rPr lang="ko-KR" altLang="en-US" sz="1200" dirty="0">
                <a:highlight>
                  <a:srgbClr val="FFFF00"/>
                </a:highlight>
                <a:latin typeface="+mn-ea"/>
              </a:rPr>
              <a:t>투여용법</a:t>
            </a:r>
            <a:r>
              <a:rPr lang="en-US" altLang="ko-KR" sz="1200" dirty="0">
                <a:highlight>
                  <a:srgbClr val="FFFF00"/>
                </a:highlight>
                <a:latin typeface="+mn-ea"/>
              </a:rPr>
              <a:t>/</a:t>
            </a:r>
            <a:r>
              <a:rPr lang="ko-KR" altLang="en-US" sz="1200" dirty="0">
                <a:highlight>
                  <a:srgbClr val="FFFF00"/>
                </a:highlight>
                <a:latin typeface="+mn-ea"/>
              </a:rPr>
              <a:t>투여용량</a:t>
            </a:r>
            <a:r>
              <a:rPr lang="en-US" altLang="ko-KR" sz="1200" dirty="0">
                <a:latin typeface="+mn-ea"/>
              </a:rPr>
              <a:t>: </a:t>
            </a:r>
            <a:r>
              <a:rPr lang="ko-KR" altLang="en-US" sz="1200" dirty="0">
                <a:latin typeface="+mn-ea"/>
              </a:rPr>
              <a:t>투여용법</a:t>
            </a:r>
            <a:r>
              <a:rPr lang="en-US" altLang="ko-KR" sz="1200" dirty="0">
                <a:latin typeface="+mn-ea"/>
              </a:rPr>
              <a:t>/</a:t>
            </a:r>
            <a:r>
              <a:rPr lang="ko-KR" altLang="en-US" sz="1200" dirty="0">
                <a:latin typeface="+mn-ea"/>
              </a:rPr>
              <a:t>투여용량은 새로운 용도로서 발명의 구성요소로 인정</a:t>
            </a:r>
            <a:r>
              <a:rPr lang="en-US" altLang="ko-KR" sz="1200" dirty="0">
                <a:latin typeface="+mn-ea"/>
              </a:rPr>
              <a:t>(</a:t>
            </a:r>
            <a:r>
              <a:rPr lang="ko-KR" altLang="en-US" sz="1200" dirty="0">
                <a:latin typeface="+mn-ea"/>
              </a:rPr>
              <a:t>대법원 </a:t>
            </a:r>
            <a:r>
              <a:rPr lang="en-US" altLang="ko-KR" sz="1200" dirty="0">
                <a:latin typeface="+mn-ea"/>
              </a:rPr>
              <a:t>2015. 5. 21. </a:t>
            </a:r>
            <a:r>
              <a:rPr lang="ko-KR" altLang="en-US" sz="1200" dirty="0">
                <a:latin typeface="+mn-ea"/>
              </a:rPr>
              <a:t>선고 </a:t>
            </a:r>
            <a:r>
              <a:rPr lang="en-US" altLang="ko-KR" sz="1200" dirty="0">
                <a:latin typeface="+mn-ea"/>
              </a:rPr>
              <a:t>2014</a:t>
            </a:r>
            <a:r>
              <a:rPr lang="ko-KR" altLang="en-US" sz="1200" dirty="0">
                <a:latin typeface="+mn-ea"/>
              </a:rPr>
              <a:t>후</a:t>
            </a:r>
            <a:r>
              <a:rPr lang="en-US" altLang="ko-KR" sz="1200" dirty="0">
                <a:latin typeface="+mn-ea"/>
              </a:rPr>
              <a:t>768).</a:t>
            </a:r>
          </a:p>
          <a:p>
            <a:endParaRPr lang="ko-KR" altLang="en-US" sz="1200" dirty="0"/>
          </a:p>
          <a:p>
            <a:endParaRPr lang="ko-KR" altLang="en-US" sz="1600" dirty="0"/>
          </a:p>
        </p:txBody>
      </p:sp>
      <p:sp>
        <p:nvSpPr>
          <p:cNvPr id="34" name="TextBox 33">
            <a:extLst>
              <a:ext uri="{FF2B5EF4-FFF2-40B4-BE49-F238E27FC236}">
                <a16:creationId xmlns:a16="http://schemas.microsoft.com/office/drawing/2014/main" id="{323904E6-520D-4C13-A889-62240018A4E0}"/>
              </a:ext>
            </a:extLst>
          </p:cNvPr>
          <p:cNvSpPr txBox="1"/>
          <p:nvPr/>
        </p:nvSpPr>
        <p:spPr>
          <a:xfrm>
            <a:off x="384792" y="4031153"/>
            <a:ext cx="3879390" cy="1212654"/>
          </a:xfrm>
          <a:prstGeom prst="rect">
            <a:avLst/>
          </a:prstGeom>
          <a:noFill/>
          <a:ln>
            <a:solidFill>
              <a:schemeClr val="bg1">
                <a:lumMod val="50000"/>
              </a:schemeClr>
            </a:solidFill>
          </a:ln>
        </p:spPr>
        <p:txBody>
          <a:bodyPr wrap="square" rtlCol="0" anchor="t">
            <a:noAutofit/>
          </a:bodyPr>
          <a:lstStyle/>
          <a:p>
            <a:r>
              <a:rPr lang="ko-KR" altLang="en-US" sz="1600" dirty="0"/>
              <a:t>산업상 이용가능성</a:t>
            </a:r>
            <a:endParaRPr lang="en-US" altLang="ko-KR" sz="1600" dirty="0"/>
          </a:p>
          <a:p>
            <a:endParaRPr lang="en-US" altLang="ko-KR" sz="1600" dirty="0"/>
          </a:p>
          <a:p>
            <a:r>
              <a:rPr lang="ko-KR" altLang="en-US" sz="1200" dirty="0"/>
              <a:t>의약발명은 인체를 직접적인 구성요소로 하지 아니하여야만 산업상 이용가능성이 인정</a:t>
            </a:r>
          </a:p>
          <a:p>
            <a:endParaRPr lang="ko-KR" altLang="en-US" sz="1200" dirty="0"/>
          </a:p>
          <a:p>
            <a:endParaRPr lang="ko-KR" altLang="en-US" sz="1600" dirty="0"/>
          </a:p>
        </p:txBody>
      </p:sp>
      <p:sp>
        <p:nvSpPr>
          <p:cNvPr id="36" name="TextBox 35">
            <a:extLst>
              <a:ext uri="{FF2B5EF4-FFF2-40B4-BE49-F238E27FC236}">
                <a16:creationId xmlns:a16="http://schemas.microsoft.com/office/drawing/2014/main" id="{6D18F28C-A959-46DF-BC9C-88F5DFC222C9}"/>
              </a:ext>
            </a:extLst>
          </p:cNvPr>
          <p:cNvSpPr txBox="1"/>
          <p:nvPr/>
        </p:nvSpPr>
        <p:spPr>
          <a:xfrm>
            <a:off x="4381877" y="3786714"/>
            <a:ext cx="2842788" cy="2847342"/>
          </a:xfrm>
          <a:prstGeom prst="rect">
            <a:avLst/>
          </a:prstGeom>
          <a:noFill/>
          <a:ln>
            <a:solidFill>
              <a:schemeClr val="bg1">
                <a:lumMod val="50000"/>
              </a:schemeClr>
            </a:solidFill>
          </a:ln>
        </p:spPr>
        <p:txBody>
          <a:bodyPr wrap="square" rtlCol="0" anchor="t">
            <a:noAutofit/>
          </a:bodyPr>
          <a:lstStyle/>
          <a:p>
            <a:r>
              <a:rPr lang="ko-KR" altLang="en-US" sz="1600" dirty="0"/>
              <a:t>신규성</a:t>
            </a:r>
            <a:endParaRPr lang="en-US" altLang="ko-KR" sz="1600" dirty="0"/>
          </a:p>
          <a:p>
            <a:endParaRPr lang="en-US" altLang="ko-KR" sz="1600" dirty="0"/>
          </a:p>
          <a:p>
            <a:r>
              <a:rPr lang="ko-KR" altLang="en-US" sz="1200" dirty="0"/>
              <a:t>화학물질이나 의약품 등의 경우에는 통상의 기술자가 특허발명의 출원일 또는 우선권 주장일 전에 사용할 수 있었던 분석방법을 통해 과도한 노력을 기울이지 않고 그 조성이나 성분을 알 수 없었다면 비록 공연히 판매되었더라도 불특정다수인이 인식할 수 있는 상태였다고 볼 수 없어 신규성이 상실되지 아니한다</a:t>
            </a:r>
            <a:r>
              <a:rPr lang="en-US" altLang="ko-KR" sz="1200" dirty="0"/>
              <a:t>. </a:t>
            </a:r>
            <a:r>
              <a:rPr lang="ko-KR" altLang="en-US" sz="1200" dirty="0"/>
              <a:t>불특정다수인이 발명의 내용을 인식할 수 있는 상태에 놓인 점에 대해서는 이를 주장하는 자가 증명하여야 한다</a:t>
            </a:r>
            <a:r>
              <a:rPr lang="en-US" altLang="ko-KR" sz="1200" dirty="0"/>
              <a:t>(</a:t>
            </a:r>
            <a:r>
              <a:rPr lang="ko-KR" altLang="en-US" sz="1200" dirty="0"/>
              <a:t>특허법원 </a:t>
            </a:r>
            <a:r>
              <a:rPr lang="en-US" altLang="ko-KR" sz="1200" dirty="0"/>
              <a:t>2018. 1. 11. </a:t>
            </a:r>
            <a:r>
              <a:rPr lang="ko-KR" altLang="en-US" sz="1200" dirty="0"/>
              <a:t>선고 </a:t>
            </a:r>
            <a:r>
              <a:rPr lang="en-US" altLang="ko-KR" sz="1200" dirty="0"/>
              <a:t>2017</a:t>
            </a:r>
            <a:r>
              <a:rPr lang="ko-KR" altLang="en-US" sz="1200" dirty="0"/>
              <a:t>나</a:t>
            </a:r>
            <a:r>
              <a:rPr lang="en-US" altLang="ko-KR" sz="1200" dirty="0"/>
              <a:t>1247).</a:t>
            </a:r>
            <a:endParaRPr lang="ko-KR" altLang="en-US" sz="1200" dirty="0"/>
          </a:p>
          <a:p>
            <a:endParaRPr lang="ko-KR" altLang="en-US" sz="1200" dirty="0"/>
          </a:p>
          <a:p>
            <a:endParaRPr lang="ko-KR" altLang="en-US" sz="1600" dirty="0"/>
          </a:p>
        </p:txBody>
      </p:sp>
      <p:sp>
        <p:nvSpPr>
          <p:cNvPr id="37" name="TextBox 36">
            <a:extLst>
              <a:ext uri="{FF2B5EF4-FFF2-40B4-BE49-F238E27FC236}">
                <a16:creationId xmlns:a16="http://schemas.microsoft.com/office/drawing/2014/main" id="{90885964-5DB5-406C-814B-04A171AA297A}"/>
              </a:ext>
            </a:extLst>
          </p:cNvPr>
          <p:cNvSpPr txBox="1"/>
          <p:nvPr/>
        </p:nvSpPr>
        <p:spPr>
          <a:xfrm>
            <a:off x="384792" y="5341544"/>
            <a:ext cx="3897497" cy="1292511"/>
          </a:xfrm>
          <a:prstGeom prst="rect">
            <a:avLst/>
          </a:prstGeom>
          <a:solidFill>
            <a:schemeClr val="bg1">
              <a:lumMod val="95000"/>
            </a:schemeClr>
          </a:solidFill>
          <a:ln>
            <a:solidFill>
              <a:schemeClr val="bg1">
                <a:lumMod val="50000"/>
              </a:schemeClr>
            </a:solidFill>
          </a:ln>
        </p:spPr>
        <p:txBody>
          <a:bodyPr wrap="square" rtlCol="0" anchor="t">
            <a:noAutofit/>
          </a:bodyPr>
          <a:lstStyle/>
          <a:p>
            <a:r>
              <a:rPr lang="ko-KR" altLang="en-US" sz="1600" dirty="0" err="1"/>
              <a:t>불특허발명</a:t>
            </a:r>
            <a:endParaRPr lang="en-US" altLang="ko-KR" sz="1600" dirty="0"/>
          </a:p>
          <a:p>
            <a:endParaRPr lang="en-US" altLang="ko-KR" sz="1600" dirty="0"/>
          </a:p>
          <a:p>
            <a:r>
              <a:rPr lang="ko-KR" altLang="en-US" sz="1200" dirty="0"/>
              <a:t>그 발명을 실행할 때 필연적으로 신체를 손상하거나</a:t>
            </a:r>
            <a:r>
              <a:rPr lang="en-US" altLang="ko-KR" sz="1200" dirty="0"/>
              <a:t>, </a:t>
            </a:r>
            <a:r>
              <a:rPr lang="ko-KR" altLang="en-US" sz="1200" dirty="0"/>
              <a:t>신체의 자유를 비인도적으로 구속하지 아니하여야만 공서양속에 위반되거나 공중의 위생을 해칠 우려가 있는 발명에 해당하지 않음</a:t>
            </a:r>
          </a:p>
          <a:p>
            <a:endParaRPr lang="ko-KR" altLang="en-US" sz="1200" dirty="0"/>
          </a:p>
          <a:p>
            <a:endParaRPr lang="ko-KR" altLang="en-US" sz="1600" dirty="0"/>
          </a:p>
        </p:txBody>
      </p:sp>
      <p:sp>
        <p:nvSpPr>
          <p:cNvPr id="10" name="TextBox 9">
            <a:extLst>
              <a:ext uri="{FF2B5EF4-FFF2-40B4-BE49-F238E27FC236}">
                <a16:creationId xmlns:a16="http://schemas.microsoft.com/office/drawing/2014/main" id="{14CDDFCA-9FBD-4E64-98D8-DBACC9269D75}"/>
              </a:ext>
            </a:extLst>
          </p:cNvPr>
          <p:cNvSpPr txBox="1"/>
          <p:nvPr/>
        </p:nvSpPr>
        <p:spPr>
          <a:xfrm>
            <a:off x="7342360" y="3786714"/>
            <a:ext cx="4521410" cy="2847342"/>
          </a:xfrm>
          <a:prstGeom prst="rect">
            <a:avLst/>
          </a:prstGeom>
          <a:solidFill>
            <a:schemeClr val="bg1">
              <a:lumMod val="95000"/>
            </a:schemeClr>
          </a:solidFill>
          <a:ln>
            <a:solidFill>
              <a:schemeClr val="bg1">
                <a:lumMod val="50000"/>
              </a:schemeClr>
            </a:solidFill>
          </a:ln>
        </p:spPr>
        <p:txBody>
          <a:bodyPr wrap="square" rtlCol="0" anchor="t">
            <a:noAutofit/>
          </a:bodyPr>
          <a:lstStyle/>
          <a:p>
            <a:r>
              <a:rPr lang="ko-KR" altLang="en-US" sz="1600" dirty="0"/>
              <a:t>진보성</a:t>
            </a:r>
            <a:endParaRPr lang="en-US" altLang="ko-KR" sz="1600" dirty="0"/>
          </a:p>
          <a:p>
            <a:endParaRPr lang="en-US" altLang="ko-KR" sz="1600" dirty="0"/>
          </a:p>
          <a:p>
            <a:pPr marL="214313" indent="-214313"/>
            <a:r>
              <a:rPr lang="en-US" altLang="ko-KR" sz="1200" dirty="0"/>
              <a:t>[1] </a:t>
            </a:r>
            <a:r>
              <a:rPr lang="ko-KR" altLang="en-US" sz="1200" dirty="0"/>
              <a:t>특정한 투여용법이나 투여용량으로 인하여 나타난 유리한 효과가 통상의 기술자의 기술수준에서 예측되는 범위를 넘는 현저한 경우이거나 또는 통상의 기술자가 당해 </a:t>
            </a:r>
            <a:r>
              <a:rPr lang="ko-KR" altLang="en-US" sz="1200" dirty="0">
                <a:highlight>
                  <a:srgbClr val="FFFF00"/>
                </a:highlight>
              </a:rPr>
              <a:t>의약발명의 약리효과가 온전히 유지되면서 독성이나 부작용이 최소화</a:t>
            </a:r>
            <a:r>
              <a:rPr lang="ko-KR" altLang="en-US" sz="1200" dirty="0"/>
              <a:t>되는 특정한 투여용법이나 투여용량을 선행발명 또는 공지의 발명으로부터 예측할 수 없었던 경우에는 그 진보성이 부정되지 아니한다</a:t>
            </a:r>
            <a:r>
              <a:rPr lang="en-US" altLang="ko-KR" sz="1200" dirty="0"/>
              <a:t>(</a:t>
            </a:r>
            <a:r>
              <a:rPr lang="ko-KR" altLang="en-US" sz="1200" dirty="0"/>
              <a:t>특허법원 </a:t>
            </a:r>
            <a:r>
              <a:rPr lang="en-US" altLang="ko-KR" sz="1200" dirty="0"/>
              <a:t>2017. 2. 3. </a:t>
            </a:r>
            <a:r>
              <a:rPr lang="ko-KR" altLang="en-US" sz="1200" dirty="0"/>
              <a:t>선고 </a:t>
            </a:r>
            <a:r>
              <a:rPr lang="en-US" altLang="ko-KR" sz="1200" dirty="0"/>
              <a:t>2016</a:t>
            </a:r>
            <a:r>
              <a:rPr lang="ko-KR" altLang="en-US" sz="1200" dirty="0"/>
              <a:t>허</a:t>
            </a:r>
            <a:r>
              <a:rPr lang="en-US" altLang="ko-KR" sz="1200" dirty="0"/>
              <a:t>830).</a:t>
            </a:r>
            <a:r>
              <a:rPr lang="ko-KR" altLang="en-US" sz="1200" dirty="0"/>
              <a:t> </a:t>
            </a:r>
            <a:endParaRPr lang="en-US" altLang="ko-KR" sz="1200" dirty="0"/>
          </a:p>
          <a:p>
            <a:pPr marL="214313" indent="-214313"/>
            <a:r>
              <a:rPr lang="en-US" altLang="ko-KR" sz="1200" dirty="0"/>
              <a:t>[2] </a:t>
            </a:r>
            <a:r>
              <a:rPr lang="ko-KR" altLang="en-US" sz="1200" dirty="0"/>
              <a:t>의약용도발명에서는 통상의 기술자가 </a:t>
            </a:r>
            <a:r>
              <a:rPr lang="ko-KR" altLang="en-US" sz="1200" dirty="0" err="1"/>
              <a:t>선행발명들로부터</a:t>
            </a:r>
            <a:r>
              <a:rPr lang="ko-KR" altLang="en-US" sz="1200" dirty="0"/>
              <a:t> 특정 물질의 특정 질병에 대한 치료효과를 쉽게 예측할 수 있는 정도에 불과하다면 그 진보성이 부정되고</a:t>
            </a:r>
            <a:r>
              <a:rPr lang="en-US" altLang="ko-KR" sz="1200" dirty="0"/>
              <a:t>, </a:t>
            </a:r>
            <a:r>
              <a:rPr lang="ko-KR" altLang="en-US" sz="1200" dirty="0"/>
              <a:t>이러한 경우 </a:t>
            </a:r>
            <a:r>
              <a:rPr lang="ko-KR" altLang="en-US" sz="1200" dirty="0" err="1">
                <a:highlight>
                  <a:srgbClr val="FFFF00"/>
                </a:highlight>
              </a:rPr>
              <a:t>선행발명들에서</a:t>
            </a:r>
            <a:r>
              <a:rPr lang="ko-KR" altLang="en-US" sz="1200" dirty="0">
                <a:highlight>
                  <a:srgbClr val="FFFF00"/>
                </a:highlight>
              </a:rPr>
              <a:t> 임상시험 등에 의한 치료효과가 확인될 것까지 요구된다고 볼 수 없다</a:t>
            </a:r>
            <a:r>
              <a:rPr lang="en-US" altLang="ko-KR" sz="1200" dirty="0"/>
              <a:t>(</a:t>
            </a:r>
            <a:r>
              <a:rPr lang="ko-KR" altLang="en-US" sz="1200" dirty="0"/>
              <a:t>대법원 </a:t>
            </a:r>
            <a:r>
              <a:rPr lang="en-US" altLang="ko-KR" sz="1200" dirty="0"/>
              <a:t>2019. 1. 31. </a:t>
            </a:r>
            <a:r>
              <a:rPr lang="ko-KR" altLang="en-US" sz="1200" dirty="0"/>
              <a:t>선고 </a:t>
            </a:r>
            <a:r>
              <a:rPr lang="en-US" altLang="ko-KR" sz="1200" dirty="0"/>
              <a:t>2016</a:t>
            </a:r>
            <a:r>
              <a:rPr lang="ko-KR" altLang="en-US" sz="1200" dirty="0"/>
              <a:t>후</a:t>
            </a:r>
            <a:r>
              <a:rPr lang="en-US" altLang="ko-KR" sz="1200" dirty="0"/>
              <a:t>502).</a:t>
            </a:r>
            <a:endParaRPr lang="ko-KR" altLang="en-US" sz="1200" dirty="0"/>
          </a:p>
          <a:p>
            <a:endParaRPr lang="ko-KR" altLang="en-US" sz="1200" dirty="0"/>
          </a:p>
          <a:p>
            <a:endParaRPr lang="ko-KR" altLang="en-US" sz="1600" dirty="0"/>
          </a:p>
        </p:txBody>
      </p:sp>
      <p:sp>
        <p:nvSpPr>
          <p:cNvPr id="11" name="TextBox 10">
            <a:extLst>
              <a:ext uri="{FF2B5EF4-FFF2-40B4-BE49-F238E27FC236}">
                <a16:creationId xmlns:a16="http://schemas.microsoft.com/office/drawing/2014/main" id="{E559CDE3-AD20-44E5-A4F0-12870FAC4014}"/>
              </a:ext>
            </a:extLst>
          </p:cNvPr>
          <p:cNvSpPr txBox="1"/>
          <p:nvPr/>
        </p:nvSpPr>
        <p:spPr>
          <a:xfrm>
            <a:off x="384792" y="1997272"/>
            <a:ext cx="3915604" cy="1936144"/>
          </a:xfrm>
          <a:prstGeom prst="rect">
            <a:avLst/>
          </a:prstGeom>
          <a:noFill/>
          <a:ln>
            <a:solidFill>
              <a:schemeClr val="bg1">
                <a:lumMod val="50000"/>
              </a:schemeClr>
            </a:solidFill>
          </a:ln>
        </p:spPr>
        <p:txBody>
          <a:bodyPr wrap="square" rtlCol="0" anchor="t">
            <a:noAutofit/>
          </a:bodyPr>
          <a:lstStyle/>
          <a:p>
            <a:r>
              <a:rPr lang="ko-KR" altLang="en-US" sz="1600" dirty="0"/>
              <a:t>발명의 설명의 기재</a:t>
            </a:r>
            <a:endParaRPr lang="en-US" altLang="ko-KR" sz="1600" dirty="0"/>
          </a:p>
          <a:p>
            <a:endParaRPr lang="en-US" altLang="ko-KR" sz="1600" dirty="0"/>
          </a:p>
          <a:p>
            <a:r>
              <a:rPr lang="ko-KR" altLang="en-US" sz="1200" dirty="0"/>
              <a:t>약리효과의 기재가 요구되는 의약의 용도발명에서는 그 출원 전에 명세서 기재의 약리효과를 나타내는 약리기전이 명확히 밝혀진 경우와 같은 특별한 사정이 없다면 특정 물질에 그와 같은 약리효과가 있다는 것을 약리데이터 등이 나타난 </a:t>
            </a:r>
            <a:r>
              <a:rPr lang="ko-KR" altLang="en-US" sz="1200" dirty="0" err="1"/>
              <a:t>시험례로</a:t>
            </a:r>
            <a:r>
              <a:rPr lang="ko-KR" altLang="en-US" sz="1200" dirty="0"/>
              <a:t> 기재하거나 또는 이에 대신할 수 있을 정도로 구체적으로 </a:t>
            </a:r>
            <a:r>
              <a:rPr lang="ko-KR" altLang="en-US" sz="1200" dirty="0" err="1"/>
              <a:t>기재하여야만</a:t>
            </a:r>
            <a:r>
              <a:rPr lang="ko-KR" altLang="en-US" sz="1200" dirty="0"/>
              <a:t> 발명의 설명 기재요건을 충족한다고 볼 수 있다</a:t>
            </a:r>
            <a:r>
              <a:rPr lang="en-US" altLang="ko-KR" sz="1200" dirty="0"/>
              <a:t>(</a:t>
            </a:r>
            <a:r>
              <a:rPr lang="ko-KR" altLang="en-US" sz="1200" dirty="0"/>
              <a:t>대법원 </a:t>
            </a:r>
            <a:r>
              <a:rPr lang="en-US" altLang="ko-KR" sz="1200" dirty="0"/>
              <a:t>2015. 4. 23. </a:t>
            </a:r>
            <a:r>
              <a:rPr lang="ko-KR" altLang="en-US" sz="1200" dirty="0"/>
              <a:t>선고 </a:t>
            </a:r>
            <a:r>
              <a:rPr lang="en-US" altLang="ko-KR" sz="1200" dirty="0"/>
              <a:t>2013</a:t>
            </a:r>
            <a:r>
              <a:rPr lang="ko-KR" altLang="en-US" sz="1200" dirty="0"/>
              <a:t>후</a:t>
            </a:r>
            <a:r>
              <a:rPr lang="en-US" altLang="ko-KR" sz="1200" dirty="0"/>
              <a:t>730, 2015</a:t>
            </a:r>
            <a:r>
              <a:rPr lang="ko-KR" altLang="en-US" sz="1200" dirty="0"/>
              <a:t>후</a:t>
            </a:r>
            <a:r>
              <a:rPr lang="en-US" altLang="ko-KR" sz="1200" dirty="0"/>
              <a:t>727).</a:t>
            </a:r>
            <a:endParaRPr lang="ko-KR" altLang="en-US" sz="1200" dirty="0"/>
          </a:p>
          <a:p>
            <a:endParaRPr lang="ko-KR" altLang="en-US" sz="1600" dirty="0"/>
          </a:p>
        </p:txBody>
      </p:sp>
    </p:spTree>
    <p:extLst>
      <p:ext uri="{BB962C8B-B14F-4D97-AF65-F5344CB8AC3E}">
        <p14:creationId xmlns:p14="http://schemas.microsoft.com/office/powerpoint/2010/main" val="312505218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제</a:t>
            </a:r>
            <a:r>
              <a:rPr lang="en-US" altLang="ko-KR" dirty="0"/>
              <a:t>29</a:t>
            </a:r>
            <a:r>
              <a:rPr lang="ko-KR" altLang="en-US" dirty="0"/>
              <a:t>조</a:t>
            </a:r>
          </a:p>
        </p:txBody>
      </p:sp>
      <p:sp>
        <p:nvSpPr>
          <p:cNvPr id="3" name="텍스트 개체 틀 2"/>
          <p:cNvSpPr>
            <a:spLocks noGrp="1"/>
          </p:cNvSpPr>
          <p:nvPr>
            <p:ph type="body" sz="quarter" idx="13"/>
          </p:nvPr>
        </p:nvSpPr>
        <p:spPr/>
        <p:txBody>
          <a:bodyPr/>
          <a:lstStyle/>
          <a:p>
            <a:r>
              <a:rPr lang="ko-KR" altLang="en-US" dirty="0">
                <a:solidFill>
                  <a:srgbClr val="525252"/>
                </a:solidFill>
              </a:rPr>
              <a:t>의약발명</a:t>
            </a:r>
            <a:r>
              <a:rPr lang="en-US" altLang="ko-KR" dirty="0">
                <a:solidFill>
                  <a:srgbClr val="525252"/>
                </a:solidFill>
              </a:rPr>
              <a:t>: </a:t>
            </a:r>
            <a:r>
              <a:rPr lang="ko-KR" altLang="en-US" dirty="0">
                <a:solidFill>
                  <a:srgbClr val="525252"/>
                </a:solidFill>
              </a:rPr>
              <a:t>결정형 발명의 진보성 판단 </a:t>
            </a:r>
            <a:r>
              <a:rPr lang="en-US" altLang="ko-KR" dirty="0">
                <a:solidFill>
                  <a:srgbClr val="525252"/>
                </a:solidFill>
              </a:rPr>
              <a:t>CASE</a:t>
            </a:r>
            <a:endParaRPr lang="ko-KR" altLang="en-US" dirty="0">
              <a:solidFill>
                <a:srgbClr val="525252"/>
              </a:solidFill>
            </a:endParaRPr>
          </a:p>
        </p:txBody>
      </p:sp>
      <p:sp>
        <p:nvSpPr>
          <p:cNvPr id="4" name="슬라이드 번호 개체 틀 3"/>
          <p:cNvSpPr>
            <a:spLocks noGrp="1"/>
          </p:cNvSpPr>
          <p:nvPr>
            <p:ph type="sldNum" sz="quarter" idx="4294967295"/>
          </p:nvPr>
        </p:nvSpPr>
        <p:spPr>
          <a:xfrm>
            <a:off x="11125200" y="0"/>
            <a:ext cx="1066800" cy="744538"/>
          </a:xfrm>
        </p:spPr>
        <p:txBody>
          <a:bodyPr/>
          <a:lstStyle/>
          <a:p>
            <a:fld id="{3875FC6C-1516-4DC4-8C58-3090F7D4F003}" type="slidenum">
              <a:rPr lang="ko-KR" altLang="en-US" smtClean="0"/>
              <a:t>24</a:t>
            </a:fld>
            <a:endParaRPr lang="ko-KR" altLang="en-US"/>
          </a:p>
        </p:txBody>
      </p:sp>
      <p:sp>
        <p:nvSpPr>
          <p:cNvPr id="46" name="모서리가 둥근 직사각형 10">
            <a:extLst>
              <a:ext uri="{FF2B5EF4-FFF2-40B4-BE49-F238E27FC236}">
                <a16:creationId xmlns:a16="http://schemas.microsoft.com/office/drawing/2014/main" id="{EA6D0AA3-A795-463F-A932-E97DEE7EE09B}"/>
              </a:ext>
            </a:extLst>
          </p:cNvPr>
          <p:cNvSpPr/>
          <p:nvPr/>
        </p:nvSpPr>
        <p:spPr bwMode="auto">
          <a:xfrm>
            <a:off x="335289" y="1008637"/>
            <a:ext cx="4314352" cy="313998"/>
          </a:xfrm>
          <a:prstGeom prst="roundRect">
            <a:avLst>
              <a:gd name="adj" fmla="val 50000"/>
            </a:avLst>
          </a:prstGeom>
          <a:ln>
            <a:headEnd type="none" w="med" len="med"/>
            <a:tailEnd type="none"/>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200" dirty="0"/>
              <a:t>대법원 </a:t>
            </a:r>
            <a:r>
              <a:rPr lang="en-US" altLang="ko-KR" sz="1200" dirty="0"/>
              <a:t>2022. 04. 05. </a:t>
            </a:r>
            <a:r>
              <a:rPr lang="ko-KR" altLang="en-US" sz="1200" dirty="0"/>
              <a:t>선고 </a:t>
            </a:r>
            <a:r>
              <a:rPr lang="en-US" altLang="ko-KR" sz="1200" dirty="0"/>
              <a:t>2018</a:t>
            </a:r>
            <a:r>
              <a:rPr lang="ko-KR" altLang="en-US" sz="1200" dirty="0"/>
              <a:t>후</a:t>
            </a:r>
            <a:r>
              <a:rPr lang="en-US" altLang="ko-KR" sz="1200" dirty="0"/>
              <a:t>10923 </a:t>
            </a:r>
            <a:r>
              <a:rPr lang="ko-KR" altLang="en-US" sz="1200" dirty="0"/>
              <a:t>판결 </a:t>
            </a:r>
            <a:r>
              <a:rPr lang="en-US" altLang="ko-KR" sz="1200" dirty="0"/>
              <a:t>【</a:t>
            </a:r>
            <a:r>
              <a:rPr lang="ko-KR" altLang="en-US" sz="1200" dirty="0"/>
              <a:t>등록무효</a:t>
            </a:r>
            <a:r>
              <a:rPr lang="en-US" altLang="ko-KR" sz="1200" dirty="0"/>
              <a:t>(</a:t>
            </a:r>
            <a:r>
              <a:rPr lang="ko-KR" altLang="en-US" sz="1200" dirty="0" err="1"/>
              <a:t>특</a:t>
            </a:r>
            <a:r>
              <a:rPr lang="en-US" altLang="ko-KR" sz="1200" dirty="0"/>
              <a:t>)】</a:t>
            </a:r>
          </a:p>
        </p:txBody>
      </p:sp>
      <p:sp>
        <p:nvSpPr>
          <p:cNvPr id="6" name="직사각형 5">
            <a:extLst>
              <a:ext uri="{FF2B5EF4-FFF2-40B4-BE49-F238E27FC236}">
                <a16:creationId xmlns:a16="http://schemas.microsoft.com/office/drawing/2014/main" id="{D8297537-B24B-4300-B18D-EAD87B250EF1}"/>
              </a:ext>
            </a:extLst>
          </p:cNvPr>
          <p:cNvSpPr/>
          <p:nvPr/>
        </p:nvSpPr>
        <p:spPr>
          <a:xfrm>
            <a:off x="867977" y="1363747"/>
            <a:ext cx="10976091" cy="1015663"/>
          </a:xfrm>
          <a:prstGeom prst="rect">
            <a:avLst/>
          </a:prstGeom>
        </p:spPr>
        <p:txBody>
          <a:bodyPr wrap="square">
            <a:spAutoFit/>
          </a:bodyPr>
          <a:lstStyle/>
          <a:p>
            <a:r>
              <a:rPr lang="ko-KR" altLang="en-US" sz="1200" dirty="0"/>
              <a:t>본 건은 </a:t>
            </a:r>
            <a:r>
              <a:rPr lang="ko-KR" altLang="en-US" sz="1200" dirty="0">
                <a:highlight>
                  <a:srgbClr val="FFFF00"/>
                </a:highlight>
              </a:rPr>
              <a:t>선행발명의 화합물인 타일로신과 화학 구조는 동일</a:t>
            </a:r>
            <a:r>
              <a:rPr lang="ko-KR" altLang="en-US" sz="1200" dirty="0"/>
              <a:t>하지만 </a:t>
            </a:r>
            <a:r>
              <a:rPr lang="en-US" altLang="ko-KR" sz="1200" dirty="0">
                <a:highlight>
                  <a:srgbClr val="FFFF00"/>
                </a:highlight>
              </a:rPr>
              <a:t>5.0, 9.0 </a:t>
            </a:r>
            <a:r>
              <a:rPr lang="ko-KR" altLang="en-US" sz="1200" dirty="0">
                <a:highlight>
                  <a:srgbClr val="FFFF00"/>
                </a:highlight>
              </a:rPr>
              <a:t>및 </a:t>
            </a:r>
            <a:r>
              <a:rPr lang="en-US" altLang="ko-KR" sz="1200" dirty="0">
                <a:highlight>
                  <a:srgbClr val="FFFF00"/>
                </a:highlight>
              </a:rPr>
              <a:t>10.5° 2θ</a:t>
            </a:r>
            <a:r>
              <a:rPr lang="ko-KR" altLang="en-US" sz="1200" dirty="0">
                <a:highlight>
                  <a:srgbClr val="FFFF00"/>
                </a:highlight>
              </a:rPr>
              <a:t>의 피크를 포함하는 분말 </a:t>
            </a:r>
            <a:r>
              <a:rPr lang="en-US" altLang="ko-KR" sz="1200" dirty="0">
                <a:highlight>
                  <a:srgbClr val="FFFF00"/>
                </a:highlight>
              </a:rPr>
              <a:t>X</a:t>
            </a:r>
            <a:r>
              <a:rPr lang="ko-KR" altLang="en-US" sz="1200" dirty="0">
                <a:highlight>
                  <a:srgbClr val="FFFF00"/>
                </a:highlight>
              </a:rPr>
              <a:t>선 회절 스펙트럼 값으로 특정된 구성을 갖는 타일로신 제</a:t>
            </a:r>
            <a:r>
              <a:rPr lang="en-US" altLang="ko-KR" sz="1200" dirty="0">
                <a:highlight>
                  <a:srgbClr val="FFFF00"/>
                </a:highlight>
              </a:rPr>
              <a:t>Ⅰ</a:t>
            </a:r>
            <a:r>
              <a:rPr lang="ko-KR" altLang="en-US" sz="1200" dirty="0">
                <a:highlight>
                  <a:srgbClr val="FFFF00"/>
                </a:highlight>
              </a:rPr>
              <a:t>형 결정형에 관한 발명이라는 점에서 차이</a:t>
            </a:r>
            <a:r>
              <a:rPr lang="ko-KR" altLang="en-US" sz="1200" dirty="0"/>
              <a:t>가 있는 ‘이 사건 제</a:t>
            </a:r>
            <a:r>
              <a:rPr lang="en-US" altLang="ko-KR" sz="1200" dirty="0"/>
              <a:t>1</a:t>
            </a:r>
            <a:r>
              <a:rPr lang="ko-KR" altLang="en-US" sz="1200" dirty="0"/>
              <a:t>항 </a:t>
            </a:r>
            <a:r>
              <a:rPr lang="ko-KR" altLang="en-US" sz="1200" dirty="0" err="1"/>
              <a:t>발명’이</a:t>
            </a:r>
            <a:r>
              <a:rPr lang="ko-KR" altLang="en-US" sz="1200" dirty="0"/>
              <a:t> 선행발명에 의해</a:t>
            </a:r>
            <a:r>
              <a:rPr lang="ko-KR" altLang="en-US" sz="1200" dirty="0">
                <a:highlight>
                  <a:srgbClr val="FFFF00"/>
                </a:highlight>
              </a:rPr>
              <a:t> 진보성이 부정되는지 여부가 쟁점</a:t>
            </a:r>
            <a:r>
              <a:rPr lang="ko-KR" altLang="en-US" sz="1200" dirty="0"/>
              <a:t>이 된 사안이다</a:t>
            </a:r>
            <a:r>
              <a:rPr lang="en-US" altLang="ko-KR" sz="1200" dirty="0"/>
              <a:t>. </a:t>
            </a:r>
            <a:r>
              <a:rPr lang="ko-KR" altLang="en-US" sz="1200" dirty="0"/>
              <a:t>대법원은</a:t>
            </a:r>
            <a:r>
              <a:rPr lang="en-US" altLang="ko-KR" sz="1200" dirty="0"/>
              <a:t>, </a:t>
            </a:r>
            <a:r>
              <a:rPr lang="ko-KR" altLang="en-US" sz="1200" dirty="0"/>
              <a:t>피고가 제출한 </a:t>
            </a:r>
            <a:r>
              <a:rPr lang="ko-KR" altLang="en-US" sz="1200" dirty="0">
                <a:highlight>
                  <a:srgbClr val="FFFF00"/>
                </a:highlight>
              </a:rPr>
              <a:t>출원 당시의 통상적인 </a:t>
            </a:r>
            <a:r>
              <a:rPr lang="ko-KR" altLang="en-US" sz="1200" dirty="0" err="1">
                <a:highlight>
                  <a:srgbClr val="FFFF00"/>
                </a:highlight>
              </a:rPr>
              <a:t>다형체</a:t>
            </a:r>
            <a:r>
              <a:rPr lang="ko-KR" altLang="en-US" sz="1200" dirty="0">
                <a:highlight>
                  <a:srgbClr val="FFFF00"/>
                </a:highlight>
              </a:rPr>
              <a:t> </a:t>
            </a:r>
            <a:r>
              <a:rPr lang="ko-KR" altLang="en-US" sz="1200" dirty="0" err="1">
                <a:highlight>
                  <a:srgbClr val="FFFF00"/>
                </a:highlight>
              </a:rPr>
              <a:t>스크리닝</a:t>
            </a:r>
            <a:r>
              <a:rPr lang="ko-KR" altLang="en-US" sz="1200" dirty="0">
                <a:highlight>
                  <a:srgbClr val="FFFF00"/>
                </a:highlight>
              </a:rPr>
              <a:t> 방식에 관한 자료만으로는 통상의 기술자가 결정화 공정 변수를 적절히 조절하거나 통상적인 </a:t>
            </a:r>
            <a:r>
              <a:rPr lang="ko-KR" altLang="en-US" sz="1200" dirty="0" err="1">
                <a:highlight>
                  <a:srgbClr val="FFFF00"/>
                </a:highlight>
              </a:rPr>
              <a:t>다형체</a:t>
            </a:r>
            <a:r>
              <a:rPr lang="ko-KR" altLang="en-US" sz="1200" dirty="0">
                <a:highlight>
                  <a:srgbClr val="FFFF00"/>
                </a:highlight>
              </a:rPr>
              <a:t> </a:t>
            </a:r>
            <a:r>
              <a:rPr lang="ko-KR" altLang="en-US" sz="1200" dirty="0" err="1">
                <a:highlight>
                  <a:srgbClr val="FFFF00"/>
                </a:highlight>
              </a:rPr>
              <a:t>스크리닝을</a:t>
            </a:r>
            <a:r>
              <a:rPr lang="ko-KR" altLang="en-US" sz="1200" dirty="0">
                <a:highlight>
                  <a:srgbClr val="FFFF00"/>
                </a:highlight>
              </a:rPr>
              <a:t> 통해 </a:t>
            </a:r>
            <a:r>
              <a:rPr lang="ko-KR" altLang="en-US" sz="1200" dirty="0" err="1">
                <a:highlight>
                  <a:srgbClr val="FFFF00"/>
                </a:highlight>
              </a:rPr>
              <a:t>선행발명으로부터</a:t>
            </a:r>
            <a:r>
              <a:rPr lang="ko-KR" altLang="en-US" sz="1200" dirty="0">
                <a:highlight>
                  <a:srgbClr val="FFFF00"/>
                </a:highlight>
              </a:rPr>
              <a:t> 위와 같은 특성을 갖는 제</a:t>
            </a:r>
            <a:r>
              <a:rPr lang="en-US" altLang="ko-KR" sz="1200" dirty="0">
                <a:highlight>
                  <a:srgbClr val="FFFF00"/>
                </a:highlight>
              </a:rPr>
              <a:t>Ⅰ</a:t>
            </a:r>
            <a:r>
              <a:rPr lang="ko-KR" altLang="en-US" sz="1200" dirty="0">
                <a:highlight>
                  <a:srgbClr val="FFFF00"/>
                </a:highlight>
              </a:rPr>
              <a:t>형 결정형을 쉽게 도출할 수 있는지 분명하지 않다</a:t>
            </a:r>
            <a:r>
              <a:rPr lang="ko-KR" altLang="en-US" sz="1200" dirty="0"/>
              <a:t>는 등의 이유로 이 사건 제</a:t>
            </a:r>
            <a:r>
              <a:rPr lang="en-US" altLang="ko-KR" sz="1200" dirty="0"/>
              <a:t>1</a:t>
            </a:r>
            <a:r>
              <a:rPr lang="ko-KR" altLang="en-US" sz="1200" dirty="0"/>
              <a:t>항 발명이 선행발명에 의해 진보성이 부정된다고 단정할 수 없다고 보아</a:t>
            </a:r>
            <a:r>
              <a:rPr lang="en-US" altLang="ko-KR" sz="1200" dirty="0"/>
              <a:t>, </a:t>
            </a:r>
            <a:r>
              <a:rPr lang="ko-KR" altLang="en-US" sz="1200" dirty="0"/>
              <a:t>이와 달리 판단한 원심판결을 </a:t>
            </a:r>
            <a:r>
              <a:rPr lang="ko-KR" altLang="en-US" sz="1200" dirty="0" err="1"/>
              <a:t>파기환송하였다</a:t>
            </a:r>
            <a:r>
              <a:rPr lang="en-US" altLang="ko-KR" sz="1200" dirty="0"/>
              <a:t>. </a:t>
            </a:r>
          </a:p>
        </p:txBody>
      </p:sp>
      <p:cxnSp>
        <p:nvCxnSpPr>
          <p:cNvPr id="9" name="직선 연결선 8">
            <a:extLst>
              <a:ext uri="{FF2B5EF4-FFF2-40B4-BE49-F238E27FC236}">
                <a16:creationId xmlns:a16="http://schemas.microsoft.com/office/drawing/2014/main" id="{27560635-7B31-42FF-9B26-81D9C5FE6CE1}"/>
              </a:ext>
            </a:extLst>
          </p:cNvPr>
          <p:cNvCxnSpPr/>
          <p:nvPr/>
        </p:nvCxnSpPr>
        <p:spPr>
          <a:xfrm>
            <a:off x="0" y="2435053"/>
            <a:ext cx="12191999" cy="0"/>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사각형: 둥근 모서리 4">
            <a:extLst>
              <a:ext uri="{FF2B5EF4-FFF2-40B4-BE49-F238E27FC236}">
                <a16:creationId xmlns:a16="http://schemas.microsoft.com/office/drawing/2014/main" id="{D42A099A-48D3-DE16-5F88-FD4ABBBCB374}"/>
              </a:ext>
            </a:extLst>
          </p:cNvPr>
          <p:cNvSpPr/>
          <p:nvPr/>
        </p:nvSpPr>
        <p:spPr>
          <a:xfrm>
            <a:off x="145669" y="1528044"/>
            <a:ext cx="707346" cy="701600"/>
          </a:xfrm>
          <a:prstGeom prst="roundRect">
            <a:avLst/>
          </a:prstGeom>
          <a:solidFill>
            <a:schemeClr val="accent4"/>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a:t>사실관계</a:t>
            </a:r>
          </a:p>
        </p:txBody>
      </p:sp>
      <p:sp>
        <p:nvSpPr>
          <p:cNvPr id="7" name="사각형: 둥근 모서리 6">
            <a:extLst>
              <a:ext uri="{FF2B5EF4-FFF2-40B4-BE49-F238E27FC236}">
                <a16:creationId xmlns:a16="http://schemas.microsoft.com/office/drawing/2014/main" id="{23806B11-8DB9-B565-CE50-2C22F8F58DEE}"/>
              </a:ext>
            </a:extLst>
          </p:cNvPr>
          <p:cNvSpPr/>
          <p:nvPr/>
        </p:nvSpPr>
        <p:spPr>
          <a:xfrm>
            <a:off x="145669" y="2662350"/>
            <a:ext cx="707346" cy="701600"/>
          </a:xfrm>
          <a:prstGeom prst="roundRect">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t>판결</a:t>
            </a:r>
            <a:endParaRPr lang="en-US" altLang="ko-KR" dirty="0"/>
          </a:p>
          <a:p>
            <a:pPr algn="ctr"/>
            <a:r>
              <a:rPr lang="ko-KR" altLang="en-US" dirty="0"/>
              <a:t>요지</a:t>
            </a:r>
          </a:p>
        </p:txBody>
      </p:sp>
      <p:sp>
        <p:nvSpPr>
          <p:cNvPr id="8" name="직사각형 7">
            <a:extLst>
              <a:ext uri="{FF2B5EF4-FFF2-40B4-BE49-F238E27FC236}">
                <a16:creationId xmlns:a16="http://schemas.microsoft.com/office/drawing/2014/main" id="{80C37ACF-B141-082E-07DF-2683F743DD76}"/>
              </a:ext>
            </a:extLst>
          </p:cNvPr>
          <p:cNvSpPr/>
          <p:nvPr/>
        </p:nvSpPr>
        <p:spPr>
          <a:xfrm>
            <a:off x="867977" y="2562479"/>
            <a:ext cx="11036476" cy="3785652"/>
          </a:xfrm>
          <a:prstGeom prst="rect">
            <a:avLst/>
          </a:prstGeom>
        </p:spPr>
        <p:txBody>
          <a:bodyPr wrap="square">
            <a:spAutoFit/>
          </a:bodyPr>
          <a:lstStyle/>
          <a:p>
            <a:r>
              <a:rPr lang="ko-KR" altLang="en-US" sz="1200" dirty="0"/>
              <a:t>의약화합물의 제제설계</a:t>
            </a:r>
            <a:r>
              <a:rPr lang="en-US" altLang="ko-KR" sz="1200" dirty="0"/>
              <a:t>(</a:t>
            </a:r>
            <a:r>
              <a:rPr lang="ko-KR" altLang="en-US" sz="1200" dirty="0"/>
              <a:t>製劑設計</a:t>
            </a:r>
            <a:r>
              <a:rPr lang="en-US" altLang="ko-KR" sz="1200" dirty="0"/>
              <a:t>)</a:t>
            </a:r>
            <a:r>
              <a:rPr lang="ko-KR" altLang="en-US" sz="1200" dirty="0"/>
              <a:t>를 위하여 그 화합물이 다양한 결정 형태 즉 </a:t>
            </a:r>
            <a:r>
              <a:rPr lang="ko-KR" altLang="en-US" sz="1200" dirty="0" err="1"/>
              <a:t>결정다형</a:t>
            </a:r>
            <a:r>
              <a:rPr lang="en-US" altLang="ko-KR" sz="1200" dirty="0"/>
              <a:t>(polymorph)</a:t>
            </a:r>
            <a:r>
              <a:rPr lang="ko-KR" altLang="en-US" sz="1200" dirty="0"/>
              <a:t>을 가지는지 등을 검토하는 </a:t>
            </a:r>
            <a:r>
              <a:rPr lang="ko-KR" altLang="en-US" sz="1200" dirty="0" err="1"/>
              <a:t>다형체</a:t>
            </a:r>
            <a:r>
              <a:rPr lang="ko-KR" altLang="en-US" sz="1200" dirty="0"/>
              <a:t> </a:t>
            </a:r>
            <a:r>
              <a:rPr lang="ko-KR" altLang="en-US" sz="1200" dirty="0" err="1"/>
              <a:t>스크리닝</a:t>
            </a:r>
            <a:r>
              <a:rPr lang="en-US" altLang="ko-KR" sz="1200" dirty="0"/>
              <a:t>(polymorph screening)</a:t>
            </a:r>
            <a:r>
              <a:rPr lang="ko-KR" altLang="en-US" sz="1200" dirty="0"/>
              <a:t>은 통상 행해지는 일이다</a:t>
            </a:r>
            <a:r>
              <a:rPr lang="en-US" altLang="ko-KR" sz="1200" dirty="0"/>
              <a:t>. </a:t>
            </a:r>
            <a:r>
              <a:rPr lang="ko-KR" altLang="en-US" sz="1200" dirty="0"/>
              <a:t>의약화합물 분야에서 선행발명에 공지된 화합물과 화학구조는 동일하지만 결정 형태가 다른 특정한 결정형의 화합물을 청구범위로 하는 이른바 결정형 발명의 진보성을 판단할 때에는 이러한 특수성을 고려할 필요가 있다</a:t>
            </a:r>
            <a:r>
              <a:rPr lang="en-US" altLang="ko-KR" sz="1200" dirty="0"/>
              <a:t>. </a:t>
            </a:r>
            <a:r>
              <a:rPr lang="ko-KR" altLang="en-US" sz="1200" dirty="0"/>
              <a:t>하지만 </a:t>
            </a:r>
            <a:r>
              <a:rPr lang="ko-KR" altLang="en-US" sz="1200" dirty="0" err="1"/>
              <a:t>그것만으로</a:t>
            </a:r>
            <a:r>
              <a:rPr lang="ko-KR" altLang="en-US" sz="1200" dirty="0"/>
              <a:t> 결정형 발명의 구성의 곤란성이 부정된다고 단정할 수는 없다</a:t>
            </a:r>
            <a:r>
              <a:rPr lang="en-US" altLang="ko-KR" sz="1200" dirty="0"/>
              <a:t>. </a:t>
            </a:r>
            <a:r>
              <a:rPr lang="ko-KR" altLang="en-US" sz="1200" dirty="0" err="1">
                <a:highlight>
                  <a:srgbClr val="FFFF00"/>
                </a:highlight>
              </a:rPr>
              <a:t>다형체</a:t>
            </a:r>
            <a:r>
              <a:rPr lang="ko-KR" altLang="en-US" sz="1200" dirty="0">
                <a:highlight>
                  <a:srgbClr val="FFFF00"/>
                </a:highlight>
              </a:rPr>
              <a:t> </a:t>
            </a:r>
            <a:r>
              <a:rPr lang="ko-KR" altLang="en-US" sz="1200" dirty="0" err="1">
                <a:highlight>
                  <a:srgbClr val="FFFF00"/>
                </a:highlight>
              </a:rPr>
              <a:t>스크리닝이</a:t>
            </a:r>
            <a:r>
              <a:rPr lang="ko-KR" altLang="en-US" sz="1200" dirty="0">
                <a:highlight>
                  <a:srgbClr val="FFFF00"/>
                </a:highlight>
              </a:rPr>
              <a:t> 통상 행해지는 실험이라는 것과 이를 통해 결정형 발명의 특정한 결정형에 쉽게 도달할 수 있는지는 별개의 문제이기 때문이다</a:t>
            </a:r>
            <a:r>
              <a:rPr lang="en-US" altLang="ko-KR" sz="1200" dirty="0">
                <a:highlight>
                  <a:srgbClr val="FFFF00"/>
                </a:highlight>
              </a:rPr>
              <a:t>. </a:t>
            </a:r>
          </a:p>
          <a:p>
            <a:endParaRPr lang="en-US" altLang="ko-KR" sz="1200" dirty="0"/>
          </a:p>
          <a:p>
            <a:r>
              <a:rPr lang="ko-KR" altLang="en-US" sz="1200" dirty="0"/>
              <a:t>한편 결정형 발명과 같이 의약화합물 분야에 속하는 발명은 구성만으로 효과의 예측이 쉽지 않으므로 구성의 곤란성을 판단할 때 발명의 효과를 참작할 필요가 있고</a:t>
            </a:r>
            <a:r>
              <a:rPr lang="en-US" altLang="ko-KR" sz="1200" dirty="0"/>
              <a:t>, </a:t>
            </a:r>
            <a:r>
              <a:rPr lang="ko-KR" altLang="en-US" sz="1200" dirty="0"/>
              <a:t>발명의 효과가 선행발명에 비하여 현저하다면 구성의 곤란성을 추론하는 유력한 자료가 될 수 있다</a:t>
            </a:r>
            <a:r>
              <a:rPr lang="en-US" altLang="ko-KR" sz="1200" dirty="0">
                <a:highlight>
                  <a:srgbClr val="FFFF00"/>
                </a:highlight>
              </a:rPr>
              <a:t>(</a:t>
            </a:r>
            <a:r>
              <a:rPr lang="ko-KR" altLang="en-US" sz="1200" dirty="0">
                <a:highlight>
                  <a:srgbClr val="FFFF00"/>
                </a:highlight>
              </a:rPr>
              <a:t>대법원 </a:t>
            </a:r>
            <a:r>
              <a:rPr lang="en-US" altLang="ko-KR" sz="1200" dirty="0">
                <a:highlight>
                  <a:srgbClr val="FFFF00"/>
                </a:highlight>
              </a:rPr>
              <a:t>2011. 7. 14. </a:t>
            </a:r>
            <a:r>
              <a:rPr lang="ko-KR" altLang="en-US" sz="1200" dirty="0">
                <a:highlight>
                  <a:srgbClr val="FFFF00"/>
                </a:highlight>
              </a:rPr>
              <a:t>선고 </a:t>
            </a:r>
            <a:r>
              <a:rPr lang="en-US" altLang="ko-KR" sz="1200" dirty="0">
                <a:highlight>
                  <a:srgbClr val="FFFF00"/>
                </a:highlight>
              </a:rPr>
              <a:t>2010</a:t>
            </a:r>
            <a:r>
              <a:rPr lang="ko-KR" altLang="en-US" sz="1200" dirty="0">
                <a:highlight>
                  <a:srgbClr val="FFFF00"/>
                </a:highlight>
              </a:rPr>
              <a:t>후</a:t>
            </a:r>
            <a:r>
              <a:rPr lang="en-US" altLang="ko-KR" sz="1200" dirty="0">
                <a:highlight>
                  <a:srgbClr val="FFFF00"/>
                </a:highlight>
              </a:rPr>
              <a:t>2865 </a:t>
            </a:r>
            <a:r>
              <a:rPr lang="ko-KR" altLang="en-US" sz="1200" dirty="0">
                <a:highlight>
                  <a:srgbClr val="FFFF00"/>
                </a:highlight>
              </a:rPr>
              <a:t>판결 등에서 특별한 사정이 없는 한 효과의 현저성을 가지고 결정형 발명의 진보성을 판단한 것도 결정형 발명의 위와 같은 특성으로 인해 구성이 곤란한지 불분명한 사안에서 효과의 현저성을 중심으로 진보성을 판단한 것으로 이해할 수 있다</a:t>
            </a:r>
            <a:r>
              <a:rPr lang="en-US" altLang="ko-KR" sz="1200" dirty="0">
                <a:highlight>
                  <a:srgbClr val="FFFF00"/>
                </a:highlight>
              </a:rPr>
              <a:t>).</a:t>
            </a:r>
          </a:p>
          <a:p>
            <a:endParaRPr lang="en-US" altLang="ko-KR" sz="1200" dirty="0"/>
          </a:p>
          <a:p>
            <a:r>
              <a:rPr lang="ko-KR" altLang="en-US" sz="1200" dirty="0">
                <a:highlight>
                  <a:srgbClr val="FFFF00"/>
                </a:highlight>
              </a:rPr>
              <a:t>결정형 발명의 구성의 곤란성을 판단할 때에는</a:t>
            </a:r>
            <a:r>
              <a:rPr lang="en-US" altLang="ko-KR" sz="1200" dirty="0">
                <a:highlight>
                  <a:srgbClr val="FFFF00"/>
                </a:highlight>
              </a:rPr>
              <a:t>, </a:t>
            </a:r>
            <a:r>
              <a:rPr lang="ko-KR" altLang="en-US" sz="1200" dirty="0">
                <a:highlight>
                  <a:srgbClr val="FFFF00"/>
                </a:highlight>
              </a:rPr>
              <a:t>결정형 발명의 기술적 의의와 특유한 효과</a:t>
            </a:r>
            <a:r>
              <a:rPr lang="en-US" altLang="ko-KR" sz="1200" dirty="0">
                <a:highlight>
                  <a:srgbClr val="FFFF00"/>
                </a:highlight>
              </a:rPr>
              <a:t>, </a:t>
            </a:r>
            <a:r>
              <a:rPr lang="ko-KR" altLang="en-US" sz="1200" dirty="0">
                <a:highlight>
                  <a:srgbClr val="FFFF00"/>
                </a:highlight>
              </a:rPr>
              <a:t>그 발명에서 청구한 특정한 결정형의 구조와 제조방법</a:t>
            </a:r>
            <a:r>
              <a:rPr lang="en-US" altLang="ko-KR" sz="1200" dirty="0">
                <a:highlight>
                  <a:srgbClr val="FFFF00"/>
                </a:highlight>
              </a:rPr>
              <a:t>, </a:t>
            </a:r>
            <a:r>
              <a:rPr lang="ko-KR" altLang="en-US" sz="1200" dirty="0">
                <a:highlight>
                  <a:srgbClr val="FFFF00"/>
                </a:highlight>
              </a:rPr>
              <a:t>선행발명의 내용과 특징</a:t>
            </a:r>
            <a:r>
              <a:rPr lang="en-US" altLang="ko-KR" sz="1200" dirty="0">
                <a:highlight>
                  <a:srgbClr val="FFFF00"/>
                </a:highlight>
              </a:rPr>
              <a:t>, </a:t>
            </a:r>
            <a:r>
              <a:rPr lang="ko-KR" altLang="en-US" sz="1200" dirty="0">
                <a:highlight>
                  <a:srgbClr val="FFFF00"/>
                </a:highlight>
              </a:rPr>
              <a:t>통상의 기술자의 기술수준과 출원 당시의 통상적인 </a:t>
            </a:r>
            <a:r>
              <a:rPr lang="ko-KR" altLang="en-US" sz="1200" dirty="0" err="1">
                <a:highlight>
                  <a:srgbClr val="FFFF00"/>
                </a:highlight>
              </a:rPr>
              <a:t>다형체</a:t>
            </a:r>
            <a:r>
              <a:rPr lang="ko-KR" altLang="en-US" sz="1200" dirty="0">
                <a:highlight>
                  <a:srgbClr val="FFFF00"/>
                </a:highlight>
              </a:rPr>
              <a:t> </a:t>
            </a:r>
            <a:r>
              <a:rPr lang="ko-KR" altLang="en-US" sz="1200" dirty="0" err="1">
                <a:highlight>
                  <a:srgbClr val="FFFF00"/>
                </a:highlight>
              </a:rPr>
              <a:t>스크리닝</a:t>
            </a:r>
            <a:r>
              <a:rPr lang="ko-KR" altLang="en-US" sz="1200" dirty="0">
                <a:highlight>
                  <a:srgbClr val="FFFF00"/>
                </a:highlight>
              </a:rPr>
              <a:t> 방식 등을 기록에 나타난 자료에 기초하여 파악한 다음</a:t>
            </a:r>
            <a:r>
              <a:rPr lang="en-US" altLang="ko-KR" sz="1200" dirty="0">
                <a:highlight>
                  <a:srgbClr val="FFFF00"/>
                </a:highlight>
              </a:rPr>
              <a:t>, </a:t>
            </a:r>
            <a:r>
              <a:rPr lang="ko-KR" altLang="en-US" sz="1200" dirty="0">
                <a:highlight>
                  <a:srgbClr val="FFFF00"/>
                </a:highlight>
              </a:rPr>
              <a:t>선행발명 화합물의 </a:t>
            </a:r>
            <a:r>
              <a:rPr lang="ko-KR" altLang="en-US" sz="1200" dirty="0" err="1">
                <a:highlight>
                  <a:srgbClr val="FFFF00"/>
                </a:highlight>
              </a:rPr>
              <a:t>결정다형성이</a:t>
            </a:r>
            <a:r>
              <a:rPr lang="ko-KR" altLang="en-US" sz="1200" dirty="0">
                <a:highlight>
                  <a:srgbClr val="FFFF00"/>
                </a:highlight>
              </a:rPr>
              <a:t> 알려졌거나 예상되었는지</a:t>
            </a:r>
            <a:r>
              <a:rPr lang="en-US" altLang="ko-KR" sz="1200" dirty="0">
                <a:highlight>
                  <a:srgbClr val="FFFF00"/>
                </a:highlight>
              </a:rPr>
              <a:t>, </a:t>
            </a:r>
            <a:r>
              <a:rPr lang="ko-KR" altLang="en-US" sz="1200" dirty="0">
                <a:highlight>
                  <a:srgbClr val="FFFF00"/>
                </a:highlight>
              </a:rPr>
              <a:t>결정형 발명에서 청구하는 특정한 결정형에 이를 수 있다는 가르침이나 암시</a:t>
            </a:r>
            <a:r>
              <a:rPr lang="en-US" altLang="ko-KR" sz="1200" dirty="0">
                <a:highlight>
                  <a:srgbClr val="FFFF00"/>
                </a:highlight>
              </a:rPr>
              <a:t>, </a:t>
            </a:r>
            <a:r>
              <a:rPr lang="ko-KR" altLang="en-US" sz="1200" dirty="0">
                <a:highlight>
                  <a:srgbClr val="FFFF00"/>
                </a:highlight>
              </a:rPr>
              <a:t>동기 등이 선행발명이나 선행기술문헌에 나타나 있는지</a:t>
            </a:r>
            <a:r>
              <a:rPr lang="en-US" altLang="ko-KR" sz="1200" dirty="0">
                <a:highlight>
                  <a:srgbClr val="FFFF00"/>
                </a:highlight>
              </a:rPr>
              <a:t>, </a:t>
            </a:r>
            <a:r>
              <a:rPr lang="ko-KR" altLang="en-US" sz="1200" dirty="0">
                <a:highlight>
                  <a:srgbClr val="FFFF00"/>
                </a:highlight>
              </a:rPr>
              <a:t>결정형 발명의 특정한 결정형이 선행발명 화합물에 대한 통상적인 </a:t>
            </a:r>
            <a:r>
              <a:rPr lang="ko-KR" altLang="en-US" sz="1200" dirty="0" err="1">
                <a:highlight>
                  <a:srgbClr val="FFFF00"/>
                </a:highlight>
              </a:rPr>
              <a:t>다형체</a:t>
            </a:r>
            <a:r>
              <a:rPr lang="ko-KR" altLang="en-US" sz="1200" dirty="0">
                <a:highlight>
                  <a:srgbClr val="FFFF00"/>
                </a:highlight>
              </a:rPr>
              <a:t> </a:t>
            </a:r>
            <a:r>
              <a:rPr lang="ko-KR" altLang="en-US" sz="1200" dirty="0" err="1">
                <a:highlight>
                  <a:srgbClr val="FFFF00"/>
                </a:highlight>
              </a:rPr>
              <a:t>스크리닝을</a:t>
            </a:r>
            <a:r>
              <a:rPr lang="ko-KR" altLang="en-US" sz="1200" dirty="0">
                <a:highlight>
                  <a:srgbClr val="FFFF00"/>
                </a:highlight>
              </a:rPr>
              <a:t> 통해 검토될 수 있는 </a:t>
            </a:r>
            <a:r>
              <a:rPr lang="ko-KR" altLang="en-US" sz="1200" dirty="0" err="1">
                <a:highlight>
                  <a:srgbClr val="FFFF00"/>
                </a:highlight>
              </a:rPr>
              <a:t>결정다형의</a:t>
            </a:r>
            <a:r>
              <a:rPr lang="ko-KR" altLang="en-US" sz="1200" dirty="0">
                <a:highlight>
                  <a:srgbClr val="FFFF00"/>
                </a:highlight>
              </a:rPr>
              <a:t> 범위에 포함되는지</a:t>
            </a:r>
            <a:r>
              <a:rPr lang="en-US" altLang="ko-KR" sz="1200" dirty="0">
                <a:highlight>
                  <a:srgbClr val="FFFF00"/>
                </a:highlight>
              </a:rPr>
              <a:t>, </a:t>
            </a:r>
            <a:r>
              <a:rPr lang="ko-KR" altLang="en-US" sz="1200" dirty="0">
                <a:highlight>
                  <a:srgbClr val="FFFF00"/>
                </a:highlight>
              </a:rPr>
              <a:t>그 특정한 결정형이 예측할 수 없는 유리한 효과를 가지는지 등을 종합적으로 고려하여</a:t>
            </a:r>
            <a:r>
              <a:rPr lang="en-US" altLang="ko-KR" sz="1200" dirty="0"/>
              <a:t>, </a:t>
            </a:r>
            <a:r>
              <a:rPr lang="ko-KR" altLang="en-US" sz="1200" dirty="0"/>
              <a:t>통상의 기술자가 </a:t>
            </a:r>
            <a:r>
              <a:rPr lang="ko-KR" altLang="en-US" sz="1200" dirty="0" err="1"/>
              <a:t>선행발명으로부터</a:t>
            </a:r>
            <a:r>
              <a:rPr lang="ko-KR" altLang="en-US" sz="1200" dirty="0"/>
              <a:t> 결정형 발명의 구성을 쉽게 도출할 수 있는지를 살펴보아야 한다</a:t>
            </a:r>
            <a:r>
              <a:rPr lang="en-US" altLang="ko-KR" sz="1200" dirty="0"/>
              <a:t>.</a:t>
            </a:r>
          </a:p>
          <a:p>
            <a:endParaRPr lang="en-US" altLang="ko-KR" sz="1200" dirty="0"/>
          </a:p>
          <a:p>
            <a:r>
              <a:rPr lang="ko-KR" altLang="en-US" sz="1200" dirty="0"/>
              <a:t>결정형 발명의 효과가 선행발명 화합물의 효과와 질적으로 다르거나 양적으로 현저한 차이가 있는 경우에는 진보성이 부정되지 않는다</a:t>
            </a:r>
            <a:r>
              <a:rPr lang="en-US" altLang="ko-KR" sz="1200" dirty="0"/>
              <a:t>(</a:t>
            </a:r>
            <a:r>
              <a:rPr lang="ko-KR" altLang="en-US" sz="1200" dirty="0"/>
              <a:t>대법원 </a:t>
            </a:r>
            <a:r>
              <a:rPr lang="en-US" altLang="ko-KR" sz="1200" dirty="0"/>
              <a:t>2011. 7. 14. </a:t>
            </a:r>
            <a:r>
              <a:rPr lang="ko-KR" altLang="en-US" sz="1200" dirty="0"/>
              <a:t>선고 </a:t>
            </a:r>
            <a:r>
              <a:rPr lang="en-US" altLang="ko-KR" sz="1200" dirty="0"/>
              <a:t>2010</a:t>
            </a:r>
            <a:r>
              <a:rPr lang="ko-KR" altLang="en-US" sz="1200" dirty="0"/>
              <a:t>후</a:t>
            </a:r>
            <a:r>
              <a:rPr lang="en-US" altLang="ko-KR" sz="1200" dirty="0"/>
              <a:t>2865 </a:t>
            </a:r>
            <a:r>
              <a:rPr lang="ko-KR" altLang="en-US" sz="1200" dirty="0"/>
              <a:t>판결 등 참조</a:t>
            </a:r>
            <a:r>
              <a:rPr lang="en-US" altLang="ko-KR" sz="1200" dirty="0"/>
              <a:t>). </a:t>
            </a:r>
            <a:r>
              <a:rPr lang="ko-KR" altLang="en-US" sz="1200" dirty="0"/>
              <a:t>결정형 발명의 효과의 현저성은 그 발명의 명세서에 기재되어 통상의 기술자가 인식하거나 추론할 수 있는 효과를 중심으로 판단하여야 하고</a:t>
            </a:r>
            <a:r>
              <a:rPr lang="en-US" altLang="ko-KR" sz="1200" dirty="0"/>
              <a:t>, </a:t>
            </a:r>
            <a:r>
              <a:rPr lang="ko-KR" altLang="en-US" sz="1200" dirty="0"/>
              <a:t>만일 그 효과가 의심스러울 때에는 그 기재 내용의 범위를 넘지 않는 한도에서 출원일 이후에 추가적인 실험 자료를 제출하는 등의 방법으로 그 효과를 구체적으로 주장</a:t>
            </a:r>
            <a:r>
              <a:rPr lang="en-US" altLang="ko-KR" sz="1200" dirty="0"/>
              <a:t>·</a:t>
            </a:r>
            <a:r>
              <a:rPr lang="ko-KR" altLang="en-US" sz="1200" dirty="0"/>
              <a:t>증명하는 것이 허용된다</a:t>
            </a:r>
            <a:r>
              <a:rPr lang="en-US" altLang="ko-KR" sz="1200" dirty="0"/>
              <a:t>(</a:t>
            </a:r>
            <a:r>
              <a:rPr lang="ko-KR" altLang="en-US" sz="1200" dirty="0"/>
              <a:t>대법원 </a:t>
            </a:r>
            <a:r>
              <a:rPr lang="en-US" altLang="ko-KR" sz="1200" dirty="0"/>
              <a:t>2021. 4. 8. </a:t>
            </a:r>
            <a:r>
              <a:rPr lang="ko-KR" altLang="en-US" sz="1200" dirty="0"/>
              <a:t>선고 </a:t>
            </a:r>
            <a:r>
              <a:rPr lang="en-US" altLang="ko-KR" sz="1200" dirty="0"/>
              <a:t>2019</a:t>
            </a:r>
            <a:r>
              <a:rPr lang="ko-KR" altLang="en-US" sz="1200" dirty="0"/>
              <a:t>후</a:t>
            </a:r>
            <a:r>
              <a:rPr lang="en-US" altLang="ko-KR" sz="1200" dirty="0"/>
              <a:t>10609 </a:t>
            </a:r>
            <a:r>
              <a:rPr lang="ko-KR" altLang="en-US" sz="1200" dirty="0"/>
              <a:t>판결 등 참조</a:t>
            </a:r>
            <a:r>
              <a:rPr lang="en-US" altLang="ko-KR" sz="1200" dirty="0"/>
              <a:t>).</a:t>
            </a:r>
          </a:p>
        </p:txBody>
      </p:sp>
    </p:spTree>
    <p:extLst>
      <p:ext uri="{BB962C8B-B14F-4D97-AF65-F5344CB8AC3E}">
        <p14:creationId xmlns:p14="http://schemas.microsoft.com/office/powerpoint/2010/main" val="359397183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2</a:t>
            </a:r>
            <a:r>
              <a:rPr lang="ko-KR" altLang="en-US" dirty="0"/>
              <a:t>조</a:t>
            </a:r>
          </a:p>
        </p:txBody>
      </p:sp>
      <p:sp>
        <p:nvSpPr>
          <p:cNvPr id="4" name="텍스트 개체 틀 3"/>
          <p:cNvSpPr>
            <a:spLocks noGrp="1"/>
          </p:cNvSpPr>
          <p:nvPr>
            <p:ph type="body" sz="quarter" idx="13"/>
          </p:nvPr>
        </p:nvSpPr>
        <p:spPr/>
        <p:txBody>
          <a:bodyPr>
            <a:normAutofit/>
          </a:bodyPr>
          <a:lstStyle/>
          <a:p>
            <a:r>
              <a:rPr lang="ko-KR" altLang="en-US" sz="2000" dirty="0"/>
              <a:t>개정법</a:t>
            </a:r>
            <a:r>
              <a:rPr lang="en-US" altLang="ko-KR" sz="2000" dirty="0"/>
              <a:t>(</a:t>
            </a:r>
            <a:r>
              <a:rPr lang="ko-KR" altLang="en-US" sz="2000" dirty="0"/>
              <a:t>제</a:t>
            </a:r>
            <a:r>
              <a:rPr lang="en-US" altLang="ko-KR" sz="2000" dirty="0"/>
              <a:t>16804</a:t>
            </a:r>
            <a:r>
              <a:rPr lang="ko-KR" altLang="en-US" sz="2000" dirty="0"/>
              <a:t>호</a:t>
            </a:r>
            <a:r>
              <a:rPr lang="en-US" altLang="ko-KR" sz="2000" dirty="0"/>
              <a:t>): </a:t>
            </a:r>
            <a:r>
              <a:rPr lang="ko-KR" altLang="en-US" sz="2000" dirty="0"/>
              <a:t>방법의 사용을 청약하는 행위 도입 배경 및 관련 실시 형태</a:t>
            </a:r>
          </a:p>
        </p:txBody>
      </p:sp>
      <p:sp>
        <p:nvSpPr>
          <p:cNvPr id="72" name="직사각형 71"/>
          <p:cNvSpPr/>
          <p:nvPr/>
        </p:nvSpPr>
        <p:spPr>
          <a:xfrm>
            <a:off x="289409" y="1025850"/>
            <a:ext cx="11652111" cy="5693866"/>
          </a:xfrm>
          <a:prstGeom prst="rect">
            <a:avLst/>
          </a:prstGeom>
          <a:ln>
            <a:noFill/>
          </a:ln>
        </p:spPr>
        <p:txBody>
          <a:bodyPr wrap="square">
            <a:spAutoFit/>
          </a:bodyPr>
          <a:lstStyle/>
          <a:p>
            <a:pPr marL="244475" indent="-244475" algn="just" fontAlgn="base"/>
            <a:r>
              <a:rPr lang="ko-KR" altLang="en-US" sz="1600" dirty="0">
                <a:solidFill>
                  <a:schemeClr val="accent1">
                    <a:lumMod val="50000"/>
                  </a:schemeClr>
                </a:solidFill>
              </a:rPr>
              <a:t>□ </a:t>
            </a:r>
            <a:r>
              <a:rPr lang="ko-KR" altLang="en-US" sz="1600" dirty="0" err="1">
                <a:solidFill>
                  <a:schemeClr val="accent1">
                    <a:lumMod val="50000"/>
                  </a:schemeClr>
                </a:solidFill>
              </a:rPr>
              <a:t>국조실</a:t>
            </a:r>
            <a:r>
              <a:rPr lang="ko-KR" altLang="en-US" sz="1600" dirty="0">
                <a:solidFill>
                  <a:schemeClr val="accent1">
                    <a:lumMod val="50000"/>
                  </a:schemeClr>
                </a:solidFill>
              </a:rPr>
              <a:t> 주관으로 지식재산처</a:t>
            </a:r>
            <a:r>
              <a:rPr lang="en-US" altLang="ko-KR" sz="1600" dirty="0">
                <a:solidFill>
                  <a:schemeClr val="accent1">
                    <a:lumMod val="50000"/>
                  </a:schemeClr>
                </a:solidFill>
              </a:rPr>
              <a:t>, </a:t>
            </a:r>
            <a:r>
              <a:rPr lang="ko-KR" altLang="en-US" sz="1600" dirty="0" err="1">
                <a:solidFill>
                  <a:schemeClr val="accent1">
                    <a:lumMod val="50000"/>
                  </a:schemeClr>
                </a:solidFill>
              </a:rPr>
              <a:t>문체부</a:t>
            </a:r>
            <a:r>
              <a:rPr lang="en-US" altLang="ko-KR" sz="1600" dirty="0">
                <a:solidFill>
                  <a:schemeClr val="accent1">
                    <a:lumMod val="50000"/>
                  </a:schemeClr>
                </a:solidFill>
              </a:rPr>
              <a:t>, </a:t>
            </a:r>
            <a:r>
              <a:rPr lang="ko-KR" altLang="en-US" sz="1600" dirty="0" err="1">
                <a:solidFill>
                  <a:schemeClr val="accent1">
                    <a:lumMod val="50000"/>
                  </a:schemeClr>
                </a:solidFill>
              </a:rPr>
              <a:t>과기정통부는</a:t>
            </a:r>
            <a:r>
              <a:rPr lang="ko-KR" altLang="en-US" sz="1600" dirty="0">
                <a:solidFill>
                  <a:schemeClr val="accent1">
                    <a:lumMod val="50000"/>
                  </a:schemeClr>
                </a:solidFill>
              </a:rPr>
              <a:t> 프로그램을 물건에 포함하지 않는 대신</a:t>
            </a:r>
            <a:r>
              <a:rPr lang="en-US" altLang="ko-KR" sz="1600" dirty="0">
                <a:solidFill>
                  <a:schemeClr val="accent1">
                    <a:lumMod val="50000"/>
                  </a:schemeClr>
                </a:solidFill>
              </a:rPr>
              <a:t>, SW</a:t>
            </a:r>
            <a:r>
              <a:rPr lang="ko-KR" altLang="en-US" sz="1600" dirty="0">
                <a:solidFill>
                  <a:schemeClr val="accent1">
                    <a:lumMod val="50000"/>
                  </a:schemeClr>
                </a:solidFill>
              </a:rPr>
              <a:t>를 온라인 전송하는 경우까지 보호하는 데 합의</a:t>
            </a:r>
            <a:r>
              <a:rPr lang="en-US" altLang="ko-KR" sz="1600" dirty="0">
                <a:solidFill>
                  <a:schemeClr val="accent1">
                    <a:lumMod val="50000"/>
                  </a:schemeClr>
                </a:solidFill>
              </a:rPr>
              <a:t>(‘18.3), </a:t>
            </a:r>
            <a:r>
              <a:rPr lang="ko-KR" altLang="en-US" sz="1600" dirty="0">
                <a:solidFill>
                  <a:schemeClr val="accent1">
                    <a:lumMod val="50000"/>
                  </a:schemeClr>
                </a:solidFill>
              </a:rPr>
              <a:t>제</a:t>
            </a:r>
            <a:r>
              <a:rPr lang="en-US" altLang="ko-KR" sz="1600" dirty="0">
                <a:solidFill>
                  <a:schemeClr val="accent1">
                    <a:lumMod val="50000"/>
                  </a:schemeClr>
                </a:solidFill>
              </a:rPr>
              <a:t>94</a:t>
            </a:r>
            <a:r>
              <a:rPr lang="ko-KR" altLang="en-US" sz="1600" dirty="0">
                <a:solidFill>
                  <a:schemeClr val="accent1">
                    <a:lumMod val="50000"/>
                  </a:schemeClr>
                </a:solidFill>
              </a:rPr>
              <a:t>조</a:t>
            </a:r>
            <a:r>
              <a:rPr lang="en-US" altLang="ko-KR" sz="1600" dirty="0">
                <a:solidFill>
                  <a:schemeClr val="accent1">
                    <a:lumMod val="50000"/>
                  </a:schemeClr>
                </a:solidFill>
              </a:rPr>
              <a:t>(</a:t>
            </a:r>
            <a:r>
              <a:rPr lang="ko-KR" altLang="en-US" sz="1600" dirty="0">
                <a:solidFill>
                  <a:schemeClr val="accent1">
                    <a:lumMod val="50000"/>
                  </a:schemeClr>
                </a:solidFill>
              </a:rPr>
              <a:t>특허권의 효력</a:t>
            </a:r>
            <a:r>
              <a:rPr lang="en-US" altLang="ko-KR" sz="1600" dirty="0">
                <a:solidFill>
                  <a:schemeClr val="accent1">
                    <a:lumMod val="50000"/>
                  </a:schemeClr>
                </a:solidFill>
              </a:rPr>
              <a:t>)</a:t>
            </a:r>
            <a:r>
              <a:rPr lang="ko-KR" altLang="en-US" sz="1600" dirty="0">
                <a:solidFill>
                  <a:schemeClr val="accent1">
                    <a:lumMod val="50000"/>
                  </a:schemeClr>
                </a:solidFill>
              </a:rPr>
              <a:t>에 “</a:t>
            </a:r>
            <a:r>
              <a:rPr lang="ko-KR" altLang="en-US" sz="1600" dirty="0" err="1">
                <a:solidFill>
                  <a:schemeClr val="accent1">
                    <a:lumMod val="50000"/>
                  </a:schemeClr>
                </a:solidFill>
              </a:rPr>
              <a:t>알면서”라는</a:t>
            </a:r>
            <a:r>
              <a:rPr lang="ko-KR" altLang="en-US" sz="1600" dirty="0">
                <a:solidFill>
                  <a:schemeClr val="accent1">
                    <a:lumMod val="50000"/>
                  </a:schemeClr>
                </a:solidFill>
              </a:rPr>
              <a:t> 인지요건 부가하여 관련 산업의 위축 불식</a:t>
            </a:r>
          </a:p>
          <a:p>
            <a:pPr marL="298450" indent="-298450" fontAlgn="base"/>
            <a:r>
              <a:rPr lang="ko-KR" altLang="en-US" sz="1400" dirty="0"/>
              <a:t>  </a:t>
            </a:r>
            <a:r>
              <a:rPr lang="ko-KR" altLang="en-US" sz="1400" dirty="0" err="1">
                <a:solidFill>
                  <a:schemeClr val="bg1">
                    <a:lumMod val="50000"/>
                  </a:schemeClr>
                </a:solidFill>
              </a:rPr>
              <a:t>ㅇ</a:t>
            </a:r>
            <a:r>
              <a:rPr lang="ko-KR" altLang="en-US" sz="1400" dirty="0">
                <a:solidFill>
                  <a:schemeClr val="bg1">
                    <a:lumMod val="50000"/>
                  </a:schemeClr>
                </a:solidFill>
              </a:rPr>
              <a:t> 각국은 다양한 형태로 ‘특허기술이 포함된 </a:t>
            </a:r>
            <a:r>
              <a:rPr lang="en-US" altLang="ko-KR" sz="1400" dirty="0">
                <a:solidFill>
                  <a:schemeClr val="bg1">
                    <a:lumMod val="50000"/>
                  </a:schemeClr>
                </a:solidFill>
              </a:rPr>
              <a:t>SW</a:t>
            </a:r>
            <a:r>
              <a:rPr lang="ko-KR" altLang="en-US" sz="1400" dirty="0">
                <a:solidFill>
                  <a:schemeClr val="bg1">
                    <a:lumMod val="50000"/>
                  </a:schemeClr>
                </a:solidFill>
              </a:rPr>
              <a:t>의 온라인 전송 </a:t>
            </a:r>
            <a:r>
              <a:rPr lang="ko-KR" altLang="en-US" sz="1400" dirty="0" err="1">
                <a:solidFill>
                  <a:schemeClr val="bg1">
                    <a:lumMod val="50000"/>
                  </a:schemeClr>
                </a:solidFill>
              </a:rPr>
              <a:t>행위’를</a:t>
            </a:r>
            <a:r>
              <a:rPr lang="ko-KR" altLang="en-US" sz="1400" dirty="0">
                <a:solidFill>
                  <a:schemeClr val="bg1">
                    <a:lumMod val="50000"/>
                  </a:schemeClr>
                </a:solidFill>
              </a:rPr>
              <a:t> 특허침해로 규정</a:t>
            </a:r>
            <a:r>
              <a:rPr lang="en-US" altLang="ko-KR" sz="1400" dirty="0">
                <a:solidFill>
                  <a:schemeClr val="bg1">
                    <a:lumMod val="50000"/>
                  </a:schemeClr>
                </a:solidFill>
              </a:rPr>
              <a:t>, SW </a:t>
            </a:r>
            <a:r>
              <a:rPr lang="ko-KR" altLang="en-US" sz="1400" dirty="0">
                <a:solidFill>
                  <a:schemeClr val="bg1">
                    <a:lumMod val="50000"/>
                  </a:schemeClr>
                </a:solidFill>
              </a:rPr>
              <a:t>특허를 실효적으로 보호하고 있으나</a:t>
            </a:r>
            <a:r>
              <a:rPr lang="en-US" altLang="ko-KR" sz="1400" dirty="0">
                <a:solidFill>
                  <a:schemeClr val="bg1">
                    <a:lumMod val="50000"/>
                  </a:schemeClr>
                </a:solidFill>
              </a:rPr>
              <a:t>, </a:t>
            </a:r>
            <a:r>
              <a:rPr lang="ko-KR" altLang="en-US" sz="1400" dirty="0">
                <a:solidFill>
                  <a:schemeClr val="bg1">
                    <a:lumMod val="50000"/>
                  </a:schemeClr>
                </a:solidFill>
              </a:rPr>
              <a:t>한국은 보호하지 못하는 문  </a:t>
            </a:r>
            <a:r>
              <a:rPr lang="ko-KR" altLang="en-US" sz="1400" dirty="0" err="1">
                <a:solidFill>
                  <a:schemeClr val="bg1">
                    <a:lumMod val="50000"/>
                  </a:schemeClr>
                </a:solidFill>
              </a:rPr>
              <a:t>제점</a:t>
            </a:r>
            <a:r>
              <a:rPr lang="ko-KR" altLang="en-US" sz="1400" dirty="0">
                <a:solidFill>
                  <a:schemeClr val="bg1">
                    <a:lumMod val="50000"/>
                  </a:schemeClr>
                </a:solidFill>
              </a:rPr>
              <a:t> 발생</a:t>
            </a:r>
            <a:endParaRPr lang="en-US" altLang="ko-KR" sz="1400" dirty="0">
              <a:solidFill>
                <a:schemeClr val="bg1">
                  <a:lumMod val="50000"/>
                </a:schemeClr>
              </a:solidFill>
            </a:endParaRPr>
          </a:p>
          <a:p>
            <a:pPr marL="271463" indent="-271463" fontAlgn="base"/>
            <a:r>
              <a:rPr lang="en-US" altLang="ko-KR" sz="1400" dirty="0">
                <a:solidFill>
                  <a:schemeClr val="bg1">
                    <a:lumMod val="50000"/>
                  </a:schemeClr>
                </a:solidFill>
              </a:rPr>
              <a:t>     - </a:t>
            </a:r>
            <a:r>
              <a:rPr lang="ko-KR" altLang="en-US" sz="1400" dirty="0">
                <a:solidFill>
                  <a:schemeClr val="bg1">
                    <a:lumMod val="50000"/>
                  </a:schemeClr>
                </a:solidFill>
              </a:rPr>
              <a:t>기존 특허법에 의한 청구항의 보호범위</a:t>
            </a:r>
            <a:endParaRPr lang="en-US" altLang="ko-KR" sz="1400" dirty="0">
              <a:solidFill>
                <a:schemeClr val="bg1">
                  <a:lumMod val="50000"/>
                </a:schemeClr>
              </a:solidFill>
            </a:endParaRPr>
          </a:p>
          <a:p>
            <a:pPr marL="271463" indent="-271463" fontAlgn="base"/>
            <a:endParaRPr lang="en-US" altLang="ko-KR" sz="1400" dirty="0">
              <a:solidFill>
                <a:schemeClr val="bg1">
                  <a:lumMod val="50000"/>
                </a:schemeClr>
              </a:solidFill>
            </a:endParaRPr>
          </a:p>
          <a:p>
            <a:pPr marL="271463" indent="-271463" fontAlgn="base"/>
            <a:endParaRPr lang="en-US" altLang="ko-KR" sz="1400" dirty="0">
              <a:solidFill>
                <a:schemeClr val="bg1">
                  <a:lumMod val="50000"/>
                </a:schemeClr>
              </a:solidFill>
            </a:endParaRPr>
          </a:p>
          <a:p>
            <a:pPr marL="271463" indent="-271463" fontAlgn="base"/>
            <a:endParaRPr lang="en-US" altLang="ko-KR" sz="1400" dirty="0">
              <a:solidFill>
                <a:schemeClr val="bg1">
                  <a:lumMod val="50000"/>
                </a:schemeClr>
              </a:solidFill>
            </a:endParaRPr>
          </a:p>
          <a:p>
            <a:pPr marL="271463" indent="-271463" fontAlgn="base"/>
            <a:endParaRPr lang="en-US" altLang="ko-KR" sz="1400" dirty="0">
              <a:solidFill>
                <a:schemeClr val="bg1">
                  <a:lumMod val="50000"/>
                </a:schemeClr>
              </a:solidFill>
            </a:endParaRPr>
          </a:p>
          <a:p>
            <a:pPr marL="271463" indent="-271463" fontAlgn="base"/>
            <a:endParaRPr lang="en-US" altLang="ko-KR" sz="1400" dirty="0">
              <a:solidFill>
                <a:schemeClr val="bg1">
                  <a:lumMod val="50000"/>
                </a:schemeClr>
              </a:solidFill>
            </a:endParaRPr>
          </a:p>
          <a:p>
            <a:pPr marL="271463" indent="-271463" fontAlgn="base"/>
            <a:endParaRPr lang="en-US" altLang="ko-KR" sz="1400" dirty="0">
              <a:solidFill>
                <a:schemeClr val="bg1">
                  <a:lumMod val="50000"/>
                </a:schemeClr>
              </a:solidFill>
            </a:endParaRPr>
          </a:p>
          <a:p>
            <a:pPr fontAlgn="base"/>
            <a:r>
              <a:rPr lang="ko-KR" altLang="en-US" sz="1400" dirty="0">
                <a:solidFill>
                  <a:schemeClr val="bg1">
                    <a:lumMod val="50000"/>
                  </a:schemeClr>
                </a:solidFill>
              </a:rPr>
              <a:t>  </a:t>
            </a:r>
            <a:r>
              <a:rPr lang="ko-KR" altLang="en-US" sz="1400" dirty="0" err="1">
                <a:solidFill>
                  <a:schemeClr val="bg1">
                    <a:lumMod val="50000"/>
                  </a:schemeClr>
                </a:solidFill>
              </a:rPr>
              <a:t>ㅇ</a:t>
            </a:r>
            <a:r>
              <a:rPr lang="ko-KR" altLang="en-US" sz="1400" dirty="0">
                <a:solidFill>
                  <a:schemeClr val="bg1">
                    <a:lumMod val="50000"/>
                  </a:schemeClr>
                </a:solidFill>
              </a:rPr>
              <a:t> 이에 </a:t>
            </a:r>
            <a:r>
              <a:rPr lang="en-US" altLang="ko-KR" sz="1400" dirty="0">
                <a:solidFill>
                  <a:schemeClr val="bg1">
                    <a:lumMod val="50000"/>
                  </a:schemeClr>
                </a:solidFill>
              </a:rPr>
              <a:t>SW </a:t>
            </a:r>
            <a:r>
              <a:rPr lang="ko-KR" altLang="en-US" sz="1400" dirty="0">
                <a:solidFill>
                  <a:schemeClr val="bg1">
                    <a:lumMod val="50000"/>
                  </a:schemeClr>
                </a:solidFill>
              </a:rPr>
              <a:t>온라인 전송행위에 가장 적합하게 해석될 수 있는 영국의 “방법의 사용을 청약하는 행위</a:t>
            </a:r>
            <a:r>
              <a:rPr lang="en-US" altLang="ko-KR" sz="1400" dirty="0">
                <a:solidFill>
                  <a:schemeClr val="bg1">
                    <a:lumMod val="50000"/>
                  </a:schemeClr>
                </a:solidFill>
              </a:rPr>
              <a:t>(offer it for use)”</a:t>
            </a:r>
            <a:r>
              <a:rPr lang="ko-KR" altLang="en-US" sz="1400" dirty="0">
                <a:solidFill>
                  <a:schemeClr val="bg1">
                    <a:lumMod val="50000"/>
                  </a:schemeClr>
                </a:solidFill>
              </a:rPr>
              <a:t>를 채택</a:t>
            </a:r>
          </a:p>
          <a:p>
            <a:pPr fontAlgn="base"/>
            <a:r>
              <a:rPr lang="en-US" altLang="ko-KR" sz="1400" dirty="0">
                <a:solidFill>
                  <a:srgbClr val="FF0000"/>
                </a:solidFill>
              </a:rPr>
              <a:t>     - SW</a:t>
            </a:r>
            <a:r>
              <a:rPr lang="ko-KR" altLang="en-US" sz="1400" dirty="0">
                <a:solidFill>
                  <a:srgbClr val="FF0000"/>
                </a:solidFill>
              </a:rPr>
              <a:t>의 실행은 방법의 사용에 해당하고</a:t>
            </a:r>
            <a:r>
              <a:rPr lang="en-US" altLang="ko-KR" sz="1400" dirty="0">
                <a:solidFill>
                  <a:srgbClr val="FF0000"/>
                </a:solidFill>
              </a:rPr>
              <a:t>, SW</a:t>
            </a:r>
            <a:r>
              <a:rPr lang="ko-KR" altLang="en-US" sz="1400" dirty="0">
                <a:solidFill>
                  <a:srgbClr val="FF0000"/>
                </a:solidFill>
              </a:rPr>
              <a:t>를 전송하는 것은 방법을 사용하도록 청약하는 행위로 해석</a:t>
            </a:r>
          </a:p>
          <a:p>
            <a:pPr marL="271463" indent="-271463" fontAlgn="base"/>
            <a:r>
              <a:rPr lang="ko-KR" altLang="en-US" sz="1400" dirty="0">
                <a:solidFill>
                  <a:schemeClr val="bg1">
                    <a:lumMod val="50000"/>
                  </a:schemeClr>
                </a:solidFill>
              </a:rPr>
              <a:t>  </a:t>
            </a:r>
            <a:r>
              <a:rPr lang="ko-KR" altLang="en-US" sz="1400" dirty="0" err="1">
                <a:solidFill>
                  <a:schemeClr val="bg1">
                    <a:lumMod val="50000"/>
                  </a:schemeClr>
                </a:solidFill>
              </a:rPr>
              <a:t>ㅇ</a:t>
            </a:r>
            <a:r>
              <a:rPr lang="ko-KR" altLang="en-US" sz="1400" dirty="0">
                <a:solidFill>
                  <a:schemeClr val="bg1">
                    <a:lumMod val="50000"/>
                  </a:schemeClr>
                </a:solidFill>
              </a:rPr>
              <a:t> “</a:t>
            </a:r>
            <a:r>
              <a:rPr lang="ko-KR" altLang="en-US" sz="1400" dirty="0" err="1">
                <a:solidFill>
                  <a:schemeClr val="bg1">
                    <a:lumMod val="50000"/>
                  </a:schemeClr>
                </a:solidFill>
              </a:rPr>
              <a:t>알면서”라는</a:t>
            </a:r>
            <a:r>
              <a:rPr lang="ko-KR" altLang="en-US" sz="1400" dirty="0">
                <a:solidFill>
                  <a:schemeClr val="bg1">
                    <a:lumMod val="50000"/>
                  </a:schemeClr>
                </a:solidFill>
              </a:rPr>
              <a:t> 인지요건에 의해</a:t>
            </a:r>
            <a:r>
              <a:rPr lang="en-US" altLang="ko-KR" sz="1400" dirty="0">
                <a:solidFill>
                  <a:schemeClr val="bg1">
                    <a:lumMod val="50000"/>
                  </a:schemeClr>
                </a:solidFill>
              </a:rPr>
              <a:t>, SW</a:t>
            </a:r>
            <a:r>
              <a:rPr lang="ko-KR" altLang="en-US" sz="1400" dirty="0">
                <a:solidFill>
                  <a:schemeClr val="bg1">
                    <a:lumMod val="50000"/>
                  </a:schemeClr>
                </a:solidFill>
              </a:rPr>
              <a:t>를 전송하여 특허를 침해하는 경우는 ① 특허권 존속 중에 ② 정당한 </a:t>
            </a:r>
            <a:r>
              <a:rPr lang="ko-KR" altLang="en-US" sz="1400" dirty="0" err="1">
                <a:solidFill>
                  <a:schemeClr val="bg1">
                    <a:lumMod val="50000"/>
                  </a:schemeClr>
                </a:solidFill>
              </a:rPr>
              <a:t>권원</a:t>
            </a:r>
            <a:r>
              <a:rPr lang="ko-KR" altLang="en-US" sz="1400" dirty="0">
                <a:solidFill>
                  <a:schemeClr val="bg1">
                    <a:lumMod val="50000"/>
                  </a:schemeClr>
                </a:solidFill>
              </a:rPr>
              <a:t> 없는 자가 ③ 업으로서 실시하며</a:t>
            </a:r>
            <a:r>
              <a:rPr lang="en-US" altLang="ko-KR" sz="1400" dirty="0">
                <a:solidFill>
                  <a:schemeClr val="bg1">
                    <a:lumMod val="50000"/>
                  </a:schemeClr>
                </a:solidFill>
              </a:rPr>
              <a:t>, ④ </a:t>
            </a:r>
            <a:r>
              <a:rPr lang="ko-KR" altLang="en-US" sz="1400" dirty="0">
                <a:solidFill>
                  <a:schemeClr val="bg1">
                    <a:lumMod val="50000"/>
                  </a:schemeClr>
                </a:solidFill>
              </a:rPr>
              <a:t>알면서 그 방법의 사용을 청약하는 경우만 해당</a:t>
            </a:r>
          </a:p>
          <a:p>
            <a:pPr fontAlgn="base"/>
            <a:r>
              <a:rPr lang="en-US" altLang="ko-KR" sz="1400" dirty="0">
                <a:solidFill>
                  <a:srgbClr val="FF0000"/>
                </a:solidFill>
              </a:rPr>
              <a:t>     - </a:t>
            </a:r>
            <a:r>
              <a:rPr lang="ko-KR" altLang="en-US" sz="1400" dirty="0">
                <a:solidFill>
                  <a:srgbClr val="FF0000"/>
                </a:solidFill>
              </a:rPr>
              <a:t>제</a:t>
            </a:r>
            <a:r>
              <a:rPr lang="en-US" altLang="ko-KR" sz="1400" dirty="0">
                <a:solidFill>
                  <a:srgbClr val="FF0000"/>
                </a:solidFill>
              </a:rPr>
              <a:t>130</a:t>
            </a:r>
            <a:r>
              <a:rPr lang="ko-KR" altLang="en-US" sz="1400" dirty="0">
                <a:solidFill>
                  <a:srgbClr val="FF0000"/>
                </a:solidFill>
              </a:rPr>
              <a:t>조</a:t>
            </a:r>
            <a:r>
              <a:rPr lang="en-US" altLang="ko-KR" sz="1400" dirty="0">
                <a:solidFill>
                  <a:srgbClr val="FF0000"/>
                </a:solidFill>
              </a:rPr>
              <a:t>(</a:t>
            </a:r>
            <a:r>
              <a:rPr lang="ko-KR" altLang="en-US" sz="1400" dirty="0">
                <a:solidFill>
                  <a:srgbClr val="FF0000"/>
                </a:solidFill>
              </a:rPr>
              <a:t>과실의 추정</a:t>
            </a:r>
            <a:r>
              <a:rPr lang="en-US" altLang="ko-KR" sz="1400" dirty="0">
                <a:solidFill>
                  <a:srgbClr val="FF0000"/>
                </a:solidFill>
              </a:rPr>
              <a:t>) </a:t>
            </a:r>
            <a:r>
              <a:rPr lang="ko-KR" altLang="en-US" sz="1400" dirty="0">
                <a:solidFill>
                  <a:srgbClr val="FF0000"/>
                </a:solidFill>
              </a:rPr>
              <a:t>규정이 적용되지 않으며</a:t>
            </a:r>
            <a:r>
              <a:rPr lang="en-US" altLang="ko-KR" sz="1400" dirty="0">
                <a:solidFill>
                  <a:srgbClr val="FF0000"/>
                </a:solidFill>
              </a:rPr>
              <a:t>, </a:t>
            </a:r>
            <a:r>
              <a:rPr lang="ko-KR" altLang="en-US" sz="1400" dirty="0">
                <a:solidFill>
                  <a:srgbClr val="FF0000"/>
                </a:solidFill>
              </a:rPr>
              <a:t>특허권자로부터 침해경고를 받은 이후에 실시를 중단하면 </a:t>
            </a:r>
            <a:r>
              <a:rPr lang="ko-KR" altLang="en-US" sz="1400" dirty="0" err="1">
                <a:solidFill>
                  <a:srgbClr val="FF0000"/>
                </a:solidFill>
              </a:rPr>
              <a:t>비침해</a:t>
            </a:r>
            <a:endParaRPr lang="ko-KR" altLang="en-US" sz="1400" dirty="0">
              <a:solidFill>
                <a:srgbClr val="FF0000"/>
              </a:solidFill>
            </a:endParaRPr>
          </a:p>
          <a:p>
            <a:pPr fontAlgn="base"/>
            <a:endParaRPr lang="en-US" altLang="ko-KR" sz="1400" dirty="0"/>
          </a:p>
          <a:p>
            <a:pPr fontAlgn="base"/>
            <a:r>
              <a:rPr lang="ko-KR" altLang="en-US" sz="1600" dirty="0">
                <a:solidFill>
                  <a:schemeClr val="accent1">
                    <a:lumMod val="50000"/>
                  </a:schemeClr>
                </a:solidFill>
              </a:rPr>
              <a:t>□ ‘방법의 사용을 청약하는 </a:t>
            </a:r>
            <a:r>
              <a:rPr lang="ko-KR" altLang="en-US" sz="1600" dirty="0" err="1">
                <a:solidFill>
                  <a:schemeClr val="accent1">
                    <a:lumMod val="50000"/>
                  </a:schemeClr>
                </a:solidFill>
              </a:rPr>
              <a:t>행위’의</a:t>
            </a:r>
            <a:r>
              <a:rPr lang="ko-KR" altLang="en-US" sz="1600" dirty="0">
                <a:solidFill>
                  <a:schemeClr val="accent1">
                    <a:lumMod val="50000"/>
                  </a:schemeClr>
                </a:solidFill>
              </a:rPr>
              <a:t> 실시 형태</a:t>
            </a:r>
            <a:r>
              <a:rPr lang="en-US" altLang="ko-KR" sz="1600" dirty="0">
                <a:solidFill>
                  <a:schemeClr val="accent1">
                    <a:lumMod val="50000"/>
                  </a:schemeClr>
                </a:solidFill>
              </a:rPr>
              <a:t>(‘</a:t>
            </a:r>
            <a:r>
              <a:rPr lang="ko-KR" altLang="en-US" sz="1600" dirty="0">
                <a:solidFill>
                  <a:schemeClr val="accent1">
                    <a:lumMod val="50000"/>
                  </a:schemeClr>
                </a:solidFill>
              </a:rPr>
              <a:t>특허법 개정안의 산업계 영향 분석에 관한 연구’</a:t>
            </a:r>
            <a:r>
              <a:rPr lang="en-US" altLang="ko-KR" sz="1600" dirty="0">
                <a:solidFill>
                  <a:schemeClr val="accent1">
                    <a:lumMod val="50000"/>
                  </a:schemeClr>
                </a:solidFill>
              </a:rPr>
              <a:t>, ‘19.4</a:t>
            </a:r>
            <a:r>
              <a:rPr lang="ko-KR" altLang="en-US" sz="1600" dirty="0">
                <a:solidFill>
                  <a:schemeClr val="accent1">
                    <a:lumMod val="50000"/>
                  </a:schemeClr>
                </a:solidFill>
              </a:rPr>
              <a:t>월</a:t>
            </a:r>
            <a:r>
              <a:rPr lang="en-US" altLang="ko-KR" sz="1600" dirty="0">
                <a:solidFill>
                  <a:schemeClr val="accent1">
                    <a:lumMod val="50000"/>
                  </a:schemeClr>
                </a:solidFill>
              </a:rPr>
              <a:t>, </a:t>
            </a:r>
            <a:r>
              <a:rPr lang="ko-KR" altLang="en-US" sz="1600" dirty="0">
                <a:solidFill>
                  <a:schemeClr val="accent1">
                    <a:lumMod val="50000"/>
                  </a:schemeClr>
                </a:solidFill>
              </a:rPr>
              <a:t>법무법인 다래</a:t>
            </a:r>
            <a:r>
              <a:rPr lang="en-US" altLang="ko-KR" sz="1600" dirty="0">
                <a:solidFill>
                  <a:schemeClr val="accent1">
                    <a:lumMod val="50000"/>
                  </a:schemeClr>
                </a:solidFill>
              </a:rPr>
              <a:t>)</a:t>
            </a:r>
          </a:p>
          <a:p>
            <a:pPr fontAlgn="base"/>
            <a:r>
              <a:rPr lang="en-US" altLang="ko-KR" sz="1400" dirty="0"/>
              <a:t>   </a:t>
            </a:r>
            <a:r>
              <a:rPr lang="en-US" altLang="ko-KR" sz="1400" dirty="0">
                <a:solidFill>
                  <a:schemeClr val="bg1">
                    <a:lumMod val="50000"/>
                  </a:schemeClr>
                </a:solidFill>
              </a:rPr>
              <a:t>① </a:t>
            </a:r>
            <a:r>
              <a:rPr lang="ko-KR" altLang="en-US" sz="1400" dirty="0">
                <a:solidFill>
                  <a:schemeClr val="bg1">
                    <a:lumMod val="50000"/>
                  </a:schemeClr>
                </a:solidFill>
              </a:rPr>
              <a:t>방법발명</a:t>
            </a:r>
            <a:r>
              <a:rPr lang="en-US" altLang="ko-KR" sz="1400" dirty="0">
                <a:solidFill>
                  <a:schemeClr val="bg1">
                    <a:lumMod val="50000"/>
                  </a:schemeClr>
                </a:solidFill>
              </a:rPr>
              <a:t>(</a:t>
            </a:r>
            <a:r>
              <a:rPr lang="ko-KR" altLang="en-US" sz="1400" dirty="0">
                <a:solidFill>
                  <a:schemeClr val="bg1">
                    <a:lumMod val="50000"/>
                  </a:schemeClr>
                </a:solidFill>
              </a:rPr>
              <a:t>프로그램 특허</a:t>
            </a:r>
            <a:r>
              <a:rPr lang="en-US" altLang="ko-KR" sz="1400" dirty="0">
                <a:solidFill>
                  <a:schemeClr val="bg1">
                    <a:lumMod val="50000"/>
                  </a:schemeClr>
                </a:solidFill>
              </a:rPr>
              <a:t>)</a:t>
            </a:r>
            <a:r>
              <a:rPr lang="ko-KR" altLang="en-US" sz="1400" dirty="0">
                <a:solidFill>
                  <a:schemeClr val="bg1">
                    <a:lumMod val="50000"/>
                  </a:schemeClr>
                </a:solidFill>
              </a:rPr>
              <a:t>이 구현된 프로그램이나 데이터를 정보통신망을 통하여 파일</a:t>
            </a:r>
            <a:r>
              <a:rPr lang="en-US" altLang="ko-KR" sz="1400" dirty="0">
                <a:solidFill>
                  <a:schemeClr val="bg1">
                    <a:lumMod val="50000"/>
                  </a:schemeClr>
                </a:solidFill>
              </a:rPr>
              <a:t>(File)</a:t>
            </a:r>
            <a:r>
              <a:rPr lang="ko-KR" altLang="en-US" sz="1400" dirty="0">
                <a:solidFill>
                  <a:schemeClr val="bg1">
                    <a:lumMod val="50000"/>
                  </a:schemeClr>
                </a:solidFill>
              </a:rPr>
              <a:t>형태로 상대방에게 제공</a:t>
            </a:r>
            <a:r>
              <a:rPr lang="en-US" altLang="ko-KR" sz="1400" dirty="0">
                <a:solidFill>
                  <a:schemeClr val="bg1">
                    <a:lumMod val="50000"/>
                  </a:schemeClr>
                </a:solidFill>
              </a:rPr>
              <a:t>(</a:t>
            </a:r>
            <a:r>
              <a:rPr lang="ko-KR" altLang="en-US" sz="1400" dirty="0">
                <a:solidFill>
                  <a:schemeClr val="bg1">
                    <a:lumMod val="50000"/>
                  </a:schemeClr>
                </a:solidFill>
              </a:rPr>
              <a:t>전송</a:t>
            </a:r>
            <a:r>
              <a:rPr lang="en-US" altLang="ko-KR" sz="1400" dirty="0">
                <a:solidFill>
                  <a:schemeClr val="bg1">
                    <a:lumMod val="50000"/>
                  </a:schemeClr>
                </a:solidFill>
              </a:rPr>
              <a:t>)</a:t>
            </a:r>
            <a:r>
              <a:rPr lang="ko-KR" altLang="en-US" sz="1400" dirty="0">
                <a:solidFill>
                  <a:schemeClr val="bg1">
                    <a:lumMod val="50000"/>
                  </a:schemeClr>
                </a:solidFill>
              </a:rPr>
              <a:t>하는 행위</a:t>
            </a:r>
          </a:p>
          <a:p>
            <a:pPr fontAlgn="base"/>
            <a:r>
              <a:rPr lang="ko-KR" altLang="en-US" sz="1400" dirty="0">
                <a:solidFill>
                  <a:schemeClr val="bg1">
                    <a:lumMod val="50000"/>
                  </a:schemeClr>
                </a:solidFill>
              </a:rPr>
              <a:t>   ② 방법발명</a:t>
            </a:r>
            <a:r>
              <a:rPr lang="en-US" altLang="ko-KR" sz="1400" dirty="0">
                <a:solidFill>
                  <a:schemeClr val="bg1">
                    <a:lumMod val="50000"/>
                  </a:schemeClr>
                </a:solidFill>
              </a:rPr>
              <a:t>(</a:t>
            </a:r>
            <a:r>
              <a:rPr lang="ko-KR" altLang="en-US" sz="1400" dirty="0">
                <a:solidFill>
                  <a:schemeClr val="bg1">
                    <a:lumMod val="50000"/>
                  </a:schemeClr>
                </a:solidFill>
              </a:rPr>
              <a:t>프로그램 특허</a:t>
            </a:r>
            <a:r>
              <a:rPr lang="en-US" altLang="ko-KR" sz="1400" dirty="0">
                <a:solidFill>
                  <a:schemeClr val="bg1">
                    <a:lumMod val="50000"/>
                  </a:schemeClr>
                </a:solidFill>
              </a:rPr>
              <a:t>)</a:t>
            </a:r>
            <a:r>
              <a:rPr lang="ko-KR" altLang="en-US" sz="1400" dirty="0">
                <a:solidFill>
                  <a:schemeClr val="bg1">
                    <a:lumMod val="50000"/>
                  </a:schemeClr>
                </a:solidFill>
              </a:rPr>
              <a:t>이 구현된 프로그램이나 데이터를 매체</a:t>
            </a:r>
            <a:r>
              <a:rPr lang="en-US" altLang="ko-KR" sz="1400" dirty="0">
                <a:solidFill>
                  <a:schemeClr val="bg1">
                    <a:lumMod val="50000"/>
                  </a:schemeClr>
                </a:solidFill>
              </a:rPr>
              <a:t>(USB </a:t>
            </a:r>
            <a:r>
              <a:rPr lang="ko-KR" altLang="en-US" sz="1400" dirty="0">
                <a:solidFill>
                  <a:schemeClr val="bg1">
                    <a:lumMod val="50000"/>
                  </a:schemeClr>
                </a:solidFill>
              </a:rPr>
              <a:t>등</a:t>
            </a:r>
            <a:r>
              <a:rPr lang="en-US" altLang="ko-KR" sz="1400" dirty="0">
                <a:solidFill>
                  <a:schemeClr val="bg1">
                    <a:lumMod val="50000"/>
                  </a:schemeClr>
                </a:solidFill>
              </a:rPr>
              <a:t>)</a:t>
            </a:r>
            <a:r>
              <a:rPr lang="ko-KR" altLang="en-US" sz="1400" dirty="0">
                <a:solidFill>
                  <a:schemeClr val="bg1">
                    <a:lumMod val="50000"/>
                  </a:schemeClr>
                </a:solidFill>
              </a:rPr>
              <a:t>를 통하여 제공하는 행위</a:t>
            </a:r>
          </a:p>
          <a:p>
            <a:pPr fontAlgn="base"/>
            <a:r>
              <a:rPr lang="ko-KR" altLang="en-US" sz="1400" dirty="0">
                <a:solidFill>
                  <a:schemeClr val="bg1">
                    <a:lumMod val="50000"/>
                  </a:schemeClr>
                </a:solidFill>
              </a:rPr>
              <a:t>   ③ 온라인 플랫폼에 방법발명</a:t>
            </a:r>
            <a:r>
              <a:rPr lang="en-US" altLang="ko-KR" sz="1400" dirty="0">
                <a:solidFill>
                  <a:schemeClr val="bg1">
                    <a:lumMod val="50000"/>
                  </a:schemeClr>
                </a:solidFill>
              </a:rPr>
              <a:t>(</a:t>
            </a:r>
            <a:r>
              <a:rPr lang="ko-KR" altLang="en-US" sz="1400" dirty="0">
                <a:solidFill>
                  <a:schemeClr val="bg1">
                    <a:lumMod val="50000"/>
                  </a:schemeClr>
                </a:solidFill>
              </a:rPr>
              <a:t>프로그램 특허</a:t>
            </a:r>
            <a:r>
              <a:rPr lang="en-US" altLang="ko-KR" sz="1400" dirty="0">
                <a:solidFill>
                  <a:schemeClr val="bg1">
                    <a:lumMod val="50000"/>
                  </a:schemeClr>
                </a:solidFill>
              </a:rPr>
              <a:t>)</a:t>
            </a:r>
            <a:r>
              <a:rPr lang="ko-KR" altLang="en-US" sz="1400" dirty="0">
                <a:solidFill>
                  <a:schemeClr val="bg1">
                    <a:lumMod val="50000"/>
                  </a:schemeClr>
                </a:solidFill>
              </a:rPr>
              <a:t>이 구현된 프로그램이나 데이터를 업로드하는 행위</a:t>
            </a:r>
          </a:p>
          <a:p>
            <a:pPr fontAlgn="base"/>
            <a:r>
              <a:rPr lang="ko-KR" altLang="en-US" sz="1400" dirty="0">
                <a:solidFill>
                  <a:schemeClr val="bg1">
                    <a:lumMod val="50000"/>
                  </a:schemeClr>
                </a:solidFill>
              </a:rPr>
              <a:t>   ④ 프로그램 특허의 일부만을 정보통신망을 통하여 전송하고</a:t>
            </a:r>
            <a:r>
              <a:rPr lang="en-US" altLang="ko-KR" sz="1400" dirty="0">
                <a:solidFill>
                  <a:schemeClr val="bg1">
                    <a:lumMod val="50000"/>
                  </a:schemeClr>
                </a:solidFill>
              </a:rPr>
              <a:t>, </a:t>
            </a:r>
            <a:r>
              <a:rPr lang="ko-KR" altLang="en-US" sz="1400" dirty="0">
                <a:solidFill>
                  <a:schemeClr val="bg1">
                    <a:lumMod val="50000"/>
                  </a:schemeClr>
                </a:solidFill>
              </a:rPr>
              <a:t>이를 </a:t>
            </a:r>
            <a:r>
              <a:rPr lang="ko-KR" altLang="en-US" sz="1400" dirty="0" err="1">
                <a:solidFill>
                  <a:schemeClr val="bg1">
                    <a:lumMod val="50000"/>
                  </a:schemeClr>
                </a:solidFill>
              </a:rPr>
              <a:t>전송받은</a:t>
            </a:r>
            <a:r>
              <a:rPr lang="ko-KR" altLang="en-US" sz="1400" dirty="0">
                <a:solidFill>
                  <a:schemeClr val="bg1">
                    <a:lumMod val="50000"/>
                  </a:schemeClr>
                </a:solidFill>
              </a:rPr>
              <a:t> 자가 이를 다운로드하여 전체 프로그램을 실행할 수 있도록 하는 행위</a:t>
            </a:r>
          </a:p>
          <a:p>
            <a:pPr marL="361950" indent="-361950" fontAlgn="base"/>
            <a:r>
              <a:rPr lang="ko-KR" altLang="en-US" sz="1400" dirty="0">
                <a:solidFill>
                  <a:schemeClr val="bg1">
                    <a:lumMod val="50000"/>
                  </a:schemeClr>
                </a:solidFill>
              </a:rPr>
              <a:t>   ⑤ </a:t>
            </a:r>
            <a:r>
              <a:rPr lang="ko-KR" altLang="en-US" sz="1400" dirty="0" err="1">
                <a:solidFill>
                  <a:schemeClr val="bg1">
                    <a:lumMod val="50000"/>
                  </a:schemeClr>
                </a:solidFill>
              </a:rPr>
              <a:t>클라우딩컴퓨팅을</a:t>
            </a:r>
            <a:r>
              <a:rPr lang="ko-KR" altLang="en-US" sz="1400" dirty="0">
                <a:solidFill>
                  <a:schemeClr val="bg1">
                    <a:lumMod val="50000"/>
                  </a:schemeClr>
                </a:solidFill>
              </a:rPr>
              <a:t> 이용하여 일방이 클라우드 서버에 프로그램을 업로드하고</a:t>
            </a:r>
            <a:r>
              <a:rPr lang="en-US" altLang="ko-KR" sz="1400" dirty="0">
                <a:solidFill>
                  <a:schemeClr val="bg1">
                    <a:lumMod val="50000"/>
                  </a:schemeClr>
                </a:solidFill>
              </a:rPr>
              <a:t>, </a:t>
            </a:r>
            <a:r>
              <a:rPr lang="ko-KR" altLang="en-US" sz="1400" dirty="0">
                <a:solidFill>
                  <a:schemeClr val="bg1">
                    <a:lumMod val="50000"/>
                  </a:schemeClr>
                </a:solidFill>
              </a:rPr>
              <a:t>타방이 이를 다운로드하거나 이를 다운로드함이 없이 프로그램을 사용할 수 있도록 하는 행위</a:t>
            </a:r>
          </a:p>
          <a:p>
            <a:pPr fontAlgn="base"/>
            <a:r>
              <a:rPr lang="ko-KR" altLang="en-US" sz="1400" dirty="0">
                <a:solidFill>
                  <a:schemeClr val="bg1">
                    <a:lumMod val="50000"/>
                  </a:schemeClr>
                </a:solidFill>
              </a:rPr>
              <a:t>   ⑥ 프로그램특허의 내용이 포함된 카탈로그나 책자 등을 문서 또는 전자파일로 배포하는 행위</a:t>
            </a:r>
          </a:p>
        </p:txBody>
      </p: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25</a:t>
            </a:fld>
            <a:endParaRPr lang="ko-KR" altLang="en-US"/>
          </a:p>
        </p:txBody>
      </p:sp>
      <p:graphicFrame>
        <p:nvGraphicFramePr>
          <p:cNvPr id="5" name="표 4">
            <a:extLst>
              <a:ext uri="{FF2B5EF4-FFF2-40B4-BE49-F238E27FC236}">
                <a16:creationId xmlns:a16="http://schemas.microsoft.com/office/drawing/2014/main" id="{D9B8814A-648B-473A-92CF-6094D2701C7E}"/>
              </a:ext>
            </a:extLst>
          </p:cNvPr>
          <p:cNvGraphicFramePr>
            <a:graphicFrameLocks noGrp="1"/>
          </p:cNvGraphicFramePr>
          <p:nvPr>
            <p:extLst>
              <p:ext uri="{D42A27DB-BD31-4B8C-83A1-F6EECF244321}">
                <p14:modId xmlns:p14="http://schemas.microsoft.com/office/powerpoint/2010/main" val="3349789305"/>
              </p:ext>
            </p:extLst>
          </p:nvPr>
        </p:nvGraphicFramePr>
        <p:xfrm>
          <a:off x="748948" y="2242776"/>
          <a:ext cx="8558013" cy="1096010"/>
        </p:xfrm>
        <a:graphic>
          <a:graphicData uri="http://schemas.openxmlformats.org/drawingml/2006/table">
            <a:tbl>
              <a:tblPr>
                <a:tableStyleId>{8799B23B-EC83-4686-B30A-512413B5E67A}</a:tableStyleId>
              </a:tblPr>
              <a:tblGrid>
                <a:gridCol w="1575131">
                  <a:extLst>
                    <a:ext uri="{9D8B030D-6E8A-4147-A177-3AD203B41FA5}">
                      <a16:colId xmlns:a16="http://schemas.microsoft.com/office/drawing/2014/main" val="753046795"/>
                    </a:ext>
                  </a:extLst>
                </a:gridCol>
                <a:gridCol w="726146">
                  <a:extLst>
                    <a:ext uri="{9D8B030D-6E8A-4147-A177-3AD203B41FA5}">
                      <a16:colId xmlns:a16="http://schemas.microsoft.com/office/drawing/2014/main" val="546272534"/>
                    </a:ext>
                  </a:extLst>
                </a:gridCol>
                <a:gridCol w="726146">
                  <a:extLst>
                    <a:ext uri="{9D8B030D-6E8A-4147-A177-3AD203B41FA5}">
                      <a16:colId xmlns:a16="http://schemas.microsoft.com/office/drawing/2014/main" val="3210275499"/>
                    </a:ext>
                  </a:extLst>
                </a:gridCol>
                <a:gridCol w="734193">
                  <a:extLst>
                    <a:ext uri="{9D8B030D-6E8A-4147-A177-3AD203B41FA5}">
                      <a16:colId xmlns:a16="http://schemas.microsoft.com/office/drawing/2014/main" val="3196702212"/>
                    </a:ext>
                  </a:extLst>
                </a:gridCol>
                <a:gridCol w="809222">
                  <a:extLst>
                    <a:ext uri="{9D8B030D-6E8A-4147-A177-3AD203B41FA5}">
                      <a16:colId xmlns:a16="http://schemas.microsoft.com/office/drawing/2014/main" val="1125147763"/>
                    </a:ext>
                  </a:extLst>
                </a:gridCol>
                <a:gridCol w="809222">
                  <a:extLst>
                    <a:ext uri="{9D8B030D-6E8A-4147-A177-3AD203B41FA5}">
                      <a16:colId xmlns:a16="http://schemas.microsoft.com/office/drawing/2014/main" val="3673020911"/>
                    </a:ext>
                  </a:extLst>
                </a:gridCol>
                <a:gridCol w="856559">
                  <a:extLst>
                    <a:ext uri="{9D8B030D-6E8A-4147-A177-3AD203B41FA5}">
                      <a16:colId xmlns:a16="http://schemas.microsoft.com/office/drawing/2014/main" val="2160255338"/>
                    </a:ext>
                  </a:extLst>
                </a:gridCol>
                <a:gridCol w="1160697">
                  <a:extLst>
                    <a:ext uri="{9D8B030D-6E8A-4147-A177-3AD203B41FA5}">
                      <a16:colId xmlns:a16="http://schemas.microsoft.com/office/drawing/2014/main" val="2107392472"/>
                    </a:ext>
                  </a:extLst>
                </a:gridCol>
                <a:gridCol w="1160697">
                  <a:extLst>
                    <a:ext uri="{9D8B030D-6E8A-4147-A177-3AD203B41FA5}">
                      <a16:colId xmlns:a16="http://schemas.microsoft.com/office/drawing/2014/main" val="2881930732"/>
                    </a:ext>
                  </a:extLst>
                </a:gridCol>
              </a:tblGrid>
              <a:tr h="114570">
                <a:tc rowSpan="2">
                  <a:txBody>
                    <a:bodyPr/>
                    <a:lstStyle/>
                    <a:p>
                      <a:pPr marL="0" marR="0" indent="0" algn="ctr" fontAlgn="base" latinLnBrk="0">
                        <a:lnSpc>
                          <a:spcPct val="130000"/>
                        </a:lnSpc>
                        <a:spcBef>
                          <a:spcPts val="0"/>
                        </a:spcBef>
                        <a:spcAft>
                          <a:spcPts val="0"/>
                        </a:spcAft>
                      </a:pPr>
                      <a:r>
                        <a:rPr lang="ko-KR" altLang="en-US" sz="1200" kern="0" spc="-100" dirty="0">
                          <a:effectLst/>
                        </a:rPr>
                        <a:t>구 분</a:t>
                      </a:r>
                      <a:endParaRPr lang="ko-KR" altLang="en-US" sz="1200" kern="0" spc="-100" dirty="0">
                        <a:solidFill>
                          <a:srgbClr val="000000"/>
                        </a:solidFill>
                        <a:effectLst/>
                      </a:endParaRPr>
                    </a:p>
                  </a:txBody>
                  <a:tcPr marL="0" marR="0" marT="0" marB="0" anchor="ctr">
                    <a:solidFill>
                      <a:schemeClr val="accent1">
                        <a:lumMod val="20000"/>
                        <a:lumOff val="80000"/>
                      </a:schemeClr>
                    </a:solidFill>
                  </a:tcPr>
                </a:tc>
                <a:tc gridSpan="4">
                  <a:txBody>
                    <a:bodyPr/>
                    <a:lstStyle/>
                    <a:p>
                      <a:pPr marL="0" marR="0" indent="0" algn="ctr" fontAlgn="base" latinLnBrk="0">
                        <a:lnSpc>
                          <a:spcPct val="130000"/>
                        </a:lnSpc>
                        <a:spcBef>
                          <a:spcPts val="0"/>
                        </a:spcBef>
                        <a:spcAft>
                          <a:spcPts val="0"/>
                        </a:spcAft>
                      </a:pPr>
                      <a:r>
                        <a:rPr lang="ko-KR" altLang="en-US" sz="1200" kern="0" spc="-100" dirty="0">
                          <a:effectLst/>
                        </a:rPr>
                        <a:t>프로그램이 설치된 장치</a:t>
                      </a:r>
                      <a:endParaRPr lang="ko-KR" altLang="en-US" sz="1200" kern="0" spc="-100" dirty="0">
                        <a:solidFill>
                          <a:srgbClr val="000000"/>
                        </a:solidFill>
                        <a:effectLst/>
                      </a:endParaRPr>
                    </a:p>
                  </a:txBody>
                  <a:tcPr marL="0" marR="0" marT="0" marB="0" anchor="ctr">
                    <a:solidFill>
                      <a:schemeClr val="accent1">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gridSpan="3">
                  <a:txBody>
                    <a:bodyPr/>
                    <a:lstStyle/>
                    <a:p>
                      <a:pPr marL="0" marR="0" indent="0" algn="ctr" fontAlgn="base" latinLnBrk="0">
                        <a:lnSpc>
                          <a:spcPct val="130000"/>
                        </a:lnSpc>
                        <a:spcBef>
                          <a:spcPts val="0"/>
                        </a:spcBef>
                        <a:spcAft>
                          <a:spcPts val="0"/>
                        </a:spcAft>
                      </a:pPr>
                      <a:r>
                        <a:rPr lang="ko-KR" altLang="en-US" sz="1200" kern="0" spc="-100">
                          <a:effectLst/>
                        </a:rPr>
                        <a:t>프로그램이 저장된 기록매체</a:t>
                      </a:r>
                      <a:endParaRPr lang="ko-KR" altLang="en-US" sz="1200" kern="0" spc="-100">
                        <a:solidFill>
                          <a:srgbClr val="000000"/>
                        </a:solidFill>
                        <a:effectLst/>
                      </a:endParaRPr>
                    </a:p>
                  </a:txBody>
                  <a:tcPr marL="0" marR="0" marT="0" marB="0" anchor="ctr">
                    <a:solidFill>
                      <a:schemeClr val="accent1">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ctr" fontAlgn="base" latinLnBrk="0">
                        <a:lnSpc>
                          <a:spcPct val="130000"/>
                        </a:lnSpc>
                        <a:spcBef>
                          <a:spcPts val="0"/>
                        </a:spcBef>
                        <a:spcAft>
                          <a:spcPts val="0"/>
                        </a:spcAft>
                      </a:pPr>
                      <a:r>
                        <a:rPr lang="ko-KR" altLang="en-US" sz="1200" kern="0" spc="-100">
                          <a:effectLst/>
                        </a:rPr>
                        <a:t>프로그램</a:t>
                      </a:r>
                      <a:endParaRPr lang="ko-KR" altLang="en-US" sz="1200" kern="0" spc="-100">
                        <a:solidFill>
                          <a:srgbClr val="000000"/>
                        </a:solidFill>
                        <a:effectLst/>
                      </a:endParaRPr>
                    </a:p>
                  </a:txBody>
                  <a:tcPr marL="0" marR="0" marT="0" marB="0" anchor="ctr">
                    <a:solidFill>
                      <a:schemeClr val="accent1">
                        <a:lumMod val="20000"/>
                        <a:lumOff val="80000"/>
                      </a:schemeClr>
                    </a:solidFill>
                  </a:tcPr>
                </a:tc>
                <a:extLst>
                  <a:ext uri="{0D108BD9-81ED-4DB2-BD59-A6C34878D82A}">
                    <a16:rowId xmlns:a16="http://schemas.microsoft.com/office/drawing/2014/main" val="3790294054"/>
                  </a:ext>
                </a:extLst>
              </a:tr>
              <a:tr h="114570">
                <a:tc vMerge="1">
                  <a:txBody>
                    <a:bodyPr/>
                    <a:lstStyle/>
                    <a:p>
                      <a:pPr latinLnBrk="1"/>
                      <a:endParaRPr lang="ko-KR" altLang="en-US"/>
                    </a:p>
                  </a:txBody>
                  <a:tcPr/>
                </a:tc>
                <a:tc>
                  <a:txBody>
                    <a:bodyPr/>
                    <a:lstStyle/>
                    <a:p>
                      <a:pPr marL="0" marR="0" indent="0" algn="ctr" fontAlgn="base" latinLnBrk="0">
                        <a:lnSpc>
                          <a:spcPct val="130000"/>
                        </a:lnSpc>
                        <a:spcBef>
                          <a:spcPts val="0"/>
                        </a:spcBef>
                        <a:spcAft>
                          <a:spcPts val="0"/>
                        </a:spcAft>
                      </a:pPr>
                      <a:r>
                        <a:rPr lang="ko-KR" altLang="en-US" sz="1200" kern="0" spc="-100" dirty="0">
                          <a:effectLst/>
                        </a:rPr>
                        <a:t>생산</a:t>
                      </a:r>
                      <a:endParaRPr lang="ko-KR" altLang="en-US" sz="1200" kern="0" spc="-100" dirty="0">
                        <a:solidFill>
                          <a:srgbClr val="000000"/>
                        </a:solidFill>
                        <a:effectLst/>
                      </a:endParaRPr>
                    </a:p>
                  </a:txBody>
                  <a:tcPr marL="0" marR="0" marT="0" marB="0" anchor="ctr">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200" kern="0" spc="-100" dirty="0">
                          <a:effectLst/>
                        </a:rPr>
                        <a:t>사용</a:t>
                      </a:r>
                      <a:endParaRPr lang="ko-KR" altLang="en-US" sz="1200" kern="0" spc="-100" dirty="0">
                        <a:solidFill>
                          <a:srgbClr val="000000"/>
                        </a:solidFill>
                        <a:effectLst/>
                      </a:endParaRPr>
                    </a:p>
                  </a:txBody>
                  <a:tcPr marL="0" marR="0" marT="0" marB="0" anchor="ctr">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200" kern="0" spc="-100" dirty="0">
                          <a:effectLst/>
                        </a:rPr>
                        <a:t>양도</a:t>
                      </a:r>
                      <a:endParaRPr lang="ko-KR" altLang="en-US" sz="1200" kern="0" spc="-100" dirty="0">
                        <a:solidFill>
                          <a:srgbClr val="000000"/>
                        </a:solidFill>
                        <a:effectLst/>
                      </a:endParaRPr>
                    </a:p>
                  </a:txBody>
                  <a:tcPr marL="0" marR="0" marT="0" marB="0" anchor="ctr">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200" kern="0" spc="-100" dirty="0">
                          <a:effectLst/>
                        </a:rPr>
                        <a:t>수입</a:t>
                      </a:r>
                      <a:endParaRPr lang="ko-KR" altLang="en-US" sz="1200" kern="0" spc="-100" dirty="0">
                        <a:solidFill>
                          <a:srgbClr val="000000"/>
                        </a:solidFill>
                        <a:effectLst/>
                      </a:endParaRPr>
                    </a:p>
                  </a:txBody>
                  <a:tcPr marL="0" marR="0" marT="0" marB="0" anchor="ctr">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200" kern="0" spc="-100" dirty="0">
                          <a:effectLst/>
                        </a:rPr>
                        <a:t>생산</a:t>
                      </a:r>
                      <a:endParaRPr lang="ko-KR" altLang="en-US" sz="1200" kern="0" spc="-100" dirty="0">
                        <a:solidFill>
                          <a:srgbClr val="000000"/>
                        </a:solidFill>
                        <a:effectLst/>
                      </a:endParaRPr>
                    </a:p>
                  </a:txBody>
                  <a:tcPr marL="0" marR="0" marT="0" marB="0" anchor="ctr">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200" kern="0" spc="-100" dirty="0">
                          <a:effectLst/>
                        </a:rPr>
                        <a:t>양도</a:t>
                      </a:r>
                      <a:endParaRPr lang="ko-KR" altLang="en-US" sz="1200" kern="0" spc="-100" dirty="0">
                        <a:solidFill>
                          <a:srgbClr val="000000"/>
                        </a:solidFill>
                        <a:effectLst/>
                      </a:endParaRPr>
                    </a:p>
                  </a:txBody>
                  <a:tcPr marL="0" marR="0" marT="0" marB="0" anchor="ctr">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200" kern="0" spc="-100" dirty="0">
                          <a:effectLst/>
                        </a:rPr>
                        <a:t>수입</a:t>
                      </a:r>
                      <a:endParaRPr lang="ko-KR" altLang="en-US" sz="1200" kern="0" spc="-100" dirty="0">
                        <a:solidFill>
                          <a:srgbClr val="000000"/>
                        </a:solidFill>
                        <a:effectLst/>
                      </a:endParaRPr>
                    </a:p>
                  </a:txBody>
                  <a:tcPr marL="0" marR="0" marT="0" marB="0" anchor="ctr">
                    <a:solidFill>
                      <a:schemeClr val="accent1">
                        <a:lumMod val="20000"/>
                        <a:lumOff val="80000"/>
                      </a:schemeClr>
                    </a:solidFill>
                  </a:tcPr>
                </a:tc>
                <a:tc>
                  <a:txBody>
                    <a:bodyPr/>
                    <a:lstStyle/>
                    <a:p>
                      <a:pPr marL="0" marR="0" indent="0" algn="ctr" fontAlgn="base" latinLnBrk="0">
                        <a:lnSpc>
                          <a:spcPct val="130000"/>
                        </a:lnSpc>
                        <a:spcBef>
                          <a:spcPts val="0"/>
                        </a:spcBef>
                        <a:spcAft>
                          <a:spcPts val="0"/>
                        </a:spcAft>
                      </a:pPr>
                      <a:r>
                        <a:rPr lang="ko-KR" altLang="en-US" sz="1200" kern="0" spc="-100" dirty="0">
                          <a:effectLst/>
                        </a:rPr>
                        <a:t>온라인 전송</a:t>
                      </a:r>
                      <a:endParaRPr lang="ko-KR" altLang="en-US" sz="1200" kern="0" spc="-100" dirty="0">
                        <a:solidFill>
                          <a:srgbClr val="000000"/>
                        </a:solidFill>
                        <a:effectLst/>
                      </a:endParaRPr>
                    </a:p>
                  </a:txBody>
                  <a:tcPr marL="0" marR="0" marT="0" marB="0" anchor="ctr">
                    <a:solidFill>
                      <a:schemeClr val="accent1">
                        <a:lumMod val="20000"/>
                        <a:lumOff val="80000"/>
                      </a:schemeClr>
                    </a:solidFill>
                  </a:tcPr>
                </a:tc>
                <a:extLst>
                  <a:ext uri="{0D108BD9-81ED-4DB2-BD59-A6C34878D82A}">
                    <a16:rowId xmlns:a16="http://schemas.microsoft.com/office/drawing/2014/main" val="2166519020"/>
                  </a:ext>
                </a:extLst>
              </a:tr>
              <a:tr h="114570">
                <a:tc>
                  <a:txBody>
                    <a:bodyPr/>
                    <a:lstStyle/>
                    <a:p>
                      <a:pPr marL="0" marR="0" indent="0" algn="ctr" fontAlgn="base" latinLnBrk="0">
                        <a:lnSpc>
                          <a:spcPct val="130000"/>
                        </a:lnSpc>
                        <a:spcBef>
                          <a:spcPts val="0"/>
                        </a:spcBef>
                        <a:spcAft>
                          <a:spcPts val="0"/>
                        </a:spcAft>
                      </a:pPr>
                      <a:r>
                        <a:rPr lang="ko-KR" altLang="en-US" sz="1200" kern="0" spc="-100">
                          <a:effectLst/>
                        </a:rPr>
                        <a:t>장치 청구항</a:t>
                      </a:r>
                      <a:endParaRPr lang="ko-KR" altLang="en-US" sz="1200" kern="0" spc="-10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a:effectLst/>
                        </a:rPr>
                        <a:t>○</a:t>
                      </a:r>
                      <a:endParaRPr lang="ko-KR" alt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a:effectLst/>
                        </a:rPr>
                        <a:t>○</a:t>
                      </a:r>
                      <a:endParaRPr lang="ko-KR" alt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dirty="0">
                          <a:effectLst/>
                        </a:rPr>
                        <a:t>○</a:t>
                      </a:r>
                      <a:endParaRPr lang="ko-KR" altLang="en-US" sz="1200" kern="0" spc="-50" dirty="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dirty="0">
                          <a:effectLst/>
                        </a:rPr>
                        <a:t>○</a:t>
                      </a:r>
                      <a:endParaRPr lang="ko-KR" altLang="en-US" sz="1200" kern="0" spc="-50" dirty="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a:effectLst/>
                        </a:rPr>
                        <a:t>×</a:t>
                      </a:r>
                      <a:endParaRPr 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a:effectLst/>
                        </a:rPr>
                        <a:t>×</a:t>
                      </a:r>
                      <a:endParaRPr 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a:effectLst/>
                        </a:rPr>
                        <a:t>×</a:t>
                      </a:r>
                      <a:endParaRPr 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dirty="0">
                          <a:effectLst/>
                        </a:rPr>
                        <a:t>×</a:t>
                      </a:r>
                      <a:endParaRPr lang="en-US" sz="1200" kern="0" spc="-50" dirty="0">
                        <a:solidFill>
                          <a:srgbClr val="000000"/>
                        </a:solidFill>
                        <a:effectLst/>
                      </a:endParaRPr>
                    </a:p>
                  </a:txBody>
                  <a:tcPr marL="0" marR="0" marT="0" marB="0" anchor="ctr"/>
                </a:tc>
                <a:extLst>
                  <a:ext uri="{0D108BD9-81ED-4DB2-BD59-A6C34878D82A}">
                    <a16:rowId xmlns:a16="http://schemas.microsoft.com/office/drawing/2014/main" val="338392347"/>
                  </a:ext>
                </a:extLst>
              </a:tr>
              <a:tr h="114570">
                <a:tc>
                  <a:txBody>
                    <a:bodyPr/>
                    <a:lstStyle/>
                    <a:p>
                      <a:pPr marL="0" marR="0" indent="0" algn="ctr" fontAlgn="base" latinLnBrk="0">
                        <a:lnSpc>
                          <a:spcPct val="130000"/>
                        </a:lnSpc>
                        <a:spcBef>
                          <a:spcPts val="0"/>
                        </a:spcBef>
                        <a:spcAft>
                          <a:spcPts val="0"/>
                        </a:spcAft>
                      </a:pPr>
                      <a:r>
                        <a:rPr lang="ko-KR" altLang="en-US" sz="1200" kern="0" spc="-100">
                          <a:effectLst/>
                        </a:rPr>
                        <a:t>기록매체 청구항</a:t>
                      </a:r>
                      <a:endParaRPr lang="ko-KR" altLang="en-US" sz="1200" kern="0" spc="-10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a:effectLst/>
                        </a:rPr>
                        <a:t>△</a:t>
                      </a:r>
                      <a:endParaRPr lang="ko-KR" alt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a:effectLst/>
                        </a:rPr>
                        <a:t>△</a:t>
                      </a:r>
                      <a:endParaRPr lang="ko-KR" alt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dirty="0">
                          <a:effectLst/>
                        </a:rPr>
                        <a:t>△</a:t>
                      </a:r>
                      <a:endParaRPr lang="ko-KR" altLang="en-US" sz="1200" kern="0" spc="-50" dirty="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a:effectLst/>
                        </a:rPr>
                        <a:t>△</a:t>
                      </a:r>
                      <a:endParaRPr lang="ko-KR" alt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dirty="0">
                          <a:effectLst/>
                        </a:rPr>
                        <a:t>○</a:t>
                      </a:r>
                      <a:endParaRPr lang="ko-KR" altLang="en-US" sz="1200" kern="0" spc="-50" dirty="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dirty="0">
                          <a:effectLst/>
                        </a:rPr>
                        <a:t>○</a:t>
                      </a:r>
                      <a:endParaRPr lang="ko-KR" altLang="en-US" sz="1200" kern="0" spc="-50" dirty="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a:effectLst/>
                        </a:rPr>
                        <a:t>○</a:t>
                      </a:r>
                      <a:endParaRPr lang="ko-KR" alt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dirty="0">
                          <a:effectLst/>
                        </a:rPr>
                        <a:t>×</a:t>
                      </a:r>
                      <a:endParaRPr lang="en-US" sz="1200" kern="0" spc="-50" dirty="0">
                        <a:solidFill>
                          <a:srgbClr val="000000"/>
                        </a:solidFill>
                        <a:effectLst/>
                      </a:endParaRPr>
                    </a:p>
                  </a:txBody>
                  <a:tcPr marL="0" marR="0" marT="0" marB="0" anchor="ctr"/>
                </a:tc>
                <a:extLst>
                  <a:ext uri="{0D108BD9-81ED-4DB2-BD59-A6C34878D82A}">
                    <a16:rowId xmlns:a16="http://schemas.microsoft.com/office/drawing/2014/main" val="2568346356"/>
                  </a:ext>
                </a:extLst>
              </a:tr>
              <a:tr h="114570">
                <a:tc>
                  <a:txBody>
                    <a:bodyPr/>
                    <a:lstStyle/>
                    <a:p>
                      <a:pPr marL="0" marR="0" indent="0" algn="ctr" fontAlgn="base" latinLnBrk="0">
                        <a:lnSpc>
                          <a:spcPct val="130000"/>
                        </a:lnSpc>
                        <a:spcBef>
                          <a:spcPts val="0"/>
                        </a:spcBef>
                        <a:spcAft>
                          <a:spcPts val="0"/>
                        </a:spcAft>
                      </a:pPr>
                      <a:r>
                        <a:rPr lang="ko-KR" altLang="en-US" sz="1200" kern="0" spc="-100" dirty="0">
                          <a:effectLst/>
                        </a:rPr>
                        <a:t>방법 청구항</a:t>
                      </a:r>
                      <a:endParaRPr lang="ko-KR" altLang="en-US" sz="1200" kern="0" spc="-100" dirty="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a:effectLst/>
                        </a:rPr>
                        <a:t>×</a:t>
                      </a:r>
                      <a:endParaRPr 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ko-KR" altLang="en-US" sz="1200" kern="0" spc="-50">
                          <a:effectLst/>
                        </a:rPr>
                        <a:t>○</a:t>
                      </a:r>
                      <a:endParaRPr lang="ko-KR" alt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a:effectLst/>
                        </a:rPr>
                        <a:t>×</a:t>
                      </a:r>
                      <a:endParaRPr 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a:effectLst/>
                        </a:rPr>
                        <a:t>×</a:t>
                      </a:r>
                      <a:endParaRPr 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a:effectLst/>
                        </a:rPr>
                        <a:t>×</a:t>
                      </a:r>
                      <a:endParaRPr lang="en-US" sz="1200" kern="0" spc="-5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dirty="0">
                          <a:effectLst/>
                        </a:rPr>
                        <a:t>×</a:t>
                      </a:r>
                      <a:endParaRPr lang="en-US" sz="1200" kern="0" spc="-50" dirty="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dirty="0">
                          <a:effectLst/>
                        </a:rPr>
                        <a:t>×</a:t>
                      </a:r>
                      <a:endParaRPr lang="en-US" sz="1200" kern="0" spc="-50" dirty="0">
                        <a:solidFill>
                          <a:srgbClr val="000000"/>
                        </a:solidFill>
                        <a:effectLst/>
                      </a:endParaRPr>
                    </a:p>
                  </a:txBody>
                  <a:tcPr marL="0" marR="0" marT="0" marB="0" anchor="ctr"/>
                </a:tc>
                <a:tc>
                  <a:txBody>
                    <a:bodyPr/>
                    <a:lstStyle/>
                    <a:p>
                      <a:pPr marL="17780" marR="17780" indent="0" algn="ctr" fontAlgn="base" latinLnBrk="0">
                        <a:lnSpc>
                          <a:spcPct val="130000"/>
                        </a:lnSpc>
                        <a:spcBef>
                          <a:spcPts val="0"/>
                        </a:spcBef>
                        <a:spcAft>
                          <a:spcPts val="0"/>
                        </a:spcAft>
                      </a:pPr>
                      <a:r>
                        <a:rPr lang="en-US" sz="1200" kern="0" spc="-50" dirty="0">
                          <a:effectLst/>
                        </a:rPr>
                        <a:t>×</a:t>
                      </a:r>
                      <a:r>
                        <a:rPr lang="en-US" altLang="ko-KR" sz="1200" kern="0" spc="-50" dirty="0">
                          <a:effectLst/>
                        </a:rPr>
                        <a:t>(</a:t>
                      </a:r>
                      <a:r>
                        <a:rPr lang="ko-KR" altLang="en-US" sz="1200" kern="0" spc="-50" dirty="0">
                          <a:effectLst/>
                        </a:rPr>
                        <a:t>개정법 </a:t>
                      </a:r>
                      <a:r>
                        <a:rPr lang="en-US" altLang="ko-KR" sz="1200" kern="0" spc="-50" dirty="0">
                          <a:effectLst/>
                        </a:rPr>
                        <a:t>O)</a:t>
                      </a:r>
                      <a:endParaRPr lang="en-US" sz="1200" kern="0" spc="-50" dirty="0">
                        <a:solidFill>
                          <a:srgbClr val="000000"/>
                        </a:solidFill>
                        <a:effectLst/>
                      </a:endParaRPr>
                    </a:p>
                  </a:txBody>
                  <a:tcPr marL="0" marR="0" marT="0" marB="0" anchor="ctr">
                    <a:solidFill>
                      <a:schemeClr val="accent4">
                        <a:lumMod val="20000"/>
                        <a:lumOff val="80000"/>
                      </a:schemeClr>
                    </a:solidFill>
                  </a:tcPr>
                </a:tc>
                <a:extLst>
                  <a:ext uri="{0D108BD9-81ED-4DB2-BD59-A6C34878D82A}">
                    <a16:rowId xmlns:a16="http://schemas.microsoft.com/office/drawing/2014/main" val="3692568646"/>
                  </a:ext>
                </a:extLst>
              </a:tr>
            </a:tbl>
          </a:graphicData>
        </a:graphic>
      </p:graphicFrame>
      <p:sp>
        <p:nvSpPr>
          <p:cNvPr id="6" name="말풍선: 모서리가 둥근 사각형 5">
            <a:extLst>
              <a:ext uri="{FF2B5EF4-FFF2-40B4-BE49-F238E27FC236}">
                <a16:creationId xmlns:a16="http://schemas.microsoft.com/office/drawing/2014/main" id="{85A417BC-30C1-2E2C-47AE-990A4B0F8986}"/>
              </a:ext>
            </a:extLst>
          </p:cNvPr>
          <p:cNvSpPr/>
          <p:nvPr/>
        </p:nvSpPr>
        <p:spPr>
          <a:xfrm>
            <a:off x="10049518" y="3032462"/>
            <a:ext cx="1611086" cy="612648"/>
          </a:xfrm>
          <a:prstGeom prst="wedgeRoundRectCallout">
            <a:avLst>
              <a:gd name="adj1" fmla="val -74887"/>
              <a:gd name="adj2" fmla="val 28740"/>
              <a:gd name="adj3" fmla="val 16667"/>
            </a:avLst>
          </a:prstGeom>
          <a:solidFill>
            <a:schemeClr val="accent2">
              <a:lumMod val="20000"/>
              <a:lumOff val="8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bg1">
                    <a:lumMod val="50000"/>
                  </a:schemeClr>
                </a:solidFill>
              </a:rPr>
              <a:t>제</a:t>
            </a:r>
            <a:r>
              <a:rPr lang="en-US" altLang="ko-KR" sz="1200" dirty="0">
                <a:solidFill>
                  <a:schemeClr val="bg1">
                    <a:lumMod val="50000"/>
                  </a:schemeClr>
                </a:solidFill>
              </a:rPr>
              <a:t>2</a:t>
            </a:r>
            <a:r>
              <a:rPr lang="ko-KR" altLang="en-US" sz="1200" dirty="0">
                <a:solidFill>
                  <a:schemeClr val="bg1">
                    <a:lumMod val="50000"/>
                  </a:schemeClr>
                </a:solidFill>
              </a:rPr>
              <a:t>조제</a:t>
            </a:r>
            <a:r>
              <a:rPr lang="en-US" altLang="ko-KR" sz="1200" dirty="0">
                <a:solidFill>
                  <a:schemeClr val="bg1">
                    <a:lumMod val="50000"/>
                  </a:schemeClr>
                </a:solidFill>
              </a:rPr>
              <a:t>3</a:t>
            </a:r>
            <a:r>
              <a:rPr lang="ko-KR" altLang="en-US" sz="1200" dirty="0">
                <a:solidFill>
                  <a:schemeClr val="bg1">
                    <a:lumMod val="50000"/>
                  </a:schemeClr>
                </a:solidFill>
              </a:rPr>
              <a:t>호</a:t>
            </a:r>
            <a:r>
              <a:rPr lang="en-US" altLang="ko-KR" sz="1200" dirty="0">
                <a:solidFill>
                  <a:schemeClr val="bg1">
                    <a:lumMod val="50000"/>
                  </a:schemeClr>
                </a:solidFill>
              </a:rPr>
              <a:t>(</a:t>
            </a:r>
            <a:r>
              <a:rPr lang="ko-KR" altLang="en-US" sz="1200" dirty="0">
                <a:solidFill>
                  <a:schemeClr val="bg1">
                    <a:lumMod val="50000"/>
                  </a:schemeClr>
                </a:solidFill>
              </a:rPr>
              <a:t>나</a:t>
            </a:r>
            <a:r>
              <a:rPr lang="en-US" altLang="ko-KR" sz="1200" dirty="0">
                <a:solidFill>
                  <a:schemeClr val="bg1">
                    <a:lumMod val="50000"/>
                  </a:schemeClr>
                </a:solidFill>
              </a:rPr>
              <a:t>)</a:t>
            </a:r>
            <a:r>
              <a:rPr lang="ko-KR" altLang="en-US" sz="1200" dirty="0">
                <a:solidFill>
                  <a:schemeClr val="bg1">
                    <a:lumMod val="50000"/>
                  </a:schemeClr>
                </a:solidFill>
              </a:rPr>
              <a:t>목의 개정</a:t>
            </a:r>
          </a:p>
        </p:txBody>
      </p:sp>
      <p:sp>
        <p:nvSpPr>
          <p:cNvPr id="7" name="말풍선: 모서리가 둥근 사각형 6">
            <a:extLst>
              <a:ext uri="{FF2B5EF4-FFF2-40B4-BE49-F238E27FC236}">
                <a16:creationId xmlns:a16="http://schemas.microsoft.com/office/drawing/2014/main" id="{30E6369C-BE3A-DAB4-E709-6B5CBE83ADC7}"/>
              </a:ext>
            </a:extLst>
          </p:cNvPr>
          <p:cNvSpPr/>
          <p:nvPr/>
        </p:nvSpPr>
        <p:spPr>
          <a:xfrm>
            <a:off x="10291505" y="4339641"/>
            <a:ext cx="1611086" cy="352102"/>
          </a:xfrm>
          <a:prstGeom prst="wedgeRoundRectCallout">
            <a:avLst>
              <a:gd name="adj1" fmla="val 18356"/>
              <a:gd name="adj2" fmla="val -101289"/>
              <a:gd name="adj3" fmla="val 16667"/>
            </a:avLst>
          </a:prstGeom>
          <a:solidFill>
            <a:schemeClr val="accent2">
              <a:lumMod val="20000"/>
              <a:lumOff val="80000"/>
            </a:schemeClr>
          </a:solid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bg1">
                    <a:lumMod val="50000"/>
                  </a:schemeClr>
                </a:solidFill>
              </a:rPr>
              <a:t>제</a:t>
            </a:r>
            <a:r>
              <a:rPr lang="en-US" altLang="ko-KR" sz="1200" dirty="0">
                <a:solidFill>
                  <a:schemeClr val="bg1">
                    <a:lumMod val="50000"/>
                  </a:schemeClr>
                </a:solidFill>
              </a:rPr>
              <a:t>94</a:t>
            </a:r>
            <a:r>
              <a:rPr lang="ko-KR" altLang="en-US" sz="1200" dirty="0">
                <a:solidFill>
                  <a:schemeClr val="bg1">
                    <a:lumMod val="50000"/>
                  </a:schemeClr>
                </a:solidFill>
              </a:rPr>
              <a:t>조제</a:t>
            </a:r>
            <a:r>
              <a:rPr lang="en-US" altLang="ko-KR" sz="1200" dirty="0">
                <a:solidFill>
                  <a:schemeClr val="bg1">
                    <a:lumMod val="50000"/>
                  </a:schemeClr>
                </a:solidFill>
              </a:rPr>
              <a:t>2</a:t>
            </a:r>
            <a:r>
              <a:rPr lang="ko-KR" altLang="en-US" sz="1200" dirty="0">
                <a:solidFill>
                  <a:schemeClr val="bg1">
                    <a:lumMod val="50000"/>
                  </a:schemeClr>
                </a:solidFill>
              </a:rPr>
              <a:t>항의 신설</a:t>
            </a:r>
          </a:p>
        </p:txBody>
      </p:sp>
    </p:spTree>
    <p:extLst>
      <p:ext uri="{BB962C8B-B14F-4D97-AF65-F5344CB8AC3E}">
        <p14:creationId xmlns:p14="http://schemas.microsoft.com/office/powerpoint/2010/main" val="1890802057"/>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2</a:t>
            </a:r>
            <a:r>
              <a:rPr lang="ko-KR" altLang="en-US" dirty="0"/>
              <a:t>조</a:t>
            </a:r>
          </a:p>
        </p:txBody>
      </p:sp>
      <p:sp>
        <p:nvSpPr>
          <p:cNvPr id="4" name="텍스트 개체 틀 3"/>
          <p:cNvSpPr>
            <a:spLocks noGrp="1"/>
          </p:cNvSpPr>
          <p:nvPr>
            <p:ph type="body" sz="quarter" idx="13"/>
          </p:nvPr>
        </p:nvSpPr>
        <p:spPr/>
        <p:txBody>
          <a:bodyPr/>
          <a:lstStyle/>
          <a:p>
            <a:r>
              <a:rPr lang="ko-KR" altLang="en-US" dirty="0"/>
              <a:t>식물발명의 특허요건 </a:t>
            </a:r>
          </a:p>
        </p:txBody>
      </p:sp>
      <p:sp>
        <p:nvSpPr>
          <p:cNvPr id="5" name="TextBox 4"/>
          <p:cNvSpPr txBox="1"/>
          <p:nvPr/>
        </p:nvSpPr>
        <p:spPr>
          <a:xfrm>
            <a:off x="77875" y="986046"/>
            <a:ext cx="11936323" cy="954107"/>
          </a:xfrm>
          <a:prstGeom prst="rect">
            <a:avLst/>
          </a:prstGeom>
          <a:noFill/>
        </p:spPr>
        <p:txBody>
          <a:bodyPr wrap="square" rtlCol="0">
            <a:spAutoFit/>
          </a:bodyPr>
          <a:lstStyle/>
          <a:p>
            <a:pPr fontAlgn="base"/>
            <a:r>
              <a:rPr lang="en-US" altLang="ko-KR" sz="1400" dirty="0">
                <a:highlight>
                  <a:srgbClr val="FFFF00"/>
                </a:highlight>
              </a:rPr>
              <a:t>WTO/TRIPs </a:t>
            </a:r>
            <a:r>
              <a:rPr lang="ko-KR" altLang="en-US" sz="1400" dirty="0">
                <a:highlight>
                  <a:srgbClr val="FFFF00"/>
                </a:highlight>
              </a:rPr>
              <a:t>제</a:t>
            </a:r>
            <a:r>
              <a:rPr lang="en-US" altLang="ko-KR" sz="1400" dirty="0">
                <a:highlight>
                  <a:srgbClr val="FFFF00"/>
                </a:highlight>
              </a:rPr>
              <a:t>27</a:t>
            </a:r>
            <a:r>
              <a:rPr lang="ko-KR" altLang="en-US" sz="1400" dirty="0">
                <a:highlight>
                  <a:srgbClr val="FFFF00"/>
                </a:highlight>
              </a:rPr>
              <a:t>조제</a:t>
            </a:r>
            <a:r>
              <a:rPr lang="en-US" altLang="ko-KR" sz="1400" dirty="0">
                <a:highlight>
                  <a:srgbClr val="FFFF00"/>
                </a:highlight>
              </a:rPr>
              <a:t>3</a:t>
            </a:r>
            <a:r>
              <a:rPr lang="ko-KR" altLang="en-US" sz="1400" dirty="0">
                <a:highlight>
                  <a:srgbClr val="FFFF00"/>
                </a:highlight>
              </a:rPr>
              <a:t>항의 규정에서는 식물변종의 발명에 관해서는 </a:t>
            </a:r>
            <a:r>
              <a:rPr lang="ko-KR" altLang="en-US" sz="1400" dirty="0" err="1">
                <a:highlight>
                  <a:srgbClr val="FFFF00"/>
                </a:highlight>
              </a:rPr>
              <a:t>불특허대상으로</a:t>
            </a:r>
            <a:r>
              <a:rPr lang="ko-KR" altLang="en-US" sz="1400" dirty="0">
                <a:highlight>
                  <a:srgbClr val="FFFF00"/>
                </a:highlight>
              </a:rPr>
              <a:t> 할 수 </a:t>
            </a:r>
            <a:r>
              <a:rPr lang="ko-KR" altLang="en-US" sz="1400" dirty="0" err="1">
                <a:highlight>
                  <a:srgbClr val="FFFF00"/>
                </a:highlight>
              </a:rPr>
              <a:t>있되</a:t>
            </a:r>
            <a:r>
              <a:rPr lang="ko-KR" altLang="en-US" sz="1400" dirty="0">
                <a:highlight>
                  <a:srgbClr val="FFFF00"/>
                </a:highlight>
              </a:rPr>
              <a:t> 이를 </a:t>
            </a:r>
            <a:r>
              <a:rPr lang="ko-KR" altLang="en-US" sz="1400" dirty="0" err="1">
                <a:highlight>
                  <a:srgbClr val="FFFF00"/>
                </a:highlight>
              </a:rPr>
              <a:t>불특허대상으로</a:t>
            </a:r>
            <a:r>
              <a:rPr lang="ko-KR" altLang="en-US" sz="1400" dirty="0">
                <a:highlight>
                  <a:srgbClr val="FFFF00"/>
                </a:highlight>
              </a:rPr>
              <a:t> 한 경우에는 특별법으로 보호하여야 함을 의무화하고 있다</a:t>
            </a:r>
            <a:r>
              <a:rPr lang="en-US" altLang="ko-KR" sz="1400" dirty="0">
                <a:highlight>
                  <a:srgbClr val="FFFF00"/>
                </a:highlight>
              </a:rPr>
              <a:t>.</a:t>
            </a:r>
            <a:r>
              <a:rPr lang="en-US" altLang="ko-KR" sz="1400" dirty="0">
                <a:solidFill>
                  <a:srgbClr val="FF0000"/>
                </a:solidFill>
              </a:rPr>
              <a:t> </a:t>
            </a:r>
            <a:r>
              <a:rPr lang="ko-KR" altLang="en-US" sz="1400" dirty="0"/>
              <a:t>이에 </a:t>
            </a:r>
            <a:r>
              <a:rPr lang="ko-KR" altLang="en-US" sz="1400" dirty="0">
                <a:solidFill>
                  <a:schemeClr val="tx2"/>
                </a:solidFill>
              </a:rPr>
              <a:t>구법 제</a:t>
            </a:r>
            <a:r>
              <a:rPr lang="en-US" altLang="ko-KR" sz="1400" dirty="0">
                <a:solidFill>
                  <a:schemeClr val="tx2"/>
                </a:solidFill>
              </a:rPr>
              <a:t>31</a:t>
            </a:r>
            <a:r>
              <a:rPr lang="ko-KR" altLang="en-US" sz="1400" dirty="0">
                <a:solidFill>
                  <a:schemeClr val="tx2"/>
                </a:solidFill>
              </a:rPr>
              <a:t>조에서는 </a:t>
            </a:r>
            <a:r>
              <a:rPr lang="ko-KR" altLang="en-US" sz="1400" dirty="0">
                <a:highlight>
                  <a:srgbClr val="FFFF00"/>
                </a:highlight>
              </a:rPr>
              <a:t>“무성적으로 </a:t>
            </a:r>
            <a:r>
              <a:rPr lang="ko-KR" altLang="en-US" sz="1400" dirty="0" err="1">
                <a:highlight>
                  <a:srgbClr val="FFFF00"/>
                </a:highlight>
              </a:rPr>
              <a:t>반복생식할</a:t>
            </a:r>
            <a:r>
              <a:rPr lang="ko-KR" altLang="en-US" sz="1400" dirty="0">
                <a:highlight>
                  <a:srgbClr val="FFFF00"/>
                </a:highlight>
              </a:rPr>
              <a:t> 수 있는 변종식물을 발명한 자는 그 발명에 대하여 특허를 받을 수 있다</a:t>
            </a:r>
            <a:r>
              <a:rPr lang="en-US" altLang="ko-KR" sz="1400" dirty="0">
                <a:highlight>
                  <a:srgbClr val="FFFF00"/>
                </a:highlight>
              </a:rPr>
              <a:t>."</a:t>
            </a:r>
            <a:r>
              <a:rPr lang="ko-KR" altLang="en-US" sz="1400" dirty="0">
                <a:solidFill>
                  <a:schemeClr val="tx2"/>
                </a:solidFill>
              </a:rPr>
              <a:t>고 규정하는 한편</a:t>
            </a:r>
            <a:r>
              <a:rPr lang="en-US" altLang="ko-KR" sz="1400" dirty="0">
                <a:solidFill>
                  <a:schemeClr val="tx2"/>
                </a:solidFill>
              </a:rPr>
              <a:t>, </a:t>
            </a:r>
            <a:r>
              <a:rPr lang="ko-KR" altLang="en-US" sz="1400" dirty="0">
                <a:solidFill>
                  <a:schemeClr val="tx2"/>
                </a:solidFill>
              </a:rPr>
              <a:t>식물신품종 보호법에 의하여 식물품종을 보호하고 있었다</a:t>
            </a:r>
            <a:r>
              <a:rPr lang="en-US" altLang="ko-KR" sz="1400" dirty="0">
                <a:solidFill>
                  <a:schemeClr val="tx2"/>
                </a:solidFill>
              </a:rPr>
              <a:t>. </a:t>
            </a:r>
            <a:r>
              <a:rPr lang="ko-KR" altLang="en-US" sz="1400" dirty="0">
                <a:solidFill>
                  <a:schemeClr val="tx2"/>
                </a:solidFill>
              </a:rPr>
              <a:t>다만</a:t>
            </a:r>
            <a:r>
              <a:rPr lang="en-US" altLang="ko-KR" sz="1400" dirty="0">
                <a:solidFill>
                  <a:schemeClr val="tx2"/>
                </a:solidFill>
              </a:rPr>
              <a:t>, </a:t>
            </a:r>
            <a:r>
              <a:rPr lang="ko-KR" altLang="en-US" sz="1400" dirty="0">
                <a:solidFill>
                  <a:schemeClr val="tx2"/>
                </a:solidFill>
              </a:rPr>
              <a:t>현대 과학기술의 발달에 따라 유성번식식물이라도 </a:t>
            </a:r>
            <a:r>
              <a:rPr lang="ko-KR" altLang="en-US" sz="1400" dirty="0">
                <a:highlight>
                  <a:srgbClr val="FFFF00"/>
                </a:highlight>
              </a:rPr>
              <a:t>유전공학적 방법으로 </a:t>
            </a:r>
            <a:r>
              <a:rPr lang="ko-KR" altLang="en-US" sz="1400" dirty="0" err="1">
                <a:highlight>
                  <a:srgbClr val="FFFF00"/>
                </a:highlight>
              </a:rPr>
              <a:t>반복생식할</a:t>
            </a:r>
            <a:r>
              <a:rPr lang="ko-KR" altLang="en-US" sz="1400" dirty="0">
                <a:highlight>
                  <a:srgbClr val="FFFF00"/>
                </a:highlight>
              </a:rPr>
              <a:t> 수 있다면 특허법의 테두리 안에서 보호할 필요</a:t>
            </a:r>
            <a:r>
              <a:rPr lang="ko-KR" altLang="en-US" sz="1400" dirty="0">
                <a:solidFill>
                  <a:schemeClr val="tx2"/>
                </a:solidFill>
              </a:rPr>
              <a:t>가 있기 때문에 </a:t>
            </a:r>
            <a:r>
              <a:rPr lang="en-US" altLang="ko-KR" sz="1400" dirty="0">
                <a:solidFill>
                  <a:schemeClr val="tx2"/>
                </a:solidFill>
              </a:rPr>
              <a:t>2006. 10. 1. </a:t>
            </a:r>
            <a:r>
              <a:rPr lang="ko-KR" altLang="en-US" sz="1400" dirty="0">
                <a:solidFill>
                  <a:schemeClr val="tx2"/>
                </a:solidFill>
              </a:rPr>
              <a:t>시행된 현행법</a:t>
            </a:r>
            <a:r>
              <a:rPr lang="en-US" altLang="ko-KR" sz="1400" dirty="0">
                <a:solidFill>
                  <a:schemeClr val="tx2"/>
                </a:solidFill>
              </a:rPr>
              <a:t>(</a:t>
            </a:r>
            <a:r>
              <a:rPr lang="ko-KR" altLang="en-US" sz="1400" dirty="0">
                <a:solidFill>
                  <a:schemeClr val="tx2"/>
                </a:solidFill>
              </a:rPr>
              <a:t>法律 제</a:t>
            </a:r>
            <a:r>
              <a:rPr lang="en-US" altLang="ko-KR" sz="1400" dirty="0">
                <a:solidFill>
                  <a:schemeClr val="tx2"/>
                </a:solidFill>
              </a:rPr>
              <a:t>7871</a:t>
            </a:r>
            <a:r>
              <a:rPr lang="ko-KR" altLang="en-US" sz="1400" dirty="0">
                <a:solidFill>
                  <a:schemeClr val="tx2"/>
                </a:solidFill>
              </a:rPr>
              <a:t>호</a:t>
            </a:r>
            <a:r>
              <a:rPr lang="en-US" altLang="ko-KR" sz="1400" dirty="0">
                <a:solidFill>
                  <a:schemeClr val="tx2"/>
                </a:solidFill>
              </a:rPr>
              <a:t>, 2006. 3. 3. </a:t>
            </a:r>
            <a:r>
              <a:rPr lang="ko-KR" altLang="en-US" sz="1400" dirty="0">
                <a:solidFill>
                  <a:schemeClr val="tx2"/>
                </a:solidFill>
              </a:rPr>
              <a:t>개정</a:t>
            </a:r>
            <a:r>
              <a:rPr lang="en-US" altLang="ko-KR" sz="1400" dirty="0">
                <a:solidFill>
                  <a:schemeClr val="tx2"/>
                </a:solidFill>
              </a:rPr>
              <a:t>)</a:t>
            </a:r>
            <a:r>
              <a:rPr lang="ko-KR" altLang="en-US" sz="1400" dirty="0">
                <a:solidFill>
                  <a:schemeClr val="tx2"/>
                </a:solidFill>
              </a:rPr>
              <a:t>에서는 제</a:t>
            </a:r>
            <a:r>
              <a:rPr lang="en-US" altLang="ko-KR" sz="1400" dirty="0">
                <a:solidFill>
                  <a:schemeClr val="tx2"/>
                </a:solidFill>
              </a:rPr>
              <a:t>31</a:t>
            </a:r>
            <a:r>
              <a:rPr lang="ko-KR" altLang="en-US" sz="1400" dirty="0">
                <a:solidFill>
                  <a:schemeClr val="tx2"/>
                </a:solidFill>
              </a:rPr>
              <a:t>조를 삭제하였다</a:t>
            </a:r>
            <a:r>
              <a:rPr lang="en-US" altLang="ko-KR" sz="1400" dirty="0">
                <a:solidFill>
                  <a:schemeClr val="tx2"/>
                </a:solidFill>
              </a:rPr>
              <a:t>.</a:t>
            </a:r>
          </a:p>
        </p:txBody>
      </p:sp>
      <p:cxnSp>
        <p:nvCxnSpPr>
          <p:cNvPr id="6" name="직선 연결선 5"/>
          <p:cNvCxnSpPr/>
          <p:nvPr/>
        </p:nvCxnSpPr>
        <p:spPr>
          <a:xfrm>
            <a:off x="0" y="1940674"/>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9" name="표 8"/>
          <p:cNvGraphicFramePr>
            <a:graphicFrameLocks noGrp="1"/>
          </p:cNvGraphicFramePr>
          <p:nvPr>
            <p:extLst>
              <p:ext uri="{D42A27DB-BD31-4B8C-83A1-F6EECF244321}">
                <p14:modId xmlns:p14="http://schemas.microsoft.com/office/powerpoint/2010/main" val="1215550417"/>
              </p:ext>
            </p:extLst>
          </p:nvPr>
        </p:nvGraphicFramePr>
        <p:xfrm>
          <a:off x="1016001" y="2900891"/>
          <a:ext cx="10071104" cy="2633132"/>
        </p:xfrm>
        <a:graphic>
          <a:graphicData uri="http://schemas.openxmlformats.org/drawingml/2006/table">
            <a:tbl>
              <a:tblPr firstRow="1" bandRow="1">
                <a:tableStyleId>{BC89EF96-8CEA-46FF-86C4-4CE0E7609802}</a:tableStyleId>
              </a:tblPr>
              <a:tblGrid>
                <a:gridCol w="1258888">
                  <a:extLst>
                    <a:ext uri="{9D8B030D-6E8A-4147-A177-3AD203B41FA5}">
                      <a16:colId xmlns:a16="http://schemas.microsoft.com/office/drawing/2014/main" val="20000"/>
                    </a:ext>
                  </a:extLst>
                </a:gridCol>
                <a:gridCol w="1258888">
                  <a:extLst>
                    <a:ext uri="{9D8B030D-6E8A-4147-A177-3AD203B41FA5}">
                      <a16:colId xmlns:a16="http://schemas.microsoft.com/office/drawing/2014/main" val="20001"/>
                    </a:ext>
                  </a:extLst>
                </a:gridCol>
                <a:gridCol w="2517776">
                  <a:extLst>
                    <a:ext uri="{9D8B030D-6E8A-4147-A177-3AD203B41FA5}">
                      <a16:colId xmlns:a16="http://schemas.microsoft.com/office/drawing/2014/main" val="20002"/>
                    </a:ext>
                  </a:extLst>
                </a:gridCol>
                <a:gridCol w="2517776">
                  <a:extLst>
                    <a:ext uri="{9D8B030D-6E8A-4147-A177-3AD203B41FA5}">
                      <a16:colId xmlns:a16="http://schemas.microsoft.com/office/drawing/2014/main" val="20003"/>
                    </a:ext>
                  </a:extLst>
                </a:gridCol>
                <a:gridCol w="2517776">
                  <a:extLst>
                    <a:ext uri="{9D8B030D-6E8A-4147-A177-3AD203B41FA5}">
                      <a16:colId xmlns:a16="http://schemas.microsoft.com/office/drawing/2014/main" val="20004"/>
                    </a:ext>
                  </a:extLst>
                </a:gridCol>
              </a:tblGrid>
              <a:tr h="658283">
                <a:tc gridSpan="2">
                  <a:txBody>
                    <a:bodyPr/>
                    <a:lstStyle/>
                    <a:p>
                      <a:pPr algn="ctr" latinLnBrk="1"/>
                      <a:r>
                        <a:rPr lang="ko-KR" altLang="en-US" sz="1400" dirty="0"/>
                        <a:t>특허법상 보호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hMerge="1">
                  <a:txBody>
                    <a:bodyPr/>
                    <a:lstStyle/>
                    <a:p>
                      <a:pPr latinLnBrk="1"/>
                      <a:endParaRPr lang="ko-KR" altLang="en-US"/>
                    </a:p>
                  </a:txBody>
                  <a:tcPr/>
                </a:tc>
                <a:tc>
                  <a:txBody>
                    <a:bodyPr/>
                    <a:lstStyle/>
                    <a:p>
                      <a:pPr algn="ctr" latinLnBrk="1"/>
                      <a:r>
                        <a:rPr lang="ko-KR" altLang="en-US" sz="1400" dirty="0"/>
                        <a:t>유성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ko-KR" altLang="en-US" sz="1400" dirty="0"/>
                        <a:t>무성</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r>
                        <a:rPr lang="ko-KR" altLang="en-US" sz="1400" dirty="0"/>
                        <a:t>비고</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0"/>
                  </a:ext>
                </a:extLst>
              </a:tr>
              <a:tr h="658283">
                <a:tc gridSpan="2">
                  <a:txBody>
                    <a:bodyPr/>
                    <a:lstStyle/>
                    <a:p>
                      <a:pPr algn="ctr" latinLnBrk="1"/>
                      <a:r>
                        <a:rPr lang="ko-KR" altLang="en-US" sz="1400" dirty="0"/>
                        <a:t>동물발명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lstStyle/>
                    <a:p>
                      <a:pPr latinLnBrk="1"/>
                      <a:endParaRPr lang="ko-KR" altLang="en-US"/>
                    </a:p>
                  </a:txBody>
                  <a:tcPr/>
                </a:tc>
                <a:tc>
                  <a:txBody>
                    <a:bodyPr/>
                    <a:lstStyle/>
                    <a:p>
                      <a:pPr algn="ctr" latinLnBrk="1"/>
                      <a:r>
                        <a:rPr lang="ko-KR" altLang="en-US" sz="1400" dirty="0"/>
                        <a:t>보호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400" dirty="0"/>
                        <a:t>보호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endParaRPr lang="ko-KR"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658283">
                <a:tc rowSpan="2">
                  <a:txBody>
                    <a:bodyPr/>
                    <a:lstStyle/>
                    <a:p>
                      <a:pPr algn="ctr" latinLnBrk="1"/>
                      <a:r>
                        <a:rPr lang="ko-KR" altLang="en-US" sz="1400" dirty="0"/>
                        <a:t>식물발명</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ko-KR" altLang="en-US" sz="1400" dirty="0"/>
                        <a:t>구법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latinLnBrk="1"/>
                      <a:r>
                        <a:rPr lang="ko-KR" altLang="en-US" sz="1400" dirty="0"/>
                        <a:t>비보호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accent3">
                        <a:lumMod val="20000"/>
                        <a:lumOff val="80000"/>
                      </a:schemeClr>
                    </a:solidFill>
                  </a:tcPr>
                </a:tc>
                <a:tc>
                  <a:txBody>
                    <a:bodyPr/>
                    <a:lstStyle/>
                    <a:p>
                      <a:pPr algn="ctr" latinLnBrk="1"/>
                      <a:r>
                        <a:rPr lang="ko-KR" altLang="en-US" sz="1400" dirty="0"/>
                        <a:t>보호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ctr" latinLnBrk="1"/>
                      <a:r>
                        <a:rPr lang="ko-KR" altLang="en-US" sz="1400" dirty="0"/>
                        <a:t>식물신품종 보호법에 </a:t>
                      </a:r>
                      <a:endParaRPr lang="en-US" altLang="ko-KR" sz="1400" dirty="0"/>
                    </a:p>
                    <a:p>
                      <a:pPr algn="ctr" latinLnBrk="1"/>
                      <a:r>
                        <a:rPr lang="ko-KR" altLang="en-US" sz="1400" dirty="0"/>
                        <a:t>의하여 보호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658283">
                <a:tc vMerge="1">
                  <a:txBody>
                    <a:bodyPr/>
                    <a:lstStyle/>
                    <a:p>
                      <a:pPr latinLnBrk="1"/>
                      <a:endParaRPr lang="ko-KR" altLang="en-US"/>
                    </a:p>
                  </a:txBody>
                  <a:tcPr/>
                </a:tc>
                <a:tc>
                  <a:txBody>
                    <a:bodyPr/>
                    <a:lstStyle/>
                    <a:p>
                      <a:pPr algn="ctr" latinLnBrk="1"/>
                      <a:r>
                        <a:rPr lang="ko-KR" altLang="en-US" sz="1400" dirty="0"/>
                        <a:t>현행법</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400" dirty="0"/>
                        <a:t>보호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latinLnBrk="1"/>
                      <a:r>
                        <a:rPr lang="ko-KR" altLang="en-US" sz="1400" dirty="0"/>
                        <a:t>보호</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vMerge="1">
                  <a:txBody>
                    <a:bodyPr/>
                    <a:lstStyle/>
                    <a:p>
                      <a:pPr algn="ctr" latinLnBrk="1"/>
                      <a:endParaRPr lang="ko-KR" altLang="en-US" sz="1400"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26</a:t>
            </a:fld>
            <a:endParaRPr lang="ko-KR" altLang="en-US"/>
          </a:p>
        </p:txBody>
      </p:sp>
    </p:spTree>
    <p:extLst>
      <p:ext uri="{BB962C8B-B14F-4D97-AF65-F5344CB8AC3E}">
        <p14:creationId xmlns:p14="http://schemas.microsoft.com/office/powerpoint/2010/main" val="650489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2</a:t>
            </a:r>
            <a:r>
              <a:rPr lang="ko-KR" altLang="en-US" dirty="0"/>
              <a:t>조</a:t>
            </a:r>
          </a:p>
        </p:txBody>
      </p:sp>
      <p:sp>
        <p:nvSpPr>
          <p:cNvPr id="4" name="텍스트 개체 틀 3"/>
          <p:cNvSpPr>
            <a:spLocks noGrp="1"/>
          </p:cNvSpPr>
          <p:nvPr>
            <p:ph type="body" sz="quarter" idx="13"/>
          </p:nvPr>
        </p:nvSpPr>
        <p:spPr/>
        <p:txBody>
          <a:bodyPr/>
          <a:lstStyle/>
          <a:p>
            <a:r>
              <a:rPr lang="ko-KR" altLang="en-US" dirty="0">
                <a:solidFill>
                  <a:schemeClr val="tx1">
                    <a:lumMod val="65000"/>
                    <a:lumOff val="35000"/>
                  </a:schemeClr>
                </a:solidFill>
              </a:rPr>
              <a:t>발명의 분류 </a:t>
            </a:r>
          </a:p>
        </p:txBody>
      </p:sp>
      <p:sp>
        <p:nvSpPr>
          <p:cNvPr id="5" name="TextBox 4"/>
          <p:cNvSpPr txBox="1"/>
          <p:nvPr/>
        </p:nvSpPr>
        <p:spPr>
          <a:xfrm>
            <a:off x="77875" y="986046"/>
            <a:ext cx="11936323" cy="954107"/>
          </a:xfrm>
          <a:prstGeom prst="rect">
            <a:avLst/>
          </a:prstGeom>
          <a:noFill/>
        </p:spPr>
        <p:txBody>
          <a:bodyPr wrap="square" rtlCol="0">
            <a:spAutoFit/>
          </a:bodyPr>
          <a:lstStyle/>
          <a:p>
            <a:pPr fontAlgn="base"/>
            <a:r>
              <a:rPr lang="ko-KR" altLang="en-US" sz="1400" dirty="0">
                <a:solidFill>
                  <a:schemeClr val="tx2"/>
                </a:solidFill>
              </a:rPr>
              <a:t>물건발명과 방법발명의 구별은 발명의 명칭이나 청구범위의 표현에 따라 결정되는 것이 아니라 발명의 실체에 따라 정하여진다</a:t>
            </a:r>
            <a:r>
              <a:rPr lang="en-US" altLang="ko-KR" sz="1400" dirty="0">
                <a:solidFill>
                  <a:schemeClr val="tx2"/>
                </a:solidFill>
              </a:rPr>
              <a:t>. </a:t>
            </a:r>
            <a:r>
              <a:rPr lang="ko-KR" altLang="en-US" sz="1400" dirty="0">
                <a:solidFill>
                  <a:schemeClr val="tx2"/>
                </a:solidFill>
              </a:rPr>
              <a:t>구체적으로 발명의 실체가 </a:t>
            </a:r>
            <a:r>
              <a:rPr lang="ko-KR" altLang="en-US" sz="1400" dirty="0">
                <a:highlight>
                  <a:srgbClr val="FFFF00"/>
                </a:highlight>
              </a:rPr>
              <a:t>「時의 요소」를 발명구성상의 필수요건으로 하는 때에는 방법발명으로 보고</a:t>
            </a:r>
            <a:r>
              <a:rPr lang="en-US" altLang="ko-KR" sz="1400" dirty="0">
                <a:highlight>
                  <a:srgbClr val="FFFF00"/>
                </a:highlight>
              </a:rPr>
              <a:t>, </a:t>
            </a:r>
            <a:r>
              <a:rPr lang="ko-KR" altLang="en-US" sz="1400" dirty="0">
                <a:highlight>
                  <a:srgbClr val="FFFF00"/>
                </a:highlight>
              </a:rPr>
              <a:t>이와 같은 時의 요소를 필요로 하지 아니한 것일 때에는 물건발명으로 보는 것</a:t>
            </a:r>
            <a:r>
              <a:rPr lang="ko-KR" altLang="en-US" sz="1400" dirty="0">
                <a:solidFill>
                  <a:schemeClr val="tx2"/>
                </a:solidFill>
              </a:rPr>
              <a:t>이 원칙이다</a:t>
            </a:r>
            <a:r>
              <a:rPr lang="en-US" altLang="ko-KR" sz="1400" dirty="0">
                <a:solidFill>
                  <a:schemeClr val="tx2"/>
                </a:solidFill>
              </a:rPr>
              <a:t>. </a:t>
            </a:r>
            <a:r>
              <a:rPr lang="ko-KR" altLang="en-US" sz="1400" dirty="0">
                <a:solidFill>
                  <a:schemeClr val="tx2"/>
                </a:solidFill>
              </a:rPr>
              <a:t>예를 들어</a:t>
            </a:r>
            <a:r>
              <a:rPr lang="en-US" altLang="ko-KR" sz="1400" dirty="0">
                <a:solidFill>
                  <a:schemeClr val="tx2"/>
                </a:solidFill>
              </a:rPr>
              <a:t>, </a:t>
            </a:r>
            <a:r>
              <a:rPr lang="ko-KR" altLang="en-US" sz="1400" dirty="0">
                <a:solidFill>
                  <a:schemeClr val="tx2"/>
                </a:solidFill>
              </a:rPr>
              <a:t>「</a:t>
            </a:r>
            <a:r>
              <a:rPr lang="en-US" altLang="ko-KR" sz="1400" dirty="0">
                <a:solidFill>
                  <a:schemeClr val="tx2"/>
                </a:solidFill>
              </a:rPr>
              <a:t>A </a:t>
            </a:r>
            <a:r>
              <a:rPr lang="ko-KR" altLang="en-US" sz="1400" dirty="0">
                <a:solidFill>
                  <a:schemeClr val="tx2"/>
                </a:solidFill>
              </a:rPr>
              <a:t>와 </a:t>
            </a:r>
            <a:r>
              <a:rPr lang="en-US" altLang="ko-KR" sz="1400" dirty="0">
                <a:solidFill>
                  <a:schemeClr val="tx2"/>
                </a:solidFill>
              </a:rPr>
              <a:t>B </a:t>
            </a:r>
            <a:r>
              <a:rPr lang="ko-KR" altLang="en-US" sz="1400" dirty="0">
                <a:solidFill>
                  <a:schemeClr val="tx2"/>
                </a:solidFill>
              </a:rPr>
              <a:t>로 구성된 것을 특징으로 하는 물건」과 「</a:t>
            </a:r>
            <a:r>
              <a:rPr lang="en-US" altLang="ko-KR" sz="1400" dirty="0">
                <a:solidFill>
                  <a:schemeClr val="tx2"/>
                </a:solidFill>
              </a:rPr>
              <a:t>B </a:t>
            </a:r>
            <a:r>
              <a:rPr lang="ko-KR" altLang="en-US" sz="1400" dirty="0">
                <a:solidFill>
                  <a:schemeClr val="tx2"/>
                </a:solidFill>
              </a:rPr>
              <a:t>와 </a:t>
            </a:r>
            <a:r>
              <a:rPr lang="en-US" altLang="ko-KR" sz="1400" dirty="0">
                <a:solidFill>
                  <a:schemeClr val="tx2"/>
                </a:solidFill>
              </a:rPr>
              <a:t>A </a:t>
            </a:r>
            <a:r>
              <a:rPr lang="ko-KR" altLang="en-US" sz="1400" dirty="0">
                <a:solidFill>
                  <a:schemeClr val="tx2"/>
                </a:solidFill>
              </a:rPr>
              <a:t>로 구성된 것을 특징으로 하는 물건」은 동일한 물건발명이지만</a:t>
            </a:r>
            <a:r>
              <a:rPr lang="en-US" altLang="ko-KR" sz="1400" dirty="0">
                <a:solidFill>
                  <a:schemeClr val="tx2"/>
                </a:solidFill>
              </a:rPr>
              <a:t>, </a:t>
            </a:r>
            <a:r>
              <a:rPr lang="ko-KR" altLang="en-US" sz="1400" dirty="0">
                <a:solidFill>
                  <a:schemeClr val="tx2"/>
                </a:solidFill>
              </a:rPr>
              <a:t>「</a:t>
            </a:r>
            <a:r>
              <a:rPr lang="en-US" altLang="ko-KR" sz="1400" dirty="0">
                <a:solidFill>
                  <a:schemeClr val="tx2"/>
                </a:solidFill>
              </a:rPr>
              <a:t>X </a:t>
            </a:r>
            <a:r>
              <a:rPr lang="ko-KR" altLang="en-US" sz="1400" dirty="0">
                <a:solidFill>
                  <a:schemeClr val="tx2"/>
                </a:solidFill>
              </a:rPr>
              <a:t>공정 후 </a:t>
            </a:r>
            <a:r>
              <a:rPr lang="en-US" altLang="ko-KR" sz="1400" dirty="0">
                <a:solidFill>
                  <a:schemeClr val="tx2"/>
                </a:solidFill>
              </a:rPr>
              <a:t>Y </a:t>
            </a:r>
            <a:r>
              <a:rPr lang="ko-KR" altLang="en-US" sz="1400" dirty="0">
                <a:solidFill>
                  <a:schemeClr val="tx2"/>
                </a:solidFill>
              </a:rPr>
              <a:t>공정을 거치는 물건의 제조방법」과 「</a:t>
            </a:r>
            <a:r>
              <a:rPr lang="en-US" altLang="ko-KR" sz="1400" dirty="0">
                <a:solidFill>
                  <a:schemeClr val="tx2"/>
                </a:solidFill>
              </a:rPr>
              <a:t>Y </a:t>
            </a:r>
            <a:r>
              <a:rPr lang="ko-KR" altLang="en-US" sz="1400" dirty="0">
                <a:solidFill>
                  <a:schemeClr val="tx2"/>
                </a:solidFill>
              </a:rPr>
              <a:t>공정 후 </a:t>
            </a:r>
            <a:r>
              <a:rPr lang="en-US" altLang="ko-KR" sz="1400" dirty="0">
                <a:solidFill>
                  <a:schemeClr val="tx2"/>
                </a:solidFill>
              </a:rPr>
              <a:t>X </a:t>
            </a:r>
            <a:r>
              <a:rPr lang="ko-KR" altLang="en-US" sz="1400" dirty="0">
                <a:solidFill>
                  <a:schemeClr val="tx2"/>
                </a:solidFill>
              </a:rPr>
              <a:t>공정을 거치는 물건의 제조방법」은 구성요소 사이의 時의 흐름이 변화되었기 때문에 동일한 방법발명이라 할 수 없다</a:t>
            </a:r>
            <a:r>
              <a:rPr lang="en-US" altLang="ko-KR" sz="1400" dirty="0">
                <a:solidFill>
                  <a:schemeClr val="tx2"/>
                </a:solidFill>
              </a:rPr>
              <a:t>.</a:t>
            </a:r>
          </a:p>
        </p:txBody>
      </p:sp>
      <p:cxnSp>
        <p:nvCxnSpPr>
          <p:cNvPr id="6" name="직선 연결선 5"/>
          <p:cNvCxnSpPr/>
          <p:nvPr/>
        </p:nvCxnSpPr>
        <p:spPr>
          <a:xfrm>
            <a:off x="0" y="1940674"/>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직사각형 1"/>
          <p:cNvSpPr/>
          <p:nvPr/>
        </p:nvSpPr>
        <p:spPr>
          <a:xfrm>
            <a:off x="371475" y="4238625"/>
            <a:ext cx="476250"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발명</a:t>
            </a:r>
          </a:p>
        </p:txBody>
      </p:sp>
      <p:sp>
        <p:nvSpPr>
          <p:cNvPr id="8" name="직사각형 7"/>
          <p:cNvSpPr/>
          <p:nvPr/>
        </p:nvSpPr>
        <p:spPr>
          <a:xfrm>
            <a:off x="1276350" y="3095625"/>
            <a:ext cx="476250" cy="68580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물건발명</a:t>
            </a:r>
            <a:endParaRPr lang="en-US" altLang="ko-KR" sz="1200" dirty="0">
              <a:solidFill>
                <a:schemeClr val="tx1"/>
              </a:solidFill>
            </a:endParaRPr>
          </a:p>
          <a:p>
            <a:pPr algn="ctr"/>
            <a:r>
              <a:rPr lang="en-US" altLang="ko-KR" sz="1200" dirty="0">
                <a:solidFill>
                  <a:srgbClr val="FF0000"/>
                </a:solidFill>
              </a:rPr>
              <a:t>(A)</a:t>
            </a:r>
            <a:endParaRPr lang="ko-KR" altLang="en-US" sz="1200" dirty="0">
              <a:solidFill>
                <a:srgbClr val="FF0000"/>
              </a:solidFill>
            </a:endParaRPr>
          </a:p>
        </p:txBody>
      </p:sp>
      <p:sp>
        <p:nvSpPr>
          <p:cNvPr id="10" name="직사각형 9"/>
          <p:cNvSpPr/>
          <p:nvPr/>
        </p:nvSpPr>
        <p:spPr>
          <a:xfrm>
            <a:off x="1276350" y="5326197"/>
            <a:ext cx="476250" cy="68235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방법</a:t>
            </a:r>
            <a:endParaRPr lang="en-US" altLang="ko-KR" sz="1200" dirty="0">
              <a:solidFill>
                <a:schemeClr val="tx1"/>
              </a:solidFill>
            </a:endParaRPr>
          </a:p>
          <a:p>
            <a:pPr algn="ctr"/>
            <a:r>
              <a:rPr lang="ko-KR" altLang="en-US" sz="1200" dirty="0">
                <a:solidFill>
                  <a:schemeClr val="tx1"/>
                </a:solidFill>
              </a:rPr>
              <a:t>발명</a:t>
            </a:r>
            <a:endParaRPr lang="en-US" altLang="ko-KR" sz="1200" dirty="0">
              <a:solidFill>
                <a:schemeClr val="tx1"/>
              </a:solidFill>
            </a:endParaRPr>
          </a:p>
          <a:p>
            <a:pPr algn="ctr"/>
            <a:r>
              <a:rPr lang="en-US" altLang="ko-KR" sz="1200" dirty="0">
                <a:solidFill>
                  <a:srgbClr val="FF0000"/>
                </a:solidFill>
              </a:rPr>
              <a:t>(B)</a:t>
            </a:r>
            <a:endParaRPr lang="ko-KR" altLang="en-US" sz="1200" dirty="0">
              <a:solidFill>
                <a:srgbClr val="FF0000"/>
              </a:solidFill>
            </a:endParaRPr>
          </a:p>
        </p:txBody>
      </p:sp>
      <p:sp>
        <p:nvSpPr>
          <p:cNvPr id="11" name="직사각형 10"/>
          <p:cNvSpPr/>
          <p:nvPr/>
        </p:nvSpPr>
        <p:spPr>
          <a:xfrm>
            <a:off x="2257424" y="2419790"/>
            <a:ext cx="2314576" cy="40913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협의의 물건발명</a:t>
            </a:r>
            <a:r>
              <a:rPr lang="en-US" altLang="ko-KR" sz="1200" dirty="0">
                <a:solidFill>
                  <a:srgbClr val="FF0000"/>
                </a:solidFill>
              </a:rPr>
              <a:t>(A1)</a:t>
            </a:r>
          </a:p>
          <a:p>
            <a:pPr algn="ctr"/>
            <a:r>
              <a:rPr lang="en-US" altLang="ko-KR" sz="1050" dirty="0">
                <a:solidFill>
                  <a:schemeClr val="tx1"/>
                </a:solidFill>
              </a:rPr>
              <a:t>(</a:t>
            </a:r>
            <a:r>
              <a:rPr lang="ko-KR" altLang="en-US" sz="1050" dirty="0">
                <a:solidFill>
                  <a:schemeClr val="tx1"/>
                </a:solidFill>
              </a:rPr>
              <a:t>기계</a:t>
            </a:r>
            <a:r>
              <a:rPr lang="en-US" altLang="ko-KR" sz="1050" dirty="0">
                <a:solidFill>
                  <a:schemeClr val="tx1"/>
                </a:solidFill>
              </a:rPr>
              <a:t>, </a:t>
            </a:r>
            <a:r>
              <a:rPr lang="ko-KR" altLang="en-US" sz="1050" dirty="0">
                <a:solidFill>
                  <a:schemeClr val="tx1"/>
                </a:solidFill>
              </a:rPr>
              <a:t>기구</a:t>
            </a:r>
            <a:r>
              <a:rPr lang="en-US" altLang="ko-KR" sz="1050" dirty="0">
                <a:solidFill>
                  <a:schemeClr val="tx1"/>
                </a:solidFill>
              </a:rPr>
              <a:t>, </a:t>
            </a:r>
            <a:r>
              <a:rPr lang="ko-KR" altLang="en-US" sz="1050" dirty="0">
                <a:solidFill>
                  <a:schemeClr val="tx1"/>
                </a:solidFill>
              </a:rPr>
              <a:t>장치</a:t>
            </a:r>
            <a:r>
              <a:rPr lang="en-US" altLang="ko-KR" sz="1050" dirty="0">
                <a:solidFill>
                  <a:schemeClr val="tx1"/>
                </a:solidFill>
              </a:rPr>
              <a:t>)</a:t>
            </a:r>
            <a:endParaRPr lang="ko-KR" altLang="en-US" sz="1050" dirty="0">
              <a:solidFill>
                <a:schemeClr val="tx1"/>
              </a:solidFill>
            </a:endParaRPr>
          </a:p>
        </p:txBody>
      </p:sp>
      <p:sp>
        <p:nvSpPr>
          <p:cNvPr id="12" name="직사각형 11"/>
          <p:cNvSpPr/>
          <p:nvPr/>
        </p:nvSpPr>
        <p:spPr>
          <a:xfrm>
            <a:off x="2257424" y="3843777"/>
            <a:ext cx="2314576" cy="432949"/>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물질발명</a:t>
            </a:r>
            <a:r>
              <a:rPr lang="en-US" altLang="ko-KR" sz="1200" dirty="0">
                <a:solidFill>
                  <a:srgbClr val="FF0000"/>
                </a:solidFill>
              </a:rPr>
              <a:t>(A2)</a:t>
            </a:r>
          </a:p>
          <a:p>
            <a:pPr algn="ctr"/>
            <a:r>
              <a:rPr lang="en-US" altLang="ko-KR" sz="1050" dirty="0">
                <a:solidFill>
                  <a:schemeClr val="tx1"/>
                </a:solidFill>
              </a:rPr>
              <a:t>(</a:t>
            </a:r>
            <a:r>
              <a:rPr lang="ko-KR" altLang="en-US" sz="1050" dirty="0">
                <a:solidFill>
                  <a:schemeClr val="tx1"/>
                </a:solidFill>
              </a:rPr>
              <a:t>음식물</a:t>
            </a:r>
            <a:r>
              <a:rPr lang="en-US" altLang="ko-KR" sz="1050" dirty="0">
                <a:solidFill>
                  <a:schemeClr val="tx1"/>
                </a:solidFill>
              </a:rPr>
              <a:t>, </a:t>
            </a:r>
            <a:r>
              <a:rPr lang="ko-KR" altLang="en-US" sz="1050" dirty="0">
                <a:solidFill>
                  <a:schemeClr val="tx1"/>
                </a:solidFill>
              </a:rPr>
              <a:t>의약품</a:t>
            </a:r>
            <a:r>
              <a:rPr lang="en-US" altLang="ko-KR" sz="1050" dirty="0">
                <a:solidFill>
                  <a:schemeClr val="tx1"/>
                </a:solidFill>
              </a:rPr>
              <a:t>)</a:t>
            </a:r>
            <a:endParaRPr lang="ko-KR" altLang="en-US" sz="1050" dirty="0">
              <a:solidFill>
                <a:schemeClr val="tx1"/>
              </a:solidFill>
            </a:endParaRPr>
          </a:p>
        </p:txBody>
      </p:sp>
      <p:sp>
        <p:nvSpPr>
          <p:cNvPr id="13" name="직사각형 12"/>
          <p:cNvSpPr/>
          <p:nvPr/>
        </p:nvSpPr>
        <p:spPr>
          <a:xfrm>
            <a:off x="2257424" y="4752975"/>
            <a:ext cx="2314576" cy="459623"/>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통상의 방법발명</a:t>
            </a:r>
            <a:r>
              <a:rPr lang="en-US" altLang="ko-KR" sz="1200" dirty="0">
                <a:solidFill>
                  <a:srgbClr val="FF0000"/>
                </a:solidFill>
              </a:rPr>
              <a:t>(B1)</a:t>
            </a:r>
          </a:p>
          <a:p>
            <a:pPr algn="ctr"/>
            <a:r>
              <a:rPr lang="en-US" altLang="ko-KR" sz="1050" dirty="0">
                <a:solidFill>
                  <a:schemeClr val="tx1"/>
                </a:solidFill>
              </a:rPr>
              <a:t>(</a:t>
            </a:r>
            <a:r>
              <a:rPr lang="ko-KR" altLang="en-US" sz="1050" dirty="0">
                <a:solidFill>
                  <a:schemeClr val="tx1"/>
                </a:solidFill>
              </a:rPr>
              <a:t>통신방법</a:t>
            </a:r>
            <a:r>
              <a:rPr lang="en-US" altLang="ko-KR" sz="1050" dirty="0">
                <a:solidFill>
                  <a:schemeClr val="tx1"/>
                </a:solidFill>
              </a:rPr>
              <a:t>, </a:t>
            </a:r>
            <a:r>
              <a:rPr lang="ko-KR" altLang="en-US" sz="1050" dirty="0">
                <a:solidFill>
                  <a:schemeClr val="tx1"/>
                </a:solidFill>
              </a:rPr>
              <a:t>측정방법</a:t>
            </a:r>
            <a:r>
              <a:rPr lang="en-US" altLang="ko-KR" sz="1050" dirty="0">
                <a:solidFill>
                  <a:schemeClr val="tx1"/>
                </a:solidFill>
              </a:rPr>
              <a:t>)</a:t>
            </a:r>
            <a:endParaRPr lang="ko-KR" altLang="en-US" sz="1050" dirty="0">
              <a:solidFill>
                <a:schemeClr val="tx1"/>
              </a:solidFill>
            </a:endParaRPr>
          </a:p>
        </p:txBody>
      </p:sp>
      <p:sp>
        <p:nvSpPr>
          <p:cNvPr id="14" name="직사각형 13"/>
          <p:cNvSpPr/>
          <p:nvPr/>
        </p:nvSpPr>
        <p:spPr>
          <a:xfrm>
            <a:off x="2257424" y="6110655"/>
            <a:ext cx="2314576" cy="38539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제법발명</a:t>
            </a:r>
            <a:r>
              <a:rPr lang="en-US" altLang="ko-KR" sz="1200" dirty="0">
                <a:solidFill>
                  <a:srgbClr val="FF0000"/>
                </a:solidFill>
              </a:rPr>
              <a:t>(B2)</a:t>
            </a:r>
            <a:endParaRPr lang="ko-KR" altLang="en-US" sz="1200" dirty="0">
              <a:solidFill>
                <a:srgbClr val="FF0000"/>
              </a:solidFill>
            </a:endParaRPr>
          </a:p>
        </p:txBody>
      </p:sp>
      <p:cxnSp>
        <p:nvCxnSpPr>
          <p:cNvPr id="15" name="꺾인 연결선 14"/>
          <p:cNvCxnSpPr>
            <a:stCxn id="2" idx="3"/>
            <a:endCxn id="8" idx="1"/>
          </p:cNvCxnSpPr>
          <p:nvPr/>
        </p:nvCxnSpPr>
        <p:spPr>
          <a:xfrm flipV="1">
            <a:off x="847725" y="3438525"/>
            <a:ext cx="428625" cy="1057275"/>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꺾인 연결선 15"/>
          <p:cNvCxnSpPr>
            <a:stCxn id="2" idx="3"/>
            <a:endCxn id="10" idx="1"/>
          </p:cNvCxnSpPr>
          <p:nvPr/>
        </p:nvCxnSpPr>
        <p:spPr>
          <a:xfrm>
            <a:off x="847725" y="4495800"/>
            <a:ext cx="428625" cy="1171575"/>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꺾인 연결선 18"/>
          <p:cNvCxnSpPr>
            <a:stCxn id="8" idx="3"/>
            <a:endCxn id="11" idx="1"/>
          </p:cNvCxnSpPr>
          <p:nvPr/>
        </p:nvCxnSpPr>
        <p:spPr>
          <a:xfrm flipV="1">
            <a:off x="1752600" y="2624358"/>
            <a:ext cx="504824" cy="814167"/>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꺾인 연결선 21"/>
          <p:cNvCxnSpPr>
            <a:stCxn id="8" idx="3"/>
            <a:endCxn id="12" idx="1"/>
          </p:cNvCxnSpPr>
          <p:nvPr/>
        </p:nvCxnSpPr>
        <p:spPr>
          <a:xfrm>
            <a:off x="1752600" y="3438525"/>
            <a:ext cx="504824" cy="621727"/>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10" idx="3"/>
            <a:endCxn id="14" idx="1"/>
          </p:cNvCxnSpPr>
          <p:nvPr/>
        </p:nvCxnSpPr>
        <p:spPr>
          <a:xfrm>
            <a:off x="1752600" y="5667375"/>
            <a:ext cx="504824" cy="635978"/>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꺾인 연결선 27"/>
          <p:cNvCxnSpPr>
            <a:stCxn id="10" idx="3"/>
            <a:endCxn id="13" idx="1"/>
          </p:cNvCxnSpPr>
          <p:nvPr/>
        </p:nvCxnSpPr>
        <p:spPr>
          <a:xfrm flipV="1">
            <a:off x="1752600" y="4982787"/>
            <a:ext cx="504824" cy="684588"/>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5"/>
          <p:cNvSpPr>
            <a:spLocks noChangeArrowheads="1"/>
          </p:cNvSpPr>
          <p:nvPr/>
        </p:nvSpPr>
        <p:spPr bwMode="auto">
          <a:xfrm>
            <a:off x="1206873" y="4359849"/>
            <a:ext cx="1628776" cy="348102"/>
          </a:xfrm>
          <a:prstGeom prst="roundRect">
            <a:avLst>
              <a:gd name="adj" fmla="val 50000"/>
            </a:avLst>
          </a:prstGeom>
          <a:solidFill>
            <a:schemeClr val="accent4"/>
          </a:solidFill>
          <a:ln w="9525" algn="ctr">
            <a:noFill/>
            <a:miter lim="800000"/>
            <a:headEnd/>
            <a:tailEnd/>
          </a:ln>
        </p:spPr>
        <p:txBody>
          <a:bodyPr wrap="none" anchor="ctr"/>
          <a:lstStyle/>
          <a:p>
            <a:pPr algn="ctr"/>
            <a:r>
              <a:rPr lang="ko-KR" altLang="en-US" sz="1000" b="0" dirty="0">
                <a:solidFill>
                  <a:schemeClr val="tx1"/>
                </a:solidFill>
                <a:latin typeface="+mj-ea"/>
                <a:ea typeface="+mj-ea"/>
              </a:rPr>
              <a:t>구성요소 사이 경시적 요소 </a:t>
            </a:r>
          </a:p>
        </p:txBody>
      </p:sp>
      <p:sp>
        <p:nvSpPr>
          <p:cNvPr id="32" name="Rectangle 5"/>
          <p:cNvSpPr>
            <a:spLocks noChangeArrowheads="1"/>
          </p:cNvSpPr>
          <p:nvPr/>
        </p:nvSpPr>
        <p:spPr bwMode="auto">
          <a:xfrm>
            <a:off x="3067050" y="3213188"/>
            <a:ext cx="704850" cy="348102"/>
          </a:xfrm>
          <a:prstGeom prst="roundRect">
            <a:avLst>
              <a:gd name="adj" fmla="val 50000"/>
            </a:avLst>
          </a:prstGeom>
          <a:solidFill>
            <a:schemeClr val="accent4"/>
          </a:solidFill>
          <a:ln w="9525" algn="ctr">
            <a:noFill/>
            <a:miter lim="800000"/>
            <a:headEnd/>
            <a:tailEnd/>
          </a:ln>
        </p:spPr>
        <p:txBody>
          <a:bodyPr wrap="none" anchor="ctr"/>
          <a:lstStyle/>
          <a:p>
            <a:pPr algn="ctr"/>
            <a:r>
              <a:rPr lang="ko-KR" altLang="en-US" sz="1000" b="0" dirty="0" err="1">
                <a:solidFill>
                  <a:schemeClr val="tx1"/>
                </a:solidFill>
                <a:latin typeface="+mj-ea"/>
                <a:ea typeface="+mj-ea"/>
              </a:rPr>
              <a:t>물품성</a:t>
            </a:r>
            <a:endParaRPr lang="ko-KR" altLang="en-US" sz="1000" b="0" dirty="0">
              <a:solidFill>
                <a:schemeClr val="tx1"/>
              </a:solidFill>
              <a:latin typeface="+mj-ea"/>
              <a:ea typeface="+mj-ea"/>
            </a:endParaRPr>
          </a:p>
        </p:txBody>
      </p:sp>
      <p:sp>
        <p:nvSpPr>
          <p:cNvPr id="33" name="Rectangle 5"/>
          <p:cNvSpPr>
            <a:spLocks noChangeArrowheads="1"/>
          </p:cNvSpPr>
          <p:nvPr/>
        </p:nvSpPr>
        <p:spPr bwMode="auto">
          <a:xfrm>
            <a:off x="2819399" y="5493324"/>
            <a:ext cx="1200152" cy="348102"/>
          </a:xfrm>
          <a:prstGeom prst="roundRect">
            <a:avLst>
              <a:gd name="adj" fmla="val 50000"/>
            </a:avLst>
          </a:prstGeom>
          <a:solidFill>
            <a:schemeClr val="accent4"/>
          </a:solidFill>
          <a:ln w="9525" algn="ctr">
            <a:noFill/>
            <a:miter lim="800000"/>
            <a:headEnd/>
            <a:tailEnd/>
          </a:ln>
        </p:spPr>
        <p:txBody>
          <a:bodyPr wrap="none" anchor="ctr"/>
          <a:lstStyle/>
          <a:p>
            <a:pPr algn="ctr"/>
            <a:r>
              <a:rPr lang="ko-KR" altLang="en-US" sz="1000" b="0" dirty="0">
                <a:solidFill>
                  <a:schemeClr val="tx1"/>
                </a:solidFill>
                <a:latin typeface="+mj-ea"/>
                <a:ea typeface="+mj-ea"/>
              </a:rPr>
              <a:t>물건의 생산 수반</a:t>
            </a:r>
          </a:p>
        </p:txBody>
      </p:sp>
      <p:cxnSp>
        <p:nvCxnSpPr>
          <p:cNvPr id="35" name="직선 화살표 연결선 34"/>
          <p:cNvCxnSpPr>
            <a:endCxn id="8" idx="2"/>
          </p:cNvCxnSpPr>
          <p:nvPr/>
        </p:nvCxnSpPr>
        <p:spPr>
          <a:xfrm flipV="1">
            <a:off x="1514474" y="3781425"/>
            <a:ext cx="1" cy="578424"/>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6" name="직선 화살표 연결선 35"/>
          <p:cNvCxnSpPr>
            <a:endCxn id="10" idx="0"/>
          </p:cNvCxnSpPr>
          <p:nvPr/>
        </p:nvCxnSpPr>
        <p:spPr>
          <a:xfrm>
            <a:off x="1514474" y="4707951"/>
            <a:ext cx="1" cy="618246"/>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0" name="Rectangle 5"/>
          <p:cNvSpPr>
            <a:spLocks noChangeArrowheads="1"/>
          </p:cNvSpPr>
          <p:nvPr/>
        </p:nvSpPr>
        <p:spPr bwMode="auto">
          <a:xfrm>
            <a:off x="1000125" y="3838575"/>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No</a:t>
            </a:r>
            <a:endParaRPr lang="ko-KR" altLang="en-US" sz="1000" b="0" dirty="0">
              <a:solidFill>
                <a:schemeClr val="tx1"/>
              </a:solidFill>
              <a:latin typeface="+mj-ea"/>
              <a:ea typeface="+mj-ea"/>
            </a:endParaRPr>
          </a:p>
        </p:txBody>
      </p:sp>
      <p:sp>
        <p:nvSpPr>
          <p:cNvPr id="41" name="Rectangle 5"/>
          <p:cNvSpPr>
            <a:spLocks noChangeArrowheads="1"/>
          </p:cNvSpPr>
          <p:nvPr/>
        </p:nvSpPr>
        <p:spPr bwMode="auto">
          <a:xfrm>
            <a:off x="1019175" y="4932469"/>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Yes</a:t>
            </a:r>
            <a:endParaRPr lang="ko-KR" altLang="en-US" sz="1000" b="0" dirty="0">
              <a:solidFill>
                <a:schemeClr val="tx1"/>
              </a:solidFill>
              <a:latin typeface="+mj-ea"/>
              <a:ea typeface="+mj-ea"/>
            </a:endParaRPr>
          </a:p>
        </p:txBody>
      </p:sp>
      <p:cxnSp>
        <p:nvCxnSpPr>
          <p:cNvPr id="42" name="직선 화살표 연결선 41"/>
          <p:cNvCxnSpPr>
            <a:stCxn id="32" idx="0"/>
            <a:endCxn id="11" idx="2"/>
          </p:cNvCxnSpPr>
          <p:nvPr/>
        </p:nvCxnSpPr>
        <p:spPr>
          <a:xfrm flipH="1" flipV="1">
            <a:off x="3414712" y="2828926"/>
            <a:ext cx="4763" cy="384262"/>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6" name="Rectangle 5"/>
          <p:cNvSpPr>
            <a:spLocks noChangeArrowheads="1"/>
          </p:cNvSpPr>
          <p:nvPr/>
        </p:nvSpPr>
        <p:spPr bwMode="auto">
          <a:xfrm>
            <a:off x="2995612" y="2925897"/>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Yes</a:t>
            </a:r>
            <a:endParaRPr lang="ko-KR" altLang="en-US" sz="1000" b="0" dirty="0">
              <a:solidFill>
                <a:schemeClr val="tx1"/>
              </a:solidFill>
              <a:latin typeface="+mj-ea"/>
              <a:ea typeface="+mj-ea"/>
            </a:endParaRPr>
          </a:p>
        </p:txBody>
      </p:sp>
      <p:cxnSp>
        <p:nvCxnSpPr>
          <p:cNvPr id="47" name="직선 화살표 연결선 46"/>
          <p:cNvCxnSpPr>
            <a:stCxn id="32" idx="2"/>
            <a:endCxn id="12" idx="0"/>
          </p:cNvCxnSpPr>
          <p:nvPr/>
        </p:nvCxnSpPr>
        <p:spPr>
          <a:xfrm flipH="1">
            <a:off x="3414712" y="3561290"/>
            <a:ext cx="4763" cy="282487"/>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50" name="Rectangle 5"/>
          <p:cNvSpPr>
            <a:spLocks noChangeArrowheads="1"/>
          </p:cNvSpPr>
          <p:nvPr/>
        </p:nvSpPr>
        <p:spPr bwMode="auto">
          <a:xfrm>
            <a:off x="2957512" y="3499746"/>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No</a:t>
            </a:r>
            <a:endParaRPr lang="ko-KR" altLang="en-US" sz="1000" b="0" dirty="0">
              <a:solidFill>
                <a:schemeClr val="tx1"/>
              </a:solidFill>
              <a:latin typeface="+mj-ea"/>
              <a:ea typeface="+mj-ea"/>
            </a:endParaRPr>
          </a:p>
        </p:txBody>
      </p:sp>
      <p:cxnSp>
        <p:nvCxnSpPr>
          <p:cNvPr id="51" name="직선 화살표 연결선 50"/>
          <p:cNvCxnSpPr>
            <a:stCxn id="33" idx="0"/>
            <a:endCxn id="13" idx="2"/>
          </p:cNvCxnSpPr>
          <p:nvPr/>
        </p:nvCxnSpPr>
        <p:spPr>
          <a:xfrm flipH="1" flipV="1">
            <a:off x="3414712" y="5212598"/>
            <a:ext cx="4763" cy="280726"/>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54" name="Rectangle 5"/>
          <p:cNvSpPr>
            <a:spLocks noChangeArrowheads="1"/>
          </p:cNvSpPr>
          <p:nvPr/>
        </p:nvSpPr>
        <p:spPr bwMode="auto">
          <a:xfrm>
            <a:off x="2909887" y="5164272"/>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No</a:t>
            </a:r>
            <a:endParaRPr lang="ko-KR" altLang="en-US" sz="1000" b="0" dirty="0">
              <a:solidFill>
                <a:schemeClr val="tx1"/>
              </a:solidFill>
              <a:latin typeface="+mj-ea"/>
              <a:ea typeface="+mj-ea"/>
            </a:endParaRPr>
          </a:p>
        </p:txBody>
      </p:sp>
      <p:cxnSp>
        <p:nvCxnSpPr>
          <p:cNvPr id="55" name="직선 화살표 연결선 54"/>
          <p:cNvCxnSpPr>
            <a:stCxn id="33" idx="2"/>
            <a:endCxn id="14" idx="0"/>
          </p:cNvCxnSpPr>
          <p:nvPr/>
        </p:nvCxnSpPr>
        <p:spPr>
          <a:xfrm flipH="1">
            <a:off x="3414712" y="5841426"/>
            <a:ext cx="4763" cy="269229"/>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56" name="Rectangle 5"/>
          <p:cNvSpPr>
            <a:spLocks noChangeArrowheads="1"/>
          </p:cNvSpPr>
          <p:nvPr/>
        </p:nvSpPr>
        <p:spPr bwMode="auto">
          <a:xfrm>
            <a:off x="2871787" y="5834502"/>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Yes</a:t>
            </a:r>
            <a:endParaRPr lang="ko-KR" altLang="en-US" sz="1000" b="0" dirty="0">
              <a:solidFill>
                <a:schemeClr val="tx1"/>
              </a:solidFill>
              <a:latin typeface="+mj-ea"/>
              <a:ea typeface="+mj-ea"/>
            </a:endParaRPr>
          </a:p>
        </p:txBody>
      </p:sp>
      <p:cxnSp>
        <p:nvCxnSpPr>
          <p:cNvPr id="67" name="직선 연결선 66"/>
          <p:cNvCxnSpPr/>
          <p:nvPr/>
        </p:nvCxnSpPr>
        <p:spPr>
          <a:xfrm>
            <a:off x="4791075" y="2085975"/>
            <a:ext cx="0" cy="4676775"/>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8" name="Rectangle 5"/>
          <p:cNvSpPr>
            <a:spLocks noChangeArrowheads="1"/>
          </p:cNvSpPr>
          <p:nvPr/>
        </p:nvSpPr>
        <p:spPr bwMode="auto">
          <a:xfrm>
            <a:off x="195260" y="2071687"/>
            <a:ext cx="1481140"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a:solidFill>
                  <a:schemeClr val="bg1"/>
                </a:solidFill>
                <a:latin typeface="+mj-ea"/>
                <a:ea typeface="+mj-ea"/>
              </a:rPr>
              <a:t>구별기준</a:t>
            </a:r>
          </a:p>
        </p:txBody>
      </p:sp>
      <p:sp>
        <p:nvSpPr>
          <p:cNvPr id="71" name="Rectangle 5"/>
          <p:cNvSpPr>
            <a:spLocks noChangeArrowheads="1"/>
          </p:cNvSpPr>
          <p:nvPr/>
        </p:nvSpPr>
        <p:spPr bwMode="auto">
          <a:xfrm>
            <a:off x="5091110" y="2071687"/>
            <a:ext cx="1176340"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a:solidFill>
                  <a:schemeClr val="bg1"/>
                </a:solidFill>
                <a:latin typeface="+mj-ea"/>
                <a:ea typeface="+mj-ea"/>
              </a:rPr>
              <a:t>구별실익</a:t>
            </a:r>
            <a:r>
              <a:rPr lang="en-US" altLang="ko-KR" sz="1600" b="0" dirty="0">
                <a:solidFill>
                  <a:schemeClr val="bg1"/>
                </a:solidFill>
                <a:latin typeface="+mj-ea"/>
                <a:ea typeface="+mj-ea"/>
              </a:rPr>
              <a:t>1</a:t>
            </a:r>
            <a:endParaRPr lang="ko-KR" altLang="en-US" sz="1600" b="0" dirty="0">
              <a:solidFill>
                <a:schemeClr val="bg1"/>
              </a:solidFill>
              <a:latin typeface="+mj-ea"/>
              <a:ea typeface="+mj-ea"/>
            </a:endParaRPr>
          </a:p>
        </p:txBody>
      </p:sp>
      <p:sp>
        <p:nvSpPr>
          <p:cNvPr id="73" name="Rectangle 5"/>
          <p:cNvSpPr>
            <a:spLocks noChangeArrowheads="1"/>
          </p:cNvSpPr>
          <p:nvPr/>
        </p:nvSpPr>
        <p:spPr bwMode="auto">
          <a:xfrm>
            <a:off x="5091110" y="4916639"/>
            <a:ext cx="1176340"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a:solidFill>
                  <a:schemeClr val="bg1"/>
                </a:solidFill>
                <a:latin typeface="+mj-ea"/>
                <a:ea typeface="+mj-ea"/>
              </a:rPr>
              <a:t>구별실익</a:t>
            </a:r>
            <a:r>
              <a:rPr lang="en-US" altLang="ko-KR" sz="1600" b="0" dirty="0">
                <a:solidFill>
                  <a:schemeClr val="bg1"/>
                </a:solidFill>
                <a:latin typeface="+mj-ea"/>
                <a:ea typeface="+mj-ea"/>
              </a:rPr>
              <a:t>2</a:t>
            </a:r>
            <a:endParaRPr lang="ko-KR" altLang="en-US" sz="1600" b="0" dirty="0">
              <a:solidFill>
                <a:schemeClr val="bg1"/>
              </a:solidFill>
              <a:latin typeface="+mj-ea"/>
              <a:ea typeface="+mj-ea"/>
            </a:endParaRPr>
          </a:p>
        </p:txBody>
      </p:sp>
      <p:sp>
        <p:nvSpPr>
          <p:cNvPr id="74" name="직사각형 73"/>
          <p:cNvSpPr/>
          <p:nvPr/>
        </p:nvSpPr>
        <p:spPr>
          <a:xfrm>
            <a:off x="6381750" y="4889433"/>
            <a:ext cx="5689598" cy="646331"/>
          </a:xfrm>
          <a:prstGeom prst="rect">
            <a:avLst/>
          </a:prstGeom>
          <a:ln>
            <a:solidFill>
              <a:schemeClr val="bg1">
                <a:lumMod val="50000"/>
              </a:schemeClr>
            </a:solidFill>
          </a:ln>
        </p:spPr>
        <p:txBody>
          <a:bodyPr wrap="square">
            <a:spAutoFit/>
          </a:bodyPr>
          <a:lstStyle/>
          <a:p>
            <a:pPr fontAlgn="base"/>
            <a:r>
              <a:rPr lang="ko-KR" altLang="en-US" sz="1200" dirty="0"/>
              <a:t>실용신안등록을 받기 위해서는 물품의 형상</a:t>
            </a:r>
            <a:r>
              <a:rPr lang="en-US" altLang="ko-KR" sz="1200" dirty="0"/>
              <a:t>, </a:t>
            </a:r>
            <a:r>
              <a:rPr lang="ko-KR" altLang="en-US" sz="1200" dirty="0"/>
              <a:t>구조 또는 그 조합에 관한 고안</a:t>
            </a:r>
            <a:r>
              <a:rPr lang="en-US" altLang="ko-KR" sz="1200" dirty="0"/>
              <a:t>, </a:t>
            </a:r>
            <a:r>
              <a:rPr lang="ko-KR" altLang="en-US" sz="1200" dirty="0"/>
              <a:t>즉 </a:t>
            </a:r>
            <a:r>
              <a:rPr lang="ko-KR" altLang="en-US" sz="1200" dirty="0" err="1"/>
              <a:t>물품성이</a:t>
            </a:r>
            <a:r>
              <a:rPr lang="ko-KR" altLang="en-US" sz="1200" dirty="0"/>
              <a:t> 있는 고안이어야 한다</a:t>
            </a:r>
            <a:r>
              <a:rPr lang="en-US" altLang="ko-KR" sz="1200" dirty="0"/>
              <a:t>(</a:t>
            </a:r>
            <a:r>
              <a:rPr lang="ko-KR" altLang="en-US" sz="1200" dirty="0"/>
              <a:t>實用 </a:t>
            </a:r>
            <a:r>
              <a:rPr lang="en-US" altLang="ko-KR" sz="1200" dirty="0"/>
              <a:t>4</a:t>
            </a:r>
            <a:r>
              <a:rPr lang="ko-KR" altLang="en-US" sz="1200" dirty="0"/>
              <a:t>①</a:t>
            </a:r>
            <a:r>
              <a:rPr lang="en-US" altLang="ko-KR" sz="1200" dirty="0"/>
              <a:t>). </a:t>
            </a:r>
            <a:r>
              <a:rPr lang="ko-KR" altLang="en-US" sz="1200" dirty="0"/>
              <a:t>따라서 </a:t>
            </a:r>
            <a:r>
              <a:rPr lang="ko-KR" altLang="en-US" sz="1200" dirty="0" err="1"/>
              <a:t>물품성이</a:t>
            </a:r>
            <a:r>
              <a:rPr lang="ko-KR" altLang="en-US" sz="1200" dirty="0"/>
              <a:t> 있는 협의의 물건발명의 경우에만 물질발명이나 방법발명과 달리 실용신안으로 보호받을 수 있다</a:t>
            </a:r>
            <a:r>
              <a:rPr lang="en-US" altLang="ko-KR" sz="1200" dirty="0"/>
              <a:t>.</a:t>
            </a:r>
            <a:endParaRPr lang="ko-KR" altLang="en-US" sz="1200" dirty="0"/>
          </a:p>
        </p:txBody>
      </p:sp>
      <p:graphicFrame>
        <p:nvGraphicFramePr>
          <p:cNvPr id="103" name="표 102"/>
          <p:cNvGraphicFramePr>
            <a:graphicFrameLocks noGrp="1"/>
          </p:cNvGraphicFramePr>
          <p:nvPr>
            <p:extLst>
              <p:ext uri="{D42A27DB-BD31-4B8C-83A1-F6EECF244321}">
                <p14:modId xmlns:p14="http://schemas.microsoft.com/office/powerpoint/2010/main" val="4124234830"/>
              </p:ext>
            </p:extLst>
          </p:nvPr>
        </p:nvGraphicFramePr>
        <p:xfrm>
          <a:off x="5402833" y="5775959"/>
          <a:ext cx="6455792" cy="710184"/>
        </p:xfrm>
        <a:graphic>
          <a:graphicData uri="http://schemas.openxmlformats.org/drawingml/2006/table">
            <a:tbl>
              <a:tblPr/>
              <a:tblGrid>
                <a:gridCol w="1436159">
                  <a:extLst>
                    <a:ext uri="{9D8B030D-6E8A-4147-A177-3AD203B41FA5}">
                      <a16:colId xmlns:a16="http://schemas.microsoft.com/office/drawing/2014/main" val="20000"/>
                    </a:ext>
                  </a:extLst>
                </a:gridCol>
                <a:gridCol w="3046645">
                  <a:extLst>
                    <a:ext uri="{9D8B030D-6E8A-4147-A177-3AD203B41FA5}">
                      <a16:colId xmlns:a16="http://schemas.microsoft.com/office/drawing/2014/main" val="20001"/>
                    </a:ext>
                  </a:extLst>
                </a:gridCol>
                <a:gridCol w="1972988">
                  <a:extLst>
                    <a:ext uri="{9D8B030D-6E8A-4147-A177-3AD203B41FA5}">
                      <a16:colId xmlns:a16="http://schemas.microsoft.com/office/drawing/2014/main" val="20002"/>
                    </a:ext>
                  </a:extLst>
                </a:gridCol>
              </a:tblGrid>
              <a:tr h="179705">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구 별</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E4E4E4"/>
                    </a:solidFill>
                  </a:tcPr>
                </a:tc>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실용신안보호대상</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E4E4E4"/>
                    </a:solidFill>
                  </a:tcPr>
                </a:tc>
                <a:tc>
                  <a:txBody>
                    <a:bodyPr/>
                    <a:lstStyle/>
                    <a:p>
                      <a:pPr marL="0" marR="0" indent="0" algn="ctr" fontAlgn="base" latinLnBrk="0">
                        <a:lnSpc>
                          <a:spcPct val="130000"/>
                        </a:lnSpc>
                        <a:spcBef>
                          <a:spcPts val="0"/>
                        </a:spcBef>
                        <a:spcAft>
                          <a:spcPts val="0"/>
                        </a:spcAft>
                      </a:pPr>
                      <a:r>
                        <a:rPr lang="ko-KR" altLang="en-US" sz="1100" b="1" kern="1200" dirty="0">
                          <a:solidFill>
                            <a:schemeClr val="tx2"/>
                          </a:solidFill>
                          <a:latin typeface="+mn-lt"/>
                          <a:ea typeface="+mn-ea"/>
                          <a:cs typeface="+mn-cs"/>
                        </a:rPr>
                        <a:t>도면 첨부</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E4E4E4"/>
                    </a:solidFill>
                  </a:tcPr>
                </a:tc>
                <a:extLst>
                  <a:ext uri="{0D108BD9-81ED-4DB2-BD59-A6C34878D82A}">
                    <a16:rowId xmlns:a16="http://schemas.microsoft.com/office/drawing/2014/main" val="10000"/>
                  </a:ext>
                </a:extLst>
              </a:tr>
              <a:tr h="179705">
                <a:tc>
                  <a:txBody>
                    <a:bodyPr/>
                    <a:lstStyle/>
                    <a:p>
                      <a:pPr marL="0" marR="0" indent="0" algn="ctr" fontAlgn="base" latinLnBrk="0">
                        <a:lnSpc>
                          <a:spcPct val="130000"/>
                        </a:lnSpc>
                        <a:spcBef>
                          <a:spcPts val="0"/>
                        </a:spcBef>
                        <a:spcAft>
                          <a:spcPts val="0"/>
                        </a:spcAft>
                      </a:pPr>
                      <a:r>
                        <a:rPr lang="ko-KR" altLang="en-US" sz="1100" kern="1200" dirty="0">
                          <a:solidFill>
                            <a:schemeClr val="tx2"/>
                          </a:solidFill>
                          <a:latin typeface="+mn-lt"/>
                          <a:ea typeface="+mn-ea"/>
                          <a:cs typeface="+mn-cs"/>
                        </a:rPr>
                        <a:t>협의의 물건발명</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7780" marR="17780" indent="0" algn="ctr" fontAlgn="base" latinLnBrk="1">
                        <a:lnSpc>
                          <a:spcPct val="130000"/>
                        </a:lnSpc>
                        <a:spcBef>
                          <a:spcPts val="0"/>
                        </a:spcBef>
                        <a:spcAft>
                          <a:spcPts val="0"/>
                        </a:spcAft>
                      </a:pPr>
                      <a:r>
                        <a:rPr lang="ko-KR" altLang="en-US" sz="1100" kern="1200" dirty="0">
                          <a:solidFill>
                            <a:schemeClr val="tx2"/>
                          </a:solidFill>
                          <a:latin typeface="+mn-lt"/>
                          <a:ea typeface="+mn-ea"/>
                          <a:cs typeface="+mn-cs"/>
                        </a:rPr>
                        <a:t>○</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∵물품의 </a:t>
                      </a:r>
                      <a:r>
                        <a:rPr lang="ko-KR" altLang="en-US" sz="1100" kern="1200" dirty="0" err="1">
                          <a:solidFill>
                            <a:schemeClr val="tx2"/>
                          </a:solidFill>
                          <a:latin typeface="+mn-lt"/>
                          <a:ea typeface="+mn-ea"/>
                          <a:cs typeface="+mn-cs"/>
                        </a:rPr>
                        <a:t>형상ㆍ구조ㆍ조합에</a:t>
                      </a:r>
                      <a:r>
                        <a:rPr lang="ko-KR" altLang="en-US" sz="1100" kern="1200" dirty="0">
                          <a:solidFill>
                            <a:schemeClr val="tx2"/>
                          </a:solidFill>
                          <a:latin typeface="+mn-lt"/>
                          <a:ea typeface="+mn-ea"/>
                          <a:cs typeface="+mn-cs"/>
                        </a:rPr>
                        <a:t> 관한 고안</a:t>
                      </a:r>
                      <a:r>
                        <a:rPr lang="en-US" altLang="ko-KR" sz="1100" kern="1200" dirty="0">
                          <a:solidFill>
                            <a:schemeClr val="tx2"/>
                          </a:solidFill>
                          <a:latin typeface="+mn-lt"/>
                          <a:ea typeface="+mn-ea"/>
                          <a:cs typeface="+mn-cs"/>
                        </a:rPr>
                        <a:t>)</a:t>
                      </a:r>
                      <a:endParaRPr lang="ko-KR" altLang="en-US" sz="1100" kern="1200" dirty="0">
                        <a:solidFill>
                          <a:schemeClr val="tx2"/>
                        </a:solidFill>
                        <a:latin typeface="+mn-lt"/>
                        <a:ea typeface="+mn-ea"/>
                        <a:cs typeface="+mn-cs"/>
                      </a:endParaRP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a:solidFill>
                            <a:schemeClr val="tx2"/>
                          </a:solidFill>
                          <a:latin typeface="+mn-lt"/>
                          <a:ea typeface="+mn-ea"/>
                          <a:cs typeface="+mn-cs"/>
                        </a:rPr>
                        <a:t>필수</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1"/>
                  </a:ext>
                </a:extLst>
              </a:tr>
              <a:tr h="179705">
                <a:tc>
                  <a:txBody>
                    <a:bodyPr/>
                    <a:lstStyle/>
                    <a:p>
                      <a:pPr marL="0" marR="0" indent="0" algn="ctr" fontAlgn="base" latinLnBrk="0">
                        <a:lnSpc>
                          <a:spcPct val="130000"/>
                        </a:lnSpc>
                        <a:spcBef>
                          <a:spcPts val="0"/>
                        </a:spcBef>
                        <a:spcAft>
                          <a:spcPts val="0"/>
                        </a:spcAft>
                      </a:pPr>
                      <a:r>
                        <a:rPr lang="ko-KR" altLang="en-US" sz="1100" kern="1200" dirty="0">
                          <a:solidFill>
                            <a:schemeClr val="tx2"/>
                          </a:solidFill>
                          <a:latin typeface="+mn-lt"/>
                          <a:ea typeface="+mn-ea"/>
                          <a:cs typeface="+mn-cs"/>
                        </a:rPr>
                        <a:t>물질발명</a:t>
                      </a:r>
                      <a:r>
                        <a:rPr lang="en-US" altLang="ko-KR" sz="1100" kern="1200" dirty="0">
                          <a:solidFill>
                            <a:schemeClr val="tx2"/>
                          </a:solidFill>
                          <a:latin typeface="+mn-lt"/>
                          <a:ea typeface="+mn-ea"/>
                          <a:cs typeface="+mn-cs"/>
                        </a:rPr>
                        <a:t>/</a:t>
                      </a:r>
                      <a:r>
                        <a:rPr lang="ko-KR" altLang="en-US" sz="1100" kern="1200" dirty="0">
                          <a:solidFill>
                            <a:schemeClr val="tx2"/>
                          </a:solidFill>
                          <a:latin typeface="+mn-lt"/>
                          <a:ea typeface="+mn-ea"/>
                          <a:cs typeface="+mn-cs"/>
                        </a:rPr>
                        <a:t>방법발명</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17780" marR="17780" indent="0" algn="ctr" fontAlgn="base" latinLnBrk="0">
                        <a:lnSpc>
                          <a:spcPct val="130000"/>
                        </a:lnSpc>
                        <a:spcBef>
                          <a:spcPts val="0"/>
                        </a:spcBef>
                        <a:spcAft>
                          <a:spcPts val="0"/>
                        </a:spcAft>
                      </a:pPr>
                      <a:r>
                        <a:rPr lang="en-US" sz="1100" kern="1200" dirty="0">
                          <a:solidFill>
                            <a:schemeClr val="tx2"/>
                          </a:solidFill>
                          <a:latin typeface="+mn-lt"/>
                          <a:ea typeface="+mn-ea"/>
                          <a:cs typeface="+mn-cs"/>
                        </a:rPr>
                        <a:t>×</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17780" marR="17780" indent="0" algn="ctr" fontAlgn="base" latinLnBrk="0">
                        <a:lnSpc>
                          <a:spcPct val="130000"/>
                        </a:lnSpc>
                        <a:spcBef>
                          <a:spcPts val="0"/>
                        </a:spcBef>
                        <a:spcAft>
                          <a:spcPts val="0"/>
                        </a:spcAft>
                      </a:pPr>
                      <a:r>
                        <a:rPr lang="ko-KR" altLang="en-US" sz="1100" kern="1200" dirty="0">
                          <a:solidFill>
                            <a:schemeClr val="tx2"/>
                          </a:solidFill>
                          <a:latin typeface="+mn-lt"/>
                          <a:ea typeface="+mn-ea"/>
                          <a:cs typeface="+mn-cs"/>
                        </a:rPr>
                        <a:t>선택</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cxnSp>
        <p:nvCxnSpPr>
          <p:cNvPr id="104" name="직선 연결선 103"/>
          <p:cNvCxnSpPr/>
          <p:nvPr/>
        </p:nvCxnSpPr>
        <p:spPr>
          <a:xfrm flipH="1">
            <a:off x="5043485" y="4714875"/>
            <a:ext cx="7008813" cy="0"/>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5196471" y="2419790"/>
            <a:ext cx="1018227" cy="369332"/>
          </a:xfrm>
          <a:prstGeom prst="rect">
            <a:avLst/>
          </a:prstGeom>
          <a:noFill/>
        </p:spPr>
        <p:txBody>
          <a:bodyPr wrap="none" rtlCol="0">
            <a:spAutoFit/>
          </a:bodyPr>
          <a:lstStyle/>
          <a:p>
            <a:r>
              <a:rPr lang="en-US" altLang="ko-KR" dirty="0">
                <a:solidFill>
                  <a:srgbClr val="FF0000"/>
                </a:solidFill>
              </a:rPr>
              <a:t>A:B1:B2</a:t>
            </a:r>
            <a:endParaRPr lang="ko-KR" altLang="en-US" dirty="0">
              <a:solidFill>
                <a:srgbClr val="FF0000"/>
              </a:solidFill>
            </a:endParaRPr>
          </a:p>
        </p:txBody>
      </p:sp>
      <p:sp>
        <p:nvSpPr>
          <p:cNvPr id="84" name="TextBox 83"/>
          <p:cNvSpPr txBox="1"/>
          <p:nvPr/>
        </p:nvSpPr>
        <p:spPr>
          <a:xfrm>
            <a:off x="5196471" y="5264741"/>
            <a:ext cx="1043876" cy="369332"/>
          </a:xfrm>
          <a:prstGeom prst="rect">
            <a:avLst/>
          </a:prstGeom>
          <a:noFill/>
        </p:spPr>
        <p:txBody>
          <a:bodyPr wrap="none" rtlCol="0">
            <a:spAutoFit/>
          </a:bodyPr>
          <a:lstStyle/>
          <a:p>
            <a:r>
              <a:rPr lang="en-US" altLang="ko-KR" dirty="0">
                <a:solidFill>
                  <a:srgbClr val="FF0000"/>
                </a:solidFill>
              </a:rPr>
              <a:t>A1:A2,B</a:t>
            </a:r>
            <a:endParaRPr lang="ko-KR" altLang="en-US" dirty="0">
              <a:solidFill>
                <a:srgbClr val="FF0000"/>
              </a:solidFill>
            </a:endParaRPr>
          </a:p>
        </p:txBody>
      </p:sp>
      <p:sp>
        <p:nvSpPr>
          <p:cNvPr id="57" name="Rectangle 1"/>
          <p:cNvSpPr>
            <a:spLocks noChangeArrowheads="1"/>
          </p:cNvSpPr>
          <p:nvPr/>
        </p:nvSpPr>
        <p:spPr bwMode="auto">
          <a:xfrm>
            <a:off x="6444762" y="3025952"/>
            <a:ext cx="5416061" cy="4616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ko-KR" sz="1200" b="0" i="0" u="none" strike="noStrike" cap="none" normalizeH="0" baseline="0" dirty="0">
                <a:ln>
                  <a:noFill/>
                </a:ln>
                <a:solidFill>
                  <a:srgbClr val="444444"/>
                </a:solidFill>
                <a:effectLst/>
                <a:latin typeface="+mn-ea"/>
                <a:cs typeface="굴림" pitchFamily="50" charset="-127"/>
              </a:rPr>
              <a:t>그 물건을 </a:t>
            </a:r>
            <a:r>
              <a:rPr kumimoji="1" lang="ko-KR" sz="1200" b="0" i="0" u="none" strike="noStrike" cap="none" normalizeH="0" baseline="0" dirty="0" err="1">
                <a:ln>
                  <a:noFill/>
                </a:ln>
                <a:solidFill>
                  <a:srgbClr val="444444"/>
                </a:solidFill>
                <a:effectLst/>
                <a:latin typeface="+mn-ea"/>
                <a:cs typeface="굴림" pitchFamily="50" charset="-127"/>
              </a:rPr>
              <a:t>생산</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sz="1200" b="0" i="0" u="none" strike="noStrike" cap="none" normalizeH="0" baseline="0" dirty="0" err="1">
                <a:ln>
                  <a:noFill/>
                </a:ln>
                <a:solidFill>
                  <a:srgbClr val="444444"/>
                </a:solidFill>
                <a:effectLst/>
                <a:latin typeface="+mn-ea"/>
                <a:cs typeface="굴림" pitchFamily="50" charset="-127"/>
              </a:rPr>
              <a:t>사용</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sz="1200" b="0" i="0" u="none" strike="noStrike" cap="none" normalizeH="0" baseline="0" dirty="0" err="1">
                <a:ln>
                  <a:noFill/>
                </a:ln>
                <a:solidFill>
                  <a:srgbClr val="444444"/>
                </a:solidFill>
                <a:effectLst/>
                <a:latin typeface="+mn-ea"/>
                <a:cs typeface="굴림" pitchFamily="50" charset="-127"/>
              </a:rPr>
              <a:t>양도</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sz="1200" b="0" i="0" u="none" strike="noStrike" cap="none" normalizeH="0" baseline="0" dirty="0" err="1">
                <a:ln>
                  <a:noFill/>
                </a:ln>
                <a:solidFill>
                  <a:srgbClr val="444444"/>
                </a:solidFill>
                <a:effectLst/>
                <a:latin typeface="+mn-ea"/>
                <a:cs typeface="굴림" pitchFamily="50" charset="-127"/>
              </a:rPr>
              <a:t>대여</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altLang="en-US" sz="1200" b="0" i="0" u="none" strike="noStrike" cap="none" normalizeH="0" baseline="0" dirty="0" err="1">
                <a:ln>
                  <a:noFill/>
                </a:ln>
                <a:solidFill>
                  <a:srgbClr val="444444"/>
                </a:solidFill>
                <a:effectLst/>
                <a:latin typeface="+mn-ea"/>
                <a:cs typeface="굴림" pitchFamily="50" charset="-127"/>
              </a:rPr>
              <a:t>수출</a:t>
            </a:r>
            <a:r>
              <a:rPr kumimoji="1" lang="ko-KR" sz="1200" b="0" i="0" u="none" strike="noStrike" cap="none" normalizeH="0" baseline="0" dirty="0">
                <a:ln>
                  <a:noFill/>
                </a:ln>
                <a:solidFill>
                  <a:srgbClr val="444444"/>
                </a:solidFill>
                <a:effectLst/>
                <a:latin typeface="+mn-ea"/>
                <a:cs typeface="굴림" pitchFamily="50" charset="-127"/>
              </a:rPr>
              <a:t> 또는 수입하거나 그 물건의 양도 또는 대여의 청약</a:t>
            </a:r>
            <a:r>
              <a:rPr kumimoji="1" lang="ko-KR" altLang="ko-KR" sz="1200" b="0" i="0" u="none" strike="noStrike" cap="none" normalizeH="0" baseline="0" dirty="0">
                <a:ln>
                  <a:noFill/>
                </a:ln>
                <a:solidFill>
                  <a:srgbClr val="444444"/>
                </a:solidFill>
                <a:effectLst/>
                <a:latin typeface="+mn-ea"/>
                <a:cs typeface="굴림" pitchFamily="50" charset="-127"/>
              </a:rPr>
              <a:t>(</a:t>
            </a:r>
            <a:r>
              <a:rPr kumimoji="1" lang="ko-KR" sz="1200" b="0" i="0" u="none" strike="noStrike" cap="none" normalizeH="0" baseline="0" dirty="0">
                <a:ln>
                  <a:noFill/>
                </a:ln>
                <a:solidFill>
                  <a:srgbClr val="444444"/>
                </a:solidFill>
                <a:effectLst/>
                <a:latin typeface="+mn-ea"/>
                <a:cs typeface="굴림" pitchFamily="50" charset="-127"/>
              </a:rPr>
              <a:t>양도 또는 대여를 위한 전시를 포함한다</a:t>
            </a:r>
            <a:r>
              <a:rPr kumimoji="1" lang="ko-KR" altLang="ko-KR" sz="1200" b="0" i="0" u="none" strike="noStrike" cap="none" normalizeH="0" baseline="0" dirty="0">
                <a:ln>
                  <a:noFill/>
                </a:ln>
                <a:solidFill>
                  <a:srgbClr val="444444"/>
                </a:solidFill>
                <a:effectLst/>
                <a:latin typeface="+mn-ea"/>
                <a:cs typeface="굴림" pitchFamily="50" charset="-127"/>
              </a:rPr>
              <a:t>. </a:t>
            </a:r>
            <a:r>
              <a:rPr kumimoji="1" lang="ko-KR" sz="1200" b="0" i="0" u="none" strike="noStrike" cap="none" normalizeH="0" baseline="0" dirty="0">
                <a:ln>
                  <a:noFill/>
                </a:ln>
                <a:solidFill>
                  <a:srgbClr val="444444"/>
                </a:solidFill>
                <a:effectLst/>
                <a:latin typeface="+mn-ea"/>
                <a:cs typeface="굴림" pitchFamily="50" charset="-127"/>
              </a:rPr>
              <a:t>이하 같다</a:t>
            </a:r>
            <a:r>
              <a:rPr kumimoji="1" lang="ko-KR" altLang="ko-KR" sz="1200" b="0" i="0" u="none" strike="noStrike" cap="none" normalizeH="0" baseline="0" dirty="0">
                <a:ln>
                  <a:noFill/>
                </a:ln>
                <a:solidFill>
                  <a:srgbClr val="444444"/>
                </a:solidFill>
                <a:effectLst/>
                <a:latin typeface="+mn-ea"/>
                <a:cs typeface="굴림" pitchFamily="50" charset="-127"/>
              </a:rPr>
              <a:t>)</a:t>
            </a:r>
            <a:r>
              <a:rPr kumimoji="1" lang="ko-KR" sz="1200" b="0" i="0" u="none" strike="noStrike" cap="none" normalizeH="0" baseline="0" dirty="0">
                <a:ln>
                  <a:noFill/>
                </a:ln>
                <a:solidFill>
                  <a:srgbClr val="444444"/>
                </a:solidFill>
                <a:effectLst/>
                <a:latin typeface="+mn-ea"/>
                <a:cs typeface="굴림" pitchFamily="50" charset="-127"/>
              </a:rPr>
              <a:t>을 하는 행위</a:t>
            </a:r>
            <a:endParaRPr kumimoji="1" lang="ko-KR" sz="1200" b="0" i="0" u="none" strike="noStrike" cap="none" normalizeH="0" baseline="0" dirty="0">
              <a:ln>
                <a:noFill/>
              </a:ln>
              <a:solidFill>
                <a:schemeClr val="tx1"/>
              </a:solidFill>
              <a:effectLst/>
              <a:latin typeface="+mn-ea"/>
              <a:cs typeface="굴림" pitchFamily="50" charset="-127"/>
            </a:endParaRPr>
          </a:p>
        </p:txBody>
      </p:sp>
      <p:sp>
        <p:nvSpPr>
          <p:cNvPr id="86" name="직사각형 85"/>
          <p:cNvSpPr/>
          <p:nvPr/>
        </p:nvSpPr>
        <p:spPr>
          <a:xfrm>
            <a:off x="6381750" y="2095677"/>
            <a:ext cx="5689598" cy="276999"/>
          </a:xfrm>
          <a:prstGeom prst="rect">
            <a:avLst/>
          </a:prstGeom>
          <a:ln>
            <a:solidFill>
              <a:schemeClr val="bg1">
                <a:lumMod val="50000"/>
              </a:schemeClr>
            </a:solidFill>
          </a:ln>
        </p:spPr>
        <p:txBody>
          <a:bodyPr wrap="square">
            <a:spAutoFit/>
          </a:bodyPr>
          <a:lstStyle/>
          <a:p>
            <a:pPr fontAlgn="base"/>
            <a:r>
              <a:rPr lang="ko-KR" altLang="en-US" sz="1200" dirty="0"/>
              <a:t>실시의 정의를 달리함</a:t>
            </a:r>
          </a:p>
        </p:txBody>
      </p:sp>
      <p:sp>
        <p:nvSpPr>
          <p:cNvPr id="88" name="Rectangle 1"/>
          <p:cNvSpPr>
            <a:spLocks noChangeArrowheads="1"/>
          </p:cNvSpPr>
          <p:nvPr/>
        </p:nvSpPr>
        <p:spPr bwMode="auto">
          <a:xfrm>
            <a:off x="6444762" y="3933035"/>
            <a:ext cx="5416061"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ko-KR" altLang="en-US" sz="1200" b="0" i="0" u="none" strike="noStrike" cap="none" normalizeH="0" baseline="0" dirty="0">
                <a:ln>
                  <a:noFill/>
                </a:ln>
                <a:solidFill>
                  <a:srgbClr val="444444"/>
                </a:solidFill>
                <a:effectLst/>
                <a:latin typeface="+mn-ea"/>
                <a:cs typeface="굴림" pitchFamily="50" charset="-127"/>
              </a:rPr>
              <a:t>그 방법을 사용하는 </a:t>
            </a:r>
            <a:r>
              <a:rPr kumimoji="1" lang="ko-KR" sz="1200" b="0" i="0" u="none" strike="noStrike" cap="none" normalizeH="0" baseline="0" dirty="0">
                <a:ln>
                  <a:noFill/>
                </a:ln>
                <a:solidFill>
                  <a:srgbClr val="444444"/>
                </a:solidFill>
                <a:effectLst/>
                <a:latin typeface="+mn-ea"/>
                <a:cs typeface="굴림" pitchFamily="50" charset="-127"/>
              </a:rPr>
              <a:t>행위</a:t>
            </a:r>
            <a:r>
              <a:rPr kumimoji="1" lang="en-US" altLang="ko-KR" sz="1200" b="0" i="0" u="none" strike="noStrike" cap="none" normalizeH="0" baseline="0" dirty="0">
                <a:ln>
                  <a:noFill/>
                </a:ln>
                <a:solidFill>
                  <a:srgbClr val="FF0000"/>
                </a:solidFill>
                <a:effectLst/>
                <a:latin typeface="+mn-ea"/>
                <a:cs typeface="굴림" pitchFamily="50" charset="-127"/>
              </a:rPr>
              <a:t> </a:t>
            </a:r>
            <a:r>
              <a:rPr kumimoji="1" lang="ko-KR" altLang="en-US" sz="1200" b="0" i="0" u="none" strike="noStrike" cap="none" normalizeH="0" baseline="0" dirty="0">
                <a:ln>
                  <a:noFill/>
                </a:ln>
                <a:solidFill>
                  <a:srgbClr val="FF0000"/>
                </a:solidFill>
                <a:effectLst/>
                <a:latin typeface="+mn-ea"/>
                <a:cs typeface="굴림" pitchFamily="50" charset="-127"/>
              </a:rPr>
              <a:t>또는</a:t>
            </a:r>
            <a:r>
              <a:rPr kumimoji="1" lang="en-US" altLang="ko-KR" sz="1200" b="0" i="0" u="none" strike="noStrike" cap="none" normalizeH="0" baseline="0" dirty="0">
                <a:ln>
                  <a:noFill/>
                </a:ln>
                <a:solidFill>
                  <a:srgbClr val="FF0000"/>
                </a:solidFill>
                <a:effectLst/>
                <a:latin typeface="+mn-ea"/>
                <a:cs typeface="굴림" pitchFamily="50" charset="-127"/>
              </a:rPr>
              <a:t> </a:t>
            </a:r>
            <a:r>
              <a:rPr kumimoji="1" lang="ko-KR" altLang="en-US" sz="1200" b="0" i="0" u="none" strike="noStrike" cap="none" normalizeH="0" baseline="0" dirty="0">
                <a:ln>
                  <a:noFill/>
                </a:ln>
                <a:solidFill>
                  <a:srgbClr val="FF0000"/>
                </a:solidFill>
                <a:effectLst/>
                <a:latin typeface="+mn-ea"/>
                <a:cs typeface="굴림" pitchFamily="50" charset="-127"/>
              </a:rPr>
              <a:t>그 방법의 사용을 청약하는 행위</a:t>
            </a:r>
            <a:r>
              <a:rPr kumimoji="1" lang="ko-KR" sz="1200" b="0" i="0" u="none" strike="noStrike" cap="none" normalizeH="0" baseline="0" dirty="0">
                <a:ln>
                  <a:noFill/>
                </a:ln>
                <a:solidFill>
                  <a:srgbClr val="444444"/>
                </a:solidFill>
                <a:effectLst/>
                <a:latin typeface="+mn-ea"/>
                <a:cs typeface="굴림" pitchFamily="50" charset="-127"/>
              </a:rPr>
              <a:t> 외에 그 방법에 의하여 생산한 물건을 </a:t>
            </a:r>
            <a:r>
              <a:rPr kumimoji="1" lang="ko-KR" sz="1200" b="0" i="0" u="none" strike="noStrike" cap="none" normalizeH="0" baseline="0" dirty="0" err="1">
                <a:ln>
                  <a:noFill/>
                </a:ln>
                <a:solidFill>
                  <a:srgbClr val="444444"/>
                </a:solidFill>
                <a:effectLst/>
                <a:latin typeface="+mn-ea"/>
                <a:cs typeface="굴림" pitchFamily="50" charset="-127"/>
              </a:rPr>
              <a:t>사용</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sz="1200" b="0" i="0" u="none" strike="noStrike" cap="none" normalizeH="0" baseline="0" dirty="0" err="1">
                <a:ln>
                  <a:noFill/>
                </a:ln>
                <a:solidFill>
                  <a:srgbClr val="444444"/>
                </a:solidFill>
                <a:effectLst/>
                <a:latin typeface="+mn-ea"/>
                <a:cs typeface="굴림" pitchFamily="50" charset="-127"/>
              </a:rPr>
              <a:t>양도</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sz="1200" b="0" i="0" u="none" strike="noStrike" cap="none" normalizeH="0" baseline="0" dirty="0" err="1">
                <a:ln>
                  <a:noFill/>
                </a:ln>
                <a:solidFill>
                  <a:srgbClr val="444444"/>
                </a:solidFill>
                <a:effectLst/>
                <a:latin typeface="+mn-ea"/>
                <a:cs typeface="굴림" pitchFamily="50" charset="-127"/>
              </a:rPr>
              <a:t>대</a:t>
            </a:r>
            <a:r>
              <a:rPr kumimoji="1" lang="ko-KR" altLang="en-US" sz="1200" b="0" i="0" u="none" strike="noStrike" cap="none" normalizeH="0" baseline="0" dirty="0" err="1">
                <a:ln>
                  <a:noFill/>
                </a:ln>
                <a:solidFill>
                  <a:srgbClr val="444444"/>
                </a:solidFill>
                <a:effectLst/>
                <a:latin typeface="+mn-ea"/>
                <a:cs typeface="굴림" pitchFamily="50" charset="-127"/>
              </a:rPr>
              <a:t>여</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altLang="en-US" sz="1200" b="0" i="0" u="none" strike="noStrike" cap="none" normalizeH="0" baseline="0" dirty="0" err="1">
                <a:ln>
                  <a:noFill/>
                </a:ln>
                <a:solidFill>
                  <a:srgbClr val="444444"/>
                </a:solidFill>
                <a:effectLst/>
                <a:latin typeface="+mn-ea"/>
                <a:cs typeface="굴림" pitchFamily="50" charset="-127"/>
              </a:rPr>
              <a:t>수출</a:t>
            </a:r>
            <a:r>
              <a:rPr kumimoji="1" lang="ko-KR" sz="1200" b="0" i="0" u="none" strike="noStrike" cap="none" normalizeH="0" baseline="0" dirty="0">
                <a:ln>
                  <a:noFill/>
                </a:ln>
                <a:solidFill>
                  <a:srgbClr val="444444"/>
                </a:solidFill>
                <a:effectLst/>
                <a:latin typeface="+mn-ea"/>
                <a:cs typeface="굴림" pitchFamily="50" charset="-127"/>
              </a:rPr>
              <a:t> 또는 수입하거나 그 물건의 양도 또는 대여의 청약을 하는 행위</a:t>
            </a:r>
            <a:endParaRPr kumimoji="1" lang="ko-KR" sz="1200" b="0" i="0" u="none" strike="noStrike" cap="none" normalizeH="0" baseline="0" dirty="0">
              <a:ln>
                <a:noFill/>
              </a:ln>
              <a:solidFill>
                <a:schemeClr val="tx1"/>
              </a:solidFill>
              <a:effectLst/>
              <a:latin typeface="+mn-ea"/>
              <a:cs typeface="굴림" pitchFamily="50" charset="-127"/>
            </a:endParaRPr>
          </a:p>
        </p:txBody>
      </p:sp>
      <p:sp>
        <p:nvSpPr>
          <p:cNvPr id="91" name="Rectangle 1"/>
          <p:cNvSpPr>
            <a:spLocks noChangeArrowheads="1"/>
          </p:cNvSpPr>
          <p:nvPr/>
        </p:nvSpPr>
        <p:spPr bwMode="auto">
          <a:xfrm>
            <a:off x="6444762" y="3652210"/>
            <a:ext cx="5416061" cy="2769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ko-KR" sz="1200" b="0" i="0" u="none" strike="noStrike" cap="none" normalizeH="0" baseline="0" dirty="0">
                <a:ln>
                  <a:noFill/>
                </a:ln>
                <a:solidFill>
                  <a:srgbClr val="444444"/>
                </a:solidFill>
                <a:effectLst/>
                <a:latin typeface="+mn-ea"/>
                <a:cs typeface="굴림" pitchFamily="50" charset="-127"/>
              </a:rPr>
              <a:t>그 방법을 사용하는 행위</a:t>
            </a:r>
            <a:r>
              <a:rPr kumimoji="1" lang="en-US" altLang="ko-KR" sz="1200" b="0" i="0" u="none" strike="noStrike" cap="none" normalizeH="0" baseline="0" dirty="0">
                <a:ln>
                  <a:noFill/>
                </a:ln>
                <a:solidFill>
                  <a:srgbClr val="444444"/>
                </a:solidFill>
                <a:effectLst/>
                <a:latin typeface="+mn-ea"/>
                <a:cs typeface="굴림" pitchFamily="50" charset="-127"/>
              </a:rPr>
              <a:t> </a:t>
            </a:r>
            <a:r>
              <a:rPr kumimoji="1" lang="ko-KR" altLang="en-US" sz="1200" b="0" i="0" u="none" strike="noStrike" cap="none" normalizeH="0" baseline="0" dirty="0">
                <a:ln>
                  <a:noFill/>
                </a:ln>
                <a:solidFill>
                  <a:srgbClr val="444444"/>
                </a:solidFill>
                <a:effectLst/>
                <a:latin typeface="+mn-ea"/>
                <a:cs typeface="굴림" pitchFamily="50" charset="-127"/>
              </a:rPr>
              <a:t>또는 </a:t>
            </a:r>
            <a:r>
              <a:rPr kumimoji="1" lang="ko-KR" altLang="en-US" sz="1200" b="0" i="0" u="none" strike="noStrike" cap="none" normalizeH="0" baseline="0" dirty="0">
                <a:ln>
                  <a:noFill/>
                </a:ln>
                <a:solidFill>
                  <a:srgbClr val="FF0000"/>
                </a:solidFill>
                <a:effectLst/>
                <a:latin typeface="+mn-ea"/>
                <a:cs typeface="굴림" pitchFamily="50" charset="-127"/>
              </a:rPr>
              <a:t>그 방법의 사용을 청약하는 행위</a:t>
            </a:r>
            <a:endParaRPr kumimoji="1" lang="ko-KR" sz="1200" b="0" i="0" u="none" strike="noStrike" cap="none" normalizeH="0" baseline="0" dirty="0">
              <a:ln>
                <a:noFill/>
              </a:ln>
              <a:solidFill>
                <a:srgbClr val="FF0000"/>
              </a:solidFill>
              <a:effectLst/>
              <a:latin typeface="+mn-ea"/>
              <a:cs typeface="굴림" pitchFamily="50" charset="-127"/>
            </a:endParaRPr>
          </a:p>
        </p:txBody>
      </p:sp>
      <p:sp>
        <p:nvSpPr>
          <p:cNvPr id="58" name="TextBox 57"/>
          <p:cNvSpPr txBox="1"/>
          <p:nvPr/>
        </p:nvSpPr>
        <p:spPr>
          <a:xfrm>
            <a:off x="5451582" y="3078391"/>
            <a:ext cx="922047" cy="338554"/>
          </a:xfrm>
          <a:prstGeom prst="rect">
            <a:avLst/>
          </a:prstGeom>
          <a:solidFill>
            <a:schemeClr val="bg1">
              <a:lumMod val="95000"/>
            </a:schemeClr>
          </a:solidFill>
          <a:ln>
            <a:solidFill>
              <a:schemeClr val="bg1">
                <a:lumMod val="50000"/>
              </a:schemeClr>
            </a:solidFill>
          </a:ln>
        </p:spPr>
        <p:txBody>
          <a:bodyPr wrap="none" rtlCol="0">
            <a:spAutoFit/>
          </a:bodyPr>
          <a:lstStyle/>
          <a:p>
            <a:pPr algn="ctr"/>
            <a:r>
              <a:rPr lang="ko-KR" altLang="en-US" sz="1600" dirty="0"/>
              <a:t>물건발명</a:t>
            </a:r>
          </a:p>
        </p:txBody>
      </p:sp>
      <p:sp>
        <p:nvSpPr>
          <p:cNvPr id="97" name="TextBox 96"/>
          <p:cNvSpPr txBox="1"/>
          <p:nvPr/>
        </p:nvSpPr>
        <p:spPr>
          <a:xfrm>
            <a:off x="5451581" y="3622016"/>
            <a:ext cx="922048" cy="338554"/>
          </a:xfrm>
          <a:prstGeom prst="rect">
            <a:avLst/>
          </a:prstGeom>
          <a:solidFill>
            <a:schemeClr val="bg1">
              <a:lumMod val="95000"/>
            </a:schemeClr>
          </a:solidFill>
          <a:ln>
            <a:solidFill>
              <a:schemeClr val="bg1">
                <a:lumMod val="50000"/>
              </a:schemeClr>
            </a:solidFill>
          </a:ln>
        </p:spPr>
        <p:txBody>
          <a:bodyPr wrap="none" rtlCol="0">
            <a:spAutoFit/>
          </a:bodyPr>
          <a:lstStyle/>
          <a:p>
            <a:pPr algn="ctr"/>
            <a:r>
              <a:rPr lang="ko-KR" altLang="en-US" sz="1600" dirty="0"/>
              <a:t>방법발명</a:t>
            </a:r>
          </a:p>
        </p:txBody>
      </p:sp>
      <p:sp>
        <p:nvSpPr>
          <p:cNvPr id="105" name="TextBox 104"/>
          <p:cNvSpPr txBox="1"/>
          <p:nvPr/>
        </p:nvSpPr>
        <p:spPr>
          <a:xfrm>
            <a:off x="5451581" y="4086923"/>
            <a:ext cx="922048" cy="338554"/>
          </a:xfrm>
          <a:prstGeom prst="rect">
            <a:avLst/>
          </a:prstGeom>
          <a:solidFill>
            <a:schemeClr val="bg1">
              <a:lumMod val="95000"/>
            </a:schemeClr>
          </a:solidFill>
          <a:ln>
            <a:solidFill>
              <a:schemeClr val="bg1">
                <a:lumMod val="50000"/>
              </a:schemeClr>
            </a:solidFill>
          </a:ln>
        </p:spPr>
        <p:txBody>
          <a:bodyPr wrap="none" rtlCol="0">
            <a:spAutoFit/>
          </a:bodyPr>
          <a:lstStyle/>
          <a:p>
            <a:pPr algn="ctr"/>
            <a:r>
              <a:rPr lang="ko-KR" altLang="en-US" sz="1600" dirty="0" err="1"/>
              <a:t>제법발명</a:t>
            </a:r>
            <a:endParaRPr lang="ko-KR" altLang="en-US" sz="1600" dirty="0"/>
          </a:p>
        </p:txBody>
      </p:sp>
      <p:sp>
        <p:nvSpPr>
          <p:cNvPr id="7" name="슬라이드 번호 개체 틀 6"/>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27</a:t>
            </a:fld>
            <a:endParaRPr lang="ko-KR" altLang="en-US"/>
          </a:p>
        </p:txBody>
      </p:sp>
    </p:spTree>
    <p:extLst>
      <p:ext uri="{BB962C8B-B14F-4D97-AF65-F5344CB8AC3E}">
        <p14:creationId xmlns:p14="http://schemas.microsoft.com/office/powerpoint/2010/main" val="25165668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 name="타원 143"/>
          <p:cNvSpPr/>
          <p:nvPr/>
        </p:nvSpPr>
        <p:spPr>
          <a:xfrm>
            <a:off x="6722624" y="4326142"/>
            <a:ext cx="1906035" cy="1906035"/>
          </a:xfrm>
          <a:prstGeom prst="ellipse">
            <a:avLst/>
          </a:prstGeom>
          <a:noFill/>
          <a:ln w="28575">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endParaRPr lang="ko-KR" altLang="en-US" sz="1400" dirty="0">
              <a:solidFill>
                <a:schemeClr val="tx1"/>
              </a:solidFill>
            </a:endParaRPr>
          </a:p>
        </p:txBody>
      </p:sp>
      <p:sp>
        <p:nvSpPr>
          <p:cNvPr id="3" name="제목 2"/>
          <p:cNvSpPr>
            <a:spLocks noGrp="1"/>
          </p:cNvSpPr>
          <p:nvPr>
            <p:ph type="title"/>
          </p:nvPr>
        </p:nvSpPr>
        <p:spPr/>
        <p:txBody>
          <a:bodyPr/>
          <a:lstStyle/>
          <a:p>
            <a:r>
              <a:rPr lang="ko-KR" altLang="en-US" dirty="0"/>
              <a:t>제</a:t>
            </a:r>
            <a:r>
              <a:rPr lang="en-US" altLang="ko-KR" dirty="0"/>
              <a:t>2</a:t>
            </a:r>
            <a:r>
              <a:rPr lang="ko-KR" altLang="en-US" dirty="0"/>
              <a:t>조</a:t>
            </a:r>
          </a:p>
        </p:txBody>
      </p:sp>
      <p:sp>
        <p:nvSpPr>
          <p:cNvPr id="4" name="텍스트 개체 틀 3"/>
          <p:cNvSpPr>
            <a:spLocks noGrp="1"/>
          </p:cNvSpPr>
          <p:nvPr>
            <p:ph type="body" sz="quarter" idx="13"/>
          </p:nvPr>
        </p:nvSpPr>
        <p:spPr/>
        <p:txBody>
          <a:bodyPr/>
          <a:lstStyle/>
          <a:p>
            <a:r>
              <a:rPr lang="ko-KR" altLang="en-US" dirty="0">
                <a:solidFill>
                  <a:srgbClr val="525252"/>
                </a:solidFill>
              </a:rPr>
              <a:t>발명의 분류</a:t>
            </a:r>
          </a:p>
        </p:txBody>
      </p:sp>
      <p:sp>
        <p:nvSpPr>
          <p:cNvPr id="71" name="Rectangle 5"/>
          <p:cNvSpPr>
            <a:spLocks noChangeArrowheads="1"/>
          </p:cNvSpPr>
          <p:nvPr/>
        </p:nvSpPr>
        <p:spPr bwMode="auto">
          <a:xfrm>
            <a:off x="334472" y="1060572"/>
            <a:ext cx="1176340"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a:solidFill>
                  <a:schemeClr val="bg1"/>
                </a:solidFill>
                <a:latin typeface="+mj-ea"/>
                <a:ea typeface="+mj-ea"/>
              </a:rPr>
              <a:t>구별실익</a:t>
            </a:r>
            <a:r>
              <a:rPr lang="en-US" altLang="ko-KR" sz="1600" dirty="0">
                <a:solidFill>
                  <a:schemeClr val="bg1"/>
                </a:solidFill>
                <a:latin typeface="+mj-ea"/>
                <a:ea typeface="+mj-ea"/>
              </a:rPr>
              <a:t>3</a:t>
            </a:r>
            <a:endParaRPr lang="ko-KR" altLang="en-US" sz="1600" b="0" dirty="0">
              <a:solidFill>
                <a:schemeClr val="bg1"/>
              </a:solidFill>
              <a:latin typeface="+mj-ea"/>
              <a:ea typeface="+mj-ea"/>
            </a:endParaRPr>
          </a:p>
        </p:txBody>
      </p:sp>
      <p:sp>
        <p:nvSpPr>
          <p:cNvPr id="72" name="직사각형 71"/>
          <p:cNvSpPr/>
          <p:nvPr/>
        </p:nvSpPr>
        <p:spPr>
          <a:xfrm>
            <a:off x="289410" y="2057939"/>
            <a:ext cx="5689598" cy="646331"/>
          </a:xfrm>
          <a:prstGeom prst="rect">
            <a:avLst/>
          </a:prstGeom>
          <a:ln>
            <a:solidFill>
              <a:schemeClr val="bg1">
                <a:lumMod val="50000"/>
              </a:schemeClr>
            </a:solidFill>
          </a:ln>
        </p:spPr>
        <p:txBody>
          <a:bodyPr wrap="square">
            <a:spAutoFit/>
          </a:bodyPr>
          <a:lstStyle/>
          <a:p>
            <a:pPr fontAlgn="base"/>
            <a:r>
              <a:rPr lang="ko-KR" altLang="en-US" sz="1200" dirty="0"/>
              <a:t>물건발명이 </a:t>
            </a:r>
            <a:r>
              <a:rPr lang="ko-KR" altLang="en-US" sz="1200" dirty="0" err="1"/>
              <a:t>신규성</a:t>
            </a:r>
            <a:r>
              <a:rPr lang="ko-KR" altLang="en-US" sz="1200" dirty="0"/>
              <a:t> 또는 진보성이 있는 경우 </a:t>
            </a:r>
            <a:r>
              <a:rPr lang="ko-KR" altLang="en-US" sz="1200" dirty="0" err="1"/>
              <a:t>제법발명</a:t>
            </a:r>
            <a:r>
              <a:rPr lang="ko-KR" altLang="en-US" sz="1200" dirty="0"/>
              <a:t> 또는 용도발명은 당연히 </a:t>
            </a:r>
            <a:r>
              <a:rPr lang="ko-KR" altLang="en-US" sz="1200" dirty="0" err="1"/>
              <a:t>신규성</a:t>
            </a:r>
            <a:r>
              <a:rPr lang="ko-KR" altLang="en-US" sz="1200" dirty="0"/>
              <a:t> 또는 진보성이 있다</a:t>
            </a:r>
            <a:r>
              <a:rPr lang="en-US" altLang="ko-KR" sz="1200" dirty="0"/>
              <a:t>. </a:t>
            </a:r>
            <a:r>
              <a:rPr lang="ko-KR" altLang="en-US" sz="1200" dirty="0"/>
              <a:t>반면 물건발명이 </a:t>
            </a:r>
            <a:r>
              <a:rPr lang="ko-KR" altLang="en-US" sz="1200" dirty="0" err="1"/>
              <a:t>신규성</a:t>
            </a:r>
            <a:r>
              <a:rPr lang="ko-KR" altLang="en-US" sz="1200" dirty="0"/>
              <a:t> 또는 진보성이 없는 경우 </a:t>
            </a:r>
            <a:r>
              <a:rPr lang="ko-KR" altLang="en-US" sz="1200" dirty="0" err="1"/>
              <a:t>제법발명</a:t>
            </a:r>
            <a:r>
              <a:rPr lang="ko-KR" altLang="en-US" sz="1200" dirty="0"/>
              <a:t> 또는 용도발명은 개별적으로 </a:t>
            </a:r>
            <a:r>
              <a:rPr lang="ko-KR" altLang="en-US" sz="1200" dirty="0" err="1"/>
              <a:t>신규성</a:t>
            </a:r>
            <a:r>
              <a:rPr lang="ko-KR" altLang="en-US" sz="1200" dirty="0"/>
              <a:t> 또는 진보성 여부를 판단하여야 한다</a:t>
            </a:r>
            <a:r>
              <a:rPr lang="en-US" altLang="ko-KR" sz="1200" dirty="0"/>
              <a:t>. </a:t>
            </a:r>
            <a:endParaRPr lang="ko-KR" altLang="en-US" sz="1200" dirty="0"/>
          </a:p>
        </p:txBody>
      </p:sp>
      <p:grpSp>
        <p:nvGrpSpPr>
          <p:cNvPr id="7" name="그룹 6"/>
          <p:cNvGrpSpPr/>
          <p:nvPr/>
        </p:nvGrpSpPr>
        <p:grpSpPr>
          <a:xfrm>
            <a:off x="334472" y="2884609"/>
            <a:ext cx="5644536" cy="1736371"/>
            <a:chOff x="334472" y="2867025"/>
            <a:chExt cx="5753100" cy="1736371"/>
          </a:xfrm>
        </p:grpSpPr>
        <p:sp>
          <p:nvSpPr>
            <p:cNvPr id="96" name="직사각형 95"/>
            <p:cNvSpPr/>
            <p:nvPr/>
          </p:nvSpPr>
          <p:spPr>
            <a:xfrm>
              <a:off x="1113141" y="2867025"/>
              <a:ext cx="1266828" cy="1357752"/>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5" name="타원 74"/>
            <p:cNvSpPr/>
            <p:nvPr/>
          </p:nvSpPr>
          <p:spPr>
            <a:xfrm>
              <a:off x="2722867" y="3095625"/>
              <a:ext cx="800100" cy="800100"/>
            </a:xfrm>
            <a:prstGeom prst="ellipse">
              <a:avLst/>
            </a:prstGeom>
            <a:solidFill>
              <a:schemeClr val="bg2"/>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200" dirty="0">
                  <a:solidFill>
                    <a:schemeClr val="tx1"/>
                  </a:solidFill>
                </a:rPr>
                <a:t>신규</a:t>
              </a:r>
              <a:endParaRPr lang="en-US" altLang="ko-KR" sz="1200" dirty="0">
                <a:solidFill>
                  <a:schemeClr val="tx1"/>
                </a:solidFill>
              </a:endParaRPr>
            </a:p>
            <a:p>
              <a:pPr algn="ctr"/>
              <a:r>
                <a:rPr lang="ko-KR" altLang="en-US" sz="1200" dirty="0">
                  <a:solidFill>
                    <a:schemeClr val="tx1"/>
                  </a:solidFill>
                </a:rPr>
                <a:t>화합물</a:t>
              </a:r>
            </a:p>
          </p:txBody>
        </p:sp>
        <p:sp>
          <p:nvSpPr>
            <p:cNvPr id="76" name="타원 75"/>
            <p:cNvSpPr/>
            <p:nvPr/>
          </p:nvSpPr>
          <p:spPr>
            <a:xfrm>
              <a:off x="334472" y="2943225"/>
              <a:ext cx="400050" cy="400050"/>
            </a:xfrm>
            <a:prstGeom prst="ellipse">
              <a:avLst/>
            </a:prstGeom>
            <a:solidFill>
              <a:schemeClr val="bg2"/>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200" dirty="0">
                  <a:solidFill>
                    <a:schemeClr val="tx1"/>
                  </a:solidFill>
                </a:rPr>
                <a:t>甲</a:t>
              </a:r>
            </a:p>
          </p:txBody>
        </p:sp>
        <p:sp>
          <p:nvSpPr>
            <p:cNvPr id="77" name="타원 76"/>
            <p:cNvSpPr/>
            <p:nvPr/>
          </p:nvSpPr>
          <p:spPr>
            <a:xfrm>
              <a:off x="334472" y="3657600"/>
              <a:ext cx="400050" cy="400050"/>
            </a:xfrm>
            <a:prstGeom prst="ellipse">
              <a:avLst/>
            </a:prstGeom>
            <a:solidFill>
              <a:schemeClr val="bg2"/>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200" dirty="0">
                  <a:solidFill>
                    <a:schemeClr val="tx1"/>
                  </a:solidFill>
                </a:rPr>
                <a:t>乙</a:t>
              </a:r>
            </a:p>
          </p:txBody>
        </p:sp>
        <p:sp>
          <p:nvSpPr>
            <p:cNvPr id="78" name="타원 77"/>
            <p:cNvSpPr/>
            <p:nvPr/>
          </p:nvSpPr>
          <p:spPr>
            <a:xfrm>
              <a:off x="5687522" y="2943225"/>
              <a:ext cx="400050" cy="400050"/>
            </a:xfrm>
            <a:prstGeom prst="ellipse">
              <a:avLst/>
            </a:prstGeom>
            <a:solidFill>
              <a:schemeClr val="bg2"/>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200" dirty="0">
                  <a:solidFill>
                    <a:schemeClr val="tx1"/>
                  </a:solidFill>
                </a:rPr>
                <a:t>丙</a:t>
              </a:r>
            </a:p>
          </p:txBody>
        </p:sp>
        <p:sp>
          <p:nvSpPr>
            <p:cNvPr id="79" name="타원 78"/>
            <p:cNvSpPr/>
            <p:nvPr/>
          </p:nvSpPr>
          <p:spPr>
            <a:xfrm>
              <a:off x="5687522" y="3657600"/>
              <a:ext cx="400050" cy="400050"/>
            </a:xfrm>
            <a:prstGeom prst="ellipse">
              <a:avLst/>
            </a:prstGeom>
            <a:solidFill>
              <a:schemeClr val="bg2"/>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200" dirty="0">
                  <a:solidFill>
                    <a:schemeClr val="tx1"/>
                  </a:solidFill>
                </a:rPr>
                <a:t>丁</a:t>
              </a:r>
            </a:p>
          </p:txBody>
        </p:sp>
        <p:cxnSp>
          <p:nvCxnSpPr>
            <p:cNvPr id="80" name="직선 화살표 연결선 79"/>
            <p:cNvCxnSpPr/>
            <p:nvPr/>
          </p:nvCxnSpPr>
          <p:spPr>
            <a:xfrm>
              <a:off x="827392" y="3143250"/>
              <a:ext cx="1828800" cy="200025"/>
            </a:xfrm>
            <a:prstGeom prst="straightConnector1">
              <a:avLst/>
            </a:prstGeom>
            <a:ln>
              <a:solidFill>
                <a:schemeClr val="bg1">
                  <a:lumMod val="50000"/>
                </a:schemeClr>
              </a:solidFill>
              <a:prstDash val="solid"/>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83" name="직선 화살표 연결선 82"/>
            <p:cNvCxnSpPr/>
            <p:nvPr/>
          </p:nvCxnSpPr>
          <p:spPr>
            <a:xfrm flipV="1">
              <a:off x="827392" y="3669726"/>
              <a:ext cx="1828800" cy="174051"/>
            </a:xfrm>
            <a:prstGeom prst="straightConnector1">
              <a:avLst/>
            </a:prstGeom>
            <a:ln>
              <a:solidFill>
                <a:schemeClr val="bg1">
                  <a:lumMod val="50000"/>
                </a:schemeClr>
              </a:solidFill>
              <a:prstDash val="solid"/>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87" name="직선 화살표 연결선 86"/>
            <p:cNvCxnSpPr/>
            <p:nvPr/>
          </p:nvCxnSpPr>
          <p:spPr>
            <a:xfrm flipV="1">
              <a:off x="3646792" y="3143250"/>
              <a:ext cx="1933575" cy="200025"/>
            </a:xfrm>
            <a:prstGeom prst="straightConnector1">
              <a:avLst/>
            </a:prstGeom>
            <a:ln>
              <a:solidFill>
                <a:schemeClr val="bg1">
                  <a:lumMod val="50000"/>
                </a:schemeClr>
              </a:solidFill>
              <a:prstDash val="solid"/>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90" name="직선 화살표 연결선 89"/>
            <p:cNvCxnSpPr/>
            <p:nvPr/>
          </p:nvCxnSpPr>
          <p:spPr>
            <a:xfrm>
              <a:off x="3646792" y="3595688"/>
              <a:ext cx="1933575" cy="248089"/>
            </a:xfrm>
            <a:prstGeom prst="straightConnector1">
              <a:avLst/>
            </a:prstGeom>
            <a:ln>
              <a:solidFill>
                <a:schemeClr val="bg1">
                  <a:lumMod val="50000"/>
                </a:schemeClr>
              </a:solidFill>
              <a:prstDash val="solid"/>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92" name="Rectangle 5"/>
            <p:cNvSpPr>
              <a:spLocks noChangeArrowheads="1"/>
            </p:cNvSpPr>
            <p:nvPr/>
          </p:nvSpPr>
          <p:spPr bwMode="auto">
            <a:xfrm>
              <a:off x="1470329" y="2969199"/>
              <a:ext cx="542925" cy="348102"/>
            </a:xfrm>
            <a:prstGeom prst="rect">
              <a:avLst/>
            </a:prstGeom>
            <a:noFill/>
            <a:ln w="9525" algn="ctr">
              <a:noFill/>
              <a:miter lim="800000"/>
              <a:headEnd/>
              <a:tailEnd/>
            </a:ln>
          </p:spPr>
          <p:txBody>
            <a:bodyPr wrap="none" anchor="ctr"/>
            <a:lstStyle/>
            <a:p>
              <a:pPr algn="ctr"/>
              <a:r>
                <a:rPr lang="en-US" altLang="ko-KR" sz="1000" b="0">
                  <a:solidFill>
                    <a:schemeClr val="tx1"/>
                  </a:solidFill>
                  <a:latin typeface="+mj-ea"/>
                  <a:ea typeface="+mj-ea"/>
                </a:rPr>
                <a:t>A </a:t>
              </a:r>
              <a:r>
                <a:rPr lang="ko-KR" altLang="en-US" sz="1000" b="0" dirty="0">
                  <a:solidFill>
                    <a:schemeClr val="tx1"/>
                  </a:solidFill>
                  <a:latin typeface="+mj-ea"/>
                  <a:ea typeface="+mj-ea"/>
                </a:rPr>
                <a:t>방법</a:t>
              </a:r>
            </a:p>
          </p:txBody>
        </p:sp>
        <p:sp>
          <p:nvSpPr>
            <p:cNvPr id="93" name="Rectangle 5"/>
            <p:cNvSpPr>
              <a:spLocks noChangeArrowheads="1"/>
            </p:cNvSpPr>
            <p:nvPr/>
          </p:nvSpPr>
          <p:spPr bwMode="auto">
            <a:xfrm>
              <a:off x="1470329" y="3503680"/>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B </a:t>
              </a:r>
              <a:r>
                <a:rPr lang="ko-KR" altLang="en-US" sz="1000" b="0" dirty="0">
                  <a:solidFill>
                    <a:schemeClr val="tx1"/>
                  </a:solidFill>
                  <a:latin typeface="+mj-ea"/>
                  <a:ea typeface="+mj-ea"/>
                </a:rPr>
                <a:t>방법</a:t>
              </a:r>
            </a:p>
          </p:txBody>
        </p:sp>
        <p:sp>
          <p:nvSpPr>
            <p:cNvPr id="94" name="Rectangle 5"/>
            <p:cNvSpPr>
              <a:spLocks noChangeArrowheads="1"/>
            </p:cNvSpPr>
            <p:nvPr/>
          </p:nvSpPr>
          <p:spPr bwMode="auto">
            <a:xfrm>
              <a:off x="4342116" y="2969199"/>
              <a:ext cx="542925" cy="348102"/>
            </a:xfrm>
            <a:prstGeom prst="rect">
              <a:avLst/>
            </a:prstGeom>
            <a:noFill/>
            <a:ln w="9525" algn="ctr">
              <a:noFill/>
              <a:miter lim="800000"/>
              <a:headEnd/>
              <a:tailEnd/>
            </a:ln>
          </p:spPr>
          <p:txBody>
            <a:bodyPr wrap="none" anchor="ctr"/>
            <a:lstStyle/>
            <a:p>
              <a:pPr algn="ctr"/>
              <a:r>
                <a:rPr lang="ko-KR" altLang="en-US" sz="1000" dirty="0">
                  <a:latin typeface="+mj-ea"/>
                  <a:ea typeface="+mj-ea"/>
                </a:rPr>
                <a:t>농약</a:t>
              </a:r>
              <a:endParaRPr lang="ko-KR" altLang="en-US" sz="1000" b="0" dirty="0">
                <a:solidFill>
                  <a:schemeClr val="tx1"/>
                </a:solidFill>
                <a:latin typeface="+mj-ea"/>
                <a:ea typeface="+mj-ea"/>
              </a:endParaRPr>
            </a:p>
          </p:txBody>
        </p:sp>
        <p:sp>
          <p:nvSpPr>
            <p:cNvPr id="95" name="Rectangle 5"/>
            <p:cNvSpPr>
              <a:spLocks noChangeArrowheads="1"/>
            </p:cNvSpPr>
            <p:nvPr/>
          </p:nvSpPr>
          <p:spPr bwMode="auto">
            <a:xfrm>
              <a:off x="4342116" y="3503680"/>
              <a:ext cx="542925" cy="348102"/>
            </a:xfrm>
            <a:prstGeom prst="rect">
              <a:avLst/>
            </a:prstGeom>
            <a:noFill/>
            <a:ln w="9525" algn="ctr">
              <a:noFill/>
              <a:miter lim="800000"/>
              <a:headEnd/>
              <a:tailEnd/>
            </a:ln>
          </p:spPr>
          <p:txBody>
            <a:bodyPr wrap="none" anchor="ctr"/>
            <a:lstStyle/>
            <a:p>
              <a:pPr algn="ctr"/>
              <a:r>
                <a:rPr lang="ko-KR" altLang="en-US" sz="1000" b="0" dirty="0">
                  <a:solidFill>
                    <a:schemeClr val="tx1"/>
                  </a:solidFill>
                  <a:latin typeface="+mj-ea"/>
                  <a:ea typeface="+mj-ea"/>
                </a:rPr>
                <a:t>의약</a:t>
              </a:r>
            </a:p>
          </p:txBody>
        </p:sp>
        <p:sp>
          <p:nvSpPr>
            <p:cNvPr id="98" name="직사각형 97"/>
            <p:cNvSpPr/>
            <p:nvPr/>
          </p:nvSpPr>
          <p:spPr>
            <a:xfrm>
              <a:off x="2489503" y="2867025"/>
              <a:ext cx="1266828" cy="1357752"/>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9" name="직사각형 98"/>
            <p:cNvSpPr/>
            <p:nvPr/>
          </p:nvSpPr>
          <p:spPr>
            <a:xfrm>
              <a:off x="3980164" y="2867025"/>
              <a:ext cx="1266828" cy="1357752"/>
            </a:xfrm>
            <a:prstGeom prst="rect">
              <a:avLst/>
            </a:prstGeom>
            <a:noFill/>
            <a:ln>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0" name="Rectangle 5"/>
            <p:cNvSpPr>
              <a:spLocks noChangeArrowheads="1"/>
            </p:cNvSpPr>
            <p:nvPr/>
          </p:nvSpPr>
          <p:spPr bwMode="auto">
            <a:xfrm>
              <a:off x="1484617" y="4255294"/>
              <a:ext cx="542925" cy="348102"/>
            </a:xfrm>
            <a:prstGeom prst="rect">
              <a:avLst/>
            </a:prstGeom>
            <a:noFill/>
            <a:ln w="9525" algn="ctr">
              <a:noFill/>
              <a:miter lim="800000"/>
              <a:headEnd/>
              <a:tailEnd/>
            </a:ln>
          </p:spPr>
          <p:txBody>
            <a:bodyPr wrap="none" anchor="ctr"/>
            <a:lstStyle/>
            <a:p>
              <a:pPr algn="ctr"/>
              <a:r>
                <a:rPr lang="ko-KR" altLang="en-US" sz="1400" dirty="0" err="1">
                  <a:solidFill>
                    <a:schemeClr val="accent2">
                      <a:lumMod val="50000"/>
                    </a:schemeClr>
                  </a:solidFill>
                  <a:latin typeface="+mj-ea"/>
                  <a:ea typeface="+mj-ea"/>
                </a:rPr>
                <a:t>제법발명</a:t>
              </a:r>
              <a:r>
                <a:rPr lang="en-US" altLang="ko-KR" sz="1400" dirty="0">
                  <a:solidFill>
                    <a:schemeClr val="accent2">
                      <a:lumMod val="50000"/>
                    </a:schemeClr>
                  </a:solidFill>
                  <a:latin typeface="+mj-ea"/>
                  <a:ea typeface="+mj-ea"/>
                </a:rPr>
                <a:t>(</a:t>
              </a:r>
              <a:r>
                <a:rPr lang="ko-KR" altLang="en-US" sz="1400" dirty="0">
                  <a:solidFill>
                    <a:schemeClr val="accent2">
                      <a:lumMod val="50000"/>
                    </a:schemeClr>
                  </a:solidFill>
                  <a:latin typeface="+mj-ea"/>
                  <a:ea typeface="+mj-ea"/>
                </a:rPr>
                <a:t>多</a:t>
              </a:r>
              <a:r>
                <a:rPr lang="en-US" altLang="ko-KR" sz="1400" dirty="0">
                  <a:solidFill>
                    <a:schemeClr val="accent2">
                      <a:lumMod val="50000"/>
                    </a:schemeClr>
                  </a:solidFill>
                  <a:latin typeface="+mj-ea"/>
                  <a:ea typeface="+mj-ea"/>
                </a:rPr>
                <a:t>)</a:t>
              </a:r>
              <a:endParaRPr lang="ko-KR" altLang="en-US" sz="1400" b="0" dirty="0">
                <a:solidFill>
                  <a:schemeClr val="accent2">
                    <a:lumMod val="50000"/>
                  </a:schemeClr>
                </a:solidFill>
                <a:latin typeface="+mj-ea"/>
                <a:ea typeface="+mj-ea"/>
              </a:endParaRPr>
            </a:p>
          </p:txBody>
        </p:sp>
        <p:sp>
          <p:nvSpPr>
            <p:cNvPr id="101" name="Rectangle 5"/>
            <p:cNvSpPr>
              <a:spLocks noChangeArrowheads="1"/>
            </p:cNvSpPr>
            <p:nvPr/>
          </p:nvSpPr>
          <p:spPr bwMode="auto">
            <a:xfrm>
              <a:off x="2860979" y="4255294"/>
              <a:ext cx="542925" cy="348102"/>
            </a:xfrm>
            <a:prstGeom prst="rect">
              <a:avLst/>
            </a:prstGeom>
            <a:noFill/>
            <a:ln w="9525" algn="ctr">
              <a:noFill/>
              <a:miter lim="800000"/>
              <a:headEnd/>
              <a:tailEnd/>
            </a:ln>
          </p:spPr>
          <p:txBody>
            <a:bodyPr wrap="none" anchor="ctr"/>
            <a:lstStyle/>
            <a:p>
              <a:pPr algn="ctr"/>
              <a:r>
                <a:rPr lang="ko-KR" altLang="en-US" sz="1400" dirty="0">
                  <a:solidFill>
                    <a:schemeClr val="accent2">
                      <a:lumMod val="50000"/>
                    </a:schemeClr>
                  </a:solidFill>
                  <a:latin typeface="+mj-ea"/>
                  <a:ea typeface="+mj-ea"/>
                </a:rPr>
                <a:t>물건발명</a:t>
              </a:r>
              <a:r>
                <a:rPr lang="en-US" altLang="ko-KR" sz="1400" dirty="0">
                  <a:solidFill>
                    <a:schemeClr val="accent2">
                      <a:lumMod val="50000"/>
                    </a:schemeClr>
                  </a:solidFill>
                  <a:latin typeface="+mj-ea"/>
                  <a:ea typeface="+mj-ea"/>
                </a:rPr>
                <a:t>(1)</a:t>
              </a:r>
              <a:endParaRPr lang="ko-KR" altLang="en-US" sz="1400" b="0" dirty="0">
                <a:solidFill>
                  <a:schemeClr val="accent2">
                    <a:lumMod val="50000"/>
                  </a:schemeClr>
                </a:solidFill>
                <a:latin typeface="+mj-ea"/>
                <a:ea typeface="+mj-ea"/>
              </a:endParaRPr>
            </a:p>
          </p:txBody>
        </p:sp>
        <p:sp>
          <p:nvSpPr>
            <p:cNvPr id="102" name="Rectangle 5"/>
            <p:cNvSpPr>
              <a:spLocks noChangeArrowheads="1"/>
            </p:cNvSpPr>
            <p:nvPr/>
          </p:nvSpPr>
          <p:spPr bwMode="auto">
            <a:xfrm>
              <a:off x="4351641" y="4255294"/>
              <a:ext cx="542925" cy="348102"/>
            </a:xfrm>
            <a:prstGeom prst="rect">
              <a:avLst/>
            </a:prstGeom>
            <a:noFill/>
            <a:ln w="9525" algn="ctr">
              <a:noFill/>
              <a:miter lim="800000"/>
              <a:headEnd/>
              <a:tailEnd/>
            </a:ln>
          </p:spPr>
          <p:txBody>
            <a:bodyPr wrap="none" anchor="ctr"/>
            <a:lstStyle/>
            <a:p>
              <a:pPr algn="ctr"/>
              <a:r>
                <a:rPr lang="ko-KR" altLang="en-US" sz="1400" dirty="0">
                  <a:solidFill>
                    <a:schemeClr val="accent2">
                      <a:lumMod val="50000"/>
                    </a:schemeClr>
                  </a:solidFill>
                  <a:latin typeface="+mj-ea"/>
                  <a:ea typeface="+mj-ea"/>
                </a:rPr>
                <a:t>용도발명</a:t>
              </a:r>
              <a:r>
                <a:rPr lang="en-US" altLang="ko-KR" sz="1400" dirty="0">
                  <a:solidFill>
                    <a:schemeClr val="accent2">
                      <a:lumMod val="50000"/>
                    </a:schemeClr>
                  </a:solidFill>
                  <a:latin typeface="+mj-ea"/>
                  <a:ea typeface="+mj-ea"/>
                </a:rPr>
                <a:t>(</a:t>
              </a:r>
              <a:r>
                <a:rPr lang="ko-KR" altLang="en-US" sz="1400" dirty="0">
                  <a:solidFill>
                    <a:schemeClr val="accent2">
                      <a:lumMod val="50000"/>
                    </a:schemeClr>
                  </a:solidFill>
                  <a:latin typeface="+mj-ea"/>
                  <a:ea typeface="+mj-ea"/>
                </a:rPr>
                <a:t>多</a:t>
              </a:r>
              <a:r>
                <a:rPr lang="en-US" altLang="ko-KR" sz="1400" dirty="0">
                  <a:solidFill>
                    <a:schemeClr val="accent2">
                      <a:lumMod val="50000"/>
                    </a:schemeClr>
                  </a:solidFill>
                  <a:latin typeface="+mj-ea"/>
                  <a:ea typeface="+mj-ea"/>
                </a:rPr>
                <a:t>)</a:t>
              </a:r>
              <a:endParaRPr lang="ko-KR" altLang="en-US" sz="1400" b="0" dirty="0">
                <a:solidFill>
                  <a:schemeClr val="accent2">
                    <a:lumMod val="50000"/>
                  </a:schemeClr>
                </a:solidFill>
                <a:latin typeface="+mj-ea"/>
                <a:ea typeface="+mj-ea"/>
              </a:endParaRPr>
            </a:p>
          </p:txBody>
        </p:sp>
      </p:grpSp>
      <p:sp>
        <p:nvSpPr>
          <p:cNvPr id="61" name="TextBox 60"/>
          <p:cNvSpPr txBox="1"/>
          <p:nvPr/>
        </p:nvSpPr>
        <p:spPr>
          <a:xfrm>
            <a:off x="1653171" y="1049957"/>
            <a:ext cx="684803" cy="369332"/>
          </a:xfrm>
          <a:prstGeom prst="rect">
            <a:avLst/>
          </a:prstGeom>
          <a:noFill/>
        </p:spPr>
        <p:txBody>
          <a:bodyPr wrap="none" rtlCol="0">
            <a:spAutoFit/>
          </a:bodyPr>
          <a:lstStyle/>
          <a:p>
            <a:r>
              <a:rPr lang="en-US" altLang="ko-KR" dirty="0">
                <a:solidFill>
                  <a:srgbClr val="FF0000"/>
                </a:solidFill>
              </a:rPr>
              <a:t>A:B2</a:t>
            </a:r>
            <a:endParaRPr lang="ko-KR" altLang="en-US" dirty="0">
              <a:solidFill>
                <a:srgbClr val="FF0000"/>
              </a:solidFill>
            </a:endParaRPr>
          </a:p>
        </p:txBody>
      </p:sp>
      <p:sp>
        <p:nvSpPr>
          <p:cNvPr id="62" name="TextBox 61"/>
          <p:cNvSpPr txBox="1"/>
          <p:nvPr/>
        </p:nvSpPr>
        <p:spPr>
          <a:xfrm>
            <a:off x="289410" y="1508354"/>
            <a:ext cx="3924472" cy="400110"/>
          </a:xfrm>
          <a:prstGeom prst="rect">
            <a:avLst/>
          </a:prstGeom>
          <a:solidFill>
            <a:schemeClr val="accent1">
              <a:lumMod val="20000"/>
              <a:lumOff val="80000"/>
            </a:schemeClr>
          </a:solidFill>
          <a:ln>
            <a:solidFill>
              <a:schemeClr val="bg1">
                <a:lumMod val="50000"/>
              </a:schemeClr>
            </a:solidFill>
          </a:ln>
        </p:spPr>
        <p:txBody>
          <a:bodyPr wrap="none" rtlCol="0">
            <a:spAutoFit/>
          </a:bodyPr>
          <a:lstStyle/>
          <a:p>
            <a:r>
              <a:rPr lang="ko-KR" altLang="en-US" sz="2000" dirty="0"/>
              <a:t>물건발명</a:t>
            </a:r>
            <a:r>
              <a:rPr lang="en-US" altLang="ko-KR" sz="2000" dirty="0"/>
              <a:t>(</a:t>
            </a:r>
            <a:r>
              <a:rPr lang="ko-KR" altLang="en-US" sz="2000" dirty="0"/>
              <a:t>物</a:t>
            </a:r>
            <a:r>
              <a:rPr lang="en-US" altLang="ko-KR" sz="2000" dirty="0"/>
              <a:t>)</a:t>
            </a:r>
            <a:r>
              <a:rPr lang="ko-KR" altLang="en-US" sz="2000" dirty="0"/>
              <a:t> </a:t>
            </a:r>
            <a:r>
              <a:rPr lang="en-US" altLang="ko-KR" sz="2000" dirty="0"/>
              <a:t>: </a:t>
            </a:r>
            <a:r>
              <a:rPr lang="ko-KR" altLang="en-US" sz="2000" dirty="0" err="1"/>
              <a:t>제법발명</a:t>
            </a:r>
            <a:r>
              <a:rPr lang="en-US" altLang="ko-KR" sz="2000" dirty="0"/>
              <a:t>(</a:t>
            </a:r>
            <a:r>
              <a:rPr lang="ko-KR" altLang="en-US" sz="2000" dirty="0"/>
              <a:t>方</a:t>
            </a:r>
            <a:r>
              <a:rPr lang="en-US" altLang="ko-KR" sz="2000" dirty="0"/>
              <a:t>)</a:t>
            </a:r>
            <a:r>
              <a:rPr lang="ko-KR" altLang="en-US" sz="2000" dirty="0"/>
              <a:t> </a:t>
            </a:r>
            <a:r>
              <a:rPr lang="en-US" altLang="ko-KR" sz="2000" dirty="0"/>
              <a:t>= 1 : </a:t>
            </a:r>
            <a:r>
              <a:rPr lang="ko-KR" altLang="en-US" sz="2000" dirty="0"/>
              <a:t>多</a:t>
            </a:r>
          </a:p>
        </p:txBody>
      </p:sp>
      <p:cxnSp>
        <p:nvCxnSpPr>
          <p:cNvPr id="64" name="직선 연결선 63"/>
          <p:cNvCxnSpPr/>
          <p:nvPr/>
        </p:nvCxnSpPr>
        <p:spPr>
          <a:xfrm flipH="1">
            <a:off x="289411" y="4714875"/>
            <a:ext cx="5689597" cy="0"/>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직선 연결선 106"/>
          <p:cNvCxnSpPr/>
          <p:nvPr/>
        </p:nvCxnSpPr>
        <p:spPr>
          <a:xfrm flipH="1">
            <a:off x="6070840" y="958362"/>
            <a:ext cx="1" cy="5767753"/>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6265980" y="954549"/>
            <a:ext cx="3974165" cy="400110"/>
          </a:xfrm>
          <a:prstGeom prst="rect">
            <a:avLst/>
          </a:prstGeom>
          <a:solidFill>
            <a:schemeClr val="accent1">
              <a:lumMod val="20000"/>
              <a:lumOff val="80000"/>
            </a:schemeClr>
          </a:solidFill>
          <a:ln>
            <a:solidFill>
              <a:schemeClr val="bg1">
                <a:lumMod val="50000"/>
              </a:schemeClr>
            </a:solidFill>
          </a:ln>
        </p:spPr>
        <p:txBody>
          <a:bodyPr wrap="none" rtlCol="0">
            <a:spAutoFit/>
          </a:bodyPr>
          <a:lstStyle/>
          <a:p>
            <a:r>
              <a:rPr lang="ko-KR" altLang="en-US" sz="2000" dirty="0"/>
              <a:t>실시 </a:t>
            </a:r>
            <a:r>
              <a:rPr lang="en-US" altLang="ko-KR" sz="2000" dirty="0"/>
              <a:t>: </a:t>
            </a:r>
            <a:r>
              <a:rPr lang="ko-KR" altLang="en-US" sz="2000" dirty="0"/>
              <a:t>물건발명</a:t>
            </a:r>
            <a:r>
              <a:rPr lang="en-US" altLang="ko-KR" sz="2000" dirty="0"/>
              <a:t>(</a:t>
            </a:r>
            <a:r>
              <a:rPr lang="ko-KR" altLang="en-US" sz="2000" dirty="0"/>
              <a:t>物</a:t>
            </a:r>
            <a:r>
              <a:rPr lang="en-US" altLang="ko-KR" sz="2000" dirty="0"/>
              <a:t>) </a:t>
            </a:r>
            <a:r>
              <a:rPr lang="ko-KR" altLang="en-US" sz="2000" dirty="0"/>
              <a:t>⊃</a:t>
            </a:r>
            <a:r>
              <a:rPr lang="en-US" altLang="ko-KR" sz="2000" dirty="0"/>
              <a:t> </a:t>
            </a:r>
            <a:r>
              <a:rPr lang="ko-KR" altLang="en-US" sz="2000" dirty="0" err="1"/>
              <a:t>제법발명</a:t>
            </a:r>
            <a:r>
              <a:rPr lang="en-US" altLang="ko-KR" sz="2000" dirty="0"/>
              <a:t>(</a:t>
            </a:r>
            <a:r>
              <a:rPr lang="ko-KR" altLang="en-US" sz="2000" dirty="0"/>
              <a:t>方</a:t>
            </a:r>
            <a:r>
              <a:rPr lang="en-US" altLang="ko-KR" sz="2000" dirty="0"/>
              <a:t>)</a:t>
            </a:r>
            <a:r>
              <a:rPr lang="ko-KR" altLang="en-US" sz="2000" dirty="0"/>
              <a:t> </a:t>
            </a:r>
          </a:p>
        </p:txBody>
      </p:sp>
      <p:grpSp>
        <p:nvGrpSpPr>
          <p:cNvPr id="23" name="그룹 22"/>
          <p:cNvGrpSpPr/>
          <p:nvPr/>
        </p:nvGrpSpPr>
        <p:grpSpPr>
          <a:xfrm>
            <a:off x="10369162" y="1692421"/>
            <a:ext cx="1638076" cy="1751550"/>
            <a:chOff x="9873753" y="2057939"/>
            <a:chExt cx="2083777" cy="2228127"/>
          </a:xfrm>
        </p:grpSpPr>
        <p:sp>
          <p:nvSpPr>
            <p:cNvPr id="109" name="타원 108"/>
            <p:cNvSpPr/>
            <p:nvPr/>
          </p:nvSpPr>
          <p:spPr>
            <a:xfrm>
              <a:off x="10162347" y="2545666"/>
              <a:ext cx="698511" cy="698511"/>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3" name="타원 112"/>
            <p:cNvSpPr/>
            <p:nvPr/>
          </p:nvSpPr>
          <p:spPr>
            <a:xfrm>
              <a:off x="11032786" y="2535353"/>
              <a:ext cx="698511" cy="698511"/>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4" name="타원 113"/>
            <p:cNvSpPr/>
            <p:nvPr/>
          </p:nvSpPr>
          <p:spPr>
            <a:xfrm>
              <a:off x="10217130" y="3388060"/>
              <a:ext cx="698511" cy="698511"/>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5" name="타원 114"/>
            <p:cNvSpPr/>
            <p:nvPr/>
          </p:nvSpPr>
          <p:spPr>
            <a:xfrm>
              <a:off x="11032786" y="3300411"/>
              <a:ext cx="698511" cy="698511"/>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6" name="TextBox 115"/>
            <p:cNvSpPr txBox="1"/>
            <p:nvPr/>
          </p:nvSpPr>
          <p:spPr>
            <a:xfrm>
              <a:off x="10137300" y="2471177"/>
              <a:ext cx="726481" cy="276999"/>
            </a:xfrm>
            <a:prstGeom prst="rect">
              <a:avLst/>
            </a:prstGeom>
            <a:solidFill>
              <a:schemeClr val="bg1"/>
            </a:solidFill>
          </p:spPr>
          <p:txBody>
            <a:bodyPr wrap="none" rtlCol="0">
              <a:spAutoFit/>
            </a:bodyPr>
            <a:lstStyle/>
            <a:p>
              <a:r>
                <a:rPr lang="ko-KR" altLang="en-US" sz="1200" dirty="0"/>
                <a:t>方</a:t>
              </a:r>
              <a:r>
                <a:rPr lang="en-US" altLang="ko-KR" sz="1200" dirty="0"/>
                <a:t>1</a:t>
              </a:r>
              <a:r>
                <a:rPr lang="ko-KR" altLang="en-US" sz="1200" dirty="0"/>
                <a:t> 실시</a:t>
              </a:r>
            </a:p>
          </p:txBody>
        </p:sp>
        <p:sp>
          <p:nvSpPr>
            <p:cNvPr id="117" name="TextBox 116"/>
            <p:cNvSpPr txBox="1"/>
            <p:nvPr/>
          </p:nvSpPr>
          <p:spPr>
            <a:xfrm>
              <a:off x="10974473" y="2513952"/>
              <a:ext cx="726481" cy="276999"/>
            </a:xfrm>
            <a:prstGeom prst="rect">
              <a:avLst/>
            </a:prstGeom>
            <a:solidFill>
              <a:schemeClr val="bg1"/>
            </a:solidFill>
          </p:spPr>
          <p:txBody>
            <a:bodyPr wrap="none" rtlCol="0">
              <a:spAutoFit/>
            </a:bodyPr>
            <a:lstStyle/>
            <a:p>
              <a:r>
                <a:rPr lang="ko-KR" altLang="en-US" sz="1200" dirty="0"/>
                <a:t>方</a:t>
              </a:r>
              <a:r>
                <a:rPr lang="en-US" altLang="ko-KR" sz="1200" dirty="0"/>
                <a:t>2</a:t>
              </a:r>
              <a:r>
                <a:rPr lang="ko-KR" altLang="en-US" sz="1200" dirty="0"/>
                <a:t> 실시</a:t>
              </a:r>
            </a:p>
          </p:txBody>
        </p:sp>
        <p:sp>
          <p:nvSpPr>
            <p:cNvPr id="118" name="TextBox 117"/>
            <p:cNvSpPr txBox="1"/>
            <p:nvPr/>
          </p:nvSpPr>
          <p:spPr>
            <a:xfrm>
              <a:off x="10162347" y="3334885"/>
              <a:ext cx="683200" cy="276999"/>
            </a:xfrm>
            <a:prstGeom prst="rect">
              <a:avLst/>
            </a:prstGeom>
            <a:solidFill>
              <a:schemeClr val="bg1"/>
            </a:solidFill>
          </p:spPr>
          <p:txBody>
            <a:bodyPr wrap="none" rtlCol="0">
              <a:spAutoFit/>
            </a:bodyPr>
            <a:lstStyle/>
            <a:p>
              <a:r>
                <a:rPr lang="ko-KR" altLang="en-US" sz="1200" dirty="0"/>
                <a:t>方</a:t>
              </a:r>
              <a:r>
                <a:rPr lang="en-US" altLang="ko-KR" sz="1200" dirty="0"/>
                <a:t>3</a:t>
              </a:r>
              <a:r>
                <a:rPr lang="ko-KR" altLang="en-US" sz="1200" dirty="0"/>
                <a:t>실시</a:t>
              </a:r>
            </a:p>
          </p:txBody>
        </p:sp>
        <p:sp>
          <p:nvSpPr>
            <p:cNvPr id="119" name="TextBox 118"/>
            <p:cNvSpPr txBox="1"/>
            <p:nvPr/>
          </p:nvSpPr>
          <p:spPr>
            <a:xfrm>
              <a:off x="10996113" y="3286486"/>
              <a:ext cx="692818" cy="276999"/>
            </a:xfrm>
            <a:prstGeom prst="rect">
              <a:avLst/>
            </a:prstGeom>
            <a:solidFill>
              <a:schemeClr val="bg1"/>
            </a:solidFill>
          </p:spPr>
          <p:txBody>
            <a:bodyPr wrap="none" rtlCol="0">
              <a:spAutoFit/>
            </a:bodyPr>
            <a:lstStyle/>
            <a:p>
              <a:r>
                <a:rPr lang="ko-KR" altLang="en-US" sz="1200" dirty="0"/>
                <a:t>方</a:t>
              </a:r>
              <a:r>
                <a:rPr lang="en-US" altLang="ko-KR" sz="1200" dirty="0"/>
                <a:t>n</a:t>
              </a:r>
              <a:r>
                <a:rPr lang="ko-KR" altLang="en-US" sz="1200" dirty="0"/>
                <a:t>실시</a:t>
              </a:r>
            </a:p>
          </p:txBody>
        </p:sp>
        <p:sp>
          <p:nvSpPr>
            <p:cNvPr id="20" name="타원 19"/>
            <p:cNvSpPr/>
            <p:nvPr/>
          </p:nvSpPr>
          <p:spPr>
            <a:xfrm>
              <a:off x="9873753" y="2202289"/>
              <a:ext cx="2083777" cy="2083777"/>
            </a:xfrm>
            <a:prstGeom prst="ellipse">
              <a:avLst/>
            </a:prstGeom>
            <a:no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TextBox 20"/>
            <p:cNvSpPr txBox="1"/>
            <p:nvPr/>
          </p:nvSpPr>
          <p:spPr>
            <a:xfrm>
              <a:off x="10555131" y="2057939"/>
              <a:ext cx="641522" cy="276999"/>
            </a:xfrm>
            <a:prstGeom prst="rect">
              <a:avLst/>
            </a:prstGeom>
            <a:solidFill>
              <a:schemeClr val="bg1"/>
            </a:solidFill>
          </p:spPr>
          <p:txBody>
            <a:bodyPr wrap="none" rtlCol="0">
              <a:spAutoFit/>
            </a:bodyPr>
            <a:lstStyle/>
            <a:p>
              <a:r>
                <a:rPr lang="ko-KR" altLang="en-US" sz="1200" dirty="0"/>
                <a:t>物 실시</a:t>
              </a:r>
            </a:p>
          </p:txBody>
        </p:sp>
      </p:grpSp>
      <p:sp>
        <p:nvSpPr>
          <p:cNvPr id="120" name="Rectangle 1"/>
          <p:cNvSpPr>
            <a:spLocks noChangeArrowheads="1"/>
          </p:cNvSpPr>
          <p:nvPr/>
        </p:nvSpPr>
        <p:spPr bwMode="auto">
          <a:xfrm>
            <a:off x="7359130" y="1407466"/>
            <a:ext cx="2834192" cy="64633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ko-KR" sz="1200" b="0" i="0" u="none" strike="noStrike" cap="none" normalizeH="0" baseline="0" dirty="0">
                <a:ln>
                  <a:noFill/>
                </a:ln>
                <a:solidFill>
                  <a:srgbClr val="444444"/>
                </a:solidFill>
                <a:effectLst/>
                <a:latin typeface="+mn-ea"/>
                <a:cs typeface="굴림" pitchFamily="50" charset="-127"/>
              </a:rPr>
              <a:t>그 물건을 </a:t>
            </a:r>
            <a:r>
              <a:rPr kumimoji="1" lang="ko-KR" sz="1200" b="0" i="0" u="none" strike="noStrike" cap="none" normalizeH="0" baseline="0" dirty="0" err="1">
                <a:ln>
                  <a:noFill/>
                </a:ln>
                <a:solidFill>
                  <a:srgbClr val="444444"/>
                </a:solidFill>
                <a:effectLst/>
                <a:latin typeface="+mn-ea"/>
                <a:cs typeface="굴림" pitchFamily="50" charset="-127"/>
              </a:rPr>
              <a:t>생산</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sz="1200" b="0" i="0" u="none" strike="noStrike" cap="none" normalizeH="0" baseline="0" dirty="0" err="1">
                <a:ln>
                  <a:noFill/>
                </a:ln>
                <a:solidFill>
                  <a:srgbClr val="444444"/>
                </a:solidFill>
                <a:effectLst/>
                <a:latin typeface="+mn-ea"/>
                <a:cs typeface="굴림" pitchFamily="50" charset="-127"/>
              </a:rPr>
              <a:t>사용</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sz="1200" b="0" i="0" u="none" strike="noStrike" cap="none" normalizeH="0" baseline="0" dirty="0" err="1">
                <a:ln>
                  <a:noFill/>
                </a:ln>
                <a:solidFill>
                  <a:srgbClr val="444444"/>
                </a:solidFill>
                <a:effectLst/>
                <a:latin typeface="+mn-ea"/>
                <a:cs typeface="굴림" pitchFamily="50" charset="-127"/>
              </a:rPr>
              <a:t>양도</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sz="1200" b="0" i="0" u="none" strike="noStrike" cap="none" normalizeH="0" baseline="0" dirty="0" err="1">
                <a:ln>
                  <a:noFill/>
                </a:ln>
                <a:solidFill>
                  <a:srgbClr val="444444"/>
                </a:solidFill>
                <a:effectLst/>
                <a:latin typeface="+mn-ea"/>
                <a:cs typeface="굴림" pitchFamily="50" charset="-127"/>
              </a:rPr>
              <a:t>대여</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altLang="en-US" sz="1200" b="0" i="0" u="none" strike="noStrike" cap="none" normalizeH="0" baseline="0" dirty="0" err="1">
                <a:ln>
                  <a:noFill/>
                </a:ln>
                <a:solidFill>
                  <a:srgbClr val="444444"/>
                </a:solidFill>
                <a:effectLst/>
                <a:latin typeface="+mn-ea"/>
                <a:cs typeface="굴림" pitchFamily="50" charset="-127"/>
              </a:rPr>
              <a:t>수출</a:t>
            </a:r>
            <a:r>
              <a:rPr kumimoji="1" lang="ko-KR" sz="1200" b="0" i="0" u="none" strike="noStrike" cap="none" normalizeH="0" baseline="0" dirty="0">
                <a:ln>
                  <a:noFill/>
                </a:ln>
                <a:solidFill>
                  <a:srgbClr val="444444"/>
                </a:solidFill>
                <a:effectLst/>
                <a:latin typeface="+mn-ea"/>
                <a:cs typeface="굴림" pitchFamily="50" charset="-127"/>
              </a:rPr>
              <a:t> 또는 수입하거나 그 물건의 양도 또는 대여의 청약을 하는 행위</a:t>
            </a:r>
            <a:endParaRPr kumimoji="1" lang="ko-KR" sz="1200" b="0" i="0" u="none" strike="noStrike" cap="none" normalizeH="0" baseline="0" dirty="0">
              <a:ln>
                <a:noFill/>
              </a:ln>
              <a:solidFill>
                <a:schemeClr val="tx1"/>
              </a:solidFill>
              <a:effectLst/>
              <a:latin typeface="+mn-ea"/>
              <a:cs typeface="굴림" pitchFamily="50" charset="-127"/>
            </a:endParaRPr>
          </a:p>
        </p:txBody>
      </p:sp>
      <p:sp>
        <p:nvSpPr>
          <p:cNvPr id="122" name="TextBox 121"/>
          <p:cNvSpPr txBox="1"/>
          <p:nvPr/>
        </p:nvSpPr>
        <p:spPr>
          <a:xfrm>
            <a:off x="6286821" y="2455266"/>
            <a:ext cx="922048" cy="338554"/>
          </a:xfrm>
          <a:prstGeom prst="rect">
            <a:avLst/>
          </a:prstGeom>
          <a:solidFill>
            <a:schemeClr val="bg1">
              <a:lumMod val="95000"/>
            </a:schemeClr>
          </a:solidFill>
          <a:ln>
            <a:solidFill>
              <a:schemeClr val="bg1">
                <a:lumMod val="50000"/>
              </a:schemeClr>
            </a:solidFill>
          </a:ln>
        </p:spPr>
        <p:txBody>
          <a:bodyPr wrap="square" rtlCol="0">
            <a:noAutofit/>
          </a:bodyPr>
          <a:lstStyle/>
          <a:p>
            <a:pPr algn="ctr"/>
            <a:r>
              <a:rPr lang="ko-KR" altLang="en-US" sz="1600" dirty="0"/>
              <a:t>方</a:t>
            </a:r>
            <a:r>
              <a:rPr lang="en-US" altLang="ko-KR" sz="1600" dirty="0"/>
              <a:t> </a:t>
            </a:r>
            <a:r>
              <a:rPr lang="ko-KR" altLang="en-US" sz="1600" dirty="0"/>
              <a:t>실시</a:t>
            </a:r>
          </a:p>
        </p:txBody>
      </p:sp>
      <p:sp>
        <p:nvSpPr>
          <p:cNvPr id="123" name="TextBox 122"/>
          <p:cNvSpPr txBox="1"/>
          <p:nvPr/>
        </p:nvSpPr>
        <p:spPr>
          <a:xfrm>
            <a:off x="6286821" y="1561354"/>
            <a:ext cx="922048" cy="338554"/>
          </a:xfrm>
          <a:prstGeom prst="rect">
            <a:avLst/>
          </a:prstGeom>
          <a:solidFill>
            <a:schemeClr val="bg1">
              <a:lumMod val="95000"/>
            </a:schemeClr>
          </a:solidFill>
          <a:ln>
            <a:solidFill>
              <a:schemeClr val="bg1">
                <a:lumMod val="50000"/>
              </a:schemeClr>
            </a:solidFill>
          </a:ln>
        </p:spPr>
        <p:txBody>
          <a:bodyPr wrap="square" rtlCol="0">
            <a:noAutofit/>
          </a:bodyPr>
          <a:lstStyle/>
          <a:p>
            <a:pPr algn="ctr"/>
            <a:r>
              <a:rPr lang="ko-KR" altLang="en-US" sz="1600" dirty="0"/>
              <a:t>物 실시</a:t>
            </a:r>
          </a:p>
        </p:txBody>
      </p:sp>
      <p:sp>
        <p:nvSpPr>
          <p:cNvPr id="124" name="Rectangle 1"/>
          <p:cNvSpPr>
            <a:spLocks noChangeArrowheads="1"/>
          </p:cNvSpPr>
          <p:nvPr/>
        </p:nvSpPr>
        <p:spPr bwMode="auto">
          <a:xfrm>
            <a:off x="7357605" y="3000295"/>
            <a:ext cx="2835718" cy="646331"/>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ko-KR" sz="1200" b="0" i="0" u="none" strike="noStrike" cap="none" normalizeH="0" baseline="0" dirty="0">
                <a:ln>
                  <a:noFill/>
                </a:ln>
                <a:solidFill>
                  <a:srgbClr val="444444"/>
                </a:solidFill>
                <a:effectLst/>
                <a:latin typeface="+mn-ea"/>
                <a:cs typeface="굴림" pitchFamily="50" charset="-127"/>
              </a:rPr>
              <a:t>그 방법에 의하여 생산한 물건을 </a:t>
            </a:r>
            <a:r>
              <a:rPr kumimoji="1" lang="ko-KR" sz="1200" b="0" i="0" u="none" strike="noStrike" cap="none" normalizeH="0" baseline="0" dirty="0" err="1">
                <a:ln>
                  <a:noFill/>
                </a:ln>
                <a:solidFill>
                  <a:srgbClr val="444444"/>
                </a:solidFill>
                <a:effectLst/>
                <a:latin typeface="+mn-ea"/>
                <a:cs typeface="굴림" pitchFamily="50" charset="-127"/>
              </a:rPr>
              <a:t>사용</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sz="1200" b="0" i="0" u="none" strike="noStrike" cap="none" normalizeH="0" baseline="0" dirty="0" err="1">
                <a:ln>
                  <a:noFill/>
                </a:ln>
                <a:solidFill>
                  <a:srgbClr val="444444"/>
                </a:solidFill>
                <a:effectLst/>
                <a:latin typeface="+mn-ea"/>
                <a:cs typeface="굴림" pitchFamily="50" charset="-127"/>
              </a:rPr>
              <a:t>양도</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sz="1200" b="0" i="0" u="none" strike="noStrike" cap="none" normalizeH="0" baseline="0" dirty="0" err="1">
                <a:ln>
                  <a:noFill/>
                </a:ln>
                <a:solidFill>
                  <a:srgbClr val="444444"/>
                </a:solidFill>
                <a:effectLst/>
                <a:latin typeface="+mn-ea"/>
                <a:cs typeface="굴림" pitchFamily="50" charset="-127"/>
              </a:rPr>
              <a:t>대여</a:t>
            </a:r>
            <a:r>
              <a:rPr kumimoji="1" lang="ko-KR" altLang="ko-KR" sz="1200" b="0" i="0" u="none" strike="noStrike" cap="none" normalizeH="0" baseline="0" dirty="0" err="1">
                <a:ln>
                  <a:noFill/>
                </a:ln>
                <a:solidFill>
                  <a:srgbClr val="444444"/>
                </a:solidFill>
                <a:effectLst/>
                <a:latin typeface="+mn-ea"/>
                <a:cs typeface="굴림" pitchFamily="50" charset="-127"/>
              </a:rPr>
              <a:t>·</a:t>
            </a:r>
            <a:r>
              <a:rPr kumimoji="1" lang="ko-KR" altLang="en-US" sz="1200" b="0" i="0" u="none" strike="noStrike" cap="none" normalizeH="0" baseline="0" dirty="0" err="1">
                <a:ln>
                  <a:noFill/>
                </a:ln>
                <a:solidFill>
                  <a:srgbClr val="444444"/>
                </a:solidFill>
                <a:effectLst/>
                <a:latin typeface="+mn-ea"/>
                <a:cs typeface="굴림" pitchFamily="50" charset="-127"/>
              </a:rPr>
              <a:t>수출</a:t>
            </a:r>
            <a:r>
              <a:rPr kumimoji="1" lang="ko-KR" sz="1200" b="0" i="0" u="none" strike="noStrike" cap="none" normalizeH="0" baseline="0" dirty="0">
                <a:ln>
                  <a:noFill/>
                </a:ln>
                <a:solidFill>
                  <a:srgbClr val="444444"/>
                </a:solidFill>
                <a:effectLst/>
                <a:latin typeface="+mn-ea"/>
                <a:cs typeface="굴림" pitchFamily="50" charset="-127"/>
              </a:rPr>
              <a:t> 또는 수입하거나 그 물건의 양도 또는 대여의 청약을 하는 행위</a:t>
            </a:r>
            <a:endParaRPr kumimoji="1" lang="ko-KR" sz="1200" b="0" i="0" u="none" strike="noStrike" cap="none" normalizeH="0" baseline="0" dirty="0">
              <a:ln>
                <a:noFill/>
              </a:ln>
              <a:solidFill>
                <a:schemeClr val="tx1"/>
              </a:solidFill>
              <a:effectLst/>
              <a:latin typeface="+mn-ea"/>
              <a:cs typeface="굴림" pitchFamily="50" charset="-127"/>
            </a:endParaRPr>
          </a:p>
        </p:txBody>
      </p:sp>
      <p:sp>
        <p:nvSpPr>
          <p:cNvPr id="125" name="Rectangle 1"/>
          <p:cNvSpPr>
            <a:spLocks noChangeArrowheads="1"/>
          </p:cNvSpPr>
          <p:nvPr/>
        </p:nvSpPr>
        <p:spPr bwMode="auto">
          <a:xfrm>
            <a:off x="7357603" y="2118302"/>
            <a:ext cx="2835719" cy="276999"/>
          </a:xfrm>
          <a:prstGeom prst="rect">
            <a:avLst/>
          </a:prstGeom>
          <a:noFill/>
          <a:ln w="9525">
            <a:solidFill>
              <a:schemeClr val="tx1"/>
            </a:solidFill>
            <a:miter lim="800000"/>
            <a:headEnd/>
            <a:tailEnd/>
          </a:ln>
          <a:effectLst/>
          <a:extLst>
            <a:ext uri="{909E8E84-426E-40DD-AFC4-6F175D3DCCD1}">
              <a14:hiddenFill xmlns:a14="http://schemas.microsoft.com/office/drawing/2010/main">
                <a:solidFill>
                  <a:schemeClr val="accent1"/>
                </a:solid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ko-KR" altLang="en-US" sz="1200" b="0" i="0" u="none" strike="noStrike" cap="none" normalizeH="0" baseline="0" dirty="0">
                <a:ln>
                  <a:noFill/>
                </a:ln>
                <a:solidFill>
                  <a:srgbClr val="444444"/>
                </a:solidFill>
                <a:effectLst/>
                <a:latin typeface="+mn-ea"/>
                <a:cs typeface="굴림" pitchFamily="50" charset="-127"/>
              </a:rPr>
              <a:t>그 방법을 사용하는</a:t>
            </a:r>
            <a:r>
              <a:rPr kumimoji="1" lang="ko-KR" altLang="en-US" sz="1200" b="0" i="0" u="none" strike="noStrike" cap="none" normalizeH="0" dirty="0">
                <a:ln>
                  <a:noFill/>
                </a:ln>
                <a:solidFill>
                  <a:srgbClr val="444444"/>
                </a:solidFill>
                <a:effectLst/>
                <a:latin typeface="+mn-ea"/>
                <a:cs typeface="굴림" pitchFamily="50" charset="-127"/>
              </a:rPr>
              <a:t> 행위</a:t>
            </a:r>
            <a:r>
              <a:rPr kumimoji="1" lang="en-US" altLang="ko-KR" sz="1200" b="0" i="0" u="none" strike="noStrike" cap="none" normalizeH="0" dirty="0">
                <a:ln>
                  <a:noFill/>
                </a:ln>
                <a:solidFill>
                  <a:srgbClr val="FF0000"/>
                </a:solidFill>
                <a:effectLst/>
                <a:latin typeface="+mn-ea"/>
                <a:cs typeface="굴림" pitchFamily="50" charset="-127"/>
              </a:rPr>
              <a:t>(</a:t>
            </a:r>
            <a:r>
              <a:rPr kumimoji="1" lang="ko-KR" altLang="en-US" sz="1200" b="0" i="0" u="none" strike="noStrike" cap="none" normalizeH="0" dirty="0">
                <a:ln>
                  <a:noFill/>
                </a:ln>
                <a:solidFill>
                  <a:srgbClr val="FF0000"/>
                </a:solidFill>
                <a:effectLst/>
                <a:latin typeface="+mn-ea"/>
                <a:cs typeface="굴림" pitchFamily="50" charset="-127"/>
              </a:rPr>
              <a:t>물건의 생산</a:t>
            </a:r>
            <a:r>
              <a:rPr kumimoji="1" lang="en-US" altLang="ko-KR" sz="1200" b="0" i="0" u="none" strike="noStrike" cap="none" normalizeH="0" dirty="0">
                <a:ln>
                  <a:noFill/>
                </a:ln>
                <a:solidFill>
                  <a:srgbClr val="FF0000"/>
                </a:solidFill>
                <a:effectLst/>
                <a:latin typeface="+mn-ea"/>
                <a:cs typeface="굴림" pitchFamily="50" charset="-127"/>
              </a:rPr>
              <a:t>)</a:t>
            </a:r>
            <a:endParaRPr kumimoji="1" lang="ko-KR" sz="1200" b="0" i="0" u="none" strike="noStrike" cap="none" normalizeH="0" baseline="0" dirty="0">
              <a:ln>
                <a:noFill/>
              </a:ln>
              <a:solidFill>
                <a:srgbClr val="FF0000"/>
              </a:solidFill>
              <a:effectLst/>
              <a:latin typeface="+mn-ea"/>
              <a:cs typeface="굴림" pitchFamily="50" charset="-127"/>
            </a:endParaRPr>
          </a:p>
        </p:txBody>
      </p:sp>
      <p:cxnSp>
        <p:nvCxnSpPr>
          <p:cNvPr id="26" name="직선 연결선 25"/>
          <p:cNvCxnSpPr>
            <a:stCxn id="123" idx="3"/>
            <a:endCxn id="120" idx="1"/>
          </p:cNvCxnSpPr>
          <p:nvPr/>
        </p:nvCxnSpPr>
        <p:spPr>
          <a:xfrm>
            <a:off x="7208869" y="1730631"/>
            <a:ext cx="150261" cy="1"/>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꺾인 연결선 29"/>
          <p:cNvCxnSpPr>
            <a:stCxn id="122" idx="3"/>
            <a:endCxn id="125" idx="1"/>
          </p:cNvCxnSpPr>
          <p:nvPr/>
        </p:nvCxnSpPr>
        <p:spPr>
          <a:xfrm flipV="1">
            <a:off x="7208869" y="2256802"/>
            <a:ext cx="148734" cy="36774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꺾인 연결선 36"/>
          <p:cNvCxnSpPr>
            <a:stCxn id="122" idx="3"/>
            <a:endCxn id="124" idx="1"/>
          </p:cNvCxnSpPr>
          <p:nvPr/>
        </p:nvCxnSpPr>
        <p:spPr>
          <a:xfrm>
            <a:off x="7208869" y="2624543"/>
            <a:ext cx="148736" cy="698918"/>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26" name="TextBox 125"/>
          <p:cNvSpPr txBox="1"/>
          <p:nvPr/>
        </p:nvSpPr>
        <p:spPr>
          <a:xfrm>
            <a:off x="6265980" y="3710371"/>
            <a:ext cx="4897495" cy="400110"/>
          </a:xfrm>
          <a:prstGeom prst="rect">
            <a:avLst/>
          </a:prstGeom>
          <a:solidFill>
            <a:schemeClr val="accent1">
              <a:lumMod val="20000"/>
              <a:lumOff val="80000"/>
            </a:schemeClr>
          </a:solidFill>
          <a:ln>
            <a:solidFill>
              <a:schemeClr val="bg1">
                <a:lumMod val="50000"/>
              </a:schemeClr>
            </a:solidFill>
          </a:ln>
        </p:spPr>
        <p:txBody>
          <a:bodyPr wrap="none" rtlCol="0">
            <a:spAutoFit/>
          </a:bodyPr>
          <a:lstStyle/>
          <a:p>
            <a:r>
              <a:rPr lang="ko-KR" altLang="en-US" sz="2000" dirty="0"/>
              <a:t>특허권의 효력 </a:t>
            </a:r>
            <a:r>
              <a:rPr lang="en-US" altLang="ko-KR" sz="2000" dirty="0"/>
              <a:t>: </a:t>
            </a:r>
            <a:r>
              <a:rPr lang="ko-KR" altLang="en-US" sz="2000" dirty="0"/>
              <a:t>물건발명</a:t>
            </a:r>
            <a:r>
              <a:rPr lang="en-US" altLang="ko-KR" sz="2000" dirty="0"/>
              <a:t>(</a:t>
            </a:r>
            <a:r>
              <a:rPr lang="ko-KR" altLang="en-US" sz="2000" dirty="0"/>
              <a:t>物</a:t>
            </a:r>
            <a:r>
              <a:rPr lang="en-US" altLang="ko-KR" sz="2000" dirty="0"/>
              <a:t>) </a:t>
            </a:r>
            <a:r>
              <a:rPr lang="ko-KR" altLang="en-US" sz="2000" dirty="0"/>
              <a:t>⊃</a:t>
            </a:r>
            <a:r>
              <a:rPr lang="en-US" altLang="ko-KR" sz="2000" dirty="0"/>
              <a:t> </a:t>
            </a:r>
            <a:r>
              <a:rPr lang="ko-KR" altLang="en-US" sz="2000" dirty="0" err="1"/>
              <a:t>제법발명</a:t>
            </a:r>
            <a:r>
              <a:rPr lang="en-US" altLang="ko-KR" sz="2000" dirty="0"/>
              <a:t>(</a:t>
            </a:r>
            <a:r>
              <a:rPr lang="ko-KR" altLang="en-US" sz="2000" dirty="0"/>
              <a:t>方</a:t>
            </a:r>
            <a:r>
              <a:rPr lang="en-US" altLang="ko-KR" sz="2000" dirty="0"/>
              <a:t>)</a:t>
            </a:r>
            <a:endParaRPr lang="ko-KR" altLang="en-US" sz="2000" dirty="0"/>
          </a:p>
        </p:txBody>
      </p:sp>
      <p:sp>
        <p:nvSpPr>
          <p:cNvPr id="138" name="타원 137"/>
          <p:cNvSpPr/>
          <p:nvPr/>
        </p:nvSpPr>
        <p:spPr>
          <a:xfrm>
            <a:off x="7418747" y="5020827"/>
            <a:ext cx="460354" cy="460354"/>
          </a:xfrm>
          <a:prstGeom prst="ellipse">
            <a:avLst/>
          </a:prstGeom>
          <a:solidFill>
            <a:srgbClr val="FF0000"/>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bg1"/>
                </a:solidFill>
              </a:rPr>
              <a:t>物</a:t>
            </a:r>
          </a:p>
        </p:txBody>
      </p:sp>
      <p:sp>
        <p:nvSpPr>
          <p:cNvPr id="139" name="타원 138"/>
          <p:cNvSpPr/>
          <p:nvPr/>
        </p:nvSpPr>
        <p:spPr>
          <a:xfrm>
            <a:off x="6613740" y="4463828"/>
            <a:ext cx="460354" cy="460354"/>
          </a:xfrm>
          <a:prstGeom prst="ellipse">
            <a:avLst/>
          </a:prstGeom>
          <a:solidFill>
            <a:schemeClr val="bg1"/>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solidFill>
              </a:rPr>
              <a:t>方</a:t>
            </a:r>
            <a:r>
              <a:rPr lang="en-US" altLang="ko-KR" sz="1400" dirty="0">
                <a:solidFill>
                  <a:schemeClr val="tx1"/>
                </a:solidFill>
              </a:rPr>
              <a:t>1</a:t>
            </a:r>
            <a:endParaRPr lang="ko-KR" altLang="en-US" sz="1400" dirty="0">
              <a:solidFill>
                <a:schemeClr val="tx1"/>
              </a:solidFill>
            </a:endParaRPr>
          </a:p>
        </p:txBody>
      </p:sp>
      <p:sp>
        <p:nvSpPr>
          <p:cNvPr id="140" name="타원 139"/>
          <p:cNvSpPr/>
          <p:nvPr/>
        </p:nvSpPr>
        <p:spPr>
          <a:xfrm>
            <a:off x="6534609" y="5437221"/>
            <a:ext cx="460354" cy="460354"/>
          </a:xfrm>
          <a:prstGeom prst="ellipse">
            <a:avLst/>
          </a:prstGeom>
          <a:solidFill>
            <a:schemeClr val="bg1"/>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solidFill>
              </a:rPr>
              <a:t>方</a:t>
            </a:r>
            <a:r>
              <a:rPr lang="en-US" altLang="ko-KR" sz="1400" dirty="0">
                <a:solidFill>
                  <a:schemeClr val="tx1"/>
                </a:solidFill>
              </a:rPr>
              <a:t>2</a:t>
            </a:r>
            <a:endParaRPr lang="ko-KR" altLang="en-US" sz="1400" dirty="0">
              <a:solidFill>
                <a:schemeClr val="tx1"/>
              </a:solidFill>
            </a:endParaRPr>
          </a:p>
        </p:txBody>
      </p:sp>
      <p:sp>
        <p:nvSpPr>
          <p:cNvPr id="141" name="타원 140"/>
          <p:cNvSpPr/>
          <p:nvPr/>
        </p:nvSpPr>
        <p:spPr>
          <a:xfrm>
            <a:off x="7613756" y="5859799"/>
            <a:ext cx="460354" cy="460354"/>
          </a:xfrm>
          <a:prstGeom prst="ellipse">
            <a:avLst/>
          </a:prstGeom>
          <a:solidFill>
            <a:schemeClr val="bg1"/>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solidFill>
              </a:rPr>
              <a:t>方</a:t>
            </a:r>
            <a:r>
              <a:rPr lang="en-US" altLang="ko-KR" sz="1400" dirty="0">
                <a:solidFill>
                  <a:schemeClr val="tx1"/>
                </a:solidFill>
              </a:rPr>
              <a:t>3</a:t>
            </a:r>
            <a:endParaRPr lang="ko-KR" altLang="en-US" sz="1400" dirty="0">
              <a:solidFill>
                <a:schemeClr val="tx1"/>
              </a:solidFill>
            </a:endParaRPr>
          </a:p>
        </p:txBody>
      </p:sp>
      <p:sp>
        <p:nvSpPr>
          <p:cNvPr id="142" name="타원 141"/>
          <p:cNvSpPr/>
          <p:nvPr/>
        </p:nvSpPr>
        <p:spPr>
          <a:xfrm>
            <a:off x="8343518" y="5207044"/>
            <a:ext cx="460354" cy="460354"/>
          </a:xfrm>
          <a:prstGeom prst="ellipse">
            <a:avLst/>
          </a:prstGeom>
          <a:solidFill>
            <a:schemeClr val="bg1"/>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solidFill>
              </a:rPr>
              <a:t>方</a:t>
            </a:r>
            <a:r>
              <a:rPr lang="en-US" altLang="ko-KR" sz="1400" dirty="0">
                <a:solidFill>
                  <a:schemeClr val="tx1"/>
                </a:solidFill>
              </a:rPr>
              <a:t>4</a:t>
            </a:r>
            <a:endParaRPr lang="ko-KR" altLang="en-US" sz="1400" dirty="0">
              <a:solidFill>
                <a:schemeClr val="tx1"/>
              </a:solidFill>
            </a:endParaRPr>
          </a:p>
        </p:txBody>
      </p:sp>
      <p:sp>
        <p:nvSpPr>
          <p:cNvPr id="143" name="타원 142"/>
          <p:cNvSpPr/>
          <p:nvPr/>
        </p:nvSpPr>
        <p:spPr>
          <a:xfrm>
            <a:off x="7739160" y="4233651"/>
            <a:ext cx="460354" cy="460354"/>
          </a:xfrm>
          <a:prstGeom prst="ellipse">
            <a:avLst/>
          </a:prstGeom>
          <a:solidFill>
            <a:schemeClr val="bg1"/>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solidFill>
              </a:rPr>
              <a:t>方</a:t>
            </a:r>
            <a:r>
              <a:rPr lang="en-US" altLang="ko-KR" sz="1400" dirty="0">
                <a:solidFill>
                  <a:schemeClr val="tx1"/>
                </a:solidFill>
              </a:rPr>
              <a:t>5</a:t>
            </a:r>
            <a:endParaRPr lang="ko-KR" altLang="en-US" sz="1400" dirty="0">
              <a:solidFill>
                <a:schemeClr val="tx1"/>
              </a:solidFill>
            </a:endParaRPr>
          </a:p>
        </p:txBody>
      </p:sp>
      <p:sp>
        <p:nvSpPr>
          <p:cNvPr id="146" name="타원 145"/>
          <p:cNvSpPr/>
          <p:nvPr/>
        </p:nvSpPr>
        <p:spPr>
          <a:xfrm>
            <a:off x="10538674" y="5020827"/>
            <a:ext cx="460354" cy="460354"/>
          </a:xfrm>
          <a:prstGeom prst="ellipse">
            <a:avLst/>
          </a:prstGeom>
          <a:solidFill>
            <a:schemeClr val="bg1"/>
          </a:solidFill>
          <a:ln w="28575">
            <a:solidFill>
              <a:schemeClr val="accent2"/>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solidFill>
              </a:rPr>
              <a:t>物</a:t>
            </a:r>
          </a:p>
        </p:txBody>
      </p:sp>
      <p:sp>
        <p:nvSpPr>
          <p:cNvPr id="147" name="타원 146"/>
          <p:cNvSpPr/>
          <p:nvPr/>
        </p:nvSpPr>
        <p:spPr>
          <a:xfrm>
            <a:off x="9733667" y="4463828"/>
            <a:ext cx="460354" cy="460354"/>
          </a:xfrm>
          <a:prstGeom prst="ellipse">
            <a:avLst/>
          </a:prstGeom>
          <a:solidFill>
            <a:schemeClr val="bg1"/>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solidFill>
              </a:rPr>
              <a:t>方</a:t>
            </a:r>
            <a:r>
              <a:rPr lang="en-US" altLang="ko-KR" sz="1400" dirty="0">
                <a:solidFill>
                  <a:schemeClr val="tx1"/>
                </a:solidFill>
              </a:rPr>
              <a:t>1</a:t>
            </a:r>
            <a:endParaRPr lang="ko-KR" altLang="en-US" sz="1400" dirty="0">
              <a:solidFill>
                <a:schemeClr val="tx1"/>
              </a:solidFill>
            </a:endParaRPr>
          </a:p>
        </p:txBody>
      </p:sp>
      <p:sp>
        <p:nvSpPr>
          <p:cNvPr id="148" name="타원 147"/>
          <p:cNvSpPr/>
          <p:nvPr/>
        </p:nvSpPr>
        <p:spPr>
          <a:xfrm>
            <a:off x="9654536" y="5437221"/>
            <a:ext cx="460354" cy="460354"/>
          </a:xfrm>
          <a:prstGeom prst="ellipse">
            <a:avLst/>
          </a:prstGeom>
          <a:solidFill>
            <a:schemeClr val="bg1"/>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solidFill>
              </a:rPr>
              <a:t>方</a:t>
            </a:r>
            <a:r>
              <a:rPr lang="en-US" altLang="ko-KR" sz="1400" dirty="0">
                <a:solidFill>
                  <a:schemeClr val="tx1"/>
                </a:solidFill>
              </a:rPr>
              <a:t>2</a:t>
            </a:r>
            <a:endParaRPr lang="ko-KR" altLang="en-US" sz="1400" dirty="0">
              <a:solidFill>
                <a:schemeClr val="tx1"/>
              </a:solidFill>
            </a:endParaRPr>
          </a:p>
        </p:txBody>
      </p:sp>
      <p:sp>
        <p:nvSpPr>
          <p:cNvPr id="149" name="타원 148"/>
          <p:cNvSpPr/>
          <p:nvPr/>
        </p:nvSpPr>
        <p:spPr>
          <a:xfrm>
            <a:off x="10733683" y="5921343"/>
            <a:ext cx="460354" cy="460354"/>
          </a:xfrm>
          <a:prstGeom prst="ellipse">
            <a:avLst/>
          </a:prstGeom>
          <a:solidFill>
            <a:schemeClr val="accent2"/>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bg1"/>
                </a:solidFill>
              </a:rPr>
              <a:t>方</a:t>
            </a:r>
            <a:r>
              <a:rPr lang="en-US" altLang="ko-KR" sz="1400" dirty="0">
                <a:solidFill>
                  <a:schemeClr val="bg1"/>
                </a:solidFill>
              </a:rPr>
              <a:t>3</a:t>
            </a:r>
            <a:endParaRPr lang="ko-KR" altLang="en-US" sz="1400" dirty="0">
              <a:solidFill>
                <a:schemeClr val="bg1"/>
              </a:solidFill>
            </a:endParaRPr>
          </a:p>
        </p:txBody>
      </p:sp>
      <p:sp>
        <p:nvSpPr>
          <p:cNvPr id="150" name="타원 149"/>
          <p:cNvSpPr/>
          <p:nvPr/>
        </p:nvSpPr>
        <p:spPr>
          <a:xfrm>
            <a:off x="11463445" y="5207044"/>
            <a:ext cx="460354" cy="460354"/>
          </a:xfrm>
          <a:prstGeom prst="ellipse">
            <a:avLst/>
          </a:prstGeom>
          <a:solidFill>
            <a:schemeClr val="bg1"/>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solidFill>
              </a:rPr>
              <a:t>方</a:t>
            </a:r>
            <a:r>
              <a:rPr lang="en-US" altLang="ko-KR" sz="1400" dirty="0">
                <a:solidFill>
                  <a:schemeClr val="tx1"/>
                </a:solidFill>
              </a:rPr>
              <a:t>4</a:t>
            </a:r>
            <a:endParaRPr lang="ko-KR" altLang="en-US" sz="1400" dirty="0">
              <a:solidFill>
                <a:schemeClr val="tx1"/>
              </a:solidFill>
            </a:endParaRPr>
          </a:p>
        </p:txBody>
      </p:sp>
      <p:sp>
        <p:nvSpPr>
          <p:cNvPr id="151" name="타원 150"/>
          <p:cNvSpPr/>
          <p:nvPr/>
        </p:nvSpPr>
        <p:spPr>
          <a:xfrm>
            <a:off x="10859087" y="4233651"/>
            <a:ext cx="460354" cy="460354"/>
          </a:xfrm>
          <a:prstGeom prst="ellipse">
            <a:avLst/>
          </a:prstGeom>
          <a:solidFill>
            <a:schemeClr val="bg1"/>
          </a:solidFill>
          <a:ln w="285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solidFill>
              </a:rPr>
              <a:t>方</a:t>
            </a:r>
            <a:r>
              <a:rPr lang="en-US" altLang="ko-KR" sz="1400" dirty="0">
                <a:solidFill>
                  <a:schemeClr val="tx1"/>
                </a:solidFill>
              </a:rPr>
              <a:t>5</a:t>
            </a:r>
            <a:endParaRPr lang="ko-KR" altLang="en-US" sz="1400" dirty="0">
              <a:solidFill>
                <a:schemeClr val="tx1"/>
              </a:solidFill>
            </a:endParaRPr>
          </a:p>
        </p:txBody>
      </p:sp>
      <p:cxnSp>
        <p:nvCxnSpPr>
          <p:cNvPr id="39" name="직선 연결선 38"/>
          <p:cNvCxnSpPr>
            <a:stCxn id="149" idx="0"/>
            <a:endCxn id="146" idx="4"/>
          </p:cNvCxnSpPr>
          <p:nvPr/>
        </p:nvCxnSpPr>
        <p:spPr>
          <a:xfrm flipH="1" flipV="1">
            <a:off x="10768851" y="5481181"/>
            <a:ext cx="195009" cy="440162"/>
          </a:xfrm>
          <a:prstGeom prst="line">
            <a:avLst/>
          </a:prstGeom>
          <a:ln w="28575">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2" name="직선 연결선 151"/>
          <p:cNvCxnSpPr/>
          <p:nvPr/>
        </p:nvCxnSpPr>
        <p:spPr>
          <a:xfrm>
            <a:off x="9244863" y="4609406"/>
            <a:ext cx="1" cy="1467563"/>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3" name="Line 5"/>
          <p:cNvSpPr>
            <a:spLocks noChangeShapeType="1"/>
          </p:cNvSpPr>
          <p:nvPr/>
        </p:nvSpPr>
        <p:spPr bwMode="auto">
          <a:xfrm>
            <a:off x="147237" y="5776054"/>
            <a:ext cx="2684935" cy="0"/>
          </a:xfrm>
          <a:prstGeom prst="line">
            <a:avLst/>
          </a:prstGeom>
          <a:noFill/>
          <a:ln w="57150">
            <a:solidFill>
              <a:schemeClr val="bg1">
                <a:lumMod val="50000"/>
              </a:schemeClr>
            </a:solidFill>
            <a:round/>
            <a:headEnd/>
            <a:tailEnd type="stealth" w="med" len="med"/>
          </a:ln>
        </p:spPr>
        <p:txBody>
          <a:bodyPr/>
          <a:lstStyle/>
          <a:p>
            <a:endParaRPr lang="ko-KR" altLang="en-US" sz="1200">
              <a:latin typeface="+mn-ea"/>
            </a:endParaRPr>
          </a:p>
        </p:txBody>
      </p:sp>
      <p:sp>
        <p:nvSpPr>
          <p:cNvPr id="104" name="타원 103"/>
          <p:cNvSpPr/>
          <p:nvPr/>
        </p:nvSpPr>
        <p:spPr>
          <a:xfrm>
            <a:off x="461468" y="5666810"/>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110" name="직선 연결선 109"/>
          <p:cNvCxnSpPr>
            <a:stCxn id="121" idx="2"/>
            <a:endCxn id="104" idx="0"/>
          </p:cNvCxnSpPr>
          <p:nvPr/>
        </p:nvCxnSpPr>
        <p:spPr>
          <a:xfrm flipH="1">
            <a:off x="538837" y="5506145"/>
            <a:ext cx="6269" cy="160665"/>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11" name="TextBox 110"/>
          <p:cNvSpPr txBox="1"/>
          <p:nvPr/>
        </p:nvSpPr>
        <p:spPr>
          <a:xfrm>
            <a:off x="147238" y="4829966"/>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物</a:t>
            </a:r>
          </a:p>
        </p:txBody>
      </p:sp>
      <p:sp>
        <p:nvSpPr>
          <p:cNvPr id="112" name="TextBox 111"/>
          <p:cNvSpPr txBox="1"/>
          <p:nvPr/>
        </p:nvSpPr>
        <p:spPr>
          <a:xfrm>
            <a:off x="147238" y="5043403"/>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物</a:t>
            </a:r>
            <a:r>
              <a:rPr lang="en-US" altLang="ko-KR" sz="1200" dirty="0"/>
              <a:t>, </a:t>
            </a:r>
            <a:r>
              <a:rPr lang="ko-KR" altLang="en-US" sz="1200" dirty="0"/>
              <a:t>方</a:t>
            </a:r>
          </a:p>
        </p:txBody>
      </p:sp>
      <p:sp>
        <p:nvSpPr>
          <p:cNvPr id="121" name="TextBox 120"/>
          <p:cNvSpPr txBox="1"/>
          <p:nvPr/>
        </p:nvSpPr>
        <p:spPr>
          <a:xfrm>
            <a:off x="147237" y="5293845"/>
            <a:ext cx="795738" cy="212300"/>
          </a:xfrm>
          <a:prstGeom prst="rect">
            <a:avLst/>
          </a:prstGeom>
          <a:solidFill>
            <a:schemeClr val="bg1">
              <a:lumMod val="95000"/>
            </a:schemeClr>
          </a:solidFill>
          <a:ln>
            <a:solidFill>
              <a:schemeClr val="bg1">
                <a:lumMod val="50000"/>
              </a:schemeClr>
            </a:solidFill>
          </a:ln>
        </p:spPr>
        <p:txBody>
          <a:bodyPr wrap="square" rtlCol="0" anchor="ctr">
            <a:noAutofit/>
          </a:bodyPr>
          <a:lstStyle/>
          <a:p>
            <a:pPr algn="ctr"/>
            <a:r>
              <a:rPr lang="ko-KR" altLang="en-US" sz="1200" dirty="0"/>
              <a:t>物 출원</a:t>
            </a:r>
            <a:endParaRPr lang="ko-KR" altLang="en-US" sz="1100" dirty="0"/>
          </a:p>
        </p:txBody>
      </p:sp>
      <p:sp>
        <p:nvSpPr>
          <p:cNvPr id="127" name="TextBox 126"/>
          <p:cNvSpPr txBox="1"/>
          <p:nvPr/>
        </p:nvSpPr>
        <p:spPr>
          <a:xfrm>
            <a:off x="1488141" y="5293845"/>
            <a:ext cx="811564" cy="192034"/>
          </a:xfrm>
          <a:prstGeom prst="rect">
            <a:avLst/>
          </a:prstGeom>
          <a:solidFill>
            <a:schemeClr val="bg1">
              <a:lumMod val="95000"/>
            </a:schemeClr>
          </a:solidFill>
          <a:ln>
            <a:solidFill>
              <a:schemeClr val="bg1">
                <a:lumMod val="50000"/>
              </a:schemeClr>
            </a:solidFill>
          </a:ln>
        </p:spPr>
        <p:txBody>
          <a:bodyPr wrap="square" rtlCol="0" anchor="ctr">
            <a:noAutofit/>
          </a:bodyPr>
          <a:lstStyle/>
          <a:p>
            <a:pPr algn="ctr"/>
            <a:r>
              <a:rPr lang="ko-KR" altLang="en-US" sz="1200" dirty="0"/>
              <a:t>物 공개</a:t>
            </a:r>
            <a:endParaRPr lang="ko-KR" altLang="en-US" sz="1100" dirty="0"/>
          </a:p>
        </p:txBody>
      </p:sp>
      <p:sp>
        <p:nvSpPr>
          <p:cNvPr id="128" name="타원 127"/>
          <p:cNvSpPr/>
          <p:nvPr/>
        </p:nvSpPr>
        <p:spPr>
          <a:xfrm>
            <a:off x="1816554" y="5666810"/>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129" name="직선 연결선 128"/>
          <p:cNvCxnSpPr>
            <a:stCxn id="127" idx="2"/>
            <a:endCxn id="128" idx="0"/>
          </p:cNvCxnSpPr>
          <p:nvPr/>
        </p:nvCxnSpPr>
        <p:spPr>
          <a:xfrm>
            <a:off x="1893923" y="5485879"/>
            <a:ext cx="0" cy="180931"/>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0" name="타원 129"/>
          <p:cNvSpPr/>
          <p:nvPr/>
        </p:nvSpPr>
        <p:spPr>
          <a:xfrm>
            <a:off x="1069969" y="5684655"/>
            <a:ext cx="154738" cy="16133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131" name="직선 연결선 130"/>
          <p:cNvCxnSpPr>
            <a:endCxn id="130" idx="4"/>
          </p:cNvCxnSpPr>
          <p:nvPr/>
        </p:nvCxnSpPr>
        <p:spPr>
          <a:xfrm flipV="1">
            <a:off x="1147338" y="5845993"/>
            <a:ext cx="0" cy="371134"/>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2" name="TextBox 131"/>
          <p:cNvSpPr txBox="1"/>
          <p:nvPr/>
        </p:nvSpPr>
        <p:spPr>
          <a:xfrm>
            <a:off x="755739" y="6296787"/>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方</a:t>
            </a:r>
            <a:r>
              <a:rPr lang="en-US" altLang="ko-KR" sz="1200" dirty="0"/>
              <a:t>1</a:t>
            </a:r>
            <a:endParaRPr lang="ko-KR" altLang="en-US" sz="1200" dirty="0"/>
          </a:p>
        </p:txBody>
      </p:sp>
      <p:sp>
        <p:nvSpPr>
          <p:cNvPr id="133" name="TextBox 132"/>
          <p:cNvSpPr txBox="1"/>
          <p:nvPr/>
        </p:nvSpPr>
        <p:spPr>
          <a:xfrm>
            <a:off x="755739" y="6510224"/>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方</a:t>
            </a:r>
            <a:r>
              <a:rPr lang="en-US" altLang="ko-KR" sz="1200" dirty="0"/>
              <a:t>1, </a:t>
            </a:r>
            <a:r>
              <a:rPr lang="ko-KR" altLang="en-US" sz="1200" dirty="0"/>
              <a:t>物</a:t>
            </a:r>
          </a:p>
        </p:txBody>
      </p:sp>
      <p:sp>
        <p:nvSpPr>
          <p:cNvPr id="134" name="TextBox 133"/>
          <p:cNvSpPr txBox="1"/>
          <p:nvPr/>
        </p:nvSpPr>
        <p:spPr>
          <a:xfrm>
            <a:off x="749469" y="6026644"/>
            <a:ext cx="795738" cy="212300"/>
          </a:xfrm>
          <a:prstGeom prst="rect">
            <a:avLst/>
          </a:prstGeom>
          <a:solidFill>
            <a:schemeClr val="accent4">
              <a:lumMod val="20000"/>
              <a:lumOff val="80000"/>
            </a:schemeClr>
          </a:solidFill>
          <a:ln>
            <a:solidFill>
              <a:schemeClr val="bg1">
                <a:lumMod val="50000"/>
              </a:schemeClr>
            </a:solidFill>
          </a:ln>
        </p:spPr>
        <p:txBody>
          <a:bodyPr wrap="square" rtlCol="0" anchor="ctr">
            <a:noAutofit/>
          </a:bodyPr>
          <a:lstStyle/>
          <a:p>
            <a:pPr algn="ctr"/>
            <a:r>
              <a:rPr lang="ko-KR" altLang="en-US" sz="1200" dirty="0"/>
              <a:t>方</a:t>
            </a:r>
            <a:r>
              <a:rPr lang="en-US" altLang="ko-KR" sz="1200" dirty="0"/>
              <a:t>1</a:t>
            </a:r>
            <a:r>
              <a:rPr lang="ko-KR" altLang="en-US" sz="1200" dirty="0"/>
              <a:t> 출원</a:t>
            </a:r>
            <a:endParaRPr lang="ko-KR" altLang="en-US" sz="1100" dirty="0"/>
          </a:p>
        </p:txBody>
      </p:sp>
      <p:sp>
        <p:nvSpPr>
          <p:cNvPr id="135" name="타원 134"/>
          <p:cNvSpPr/>
          <p:nvPr/>
        </p:nvSpPr>
        <p:spPr>
          <a:xfrm>
            <a:off x="2222336" y="5684655"/>
            <a:ext cx="154738" cy="16133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136" name="직선 연결선 135"/>
          <p:cNvCxnSpPr>
            <a:endCxn id="135" idx="4"/>
          </p:cNvCxnSpPr>
          <p:nvPr/>
        </p:nvCxnSpPr>
        <p:spPr>
          <a:xfrm flipV="1">
            <a:off x="2299705" y="5845993"/>
            <a:ext cx="0" cy="371134"/>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37" name="TextBox 136"/>
          <p:cNvSpPr txBox="1"/>
          <p:nvPr/>
        </p:nvSpPr>
        <p:spPr>
          <a:xfrm>
            <a:off x="1908106" y="6296787"/>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方</a:t>
            </a:r>
            <a:r>
              <a:rPr lang="en-US" altLang="ko-KR" sz="1200" dirty="0"/>
              <a:t>1</a:t>
            </a:r>
            <a:endParaRPr lang="ko-KR" altLang="en-US" sz="1200" dirty="0"/>
          </a:p>
        </p:txBody>
      </p:sp>
      <p:sp>
        <p:nvSpPr>
          <p:cNvPr id="145" name="TextBox 144"/>
          <p:cNvSpPr txBox="1"/>
          <p:nvPr/>
        </p:nvSpPr>
        <p:spPr>
          <a:xfrm>
            <a:off x="1908106" y="6510224"/>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方</a:t>
            </a:r>
            <a:r>
              <a:rPr lang="en-US" altLang="ko-KR" sz="1200" dirty="0"/>
              <a:t>1, </a:t>
            </a:r>
            <a:r>
              <a:rPr lang="ko-KR" altLang="en-US" sz="1200" dirty="0"/>
              <a:t>物</a:t>
            </a:r>
          </a:p>
        </p:txBody>
      </p:sp>
      <p:sp>
        <p:nvSpPr>
          <p:cNvPr id="153" name="TextBox 152"/>
          <p:cNvSpPr txBox="1"/>
          <p:nvPr/>
        </p:nvSpPr>
        <p:spPr>
          <a:xfrm>
            <a:off x="1901836" y="6026644"/>
            <a:ext cx="795738" cy="212300"/>
          </a:xfrm>
          <a:prstGeom prst="rect">
            <a:avLst/>
          </a:prstGeom>
          <a:solidFill>
            <a:schemeClr val="accent4">
              <a:lumMod val="20000"/>
              <a:lumOff val="80000"/>
            </a:schemeClr>
          </a:solidFill>
          <a:ln>
            <a:solidFill>
              <a:schemeClr val="bg1">
                <a:lumMod val="50000"/>
              </a:schemeClr>
            </a:solidFill>
          </a:ln>
        </p:spPr>
        <p:txBody>
          <a:bodyPr wrap="square" rtlCol="0" anchor="ctr">
            <a:noAutofit/>
          </a:bodyPr>
          <a:lstStyle/>
          <a:p>
            <a:pPr algn="ctr"/>
            <a:r>
              <a:rPr lang="ko-KR" altLang="en-US" sz="1200" dirty="0"/>
              <a:t>方</a:t>
            </a:r>
            <a:r>
              <a:rPr lang="en-US" altLang="ko-KR" sz="1200" dirty="0"/>
              <a:t>1</a:t>
            </a:r>
            <a:r>
              <a:rPr lang="ko-KR" altLang="en-US" sz="1200" dirty="0"/>
              <a:t> 출원</a:t>
            </a:r>
            <a:endParaRPr lang="ko-KR" altLang="en-US" sz="1100" dirty="0"/>
          </a:p>
        </p:txBody>
      </p:sp>
      <p:sp>
        <p:nvSpPr>
          <p:cNvPr id="154" name="Line 5"/>
          <p:cNvSpPr>
            <a:spLocks noChangeShapeType="1"/>
          </p:cNvSpPr>
          <p:nvPr/>
        </p:nvSpPr>
        <p:spPr bwMode="auto">
          <a:xfrm>
            <a:off x="3293888" y="5776054"/>
            <a:ext cx="2684935" cy="0"/>
          </a:xfrm>
          <a:prstGeom prst="line">
            <a:avLst/>
          </a:prstGeom>
          <a:noFill/>
          <a:ln w="57150">
            <a:solidFill>
              <a:schemeClr val="bg1">
                <a:lumMod val="50000"/>
              </a:schemeClr>
            </a:solidFill>
            <a:round/>
            <a:headEnd/>
            <a:tailEnd type="stealth" w="med" len="med"/>
          </a:ln>
        </p:spPr>
        <p:txBody>
          <a:bodyPr/>
          <a:lstStyle/>
          <a:p>
            <a:endParaRPr lang="ko-KR" altLang="en-US" sz="1200">
              <a:latin typeface="+mn-ea"/>
            </a:endParaRPr>
          </a:p>
        </p:txBody>
      </p:sp>
      <p:sp>
        <p:nvSpPr>
          <p:cNvPr id="155" name="타원 154"/>
          <p:cNvSpPr/>
          <p:nvPr/>
        </p:nvSpPr>
        <p:spPr>
          <a:xfrm>
            <a:off x="4255819" y="5666810"/>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156" name="직선 연결선 155"/>
          <p:cNvCxnSpPr>
            <a:stCxn id="159" idx="2"/>
            <a:endCxn id="155" idx="0"/>
          </p:cNvCxnSpPr>
          <p:nvPr/>
        </p:nvCxnSpPr>
        <p:spPr>
          <a:xfrm flipH="1">
            <a:off x="4333188" y="5506145"/>
            <a:ext cx="6269" cy="160665"/>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57" name="TextBox 156"/>
          <p:cNvSpPr txBox="1"/>
          <p:nvPr/>
        </p:nvSpPr>
        <p:spPr>
          <a:xfrm>
            <a:off x="3941589" y="4829966"/>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物</a:t>
            </a:r>
          </a:p>
        </p:txBody>
      </p:sp>
      <p:sp>
        <p:nvSpPr>
          <p:cNvPr id="158" name="TextBox 157"/>
          <p:cNvSpPr txBox="1"/>
          <p:nvPr/>
        </p:nvSpPr>
        <p:spPr>
          <a:xfrm>
            <a:off x="3941589" y="5043403"/>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物</a:t>
            </a:r>
            <a:r>
              <a:rPr lang="en-US" altLang="ko-KR" sz="1200" dirty="0"/>
              <a:t>, </a:t>
            </a:r>
            <a:r>
              <a:rPr lang="ko-KR" altLang="en-US" sz="1200" dirty="0"/>
              <a:t>方</a:t>
            </a:r>
          </a:p>
        </p:txBody>
      </p:sp>
      <p:sp>
        <p:nvSpPr>
          <p:cNvPr id="159" name="TextBox 158"/>
          <p:cNvSpPr txBox="1"/>
          <p:nvPr/>
        </p:nvSpPr>
        <p:spPr>
          <a:xfrm>
            <a:off x="3941588" y="5293845"/>
            <a:ext cx="795738" cy="212300"/>
          </a:xfrm>
          <a:prstGeom prst="rect">
            <a:avLst/>
          </a:prstGeom>
          <a:solidFill>
            <a:schemeClr val="bg1">
              <a:lumMod val="95000"/>
            </a:schemeClr>
          </a:solidFill>
          <a:ln>
            <a:solidFill>
              <a:schemeClr val="bg1">
                <a:lumMod val="50000"/>
              </a:schemeClr>
            </a:solidFill>
          </a:ln>
        </p:spPr>
        <p:txBody>
          <a:bodyPr wrap="square" rtlCol="0" anchor="ctr">
            <a:noAutofit/>
          </a:bodyPr>
          <a:lstStyle/>
          <a:p>
            <a:pPr algn="ctr"/>
            <a:r>
              <a:rPr lang="ko-KR" altLang="en-US" sz="1200" dirty="0"/>
              <a:t>物 출원</a:t>
            </a:r>
            <a:endParaRPr lang="ko-KR" altLang="en-US" sz="1100" dirty="0"/>
          </a:p>
        </p:txBody>
      </p:sp>
      <p:sp>
        <p:nvSpPr>
          <p:cNvPr id="160" name="타원 159"/>
          <p:cNvSpPr/>
          <p:nvPr/>
        </p:nvSpPr>
        <p:spPr>
          <a:xfrm>
            <a:off x="3721320" y="5684655"/>
            <a:ext cx="154738" cy="16133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161" name="직선 연결선 160"/>
          <p:cNvCxnSpPr>
            <a:endCxn id="160" idx="4"/>
          </p:cNvCxnSpPr>
          <p:nvPr/>
        </p:nvCxnSpPr>
        <p:spPr>
          <a:xfrm flipV="1">
            <a:off x="3798689" y="5845993"/>
            <a:ext cx="0" cy="371134"/>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2" name="TextBox 161"/>
          <p:cNvSpPr txBox="1"/>
          <p:nvPr/>
        </p:nvSpPr>
        <p:spPr>
          <a:xfrm>
            <a:off x="3407090" y="6296787"/>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方</a:t>
            </a:r>
            <a:r>
              <a:rPr lang="en-US" altLang="ko-KR" sz="1200" dirty="0"/>
              <a:t>1</a:t>
            </a:r>
            <a:endParaRPr lang="ko-KR" altLang="en-US" sz="1200" dirty="0"/>
          </a:p>
        </p:txBody>
      </p:sp>
      <p:sp>
        <p:nvSpPr>
          <p:cNvPr id="163" name="TextBox 162"/>
          <p:cNvSpPr txBox="1"/>
          <p:nvPr/>
        </p:nvSpPr>
        <p:spPr>
          <a:xfrm>
            <a:off x="3407090" y="6510224"/>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方</a:t>
            </a:r>
            <a:r>
              <a:rPr lang="en-US" altLang="ko-KR" sz="1200" dirty="0"/>
              <a:t>1, </a:t>
            </a:r>
            <a:r>
              <a:rPr lang="ko-KR" altLang="en-US" sz="1200" dirty="0"/>
              <a:t>物</a:t>
            </a:r>
          </a:p>
        </p:txBody>
      </p:sp>
      <p:sp>
        <p:nvSpPr>
          <p:cNvPr id="164" name="TextBox 163"/>
          <p:cNvSpPr txBox="1"/>
          <p:nvPr/>
        </p:nvSpPr>
        <p:spPr>
          <a:xfrm>
            <a:off x="3400820" y="6026644"/>
            <a:ext cx="795738" cy="212300"/>
          </a:xfrm>
          <a:prstGeom prst="rect">
            <a:avLst/>
          </a:prstGeom>
          <a:solidFill>
            <a:schemeClr val="accent4">
              <a:lumMod val="20000"/>
              <a:lumOff val="80000"/>
            </a:schemeClr>
          </a:solidFill>
          <a:ln>
            <a:solidFill>
              <a:schemeClr val="bg1">
                <a:lumMod val="50000"/>
              </a:schemeClr>
            </a:solidFill>
          </a:ln>
        </p:spPr>
        <p:txBody>
          <a:bodyPr wrap="square" rtlCol="0" anchor="ctr">
            <a:noAutofit/>
          </a:bodyPr>
          <a:lstStyle/>
          <a:p>
            <a:pPr algn="ctr"/>
            <a:r>
              <a:rPr lang="ko-KR" altLang="en-US" sz="1200" dirty="0"/>
              <a:t>方</a:t>
            </a:r>
            <a:r>
              <a:rPr lang="en-US" altLang="ko-KR" sz="1200" dirty="0"/>
              <a:t>1</a:t>
            </a:r>
            <a:r>
              <a:rPr lang="ko-KR" altLang="en-US" sz="1200" dirty="0"/>
              <a:t> 출원</a:t>
            </a:r>
            <a:endParaRPr lang="ko-KR" altLang="en-US" sz="1100" dirty="0"/>
          </a:p>
        </p:txBody>
      </p:sp>
      <p:sp>
        <p:nvSpPr>
          <p:cNvPr id="165" name="타원 164"/>
          <p:cNvSpPr/>
          <p:nvPr/>
        </p:nvSpPr>
        <p:spPr>
          <a:xfrm>
            <a:off x="4873687" y="5684655"/>
            <a:ext cx="154738" cy="161338"/>
          </a:xfrm>
          <a:prstGeom prst="ellipse">
            <a:avLst/>
          </a:prstGeom>
          <a:solidFill>
            <a:schemeClr val="accent4"/>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166" name="직선 연결선 165"/>
          <p:cNvCxnSpPr>
            <a:endCxn id="165" idx="4"/>
          </p:cNvCxnSpPr>
          <p:nvPr/>
        </p:nvCxnSpPr>
        <p:spPr>
          <a:xfrm flipV="1">
            <a:off x="4951056" y="5845993"/>
            <a:ext cx="0" cy="371134"/>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67" name="TextBox 166"/>
          <p:cNvSpPr txBox="1"/>
          <p:nvPr/>
        </p:nvSpPr>
        <p:spPr>
          <a:xfrm>
            <a:off x="4553187" y="6026644"/>
            <a:ext cx="795738" cy="212300"/>
          </a:xfrm>
          <a:prstGeom prst="rect">
            <a:avLst/>
          </a:prstGeom>
          <a:solidFill>
            <a:schemeClr val="accent4">
              <a:lumMod val="20000"/>
              <a:lumOff val="80000"/>
            </a:schemeClr>
          </a:solidFill>
          <a:ln>
            <a:solidFill>
              <a:schemeClr val="bg1">
                <a:lumMod val="50000"/>
              </a:schemeClr>
            </a:solidFill>
          </a:ln>
        </p:spPr>
        <p:txBody>
          <a:bodyPr wrap="square" rtlCol="0" anchor="ctr">
            <a:noAutofit/>
          </a:bodyPr>
          <a:lstStyle/>
          <a:p>
            <a:pPr algn="ctr"/>
            <a:r>
              <a:rPr lang="ko-KR" altLang="en-US" sz="1200" dirty="0"/>
              <a:t>方</a:t>
            </a:r>
            <a:r>
              <a:rPr lang="en-US" altLang="ko-KR" sz="1200" dirty="0"/>
              <a:t>1</a:t>
            </a:r>
            <a:r>
              <a:rPr lang="ko-KR" altLang="en-US" sz="1200" dirty="0"/>
              <a:t> 공개</a:t>
            </a:r>
            <a:endParaRPr lang="ko-KR" altLang="en-US" sz="1100" dirty="0"/>
          </a:p>
        </p:txBody>
      </p:sp>
      <p:sp>
        <p:nvSpPr>
          <p:cNvPr id="168" name="타원 167"/>
          <p:cNvSpPr/>
          <p:nvPr/>
        </p:nvSpPr>
        <p:spPr>
          <a:xfrm>
            <a:off x="5342655" y="5666810"/>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169" name="직선 연결선 168"/>
          <p:cNvCxnSpPr>
            <a:stCxn id="172" idx="2"/>
            <a:endCxn id="168" idx="0"/>
          </p:cNvCxnSpPr>
          <p:nvPr/>
        </p:nvCxnSpPr>
        <p:spPr>
          <a:xfrm flipH="1">
            <a:off x="5420024" y="5506145"/>
            <a:ext cx="6269" cy="160665"/>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70" name="TextBox 169"/>
          <p:cNvSpPr txBox="1"/>
          <p:nvPr/>
        </p:nvSpPr>
        <p:spPr>
          <a:xfrm>
            <a:off x="5028425" y="4829966"/>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物</a:t>
            </a:r>
          </a:p>
        </p:txBody>
      </p:sp>
      <p:sp>
        <p:nvSpPr>
          <p:cNvPr id="171" name="TextBox 170"/>
          <p:cNvSpPr txBox="1"/>
          <p:nvPr/>
        </p:nvSpPr>
        <p:spPr>
          <a:xfrm>
            <a:off x="5028425" y="5043403"/>
            <a:ext cx="795738" cy="213436"/>
          </a:xfrm>
          <a:prstGeom prst="rect">
            <a:avLst/>
          </a:prstGeom>
          <a:noFill/>
          <a:ln>
            <a:solidFill>
              <a:schemeClr val="bg1">
                <a:lumMod val="50000"/>
              </a:schemeClr>
            </a:solidFill>
          </a:ln>
        </p:spPr>
        <p:txBody>
          <a:bodyPr wrap="square" rtlCol="0" anchor="ctr">
            <a:noAutofit/>
          </a:bodyPr>
          <a:lstStyle/>
          <a:p>
            <a:pPr algn="ctr"/>
            <a:r>
              <a:rPr lang="ko-KR" altLang="en-US" sz="1200" dirty="0"/>
              <a:t>物</a:t>
            </a:r>
            <a:r>
              <a:rPr lang="en-US" altLang="ko-KR" sz="1200" dirty="0"/>
              <a:t>, </a:t>
            </a:r>
            <a:r>
              <a:rPr lang="ko-KR" altLang="en-US" sz="1200" dirty="0"/>
              <a:t>方</a:t>
            </a:r>
          </a:p>
        </p:txBody>
      </p:sp>
      <p:sp>
        <p:nvSpPr>
          <p:cNvPr id="172" name="TextBox 171"/>
          <p:cNvSpPr txBox="1"/>
          <p:nvPr/>
        </p:nvSpPr>
        <p:spPr>
          <a:xfrm>
            <a:off x="5028424" y="5293845"/>
            <a:ext cx="795738" cy="212300"/>
          </a:xfrm>
          <a:prstGeom prst="rect">
            <a:avLst/>
          </a:prstGeom>
          <a:solidFill>
            <a:schemeClr val="bg1">
              <a:lumMod val="95000"/>
            </a:schemeClr>
          </a:solidFill>
          <a:ln>
            <a:solidFill>
              <a:schemeClr val="bg1">
                <a:lumMod val="50000"/>
              </a:schemeClr>
            </a:solidFill>
          </a:ln>
        </p:spPr>
        <p:txBody>
          <a:bodyPr wrap="square" rtlCol="0" anchor="ctr">
            <a:noAutofit/>
          </a:bodyPr>
          <a:lstStyle/>
          <a:p>
            <a:pPr algn="ctr"/>
            <a:r>
              <a:rPr lang="ko-KR" altLang="en-US" sz="1200" dirty="0"/>
              <a:t>物 출원</a:t>
            </a:r>
            <a:endParaRPr lang="ko-KR" altLang="en-US" sz="1100" dirty="0"/>
          </a:p>
        </p:txBody>
      </p:sp>
      <p:cxnSp>
        <p:nvCxnSpPr>
          <p:cNvPr id="173" name="직선 연결선 172"/>
          <p:cNvCxnSpPr/>
          <p:nvPr/>
        </p:nvCxnSpPr>
        <p:spPr>
          <a:xfrm>
            <a:off x="3037810" y="5039064"/>
            <a:ext cx="1" cy="1467563"/>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28</a:t>
            </a:fld>
            <a:endParaRPr lang="ko-KR" altLang="en-US"/>
          </a:p>
        </p:txBody>
      </p:sp>
      <p:sp>
        <p:nvSpPr>
          <p:cNvPr id="174" name="Rectangle 1">
            <a:extLst>
              <a:ext uri="{FF2B5EF4-FFF2-40B4-BE49-F238E27FC236}">
                <a16:creationId xmlns:a16="http://schemas.microsoft.com/office/drawing/2014/main" id="{C3F46F2E-2436-481D-BE7B-6B172B782107}"/>
              </a:ext>
            </a:extLst>
          </p:cNvPr>
          <p:cNvSpPr>
            <a:spLocks noChangeArrowheads="1"/>
          </p:cNvSpPr>
          <p:nvPr/>
        </p:nvSpPr>
        <p:spPr bwMode="auto">
          <a:xfrm>
            <a:off x="7357603" y="2479299"/>
            <a:ext cx="2835719" cy="461665"/>
          </a:xfrm>
          <a:prstGeom prst="rect">
            <a:avLst/>
          </a:prstGeom>
          <a:solidFill>
            <a:schemeClr val="bg1">
              <a:lumMod val="85000"/>
            </a:schemeClr>
          </a:solidFill>
          <a:ln w="9525">
            <a:solidFill>
              <a:schemeClr val="tx1"/>
            </a:solid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1" lang="ko-KR" altLang="en-US" sz="1200" b="0" i="0" u="none" strike="noStrike" cap="none" normalizeH="0" baseline="0" dirty="0">
                <a:ln>
                  <a:noFill/>
                </a:ln>
                <a:solidFill>
                  <a:srgbClr val="444444"/>
                </a:solidFill>
                <a:effectLst/>
                <a:latin typeface="+mn-ea"/>
                <a:cs typeface="굴림" pitchFamily="50" charset="-127"/>
              </a:rPr>
              <a:t>그 방법의 사용을 청약하는 행위 </a:t>
            </a:r>
            <a:r>
              <a:rPr kumimoji="1" lang="en-US" altLang="ko-KR" sz="1200" b="0" i="0" u="none" strike="noStrike" cap="none" normalizeH="0" dirty="0">
                <a:ln>
                  <a:noFill/>
                </a:ln>
                <a:solidFill>
                  <a:srgbClr val="FF0000"/>
                </a:solidFill>
                <a:effectLst/>
                <a:latin typeface="+mn-ea"/>
                <a:cs typeface="굴림" pitchFamily="50" charset="-127"/>
              </a:rPr>
              <a:t>(</a:t>
            </a:r>
            <a:r>
              <a:rPr kumimoji="1" lang="ko-KR" altLang="en-US" sz="1200" b="0" i="0" u="none" strike="noStrike" cap="none" normalizeH="0" dirty="0">
                <a:ln>
                  <a:noFill/>
                </a:ln>
                <a:solidFill>
                  <a:srgbClr val="FF0000"/>
                </a:solidFill>
                <a:effectLst/>
                <a:latin typeface="+mn-ea"/>
                <a:cs typeface="굴림" pitchFamily="50" charset="-127"/>
              </a:rPr>
              <a:t>물건생산의 청약</a:t>
            </a:r>
            <a:r>
              <a:rPr kumimoji="1" lang="en-US" altLang="ko-KR" sz="1200" b="0" i="0" u="none" strike="noStrike" cap="none" normalizeH="0" dirty="0">
                <a:ln>
                  <a:noFill/>
                </a:ln>
                <a:solidFill>
                  <a:srgbClr val="FF0000"/>
                </a:solidFill>
                <a:effectLst/>
                <a:latin typeface="+mn-ea"/>
                <a:cs typeface="굴림" pitchFamily="50" charset="-127"/>
              </a:rPr>
              <a:t>)*</a:t>
            </a:r>
            <a:endParaRPr kumimoji="1" lang="ko-KR" sz="1200" b="0" i="0" u="none" strike="noStrike" cap="none" normalizeH="0" baseline="0" dirty="0">
              <a:ln>
                <a:noFill/>
              </a:ln>
              <a:solidFill>
                <a:srgbClr val="FF0000"/>
              </a:solidFill>
              <a:effectLst/>
              <a:latin typeface="+mn-ea"/>
              <a:cs typeface="굴림" pitchFamily="50" charset="-127"/>
            </a:endParaRPr>
          </a:p>
        </p:txBody>
      </p:sp>
      <p:sp>
        <p:nvSpPr>
          <p:cNvPr id="8" name="TextBox 7">
            <a:extLst>
              <a:ext uri="{FF2B5EF4-FFF2-40B4-BE49-F238E27FC236}">
                <a16:creationId xmlns:a16="http://schemas.microsoft.com/office/drawing/2014/main" id="{94673451-6943-4924-9A45-EB5473B5EDAE}"/>
              </a:ext>
            </a:extLst>
          </p:cNvPr>
          <p:cNvSpPr txBox="1"/>
          <p:nvPr/>
        </p:nvSpPr>
        <p:spPr>
          <a:xfrm>
            <a:off x="6455121" y="6506627"/>
            <a:ext cx="5397631" cy="276999"/>
          </a:xfrm>
          <a:prstGeom prst="rect">
            <a:avLst/>
          </a:prstGeom>
          <a:noFill/>
        </p:spPr>
        <p:txBody>
          <a:bodyPr wrap="none" rtlCol="0">
            <a:spAutoFit/>
          </a:bodyPr>
          <a:lstStyle/>
          <a:p>
            <a:r>
              <a:rPr lang="en-US" altLang="ko-KR" sz="1200" dirty="0">
                <a:solidFill>
                  <a:srgbClr val="FF0000"/>
                </a:solidFill>
              </a:rPr>
              <a:t>* </a:t>
            </a:r>
            <a:r>
              <a:rPr lang="ko-KR" altLang="en-US" sz="1200" dirty="0">
                <a:solidFill>
                  <a:srgbClr val="FF0000"/>
                </a:solidFill>
              </a:rPr>
              <a:t>물건생산의 청약은 물건발명의 실시</a:t>
            </a:r>
            <a:r>
              <a:rPr lang="en-US" altLang="ko-KR" sz="1200" dirty="0">
                <a:solidFill>
                  <a:srgbClr val="FF0000"/>
                </a:solidFill>
              </a:rPr>
              <a:t>(</a:t>
            </a:r>
            <a:r>
              <a:rPr lang="ko-KR" altLang="en-US" sz="1200" dirty="0">
                <a:solidFill>
                  <a:srgbClr val="FF0000"/>
                </a:solidFill>
              </a:rPr>
              <a:t>물건발명에 대한 특허권 침해</a:t>
            </a:r>
            <a:r>
              <a:rPr lang="en-US" altLang="ko-KR" sz="1200" dirty="0">
                <a:solidFill>
                  <a:srgbClr val="FF0000"/>
                </a:solidFill>
              </a:rPr>
              <a:t>)</a:t>
            </a:r>
            <a:r>
              <a:rPr lang="ko-KR" altLang="en-US" sz="1200" dirty="0">
                <a:solidFill>
                  <a:srgbClr val="FF0000"/>
                </a:solidFill>
              </a:rPr>
              <a:t>에 해당하지 않음</a:t>
            </a:r>
          </a:p>
        </p:txBody>
      </p:sp>
    </p:spTree>
    <p:extLst>
      <p:ext uri="{BB962C8B-B14F-4D97-AF65-F5344CB8AC3E}">
        <p14:creationId xmlns:p14="http://schemas.microsoft.com/office/powerpoint/2010/main" val="411552511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3</a:t>
            </a:r>
            <a:r>
              <a:rPr lang="ko-KR" altLang="en-US" dirty="0"/>
              <a:t>조</a:t>
            </a:r>
            <a:r>
              <a:rPr lang="en-US" altLang="ko-KR" dirty="0"/>
              <a:t>~</a:t>
            </a:r>
            <a:r>
              <a:rPr lang="ko-KR" altLang="en-US" dirty="0"/>
              <a:t>제</a:t>
            </a:r>
            <a:r>
              <a:rPr lang="en-US" altLang="ko-KR" dirty="0"/>
              <a:t>5</a:t>
            </a:r>
            <a:r>
              <a:rPr lang="ko-KR" altLang="en-US" dirty="0"/>
              <a:t>조</a:t>
            </a:r>
          </a:p>
        </p:txBody>
      </p:sp>
      <p:sp>
        <p:nvSpPr>
          <p:cNvPr id="4" name="텍스트 개체 틀 3"/>
          <p:cNvSpPr>
            <a:spLocks noGrp="1"/>
          </p:cNvSpPr>
          <p:nvPr>
            <p:ph type="body" sz="quarter" idx="13"/>
          </p:nvPr>
        </p:nvSpPr>
        <p:spPr/>
        <p:txBody>
          <a:bodyPr/>
          <a:lstStyle/>
          <a:p>
            <a:r>
              <a:rPr lang="ko-KR" altLang="en-US" dirty="0">
                <a:solidFill>
                  <a:srgbClr val="525252"/>
                </a:solidFill>
              </a:rPr>
              <a:t>권리능력과 행위능력의 구별</a:t>
            </a:r>
          </a:p>
        </p:txBody>
      </p:sp>
      <p:sp>
        <p:nvSpPr>
          <p:cNvPr id="5" name="슬라이드 번호 개체 틀 4"/>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29</a:t>
            </a:fld>
            <a:endParaRPr lang="ko-KR" altLang="en-US"/>
          </a:p>
        </p:txBody>
      </p:sp>
      <p:sp>
        <p:nvSpPr>
          <p:cNvPr id="43" name="직사각형 42">
            <a:extLst>
              <a:ext uri="{FF2B5EF4-FFF2-40B4-BE49-F238E27FC236}">
                <a16:creationId xmlns:a16="http://schemas.microsoft.com/office/drawing/2014/main" id="{59474AFA-5BE4-4450-AFD3-602569C2423A}"/>
              </a:ext>
            </a:extLst>
          </p:cNvPr>
          <p:cNvSpPr/>
          <p:nvPr/>
        </p:nvSpPr>
        <p:spPr>
          <a:xfrm>
            <a:off x="650472" y="1603668"/>
            <a:ext cx="1198094" cy="51402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a:solidFill>
                  <a:schemeClr val="tx1"/>
                </a:solidFill>
              </a:rPr>
              <a:t>권리능력</a:t>
            </a:r>
            <a:endParaRPr lang="ko-KR" altLang="en-US" sz="1200" dirty="0">
              <a:solidFill>
                <a:schemeClr val="tx1"/>
              </a:solidFill>
            </a:endParaRPr>
          </a:p>
        </p:txBody>
      </p:sp>
      <p:sp>
        <p:nvSpPr>
          <p:cNvPr id="44" name="직사각형 43">
            <a:extLst>
              <a:ext uri="{FF2B5EF4-FFF2-40B4-BE49-F238E27FC236}">
                <a16:creationId xmlns:a16="http://schemas.microsoft.com/office/drawing/2014/main" id="{C894FF43-2909-4208-8FF5-F49B053D96F5}"/>
              </a:ext>
            </a:extLst>
          </p:cNvPr>
          <p:cNvSpPr/>
          <p:nvPr/>
        </p:nvSpPr>
        <p:spPr>
          <a:xfrm>
            <a:off x="650472" y="3956374"/>
            <a:ext cx="1198094" cy="514026"/>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행위능력</a:t>
            </a:r>
            <a:endParaRPr lang="en-US" altLang="ko-KR" sz="1200" dirty="0">
              <a:solidFill>
                <a:schemeClr val="tx1"/>
              </a:solidFill>
            </a:endParaRPr>
          </a:p>
          <a:p>
            <a:pPr algn="ctr"/>
            <a:r>
              <a:rPr lang="en-US" altLang="ko-KR" sz="1200" dirty="0">
                <a:solidFill>
                  <a:srgbClr val="FF0000"/>
                </a:solidFill>
              </a:rPr>
              <a:t>(</a:t>
            </a:r>
            <a:r>
              <a:rPr lang="ko-KR" altLang="en-US" sz="1200" dirty="0">
                <a:solidFill>
                  <a:srgbClr val="FF0000"/>
                </a:solidFill>
              </a:rPr>
              <a:t>내외국인 불문</a:t>
            </a:r>
            <a:r>
              <a:rPr lang="en-US" altLang="ko-KR" sz="1200" dirty="0">
                <a:solidFill>
                  <a:srgbClr val="FF0000"/>
                </a:solidFill>
              </a:rPr>
              <a:t>)</a:t>
            </a:r>
            <a:endParaRPr lang="ko-KR" altLang="en-US" sz="1200" dirty="0">
              <a:solidFill>
                <a:srgbClr val="FF0000"/>
              </a:solidFill>
            </a:endParaRPr>
          </a:p>
        </p:txBody>
      </p:sp>
      <p:sp>
        <p:nvSpPr>
          <p:cNvPr id="45" name="직사각형 44">
            <a:extLst>
              <a:ext uri="{FF2B5EF4-FFF2-40B4-BE49-F238E27FC236}">
                <a16:creationId xmlns:a16="http://schemas.microsoft.com/office/drawing/2014/main" id="{A8939333-F968-44BA-AB07-C9C5D7728B2B}"/>
              </a:ext>
            </a:extLst>
          </p:cNvPr>
          <p:cNvSpPr/>
          <p:nvPr/>
        </p:nvSpPr>
        <p:spPr>
          <a:xfrm>
            <a:off x="2103879" y="1154296"/>
            <a:ext cx="1198094" cy="51402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내국인</a:t>
            </a:r>
            <a:endParaRPr lang="en-US" altLang="ko-KR" sz="1200" dirty="0">
              <a:solidFill>
                <a:schemeClr val="tx1"/>
              </a:solidFill>
            </a:endParaRPr>
          </a:p>
          <a:p>
            <a:pPr algn="ctr"/>
            <a:r>
              <a:rPr lang="en-US" altLang="ko-KR" sz="1200" dirty="0">
                <a:solidFill>
                  <a:srgbClr val="FF0000"/>
                </a:solidFill>
              </a:rPr>
              <a:t>(</a:t>
            </a:r>
            <a:r>
              <a:rPr lang="ko-KR" altLang="en-US" sz="1200" dirty="0" err="1">
                <a:solidFill>
                  <a:srgbClr val="FF0000"/>
                </a:solidFill>
              </a:rPr>
              <a:t>재내외자불문</a:t>
            </a:r>
            <a:r>
              <a:rPr lang="en-US" altLang="ko-KR" sz="1200" dirty="0">
                <a:solidFill>
                  <a:srgbClr val="FF0000"/>
                </a:solidFill>
              </a:rPr>
              <a:t>)</a:t>
            </a:r>
            <a:endParaRPr lang="ko-KR" altLang="en-US" sz="1200" dirty="0">
              <a:solidFill>
                <a:srgbClr val="FF0000"/>
              </a:solidFill>
            </a:endParaRPr>
          </a:p>
        </p:txBody>
      </p:sp>
      <p:sp>
        <p:nvSpPr>
          <p:cNvPr id="48" name="직사각형 47">
            <a:extLst>
              <a:ext uri="{FF2B5EF4-FFF2-40B4-BE49-F238E27FC236}">
                <a16:creationId xmlns:a16="http://schemas.microsoft.com/office/drawing/2014/main" id="{34E370D8-15F8-435E-A873-29C16D7899B9}"/>
              </a:ext>
            </a:extLst>
          </p:cNvPr>
          <p:cNvSpPr/>
          <p:nvPr/>
        </p:nvSpPr>
        <p:spPr>
          <a:xfrm>
            <a:off x="2103879" y="1793407"/>
            <a:ext cx="1198094" cy="51402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외국인</a:t>
            </a:r>
          </a:p>
        </p:txBody>
      </p:sp>
      <p:sp>
        <p:nvSpPr>
          <p:cNvPr id="49" name="직사각형 48">
            <a:extLst>
              <a:ext uri="{FF2B5EF4-FFF2-40B4-BE49-F238E27FC236}">
                <a16:creationId xmlns:a16="http://schemas.microsoft.com/office/drawing/2014/main" id="{6110A970-EC3C-40EE-8076-D8266282F59E}"/>
              </a:ext>
            </a:extLst>
          </p:cNvPr>
          <p:cNvSpPr/>
          <p:nvPr/>
        </p:nvSpPr>
        <p:spPr>
          <a:xfrm>
            <a:off x="3546068" y="1792613"/>
            <a:ext cx="600424" cy="514026"/>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재내자</a:t>
            </a:r>
            <a:endParaRPr lang="ko-KR" altLang="en-US" sz="1200" dirty="0">
              <a:solidFill>
                <a:schemeClr val="tx1"/>
              </a:solidFill>
            </a:endParaRPr>
          </a:p>
        </p:txBody>
      </p:sp>
      <p:sp>
        <p:nvSpPr>
          <p:cNvPr id="51" name="직사각형 50">
            <a:extLst>
              <a:ext uri="{FF2B5EF4-FFF2-40B4-BE49-F238E27FC236}">
                <a16:creationId xmlns:a16="http://schemas.microsoft.com/office/drawing/2014/main" id="{716D23FC-9A2D-4835-9154-788E5339BFF9}"/>
              </a:ext>
            </a:extLst>
          </p:cNvPr>
          <p:cNvSpPr/>
          <p:nvPr/>
        </p:nvSpPr>
        <p:spPr>
          <a:xfrm>
            <a:off x="3546068" y="2437486"/>
            <a:ext cx="600424" cy="569179"/>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재외자</a:t>
            </a:r>
            <a:endParaRPr lang="ko-KR" altLang="en-US" sz="1200" dirty="0">
              <a:solidFill>
                <a:schemeClr val="tx1"/>
              </a:solidFill>
            </a:endParaRPr>
          </a:p>
        </p:txBody>
      </p:sp>
      <p:sp>
        <p:nvSpPr>
          <p:cNvPr id="52" name="직사각형 51">
            <a:extLst>
              <a:ext uri="{FF2B5EF4-FFF2-40B4-BE49-F238E27FC236}">
                <a16:creationId xmlns:a16="http://schemas.microsoft.com/office/drawing/2014/main" id="{DD275BFC-BE17-4ECD-A3BE-21F43FEFDBF2}"/>
              </a:ext>
            </a:extLst>
          </p:cNvPr>
          <p:cNvSpPr/>
          <p:nvPr/>
        </p:nvSpPr>
        <p:spPr>
          <a:xfrm>
            <a:off x="3546068" y="3237524"/>
            <a:ext cx="600424" cy="718249"/>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재내자</a:t>
            </a:r>
            <a:endParaRPr lang="ko-KR" altLang="en-US" sz="1200" dirty="0">
              <a:solidFill>
                <a:schemeClr val="tx1"/>
              </a:solidFill>
            </a:endParaRPr>
          </a:p>
        </p:txBody>
      </p:sp>
      <p:sp>
        <p:nvSpPr>
          <p:cNvPr id="53" name="직사각형 52">
            <a:extLst>
              <a:ext uri="{FF2B5EF4-FFF2-40B4-BE49-F238E27FC236}">
                <a16:creationId xmlns:a16="http://schemas.microsoft.com/office/drawing/2014/main" id="{8E040932-1E52-4603-A2FE-9988EFCB556E}"/>
              </a:ext>
            </a:extLst>
          </p:cNvPr>
          <p:cNvSpPr/>
          <p:nvPr/>
        </p:nvSpPr>
        <p:spPr>
          <a:xfrm>
            <a:off x="3546068" y="5706229"/>
            <a:ext cx="600424" cy="514026"/>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재외자</a:t>
            </a:r>
            <a:endParaRPr lang="ko-KR" altLang="en-US" sz="1200" dirty="0">
              <a:solidFill>
                <a:schemeClr val="tx1"/>
              </a:solidFill>
            </a:endParaRPr>
          </a:p>
        </p:txBody>
      </p:sp>
      <p:sp>
        <p:nvSpPr>
          <p:cNvPr id="11" name="직사각형 10">
            <a:extLst>
              <a:ext uri="{FF2B5EF4-FFF2-40B4-BE49-F238E27FC236}">
                <a16:creationId xmlns:a16="http://schemas.microsoft.com/office/drawing/2014/main" id="{BB4D91F7-4FCD-4A4A-863D-3406BBED99D0}"/>
              </a:ext>
            </a:extLst>
          </p:cNvPr>
          <p:cNvSpPr/>
          <p:nvPr/>
        </p:nvSpPr>
        <p:spPr>
          <a:xfrm>
            <a:off x="5389650" y="1261043"/>
            <a:ext cx="6470388" cy="282513"/>
          </a:xfrm>
          <a:prstGeom prst="rect">
            <a:avLst/>
          </a:prstGeom>
          <a:ln>
            <a:solidFill>
              <a:schemeClr val="bg1">
                <a:lumMod val="65000"/>
              </a:schemeClr>
            </a:solidFill>
          </a:ln>
        </p:spPr>
        <p:txBody>
          <a:bodyPr wrap="square">
            <a:spAutoFit/>
          </a:bodyPr>
          <a:lstStyle/>
          <a:p>
            <a:pPr marL="17780" marR="17780" algn="just" fontAlgn="base">
              <a:lnSpc>
                <a:spcPct val="120000"/>
              </a:lnSpc>
            </a:pPr>
            <a:r>
              <a:rPr lang="ko-KR" altLang="en-US" sz="1100" dirty="0"/>
              <a:t>자연인과 법인에 대하여 권리능력 인정</a:t>
            </a:r>
          </a:p>
        </p:txBody>
      </p:sp>
      <p:sp>
        <p:nvSpPr>
          <p:cNvPr id="12" name="직사각형 11">
            <a:extLst>
              <a:ext uri="{FF2B5EF4-FFF2-40B4-BE49-F238E27FC236}">
                <a16:creationId xmlns:a16="http://schemas.microsoft.com/office/drawing/2014/main" id="{560C2957-76E8-45C0-B592-C3B85F07EA10}"/>
              </a:ext>
            </a:extLst>
          </p:cNvPr>
          <p:cNvSpPr/>
          <p:nvPr/>
        </p:nvSpPr>
        <p:spPr>
          <a:xfrm>
            <a:off x="5389650" y="1912839"/>
            <a:ext cx="6470388" cy="261610"/>
          </a:xfrm>
          <a:prstGeom prst="rect">
            <a:avLst/>
          </a:prstGeom>
          <a:ln>
            <a:solidFill>
              <a:schemeClr val="bg1">
                <a:lumMod val="65000"/>
              </a:schemeClr>
            </a:solidFill>
          </a:ln>
        </p:spPr>
        <p:txBody>
          <a:bodyPr wrap="square">
            <a:spAutoFit/>
          </a:bodyPr>
          <a:lstStyle/>
          <a:p>
            <a:r>
              <a:rPr lang="ko-KR" altLang="en-US" sz="1100" dirty="0"/>
              <a:t>권리능력 인정</a:t>
            </a:r>
            <a:r>
              <a:rPr lang="en-US" altLang="ko-KR" sz="1100" dirty="0"/>
              <a:t>(</a:t>
            </a:r>
            <a:r>
              <a:rPr lang="ko-KR" altLang="en-US" sz="1100" dirty="0"/>
              <a:t>法 </a:t>
            </a:r>
            <a:r>
              <a:rPr lang="en-US" altLang="ko-KR" sz="1100" dirty="0"/>
              <a:t>25</a:t>
            </a:r>
            <a:r>
              <a:rPr lang="ko-KR" altLang="en-US" sz="1100" dirty="0"/>
              <a:t>본문의 반대해석</a:t>
            </a:r>
            <a:r>
              <a:rPr lang="en-US" altLang="ko-KR" sz="1100" dirty="0"/>
              <a:t>)</a:t>
            </a:r>
            <a:endParaRPr lang="ko-KR" altLang="en-US" sz="1100" dirty="0"/>
          </a:p>
        </p:txBody>
      </p:sp>
      <p:sp>
        <p:nvSpPr>
          <p:cNvPr id="13" name="직사각형 12">
            <a:extLst>
              <a:ext uri="{FF2B5EF4-FFF2-40B4-BE49-F238E27FC236}">
                <a16:creationId xmlns:a16="http://schemas.microsoft.com/office/drawing/2014/main" id="{C0D9A632-C7E2-4E37-A247-D9B9E295643D}"/>
              </a:ext>
            </a:extLst>
          </p:cNvPr>
          <p:cNvSpPr/>
          <p:nvPr/>
        </p:nvSpPr>
        <p:spPr>
          <a:xfrm>
            <a:off x="5389649" y="2738147"/>
            <a:ext cx="6470389" cy="281487"/>
          </a:xfrm>
          <a:prstGeom prst="rect">
            <a:avLst/>
          </a:prstGeom>
          <a:ln>
            <a:solidFill>
              <a:schemeClr val="bg1">
                <a:lumMod val="65000"/>
              </a:schemeClr>
            </a:solidFill>
          </a:ln>
        </p:spPr>
        <p:txBody>
          <a:bodyPr wrap="square">
            <a:spAutoFit/>
          </a:bodyPr>
          <a:lstStyle/>
          <a:p>
            <a:pPr marR="17780" indent="-161290" fontAlgn="base">
              <a:lnSpc>
                <a:spcPct val="120000"/>
              </a:lnSpc>
            </a:pPr>
            <a:r>
              <a:rPr lang="ko-KR" altLang="en-US" sz="1100" dirty="0"/>
              <a:t>권리능력 인정</a:t>
            </a:r>
            <a:r>
              <a:rPr lang="en-US" altLang="ko-KR" sz="1100" dirty="0"/>
              <a:t>(</a:t>
            </a:r>
            <a:r>
              <a:rPr lang="ko-KR" altLang="en-US" sz="1100" dirty="0"/>
              <a:t>상호주의</a:t>
            </a:r>
            <a:r>
              <a:rPr lang="en-US" altLang="ko-KR" sz="1100" dirty="0"/>
              <a:t>(</a:t>
            </a:r>
            <a:r>
              <a:rPr lang="ko-KR" altLang="en-US" sz="1100" dirty="0"/>
              <a:t>法</a:t>
            </a:r>
            <a:r>
              <a:rPr lang="en-US" altLang="ko-KR" sz="1100" dirty="0"/>
              <a:t>, 25Ⅰ,Ⅱ), </a:t>
            </a:r>
            <a:r>
              <a:rPr lang="ko-KR" altLang="en-US" sz="1100" dirty="0"/>
              <a:t>조약에 의한 경우</a:t>
            </a:r>
            <a:r>
              <a:rPr lang="en-US" altLang="ko-KR" sz="1100" dirty="0"/>
              <a:t>(</a:t>
            </a:r>
            <a:r>
              <a:rPr lang="ko-KR" altLang="en-US" sz="1100" dirty="0"/>
              <a:t>法 </a:t>
            </a:r>
            <a:r>
              <a:rPr lang="en-US" altLang="ko-KR" sz="1100" dirty="0"/>
              <a:t>25Ⅲ))</a:t>
            </a:r>
            <a:endParaRPr lang="ko-KR" altLang="en-US" sz="1100" dirty="0"/>
          </a:p>
        </p:txBody>
      </p:sp>
      <p:sp>
        <p:nvSpPr>
          <p:cNvPr id="14" name="직사각형 13">
            <a:extLst>
              <a:ext uri="{FF2B5EF4-FFF2-40B4-BE49-F238E27FC236}">
                <a16:creationId xmlns:a16="http://schemas.microsoft.com/office/drawing/2014/main" id="{BB78B16D-52DF-4D2A-83C3-635F97E7B885}"/>
              </a:ext>
            </a:extLst>
          </p:cNvPr>
          <p:cNvSpPr/>
          <p:nvPr/>
        </p:nvSpPr>
        <p:spPr>
          <a:xfrm>
            <a:off x="5389650" y="3215022"/>
            <a:ext cx="6470389" cy="282513"/>
          </a:xfrm>
          <a:prstGeom prst="rect">
            <a:avLst/>
          </a:prstGeom>
          <a:ln>
            <a:solidFill>
              <a:schemeClr val="bg1">
                <a:lumMod val="65000"/>
              </a:schemeClr>
            </a:solidFill>
          </a:ln>
        </p:spPr>
        <p:txBody>
          <a:bodyPr wrap="square">
            <a:spAutoFit/>
          </a:bodyPr>
          <a:lstStyle/>
          <a:p>
            <a:pPr marR="17780" indent="-161290" fontAlgn="base">
              <a:lnSpc>
                <a:spcPct val="120000"/>
              </a:lnSpc>
            </a:pPr>
            <a:r>
              <a:rPr lang="ko-KR" altLang="en-US" sz="1100" dirty="0"/>
              <a:t>행위능력 인정</a:t>
            </a:r>
          </a:p>
        </p:txBody>
      </p:sp>
      <p:sp>
        <p:nvSpPr>
          <p:cNvPr id="17" name="직사각형 16">
            <a:extLst>
              <a:ext uri="{FF2B5EF4-FFF2-40B4-BE49-F238E27FC236}">
                <a16:creationId xmlns:a16="http://schemas.microsoft.com/office/drawing/2014/main" id="{3E5116BE-3E85-4909-8F4E-3A83C70F956E}"/>
              </a:ext>
            </a:extLst>
          </p:cNvPr>
          <p:cNvSpPr/>
          <p:nvPr/>
        </p:nvSpPr>
        <p:spPr>
          <a:xfrm>
            <a:off x="5389650" y="5395390"/>
            <a:ext cx="6470390" cy="281487"/>
          </a:xfrm>
          <a:prstGeom prst="rect">
            <a:avLst/>
          </a:prstGeom>
          <a:ln>
            <a:solidFill>
              <a:schemeClr val="bg1">
                <a:lumMod val="65000"/>
              </a:schemeClr>
            </a:solidFill>
          </a:ln>
        </p:spPr>
        <p:txBody>
          <a:bodyPr wrap="square">
            <a:spAutoFit/>
          </a:bodyPr>
          <a:lstStyle/>
          <a:p>
            <a:pPr marR="17780" indent="-161290" fontAlgn="base">
              <a:lnSpc>
                <a:spcPct val="120000"/>
              </a:lnSpc>
            </a:pPr>
            <a:r>
              <a:rPr lang="ko-KR" altLang="en-US" sz="1100" dirty="0"/>
              <a:t>행위능력 불인정</a:t>
            </a:r>
            <a:r>
              <a:rPr lang="en-US" altLang="ko-KR" sz="1100" dirty="0"/>
              <a:t>(</a:t>
            </a:r>
            <a:r>
              <a:rPr lang="ko-KR" altLang="en-US" sz="1100" dirty="0"/>
              <a:t>法 </a:t>
            </a:r>
            <a:r>
              <a:rPr lang="en-US" altLang="ko-KR" sz="1100" dirty="0"/>
              <a:t>5</a:t>
            </a:r>
            <a:r>
              <a:rPr lang="ko-KR" altLang="en-US" sz="1100" dirty="0"/>
              <a:t>①</a:t>
            </a:r>
            <a:r>
              <a:rPr lang="en-US" altLang="ko-KR" sz="1100" dirty="0"/>
              <a:t>)(</a:t>
            </a:r>
            <a:r>
              <a:rPr lang="ko-KR" altLang="en-US" sz="1100" dirty="0"/>
              <a:t>∵절차의 원활한 진행</a:t>
            </a:r>
            <a:r>
              <a:rPr lang="en-US" altLang="ko-KR" sz="1100" dirty="0"/>
              <a:t>) </a:t>
            </a:r>
            <a:r>
              <a:rPr lang="ko-KR" altLang="en-US" sz="1100" dirty="0"/>
              <a:t>→ 특허관리인에 의한 절차 수행</a:t>
            </a:r>
            <a:r>
              <a:rPr lang="en-US" altLang="ko-KR" sz="1100" dirty="0"/>
              <a:t>(</a:t>
            </a:r>
            <a:r>
              <a:rPr lang="ko-KR" altLang="en-US" sz="1100" dirty="0"/>
              <a:t>法 </a:t>
            </a:r>
            <a:r>
              <a:rPr lang="en-US" altLang="ko-KR" sz="1100" dirty="0"/>
              <a:t>5</a:t>
            </a:r>
            <a:r>
              <a:rPr lang="ko-KR" altLang="en-US" sz="1100" dirty="0"/>
              <a:t>②</a:t>
            </a:r>
            <a:r>
              <a:rPr lang="en-US" altLang="ko-KR" sz="1100" dirty="0"/>
              <a:t>)</a:t>
            </a:r>
            <a:endParaRPr lang="ko-KR" altLang="en-US" sz="1100" dirty="0"/>
          </a:p>
        </p:txBody>
      </p:sp>
      <p:sp>
        <p:nvSpPr>
          <p:cNvPr id="55" name="직사각형 54">
            <a:extLst>
              <a:ext uri="{FF2B5EF4-FFF2-40B4-BE49-F238E27FC236}">
                <a16:creationId xmlns:a16="http://schemas.microsoft.com/office/drawing/2014/main" id="{33FE12AC-33B9-4306-AD98-E44CF76D5F10}"/>
              </a:ext>
            </a:extLst>
          </p:cNvPr>
          <p:cNvSpPr/>
          <p:nvPr/>
        </p:nvSpPr>
        <p:spPr>
          <a:xfrm>
            <a:off x="4433303" y="2437487"/>
            <a:ext cx="600424" cy="233292"/>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원칙</a:t>
            </a:r>
          </a:p>
        </p:txBody>
      </p:sp>
      <p:sp>
        <p:nvSpPr>
          <p:cNvPr id="56" name="직사각형 55">
            <a:extLst>
              <a:ext uri="{FF2B5EF4-FFF2-40B4-BE49-F238E27FC236}">
                <a16:creationId xmlns:a16="http://schemas.microsoft.com/office/drawing/2014/main" id="{8043C8E6-8FEE-4449-B302-48BE17EC3E8C}"/>
              </a:ext>
            </a:extLst>
          </p:cNvPr>
          <p:cNvSpPr/>
          <p:nvPr/>
        </p:nvSpPr>
        <p:spPr>
          <a:xfrm>
            <a:off x="4433303" y="2763486"/>
            <a:ext cx="600424" cy="233292"/>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예외</a:t>
            </a:r>
          </a:p>
        </p:txBody>
      </p:sp>
      <p:sp>
        <p:nvSpPr>
          <p:cNvPr id="57" name="직사각형 56">
            <a:extLst>
              <a:ext uri="{FF2B5EF4-FFF2-40B4-BE49-F238E27FC236}">
                <a16:creationId xmlns:a16="http://schemas.microsoft.com/office/drawing/2014/main" id="{A3B7763B-1345-4236-B430-1DFB0F704349}"/>
              </a:ext>
            </a:extLst>
          </p:cNvPr>
          <p:cNvSpPr/>
          <p:nvPr/>
        </p:nvSpPr>
        <p:spPr>
          <a:xfrm>
            <a:off x="4433303" y="3242181"/>
            <a:ext cx="600424" cy="233292"/>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원칙</a:t>
            </a:r>
          </a:p>
        </p:txBody>
      </p:sp>
      <p:sp>
        <p:nvSpPr>
          <p:cNvPr id="58" name="직사각형 57">
            <a:extLst>
              <a:ext uri="{FF2B5EF4-FFF2-40B4-BE49-F238E27FC236}">
                <a16:creationId xmlns:a16="http://schemas.microsoft.com/office/drawing/2014/main" id="{9DF90B13-D0BF-4EBD-8ED0-1D56B1D08928}"/>
              </a:ext>
            </a:extLst>
          </p:cNvPr>
          <p:cNvSpPr/>
          <p:nvPr/>
        </p:nvSpPr>
        <p:spPr>
          <a:xfrm>
            <a:off x="4433303" y="3722480"/>
            <a:ext cx="600424" cy="233292"/>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문제</a:t>
            </a:r>
          </a:p>
        </p:txBody>
      </p:sp>
      <p:sp>
        <p:nvSpPr>
          <p:cNvPr id="59" name="직사각형 58">
            <a:extLst>
              <a:ext uri="{FF2B5EF4-FFF2-40B4-BE49-F238E27FC236}">
                <a16:creationId xmlns:a16="http://schemas.microsoft.com/office/drawing/2014/main" id="{36D86BB7-BCEB-494C-B78A-D2775789575B}"/>
              </a:ext>
            </a:extLst>
          </p:cNvPr>
          <p:cNvSpPr/>
          <p:nvPr/>
        </p:nvSpPr>
        <p:spPr>
          <a:xfrm>
            <a:off x="4433303" y="5416519"/>
            <a:ext cx="600424" cy="233292"/>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원칙</a:t>
            </a:r>
          </a:p>
        </p:txBody>
      </p:sp>
      <p:sp>
        <p:nvSpPr>
          <p:cNvPr id="60" name="직사각형 59">
            <a:extLst>
              <a:ext uri="{FF2B5EF4-FFF2-40B4-BE49-F238E27FC236}">
                <a16:creationId xmlns:a16="http://schemas.microsoft.com/office/drawing/2014/main" id="{73D0ABEC-97FE-4BBF-B216-D6AF7A79D43E}"/>
              </a:ext>
            </a:extLst>
          </p:cNvPr>
          <p:cNvSpPr/>
          <p:nvPr/>
        </p:nvSpPr>
        <p:spPr>
          <a:xfrm>
            <a:off x="4433303" y="5851162"/>
            <a:ext cx="600424" cy="233292"/>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예외</a:t>
            </a:r>
          </a:p>
        </p:txBody>
      </p:sp>
      <p:sp>
        <p:nvSpPr>
          <p:cNvPr id="61" name="직사각형 60">
            <a:extLst>
              <a:ext uri="{FF2B5EF4-FFF2-40B4-BE49-F238E27FC236}">
                <a16:creationId xmlns:a16="http://schemas.microsoft.com/office/drawing/2014/main" id="{1ED6B518-245E-4BD1-AAAF-B9871973713B}"/>
              </a:ext>
            </a:extLst>
          </p:cNvPr>
          <p:cNvSpPr/>
          <p:nvPr/>
        </p:nvSpPr>
        <p:spPr>
          <a:xfrm>
            <a:off x="5389650" y="2411156"/>
            <a:ext cx="6470389" cy="282513"/>
          </a:xfrm>
          <a:prstGeom prst="rect">
            <a:avLst/>
          </a:prstGeom>
          <a:ln>
            <a:solidFill>
              <a:schemeClr val="bg1">
                <a:lumMod val="65000"/>
              </a:schemeClr>
            </a:solidFill>
          </a:ln>
        </p:spPr>
        <p:txBody>
          <a:bodyPr wrap="square">
            <a:spAutoFit/>
          </a:bodyPr>
          <a:lstStyle/>
          <a:p>
            <a:pPr marR="17780" fontAlgn="base">
              <a:lnSpc>
                <a:spcPct val="120000"/>
              </a:lnSpc>
            </a:pPr>
            <a:r>
              <a:rPr lang="ko-KR" altLang="en-US" sz="1100" dirty="0"/>
              <a:t>권리능력 불인정</a:t>
            </a:r>
          </a:p>
        </p:txBody>
      </p:sp>
      <p:sp>
        <p:nvSpPr>
          <p:cNvPr id="62" name="직사각형 61">
            <a:extLst>
              <a:ext uri="{FF2B5EF4-FFF2-40B4-BE49-F238E27FC236}">
                <a16:creationId xmlns:a16="http://schemas.microsoft.com/office/drawing/2014/main" id="{A4AE4EFD-1293-415B-9FC3-7FF33B74701B}"/>
              </a:ext>
            </a:extLst>
          </p:cNvPr>
          <p:cNvSpPr/>
          <p:nvPr/>
        </p:nvSpPr>
        <p:spPr>
          <a:xfrm>
            <a:off x="5389649" y="3600967"/>
            <a:ext cx="6470389" cy="1704441"/>
          </a:xfrm>
          <a:prstGeom prst="rect">
            <a:avLst/>
          </a:prstGeom>
          <a:ln>
            <a:solidFill>
              <a:schemeClr val="bg1">
                <a:lumMod val="65000"/>
              </a:schemeClr>
            </a:solidFill>
          </a:ln>
        </p:spPr>
        <p:txBody>
          <a:bodyPr wrap="square">
            <a:spAutoFit/>
          </a:bodyPr>
          <a:lstStyle/>
          <a:p>
            <a:pPr marR="17780" indent="-161290" fontAlgn="base">
              <a:lnSpc>
                <a:spcPct val="120000"/>
              </a:lnSpc>
            </a:pPr>
            <a:r>
              <a:rPr lang="en-US" altLang="ko-KR" sz="1100" dirty="0"/>
              <a:t>1. </a:t>
            </a:r>
            <a:r>
              <a:rPr lang="ko-KR" altLang="en-US" sz="1100" dirty="0"/>
              <a:t>제한능력자</a:t>
            </a:r>
            <a:r>
              <a:rPr lang="en-US" altLang="ko-KR" sz="1100" dirty="0"/>
              <a:t>(</a:t>
            </a:r>
            <a:r>
              <a:rPr lang="ko-KR" altLang="en-US" sz="1100" dirty="0"/>
              <a:t>法 </a:t>
            </a:r>
            <a:r>
              <a:rPr lang="en-US" altLang="ko-KR" sz="1100" dirty="0"/>
              <a:t>3</a:t>
            </a:r>
            <a:r>
              <a:rPr lang="ko-KR" altLang="en-US" sz="1100" dirty="0"/>
              <a:t>①</a:t>
            </a:r>
            <a:r>
              <a:rPr lang="en-US" altLang="ko-KR" sz="1100" dirty="0"/>
              <a:t>) </a:t>
            </a:r>
            <a:r>
              <a:rPr lang="ko-KR" altLang="en-US" sz="1100" dirty="0"/>
              <a:t>→ 행위능력 불인정</a:t>
            </a:r>
            <a:r>
              <a:rPr lang="en-US" altLang="ko-KR" sz="1100" dirty="0"/>
              <a:t>(</a:t>
            </a:r>
            <a:r>
              <a:rPr lang="ko-KR" altLang="en-US" sz="1100" dirty="0"/>
              <a:t>∵제한능력자의 보호</a:t>
            </a:r>
            <a:r>
              <a:rPr lang="en-US" altLang="ko-KR" sz="1100" dirty="0"/>
              <a:t>)</a:t>
            </a:r>
            <a:endParaRPr lang="ko-KR" altLang="en-US" sz="1100" dirty="0"/>
          </a:p>
          <a:p>
            <a:pPr marR="17780" indent="-161290" fontAlgn="base">
              <a:lnSpc>
                <a:spcPct val="120000"/>
              </a:lnSpc>
            </a:pPr>
            <a:r>
              <a:rPr lang="ko-KR" altLang="en-US" sz="1100" dirty="0"/>
              <a:t>① 법정대리인의 의한 절차</a:t>
            </a:r>
            <a:r>
              <a:rPr lang="en-US" altLang="ko-KR" sz="1100" dirty="0"/>
              <a:t>(</a:t>
            </a:r>
            <a:r>
              <a:rPr lang="ko-KR" altLang="en-US" sz="1100" dirty="0"/>
              <a:t>法 </a:t>
            </a:r>
            <a:r>
              <a:rPr lang="en-US" altLang="ko-KR" sz="1100" dirty="0"/>
              <a:t>3</a:t>
            </a:r>
            <a:r>
              <a:rPr lang="ko-KR" altLang="en-US" sz="1100" dirty="0"/>
              <a:t>②</a:t>
            </a:r>
            <a:r>
              <a:rPr lang="en-US" altLang="ko-KR" sz="1100" dirty="0"/>
              <a:t>)</a:t>
            </a:r>
            <a:endParaRPr lang="ko-KR" altLang="en-US" sz="1100" dirty="0"/>
          </a:p>
          <a:p>
            <a:pPr marR="17780" indent="-161290" fontAlgn="base">
              <a:lnSpc>
                <a:spcPct val="120000"/>
              </a:lnSpc>
            </a:pPr>
            <a:r>
              <a:rPr lang="ko-KR" altLang="en-US" sz="1100" dirty="0"/>
              <a:t>② 위반시 취급 </a:t>
            </a:r>
          </a:p>
          <a:p>
            <a:pPr marR="17780" indent="-161290" fontAlgn="base">
              <a:lnSpc>
                <a:spcPct val="120000"/>
              </a:lnSpc>
            </a:pPr>
            <a:r>
              <a:rPr lang="en-US" altLang="ko-KR" sz="1100" dirty="0"/>
              <a:t>  - </a:t>
            </a:r>
            <a:r>
              <a:rPr lang="ko-KR" altLang="en-US" sz="1100" dirty="0"/>
              <a:t>원칙 → 보정명령</a:t>
            </a:r>
            <a:r>
              <a:rPr lang="en-US" altLang="ko-KR" sz="1100" dirty="0"/>
              <a:t>(</a:t>
            </a:r>
            <a:r>
              <a:rPr lang="ko-KR" altLang="en-US" sz="1100" dirty="0"/>
              <a:t>法 </a:t>
            </a:r>
            <a:r>
              <a:rPr lang="en-US" altLang="ko-KR" sz="1100" dirty="0"/>
              <a:t>46) </a:t>
            </a:r>
            <a:r>
              <a:rPr lang="ko-KR" altLang="en-US" sz="1100" dirty="0"/>
              <a:t>후 절차의 무효</a:t>
            </a:r>
            <a:r>
              <a:rPr lang="en-US" altLang="ko-KR" sz="1100" dirty="0"/>
              <a:t>(</a:t>
            </a:r>
            <a:r>
              <a:rPr lang="ko-KR" altLang="en-US" sz="1100" dirty="0"/>
              <a:t>法 </a:t>
            </a:r>
            <a:r>
              <a:rPr lang="en-US" altLang="ko-KR" sz="1100" dirty="0"/>
              <a:t>16</a:t>
            </a:r>
            <a:r>
              <a:rPr lang="ko-KR" altLang="en-US" sz="1100" dirty="0"/>
              <a:t>①본문</a:t>
            </a:r>
            <a:r>
              <a:rPr lang="en-US" altLang="ko-KR" sz="1100" dirty="0"/>
              <a:t>)</a:t>
            </a:r>
            <a:endParaRPr lang="ko-KR" altLang="en-US" sz="1100" dirty="0"/>
          </a:p>
          <a:p>
            <a:pPr marR="17780" indent="-161290" fontAlgn="base">
              <a:lnSpc>
                <a:spcPct val="120000"/>
              </a:lnSpc>
            </a:pPr>
            <a:r>
              <a:rPr lang="en-US" altLang="ko-KR" sz="1100" dirty="0"/>
              <a:t>  - </a:t>
            </a:r>
            <a:r>
              <a:rPr lang="ko-KR" altLang="en-US" sz="1100" dirty="0"/>
              <a:t>예외 → 추인의 소급효</a:t>
            </a:r>
            <a:r>
              <a:rPr lang="en-US" altLang="ko-KR" sz="1100" dirty="0"/>
              <a:t>(</a:t>
            </a:r>
            <a:r>
              <a:rPr lang="ko-KR" altLang="en-US" sz="1100" dirty="0"/>
              <a:t>法 </a:t>
            </a:r>
            <a:r>
              <a:rPr lang="en-US" altLang="ko-KR" sz="1100" dirty="0"/>
              <a:t>7</a:t>
            </a:r>
            <a:r>
              <a:rPr lang="ko-KR" altLang="en-US" sz="1100" dirty="0"/>
              <a:t>의</a:t>
            </a:r>
            <a:r>
              <a:rPr lang="en-US" altLang="ko-KR" sz="1100" dirty="0"/>
              <a:t>2)</a:t>
            </a:r>
            <a:endParaRPr lang="ko-KR" altLang="en-US" sz="1100" dirty="0"/>
          </a:p>
          <a:p>
            <a:pPr marR="17780" indent="-161290" fontAlgn="base">
              <a:lnSpc>
                <a:spcPct val="120000"/>
              </a:lnSpc>
            </a:pPr>
            <a:r>
              <a:rPr lang="en-US" altLang="ko-KR" sz="1100" dirty="0"/>
              <a:t>2. </a:t>
            </a:r>
            <a:r>
              <a:rPr lang="ko-KR" altLang="en-US" sz="1100" dirty="0"/>
              <a:t>비법인 </a:t>
            </a:r>
            <a:r>
              <a:rPr lang="ko-KR" altLang="en-US" sz="1100" dirty="0" err="1"/>
              <a:t>사단ㆍ재단</a:t>
            </a:r>
            <a:endParaRPr lang="ko-KR" altLang="en-US" sz="1100" dirty="0"/>
          </a:p>
          <a:p>
            <a:pPr marR="17780" indent="-161290" fontAlgn="base">
              <a:lnSpc>
                <a:spcPct val="120000"/>
              </a:lnSpc>
            </a:pPr>
            <a:r>
              <a:rPr lang="ko-KR" altLang="en-US" sz="1100" dirty="0"/>
              <a:t>대표자나 관리인이 </a:t>
            </a:r>
            <a:r>
              <a:rPr lang="ko-KR" altLang="en-US" sz="1100" dirty="0" err="1"/>
              <a:t>정하여져</a:t>
            </a:r>
            <a:r>
              <a:rPr lang="ko-KR" altLang="en-US" sz="1100" dirty="0"/>
              <a:t> 있는 경우 그 </a:t>
            </a:r>
            <a:r>
              <a:rPr lang="ko-KR" altLang="en-US" sz="1100" dirty="0" err="1"/>
              <a:t>사단ㆍ재단의</a:t>
            </a:r>
            <a:r>
              <a:rPr lang="ko-KR" altLang="en-US" sz="1100" dirty="0"/>
              <a:t> 이름으로 심사청구인</a:t>
            </a:r>
            <a:r>
              <a:rPr lang="en-US" altLang="ko-KR" sz="1100" dirty="0"/>
              <a:t>, </a:t>
            </a:r>
            <a:r>
              <a:rPr lang="ko-KR" altLang="en-US" sz="1100" dirty="0"/>
              <a:t>특허취소신청인</a:t>
            </a:r>
            <a:r>
              <a:rPr lang="en-US" altLang="ko-KR" sz="1100" dirty="0"/>
              <a:t>, </a:t>
            </a:r>
            <a:r>
              <a:rPr lang="ko-KR" altLang="en-US" sz="1100" dirty="0" err="1"/>
              <a:t>심판청구인ㆍ피청구인</a:t>
            </a:r>
            <a:r>
              <a:rPr lang="en-US" altLang="ko-KR" sz="1100" dirty="0"/>
              <a:t>, </a:t>
            </a:r>
            <a:r>
              <a:rPr lang="ko-KR" altLang="en-US" sz="1100" dirty="0" err="1"/>
              <a:t>재심청구인ㆍ피청구인이</a:t>
            </a:r>
            <a:r>
              <a:rPr lang="ko-KR" altLang="en-US" sz="1100" dirty="0"/>
              <a:t> 될 수 있음</a:t>
            </a:r>
            <a:r>
              <a:rPr lang="en-US" altLang="ko-KR" sz="1100" dirty="0"/>
              <a:t>(</a:t>
            </a:r>
            <a:r>
              <a:rPr lang="ko-KR" altLang="en-US" sz="1100" dirty="0"/>
              <a:t>法 </a:t>
            </a:r>
            <a:r>
              <a:rPr lang="en-US" altLang="ko-KR" sz="1100" dirty="0"/>
              <a:t>4)</a:t>
            </a:r>
            <a:endParaRPr lang="ko-KR" altLang="en-US" sz="1100" dirty="0"/>
          </a:p>
        </p:txBody>
      </p:sp>
      <p:sp>
        <p:nvSpPr>
          <p:cNvPr id="63" name="직사각형 62">
            <a:extLst>
              <a:ext uri="{FF2B5EF4-FFF2-40B4-BE49-F238E27FC236}">
                <a16:creationId xmlns:a16="http://schemas.microsoft.com/office/drawing/2014/main" id="{1AF1A437-FA96-4435-ACD6-EC9772498C57}"/>
              </a:ext>
            </a:extLst>
          </p:cNvPr>
          <p:cNvSpPr/>
          <p:nvPr/>
        </p:nvSpPr>
        <p:spPr>
          <a:xfrm>
            <a:off x="5386812" y="6282062"/>
            <a:ext cx="6470390" cy="282513"/>
          </a:xfrm>
          <a:prstGeom prst="rect">
            <a:avLst/>
          </a:prstGeom>
          <a:ln>
            <a:solidFill>
              <a:schemeClr val="bg1">
                <a:lumMod val="65000"/>
              </a:schemeClr>
            </a:solidFill>
          </a:ln>
        </p:spPr>
        <p:txBody>
          <a:bodyPr wrap="square">
            <a:spAutoFit/>
          </a:bodyPr>
          <a:lstStyle/>
          <a:p>
            <a:pPr marR="17780" indent="-161290" fontAlgn="base">
              <a:lnSpc>
                <a:spcPct val="120000"/>
              </a:lnSpc>
            </a:pPr>
            <a:r>
              <a:rPr lang="ko-KR" altLang="en-US" sz="1100" dirty="0" err="1"/>
              <a:t>불수리</a:t>
            </a:r>
            <a:endParaRPr lang="ko-KR" altLang="en-US" sz="1100" dirty="0"/>
          </a:p>
        </p:txBody>
      </p:sp>
      <p:sp>
        <p:nvSpPr>
          <p:cNvPr id="64" name="직사각형 63">
            <a:extLst>
              <a:ext uri="{FF2B5EF4-FFF2-40B4-BE49-F238E27FC236}">
                <a16:creationId xmlns:a16="http://schemas.microsoft.com/office/drawing/2014/main" id="{6F34D9E9-05B8-4AC8-B17E-672B7A9071BE}"/>
              </a:ext>
            </a:extLst>
          </p:cNvPr>
          <p:cNvSpPr/>
          <p:nvPr/>
        </p:nvSpPr>
        <p:spPr>
          <a:xfrm>
            <a:off x="5386812" y="5723065"/>
            <a:ext cx="6470390" cy="485646"/>
          </a:xfrm>
          <a:prstGeom prst="rect">
            <a:avLst/>
          </a:prstGeom>
          <a:ln>
            <a:solidFill>
              <a:schemeClr val="bg1">
                <a:lumMod val="65000"/>
              </a:schemeClr>
            </a:solidFill>
          </a:ln>
        </p:spPr>
        <p:txBody>
          <a:bodyPr wrap="square">
            <a:spAutoFit/>
          </a:bodyPr>
          <a:lstStyle/>
          <a:p>
            <a:pPr marR="17780" indent="-161290" fontAlgn="base">
              <a:lnSpc>
                <a:spcPct val="120000"/>
              </a:lnSpc>
            </a:pPr>
            <a:r>
              <a:rPr lang="en-US" altLang="ko-KR" sz="1100" dirty="0"/>
              <a:t>1. </a:t>
            </a:r>
            <a:r>
              <a:rPr lang="ko-KR" altLang="en-US" sz="1100" dirty="0"/>
              <a:t>국내에 체류하는 경우</a:t>
            </a:r>
            <a:r>
              <a:rPr lang="en-US" altLang="ko-KR" sz="1100" dirty="0"/>
              <a:t>(</a:t>
            </a:r>
            <a:r>
              <a:rPr lang="ko-KR" altLang="en-US" sz="1100" dirty="0"/>
              <a:t>法 </a:t>
            </a:r>
            <a:r>
              <a:rPr lang="en-US" altLang="ko-KR" sz="1100" dirty="0"/>
              <a:t>5</a:t>
            </a:r>
            <a:r>
              <a:rPr lang="ko-KR" altLang="en-US" sz="1100" dirty="0"/>
              <a:t>①본문</a:t>
            </a:r>
            <a:r>
              <a:rPr lang="en-US" altLang="ko-KR" sz="1100" dirty="0"/>
              <a:t>)</a:t>
            </a:r>
            <a:endParaRPr lang="ko-KR" altLang="en-US" sz="1100" dirty="0"/>
          </a:p>
          <a:p>
            <a:pPr marR="17780" indent="-161290" fontAlgn="base">
              <a:lnSpc>
                <a:spcPct val="120000"/>
              </a:lnSpc>
            </a:pPr>
            <a:r>
              <a:rPr lang="en-US" altLang="ko-KR" sz="1100" dirty="0"/>
              <a:t>2. </a:t>
            </a:r>
            <a:r>
              <a:rPr lang="ko-KR" altLang="en-US" sz="1100" dirty="0" err="1"/>
              <a:t>국제특허출원의</a:t>
            </a:r>
            <a:r>
              <a:rPr lang="ko-KR" altLang="en-US" sz="1100" dirty="0"/>
              <a:t> 기준일 전까지</a:t>
            </a:r>
            <a:r>
              <a:rPr lang="en-US" altLang="ko-KR" sz="1100" dirty="0"/>
              <a:t>(</a:t>
            </a:r>
            <a:r>
              <a:rPr lang="ko-KR" altLang="en-US" sz="1100" dirty="0"/>
              <a:t>法 </a:t>
            </a:r>
            <a:r>
              <a:rPr lang="en-US" altLang="ko-KR" sz="1100" dirty="0"/>
              <a:t>206</a:t>
            </a:r>
            <a:r>
              <a:rPr lang="ko-KR" altLang="en-US" sz="1100" dirty="0"/>
              <a:t>①</a:t>
            </a:r>
            <a:r>
              <a:rPr lang="en-US" altLang="ko-KR" sz="1100" dirty="0"/>
              <a:t>)</a:t>
            </a:r>
            <a:endParaRPr lang="ko-KR" altLang="en-US" sz="1100" dirty="0"/>
          </a:p>
        </p:txBody>
      </p:sp>
      <p:sp>
        <p:nvSpPr>
          <p:cNvPr id="65" name="직사각형 64">
            <a:extLst>
              <a:ext uri="{FF2B5EF4-FFF2-40B4-BE49-F238E27FC236}">
                <a16:creationId xmlns:a16="http://schemas.microsoft.com/office/drawing/2014/main" id="{4AB07D19-C5F3-4769-893D-BA4EF9675706}"/>
              </a:ext>
            </a:extLst>
          </p:cNvPr>
          <p:cNvSpPr/>
          <p:nvPr/>
        </p:nvSpPr>
        <p:spPr>
          <a:xfrm>
            <a:off x="4433303" y="6306288"/>
            <a:ext cx="600424" cy="233292"/>
          </a:xfrm>
          <a:prstGeom prst="rect">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위반</a:t>
            </a:r>
          </a:p>
        </p:txBody>
      </p:sp>
      <p:cxnSp>
        <p:nvCxnSpPr>
          <p:cNvPr id="23" name="연결선: 꺾임 22">
            <a:extLst>
              <a:ext uri="{FF2B5EF4-FFF2-40B4-BE49-F238E27FC236}">
                <a16:creationId xmlns:a16="http://schemas.microsoft.com/office/drawing/2014/main" id="{68593473-303D-4716-9E42-7AEE268CFBDC}"/>
              </a:ext>
            </a:extLst>
          </p:cNvPr>
          <p:cNvCxnSpPr>
            <a:stCxn id="43" idx="3"/>
            <a:endCxn id="45" idx="1"/>
          </p:cNvCxnSpPr>
          <p:nvPr/>
        </p:nvCxnSpPr>
        <p:spPr>
          <a:xfrm flipV="1">
            <a:off x="1848566" y="1411309"/>
            <a:ext cx="255313" cy="44937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연결선: 꺾임 25">
            <a:extLst>
              <a:ext uri="{FF2B5EF4-FFF2-40B4-BE49-F238E27FC236}">
                <a16:creationId xmlns:a16="http://schemas.microsoft.com/office/drawing/2014/main" id="{F518CBAA-51B2-4DF5-A9F7-6EF077695C94}"/>
              </a:ext>
            </a:extLst>
          </p:cNvPr>
          <p:cNvCxnSpPr>
            <a:stCxn id="43" idx="3"/>
            <a:endCxn id="48" idx="1"/>
          </p:cNvCxnSpPr>
          <p:nvPr/>
        </p:nvCxnSpPr>
        <p:spPr>
          <a:xfrm>
            <a:off x="1848566" y="1860681"/>
            <a:ext cx="255313" cy="189739"/>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연결선: 꺾임 28">
            <a:extLst>
              <a:ext uri="{FF2B5EF4-FFF2-40B4-BE49-F238E27FC236}">
                <a16:creationId xmlns:a16="http://schemas.microsoft.com/office/drawing/2014/main" id="{48F3F553-7AAA-47CF-8FDF-AF0D60FA5B5E}"/>
              </a:ext>
            </a:extLst>
          </p:cNvPr>
          <p:cNvCxnSpPr>
            <a:stCxn id="48" idx="3"/>
            <a:endCxn id="49" idx="1"/>
          </p:cNvCxnSpPr>
          <p:nvPr/>
        </p:nvCxnSpPr>
        <p:spPr>
          <a:xfrm flipV="1">
            <a:off x="3301973" y="2049626"/>
            <a:ext cx="244095" cy="794"/>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3" name="연결선: 꺾임 32">
            <a:extLst>
              <a:ext uri="{FF2B5EF4-FFF2-40B4-BE49-F238E27FC236}">
                <a16:creationId xmlns:a16="http://schemas.microsoft.com/office/drawing/2014/main" id="{EEA5B97A-6D9B-4DBC-B24E-9F8CEC898C54}"/>
              </a:ext>
            </a:extLst>
          </p:cNvPr>
          <p:cNvCxnSpPr>
            <a:cxnSpLocks/>
            <a:stCxn id="48" idx="3"/>
            <a:endCxn id="51" idx="1"/>
          </p:cNvCxnSpPr>
          <p:nvPr/>
        </p:nvCxnSpPr>
        <p:spPr>
          <a:xfrm>
            <a:off x="3301973" y="2050420"/>
            <a:ext cx="244095" cy="671656"/>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7" name="연결선: 꺾임 36">
            <a:extLst>
              <a:ext uri="{FF2B5EF4-FFF2-40B4-BE49-F238E27FC236}">
                <a16:creationId xmlns:a16="http://schemas.microsoft.com/office/drawing/2014/main" id="{AB4A371C-208D-4181-8757-3D2FA108EDBD}"/>
              </a:ext>
            </a:extLst>
          </p:cNvPr>
          <p:cNvCxnSpPr>
            <a:cxnSpLocks/>
            <a:stCxn id="51" idx="3"/>
            <a:endCxn id="55" idx="1"/>
          </p:cNvCxnSpPr>
          <p:nvPr/>
        </p:nvCxnSpPr>
        <p:spPr>
          <a:xfrm flipV="1">
            <a:off x="4146492" y="2554133"/>
            <a:ext cx="286811" cy="167943"/>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9" name="연결선: 꺾임 38">
            <a:extLst>
              <a:ext uri="{FF2B5EF4-FFF2-40B4-BE49-F238E27FC236}">
                <a16:creationId xmlns:a16="http://schemas.microsoft.com/office/drawing/2014/main" id="{97F80758-561C-4674-8F1B-1524727F03CC}"/>
              </a:ext>
            </a:extLst>
          </p:cNvPr>
          <p:cNvCxnSpPr>
            <a:cxnSpLocks/>
            <a:stCxn id="51" idx="3"/>
            <a:endCxn id="56" idx="1"/>
          </p:cNvCxnSpPr>
          <p:nvPr/>
        </p:nvCxnSpPr>
        <p:spPr>
          <a:xfrm>
            <a:off x="4146492" y="2722076"/>
            <a:ext cx="286811" cy="158056"/>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7" name="연결선: 꺾임 66">
            <a:extLst>
              <a:ext uri="{FF2B5EF4-FFF2-40B4-BE49-F238E27FC236}">
                <a16:creationId xmlns:a16="http://schemas.microsoft.com/office/drawing/2014/main" id="{2AE6CFFF-0957-4105-8346-21DF43DA2287}"/>
              </a:ext>
            </a:extLst>
          </p:cNvPr>
          <p:cNvCxnSpPr>
            <a:cxnSpLocks/>
            <a:stCxn id="44" idx="3"/>
            <a:endCxn id="52" idx="1"/>
          </p:cNvCxnSpPr>
          <p:nvPr/>
        </p:nvCxnSpPr>
        <p:spPr>
          <a:xfrm flipV="1">
            <a:off x="1848566" y="3596649"/>
            <a:ext cx="1697502" cy="616738"/>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9" name="연결선: 꺾임 68">
            <a:extLst>
              <a:ext uri="{FF2B5EF4-FFF2-40B4-BE49-F238E27FC236}">
                <a16:creationId xmlns:a16="http://schemas.microsoft.com/office/drawing/2014/main" id="{88BC05BE-F9D0-4034-A595-E93FE4BD7AB2}"/>
              </a:ext>
            </a:extLst>
          </p:cNvPr>
          <p:cNvCxnSpPr>
            <a:stCxn id="44" idx="3"/>
            <a:endCxn id="53" idx="1"/>
          </p:cNvCxnSpPr>
          <p:nvPr/>
        </p:nvCxnSpPr>
        <p:spPr>
          <a:xfrm>
            <a:off x="1848566" y="4213387"/>
            <a:ext cx="1697502" cy="174985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연결선: 꺾임 70">
            <a:extLst>
              <a:ext uri="{FF2B5EF4-FFF2-40B4-BE49-F238E27FC236}">
                <a16:creationId xmlns:a16="http://schemas.microsoft.com/office/drawing/2014/main" id="{64F3BAB7-EB5E-4146-946E-1034A6AA5C09}"/>
              </a:ext>
            </a:extLst>
          </p:cNvPr>
          <p:cNvCxnSpPr>
            <a:cxnSpLocks/>
            <a:stCxn id="52" idx="3"/>
            <a:endCxn id="57" idx="1"/>
          </p:cNvCxnSpPr>
          <p:nvPr/>
        </p:nvCxnSpPr>
        <p:spPr>
          <a:xfrm flipV="1">
            <a:off x="4146492" y="3358827"/>
            <a:ext cx="286811" cy="23782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연결선: 꺾임 72">
            <a:extLst>
              <a:ext uri="{FF2B5EF4-FFF2-40B4-BE49-F238E27FC236}">
                <a16:creationId xmlns:a16="http://schemas.microsoft.com/office/drawing/2014/main" id="{4B76A0E9-C58E-4779-BE5D-A53E62DFE3C1}"/>
              </a:ext>
            </a:extLst>
          </p:cNvPr>
          <p:cNvCxnSpPr>
            <a:cxnSpLocks/>
            <a:stCxn id="52" idx="3"/>
            <a:endCxn id="58" idx="1"/>
          </p:cNvCxnSpPr>
          <p:nvPr/>
        </p:nvCxnSpPr>
        <p:spPr>
          <a:xfrm>
            <a:off x="4146492" y="3596649"/>
            <a:ext cx="286811" cy="24247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5" name="직선 연결선 74">
            <a:extLst>
              <a:ext uri="{FF2B5EF4-FFF2-40B4-BE49-F238E27FC236}">
                <a16:creationId xmlns:a16="http://schemas.microsoft.com/office/drawing/2014/main" id="{DEF8F7FB-4F95-4D2D-A579-75ABAA08A336}"/>
              </a:ext>
            </a:extLst>
          </p:cNvPr>
          <p:cNvCxnSpPr/>
          <p:nvPr/>
        </p:nvCxnSpPr>
        <p:spPr>
          <a:xfrm>
            <a:off x="144855" y="3132497"/>
            <a:ext cx="11950575" cy="0"/>
          </a:xfrm>
          <a:prstGeom prst="line">
            <a:avLst/>
          </a:prstGeom>
          <a:ln w="38100">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0" name="연결선: 꺾임 89">
            <a:extLst>
              <a:ext uri="{FF2B5EF4-FFF2-40B4-BE49-F238E27FC236}">
                <a16:creationId xmlns:a16="http://schemas.microsoft.com/office/drawing/2014/main" id="{4B170912-7305-4355-8574-20BB863FEC6F}"/>
              </a:ext>
            </a:extLst>
          </p:cNvPr>
          <p:cNvCxnSpPr>
            <a:stCxn id="53" idx="3"/>
            <a:endCxn id="59" idx="1"/>
          </p:cNvCxnSpPr>
          <p:nvPr/>
        </p:nvCxnSpPr>
        <p:spPr>
          <a:xfrm flipV="1">
            <a:off x="4146492" y="5533165"/>
            <a:ext cx="286811" cy="43007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연결선: 꺾임 92">
            <a:extLst>
              <a:ext uri="{FF2B5EF4-FFF2-40B4-BE49-F238E27FC236}">
                <a16:creationId xmlns:a16="http://schemas.microsoft.com/office/drawing/2014/main" id="{D63D5557-CA7E-48E1-B14C-06E559408B9B}"/>
              </a:ext>
            </a:extLst>
          </p:cNvPr>
          <p:cNvCxnSpPr>
            <a:stCxn id="53" idx="3"/>
            <a:endCxn id="65" idx="1"/>
          </p:cNvCxnSpPr>
          <p:nvPr/>
        </p:nvCxnSpPr>
        <p:spPr>
          <a:xfrm>
            <a:off x="4146492" y="5963242"/>
            <a:ext cx="286811" cy="45969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연결선: 꺾임 94">
            <a:extLst>
              <a:ext uri="{FF2B5EF4-FFF2-40B4-BE49-F238E27FC236}">
                <a16:creationId xmlns:a16="http://schemas.microsoft.com/office/drawing/2014/main" id="{1BD85D07-0494-4C04-B3D0-D6BAF1511C88}"/>
              </a:ext>
            </a:extLst>
          </p:cNvPr>
          <p:cNvCxnSpPr>
            <a:stCxn id="53" idx="3"/>
            <a:endCxn id="60" idx="1"/>
          </p:cNvCxnSpPr>
          <p:nvPr/>
        </p:nvCxnSpPr>
        <p:spPr>
          <a:xfrm>
            <a:off x="4146492" y="5963242"/>
            <a:ext cx="286811" cy="4566"/>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8" name="직선 연결선 97">
            <a:extLst>
              <a:ext uri="{FF2B5EF4-FFF2-40B4-BE49-F238E27FC236}">
                <a16:creationId xmlns:a16="http://schemas.microsoft.com/office/drawing/2014/main" id="{8C4C512C-16C7-4EF6-B3CA-314C45B8BFD5}"/>
              </a:ext>
            </a:extLst>
          </p:cNvPr>
          <p:cNvCxnSpPr>
            <a:stCxn id="45" idx="3"/>
            <a:endCxn id="11" idx="1"/>
          </p:cNvCxnSpPr>
          <p:nvPr/>
        </p:nvCxnSpPr>
        <p:spPr>
          <a:xfrm flipV="1">
            <a:off x="3301973" y="1402300"/>
            <a:ext cx="2087677" cy="9009"/>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7D29CD44-078A-4A88-9A41-7E940C425B57}"/>
              </a:ext>
            </a:extLst>
          </p:cNvPr>
          <p:cNvCxnSpPr>
            <a:stCxn id="49" idx="3"/>
            <a:endCxn id="12" idx="1"/>
          </p:cNvCxnSpPr>
          <p:nvPr/>
        </p:nvCxnSpPr>
        <p:spPr>
          <a:xfrm flipV="1">
            <a:off x="4146492" y="2043644"/>
            <a:ext cx="1243158" cy="5982"/>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직선 연결선 101">
            <a:extLst>
              <a:ext uri="{FF2B5EF4-FFF2-40B4-BE49-F238E27FC236}">
                <a16:creationId xmlns:a16="http://schemas.microsoft.com/office/drawing/2014/main" id="{F4BAD0CE-1A8A-417D-BA4A-70AC59B9BBCD}"/>
              </a:ext>
            </a:extLst>
          </p:cNvPr>
          <p:cNvCxnSpPr>
            <a:cxnSpLocks/>
            <a:stCxn id="55" idx="3"/>
            <a:endCxn id="61" idx="1"/>
          </p:cNvCxnSpPr>
          <p:nvPr/>
        </p:nvCxnSpPr>
        <p:spPr>
          <a:xfrm flipV="1">
            <a:off x="5033727" y="2552413"/>
            <a:ext cx="355923" cy="1720"/>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연결선: 꺾임 104">
            <a:extLst>
              <a:ext uri="{FF2B5EF4-FFF2-40B4-BE49-F238E27FC236}">
                <a16:creationId xmlns:a16="http://schemas.microsoft.com/office/drawing/2014/main" id="{999BA33D-5433-447F-B7C7-C55658D54593}"/>
              </a:ext>
            </a:extLst>
          </p:cNvPr>
          <p:cNvCxnSpPr>
            <a:stCxn id="56" idx="3"/>
            <a:endCxn id="13" idx="1"/>
          </p:cNvCxnSpPr>
          <p:nvPr/>
        </p:nvCxnSpPr>
        <p:spPr>
          <a:xfrm flipV="1">
            <a:off x="5033727" y="2878891"/>
            <a:ext cx="355922" cy="124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2" name="직선 연결선 111">
            <a:extLst>
              <a:ext uri="{FF2B5EF4-FFF2-40B4-BE49-F238E27FC236}">
                <a16:creationId xmlns:a16="http://schemas.microsoft.com/office/drawing/2014/main" id="{B6847D8A-1B39-4FE9-9B8C-75F3B9887B78}"/>
              </a:ext>
            </a:extLst>
          </p:cNvPr>
          <p:cNvCxnSpPr>
            <a:stCxn id="57" idx="3"/>
            <a:endCxn id="14" idx="1"/>
          </p:cNvCxnSpPr>
          <p:nvPr/>
        </p:nvCxnSpPr>
        <p:spPr>
          <a:xfrm flipV="1">
            <a:off x="5033727" y="3356279"/>
            <a:ext cx="355923" cy="2548"/>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4" name="연결선: 꺾임 113">
            <a:extLst>
              <a:ext uri="{FF2B5EF4-FFF2-40B4-BE49-F238E27FC236}">
                <a16:creationId xmlns:a16="http://schemas.microsoft.com/office/drawing/2014/main" id="{68594493-C354-4741-88FB-D6188B02F9EA}"/>
              </a:ext>
            </a:extLst>
          </p:cNvPr>
          <p:cNvCxnSpPr>
            <a:stCxn id="58" idx="3"/>
            <a:endCxn id="62" idx="1"/>
          </p:cNvCxnSpPr>
          <p:nvPr/>
        </p:nvCxnSpPr>
        <p:spPr>
          <a:xfrm>
            <a:off x="5033727" y="3839126"/>
            <a:ext cx="355922" cy="61406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6" name="연결선: 꺾임 115">
            <a:extLst>
              <a:ext uri="{FF2B5EF4-FFF2-40B4-BE49-F238E27FC236}">
                <a16:creationId xmlns:a16="http://schemas.microsoft.com/office/drawing/2014/main" id="{FE0796F3-CC0C-45CD-97E4-1B75F2057A1A}"/>
              </a:ext>
            </a:extLst>
          </p:cNvPr>
          <p:cNvCxnSpPr>
            <a:cxnSpLocks/>
            <a:stCxn id="59" idx="3"/>
            <a:endCxn id="17" idx="1"/>
          </p:cNvCxnSpPr>
          <p:nvPr/>
        </p:nvCxnSpPr>
        <p:spPr>
          <a:xfrm>
            <a:off x="5033727" y="5533165"/>
            <a:ext cx="355923" cy="2969"/>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1" name="직선 연결선 120">
            <a:extLst>
              <a:ext uri="{FF2B5EF4-FFF2-40B4-BE49-F238E27FC236}">
                <a16:creationId xmlns:a16="http://schemas.microsoft.com/office/drawing/2014/main" id="{22DFF7FE-C127-4F35-8B35-368F57523E47}"/>
              </a:ext>
            </a:extLst>
          </p:cNvPr>
          <p:cNvCxnSpPr>
            <a:stCxn id="60" idx="3"/>
            <a:endCxn id="64" idx="1"/>
          </p:cNvCxnSpPr>
          <p:nvPr/>
        </p:nvCxnSpPr>
        <p:spPr>
          <a:xfrm flipV="1">
            <a:off x="5033727" y="5965888"/>
            <a:ext cx="353085" cy="1920"/>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23" name="직선 연결선 122">
            <a:extLst>
              <a:ext uri="{FF2B5EF4-FFF2-40B4-BE49-F238E27FC236}">
                <a16:creationId xmlns:a16="http://schemas.microsoft.com/office/drawing/2014/main" id="{368A7E39-6DEB-4533-A12E-42C242B09938}"/>
              </a:ext>
            </a:extLst>
          </p:cNvPr>
          <p:cNvCxnSpPr>
            <a:stCxn id="65" idx="3"/>
            <a:endCxn id="63" idx="1"/>
          </p:cNvCxnSpPr>
          <p:nvPr/>
        </p:nvCxnSpPr>
        <p:spPr>
          <a:xfrm>
            <a:off x="5033727" y="6422934"/>
            <a:ext cx="353085" cy="385"/>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0181322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3</a:t>
            </a:r>
            <a:r>
              <a:rPr lang="ko-KR" altLang="en-US" dirty="0"/>
              <a:t>조</a:t>
            </a:r>
            <a:r>
              <a:rPr lang="en-US" altLang="ko-KR" dirty="0"/>
              <a:t>~</a:t>
            </a:r>
            <a:r>
              <a:rPr lang="ko-KR" altLang="en-US" dirty="0"/>
              <a:t>제</a:t>
            </a:r>
            <a:r>
              <a:rPr lang="en-US" altLang="ko-KR" dirty="0"/>
              <a:t>5</a:t>
            </a:r>
            <a:r>
              <a:rPr lang="ko-KR" altLang="en-US" dirty="0"/>
              <a:t>조</a:t>
            </a:r>
          </a:p>
        </p:txBody>
      </p:sp>
      <p:sp>
        <p:nvSpPr>
          <p:cNvPr id="4" name="텍스트 개체 틀 3"/>
          <p:cNvSpPr>
            <a:spLocks noGrp="1"/>
          </p:cNvSpPr>
          <p:nvPr>
            <p:ph type="body" sz="quarter" idx="13"/>
          </p:nvPr>
        </p:nvSpPr>
        <p:spPr/>
        <p:txBody>
          <a:bodyPr/>
          <a:lstStyle/>
          <a:p>
            <a:r>
              <a:rPr lang="ko-KR" altLang="en-US" dirty="0"/>
              <a:t>대리인의 종류</a:t>
            </a:r>
          </a:p>
        </p:txBody>
      </p:sp>
      <p:sp>
        <p:nvSpPr>
          <p:cNvPr id="2" name="직사각형 1"/>
          <p:cNvSpPr/>
          <p:nvPr/>
        </p:nvSpPr>
        <p:spPr>
          <a:xfrm>
            <a:off x="308725" y="3189756"/>
            <a:ext cx="1198094"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대리인</a:t>
            </a:r>
          </a:p>
        </p:txBody>
      </p:sp>
      <p:sp>
        <p:nvSpPr>
          <p:cNvPr id="8" name="직사각형 7"/>
          <p:cNvSpPr/>
          <p:nvPr/>
        </p:nvSpPr>
        <p:spPr>
          <a:xfrm>
            <a:off x="1962155" y="2132481"/>
            <a:ext cx="2522758"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법정대리인</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특허에 관한 절차 </a:t>
            </a:r>
            <a:r>
              <a:rPr lang="en-US" altLang="ko-KR" sz="1200" dirty="0">
                <a:solidFill>
                  <a:schemeClr val="accent2"/>
                </a:solidFill>
              </a:rPr>
              <a:t>+ </a:t>
            </a:r>
            <a:r>
              <a:rPr lang="ko-KR" altLang="en-US" sz="1200" dirty="0">
                <a:solidFill>
                  <a:schemeClr val="accent2"/>
                </a:solidFill>
              </a:rPr>
              <a:t>권리 처분권</a:t>
            </a:r>
            <a:r>
              <a:rPr lang="en-US" altLang="ko-KR" sz="1200" dirty="0">
                <a:solidFill>
                  <a:schemeClr val="accent2"/>
                </a:solidFill>
              </a:rPr>
              <a:t>)</a:t>
            </a:r>
            <a:endParaRPr lang="ko-KR" altLang="en-US" sz="1200" dirty="0">
              <a:solidFill>
                <a:schemeClr val="accent2"/>
              </a:solidFill>
            </a:endParaRPr>
          </a:p>
        </p:txBody>
      </p:sp>
      <p:sp>
        <p:nvSpPr>
          <p:cNvPr id="10" name="직사각형 9"/>
          <p:cNvSpPr/>
          <p:nvPr/>
        </p:nvSpPr>
        <p:spPr>
          <a:xfrm>
            <a:off x="1962154" y="4361331"/>
            <a:ext cx="2522759"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임의대리인</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특허에 관한 절차</a:t>
            </a:r>
            <a:r>
              <a:rPr lang="en-US" altLang="ko-KR" sz="1200" dirty="0">
                <a:solidFill>
                  <a:schemeClr val="accent2"/>
                </a:solidFill>
              </a:rPr>
              <a:t>(</a:t>
            </a:r>
            <a:r>
              <a:rPr lang="ko-KR" altLang="en-US" sz="1200" dirty="0" err="1">
                <a:solidFill>
                  <a:schemeClr val="accent2"/>
                </a:solidFill>
              </a:rPr>
              <a:t>심결취소소송</a:t>
            </a:r>
            <a:r>
              <a:rPr lang="ko-KR" altLang="en-US" sz="1200" dirty="0">
                <a:solidFill>
                  <a:schemeClr val="accent2"/>
                </a:solidFill>
              </a:rPr>
              <a:t> 포함</a:t>
            </a:r>
            <a:r>
              <a:rPr lang="en-US" altLang="ko-KR" sz="1200" dirty="0">
                <a:solidFill>
                  <a:schemeClr val="accent2"/>
                </a:solidFill>
              </a:rPr>
              <a:t>))</a:t>
            </a:r>
            <a:endParaRPr lang="ko-KR" altLang="en-US" sz="1200" dirty="0">
              <a:solidFill>
                <a:schemeClr val="accent2"/>
              </a:solidFill>
            </a:endParaRPr>
          </a:p>
        </p:txBody>
      </p:sp>
      <p:cxnSp>
        <p:nvCxnSpPr>
          <p:cNvPr id="15" name="꺾인 연결선 14"/>
          <p:cNvCxnSpPr>
            <a:cxnSpLocks/>
            <a:stCxn id="2" idx="3"/>
            <a:endCxn id="8" idx="1"/>
          </p:cNvCxnSpPr>
          <p:nvPr/>
        </p:nvCxnSpPr>
        <p:spPr>
          <a:xfrm flipV="1">
            <a:off x="1506819" y="2389656"/>
            <a:ext cx="455336" cy="1057275"/>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6" name="꺾인 연결선 15"/>
          <p:cNvCxnSpPr>
            <a:cxnSpLocks/>
            <a:stCxn id="2" idx="3"/>
            <a:endCxn id="10" idx="1"/>
          </p:cNvCxnSpPr>
          <p:nvPr/>
        </p:nvCxnSpPr>
        <p:spPr>
          <a:xfrm>
            <a:off x="1506819" y="3446931"/>
            <a:ext cx="455335" cy="1171575"/>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꺾인 연결선 18"/>
          <p:cNvCxnSpPr>
            <a:cxnSpLocks/>
            <a:stCxn id="8" idx="3"/>
            <a:endCxn id="82" idx="1"/>
          </p:cNvCxnSpPr>
          <p:nvPr/>
        </p:nvCxnSpPr>
        <p:spPr>
          <a:xfrm>
            <a:off x="4484913" y="2389656"/>
            <a:ext cx="320726" cy="681678"/>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꺾인 연결선 21"/>
          <p:cNvCxnSpPr>
            <a:cxnSpLocks/>
            <a:stCxn id="8" idx="3"/>
            <a:endCxn id="81" idx="1"/>
          </p:cNvCxnSpPr>
          <p:nvPr/>
        </p:nvCxnSpPr>
        <p:spPr>
          <a:xfrm flipV="1">
            <a:off x="4484913" y="1680852"/>
            <a:ext cx="320726" cy="708804"/>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꺾인 연결선 24"/>
          <p:cNvCxnSpPr>
            <a:cxnSpLocks/>
            <a:stCxn id="10" idx="3"/>
            <a:endCxn id="97" idx="1"/>
          </p:cNvCxnSpPr>
          <p:nvPr/>
        </p:nvCxnSpPr>
        <p:spPr>
          <a:xfrm>
            <a:off x="4484913" y="4618506"/>
            <a:ext cx="320726" cy="741309"/>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꺾인 연결선 27"/>
          <p:cNvCxnSpPr>
            <a:cxnSpLocks/>
            <a:stCxn id="10" idx="3"/>
            <a:endCxn id="91" idx="1"/>
          </p:cNvCxnSpPr>
          <p:nvPr/>
        </p:nvCxnSpPr>
        <p:spPr>
          <a:xfrm flipV="1">
            <a:off x="4484913" y="3969333"/>
            <a:ext cx="320726" cy="649173"/>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1" name="Rectangle 5"/>
          <p:cNvSpPr>
            <a:spLocks noChangeArrowheads="1"/>
          </p:cNvSpPr>
          <p:nvPr/>
        </p:nvSpPr>
        <p:spPr bwMode="auto">
          <a:xfrm>
            <a:off x="2768089" y="3310980"/>
            <a:ext cx="921688" cy="348102"/>
          </a:xfrm>
          <a:prstGeom prst="roundRect">
            <a:avLst>
              <a:gd name="adj" fmla="val 50000"/>
            </a:avLst>
          </a:prstGeom>
          <a:solidFill>
            <a:schemeClr val="accent4"/>
          </a:solidFill>
          <a:ln w="9525" algn="ctr">
            <a:noFill/>
            <a:miter lim="800000"/>
            <a:headEnd/>
            <a:tailEnd/>
          </a:ln>
        </p:spPr>
        <p:txBody>
          <a:bodyPr wrap="none" anchor="ctr"/>
          <a:lstStyle/>
          <a:p>
            <a:pPr algn="ctr"/>
            <a:r>
              <a:rPr lang="ko-KR" altLang="en-US" sz="1000" b="0" dirty="0">
                <a:solidFill>
                  <a:schemeClr val="tx1"/>
                </a:solidFill>
                <a:latin typeface="+mj-ea"/>
                <a:ea typeface="+mj-ea"/>
              </a:rPr>
              <a:t>선임 행위</a:t>
            </a:r>
          </a:p>
        </p:txBody>
      </p:sp>
      <p:sp>
        <p:nvSpPr>
          <p:cNvPr id="32" name="Rectangle 5"/>
          <p:cNvSpPr>
            <a:spLocks noChangeArrowheads="1"/>
          </p:cNvSpPr>
          <p:nvPr/>
        </p:nvSpPr>
        <p:spPr bwMode="auto">
          <a:xfrm>
            <a:off x="5646639" y="2224349"/>
            <a:ext cx="942420" cy="348102"/>
          </a:xfrm>
          <a:prstGeom prst="roundRect">
            <a:avLst>
              <a:gd name="adj" fmla="val 50000"/>
            </a:avLst>
          </a:prstGeom>
          <a:solidFill>
            <a:schemeClr val="accent4"/>
          </a:solidFill>
          <a:ln w="9525" algn="ctr">
            <a:noFill/>
            <a:miter lim="800000"/>
            <a:headEnd/>
            <a:tailEnd/>
          </a:ln>
        </p:spPr>
        <p:txBody>
          <a:bodyPr wrap="none" anchor="ctr"/>
          <a:lstStyle/>
          <a:p>
            <a:pPr algn="ctr"/>
            <a:r>
              <a:rPr lang="ko-KR" altLang="en-US" sz="1000" b="0" dirty="0">
                <a:solidFill>
                  <a:schemeClr val="tx1"/>
                </a:solidFill>
                <a:latin typeface="+mj-ea"/>
                <a:ea typeface="+mj-ea"/>
              </a:rPr>
              <a:t>부모 여부</a:t>
            </a:r>
          </a:p>
        </p:txBody>
      </p:sp>
      <p:cxnSp>
        <p:nvCxnSpPr>
          <p:cNvPr id="35" name="직선 화살표 연결선 34"/>
          <p:cNvCxnSpPr>
            <a:cxnSpLocks/>
            <a:stCxn id="31" idx="0"/>
            <a:endCxn id="8" idx="2"/>
          </p:cNvCxnSpPr>
          <p:nvPr/>
        </p:nvCxnSpPr>
        <p:spPr>
          <a:xfrm flipH="1" flipV="1">
            <a:off x="3223534" y="2646831"/>
            <a:ext cx="5399" cy="664149"/>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cxnSp>
        <p:nvCxnSpPr>
          <p:cNvPr id="36" name="직선 화살표 연결선 35"/>
          <p:cNvCxnSpPr>
            <a:cxnSpLocks/>
            <a:stCxn id="31" idx="2"/>
            <a:endCxn id="10" idx="0"/>
          </p:cNvCxnSpPr>
          <p:nvPr/>
        </p:nvCxnSpPr>
        <p:spPr>
          <a:xfrm flipH="1">
            <a:off x="3223534" y="3659082"/>
            <a:ext cx="5399" cy="702249"/>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0" name="Rectangle 5"/>
          <p:cNvSpPr>
            <a:spLocks noChangeArrowheads="1"/>
          </p:cNvSpPr>
          <p:nvPr/>
        </p:nvSpPr>
        <p:spPr bwMode="auto">
          <a:xfrm>
            <a:off x="2506199" y="2789706"/>
            <a:ext cx="542925" cy="348102"/>
          </a:xfrm>
          <a:prstGeom prst="rect">
            <a:avLst/>
          </a:prstGeom>
          <a:noFill/>
          <a:ln w="9525" algn="ctr">
            <a:noFill/>
            <a:miter lim="800000"/>
            <a:headEnd/>
            <a:tailEnd/>
          </a:ln>
        </p:spPr>
        <p:txBody>
          <a:bodyPr wrap="none" anchor="ctr"/>
          <a:lstStyle/>
          <a:p>
            <a:pPr algn="ctr"/>
            <a:r>
              <a:rPr lang="ko-KR" altLang="en-US" sz="1000" b="0" dirty="0">
                <a:solidFill>
                  <a:schemeClr val="tx1"/>
                </a:solidFill>
                <a:latin typeface="+mj-ea"/>
                <a:ea typeface="+mj-ea"/>
              </a:rPr>
              <a:t>법률 규정</a:t>
            </a:r>
            <a:endParaRPr lang="en-US" altLang="ko-KR" sz="1000" b="0" dirty="0">
              <a:solidFill>
                <a:schemeClr val="tx1"/>
              </a:solidFill>
              <a:latin typeface="+mj-ea"/>
              <a:ea typeface="+mj-ea"/>
            </a:endParaRPr>
          </a:p>
          <a:p>
            <a:pPr algn="ctr"/>
            <a:r>
              <a:rPr lang="en-US" altLang="ko-KR" sz="1000" dirty="0">
                <a:latin typeface="+mj-ea"/>
                <a:ea typeface="+mj-ea"/>
              </a:rPr>
              <a:t>(</a:t>
            </a:r>
            <a:r>
              <a:rPr lang="ko-KR" altLang="en-US" sz="1000" dirty="0">
                <a:latin typeface="+mj-ea"/>
                <a:ea typeface="+mj-ea"/>
              </a:rPr>
              <a:t>법원의 선정</a:t>
            </a:r>
            <a:r>
              <a:rPr lang="en-US" altLang="ko-KR" sz="1000" dirty="0">
                <a:latin typeface="+mj-ea"/>
                <a:ea typeface="+mj-ea"/>
              </a:rPr>
              <a:t>)</a:t>
            </a:r>
            <a:endParaRPr lang="ko-KR" altLang="en-US" sz="1000" b="0" dirty="0">
              <a:solidFill>
                <a:schemeClr val="tx1"/>
              </a:solidFill>
              <a:latin typeface="+mj-ea"/>
              <a:ea typeface="+mj-ea"/>
            </a:endParaRPr>
          </a:p>
        </p:txBody>
      </p:sp>
      <p:sp>
        <p:nvSpPr>
          <p:cNvPr id="41" name="Rectangle 5"/>
          <p:cNvSpPr>
            <a:spLocks noChangeArrowheads="1"/>
          </p:cNvSpPr>
          <p:nvPr/>
        </p:nvSpPr>
        <p:spPr bwMode="auto">
          <a:xfrm>
            <a:off x="2552142" y="3901530"/>
            <a:ext cx="542925" cy="348102"/>
          </a:xfrm>
          <a:prstGeom prst="rect">
            <a:avLst/>
          </a:prstGeom>
          <a:noFill/>
          <a:ln w="9525" algn="ctr">
            <a:noFill/>
            <a:miter lim="800000"/>
            <a:headEnd/>
            <a:tailEnd/>
          </a:ln>
        </p:spPr>
        <p:txBody>
          <a:bodyPr wrap="none" anchor="ctr"/>
          <a:lstStyle/>
          <a:p>
            <a:pPr algn="ctr"/>
            <a:r>
              <a:rPr lang="ko-KR" altLang="en-US" sz="1000" b="0" dirty="0">
                <a:solidFill>
                  <a:schemeClr val="tx1"/>
                </a:solidFill>
                <a:latin typeface="+mj-ea"/>
                <a:ea typeface="+mj-ea"/>
              </a:rPr>
              <a:t>본인의 의사</a:t>
            </a:r>
          </a:p>
        </p:txBody>
      </p:sp>
      <p:cxnSp>
        <p:nvCxnSpPr>
          <p:cNvPr id="42" name="직선 화살표 연결선 41"/>
          <p:cNvCxnSpPr>
            <a:cxnSpLocks/>
            <a:stCxn id="32" idx="0"/>
            <a:endCxn id="81" idx="2"/>
          </p:cNvCxnSpPr>
          <p:nvPr/>
        </p:nvCxnSpPr>
        <p:spPr>
          <a:xfrm flipV="1">
            <a:off x="6117849" y="1938027"/>
            <a:ext cx="841" cy="286322"/>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46" name="Rectangle 5"/>
          <p:cNvSpPr>
            <a:spLocks noChangeArrowheads="1"/>
          </p:cNvSpPr>
          <p:nvPr/>
        </p:nvSpPr>
        <p:spPr bwMode="auto">
          <a:xfrm>
            <a:off x="5665414" y="1911514"/>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YES</a:t>
            </a:r>
            <a:endParaRPr lang="ko-KR" altLang="en-US" sz="1000" b="0" dirty="0">
              <a:solidFill>
                <a:schemeClr val="tx1"/>
              </a:solidFill>
              <a:latin typeface="+mj-ea"/>
              <a:ea typeface="+mj-ea"/>
            </a:endParaRPr>
          </a:p>
        </p:txBody>
      </p:sp>
      <p:cxnSp>
        <p:nvCxnSpPr>
          <p:cNvPr id="47" name="직선 화살표 연결선 46"/>
          <p:cNvCxnSpPr>
            <a:cxnSpLocks/>
            <a:stCxn id="32" idx="2"/>
            <a:endCxn id="82" idx="0"/>
          </p:cNvCxnSpPr>
          <p:nvPr/>
        </p:nvCxnSpPr>
        <p:spPr>
          <a:xfrm>
            <a:off x="6117849" y="2572451"/>
            <a:ext cx="841" cy="241708"/>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50" name="Rectangle 5"/>
          <p:cNvSpPr>
            <a:spLocks noChangeArrowheads="1"/>
          </p:cNvSpPr>
          <p:nvPr/>
        </p:nvSpPr>
        <p:spPr bwMode="auto">
          <a:xfrm>
            <a:off x="5709399" y="2499611"/>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NO</a:t>
            </a:r>
            <a:endParaRPr lang="ko-KR" altLang="en-US" sz="1000" b="0" dirty="0">
              <a:solidFill>
                <a:schemeClr val="tx1"/>
              </a:solidFill>
              <a:latin typeface="+mj-ea"/>
              <a:ea typeface="+mj-ea"/>
            </a:endParaRPr>
          </a:p>
        </p:txBody>
      </p:sp>
      <p:sp>
        <p:nvSpPr>
          <p:cNvPr id="81" name="직사각형 80"/>
          <p:cNvSpPr/>
          <p:nvPr/>
        </p:nvSpPr>
        <p:spPr>
          <a:xfrm>
            <a:off x="4805639" y="1423677"/>
            <a:ext cx="262610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친권자</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후견감독인의 동의 不要</a:t>
            </a:r>
            <a:r>
              <a:rPr lang="en-US" altLang="ko-KR" sz="1200" dirty="0">
                <a:solidFill>
                  <a:schemeClr val="accent2"/>
                </a:solidFill>
              </a:rPr>
              <a:t>)</a:t>
            </a:r>
            <a:endParaRPr lang="ko-KR" altLang="en-US" sz="1200" dirty="0">
              <a:solidFill>
                <a:schemeClr val="accent2"/>
              </a:solidFill>
            </a:endParaRPr>
          </a:p>
        </p:txBody>
      </p:sp>
      <p:sp>
        <p:nvSpPr>
          <p:cNvPr id="82" name="직사각형 81"/>
          <p:cNvSpPr/>
          <p:nvPr/>
        </p:nvSpPr>
        <p:spPr>
          <a:xfrm>
            <a:off x="4805639" y="2814159"/>
            <a:ext cx="262610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후견인</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능동적인 절차는 후견감독인의 동의 要</a:t>
            </a:r>
            <a:r>
              <a:rPr lang="en-US" altLang="ko-KR" sz="1200" dirty="0">
                <a:solidFill>
                  <a:schemeClr val="accent2"/>
                </a:solidFill>
              </a:rPr>
              <a:t>)</a:t>
            </a:r>
            <a:endParaRPr lang="ko-KR" altLang="en-US" sz="1200" dirty="0">
              <a:solidFill>
                <a:schemeClr val="accent2"/>
              </a:solidFill>
            </a:endParaRPr>
          </a:p>
        </p:txBody>
      </p:sp>
      <p:sp>
        <p:nvSpPr>
          <p:cNvPr id="84" name="Rectangle 5"/>
          <p:cNvSpPr>
            <a:spLocks noChangeArrowheads="1"/>
          </p:cNvSpPr>
          <p:nvPr/>
        </p:nvSpPr>
        <p:spPr bwMode="auto">
          <a:xfrm>
            <a:off x="5646639" y="4512830"/>
            <a:ext cx="942420" cy="348102"/>
          </a:xfrm>
          <a:prstGeom prst="roundRect">
            <a:avLst>
              <a:gd name="adj" fmla="val 50000"/>
            </a:avLst>
          </a:prstGeom>
          <a:solidFill>
            <a:schemeClr val="accent4"/>
          </a:solidFill>
          <a:ln w="9525" algn="ctr">
            <a:noFill/>
            <a:miter lim="800000"/>
            <a:headEnd/>
            <a:tailEnd/>
          </a:ln>
        </p:spPr>
        <p:txBody>
          <a:bodyPr wrap="none" anchor="ctr"/>
          <a:lstStyle/>
          <a:p>
            <a:pPr algn="ctr"/>
            <a:r>
              <a:rPr lang="ko-KR" altLang="en-US" sz="1000" dirty="0">
                <a:latin typeface="+mj-ea"/>
                <a:ea typeface="+mj-ea"/>
              </a:rPr>
              <a:t>선임 주체</a:t>
            </a:r>
            <a:endParaRPr lang="ko-KR" altLang="en-US" sz="1000" b="0" dirty="0">
              <a:solidFill>
                <a:schemeClr val="tx1"/>
              </a:solidFill>
              <a:latin typeface="+mj-ea"/>
              <a:ea typeface="+mj-ea"/>
            </a:endParaRPr>
          </a:p>
        </p:txBody>
      </p:sp>
      <p:cxnSp>
        <p:nvCxnSpPr>
          <p:cNvPr id="85" name="직선 화살표 연결선 84"/>
          <p:cNvCxnSpPr>
            <a:cxnSpLocks/>
            <a:stCxn id="84" idx="0"/>
            <a:endCxn id="91" idx="2"/>
          </p:cNvCxnSpPr>
          <p:nvPr/>
        </p:nvCxnSpPr>
        <p:spPr>
          <a:xfrm flipV="1">
            <a:off x="6117849" y="4226508"/>
            <a:ext cx="841" cy="286322"/>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86" name="Rectangle 5"/>
          <p:cNvSpPr>
            <a:spLocks noChangeArrowheads="1"/>
          </p:cNvSpPr>
          <p:nvPr/>
        </p:nvSpPr>
        <p:spPr bwMode="auto">
          <a:xfrm>
            <a:off x="5629554" y="4199995"/>
            <a:ext cx="542925" cy="348102"/>
          </a:xfrm>
          <a:prstGeom prst="rect">
            <a:avLst/>
          </a:prstGeom>
          <a:noFill/>
          <a:ln w="9525" algn="ctr">
            <a:noFill/>
            <a:miter lim="800000"/>
            <a:headEnd/>
            <a:tailEnd/>
          </a:ln>
        </p:spPr>
        <p:txBody>
          <a:bodyPr wrap="none" anchor="ctr"/>
          <a:lstStyle/>
          <a:p>
            <a:pPr algn="ctr"/>
            <a:r>
              <a:rPr lang="ko-KR" altLang="en-US" sz="1000" b="0" dirty="0" err="1">
                <a:solidFill>
                  <a:schemeClr val="tx1"/>
                </a:solidFill>
                <a:latin typeface="+mj-ea"/>
                <a:ea typeface="+mj-ea"/>
              </a:rPr>
              <a:t>재내자</a:t>
            </a:r>
            <a:endParaRPr lang="ko-KR" altLang="en-US" sz="1000" b="0" dirty="0">
              <a:solidFill>
                <a:schemeClr val="tx1"/>
              </a:solidFill>
              <a:latin typeface="+mj-ea"/>
              <a:ea typeface="+mj-ea"/>
            </a:endParaRPr>
          </a:p>
        </p:txBody>
      </p:sp>
      <p:cxnSp>
        <p:nvCxnSpPr>
          <p:cNvPr id="88" name="직선 화살표 연결선 87"/>
          <p:cNvCxnSpPr>
            <a:cxnSpLocks/>
            <a:stCxn id="84" idx="2"/>
            <a:endCxn id="97" idx="0"/>
          </p:cNvCxnSpPr>
          <p:nvPr/>
        </p:nvCxnSpPr>
        <p:spPr>
          <a:xfrm>
            <a:off x="6117849" y="4860932"/>
            <a:ext cx="841" cy="241708"/>
          </a:xfrm>
          <a:prstGeom prst="straightConnector1">
            <a:avLst/>
          </a:prstGeom>
          <a:ln>
            <a:solidFill>
              <a:schemeClr val="bg1">
                <a:lumMod val="50000"/>
              </a:schemeClr>
            </a:solidFill>
            <a:prstDash val="sysDot"/>
            <a:headEnd type="none" w="med" len="med"/>
            <a:tailEnd type="arrow"/>
          </a:ln>
        </p:spPr>
        <p:style>
          <a:lnRef idx="1">
            <a:schemeClr val="accent1"/>
          </a:lnRef>
          <a:fillRef idx="0">
            <a:schemeClr val="accent1"/>
          </a:fillRef>
          <a:effectRef idx="0">
            <a:schemeClr val="accent1"/>
          </a:effectRef>
          <a:fontRef idx="minor">
            <a:schemeClr val="tx1"/>
          </a:fontRef>
        </p:style>
      </p:cxnSp>
      <p:sp>
        <p:nvSpPr>
          <p:cNvPr id="89" name="Rectangle 5"/>
          <p:cNvSpPr>
            <a:spLocks noChangeArrowheads="1"/>
          </p:cNvSpPr>
          <p:nvPr/>
        </p:nvSpPr>
        <p:spPr bwMode="auto">
          <a:xfrm>
            <a:off x="5628714" y="4788092"/>
            <a:ext cx="542925" cy="348102"/>
          </a:xfrm>
          <a:prstGeom prst="rect">
            <a:avLst/>
          </a:prstGeom>
          <a:noFill/>
          <a:ln w="9525" algn="ctr">
            <a:noFill/>
            <a:miter lim="800000"/>
            <a:headEnd/>
            <a:tailEnd/>
          </a:ln>
        </p:spPr>
        <p:txBody>
          <a:bodyPr wrap="none" anchor="ctr"/>
          <a:lstStyle/>
          <a:p>
            <a:pPr algn="ctr"/>
            <a:r>
              <a:rPr lang="ko-KR" altLang="en-US" sz="1000" b="0">
                <a:solidFill>
                  <a:schemeClr val="tx1"/>
                </a:solidFill>
                <a:latin typeface="+mj-ea"/>
                <a:ea typeface="+mj-ea"/>
              </a:rPr>
              <a:t>재외자</a:t>
            </a:r>
            <a:endParaRPr lang="ko-KR" altLang="en-US" sz="1000" b="0" dirty="0">
              <a:solidFill>
                <a:schemeClr val="tx1"/>
              </a:solidFill>
              <a:latin typeface="+mj-ea"/>
              <a:ea typeface="+mj-ea"/>
            </a:endParaRPr>
          </a:p>
        </p:txBody>
      </p:sp>
      <p:sp>
        <p:nvSpPr>
          <p:cNvPr id="91" name="직사각형 90"/>
          <p:cNvSpPr/>
          <p:nvPr/>
        </p:nvSpPr>
        <p:spPr>
          <a:xfrm>
            <a:off x="4805639" y="3712158"/>
            <a:ext cx="262610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통상의 </a:t>
            </a:r>
            <a:r>
              <a:rPr lang="ko-KR" altLang="en-US" sz="1200" dirty="0" err="1">
                <a:solidFill>
                  <a:schemeClr val="tx1"/>
                </a:solidFill>
              </a:rPr>
              <a:t>위임대리인</a:t>
            </a:r>
            <a:endParaRPr lang="en-US" altLang="ko-KR" sz="1200" dirty="0">
              <a:solidFill>
                <a:schemeClr val="tx1"/>
              </a:solidFill>
            </a:endParaRPr>
          </a:p>
        </p:txBody>
      </p:sp>
      <p:sp>
        <p:nvSpPr>
          <p:cNvPr id="97" name="직사각형 96"/>
          <p:cNvSpPr/>
          <p:nvPr/>
        </p:nvSpPr>
        <p:spPr>
          <a:xfrm>
            <a:off x="4805639" y="5102640"/>
            <a:ext cx="262610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특허관리인</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제</a:t>
            </a:r>
            <a:r>
              <a:rPr lang="en-US" altLang="ko-KR" sz="1200" dirty="0">
                <a:solidFill>
                  <a:schemeClr val="accent2"/>
                </a:solidFill>
              </a:rPr>
              <a:t>13</a:t>
            </a:r>
            <a:r>
              <a:rPr lang="ko-KR" altLang="en-US" sz="1200" dirty="0">
                <a:solidFill>
                  <a:schemeClr val="accent2"/>
                </a:solidFill>
              </a:rPr>
              <a:t>조</a:t>
            </a:r>
            <a:r>
              <a:rPr lang="en-US" altLang="ko-KR" sz="1200" dirty="0">
                <a:solidFill>
                  <a:schemeClr val="accent2"/>
                </a:solidFill>
              </a:rPr>
              <a:t>, </a:t>
            </a:r>
            <a:r>
              <a:rPr lang="ko-KR" altLang="en-US" sz="1200" dirty="0">
                <a:solidFill>
                  <a:schemeClr val="accent2"/>
                </a:solidFill>
              </a:rPr>
              <a:t>제</a:t>
            </a:r>
            <a:r>
              <a:rPr lang="en-US" altLang="ko-KR" sz="1200" dirty="0">
                <a:solidFill>
                  <a:schemeClr val="accent2"/>
                </a:solidFill>
              </a:rPr>
              <a:t>206</a:t>
            </a:r>
            <a:r>
              <a:rPr lang="ko-KR" altLang="en-US" sz="1200" dirty="0">
                <a:solidFill>
                  <a:schemeClr val="accent2"/>
                </a:solidFill>
              </a:rPr>
              <a:t>조</a:t>
            </a:r>
            <a:r>
              <a:rPr lang="en-US" altLang="ko-KR" sz="1200" dirty="0">
                <a:solidFill>
                  <a:schemeClr val="accent2"/>
                </a:solidFill>
              </a:rPr>
              <a:t>, </a:t>
            </a:r>
            <a:r>
              <a:rPr lang="ko-KR" altLang="en-US" sz="1200" dirty="0">
                <a:solidFill>
                  <a:schemeClr val="accent2"/>
                </a:solidFill>
              </a:rPr>
              <a:t>제</a:t>
            </a:r>
            <a:r>
              <a:rPr lang="en-US" altLang="ko-KR" sz="1200" dirty="0">
                <a:solidFill>
                  <a:schemeClr val="accent2"/>
                </a:solidFill>
              </a:rPr>
              <a:t>220</a:t>
            </a:r>
            <a:r>
              <a:rPr lang="ko-KR" altLang="en-US" sz="1200" dirty="0">
                <a:solidFill>
                  <a:schemeClr val="accent2"/>
                </a:solidFill>
              </a:rPr>
              <a:t>조 적용</a:t>
            </a:r>
            <a:r>
              <a:rPr lang="en-US" altLang="ko-KR" sz="1200" dirty="0">
                <a:solidFill>
                  <a:schemeClr val="accent2"/>
                </a:solidFill>
              </a:rPr>
              <a:t>)</a:t>
            </a:r>
            <a:endParaRPr lang="ko-KR" altLang="en-US" sz="1200" dirty="0">
              <a:solidFill>
                <a:schemeClr val="accent2"/>
              </a:solidFill>
            </a:endParaRPr>
          </a:p>
        </p:txBody>
      </p:sp>
      <p:cxnSp>
        <p:nvCxnSpPr>
          <p:cNvPr id="106" name="직선 연결선 105"/>
          <p:cNvCxnSpPr/>
          <p:nvPr/>
        </p:nvCxnSpPr>
        <p:spPr>
          <a:xfrm>
            <a:off x="7892863" y="1062288"/>
            <a:ext cx="0" cy="5598488"/>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7" name="직사각형 106"/>
          <p:cNvSpPr/>
          <p:nvPr/>
        </p:nvSpPr>
        <p:spPr>
          <a:xfrm>
            <a:off x="8113058" y="1238177"/>
            <a:ext cx="3756213" cy="1015663"/>
          </a:xfrm>
          <a:prstGeom prst="rect">
            <a:avLst/>
          </a:prstGeom>
          <a:ln>
            <a:solidFill>
              <a:schemeClr val="bg1">
                <a:lumMod val="50000"/>
              </a:schemeClr>
            </a:solidFill>
          </a:ln>
        </p:spPr>
        <p:txBody>
          <a:bodyPr wrap="square">
            <a:spAutoFit/>
          </a:bodyPr>
          <a:lstStyle/>
          <a:p>
            <a:pPr fontAlgn="base"/>
            <a:r>
              <a:rPr lang="ko-KR" altLang="en-US" sz="1200" b="1" dirty="0"/>
              <a:t>제</a:t>
            </a:r>
            <a:r>
              <a:rPr lang="en-US" altLang="ko-KR" sz="1200" b="1" dirty="0"/>
              <a:t>13</a:t>
            </a:r>
            <a:r>
              <a:rPr lang="ko-KR" altLang="en-US" sz="1200" b="1" dirty="0"/>
              <a:t>조</a:t>
            </a:r>
            <a:r>
              <a:rPr lang="en-US" altLang="ko-KR" sz="1200" b="1" dirty="0"/>
              <a:t>(</a:t>
            </a:r>
            <a:r>
              <a:rPr lang="ko-KR" altLang="en-US" sz="1200" b="1" dirty="0" err="1"/>
              <a:t>재외자의</a:t>
            </a:r>
            <a:r>
              <a:rPr lang="ko-KR" altLang="en-US" sz="1200" b="1" dirty="0"/>
              <a:t> 재판관할</a:t>
            </a:r>
            <a:r>
              <a:rPr lang="en-US" altLang="ko-KR" sz="1200" b="1" dirty="0"/>
              <a:t>) </a:t>
            </a:r>
            <a:r>
              <a:rPr lang="ko-KR" altLang="en-US" sz="1200" dirty="0" err="1"/>
              <a:t>재외자의</a:t>
            </a:r>
            <a:r>
              <a:rPr lang="ko-KR" altLang="en-US" sz="1200" dirty="0"/>
              <a:t> 특허권 또는 특허에 관한 권리에 관하여 특허관리인이 있으면 그 특허관리인의 주소 또는 영업소를</a:t>
            </a:r>
            <a:r>
              <a:rPr lang="en-US" altLang="ko-KR" sz="1200" dirty="0"/>
              <a:t>, </a:t>
            </a:r>
            <a:r>
              <a:rPr lang="ko-KR" altLang="en-US" sz="1200" dirty="0"/>
              <a:t>특허관리인이 없으면 지식재산처 소재지를 「민사소송법」 제</a:t>
            </a:r>
            <a:r>
              <a:rPr lang="en-US" altLang="ko-KR" sz="1200" dirty="0"/>
              <a:t>11</a:t>
            </a:r>
            <a:r>
              <a:rPr lang="ko-KR" altLang="en-US" sz="1200" dirty="0"/>
              <a:t>조에 따른 재산이 있는 곳으로 본다</a:t>
            </a:r>
            <a:r>
              <a:rPr lang="en-US" altLang="ko-KR" sz="1200" dirty="0"/>
              <a:t>.</a:t>
            </a:r>
            <a:endParaRPr lang="ko-KR" altLang="en-US" sz="1200" dirty="0"/>
          </a:p>
        </p:txBody>
      </p:sp>
      <p:sp>
        <p:nvSpPr>
          <p:cNvPr id="118" name="직사각형 117"/>
          <p:cNvSpPr/>
          <p:nvPr/>
        </p:nvSpPr>
        <p:spPr>
          <a:xfrm>
            <a:off x="8113058" y="2519712"/>
            <a:ext cx="3756213" cy="1754326"/>
          </a:xfrm>
          <a:prstGeom prst="rect">
            <a:avLst/>
          </a:prstGeom>
          <a:ln>
            <a:solidFill>
              <a:schemeClr val="bg1">
                <a:lumMod val="50000"/>
              </a:schemeClr>
            </a:solidFill>
          </a:ln>
        </p:spPr>
        <p:txBody>
          <a:bodyPr wrap="square">
            <a:spAutoFit/>
          </a:bodyPr>
          <a:lstStyle/>
          <a:p>
            <a:pPr fontAlgn="base"/>
            <a:r>
              <a:rPr lang="ko-KR" altLang="en-US" sz="1200" b="1" dirty="0"/>
              <a:t>제</a:t>
            </a:r>
            <a:r>
              <a:rPr lang="en-US" altLang="ko-KR" sz="1200" b="1" dirty="0"/>
              <a:t>206</a:t>
            </a:r>
            <a:r>
              <a:rPr lang="ko-KR" altLang="en-US" sz="1200" b="1" dirty="0"/>
              <a:t>조</a:t>
            </a:r>
            <a:r>
              <a:rPr lang="en-US" altLang="ko-KR" sz="1200" b="1" dirty="0"/>
              <a:t>(</a:t>
            </a:r>
            <a:r>
              <a:rPr lang="ko-KR" altLang="en-US" sz="1200" b="1" dirty="0" err="1"/>
              <a:t>재외자의</a:t>
            </a:r>
            <a:r>
              <a:rPr lang="ko-KR" altLang="en-US" sz="1200" b="1" dirty="0"/>
              <a:t> 특허관리인의 특례</a:t>
            </a:r>
            <a:r>
              <a:rPr lang="en-US" altLang="ko-KR" sz="1200" b="1" dirty="0"/>
              <a:t>) </a:t>
            </a:r>
            <a:r>
              <a:rPr lang="en-US" altLang="ko-KR" sz="1200" dirty="0"/>
              <a:t>① </a:t>
            </a:r>
            <a:r>
              <a:rPr lang="ko-KR" altLang="en-US" sz="1200" dirty="0" err="1"/>
              <a:t>재외자인</a:t>
            </a:r>
            <a:r>
              <a:rPr lang="ko-KR" altLang="en-US" sz="1200" dirty="0"/>
              <a:t> 국제특허출원의 </a:t>
            </a:r>
            <a:r>
              <a:rPr lang="ko-KR" altLang="en-US" sz="1200" dirty="0" err="1"/>
              <a:t>출원인은</a:t>
            </a:r>
            <a:r>
              <a:rPr lang="ko-KR" altLang="en-US" sz="1200" dirty="0"/>
              <a:t> 기준일까지는 제</a:t>
            </a:r>
            <a:r>
              <a:rPr lang="en-US" altLang="ko-KR" sz="1200" dirty="0"/>
              <a:t>5</a:t>
            </a:r>
            <a:r>
              <a:rPr lang="ko-KR" altLang="en-US" sz="1200" dirty="0"/>
              <a:t>조제</a:t>
            </a:r>
            <a:r>
              <a:rPr lang="en-US" altLang="ko-KR" sz="1200" dirty="0"/>
              <a:t>1</a:t>
            </a:r>
            <a:r>
              <a:rPr lang="ko-KR" altLang="en-US" sz="1200" dirty="0"/>
              <a:t>항에도 불구하고 특허관리인에 의하지 아니하고 특허에 관한 절차를 밟을 수 있다</a:t>
            </a:r>
            <a:r>
              <a:rPr lang="en-US" altLang="ko-KR" sz="1200" dirty="0"/>
              <a:t>.</a:t>
            </a:r>
          </a:p>
          <a:p>
            <a:pPr fontAlgn="base"/>
            <a:r>
              <a:rPr lang="en-US" altLang="ko-KR" sz="1200" dirty="0"/>
              <a:t>② </a:t>
            </a:r>
            <a:r>
              <a:rPr lang="ko-KR" altLang="en-US" sz="1200" dirty="0"/>
              <a:t>제</a:t>
            </a:r>
            <a:r>
              <a:rPr lang="en-US" altLang="ko-KR" sz="1200" dirty="0"/>
              <a:t>201</a:t>
            </a:r>
            <a:r>
              <a:rPr lang="ko-KR" altLang="en-US" sz="1200" dirty="0"/>
              <a:t>조제</a:t>
            </a:r>
            <a:r>
              <a:rPr lang="en-US" altLang="ko-KR" sz="1200" dirty="0"/>
              <a:t>1</a:t>
            </a:r>
            <a:r>
              <a:rPr lang="ko-KR" altLang="en-US" sz="1200" dirty="0"/>
              <a:t>항에 따라 국어번역문을 제출한 재외자는 총리령으로 정하는 기간에 특허관리인을 선임하여 지식재산처장에게 신고하여야 한다</a:t>
            </a:r>
            <a:r>
              <a:rPr lang="en-US" altLang="ko-KR" sz="1200" dirty="0"/>
              <a:t>.</a:t>
            </a:r>
          </a:p>
          <a:p>
            <a:pPr fontAlgn="base"/>
            <a:r>
              <a:rPr lang="en-US" altLang="ko-KR" sz="1200" dirty="0"/>
              <a:t>③ </a:t>
            </a:r>
            <a:r>
              <a:rPr lang="ko-KR" altLang="en-US" sz="1200" dirty="0"/>
              <a:t>제</a:t>
            </a:r>
            <a:r>
              <a:rPr lang="en-US" altLang="ko-KR" sz="1200" dirty="0"/>
              <a:t>2</a:t>
            </a:r>
            <a:r>
              <a:rPr lang="ko-KR" altLang="en-US" sz="1200" dirty="0"/>
              <a:t>항에 따른 </a:t>
            </a:r>
            <a:r>
              <a:rPr lang="ko-KR" altLang="en-US" sz="1200" dirty="0" err="1"/>
              <a:t>선임신고가</a:t>
            </a:r>
            <a:r>
              <a:rPr lang="ko-KR" altLang="en-US" sz="1200" dirty="0"/>
              <a:t> 없으면 그 국제특허출원은 취하된 것으로 본다</a:t>
            </a:r>
            <a:r>
              <a:rPr lang="en-US" altLang="ko-KR" sz="1200" dirty="0"/>
              <a:t>.</a:t>
            </a:r>
            <a:endParaRPr lang="ko-KR" altLang="en-US" sz="1200" dirty="0"/>
          </a:p>
        </p:txBody>
      </p:sp>
      <p:sp>
        <p:nvSpPr>
          <p:cNvPr id="119" name="직사각형 118"/>
          <p:cNvSpPr/>
          <p:nvPr/>
        </p:nvSpPr>
        <p:spPr>
          <a:xfrm>
            <a:off x="8113058" y="4549532"/>
            <a:ext cx="3756213" cy="1384995"/>
          </a:xfrm>
          <a:prstGeom prst="rect">
            <a:avLst/>
          </a:prstGeom>
          <a:ln>
            <a:solidFill>
              <a:schemeClr val="bg1">
                <a:lumMod val="50000"/>
              </a:schemeClr>
            </a:solidFill>
          </a:ln>
        </p:spPr>
        <p:txBody>
          <a:bodyPr wrap="square">
            <a:spAutoFit/>
          </a:bodyPr>
          <a:lstStyle/>
          <a:p>
            <a:pPr fontAlgn="base"/>
            <a:r>
              <a:rPr lang="ko-KR" altLang="en-US" sz="1200" b="1" dirty="0"/>
              <a:t>제</a:t>
            </a:r>
            <a:r>
              <a:rPr lang="en-US" altLang="ko-KR" sz="1200" b="1" dirty="0"/>
              <a:t>220</a:t>
            </a:r>
            <a:r>
              <a:rPr lang="ko-KR" altLang="en-US" sz="1200" b="1" dirty="0"/>
              <a:t>조</a:t>
            </a:r>
            <a:r>
              <a:rPr lang="en-US" altLang="ko-KR" sz="1200" b="1" dirty="0"/>
              <a:t>(</a:t>
            </a:r>
            <a:r>
              <a:rPr lang="ko-KR" altLang="en-US" sz="1200" b="1" dirty="0" err="1"/>
              <a:t>재외자에</a:t>
            </a:r>
            <a:r>
              <a:rPr lang="ko-KR" altLang="en-US" sz="1200" b="1" dirty="0"/>
              <a:t> 대한 송달</a:t>
            </a:r>
            <a:r>
              <a:rPr lang="en-US" altLang="ko-KR" sz="1200" b="1" dirty="0"/>
              <a:t>) </a:t>
            </a:r>
            <a:r>
              <a:rPr lang="en-US" altLang="ko-KR" sz="1200" dirty="0"/>
              <a:t>① </a:t>
            </a:r>
            <a:r>
              <a:rPr lang="ko-KR" altLang="en-US" sz="1200" dirty="0" err="1"/>
              <a:t>재외자로서</a:t>
            </a:r>
            <a:r>
              <a:rPr lang="ko-KR" altLang="en-US" sz="1200" dirty="0"/>
              <a:t> 특허관리인이 있으면 그 </a:t>
            </a:r>
            <a:r>
              <a:rPr lang="ko-KR" altLang="en-US" sz="1200" dirty="0" err="1"/>
              <a:t>재외자에게</a:t>
            </a:r>
            <a:r>
              <a:rPr lang="ko-KR" altLang="en-US" sz="1200" dirty="0"/>
              <a:t> 송달할 서류는 특허관리인에게 송달하여야 한다</a:t>
            </a:r>
            <a:r>
              <a:rPr lang="en-US" altLang="ko-KR" sz="1200" dirty="0"/>
              <a:t>.</a:t>
            </a:r>
          </a:p>
          <a:p>
            <a:pPr fontAlgn="base"/>
            <a:r>
              <a:rPr lang="en-US" altLang="ko-KR" sz="1200" dirty="0"/>
              <a:t>② </a:t>
            </a:r>
            <a:r>
              <a:rPr lang="ko-KR" altLang="en-US" sz="1200" dirty="0" err="1"/>
              <a:t>재외자로서</a:t>
            </a:r>
            <a:r>
              <a:rPr lang="ko-KR" altLang="en-US" sz="1200" dirty="0"/>
              <a:t> 특허관리인이 없으면 그 </a:t>
            </a:r>
            <a:r>
              <a:rPr lang="ko-KR" altLang="en-US" sz="1200" dirty="0" err="1"/>
              <a:t>재외자에게</a:t>
            </a:r>
            <a:r>
              <a:rPr lang="ko-KR" altLang="en-US" sz="1200" dirty="0"/>
              <a:t> 송달할 서류는 항공등기우편으로 발송할 수 있다</a:t>
            </a:r>
            <a:r>
              <a:rPr lang="en-US" altLang="ko-KR" sz="1200" dirty="0"/>
              <a:t>.</a:t>
            </a:r>
          </a:p>
          <a:p>
            <a:pPr fontAlgn="base"/>
            <a:r>
              <a:rPr lang="en-US" altLang="ko-KR" sz="1200" dirty="0"/>
              <a:t>③ </a:t>
            </a:r>
            <a:r>
              <a:rPr lang="ko-KR" altLang="en-US" sz="1200" dirty="0"/>
              <a:t>제</a:t>
            </a:r>
            <a:r>
              <a:rPr lang="en-US" altLang="ko-KR" sz="1200" dirty="0"/>
              <a:t>2</a:t>
            </a:r>
            <a:r>
              <a:rPr lang="ko-KR" altLang="en-US" sz="1200" dirty="0"/>
              <a:t>항에 따라 서류를 항공등기우편으로 발송한 경우에는 그 </a:t>
            </a:r>
            <a:r>
              <a:rPr lang="ko-KR" altLang="en-US" sz="1200" dirty="0" err="1"/>
              <a:t>발송일에</a:t>
            </a:r>
            <a:r>
              <a:rPr lang="ko-KR" altLang="en-US" sz="1200" dirty="0"/>
              <a:t> 송달된 것으로 본다</a:t>
            </a:r>
            <a:r>
              <a:rPr lang="en-US" altLang="ko-KR" sz="1200" dirty="0"/>
              <a:t>.</a:t>
            </a:r>
            <a:endParaRPr lang="ko-KR" altLang="en-US" sz="1200" dirty="0"/>
          </a:p>
        </p:txBody>
      </p:sp>
      <p:sp>
        <p:nvSpPr>
          <p:cNvPr id="5" name="슬라이드 번호 개체 틀 4"/>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30</a:t>
            </a:fld>
            <a:endParaRPr lang="ko-KR" altLang="en-US"/>
          </a:p>
        </p:txBody>
      </p:sp>
    </p:spTree>
    <p:extLst>
      <p:ext uri="{BB962C8B-B14F-4D97-AF65-F5344CB8AC3E}">
        <p14:creationId xmlns:p14="http://schemas.microsoft.com/office/powerpoint/2010/main" val="318064361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5</a:t>
            </a:r>
            <a:r>
              <a:rPr lang="ko-KR" altLang="en-US" dirty="0"/>
              <a:t>조</a:t>
            </a:r>
          </a:p>
        </p:txBody>
      </p:sp>
      <p:sp>
        <p:nvSpPr>
          <p:cNvPr id="4" name="텍스트 개체 틀 3"/>
          <p:cNvSpPr>
            <a:spLocks noGrp="1"/>
          </p:cNvSpPr>
          <p:nvPr>
            <p:ph type="body" sz="quarter" idx="13"/>
          </p:nvPr>
        </p:nvSpPr>
        <p:spPr/>
        <p:txBody>
          <a:bodyPr/>
          <a:lstStyle/>
          <a:p>
            <a:r>
              <a:rPr lang="ko-KR" altLang="en-US" dirty="0">
                <a:solidFill>
                  <a:schemeClr val="tx1">
                    <a:lumMod val="65000"/>
                    <a:lumOff val="35000"/>
                  </a:schemeClr>
                </a:solidFill>
              </a:rPr>
              <a:t>재외자의 행위능력과 공시송달</a:t>
            </a:r>
          </a:p>
        </p:txBody>
      </p:sp>
      <p:sp>
        <p:nvSpPr>
          <p:cNvPr id="2" name="슬라이드 번호 개체 틀 1"/>
          <p:cNvSpPr>
            <a:spLocks noGrp="1"/>
          </p:cNvSpPr>
          <p:nvPr>
            <p:ph type="sldNum" sz="quarter" idx="4294967295"/>
          </p:nvPr>
        </p:nvSpPr>
        <p:spPr>
          <a:xfrm>
            <a:off x="11129963" y="0"/>
            <a:ext cx="1062037" cy="733425"/>
          </a:xfrm>
        </p:spPr>
        <p:txBody>
          <a:bodyPr/>
          <a:lstStyle/>
          <a:p>
            <a:fld id="{3875FC6C-1516-4DC4-8C58-3090F7D4F003}" type="slidenum">
              <a:rPr lang="ko-KR" altLang="en-US" smtClean="0"/>
              <a:t>31</a:t>
            </a:fld>
            <a:endParaRPr lang="ko-KR" altLang="en-US" dirty="0"/>
          </a:p>
        </p:txBody>
      </p:sp>
      <p:sp>
        <p:nvSpPr>
          <p:cNvPr id="27" name="사각형: 둥근 위쪽 모서리 26">
            <a:extLst>
              <a:ext uri="{FF2B5EF4-FFF2-40B4-BE49-F238E27FC236}">
                <a16:creationId xmlns:a16="http://schemas.microsoft.com/office/drawing/2014/main" id="{25D1EB42-F106-43D3-8791-9DC020535F21}"/>
              </a:ext>
            </a:extLst>
          </p:cNvPr>
          <p:cNvSpPr/>
          <p:nvPr/>
        </p:nvSpPr>
        <p:spPr>
          <a:xfrm>
            <a:off x="7478843" y="5240880"/>
            <a:ext cx="1204074" cy="412525"/>
          </a:xfrm>
          <a:prstGeom prst="round2SameRect">
            <a:avLst>
              <a:gd name="adj1" fmla="val 50000"/>
              <a:gd name="adj2" fmla="val 0"/>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TextBox 27">
            <a:extLst>
              <a:ext uri="{FF2B5EF4-FFF2-40B4-BE49-F238E27FC236}">
                <a16:creationId xmlns:a16="http://schemas.microsoft.com/office/drawing/2014/main" id="{2068D00A-8CE5-4811-A937-DA5EBE7D3713}"/>
              </a:ext>
            </a:extLst>
          </p:cNvPr>
          <p:cNvSpPr txBox="1"/>
          <p:nvPr/>
        </p:nvSpPr>
        <p:spPr>
          <a:xfrm>
            <a:off x="77875" y="1556306"/>
            <a:ext cx="11936323" cy="1384995"/>
          </a:xfrm>
          <a:prstGeom prst="rect">
            <a:avLst/>
          </a:prstGeom>
          <a:noFill/>
        </p:spPr>
        <p:txBody>
          <a:bodyPr wrap="square" rtlCol="0">
            <a:spAutoFit/>
          </a:bodyPr>
          <a:lstStyle/>
          <a:p>
            <a:pPr fontAlgn="base"/>
            <a:r>
              <a:rPr lang="en-US" altLang="ko-KR" sz="1400" dirty="0"/>
              <a:t>[1] </a:t>
            </a:r>
            <a:r>
              <a:rPr lang="ko-KR" altLang="en-US" sz="1400" dirty="0"/>
              <a:t>출원발명의 </a:t>
            </a:r>
            <a:r>
              <a:rPr lang="ko-KR" altLang="en-US" sz="1400" dirty="0" err="1"/>
              <a:t>공동출원인에</a:t>
            </a:r>
            <a:r>
              <a:rPr lang="ko-KR" altLang="en-US" sz="1400" dirty="0"/>
              <a:t> 대한 공시송달의 요건</a:t>
            </a:r>
            <a:r>
              <a:rPr lang="en-US" altLang="ko-KR" sz="1400" dirty="0"/>
              <a:t>: </a:t>
            </a:r>
            <a:r>
              <a:rPr lang="ko-KR" altLang="en-US" sz="1400" dirty="0" err="1"/>
              <a:t>공동출원인에</a:t>
            </a:r>
            <a:r>
              <a:rPr lang="ko-KR" altLang="en-US" sz="1400" dirty="0"/>
              <a:t> 대하여 특허법 제</a:t>
            </a:r>
            <a:r>
              <a:rPr lang="en-US" altLang="ko-KR" sz="1400" dirty="0"/>
              <a:t>219</a:t>
            </a:r>
            <a:r>
              <a:rPr lang="ko-KR" altLang="en-US" sz="1400" dirty="0"/>
              <a:t>조 제</a:t>
            </a:r>
            <a:r>
              <a:rPr lang="en-US" altLang="ko-KR" sz="1400" dirty="0"/>
              <a:t>1</a:t>
            </a:r>
            <a:r>
              <a:rPr lang="ko-KR" altLang="en-US" sz="1400" dirty="0"/>
              <a:t>항에 의한 공시송달을 실시하기 </a:t>
            </a:r>
            <a:r>
              <a:rPr lang="ko-KR" altLang="en-US" sz="1400" dirty="0">
                <a:highlight>
                  <a:srgbClr val="FFFF00"/>
                </a:highlight>
              </a:rPr>
              <a:t>위해서는 </a:t>
            </a:r>
            <a:r>
              <a:rPr lang="en-US" altLang="ko-KR" sz="1400" dirty="0">
                <a:highlight>
                  <a:srgbClr val="FFFF00"/>
                </a:highlight>
              </a:rPr>
              <a:t>'</a:t>
            </a:r>
            <a:r>
              <a:rPr lang="ko-KR" altLang="en-US" sz="1400" dirty="0" err="1">
                <a:highlight>
                  <a:srgbClr val="FFFF00"/>
                </a:highlight>
              </a:rPr>
              <a:t>공동출원인</a:t>
            </a:r>
            <a:r>
              <a:rPr lang="ko-KR" altLang="en-US" sz="1400" dirty="0">
                <a:highlight>
                  <a:srgbClr val="FFFF00"/>
                </a:highlight>
              </a:rPr>
              <a:t> 전원의 주소 또는 영업소가 불분명하여 </a:t>
            </a:r>
            <a:r>
              <a:rPr lang="ko-KR" altLang="en-US" sz="1400" dirty="0" err="1">
                <a:highlight>
                  <a:srgbClr val="FFFF00"/>
                </a:highlight>
              </a:rPr>
              <a:t>송달받을</a:t>
            </a:r>
            <a:r>
              <a:rPr lang="ko-KR" altLang="en-US" sz="1400" dirty="0">
                <a:highlight>
                  <a:srgbClr val="FFFF00"/>
                </a:highlight>
              </a:rPr>
              <a:t> 수 없는 때</a:t>
            </a:r>
            <a:r>
              <a:rPr lang="en-US" altLang="ko-KR" sz="1400" dirty="0">
                <a:highlight>
                  <a:srgbClr val="FFFF00"/>
                </a:highlight>
              </a:rPr>
              <a:t>'</a:t>
            </a:r>
            <a:r>
              <a:rPr lang="ko-KR" altLang="en-US" sz="1400" dirty="0"/>
              <a:t>에 해당하여야 하고</a:t>
            </a:r>
            <a:r>
              <a:rPr lang="en-US" altLang="ko-KR" sz="1400" dirty="0"/>
              <a:t>, </a:t>
            </a:r>
            <a:r>
              <a:rPr lang="ko-KR" altLang="en-US" sz="1400" dirty="0"/>
              <a:t>이러한 공시송달 요건이 구비되지 않은 상태에서 </a:t>
            </a:r>
            <a:r>
              <a:rPr lang="ko-KR" altLang="en-US" sz="1400" dirty="0" err="1"/>
              <a:t>공동출원인</a:t>
            </a:r>
            <a:r>
              <a:rPr lang="ko-KR" altLang="en-US" sz="1400" dirty="0"/>
              <a:t> 중 </a:t>
            </a:r>
            <a:r>
              <a:rPr lang="en-US" altLang="ko-KR" sz="1400" dirty="0"/>
              <a:t>1</a:t>
            </a:r>
            <a:r>
              <a:rPr lang="ko-KR" altLang="en-US" sz="1400" dirty="0"/>
              <a:t>인에 대하여 이루어진 공시송달은 부적법하고 그 효력이 발생하지 않는다</a:t>
            </a:r>
            <a:r>
              <a:rPr lang="en-US" altLang="ko-KR" sz="1400" dirty="0"/>
              <a:t>.</a:t>
            </a:r>
          </a:p>
          <a:p>
            <a:pPr fontAlgn="base"/>
            <a:r>
              <a:rPr lang="en-US" altLang="ko-KR" sz="1400" dirty="0"/>
              <a:t>[2] </a:t>
            </a:r>
            <a:r>
              <a:rPr lang="ko-KR" altLang="en-US" sz="1400" dirty="0"/>
              <a:t>지식재산처장이 특허관리인에 의하지 아니한 채 제출된 재외자의 서류를 반려하지 않고 특허에 관한 절차를 진행한 경우</a:t>
            </a:r>
            <a:r>
              <a:rPr lang="en-US" altLang="ko-KR" sz="1400" dirty="0"/>
              <a:t>, </a:t>
            </a:r>
            <a:r>
              <a:rPr lang="ko-KR" altLang="en-US" sz="1400" dirty="0"/>
              <a:t>사후에 그 절차상 하자를 주장할 수 있는지 여부</a:t>
            </a:r>
            <a:r>
              <a:rPr lang="en-US" altLang="ko-KR" sz="1400" dirty="0"/>
              <a:t>(</a:t>
            </a:r>
            <a:r>
              <a:rPr lang="ko-KR" altLang="en-US" sz="1400" dirty="0"/>
              <a:t>소극</a:t>
            </a:r>
            <a:r>
              <a:rPr lang="en-US" altLang="ko-KR" sz="1400" dirty="0"/>
              <a:t>): </a:t>
            </a:r>
            <a:r>
              <a:rPr lang="ko-KR" altLang="en-US" sz="1400" dirty="0"/>
              <a:t>지식재산처장은 특허관리인에 의하지 아니한 채 제출된 서류를 반려하지 아니하고 이를 수리하여 특허에 관한 절차를 진행한 이후에는 특허법 제</a:t>
            </a:r>
            <a:r>
              <a:rPr lang="en-US" altLang="ko-KR" sz="1400" dirty="0"/>
              <a:t>5</a:t>
            </a:r>
            <a:r>
              <a:rPr lang="ko-KR" altLang="en-US" sz="1400" dirty="0"/>
              <a:t>조 제</a:t>
            </a:r>
            <a:r>
              <a:rPr lang="en-US" altLang="ko-KR" sz="1400" dirty="0"/>
              <a:t>1</a:t>
            </a:r>
            <a:r>
              <a:rPr lang="ko-KR" altLang="en-US" sz="1400" dirty="0"/>
              <a:t>항에 위반된다는 이유로 제출된 서류의 절차상 하자를 주장할 수는 없다</a:t>
            </a:r>
            <a:r>
              <a:rPr lang="en-US" altLang="ko-KR" sz="1400" dirty="0"/>
              <a:t>.</a:t>
            </a:r>
            <a:endParaRPr lang="ko-KR" altLang="en-US" sz="1400" dirty="0"/>
          </a:p>
        </p:txBody>
      </p:sp>
      <p:sp>
        <p:nvSpPr>
          <p:cNvPr id="29" name="Line 5">
            <a:extLst>
              <a:ext uri="{FF2B5EF4-FFF2-40B4-BE49-F238E27FC236}">
                <a16:creationId xmlns:a16="http://schemas.microsoft.com/office/drawing/2014/main" id="{4EC6B141-57CF-4BE7-BAFC-E25DF3C29A40}"/>
              </a:ext>
            </a:extLst>
          </p:cNvPr>
          <p:cNvSpPr>
            <a:spLocks noChangeShapeType="1"/>
          </p:cNvSpPr>
          <p:nvPr/>
        </p:nvSpPr>
        <p:spPr bwMode="auto">
          <a:xfrm>
            <a:off x="514351" y="5638250"/>
            <a:ext cx="11001374" cy="0"/>
          </a:xfrm>
          <a:prstGeom prst="line">
            <a:avLst/>
          </a:prstGeom>
          <a:noFill/>
          <a:ln w="57150">
            <a:solidFill>
              <a:schemeClr val="bg1">
                <a:lumMod val="50000"/>
              </a:schemeClr>
            </a:solidFill>
            <a:round/>
            <a:headEnd/>
            <a:tailEnd type="stealth" w="med" len="med"/>
          </a:ln>
        </p:spPr>
        <p:txBody>
          <a:bodyPr/>
          <a:lstStyle/>
          <a:p>
            <a:endParaRPr lang="ko-KR" altLang="en-US" sz="1200">
              <a:latin typeface="+mn-ea"/>
            </a:endParaRPr>
          </a:p>
        </p:txBody>
      </p:sp>
      <p:sp>
        <p:nvSpPr>
          <p:cNvPr id="30" name="TextBox 29">
            <a:extLst>
              <a:ext uri="{FF2B5EF4-FFF2-40B4-BE49-F238E27FC236}">
                <a16:creationId xmlns:a16="http://schemas.microsoft.com/office/drawing/2014/main" id="{C6032B02-BA2B-4393-A3FE-A6E1F1049F5A}"/>
              </a:ext>
            </a:extLst>
          </p:cNvPr>
          <p:cNvSpPr txBox="1"/>
          <p:nvPr/>
        </p:nvSpPr>
        <p:spPr>
          <a:xfrm>
            <a:off x="666538" y="5894425"/>
            <a:ext cx="1147328" cy="276999"/>
          </a:xfrm>
          <a:prstGeom prst="rect">
            <a:avLst/>
          </a:prstGeom>
          <a:solidFill>
            <a:schemeClr val="bg1">
              <a:lumMod val="85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甲</a:t>
            </a:r>
            <a:r>
              <a:rPr lang="en-US" altLang="ko-KR" sz="1200" dirty="0">
                <a:solidFill>
                  <a:schemeClr val="tx1"/>
                </a:solidFill>
                <a:latin typeface="+mn-ea"/>
              </a:rPr>
              <a:t>, </a:t>
            </a:r>
            <a:r>
              <a:rPr lang="ko-KR" altLang="en-US" sz="1200" dirty="0">
                <a:solidFill>
                  <a:schemeClr val="tx1"/>
                </a:solidFill>
                <a:latin typeface="+mn-ea"/>
              </a:rPr>
              <a:t>乙 출원</a:t>
            </a:r>
          </a:p>
        </p:txBody>
      </p:sp>
      <p:sp>
        <p:nvSpPr>
          <p:cNvPr id="31" name="타원 30">
            <a:extLst>
              <a:ext uri="{FF2B5EF4-FFF2-40B4-BE49-F238E27FC236}">
                <a16:creationId xmlns:a16="http://schemas.microsoft.com/office/drawing/2014/main" id="{E81EA802-6204-4FB7-A721-FB293DA14771}"/>
              </a:ext>
            </a:extLst>
          </p:cNvPr>
          <p:cNvSpPr/>
          <p:nvPr/>
        </p:nvSpPr>
        <p:spPr>
          <a:xfrm>
            <a:off x="1162832" y="5544316"/>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32" name="직선 연결선 31">
            <a:extLst>
              <a:ext uri="{FF2B5EF4-FFF2-40B4-BE49-F238E27FC236}">
                <a16:creationId xmlns:a16="http://schemas.microsoft.com/office/drawing/2014/main" id="{4D3C8193-318D-4E35-8E3D-8971F6F63725}"/>
              </a:ext>
            </a:extLst>
          </p:cNvPr>
          <p:cNvCxnSpPr>
            <a:cxnSpLocks/>
            <a:stCxn id="30" idx="0"/>
            <a:endCxn id="31" idx="4"/>
          </p:cNvCxnSpPr>
          <p:nvPr/>
        </p:nvCxnSpPr>
        <p:spPr>
          <a:xfrm flipH="1" flipV="1">
            <a:off x="1240201" y="5705654"/>
            <a:ext cx="1" cy="188771"/>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9BB2D483-B124-422B-AFF0-C6A8B806693B}"/>
              </a:ext>
            </a:extLst>
          </p:cNvPr>
          <p:cNvSpPr txBox="1"/>
          <p:nvPr/>
        </p:nvSpPr>
        <p:spPr>
          <a:xfrm>
            <a:off x="3010601" y="5894425"/>
            <a:ext cx="1238068" cy="276999"/>
          </a:xfrm>
          <a:prstGeom prst="rect">
            <a:avLst/>
          </a:prstGeom>
          <a:solidFill>
            <a:schemeClr val="bg1">
              <a:lumMod val="85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err="1">
                <a:solidFill>
                  <a:schemeClr val="tx1"/>
                </a:solidFill>
                <a:latin typeface="+mn-ea"/>
              </a:rPr>
              <a:t>거절이유통지</a:t>
            </a:r>
            <a:endParaRPr lang="ko-KR" altLang="en-US" sz="1200" dirty="0">
              <a:solidFill>
                <a:schemeClr val="tx1"/>
              </a:solidFill>
              <a:latin typeface="+mn-ea"/>
            </a:endParaRPr>
          </a:p>
        </p:txBody>
      </p:sp>
      <p:sp>
        <p:nvSpPr>
          <p:cNvPr id="34" name="타원 33">
            <a:extLst>
              <a:ext uri="{FF2B5EF4-FFF2-40B4-BE49-F238E27FC236}">
                <a16:creationId xmlns:a16="http://schemas.microsoft.com/office/drawing/2014/main" id="{89542ABF-EC29-44CC-9F85-9FB182621D01}"/>
              </a:ext>
            </a:extLst>
          </p:cNvPr>
          <p:cNvSpPr/>
          <p:nvPr/>
        </p:nvSpPr>
        <p:spPr>
          <a:xfrm>
            <a:off x="3552265" y="5544316"/>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35" name="직선 연결선 34">
            <a:extLst>
              <a:ext uri="{FF2B5EF4-FFF2-40B4-BE49-F238E27FC236}">
                <a16:creationId xmlns:a16="http://schemas.microsoft.com/office/drawing/2014/main" id="{8222B599-6ACD-4C5E-9B81-3B01067D7548}"/>
              </a:ext>
            </a:extLst>
          </p:cNvPr>
          <p:cNvCxnSpPr>
            <a:cxnSpLocks/>
            <a:stCxn id="33" idx="0"/>
            <a:endCxn id="34" idx="4"/>
          </p:cNvCxnSpPr>
          <p:nvPr/>
        </p:nvCxnSpPr>
        <p:spPr>
          <a:xfrm flipH="1" flipV="1">
            <a:off x="3629634" y="5705654"/>
            <a:ext cx="1" cy="188771"/>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타원 35">
            <a:extLst>
              <a:ext uri="{FF2B5EF4-FFF2-40B4-BE49-F238E27FC236}">
                <a16:creationId xmlns:a16="http://schemas.microsoft.com/office/drawing/2014/main" id="{61FA690A-3567-4F5B-BA63-D5378CFD7747}"/>
              </a:ext>
            </a:extLst>
          </p:cNvPr>
          <p:cNvSpPr/>
          <p:nvPr/>
        </p:nvSpPr>
        <p:spPr>
          <a:xfrm>
            <a:off x="2411527" y="5544316"/>
            <a:ext cx="154738" cy="1613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37" name="직선 연결선 36">
            <a:extLst>
              <a:ext uri="{FF2B5EF4-FFF2-40B4-BE49-F238E27FC236}">
                <a16:creationId xmlns:a16="http://schemas.microsoft.com/office/drawing/2014/main" id="{4A01F0C5-9B5E-4A99-BE69-82558DDB58AB}"/>
              </a:ext>
            </a:extLst>
          </p:cNvPr>
          <p:cNvCxnSpPr>
            <a:cxnSpLocks/>
            <a:stCxn id="39" idx="2"/>
            <a:endCxn id="36" idx="0"/>
          </p:cNvCxnSpPr>
          <p:nvPr/>
        </p:nvCxnSpPr>
        <p:spPr>
          <a:xfrm>
            <a:off x="2488896" y="5185503"/>
            <a:ext cx="0" cy="358813"/>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9" name="TextBox 38">
            <a:extLst>
              <a:ext uri="{FF2B5EF4-FFF2-40B4-BE49-F238E27FC236}">
                <a16:creationId xmlns:a16="http://schemas.microsoft.com/office/drawing/2014/main" id="{E9793547-3DD0-4926-AB7B-543087E7D649}"/>
              </a:ext>
            </a:extLst>
          </p:cNvPr>
          <p:cNvSpPr txBox="1"/>
          <p:nvPr/>
        </p:nvSpPr>
        <p:spPr>
          <a:xfrm>
            <a:off x="1509975" y="4908504"/>
            <a:ext cx="1957842" cy="276999"/>
          </a:xfrm>
          <a:prstGeom prst="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甲</a:t>
            </a:r>
            <a:r>
              <a:rPr lang="en-US" altLang="ko-KR" sz="1200" dirty="0">
                <a:solidFill>
                  <a:schemeClr val="tx1"/>
                </a:solidFill>
                <a:latin typeface="+mn-ea"/>
              </a:rPr>
              <a:t>, </a:t>
            </a:r>
            <a:r>
              <a:rPr lang="ko-KR" altLang="en-US" sz="1200" dirty="0">
                <a:solidFill>
                  <a:schemeClr val="tx1"/>
                </a:solidFill>
                <a:latin typeface="+mn-ea"/>
              </a:rPr>
              <a:t>乙 미국으로 이민</a:t>
            </a:r>
          </a:p>
        </p:txBody>
      </p:sp>
      <p:sp>
        <p:nvSpPr>
          <p:cNvPr id="40" name="타원 39">
            <a:extLst>
              <a:ext uri="{FF2B5EF4-FFF2-40B4-BE49-F238E27FC236}">
                <a16:creationId xmlns:a16="http://schemas.microsoft.com/office/drawing/2014/main" id="{DDC2D802-CEB9-4CE9-BB26-61FC68E00397}"/>
              </a:ext>
            </a:extLst>
          </p:cNvPr>
          <p:cNvSpPr/>
          <p:nvPr/>
        </p:nvSpPr>
        <p:spPr>
          <a:xfrm>
            <a:off x="4602310" y="5544316"/>
            <a:ext cx="154738" cy="1613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41" name="직선 연결선 40">
            <a:extLst>
              <a:ext uri="{FF2B5EF4-FFF2-40B4-BE49-F238E27FC236}">
                <a16:creationId xmlns:a16="http://schemas.microsoft.com/office/drawing/2014/main" id="{99390676-65EB-49EA-A0C2-B66D64CA3937}"/>
              </a:ext>
            </a:extLst>
          </p:cNvPr>
          <p:cNvCxnSpPr>
            <a:cxnSpLocks/>
            <a:stCxn id="42" idx="2"/>
            <a:endCxn id="40" idx="0"/>
          </p:cNvCxnSpPr>
          <p:nvPr/>
        </p:nvCxnSpPr>
        <p:spPr>
          <a:xfrm>
            <a:off x="4679679" y="5185503"/>
            <a:ext cx="0" cy="358813"/>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2" name="TextBox 41">
            <a:extLst>
              <a:ext uri="{FF2B5EF4-FFF2-40B4-BE49-F238E27FC236}">
                <a16:creationId xmlns:a16="http://schemas.microsoft.com/office/drawing/2014/main" id="{6C2C8375-44A4-4CBD-BCC9-37DE4690DDB4}"/>
              </a:ext>
            </a:extLst>
          </p:cNvPr>
          <p:cNvSpPr txBox="1"/>
          <p:nvPr/>
        </p:nvSpPr>
        <p:spPr>
          <a:xfrm>
            <a:off x="3700758" y="4908504"/>
            <a:ext cx="1957842" cy="276999"/>
          </a:xfrm>
          <a:prstGeom prst="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甲이 단독으로 보정서 제출</a:t>
            </a:r>
          </a:p>
        </p:txBody>
      </p:sp>
      <p:sp>
        <p:nvSpPr>
          <p:cNvPr id="45" name="TextBox 44">
            <a:extLst>
              <a:ext uri="{FF2B5EF4-FFF2-40B4-BE49-F238E27FC236}">
                <a16:creationId xmlns:a16="http://schemas.microsoft.com/office/drawing/2014/main" id="{9027B2FF-EBA0-4D7A-9D7E-D2423056127B}"/>
              </a:ext>
            </a:extLst>
          </p:cNvPr>
          <p:cNvSpPr txBox="1"/>
          <p:nvPr/>
        </p:nvSpPr>
        <p:spPr>
          <a:xfrm>
            <a:off x="5395245" y="5894425"/>
            <a:ext cx="798056" cy="276999"/>
          </a:xfrm>
          <a:prstGeom prst="rect">
            <a:avLst/>
          </a:prstGeom>
          <a:solidFill>
            <a:schemeClr val="bg1">
              <a:lumMod val="85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거절결정</a:t>
            </a:r>
          </a:p>
        </p:txBody>
      </p:sp>
      <p:sp>
        <p:nvSpPr>
          <p:cNvPr id="46" name="타원 45">
            <a:extLst>
              <a:ext uri="{FF2B5EF4-FFF2-40B4-BE49-F238E27FC236}">
                <a16:creationId xmlns:a16="http://schemas.microsoft.com/office/drawing/2014/main" id="{7CEBAF76-4CAF-45CD-9705-8DF2C58EB9DA}"/>
              </a:ext>
            </a:extLst>
          </p:cNvPr>
          <p:cNvSpPr/>
          <p:nvPr/>
        </p:nvSpPr>
        <p:spPr>
          <a:xfrm>
            <a:off x="5716903" y="5544316"/>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47" name="직선 연결선 46">
            <a:extLst>
              <a:ext uri="{FF2B5EF4-FFF2-40B4-BE49-F238E27FC236}">
                <a16:creationId xmlns:a16="http://schemas.microsoft.com/office/drawing/2014/main" id="{FDCE859A-F50E-4046-8DA6-5E1ED1777A68}"/>
              </a:ext>
            </a:extLst>
          </p:cNvPr>
          <p:cNvCxnSpPr>
            <a:cxnSpLocks/>
            <a:stCxn id="45" idx="0"/>
            <a:endCxn id="46" idx="4"/>
          </p:cNvCxnSpPr>
          <p:nvPr/>
        </p:nvCxnSpPr>
        <p:spPr>
          <a:xfrm flipH="1" flipV="1">
            <a:off x="5794272" y="5705654"/>
            <a:ext cx="1" cy="188771"/>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B5771989-8E35-4E85-B719-C4868623CB69}"/>
              </a:ext>
            </a:extLst>
          </p:cNvPr>
          <p:cNvSpPr txBox="1"/>
          <p:nvPr/>
        </p:nvSpPr>
        <p:spPr>
          <a:xfrm>
            <a:off x="6401522" y="5894425"/>
            <a:ext cx="2154644" cy="461665"/>
          </a:xfrm>
          <a:prstGeom prst="rect">
            <a:avLst/>
          </a:prstGeom>
          <a:solidFill>
            <a:schemeClr val="bg1">
              <a:lumMod val="85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甲에게 송달되지 않자</a:t>
            </a:r>
            <a:endParaRPr lang="en-US" altLang="ko-KR" sz="1200" dirty="0">
              <a:solidFill>
                <a:schemeClr val="tx1"/>
              </a:solidFill>
              <a:latin typeface="+mn-ea"/>
            </a:endParaRPr>
          </a:p>
          <a:p>
            <a:pPr algn="ctr"/>
            <a:r>
              <a:rPr lang="ko-KR" altLang="en-US" sz="1200" dirty="0">
                <a:solidFill>
                  <a:schemeClr val="tx1"/>
                </a:solidFill>
                <a:latin typeface="+mn-ea"/>
              </a:rPr>
              <a:t>甲을 수령인으로 공시송달</a:t>
            </a:r>
          </a:p>
        </p:txBody>
      </p:sp>
      <p:sp>
        <p:nvSpPr>
          <p:cNvPr id="58" name="타원 57">
            <a:extLst>
              <a:ext uri="{FF2B5EF4-FFF2-40B4-BE49-F238E27FC236}">
                <a16:creationId xmlns:a16="http://schemas.microsoft.com/office/drawing/2014/main" id="{DB09F44D-7C25-45A1-88B0-216C7E7732DE}"/>
              </a:ext>
            </a:extLst>
          </p:cNvPr>
          <p:cNvSpPr/>
          <p:nvPr/>
        </p:nvSpPr>
        <p:spPr>
          <a:xfrm>
            <a:off x="7401474" y="5544316"/>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61" name="직선 연결선 60">
            <a:extLst>
              <a:ext uri="{FF2B5EF4-FFF2-40B4-BE49-F238E27FC236}">
                <a16:creationId xmlns:a16="http://schemas.microsoft.com/office/drawing/2014/main" id="{30B6E079-8D27-4296-8E48-5BBDEC93FD1C}"/>
              </a:ext>
            </a:extLst>
          </p:cNvPr>
          <p:cNvCxnSpPr>
            <a:cxnSpLocks/>
            <a:stCxn id="50" idx="0"/>
            <a:endCxn id="58" idx="4"/>
          </p:cNvCxnSpPr>
          <p:nvPr/>
        </p:nvCxnSpPr>
        <p:spPr>
          <a:xfrm flipH="1" flipV="1">
            <a:off x="7478843" y="5705654"/>
            <a:ext cx="1" cy="188771"/>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3" name="사각형: 둥근 모서리 62">
            <a:extLst>
              <a:ext uri="{FF2B5EF4-FFF2-40B4-BE49-F238E27FC236}">
                <a16:creationId xmlns:a16="http://schemas.microsoft.com/office/drawing/2014/main" id="{8791DCA3-ACAE-445C-B9DE-3EF92B7600B8}"/>
              </a:ext>
            </a:extLst>
          </p:cNvPr>
          <p:cNvSpPr/>
          <p:nvPr/>
        </p:nvSpPr>
        <p:spPr>
          <a:xfrm>
            <a:off x="113937" y="1076839"/>
            <a:ext cx="5309023" cy="346234"/>
          </a:xfrm>
          <a:prstGeom prst="roundRect">
            <a:avLst>
              <a:gd name="adj" fmla="val 50000"/>
            </a:avLst>
          </a:prstGeom>
          <a:solidFill>
            <a:schemeClr val="bg1">
              <a:lumMod val="85000"/>
            </a:schemeClr>
          </a:solidFill>
          <a:ln>
            <a:solidFill>
              <a:schemeClr val="bg1">
                <a:lumMod val="65000"/>
              </a:schemeClr>
            </a:solidFill>
          </a:ln>
        </p:spPr>
        <p:txBody>
          <a:bodyPr wrap="none" tIns="0" bIns="0">
            <a:spAutoFit/>
          </a:bodyPr>
          <a:lstStyle/>
          <a:p>
            <a:r>
              <a:rPr lang="ko-KR" altLang="en-US" sz="1600" dirty="0"/>
              <a:t>대법원 </a:t>
            </a:r>
            <a:r>
              <a:rPr lang="en-US" altLang="ko-KR" sz="1600" dirty="0"/>
              <a:t>2005. 5. 27. </a:t>
            </a:r>
            <a:r>
              <a:rPr lang="ko-KR" altLang="en-US" sz="1600" dirty="0"/>
              <a:t>선고 </a:t>
            </a:r>
            <a:r>
              <a:rPr lang="en-US" altLang="ko-KR" sz="1600" dirty="0"/>
              <a:t>2003</a:t>
            </a:r>
            <a:r>
              <a:rPr lang="ko-KR" altLang="en-US" sz="1600" dirty="0"/>
              <a:t>후</a:t>
            </a:r>
            <a:r>
              <a:rPr lang="en-US" altLang="ko-KR" sz="1600" dirty="0"/>
              <a:t>182 </a:t>
            </a:r>
            <a:r>
              <a:rPr lang="ko-KR" altLang="en-US" sz="1600" dirty="0"/>
              <a:t>판결 </a:t>
            </a:r>
            <a:r>
              <a:rPr lang="en-US" altLang="ko-KR" sz="1600" dirty="0"/>
              <a:t>【</a:t>
            </a:r>
            <a:r>
              <a:rPr lang="ko-KR" altLang="en-US" sz="1600" dirty="0"/>
              <a:t>거절결정</a:t>
            </a:r>
            <a:r>
              <a:rPr lang="en-US" altLang="ko-KR" sz="1600" dirty="0"/>
              <a:t>(</a:t>
            </a:r>
            <a:r>
              <a:rPr lang="ko-KR" altLang="en-US" sz="1600" dirty="0" err="1"/>
              <a:t>특</a:t>
            </a:r>
            <a:r>
              <a:rPr lang="en-US" altLang="ko-KR" sz="1600" dirty="0"/>
              <a:t>)】</a:t>
            </a:r>
            <a:endParaRPr lang="ko-KR" altLang="en-US" sz="1600" dirty="0"/>
          </a:p>
        </p:txBody>
      </p:sp>
      <p:sp>
        <p:nvSpPr>
          <p:cNvPr id="64" name="직사각형 63">
            <a:extLst>
              <a:ext uri="{FF2B5EF4-FFF2-40B4-BE49-F238E27FC236}">
                <a16:creationId xmlns:a16="http://schemas.microsoft.com/office/drawing/2014/main" id="{C79234F4-92DA-4A43-BECF-3E27252B90B9}"/>
              </a:ext>
            </a:extLst>
          </p:cNvPr>
          <p:cNvSpPr/>
          <p:nvPr/>
        </p:nvSpPr>
        <p:spPr>
          <a:xfrm>
            <a:off x="423160" y="3287128"/>
            <a:ext cx="11345678" cy="954107"/>
          </a:xfrm>
          <a:prstGeom prst="rect">
            <a:avLst/>
          </a:prstGeom>
          <a:solidFill>
            <a:schemeClr val="accent4">
              <a:lumMod val="20000"/>
              <a:lumOff val="80000"/>
            </a:schemeClr>
          </a:solidFill>
          <a:ln>
            <a:solidFill>
              <a:schemeClr val="bg1">
                <a:lumMod val="65000"/>
              </a:schemeClr>
            </a:solidFill>
          </a:ln>
        </p:spPr>
        <p:txBody>
          <a:bodyPr wrap="square">
            <a:spAutoFit/>
          </a:bodyPr>
          <a:lstStyle/>
          <a:p>
            <a:pPr algn="just"/>
            <a:r>
              <a:rPr lang="ko-KR" altLang="en-US" sz="1400" dirty="0"/>
              <a:t>지식재산처장이 특허관리인에 의하지 아니한 채 제출된 재외자의 서류를 반려하지 않고 특허에 관한 절차를 진행한 경우</a:t>
            </a:r>
            <a:r>
              <a:rPr lang="en-US" altLang="ko-KR" sz="1400" dirty="0"/>
              <a:t>, ⅰ) </a:t>
            </a:r>
            <a:r>
              <a:rPr lang="ko-KR" altLang="en-US" sz="1400" dirty="0"/>
              <a:t>특허관리인제도는 지식재산처가 국내에 거주하지 않는 자와 직접 절차를 수행함에 따른 번잡과 절차지연을 피함으로써 </a:t>
            </a:r>
            <a:r>
              <a:rPr lang="ko-KR" altLang="en-US" sz="1400" dirty="0">
                <a:highlight>
                  <a:srgbClr val="FFFF00"/>
                </a:highlight>
              </a:rPr>
              <a:t>원활한 절차수행이 가능하도록 하기 위함에 그 의의</a:t>
            </a:r>
            <a:r>
              <a:rPr lang="ko-KR" altLang="en-US" sz="1400" dirty="0"/>
              <a:t>가 있는 점</a:t>
            </a:r>
            <a:r>
              <a:rPr lang="en-US" altLang="ko-KR" sz="1400" dirty="0"/>
              <a:t>, ⅱ) </a:t>
            </a:r>
            <a:r>
              <a:rPr lang="ko-KR" altLang="en-US" sz="1400" dirty="0"/>
              <a:t>재외자라 하더라도 </a:t>
            </a:r>
            <a:r>
              <a:rPr lang="ko-KR" altLang="en-US" sz="1400" dirty="0">
                <a:highlight>
                  <a:srgbClr val="FFFF00"/>
                </a:highlight>
              </a:rPr>
              <a:t>국내에 체재하는 경우에는 직접 절차를 밟을 수 있는 점</a:t>
            </a:r>
            <a:r>
              <a:rPr lang="en-US" altLang="ko-KR" sz="1400" dirty="0"/>
              <a:t>, ⅲ) </a:t>
            </a:r>
            <a:r>
              <a:rPr lang="ko-KR" altLang="en-US" sz="1400" dirty="0"/>
              <a:t>재외자가 특허관리인에 의하지 아니하고 그 절차를 밟은 경우에 이를 </a:t>
            </a:r>
            <a:r>
              <a:rPr lang="ko-KR" altLang="en-US" sz="1400" dirty="0" err="1">
                <a:highlight>
                  <a:srgbClr val="FFFF00"/>
                </a:highlight>
              </a:rPr>
              <a:t>특허거절이유나</a:t>
            </a:r>
            <a:r>
              <a:rPr lang="ko-KR" altLang="en-US" sz="1400" dirty="0">
                <a:highlight>
                  <a:srgbClr val="FFFF00"/>
                </a:highlight>
              </a:rPr>
              <a:t> 특허무효사유로는 하고 있지 않은 점</a:t>
            </a:r>
            <a:r>
              <a:rPr lang="ko-KR" altLang="en-US" sz="1400" dirty="0"/>
              <a:t> 등에 비추어 볼 때</a:t>
            </a:r>
            <a:r>
              <a:rPr lang="en-US" altLang="ko-KR" sz="1400" dirty="0"/>
              <a:t>, </a:t>
            </a:r>
            <a:r>
              <a:rPr lang="ko-KR" altLang="en-US" sz="1400" dirty="0"/>
              <a:t>지식재산처장은 사후에 이를 이유로 제출된 서류의 절차상 하자를 주장할 수는 없다</a:t>
            </a:r>
            <a:r>
              <a:rPr lang="en-US" altLang="ko-KR" sz="1400" dirty="0"/>
              <a:t>.</a:t>
            </a:r>
            <a:endParaRPr lang="ko-KR" altLang="en-US" sz="1400" dirty="0"/>
          </a:p>
        </p:txBody>
      </p:sp>
      <p:cxnSp>
        <p:nvCxnSpPr>
          <p:cNvPr id="67" name="직선 연결선 66">
            <a:extLst>
              <a:ext uri="{FF2B5EF4-FFF2-40B4-BE49-F238E27FC236}">
                <a16:creationId xmlns:a16="http://schemas.microsoft.com/office/drawing/2014/main" id="{1295681E-E68B-437F-8E1E-D499F5F4351F}"/>
              </a:ext>
            </a:extLst>
          </p:cNvPr>
          <p:cNvCxnSpPr/>
          <p:nvPr/>
        </p:nvCxnSpPr>
        <p:spPr>
          <a:xfrm>
            <a:off x="0" y="2987152"/>
            <a:ext cx="12191999" cy="0"/>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8" name="타원 67">
            <a:extLst>
              <a:ext uri="{FF2B5EF4-FFF2-40B4-BE49-F238E27FC236}">
                <a16:creationId xmlns:a16="http://schemas.microsoft.com/office/drawing/2014/main" id="{F50709EA-2247-4922-ABF2-719A834A86B3}"/>
              </a:ext>
            </a:extLst>
          </p:cNvPr>
          <p:cNvSpPr/>
          <p:nvPr/>
        </p:nvSpPr>
        <p:spPr>
          <a:xfrm>
            <a:off x="9893969" y="5544316"/>
            <a:ext cx="154738" cy="1613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69" name="직선 연결선 68">
            <a:extLst>
              <a:ext uri="{FF2B5EF4-FFF2-40B4-BE49-F238E27FC236}">
                <a16:creationId xmlns:a16="http://schemas.microsoft.com/office/drawing/2014/main" id="{34C9C2C7-D0A2-42AF-A16B-2EBD6667678A}"/>
              </a:ext>
            </a:extLst>
          </p:cNvPr>
          <p:cNvCxnSpPr>
            <a:cxnSpLocks/>
            <a:stCxn id="70" idx="2"/>
            <a:endCxn id="68" idx="0"/>
          </p:cNvCxnSpPr>
          <p:nvPr/>
        </p:nvCxnSpPr>
        <p:spPr>
          <a:xfrm>
            <a:off x="9971338" y="5185503"/>
            <a:ext cx="0" cy="358813"/>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0" name="TextBox 69">
            <a:extLst>
              <a:ext uri="{FF2B5EF4-FFF2-40B4-BE49-F238E27FC236}">
                <a16:creationId xmlns:a16="http://schemas.microsoft.com/office/drawing/2014/main" id="{46D942AC-812F-4ED3-83D7-EE503C83AAAB}"/>
              </a:ext>
            </a:extLst>
          </p:cNvPr>
          <p:cNvSpPr txBox="1"/>
          <p:nvPr/>
        </p:nvSpPr>
        <p:spPr>
          <a:xfrm>
            <a:off x="9140909" y="4908504"/>
            <a:ext cx="1660858" cy="276999"/>
          </a:xfrm>
          <a:prstGeom prst="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甲이 단독으로 심판청구</a:t>
            </a:r>
          </a:p>
        </p:txBody>
      </p:sp>
      <p:sp>
        <p:nvSpPr>
          <p:cNvPr id="71" name="타원 70">
            <a:extLst>
              <a:ext uri="{FF2B5EF4-FFF2-40B4-BE49-F238E27FC236}">
                <a16:creationId xmlns:a16="http://schemas.microsoft.com/office/drawing/2014/main" id="{06188115-3B76-4300-B40E-73587257D04F}"/>
              </a:ext>
            </a:extLst>
          </p:cNvPr>
          <p:cNvSpPr/>
          <p:nvPr/>
        </p:nvSpPr>
        <p:spPr>
          <a:xfrm>
            <a:off x="10527254" y="5544316"/>
            <a:ext cx="154738" cy="1613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72" name="직선 연결선 71">
            <a:extLst>
              <a:ext uri="{FF2B5EF4-FFF2-40B4-BE49-F238E27FC236}">
                <a16:creationId xmlns:a16="http://schemas.microsoft.com/office/drawing/2014/main" id="{C38E467D-1157-4EAE-9A74-E34D2E725A98}"/>
              </a:ext>
            </a:extLst>
          </p:cNvPr>
          <p:cNvCxnSpPr>
            <a:cxnSpLocks/>
            <a:stCxn id="73" idx="0"/>
            <a:endCxn id="71" idx="4"/>
          </p:cNvCxnSpPr>
          <p:nvPr/>
        </p:nvCxnSpPr>
        <p:spPr>
          <a:xfrm flipV="1">
            <a:off x="10604623" y="5705654"/>
            <a:ext cx="0" cy="373437"/>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3" name="TextBox 72">
            <a:extLst>
              <a:ext uri="{FF2B5EF4-FFF2-40B4-BE49-F238E27FC236}">
                <a16:creationId xmlns:a16="http://schemas.microsoft.com/office/drawing/2014/main" id="{40D48B87-58AE-4C39-9FFF-D7A63F91B24C}"/>
              </a:ext>
            </a:extLst>
          </p:cNvPr>
          <p:cNvSpPr txBox="1"/>
          <p:nvPr/>
        </p:nvSpPr>
        <p:spPr>
          <a:xfrm>
            <a:off x="9774194" y="6079091"/>
            <a:ext cx="1660858" cy="276999"/>
          </a:xfrm>
          <a:prstGeom prst="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乙을 추가하는 보정</a:t>
            </a:r>
          </a:p>
        </p:txBody>
      </p:sp>
      <p:sp>
        <p:nvSpPr>
          <p:cNvPr id="74" name="TextBox 73">
            <a:extLst>
              <a:ext uri="{FF2B5EF4-FFF2-40B4-BE49-F238E27FC236}">
                <a16:creationId xmlns:a16="http://schemas.microsoft.com/office/drawing/2014/main" id="{E4D63B32-842A-4CAD-BB64-1FBE33FE3F91}"/>
              </a:ext>
            </a:extLst>
          </p:cNvPr>
          <p:cNvSpPr txBox="1"/>
          <p:nvPr/>
        </p:nvSpPr>
        <p:spPr>
          <a:xfrm>
            <a:off x="7559551" y="5317863"/>
            <a:ext cx="1147328" cy="276999"/>
          </a:xfrm>
          <a:prstGeom prst="rect">
            <a:avLst/>
          </a:prstGeom>
          <a:noFill/>
          <a:ln>
            <a:no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bg1"/>
                </a:solidFill>
                <a:latin typeface="+mn-ea"/>
              </a:rPr>
              <a:t>심판청구기간</a:t>
            </a:r>
          </a:p>
        </p:txBody>
      </p:sp>
      <p:sp>
        <p:nvSpPr>
          <p:cNvPr id="5" name="타원 4">
            <a:extLst>
              <a:ext uri="{FF2B5EF4-FFF2-40B4-BE49-F238E27FC236}">
                <a16:creationId xmlns:a16="http://schemas.microsoft.com/office/drawing/2014/main" id="{A9547663-E90C-4A47-A2F3-7EB8988994B9}"/>
              </a:ext>
            </a:extLst>
          </p:cNvPr>
          <p:cNvSpPr/>
          <p:nvPr/>
        </p:nvSpPr>
        <p:spPr>
          <a:xfrm>
            <a:off x="5523870" y="4679391"/>
            <a:ext cx="386065" cy="386065"/>
          </a:xfrm>
          <a:prstGeom prst="ellipse">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2</a:t>
            </a:r>
            <a:endParaRPr lang="ko-KR" altLang="en-US" dirty="0"/>
          </a:p>
        </p:txBody>
      </p:sp>
      <p:sp>
        <p:nvSpPr>
          <p:cNvPr id="38" name="타원 37">
            <a:extLst>
              <a:ext uri="{FF2B5EF4-FFF2-40B4-BE49-F238E27FC236}">
                <a16:creationId xmlns:a16="http://schemas.microsoft.com/office/drawing/2014/main" id="{1732B301-CDDA-4034-986F-0CA0DD56BCC8}"/>
              </a:ext>
            </a:extLst>
          </p:cNvPr>
          <p:cNvSpPr/>
          <p:nvPr/>
        </p:nvSpPr>
        <p:spPr>
          <a:xfrm>
            <a:off x="6208489" y="6211045"/>
            <a:ext cx="386065" cy="386065"/>
          </a:xfrm>
          <a:prstGeom prst="ellipse">
            <a:avLst/>
          </a:prstGeom>
          <a:solidFill>
            <a:srgbClr val="FF0000"/>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t>1</a:t>
            </a:r>
            <a:endParaRPr lang="ko-KR" altLang="en-US" dirty="0"/>
          </a:p>
        </p:txBody>
      </p:sp>
      <p:sp>
        <p:nvSpPr>
          <p:cNvPr id="43" name="TextBox 42">
            <a:extLst>
              <a:ext uri="{FF2B5EF4-FFF2-40B4-BE49-F238E27FC236}">
                <a16:creationId xmlns:a16="http://schemas.microsoft.com/office/drawing/2014/main" id="{9A729F07-E052-4E98-B936-045855DD345F}"/>
              </a:ext>
            </a:extLst>
          </p:cNvPr>
          <p:cNvSpPr txBox="1"/>
          <p:nvPr/>
        </p:nvSpPr>
        <p:spPr>
          <a:xfrm>
            <a:off x="8801334" y="5894425"/>
            <a:ext cx="798056" cy="276999"/>
          </a:xfrm>
          <a:prstGeom prst="rect">
            <a:avLst/>
          </a:prstGeom>
          <a:solidFill>
            <a:schemeClr val="bg1">
              <a:lumMod val="85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err="1">
                <a:solidFill>
                  <a:schemeClr val="tx1"/>
                </a:solidFill>
                <a:latin typeface="+mn-ea"/>
              </a:rPr>
              <a:t>재송달</a:t>
            </a:r>
            <a:endParaRPr lang="ko-KR" altLang="en-US" sz="1200" dirty="0">
              <a:solidFill>
                <a:schemeClr val="tx1"/>
              </a:solidFill>
              <a:latin typeface="+mn-ea"/>
            </a:endParaRPr>
          </a:p>
        </p:txBody>
      </p:sp>
      <p:sp>
        <p:nvSpPr>
          <p:cNvPr id="44" name="타원 43">
            <a:extLst>
              <a:ext uri="{FF2B5EF4-FFF2-40B4-BE49-F238E27FC236}">
                <a16:creationId xmlns:a16="http://schemas.microsoft.com/office/drawing/2014/main" id="{1C63677E-0846-4DA3-8E7A-70A5230B622E}"/>
              </a:ext>
            </a:extLst>
          </p:cNvPr>
          <p:cNvSpPr/>
          <p:nvPr/>
        </p:nvSpPr>
        <p:spPr>
          <a:xfrm>
            <a:off x="9122992" y="5544316"/>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48" name="직선 연결선 47">
            <a:extLst>
              <a:ext uri="{FF2B5EF4-FFF2-40B4-BE49-F238E27FC236}">
                <a16:creationId xmlns:a16="http://schemas.microsoft.com/office/drawing/2014/main" id="{1A4C8614-381E-4E4E-9D9B-3E1FD65597A6}"/>
              </a:ext>
            </a:extLst>
          </p:cNvPr>
          <p:cNvCxnSpPr>
            <a:cxnSpLocks/>
            <a:stCxn id="43" idx="0"/>
            <a:endCxn id="44" idx="4"/>
          </p:cNvCxnSpPr>
          <p:nvPr/>
        </p:nvCxnSpPr>
        <p:spPr>
          <a:xfrm flipH="1" flipV="1">
            <a:off x="9200361" y="5705654"/>
            <a:ext cx="1" cy="188771"/>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8" name="연결선: 꺾임 7">
            <a:extLst>
              <a:ext uri="{FF2B5EF4-FFF2-40B4-BE49-F238E27FC236}">
                <a16:creationId xmlns:a16="http://schemas.microsoft.com/office/drawing/2014/main" id="{83859AF8-9D10-494C-A24F-D56257373CE7}"/>
              </a:ext>
            </a:extLst>
          </p:cNvPr>
          <p:cNvCxnSpPr>
            <a:cxnSpLocks/>
            <a:endCxn id="42" idx="0"/>
          </p:cNvCxnSpPr>
          <p:nvPr/>
        </p:nvCxnSpPr>
        <p:spPr>
          <a:xfrm rot="5400000">
            <a:off x="5759798" y="3189459"/>
            <a:ext cx="638926" cy="2799164"/>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5870541"/>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7</a:t>
            </a:r>
            <a:r>
              <a:rPr lang="ko-KR" altLang="en-US" dirty="0"/>
              <a:t>조</a:t>
            </a:r>
          </a:p>
        </p:txBody>
      </p:sp>
      <p:sp>
        <p:nvSpPr>
          <p:cNvPr id="4" name="텍스트 개체 틀 3"/>
          <p:cNvSpPr>
            <a:spLocks noGrp="1"/>
          </p:cNvSpPr>
          <p:nvPr>
            <p:ph type="body" sz="quarter" idx="13"/>
          </p:nvPr>
        </p:nvSpPr>
        <p:spPr/>
        <p:txBody>
          <a:bodyPr/>
          <a:lstStyle/>
          <a:p>
            <a:r>
              <a:rPr lang="ko-KR" altLang="en-US" dirty="0">
                <a:solidFill>
                  <a:schemeClr val="tx1">
                    <a:lumMod val="65000"/>
                    <a:lumOff val="35000"/>
                  </a:schemeClr>
                </a:solidFill>
              </a:rPr>
              <a:t>출원절차 진행 중 포괄위임장 제출의 효력</a:t>
            </a:r>
          </a:p>
        </p:txBody>
      </p:sp>
      <p:sp>
        <p:nvSpPr>
          <p:cNvPr id="2" name="슬라이드 번호 개체 틀 1"/>
          <p:cNvSpPr>
            <a:spLocks noGrp="1"/>
          </p:cNvSpPr>
          <p:nvPr>
            <p:ph type="sldNum" sz="quarter" idx="4294967295"/>
          </p:nvPr>
        </p:nvSpPr>
        <p:spPr>
          <a:xfrm>
            <a:off x="11129963" y="0"/>
            <a:ext cx="1062037" cy="733425"/>
          </a:xfrm>
        </p:spPr>
        <p:txBody>
          <a:bodyPr/>
          <a:lstStyle/>
          <a:p>
            <a:fld id="{3875FC6C-1516-4DC4-8C58-3090F7D4F003}" type="slidenum">
              <a:rPr lang="ko-KR" altLang="en-US" smtClean="0"/>
              <a:t>32</a:t>
            </a:fld>
            <a:endParaRPr lang="ko-KR" altLang="en-US" dirty="0"/>
          </a:p>
        </p:txBody>
      </p:sp>
      <p:sp>
        <p:nvSpPr>
          <p:cNvPr id="28" name="TextBox 27">
            <a:extLst>
              <a:ext uri="{FF2B5EF4-FFF2-40B4-BE49-F238E27FC236}">
                <a16:creationId xmlns:a16="http://schemas.microsoft.com/office/drawing/2014/main" id="{2068D00A-8CE5-4811-A937-DA5EBE7D3713}"/>
              </a:ext>
            </a:extLst>
          </p:cNvPr>
          <p:cNvSpPr txBox="1"/>
          <p:nvPr/>
        </p:nvSpPr>
        <p:spPr>
          <a:xfrm>
            <a:off x="77875" y="1556306"/>
            <a:ext cx="11936323" cy="2677656"/>
          </a:xfrm>
          <a:prstGeom prst="rect">
            <a:avLst/>
          </a:prstGeom>
          <a:noFill/>
        </p:spPr>
        <p:txBody>
          <a:bodyPr wrap="square" rtlCol="0">
            <a:spAutoFit/>
          </a:bodyPr>
          <a:lstStyle/>
          <a:p>
            <a:pPr fontAlgn="base"/>
            <a:r>
              <a:rPr lang="en-US" altLang="ko-KR" sz="1400" dirty="0"/>
              <a:t>[1] </a:t>
            </a:r>
            <a:r>
              <a:rPr lang="ko-KR" altLang="en-US" sz="1400" dirty="0"/>
              <a:t>특허법 제</a:t>
            </a:r>
            <a:r>
              <a:rPr lang="en-US" altLang="ko-KR" sz="1400" dirty="0"/>
              <a:t>46</a:t>
            </a:r>
            <a:r>
              <a:rPr lang="ko-KR" altLang="en-US" sz="1400" dirty="0"/>
              <a:t>조 제</a:t>
            </a:r>
            <a:r>
              <a:rPr lang="en-US" altLang="ko-KR" sz="1400" dirty="0"/>
              <a:t>2</a:t>
            </a:r>
            <a:r>
              <a:rPr lang="ko-KR" altLang="en-US" sz="1400" dirty="0"/>
              <a:t>호는 지식재산처장 등이 특허에 관한 절차가 특허법 또는 특허법에 따른 명령으로 정하는 방식을 위반한 경우 기간을 정하여 보정을 명하여야 하고 보정명령을 받은 자는 그 기간에 그 보정명령에 대한 의견서를 지식재산처장 등에게 제출할 수 있다고 규정하면서</a:t>
            </a:r>
            <a:r>
              <a:rPr lang="en-US" altLang="ko-KR" sz="1400" dirty="0"/>
              <a:t>, </a:t>
            </a:r>
            <a:r>
              <a:rPr lang="ko-KR" altLang="en-US" sz="1400" dirty="0"/>
              <a:t>보정명령에 대한 의견서나 그 제출에 관하여는 특정한 방식을 요구하지 않고 있다</a:t>
            </a:r>
            <a:r>
              <a:rPr lang="en-US" altLang="ko-KR" sz="1400" dirty="0"/>
              <a:t>. </a:t>
            </a:r>
            <a:r>
              <a:rPr lang="ko-KR" altLang="en-US" sz="1400" dirty="0">
                <a:highlight>
                  <a:srgbClr val="FFFF00"/>
                </a:highlight>
              </a:rPr>
              <a:t>한편 특허법 시행규칙 제</a:t>
            </a:r>
            <a:r>
              <a:rPr lang="en-US" altLang="ko-KR" sz="1400" dirty="0">
                <a:highlight>
                  <a:srgbClr val="FFFF00"/>
                </a:highlight>
              </a:rPr>
              <a:t>13</a:t>
            </a:r>
            <a:r>
              <a:rPr lang="ko-KR" altLang="en-US" sz="1400" dirty="0">
                <a:highlight>
                  <a:srgbClr val="FFFF00"/>
                </a:highlight>
              </a:rPr>
              <a:t>조 제</a:t>
            </a:r>
            <a:r>
              <a:rPr lang="en-US" altLang="ko-KR" sz="1400" dirty="0">
                <a:highlight>
                  <a:srgbClr val="FFFF00"/>
                </a:highlight>
              </a:rPr>
              <a:t>1</a:t>
            </a:r>
            <a:r>
              <a:rPr lang="ko-KR" altLang="en-US" sz="1400" dirty="0">
                <a:highlight>
                  <a:srgbClr val="FFFF00"/>
                </a:highlight>
              </a:rPr>
              <a:t>호는 특허법 제</a:t>
            </a:r>
            <a:r>
              <a:rPr lang="en-US" altLang="ko-KR" sz="1400" dirty="0">
                <a:highlight>
                  <a:srgbClr val="FFFF00"/>
                </a:highlight>
              </a:rPr>
              <a:t>46</a:t>
            </a:r>
            <a:r>
              <a:rPr lang="ko-KR" altLang="en-US" sz="1400" dirty="0">
                <a:highlight>
                  <a:srgbClr val="FFFF00"/>
                </a:highlight>
              </a:rPr>
              <a:t>조에 따라 보정을 하려는 자는 특허법 시행규칙 별지 제</a:t>
            </a:r>
            <a:r>
              <a:rPr lang="en-US" altLang="ko-KR" sz="1400" dirty="0">
                <a:highlight>
                  <a:srgbClr val="FFFF00"/>
                </a:highlight>
              </a:rPr>
              <a:t>9</a:t>
            </a:r>
            <a:r>
              <a:rPr lang="ko-KR" altLang="en-US" sz="1400" dirty="0">
                <a:highlight>
                  <a:srgbClr val="FFFF00"/>
                </a:highlight>
              </a:rPr>
              <a:t>호 서식의 보정서에 보정 내용을 증명하는 서류를 첨부하여 지식재산처장 등에게 제출하도록 규정하고 있으나</a:t>
            </a:r>
            <a:r>
              <a:rPr lang="en-US" altLang="ko-KR" sz="1400" dirty="0">
                <a:highlight>
                  <a:srgbClr val="FFFF00"/>
                </a:highlight>
              </a:rPr>
              <a:t>, </a:t>
            </a:r>
            <a:r>
              <a:rPr lang="ko-KR" altLang="en-US" sz="1400" dirty="0">
                <a:highlight>
                  <a:srgbClr val="FFFF00"/>
                </a:highlight>
              </a:rPr>
              <a:t>이는 행정청의 편의를 위한 규정으로 보정 내용을 증명하는 서류의 제출은 엄격한 형식을 요하지 아니하는 서면행위라고 해석되고</a:t>
            </a:r>
            <a:r>
              <a:rPr lang="en-US" altLang="ko-KR" sz="1400" dirty="0">
                <a:highlight>
                  <a:srgbClr val="FFFF00"/>
                </a:highlight>
              </a:rPr>
              <a:t>, </a:t>
            </a:r>
            <a:r>
              <a:rPr lang="ko-KR" altLang="en-US" sz="1400" dirty="0">
                <a:highlight>
                  <a:srgbClr val="FFFF00"/>
                </a:highlight>
              </a:rPr>
              <a:t>이러한 경우 행정청으로서는 그 서면을 가능한 한 제출자의 이익이 되도록 처리할 필요가 있다</a:t>
            </a:r>
            <a:r>
              <a:rPr lang="en-US" altLang="ko-KR" sz="1400" dirty="0">
                <a:highlight>
                  <a:srgbClr val="FFFF00"/>
                </a:highlight>
              </a:rPr>
              <a:t>. </a:t>
            </a:r>
            <a:r>
              <a:rPr lang="ko-KR" altLang="en-US" sz="1400" dirty="0">
                <a:highlight>
                  <a:srgbClr val="FFFF00"/>
                </a:highlight>
              </a:rPr>
              <a:t>따라서 특허법 제</a:t>
            </a:r>
            <a:r>
              <a:rPr lang="en-US" altLang="ko-KR" sz="1400" dirty="0">
                <a:highlight>
                  <a:srgbClr val="FFFF00"/>
                </a:highlight>
              </a:rPr>
              <a:t>46</a:t>
            </a:r>
            <a:r>
              <a:rPr lang="ko-KR" altLang="en-US" sz="1400" dirty="0">
                <a:highlight>
                  <a:srgbClr val="FFFF00"/>
                </a:highlight>
              </a:rPr>
              <a:t>조에 따른 지식재산처장 등의 보정명령을 받은 사람으로부터 지식재산처장 등에게 보정 내용을 증명하는 서류가 제출되었을 때에는 그 표제 등의 여하를 불문하고 이를 위 보정명령에 대한 의견서 제출로 보아야 한다</a:t>
            </a:r>
            <a:r>
              <a:rPr lang="en-US" altLang="ko-KR" sz="1400" dirty="0"/>
              <a:t>(</a:t>
            </a:r>
            <a:r>
              <a:rPr lang="ko-KR" altLang="en-US" sz="1400" dirty="0"/>
              <a:t>대법원 </a:t>
            </a:r>
            <a:r>
              <a:rPr lang="en-US" altLang="ko-KR" sz="1400" dirty="0"/>
              <a:t>1995. 11. 7. </a:t>
            </a:r>
            <a:r>
              <a:rPr lang="ko-KR" altLang="en-US" sz="1400" dirty="0"/>
              <a:t>선고 </a:t>
            </a:r>
            <a:r>
              <a:rPr lang="en-US" altLang="ko-KR" sz="1400" dirty="0"/>
              <a:t>94</a:t>
            </a:r>
            <a:r>
              <a:rPr lang="ko-KR" altLang="en-US" sz="1400" dirty="0"/>
              <a:t>누</a:t>
            </a:r>
            <a:r>
              <a:rPr lang="en-US" altLang="ko-KR" sz="1400" dirty="0"/>
              <a:t>10061 </a:t>
            </a:r>
            <a:r>
              <a:rPr lang="ko-KR" altLang="en-US" sz="1400" dirty="0"/>
              <a:t>판결</a:t>
            </a:r>
            <a:r>
              <a:rPr lang="en-US" altLang="ko-KR" sz="1400" dirty="0"/>
              <a:t>, </a:t>
            </a:r>
            <a:r>
              <a:rPr lang="ko-KR" altLang="en-US" sz="1400" dirty="0"/>
              <a:t>대법원 </a:t>
            </a:r>
            <a:r>
              <a:rPr lang="en-US" altLang="ko-KR" sz="1400" dirty="0"/>
              <a:t>2000. 6. 9. </a:t>
            </a:r>
            <a:r>
              <a:rPr lang="ko-KR" altLang="en-US" sz="1400" dirty="0"/>
              <a:t>선고 </a:t>
            </a:r>
            <a:r>
              <a:rPr lang="en-US" altLang="ko-KR" sz="1400" dirty="0"/>
              <a:t>98</a:t>
            </a:r>
            <a:r>
              <a:rPr lang="ko-KR" altLang="en-US" sz="1400" dirty="0"/>
              <a:t>두</a:t>
            </a:r>
            <a:r>
              <a:rPr lang="en-US" altLang="ko-KR" sz="1400" dirty="0"/>
              <a:t>2621 </a:t>
            </a:r>
            <a:r>
              <a:rPr lang="ko-KR" altLang="en-US" sz="1400" dirty="0"/>
              <a:t>판결 등 참조</a:t>
            </a:r>
            <a:r>
              <a:rPr lang="en-US" altLang="ko-KR" sz="1400" dirty="0"/>
              <a:t>).</a:t>
            </a:r>
          </a:p>
          <a:p>
            <a:pPr fontAlgn="base"/>
            <a:r>
              <a:rPr lang="en-US" altLang="ko-KR" sz="1400" dirty="0"/>
              <a:t>[2</a:t>
            </a:r>
            <a:r>
              <a:rPr lang="ko-KR" altLang="en-US" sz="1400" dirty="0"/>
              <a:t>특허에 관한 절차를 밟는 자가 대리인에게 대리권을 수여하는 데에는 일정한 방식이 요구되지 않고</a:t>
            </a:r>
            <a:r>
              <a:rPr lang="en-US" altLang="ko-KR" sz="1400" dirty="0"/>
              <a:t>, </a:t>
            </a:r>
            <a:r>
              <a:rPr lang="ko-KR" altLang="en-US" sz="1400" dirty="0"/>
              <a:t>다만 그 대리권의 증명은 특허법 제</a:t>
            </a:r>
            <a:r>
              <a:rPr lang="en-US" altLang="ko-KR" sz="1400" dirty="0"/>
              <a:t>7</a:t>
            </a:r>
            <a:r>
              <a:rPr lang="ko-KR" altLang="en-US" sz="1400" dirty="0"/>
              <a:t>조에 따라 서면으로써 하여야 한다</a:t>
            </a:r>
            <a:r>
              <a:rPr lang="en-US" altLang="ko-KR" sz="1400" dirty="0"/>
              <a:t>. </a:t>
            </a:r>
            <a:r>
              <a:rPr lang="ko-KR" altLang="en-US" sz="1400" dirty="0"/>
              <a:t>그런데 특허법 시행규칙 제</a:t>
            </a:r>
            <a:r>
              <a:rPr lang="en-US" altLang="ko-KR" sz="1400" dirty="0"/>
              <a:t>5</a:t>
            </a:r>
            <a:r>
              <a:rPr lang="ko-KR" altLang="en-US" sz="1400" dirty="0"/>
              <a:t>조의</a:t>
            </a:r>
            <a:r>
              <a:rPr lang="en-US" altLang="ko-KR" sz="1400" dirty="0"/>
              <a:t>2 </a:t>
            </a:r>
            <a:r>
              <a:rPr lang="ko-KR" altLang="en-US" sz="1400" dirty="0"/>
              <a:t>제</a:t>
            </a:r>
            <a:r>
              <a:rPr lang="en-US" altLang="ko-KR" sz="1400" dirty="0"/>
              <a:t>1</a:t>
            </a:r>
            <a:r>
              <a:rPr lang="ko-KR" altLang="en-US" sz="1400" dirty="0"/>
              <a:t>항은 대리인에게 현재 및 장래의 사건에 대하여 미리 사건을 특정하지 아니하고 특허에 관한 절차 진행을 </a:t>
            </a:r>
            <a:r>
              <a:rPr lang="ko-KR" altLang="en-US" sz="1400" dirty="0" err="1"/>
              <a:t>포괄위임하려는</a:t>
            </a:r>
            <a:r>
              <a:rPr lang="ko-KR" altLang="en-US" sz="1400" dirty="0"/>
              <a:t> 경우에는 포괄위임등록 신청서에 대리권을 증명하는 서류인 포괄위임장을 첨부하여 지식재산처장에게 제출하여야 한다고 규정하므로</a:t>
            </a:r>
            <a:r>
              <a:rPr lang="en-US" altLang="ko-KR" sz="1400" dirty="0"/>
              <a:t>, </a:t>
            </a:r>
            <a:r>
              <a:rPr lang="ko-KR" altLang="en-US" sz="1400" dirty="0">
                <a:highlight>
                  <a:srgbClr val="FFFF00"/>
                </a:highlight>
              </a:rPr>
              <a:t>이미 출원한 사건의 특허에 관한 절차 또한 포괄위임의 대상이 되고</a:t>
            </a:r>
            <a:r>
              <a:rPr lang="en-US" altLang="ko-KR" sz="1400" dirty="0">
                <a:highlight>
                  <a:srgbClr val="FFFF00"/>
                </a:highlight>
              </a:rPr>
              <a:t>, </a:t>
            </a:r>
            <a:r>
              <a:rPr lang="ko-KR" altLang="en-US" sz="1400" dirty="0">
                <a:highlight>
                  <a:srgbClr val="FFFF00"/>
                </a:highlight>
              </a:rPr>
              <a:t>포괄위임등록 신청을 위해 대리권을 증명하는 서류인 포괄위임장을 지식재산처장에게 제출한 이상 포괄위임 대상 사건에 관한 대리권의 서면 증명은 이루어졌다고 볼 수 있다</a:t>
            </a:r>
            <a:r>
              <a:rPr lang="en-US" altLang="ko-KR" sz="1400" dirty="0">
                <a:highlight>
                  <a:srgbClr val="FFFF00"/>
                </a:highlight>
              </a:rPr>
              <a:t>.</a:t>
            </a:r>
            <a:endParaRPr lang="ko-KR" altLang="en-US" sz="1400" dirty="0">
              <a:highlight>
                <a:srgbClr val="FFFF00"/>
              </a:highlight>
            </a:endParaRPr>
          </a:p>
        </p:txBody>
      </p:sp>
      <p:sp>
        <p:nvSpPr>
          <p:cNvPr id="29" name="Line 5">
            <a:extLst>
              <a:ext uri="{FF2B5EF4-FFF2-40B4-BE49-F238E27FC236}">
                <a16:creationId xmlns:a16="http://schemas.microsoft.com/office/drawing/2014/main" id="{4EC6B141-57CF-4BE7-BAFC-E25DF3C29A40}"/>
              </a:ext>
            </a:extLst>
          </p:cNvPr>
          <p:cNvSpPr>
            <a:spLocks noChangeShapeType="1"/>
          </p:cNvSpPr>
          <p:nvPr/>
        </p:nvSpPr>
        <p:spPr bwMode="auto">
          <a:xfrm>
            <a:off x="514351" y="5666242"/>
            <a:ext cx="11001374" cy="0"/>
          </a:xfrm>
          <a:prstGeom prst="line">
            <a:avLst/>
          </a:prstGeom>
          <a:noFill/>
          <a:ln w="57150">
            <a:solidFill>
              <a:schemeClr val="bg1">
                <a:lumMod val="50000"/>
              </a:schemeClr>
            </a:solidFill>
            <a:round/>
            <a:headEnd/>
            <a:tailEnd type="stealth" w="med" len="med"/>
          </a:ln>
        </p:spPr>
        <p:txBody>
          <a:bodyPr/>
          <a:lstStyle/>
          <a:p>
            <a:endParaRPr lang="ko-KR" altLang="en-US" sz="1200">
              <a:latin typeface="+mn-ea"/>
            </a:endParaRPr>
          </a:p>
        </p:txBody>
      </p:sp>
      <p:sp>
        <p:nvSpPr>
          <p:cNvPr id="30" name="TextBox 29">
            <a:extLst>
              <a:ext uri="{FF2B5EF4-FFF2-40B4-BE49-F238E27FC236}">
                <a16:creationId xmlns:a16="http://schemas.microsoft.com/office/drawing/2014/main" id="{C6032B02-BA2B-4393-A3FE-A6E1F1049F5A}"/>
              </a:ext>
            </a:extLst>
          </p:cNvPr>
          <p:cNvSpPr txBox="1"/>
          <p:nvPr/>
        </p:nvSpPr>
        <p:spPr>
          <a:xfrm>
            <a:off x="1128181" y="5922417"/>
            <a:ext cx="1530330" cy="276999"/>
          </a:xfrm>
          <a:prstGeom prst="rect">
            <a:avLst/>
          </a:prstGeom>
          <a:solidFill>
            <a:schemeClr val="bg1">
              <a:lumMod val="85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특허출원</a:t>
            </a:r>
          </a:p>
        </p:txBody>
      </p:sp>
      <p:sp>
        <p:nvSpPr>
          <p:cNvPr id="31" name="타원 30">
            <a:extLst>
              <a:ext uri="{FF2B5EF4-FFF2-40B4-BE49-F238E27FC236}">
                <a16:creationId xmlns:a16="http://schemas.microsoft.com/office/drawing/2014/main" id="{E81EA802-6204-4FB7-A721-FB293DA14771}"/>
              </a:ext>
            </a:extLst>
          </p:cNvPr>
          <p:cNvSpPr/>
          <p:nvPr/>
        </p:nvSpPr>
        <p:spPr>
          <a:xfrm>
            <a:off x="1815976" y="5572308"/>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32" name="직선 연결선 31">
            <a:extLst>
              <a:ext uri="{FF2B5EF4-FFF2-40B4-BE49-F238E27FC236}">
                <a16:creationId xmlns:a16="http://schemas.microsoft.com/office/drawing/2014/main" id="{4D3C8193-318D-4E35-8E3D-8971F6F63725}"/>
              </a:ext>
            </a:extLst>
          </p:cNvPr>
          <p:cNvCxnSpPr>
            <a:cxnSpLocks/>
            <a:stCxn id="30" idx="0"/>
            <a:endCxn id="31" idx="4"/>
          </p:cNvCxnSpPr>
          <p:nvPr/>
        </p:nvCxnSpPr>
        <p:spPr>
          <a:xfrm flipH="1" flipV="1">
            <a:off x="1893345" y="5733646"/>
            <a:ext cx="1" cy="188771"/>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6" name="타원 35">
            <a:extLst>
              <a:ext uri="{FF2B5EF4-FFF2-40B4-BE49-F238E27FC236}">
                <a16:creationId xmlns:a16="http://schemas.microsoft.com/office/drawing/2014/main" id="{61FA690A-3567-4F5B-BA63-D5378CFD7747}"/>
              </a:ext>
            </a:extLst>
          </p:cNvPr>
          <p:cNvSpPr/>
          <p:nvPr/>
        </p:nvSpPr>
        <p:spPr>
          <a:xfrm>
            <a:off x="3608956" y="5572308"/>
            <a:ext cx="154738" cy="1613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sp>
        <p:nvSpPr>
          <p:cNvPr id="39" name="TextBox 38">
            <a:extLst>
              <a:ext uri="{FF2B5EF4-FFF2-40B4-BE49-F238E27FC236}">
                <a16:creationId xmlns:a16="http://schemas.microsoft.com/office/drawing/2014/main" id="{E9793547-3DD0-4926-AB7B-543087E7D649}"/>
              </a:ext>
            </a:extLst>
          </p:cNvPr>
          <p:cNvSpPr txBox="1"/>
          <p:nvPr/>
        </p:nvSpPr>
        <p:spPr>
          <a:xfrm>
            <a:off x="1128182" y="6314549"/>
            <a:ext cx="1530326" cy="276999"/>
          </a:xfrm>
          <a:prstGeom prst="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위임장 </a:t>
            </a:r>
            <a:r>
              <a:rPr lang="ko-KR" altLang="en-US" sz="1200" dirty="0" err="1">
                <a:solidFill>
                  <a:schemeClr val="tx1"/>
                </a:solidFill>
                <a:latin typeface="+mn-ea"/>
              </a:rPr>
              <a:t>미첨부</a:t>
            </a:r>
            <a:endParaRPr lang="ko-KR" altLang="en-US" sz="1200" dirty="0">
              <a:solidFill>
                <a:schemeClr val="tx1"/>
              </a:solidFill>
              <a:latin typeface="+mn-ea"/>
            </a:endParaRPr>
          </a:p>
        </p:txBody>
      </p:sp>
      <p:sp>
        <p:nvSpPr>
          <p:cNvPr id="42" name="TextBox 41">
            <a:extLst>
              <a:ext uri="{FF2B5EF4-FFF2-40B4-BE49-F238E27FC236}">
                <a16:creationId xmlns:a16="http://schemas.microsoft.com/office/drawing/2014/main" id="{6C2C8375-44A4-4CBD-BCC9-37DE4690DDB4}"/>
              </a:ext>
            </a:extLst>
          </p:cNvPr>
          <p:cNvSpPr txBox="1"/>
          <p:nvPr/>
        </p:nvSpPr>
        <p:spPr>
          <a:xfrm>
            <a:off x="2709847" y="5057931"/>
            <a:ext cx="1957842" cy="276999"/>
          </a:xfrm>
          <a:prstGeom prst="rect">
            <a:avLst/>
          </a:prstGeom>
          <a:solidFill>
            <a:schemeClr val="accent4">
              <a:lumMod val="20000"/>
              <a:lumOff val="80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이 사건 보정요구</a:t>
            </a:r>
            <a:r>
              <a:rPr lang="en-US" altLang="ko-KR" sz="1200" dirty="0">
                <a:solidFill>
                  <a:schemeClr val="tx1"/>
                </a:solidFill>
                <a:latin typeface="+mn-ea"/>
              </a:rPr>
              <a:t>(</a:t>
            </a:r>
            <a:r>
              <a:rPr lang="ko-KR" altLang="en-US" sz="1200" dirty="0">
                <a:solidFill>
                  <a:schemeClr val="tx1"/>
                </a:solidFill>
                <a:latin typeface="+mn-ea"/>
              </a:rPr>
              <a:t>보정명령</a:t>
            </a:r>
            <a:r>
              <a:rPr lang="en-US" altLang="ko-KR" sz="1200" dirty="0">
                <a:solidFill>
                  <a:schemeClr val="tx1"/>
                </a:solidFill>
                <a:latin typeface="+mn-ea"/>
              </a:rPr>
              <a:t>)</a:t>
            </a:r>
            <a:endParaRPr lang="ko-KR" altLang="en-US" sz="1200" dirty="0">
              <a:solidFill>
                <a:schemeClr val="tx1"/>
              </a:solidFill>
              <a:latin typeface="+mn-ea"/>
            </a:endParaRPr>
          </a:p>
        </p:txBody>
      </p:sp>
      <p:sp>
        <p:nvSpPr>
          <p:cNvPr id="63" name="사각형: 둥근 모서리 62">
            <a:extLst>
              <a:ext uri="{FF2B5EF4-FFF2-40B4-BE49-F238E27FC236}">
                <a16:creationId xmlns:a16="http://schemas.microsoft.com/office/drawing/2014/main" id="{8791DCA3-ACAE-445C-B9DE-3EF92B7600B8}"/>
              </a:ext>
            </a:extLst>
          </p:cNvPr>
          <p:cNvSpPr/>
          <p:nvPr/>
        </p:nvSpPr>
        <p:spPr>
          <a:xfrm>
            <a:off x="113937" y="1076839"/>
            <a:ext cx="6712268" cy="346234"/>
          </a:xfrm>
          <a:prstGeom prst="roundRect">
            <a:avLst>
              <a:gd name="adj" fmla="val 50000"/>
            </a:avLst>
          </a:prstGeom>
          <a:solidFill>
            <a:schemeClr val="bg1">
              <a:lumMod val="85000"/>
            </a:schemeClr>
          </a:solidFill>
          <a:ln>
            <a:solidFill>
              <a:schemeClr val="bg1">
                <a:lumMod val="65000"/>
              </a:schemeClr>
            </a:solidFill>
          </a:ln>
        </p:spPr>
        <p:txBody>
          <a:bodyPr wrap="none" tIns="0" bIns="0">
            <a:spAutoFit/>
          </a:bodyPr>
          <a:lstStyle/>
          <a:p>
            <a:r>
              <a:rPr lang="ko-KR" altLang="en-US" sz="1600" dirty="0"/>
              <a:t>대법원 </a:t>
            </a:r>
            <a:r>
              <a:rPr lang="en-US" altLang="ko-KR" sz="1600" dirty="0"/>
              <a:t>2023. 7. 13. </a:t>
            </a:r>
            <a:r>
              <a:rPr lang="ko-KR" altLang="en-US" sz="1600" dirty="0"/>
              <a:t>선고 </a:t>
            </a:r>
            <a:r>
              <a:rPr lang="en-US" altLang="ko-KR" sz="1600" dirty="0"/>
              <a:t>2021</a:t>
            </a:r>
            <a:r>
              <a:rPr lang="ko-KR" altLang="en-US" sz="1600" dirty="0"/>
              <a:t>두</a:t>
            </a:r>
            <a:r>
              <a:rPr lang="en-US" altLang="ko-KR" sz="1600" dirty="0"/>
              <a:t>63099 </a:t>
            </a:r>
            <a:r>
              <a:rPr lang="ko-KR" altLang="en-US" sz="1600" dirty="0"/>
              <a:t>판결 </a:t>
            </a:r>
            <a:r>
              <a:rPr lang="en-US" altLang="ko-KR" sz="1600" dirty="0"/>
              <a:t>【</a:t>
            </a:r>
            <a:r>
              <a:rPr lang="ko-KR" altLang="en-US" sz="1600" dirty="0"/>
              <a:t>특허출원 무효처분 취소</a:t>
            </a:r>
            <a:r>
              <a:rPr lang="en-US" altLang="ko-KR" sz="1600" dirty="0"/>
              <a:t>】	</a:t>
            </a:r>
            <a:endParaRPr lang="ko-KR" altLang="en-US" sz="1600" dirty="0"/>
          </a:p>
        </p:txBody>
      </p:sp>
      <p:cxnSp>
        <p:nvCxnSpPr>
          <p:cNvPr id="67" name="직선 연결선 66">
            <a:extLst>
              <a:ext uri="{FF2B5EF4-FFF2-40B4-BE49-F238E27FC236}">
                <a16:creationId xmlns:a16="http://schemas.microsoft.com/office/drawing/2014/main" id="{1295681E-E68B-437F-8E1E-D499F5F4351F}"/>
              </a:ext>
            </a:extLst>
          </p:cNvPr>
          <p:cNvCxnSpPr/>
          <p:nvPr/>
        </p:nvCxnSpPr>
        <p:spPr>
          <a:xfrm>
            <a:off x="0" y="4197996"/>
            <a:ext cx="12191999" cy="0"/>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EEF3E2EB-FA1C-0BAF-DF6F-8A0F24F31DC7}"/>
              </a:ext>
            </a:extLst>
          </p:cNvPr>
          <p:cNvSpPr txBox="1"/>
          <p:nvPr/>
        </p:nvSpPr>
        <p:spPr>
          <a:xfrm>
            <a:off x="1461699" y="5336744"/>
            <a:ext cx="849913" cy="261610"/>
          </a:xfrm>
          <a:prstGeom prst="rect">
            <a:avLst/>
          </a:prstGeom>
          <a:noFill/>
        </p:spPr>
        <p:txBody>
          <a:bodyPr wrap="none" rtlCol="0">
            <a:spAutoFit/>
          </a:bodyPr>
          <a:lstStyle/>
          <a:p>
            <a:r>
              <a:rPr lang="en-US" altLang="ko-KR" sz="1100" dirty="0"/>
              <a:t>2018.7.18.</a:t>
            </a:r>
            <a:endParaRPr lang="ko-KR" altLang="en-US" sz="1100" dirty="0"/>
          </a:p>
        </p:txBody>
      </p:sp>
      <p:cxnSp>
        <p:nvCxnSpPr>
          <p:cNvPr id="13" name="직선 연결선 12">
            <a:extLst>
              <a:ext uri="{FF2B5EF4-FFF2-40B4-BE49-F238E27FC236}">
                <a16:creationId xmlns:a16="http://schemas.microsoft.com/office/drawing/2014/main" id="{89A00CCC-A313-7487-0C9D-952971623D58}"/>
              </a:ext>
            </a:extLst>
          </p:cNvPr>
          <p:cNvCxnSpPr>
            <a:cxnSpLocks/>
            <a:stCxn id="39" idx="0"/>
            <a:endCxn id="30" idx="2"/>
          </p:cNvCxnSpPr>
          <p:nvPr/>
        </p:nvCxnSpPr>
        <p:spPr>
          <a:xfrm flipV="1">
            <a:off x="1893345" y="6199416"/>
            <a:ext cx="1" cy="115133"/>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B5C01AE5-C80A-F2B6-0179-2D79EAE4FA12}"/>
              </a:ext>
            </a:extLst>
          </p:cNvPr>
          <p:cNvSpPr txBox="1"/>
          <p:nvPr/>
        </p:nvSpPr>
        <p:spPr>
          <a:xfrm>
            <a:off x="3302689" y="5751679"/>
            <a:ext cx="771365" cy="261610"/>
          </a:xfrm>
          <a:prstGeom prst="rect">
            <a:avLst/>
          </a:prstGeom>
          <a:noFill/>
        </p:spPr>
        <p:txBody>
          <a:bodyPr wrap="none" rtlCol="0">
            <a:spAutoFit/>
          </a:bodyPr>
          <a:lstStyle/>
          <a:p>
            <a:r>
              <a:rPr lang="en-US" altLang="ko-KR" sz="1100" dirty="0"/>
              <a:t>2018.8.1.</a:t>
            </a:r>
            <a:endParaRPr lang="ko-KR" altLang="en-US" sz="1100" dirty="0"/>
          </a:p>
        </p:txBody>
      </p:sp>
      <p:cxnSp>
        <p:nvCxnSpPr>
          <p:cNvPr id="16" name="직선 연결선 15">
            <a:extLst>
              <a:ext uri="{FF2B5EF4-FFF2-40B4-BE49-F238E27FC236}">
                <a16:creationId xmlns:a16="http://schemas.microsoft.com/office/drawing/2014/main" id="{AE5E74A1-2F52-E90E-593C-318AFEB488CA}"/>
              </a:ext>
            </a:extLst>
          </p:cNvPr>
          <p:cNvCxnSpPr>
            <a:cxnSpLocks/>
            <a:stCxn id="42" idx="2"/>
            <a:endCxn id="36" idx="0"/>
          </p:cNvCxnSpPr>
          <p:nvPr/>
        </p:nvCxnSpPr>
        <p:spPr>
          <a:xfrm flipH="1">
            <a:off x="3686325" y="5334930"/>
            <a:ext cx="2443" cy="237378"/>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TextBox 20">
            <a:extLst>
              <a:ext uri="{FF2B5EF4-FFF2-40B4-BE49-F238E27FC236}">
                <a16:creationId xmlns:a16="http://schemas.microsoft.com/office/drawing/2014/main" id="{247FF57F-63DF-4925-09D8-27C7D6B1CF7D}"/>
              </a:ext>
            </a:extLst>
          </p:cNvPr>
          <p:cNvSpPr txBox="1"/>
          <p:nvPr/>
        </p:nvSpPr>
        <p:spPr>
          <a:xfrm>
            <a:off x="1897783" y="4308166"/>
            <a:ext cx="4016564" cy="646331"/>
          </a:xfrm>
          <a:prstGeom prst="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t>제출 서류에 출원인의 위임장이 첨부되지 않았으니 특허법 제</a:t>
            </a:r>
            <a:r>
              <a:rPr lang="en-US" altLang="ko-KR" sz="1200" dirty="0"/>
              <a:t>46</a:t>
            </a:r>
            <a:r>
              <a:rPr lang="ko-KR" altLang="en-US" sz="1200" dirty="0"/>
              <a:t>조에 근거하여 </a:t>
            </a:r>
            <a:r>
              <a:rPr lang="ko-KR" altLang="en-US" sz="1200" dirty="0" err="1"/>
              <a:t>제출기일인</a:t>
            </a:r>
            <a:r>
              <a:rPr lang="ko-KR" altLang="en-US" sz="1200" dirty="0"/>
              <a:t> </a:t>
            </a:r>
            <a:r>
              <a:rPr lang="en-US" altLang="ko-KR" sz="1200" dirty="0"/>
              <a:t>2018. 10. 1.</a:t>
            </a:r>
            <a:r>
              <a:rPr lang="ko-KR" altLang="en-US" sz="1200" dirty="0"/>
              <a:t>까지 특허법 시행규칙 별지 제</a:t>
            </a:r>
            <a:r>
              <a:rPr lang="en-US" altLang="ko-KR" sz="1200" dirty="0"/>
              <a:t>9</a:t>
            </a:r>
            <a:r>
              <a:rPr lang="ko-KR" altLang="en-US" sz="1200" dirty="0"/>
              <a:t>호 서식에 따른 보정서를 제출하기 바란다</a:t>
            </a:r>
            <a:r>
              <a:rPr lang="en-US" altLang="ko-KR" sz="1200" dirty="0"/>
              <a:t>.</a:t>
            </a:r>
            <a:endParaRPr lang="ko-KR" altLang="en-US" sz="1200" dirty="0">
              <a:solidFill>
                <a:schemeClr val="tx1"/>
              </a:solidFill>
              <a:latin typeface="+mn-ea"/>
            </a:endParaRPr>
          </a:p>
        </p:txBody>
      </p:sp>
      <p:cxnSp>
        <p:nvCxnSpPr>
          <p:cNvPr id="25" name="연결선: 꺾임 24">
            <a:extLst>
              <a:ext uri="{FF2B5EF4-FFF2-40B4-BE49-F238E27FC236}">
                <a16:creationId xmlns:a16="http://schemas.microsoft.com/office/drawing/2014/main" id="{984F6C15-7612-1914-8385-B386A204AB97}"/>
              </a:ext>
            </a:extLst>
          </p:cNvPr>
          <p:cNvCxnSpPr>
            <a:stCxn id="21" idx="2"/>
            <a:endCxn id="42" idx="0"/>
          </p:cNvCxnSpPr>
          <p:nvPr/>
        </p:nvCxnSpPr>
        <p:spPr>
          <a:xfrm rot="5400000">
            <a:off x="3745700" y="4897566"/>
            <a:ext cx="103434" cy="21729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69F8C5CA-F04C-6373-BA42-E57CC107C9C4}"/>
              </a:ext>
            </a:extLst>
          </p:cNvPr>
          <p:cNvSpPr txBox="1"/>
          <p:nvPr/>
        </p:nvSpPr>
        <p:spPr>
          <a:xfrm>
            <a:off x="5016354" y="5922417"/>
            <a:ext cx="2116564" cy="276999"/>
          </a:xfrm>
          <a:prstGeom prst="rect">
            <a:avLst/>
          </a:prstGeom>
          <a:solidFill>
            <a:schemeClr val="bg1">
              <a:lumMod val="85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포괄위임장 제출 및 등록신청</a:t>
            </a:r>
          </a:p>
        </p:txBody>
      </p:sp>
      <p:sp>
        <p:nvSpPr>
          <p:cNvPr id="51" name="타원 50">
            <a:extLst>
              <a:ext uri="{FF2B5EF4-FFF2-40B4-BE49-F238E27FC236}">
                <a16:creationId xmlns:a16="http://schemas.microsoft.com/office/drawing/2014/main" id="{47392C89-A9EF-1484-6F13-B479105A3605}"/>
              </a:ext>
            </a:extLst>
          </p:cNvPr>
          <p:cNvSpPr/>
          <p:nvPr/>
        </p:nvSpPr>
        <p:spPr>
          <a:xfrm>
            <a:off x="5997266" y="5572308"/>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52" name="직선 연결선 51">
            <a:extLst>
              <a:ext uri="{FF2B5EF4-FFF2-40B4-BE49-F238E27FC236}">
                <a16:creationId xmlns:a16="http://schemas.microsoft.com/office/drawing/2014/main" id="{07274A4E-95AD-87A8-13B6-41C208AE6578}"/>
              </a:ext>
            </a:extLst>
          </p:cNvPr>
          <p:cNvCxnSpPr>
            <a:cxnSpLocks/>
            <a:stCxn id="49" idx="0"/>
            <a:endCxn id="51" idx="4"/>
          </p:cNvCxnSpPr>
          <p:nvPr/>
        </p:nvCxnSpPr>
        <p:spPr>
          <a:xfrm flipH="1" flipV="1">
            <a:off x="6074635" y="5733646"/>
            <a:ext cx="1" cy="188771"/>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54B35E7F-D0AA-DD49-9F23-540E12626FDB}"/>
              </a:ext>
            </a:extLst>
          </p:cNvPr>
          <p:cNvSpPr txBox="1"/>
          <p:nvPr/>
        </p:nvSpPr>
        <p:spPr>
          <a:xfrm>
            <a:off x="4620502" y="6314549"/>
            <a:ext cx="2908266" cy="461665"/>
          </a:xfrm>
          <a:prstGeom prst="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t>원고가 원고 대리인에게 한국의 특허출원에 관한 모든 절차 등을 위임한다</a:t>
            </a:r>
            <a:r>
              <a:rPr lang="en-US" altLang="ko-KR" sz="1200" dirty="0"/>
              <a:t>.</a:t>
            </a:r>
            <a:endParaRPr lang="ko-KR" altLang="en-US" sz="1200" dirty="0">
              <a:solidFill>
                <a:schemeClr val="tx1"/>
              </a:solidFill>
              <a:latin typeface="+mn-ea"/>
            </a:endParaRPr>
          </a:p>
        </p:txBody>
      </p:sp>
      <p:cxnSp>
        <p:nvCxnSpPr>
          <p:cNvPr id="55" name="직선 연결선 54">
            <a:extLst>
              <a:ext uri="{FF2B5EF4-FFF2-40B4-BE49-F238E27FC236}">
                <a16:creationId xmlns:a16="http://schemas.microsoft.com/office/drawing/2014/main" id="{AE247A50-0A77-93FA-D778-D08C19B7C600}"/>
              </a:ext>
            </a:extLst>
          </p:cNvPr>
          <p:cNvCxnSpPr>
            <a:cxnSpLocks/>
            <a:stCxn id="53" idx="0"/>
            <a:endCxn id="49" idx="2"/>
          </p:cNvCxnSpPr>
          <p:nvPr/>
        </p:nvCxnSpPr>
        <p:spPr>
          <a:xfrm flipV="1">
            <a:off x="6074635" y="6199416"/>
            <a:ext cx="1" cy="115133"/>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3" name="타원 82">
            <a:extLst>
              <a:ext uri="{FF2B5EF4-FFF2-40B4-BE49-F238E27FC236}">
                <a16:creationId xmlns:a16="http://schemas.microsoft.com/office/drawing/2014/main" id="{4BA5008F-D355-8376-DCB9-47D6017867BD}"/>
              </a:ext>
            </a:extLst>
          </p:cNvPr>
          <p:cNvSpPr/>
          <p:nvPr/>
        </p:nvSpPr>
        <p:spPr>
          <a:xfrm>
            <a:off x="7504018" y="5572308"/>
            <a:ext cx="154738" cy="1613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sp>
        <p:nvSpPr>
          <p:cNvPr id="84" name="TextBox 83">
            <a:extLst>
              <a:ext uri="{FF2B5EF4-FFF2-40B4-BE49-F238E27FC236}">
                <a16:creationId xmlns:a16="http://schemas.microsoft.com/office/drawing/2014/main" id="{6A7767A0-EFFB-F163-D429-F4BC2D45464B}"/>
              </a:ext>
            </a:extLst>
          </p:cNvPr>
          <p:cNvSpPr txBox="1"/>
          <p:nvPr/>
        </p:nvSpPr>
        <p:spPr>
          <a:xfrm>
            <a:off x="6604909" y="5057931"/>
            <a:ext cx="1957842" cy="276999"/>
          </a:xfrm>
          <a:prstGeom prst="rect">
            <a:avLst/>
          </a:prstGeom>
          <a:solidFill>
            <a:schemeClr val="accent4">
              <a:lumMod val="20000"/>
              <a:lumOff val="80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포괄위임등록번호 부여</a:t>
            </a:r>
          </a:p>
        </p:txBody>
      </p:sp>
      <p:sp>
        <p:nvSpPr>
          <p:cNvPr id="85" name="TextBox 84">
            <a:extLst>
              <a:ext uri="{FF2B5EF4-FFF2-40B4-BE49-F238E27FC236}">
                <a16:creationId xmlns:a16="http://schemas.microsoft.com/office/drawing/2014/main" id="{CAFB938E-2638-C269-34BC-3D14F67D1919}"/>
              </a:ext>
            </a:extLst>
          </p:cNvPr>
          <p:cNvSpPr txBox="1"/>
          <p:nvPr/>
        </p:nvSpPr>
        <p:spPr>
          <a:xfrm>
            <a:off x="7197751" y="5751679"/>
            <a:ext cx="771365" cy="261610"/>
          </a:xfrm>
          <a:prstGeom prst="rect">
            <a:avLst/>
          </a:prstGeom>
          <a:noFill/>
        </p:spPr>
        <p:txBody>
          <a:bodyPr wrap="none" rtlCol="0">
            <a:spAutoFit/>
          </a:bodyPr>
          <a:lstStyle/>
          <a:p>
            <a:r>
              <a:rPr lang="en-US" altLang="ko-KR" sz="1100" dirty="0"/>
              <a:t>2018.8.7.</a:t>
            </a:r>
            <a:endParaRPr lang="ko-KR" altLang="en-US" sz="1100" dirty="0"/>
          </a:p>
        </p:txBody>
      </p:sp>
      <p:cxnSp>
        <p:nvCxnSpPr>
          <p:cNvPr id="86" name="직선 연결선 85">
            <a:extLst>
              <a:ext uri="{FF2B5EF4-FFF2-40B4-BE49-F238E27FC236}">
                <a16:creationId xmlns:a16="http://schemas.microsoft.com/office/drawing/2014/main" id="{C75EDA5B-FE33-4C72-C7C3-85FC58728444}"/>
              </a:ext>
            </a:extLst>
          </p:cNvPr>
          <p:cNvCxnSpPr>
            <a:cxnSpLocks/>
            <a:stCxn id="84" idx="2"/>
            <a:endCxn id="83" idx="0"/>
          </p:cNvCxnSpPr>
          <p:nvPr/>
        </p:nvCxnSpPr>
        <p:spPr>
          <a:xfrm flipH="1">
            <a:off x="7581387" y="5334930"/>
            <a:ext cx="2443" cy="237378"/>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89" name="타원 88">
            <a:extLst>
              <a:ext uri="{FF2B5EF4-FFF2-40B4-BE49-F238E27FC236}">
                <a16:creationId xmlns:a16="http://schemas.microsoft.com/office/drawing/2014/main" id="{14D8C24D-BDB4-C83C-A2AC-5C8C115B83B0}"/>
              </a:ext>
            </a:extLst>
          </p:cNvPr>
          <p:cNvSpPr/>
          <p:nvPr/>
        </p:nvSpPr>
        <p:spPr>
          <a:xfrm>
            <a:off x="9865781" y="5572308"/>
            <a:ext cx="154738" cy="161338"/>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sp>
        <p:nvSpPr>
          <p:cNvPr id="90" name="TextBox 89">
            <a:extLst>
              <a:ext uri="{FF2B5EF4-FFF2-40B4-BE49-F238E27FC236}">
                <a16:creationId xmlns:a16="http://schemas.microsoft.com/office/drawing/2014/main" id="{0DE52AB0-5CCA-D336-FF06-D622D542911D}"/>
              </a:ext>
            </a:extLst>
          </p:cNvPr>
          <p:cNvSpPr txBox="1"/>
          <p:nvPr/>
        </p:nvSpPr>
        <p:spPr>
          <a:xfrm>
            <a:off x="8966672" y="5057931"/>
            <a:ext cx="1957842" cy="276999"/>
          </a:xfrm>
          <a:prstGeom prst="rect">
            <a:avLst/>
          </a:prstGeom>
          <a:solidFill>
            <a:schemeClr val="accent4">
              <a:lumMod val="20000"/>
              <a:lumOff val="80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tx1"/>
                </a:solidFill>
                <a:latin typeface="+mn-ea"/>
              </a:rPr>
              <a:t>무효처분서 통지</a:t>
            </a:r>
          </a:p>
        </p:txBody>
      </p:sp>
      <p:sp>
        <p:nvSpPr>
          <p:cNvPr id="91" name="TextBox 90">
            <a:extLst>
              <a:ext uri="{FF2B5EF4-FFF2-40B4-BE49-F238E27FC236}">
                <a16:creationId xmlns:a16="http://schemas.microsoft.com/office/drawing/2014/main" id="{55B3D5BA-6BFF-4352-F28A-B593ABBC909A}"/>
              </a:ext>
            </a:extLst>
          </p:cNvPr>
          <p:cNvSpPr txBox="1"/>
          <p:nvPr/>
        </p:nvSpPr>
        <p:spPr>
          <a:xfrm>
            <a:off x="9559514" y="5751679"/>
            <a:ext cx="888385" cy="261610"/>
          </a:xfrm>
          <a:prstGeom prst="rect">
            <a:avLst/>
          </a:prstGeom>
          <a:noFill/>
        </p:spPr>
        <p:txBody>
          <a:bodyPr wrap="none" rtlCol="0">
            <a:spAutoFit/>
          </a:bodyPr>
          <a:lstStyle/>
          <a:p>
            <a:r>
              <a:rPr lang="en-US" altLang="ko-KR" sz="1100" dirty="0"/>
              <a:t>2019. 2.27.</a:t>
            </a:r>
            <a:endParaRPr lang="ko-KR" altLang="en-US" sz="1100" dirty="0"/>
          </a:p>
        </p:txBody>
      </p:sp>
      <p:cxnSp>
        <p:nvCxnSpPr>
          <p:cNvPr id="92" name="직선 연결선 91">
            <a:extLst>
              <a:ext uri="{FF2B5EF4-FFF2-40B4-BE49-F238E27FC236}">
                <a16:creationId xmlns:a16="http://schemas.microsoft.com/office/drawing/2014/main" id="{1119CD56-D987-2BC5-2C44-AC3B16A4E354}"/>
              </a:ext>
            </a:extLst>
          </p:cNvPr>
          <p:cNvCxnSpPr>
            <a:cxnSpLocks/>
            <a:stCxn id="90" idx="2"/>
            <a:endCxn id="89" idx="0"/>
          </p:cNvCxnSpPr>
          <p:nvPr/>
        </p:nvCxnSpPr>
        <p:spPr>
          <a:xfrm flipH="1">
            <a:off x="9943150" y="5334930"/>
            <a:ext cx="2443" cy="237378"/>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93" name="TextBox 92">
            <a:extLst>
              <a:ext uri="{FF2B5EF4-FFF2-40B4-BE49-F238E27FC236}">
                <a16:creationId xmlns:a16="http://schemas.microsoft.com/office/drawing/2014/main" id="{597C8F2E-5411-E12B-9AC4-94A62205E61E}"/>
              </a:ext>
            </a:extLst>
          </p:cNvPr>
          <p:cNvSpPr txBox="1"/>
          <p:nvPr/>
        </p:nvSpPr>
        <p:spPr>
          <a:xfrm>
            <a:off x="7851567" y="4308166"/>
            <a:ext cx="4016564" cy="646331"/>
          </a:xfrm>
          <a:prstGeom prst="rect">
            <a:avLst/>
          </a:prstGeom>
          <a:no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t>위임장 미제출로 보정요구를 하였으나</a:t>
            </a:r>
            <a:r>
              <a:rPr lang="en-US" altLang="ko-KR" sz="1200" dirty="0"/>
              <a:t>, </a:t>
            </a:r>
            <a:r>
              <a:rPr lang="ko-KR" altLang="en-US" sz="1200" dirty="0"/>
              <a:t>지정된 기간 내에 보정을 하지 않아</a:t>
            </a:r>
            <a:r>
              <a:rPr lang="en-US" altLang="ko-KR" sz="1200" dirty="0"/>
              <a:t>, </a:t>
            </a:r>
            <a:r>
              <a:rPr lang="ko-KR" altLang="en-US" sz="1200" dirty="0"/>
              <a:t>특허법 제</a:t>
            </a:r>
            <a:r>
              <a:rPr lang="en-US" altLang="ko-KR" sz="1200" dirty="0"/>
              <a:t>16</a:t>
            </a:r>
            <a:r>
              <a:rPr lang="ko-KR" altLang="en-US" sz="1200" dirty="0"/>
              <a:t>조에 근거하여 이 사건 </a:t>
            </a:r>
            <a:r>
              <a:rPr lang="ko-KR" altLang="en-US" sz="1200"/>
              <a:t>특허출원을 무효로 </a:t>
            </a:r>
            <a:r>
              <a:rPr lang="ko-KR" altLang="en-US" sz="1200" dirty="0"/>
              <a:t>처리한다</a:t>
            </a:r>
            <a:r>
              <a:rPr lang="en-US" altLang="ko-KR" sz="1200" dirty="0"/>
              <a:t>.</a:t>
            </a:r>
            <a:endParaRPr lang="ko-KR" altLang="en-US" sz="1200" dirty="0">
              <a:solidFill>
                <a:schemeClr val="tx1"/>
              </a:solidFill>
              <a:latin typeface="+mn-ea"/>
            </a:endParaRPr>
          </a:p>
        </p:txBody>
      </p:sp>
      <p:cxnSp>
        <p:nvCxnSpPr>
          <p:cNvPr id="94" name="연결선: 꺾임 93">
            <a:extLst>
              <a:ext uri="{FF2B5EF4-FFF2-40B4-BE49-F238E27FC236}">
                <a16:creationId xmlns:a16="http://schemas.microsoft.com/office/drawing/2014/main" id="{545D898A-13A0-BDFF-A385-B2624CFFA280}"/>
              </a:ext>
            </a:extLst>
          </p:cNvPr>
          <p:cNvCxnSpPr>
            <a:cxnSpLocks/>
            <a:stCxn id="93" idx="2"/>
            <a:endCxn id="90" idx="0"/>
          </p:cNvCxnSpPr>
          <p:nvPr/>
        </p:nvCxnSpPr>
        <p:spPr>
          <a:xfrm rot="16200000" flipH="1">
            <a:off x="9851004" y="4963342"/>
            <a:ext cx="103434" cy="85744"/>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6" name="사각형: 둥근 모서리 95">
            <a:extLst>
              <a:ext uri="{FF2B5EF4-FFF2-40B4-BE49-F238E27FC236}">
                <a16:creationId xmlns:a16="http://schemas.microsoft.com/office/drawing/2014/main" id="{391097EC-5680-E1A6-20E2-53C20904EF85}"/>
              </a:ext>
            </a:extLst>
          </p:cNvPr>
          <p:cNvSpPr/>
          <p:nvPr/>
        </p:nvSpPr>
        <p:spPr>
          <a:xfrm>
            <a:off x="185881" y="5781161"/>
            <a:ext cx="621809" cy="609468"/>
          </a:xfrm>
          <a:prstGeom prst="roundRect">
            <a:avLst/>
          </a:prstGeom>
          <a:solidFill>
            <a:schemeClr val="tx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ko-KR" altLang="en-US" sz="1200" dirty="0"/>
              <a:t>원고</a:t>
            </a:r>
            <a:endParaRPr lang="en-US" altLang="ko-KR" sz="1200" dirty="0"/>
          </a:p>
          <a:p>
            <a:pPr algn="ctr"/>
            <a:r>
              <a:rPr lang="ko-KR" altLang="en-US" sz="1200" dirty="0"/>
              <a:t>대리인</a:t>
            </a:r>
          </a:p>
        </p:txBody>
      </p:sp>
      <p:sp>
        <p:nvSpPr>
          <p:cNvPr id="97" name="사각형: 둥근 모서리 96">
            <a:extLst>
              <a:ext uri="{FF2B5EF4-FFF2-40B4-BE49-F238E27FC236}">
                <a16:creationId xmlns:a16="http://schemas.microsoft.com/office/drawing/2014/main" id="{44E6520C-FA2C-7EEA-FDFF-BBD0057CEE95}"/>
              </a:ext>
            </a:extLst>
          </p:cNvPr>
          <p:cNvSpPr/>
          <p:nvPr/>
        </p:nvSpPr>
        <p:spPr>
          <a:xfrm>
            <a:off x="185881" y="4933572"/>
            <a:ext cx="621809" cy="609468"/>
          </a:xfrm>
          <a:prstGeom prst="roundRect">
            <a:avLst/>
          </a:prstGeom>
          <a:solidFill>
            <a:schemeClr val="accent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lIns="36000" rIns="36000" rtlCol="0" anchor="ctr"/>
          <a:lstStyle/>
          <a:p>
            <a:pPr algn="ctr"/>
            <a:r>
              <a:rPr lang="ko-KR" altLang="en-US" sz="1200" dirty="0"/>
              <a:t>특허</a:t>
            </a:r>
            <a:endParaRPr lang="en-US" altLang="ko-KR" sz="1200" dirty="0"/>
          </a:p>
          <a:p>
            <a:pPr algn="ctr"/>
            <a:r>
              <a:rPr lang="ko-KR" altLang="en-US" sz="1200" dirty="0"/>
              <a:t>청장</a:t>
            </a:r>
          </a:p>
        </p:txBody>
      </p:sp>
      <p:sp>
        <p:nvSpPr>
          <p:cNvPr id="7" name="TextBox 6">
            <a:extLst>
              <a:ext uri="{FF2B5EF4-FFF2-40B4-BE49-F238E27FC236}">
                <a16:creationId xmlns:a16="http://schemas.microsoft.com/office/drawing/2014/main" id="{89EA92C3-2E1E-B24D-4E3F-8921D901C56E}"/>
              </a:ext>
            </a:extLst>
          </p:cNvPr>
          <p:cNvSpPr txBox="1"/>
          <p:nvPr/>
        </p:nvSpPr>
        <p:spPr>
          <a:xfrm>
            <a:off x="7780134" y="6213212"/>
            <a:ext cx="2116564" cy="276999"/>
          </a:xfrm>
          <a:prstGeom prst="rect">
            <a:avLst/>
          </a:prstGeom>
          <a:solidFill>
            <a:schemeClr val="accent6">
              <a:lumMod val="50000"/>
            </a:schemeClr>
          </a:solidFill>
          <a:ln>
            <a:solidFill>
              <a:schemeClr val="bg1">
                <a:lumMod val="50000"/>
              </a:schemeClr>
            </a:solidFill>
          </a:ln>
        </p:spPr>
        <p:style>
          <a:lnRef idx="2">
            <a:schemeClr val="accent1"/>
          </a:lnRef>
          <a:fillRef idx="1">
            <a:schemeClr val="lt1"/>
          </a:fillRef>
          <a:effectRef idx="0">
            <a:schemeClr val="accent1"/>
          </a:effectRef>
          <a:fontRef idx="minor">
            <a:schemeClr val="dk1"/>
          </a:fontRef>
        </p:style>
        <p:txBody>
          <a:bodyPr wrap="square" rtlCol="0">
            <a:spAutoFit/>
          </a:bodyPr>
          <a:lstStyle/>
          <a:p>
            <a:pPr algn="ctr"/>
            <a:r>
              <a:rPr lang="ko-KR" altLang="en-US" sz="1200" dirty="0">
                <a:solidFill>
                  <a:schemeClr val="bg1"/>
                </a:solidFill>
                <a:latin typeface="+mn-ea"/>
              </a:rPr>
              <a:t>포괄위임등록번호 기재 보정</a:t>
            </a:r>
            <a:r>
              <a:rPr lang="en-US" altLang="ko-KR" sz="1200" dirty="0">
                <a:solidFill>
                  <a:schemeClr val="bg1"/>
                </a:solidFill>
                <a:latin typeface="+mn-ea"/>
              </a:rPr>
              <a:t>X</a:t>
            </a:r>
            <a:endParaRPr lang="ko-KR" altLang="en-US" sz="1200" dirty="0">
              <a:solidFill>
                <a:schemeClr val="bg1"/>
              </a:solidFill>
              <a:latin typeface="+mn-ea"/>
            </a:endParaRPr>
          </a:p>
        </p:txBody>
      </p:sp>
      <p:sp>
        <p:nvSpPr>
          <p:cNvPr id="8" name="타원 7">
            <a:extLst>
              <a:ext uri="{FF2B5EF4-FFF2-40B4-BE49-F238E27FC236}">
                <a16:creationId xmlns:a16="http://schemas.microsoft.com/office/drawing/2014/main" id="{25BEB128-360A-F8C4-CE7A-F40B4CF4AC8D}"/>
              </a:ext>
            </a:extLst>
          </p:cNvPr>
          <p:cNvSpPr/>
          <p:nvPr/>
        </p:nvSpPr>
        <p:spPr>
          <a:xfrm>
            <a:off x="8761046" y="5572308"/>
            <a:ext cx="154738" cy="161338"/>
          </a:xfrm>
          <a:prstGeom prst="ellipse">
            <a:avLst/>
          </a:prstGeom>
          <a:solidFill>
            <a:schemeClr val="tx1">
              <a:lumMod val="95000"/>
              <a:lumOff val="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200">
              <a:latin typeface="+mn-ea"/>
            </a:endParaRPr>
          </a:p>
        </p:txBody>
      </p:sp>
      <p:cxnSp>
        <p:nvCxnSpPr>
          <p:cNvPr id="9" name="직선 연결선 8">
            <a:extLst>
              <a:ext uri="{FF2B5EF4-FFF2-40B4-BE49-F238E27FC236}">
                <a16:creationId xmlns:a16="http://schemas.microsoft.com/office/drawing/2014/main" id="{ED14C04F-0789-3E69-C1C3-304AC01DCB4F}"/>
              </a:ext>
            </a:extLst>
          </p:cNvPr>
          <p:cNvCxnSpPr>
            <a:cxnSpLocks/>
            <a:stCxn id="7" idx="0"/>
            <a:endCxn id="8" idx="4"/>
          </p:cNvCxnSpPr>
          <p:nvPr/>
        </p:nvCxnSpPr>
        <p:spPr>
          <a:xfrm flipH="1" flipV="1">
            <a:off x="8838415" y="5733646"/>
            <a:ext cx="1" cy="479566"/>
          </a:xfrm>
          <a:prstGeom prst="line">
            <a:avLst/>
          </a:prstGeom>
          <a:ln w="12700">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364430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8</a:t>
            </a:r>
            <a:r>
              <a:rPr lang="ko-KR" altLang="en-US" dirty="0"/>
              <a:t>조</a:t>
            </a:r>
          </a:p>
        </p:txBody>
      </p:sp>
      <p:sp>
        <p:nvSpPr>
          <p:cNvPr id="4" name="텍스트 개체 틀 3"/>
          <p:cNvSpPr>
            <a:spLocks noGrp="1"/>
          </p:cNvSpPr>
          <p:nvPr>
            <p:ph type="body" sz="quarter" idx="13"/>
          </p:nvPr>
        </p:nvSpPr>
        <p:spPr/>
        <p:txBody>
          <a:bodyPr/>
          <a:lstStyle/>
          <a:p>
            <a:r>
              <a:rPr lang="ko-KR" altLang="en-US" dirty="0"/>
              <a:t>대리권의 </a:t>
            </a:r>
            <a:r>
              <a:rPr lang="ko-KR" altLang="en-US" dirty="0" err="1"/>
              <a:t>불소멸</a:t>
            </a:r>
            <a:endParaRPr lang="ko-KR" altLang="en-US" dirty="0"/>
          </a:p>
        </p:txBody>
      </p:sp>
      <p:sp>
        <p:nvSpPr>
          <p:cNvPr id="5" name="모서리가 둥근 직사각형 4"/>
          <p:cNvSpPr/>
          <p:nvPr/>
        </p:nvSpPr>
        <p:spPr>
          <a:xfrm>
            <a:off x="1310142" y="2815014"/>
            <a:ext cx="922070" cy="690280"/>
          </a:xfrm>
          <a:prstGeom prst="roundRect">
            <a:avLst>
              <a:gd name="adj" fmla="val 29221"/>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rPr>
              <a:t>甲</a:t>
            </a:r>
            <a:endParaRPr lang="en-US" altLang="ko-KR" dirty="0">
              <a:solidFill>
                <a:schemeClr val="bg1">
                  <a:lumMod val="50000"/>
                </a:schemeClr>
              </a:solidFill>
            </a:endParaRPr>
          </a:p>
          <a:p>
            <a:pPr algn="ctr"/>
            <a:r>
              <a:rPr lang="en-US" altLang="ko-KR" sz="1100" dirty="0">
                <a:solidFill>
                  <a:schemeClr val="bg1">
                    <a:lumMod val="50000"/>
                  </a:schemeClr>
                </a:solidFill>
              </a:rPr>
              <a:t>(</a:t>
            </a:r>
            <a:r>
              <a:rPr lang="ko-KR" altLang="en-US" sz="1100" dirty="0">
                <a:solidFill>
                  <a:schemeClr val="bg1">
                    <a:lumMod val="50000"/>
                  </a:schemeClr>
                </a:solidFill>
              </a:rPr>
              <a:t>본인</a:t>
            </a:r>
            <a:r>
              <a:rPr lang="en-US" altLang="ko-KR" sz="1100" dirty="0">
                <a:solidFill>
                  <a:schemeClr val="bg1">
                    <a:lumMod val="50000"/>
                  </a:schemeClr>
                </a:solidFill>
              </a:rPr>
              <a:t>)</a:t>
            </a:r>
            <a:endParaRPr lang="ko-KR" altLang="en-US" sz="1100" dirty="0">
              <a:solidFill>
                <a:schemeClr val="bg1">
                  <a:lumMod val="50000"/>
                </a:schemeClr>
              </a:solidFill>
            </a:endParaRPr>
          </a:p>
        </p:txBody>
      </p:sp>
      <p:sp>
        <p:nvSpPr>
          <p:cNvPr id="38" name="모서리가 둥근 직사각형 37"/>
          <p:cNvSpPr/>
          <p:nvPr/>
        </p:nvSpPr>
        <p:spPr>
          <a:xfrm>
            <a:off x="1310142" y="4387536"/>
            <a:ext cx="922070" cy="690280"/>
          </a:xfrm>
          <a:prstGeom prst="roundRect">
            <a:avLst>
              <a:gd name="adj" fmla="val 26623"/>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dirty="0">
                <a:solidFill>
                  <a:schemeClr val="bg1">
                    <a:lumMod val="50000"/>
                  </a:schemeClr>
                </a:solidFill>
              </a:rPr>
              <a:t>乙</a:t>
            </a:r>
            <a:endParaRPr lang="en-US" altLang="ko-KR" dirty="0">
              <a:solidFill>
                <a:schemeClr val="bg1">
                  <a:lumMod val="50000"/>
                </a:schemeClr>
              </a:solidFill>
            </a:endParaRPr>
          </a:p>
          <a:p>
            <a:pPr algn="ctr"/>
            <a:r>
              <a:rPr lang="en-US" altLang="ko-KR" sz="1100" dirty="0">
                <a:solidFill>
                  <a:schemeClr val="bg1">
                    <a:lumMod val="50000"/>
                  </a:schemeClr>
                </a:solidFill>
              </a:rPr>
              <a:t>(</a:t>
            </a:r>
            <a:r>
              <a:rPr lang="ko-KR" altLang="en-US" sz="1100" dirty="0">
                <a:solidFill>
                  <a:schemeClr val="bg1">
                    <a:lumMod val="50000"/>
                  </a:schemeClr>
                </a:solidFill>
              </a:rPr>
              <a:t>임의대리인</a:t>
            </a:r>
            <a:r>
              <a:rPr lang="en-US" altLang="ko-KR" sz="1100" dirty="0">
                <a:solidFill>
                  <a:schemeClr val="bg1">
                    <a:lumMod val="50000"/>
                  </a:schemeClr>
                </a:solidFill>
              </a:rPr>
              <a:t>)</a:t>
            </a:r>
            <a:endParaRPr lang="ko-KR" altLang="en-US" sz="1100" dirty="0">
              <a:solidFill>
                <a:schemeClr val="bg1">
                  <a:lumMod val="50000"/>
                </a:schemeClr>
              </a:solidFill>
            </a:endParaRPr>
          </a:p>
        </p:txBody>
      </p:sp>
      <p:cxnSp>
        <p:nvCxnSpPr>
          <p:cNvPr id="7" name="직선 화살표 연결선 6"/>
          <p:cNvCxnSpPr>
            <a:stCxn id="5" idx="2"/>
            <a:endCxn id="38" idx="0"/>
          </p:cNvCxnSpPr>
          <p:nvPr/>
        </p:nvCxnSpPr>
        <p:spPr>
          <a:xfrm>
            <a:off x="1771177" y="3505294"/>
            <a:ext cx="0" cy="882242"/>
          </a:xfrm>
          <a:prstGeom prst="straightConnector1">
            <a:avLst/>
          </a:prstGeom>
          <a:ln>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3" name="Rectangle 5"/>
          <p:cNvSpPr>
            <a:spLocks noChangeArrowheads="1"/>
          </p:cNvSpPr>
          <p:nvPr/>
        </p:nvSpPr>
        <p:spPr bwMode="auto">
          <a:xfrm>
            <a:off x="2026737" y="3772364"/>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1. </a:t>
            </a:r>
            <a:r>
              <a:rPr lang="ko-KR" altLang="en-US" sz="1000" b="0" dirty="0" err="1">
                <a:solidFill>
                  <a:schemeClr val="tx1"/>
                </a:solidFill>
                <a:latin typeface="+mj-ea"/>
                <a:ea typeface="+mj-ea"/>
              </a:rPr>
              <a:t>위임계약</a:t>
            </a:r>
            <a:r>
              <a:rPr lang="ko-KR" altLang="en-US" sz="1000" b="0" dirty="0">
                <a:solidFill>
                  <a:schemeClr val="tx1"/>
                </a:solidFill>
                <a:latin typeface="+mj-ea"/>
                <a:ea typeface="+mj-ea"/>
              </a:rPr>
              <a:t> 체결</a:t>
            </a:r>
          </a:p>
        </p:txBody>
      </p:sp>
      <p:sp>
        <p:nvSpPr>
          <p:cNvPr id="44" name="모서리가 둥근 직사각형 43"/>
          <p:cNvSpPr/>
          <p:nvPr/>
        </p:nvSpPr>
        <p:spPr>
          <a:xfrm>
            <a:off x="3563149" y="3697256"/>
            <a:ext cx="922070" cy="690280"/>
          </a:xfrm>
          <a:prstGeom prst="roundRect">
            <a:avLst>
              <a:gd name="adj" fmla="val 50000"/>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dirty="0">
                <a:solidFill>
                  <a:schemeClr val="accent4">
                    <a:lumMod val="20000"/>
                    <a:lumOff val="80000"/>
                  </a:schemeClr>
                </a:solidFill>
              </a:rPr>
              <a:t>지식</a:t>
            </a:r>
            <a:endParaRPr lang="en-US" altLang="ko-KR" dirty="0">
              <a:solidFill>
                <a:schemeClr val="accent4">
                  <a:lumMod val="20000"/>
                  <a:lumOff val="80000"/>
                </a:schemeClr>
              </a:solidFill>
            </a:endParaRPr>
          </a:p>
          <a:p>
            <a:pPr algn="ctr"/>
            <a:r>
              <a:rPr lang="ko-KR" altLang="en-US" dirty="0" err="1">
                <a:solidFill>
                  <a:schemeClr val="accent4">
                    <a:lumMod val="20000"/>
                    <a:lumOff val="80000"/>
                  </a:schemeClr>
                </a:solidFill>
              </a:rPr>
              <a:t>재산처</a:t>
            </a:r>
            <a:endParaRPr lang="ko-KR" altLang="en-US" sz="1100" dirty="0">
              <a:solidFill>
                <a:schemeClr val="accent4">
                  <a:lumMod val="20000"/>
                  <a:lumOff val="80000"/>
                </a:schemeClr>
              </a:solidFill>
            </a:endParaRPr>
          </a:p>
        </p:txBody>
      </p:sp>
      <p:cxnSp>
        <p:nvCxnSpPr>
          <p:cNvPr id="12" name="직선 화살표 연결선 11"/>
          <p:cNvCxnSpPr>
            <a:stCxn id="38" idx="3"/>
            <a:endCxn id="44" idx="1"/>
          </p:cNvCxnSpPr>
          <p:nvPr/>
        </p:nvCxnSpPr>
        <p:spPr>
          <a:xfrm flipV="1">
            <a:off x="2232212" y="4042396"/>
            <a:ext cx="1330937" cy="690280"/>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Rectangle 5"/>
          <p:cNvSpPr>
            <a:spLocks noChangeArrowheads="1"/>
          </p:cNvSpPr>
          <p:nvPr/>
        </p:nvSpPr>
        <p:spPr bwMode="auto">
          <a:xfrm>
            <a:off x="2959100" y="4557144"/>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2. </a:t>
            </a:r>
            <a:r>
              <a:rPr lang="ko-KR" altLang="en-US" sz="1000" b="0" dirty="0">
                <a:solidFill>
                  <a:schemeClr val="tx1"/>
                </a:solidFill>
                <a:latin typeface="+mj-ea"/>
                <a:ea typeface="+mj-ea"/>
              </a:rPr>
              <a:t>특허에 관한 절차 진행</a:t>
            </a:r>
            <a:endParaRPr lang="en-US" altLang="ko-KR" sz="1000" b="0" dirty="0">
              <a:solidFill>
                <a:schemeClr val="tx1"/>
              </a:solidFill>
              <a:latin typeface="+mj-ea"/>
              <a:ea typeface="+mj-ea"/>
            </a:endParaRPr>
          </a:p>
          <a:p>
            <a:pPr algn="ctr"/>
            <a:r>
              <a:rPr lang="en-US" altLang="ko-KR" sz="1000" dirty="0">
                <a:latin typeface="+mj-ea"/>
                <a:ea typeface="+mj-ea"/>
              </a:rPr>
              <a:t>(</a:t>
            </a:r>
            <a:r>
              <a:rPr lang="ko-KR" altLang="en-US" sz="1000" dirty="0" err="1">
                <a:latin typeface="+mj-ea"/>
                <a:ea typeface="+mj-ea"/>
              </a:rPr>
              <a:t>대리행위</a:t>
            </a:r>
            <a:r>
              <a:rPr lang="en-US" altLang="ko-KR" sz="1000" dirty="0">
                <a:latin typeface="+mj-ea"/>
                <a:ea typeface="+mj-ea"/>
              </a:rPr>
              <a:t>)</a:t>
            </a:r>
            <a:endParaRPr lang="ko-KR" altLang="en-US" sz="1000" b="0" dirty="0">
              <a:solidFill>
                <a:schemeClr val="tx1"/>
              </a:solidFill>
              <a:latin typeface="+mj-ea"/>
              <a:ea typeface="+mj-ea"/>
            </a:endParaRPr>
          </a:p>
        </p:txBody>
      </p:sp>
      <p:sp>
        <p:nvSpPr>
          <p:cNvPr id="49" name="Rectangle 5"/>
          <p:cNvSpPr>
            <a:spLocks noChangeArrowheads="1"/>
          </p:cNvSpPr>
          <p:nvPr/>
        </p:nvSpPr>
        <p:spPr bwMode="auto">
          <a:xfrm>
            <a:off x="713298" y="1907494"/>
            <a:ext cx="4462020" cy="348102"/>
          </a:xfrm>
          <a:prstGeom prst="rect">
            <a:avLst/>
          </a:prstGeom>
          <a:noFill/>
          <a:ln w="9525" algn="ctr">
            <a:noFill/>
            <a:miter lim="800000"/>
            <a:headEnd/>
            <a:tailEnd/>
          </a:ln>
        </p:spPr>
        <p:txBody>
          <a:bodyPr wrap="none" anchor="ctr"/>
          <a:lstStyle/>
          <a:p>
            <a:pPr algn="ctr"/>
            <a:r>
              <a:rPr lang="en-US" altLang="ko-KR" sz="1600" b="0" dirty="0">
                <a:solidFill>
                  <a:schemeClr val="accent2">
                    <a:lumMod val="75000"/>
                  </a:schemeClr>
                </a:solidFill>
                <a:latin typeface="+mj-ea"/>
                <a:ea typeface="+mj-ea"/>
              </a:rPr>
              <a:t>3. </a:t>
            </a:r>
            <a:r>
              <a:rPr lang="ko-KR" altLang="en-US" sz="1600" b="0" dirty="0">
                <a:solidFill>
                  <a:schemeClr val="accent2">
                    <a:lumMod val="75000"/>
                  </a:schemeClr>
                </a:solidFill>
                <a:latin typeface="+mj-ea"/>
                <a:ea typeface="+mj-ea"/>
              </a:rPr>
              <a:t>사망</a:t>
            </a:r>
            <a:r>
              <a:rPr lang="en-US" altLang="ko-KR" sz="1600" b="0" dirty="0">
                <a:solidFill>
                  <a:schemeClr val="accent2">
                    <a:lumMod val="75000"/>
                  </a:schemeClr>
                </a:solidFill>
                <a:latin typeface="+mj-ea"/>
                <a:ea typeface="+mj-ea"/>
              </a:rPr>
              <a:t>, </a:t>
            </a:r>
            <a:r>
              <a:rPr lang="ko-KR" altLang="en-US" sz="1600" b="0" dirty="0">
                <a:solidFill>
                  <a:schemeClr val="accent2">
                    <a:lumMod val="75000"/>
                  </a:schemeClr>
                </a:solidFill>
                <a:latin typeface="+mj-ea"/>
                <a:ea typeface="+mj-ea"/>
              </a:rPr>
              <a:t>행위능력 상실</a:t>
            </a:r>
            <a:r>
              <a:rPr lang="en-US" altLang="ko-KR" sz="1600" b="0" dirty="0">
                <a:solidFill>
                  <a:schemeClr val="accent2">
                    <a:lumMod val="75000"/>
                  </a:schemeClr>
                </a:solidFill>
                <a:latin typeface="+mj-ea"/>
                <a:ea typeface="+mj-ea"/>
              </a:rPr>
              <a:t>, </a:t>
            </a:r>
            <a:r>
              <a:rPr lang="ko-KR" altLang="en-US" sz="1600" b="0" dirty="0">
                <a:solidFill>
                  <a:schemeClr val="accent2">
                    <a:lumMod val="75000"/>
                  </a:schemeClr>
                </a:solidFill>
                <a:latin typeface="+mj-ea"/>
                <a:ea typeface="+mj-ea"/>
              </a:rPr>
              <a:t>합병에 의한 소멸</a:t>
            </a:r>
            <a:r>
              <a:rPr lang="en-US" altLang="ko-KR" sz="1600" b="0" dirty="0">
                <a:solidFill>
                  <a:schemeClr val="accent2">
                    <a:lumMod val="75000"/>
                  </a:schemeClr>
                </a:solidFill>
                <a:latin typeface="+mj-ea"/>
                <a:ea typeface="+mj-ea"/>
              </a:rPr>
              <a:t>, </a:t>
            </a:r>
            <a:r>
              <a:rPr lang="ko-KR" altLang="en-US" sz="1600" b="0" dirty="0">
                <a:solidFill>
                  <a:schemeClr val="accent2">
                    <a:lumMod val="75000"/>
                  </a:schemeClr>
                </a:solidFill>
                <a:latin typeface="+mj-ea"/>
                <a:ea typeface="+mj-ea"/>
              </a:rPr>
              <a:t>수탁자의 </a:t>
            </a:r>
            <a:r>
              <a:rPr lang="ko-KR" altLang="en-US" sz="1600" b="0" dirty="0" err="1">
                <a:solidFill>
                  <a:schemeClr val="accent2">
                    <a:lumMod val="75000"/>
                  </a:schemeClr>
                </a:solidFill>
                <a:latin typeface="+mj-ea"/>
                <a:ea typeface="+mj-ea"/>
              </a:rPr>
              <a:t>신탁임무</a:t>
            </a:r>
            <a:r>
              <a:rPr lang="ko-KR" altLang="en-US" sz="1600" b="0" dirty="0">
                <a:solidFill>
                  <a:schemeClr val="accent2">
                    <a:lumMod val="75000"/>
                  </a:schemeClr>
                </a:solidFill>
                <a:latin typeface="+mj-ea"/>
                <a:ea typeface="+mj-ea"/>
              </a:rPr>
              <a:t> 종료</a:t>
            </a:r>
          </a:p>
        </p:txBody>
      </p:sp>
      <p:sp>
        <p:nvSpPr>
          <p:cNvPr id="51" name="모서리가 둥근 직사각형 50"/>
          <p:cNvSpPr/>
          <p:nvPr/>
        </p:nvSpPr>
        <p:spPr>
          <a:xfrm>
            <a:off x="8521647" y="2890429"/>
            <a:ext cx="922070" cy="690280"/>
          </a:xfrm>
          <a:prstGeom prst="roundRect">
            <a:avLst>
              <a:gd name="adj" fmla="val 29221"/>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dirty="0">
                <a:solidFill>
                  <a:schemeClr val="bg1">
                    <a:lumMod val="50000"/>
                  </a:schemeClr>
                </a:solidFill>
              </a:rPr>
              <a:t>丙</a:t>
            </a:r>
            <a:endParaRPr lang="en-US" altLang="ko-KR" dirty="0">
              <a:solidFill>
                <a:schemeClr val="bg1">
                  <a:lumMod val="50000"/>
                </a:schemeClr>
              </a:solidFill>
            </a:endParaRPr>
          </a:p>
          <a:p>
            <a:pPr algn="ctr"/>
            <a:r>
              <a:rPr lang="en-US" altLang="ko-KR" sz="1100" dirty="0">
                <a:solidFill>
                  <a:schemeClr val="bg1">
                    <a:lumMod val="50000"/>
                  </a:schemeClr>
                </a:solidFill>
              </a:rPr>
              <a:t>(</a:t>
            </a:r>
            <a:r>
              <a:rPr lang="ko-KR" altLang="en-US" sz="1100" dirty="0">
                <a:solidFill>
                  <a:schemeClr val="bg1">
                    <a:lumMod val="50000"/>
                  </a:schemeClr>
                </a:solidFill>
              </a:rPr>
              <a:t>법정대리인</a:t>
            </a:r>
            <a:r>
              <a:rPr lang="en-US" altLang="ko-KR" sz="1100" dirty="0">
                <a:solidFill>
                  <a:schemeClr val="bg1">
                    <a:lumMod val="50000"/>
                  </a:schemeClr>
                </a:solidFill>
              </a:rPr>
              <a:t>)</a:t>
            </a:r>
            <a:endParaRPr lang="ko-KR" altLang="en-US" sz="1100" dirty="0">
              <a:solidFill>
                <a:schemeClr val="bg1">
                  <a:lumMod val="50000"/>
                </a:schemeClr>
              </a:solidFill>
            </a:endParaRPr>
          </a:p>
        </p:txBody>
      </p:sp>
      <p:sp>
        <p:nvSpPr>
          <p:cNvPr id="52" name="모서리가 둥근 직사각형 51"/>
          <p:cNvSpPr/>
          <p:nvPr/>
        </p:nvSpPr>
        <p:spPr>
          <a:xfrm>
            <a:off x="8521647" y="4462951"/>
            <a:ext cx="922070" cy="690280"/>
          </a:xfrm>
          <a:prstGeom prst="roundRect">
            <a:avLst>
              <a:gd name="adj" fmla="val 26623"/>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dirty="0">
                <a:solidFill>
                  <a:schemeClr val="bg1">
                    <a:lumMod val="50000"/>
                  </a:schemeClr>
                </a:solidFill>
              </a:rPr>
              <a:t>乙</a:t>
            </a:r>
            <a:endParaRPr lang="en-US" altLang="ko-KR" dirty="0">
              <a:solidFill>
                <a:schemeClr val="bg1">
                  <a:lumMod val="50000"/>
                </a:schemeClr>
              </a:solidFill>
            </a:endParaRPr>
          </a:p>
          <a:p>
            <a:pPr algn="ctr"/>
            <a:r>
              <a:rPr lang="en-US" altLang="ko-KR" sz="1100" dirty="0">
                <a:solidFill>
                  <a:schemeClr val="bg1">
                    <a:lumMod val="50000"/>
                  </a:schemeClr>
                </a:solidFill>
              </a:rPr>
              <a:t>(</a:t>
            </a:r>
            <a:r>
              <a:rPr lang="ko-KR" altLang="en-US" sz="1100" dirty="0">
                <a:solidFill>
                  <a:schemeClr val="bg1">
                    <a:lumMod val="50000"/>
                  </a:schemeClr>
                </a:solidFill>
              </a:rPr>
              <a:t>임의대리인</a:t>
            </a:r>
            <a:r>
              <a:rPr lang="en-US" altLang="ko-KR" sz="1100" dirty="0">
                <a:solidFill>
                  <a:schemeClr val="bg1">
                    <a:lumMod val="50000"/>
                  </a:schemeClr>
                </a:solidFill>
              </a:rPr>
              <a:t>)</a:t>
            </a:r>
            <a:endParaRPr lang="ko-KR" altLang="en-US" sz="1100" dirty="0">
              <a:solidFill>
                <a:schemeClr val="bg1">
                  <a:lumMod val="50000"/>
                </a:schemeClr>
              </a:solidFill>
            </a:endParaRPr>
          </a:p>
        </p:txBody>
      </p:sp>
      <p:cxnSp>
        <p:nvCxnSpPr>
          <p:cNvPr id="53" name="직선 화살표 연결선 52"/>
          <p:cNvCxnSpPr>
            <a:stCxn id="51" idx="2"/>
            <a:endCxn id="52" idx="0"/>
          </p:cNvCxnSpPr>
          <p:nvPr/>
        </p:nvCxnSpPr>
        <p:spPr>
          <a:xfrm>
            <a:off x="8982682" y="3580709"/>
            <a:ext cx="0" cy="882242"/>
          </a:xfrm>
          <a:prstGeom prst="straightConnector1">
            <a:avLst/>
          </a:prstGeom>
          <a:ln>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54" name="Rectangle 5"/>
          <p:cNvSpPr>
            <a:spLocks noChangeArrowheads="1"/>
          </p:cNvSpPr>
          <p:nvPr/>
        </p:nvSpPr>
        <p:spPr bwMode="auto">
          <a:xfrm>
            <a:off x="9238242" y="3847779"/>
            <a:ext cx="542925" cy="348102"/>
          </a:xfrm>
          <a:prstGeom prst="rect">
            <a:avLst/>
          </a:prstGeom>
          <a:noFill/>
          <a:ln w="9525" algn="ctr">
            <a:noFill/>
            <a:miter lim="800000"/>
            <a:headEnd/>
            <a:tailEnd/>
          </a:ln>
        </p:spPr>
        <p:txBody>
          <a:bodyPr wrap="none" anchor="ctr"/>
          <a:lstStyle/>
          <a:p>
            <a:pPr algn="ctr"/>
            <a:r>
              <a:rPr lang="en-US" altLang="ko-KR" sz="1000" dirty="0">
                <a:latin typeface="+mj-ea"/>
                <a:ea typeface="+mj-ea"/>
              </a:rPr>
              <a:t>2</a:t>
            </a:r>
            <a:r>
              <a:rPr lang="en-US" altLang="ko-KR" sz="1000" b="0" dirty="0">
                <a:solidFill>
                  <a:schemeClr val="tx1"/>
                </a:solidFill>
                <a:latin typeface="+mj-ea"/>
                <a:ea typeface="+mj-ea"/>
              </a:rPr>
              <a:t>. </a:t>
            </a:r>
            <a:r>
              <a:rPr lang="ko-KR" altLang="en-US" sz="1000" b="0" dirty="0" err="1">
                <a:solidFill>
                  <a:schemeClr val="tx1"/>
                </a:solidFill>
                <a:latin typeface="+mj-ea"/>
                <a:ea typeface="+mj-ea"/>
              </a:rPr>
              <a:t>위임계약</a:t>
            </a:r>
            <a:r>
              <a:rPr lang="ko-KR" altLang="en-US" sz="1000" b="0" dirty="0">
                <a:solidFill>
                  <a:schemeClr val="tx1"/>
                </a:solidFill>
                <a:latin typeface="+mj-ea"/>
                <a:ea typeface="+mj-ea"/>
              </a:rPr>
              <a:t> 체결</a:t>
            </a:r>
          </a:p>
        </p:txBody>
      </p:sp>
      <p:sp>
        <p:nvSpPr>
          <p:cNvPr id="55" name="모서리가 둥근 직사각형 54"/>
          <p:cNvSpPr/>
          <p:nvPr/>
        </p:nvSpPr>
        <p:spPr>
          <a:xfrm>
            <a:off x="10774654" y="3772671"/>
            <a:ext cx="922070" cy="690280"/>
          </a:xfrm>
          <a:prstGeom prst="roundRect">
            <a:avLst>
              <a:gd name="adj" fmla="val 50000"/>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dirty="0">
                <a:solidFill>
                  <a:schemeClr val="accent4">
                    <a:lumMod val="20000"/>
                    <a:lumOff val="80000"/>
                  </a:schemeClr>
                </a:solidFill>
              </a:rPr>
              <a:t>지식</a:t>
            </a:r>
            <a:endParaRPr lang="en-US" altLang="ko-KR" dirty="0">
              <a:solidFill>
                <a:schemeClr val="accent4">
                  <a:lumMod val="20000"/>
                  <a:lumOff val="80000"/>
                </a:schemeClr>
              </a:solidFill>
            </a:endParaRPr>
          </a:p>
          <a:p>
            <a:pPr algn="ctr"/>
            <a:r>
              <a:rPr lang="ko-KR" altLang="en-US" dirty="0" err="1">
                <a:solidFill>
                  <a:schemeClr val="accent4">
                    <a:lumMod val="20000"/>
                    <a:lumOff val="80000"/>
                  </a:schemeClr>
                </a:solidFill>
              </a:rPr>
              <a:t>재산처</a:t>
            </a:r>
            <a:endParaRPr lang="ko-KR" altLang="en-US" sz="1100" dirty="0">
              <a:solidFill>
                <a:schemeClr val="accent4">
                  <a:lumMod val="20000"/>
                  <a:lumOff val="80000"/>
                </a:schemeClr>
              </a:solidFill>
            </a:endParaRPr>
          </a:p>
        </p:txBody>
      </p:sp>
      <p:cxnSp>
        <p:nvCxnSpPr>
          <p:cNvPr id="56" name="직선 화살표 연결선 55"/>
          <p:cNvCxnSpPr>
            <a:stCxn id="52" idx="3"/>
            <a:endCxn id="55" idx="1"/>
          </p:cNvCxnSpPr>
          <p:nvPr/>
        </p:nvCxnSpPr>
        <p:spPr>
          <a:xfrm flipV="1">
            <a:off x="9443717" y="4117811"/>
            <a:ext cx="1330937" cy="690280"/>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7" name="Rectangle 5"/>
          <p:cNvSpPr>
            <a:spLocks noChangeArrowheads="1"/>
          </p:cNvSpPr>
          <p:nvPr/>
        </p:nvSpPr>
        <p:spPr bwMode="auto">
          <a:xfrm>
            <a:off x="10170605" y="4632559"/>
            <a:ext cx="542925" cy="348102"/>
          </a:xfrm>
          <a:prstGeom prst="rect">
            <a:avLst/>
          </a:prstGeom>
          <a:noFill/>
          <a:ln w="9525" algn="ctr">
            <a:noFill/>
            <a:miter lim="800000"/>
            <a:headEnd/>
            <a:tailEnd/>
          </a:ln>
        </p:spPr>
        <p:txBody>
          <a:bodyPr wrap="none" anchor="ctr"/>
          <a:lstStyle/>
          <a:p>
            <a:pPr algn="ctr"/>
            <a:r>
              <a:rPr lang="en-US" altLang="ko-KR" sz="1000" dirty="0">
                <a:latin typeface="+mj-ea"/>
                <a:ea typeface="+mj-ea"/>
              </a:rPr>
              <a:t>3</a:t>
            </a:r>
            <a:r>
              <a:rPr lang="en-US" altLang="ko-KR" sz="1000" b="0" dirty="0">
                <a:solidFill>
                  <a:schemeClr val="tx1"/>
                </a:solidFill>
                <a:latin typeface="+mj-ea"/>
                <a:ea typeface="+mj-ea"/>
              </a:rPr>
              <a:t>. </a:t>
            </a:r>
            <a:r>
              <a:rPr lang="ko-KR" altLang="en-US" sz="1000" b="0" dirty="0">
                <a:solidFill>
                  <a:schemeClr val="tx1"/>
                </a:solidFill>
                <a:latin typeface="+mj-ea"/>
                <a:ea typeface="+mj-ea"/>
              </a:rPr>
              <a:t>특허에 관한 절차 진행</a:t>
            </a:r>
            <a:endParaRPr lang="en-US" altLang="ko-KR" sz="1000" b="0" dirty="0">
              <a:solidFill>
                <a:schemeClr val="tx1"/>
              </a:solidFill>
              <a:latin typeface="+mj-ea"/>
              <a:ea typeface="+mj-ea"/>
            </a:endParaRPr>
          </a:p>
          <a:p>
            <a:pPr algn="ctr"/>
            <a:r>
              <a:rPr lang="en-US" altLang="ko-KR" sz="1000" b="0" dirty="0">
                <a:solidFill>
                  <a:schemeClr val="tx1"/>
                </a:solidFill>
                <a:latin typeface="+mj-ea"/>
                <a:ea typeface="+mj-ea"/>
              </a:rPr>
              <a:t>(</a:t>
            </a:r>
            <a:r>
              <a:rPr lang="ko-KR" altLang="en-US" sz="1000" b="0" dirty="0" err="1">
                <a:solidFill>
                  <a:schemeClr val="tx1"/>
                </a:solidFill>
                <a:latin typeface="+mj-ea"/>
                <a:ea typeface="+mj-ea"/>
              </a:rPr>
              <a:t>대리행위</a:t>
            </a:r>
            <a:r>
              <a:rPr lang="en-US" altLang="ko-KR" sz="1000" b="0" dirty="0">
                <a:solidFill>
                  <a:schemeClr val="tx1"/>
                </a:solidFill>
                <a:latin typeface="+mj-ea"/>
                <a:ea typeface="+mj-ea"/>
              </a:rPr>
              <a:t>)</a:t>
            </a:r>
            <a:endParaRPr lang="ko-KR" altLang="en-US" sz="1000" b="0" dirty="0">
              <a:solidFill>
                <a:schemeClr val="tx1"/>
              </a:solidFill>
              <a:latin typeface="+mj-ea"/>
              <a:ea typeface="+mj-ea"/>
            </a:endParaRPr>
          </a:p>
        </p:txBody>
      </p:sp>
      <p:sp>
        <p:nvSpPr>
          <p:cNvPr id="59" name="Rectangle 5"/>
          <p:cNvSpPr>
            <a:spLocks noChangeArrowheads="1"/>
          </p:cNvSpPr>
          <p:nvPr/>
        </p:nvSpPr>
        <p:spPr bwMode="auto">
          <a:xfrm>
            <a:off x="6419917" y="1854542"/>
            <a:ext cx="4462020" cy="348102"/>
          </a:xfrm>
          <a:prstGeom prst="rect">
            <a:avLst/>
          </a:prstGeom>
          <a:noFill/>
          <a:ln w="9525" algn="ctr">
            <a:noFill/>
            <a:miter lim="800000"/>
            <a:headEnd/>
            <a:tailEnd/>
          </a:ln>
        </p:spPr>
        <p:txBody>
          <a:bodyPr wrap="none" anchor="ctr"/>
          <a:lstStyle/>
          <a:p>
            <a:pPr algn="ctr"/>
            <a:r>
              <a:rPr lang="en-US" altLang="ko-KR" sz="1600" b="0" dirty="0">
                <a:solidFill>
                  <a:schemeClr val="accent4">
                    <a:lumMod val="50000"/>
                  </a:schemeClr>
                </a:solidFill>
                <a:latin typeface="+mj-ea"/>
                <a:ea typeface="+mj-ea"/>
              </a:rPr>
              <a:t>4. </a:t>
            </a:r>
            <a:r>
              <a:rPr lang="ko-KR" altLang="en-US" sz="1600" b="0" dirty="0">
                <a:solidFill>
                  <a:schemeClr val="accent4">
                    <a:lumMod val="50000"/>
                  </a:schemeClr>
                </a:solidFill>
                <a:latin typeface="+mj-ea"/>
                <a:ea typeface="+mj-ea"/>
              </a:rPr>
              <a:t>사망</a:t>
            </a:r>
            <a:r>
              <a:rPr lang="en-US" altLang="ko-KR" sz="1600" b="0" dirty="0">
                <a:solidFill>
                  <a:schemeClr val="accent4">
                    <a:lumMod val="50000"/>
                  </a:schemeClr>
                </a:solidFill>
                <a:latin typeface="+mj-ea"/>
                <a:ea typeface="+mj-ea"/>
              </a:rPr>
              <a:t>, </a:t>
            </a:r>
            <a:r>
              <a:rPr lang="ko-KR" altLang="en-US" sz="1600" b="0" dirty="0">
                <a:solidFill>
                  <a:schemeClr val="accent4">
                    <a:lumMod val="50000"/>
                  </a:schemeClr>
                </a:solidFill>
                <a:latin typeface="+mj-ea"/>
                <a:ea typeface="+mj-ea"/>
              </a:rPr>
              <a:t>행위능력 상실</a:t>
            </a:r>
            <a:r>
              <a:rPr lang="en-US" altLang="ko-KR" sz="1600" b="0" dirty="0">
                <a:solidFill>
                  <a:schemeClr val="accent4">
                    <a:lumMod val="50000"/>
                  </a:schemeClr>
                </a:solidFill>
                <a:latin typeface="+mj-ea"/>
                <a:ea typeface="+mj-ea"/>
              </a:rPr>
              <a:t>, </a:t>
            </a:r>
            <a:r>
              <a:rPr lang="ko-KR" altLang="en-US" sz="1600" b="0" dirty="0">
                <a:solidFill>
                  <a:schemeClr val="accent4">
                    <a:lumMod val="50000"/>
                  </a:schemeClr>
                </a:solidFill>
                <a:latin typeface="+mj-ea"/>
                <a:ea typeface="+mj-ea"/>
              </a:rPr>
              <a:t>대리권 소멸이나 변경</a:t>
            </a:r>
          </a:p>
        </p:txBody>
      </p:sp>
      <p:sp>
        <p:nvSpPr>
          <p:cNvPr id="60" name="모서리가 둥근 직사각형 59"/>
          <p:cNvSpPr/>
          <p:nvPr/>
        </p:nvSpPr>
        <p:spPr>
          <a:xfrm>
            <a:off x="6710638" y="2894132"/>
            <a:ext cx="922070" cy="690280"/>
          </a:xfrm>
          <a:prstGeom prst="roundRect">
            <a:avLst>
              <a:gd name="adj" fmla="val 29221"/>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rPr>
              <a:t>甲</a:t>
            </a:r>
            <a:endParaRPr lang="en-US" altLang="ko-KR" dirty="0">
              <a:solidFill>
                <a:schemeClr val="bg1">
                  <a:lumMod val="50000"/>
                </a:schemeClr>
              </a:solidFill>
            </a:endParaRPr>
          </a:p>
          <a:p>
            <a:pPr algn="ctr"/>
            <a:r>
              <a:rPr lang="en-US" altLang="ko-KR" sz="1100" dirty="0">
                <a:solidFill>
                  <a:schemeClr val="bg1">
                    <a:lumMod val="50000"/>
                  </a:schemeClr>
                </a:solidFill>
              </a:rPr>
              <a:t>(</a:t>
            </a:r>
            <a:r>
              <a:rPr lang="ko-KR" altLang="en-US" sz="1100" dirty="0">
                <a:solidFill>
                  <a:schemeClr val="bg1">
                    <a:lumMod val="50000"/>
                  </a:schemeClr>
                </a:solidFill>
              </a:rPr>
              <a:t>본인</a:t>
            </a:r>
            <a:r>
              <a:rPr lang="en-US" altLang="ko-KR" sz="1100" dirty="0">
                <a:solidFill>
                  <a:schemeClr val="bg1">
                    <a:lumMod val="50000"/>
                  </a:schemeClr>
                </a:solidFill>
              </a:rPr>
              <a:t>)</a:t>
            </a:r>
            <a:endParaRPr lang="ko-KR" altLang="en-US" sz="1100" dirty="0">
              <a:solidFill>
                <a:schemeClr val="bg1">
                  <a:lumMod val="50000"/>
                </a:schemeClr>
              </a:solidFill>
            </a:endParaRPr>
          </a:p>
        </p:txBody>
      </p:sp>
      <p:cxnSp>
        <p:nvCxnSpPr>
          <p:cNvPr id="62" name="직선 화살표 연결선 61"/>
          <p:cNvCxnSpPr>
            <a:stCxn id="51" idx="1"/>
            <a:endCxn id="60" idx="3"/>
          </p:cNvCxnSpPr>
          <p:nvPr/>
        </p:nvCxnSpPr>
        <p:spPr>
          <a:xfrm flipH="1">
            <a:off x="7632708" y="3235569"/>
            <a:ext cx="888939" cy="3703"/>
          </a:xfrm>
          <a:prstGeom prst="straightConnector1">
            <a:avLst/>
          </a:prstGeom>
          <a:ln>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65" name="Rectangle 5"/>
          <p:cNvSpPr>
            <a:spLocks noChangeArrowheads="1"/>
          </p:cNvSpPr>
          <p:nvPr/>
        </p:nvSpPr>
        <p:spPr bwMode="auto">
          <a:xfrm>
            <a:off x="7805714" y="3328958"/>
            <a:ext cx="542925" cy="348102"/>
          </a:xfrm>
          <a:prstGeom prst="rect">
            <a:avLst/>
          </a:prstGeom>
          <a:noFill/>
          <a:ln w="9525" algn="ctr">
            <a:noFill/>
            <a:miter lim="800000"/>
            <a:headEnd/>
            <a:tailEnd/>
          </a:ln>
        </p:spPr>
        <p:txBody>
          <a:bodyPr wrap="none" anchor="ctr"/>
          <a:lstStyle/>
          <a:p>
            <a:pPr algn="ctr"/>
            <a:r>
              <a:rPr lang="en-US" altLang="ko-KR" sz="1000" dirty="0">
                <a:latin typeface="+mj-ea"/>
                <a:ea typeface="+mj-ea"/>
              </a:rPr>
              <a:t>1. </a:t>
            </a:r>
            <a:r>
              <a:rPr lang="ko-KR" altLang="en-US" sz="1000" dirty="0">
                <a:latin typeface="+mj-ea"/>
                <a:ea typeface="+mj-ea"/>
              </a:rPr>
              <a:t>법률 규정</a:t>
            </a:r>
            <a:endParaRPr lang="en-US" altLang="ko-KR" sz="1000" b="0" dirty="0">
              <a:solidFill>
                <a:schemeClr val="tx1"/>
              </a:solidFill>
              <a:latin typeface="+mj-ea"/>
              <a:ea typeface="+mj-ea"/>
            </a:endParaRPr>
          </a:p>
        </p:txBody>
      </p:sp>
      <p:cxnSp>
        <p:nvCxnSpPr>
          <p:cNvPr id="66" name="직선 연결선 65"/>
          <p:cNvCxnSpPr/>
          <p:nvPr/>
        </p:nvCxnSpPr>
        <p:spPr>
          <a:xfrm>
            <a:off x="6139478" y="1062288"/>
            <a:ext cx="0" cy="5598488"/>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꺾인 연결선 22"/>
          <p:cNvCxnSpPr>
            <a:stCxn id="5" idx="0"/>
            <a:endCxn id="49" idx="2"/>
          </p:cNvCxnSpPr>
          <p:nvPr/>
        </p:nvCxnSpPr>
        <p:spPr>
          <a:xfrm rot="5400000" flipH="1" flipV="1">
            <a:off x="2078033" y="1948740"/>
            <a:ext cx="559418" cy="1173131"/>
          </a:xfrm>
          <a:prstGeom prst="bentConnector3">
            <a:avLst/>
          </a:prstGeom>
          <a:ln w="5715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6" name="꺾인 연결선 25"/>
          <p:cNvCxnSpPr>
            <a:stCxn id="51" idx="0"/>
            <a:endCxn id="59" idx="2"/>
          </p:cNvCxnSpPr>
          <p:nvPr/>
        </p:nvCxnSpPr>
        <p:spPr>
          <a:xfrm rot="16200000" flipV="1">
            <a:off x="8472913" y="2380659"/>
            <a:ext cx="687785" cy="331755"/>
          </a:xfrm>
          <a:prstGeom prst="bentConnector3">
            <a:avLst/>
          </a:prstGeom>
          <a:ln w="5715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33</a:t>
            </a:fld>
            <a:endParaRPr lang="ko-KR" altLang="en-US" dirty="0"/>
          </a:p>
        </p:txBody>
      </p:sp>
    </p:spTree>
    <p:extLst>
      <p:ext uri="{BB962C8B-B14F-4D97-AF65-F5344CB8AC3E}">
        <p14:creationId xmlns:p14="http://schemas.microsoft.com/office/powerpoint/2010/main" val="365163766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 name="직사각형 23"/>
          <p:cNvSpPr/>
          <p:nvPr/>
        </p:nvSpPr>
        <p:spPr>
          <a:xfrm>
            <a:off x="575035" y="4516604"/>
            <a:ext cx="5277022" cy="930855"/>
          </a:xfrm>
          <a:prstGeom prst="rect">
            <a:avLst/>
          </a:prstGeom>
          <a:solidFill>
            <a:schemeClr val="accent4">
              <a:lumMod val="20000"/>
              <a:lumOff val="80000"/>
            </a:schemeClr>
          </a:solidFill>
          <a:ln w="28575">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p:cNvSpPr>
            <a:spLocks noGrp="1"/>
          </p:cNvSpPr>
          <p:nvPr>
            <p:ph type="title"/>
          </p:nvPr>
        </p:nvSpPr>
        <p:spPr/>
        <p:txBody>
          <a:bodyPr/>
          <a:lstStyle/>
          <a:p>
            <a:r>
              <a:rPr lang="ko-KR" altLang="en-US" dirty="0"/>
              <a:t>제</a:t>
            </a:r>
            <a:r>
              <a:rPr lang="en-US" altLang="ko-KR" dirty="0"/>
              <a:t>9</a:t>
            </a:r>
            <a:r>
              <a:rPr lang="ko-KR" altLang="en-US" dirty="0"/>
              <a:t>조</a:t>
            </a:r>
            <a:r>
              <a:rPr lang="en-US" altLang="ko-KR" dirty="0"/>
              <a:t>, </a:t>
            </a:r>
            <a:r>
              <a:rPr lang="ko-KR" altLang="en-US" dirty="0"/>
              <a:t>제</a:t>
            </a:r>
            <a:r>
              <a:rPr lang="en-US" altLang="ko-KR" dirty="0"/>
              <a:t>10</a:t>
            </a:r>
            <a:r>
              <a:rPr lang="ko-KR" altLang="en-US" dirty="0"/>
              <a:t>조</a:t>
            </a:r>
          </a:p>
        </p:txBody>
      </p:sp>
      <p:sp>
        <p:nvSpPr>
          <p:cNvPr id="4" name="텍스트 개체 틀 3"/>
          <p:cNvSpPr>
            <a:spLocks noGrp="1"/>
          </p:cNvSpPr>
          <p:nvPr>
            <p:ph type="body" sz="quarter" idx="13"/>
          </p:nvPr>
        </p:nvSpPr>
        <p:spPr/>
        <p:txBody>
          <a:bodyPr/>
          <a:lstStyle/>
          <a:p>
            <a:r>
              <a:rPr lang="ko-KR" altLang="en-US" dirty="0">
                <a:solidFill>
                  <a:srgbClr val="525252"/>
                </a:solidFill>
              </a:rPr>
              <a:t>개별대리와 대리인의 선임 및 교체</a:t>
            </a:r>
          </a:p>
        </p:txBody>
      </p:sp>
      <p:sp>
        <p:nvSpPr>
          <p:cNvPr id="5" name="모서리가 둥근 직사각형 4"/>
          <p:cNvSpPr/>
          <p:nvPr/>
        </p:nvSpPr>
        <p:spPr>
          <a:xfrm>
            <a:off x="2308217" y="2248993"/>
            <a:ext cx="922070" cy="690280"/>
          </a:xfrm>
          <a:prstGeom prst="roundRect">
            <a:avLst>
              <a:gd name="adj" fmla="val 29221"/>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rPr>
              <a:t>甲</a:t>
            </a:r>
            <a:endParaRPr lang="en-US" altLang="ko-KR" dirty="0">
              <a:solidFill>
                <a:schemeClr val="bg1">
                  <a:lumMod val="50000"/>
                </a:schemeClr>
              </a:solidFill>
            </a:endParaRPr>
          </a:p>
          <a:p>
            <a:pPr algn="ctr"/>
            <a:r>
              <a:rPr lang="en-US" altLang="ko-KR" sz="1100" dirty="0">
                <a:solidFill>
                  <a:schemeClr val="bg1">
                    <a:lumMod val="50000"/>
                  </a:schemeClr>
                </a:solidFill>
              </a:rPr>
              <a:t>(</a:t>
            </a:r>
            <a:r>
              <a:rPr lang="ko-KR" altLang="en-US" sz="1100" dirty="0">
                <a:solidFill>
                  <a:schemeClr val="bg1">
                    <a:lumMod val="50000"/>
                  </a:schemeClr>
                </a:solidFill>
              </a:rPr>
              <a:t>본인</a:t>
            </a:r>
            <a:r>
              <a:rPr lang="en-US" altLang="ko-KR" sz="1100" dirty="0">
                <a:solidFill>
                  <a:schemeClr val="bg1">
                    <a:lumMod val="50000"/>
                  </a:schemeClr>
                </a:solidFill>
              </a:rPr>
              <a:t>)</a:t>
            </a:r>
            <a:endParaRPr lang="ko-KR" altLang="en-US" sz="1100" dirty="0">
              <a:solidFill>
                <a:schemeClr val="bg1">
                  <a:lumMod val="50000"/>
                </a:schemeClr>
              </a:solidFill>
            </a:endParaRPr>
          </a:p>
        </p:txBody>
      </p:sp>
      <p:sp>
        <p:nvSpPr>
          <p:cNvPr id="38" name="모서리가 둥근 직사각형 37"/>
          <p:cNvSpPr/>
          <p:nvPr/>
        </p:nvSpPr>
        <p:spPr>
          <a:xfrm>
            <a:off x="1013273" y="3723039"/>
            <a:ext cx="922070" cy="690280"/>
          </a:xfrm>
          <a:prstGeom prst="roundRect">
            <a:avLst>
              <a:gd name="adj" fmla="val 26623"/>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dirty="0">
                <a:solidFill>
                  <a:schemeClr val="bg1">
                    <a:lumMod val="50000"/>
                  </a:schemeClr>
                </a:solidFill>
              </a:rPr>
              <a:t>乙</a:t>
            </a:r>
            <a:endParaRPr lang="en-US" altLang="ko-KR" dirty="0">
              <a:solidFill>
                <a:schemeClr val="bg1">
                  <a:lumMod val="50000"/>
                </a:schemeClr>
              </a:solidFill>
            </a:endParaRPr>
          </a:p>
          <a:p>
            <a:pPr algn="ctr"/>
            <a:r>
              <a:rPr lang="en-US" altLang="ko-KR" sz="1100" dirty="0">
                <a:solidFill>
                  <a:schemeClr val="bg1">
                    <a:lumMod val="50000"/>
                  </a:schemeClr>
                </a:solidFill>
              </a:rPr>
              <a:t>(</a:t>
            </a:r>
            <a:r>
              <a:rPr lang="ko-KR" altLang="en-US" sz="1100" dirty="0">
                <a:solidFill>
                  <a:schemeClr val="bg1">
                    <a:lumMod val="50000"/>
                  </a:schemeClr>
                </a:solidFill>
              </a:rPr>
              <a:t>임의대리인</a:t>
            </a:r>
            <a:r>
              <a:rPr lang="en-US" altLang="ko-KR" sz="1100" dirty="0">
                <a:solidFill>
                  <a:schemeClr val="bg1">
                    <a:lumMod val="50000"/>
                  </a:schemeClr>
                </a:solidFill>
              </a:rPr>
              <a:t>)</a:t>
            </a:r>
            <a:endParaRPr lang="ko-KR" altLang="en-US" sz="1100" dirty="0">
              <a:solidFill>
                <a:schemeClr val="bg1">
                  <a:lumMod val="50000"/>
                </a:schemeClr>
              </a:solidFill>
            </a:endParaRPr>
          </a:p>
        </p:txBody>
      </p:sp>
      <p:sp>
        <p:nvSpPr>
          <p:cNvPr id="43" name="Rectangle 5"/>
          <p:cNvSpPr>
            <a:spLocks noChangeArrowheads="1"/>
          </p:cNvSpPr>
          <p:nvPr/>
        </p:nvSpPr>
        <p:spPr bwMode="auto">
          <a:xfrm>
            <a:off x="1299067" y="3014684"/>
            <a:ext cx="542925" cy="348102"/>
          </a:xfrm>
          <a:prstGeom prst="rect">
            <a:avLst/>
          </a:prstGeom>
          <a:noFill/>
          <a:ln w="9525" algn="ctr">
            <a:noFill/>
            <a:miter lim="800000"/>
            <a:headEnd/>
            <a:tailEnd/>
          </a:ln>
        </p:spPr>
        <p:txBody>
          <a:bodyPr wrap="none" anchor="ctr"/>
          <a:lstStyle/>
          <a:p>
            <a:pPr algn="ctr"/>
            <a:r>
              <a:rPr lang="ko-KR" altLang="en-US" sz="1000" b="0" dirty="0" err="1">
                <a:solidFill>
                  <a:schemeClr val="tx1"/>
                </a:solidFill>
                <a:latin typeface="+mj-ea"/>
                <a:ea typeface="+mj-ea"/>
              </a:rPr>
              <a:t>위임계약</a:t>
            </a:r>
            <a:r>
              <a:rPr lang="ko-KR" altLang="en-US" sz="1000" b="0" dirty="0">
                <a:solidFill>
                  <a:schemeClr val="tx1"/>
                </a:solidFill>
                <a:latin typeface="+mj-ea"/>
                <a:ea typeface="+mj-ea"/>
              </a:rPr>
              <a:t> 체결</a:t>
            </a:r>
          </a:p>
        </p:txBody>
      </p:sp>
      <p:sp>
        <p:nvSpPr>
          <p:cNvPr id="44" name="모서리가 둥근 직사각형 43"/>
          <p:cNvSpPr/>
          <p:nvPr/>
        </p:nvSpPr>
        <p:spPr>
          <a:xfrm>
            <a:off x="514896" y="5662953"/>
            <a:ext cx="4481671" cy="345140"/>
          </a:xfrm>
          <a:prstGeom prst="roundRect">
            <a:avLst>
              <a:gd name="adj" fmla="val 50000"/>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dirty="0">
                <a:solidFill>
                  <a:schemeClr val="accent4">
                    <a:lumMod val="20000"/>
                    <a:lumOff val="80000"/>
                  </a:schemeClr>
                </a:solidFill>
              </a:rPr>
              <a:t>지식재산처</a:t>
            </a:r>
            <a:endParaRPr lang="ko-KR" altLang="en-US" sz="1100" dirty="0">
              <a:solidFill>
                <a:schemeClr val="accent4">
                  <a:lumMod val="20000"/>
                  <a:lumOff val="80000"/>
                </a:schemeClr>
              </a:solidFill>
            </a:endParaRPr>
          </a:p>
        </p:txBody>
      </p:sp>
      <p:sp>
        <p:nvSpPr>
          <p:cNvPr id="48" name="Rectangle 5"/>
          <p:cNvSpPr>
            <a:spLocks noChangeArrowheads="1"/>
          </p:cNvSpPr>
          <p:nvPr/>
        </p:nvSpPr>
        <p:spPr bwMode="auto">
          <a:xfrm>
            <a:off x="741059" y="4823930"/>
            <a:ext cx="542925" cy="348102"/>
          </a:xfrm>
          <a:prstGeom prst="rect">
            <a:avLst/>
          </a:prstGeom>
          <a:noFill/>
          <a:ln w="9525" algn="ctr">
            <a:noFill/>
            <a:miter lim="800000"/>
            <a:headEnd/>
            <a:tailEnd/>
          </a:ln>
        </p:spPr>
        <p:txBody>
          <a:bodyPr wrap="none" anchor="ctr"/>
          <a:lstStyle/>
          <a:p>
            <a:pPr algn="ctr"/>
            <a:r>
              <a:rPr lang="ko-KR" altLang="en-US" sz="1000" b="0" dirty="0">
                <a:solidFill>
                  <a:schemeClr val="tx1"/>
                </a:solidFill>
                <a:latin typeface="+mj-ea"/>
                <a:ea typeface="+mj-ea"/>
              </a:rPr>
              <a:t>특허에 관한 </a:t>
            </a:r>
            <a:endParaRPr lang="en-US" altLang="ko-KR" sz="1000" b="0" dirty="0">
              <a:solidFill>
                <a:schemeClr val="tx1"/>
              </a:solidFill>
              <a:latin typeface="+mj-ea"/>
              <a:ea typeface="+mj-ea"/>
            </a:endParaRPr>
          </a:p>
          <a:p>
            <a:pPr algn="ctr"/>
            <a:r>
              <a:rPr lang="ko-KR" altLang="en-US" sz="1000" b="0" dirty="0">
                <a:solidFill>
                  <a:schemeClr val="tx1"/>
                </a:solidFill>
                <a:latin typeface="+mj-ea"/>
                <a:ea typeface="+mj-ea"/>
              </a:rPr>
              <a:t>절차 진행</a:t>
            </a:r>
          </a:p>
        </p:txBody>
      </p:sp>
      <p:cxnSp>
        <p:nvCxnSpPr>
          <p:cNvPr id="66" name="직선 연결선 65"/>
          <p:cNvCxnSpPr/>
          <p:nvPr/>
        </p:nvCxnSpPr>
        <p:spPr>
          <a:xfrm>
            <a:off x="6139478" y="1062288"/>
            <a:ext cx="0" cy="5598488"/>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모서리가 둥근 직사각형 25"/>
          <p:cNvSpPr/>
          <p:nvPr/>
        </p:nvSpPr>
        <p:spPr>
          <a:xfrm>
            <a:off x="2308217" y="3723039"/>
            <a:ext cx="922070" cy="690280"/>
          </a:xfrm>
          <a:prstGeom prst="roundRect">
            <a:avLst>
              <a:gd name="adj" fmla="val 26623"/>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dirty="0">
                <a:solidFill>
                  <a:schemeClr val="bg1">
                    <a:lumMod val="50000"/>
                  </a:schemeClr>
                </a:solidFill>
              </a:rPr>
              <a:t>丙</a:t>
            </a:r>
            <a:endParaRPr lang="en-US" altLang="ko-KR" dirty="0">
              <a:solidFill>
                <a:schemeClr val="bg1">
                  <a:lumMod val="50000"/>
                </a:schemeClr>
              </a:solidFill>
            </a:endParaRPr>
          </a:p>
          <a:p>
            <a:pPr algn="ctr"/>
            <a:r>
              <a:rPr lang="en-US" altLang="ko-KR" dirty="0">
                <a:solidFill>
                  <a:schemeClr val="bg1">
                    <a:lumMod val="50000"/>
                  </a:schemeClr>
                </a:solidFill>
              </a:rPr>
              <a:t> </a:t>
            </a:r>
            <a:r>
              <a:rPr lang="en-US" altLang="ko-KR" sz="1100" dirty="0">
                <a:solidFill>
                  <a:schemeClr val="bg1">
                    <a:lumMod val="50000"/>
                  </a:schemeClr>
                </a:solidFill>
              </a:rPr>
              <a:t>(</a:t>
            </a:r>
            <a:r>
              <a:rPr lang="ko-KR" altLang="en-US" sz="1100" dirty="0">
                <a:solidFill>
                  <a:schemeClr val="bg1">
                    <a:lumMod val="50000"/>
                  </a:schemeClr>
                </a:solidFill>
              </a:rPr>
              <a:t>임의대리인</a:t>
            </a:r>
            <a:r>
              <a:rPr lang="en-US" altLang="ko-KR" sz="1100" dirty="0">
                <a:solidFill>
                  <a:schemeClr val="bg1">
                    <a:lumMod val="50000"/>
                  </a:schemeClr>
                </a:solidFill>
              </a:rPr>
              <a:t>)</a:t>
            </a:r>
            <a:endParaRPr lang="ko-KR" altLang="en-US" sz="1100" dirty="0">
              <a:solidFill>
                <a:schemeClr val="bg1">
                  <a:lumMod val="50000"/>
                </a:schemeClr>
              </a:solidFill>
            </a:endParaRPr>
          </a:p>
        </p:txBody>
      </p:sp>
      <p:sp>
        <p:nvSpPr>
          <p:cNvPr id="27" name="모서리가 둥근 직사각형 26"/>
          <p:cNvSpPr/>
          <p:nvPr/>
        </p:nvSpPr>
        <p:spPr>
          <a:xfrm>
            <a:off x="3669146" y="3723039"/>
            <a:ext cx="922070" cy="690280"/>
          </a:xfrm>
          <a:prstGeom prst="roundRect">
            <a:avLst>
              <a:gd name="adj" fmla="val 26623"/>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dirty="0">
                <a:solidFill>
                  <a:schemeClr val="bg1">
                    <a:lumMod val="50000"/>
                  </a:schemeClr>
                </a:solidFill>
              </a:rPr>
              <a:t>丁</a:t>
            </a:r>
            <a:endParaRPr lang="en-US" altLang="ko-KR" dirty="0">
              <a:solidFill>
                <a:schemeClr val="bg1">
                  <a:lumMod val="50000"/>
                </a:schemeClr>
              </a:solidFill>
            </a:endParaRPr>
          </a:p>
          <a:p>
            <a:pPr algn="ctr"/>
            <a:r>
              <a:rPr lang="en-US" altLang="ko-KR" sz="1100" dirty="0">
                <a:solidFill>
                  <a:schemeClr val="bg1">
                    <a:lumMod val="50000"/>
                  </a:schemeClr>
                </a:solidFill>
              </a:rPr>
              <a:t>(</a:t>
            </a:r>
            <a:r>
              <a:rPr lang="ko-KR" altLang="en-US" sz="1100" dirty="0">
                <a:solidFill>
                  <a:schemeClr val="bg1">
                    <a:lumMod val="50000"/>
                  </a:schemeClr>
                </a:solidFill>
              </a:rPr>
              <a:t>임의대리인</a:t>
            </a:r>
            <a:r>
              <a:rPr lang="en-US" altLang="ko-KR" sz="1100" dirty="0">
                <a:solidFill>
                  <a:schemeClr val="bg1">
                    <a:lumMod val="50000"/>
                  </a:schemeClr>
                </a:solidFill>
              </a:rPr>
              <a:t>)</a:t>
            </a:r>
            <a:endParaRPr lang="ko-KR" altLang="en-US" sz="1100" dirty="0">
              <a:solidFill>
                <a:schemeClr val="bg1">
                  <a:lumMod val="50000"/>
                </a:schemeClr>
              </a:solidFill>
            </a:endParaRPr>
          </a:p>
        </p:txBody>
      </p:sp>
      <p:cxnSp>
        <p:nvCxnSpPr>
          <p:cNvPr id="6" name="꺾인 연결선 5"/>
          <p:cNvCxnSpPr>
            <a:stCxn id="5" idx="2"/>
            <a:endCxn id="38" idx="0"/>
          </p:cNvCxnSpPr>
          <p:nvPr/>
        </p:nvCxnSpPr>
        <p:spPr>
          <a:xfrm rot="5400000">
            <a:off x="1729897" y="2683684"/>
            <a:ext cx="783766" cy="1294944"/>
          </a:xfrm>
          <a:prstGeom prst="bentConnector3">
            <a:avLst/>
          </a:prstGeom>
          <a:ln>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9" name="꺾인 연결선 8"/>
          <p:cNvCxnSpPr>
            <a:stCxn id="5" idx="2"/>
            <a:endCxn id="27" idx="0"/>
          </p:cNvCxnSpPr>
          <p:nvPr/>
        </p:nvCxnSpPr>
        <p:spPr>
          <a:xfrm rot="16200000" flipH="1">
            <a:off x="3057833" y="2650691"/>
            <a:ext cx="783766" cy="1360929"/>
          </a:xfrm>
          <a:prstGeom prst="bentConnector3">
            <a:avLst/>
          </a:prstGeom>
          <a:ln>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1" name="꺾인 연결선 10"/>
          <p:cNvCxnSpPr>
            <a:stCxn id="5" idx="2"/>
            <a:endCxn id="26" idx="0"/>
          </p:cNvCxnSpPr>
          <p:nvPr/>
        </p:nvCxnSpPr>
        <p:spPr>
          <a:xfrm rot="5400000">
            <a:off x="2377369" y="3331156"/>
            <a:ext cx="783766" cy="12700"/>
          </a:xfrm>
          <a:prstGeom prst="bentConnector3">
            <a:avLst/>
          </a:prstGeom>
          <a:ln>
            <a:solidFill>
              <a:schemeClr val="bg1">
                <a:lumMod val="50000"/>
              </a:schemeClr>
            </a:solidFill>
            <a:headEnd type="triangl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34" name="Rectangle 5"/>
          <p:cNvSpPr>
            <a:spLocks noChangeArrowheads="1"/>
          </p:cNvSpPr>
          <p:nvPr/>
        </p:nvSpPr>
        <p:spPr bwMode="auto">
          <a:xfrm>
            <a:off x="2930543" y="3362786"/>
            <a:ext cx="542925" cy="348102"/>
          </a:xfrm>
          <a:prstGeom prst="rect">
            <a:avLst/>
          </a:prstGeom>
          <a:noFill/>
          <a:ln w="9525" algn="ctr">
            <a:noFill/>
            <a:miter lim="800000"/>
            <a:headEnd/>
            <a:tailEnd/>
          </a:ln>
        </p:spPr>
        <p:txBody>
          <a:bodyPr wrap="none" anchor="ctr"/>
          <a:lstStyle/>
          <a:p>
            <a:pPr algn="ctr"/>
            <a:r>
              <a:rPr lang="ko-KR" altLang="en-US" sz="1000" b="0" dirty="0" err="1">
                <a:solidFill>
                  <a:schemeClr val="tx1"/>
                </a:solidFill>
                <a:latin typeface="+mj-ea"/>
                <a:ea typeface="+mj-ea"/>
              </a:rPr>
              <a:t>위임계약</a:t>
            </a:r>
            <a:r>
              <a:rPr lang="ko-KR" altLang="en-US" sz="1000" b="0" dirty="0">
                <a:solidFill>
                  <a:schemeClr val="tx1"/>
                </a:solidFill>
                <a:latin typeface="+mj-ea"/>
                <a:ea typeface="+mj-ea"/>
              </a:rPr>
              <a:t> 체결</a:t>
            </a:r>
          </a:p>
        </p:txBody>
      </p:sp>
      <p:sp>
        <p:nvSpPr>
          <p:cNvPr id="35" name="Rectangle 5"/>
          <p:cNvSpPr>
            <a:spLocks noChangeArrowheads="1"/>
          </p:cNvSpPr>
          <p:nvPr/>
        </p:nvSpPr>
        <p:spPr bwMode="auto">
          <a:xfrm>
            <a:off x="4094823" y="2989404"/>
            <a:ext cx="542925" cy="348102"/>
          </a:xfrm>
          <a:prstGeom prst="rect">
            <a:avLst/>
          </a:prstGeom>
          <a:noFill/>
          <a:ln w="9525" algn="ctr">
            <a:noFill/>
            <a:miter lim="800000"/>
            <a:headEnd/>
            <a:tailEnd/>
          </a:ln>
        </p:spPr>
        <p:txBody>
          <a:bodyPr wrap="none" anchor="ctr"/>
          <a:lstStyle/>
          <a:p>
            <a:pPr algn="ctr"/>
            <a:r>
              <a:rPr lang="en-US" altLang="ko-KR" sz="1000" b="0" dirty="0">
                <a:solidFill>
                  <a:schemeClr val="tx1"/>
                </a:solidFill>
                <a:latin typeface="+mj-ea"/>
                <a:ea typeface="+mj-ea"/>
              </a:rPr>
              <a:t> </a:t>
            </a:r>
            <a:r>
              <a:rPr lang="ko-KR" altLang="en-US" sz="1000" b="0" dirty="0" err="1">
                <a:solidFill>
                  <a:schemeClr val="tx1"/>
                </a:solidFill>
                <a:latin typeface="+mj-ea"/>
                <a:ea typeface="+mj-ea"/>
              </a:rPr>
              <a:t>위임계약</a:t>
            </a:r>
            <a:r>
              <a:rPr lang="ko-KR" altLang="en-US" sz="1000" b="0" dirty="0">
                <a:solidFill>
                  <a:schemeClr val="tx1"/>
                </a:solidFill>
                <a:latin typeface="+mj-ea"/>
                <a:ea typeface="+mj-ea"/>
              </a:rPr>
              <a:t> 체결</a:t>
            </a:r>
          </a:p>
        </p:txBody>
      </p:sp>
      <p:cxnSp>
        <p:nvCxnSpPr>
          <p:cNvPr id="15" name="직선 연결선 14"/>
          <p:cNvCxnSpPr>
            <a:stCxn id="38" idx="2"/>
          </p:cNvCxnSpPr>
          <p:nvPr/>
        </p:nvCxnSpPr>
        <p:spPr>
          <a:xfrm>
            <a:off x="1474308" y="4413319"/>
            <a:ext cx="0" cy="1175990"/>
          </a:xfrm>
          <a:prstGeom prst="line">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7" name="직선 연결선 16"/>
          <p:cNvCxnSpPr>
            <a:stCxn id="26" idx="2"/>
          </p:cNvCxnSpPr>
          <p:nvPr/>
        </p:nvCxnSpPr>
        <p:spPr>
          <a:xfrm>
            <a:off x="2769252" y="4413319"/>
            <a:ext cx="0" cy="1175990"/>
          </a:xfrm>
          <a:prstGeom prst="line">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19" name="직선 연결선 18"/>
          <p:cNvCxnSpPr>
            <a:stCxn id="27" idx="2"/>
          </p:cNvCxnSpPr>
          <p:nvPr/>
        </p:nvCxnSpPr>
        <p:spPr>
          <a:xfrm>
            <a:off x="4130181" y="4413319"/>
            <a:ext cx="0" cy="1175990"/>
          </a:xfrm>
          <a:prstGeom prst="line">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45" name="Rectangle 5"/>
          <p:cNvSpPr>
            <a:spLocks noChangeArrowheads="1"/>
          </p:cNvSpPr>
          <p:nvPr/>
        </p:nvSpPr>
        <p:spPr bwMode="auto">
          <a:xfrm>
            <a:off x="2878950" y="4822287"/>
            <a:ext cx="542925" cy="348102"/>
          </a:xfrm>
          <a:prstGeom prst="rect">
            <a:avLst/>
          </a:prstGeom>
          <a:noFill/>
          <a:ln w="9525" algn="ctr">
            <a:noFill/>
            <a:miter lim="800000"/>
            <a:headEnd/>
            <a:tailEnd/>
          </a:ln>
        </p:spPr>
        <p:txBody>
          <a:bodyPr wrap="none" anchor="ctr"/>
          <a:lstStyle/>
          <a:p>
            <a:pPr algn="ctr"/>
            <a:r>
              <a:rPr lang="ko-KR" altLang="en-US" sz="1000" b="0" dirty="0">
                <a:solidFill>
                  <a:schemeClr val="tx1"/>
                </a:solidFill>
                <a:latin typeface="+mj-ea"/>
                <a:ea typeface="+mj-ea"/>
              </a:rPr>
              <a:t>특허에 관한 </a:t>
            </a:r>
            <a:endParaRPr lang="en-US" altLang="ko-KR" sz="1000" b="0" dirty="0">
              <a:solidFill>
                <a:schemeClr val="tx1"/>
              </a:solidFill>
              <a:latin typeface="+mj-ea"/>
              <a:ea typeface="+mj-ea"/>
            </a:endParaRPr>
          </a:p>
          <a:p>
            <a:pPr algn="ctr"/>
            <a:r>
              <a:rPr lang="ko-KR" altLang="en-US" sz="1000" b="0" dirty="0">
                <a:solidFill>
                  <a:schemeClr val="tx1"/>
                </a:solidFill>
                <a:latin typeface="+mj-ea"/>
                <a:ea typeface="+mj-ea"/>
              </a:rPr>
              <a:t>절차 진행</a:t>
            </a:r>
          </a:p>
        </p:txBody>
      </p:sp>
      <p:sp>
        <p:nvSpPr>
          <p:cNvPr id="46" name="Rectangle 5"/>
          <p:cNvSpPr>
            <a:spLocks noChangeArrowheads="1"/>
          </p:cNvSpPr>
          <p:nvPr/>
        </p:nvSpPr>
        <p:spPr bwMode="auto">
          <a:xfrm>
            <a:off x="4317512" y="4809403"/>
            <a:ext cx="542925" cy="348102"/>
          </a:xfrm>
          <a:prstGeom prst="rect">
            <a:avLst/>
          </a:prstGeom>
          <a:noFill/>
          <a:ln w="9525" algn="ctr">
            <a:noFill/>
            <a:miter lim="800000"/>
            <a:headEnd/>
            <a:tailEnd/>
          </a:ln>
        </p:spPr>
        <p:txBody>
          <a:bodyPr wrap="none" anchor="ctr"/>
          <a:lstStyle/>
          <a:p>
            <a:pPr algn="ctr"/>
            <a:r>
              <a:rPr lang="ko-KR" altLang="en-US" sz="1000" b="0" dirty="0">
                <a:solidFill>
                  <a:schemeClr val="tx1"/>
                </a:solidFill>
                <a:latin typeface="+mj-ea"/>
                <a:ea typeface="+mj-ea"/>
              </a:rPr>
              <a:t>특허에 관한 </a:t>
            </a:r>
            <a:endParaRPr lang="en-US" altLang="ko-KR" sz="1000" b="0" dirty="0">
              <a:solidFill>
                <a:schemeClr val="tx1"/>
              </a:solidFill>
              <a:latin typeface="+mj-ea"/>
              <a:ea typeface="+mj-ea"/>
            </a:endParaRPr>
          </a:p>
          <a:p>
            <a:pPr algn="ctr"/>
            <a:r>
              <a:rPr lang="ko-KR" altLang="en-US" sz="1000" b="0" dirty="0">
                <a:solidFill>
                  <a:schemeClr val="tx1"/>
                </a:solidFill>
                <a:latin typeface="+mj-ea"/>
                <a:ea typeface="+mj-ea"/>
              </a:rPr>
              <a:t>절차 진행</a:t>
            </a:r>
          </a:p>
        </p:txBody>
      </p:sp>
      <p:sp>
        <p:nvSpPr>
          <p:cNvPr id="25" name="TextBox 24"/>
          <p:cNvSpPr txBox="1"/>
          <p:nvPr/>
        </p:nvSpPr>
        <p:spPr>
          <a:xfrm>
            <a:off x="5118632" y="4696118"/>
            <a:ext cx="601447" cy="646331"/>
          </a:xfrm>
          <a:prstGeom prst="rect">
            <a:avLst/>
          </a:prstGeom>
          <a:noFill/>
        </p:spPr>
        <p:txBody>
          <a:bodyPr wrap="none" rtlCol="0">
            <a:spAutoFit/>
          </a:bodyPr>
          <a:lstStyle/>
          <a:p>
            <a:r>
              <a:rPr lang="ko-KR" altLang="en-US" b="1" dirty="0">
                <a:solidFill>
                  <a:srgbClr val="FF0000"/>
                </a:solidFill>
              </a:rPr>
              <a:t>개별</a:t>
            </a:r>
            <a:endParaRPr lang="en-US" altLang="ko-KR" b="1" dirty="0">
              <a:solidFill>
                <a:srgbClr val="FF0000"/>
              </a:solidFill>
            </a:endParaRPr>
          </a:p>
          <a:p>
            <a:r>
              <a:rPr lang="ko-KR" altLang="en-US" b="1" dirty="0">
                <a:solidFill>
                  <a:srgbClr val="FF0000"/>
                </a:solidFill>
              </a:rPr>
              <a:t>대리</a:t>
            </a:r>
          </a:p>
        </p:txBody>
      </p:sp>
      <p:sp>
        <p:nvSpPr>
          <p:cNvPr id="63" name="Rectangle 5"/>
          <p:cNvSpPr>
            <a:spLocks noChangeArrowheads="1"/>
          </p:cNvSpPr>
          <p:nvPr/>
        </p:nvSpPr>
        <p:spPr bwMode="auto">
          <a:xfrm>
            <a:off x="195260" y="1282561"/>
            <a:ext cx="1481140"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err="1">
                <a:solidFill>
                  <a:schemeClr val="bg1"/>
                </a:solidFill>
                <a:latin typeface="+mj-ea"/>
                <a:ea typeface="+mj-ea"/>
              </a:rPr>
              <a:t>개별대리</a:t>
            </a:r>
            <a:endParaRPr lang="ko-KR" altLang="en-US" sz="1600" b="0" dirty="0">
              <a:solidFill>
                <a:schemeClr val="bg1"/>
              </a:solidFill>
              <a:latin typeface="+mj-ea"/>
              <a:ea typeface="+mj-ea"/>
            </a:endParaRPr>
          </a:p>
        </p:txBody>
      </p:sp>
      <p:cxnSp>
        <p:nvCxnSpPr>
          <p:cNvPr id="64" name="직선 연결선 63"/>
          <p:cNvCxnSpPr/>
          <p:nvPr/>
        </p:nvCxnSpPr>
        <p:spPr>
          <a:xfrm>
            <a:off x="6419654" y="4170217"/>
            <a:ext cx="5279010" cy="0"/>
          </a:xfrm>
          <a:prstGeom prst="line">
            <a:avLst/>
          </a:prstGeom>
          <a:ln w="28575">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70" name="직선 연결선 69"/>
          <p:cNvCxnSpPr/>
          <p:nvPr/>
        </p:nvCxnSpPr>
        <p:spPr>
          <a:xfrm flipH="1">
            <a:off x="7104091" y="4229429"/>
            <a:ext cx="1" cy="512256"/>
          </a:xfrm>
          <a:prstGeom prst="line">
            <a:avLst/>
          </a:prstGeom>
          <a:ln>
            <a:solidFill>
              <a:schemeClr val="bg1">
                <a:lumMod val="50000"/>
              </a:schemeClr>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2" name="TextBox 71"/>
          <p:cNvSpPr txBox="1"/>
          <p:nvPr/>
        </p:nvSpPr>
        <p:spPr>
          <a:xfrm>
            <a:off x="6632222" y="4614966"/>
            <a:ext cx="962123" cy="307777"/>
          </a:xfrm>
          <a:prstGeom prst="rect">
            <a:avLst/>
          </a:prstGeom>
          <a:solidFill>
            <a:schemeClr val="bg1"/>
          </a:solidFill>
        </p:spPr>
        <p:txBody>
          <a:bodyPr wrap="none" rtlCol="0">
            <a:noAutofit/>
          </a:bodyPr>
          <a:lstStyle/>
          <a:p>
            <a:pPr algn="ctr"/>
            <a:r>
              <a:rPr lang="en-US" altLang="ko-KR" sz="1400" dirty="0"/>
              <a:t>A</a:t>
            </a:r>
            <a:r>
              <a:rPr lang="ko-KR" altLang="en-US" sz="1400" dirty="0" err="1"/>
              <a:t>절차진행</a:t>
            </a:r>
            <a:endParaRPr lang="ko-KR" altLang="en-US" sz="1400" dirty="0"/>
          </a:p>
        </p:txBody>
      </p:sp>
      <p:sp>
        <p:nvSpPr>
          <p:cNvPr id="76" name="Rectangle 5"/>
          <p:cNvSpPr>
            <a:spLocks noChangeArrowheads="1"/>
          </p:cNvSpPr>
          <p:nvPr/>
        </p:nvSpPr>
        <p:spPr bwMode="auto">
          <a:xfrm>
            <a:off x="6331035" y="1282561"/>
            <a:ext cx="1481140"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a:solidFill>
                  <a:schemeClr val="bg1"/>
                </a:solidFill>
                <a:latin typeface="+mj-ea"/>
                <a:ea typeface="+mj-ea"/>
              </a:rPr>
              <a:t>선임 및 </a:t>
            </a:r>
            <a:r>
              <a:rPr lang="ko-KR" altLang="en-US" sz="1600" dirty="0">
                <a:solidFill>
                  <a:schemeClr val="bg1"/>
                </a:solidFill>
                <a:latin typeface="+mj-ea"/>
                <a:ea typeface="+mj-ea"/>
              </a:rPr>
              <a:t>교체</a:t>
            </a:r>
            <a:endParaRPr lang="ko-KR" altLang="en-US" sz="1600" b="0" dirty="0">
              <a:solidFill>
                <a:schemeClr val="bg1"/>
              </a:solidFill>
              <a:latin typeface="+mj-ea"/>
              <a:ea typeface="+mj-ea"/>
            </a:endParaRPr>
          </a:p>
        </p:txBody>
      </p:sp>
      <p:cxnSp>
        <p:nvCxnSpPr>
          <p:cNvPr id="77" name="직선 연결선 76"/>
          <p:cNvCxnSpPr/>
          <p:nvPr/>
        </p:nvCxnSpPr>
        <p:spPr>
          <a:xfrm flipH="1">
            <a:off x="9070603" y="4229429"/>
            <a:ext cx="1" cy="512256"/>
          </a:xfrm>
          <a:prstGeom prst="line">
            <a:avLst/>
          </a:prstGeom>
          <a:ln>
            <a:solidFill>
              <a:schemeClr val="bg1">
                <a:lumMod val="50000"/>
              </a:schemeClr>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78" name="TextBox 77"/>
          <p:cNvSpPr txBox="1"/>
          <p:nvPr/>
        </p:nvSpPr>
        <p:spPr>
          <a:xfrm>
            <a:off x="8598734" y="4614966"/>
            <a:ext cx="962123" cy="307777"/>
          </a:xfrm>
          <a:prstGeom prst="rect">
            <a:avLst/>
          </a:prstGeom>
          <a:solidFill>
            <a:schemeClr val="bg1"/>
          </a:solidFill>
        </p:spPr>
        <p:txBody>
          <a:bodyPr wrap="none" rtlCol="0">
            <a:noAutofit/>
          </a:bodyPr>
          <a:lstStyle/>
          <a:p>
            <a:pPr algn="ctr"/>
            <a:r>
              <a:rPr lang="en-US" altLang="ko-KR" sz="1400" dirty="0"/>
              <a:t>B</a:t>
            </a:r>
            <a:r>
              <a:rPr lang="ko-KR" altLang="en-US" sz="1400" dirty="0" err="1"/>
              <a:t>절차진행</a:t>
            </a:r>
            <a:endParaRPr lang="ko-KR" altLang="en-US" sz="1400" dirty="0"/>
          </a:p>
        </p:txBody>
      </p:sp>
      <p:cxnSp>
        <p:nvCxnSpPr>
          <p:cNvPr id="79" name="직선 연결선 78"/>
          <p:cNvCxnSpPr/>
          <p:nvPr/>
        </p:nvCxnSpPr>
        <p:spPr>
          <a:xfrm flipV="1">
            <a:off x="7952270" y="3395543"/>
            <a:ext cx="0" cy="693315"/>
          </a:xfrm>
          <a:prstGeom prst="line">
            <a:avLst/>
          </a:prstGeom>
          <a:ln>
            <a:solidFill>
              <a:schemeClr val="bg1">
                <a:lumMod val="50000"/>
              </a:schemeClr>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0" name="TextBox 79"/>
          <p:cNvSpPr txBox="1"/>
          <p:nvPr/>
        </p:nvSpPr>
        <p:spPr>
          <a:xfrm>
            <a:off x="7471208" y="2848788"/>
            <a:ext cx="962123" cy="546755"/>
          </a:xfrm>
          <a:prstGeom prst="rect">
            <a:avLst/>
          </a:prstGeom>
          <a:solidFill>
            <a:schemeClr val="bg1"/>
          </a:solidFill>
        </p:spPr>
        <p:txBody>
          <a:bodyPr wrap="none" rtlCol="0">
            <a:noAutofit/>
          </a:bodyPr>
          <a:lstStyle/>
          <a:p>
            <a:pPr algn="ctr"/>
            <a:r>
              <a:rPr lang="ko-KR" altLang="en-US" sz="1400" dirty="0"/>
              <a:t>선임</a:t>
            </a:r>
            <a:r>
              <a:rPr lang="en-US" altLang="ko-KR" sz="1400" dirty="0"/>
              <a:t>/</a:t>
            </a:r>
            <a:r>
              <a:rPr lang="ko-KR" altLang="en-US" sz="1400" dirty="0"/>
              <a:t>교체명령</a:t>
            </a:r>
            <a:endParaRPr lang="en-US" altLang="ko-KR" sz="1400" dirty="0"/>
          </a:p>
          <a:p>
            <a:pPr algn="ctr"/>
            <a:r>
              <a:rPr lang="en-US" altLang="ko-KR" sz="1050" dirty="0"/>
              <a:t>(</a:t>
            </a:r>
            <a:r>
              <a:rPr lang="ko-KR" altLang="en-US" sz="1050" dirty="0"/>
              <a:t>절차 밟는데 부적당 판단</a:t>
            </a:r>
            <a:r>
              <a:rPr lang="en-US" altLang="ko-KR" sz="1050" dirty="0"/>
              <a:t>)</a:t>
            </a:r>
            <a:endParaRPr lang="ko-KR" altLang="en-US" sz="1050" dirty="0"/>
          </a:p>
        </p:txBody>
      </p:sp>
      <p:cxnSp>
        <p:nvCxnSpPr>
          <p:cNvPr id="81" name="직선 연결선 80"/>
          <p:cNvCxnSpPr>
            <a:endCxn id="82" idx="2"/>
          </p:cNvCxnSpPr>
          <p:nvPr/>
        </p:nvCxnSpPr>
        <p:spPr>
          <a:xfrm flipV="1">
            <a:off x="9755867" y="3703320"/>
            <a:ext cx="9193" cy="385538"/>
          </a:xfrm>
          <a:prstGeom prst="line">
            <a:avLst/>
          </a:prstGeom>
          <a:ln>
            <a:solidFill>
              <a:schemeClr val="bg1">
                <a:lumMod val="50000"/>
              </a:schemeClr>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2" name="TextBox 81"/>
          <p:cNvSpPr txBox="1"/>
          <p:nvPr/>
        </p:nvSpPr>
        <p:spPr>
          <a:xfrm>
            <a:off x="9283998" y="3395543"/>
            <a:ext cx="962123" cy="307777"/>
          </a:xfrm>
          <a:prstGeom prst="rect">
            <a:avLst/>
          </a:prstGeom>
          <a:solidFill>
            <a:schemeClr val="bg1"/>
          </a:solidFill>
        </p:spPr>
        <p:txBody>
          <a:bodyPr wrap="none" rtlCol="0">
            <a:noAutofit/>
          </a:bodyPr>
          <a:lstStyle/>
          <a:p>
            <a:pPr algn="ctr"/>
            <a:r>
              <a:rPr lang="ko-KR" altLang="en-US" sz="1400" dirty="0"/>
              <a:t>선임</a:t>
            </a:r>
            <a:r>
              <a:rPr lang="en-US" altLang="ko-KR" sz="1400" dirty="0"/>
              <a:t>/</a:t>
            </a:r>
            <a:r>
              <a:rPr lang="ko-KR" altLang="en-US" sz="1400" dirty="0"/>
              <a:t>교체</a:t>
            </a:r>
          </a:p>
        </p:txBody>
      </p:sp>
      <p:cxnSp>
        <p:nvCxnSpPr>
          <p:cNvPr id="83" name="직선 연결선 82"/>
          <p:cNvCxnSpPr/>
          <p:nvPr/>
        </p:nvCxnSpPr>
        <p:spPr>
          <a:xfrm flipV="1">
            <a:off x="10924790" y="3252247"/>
            <a:ext cx="0" cy="836611"/>
          </a:xfrm>
          <a:prstGeom prst="line">
            <a:avLst/>
          </a:prstGeom>
          <a:ln>
            <a:solidFill>
              <a:schemeClr val="bg1">
                <a:lumMod val="50000"/>
              </a:schemeClr>
            </a:solidFill>
            <a:prstDash val="sysDot"/>
            <a:headEnd type="triangle" w="med" len="med"/>
            <a:tailEnd type="none" w="med" len="med"/>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10452921" y="2867643"/>
            <a:ext cx="962123" cy="307777"/>
          </a:xfrm>
          <a:prstGeom prst="rect">
            <a:avLst/>
          </a:prstGeom>
          <a:solidFill>
            <a:schemeClr val="bg1"/>
          </a:solidFill>
        </p:spPr>
        <p:txBody>
          <a:bodyPr wrap="none" rtlCol="0">
            <a:noAutofit/>
          </a:bodyPr>
          <a:lstStyle/>
          <a:p>
            <a:pPr algn="ctr"/>
            <a:r>
              <a:rPr lang="en-US" altLang="ko-KR" sz="2000" dirty="0">
                <a:solidFill>
                  <a:schemeClr val="accent4">
                    <a:lumMod val="75000"/>
                  </a:schemeClr>
                </a:solidFill>
              </a:rPr>
              <a:t>B</a:t>
            </a:r>
            <a:r>
              <a:rPr lang="ko-KR" altLang="en-US" sz="2000" dirty="0">
                <a:solidFill>
                  <a:schemeClr val="accent4">
                    <a:lumMod val="75000"/>
                  </a:schemeClr>
                </a:solidFill>
              </a:rPr>
              <a:t>절차 무효</a:t>
            </a:r>
          </a:p>
        </p:txBody>
      </p:sp>
      <p:cxnSp>
        <p:nvCxnSpPr>
          <p:cNvPr id="87" name="직선 연결선 86"/>
          <p:cNvCxnSpPr/>
          <p:nvPr/>
        </p:nvCxnSpPr>
        <p:spPr>
          <a:xfrm>
            <a:off x="7952270" y="4170217"/>
            <a:ext cx="1803597" cy="0"/>
          </a:xfrm>
          <a:prstGeom prst="line">
            <a:avLst/>
          </a:prstGeom>
          <a:ln w="76200">
            <a:solidFill>
              <a:schemeClr val="accent2">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34</a:t>
            </a:fld>
            <a:endParaRPr lang="ko-KR" altLang="en-US"/>
          </a:p>
        </p:txBody>
      </p:sp>
    </p:spTree>
    <p:extLst>
      <p:ext uri="{BB962C8B-B14F-4D97-AF65-F5344CB8AC3E}">
        <p14:creationId xmlns:p14="http://schemas.microsoft.com/office/powerpoint/2010/main" val="334263146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11</a:t>
            </a:r>
            <a:r>
              <a:rPr lang="ko-KR" altLang="en-US" dirty="0"/>
              <a:t>조</a:t>
            </a:r>
          </a:p>
        </p:txBody>
      </p:sp>
      <p:sp>
        <p:nvSpPr>
          <p:cNvPr id="4" name="텍스트 개체 틀 3"/>
          <p:cNvSpPr>
            <a:spLocks noGrp="1"/>
          </p:cNvSpPr>
          <p:nvPr>
            <p:ph type="body" sz="quarter" idx="13"/>
          </p:nvPr>
        </p:nvSpPr>
        <p:spPr/>
        <p:txBody>
          <a:bodyPr/>
          <a:lstStyle/>
          <a:p>
            <a:r>
              <a:rPr lang="ko-KR" altLang="en-US" dirty="0"/>
              <a:t>복수 당사자 대표</a:t>
            </a:r>
          </a:p>
        </p:txBody>
      </p:sp>
      <p:sp>
        <p:nvSpPr>
          <p:cNvPr id="5" name="모서리가 둥근 직사각형 4"/>
          <p:cNvSpPr/>
          <p:nvPr/>
        </p:nvSpPr>
        <p:spPr>
          <a:xfrm>
            <a:off x="6018021" y="1984617"/>
            <a:ext cx="1254200" cy="397439"/>
          </a:xfrm>
          <a:prstGeom prst="roundRect">
            <a:avLst>
              <a:gd name="adj" fmla="val 29221"/>
            </a:avLst>
          </a:prstGeom>
          <a:solidFill>
            <a:schemeClr val="accent1">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rPr>
              <a:t>甲</a:t>
            </a:r>
            <a:r>
              <a:rPr lang="en-US" altLang="ko-KR" dirty="0">
                <a:solidFill>
                  <a:schemeClr val="bg1">
                    <a:lumMod val="50000"/>
                  </a:schemeClr>
                </a:solidFill>
              </a:rPr>
              <a:t>, </a:t>
            </a:r>
            <a:r>
              <a:rPr lang="ko-KR" altLang="en-US" dirty="0">
                <a:solidFill>
                  <a:schemeClr val="bg1">
                    <a:lumMod val="50000"/>
                  </a:schemeClr>
                </a:solidFill>
              </a:rPr>
              <a:t>乙</a:t>
            </a:r>
            <a:r>
              <a:rPr lang="en-US" altLang="ko-KR" dirty="0">
                <a:solidFill>
                  <a:schemeClr val="bg1">
                    <a:lumMod val="50000"/>
                  </a:schemeClr>
                </a:solidFill>
              </a:rPr>
              <a:t>, </a:t>
            </a:r>
            <a:r>
              <a:rPr lang="ko-KR" altLang="en-US" dirty="0">
                <a:solidFill>
                  <a:schemeClr val="bg1">
                    <a:lumMod val="50000"/>
                  </a:schemeClr>
                </a:solidFill>
              </a:rPr>
              <a:t>丙</a:t>
            </a:r>
            <a:endParaRPr lang="en-US" altLang="ko-KR" dirty="0">
              <a:solidFill>
                <a:schemeClr val="bg1">
                  <a:lumMod val="50000"/>
                </a:schemeClr>
              </a:solidFill>
            </a:endParaRPr>
          </a:p>
        </p:txBody>
      </p:sp>
      <p:sp>
        <p:nvSpPr>
          <p:cNvPr id="44" name="모서리가 둥근 직사각형 43"/>
          <p:cNvSpPr/>
          <p:nvPr/>
        </p:nvSpPr>
        <p:spPr>
          <a:xfrm>
            <a:off x="6760029" y="2931623"/>
            <a:ext cx="1159496" cy="633435"/>
          </a:xfrm>
          <a:prstGeom prst="roundRect">
            <a:avLst>
              <a:gd name="adj" fmla="val 0"/>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lumMod val="50000"/>
                    <a:lumOff val="50000"/>
                  </a:schemeClr>
                </a:solidFill>
              </a:rPr>
              <a:t>출원</a:t>
            </a:r>
            <a:r>
              <a:rPr lang="en-US" altLang="ko-KR" sz="1400" dirty="0">
                <a:solidFill>
                  <a:schemeClr val="tx1">
                    <a:lumMod val="50000"/>
                    <a:lumOff val="50000"/>
                  </a:schemeClr>
                </a:solidFill>
              </a:rPr>
              <a:t> </a:t>
            </a:r>
            <a:r>
              <a:rPr lang="ko-KR" altLang="en-US" sz="1400" dirty="0">
                <a:solidFill>
                  <a:schemeClr val="tx1">
                    <a:lumMod val="50000"/>
                    <a:lumOff val="50000"/>
                  </a:schemeClr>
                </a:solidFill>
              </a:rPr>
              <a:t>및</a:t>
            </a:r>
            <a:endParaRPr lang="en-US" altLang="ko-KR" sz="1400" dirty="0">
              <a:solidFill>
                <a:schemeClr val="tx1">
                  <a:lumMod val="50000"/>
                  <a:lumOff val="50000"/>
                </a:schemeClr>
              </a:solidFill>
            </a:endParaRPr>
          </a:p>
          <a:p>
            <a:pPr algn="ctr"/>
            <a:r>
              <a:rPr lang="ko-KR" altLang="en-US" sz="1400" dirty="0">
                <a:solidFill>
                  <a:schemeClr val="tx1">
                    <a:lumMod val="50000"/>
                    <a:lumOff val="50000"/>
                  </a:schemeClr>
                </a:solidFill>
              </a:rPr>
              <a:t>심판청구</a:t>
            </a:r>
          </a:p>
        </p:txBody>
      </p:sp>
      <p:sp>
        <p:nvSpPr>
          <p:cNvPr id="35" name="Rectangle 5"/>
          <p:cNvSpPr>
            <a:spLocks noChangeArrowheads="1"/>
          </p:cNvSpPr>
          <p:nvPr/>
        </p:nvSpPr>
        <p:spPr bwMode="auto">
          <a:xfrm>
            <a:off x="6352787" y="1628355"/>
            <a:ext cx="542925" cy="348102"/>
          </a:xfrm>
          <a:prstGeom prst="rect">
            <a:avLst/>
          </a:prstGeom>
          <a:noFill/>
          <a:ln w="9525" algn="ctr">
            <a:noFill/>
            <a:miter lim="800000"/>
            <a:headEnd/>
            <a:tailEnd/>
          </a:ln>
        </p:spPr>
        <p:txBody>
          <a:bodyPr wrap="none" anchor="ctr"/>
          <a:lstStyle/>
          <a:p>
            <a:pPr algn="ctr"/>
            <a:r>
              <a:rPr lang="ko-KR" altLang="en-US" sz="1100" b="0" dirty="0" err="1">
                <a:solidFill>
                  <a:schemeClr val="tx1"/>
                </a:solidFill>
                <a:latin typeface="+mj-ea"/>
                <a:ea typeface="+mj-ea"/>
              </a:rPr>
              <a:t>공동발명</a:t>
            </a:r>
            <a:endParaRPr lang="ko-KR" altLang="en-US" sz="1100" b="0" dirty="0">
              <a:solidFill>
                <a:schemeClr val="tx1"/>
              </a:solidFill>
              <a:latin typeface="+mj-ea"/>
              <a:ea typeface="+mj-ea"/>
            </a:endParaRPr>
          </a:p>
        </p:txBody>
      </p:sp>
      <p:graphicFrame>
        <p:nvGraphicFramePr>
          <p:cNvPr id="2" name="표 1"/>
          <p:cNvGraphicFramePr>
            <a:graphicFrameLocks noGrp="1"/>
          </p:cNvGraphicFramePr>
          <p:nvPr>
            <p:extLst>
              <p:ext uri="{D42A27DB-BD31-4B8C-83A1-F6EECF244321}">
                <p14:modId xmlns:p14="http://schemas.microsoft.com/office/powerpoint/2010/main" val="3849982699"/>
              </p:ext>
            </p:extLst>
          </p:nvPr>
        </p:nvGraphicFramePr>
        <p:xfrm>
          <a:off x="324307" y="1226099"/>
          <a:ext cx="5386383" cy="5434677"/>
        </p:xfrm>
        <a:graphic>
          <a:graphicData uri="http://schemas.openxmlformats.org/drawingml/2006/table">
            <a:tbl>
              <a:tblPr>
                <a:tableStyleId>{BC89EF96-8CEA-46FF-86C4-4CE0E7609802}</a:tableStyleId>
              </a:tblPr>
              <a:tblGrid>
                <a:gridCol w="499938">
                  <a:extLst>
                    <a:ext uri="{9D8B030D-6E8A-4147-A177-3AD203B41FA5}">
                      <a16:colId xmlns:a16="http://schemas.microsoft.com/office/drawing/2014/main" val="3564795478"/>
                    </a:ext>
                  </a:extLst>
                </a:gridCol>
                <a:gridCol w="590289">
                  <a:extLst>
                    <a:ext uri="{9D8B030D-6E8A-4147-A177-3AD203B41FA5}">
                      <a16:colId xmlns:a16="http://schemas.microsoft.com/office/drawing/2014/main" val="2625949882"/>
                    </a:ext>
                  </a:extLst>
                </a:gridCol>
                <a:gridCol w="4296156">
                  <a:extLst>
                    <a:ext uri="{9D8B030D-6E8A-4147-A177-3AD203B41FA5}">
                      <a16:colId xmlns:a16="http://schemas.microsoft.com/office/drawing/2014/main" val="3935710176"/>
                    </a:ext>
                  </a:extLst>
                </a:gridCol>
              </a:tblGrid>
              <a:tr h="262649">
                <a:tc gridSpan="2">
                  <a:txBody>
                    <a:bodyPr/>
                    <a:lstStyle/>
                    <a:p>
                      <a:pPr marL="0" marR="0" indent="0" algn="ctr" fontAlgn="base" latinLnBrk="0">
                        <a:lnSpc>
                          <a:spcPct val="120000"/>
                        </a:lnSpc>
                        <a:spcBef>
                          <a:spcPts val="0"/>
                        </a:spcBef>
                        <a:spcAft>
                          <a:spcPts val="0"/>
                        </a:spcAft>
                      </a:pPr>
                      <a:r>
                        <a:rPr lang="ko-KR" altLang="en-US" sz="1100" b="1" kern="1200" dirty="0"/>
                        <a:t>구 별</a:t>
                      </a:r>
                      <a:endParaRPr lang="ko-KR" altLang="en-US" sz="1100" b="1" kern="1200" dirty="0">
                        <a:solidFill>
                          <a:schemeClr val="tx2"/>
                        </a:solidFill>
                        <a:latin typeface="+mn-lt"/>
                        <a:ea typeface="+mn-ea"/>
                        <a:cs typeface="+mn-cs"/>
                      </a:endParaRPr>
                    </a:p>
                  </a:txBody>
                  <a:tcPr marL="72000" marR="72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latinLnBrk="1"/>
                      <a:endParaRPr lang="ko-KR" altLang="en-US"/>
                    </a:p>
                  </a:txBody>
                  <a:tcPr/>
                </a:tc>
                <a:tc>
                  <a:txBody>
                    <a:bodyPr/>
                    <a:lstStyle/>
                    <a:p>
                      <a:pPr marL="0" marR="0" indent="0" algn="ctr" fontAlgn="base" latinLnBrk="0">
                        <a:lnSpc>
                          <a:spcPct val="120000"/>
                        </a:lnSpc>
                        <a:spcBef>
                          <a:spcPts val="0"/>
                        </a:spcBef>
                        <a:spcAft>
                          <a:spcPts val="0"/>
                        </a:spcAft>
                      </a:pPr>
                      <a:r>
                        <a:rPr lang="ko-KR" altLang="en-US" sz="1100" b="1" kern="1200" dirty="0"/>
                        <a:t>내 용</a:t>
                      </a:r>
                      <a:endParaRPr lang="ko-KR" altLang="en-US" sz="1100" b="1" kern="1200" dirty="0">
                        <a:solidFill>
                          <a:schemeClr val="tx2"/>
                        </a:solidFill>
                        <a:latin typeface="+mn-lt"/>
                        <a:ea typeface="+mn-ea"/>
                        <a:cs typeface="+mn-cs"/>
                      </a:endParaRPr>
                    </a:p>
                  </a:txBody>
                  <a:tcPr marL="72000" marR="72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2788594326"/>
                  </a:ext>
                </a:extLst>
              </a:tr>
              <a:tr h="1554168">
                <a:tc rowSpan="2">
                  <a:txBody>
                    <a:bodyPr/>
                    <a:lstStyle/>
                    <a:p>
                      <a:pPr marL="0" marR="0" indent="0" algn="ctr" fontAlgn="base" latinLnBrk="0">
                        <a:lnSpc>
                          <a:spcPct val="120000"/>
                        </a:lnSpc>
                        <a:spcBef>
                          <a:spcPts val="0"/>
                        </a:spcBef>
                        <a:spcAft>
                          <a:spcPts val="0"/>
                        </a:spcAft>
                      </a:pPr>
                      <a:r>
                        <a:rPr lang="ko-KR" altLang="en-US" sz="1100" b="1" kern="1200" dirty="0"/>
                        <a:t>출원 </a:t>
                      </a:r>
                      <a:endParaRPr lang="en-US" altLang="ko-KR" sz="1100" b="1" kern="1200" dirty="0"/>
                    </a:p>
                    <a:p>
                      <a:pPr marL="0" marR="0" indent="0" algn="ctr" fontAlgn="base" latinLnBrk="0">
                        <a:lnSpc>
                          <a:spcPct val="120000"/>
                        </a:lnSpc>
                        <a:spcBef>
                          <a:spcPts val="0"/>
                        </a:spcBef>
                        <a:spcAft>
                          <a:spcPts val="0"/>
                        </a:spcAft>
                      </a:pPr>
                      <a:r>
                        <a:rPr lang="ko-KR" altLang="en-US" sz="1100" b="1" kern="1200" dirty="0"/>
                        <a:t>및 </a:t>
                      </a:r>
                      <a:endParaRPr lang="en-US" altLang="ko-KR" sz="1100" b="1" kern="1200" dirty="0"/>
                    </a:p>
                    <a:p>
                      <a:pPr marL="0" marR="0" indent="0" algn="ctr" fontAlgn="base" latinLnBrk="0">
                        <a:lnSpc>
                          <a:spcPct val="120000"/>
                        </a:lnSpc>
                        <a:spcBef>
                          <a:spcPts val="0"/>
                        </a:spcBef>
                        <a:spcAft>
                          <a:spcPts val="0"/>
                        </a:spcAft>
                      </a:pPr>
                      <a:r>
                        <a:rPr lang="ko-KR" altLang="en-US" sz="1100" b="1" kern="1200" dirty="0"/>
                        <a:t>심판</a:t>
                      </a:r>
                      <a:endParaRPr lang="en-US" altLang="ko-KR" sz="1100" b="1" kern="1200" dirty="0"/>
                    </a:p>
                    <a:p>
                      <a:pPr marL="0" marR="0" indent="0" algn="ctr" fontAlgn="base" latinLnBrk="0">
                        <a:lnSpc>
                          <a:spcPct val="120000"/>
                        </a:lnSpc>
                        <a:spcBef>
                          <a:spcPts val="0"/>
                        </a:spcBef>
                        <a:spcAft>
                          <a:spcPts val="0"/>
                        </a:spcAft>
                      </a:pPr>
                      <a:r>
                        <a:rPr lang="ko-KR" altLang="en-US" sz="1100" b="1" kern="1200" dirty="0"/>
                        <a:t>청구</a:t>
                      </a:r>
                      <a:endParaRPr lang="ko-KR" altLang="en-US" sz="1100" b="1" kern="1200" dirty="0">
                        <a:solidFill>
                          <a:schemeClr val="tx2"/>
                        </a:solidFill>
                        <a:latin typeface="+mn-lt"/>
                        <a:ea typeface="+mn-ea"/>
                        <a:cs typeface="+mn-cs"/>
                      </a:endParaRPr>
                    </a:p>
                  </a:txBody>
                  <a:tcPr marL="72000" marR="72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0" marR="0" indent="0" algn="ctr" fontAlgn="base" latinLnBrk="0">
                        <a:lnSpc>
                          <a:spcPct val="120000"/>
                        </a:lnSpc>
                        <a:spcBef>
                          <a:spcPts val="0"/>
                        </a:spcBef>
                        <a:spcAft>
                          <a:spcPts val="0"/>
                        </a:spcAft>
                      </a:pPr>
                      <a:r>
                        <a:rPr lang="ko-KR" altLang="en-US" sz="1100" b="1" kern="1200"/>
                        <a:t>출원</a:t>
                      </a:r>
                      <a:endParaRPr lang="ko-KR" altLang="en-US" sz="1100" b="1" kern="1200">
                        <a:solidFill>
                          <a:schemeClr val="tx2"/>
                        </a:solidFill>
                        <a:latin typeface="+mn-lt"/>
                        <a:ea typeface="+mn-ea"/>
                        <a:cs typeface="+mn-cs"/>
                      </a:endParaRPr>
                    </a:p>
                  </a:txBody>
                  <a:tcPr marL="72000" marR="72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97790" marR="31750" indent="-97790" algn="l" fontAlgn="base" latinLnBrk="1">
                        <a:lnSpc>
                          <a:spcPct val="130000"/>
                        </a:lnSpc>
                        <a:spcBef>
                          <a:spcPts val="0"/>
                        </a:spcBef>
                        <a:spcAft>
                          <a:spcPts val="0"/>
                        </a:spcAft>
                      </a:pPr>
                      <a:r>
                        <a:rPr lang="en-US" altLang="ko-KR" sz="1100" kern="1200" dirty="0"/>
                        <a:t>1. </a:t>
                      </a:r>
                      <a:r>
                        <a:rPr lang="ko-KR" altLang="en-US" sz="1100" kern="1200" dirty="0"/>
                        <a:t>특허출원 → 공유자 모두가 공동출원하여야 하며</a:t>
                      </a:r>
                      <a:r>
                        <a:rPr lang="en-US" altLang="ko-KR" sz="1100" kern="1200" dirty="0"/>
                        <a:t>(</a:t>
                      </a:r>
                      <a:r>
                        <a:rPr lang="ko-KR" altLang="en-US" sz="1100" kern="1200" dirty="0"/>
                        <a:t>法 </a:t>
                      </a:r>
                      <a:r>
                        <a:rPr lang="en-US" altLang="ko-KR" sz="1100" kern="1200" dirty="0"/>
                        <a:t>44), </a:t>
                      </a:r>
                      <a:r>
                        <a:rPr lang="ko-KR" altLang="en-US" sz="1100" kern="1200" dirty="0"/>
                        <a:t>이에 위반시 거절이유</a:t>
                      </a:r>
                      <a:r>
                        <a:rPr lang="en-US" altLang="ko-KR" sz="1100" kern="1200" dirty="0"/>
                        <a:t>(</a:t>
                      </a:r>
                      <a:r>
                        <a:rPr lang="ko-KR" altLang="en-US" sz="1100" kern="1200" dirty="0"/>
                        <a:t>法 </a:t>
                      </a:r>
                      <a:r>
                        <a:rPr lang="en-US" altLang="ko-KR" sz="1100" kern="1200" dirty="0"/>
                        <a:t>62), </a:t>
                      </a:r>
                      <a:r>
                        <a:rPr lang="ko-KR" altLang="en-US" sz="1100" kern="1200" dirty="0"/>
                        <a:t>정보제공사유</a:t>
                      </a:r>
                      <a:r>
                        <a:rPr lang="en-US" altLang="ko-KR" sz="1100" kern="1200" dirty="0"/>
                        <a:t>(</a:t>
                      </a:r>
                      <a:r>
                        <a:rPr lang="ko-KR" altLang="en-US" sz="1100" kern="1200" dirty="0"/>
                        <a:t>法 </a:t>
                      </a:r>
                      <a:r>
                        <a:rPr lang="en-US" altLang="ko-KR" sz="1100" kern="1200" dirty="0"/>
                        <a:t>63</a:t>
                      </a:r>
                      <a:r>
                        <a:rPr lang="ko-KR" altLang="en-US" sz="1100" kern="1200" dirty="0"/>
                        <a:t>의</a:t>
                      </a:r>
                      <a:r>
                        <a:rPr lang="en-US" altLang="ko-KR" sz="1100" kern="1200" dirty="0"/>
                        <a:t>2), </a:t>
                      </a:r>
                      <a:r>
                        <a:rPr lang="ko-KR" altLang="en-US" sz="1100" kern="1200" dirty="0"/>
                        <a:t>특허무효사유</a:t>
                      </a:r>
                      <a:r>
                        <a:rPr lang="en-US" altLang="ko-KR" sz="1100" kern="1200" dirty="0"/>
                        <a:t>(</a:t>
                      </a:r>
                      <a:r>
                        <a:rPr lang="ko-KR" altLang="en-US" sz="1100" kern="1200" dirty="0"/>
                        <a:t>法 </a:t>
                      </a:r>
                      <a:r>
                        <a:rPr lang="en-US" altLang="ko-KR" sz="1100" kern="1200" dirty="0"/>
                        <a:t>133</a:t>
                      </a:r>
                      <a:r>
                        <a:rPr lang="ko-KR" altLang="en-US" sz="1100" kern="1200" dirty="0"/>
                        <a:t>①</a:t>
                      </a:r>
                      <a:r>
                        <a:rPr lang="en-US" altLang="ko-KR" sz="1100" kern="1200" dirty="0"/>
                        <a:t>). </a:t>
                      </a:r>
                      <a:r>
                        <a:rPr lang="ko-KR" altLang="en-US" sz="1100" kern="1200" dirty="0"/>
                        <a:t>다만</a:t>
                      </a:r>
                      <a:r>
                        <a:rPr lang="en-US" altLang="ko-KR" sz="1100" kern="1200" dirty="0"/>
                        <a:t>, </a:t>
                      </a:r>
                      <a:r>
                        <a:rPr lang="ko-KR" altLang="en-US" sz="1100" kern="1200" dirty="0"/>
                        <a:t>등록 후 법원에 </a:t>
                      </a:r>
                      <a:r>
                        <a:rPr lang="ko-KR" altLang="en-US" sz="1100" kern="1200" dirty="0" err="1"/>
                        <a:t>이전청구</a:t>
                      </a:r>
                      <a:r>
                        <a:rPr lang="ko-KR" altLang="en-US" sz="1100" kern="1200" dirty="0"/>
                        <a:t> 가능하고</a:t>
                      </a:r>
                      <a:r>
                        <a:rPr lang="en-US" altLang="ko-KR" sz="1100" kern="1200" dirty="0"/>
                        <a:t>(</a:t>
                      </a:r>
                      <a:r>
                        <a:rPr lang="ko-KR" altLang="en-US" sz="1100" kern="1200" dirty="0"/>
                        <a:t>法 </a:t>
                      </a:r>
                      <a:r>
                        <a:rPr lang="en-US" altLang="ko-KR" sz="1100" kern="1200" dirty="0"/>
                        <a:t>99</a:t>
                      </a:r>
                      <a:r>
                        <a:rPr lang="ko-KR" altLang="en-US" sz="1100" kern="1200" dirty="0"/>
                        <a:t>의</a:t>
                      </a:r>
                      <a:r>
                        <a:rPr lang="en-US" altLang="ko-KR" sz="1100" kern="1200" dirty="0"/>
                        <a:t>2), </a:t>
                      </a:r>
                      <a:r>
                        <a:rPr lang="ko-KR" altLang="en-US" sz="1100" kern="1200" dirty="0" err="1"/>
                        <a:t>이전청구에</a:t>
                      </a:r>
                      <a:r>
                        <a:rPr lang="ko-KR" altLang="en-US" sz="1100" kern="1200" dirty="0"/>
                        <a:t> 기초하여 </a:t>
                      </a:r>
                      <a:r>
                        <a:rPr lang="ko-KR" altLang="en-US" sz="1100" kern="1200" dirty="0" err="1"/>
                        <a:t>이전등록이</a:t>
                      </a:r>
                      <a:r>
                        <a:rPr lang="ko-KR" altLang="en-US" sz="1100" kern="1200" dirty="0"/>
                        <a:t> 있으면 특허무효사유에서 제외</a:t>
                      </a:r>
                    </a:p>
                    <a:p>
                      <a:pPr marL="116840" marR="31750" indent="-116840" algn="l" fontAlgn="base" latinLnBrk="1">
                        <a:lnSpc>
                          <a:spcPct val="130000"/>
                        </a:lnSpc>
                        <a:spcBef>
                          <a:spcPts val="0"/>
                        </a:spcBef>
                        <a:spcAft>
                          <a:spcPts val="0"/>
                        </a:spcAft>
                      </a:pPr>
                      <a:r>
                        <a:rPr lang="en-US" altLang="ko-KR" sz="1100" kern="1200" dirty="0"/>
                        <a:t>2. </a:t>
                      </a:r>
                      <a:r>
                        <a:rPr lang="ko-KR" altLang="en-US" sz="1100" kern="1200" dirty="0" err="1"/>
                        <a:t>존속기간연장등록출원</a:t>
                      </a:r>
                      <a:r>
                        <a:rPr lang="ko-KR" altLang="en-US" sz="1100" kern="1200" dirty="0"/>
                        <a:t> → 공유자 모두가 공동출원하여야 하며</a:t>
                      </a:r>
                      <a:r>
                        <a:rPr lang="en-US" altLang="ko-KR" sz="1100" kern="1200" dirty="0"/>
                        <a:t>(</a:t>
                      </a:r>
                      <a:r>
                        <a:rPr lang="ko-KR" altLang="en-US" sz="1100" kern="1200" dirty="0"/>
                        <a:t>法 </a:t>
                      </a:r>
                      <a:r>
                        <a:rPr lang="en-US" altLang="ko-KR" sz="1100" kern="1200" dirty="0"/>
                        <a:t>90</a:t>
                      </a:r>
                      <a:r>
                        <a:rPr lang="ko-KR" altLang="en-US" sz="1100" kern="1200" dirty="0"/>
                        <a:t>③</a:t>
                      </a:r>
                      <a:r>
                        <a:rPr lang="en-US" altLang="ko-KR" sz="1100" kern="1200" dirty="0"/>
                        <a:t>, 92</a:t>
                      </a:r>
                      <a:r>
                        <a:rPr lang="ko-KR" altLang="en-US" sz="1100" kern="1200" dirty="0"/>
                        <a:t>의</a:t>
                      </a:r>
                      <a:r>
                        <a:rPr lang="en-US" altLang="ko-KR" sz="1100" kern="1200" dirty="0"/>
                        <a:t>3</a:t>
                      </a:r>
                      <a:r>
                        <a:rPr lang="ko-KR" altLang="en-US" sz="1100" kern="1200" dirty="0"/>
                        <a:t>③</a:t>
                      </a:r>
                      <a:r>
                        <a:rPr lang="en-US" altLang="ko-KR" sz="1100" kern="1200" dirty="0"/>
                        <a:t>), </a:t>
                      </a:r>
                      <a:r>
                        <a:rPr lang="ko-KR" altLang="en-US" sz="1100" kern="1200" dirty="0"/>
                        <a:t>이에 위반시 거절이유</a:t>
                      </a:r>
                      <a:r>
                        <a:rPr lang="en-US" altLang="ko-KR" sz="1100" kern="1200" dirty="0"/>
                        <a:t>(</a:t>
                      </a:r>
                      <a:r>
                        <a:rPr lang="ko-KR" altLang="en-US" sz="1100" kern="1200" dirty="0"/>
                        <a:t>法 </a:t>
                      </a:r>
                      <a:r>
                        <a:rPr lang="en-US" altLang="ko-KR" sz="1100" kern="1200" dirty="0"/>
                        <a:t>91, 92</a:t>
                      </a:r>
                      <a:r>
                        <a:rPr lang="ko-KR" altLang="en-US" sz="1100" kern="1200" dirty="0"/>
                        <a:t>의</a:t>
                      </a:r>
                      <a:r>
                        <a:rPr lang="en-US" altLang="ko-KR" sz="1100" kern="1200" dirty="0"/>
                        <a:t>4), </a:t>
                      </a:r>
                      <a:r>
                        <a:rPr lang="ko-KR" altLang="en-US" sz="1100" kern="1200" dirty="0" err="1"/>
                        <a:t>무효사유</a:t>
                      </a:r>
                      <a:r>
                        <a:rPr lang="en-US" altLang="ko-KR" sz="1100" kern="1200" dirty="0"/>
                        <a:t>(</a:t>
                      </a:r>
                      <a:r>
                        <a:rPr lang="ko-KR" altLang="en-US" sz="1100" kern="1200" dirty="0"/>
                        <a:t>法 </a:t>
                      </a:r>
                      <a:r>
                        <a:rPr lang="en-US" altLang="ko-KR" sz="1100" kern="1200" dirty="0"/>
                        <a:t>134</a:t>
                      </a:r>
                      <a:r>
                        <a:rPr lang="ko-KR" altLang="en-US" sz="1100" kern="1200" dirty="0"/>
                        <a:t>①②</a:t>
                      </a:r>
                      <a:r>
                        <a:rPr lang="en-US" altLang="ko-KR" sz="1100" kern="1200" dirty="0"/>
                        <a:t>) </a:t>
                      </a:r>
                      <a:endParaRPr lang="ko-KR" altLang="en-US" sz="1100" kern="1200" dirty="0">
                        <a:solidFill>
                          <a:schemeClr val="tx2"/>
                        </a:solidFill>
                        <a:latin typeface="+mn-lt"/>
                        <a:ea typeface="+mn-ea"/>
                        <a:cs typeface="+mn-cs"/>
                      </a:endParaRPr>
                    </a:p>
                  </a:txBody>
                  <a:tcPr marL="72000" marR="72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35406806"/>
                  </a:ext>
                </a:extLst>
              </a:tr>
              <a:tr h="1809525">
                <a:tc vMerge="1">
                  <a:txBody>
                    <a:bodyPr/>
                    <a:lstStyle/>
                    <a:p>
                      <a:pPr latinLnBrk="1"/>
                      <a:endParaRPr lang="ko-KR" altLang="en-US"/>
                    </a:p>
                  </a:txBody>
                  <a:tcPr/>
                </a:tc>
                <a:tc>
                  <a:txBody>
                    <a:bodyPr/>
                    <a:lstStyle/>
                    <a:p>
                      <a:pPr marL="0" marR="0" indent="0" algn="ctr" fontAlgn="base" latinLnBrk="0">
                        <a:lnSpc>
                          <a:spcPct val="120000"/>
                        </a:lnSpc>
                        <a:spcBef>
                          <a:spcPts val="0"/>
                        </a:spcBef>
                        <a:spcAft>
                          <a:spcPts val="0"/>
                        </a:spcAft>
                      </a:pPr>
                      <a:r>
                        <a:rPr lang="ko-KR" altLang="en-US" sz="1100" b="1" kern="1200" dirty="0"/>
                        <a:t>심판</a:t>
                      </a:r>
                      <a:endParaRPr lang="en-US" altLang="ko-KR" sz="1100" b="1" kern="1200" dirty="0"/>
                    </a:p>
                    <a:p>
                      <a:pPr marL="0" marR="0" indent="0" algn="ctr" fontAlgn="base" latinLnBrk="0">
                        <a:lnSpc>
                          <a:spcPct val="120000"/>
                        </a:lnSpc>
                        <a:spcBef>
                          <a:spcPts val="0"/>
                        </a:spcBef>
                        <a:spcAft>
                          <a:spcPts val="0"/>
                        </a:spcAft>
                      </a:pPr>
                      <a:r>
                        <a:rPr lang="ko-KR" altLang="en-US" sz="1100" b="1" kern="1200" dirty="0"/>
                        <a:t>청구</a:t>
                      </a:r>
                      <a:endParaRPr lang="ko-KR" altLang="en-US" sz="1100" b="1" kern="1200" dirty="0">
                        <a:solidFill>
                          <a:schemeClr val="tx2"/>
                        </a:solidFill>
                        <a:latin typeface="+mn-lt"/>
                        <a:ea typeface="+mn-ea"/>
                        <a:cs typeface="+mn-cs"/>
                      </a:endParaRPr>
                    </a:p>
                  </a:txBody>
                  <a:tcPr marL="72000" marR="72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133350" marR="31750" indent="-133350" algn="l" fontAlgn="base" latinLnBrk="1">
                        <a:lnSpc>
                          <a:spcPct val="130000"/>
                        </a:lnSpc>
                        <a:spcBef>
                          <a:spcPts val="0"/>
                        </a:spcBef>
                        <a:spcAft>
                          <a:spcPts val="0"/>
                        </a:spcAft>
                      </a:pPr>
                      <a:r>
                        <a:rPr lang="en-US" altLang="ko-KR" sz="1100" kern="1200" dirty="0"/>
                        <a:t>1. </a:t>
                      </a:r>
                      <a:r>
                        <a:rPr lang="ko-KR" altLang="en-US" sz="1100" kern="1200" dirty="0"/>
                        <a:t>특허무효심판</a:t>
                      </a:r>
                      <a:r>
                        <a:rPr lang="en-US" altLang="ko-KR" sz="1100" kern="1200" dirty="0"/>
                        <a:t>(</a:t>
                      </a:r>
                      <a:r>
                        <a:rPr lang="ko-KR" altLang="en-US" sz="1100" kern="1200" dirty="0"/>
                        <a:t>法 </a:t>
                      </a:r>
                      <a:r>
                        <a:rPr lang="en-US" altLang="ko-KR" sz="1100" kern="1200" dirty="0"/>
                        <a:t>133), </a:t>
                      </a:r>
                      <a:r>
                        <a:rPr lang="ko-KR" altLang="en-US" sz="1100" kern="1200" dirty="0"/>
                        <a:t>특허권의 존속기간 연장등록무효심판</a:t>
                      </a:r>
                      <a:r>
                        <a:rPr lang="en-US" altLang="ko-KR" sz="1100" kern="1200" dirty="0"/>
                        <a:t>(</a:t>
                      </a:r>
                      <a:r>
                        <a:rPr lang="ko-KR" altLang="en-US" sz="1100" kern="1200" dirty="0"/>
                        <a:t>法 </a:t>
                      </a:r>
                      <a:r>
                        <a:rPr lang="en-US" altLang="ko-KR" sz="1100" kern="1200" dirty="0"/>
                        <a:t>134), </a:t>
                      </a:r>
                      <a:r>
                        <a:rPr lang="ko-KR" altLang="en-US" sz="1100" kern="1200" dirty="0"/>
                        <a:t>정정무효심판</a:t>
                      </a:r>
                      <a:r>
                        <a:rPr lang="en-US" altLang="ko-KR" sz="1100" kern="1200" dirty="0"/>
                        <a:t>(</a:t>
                      </a:r>
                      <a:r>
                        <a:rPr lang="ko-KR" altLang="en-US" sz="1100" kern="1200" dirty="0"/>
                        <a:t>法 </a:t>
                      </a:r>
                      <a:r>
                        <a:rPr lang="en-US" altLang="ko-KR" sz="1100" kern="1200" dirty="0"/>
                        <a:t>137) </a:t>
                      </a:r>
                      <a:r>
                        <a:rPr lang="ko-KR" altLang="en-US" sz="1100" kern="1200" dirty="0"/>
                        <a:t>또는 권리범위확인심판</a:t>
                      </a:r>
                      <a:r>
                        <a:rPr lang="en-US" altLang="ko-KR" sz="1100" kern="1200" dirty="0"/>
                        <a:t>(</a:t>
                      </a:r>
                      <a:r>
                        <a:rPr lang="ko-KR" altLang="en-US" sz="1100" kern="1200" dirty="0"/>
                        <a:t>法 </a:t>
                      </a:r>
                      <a:r>
                        <a:rPr lang="en-US" altLang="ko-KR" sz="1100" kern="1200" dirty="0"/>
                        <a:t>135)</a:t>
                      </a:r>
                      <a:r>
                        <a:rPr lang="ko-KR" altLang="en-US" sz="1100" kern="1200" dirty="0"/>
                        <a:t>을 청구하는 자가 </a:t>
                      </a:r>
                      <a:r>
                        <a:rPr lang="en-US" altLang="ko-KR" sz="1100" kern="1200" dirty="0"/>
                        <a:t>2</a:t>
                      </a:r>
                      <a:r>
                        <a:rPr lang="ko-KR" altLang="en-US" sz="1100" kern="1200" dirty="0"/>
                        <a:t>인 이상이 있는 때에는 그 모두가 공동으로 심판을 청구할 수 있다</a:t>
                      </a:r>
                      <a:r>
                        <a:rPr lang="en-US" altLang="ko-KR" sz="1100" kern="1200" dirty="0"/>
                        <a:t>(</a:t>
                      </a:r>
                      <a:r>
                        <a:rPr lang="ko-KR" altLang="en-US" sz="1100" kern="1200" dirty="0"/>
                        <a:t>法 </a:t>
                      </a:r>
                      <a:r>
                        <a:rPr lang="en-US" altLang="ko-KR" sz="1100" kern="1200" dirty="0"/>
                        <a:t>139</a:t>
                      </a:r>
                      <a:r>
                        <a:rPr lang="ko-KR" altLang="en-US" sz="1100" kern="1200" dirty="0"/>
                        <a:t>①</a:t>
                      </a:r>
                      <a:r>
                        <a:rPr lang="en-US" altLang="ko-KR" sz="1100" kern="1200" dirty="0"/>
                        <a:t>).</a:t>
                      </a:r>
                      <a:endParaRPr lang="ko-KR" altLang="en-US" sz="1100" kern="1200" dirty="0"/>
                    </a:p>
                    <a:p>
                      <a:pPr marL="130810" marR="31750" indent="-130810" algn="l" fontAlgn="base" latinLnBrk="1">
                        <a:lnSpc>
                          <a:spcPct val="130000"/>
                        </a:lnSpc>
                        <a:spcBef>
                          <a:spcPts val="0"/>
                        </a:spcBef>
                        <a:spcAft>
                          <a:spcPts val="0"/>
                        </a:spcAft>
                      </a:pPr>
                      <a:r>
                        <a:rPr lang="en-US" altLang="ko-KR" sz="1100" kern="1200" dirty="0"/>
                        <a:t>2. </a:t>
                      </a:r>
                      <a:r>
                        <a:rPr lang="ko-KR" altLang="en-US" sz="1100" kern="1200" dirty="0"/>
                        <a:t>특허권 또는 특허를 받을 수 있는 권리의 공유자가 그 공유인 권리에 관하여 심판을 청구하는 때에는 공유자 모두가 공동으로 청구하여야 한다</a:t>
                      </a:r>
                      <a:r>
                        <a:rPr lang="en-US" altLang="ko-KR" sz="1100" kern="1200" dirty="0"/>
                        <a:t>(</a:t>
                      </a:r>
                      <a:r>
                        <a:rPr lang="ko-KR" altLang="en-US" sz="1100" kern="1200" dirty="0"/>
                        <a:t>法 </a:t>
                      </a:r>
                      <a:r>
                        <a:rPr lang="en-US" altLang="ko-KR" sz="1100" kern="1200" dirty="0"/>
                        <a:t>139</a:t>
                      </a:r>
                      <a:r>
                        <a:rPr lang="ko-KR" altLang="en-US" sz="1100" kern="1200" dirty="0"/>
                        <a:t>③</a:t>
                      </a:r>
                      <a:r>
                        <a:rPr lang="en-US" altLang="ko-KR" sz="1100" kern="1200" dirty="0"/>
                        <a:t>). </a:t>
                      </a:r>
                      <a:r>
                        <a:rPr lang="ko-KR" altLang="en-US" sz="1100" kern="1200" dirty="0"/>
                        <a:t>이에 위반시 </a:t>
                      </a:r>
                      <a:r>
                        <a:rPr lang="ko-KR" altLang="en-US" sz="1100" kern="1200" dirty="0" err="1"/>
                        <a:t>심결각하</a:t>
                      </a:r>
                      <a:r>
                        <a:rPr lang="en-US" altLang="ko-KR" sz="1100" kern="1200" dirty="0"/>
                        <a:t>.</a:t>
                      </a:r>
                      <a:endParaRPr lang="ko-KR" altLang="en-US" sz="1100" kern="1200" dirty="0">
                        <a:solidFill>
                          <a:schemeClr val="tx2"/>
                        </a:solidFill>
                        <a:latin typeface="+mn-lt"/>
                        <a:ea typeface="+mn-ea"/>
                        <a:cs typeface="+mn-cs"/>
                      </a:endParaRPr>
                    </a:p>
                  </a:txBody>
                  <a:tcPr marL="72000" marR="72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622602565"/>
                  </a:ext>
                </a:extLst>
              </a:tr>
              <a:tr h="1808335">
                <a:tc gridSpan="2">
                  <a:txBody>
                    <a:bodyPr/>
                    <a:lstStyle/>
                    <a:p>
                      <a:pPr marL="0" marR="0" indent="0" algn="ctr" fontAlgn="base" latinLnBrk="0">
                        <a:lnSpc>
                          <a:spcPct val="120000"/>
                        </a:lnSpc>
                        <a:spcBef>
                          <a:spcPts val="0"/>
                        </a:spcBef>
                        <a:spcAft>
                          <a:spcPts val="0"/>
                        </a:spcAft>
                      </a:pPr>
                      <a:r>
                        <a:rPr lang="ko-KR" altLang="en-US" sz="1100" b="1" kern="1200" dirty="0"/>
                        <a:t>그 밖의 절차</a:t>
                      </a:r>
                      <a:endParaRPr lang="ko-KR" altLang="en-US" sz="1100" b="1" kern="1200" dirty="0">
                        <a:solidFill>
                          <a:schemeClr val="tx2"/>
                        </a:solidFill>
                        <a:latin typeface="+mn-lt"/>
                        <a:ea typeface="+mn-ea"/>
                        <a:cs typeface="+mn-cs"/>
                      </a:endParaRPr>
                    </a:p>
                  </a:txBody>
                  <a:tcPr marL="72000" marR="72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pPr latinLnBrk="1"/>
                      <a:endParaRPr lang="ko-KR" altLang="en-US"/>
                    </a:p>
                  </a:txBody>
                  <a:tcPr/>
                </a:tc>
                <a:tc>
                  <a:txBody>
                    <a:bodyPr/>
                    <a:lstStyle/>
                    <a:p>
                      <a:pPr marL="31750" marR="31750" indent="0" algn="l" fontAlgn="base" latinLnBrk="1">
                        <a:lnSpc>
                          <a:spcPct val="130000"/>
                        </a:lnSpc>
                        <a:spcBef>
                          <a:spcPts val="0"/>
                        </a:spcBef>
                        <a:spcAft>
                          <a:spcPts val="0"/>
                        </a:spcAft>
                      </a:pPr>
                      <a:r>
                        <a:rPr lang="en-US" altLang="ko-KR" sz="1100" kern="1200" dirty="0"/>
                        <a:t>1. </a:t>
                      </a:r>
                      <a:r>
                        <a:rPr lang="ko-KR" altLang="en-US" sz="1100" kern="1200" dirty="0"/>
                        <a:t>대표자를 선정하지 아니한 경우</a:t>
                      </a:r>
                    </a:p>
                    <a:p>
                      <a:pPr marL="31750" marR="31750" indent="0" algn="l" fontAlgn="base" latinLnBrk="1">
                        <a:lnSpc>
                          <a:spcPct val="130000"/>
                        </a:lnSpc>
                        <a:spcBef>
                          <a:spcPts val="0"/>
                        </a:spcBef>
                        <a:spcAft>
                          <a:spcPts val="0"/>
                        </a:spcAft>
                      </a:pPr>
                      <a:r>
                        <a:rPr lang="ko-KR" altLang="en-US" sz="1100" kern="1200" dirty="0"/>
                        <a:t>① 원칙 → 각자대표</a:t>
                      </a:r>
                      <a:r>
                        <a:rPr lang="en-US" altLang="ko-KR" sz="1100" kern="1200" dirty="0"/>
                        <a:t>(</a:t>
                      </a:r>
                      <a:r>
                        <a:rPr lang="ko-KR" altLang="en-US" sz="1100" kern="1200" dirty="0"/>
                        <a:t>法 </a:t>
                      </a:r>
                      <a:r>
                        <a:rPr lang="en-US" altLang="ko-KR" sz="1100" kern="1200" dirty="0"/>
                        <a:t>11</a:t>
                      </a:r>
                      <a:r>
                        <a:rPr lang="ko-KR" altLang="en-US" sz="1100" kern="1200" dirty="0"/>
                        <a:t>①본문</a:t>
                      </a:r>
                      <a:r>
                        <a:rPr lang="en-US" altLang="ko-KR" sz="1100" kern="1200" dirty="0"/>
                        <a:t>)</a:t>
                      </a:r>
                      <a:endParaRPr lang="ko-KR" altLang="en-US" sz="1100" kern="1200" dirty="0"/>
                    </a:p>
                    <a:p>
                      <a:pPr marL="31750" marR="31750" indent="0" algn="l" fontAlgn="base" latinLnBrk="1">
                        <a:lnSpc>
                          <a:spcPct val="130000"/>
                        </a:lnSpc>
                        <a:spcBef>
                          <a:spcPts val="0"/>
                        </a:spcBef>
                        <a:spcAft>
                          <a:spcPts val="0"/>
                        </a:spcAft>
                      </a:pPr>
                      <a:r>
                        <a:rPr lang="ko-KR" altLang="en-US" sz="1100" kern="1200" dirty="0"/>
                        <a:t>② 예외 → 제</a:t>
                      </a:r>
                      <a:r>
                        <a:rPr lang="en-US" altLang="ko-KR" sz="1100" kern="1200" dirty="0"/>
                        <a:t>11</a:t>
                      </a:r>
                      <a:r>
                        <a:rPr lang="ko-KR" altLang="en-US" sz="1100" kern="1200" dirty="0"/>
                        <a:t>조 제</a:t>
                      </a:r>
                      <a:r>
                        <a:rPr lang="en-US" altLang="ko-KR" sz="1100" kern="1200" dirty="0"/>
                        <a:t>1</a:t>
                      </a:r>
                      <a:r>
                        <a:rPr lang="ko-KR" altLang="en-US" sz="1100" kern="1200" dirty="0"/>
                        <a:t>항 각호에 해당하는 경우 </a:t>
                      </a:r>
                      <a:r>
                        <a:rPr lang="ko-KR" altLang="en-US" sz="1100" kern="1200" dirty="0" err="1"/>
                        <a:t>모두대표</a:t>
                      </a:r>
                      <a:r>
                        <a:rPr lang="en-US" altLang="ko-KR" sz="1100" kern="1200" dirty="0"/>
                        <a:t>(</a:t>
                      </a:r>
                      <a:r>
                        <a:rPr lang="ko-KR" altLang="en-US" sz="1100" kern="1200" dirty="0"/>
                        <a:t>法 </a:t>
                      </a:r>
                      <a:r>
                        <a:rPr lang="en-US" altLang="ko-KR" sz="1100" kern="1200" dirty="0"/>
                        <a:t>11</a:t>
                      </a:r>
                      <a:r>
                        <a:rPr lang="ko-KR" altLang="en-US" sz="1100" kern="1200" dirty="0"/>
                        <a:t>①각호</a:t>
                      </a:r>
                      <a:r>
                        <a:rPr lang="en-US" altLang="ko-KR" sz="1100" kern="1200" dirty="0"/>
                        <a:t>)</a:t>
                      </a:r>
                      <a:endParaRPr lang="ko-KR" altLang="en-US" sz="1100" kern="1200" dirty="0"/>
                    </a:p>
                    <a:p>
                      <a:pPr marL="31750" marR="31750" indent="0" algn="l" fontAlgn="base" latinLnBrk="1">
                        <a:lnSpc>
                          <a:spcPct val="130000"/>
                        </a:lnSpc>
                        <a:spcBef>
                          <a:spcPts val="0"/>
                        </a:spcBef>
                        <a:spcAft>
                          <a:spcPts val="0"/>
                        </a:spcAft>
                      </a:pPr>
                      <a:r>
                        <a:rPr lang="en-US" altLang="ko-KR" sz="1100" kern="1200" dirty="0"/>
                        <a:t>2. </a:t>
                      </a:r>
                      <a:r>
                        <a:rPr lang="ko-KR" altLang="en-US" sz="1100" kern="1200" dirty="0"/>
                        <a:t>대표자를 선정한 경우</a:t>
                      </a:r>
                    </a:p>
                    <a:p>
                      <a:pPr marL="31750" marR="31750" indent="0" algn="l" fontAlgn="base" latinLnBrk="1">
                        <a:lnSpc>
                          <a:spcPct val="130000"/>
                        </a:lnSpc>
                        <a:spcBef>
                          <a:spcPts val="0"/>
                        </a:spcBef>
                        <a:spcAft>
                          <a:spcPts val="0"/>
                        </a:spcAft>
                      </a:pPr>
                      <a:r>
                        <a:rPr lang="ko-KR" altLang="en-US" sz="1100" kern="1200" dirty="0"/>
                        <a:t>① 원칙 → </a:t>
                      </a:r>
                      <a:r>
                        <a:rPr lang="ko-KR" altLang="en-US" sz="1100" kern="1200" dirty="0" err="1"/>
                        <a:t>대표자대표</a:t>
                      </a:r>
                      <a:r>
                        <a:rPr lang="en-US" altLang="ko-KR" sz="1100" kern="1200" dirty="0"/>
                        <a:t>(</a:t>
                      </a:r>
                      <a:r>
                        <a:rPr lang="ko-KR" altLang="en-US" sz="1100" kern="1200" dirty="0"/>
                        <a:t>法 </a:t>
                      </a:r>
                      <a:r>
                        <a:rPr lang="en-US" altLang="ko-KR" sz="1100" kern="1200" dirty="0"/>
                        <a:t>11</a:t>
                      </a:r>
                      <a:r>
                        <a:rPr lang="ko-KR" altLang="en-US" sz="1100" kern="1200" dirty="0"/>
                        <a:t>①단서</a:t>
                      </a:r>
                      <a:r>
                        <a:rPr lang="en-US" altLang="ko-KR" sz="1100" kern="1200" dirty="0"/>
                        <a:t>)</a:t>
                      </a:r>
                      <a:endParaRPr lang="ko-KR" altLang="en-US" sz="1100" kern="1200" dirty="0"/>
                    </a:p>
                    <a:p>
                      <a:pPr marL="31750" marR="31750" indent="0" algn="l" fontAlgn="base" latinLnBrk="1">
                        <a:lnSpc>
                          <a:spcPct val="130000"/>
                        </a:lnSpc>
                        <a:spcBef>
                          <a:spcPts val="0"/>
                        </a:spcBef>
                        <a:spcAft>
                          <a:spcPts val="0"/>
                        </a:spcAft>
                      </a:pPr>
                      <a:r>
                        <a:rPr lang="ko-KR" altLang="en-US" sz="1100" kern="1200" dirty="0"/>
                        <a:t>② 문제되는 경우 → 제</a:t>
                      </a:r>
                      <a:r>
                        <a:rPr lang="en-US" altLang="ko-KR" sz="1100" kern="1200" dirty="0"/>
                        <a:t>11</a:t>
                      </a:r>
                      <a:r>
                        <a:rPr lang="ko-KR" altLang="en-US" sz="1100" kern="1200" dirty="0"/>
                        <a:t>조 제</a:t>
                      </a:r>
                      <a:r>
                        <a:rPr lang="en-US" altLang="ko-KR" sz="1100" kern="1200" dirty="0"/>
                        <a:t>1</a:t>
                      </a:r>
                      <a:r>
                        <a:rPr lang="ko-KR" altLang="en-US" sz="1100" kern="1200" dirty="0"/>
                        <a:t>항 각호에 해당하는 경우 모두의 동의</a:t>
                      </a:r>
                    </a:p>
                    <a:p>
                      <a:pPr marL="31750" marR="31750" indent="0" algn="l" fontAlgn="base" latinLnBrk="1">
                        <a:lnSpc>
                          <a:spcPct val="130000"/>
                        </a:lnSpc>
                        <a:spcBef>
                          <a:spcPts val="0"/>
                        </a:spcBef>
                        <a:spcAft>
                          <a:spcPts val="0"/>
                        </a:spcAft>
                      </a:pPr>
                      <a:r>
                        <a:rPr lang="ko-KR" altLang="en-US" sz="1100" kern="1200" dirty="0"/>
                        <a:t>③ 대표자의 증명</a:t>
                      </a:r>
                      <a:r>
                        <a:rPr lang="en-US" altLang="ko-KR" sz="1100" kern="1200" dirty="0"/>
                        <a:t>(</a:t>
                      </a:r>
                      <a:r>
                        <a:rPr lang="ko-KR" altLang="en-US" sz="1100" kern="1200" dirty="0"/>
                        <a:t>法 </a:t>
                      </a:r>
                      <a:r>
                        <a:rPr lang="en-US" altLang="ko-KR" sz="1100" kern="1200" dirty="0"/>
                        <a:t>11</a:t>
                      </a:r>
                      <a:r>
                        <a:rPr lang="ko-KR" altLang="en-US" sz="1100" kern="1200" dirty="0"/>
                        <a:t>②</a:t>
                      </a:r>
                      <a:r>
                        <a:rPr lang="en-US" altLang="ko-KR" sz="1100" kern="1200" dirty="0"/>
                        <a:t>) </a:t>
                      </a:r>
                      <a:r>
                        <a:rPr lang="ko-KR" altLang="en-US" sz="1100" kern="1200" dirty="0"/>
                        <a:t>→ 서면으로 증명</a:t>
                      </a:r>
                      <a:endParaRPr lang="ko-KR" altLang="en-US" sz="1100" kern="1200" dirty="0">
                        <a:solidFill>
                          <a:schemeClr val="tx2"/>
                        </a:solidFill>
                        <a:latin typeface="+mn-lt"/>
                        <a:ea typeface="+mn-ea"/>
                        <a:cs typeface="+mn-cs"/>
                      </a:endParaRPr>
                    </a:p>
                  </a:txBody>
                  <a:tcPr marL="72000" marR="72000"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11490700"/>
                  </a:ext>
                </a:extLst>
              </a:tr>
            </a:tbl>
          </a:graphicData>
        </a:graphic>
      </p:graphicFrame>
      <p:sp>
        <p:nvSpPr>
          <p:cNvPr id="42" name="Rectangle 5"/>
          <p:cNvSpPr>
            <a:spLocks noChangeArrowheads="1"/>
          </p:cNvSpPr>
          <p:nvPr/>
        </p:nvSpPr>
        <p:spPr bwMode="auto">
          <a:xfrm>
            <a:off x="5977294" y="1254379"/>
            <a:ext cx="2274563"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a:solidFill>
                  <a:schemeClr val="bg1"/>
                </a:solidFill>
                <a:latin typeface="+mj-ea"/>
                <a:ea typeface="+mj-ea"/>
              </a:rPr>
              <a:t>복수 당사자 예시</a:t>
            </a:r>
          </a:p>
        </p:txBody>
      </p:sp>
      <p:sp>
        <p:nvSpPr>
          <p:cNvPr id="68" name="모서리가 둥근 직사각형 67"/>
          <p:cNvSpPr/>
          <p:nvPr/>
        </p:nvSpPr>
        <p:spPr>
          <a:xfrm>
            <a:off x="8310870" y="2684560"/>
            <a:ext cx="1159496" cy="345140"/>
          </a:xfrm>
          <a:prstGeom prst="roundRect">
            <a:avLst>
              <a:gd name="adj" fmla="val 0"/>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a:solidFill>
                  <a:schemeClr val="tx1">
                    <a:lumMod val="50000"/>
                    <a:lumOff val="50000"/>
                  </a:schemeClr>
                </a:solidFill>
              </a:rPr>
              <a:t>출원</a:t>
            </a:r>
            <a:endParaRPr lang="ko-KR" altLang="en-US" sz="1000" dirty="0">
              <a:solidFill>
                <a:schemeClr val="tx1">
                  <a:lumMod val="50000"/>
                  <a:lumOff val="50000"/>
                </a:schemeClr>
              </a:solidFill>
            </a:endParaRPr>
          </a:p>
        </p:txBody>
      </p:sp>
      <p:sp>
        <p:nvSpPr>
          <p:cNvPr id="69" name="모서리가 둥근 직사각형 68"/>
          <p:cNvSpPr/>
          <p:nvPr/>
        </p:nvSpPr>
        <p:spPr>
          <a:xfrm>
            <a:off x="8310870" y="3484311"/>
            <a:ext cx="1159496" cy="345140"/>
          </a:xfrm>
          <a:prstGeom prst="roundRect">
            <a:avLst>
              <a:gd name="adj" fmla="val 0"/>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a:solidFill>
                  <a:schemeClr val="tx1">
                    <a:lumMod val="50000"/>
                    <a:lumOff val="50000"/>
                  </a:schemeClr>
                </a:solidFill>
              </a:rPr>
              <a:t>심판청구</a:t>
            </a:r>
            <a:endParaRPr lang="ko-KR" altLang="en-US" sz="1000" dirty="0">
              <a:solidFill>
                <a:schemeClr val="tx1">
                  <a:lumMod val="50000"/>
                  <a:lumOff val="50000"/>
                </a:schemeClr>
              </a:solidFill>
            </a:endParaRPr>
          </a:p>
        </p:txBody>
      </p:sp>
      <p:sp>
        <p:nvSpPr>
          <p:cNvPr id="71" name="모서리가 둥근 직사각형 70"/>
          <p:cNvSpPr/>
          <p:nvPr/>
        </p:nvSpPr>
        <p:spPr>
          <a:xfrm>
            <a:off x="6760029" y="4563454"/>
            <a:ext cx="1159496" cy="633435"/>
          </a:xfrm>
          <a:prstGeom prst="roundRect">
            <a:avLst>
              <a:gd name="adj" fmla="val 0"/>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lumMod val="50000"/>
                    <a:lumOff val="50000"/>
                  </a:schemeClr>
                </a:solidFill>
              </a:rPr>
              <a:t>그 밖의</a:t>
            </a:r>
            <a:endParaRPr lang="en-US" altLang="ko-KR" sz="1400" dirty="0">
              <a:solidFill>
                <a:schemeClr val="tx1">
                  <a:lumMod val="50000"/>
                  <a:lumOff val="50000"/>
                </a:schemeClr>
              </a:solidFill>
            </a:endParaRPr>
          </a:p>
          <a:p>
            <a:pPr algn="ctr"/>
            <a:r>
              <a:rPr lang="ko-KR" altLang="en-US" sz="1400" dirty="0">
                <a:solidFill>
                  <a:schemeClr val="tx1">
                    <a:lumMod val="50000"/>
                    <a:lumOff val="50000"/>
                  </a:schemeClr>
                </a:solidFill>
              </a:rPr>
              <a:t>절차</a:t>
            </a:r>
            <a:endParaRPr lang="ko-KR" altLang="en-US" sz="1000" dirty="0">
              <a:solidFill>
                <a:schemeClr val="tx1">
                  <a:lumMod val="50000"/>
                  <a:lumOff val="50000"/>
                </a:schemeClr>
              </a:solidFill>
            </a:endParaRPr>
          </a:p>
        </p:txBody>
      </p:sp>
      <p:sp>
        <p:nvSpPr>
          <p:cNvPr id="73" name="모서리가 둥근 직사각형 72"/>
          <p:cNvSpPr/>
          <p:nvPr/>
        </p:nvSpPr>
        <p:spPr>
          <a:xfrm>
            <a:off x="8310870" y="4256414"/>
            <a:ext cx="1159496" cy="345140"/>
          </a:xfrm>
          <a:prstGeom prst="roundRect">
            <a:avLst>
              <a:gd name="adj" fmla="val 0"/>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lumMod val="50000"/>
                    <a:lumOff val="50000"/>
                  </a:schemeClr>
                </a:solidFill>
              </a:rPr>
              <a:t>대표자 </a:t>
            </a:r>
            <a:r>
              <a:rPr lang="ko-KR" altLang="en-US" sz="1400" dirty="0" err="1">
                <a:solidFill>
                  <a:schemeClr val="tx1">
                    <a:lumMod val="50000"/>
                    <a:lumOff val="50000"/>
                  </a:schemeClr>
                </a:solidFill>
              </a:rPr>
              <a:t>不선정</a:t>
            </a:r>
            <a:endParaRPr lang="ko-KR" altLang="en-US" sz="1000" dirty="0">
              <a:solidFill>
                <a:schemeClr val="tx1">
                  <a:lumMod val="50000"/>
                  <a:lumOff val="50000"/>
                </a:schemeClr>
              </a:solidFill>
            </a:endParaRPr>
          </a:p>
        </p:txBody>
      </p:sp>
      <p:sp>
        <p:nvSpPr>
          <p:cNvPr id="74" name="모서리가 둥근 직사각형 73"/>
          <p:cNvSpPr/>
          <p:nvPr/>
        </p:nvSpPr>
        <p:spPr>
          <a:xfrm>
            <a:off x="8310870" y="5217634"/>
            <a:ext cx="1159496" cy="422316"/>
          </a:xfrm>
          <a:prstGeom prst="roundRect">
            <a:avLst>
              <a:gd name="adj" fmla="val 0"/>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1">
                    <a:lumMod val="50000"/>
                    <a:lumOff val="50000"/>
                  </a:schemeClr>
                </a:solidFill>
              </a:rPr>
              <a:t>대표자 선정</a:t>
            </a:r>
            <a:endParaRPr lang="en-US" altLang="ko-KR" sz="1400" dirty="0">
              <a:solidFill>
                <a:schemeClr val="tx1">
                  <a:lumMod val="50000"/>
                  <a:lumOff val="50000"/>
                </a:schemeClr>
              </a:solidFill>
            </a:endParaRPr>
          </a:p>
          <a:p>
            <a:pPr algn="ctr"/>
            <a:r>
              <a:rPr lang="en-US" altLang="ko-KR" sz="1050" dirty="0">
                <a:solidFill>
                  <a:schemeClr val="tx1">
                    <a:lumMod val="50000"/>
                    <a:lumOff val="50000"/>
                  </a:schemeClr>
                </a:solidFill>
              </a:rPr>
              <a:t>(</a:t>
            </a:r>
            <a:r>
              <a:rPr lang="ko-KR" altLang="en-US" sz="1050" dirty="0">
                <a:solidFill>
                  <a:schemeClr val="tx1">
                    <a:lumMod val="50000"/>
                    <a:lumOff val="50000"/>
                  </a:schemeClr>
                </a:solidFill>
              </a:rPr>
              <a:t>甲 선정</a:t>
            </a:r>
            <a:r>
              <a:rPr lang="en-US" altLang="ko-KR" sz="1050" dirty="0">
                <a:solidFill>
                  <a:schemeClr val="tx1">
                    <a:lumMod val="50000"/>
                    <a:lumOff val="50000"/>
                  </a:schemeClr>
                </a:solidFill>
              </a:rPr>
              <a:t>)</a:t>
            </a:r>
            <a:endParaRPr lang="ko-KR" altLang="en-US" sz="700" dirty="0">
              <a:solidFill>
                <a:schemeClr val="tx1">
                  <a:lumMod val="50000"/>
                  <a:lumOff val="50000"/>
                </a:schemeClr>
              </a:solidFill>
            </a:endParaRPr>
          </a:p>
        </p:txBody>
      </p:sp>
      <p:sp>
        <p:nvSpPr>
          <p:cNvPr id="75" name="Rectangle 5"/>
          <p:cNvSpPr>
            <a:spLocks noChangeArrowheads="1"/>
          </p:cNvSpPr>
          <p:nvPr/>
        </p:nvSpPr>
        <p:spPr bwMode="auto">
          <a:xfrm>
            <a:off x="9614525" y="2693735"/>
            <a:ext cx="2042860" cy="348102"/>
          </a:xfrm>
          <a:prstGeom prst="rect">
            <a:avLst/>
          </a:prstGeom>
          <a:noFill/>
          <a:ln w="9525" algn="ctr">
            <a:noFill/>
            <a:miter lim="800000"/>
            <a:headEnd/>
            <a:tailEnd/>
          </a:ln>
        </p:spPr>
        <p:txBody>
          <a:bodyPr wrap="none" anchor="ctr"/>
          <a:lstStyle/>
          <a:p>
            <a:r>
              <a:rPr lang="en-US" altLang="ko-KR" sz="1400" b="0" dirty="0">
                <a:solidFill>
                  <a:schemeClr val="tx1"/>
                </a:solidFill>
                <a:latin typeface="+mj-ea"/>
                <a:ea typeface="+mj-ea"/>
              </a:rPr>
              <a:t>- </a:t>
            </a:r>
            <a:r>
              <a:rPr lang="ko-KR" altLang="en-US" sz="1400" b="0" dirty="0">
                <a:solidFill>
                  <a:schemeClr val="tx1"/>
                </a:solidFill>
                <a:latin typeface="+mj-ea"/>
                <a:ea typeface="+mj-ea"/>
              </a:rPr>
              <a:t>甲</a:t>
            </a:r>
            <a:r>
              <a:rPr lang="en-US" altLang="ko-KR" sz="1400" b="0" dirty="0">
                <a:solidFill>
                  <a:schemeClr val="tx1"/>
                </a:solidFill>
                <a:latin typeface="+mj-ea"/>
                <a:ea typeface="+mj-ea"/>
              </a:rPr>
              <a:t>, </a:t>
            </a:r>
            <a:r>
              <a:rPr lang="ko-KR" altLang="en-US" sz="1400" b="0" dirty="0">
                <a:solidFill>
                  <a:schemeClr val="tx1"/>
                </a:solidFill>
                <a:latin typeface="+mj-ea"/>
                <a:ea typeface="+mj-ea"/>
              </a:rPr>
              <a:t>乙</a:t>
            </a:r>
            <a:r>
              <a:rPr lang="en-US" altLang="ko-KR" sz="1400" b="0" dirty="0">
                <a:solidFill>
                  <a:schemeClr val="tx1"/>
                </a:solidFill>
                <a:latin typeface="+mj-ea"/>
                <a:ea typeface="+mj-ea"/>
              </a:rPr>
              <a:t>, </a:t>
            </a:r>
            <a:r>
              <a:rPr lang="ko-KR" altLang="en-US" sz="1400" b="0" dirty="0">
                <a:solidFill>
                  <a:schemeClr val="tx1"/>
                </a:solidFill>
                <a:latin typeface="+mj-ea"/>
                <a:ea typeface="+mj-ea"/>
              </a:rPr>
              <a:t>丙 전원</a:t>
            </a:r>
          </a:p>
        </p:txBody>
      </p:sp>
      <p:sp>
        <p:nvSpPr>
          <p:cNvPr id="85" name="Rectangle 5"/>
          <p:cNvSpPr>
            <a:spLocks noChangeArrowheads="1"/>
          </p:cNvSpPr>
          <p:nvPr/>
        </p:nvSpPr>
        <p:spPr bwMode="auto">
          <a:xfrm>
            <a:off x="9614525" y="3509711"/>
            <a:ext cx="2042860" cy="348102"/>
          </a:xfrm>
          <a:prstGeom prst="rect">
            <a:avLst/>
          </a:prstGeom>
          <a:noFill/>
          <a:ln w="9525" algn="ctr">
            <a:noFill/>
            <a:miter lim="800000"/>
            <a:headEnd/>
            <a:tailEnd/>
          </a:ln>
        </p:spPr>
        <p:txBody>
          <a:bodyPr wrap="none" anchor="ctr"/>
          <a:lstStyle/>
          <a:p>
            <a:r>
              <a:rPr lang="en-US" altLang="ko-KR" sz="1400" b="0" dirty="0">
                <a:solidFill>
                  <a:schemeClr val="tx1"/>
                </a:solidFill>
                <a:latin typeface="+mj-ea"/>
                <a:ea typeface="+mj-ea"/>
              </a:rPr>
              <a:t>- </a:t>
            </a:r>
            <a:r>
              <a:rPr lang="ko-KR" altLang="en-US" sz="1400" b="0" dirty="0">
                <a:solidFill>
                  <a:schemeClr val="tx1"/>
                </a:solidFill>
                <a:latin typeface="+mj-ea"/>
                <a:ea typeface="+mj-ea"/>
              </a:rPr>
              <a:t>甲</a:t>
            </a:r>
            <a:r>
              <a:rPr lang="en-US" altLang="ko-KR" sz="1400" b="0" dirty="0">
                <a:solidFill>
                  <a:schemeClr val="tx1"/>
                </a:solidFill>
                <a:latin typeface="+mj-ea"/>
                <a:ea typeface="+mj-ea"/>
              </a:rPr>
              <a:t>, </a:t>
            </a:r>
            <a:r>
              <a:rPr lang="ko-KR" altLang="en-US" sz="1400" b="0" dirty="0">
                <a:solidFill>
                  <a:schemeClr val="tx1"/>
                </a:solidFill>
                <a:latin typeface="+mj-ea"/>
                <a:ea typeface="+mj-ea"/>
              </a:rPr>
              <a:t>乙</a:t>
            </a:r>
            <a:r>
              <a:rPr lang="en-US" altLang="ko-KR" sz="1400" b="0" dirty="0">
                <a:solidFill>
                  <a:schemeClr val="tx1"/>
                </a:solidFill>
                <a:latin typeface="+mj-ea"/>
                <a:ea typeface="+mj-ea"/>
              </a:rPr>
              <a:t>, </a:t>
            </a:r>
            <a:r>
              <a:rPr lang="ko-KR" altLang="en-US" sz="1400" b="0" dirty="0">
                <a:solidFill>
                  <a:schemeClr val="tx1"/>
                </a:solidFill>
                <a:latin typeface="+mj-ea"/>
                <a:ea typeface="+mj-ea"/>
              </a:rPr>
              <a:t>丙 전원</a:t>
            </a:r>
            <a:endParaRPr lang="en-US" altLang="ko-KR" sz="1400" b="0" dirty="0">
              <a:solidFill>
                <a:schemeClr val="tx1"/>
              </a:solidFill>
              <a:latin typeface="+mj-ea"/>
              <a:ea typeface="+mj-ea"/>
            </a:endParaRPr>
          </a:p>
        </p:txBody>
      </p:sp>
      <p:sp>
        <p:nvSpPr>
          <p:cNvPr id="86" name="Rectangle 5"/>
          <p:cNvSpPr>
            <a:spLocks noChangeArrowheads="1"/>
          </p:cNvSpPr>
          <p:nvPr/>
        </p:nvSpPr>
        <p:spPr bwMode="auto">
          <a:xfrm>
            <a:off x="9614525" y="4421514"/>
            <a:ext cx="2042860" cy="508357"/>
          </a:xfrm>
          <a:prstGeom prst="rect">
            <a:avLst/>
          </a:prstGeom>
          <a:noFill/>
          <a:ln w="9525" algn="ctr">
            <a:noFill/>
            <a:miter lim="800000"/>
            <a:headEnd/>
            <a:tailEnd/>
          </a:ln>
        </p:spPr>
        <p:txBody>
          <a:bodyPr wrap="none" anchor="ctr"/>
          <a:lstStyle/>
          <a:p>
            <a:r>
              <a:rPr lang="en-US" altLang="ko-KR" sz="1400" b="0" dirty="0">
                <a:solidFill>
                  <a:schemeClr val="tx1"/>
                </a:solidFill>
                <a:latin typeface="+mj-ea"/>
                <a:ea typeface="+mj-ea"/>
              </a:rPr>
              <a:t>- </a:t>
            </a:r>
            <a:r>
              <a:rPr lang="ko-KR" altLang="en-US" sz="1400" b="0" dirty="0">
                <a:solidFill>
                  <a:schemeClr val="tx1"/>
                </a:solidFill>
                <a:latin typeface="+mj-ea"/>
                <a:ea typeface="+mj-ea"/>
              </a:rPr>
              <a:t>甲</a:t>
            </a:r>
            <a:r>
              <a:rPr lang="en-US" altLang="ko-KR" sz="1400" b="0" dirty="0">
                <a:solidFill>
                  <a:schemeClr val="tx1"/>
                </a:solidFill>
                <a:latin typeface="+mj-ea"/>
                <a:ea typeface="+mj-ea"/>
              </a:rPr>
              <a:t>, </a:t>
            </a:r>
            <a:r>
              <a:rPr lang="ko-KR" altLang="en-US" sz="1400" b="0" dirty="0">
                <a:solidFill>
                  <a:schemeClr val="tx1"/>
                </a:solidFill>
                <a:latin typeface="+mj-ea"/>
                <a:ea typeface="+mj-ea"/>
              </a:rPr>
              <a:t>乙</a:t>
            </a:r>
            <a:r>
              <a:rPr lang="en-US" altLang="ko-KR" sz="1400" b="0" dirty="0">
                <a:solidFill>
                  <a:schemeClr val="tx1"/>
                </a:solidFill>
                <a:latin typeface="+mj-ea"/>
                <a:ea typeface="+mj-ea"/>
              </a:rPr>
              <a:t>, </a:t>
            </a:r>
            <a:r>
              <a:rPr lang="ko-KR" altLang="en-US" sz="1400" b="0" dirty="0">
                <a:solidFill>
                  <a:schemeClr val="tx1"/>
                </a:solidFill>
                <a:latin typeface="+mj-ea"/>
                <a:ea typeface="+mj-ea"/>
              </a:rPr>
              <a:t>丙 각자 절차 수행</a:t>
            </a:r>
            <a:endParaRPr lang="en-US" altLang="ko-KR" sz="1400" b="0" dirty="0">
              <a:solidFill>
                <a:schemeClr val="tx1"/>
              </a:solidFill>
              <a:latin typeface="+mj-ea"/>
              <a:ea typeface="+mj-ea"/>
            </a:endParaRPr>
          </a:p>
          <a:p>
            <a:r>
              <a:rPr lang="en-US" altLang="ko-KR" sz="1400" dirty="0">
                <a:latin typeface="+mj-ea"/>
                <a:ea typeface="+mj-ea"/>
              </a:rPr>
              <a:t>- </a:t>
            </a:r>
            <a:r>
              <a:rPr lang="ko-KR" altLang="en-US" sz="1400" dirty="0">
                <a:latin typeface="+mj-ea"/>
                <a:ea typeface="+mj-ea"/>
              </a:rPr>
              <a:t>단</a:t>
            </a:r>
            <a:r>
              <a:rPr lang="en-US" altLang="ko-KR" sz="1400" dirty="0">
                <a:latin typeface="+mj-ea"/>
                <a:ea typeface="+mj-ea"/>
              </a:rPr>
              <a:t>, </a:t>
            </a:r>
            <a:r>
              <a:rPr lang="ko-KR" altLang="en-US" sz="1400" dirty="0">
                <a:latin typeface="+mj-ea"/>
                <a:ea typeface="+mj-ea"/>
              </a:rPr>
              <a:t>제</a:t>
            </a:r>
            <a:r>
              <a:rPr lang="en-US" altLang="ko-KR" sz="1400" dirty="0">
                <a:latin typeface="+mj-ea"/>
                <a:ea typeface="+mj-ea"/>
              </a:rPr>
              <a:t>11</a:t>
            </a:r>
            <a:r>
              <a:rPr lang="ko-KR" altLang="en-US" sz="1400" dirty="0">
                <a:latin typeface="+mj-ea"/>
                <a:ea typeface="+mj-ea"/>
              </a:rPr>
              <a:t>조제</a:t>
            </a:r>
            <a:r>
              <a:rPr lang="en-US" altLang="ko-KR" sz="1400" dirty="0">
                <a:latin typeface="+mj-ea"/>
                <a:ea typeface="+mj-ea"/>
              </a:rPr>
              <a:t>1</a:t>
            </a:r>
            <a:r>
              <a:rPr lang="ko-KR" altLang="en-US" sz="1400" dirty="0">
                <a:latin typeface="+mj-ea"/>
                <a:ea typeface="+mj-ea"/>
              </a:rPr>
              <a:t>항 각호는 </a:t>
            </a:r>
            <a:endParaRPr lang="en-US" altLang="ko-KR" sz="1400" dirty="0">
              <a:latin typeface="+mj-ea"/>
              <a:ea typeface="+mj-ea"/>
            </a:endParaRPr>
          </a:p>
          <a:p>
            <a:r>
              <a:rPr lang="ko-KR" altLang="en-US" sz="1400" dirty="0">
                <a:latin typeface="+mj-ea"/>
              </a:rPr>
              <a:t>   甲</a:t>
            </a:r>
            <a:r>
              <a:rPr lang="en-US" altLang="ko-KR" sz="1400" dirty="0">
                <a:latin typeface="+mj-ea"/>
              </a:rPr>
              <a:t>, </a:t>
            </a:r>
            <a:r>
              <a:rPr lang="ko-KR" altLang="en-US" sz="1400" dirty="0">
                <a:latin typeface="+mj-ea"/>
              </a:rPr>
              <a:t>乙</a:t>
            </a:r>
            <a:r>
              <a:rPr lang="en-US" altLang="ko-KR" sz="1400" dirty="0">
                <a:latin typeface="+mj-ea"/>
              </a:rPr>
              <a:t>, </a:t>
            </a:r>
            <a:r>
              <a:rPr lang="ko-KR" altLang="en-US" sz="1400" dirty="0">
                <a:latin typeface="+mj-ea"/>
              </a:rPr>
              <a:t>丙 전원 절차 수행</a:t>
            </a:r>
            <a:endParaRPr lang="en-US" altLang="ko-KR" sz="1400" dirty="0">
              <a:latin typeface="+mj-ea"/>
              <a:ea typeface="+mj-ea"/>
            </a:endParaRPr>
          </a:p>
          <a:p>
            <a:endParaRPr lang="ko-KR" altLang="en-US" sz="1400" b="0" dirty="0">
              <a:solidFill>
                <a:schemeClr val="tx1"/>
              </a:solidFill>
              <a:latin typeface="+mj-ea"/>
              <a:ea typeface="+mj-ea"/>
            </a:endParaRPr>
          </a:p>
        </p:txBody>
      </p:sp>
      <p:sp>
        <p:nvSpPr>
          <p:cNvPr id="88" name="Rectangle 5"/>
          <p:cNvSpPr>
            <a:spLocks noChangeArrowheads="1"/>
          </p:cNvSpPr>
          <p:nvPr/>
        </p:nvSpPr>
        <p:spPr bwMode="auto">
          <a:xfrm>
            <a:off x="9614525" y="5338187"/>
            <a:ext cx="2042860" cy="348102"/>
          </a:xfrm>
          <a:prstGeom prst="rect">
            <a:avLst/>
          </a:prstGeom>
          <a:noFill/>
          <a:ln w="9525" algn="ctr">
            <a:noFill/>
            <a:miter lim="800000"/>
            <a:headEnd/>
            <a:tailEnd/>
          </a:ln>
        </p:spPr>
        <p:txBody>
          <a:bodyPr wrap="none" anchor="ctr"/>
          <a:lstStyle/>
          <a:p>
            <a:r>
              <a:rPr lang="en-US" altLang="ko-KR" sz="1400" b="0" dirty="0">
                <a:solidFill>
                  <a:schemeClr val="tx1"/>
                </a:solidFill>
                <a:latin typeface="+mj-ea"/>
                <a:ea typeface="+mj-ea"/>
              </a:rPr>
              <a:t>- </a:t>
            </a:r>
            <a:r>
              <a:rPr lang="ko-KR" altLang="en-US" sz="1400" b="0" dirty="0">
                <a:solidFill>
                  <a:schemeClr val="tx1"/>
                </a:solidFill>
                <a:latin typeface="+mj-ea"/>
                <a:ea typeface="+mj-ea"/>
              </a:rPr>
              <a:t>甲</a:t>
            </a:r>
            <a:r>
              <a:rPr lang="ko-KR" altLang="en-US" sz="1400" dirty="0">
                <a:latin typeface="+mj-ea"/>
                <a:ea typeface="+mj-ea"/>
              </a:rPr>
              <a:t>만이 절차 수행</a:t>
            </a:r>
            <a:endParaRPr lang="en-US" altLang="ko-KR" sz="1400" dirty="0">
              <a:latin typeface="+mj-ea"/>
              <a:ea typeface="+mj-ea"/>
            </a:endParaRPr>
          </a:p>
          <a:p>
            <a:r>
              <a:rPr lang="en-US" altLang="ko-KR" sz="1400" b="0" dirty="0">
                <a:solidFill>
                  <a:schemeClr val="tx1"/>
                </a:solidFill>
                <a:latin typeface="+mj-ea"/>
                <a:ea typeface="+mj-ea"/>
              </a:rPr>
              <a:t>- </a:t>
            </a:r>
            <a:r>
              <a:rPr lang="ko-KR" altLang="en-US" sz="1400" b="0" dirty="0">
                <a:solidFill>
                  <a:schemeClr val="tx1"/>
                </a:solidFill>
                <a:latin typeface="+mj-ea"/>
                <a:ea typeface="+mj-ea"/>
              </a:rPr>
              <a:t>단</a:t>
            </a:r>
            <a:r>
              <a:rPr lang="en-US" altLang="ko-KR" sz="1400" b="0" dirty="0">
                <a:solidFill>
                  <a:schemeClr val="tx1"/>
                </a:solidFill>
                <a:latin typeface="+mj-ea"/>
                <a:ea typeface="+mj-ea"/>
              </a:rPr>
              <a:t>, </a:t>
            </a:r>
            <a:r>
              <a:rPr lang="ko-KR" altLang="en-US" sz="1400" b="0" dirty="0">
                <a:solidFill>
                  <a:schemeClr val="tx1"/>
                </a:solidFill>
                <a:latin typeface="+mj-ea"/>
                <a:ea typeface="+mj-ea"/>
              </a:rPr>
              <a:t>제</a:t>
            </a:r>
            <a:r>
              <a:rPr lang="en-US" altLang="ko-KR" sz="1400" b="0" dirty="0">
                <a:solidFill>
                  <a:schemeClr val="tx1"/>
                </a:solidFill>
                <a:latin typeface="+mj-ea"/>
                <a:ea typeface="+mj-ea"/>
              </a:rPr>
              <a:t>11</a:t>
            </a:r>
            <a:r>
              <a:rPr lang="ko-KR" altLang="en-US" sz="1400" b="0" dirty="0">
                <a:solidFill>
                  <a:schemeClr val="tx1"/>
                </a:solidFill>
                <a:latin typeface="+mj-ea"/>
                <a:ea typeface="+mj-ea"/>
              </a:rPr>
              <a:t>조제</a:t>
            </a:r>
            <a:r>
              <a:rPr lang="en-US" altLang="ko-KR" sz="1400" b="0" dirty="0">
                <a:solidFill>
                  <a:schemeClr val="tx1"/>
                </a:solidFill>
                <a:latin typeface="+mj-ea"/>
                <a:ea typeface="+mj-ea"/>
              </a:rPr>
              <a:t>1</a:t>
            </a:r>
            <a:r>
              <a:rPr lang="ko-KR" altLang="en-US" sz="1400" b="0" dirty="0">
                <a:solidFill>
                  <a:schemeClr val="tx1"/>
                </a:solidFill>
                <a:latin typeface="+mj-ea"/>
                <a:ea typeface="+mj-ea"/>
              </a:rPr>
              <a:t>항 각호는</a:t>
            </a:r>
            <a:endParaRPr lang="en-US" altLang="ko-KR" sz="1400" b="0" dirty="0">
              <a:solidFill>
                <a:schemeClr val="tx1"/>
              </a:solidFill>
              <a:latin typeface="+mj-ea"/>
              <a:ea typeface="+mj-ea"/>
            </a:endParaRPr>
          </a:p>
          <a:p>
            <a:r>
              <a:rPr lang="ko-KR" altLang="en-US" sz="1400" dirty="0">
                <a:latin typeface="+mj-ea"/>
                <a:ea typeface="+mj-ea"/>
              </a:rPr>
              <a:t>   乙</a:t>
            </a:r>
            <a:r>
              <a:rPr lang="en-US" altLang="ko-KR" sz="1400" dirty="0">
                <a:latin typeface="+mj-ea"/>
                <a:ea typeface="+mj-ea"/>
              </a:rPr>
              <a:t>, </a:t>
            </a:r>
            <a:r>
              <a:rPr lang="ko-KR" altLang="en-US" sz="1400" dirty="0">
                <a:latin typeface="+mj-ea"/>
                <a:ea typeface="+mj-ea"/>
              </a:rPr>
              <a:t>丙의 동의</a:t>
            </a:r>
            <a:endParaRPr lang="ko-KR" altLang="en-US" sz="1400" b="0" dirty="0">
              <a:solidFill>
                <a:schemeClr val="tx1"/>
              </a:solidFill>
              <a:latin typeface="+mj-ea"/>
              <a:ea typeface="+mj-ea"/>
            </a:endParaRPr>
          </a:p>
        </p:txBody>
      </p:sp>
      <p:cxnSp>
        <p:nvCxnSpPr>
          <p:cNvPr id="14" name="꺾인 연결선 13"/>
          <p:cNvCxnSpPr>
            <a:cxnSpLocks/>
            <a:stCxn id="5" idx="2"/>
            <a:endCxn id="44" idx="1"/>
          </p:cNvCxnSpPr>
          <p:nvPr/>
        </p:nvCxnSpPr>
        <p:spPr>
          <a:xfrm rot="16200000" flipH="1">
            <a:off x="6269433" y="2757744"/>
            <a:ext cx="866285" cy="114908"/>
          </a:xfrm>
          <a:prstGeom prst="bentConnector2">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꺾인 연결선 20"/>
          <p:cNvCxnSpPr>
            <a:cxnSpLocks/>
            <a:stCxn id="44" idx="3"/>
            <a:endCxn id="68" idx="1"/>
          </p:cNvCxnSpPr>
          <p:nvPr/>
        </p:nvCxnSpPr>
        <p:spPr>
          <a:xfrm flipV="1">
            <a:off x="7919525" y="2857130"/>
            <a:ext cx="391345" cy="39121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꺾인 연결선 27"/>
          <p:cNvCxnSpPr>
            <a:cxnSpLocks/>
            <a:stCxn id="44" idx="3"/>
            <a:endCxn id="69" idx="1"/>
          </p:cNvCxnSpPr>
          <p:nvPr/>
        </p:nvCxnSpPr>
        <p:spPr>
          <a:xfrm>
            <a:off x="7919525" y="3248341"/>
            <a:ext cx="391345" cy="408540"/>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꺾인 연결선 29"/>
          <p:cNvCxnSpPr>
            <a:cxnSpLocks/>
            <a:stCxn id="71" idx="3"/>
            <a:endCxn id="73" idx="1"/>
          </p:cNvCxnSpPr>
          <p:nvPr/>
        </p:nvCxnSpPr>
        <p:spPr>
          <a:xfrm flipV="1">
            <a:off x="7919525" y="4428984"/>
            <a:ext cx="391345" cy="451188"/>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2" name="꺾인 연결선 31"/>
          <p:cNvCxnSpPr>
            <a:cxnSpLocks/>
            <a:stCxn id="71" idx="3"/>
            <a:endCxn id="74" idx="1"/>
          </p:cNvCxnSpPr>
          <p:nvPr/>
        </p:nvCxnSpPr>
        <p:spPr>
          <a:xfrm>
            <a:off x="7919525" y="4880172"/>
            <a:ext cx="391345" cy="548620"/>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1" name="직선 연결선 90"/>
          <p:cNvCxnSpPr/>
          <p:nvPr/>
        </p:nvCxnSpPr>
        <p:spPr>
          <a:xfrm>
            <a:off x="5860078" y="1062288"/>
            <a:ext cx="0" cy="5598488"/>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 name="슬라이드 번호 개체 틀 5"/>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35</a:t>
            </a:fld>
            <a:endParaRPr lang="ko-KR" altLang="en-US"/>
          </a:p>
        </p:txBody>
      </p:sp>
      <p:sp>
        <p:nvSpPr>
          <p:cNvPr id="38" name="자유형: 도형 37">
            <a:extLst>
              <a:ext uri="{FF2B5EF4-FFF2-40B4-BE49-F238E27FC236}">
                <a16:creationId xmlns:a16="http://schemas.microsoft.com/office/drawing/2014/main" id="{574CE7E2-FC03-4BC0-8DED-9AD5A2108183}"/>
              </a:ext>
            </a:extLst>
          </p:cNvPr>
          <p:cNvSpPr/>
          <p:nvPr/>
        </p:nvSpPr>
        <p:spPr>
          <a:xfrm>
            <a:off x="6486525" y="2390775"/>
            <a:ext cx="273503" cy="2489397"/>
          </a:xfrm>
          <a:custGeom>
            <a:avLst/>
            <a:gdLst>
              <a:gd name="connsiteX0" fmla="*/ 419100 w 419100"/>
              <a:gd name="connsiteY0" fmla="*/ 3219450 h 3219450"/>
              <a:gd name="connsiteX1" fmla="*/ 0 w 419100"/>
              <a:gd name="connsiteY1" fmla="*/ 3219450 h 3219450"/>
              <a:gd name="connsiteX2" fmla="*/ 0 w 419100"/>
              <a:gd name="connsiteY2" fmla="*/ 0 h 3219450"/>
            </a:gdLst>
            <a:ahLst/>
            <a:cxnLst>
              <a:cxn ang="0">
                <a:pos x="connsiteX0" y="connsiteY0"/>
              </a:cxn>
              <a:cxn ang="0">
                <a:pos x="connsiteX1" y="connsiteY1"/>
              </a:cxn>
              <a:cxn ang="0">
                <a:pos x="connsiteX2" y="connsiteY2"/>
              </a:cxn>
            </a:cxnLst>
            <a:rect l="l" t="t" r="r" b="b"/>
            <a:pathLst>
              <a:path w="419100" h="3219450">
                <a:moveTo>
                  <a:pt x="419100" y="3219450"/>
                </a:moveTo>
                <a:lnTo>
                  <a:pt x="0" y="3219450"/>
                </a:lnTo>
                <a:lnTo>
                  <a:pt x="0" y="0"/>
                </a:lnTo>
              </a:path>
            </a:pathLst>
          </a:cu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114978347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14</a:t>
            </a:r>
            <a:r>
              <a:rPr lang="ko-KR" altLang="en-US" dirty="0"/>
              <a:t>조</a:t>
            </a:r>
          </a:p>
        </p:txBody>
      </p:sp>
      <p:sp>
        <p:nvSpPr>
          <p:cNvPr id="4" name="텍스트 개체 틀 3"/>
          <p:cNvSpPr>
            <a:spLocks noGrp="1"/>
          </p:cNvSpPr>
          <p:nvPr>
            <p:ph type="body" sz="quarter" idx="13"/>
          </p:nvPr>
        </p:nvSpPr>
        <p:spPr/>
        <p:txBody>
          <a:bodyPr/>
          <a:lstStyle/>
          <a:p>
            <a:r>
              <a:rPr lang="ko-KR" altLang="en-US" dirty="0"/>
              <a:t>기간의 계산</a:t>
            </a:r>
          </a:p>
        </p:txBody>
      </p:sp>
      <p:sp>
        <p:nvSpPr>
          <p:cNvPr id="17" name="TextBox 16"/>
          <p:cNvSpPr txBox="1"/>
          <p:nvPr/>
        </p:nvSpPr>
        <p:spPr>
          <a:xfrm>
            <a:off x="1848821" y="1468214"/>
            <a:ext cx="3721100" cy="513239"/>
          </a:xfrm>
          <a:prstGeom prst="rect">
            <a:avLst/>
          </a:prstGeom>
          <a:noFill/>
        </p:spPr>
        <p:txBody>
          <a:bodyPr wrap="none" rtlCol="0">
            <a:noAutofit/>
          </a:bodyPr>
          <a:lstStyle/>
          <a:p>
            <a:pPr marL="285750" indent="-285750">
              <a:buFont typeface="Wingdings" panose="05000000000000000000" pitchFamily="2" charset="2"/>
              <a:buChar char="§"/>
            </a:pPr>
            <a:r>
              <a:rPr lang="ko-KR" altLang="en-US" sz="1400" dirty="0"/>
              <a:t>문제의 사실관계에서 파악</a:t>
            </a:r>
          </a:p>
        </p:txBody>
      </p:sp>
      <p:sp>
        <p:nvSpPr>
          <p:cNvPr id="46" name="TextBox 45"/>
          <p:cNvSpPr txBox="1"/>
          <p:nvPr/>
        </p:nvSpPr>
        <p:spPr>
          <a:xfrm>
            <a:off x="1848821" y="2702986"/>
            <a:ext cx="3721100" cy="513239"/>
          </a:xfrm>
          <a:prstGeom prst="rect">
            <a:avLst/>
          </a:prstGeom>
          <a:noFill/>
        </p:spPr>
        <p:txBody>
          <a:bodyPr wrap="none" rtlCol="0">
            <a:noAutofit/>
          </a:bodyPr>
          <a:lstStyle/>
          <a:p>
            <a:pPr marL="285750" indent="-285750">
              <a:buFont typeface="Wingdings" panose="05000000000000000000" pitchFamily="2" charset="2"/>
              <a:buChar char="§"/>
            </a:pPr>
            <a:r>
              <a:rPr lang="ko-KR" altLang="en-US" sz="1400" dirty="0"/>
              <a:t>원칙</a:t>
            </a:r>
            <a:r>
              <a:rPr lang="en-US" altLang="ko-KR" sz="1400" dirty="0"/>
              <a:t>: </a:t>
            </a:r>
            <a:r>
              <a:rPr lang="ko-KR" altLang="en-US" sz="1400" dirty="0"/>
              <a:t>초일의 다음날 </a:t>
            </a:r>
            <a:r>
              <a:rPr lang="en-US" altLang="ko-KR" sz="1400" dirty="0"/>
              <a:t>= </a:t>
            </a:r>
            <a:r>
              <a:rPr lang="ko-KR" altLang="en-US" sz="1400" dirty="0"/>
              <a:t>기산일</a:t>
            </a:r>
            <a:endParaRPr lang="en-US" altLang="ko-KR" sz="1400" dirty="0"/>
          </a:p>
          <a:p>
            <a:pPr marL="285750" indent="-285750">
              <a:buFont typeface="Wingdings" panose="05000000000000000000" pitchFamily="2" charset="2"/>
              <a:buChar char="§"/>
            </a:pPr>
            <a:r>
              <a:rPr lang="ko-KR" altLang="en-US" sz="1400" dirty="0"/>
              <a:t>예외</a:t>
            </a:r>
            <a:r>
              <a:rPr lang="en-US" altLang="ko-KR" sz="1400" dirty="0"/>
              <a:t>: </a:t>
            </a:r>
            <a:r>
              <a:rPr lang="ko-KR" altLang="en-US" sz="1400" dirty="0"/>
              <a:t>오전 </a:t>
            </a:r>
            <a:r>
              <a:rPr lang="en-US" altLang="ko-KR" sz="1400" dirty="0"/>
              <a:t>0</a:t>
            </a:r>
            <a:r>
              <a:rPr lang="ko-KR" altLang="en-US" sz="1400" dirty="0"/>
              <a:t>시 시작의 경우 초일 </a:t>
            </a:r>
            <a:r>
              <a:rPr lang="en-US" altLang="ko-KR" sz="1400" dirty="0"/>
              <a:t>= </a:t>
            </a:r>
            <a:r>
              <a:rPr lang="ko-KR" altLang="en-US" sz="1400" dirty="0"/>
              <a:t>기산일</a:t>
            </a:r>
            <a:endParaRPr lang="en-US" altLang="ko-KR" sz="1400" dirty="0"/>
          </a:p>
          <a:p>
            <a:r>
              <a:rPr lang="en-US" altLang="ko-KR" sz="1200" dirty="0"/>
              <a:t>               (</a:t>
            </a:r>
            <a:r>
              <a:rPr lang="ko-KR" altLang="en-US" sz="1200" dirty="0"/>
              <a:t>기간의 연장</a:t>
            </a:r>
            <a:r>
              <a:rPr lang="en-US" altLang="ko-KR" sz="1200" dirty="0"/>
              <a:t>, </a:t>
            </a:r>
            <a:r>
              <a:rPr lang="ko-KR" altLang="en-US" sz="1200" dirty="0"/>
              <a:t>확정된 날 등</a:t>
            </a:r>
            <a:r>
              <a:rPr lang="en-US" altLang="ko-KR" sz="1200" dirty="0"/>
              <a:t>)</a:t>
            </a:r>
            <a:endParaRPr lang="ko-KR" altLang="en-US" sz="1200" dirty="0"/>
          </a:p>
        </p:txBody>
      </p:sp>
      <p:sp>
        <p:nvSpPr>
          <p:cNvPr id="47" name="TextBox 46"/>
          <p:cNvSpPr txBox="1"/>
          <p:nvPr/>
        </p:nvSpPr>
        <p:spPr>
          <a:xfrm>
            <a:off x="1848821" y="3943504"/>
            <a:ext cx="3721100" cy="513239"/>
          </a:xfrm>
          <a:prstGeom prst="rect">
            <a:avLst/>
          </a:prstGeom>
          <a:noFill/>
        </p:spPr>
        <p:txBody>
          <a:bodyPr wrap="none" rtlCol="0">
            <a:noAutofit/>
          </a:bodyPr>
          <a:lstStyle/>
          <a:p>
            <a:pPr marL="285750" indent="-285750">
              <a:buFont typeface="Wingdings" panose="05000000000000000000" pitchFamily="2" charset="2"/>
              <a:buChar char="§"/>
            </a:pPr>
            <a:r>
              <a:rPr lang="ko-KR" altLang="en-US" sz="1400" dirty="0"/>
              <a:t>일</a:t>
            </a:r>
            <a:r>
              <a:rPr lang="en-US" altLang="ko-KR" sz="1400" dirty="0"/>
              <a:t>, </a:t>
            </a:r>
            <a:r>
              <a:rPr lang="ko-KR" altLang="en-US" sz="1400" dirty="0"/>
              <a:t>주</a:t>
            </a:r>
            <a:r>
              <a:rPr lang="en-US" altLang="ko-KR" sz="1400" dirty="0"/>
              <a:t>: </a:t>
            </a:r>
            <a:r>
              <a:rPr lang="ko-KR" altLang="en-US" sz="1400" dirty="0"/>
              <a:t>자연적 계산방법</a:t>
            </a:r>
            <a:r>
              <a:rPr lang="en-US" altLang="ko-KR" sz="1400" dirty="0"/>
              <a:t>(</a:t>
            </a:r>
            <a:r>
              <a:rPr lang="ko-KR" altLang="en-US" sz="1400" dirty="0"/>
              <a:t>정확</a:t>
            </a:r>
            <a:r>
              <a:rPr lang="en-US" altLang="ko-KR" sz="1400" dirty="0"/>
              <a:t>+</a:t>
            </a:r>
            <a:r>
              <a:rPr lang="ko-KR" altLang="en-US" sz="1400" dirty="0"/>
              <a:t>불편</a:t>
            </a:r>
            <a:r>
              <a:rPr lang="en-US" altLang="ko-KR" sz="1400" dirty="0"/>
              <a:t>)</a:t>
            </a:r>
          </a:p>
          <a:p>
            <a:pPr marL="285750" indent="-285750">
              <a:buFont typeface="Wingdings" panose="05000000000000000000" pitchFamily="2" charset="2"/>
              <a:buChar char="§"/>
            </a:pPr>
            <a:r>
              <a:rPr lang="ko-KR" altLang="en-US" sz="1400" dirty="0"/>
              <a:t>월</a:t>
            </a:r>
            <a:r>
              <a:rPr lang="en-US" altLang="ko-KR" sz="1400" dirty="0"/>
              <a:t>, </a:t>
            </a:r>
            <a:r>
              <a:rPr lang="ko-KR" altLang="en-US" sz="1400" dirty="0"/>
              <a:t>년</a:t>
            </a:r>
            <a:r>
              <a:rPr lang="en-US" altLang="ko-KR" sz="1400" dirty="0"/>
              <a:t>: </a:t>
            </a:r>
            <a:r>
              <a:rPr lang="ko-KR" altLang="en-US" sz="1400" dirty="0" err="1"/>
              <a:t>역법적</a:t>
            </a:r>
            <a:r>
              <a:rPr lang="ko-KR" altLang="en-US" sz="1400" dirty="0"/>
              <a:t> 계산방법</a:t>
            </a:r>
            <a:r>
              <a:rPr lang="en-US" altLang="ko-KR" sz="1400" dirty="0"/>
              <a:t>(</a:t>
            </a:r>
            <a:r>
              <a:rPr lang="ko-KR" altLang="en-US" sz="1400" dirty="0"/>
              <a:t>부정확</a:t>
            </a:r>
            <a:r>
              <a:rPr lang="en-US" altLang="ko-KR" sz="1400" dirty="0"/>
              <a:t>+</a:t>
            </a:r>
            <a:r>
              <a:rPr lang="ko-KR" altLang="en-US" sz="1400" dirty="0"/>
              <a:t>편리</a:t>
            </a:r>
            <a:r>
              <a:rPr lang="en-US" altLang="ko-KR" sz="1400" dirty="0"/>
              <a:t>)</a:t>
            </a:r>
          </a:p>
          <a:p>
            <a:endParaRPr lang="ko-KR" altLang="en-US" sz="1200" dirty="0"/>
          </a:p>
        </p:txBody>
      </p:sp>
      <p:sp>
        <p:nvSpPr>
          <p:cNvPr id="48" name="TextBox 47"/>
          <p:cNvSpPr txBox="1"/>
          <p:nvPr/>
        </p:nvSpPr>
        <p:spPr>
          <a:xfrm>
            <a:off x="1848821" y="5172052"/>
            <a:ext cx="5257800" cy="1169551"/>
          </a:xfrm>
          <a:prstGeom prst="rect">
            <a:avLst/>
          </a:prstGeom>
          <a:noFill/>
        </p:spPr>
        <p:txBody>
          <a:bodyPr wrap="square" rtlCol="0">
            <a:noAutofit/>
          </a:bodyPr>
          <a:lstStyle/>
          <a:p>
            <a:pPr marL="285750" indent="-285750">
              <a:buFont typeface="Wingdings" panose="05000000000000000000" pitchFamily="2" charset="2"/>
              <a:buChar char="§"/>
            </a:pPr>
            <a:r>
              <a:rPr lang="ko-KR" altLang="en-US" sz="1400" dirty="0"/>
              <a:t>원칙</a:t>
            </a:r>
            <a:r>
              <a:rPr lang="en-US" altLang="ko-KR" sz="1400" dirty="0"/>
              <a:t>: </a:t>
            </a:r>
            <a:r>
              <a:rPr lang="ko-KR" altLang="en-US" sz="1400" dirty="0"/>
              <a:t>최후 월의 기산일 전일로 만료</a:t>
            </a:r>
            <a:endParaRPr lang="en-US" altLang="ko-KR" sz="1400" dirty="0"/>
          </a:p>
          <a:p>
            <a:pPr marL="285750" indent="-285750">
              <a:buFont typeface="Wingdings" panose="05000000000000000000" pitchFamily="2" charset="2"/>
              <a:buChar char="§"/>
            </a:pPr>
            <a:r>
              <a:rPr lang="ko-KR" altLang="en-US" sz="1400" dirty="0"/>
              <a:t>예외</a:t>
            </a:r>
            <a:endParaRPr lang="en-US" altLang="ko-KR" sz="1400" dirty="0"/>
          </a:p>
          <a:p>
            <a:r>
              <a:rPr lang="en-US" altLang="ko-KR" sz="1400" dirty="0"/>
              <a:t>   - </a:t>
            </a:r>
            <a:r>
              <a:rPr lang="ko-KR" altLang="en-US" sz="1400" dirty="0"/>
              <a:t>해당일이 없는 경우</a:t>
            </a:r>
            <a:r>
              <a:rPr lang="en-US" altLang="ko-KR" sz="1400" dirty="0"/>
              <a:t>: </a:t>
            </a:r>
            <a:r>
              <a:rPr lang="ko-KR" altLang="en-US" sz="1400" dirty="0"/>
              <a:t>그 월의 마지막 날로 만료</a:t>
            </a:r>
            <a:endParaRPr lang="en-US" altLang="ko-KR" sz="1400" dirty="0"/>
          </a:p>
          <a:p>
            <a:r>
              <a:rPr lang="en-US" altLang="ko-KR" sz="1400" dirty="0"/>
              <a:t>   - </a:t>
            </a:r>
            <a:r>
              <a:rPr lang="ko-KR" altLang="en-US" sz="1400" dirty="0"/>
              <a:t>해당일이 공휴일</a:t>
            </a:r>
            <a:r>
              <a:rPr lang="en-US" altLang="ko-KR" sz="1400" dirty="0"/>
              <a:t>(</a:t>
            </a:r>
            <a:r>
              <a:rPr lang="ko-KR" altLang="en-US" sz="1400" dirty="0"/>
              <a:t>노동절</a:t>
            </a:r>
            <a:r>
              <a:rPr lang="en-US" altLang="ko-KR" sz="1400" dirty="0"/>
              <a:t>, </a:t>
            </a:r>
            <a:r>
              <a:rPr lang="ko-KR" altLang="en-US" sz="1400" dirty="0"/>
              <a:t>토요일 포함</a:t>
            </a:r>
            <a:r>
              <a:rPr lang="en-US" altLang="ko-KR" sz="1400" dirty="0"/>
              <a:t>)</a:t>
            </a:r>
            <a:r>
              <a:rPr lang="ko-KR" altLang="en-US" sz="1400" dirty="0"/>
              <a:t>인 경우</a:t>
            </a:r>
            <a:r>
              <a:rPr lang="en-US" altLang="ko-KR" sz="1400" dirty="0"/>
              <a:t>: </a:t>
            </a:r>
            <a:r>
              <a:rPr lang="ko-KR" altLang="en-US" sz="1400" dirty="0"/>
              <a:t>다음날로 만료</a:t>
            </a:r>
            <a:endParaRPr lang="en-US" altLang="ko-KR" sz="1400" dirty="0"/>
          </a:p>
          <a:p>
            <a:r>
              <a:rPr lang="en-US" altLang="ko-KR" sz="1400" dirty="0"/>
              <a:t>     </a:t>
            </a:r>
            <a:r>
              <a:rPr lang="en-US" altLang="ko-KR" sz="1100" dirty="0"/>
              <a:t>(</a:t>
            </a:r>
            <a:r>
              <a:rPr lang="ko-KR" altLang="en-US" sz="1100" dirty="0"/>
              <a:t>다만</a:t>
            </a:r>
            <a:r>
              <a:rPr lang="en-US" altLang="ko-KR" sz="1100" dirty="0"/>
              <a:t>, </a:t>
            </a:r>
            <a:r>
              <a:rPr lang="ko-KR" altLang="en-US" sz="1100" dirty="0"/>
              <a:t>당사자가 밟아야 하는 특허에 관한 절차</a:t>
            </a:r>
            <a:r>
              <a:rPr lang="en-US" altLang="ko-KR" sz="1100" dirty="0"/>
              <a:t>(</a:t>
            </a:r>
            <a:r>
              <a:rPr lang="ko-KR" altLang="en-US" sz="1100" dirty="0"/>
              <a:t>지식재산처 절차에 한함</a:t>
            </a:r>
            <a:r>
              <a:rPr lang="en-US" altLang="ko-KR" sz="1100" dirty="0"/>
              <a:t>)</a:t>
            </a:r>
            <a:r>
              <a:rPr lang="ko-KR" altLang="en-US" sz="1100" dirty="0"/>
              <a:t>에 한함</a:t>
            </a:r>
            <a:r>
              <a:rPr lang="en-US" altLang="ko-KR" sz="1100" dirty="0"/>
              <a:t>)</a:t>
            </a:r>
            <a:endParaRPr lang="ko-KR" altLang="en-US" sz="1200" dirty="0"/>
          </a:p>
        </p:txBody>
      </p:sp>
      <p:cxnSp>
        <p:nvCxnSpPr>
          <p:cNvPr id="49" name="직선 연결선 48"/>
          <p:cNvCxnSpPr/>
          <p:nvPr/>
        </p:nvCxnSpPr>
        <p:spPr>
          <a:xfrm>
            <a:off x="7041178" y="1062288"/>
            <a:ext cx="0" cy="5598488"/>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9" name="직사각형 18"/>
          <p:cNvSpPr/>
          <p:nvPr/>
        </p:nvSpPr>
        <p:spPr>
          <a:xfrm>
            <a:off x="7162800" y="1054100"/>
            <a:ext cx="4800600" cy="596900"/>
          </a:xfrm>
          <a:prstGeom prst="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bg1">
                    <a:lumMod val="50000"/>
                  </a:schemeClr>
                </a:solidFill>
              </a:rPr>
              <a:t>2017</a:t>
            </a:r>
            <a:r>
              <a:rPr lang="ko-KR" altLang="en-US" sz="1600" dirty="0">
                <a:solidFill>
                  <a:schemeClr val="bg1">
                    <a:lumMod val="50000"/>
                  </a:schemeClr>
                </a:solidFill>
              </a:rPr>
              <a:t>년 </a:t>
            </a:r>
            <a:r>
              <a:rPr lang="en-US" altLang="ko-KR" sz="1600" dirty="0">
                <a:solidFill>
                  <a:schemeClr val="bg1">
                    <a:lumMod val="50000"/>
                  </a:schemeClr>
                </a:solidFill>
              </a:rPr>
              <a:t>2</a:t>
            </a:r>
            <a:r>
              <a:rPr lang="ko-KR" altLang="en-US" sz="1600" dirty="0">
                <a:solidFill>
                  <a:schemeClr val="bg1">
                    <a:lumMod val="50000"/>
                  </a:schemeClr>
                </a:solidFill>
              </a:rPr>
              <a:t>월 </a:t>
            </a:r>
            <a:r>
              <a:rPr lang="en-US" altLang="ko-KR" sz="1600" dirty="0">
                <a:solidFill>
                  <a:schemeClr val="bg1">
                    <a:lumMod val="50000"/>
                  </a:schemeClr>
                </a:solidFill>
              </a:rPr>
              <a:t>20</a:t>
            </a:r>
            <a:r>
              <a:rPr lang="ko-KR" altLang="en-US" sz="1600" dirty="0">
                <a:solidFill>
                  <a:schemeClr val="bg1">
                    <a:lumMod val="50000"/>
                  </a:schemeClr>
                </a:solidFill>
              </a:rPr>
              <a:t>일부터 </a:t>
            </a:r>
            <a:r>
              <a:rPr lang="en-US" altLang="ko-KR" sz="1600" dirty="0">
                <a:solidFill>
                  <a:schemeClr val="bg1">
                    <a:lumMod val="50000"/>
                  </a:schemeClr>
                </a:solidFill>
              </a:rPr>
              <a:t>1</a:t>
            </a:r>
            <a:r>
              <a:rPr lang="ko-KR" altLang="en-US" sz="1600" dirty="0">
                <a:solidFill>
                  <a:schemeClr val="bg1">
                    <a:lumMod val="50000"/>
                  </a:schemeClr>
                </a:solidFill>
              </a:rPr>
              <a:t>개월과 </a:t>
            </a:r>
            <a:r>
              <a:rPr lang="en-US" altLang="ko-KR" sz="1600" dirty="0">
                <a:solidFill>
                  <a:schemeClr val="bg1">
                    <a:lumMod val="50000"/>
                  </a:schemeClr>
                </a:solidFill>
              </a:rPr>
              <a:t>30</a:t>
            </a:r>
            <a:r>
              <a:rPr lang="ko-KR" altLang="en-US" sz="1600" dirty="0">
                <a:solidFill>
                  <a:schemeClr val="bg1">
                    <a:lumMod val="50000"/>
                  </a:schemeClr>
                </a:solidFill>
              </a:rPr>
              <a:t>일의 만료일은</a:t>
            </a:r>
            <a:r>
              <a:rPr lang="en-US" altLang="ko-KR" sz="1600" dirty="0">
                <a:solidFill>
                  <a:schemeClr val="bg1">
                    <a:lumMod val="50000"/>
                  </a:schemeClr>
                </a:solidFill>
              </a:rPr>
              <a:t>?</a:t>
            </a:r>
          </a:p>
          <a:p>
            <a:r>
              <a:rPr lang="en-US" altLang="ko-KR" sz="1400" dirty="0">
                <a:solidFill>
                  <a:schemeClr val="bg1">
                    <a:lumMod val="50000"/>
                  </a:schemeClr>
                </a:solidFill>
              </a:rPr>
              <a:t>(</a:t>
            </a:r>
            <a:r>
              <a:rPr lang="ko-KR" altLang="en-US" sz="1400" dirty="0">
                <a:solidFill>
                  <a:schemeClr val="bg1">
                    <a:lumMod val="50000"/>
                  </a:schemeClr>
                </a:solidFill>
              </a:rPr>
              <a:t>단</a:t>
            </a:r>
            <a:r>
              <a:rPr lang="en-US" altLang="ko-KR" sz="1400" dirty="0">
                <a:solidFill>
                  <a:schemeClr val="bg1">
                    <a:lumMod val="50000"/>
                  </a:schemeClr>
                </a:solidFill>
              </a:rPr>
              <a:t>, </a:t>
            </a:r>
            <a:r>
              <a:rPr lang="ko-KR" altLang="en-US" sz="1400" dirty="0">
                <a:solidFill>
                  <a:schemeClr val="bg1">
                    <a:lumMod val="50000"/>
                  </a:schemeClr>
                </a:solidFill>
              </a:rPr>
              <a:t>오전 </a:t>
            </a:r>
            <a:r>
              <a:rPr lang="en-US" altLang="ko-KR" sz="1400" dirty="0">
                <a:solidFill>
                  <a:schemeClr val="bg1">
                    <a:lumMod val="50000"/>
                  </a:schemeClr>
                </a:solidFill>
              </a:rPr>
              <a:t>0</a:t>
            </a:r>
            <a:r>
              <a:rPr lang="ko-KR" altLang="en-US" sz="1400" dirty="0">
                <a:solidFill>
                  <a:schemeClr val="bg1">
                    <a:lumMod val="50000"/>
                  </a:schemeClr>
                </a:solidFill>
              </a:rPr>
              <a:t>시부터 시작하지 않음</a:t>
            </a:r>
            <a:r>
              <a:rPr lang="en-US" altLang="ko-KR" sz="1400" dirty="0">
                <a:solidFill>
                  <a:schemeClr val="bg1">
                    <a:lumMod val="50000"/>
                  </a:schemeClr>
                </a:solidFill>
              </a:rPr>
              <a:t>)</a:t>
            </a:r>
            <a:endParaRPr lang="ko-KR" altLang="en-US" sz="1600" dirty="0">
              <a:solidFill>
                <a:schemeClr val="bg1">
                  <a:lumMod val="50000"/>
                </a:schemeClr>
              </a:solidFill>
            </a:endParaRPr>
          </a:p>
        </p:txBody>
      </p:sp>
      <p:sp>
        <p:nvSpPr>
          <p:cNvPr id="7" name="직사각형 6"/>
          <p:cNvSpPr/>
          <p:nvPr/>
        </p:nvSpPr>
        <p:spPr>
          <a:xfrm>
            <a:off x="389119" y="1861914"/>
            <a:ext cx="1376182" cy="513239"/>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2">
                    <a:lumMod val="10000"/>
                  </a:schemeClr>
                </a:solidFill>
              </a:rPr>
              <a:t>초일 결정</a:t>
            </a:r>
          </a:p>
        </p:txBody>
      </p:sp>
      <p:sp>
        <p:nvSpPr>
          <p:cNvPr id="36" name="직사각형 35"/>
          <p:cNvSpPr/>
          <p:nvPr/>
        </p:nvSpPr>
        <p:spPr>
          <a:xfrm>
            <a:off x="389117" y="1468214"/>
            <a:ext cx="1376183" cy="388205"/>
          </a:xfrm>
          <a:prstGeom prst="rect">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rPr>
              <a:t>제</a:t>
            </a:r>
            <a:r>
              <a:rPr lang="en-US" altLang="ko-KR" sz="1400" dirty="0">
                <a:solidFill>
                  <a:schemeClr val="bg1"/>
                </a:solidFill>
              </a:rPr>
              <a:t>1</a:t>
            </a:r>
            <a:r>
              <a:rPr lang="ko-KR" altLang="en-US" sz="1400" dirty="0">
                <a:solidFill>
                  <a:schemeClr val="bg1"/>
                </a:solidFill>
              </a:rPr>
              <a:t>단계</a:t>
            </a:r>
          </a:p>
        </p:txBody>
      </p:sp>
      <p:sp>
        <p:nvSpPr>
          <p:cNvPr id="51" name="직사각형 50"/>
          <p:cNvSpPr/>
          <p:nvPr/>
        </p:nvSpPr>
        <p:spPr>
          <a:xfrm>
            <a:off x="389119" y="3104400"/>
            <a:ext cx="1376182" cy="513239"/>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2">
                    <a:lumMod val="10000"/>
                  </a:schemeClr>
                </a:solidFill>
              </a:rPr>
              <a:t>기산일 결정</a:t>
            </a:r>
          </a:p>
        </p:txBody>
      </p:sp>
      <p:sp>
        <p:nvSpPr>
          <p:cNvPr id="52" name="직사각형 51"/>
          <p:cNvSpPr/>
          <p:nvPr/>
        </p:nvSpPr>
        <p:spPr>
          <a:xfrm>
            <a:off x="389117" y="2710700"/>
            <a:ext cx="1376183" cy="388205"/>
          </a:xfrm>
          <a:prstGeom prst="rect">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rPr>
              <a:t>제</a:t>
            </a:r>
            <a:r>
              <a:rPr lang="en-US" altLang="ko-KR" sz="1400" dirty="0">
                <a:solidFill>
                  <a:schemeClr val="bg1"/>
                </a:solidFill>
              </a:rPr>
              <a:t>2</a:t>
            </a:r>
            <a:r>
              <a:rPr lang="ko-KR" altLang="en-US" sz="1400" dirty="0">
                <a:solidFill>
                  <a:schemeClr val="bg1"/>
                </a:solidFill>
              </a:rPr>
              <a:t>단계</a:t>
            </a:r>
          </a:p>
        </p:txBody>
      </p:sp>
      <p:sp>
        <p:nvSpPr>
          <p:cNvPr id="54" name="직사각형 53"/>
          <p:cNvSpPr/>
          <p:nvPr/>
        </p:nvSpPr>
        <p:spPr>
          <a:xfrm>
            <a:off x="389119" y="4336955"/>
            <a:ext cx="1376182" cy="513239"/>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2">
                    <a:lumMod val="10000"/>
                  </a:schemeClr>
                </a:solidFill>
              </a:rPr>
              <a:t>계산방법 결정</a:t>
            </a:r>
          </a:p>
        </p:txBody>
      </p:sp>
      <p:sp>
        <p:nvSpPr>
          <p:cNvPr id="55" name="직사각형 54"/>
          <p:cNvSpPr/>
          <p:nvPr/>
        </p:nvSpPr>
        <p:spPr>
          <a:xfrm>
            <a:off x="389117" y="3943255"/>
            <a:ext cx="1376183" cy="388205"/>
          </a:xfrm>
          <a:prstGeom prst="rect">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rPr>
              <a:t>제</a:t>
            </a:r>
            <a:r>
              <a:rPr lang="en-US" altLang="ko-KR" sz="1400" dirty="0">
                <a:solidFill>
                  <a:schemeClr val="bg1"/>
                </a:solidFill>
              </a:rPr>
              <a:t>3</a:t>
            </a:r>
            <a:r>
              <a:rPr lang="ko-KR" altLang="en-US" sz="1400" dirty="0">
                <a:solidFill>
                  <a:schemeClr val="bg1"/>
                </a:solidFill>
              </a:rPr>
              <a:t>단계</a:t>
            </a:r>
          </a:p>
        </p:txBody>
      </p:sp>
      <p:sp>
        <p:nvSpPr>
          <p:cNvPr id="56" name="직사각형 55"/>
          <p:cNvSpPr/>
          <p:nvPr/>
        </p:nvSpPr>
        <p:spPr>
          <a:xfrm>
            <a:off x="389119" y="5565752"/>
            <a:ext cx="1376182" cy="513239"/>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2">
                    <a:lumMod val="10000"/>
                  </a:schemeClr>
                </a:solidFill>
              </a:rPr>
              <a:t>만료일 결정</a:t>
            </a:r>
          </a:p>
        </p:txBody>
      </p:sp>
      <p:sp>
        <p:nvSpPr>
          <p:cNvPr id="57" name="직사각형 56"/>
          <p:cNvSpPr/>
          <p:nvPr/>
        </p:nvSpPr>
        <p:spPr>
          <a:xfrm>
            <a:off x="389117" y="5172052"/>
            <a:ext cx="1376183" cy="388205"/>
          </a:xfrm>
          <a:prstGeom prst="rect">
            <a:avLst/>
          </a:prstGeom>
          <a:solidFill>
            <a:schemeClr val="accent1">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rPr>
              <a:t>제</a:t>
            </a:r>
            <a:r>
              <a:rPr lang="en-US" altLang="ko-KR" sz="1400" dirty="0">
                <a:solidFill>
                  <a:schemeClr val="bg1"/>
                </a:solidFill>
              </a:rPr>
              <a:t>4</a:t>
            </a:r>
            <a:r>
              <a:rPr lang="ko-KR" altLang="en-US" sz="1400" dirty="0">
                <a:solidFill>
                  <a:schemeClr val="bg1"/>
                </a:solidFill>
              </a:rPr>
              <a:t>단계</a:t>
            </a:r>
          </a:p>
        </p:txBody>
      </p:sp>
      <p:cxnSp>
        <p:nvCxnSpPr>
          <p:cNvPr id="23" name="직선 화살표 연결선 22"/>
          <p:cNvCxnSpPr>
            <a:stCxn id="7" idx="2"/>
            <a:endCxn id="52" idx="0"/>
          </p:cNvCxnSpPr>
          <p:nvPr/>
        </p:nvCxnSpPr>
        <p:spPr>
          <a:xfrm flipH="1">
            <a:off x="1077209" y="2375153"/>
            <a:ext cx="1" cy="335547"/>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5" name="직선 화살표 연결선 24"/>
          <p:cNvCxnSpPr>
            <a:stCxn id="51" idx="2"/>
            <a:endCxn id="55" idx="0"/>
          </p:cNvCxnSpPr>
          <p:nvPr/>
        </p:nvCxnSpPr>
        <p:spPr>
          <a:xfrm flipH="1">
            <a:off x="1077209" y="3617639"/>
            <a:ext cx="1" cy="325616"/>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p:cNvCxnSpPr>
            <a:stCxn id="54" idx="2"/>
            <a:endCxn id="57" idx="0"/>
          </p:cNvCxnSpPr>
          <p:nvPr/>
        </p:nvCxnSpPr>
        <p:spPr>
          <a:xfrm flipH="1">
            <a:off x="1077209" y="4850194"/>
            <a:ext cx="1" cy="321858"/>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aphicFrame>
        <p:nvGraphicFramePr>
          <p:cNvPr id="29" name="표 28"/>
          <p:cNvGraphicFramePr>
            <a:graphicFrameLocks noGrp="1"/>
          </p:cNvGraphicFramePr>
          <p:nvPr>
            <p:extLst>
              <p:ext uri="{D42A27DB-BD31-4B8C-83A1-F6EECF244321}">
                <p14:modId xmlns:p14="http://schemas.microsoft.com/office/powerpoint/2010/main" val="1946607946"/>
              </p:ext>
            </p:extLst>
          </p:nvPr>
        </p:nvGraphicFramePr>
        <p:xfrm>
          <a:off x="7162801" y="1727453"/>
          <a:ext cx="4800600" cy="2286000"/>
        </p:xfrm>
        <a:graphic>
          <a:graphicData uri="http://schemas.openxmlformats.org/drawingml/2006/table">
            <a:tbl>
              <a:tblPr firstRow="1">
                <a:tableStyleId>{8799B23B-EC83-4686-B30A-512413B5E67A}</a:tableStyleId>
              </a:tblPr>
              <a:tblGrid>
                <a:gridCol w="850899">
                  <a:extLst>
                    <a:ext uri="{9D8B030D-6E8A-4147-A177-3AD203B41FA5}">
                      <a16:colId xmlns:a16="http://schemas.microsoft.com/office/drawing/2014/main" val="3043904856"/>
                    </a:ext>
                  </a:extLst>
                </a:gridCol>
                <a:gridCol w="1384300">
                  <a:extLst>
                    <a:ext uri="{9D8B030D-6E8A-4147-A177-3AD203B41FA5}">
                      <a16:colId xmlns:a16="http://schemas.microsoft.com/office/drawing/2014/main" val="2619867057"/>
                    </a:ext>
                  </a:extLst>
                </a:gridCol>
                <a:gridCol w="2565401">
                  <a:extLst>
                    <a:ext uri="{9D8B030D-6E8A-4147-A177-3AD203B41FA5}">
                      <a16:colId xmlns:a16="http://schemas.microsoft.com/office/drawing/2014/main" val="1695306667"/>
                    </a:ext>
                  </a:extLst>
                </a:gridCol>
              </a:tblGrid>
              <a:tr h="175605">
                <a:tc>
                  <a:txBody>
                    <a:bodyPr/>
                    <a:lstStyle/>
                    <a:p>
                      <a:pPr latinLnBrk="1"/>
                      <a:endParaRPr lang="ko-KR" altLang="en-US" sz="1200" dirty="0"/>
                    </a:p>
                  </a:txBody>
                  <a:tcPr>
                    <a:solidFill>
                      <a:schemeClr val="accent1">
                        <a:lumMod val="20000"/>
                        <a:lumOff val="80000"/>
                      </a:schemeClr>
                    </a:solidFill>
                  </a:tcPr>
                </a:tc>
                <a:tc>
                  <a:txBody>
                    <a:bodyPr/>
                    <a:lstStyle/>
                    <a:p>
                      <a:pPr latinLnBrk="1"/>
                      <a:r>
                        <a:rPr lang="en-US" altLang="ko-KR" sz="1200" dirty="0"/>
                        <a:t>1</a:t>
                      </a:r>
                      <a:r>
                        <a:rPr lang="ko-KR" altLang="en-US" sz="1200" dirty="0"/>
                        <a:t>개월</a:t>
                      </a:r>
                    </a:p>
                  </a:txBody>
                  <a:tcPr>
                    <a:solidFill>
                      <a:schemeClr val="accent1">
                        <a:lumMod val="20000"/>
                        <a:lumOff val="80000"/>
                      </a:schemeClr>
                    </a:solidFill>
                  </a:tcPr>
                </a:tc>
                <a:tc>
                  <a:txBody>
                    <a:bodyPr/>
                    <a:lstStyle/>
                    <a:p>
                      <a:pPr latinLnBrk="1"/>
                      <a:r>
                        <a:rPr lang="en-US" altLang="ko-KR" sz="1200" dirty="0"/>
                        <a:t>30</a:t>
                      </a:r>
                      <a:r>
                        <a:rPr lang="ko-KR" altLang="en-US" sz="1200" dirty="0"/>
                        <a:t>일</a:t>
                      </a:r>
                    </a:p>
                  </a:txBody>
                  <a:tcPr>
                    <a:solidFill>
                      <a:schemeClr val="accent1">
                        <a:lumMod val="20000"/>
                        <a:lumOff val="80000"/>
                      </a:schemeClr>
                    </a:solidFill>
                  </a:tcPr>
                </a:tc>
                <a:extLst>
                  <a:ext uri="{0D108BD9-81ED-4DB2-BD59-A6C34878D82A}">
                    <a16:rowId xmlns:a16="http://schemas.microsoft.com/office/drawing/2014/main" val="348299254"/>
                  </a:ext>
                </a:extLst>
              </a:tr>
              <a:tr h="175605">
                <a:tc>
                  <a:txBody>
                    <a:bodyPr/>
                    <a:lstStyle/>
                    <a:p>
                      <a:pPr latinLnBrk="1"/>
                      <a:r>
                        <a:rPr lang="ko-KR" altLang="en-US" sz="1200" dirty="0"/>
                        <a:t>초일</a:t>
                      </a:r>
                    </a:p>
                  </a:txBody>
                  <a:tcPr/>
                </a:tc>
                <a:tc>
                  <a:txBody>
                    <a:bodyPr/>
                    <a:lstStyle/>
                    <a:p>
                      <a:pPr latinLnBrk="1"/>
                      <a:r>
                        <a:rPr lang="en-US" altLang="ko-KR" sz="1200" dirty="0"/>
                        <a:t>2.20</a:t>
                      </a:r>
                      <a:endParaRPr lang="ko-KR" altLang="en-US" sz="1200" dirty="0"/>
                    </a:p>
                  </a:txBody>
                  <a:tcPr/>
                </a:tc>
                <a:tc>
                  <a:txBody>
                    <a:bodyPr/>
                    <a:lstStyle/>
                    <a:p>
                      <a:pPr latinLnBrk="1"/>
                      <a:r>
                        <a:rPr lang="en-US" altLang="ko-KR" sz="1200" dirty="0"/>
                        <a:t>2.20</a:t>
                      </a:r>
                      <a:endParaRPr lang="ko-KR" altLang="en-US" sz="1200" dirty="0"/>
                    </a:p>
                  </a:txBody>
                  <a:tcPr/>
                </a:tc>
                <a:extLst>
                  <a:ext uri="{0D108BD9-81ED-4DB2-BD59-A6C34878D82A}">
                    <a16:rowId xmlns:a16="http://schemas.microsoft.com/office/drawing/2014/main" val="2112609003"/>
                  </a:ext>
                </a:extLst>
              </a:tr>
              <a:tr h="175605">
                <a:tc>
                  <a:txBody>
                    <a:bodyPr/>
                    <a:lstStyle/>
                    <a:p>
                      <a:pPr latinLnBrk="1"/>
                      <a:r>
                        <a:rPr lang="ko-KR" altLang="en-US" sz="1200" dirty="0"/>
                        <a:t>기산일</a:t>
                      </a:r>
                    </a:p>
                  </a:txBody>
                  <a:tcPr/>
                </a:tc>
                <a:tc>
                  <a:txBody>
                    <a:bodyPr/>
                    <a:lstStyle/>
                    <a:p>
                      <a:pPr latinLnBrk="1"/>
                      <a:r>
                        <a:rPr lang="en-US" altLang="ko-KR" sz="1200" dirty="0"/>
                        <a:t>2.21</a:t>
                      </a:r>
                      <a:endParaRPr lang="ko-KR" altLang="en-US" sz="1200" dirty="0"/>
                    </a:p>
                  </a:txBody>
                  <a:tcPr/>
                </a:tc>
                <a:tc>
                  <a:txBody>
                    <a:bodyPr/>
                    <a:lstStyle/>
                    <a:p>
                      <a:pPr latinLnBrk="1"/>
                      <a:r>
                        <a:rPr lang="en-US" altLang="ko-KR" sz="1200" dirty="0"/>
                        <a:t>2.21</a:t>
                      </a:r>
                      <a:endParaRPr lang="ko-KR" altLang="en-US" sz="1200" dirty="0"/>
                    </a:p>
                  </a:txBody>
                  <a:tcPr/>
                </a:tc>
                <a:extLst>
                  <a:ext uri="{0D108BD9-81ED-4DB2-BD59-A6C34878D82A}">
                    <a16:rowId xmlns:a16="http://schemas.microsoft.com/office/drawing/2014/main" val="3700814240"/>
                  </a:ext>
                </a:extLst>
              </a:tr>
              <a:tr h="175605">
                <a:tc>
                  <a:txBody>
                    <a:bodyPr/>
                    <a:lstStyle/>
                    <a:p>
                      <a:pPr latinLnBrk="1"/>
                      <a:r>
                        <a:rPr lang="ko-KR" altLang="en-US" sz="1200" dirty="0"/>
                        <a:t>계산방법</a:t>
                      </a:r>
                    </a:p>
                  </a:txBody>
                  <a:tcPr/>
                </a:tc>
                <a:tc>
                  <a:txBody>
                    <a:bodyPr/>
                    <a:lstStyle/>
                    <a:p>
                      <a:pPr latinLnBrk="1"/>
                      <a:r>
                        <a:rPr lang="ko-KR" altLang="en-US" sz="1200" dirty="0" err="1"/>
                        <a:t>역법적</a:t>
                      </a:r>
                      <a:endParaRPr lang="ko-KR" altLang="en-US" sz="1200" dirty="0"/>
                    </a:p>
                  </a:txBody>
                  <a:tcPr/>
                </a:tc>
                <a:tc>
                  <a:txBody>
                    <a:bodyPr/>
                    <a:lstStyle/>
                    <a:p>
                      <a:pPr latinLnBrk="1"/>
                      <a:r>
                        <a:rPr lang="ko-KR" altLang="en-US" sz="1200" dirty="0"/>
                        <a:t>자연적</a:t>
                      </a:r>
                    </a:p>
                  </a:txBody>
                  <a:tcPr/>
                </a:tc>
                <a:extLst>
                  <a:ext uri="{0D108BD9-81ED-4DB2-BD59-A6C34878D82A}">
                    <a16:rowId xmlns:a16="http://schemas.microsoft.com/office/drawing/2014/main" val="2708788416"/>
                  </a:ext>
                </a:extLst>
              </a:tr>
              <a:tr h="760953">
                <a:tc>
                  <a:txBody>
                    <a:bodyPr/>
                    <a:lstStyle/>
                    <a:p>
                      <a:pPr latinLnBrk="1"/>
                      <a:r>
                        <a:rPr lang="ko-KR" altLang="en-US" sz="1200" dirty="0"/>
                        <a:t>만료일</a:t>
                      </a:r>
                    </a:p>
                  </a:txBody>
                  <a:tcPr/>
                </a:tc>
                <a:tc>
                  <a:txBody>
                    <a:bodyPr/>
                    <a:lstStyle/>
                    <a:p>
                      <a:pPr latinLnBrk="1"/>
                      <a:r>
                        <a:rPr lang="en-US" altLang="ko-KR" sz="1200" dirty="0"/>
                        <a:t>3.21</a:t>
                      </a:r>
                      <a:r>
                        <a:rPr lang="ko-KR" altLang="en-US" sz="1200" dirty="0"/>
                        <a:t>의 전일</a:t>
                      </a:r>
                      <a:r>
                        <a:rPr lang="en-US" altLang="ko-KR" sz="1200" dirty="0"/>
                        <a:t>=3.20</a:t>
                      </a:r>
                      <a:endParaRPr lang="ko-KR" altLang="en-US" sz="1200" dirty="0"/>
                    </a:p>
                  </a:txBody>
                  <a:tcPr/>
                </a:tc>
                <a:tc>
                  <a:txBody>
                    <a:bodyPr/>
                    <a:lstStyle/>
                    <a:p>
                      <a:pPr latinLnBrk="1"/>
                      <a:r>
                        <a:rPr lang="en-US" altLang="ko-KR" sz="1200" dirty="0"/>
                        <a:t>30-7=23</a:t>
                      </a:r>
                      <a:r>
                        <a:rPr lang="ko-KR" altLang="en-US" sz="1200" dirty="0"/>
                        <a:t>일</a:t>
                      </a:r>
                      <a:endParaRPr lang="en-US" altLang="ko-KR" sz="1200" dirty="0"/>
                    </a:p>
                    <a:p>
                      <a:pPr latinLnBrk="1"/>
                      <a:r>
                        <a:rPr lang="en-US" altLang="ko-KR" sz="1200" dirty="0"/>
                        <a:t>3.23</a:t>
                      </a:r>
                      <a:r>
                        <a:rPr lang="ko-KR" altLang="en-US" sz="1200" dirty="0"/>
                        <a:t>의 전일</a:t>
                      </a:r>
                      <a:r>
                        <a:rPr lang="en-US" altLang="ko-KR" sz="1200" dirty="0"/>
                        <a:t>=3.22</a:t>
                      </a:r>
                    </a:p>
                    <a:p>
                      <a:pPr latinLnBrk="1"/>
                      <a:endParaRPr lang="en-US" altLang="ko-KR" sz="1200" dirty="0"/>
                    </a:p>
                    <a:p>
                      <a:pPr marL="88900" indent="-88900" latinLnBrk="1"/>
                      <a:r>
                        <a:rPr lang="en-US" altLang="ko-KR" sz="1200" dirty="0"/>
                        <a:t>* </a:t>
                      </a:r>
                      <a:r>
                        <a:rPr lang="ko-KR" altLang="en-US" sz="1200" dirty="0" err="1"/>
                        <a:t>계산일수</a:t>
                      </a:r>
                      <a:r>
                        <a:rPr lang="ko-KR" altLang="en-US" sz="1200" dirty="0"/>
                        <a:t> </a:t>
                      </a:r>
                      <a:r>
                        <a:rPr lang="en-US" altLang="ko-KR" sz="1200" dirty="0"/>
                        <a:t>– </a:t>
                      </a:r>
                      <a:r>
                        <a:rPr lang="ko-KR" altLang="en-US" sz="1200" dirty="0"/>
                        <a:t>그 달의 </a:t>
                      </a:r>
                      <a:r>
                        <a:rPr lang="ko-KR" altLang="en-US" sz="1200" dirty="0" err="1"/>
                        <a:t>소요일수</a:t>
                      </a:r>
                      <a:r>
                        <a:rPr lang="en-US" altLang="ko-KR" sz="1200" dirty="0"/>
                        <a:t>(</a:t>
                      </a:r>
                      <a:r>
                        <a:rPr lang="ko-KR" altLang="en-US" sz="1200" dirty="0"/>
                        <a:t>말일</a:t>
                      </a:r>
                      <a:r>
                        <a:rPr lang="en-US" altLang="ko-KR" sz="1200" dirty="0"/>
                        <a:t>-</a:t>
                      </a:r>
                      <a:r>
                        <a:rPr lang="ko-KR" altLang="en-US" sz="1200" dirty="0"/>
                        <a:t>기산일</a:t>
                      </a:r>
                      <a:r>
                        <a:rPr lang="en-US" altLang="ko-KR" sz="1200" dirty="0"/>
                        <a:t>)=</a:t>
                      </a:r>
                      <a:r>
                        <a:rPr lang="ko-KR" altLang="en-US" sz="1200" dirty="0" err="1"/>
                        <a:t>잔존일수</a:t>
                      </a:r>
                      <a:endParaRPr lang="en-US" altLang="ko-KR" sz="1200" dirty="0"/>
                    </a:p>
                    <a:p>
                      <a:pPr latinLnBrk="1"/>
                      <a:r>
                        <a:rPr lang="en-US" altLang="ko-KR" sz="1200" dirty="0"/>
                        <a:t>*</a:t>
                      </a:r>
                      <a:r>
                        <a:rPr lang="en-US" altLang="ko-KR" sz="1200" baseline="0" dirty="0"/>
                        <a:t> </a:t>
                      </a:r>
                      <a:r>
                        <a:rPr lang="ko-KR" altLang="en-US" sz="1200" dirty="0" err="1"/>
                        <a:t>잔존일수를</a:t>
                      </a:r>
                      <a:r>
                        <a:rPr lang="ko-KR" altLang="en-US" sz="1200" dirty="0"/>
                        <a:t> 다음달로 넘겨 계산</a:t>
                      </a:r>
                    </a:p>
                  </a:txBody>
                  <a:tcPr/>
                </a:tc>
                <a:extLst>
                  <a:ext uri="{0D108BD9-81ED-4DB2-BD59-A6C34878D82A}">
                    <a16:rowId xmlns:a16="http://schemas.microsoft.com/office/drawing/2014/main" val="3111383128"/>
                  </a:ext>
                </a:extLst>
              </a:tr>
            </a:tbl>
          </a:graphicData>
        </a:graphic>
      </p:graphicFrame>
      <p:sp>
        <p:nvSpPr>
          <p:cNvPr id="65" name="직사각형 64"/>
          <p:cNvSpPr/>
          <p:nvPr/>
        </p:nvSpPr>
        <p:spPr>
          <a:xfrm>
            <a:off x="7162800" y="4123494"/>
            <a:ext cx="4800600" cy="596900"/>
          </a:xfrm>
          <a:prstGeom prst="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600" dirty="0">
                <a:solidFill>
                  <a:schemeClr val="bg1">
                    <a:lumMod val="50000"/>
                  </a:schemeClr>
                </a:solidFill>
              </a:rPr>
              <a:t>2023</a:t>
            </a:r>
            <a:r>
              <a:rPr lang="ko-KR" altLang="en-US" sz="1600" dirty="0">
                <a:solidFill>
                  <a:schemeClr val="bg1">
                    <a:lumMod val="50000"/>
                  </a:schemeClr>
                </a:solidFill>
              </a:rPr>
              <a:t>년 </a:t>
            </a:r>
            <a:r>
              <a:rPr lang="en-US" altLang="ko-KR" sz="1600" dirty="0">
                <a:solidFill>
                  <a:srgbClr val="FF0000"/>
                </a:solidFill>
              </a:rPr>
              <a:t>4</a:t>
            </a:r>
            <a:r>
              <a:rPr lang="ko-KR" altLang="en-US" sz="1600" dirty="0">
                <a:solidFill>
                  <a:srgbClr val="FF0000"/>
                </a:solidFill>
              </a:rPr>
              <a:t>월 </a:t>
            </a:r>
            <a:r>
              <a:rPr lang="en-US" altLang="ko-KR" sz="1600" dirty="0">
                <a:solidFill>
                  <a:srgbClr val="FF0000"/>
                </a:solidFill>
              </a:rPr>
              <a:t>6</a:t>
            </a:r>
            <a:r>
              <a:rPr lang="ko-KR" altLang="en-US" sz="1600" dirty="0">
                <a:solidFill>
                  <a:srgbClr val="FF0000"/>
                </a:solidFill>
              </a:rPr>
              <a:t>일</a:t>
            </a:r>
            <a:r>
              <a:rPr lang="ko-KR" altLang="en-US" sz="1600" dirty="0">
                <a:solidFill>
                  <a:schemeClr val="bg1">
                    <a:lumMod val="50000"/>
                  </a:schemeClr>
                </a:solidFill>
              </a:rPr>
              <a:t>에 거절결정등본이 송달되었고</a:t>
            </a:r>
            <a:r>
              <a:rPr lang="en-US" altLang="ko-KR" sz="1600" dirty="0">
                <a:solidFill>
                  <a:schemeClr val="bg1">
                    <a:lumMod val="50000"/>
                  </a:schemeClr>
                </a:solidFill>
              </a:rPr>
              <a:t>, </a:t>
            </a:r>
            <a:r>
              <a:rPr lang="ko-KR" altLang="en-US" sz="1600" dirty="0">
                <a:solidFill>
                  <a:schemeClr val="bg1">
                    <a:lumMod val="50000"/>
                  </a:schemeClr>
                </a:solidFill>
              </a:rPr>
              <a:t>불복하지 않아 </a:t>
            </a:r>
            <a:r>
              <a:rPr lang="ko-KR" altLang="en-US" sz="1600" dirty="0" err="1">
                <a:solidFill>
                  <a:schemeClr val="bg1">
                    <a:lumMod val="50000"/>
                  </a:schemeClr>
                </a:solidFill>
              </a:rPr>
              <a:t>거절결정확정된</a:t>
            </a:r>
            <a:r>
              <a:rPr lang="ko-KR" altLang="en-US" sz="1600" dirty="0">
                <a:solidFill>
                  <a:schemeClr val="bg1">
                    <a:lumMod val="50000"/>
                  </a:schemeClr>
                </a:solidFill>
              </a:rPr>
              <a:t> 경우 그 확정일로부터 </a:t>
            </a:r>
            <a:r>
              <a:rPr lang="en-US" altLang="ko-KR" sz="1600" dirty="0">
                <a:solidFill>
                  <a:schemeClr val="bg1">
                    <a:lumMod val="50000"/>
                  </a:schemeClr>
                </a:solidFill>
              </a:rPr>
              <a:t>30</a:t>
            </a:r>
            <a:r>
              <a:rPr lang="ko-KR" altLang="en-US" sz="1600" dirty="0">
                <a:solidFill>
                  <a:schemeClr val="bg1">
                    <a:lumMod val="50000"/>
                  </a:schemeClr>
                </a:solidFill>
              </a:rPr>
              <a:t>일은</a:t>
            </a:r>
            <a:r>
              <a:rPr lang="en-US" altLang="ko-KR" sz="1600" dirty="0">
                <a:solidFill>
                  <a:schemeClr val="bg1">
                    <a:lumMod val="50000"/>
                  </a:schemeClr>
                </a:solidFill>
              </a:rPr>
              <a:t>?</a:t>
            </a:r>
            <a:endParaRPr lang="ko-KR" altLang="en-US" sz="1600" dirty="0">
              <a:solidFill>
                <a:schemeClr val="bg1">
                  <a:lumMod val="50000"/>
                </a:schemeClr>
              </a:solidFill>
            </a:endParaRPr>
          </a:p>
        </p:txBody>
      </p:sp>
      <p:cxnSp>
        <p:nvCxnSpPr>
          <p:cNvPr id="41" name="직선 연결선 40"/>
          <p:cNvCxnSpPr/>
          <p:nvPr/>
        </p:nvCxnSpPr>
        <p:spPr>
          <a:xfrm>
            <a:off x="7162800" y="5972727"/>
            <a:ext cx="4889500" cy="0"/>
          </a:xfrm>
          <a:prstGeom prst="line">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50" name="직선 화살표 연결선 49"/>
          <p:cNvCxnSpPr/>
          <p:nvPr/>
        </p:nvCxnSpPr>
        <p:spPr>
          <a:xfrm>
            <a:off x="7429500" y="5582054"/>
            <a:ext cx="0" cy="390673"/>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3" name="TextBox 52"/>
          <p:cNvSpPr txBox="1"/>
          <p:nvPr/>
        </p:nvSpPr>
        <p:spPr>
          <a:xfrm>
            <a:off x="7176866" y="5202052"/>
            <a:ext cx="505267" cy="369332"/>
          </a:xfrm>
          <a:prstGeom prst="rect">
            <a:avLst/>
          </a:prstGeom>
          <a:noFill/>
        </p:spPr>
        <p:txBody>
          <a:bodyPr wrap="none" rtlCol="0">
            <a:spAutoFit/>
          </a:bodyPr>
          <a:lstStyle/>
          <a:p>
            <a:r>
              <a:rPr lang="en-US" altLang="ko-KR" dirty="0">
                <a:solidFill>
                  <a:srgbClr val="FF0000"/>
                </a:solidFill>
              </a:rPr>
              <a:t>4.6</a:t>
            </a:r>
            <a:endParaRPr lang="ko-KR" altLang="en-US" dirty="0">
              <a:solidFill>
                <a:srgbClr val="FF0000"/>
              </a:solidFill>
            </a:endParaRPr>
          </a:p>
        </p:txBody>
      </p:sp>
      <p:cxnSp>
        <p:nvCxnSpPr>
          <p:cNvPr id="72" name="직선 화살표 연결선 71"/>
          <p:cNvCxnSpPr/>
          <p:nvPr/>
        </p:nvCxnSpPr>
        <p:spPr>
          <a:xfrm>
            <a:off x="8978900" y="5582054"/>
            <a:ext cx="0" cy="390673"/>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8726266" y="5202052"/>
            <a:ext cx="505267" cy="369332"/>
          </a:xfrm>
          <a:prstGeom prst="rect">
            <a:avLst/>
          </a:prstGeom>
          <a:noFill/>
        </p:spPr>
        <p:txBody>
          <a:bodyPr wrap="none" rtlCol="0">
            <a:spAutoFit/>
          </a:bodyPr>
          <a:lstStyle/>
          <a:p>
            <a:r>
              <a:rPr lang="en-US" altLang="ko-KR" dirty="0">
                <a:solidFill>
                  <a:srgbClr val="FF0000"/>
                </a:solidFill>
              </a:rPr>
              <a:t>7.6</a:t>
            </a:r>
            <a:endParaRPr lang="ko-KR" altLang="en-US" dirty="0">
              <a:solidFill>
                <a:srgbClr val="FF0000"/>
              </a:solidFill>
            </a:endParaRPr>
          </a:p>
        </p:txBody>
      </p:sp>
      <p:cxnSp>
        <p:nvCxnSpPr>
          <p:cNvPr id="87" name="직선 화살표 연결선 86"/>
          <p:cNvCxnSpPr/>
          <p:nvPr/>
        </p:nvCxnSpPr>
        <p:spPr>
          <a:xfrm>
            <a:off x="9677400" y="5582054"/>
            <a:ext cx="0" cy="390673"/>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2" name="TextBox 91"/>
          <p:cNvSpPr txBox="1"/>
          <p:nvPr/>
        </p:nvSpPr>
        <p:spPr>
          <a:xfrm>
            <a:off x="9424766" y="5202052"/>
            <a:ext cx="505267" cy="369332"/>
          </a:xfrm>
          <a:prstGeom prst="rect">
            <a:avLst/>
          </a:prstGeom>
          <a:noFill/>
        </p:spPr>
        <p:txBody>
          <a:bodyPr wrap="none" rtlCol="0">
            <a:spAutoFit/>
          </a:bodyPr>
          <a:lstStyle/>
          <a:p>
            <a:r>
              <a:rPr lang="en-US" altLang="ko-KR" dirty="0">
                <a:solidFill>
                  <a:srgbClr val="FF0000"/>
                </a:solidFill>
              </a:rPr>
              <a:t>7.7</a:t>
            </a:r>
            <a:endParaRPr lang="ko-KR" altLang="en-US" dirty="0">
              <a:solidFill>
                <a:srgbClr val="FF0000"/>
              </a:solidFill>
            </a:endParaRPr>
          </a:p>
        </p:txBody>
      </p:sp>
      <p:cxnSp>
        <p:nvCxnSpPr>
          <p:cNvPr id="94" name="직선 화살표 연결선 93"/>
          <p:cNvCxnSpPr/>
          <p:nvPr/>
        </p:nvCxnSpPr>
        <p:spPr>
          <a:xfrm>
            <a:off x="7917083" y="5582054"/>
            <a:ext cx="0" cy="390673"/>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7664449" y="5202052"/>
            <a:ext cx="505267" cy="369332"/>
          </a:xfrm>
          <a:prstGeom prst="rect">
            <a:avLst/>
          </a:prstGeom>
          <a:noFill/>
        </p:spPr>
        <p:txBody>
          <a:bodyPr wrap="none" rtlCol="0">
            <a:spAutoFit/>
          </a:bodyPr>
          <a:lstStyle/>
          <a:p>
            <a:r>
              <a:rPr lang="en-US" altLang="ko-KR" dirty="0">
                <a:solidFill>
                  <a:srgbClr val="FF0000"/>
                </a:solidFill>
              </a:rPr>
              <a:t>4.7</a:t>
            </a:r>
            <a:endParaRPr lang="ko-KR" altLang="en-US" dirty="0">
              <a:solidFill>
                <a:srgbClr val="FF0000"/>
              </a:solidFill>
            </a:endParaRPr>
          </a:p>
        </p:txBody>
      </p:sp>
      <p:sp>
        <p:nvSpPr>
          <p:cNvPr id="79" name="TextBox 78"/>
          <p:cNvSpPr txBox="1"/>
          <p:nvPr/>
        </p:nvSpPr>
        <p:spPr>
          <a:xfrm>
            <a:off x="7429499" y="6374070"/>
            <a:ext cx="1691489" cy="276999"/>
          </a:xfrm>
          <a:prstGeom prst="rect">
            <a:avLst/>
          </a:prstGeom>
          <a:noFill/>
        </p:spPr>
        <p:txBody>
          <a:bodyPr wrap="none" rtlCol="0">
            <a:spAutoFit/>
          </a:bodyPr>
          <a:lstStyle/>
          <a:p>
            <a:r>
              <a:rPr lang="ko-KR" altLang="en-US" sz="1200" dirty="0"/>
              <a:t>등본송달일로부터 </a:t>
            </a:r>
            <a:r>
              <a:rPr lang="en-US" altLang="ko-KR" sz="1200" dirty="0"/>
              <a:t>3</a:t>
            </a:r>
            <a:r>
              <a:rPr lang="ko-KR" altLang="en-US" sz="1200" dirty="0"/>
              <a:t>개월</a:t>
            </a:r>
          </a:p>
        </p:txBody>
      </p:sp>
      <p:sp>
        <p:nvSpPr>
          <p:cNvPr id="96" name="TextBox 95"/>
          <p:cNvSpPr txBox="1"/>
          <p:nvPr/>
        </p:nvSpPr>
        <p:spPr>
          <a:xfrm>
            <a:off x="9739352" y="6374070"/>
            <a:ext cx="1362874" cy="276999"/>
          </a:xfrm>
          <a:prstGeom prst="rect">
            <a:avLst/>
          </a:prstGeom>
          <a:noFill/>
        </p:spPr>
        <p:txBody>
          <a:bodyPr wrap="none" rtlCol="0">
            <a:spAutoFit/>
          </a:bodyPr>
          <a:lstStyle/>
          <a:p>
            <a:r>
              <a:rPr lang="ko-KR" altLang="en-US" sz="1200" dirty="0"/>
              <a:t>확정일로부터 </a:t>
            </a:r>
            <a:r>
              <a:rPr lang="en-US" altLang="ko-KR" sz="1200" dirty="0"/>
              <a:t>30</a:t>
            </a:r>
            <a:r>
              <a:rPr lang="ko-KR" altLang="en-US" sz="1200" dirty="0"/>
              <a:t>일</a:t>
            </a:r>
          </a:p>
        </p:txBody>
      </p:sp>
      <p:cxnSp>
        <p:nvCxnSpPr>
          <p:cNvPr id="97" name="직선 화살표 연결선 96"/>
          <p:cNvCxnSpPr/>
          <p:nvPr/>
        </p:nvCxnSpPr>
        <p:spPr>
          <a:xfrm>
            <a:off x="11185786" y="5582054"/>
            <a:ext cx="0" cy="390673"/>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8" name="TextBox 97"/>
          <p:cNvSpPr txBox="1"/>
          <p:nvPr/>
        </p:nvSpPr>
        <p:spPr>
          <a:xfrm>
            <a:off x="10933152" y="5202052"/>
            <a:ext cx="505267" cy="369332"/>
          </a:xfrm>
          <a:prstGeom prst="rect">
            <a:avLst/>
          </a:prstGeom>
          <a:noFill/>
        </p:spPr>
        <p:txBody>
          <a:bodyPr wrap="none" rtlCol="0">
            <a:spAutoFit/>
          </a:bodyPr>
          <a:lstStyle/>
          <a:p>
            <a:r>
              <a:rPr lang="en-US" altLang="ko-KR" dirty="0">
                <a:solidFill>
                  <a:srgbClr val="FF0000"/>
                </a:solidFill>
              </a:rPr>
              <a:t>8.5</a:t>
            </a:r>
            <a:endParaRPr lang="ko-KR" altLang="en-US" dirty="0">
              <a:solidFill>
                <a:srgbClr val="FF0000"/>
              </a:solidFill>
            </a:endParaRPr>
          </a:p>
        </p:txBody>
      </p:sp>
      <p:sp>
        <p:nvSpPr>
          <p:cNvPr id="99" name="TextBox 98"/>
          <p:cNvSpPr txBox="1"/>
          <p:nvPr/>
        </p:nvSpPr>
        <p:spPr>
          <a:xfrm>
            <a:off x="7186687" y="4948963"/>
            <a:ext cx="460382" cy="276999"/>
          </a:xfrm>
          <a:prstGeom prst="rect">
            <a:avLst/>
          </a:prstGeom>
          <a:noFill/>
        </p:spPr>
        <p:txBody>
          <a:bodyPr wrap="none" rtlCol="0">
            <a:spAutoFit/>
          </a:bodyPr>
          <a:lstStyle/>
          <a:p>
            <a:r>
              <a:rPr lang="ko-KR" altLang="en-US" sz="1200"/>
              <a:t>초일</a:t>
            </a:r>
            <a:endParaRPr lang="ko-KR" altLang="en-US" sz="1200" dirty="0"/>
          </a:p>
        </p:txBody>
      </p:sp>
      <p:sp>
        <p:nvSpPr>
          <p:cNvPr id="100" name="TextBox 99"/>
          <p:cNvSpPr txBox="1"/>
          <p:nvPr/>
        </p:nvSpPr>
        <p:spPr>
          <a:xfrm>
            <a:off x="7685047" y="4948963"/>
            <a:ext cx="598241" cy="276999"/>
          </a:xfrm>
          <a:prstGeom prst="rect">
            <a:avLst/>
          </a:prstGeom>
          <a:noFill/>
        </p:spPr>
        <p:txBody>
          <a:bodyPr wrap="none" rtlCol="0">
            <a:spAutoFit/>
          </a:bodyPr>
          <a:lstStyle/>
          <a:p>
            <a:r>
              <a:rPr lang="ko-KR" altLang="en-US" sz="1200" dirty="0"/>
              <a:t>기산일</a:t>
            </a:r>
          </a:p>
        </p:txBody>
      </p:sp>
      <p:sp>
        <p:nvSpPr>
          <p:cNvPr id="101" name="TextBox 100"/>
          <p:cNvSpPr txBox="1"/>
          <p:nvPr/>
        </p:nvSpPr>
        <p:spPr>
          <a:xfrm>
            <a:off x="8705055" y="4948963"/>
            <a:ext cx="598241" cy="276999"/>
          </a:xfrm>
          <a:prstGeom prst="rect">
            <a:avLst/>
          </a:prstGeom>
          <a:noFill/>
        </p:spPr>
        <p:txBody>
          <a:bodyPr wrap="none" rtlCol="0">
            <a:spAutoFit/>
          </a:bodyPr>
          <a:lstStyle/>
          <a:p>
            <a:r>
              <a:rPr lang="ko-KR" altLang="en-US" sz="1200" dirty="0"/>
              <a:t>만료일</a:t>
            </a:r>
          </a:p>
        </p:txBody>
      </p:sp>
      <p:sp>
        <p:nvSpPr>
          <p:cNvPr id="102" name="TextBox 101"/>
          <p:cNvSpPr txBox="1"/>
          <p:nvPr/>
        </p:nvSpPr>
        <p:spPr>
          <a:xfrm>
            <a:off x="9375390" y="4948963"/>
            <a:ext cx="966931" cy="276999"/>
          </a:xfrm>
          <a:prstGeom prst="rect">
            <a:avLst/>
          </a:prstGeom>
          <a:noFill/>
        </p:spPr>
        <p:txBody>
          <a:bodyPr wrap="none" rtlCol="0">
            <a:spAutoFit/>
          </a:bodyPr>
          <a:lstStyle/>
          <a:p>
            <a:r>
              <a:rPr lang="ko-KR" altLang="en-US" sz="1200" dirty="0"/>
              <a:t>초일</a:t>
            </a:r>
            <a:r>
              <a:rPr lang="en-US" altLang="ko-KR" sz="1200" dirty="0"/>
              <a:t>=</a:t>
            </a:r>
            <a:r>
              <a:rPr lang="ko-KR" altLang="en-US" sz="1200" dirty="0"/>
              <a:t>기산일</a:t>
            </a:r>
          </a:p>
        </p:txBody>
      </p:sp>
      <p:sp>
        <p:nvSpPr>
          <p:cNvPr id="104" name="TextBox 103"/>
          <p:cNvSpPr txBox="1"/>
          <p:nvPr/>
        </p:nvSpPr>
        <p:spPr>
          <a:xfrm>
            <a:off x="10886664" y="4948963"/>
            <a:ext cx="598241" cy="276999"/>
          </a:xfrm>
          <a:prstGeom prst="rect">
            <a:avLst/>
          </a:prstGeom>
          <a:noFill/>
        </p:spPr>
        <p:txBody>
          <a:bodyPr wrap="none" rtlCol="0">
            <a:spAutoFit/>
          </a:bodyPr>
          <a:lstStyle/>
          <a:p>
            <a:r>
              <a:rPr lang="ko-KR" altLang="en-US" sz="1200" dirty="0"/>
              <a:t>만료일</a:t>
            </a:r>
          </a:p>
        </p:txBody>
      </p:sp>
      <p:sp>
        <p:nvSpPr>
          <p:cNvPr id="2" name="양쪽 모서리가 둥근 사각형 1"/>
          <p:cNvSpPr/>
          <p:nvPr/>
        </p:nvSpPr>
        <p:spPr>
          <a:xfrm>
            <a:off x="7429499" y="5987379"/>
            <a:ext cx="1549400" cy="345431"/>
          </a:xfrm>
          <a:prstGeom prst="round2SameRect">
            <a:avLst>
              <a:gd name="adj1" fmla="val 0"/>
              <a:gd name="adj2" fmla="val 50000"/>
            </a:avLst>
          </a:prstGeom>
          <a:pattFill prst="ltHorz">
            <a:fgClr>
              <a:schemeClr val="accent1"/>
            </a:fgClr>
            <a:bgClr>
              <a:schemeClr val="bg1"/>
            </a:bgClr>
          </a:patt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4" name="양쪽 모서리가 둥근 사각형 43"/>
          <p:cNvSpPr/>
          <p:nvPr/>
        </p:nvSpPr>
        <p:spPr>
          <a:xfrm>
            <a:off x="9677400" y="5987379"/>
            <a:ext cx="1549400" cy="345431"/>
          </a:xfrm>
          <a:prstGeom prst="round2SameRect">
            <a:avLst>
              <a:gd name="adj1" fmla="val 0"/>
              <a:gd name="adj2" fmla="val 50000"/>
            </a:avLst>
          </a:prstGeom>
          <a:pattFill prst="lgGrid">
            <a:fgClr>
              <a:schemeClr val="accent4"/>
            </a:fgClr>
            <a:bgClr>
              <a:schemeClr val="bg1"/>
            </a:bgClr>
          </a:patt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슬라이드 번호 개체 틀 4"/>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36</a:t>
            </a:fld>
            <a:endParaRPr lang="ko-KR" altLang="en-US"/>
          </a:p>
        </p:txBody>
      </p:sp>
    </p:spTree>
    <p:extLst>
      <p:ext uri="{BB962C8B-B14F-4D97-AF65-F5344CB8AC3E}">
        <p14:creationId xmlns:p14="http://schemas.microsoft.com/office/powerpoint/2010/main" val="270926648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15</a:t>
            </a:r>
            <a:r>
              <a:rPr lang="ko-KR" altLang="en-US" dirty="0"/>
              <a:t>조</a:t>
            </a:r>
          </a:p>
        </p:txBody>
      </p:sp>
      <p:sp>
        <p:nvSpPr>
          <p:cNvPr id="4" name="텍스트 개체 틀 3"/>
          <p:cNvSpPr>
            <a:spLocks noGrp="1"/>
          </p:cNvSpPr>
          <p:nvPr>
            <p:ph type="body" sz="quarter" idx="13"/>
          </p:nvPr>
        </p:nvSpPr>
        <p:spPr/>
        <p:txBody>
          <a:bodyPr/>
          <a:lstStyle/>
          <a:p>
            <a:r>
              <a:rPr lang="ko-KR" altLang="en-US" dirty="0"/>
              <a:t>기일과</a:t>
            </a:r>
            <a:r>
              <a:rPr lang="en-US" altLang="ko-KR" dirty="0"/>
              <a:t> </a:t>
            </a:r>
            <a:r>
              <a:rPr lang="ko-KR" altLang="en-US" dirty="0"/>
              <a:t>기간의 종류</a:t>
            </a:r>
          </a:p>
        </p:txBody>
      </p:sp>
      <p:sp>
        <p:nvSpPr>
          <p:cNvPr id="44" name="직사각형 43"/>
          <p:cNvSpPr/>
          <p:nvPr/>
        </p:nvSpPr>
        <p:spPr>
          <a:xfrm>
            <a:off x="546099" y="2437281"/>
            <a:ext cx="1349189"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기일</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어느 한 시점</a:t>
            </a:r>
            <a:r>
              <a:rPr lang="en-US" altLang="ko-KR" sz="1200" dirty="0">
                <a:solidFill>
                  <a:schemeClr val="accent2"/>
                </a:solidFill>
              </a:rPr>
              <a:t>)</a:t>
            </a:r>
            <a:endParaRPr lang="ko-KR" altLang="en-US" sz="1200" dirty="0">
              <a:solidFill>
                <a:schemeClr val="accent2"/>
              </a:solidFill>
            </a:endParaRPr>
          </a:p>
        </p:txBody>
      </p:sp>
      <p:sp>
        <p:nvSpPr>
          <p:cNvPr id="45" name="직사각형 44"/>
          <p:cNvSpPr/>
          <p:nvPr/>
        </p:nvSpPr>
        <p:spPr>
          <a:xfrm>
            <a:off x="546099" y="4666131"/>
            <a:ext cx="1349189"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기간</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연속된 시간</a:t>
            </a:r>
            <a:r>
              <a:rPr lang="en-US" altLang="ko-KR" sz="1200" dirty="0">
                <a:solidFill>
                  <a:schemeClr val="accent2"/>
                </a:solidFill>
              </a:rPr>
              <a:t>)</a:t>
            </a:r>
            <a:endParaRPr lang="ko-KR" altLang="en-US" sz="1200" dirty="0">
              <a:solidFill>
                <a:schemeClr val="accent2"/>
              </a:solidFill>
            </a:endParaRPr>
          </a:p>
        </p:txBody>
      </p:sp>
      <p:cxnSp>
        <p:nvCxnSpPr>
          <p:cNvPr id="60" name="꺾인 연결선 59"/>
          <p:cNvCxnSpPr>
            <a:stCxn id="44" idx="3"/>
            <a:endCxn id="80" idx="1"/>
          </p:cNvCxnSpPr>
          <p:nvPr/>
        </p:nvCxnSpPr>
        <p:spPr>
          <a:xfrm>
            <a:off x="1895288" y="2694456"/>
            <a:ext cx="484651" cy="681678"/>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1" name="꺾인 연결선 60"/>
          <p:cNvCxnSpPr>
            <a:stCxn id="44" idx="3"/>
            <a:endCxn id="77" idx="1"/>
          </p:cNvCxnSpPr>
          <p:nvPr/>
        </p:nvCxnSpPr>
        <p:spPr>
          <a:xfrm flipV="1">
            <a:off x="1895288" y="1985652"/>
            <a:ext cx="484651" cy="708804"/>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2" name="꺾인 연결선 61"/>
          <p:cNvCxnSpPr>
            <a:stCxn id="45" idx="3"/>
            <a:endCxn id="88" idx="1"/>
          </p:cNvCxnSpPr>
          <p:nvPr/>
        </p:nvCxnSpPr>
        <p:spPr>
          <a:xfrm>
            <a:off x="1895288" y="4923306"/>
            <a:ext cx="484651" cy="741309"/>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63" name="꺾인 연결선 62"/>
          <p:cNvCxnSpPr>
            <a:stCxn id="45" idx="3"/>
            <a:endCxn id="86" idx="1"/>
          </p:cNvCxnSpPr>
          <p:nvPr/>
        </p:nvCxnSpPr>
        <p:spPr>
          <a:xfrm flipV="1">
            <a:off x="1895288" y="4274133"/>
            <a:ext cx="484651" cy="649173"/>
          </a:xfrm>
          <a:prstGeom prst="bentConnector3">
            <a:avLst>
              <a:gd name="adj1" fmla="val 50000"/>
            </a:avLst>
          </a:prstGeom>
          <a:ln>
            <a:solidFill>
              <a:schemeClr val="bg1">
                <a:lumMod val="50000"/>
              </a:schemeClr>
            </a:solidFill>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77" name="직사각형 76"/>
          <p:cNvSpPr/>
          <p:nvPr/>
        </p:nvSpPr>
        <p:spPr>
          <a:xfrm>
            <a:off x="2379939" y="1728477"/>
            <a:ext cx="144276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법정기일 </a:t>
            </a:r>
            <a:r>
              <a:rPr lang="en-US" altLang="ko-KR" sz="1200" dirty="0">
                <a:solidFill>
                  <a:schemeClr val="tx1"/>
                </a:solidFill>
              </a:rPr>
              <a:t>×</a:t>
            </a:r>
          </a:p>
          <a:p>
            <a:pPr algn="ctr"/>
            <a:r>
              <a:rPr lang="en-US" altLang="ko-KR" sz="1200" dirty="0">
                <a:solidFill>
                  <a:schemeClr val="accent2"/>
                </a:solidFill>
              </a:rPr>
              <a:t>(</a:t>
            </a:r>
            <a:r>
              <a:rPr lang="ko-KR" altLang="en-US" sz="1200" dirty="0">
                <a:solidFill>
                  <a:schemeClr val="accent2"/>
                </a:solidFill>
              </a:rPr>
              <a:t>법에서 정한 기일</a:t>
            </a:r>
            <a:r>
              <a:rPr lang="en-US" altLang="ko-KR" sz="1200" dirty="0">
                <a:solidFill>
                  <a:schemeClr val="accent2"/>
                </a:solidFill>
              </a:rPr>
              <a:t>)</a:t>
            </a:r>
            <a:endParaRPr lang="ko-KR" altLang="en-US" sz="1200" dirty="0">
              <a:solidFill>
                <a:schemeClr val="accent2"/>
              </a:solidFill>
            </a:endParaRPr>
          </a:p>
        </p:txBody>
      </p:sp>
      <p:sp>
        <p:nvSpPr>
          <p:cNvPr id="80" name="직사각형 79"/>
          <p:cNvSpPr/>
          <p:nvPr/>
        </p:nvSpPr>
        <p:spPr>
          <a:xfrm>
            <a:off x="2379939" y="3118959"/>
            <a:ext cx="144276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지정기일</a:t>
            </a:r>
            <a:r>
              <a:rPr lang="ko-KR" altLang="en-US" sz="1200" dirty="0">
                <a:solidFill>
                  <a:schemeClr val="tx1"/>
                </a:solidFill>
              </a:rPr>
              <a:t> ○</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임의로 지정한 기일</a:t>
            </a:r>
            <a:r>
              <a:rPr lang="en-US" altLang="ko-KR" sz="1200" dirty="0">
                <a:solidFill>
                  <a:schemeClr val="accent2"/>
                </a:solidFill>
              </a:rPr>
              <a:t>)</a:t>
            </a:r>
            <a:endParaRPr lang="ko-KR" altLang="en-US" sz="1200" dirty="0">
              <a:solidFill>
                <a:schemeClr val="accent2"/>
              </a:solidFill>
            </a:endParaRPr>
          </a:p>
        </p:txBody>
      </p:sp>
      <p:sp>
        <p:nvSpPr>
          <p:cNvPr id="86" name="직사각형 85"/>
          <p:cNvSpPr/>
          <p:nvPr/>
        </p:nvSpPr>
        <p:spPr>
          <a:xfrm>
            <a:off x="2379939" y="4016958"/>
            <a:ext cx="144276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법정기간 ○</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법에서 정한 기간</a:t>
            </a:r>
            <a:r>
              <a:rPr lang="en-US" altLang="ko-KR" sz="1200" dirty="0">
                <a:solidFill>
                  <a:schemeClr val="accent2"/>
                </a:solidFill>
              </a:rPr>
              <a:t>)</a:t>
            </a:r>
            <a:endParaRPr lang="ko-KR" altLang="en-US" sz="1200" dirty="0">
              <a:solidFill>
                <a:schemeClr val="accent2"/>
              </a:solidFill>
            </a:endParaRPr>
          </a:p>
        </p:txBody>
      </p:sp>
      <p:sp>
        <p:nvSpPr>
          <p:cNvPr id="88" name="직사각형 87"/>
          <p:cNvSpPr/>
          <p:nvPr/>
        </p:nvSpPr>
        <p:spPr>
          <a:xfrm>
            <a:off x="2379939" y="5407440"/>
            <a:ext cx="144276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지정기간 ○</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임의로 지정한 기간</a:t>
            </a:r>
            <a:r>
              <a:rPr lang="en-US" altLang="ko-KR" sz="1200" dirty="0">
                <a:solidFill>
                  <a:schemeClr val="accent2"/>
                </a:solidFill>
              </a:rPr>
              <a:t>)</a:t>
            </a:r>
            <a:endParaRPr lang="ko-KR" altLang="en-US" sz="1200" dirty="0">
              <a:solidFill>
                <a:schemeClr val="accent2"/>
              </a:solidFill>
            </a:endParaRPr>
          </a:p>
        </p:txBody>
      </p:sp>
      <p:sp>
        <p:nvSpPr>
          <p:cNvPr id="89" name="직사각형 88"/>
          <p:cNvSpPr/>
          <p:nvPr/>
        </p:nvSpPr>
        <p:spPr>
          <a:xfrm>
            <a:off x="4102101" y="3118959"/>
            <a:ext cx="1981200" cy="51435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200" dirty="0">
                <a:solidFill>
                  <a:schemeClr val="tx1"/>
                </a:solidFill>
              </a:rPr>
              <a:t>가변</a:t>
            </a:r>
            <a:r>
              <a:rPr lang="en-US" altLang="ko-KR" sz="1200" dirty="0">
                <a:solidFill>
                  <a:schemeClr val="tx1"/>
                </a:solidFill>
              </a:rPr>
              <a:t>: </a:t>
            </a:r>
            <a:r>
              <a:rPr lang="ko-KR" altLang="en-US" sz="1200" dirty="0">
                <a:solidFill>
                  <a:schemeClr val="tx1"/>
                </a:solidFill>
              </a:rPr>
              <a:t>기일의 변경</a:t>
            </a:r>
            <a:endParaRPr lang="en-US" altLang="ko-KR" sz="1200" dirty="0">
              <a:solidFill>
                <a:schemeClr val="tx1"/>
              </a:solidFill>
            </a:endParaRPr>
          </a:p>
        </p:txBody>
      </p:sp>
      <p:sp>
        <p:nvSpPr>
          <p:cNvPr id="90" name="직사각형 89"/>
          <p:cNvSpPr/>
          <p:nvPr/>
        </p:nvSpPr>
        <p:spPr>
          <a:xfrm>
            <a:off x="4102101" y="4016958"/>
            <a:ext cx="1981200" cy="51435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200" dirty="0">
                <a:solidFill>
                  <a:schemeClr val="tx1"/>
                </a:solidFill>
              </a:rPr>
              <a:t>(</a:t>
            </a:r>
            <a:r>
              <a:rPr lang="ko-KR" altLang="en-US" sz="1200" dirty="0">
                <a:solidFill>
                  <a:schemeClr val="tx1"/>
                </a:solidFill>
              </a:rPr>
              <a:t>원칙</a:t>
            </a:r>
            <a:r>
              <a:rPr lang="en-US" altLang="ko-KR" sz="1200" dirty="0">
                <a:solidFill>
                  <a:schemeClr val="tx1"/>
                </a:solidFill>
              </a:rPr>
              <a:t>) </a:t>
            </a:r>
            <a:r>
              <a:rPr lang="ko-KR" altLang="en-US" sz="1200" dirty="0">
                <a:solidFill>
                  <a:schemeClr val="tx1"/>
                </a:solidFill>
              </a:rPr>
              <a:t>불변</a:t>
            </a:r>
            <a:endParaRPr lang="en-US" altLang="ko-KR" sz="1200" dirty="0">
              <a:solidFill>
                <a:schemeClr val="tx1"/>
              </a:solidFill>
            </a:endParaRPr>
          </a:p>
        </p:txBody>
      </p:sp>
      <p:sp>
        <p:nvSpPr>
          <p:cNvPr id="91" name="직사각형 90"/>
          <p:cNvSpPr/>
          <p:nvPr/>
        </p:nvSpPr>
        <p:spPr>
          <a:xfrm>
            <a:off x="4102101" y="4666131"/>
            <a:ext cx="1981200" cy="51435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altLang="ko-KR" sz="1200" dirty="0">
                <a:solidFill>
                  <a:schemeClr val="tx1"/>
                </a:solidFill>
              </a:rPr>
              <a:t>(</a:t>
            </a:r>
            <a:r>
              <a:rPr lang="ko-KR" altLang="en-US" sz="1200" dirty="0">
                <a:solidFill>
                  <a:schemeClr val="tx1"/>
                </a:solidFill>
              </a:rPr>
              <a:t>예외</a:t>
            </a:r>
            <a:r>
              <a:rPr lang="en-US" altLang="ko-KR" sz="1200" dirty="0">
                <a:solidFill>
                  <a:schemeClr val="tx1"/>
                </a:solidFill>
              </a:rPr>
              <a:t>) </a:t>
            </a:r>
            <a:r>
              <a:rPr lang="ko-KR" altLang="en-US" sz="1200" dirty="0">
                <a:solidFill>
                  <a:schemeClr val="tx1"/>
                </a:solidFill>
              </a:rPr>
              <a:t>가변</a:t>
            </a:r>
            <a:r>
              <a:rPr lang="en-US" altLang="ko-KR" sz="1200" dirty="0">
                <a:solidFill>
                  <a:schemeClr val="tx1"/>
                </a:solidFill>
              </a:rPr>
              <a:t>: </a:t>
            </a:r>
            <a:r>
              <a:rPr lang="ko-KR" altLang="en-US" sz="1200" dirty="0" err="1">
                <a:solidFill>
                  <a:schemeClr val="tx1"/>
                </a:solidFill>
              </a:rPr>
              <a:t>법정기간의</a:t>
            </a:r>
            <a:r>
              <a:rPr lang="ko-KR" altLang="en-US" sz="1200" dirty="0">
                <a:solidFill>
                  <a:schemeClr val="tx1"/>
                </a:solidFill>
              </a:rPr>
              <a:t> 연장</a:t>
            </a:r>
            <a:endParaRPr lang="en-US" altLang="ko-KR" sz="1200" dirty="0">
              <a:solidFill>
                <a:schemeClr val="tx1"/>
              </a:solidFill>
            </a:endParaRPr>
          </a:p>
        </p:txBody>
      </p:sp>
      <p:sp>
        <p:nvSpPr>
          <p:cNvPr id="103" name="직사각형 102"/>
          <p:cNvSpPr/>
          <p:nvPr/>
        </p:nvSpPr>
        <p:spPr>
          <a:xfrm>
            <a:off x="4102101" y="5419021"/>
            <a:ext cx="1981200" cy="514350"/>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200" dirty="0">
                <a:solidFill>
                  <a:schemeClr val="tx1"/>
                </a:solidFill>
              </a:rPr>
              <a:t>가변</a:t>
            </a:r>
            <a:r>
              <a:rPr lang="en-US" altLang="ko-KR" sz="1200" dirty="0">
                <a:solidFill>
                  <a:schemeClr val="tx1"/>
                </a:solidFill>
              </a:rPr>
              <a:t>: </a:t>
            </a:r>
            <a:r>
              <a:rPr lang="ko-KR" altLang="en-US" sz="1200" dirty="0" err="1">
                <a:solidFill>
                  <a:schemeClr val="tx1"/>
                </a:solidFill>
              </a:rPr>
              <a:t>지정기간의</a:t>
            </a:r>
            <a:r>
              <a:rPr lang="ko-KR" altLang="en-US" sz="1200" dirty="0">
                <a:solidFill>
                  <a:schemeClr val="tx1"/>
                </a:solidFill>
              </a:rPr>
              <a:t> 연장</a:t>
            </a:r>
            <a:r>
              <a:rPr lang="en-US" altLang="ko-KR" sz="1200" dirty="0">
                <a:solidFill>
                  <a:schemeClr val="tx1"/>
                </a:solidFill>
              </a:rPr>
              <a:t>/</a:t>
            </a:r>
            <a:r>
              <a:rPr lang="ko-KR" altLang="en-US" sz="1200" dirty="0">
                <a:solidFill>
                  <a:schemeClr val="tx1"/>
                </a:solidFill>
              </a:rPr>
              <a:t>단축</a:t>
            </a:r>
            <a:endParaRPr lang="en-US" altLang="ko-KR" sz="1200" dirty="0">
              <a:solidFill>
                <a:schemeClr val="tx1"/>
              </a:solidFill>
            </a:endParaRPr>
          </a:p>
        </p:txBody>
      </p:sp>
      <p:cxnSp>
        <p:nvCxnSpPr>
          <p:cNvPr id="26" name="꺾인 연결선 25"/>
          <p:cNvCxnSpPr>
            <a:stCxn id="44" idx="1"/>
            <a:endCxn id="45" idx="1"/>
          </p:cNvCxnSpPr>
          <p:nvPr/>
        </p:nvCxnSpPr>
        <p:spPr>
          <a:xfrm rot="10800000" flipV="1">
            <a:off x="546099" y="2694456"/>
            <a:ext cx="12700" cy="2228850"/>
          </a:xfrm>
          <a:prstGeom prst="bentConnector3">
            <a:avLst>
              <a:gd name="adj1" fmla="val 180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직선 화살표 연결선 29"/>
          <p:cNvCxnSpPr>
            <a:stCxn id="80" idx="3"/>
            <a:endCxn id="89" idx="1"/>
          </p:cNvCxnSpPr>
          <p:nvPr/>
        </p:nvCxnSpPr>
        <p:spPr>
          <a:xfrm>
            <a:off x="3822700" y="3376134"/>
            <a:ext cx="279401" cy="0"/>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4" name="직선 화살표 연결선 33"/>
          <p:cNvCxnSpPr>
            <a:stCxn id="86" idx="3"/>
            <a:endCxn id="90" idx="1"/>
          </p:cNvCxnSpPr>
          <p:nvPr/>
        </p:nvCxnSpPr>
        <p:spPr>
          <a:xfrm>
            <a:off x="3822700" y="4274133"/>
            <a:ext cx="279401" cy="0"/>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7" name="꺾인 연결선 36"/>
          <p:cNvCxnSpPr>
            <a:stCxn id="86" idx="3"/>
            <a:endCxn id="91" idx="1"/>
          </p:cNvCxnSpPr>
          <p:nvPr/>
        </p:nvCxnSpPr>
        <p:spPr>
          <a:xfrm>
            <a:off x="3822700" y="4274133"/>
            <a:ext cx="279401" cy="649173"/>
          </a:xfrm>
          <a:prstGeom prst="bentConnector3">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39" name="직선 화살표 연결선 38"/>
          <p:cNvCxnSpPr>
            <a:stCxn id="88" idx="3"/>
            <a:endCxn id="103" idx="1"/>
          </p:cNvCxnSpPr>
          <p:nvPr/>
        </p:nvCxnSpPr>
        <p:spPr>
          <a:xfrm>
            <a:off x="3822700" y="5664615"/>
            <a:ext cx="279401" cy="11581"/>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5" name="직선 연결선 104"/>
          <p:cNvCxnSpPr/>
          <p:nvPr/>
        </p:nvCxnSpPr>
        <p:spPr>
          <a:xfrm>
            <a:off x="6368078" y="947988"/>
            <a:ext cx="0" cy="5598488"/>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40" name="표 39"/>
          <p:cNvGraphicFramePr>
            <a:graphicFrameLocks noGrp="1"/>
          </p:cNvGraphicFramePr>
          <p:nvPr>
            <p:extLst>
              <p:ext uri="{D42A27DB-BD31-4B8C-83A1-F6EECF244321}">
                <p14:modId xmlns:p14="http://schemas.microsoft.com/office/powerpoint/2010/main" val="3304163130"/>
              </p:ext>
            </p:extLst>
          </p:nvPr>
        </p:nvGraphicFramePr>
        <p:xfrm>
          <a:off x="6602056" y="1316956"/>
          <a:ext cx="5392465" cy="4954891"/>
        </p:xfrm>
        <a:graphic>
          <a:graphicData uri="http://schemas.openxmlformats.org/drawingml/2006/table">
            <a:tbl>
              <a:tblPr/>
              <a:tblGrid>
                <a:gridCol w="406400">
                  <a:extLst>
                    <a:ext uri="{9D8B030D-6E8A-4147-A177-3AD203B41FA5}">
                      <a16:colId xmlns:a16="http://schemas.microsoft.com/office/drawing/2014/main" val="1643588284"/>
                    </a:ext>
                  </a:extLst>
                </a:gridCol>
                <a:gridCol w="445815">
                  <a:extLst>
                    <a:ext uri="{9D8B030D-6E8A-4147-A177-3AD203B41FA5}">
                      <a16:colId xmlns:a16="http://schemas.microsoft.com/office/drawing/2014/main" val="1971350419"/>
                    </a:ext>
                  </a:extLst>
                </a:gridCol>
                <a:gridCol w="1597279">
                  <a:extLst>
                    <a:ext uri="{9D8B030D-6E8A-4147-A177-3AD203B41FA5}">
                      <a16:colId xmlns:a16="http://schemas.microsoft.com/office/drawing/2014/main" val="1621248997"/>
                    </a:ext>
                  </a:extLst>
                </a:gridCol>
                <a:gridCol w="1597279">
                  <a:extLst>
                    <a:ext uri="{9D8B030D-6E8A-4147-A177-3AD203B41FA5}">
                      <a16:colId xmlns:a16="http://schemas.microsoft.com/office/drawing/2014/main" val="3219342769"/>
                    </a:ext>
                  </a:extLst>
                </a:gridCol>
                <a:gridCol w="1345692">
                  <a:extLst>
                    <a:ext uri="{9D8B030D-6E8A-4147-A177-3AD203B41FA5}">
                      <a16:colId xmlns:a16="http://schemas.microsoft.com/office/drawing/2014/main" val="319371014"/>
                    </a:ext>
                  </a:extLst>
                </a:gridCol>
              </a:tblGrid>
              <a:tr h="576322">
                <a:tc gridSpan="2">
                  <a:txBody>
                    <a:bodyPr/>
                    <a:lstStyle/>
                    <a:p>
                      <a:pPr marL="0" marR="0" indent="0" algn="ctr" fontAlgn="base" latinLnBrk="0">
                        <a:lnSpc>
                          <a:spcPct val="120000"/>
                        </a:lnSpc>
                        <a:spcBef>
                          <a:spcPts val="0"/>
                        </a:spcBef>
                        <a:spcAft>
                          <a:spcPts val="0"/>
                        </a:spcAft>
                      </a:pPr>
                      <a:r>
                        <a:rPr lang="ko-KR" altLang="en-US" sz="1200" b="1" kern="1200" dirty="0">
                          <a:solidFill>
                            <a:schemeClr val="tx1"/>
                          </a:solidFill>
                          <a:latin typeface="+mn-lt"/>
                          <a:ea typeface="+mn-ea"/>
                          <a:cs typeface="+mn-cs"/>
                        </a:rPr>
                        <a:t>구 분</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E4E4E4"/>
                    </a:solidFill>
                  </a:tcPr>
                </a:tc>
                <a:tc hMerge="1">
                  <a:txBody>
                    <a:bodyPr/>
                    <a:lstStyle/>
                    <a:p>
                      <a:pPr latinLnBrk="1"/>
                      <a:endParaRPr lang="ko-KR" altLang="en-US"/>
                    </a:p>
                  </a:txBody>
                  <a:tcPr/>
                </a:tc>
                <a:tc>
                  <a:txBody>
                    <a:bodyPr/>
                    <a:lstStyle/>
                    <a:p>
                      <a:pPr marL="0" marR="0" indent="0" algn="ctr" fontAlgn="base" latinLnBrk="0">
                        <a:lnSpc>
                          <a:spcPct val="120000"/>
                        </a:lnSpc>
                        <a:spcBef>
                          <a:spcPts val="0"/>
                        </a:spcBef>
                        <a:spcAft>
                          <a:spcPts val="0"/>
                        </a:spcAft>
                      </a:pPr>
                      <a:r>
                        <a:rPr lang="ko-KR" altLang="en-US" sz="1200" b="1" kern="1200" dirty="0" err="1">
                          <a:solidFill>
                            <a:schemeClr val="tx1"/>
                          </a:solidFill>
                          <a:latin typeface="+mn-lt"/>
                          <a:ea typeface="+mn-ea"/>
                          <a:cs typeface="+mn-cs"/>
                        </a:rPr>
                        <a:t>법정기간의</a:t>
                      </a:r>
                      <a:r>
                        <a:rPr lang="ko-KR" altLang="en-US" sz="1200" b="1" kern="1200" dirty="0">
                          <a:solidFill>
                            <a:schemeClr val="tx1"/>
                          </a:solidFill>
                          <a:latin typeface="+mn-lt"/>
                          <a:ea typeface="+mn-ea"/>
                          <a:cs typeface="+mn-cs"/>
                        </a:rPr>
                        <a:t> 연장 </a:t>
                      </a:r>
                      <a:endParaRPr lang="en-US" altLang="ko-KR" sz="1200" b="1" kern="1200" dirty="0">
                        <a:solidFill>
                          <a:schemeClr val="tx1"/>
                        </a:solidFill>
                        <a:latin typeface="+mn-lt"/>
                        <a:ea typeface="+mn-ea"/>
                        <a:cs typeface="+mn-cs"/>
                      </a:endParaRPr>
                    </a:p>
                    <a:p>
                      <a:pPr marL="0" marR="0" indent="0" algn="ctr" fontAlgn="base" latinLnBrk="0">
                        <a:lnSpc>
                          <a:spcPct val="120000"/>
                        </a:lnSpc>
                        <a:spcBef>
                          <a:spcPts val="0"/>
                        </a:spcBef>
                        <a:spcAft>
                          <a:spcPts val="0"/>
                        </a:spcAft>
                      </a:pPr>
                      <a:r>
                        <a:rPr lang="en-US" altLang="ko-KR" sz="1200" b="1" kern="1200" dirty="0">
                          <a:solidFill>
                            <a:schemeClr val="tx1"/>
                          </a:solidFill>
                          <a:latin typeface="+mn-lt"/>
                          <a:ea typeface="+mn-ea"/>
                          <a:cs typeface="+mn-cs"/>
                        </a:rPr>
                        <a:t>(</a:t>
                      </a:r>
                      <a:r>
                        <a:rPr lang="ko-KR" altLang="en-US" sz="1200" b="1" kern="1200" dirty="0">
                          <a:solidFill>
                            <a:schemeClr val="tx1"/>
                          </a:solidFill>
                          <a:latin typeface="+mn-lt"/>
                          <a:ea typeface="+mn-ea"/>
                          <a:cs typeface="+mn-cs"/>
                        </a:rPr>
                        <a:t>法 </a:t>
                      </a:r>
                      <a:r>
                        <a:rPr lang="en-US" altLang="ko-KR" sz="1200" b="1" kern="1200" dirty="0">
                          <a:solidFill>
                            <a:schemeClr val="tx1"/>
                          </a:solidFill>
                          <a:latin typeface="+mn-lt"/>
                          <a:ea typeface="+mn-ea"/>
                          <a:cs typeface="+mn-cs"/>
                        </a:rPr>
                        <a:t>15</a:t>
                      </a:r>
                      <a:r>
                        <a:rPr lang="ko-KR" altLang="en-US" sz="1200" b="1" kern="1200" dirty="0">
                          <a:solidFill>
                            <a:schemeClr val="tx1"/>
                          </a:solidFill>
                          <a:latin typeface="+mn-lt"/>
                          <a:ea typeface="+mn-ea"/>
                          <a:cs typeface="+mn-cs"/>
                        </a:rPr>
                        <a:t>①</a:t>
                      </a:r>
                      <a:r>
                        <a:rPr lang="en-US" altLang="ko-KR" sz="1200" b="1" kern="1200" dirty="0">
                          <a:solidFill>
                            <a:schemeClr val="tx1"/>
                          </a:solidFill>
                          <a:latin typeface="+mn-lt"/>
                          <a:ea typeface="+mn-ea"/>
                          <a:cs typeface="+mn-cs"/>
                        </a:rPr>
                        <a:t>)</a:t>
                      </a:r>
                      <a:endParaRPr lang="ko-KR" altLang="en-US" sz="1200" b="1" kern="1200" dirty="0">
                        <a:solidFill>
                          <a:schemeClr val="tx1"/>
                        </a:solidFill>
                        <a:latin typeface="+mn-lt"/>
                        <a:ea typeface="+mn-ea"/>
                        <a:cs typeface="+mn-cs"/>
                      </a:endParaRP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E4E4E4"/>
                    </a:solidFill>
                  </a:tcPr>
                </a:tc>
                <a:tc>
                  <a:txBody>
                    <a:bodyPr/>
                    <a:lstStyle/>
                    <a:p>
                      <a:pPr marL="0" marR="0" indent="0" algn="ctr" fontAlgn="base" latinLnBrk="0">
                        <a:lnSpc>
                          <a:spcPct val="120000"/>
                        </a:lnSpc>
                        <a:spcBef>
                          <a:spcPts val="0"/>
                        </a:spcBef>
                        <a:spcAft>
                          <a:spcPts val="0"/>
                        </a:spcAft>
                      </a:pPr>
                      <a:r>
                        <a:rPr lang="ko-KR" altLang="en-US" sz="1200" b="1" kern="1200">
                          <a:solidFill>
                            <a:schemeClr val="tx1"/>
                          </a:solidFill>
                          <a:latin typeface="+mn-lt"/>
                          <a:ea typeface="+mn-ea"/>
                          <a:cs typeface="+mn-cs"/>
                        </a:rPr>
                        <a:t>지정기간의 연장ㆍ단축</a:t>
                      </a:r>
                      <a:r>
                        <a:rPr lang="en-US" altLang="ko-KR" sz="1200" b="1" kern="1200">
                          <a:solidFill>
                            <a:schemeClr val="tx1"/>
                          </a:solidFill>
                          <a:latin typeface="+mn-lt"/>
                          <a:ea typeface="+mn-ea"/>
                          <a:cs typeface="+mn-cs"/>
                        </a:rPr>
                        <a:t>(</a:t>
                      </a:r>
                      <a:r>
                        <a:rPr lang="ko-KR" altLang="en-US" sz="1200" b="1" kern="1200">
                          <a:solidFill>
                            <a:schemeClr val="tx1"/>
                          </a:solidFill>
                          <a:latin typeface="+mn-lt"/>
                          <a:ea typeface="+mn-ea"/>
                          <a:cs typeface="+mn-cs"/>
                        </a:rPr>
                        <a:t>法 </a:t>
                      </a:r>
                      <a:r>
                        <a:rPr lang="en-US" altLang="ko-KR" sz="1200" b="1" kern="1200">
                          <a:solidFill>
                            <a:schemeClr val="tx1"/>
                          </a:solidFill>
                          <a:latin typeface="+mn-lt"/>
                          <a:ea typeface="+mn-ea"/>
                          <a:cs typeface="+mn-cs"/>
                        </a:rPr>
                        <a:t>15</a:t>
                      </a:r>
                      <a:r>
                        <a:rPr lang="ko-KR" altLang="en-US" sz="1200" b="1" kern="1200">
                          <a:solidFill>
                            <a:schemeClr val="tx1"/>
                          </a:solidFill>
                          <a:latin typeface="+mn-lt"/>
                          <a:ea typeface="+mn-ea"/>
                          <a:cs typeface="+mn-cs"/>
                        </a:rPr>
                        <a:t>②</a:t>
                      </a:r>
                      <a:r>
                        <a:rPr lang="en-US" altLang="ko-KR" sz="1200" b="1" kern="1200">
                          <a:solidFill>
                            <a:schemeClr val="tx1"/>
                          </a:solidFill>
                          <a:latin typeface="+mn-lt"/>
                          <a:ea typeface="+mn-ea"/>
                          <a:cs typeface="+mn-cs"/>
                        </a:rPr>
                        <a:t>)</a:t>
                      </a:r>
                      <a:endParaRPr lang="ko-KR" altLang="en-US" sz="1200" b="1" kern="1200">
                        <a:solidFill>
                          <a:schemeClr val="tx1"/>
                        </a:solidFill>
                        <a:latin typeface="+mn-lt"/>
                        <a:ea typeface="+mn-ea"/>
                        <a:cs typeface="+mn-cs"/>
                      </a:endParaRP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E4E4E4"/>
                    </a:solidFill>
                  </a:tcPr>
                </a:tc>
                <a:tc>
                  <a:txBody>
                    <a:bodyPr/>
                    <a:lstStyle/>
                    <a:p>
                      <a:pPr marL="0" marR="0" indent="0" algn="ctr" fontAlgn="base" latinLnBrk="0">
                        <a:lnSpc>
                          <a:spcPct val="120000"/>
                        </a:lnSpc>
                        <a:spcBef>
                          <a:spcPts val="0"/>
                        </a:spcBef>
                        <a:spcAft>
                          <a:spcPts val="0"/>
                        </a:spcAft>
                      </a:pPr>
                      <a:r>
                        <a:rPr lang="ko-KR" altLang="en-US" sz="1200" b="1" kern="1200" dirty="0" err="1">
                          <a:solidFill>
                            <a:schemeClr val="tx1"/>
                          </a:solidFill>
                          <a:latin typeface="+mn-lt"/>
                          <a:ea typeface="+mn-ea"/>
                          <a:cs typeface="+mn-cs"/>
                        </a:rPr>
                        <a:t>지정기일의</a:t>
                      </a:r>
                      <a:r>
                        <a:rPr lang="ko-KR" altLang="en-US" sz="1200" b="1" kern="1200" dirty="0">
                          <a:solidFill>
                            <a:schemeClr val="tx1"/>
                          </a:solidFill>
                          <a:latin typeface="+mn-lt"/>
                          <a:ea typeface="+mn-ea"/>
                          <a:cs typeface="+mn-cs"/>
                        </a:rPr>
                        <a:t> 변경</a:t>
                      </a:r>
                      <a:endParaRPr lang="en-US" altLang="ko-KR" sz="1200" b="1" kern="1200" dirty="0">
                        <a:solidFill>
                          <a:schemeClr val="tx1"/>
                        </a:solidFill>
                        <a:latin typeface="+mn-lt"/>
                        <a:ea typeface="+mn-ea"/>
                        <a:cs typeface="+mn-cs"/>
                      </a:endParaRPr>
                    </a:p>
                    <a:p>
                      <a:pPr marL="0" marR="0" indent="0" algn="ctr" fontAlgn="base" latinLnBrk="0">
                        <a:lnSpc>
                          <a:spcPct val="120000"/>
                        </a:lnSpc>
                        <a:spcBef>
                          <a:spcPts val="0"/>
                        </a:spcBef>
                        <a:spcAft>
                          <a:spcPts val="0"/>
                        </a:spcAft>
                      </a:pPr>
                      <a:r>
                        <a:rPr lang="en-US" altLang="ko-KR" sz="1200" b="1" kern="1200" dirty="0">
                          <a:solidFill>
                            <a:schemeClr val="tx1"/>
                          </a:solidFill>
                          <a:latin typeface="+mn-lt"/>
                          <a:ea typeface="+mn-ea"/>
                          <a:cs typeface="+mn-cs"/>
                        </a:rPr>
                        <a:t>(</a:t>
                      </a:r>
                      <a:r>
                        <a:rPr lang="ko-KR" altLang="en-US" sz="1200" b="1" kern="1200" dirty="0">
                          <a:solidFill>
                            <a:schemeClr val="tx1"/>
                          </a:solidFill>
                          <a:latin typeface="+mn-lt"/>
                          <a:ea typeface="+mn-ea"/>
                          <a:cs typeface="+mn-cs"/>
                        </a:rPr>
                        <a:t>法 </a:t>
                      </a:r>
                      <a:r>
                        <a:rPr lang="en-US" altLang="ko-KR" sz="1200" b="1" kern="1200" dirty="0">
                          <a:solidFill>
                            <a:schemeClr val="tx1"/>
                          </a:solidFill>
                          <a:latin typeface="+mn-lt"/>
                          <a:ea typeface="+mn-ea"/>
                          <a:cs typeface="+mn-cs"/>
                        </a:rPr>
                        <a:t>15</a:t>
                      </a:r>
                      <a:r>
                        <a:rPr lang="ko-KR" altLang="en-US" sz="1200" b="1" kern="1200" dirty="0">
                          <a:solidFill>
                            <a:schemeClr val="tx1"/>
                          </a:solidFill>
                          <a:latin typeface="+mn-lt"/>
                          <a:ea typeface="+mn-ea"/>
                          <a:cs typeface="+mn-cs"/>
                        </a:rPr>
                        <a:t>③</a:t>
                      </a:r>
                      <a:r>
                        <a:rPr lang="en-US" altLang="ko-KR" sz="1200" b="1" kern="1200" dirty="0">
                          <a:solidFill>
                            <a:schemeClr val="tx1"/>
                          </a:solidFill>
                          <a:latin typeface="+mn-lt"/>
                          <a:ea typeface="+mn-ea"/>
                          <a:cs typeface="+mn-cs"/>
                        </a:rPr>
                        <a:t>)</a:t>
                      </a:r>
                      <a:endParaRPr lang="ko-KR" altLang="en-US" sz="1200" b="1" kern="1200" dirty="0">
                        <a:solidFill>
                          <a:schemeClr val="tx1"/>
                        </a:solidFill>
                        <a:latin typeface="+mn-lt"/>
                        <a:ea typeface="+mn-ea"/>
                        <a:cs typeface="+mn-cs"/>
                      </a:endParaRP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rgbClr val="E4E4E4"/>
                    </a:solidFill>
                  </a:tcPr>
                </a:tc>
                <a:extLst>
                  <a:ext uri="{0D108BD9-81ED-4DB2-BD59-A6C34878D82A}">
                    <a16:rowId xmlns:a16="http://schemas.microsoft.com/office/drawing/2014/main" val="707892061"/>
                  </a:ext>
                </a:extLst>
              </a:tr>
              <a:tr h="318979">
                <a:tc gridSpan="2">
                  <a:txBody>
                    <a:bodyPr/>
                    <a:lstStyle/>
                    <a:p>
                      <a:pPr marL="0" marR="0" indent="0" algn="ctr" fontAlgn="base" latinLnBrk="0">
                        <a:lnSpc>
                          <a:spcPct val="120000"/>
                        </a:lnSpc>
                        <a:spcBef>
                          <a:spcPts val="0"/>
                        </a:spcBef>
                        <a:spcAft>
                          <a:spcPts val="0"/>
                        </a:spcAft>
                      </a:pPr>
                      <a:r>
                        <a:rPr lang="ko-KR" altLang="en-US" sz="1200" b="1" kern="1200" dirty="0">
                          <a:solidFill>
                            <a:schemeClr val="tx1"/>
                          </a:solidFill>
                          <a:latin typeface="+mn-lt"/>
                          <a:ea typeface="+mn-ea"/>
                          <a:cs typeface="+mn-cs"/>
                        </a:rPr>
                        <a:t>성 격</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latinLnBrk="1"/>
                      <a:endParaRPr lang="ko-KR" altLang="en-US"/>
                    </a:p>
                  </a:txBody>
                  <a:tcPr/>
                </a:tc>
                <a:tc gridSpan="3">
                  <a:txBody>
                    <a:bodyPr/>
                    <a:lstStyle/>
                    <a:p>
                      <a:pPr marL="31750" marR="31750" indent="0" algn="l" fontAlgn="base" latinLnBrk="1">
                        <a:lnSpc>
                          <a:spcPct val="130000"/>
                        </a:lnSpc>
                        <a:spcBef>
                          <a:spcPts val="0"/>
                        </a:spcBef>
                        <a:spcAft>
                          <a:spcPts val="0"/>
                        </a:spcAft>
                      </a:pPr>
                      <a:r>
                        <a:rPr lang="ko-KR" altLang="en-US" sz="1200" kern="1200">
                          <a:solidFill>
                            <a:schemeClr val="tx1"/>
                          </a:solidFill>
                          <a:latin typeface="+mn-lt"/>
                          <a:ea typeface="+mn-ea"/>
                          <a:cs typeface="+mn-cs"/>
                        </a:rPr>
                        <a:t>재량행위</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hMerge="1">
                  <a:txBody>
                    <a:bodyPr/>
                    <a:lstStyle/>
                    <a:p>
                      <a:pPr latinLnBrk="1"/>
                      <a:endParaRPr lang="ko-KR" altLang="en-US"/>
                    </a:p>
                  </a:txBody>
                  <a:tcPr/>
                </a:tc>
                <a:tc hMerge="1">
                  <a:txBody>
                    <a:bodyPr/>
                    <a:lstStyle/>
                    <a:p>
                      <a:pPr latinLnBrk="1"/>
                      <a:endParaRPr lang="ko-KR" altLang="en-US"/>
                    </a:p>
                  </a:txBody>
                  <a:tcPr/>
                </a:tc>
                <a:extLst>
                  <a:ext uri="{0D108BD9-81ED-4DB2-BD59-A6C34878D82A}">
                    <a16:rowId xmlns:a16="http://schemas.microsoft.com/office/drawing/2014/main" val="2294252691"/>
                  </a:ext>
                </a:extLst>
              </a:tr>
              <a:tr h="1211102">
                <a:tc rowSpan="2">
                  <a:txBody>
                    <a:bodyPr/>
                    <a:lstStyle/>
                    <a:p>
                      <a:pPr marL="0" marR="0" indent="0" algn="ctr" fontAlgn="base" latinLnBrk="0">
                        <a:lnSpc>
                          <a:spcPct val="120000"/>
                        </a:lnSpc>
                        <a:spcBef>
                          <a:spcPts val="0"/>
                        </a:spcBef>
                        <a:spcAft>
                          <a:spcPts val="0"/>
                        </a:spcAft>
                      </a:pPr>
                      <a:r>
                        <a:rPr lang="ko-KR" altLang="en-US" sz="1200" b="1" kern="1200" dirty="0">
                          <a:solidFill>
                            <a:schemeClr val="tx1"/>
                          </a:solidFill>
                          <a:latin typeface="+mn-lt"/>
                          <a:ea typeface="+mn-ea"/>
                          <a:cs typeface="+mn-cs"/>
                        </a:rPr>
                        <a:t>요</a:t>
                      </a:r>
                      <a:endParaRPr lang="en-US" altLang="ko-KR" sz="1200" b="1" kern="1200" dirty="0">
                        <a:solidFill>
                          <a:schemeClr val="tx1"/>
                        </a:solidFill>
                        <a:latin typeface="+mn-lt"/>
                        <a:ea typeface="+mn-ea"/>
                        <a:cs typeface="+mn-cs"/>
                      </a:endParaRPr>
                    </a:p>
                    <a:p>
                      <a:pPr marL="0" marR="0" indent="0" algn="ctr" fontAlgn="base" latinLnBrk="0">
                        <a:lnSpc>
                          <a:spcPct val="120000"/>
                        </a:lnSpc>
                        <a:spcBef>
                          <a:spcPts val="0"/>
                        </a:spcBef>
                        <a:spcAft>
                          <a:spcPts val="0"/>
                        </a:spcAft>
                      </a:pPr>
                      <a:r>
                        <a:rPr lang="ko-KR" altLang="en-US" sz="1200" b="1" kern="1200" dirty="0">
                          <a:solidFill>
                            <a:schemeClr val="tx1"/>
                          </a:solidFill>
                          <a:latin typeface="+mn-lt"/>
                          <a:ea typeface="+mn-ea"/>
                          <a:cs typeface="+mn-cs"/>
                        </a:rPr>
                        <a:t>건</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ctr" fontAlgn="base" latinLnBrk="0">
                        <a:lnSpc>
                          <a:spcPct val="120000"/>
                        </a:lnSpc>
                        <a:spcBef>
                          <a:spcPts val="0"/>
                        </a:spcBef>
                        <a:spcAft>
                          <a:spcPts val="0"/>
                        </a:spcAft>
                      </a:pPr>
                      <a:r>
                        <a:rPr lang="ko-KR" altLang="en-US" sz="1200" b="1" kern="1200" dirty="0">
                          <a:solidFill>
                            <a:schemeClr val="tx1"/>
                          </a:solidFill>
                          <a:latin typeface="+mn-lt"/>
                          <a:ea typeface="+mn-ea"/>
                          <a:cs typeface="+mn-cs"/>
                        </a:rPr>
                        <a:t>주</a:t>
                      </a:r>
                      <a:endParaRPr lang="en-US" altLang="ko-KR" sz="1200" b="1" kern="1200" dirty="0">
                        <a:solidFill>
                          <a:schemeClr val="tx1"/>
                        </a:solidFill>
                        <a:latin typeface="+mn-lt"/>
                        <a:ea typeface="+mn-ea"/>
                        <a:cs typeface="+mn-cs"/>
                      </a:endParaRPr>
                    </a:p>
                    <a:p>
                      <a:pPr marL="0" marR="0" indent="0" algn="ctr" fontAlgn="base" latinLnBrk="0">
                        <a:lnSpc>
                          <a:spcPct val="120000"/>
                        </a:lnSpc>
                        <a:spcBef>
                          <a:spcPts val="0"/>
                        </a:spcBef>
                        <a:spcAft>
                          <a:spcPts val="0"/>
                        </a:spcAft>
                      </a:pPr>
                      <a:r>
                        <a:rPr lang="ko-KR" altLang="en-US" sz="1200" b="1" kern="1200" dirty="0">
                          <a:solidFill>
                            <a:schemeClr val="tx1"/>
                          </a:solidFill>
                          <a:latin typeface="+mn-lt"/>
                          <a:ea typeface="+mn-ea"/>
                          <a:cs typeface="+mn-cs"/>
                        </a:rPr>
                        <a:t>체</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31750" marR="31750" indent="0" algn="l" fontAlgn="base" latinLnBrk="1">
                        <a:lnSpc>
                          <a:spcPct val="120000"/>
                        </a:lnSpc>
                        <a:spcBef>
                          <a:spcPts val="0"/>
                        </a:spcBef>
                        <a:spcAft>
                          <a:spcPts val="0"/>
                        </a:spcAft>
                      </a:pPr>
                      <a:r>
                        <a:rPr lang="en-US" altLang="ko-KR" sz="1200" kern="1200" dirty="0">
                          <a:solidFill>
                            <a:schemeClr val="tx1"/>
                          </a:solidFill>
                          <a:latin typeface="+mn-lt"/>
                          <a:ea typeface="+mn-ea"/>
                          <a:cs typeface="+mn-cs"/>
                        </a:rPr>
                        <a:t>1. </a:t>
                      </a:r>
                      <a:r>
                        <a:rPr lang="ko-KR" altLang="en-US" sz="1200" kern="1200" dirty="0">
                          <a:solidFill>
                            <a:schemeClr val="tx1"/>
                          </a:solidFill>
                          <a:latin typeface="+mn-lt"/>
                          <a:ea typeface="+mn-ea"/>
                          <a:cs typeface="+mn-cs"/>
                        </a:rPr>
                        <a:t>지식재산처장</a:t>
                      </a:r>
                    </a:p>
                    <a:p>
                      <a:pPr marL="31750" marR="31750" indent="0" algn="l" fontAlgn="base" latinLnBrk="1">
                        <a:lnSpc>
                          <a:spcPct val="120000"/>
                        </a:lnSpc>
                        <a:spcBef>
                          <a:spcPts val="0"/>
                        </a:spcBef>
                        <a:spcAft>
                          <a:spcPts val="0"/>
                        </a:spcAft>
                      </a:pPr>
                      <a:r>
                        <a:rPr lang="en-US" altLang="ko-KR" sz="1200" kern="1200" dirty="0">
                          <a:solidFill>
                            <a:schemeClr val="tx1"/>
                          </a:solidFill>
                          <a:latin typeface="+mn-lt"/>
                          <a:ea typeface="+mn-ea"/>
                          <a:cs typeface="+mn-cs"/>
                        </a:rPr>
                        <a:t>2. </a:t>
                      </a:r>
                      <a:r>
                        <a:rPr lang="ko-KR" altLang="en-US" sz="1200" kern="1200" dirty="0">
                          <a:solidFill>
                            <a:schemeClr val="tx1"/>
                          </a:solidFill>
                          <a:latin typeface="+mn-lt"/>
                          <a:ea typeface="+mn-ea"/>
                          <a:cs typeface="+mn-cs"/>
                        </a:rPr>
                        <a:t>청구 또는 직권</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139700" marR="31750" indent="-139700" algn="l" fontAlgn="base" latinLnBrk="1">
                        <a:lnSpc>
                          <a:spcPct val="130000"/>
                        </a:lnSpc>
                        <a:spcBef>
                          <a:spcPts val="0"/>
                        </a:spcBef>
                        <a:spcAft>
                          <a:spcPts val="0"/>
                        </a:spcAft>
                      </a:pPr>
                      <a:r>
                        <a:rPr lang="en-US" altLang="ko-KR" sz="1200" kern="1200" dirty="0">
                          <a:solidFill>
                            <a:schemeClr val="tx1"/>
                          </a:solidFill>
                          <a:latin typeface="+mn-lt"/>
                          <a:ea typeface="+mn-ea"/>
                          <a:cs typeface="+mn-cs"/>
                        </a:rPr>
                        <a:t>1. </a:t>
                      </a:r>
                      <a:r>
                        <a:rPr lang="ko-KR" altLang="en-US" sz="1200" kern="1200" dirty="0">
                          <a:solidFill>
                            <a:schemeClr val="tx1"/>
                          </a:solidFill>
                          <a:latin typeface="+mn-lt"/>
                          <a:ea typeface="+mn-ea"/>
                          <a:cs typeface="+mn-cs"/>
                        </a:rPr>
                        <a:t>지식재산처장</a:t>
                      </a:r>
                      <a:r>
                        <a:rPr lang="en-US" altLang="ko-KR" sz="1200" kern="1200" dirty="0">
                          <a:solidFill>
                            <a:schemeClr val="tx1"/>
                          </a:solidFill>
                          <a:latin typeface="+mn-lt"/>
                          <a:ea typeface="+mn-ea"/>
                          <a:cs typeface="+mn-cs"/>
                        </a:rPr>
                        <a:t>, </a:t>
                      </a:r>
                      <a:r>
                        <a:rPr lang="ko-KR" altLang="en-US" sz="1200" kern="1200" dirty="0">
                          <a:solidFill>
                            <a:schemeClr val="tx1"/>
                          </a:solidFill>
                          <a:latin typeface="+mn-lt"/>
                          <a:ea typeface="+mn-ea"/>
                          <a:cs typeface="+mn-cs"/>
                        </a:rPr>
                        <a:t>특허심판원장</a:t>
                      </a:r>
                      <a:r>
                        <a:rPr lang="en-US" altLang="ko-KR" sz="1200" kern="1200" dirty="0">
                          <a:solidFill>
                            <a:schemeClr val="tx1"/>
                          </a:solidFill>
                          <a:latin typeface="+mn-lt"/>
                          <a:ea typeface="+mn-ea"/>
                          <a:cs typeface="+mn-cs"/>
                        </a:rPr>
                        <a:t>, </a:t>
                      </a:r>
                      <a:r>
                        <a:rPr lang="ko-KR" altLang="en-US" sz="1200" kern="1200" dirty="0">
                          <a:solidFill>
                            <a:schemeClr val="tx1"/>
                          </a:solidFill>
                          <a:latin typeface="+mn-lt"/>
                          <a:ea typeface="+mn-ea"/>
                          <a:cs typeface="+mn-cs"/>
                        </a:rPr>
                        <a:t>심판장</a:t>
                      </a:r>
                      <a:r>
                        <a:rPr lang="en-US" altLang="ko-KR" sz="1200" kern="1200" dirty="0">
                          <a:solidFill>
                            <a:schemeClr val="tx1"/>
                          </a:solidFill>
                          <a:latin typeface="+mn-lt"/>
                          <a:ea typeface="+mn-ea"/>
                          <a:cs typeface="+mn-cs"/>
                        </a:rPr>
                        <a:t>, </a:t>
                      </a:r>
                      <a:r>
                        <a:rPr lang="ko-KR" altLang="en-US" sz="1200" kern="1200" dirty="0">
                          <a:solidFill>
                            <a:schemeClr val="tx1"/>
                          </a:solidFill>
                          <a:latin typeface="+mn-lt"/>
                          <a:ea typeface="+mn-ea"/>
                          <a:cs typeface="+mn-cs"/>
                        </a:rPr>
                        <a:t>심사관</a:t>
                      </a:r>
                    </a:p>
                    <a:p>
                      <a:pPr marL="31750" marR="31750" indent="0" algn="l" fontAlgn="base" latinLnBrk="1">
                        <a:lnSpc>
                          <a:spcPct val="130000"/>
                        </a:lnSpc>
                        <a:spcBef>
                          <a:spcPts val="0"/>
                        </a:spcBef>
                        <a:spcAft>
                          <a:spcPts val="0"/>
                        </a:spcAft>
                      </a:pPr>
                      <a:r>
                        <a:rPr lang="en-US" altLang="ko-KR" sz="1200" kern="1200" dirty="0">
                          <a:solidFill>
                            <a:schemeClr val="tx1"/>
                          </a:solidFill>
                          <a:latin typeface="+mn-lt"/>
                          <a:ea typeface="+mn-ea"/>
                          <a:cs typeface="+mn-cs"/>
                        </a:rPr>
                        <a:t>2. </a:t>
                      </a:r>
                      <a:r>
                        <a:rPr lang="ko-KR" altLang="en-US" sz="1200" kern="1200" dirty="0">
                          <a:solidFill>
                            <a:schemeClr val="tx1"/>
                          </a:solidFill>
                          <a:latin typeface="+mn-lt"/>
                          <a:ea typeface="+mn-ea"/>
                          <a:cs typeface="+mn-cs"/>
                        </a:rPr>
                        <a:t>단축 </a:t>
                      </a:r>
                      <a:r>
                        <a:rPr lang="en-US" altLang="ko-KR" sz="1200" kern="1200" dirty="0">
                          <a:solidFill>
                            <a:schemeClr val="tx1"/>
                          </a:solidFill>
                          <a:latin typeface="+mn-lt"/>
                          <a:ea typeface="+mn-ea"/>
                          <a:cs typeface="+mn-cs"/>
                        </a:rPr>
                        <a:t>- </a:t>
                      </a:r>
                      <a:r>
                        <a:rPr lang="ko-KR" altLang="en-US" sz="1200" kern="1200" dirty="0">
                          <a:solidFill>
                            <a:schemeClr val="tx1"/>
                          </a:solidFill>
                          <a:latin typeface="+mn-lt"/>
                          <a:ea typeface="+mn-ea"/>
                          <a:cs typeface="+mn-cs"/>
                        </a:rPr>
                        <a:t>청구 </a:t>
                      </a:r>
                    </a:p>
                    <a:p>
                      <a:pPr marL="31750" marR="31750" indent="0" algn="l" fontAlgn="base" latinLnBrk="1">
                        <a:lnSpc>
                          <a:spcPct val="130000"/>
                        </a:lnSpc>
                        <a:spcBef>
                          <a:spcPts val="0"/>
                        </a:spcBef>
                        <a:spcAft>
                          <a:spcPts val="0"/>
                        </a:spcAft>
                      </a:pPr>
                      <a:r>
                        <a:rPr lang="en-US" altLang="ko-KR" sz="1200" kern="1200" dirty="0">
                          <a:solidFill>
                            <a:schemeClr val="tx1"/>
                          </a:solidFill>
                          <a:latin typeface="+mn-lt"/>
                          <a:ea typeface="+mn-ea"/>
                          <a:cs typeface="+mn-cs"/>
                        </a:rPr>
                        <a:t>3. </a:t>
                      </a:r>
                      <a:r>
                        <a:rPr lang="ko-KR" altLang="en-US" sz="1200" kern="1200" dirty="0">
                          <a:solidFill>
                            <a:schemeClr val="tx1"/>
                          </a:solidFill>
                          <a:latin typeface="+mn-lt"/>
                          <a:ea typeface="+mn-ea"/>
                          <a:cs typeface="+mn-cs"/>
                        </a:rPr>
                        <a:t>연장 </a:t>
                      </a:r>
                      <a:r>
                        <a:rPr lang="en-US" altLang="ko-KR" sz="1200" kern="1200" dirty="0">
                          <a:solidFill>
                            <a:schemeClr val="tx1"/>
                          </a:solidFill>
                          <a:latin typeface="+mn-lt"/>
                          <a:ea typeface="+mn-ea"/>
                          <a:cs typeface="+mn-cs"/>
                        </a:rPr>
                        <a:t>- </a:t>
                      </a:r>
                      <a:r>
                        <a:rPr lang="ko-KR" altLang="en-US" sz="1200" kern="1200" dirty="0">
                          <a:solidFill>
                            <a:schemeClr val="tx1"/>
                          </a:solidFill>
                          <a:latin typeface="+mn-lt"/>
                          <a:ea typeface="+mn-ea"/>
                          <a:cs typeface="+mn-cs"/>
                        </a:rPr>
                        <a:t>청구 또는 직권</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31750" marR="31750" indent="0" algn="l" fontAlgn="base" latinLnBrk="1">
                        <a:lnSpc>
                          <a:spcPct val="130000"/>
                        </a:lnSpc>
                        <a:spcBef>
                          <a:spcPts val="0"/>
                        </a:spcBef>
                        <a:spcAft>
                          <a:spcPts val="0"/>
                        </a:spcAft>
                      </a:pPr>
                      <a:r>
                        <a:rPr lang="en-US" altLang="ko-KR" sz="1200" kern="1200">
                          <a:solidFill>
                            <a:schemeClr val="tx1"/>
                          </a:solidFill>
                          <a:latin typeface="+mn-lt"/>
                          <a:ea typeface="+mn-ea"/>
                          <a:cs typeface="+mn-cs"/>
                        </a:rPr>
                        <a:t>1. </a:t>
                      </a:r>
                      <a:r>
                        <a:rPr lang="ko-KR" altLang="en-US" sz="1200" kern="1200">
                          <a:solidFill>
                            <a:schemeClr val="tx1"/>
                          </a:solidFill>
                          <a:latin typeface="+mn-lt"/>
                          <a:ea typeface="+mn-ea"/>
                          <a:cs typeface="+mn-cs"/>
                        </a:rPr>
                        <a:t>심판장</a:t>
                      </a:r>
                    </a:p>
                    <a:p>
                      <a:pPr marL="31750" marR="31750" indent="0" algn="l" fontAlgn="base" latinLnBrk="1">
                        <a:lnSpc>
                          <a:spcPct val="130000"/>
                        </a:lnSpc>
                        <a:spcBef>
                          <a:spcPts val="0"/>
                        </a:spcBef>
                        <a:spcAft>
                          <a:spcPts val="0"/>
                        </a:spcAft>
                      </a:pPr>
                      <a:r>
                        <a:rPr lang="en-US" altLang="ko-KR" sz="1200" kern="1200">
                          <a:solidFill>
                            <a:schemeClr val="tx1"/>
                          </a:solidFill>
                          <a:latin typeface="+mn-lt"/>
                          <a:ea typeface="+mn-ea"/>
                          <a:cs typeface="+mn-cs"/>
                        </a:rPr>
                        <a:t>2. </a:t>
                      </a:r>
                      <a:r>
                        <a:rPr lang="ko-KR" altLang="en-US" sz="1200" kern="1200">
                          <a:solidFill>
                            <a:schemeClr val="tx1"/>
                          </a:solidFill>
                          <a:latin typeface="+mn-lt"/>
                          <a:ea typeface="+mn-ea"/>
                          <a:cs typeface="+mn-cs"/>
                        </a:rPr>
                        <a:t>청구 또는 직권</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280135114"/>
                  </a:ext>
                </a:extLst>
              </a:tr>
              <a:tr h="850822">
                <a:tc vMerge="1">
                  <a:txBody>
                    <a:bodyPr/>
                    <a:lstStyle/>
                    <a:p>
                      <a:pPr latinLnBrk="1"/>
                      <a:endParaRPr lang="ko-KR" altLang="en-US"/>
                    </a:p>
                  </a:txBody>
                  <a:tcPr/>
                </a:tc>
                <a:tc>
                  <a:txBody>
                    <a:bodyPr/>
                    <a:lstStyle/>
                    <a:p>
                      <a:pPr marL="0" marR="0" indent="0" algn="ctr" fontAlgn="base" latinLnBrk="0">
                        <a:lnSpc>
                          <a:spcPct val="120000"/>
                        </a:lnSpc>
                        <a:spcBef>
                          <a:spcPts val="0"/>
                        </a:spcBef>
                        <a:spcAft>
                          <a:spcPts val="0"/>
                        </a:spcAft>
                      </a:pPr>
                      <a:r>
                        <a:rPr lang="ko-KR" altLang="en-US" sz="1200" b="1" kern="1200" dirty="0">
                          <a:solidFill>
                            <a:schemeClr val="tx1"/>
                          </a:solidFill>
                          <a:latin typeface="+mn-lt"/>
                          <a:ea typeface="+mn-ea"/>
                          <a:cs typeface="+mn-cs"/>
                        </a:rPr>
                        <a:t>대</a:t>
                      </a:r>
                      <a:endParaRPr lang="en-US" altLang="ko-KR" sz="1200" b="1" kern="1200" dirty="0">
                        <a:solidFill>
                          <a:schemeClr val="tx1"/>
                        </a:solidFill>
                        <a:latin typeface="+mn-lt"/>
                        <a:ea typeface="+mn-ea"/>
                        <a:cs typeface="+mn-cs"/>
                      </a:endParaRPr>
                    </a:p>
                    <a:p>
                      <a:pPr marL="0" marR="0" indent="0" algn="ctr" fontAlgn="base" latinLnBrk="0">
                        <a:lnSpc>
                          <a:spcPct val="120000"/>
                        </a:lnSpc>
                        <a:spcBef>
                          <a:spcPts val="0"/>
                        </a:spcBef>
                        <a:spcAft>
                          <a:spcPts val="0"/>
                        </a:spcAft>
                      </a:pPr>
                      <a:r>
                        <a:rPr lang="ko-KR" altLang="en-US" sz="1200" b="1" kern="1200" dirty="0">
                          <a:solidFill>
                            <a:schemeClr val="tx1"/>
                          </a:solidFill>
                          <a:latin typeface="+mn-lt"/>
                          <a:ea typeface="+mn-ea"/>
                          <a:cs typeface="+mn-cs"/>
                        </a:rPr>
                        <a:t>상</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31750" marR="31750" indent="0" algn="l" fontAlgn="base" latinLnBrk="1">
                        <a:lnSpc>
                          <a:spcPct val="120000"/>
                        </a:lnSpc>
                        <a:spcBef>
                          <a:spcPts val="0"/>
                        </a:spcBef>
                        <a:spcAft>
                          <a:spcPts val="0"/>
                        </a:spcAft>
                      </a:pPr>
                      <a:r>
                        <a:rPr lang="ko-KR" altLang="en-US" sz="1200" kern="1200" dirty="0">
                          <a:solidFill>
                            <a:schemeClr val="tx1"/>
                          </a:solidFill>
                          <a:latin typeface="+mn-lt"/>
                          <a:ea typeface="+mn-ea"/>
                          <a:cs typeface="+mn-cs"/>
                        </a:rPr>
                        <a:t>거절결정불복심판의 </a:t>
                      </a:r>
                      <a:endParaRPr lang="en-US" altLang="ko-KR" sz="1200" kern="1200" dirty="0">
                        <a:solidFill>
                          <a:schemeClr val="tx1"/>
                        </a:solidFill>
                        <a:latin typeface="+mn-lt"/>
                        <a:ea typeface="+mn-ea"/>
                        <a:cs typeface="+mn-cs"/>
                      </a:endParaRPr>
                    </a:p>
                    <a:p>
                      <a:pPr marL="31750" marR="31750" indent="0" algn="l" fontAlgn="base" latinLnBrk="1">
                        <a:lnSpc>
                          <a:spcPct val="120000"/>
                        </a:lnSpc>
                        <a:spcBef>
                          <a:spcPts val="0"/>
                        </a:spcBef>
                        <a:spcAft>
                          <a:spcPts val="0"/>
                        </a:spcAft>
                      </a:pPr>
                      <a:r>
                        <a:rPr lang="ko-KR" altLang="en-US" sz="1200" kern="1200" dirty="0">
                          <a:solidFill>
                            <a:schemeClr val="tx1"/>
                          </a:solidFill>
                          <a:latin typeface="+mn-lt"/>
                          <a:ea typeface="+mn-ea"/>
                          <a:cs typeface="+mn-cs"/>
                        </a:rPr>
                        <a:t>청구기간</a:t>
                      </a:r>
                      <a:r>
                        <a:rPr lang="en-US" altLang="ko-KR" sz="1200" kern="1200" dirty="0">
                          <a:solidFill>
                            <a:schemeClr val="tx1"/>
                          </a:solidFill>
                          <a:latin typeface="+mn-lt"/>
                          <a:ea typeface="+mn-ea"/>
                          <a:cs typeface="+mn-cs"/>
                        </a:rPr>
                        <a:t>(</a:t>
                      </a:r>
                      <a:r>
                        <a:rPr lang="ko-KR" altLang="en-US" sz="1200" kern="1200" dirty="0">
                          <a:solidFill>
                            <a:schemeClr val="tx1"/>
                          </a:solidFill>
                          <a:latin typeface="+mn-lt"/>
                          <a:ea typeface="+mn-ea"/>
                          <a:cs typeface="+mn-cs"/>
                        </a:rPr>
                        <a:t>法 </a:t>
                      </a:r>
                      <a:r>
                        <a:rPr lang="en-US" altLang="ko-KR" sz="1200" kern="1200" dirty="0">
                          <a:solidFill>
                            <a:schemeClr val="tx1"/>
                          </a:solidFill>
                          <a:latin typeface="+mn-lt"/>
                          <a:ea typeface="+mn-ea"/>
                          <a:cs typeface="+mn-cs"/>
                        </a:rPr>
                        <a:t>132</a:t>
                      </a:r>
                      <a:r>
                        <a:rPr lang="ko-KR" altLang="en-US" sz="1200" kern="1200" dirty="0">
                          <a:solidFill>
                            <a:schemeClr val="tx1"/>
                          </a:solidFill>
                          <a:latin typeface="+mn-lt"/>
                          <a:ea typeface="+mn-ea"/>
                          <a:cs typeface="+mn-cs"/>
                        </a:rPr>
                        <a:t>의</a:t>
                      </a:r>
                      <a:r>
                        <a:rPr lang="en-US" altLang="ko-KR" sz="1200" kern="1200" dirty="0">
                          <a:solidFill>
                            <a:schemeClr val="tx1"/>
                          </a:solidFill>
                          <a:latin typeface="+mn-lt"/>
                          <a:ea typeface="+mn-ea"/>
                          <a:cs typeface="+mn-cs"/>
                        </a:rPr>
                        <a:t>17):</a:t>
                      </a:r>
                    </a:p>
                    <a:p>
                      <a:pPr marL="31750" marR="31750" indent="0" algn="l" fontAlgn="base" latinLnBrk="1">
                        <a:lnSpc>
                          <a:spcPct val="120000"/>
                        </a:lnSpc>
                        <a:spcBef>
                          <a:spcPts val="0"/>
                        </a:spcBef>
                        <a:spcAft>
                          <a:spcPts val="0"/>
                        </a:spcAft>
                      </a:pPr>
                      <a:r>
                        <a:rPr lang="ko-KR" altLang="en-US" sz="1200" kern="1200" dirty="0" err="1">
                          <a:solidFill>
                            <a:schemeClr val="tx1"/>
                          </a:solidFill>
                          <a:latin typeface="+mn-lt"/>
                          <a:ea typeface="+mn-ea"/>
                          <a:cs typeface="+mn-cs"/>
                        </a:rPr>
                        <a:t>거절결정등본송달일로부터</a:t>
                      </a:r>
                      <a:r>
                        <a:rPr lang="ko-KR" altLang="en-US" sz="1200" kern="1200" dirty="0">
                          <a:solidFill>
                            <a:schemeClr val="tx1"/>
                          </a:solidFill>
                          <a:latin typeface="+mn-lt"/>
                          <a:ea typeface="+mn-ea"/>
                          <a:cs typeface="+mn-cs"/>
                        </a:rPr>
                        <a:t> </a:t>
                      </a:r>
                      <a:r>
                        <a:rPr lang="en-US" altLang="ko-KR" sz="1200" kern="1200" dirty="0">
                          <a:solidFill>
                            <a:schemeClr val="tx1"/>
                          </a:solidFill>
                          <a:latin typeface="+mn-lt"/>
                          <a:ea typeface="+mn-ea"/>
                          <a:cs typeface="+mn-cs"/>
                        </a:rPr>
                        <a:t>3</a:t>
                      </a:r>
                      <a:r>
                        <a:rPr lang="ko-KR" altLang="en-US" sz="1200" kern="1200" dirty="0">
                          <a:solidFill>
                            <a:schemeClr val="tx1"/>
                          </a:solidFill>
                          <a:latin typeface="+mn-lt"/>
                          <a:ea typeface="+mn-ea"/>
                          <a:cs typeface="+mn-cs"/>
                        </a:rPr>
                        <a:t>개월</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31750" marR="31750" indent="0" algn="l" fontAlgn="base" latinLnBrk="1">
                        <a:lnSpc>
                          <a:spcPct val="130000"/>
                        </a:lnSpc>
                        <a:spcBef>
                          <a:spcPts val="0"/>
                        </a:spcBef>
                        <a:spcAft>
                          <a:spcPts val="0"/>
                        </a:spcAft>
                      </a:pPr>
                      <a:r>
                        <a:rPr lang="ko-KR" altLang="en-US" sz="1200" kern="1200" dirty="0">
                          <a:solidFill>
                            <a:schemeClr val="tx1"/>
                          </a:solidFill>
                          <a:latin typeface="+mn-lt"/>
                          <a:ea typeface="+mn-ea"/>
                          <a:cs typeface="+mn-cs"/>
                        </a:rPr>
                        <a:t>모든 지정기간</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31750" marR="31750" indent="0" algn="l" fontAlgn="base" latinLnBrk="1">
                        <a:lnSpc>
                          <a:spcPct val="130000"/>
                        </a:lnSpc>
                        <a:spcBef>
                          <a:spcPts val="0"/>
                        </a:spcBef>
                        <a:spcAft>
                          <a:spcPts val="0"/>
                        </a:spcAft>
                      </a:pPr>
                      <a:r>
                        <a:rPr lang="ko-KR" altLang="en-US" sz="1200" kern="1200">
                          <a:solidFill>
                            <a:schemeClr val="tx1"/>
                          </a:solidFill>
                          <a:latin typeface="+mn-lt"/>
                          <a:ea typeface="+mn-ea"/>
                          <a:cs typeface="+mn-cs"/>
                        </a:rPr>
                        <a:t>모든 지정기일</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85022573"/>
                  </a:ext>
                </a:extLst>
              </a:tr>
              <a:tr h="1948820">
                <a:tc gridSpan="2">
                  <a:txBody>
                    <a:bodyPr/>
                    <a:lstStyle/>
                    <a:p>
                      <a:pPr marL="0" marR="0" indent="0" algn="ctr" fontAlgn="base" latinLnBrk="0">
                        <a:lnSpc>
                          <a:spcPct val="120000"/>
                        </a:lnSpc>
                        <a:spcBef>
                          <a:spcPts val="0"/>
                        </a:spcBef>
                        <a:spcAft>
                          <a:spcPts val="0"/>
                        </a:spcAft>
                      </a:pPr>
                      <a:r>
                        <a:rPr lang="ko-KR" altLang="en-US" sz="1200" b="1" kern="1200" dirty="0">
                          <a:solidFill>
                            <a:schemeClr val="tx1"/>
                          </a:solidFill>
                          <a:latin typeface="+mn-lt"/>
                          <a:ea typeface="+mn-ea"/>
                          <a:cs typeface="+mn-cs"/>
                        </a:rPr>
                        <a:t>효 과</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latinLnBrk="1"/>
                      <a:endParaRPr lang="ko-KR" altLang="en-US"/>
                    </a:p>
                  </a:txBody>
                  <a:tcPr/>
                </a:tc>
                <a:tc>
                  <a:txBody>
                    <a:bodyPr/>
                    <a:lstStyle/>
                    <a:p>
                      <a:pPr marL="31750" marR="31750" indent="0" algn="l" fontAlgn="base" latinLnBrk="1">
                        <a:lnSpc>
                          <a:spcPct val="120000"/>
                        </a:lnSpc>
                        <a:spcBef>
                          <a:spcPts val="0"/>
                        </a:spcBef>
                        <a:spcAft>
                          <a:spcPts val="0"/>
                        </a:spcAft>
                      </a:pPr>
                      <a:r>
                        <a:rPr lang="en-US" altLang="ko-KR" sz="1200" kern="1200" dirty="0">
                          <a:solidFill>
                            <a:schemeClr val="tx1"/>
                          </a:solidFill>
                          <a:latin typeface="+mn-lt"/>
                          <a:ea typeface="+mn-ea"/>
                          <a:cs typeface="+mn-cs"/>
                        </a:rPr>
                        <a:t>1</a:t>
                      </a:r>
                      <a:r>
                        <a:rPr lang="ko-KR" altLang="en-US" sz="1200" kern="1200" dirty="0">
                          <a:solidFill>
                            <a:schemeClr val="tx1"/>
                          </a:solidFill>
                          <a:latin typeface="+mn-lt"/>
                          <a:ea typeface="+mn-ea"/>
                          <a:cs typeface="+mn-cs"/>
                        </a:rPr>
                        <a:t>회에 한해 </a:t>
                      </a:r>
                      <a:r>
                        <a:rPr lang="en-US" altLang="ko-KR" sz="1200" kern="1200" dirty="0">
                          <a:solidFill>
                            <a:schemeClr val="tx1"/>
                          </a:solidFill>
                          <a:latin typeface="+mn-lt"/>
                          <a:ea typeface="+mn-ea"/>
                          <a:cs typeface="+mn-cs"/>
                        </a:rPr>
                        <a:t>30</a:t>
                      </a:r>
                      <a:r>
                        <a:rPr lang="ko-KR" altLang="en-US" sz="1200" kern="1200" dirty="0">
                          <a:solidFill>
                            <a:schemeClr val="tx1"/>
                          </a:solidFill>
                          <a:latin typeface="+mn-lt"/>
                          <a:ea typeface="+mn-ea"/>
                          <a:cs typeface="+mn-cs"/>
                        </a:rPr>
                        <a:t>일 이내 기간의 연장</a:t>
                      </a:r>
                    </a:p>
                    <a:p>
                      <a:pPr marL="31750" marR="31750" indent="0" algn="l" fontAlgn="base" latinLnBrk="1">
                        <a:lnSpc>
                          <a:spcPct val="120000"/>
                        </a:lnSpc>
                        <a:spcBef>
                          <a:spcPts val="0"/>
                        </a:spcBef>
                        <a:spcAft>
                          <a:spcPts val="0"/>
                        </a:spcAft>
                      </a:pPr>
                      <a:r>
                        <a:rPr lang="en-US" altLang="ko-KR" sz="1200" kern="1200" dirty="0">
                          <a:solidFill>
                            <a:schemeClr val="tx1"/>
                          </a:solidFill>
                          <a:latin typeface="+mn-lt"/>
                          <a:ea typeface="+mn-ea"/>
                          <a:cs typeface="+mn-cs"/>
                        </a:rPr>
                        <a:t>(</a:t>
                      </a:r>
                      <a:r>
                        <a:rPr lang="ko-KR" altLang="en-US" sz="1200" kern="1200" dirty="0">
                          <a:solidFill>
                            <a:schemeClr val="tx1"/>
                          </a:solidFill>
                          <a:latin typeface="+mn-lt"/>
                          <a:ea typeface="+mn-ea"/>
                          <a:cs typeface="+mn-cs"/>
                        </a:rPr>
                        <a:t>단</a:t>
                      </a:r>
                      <a:r>
                        <a:rPr lang="en-US" altLang="ko-KR" sz="1200" kern="1200" dirty="0">
                          <a:solidFill>
                            <a:schemeClr val="tx1"/>
                          </a:solidFill>
                          <a:latin typeface="+mn-lt"/>
                          <a:ea typeface="+mn-ea"/>
                          <a:cs typeface="+mn-cs"/>
                        </a:rPr>
                        <a:t>, </a:t>
                      </a:r>
                      <a:r>
                        <a:rPr lang="ko-KR" altLang="en-US" sz="1200" kern="1200" dirty="0">
                          <a:solidFill>
                            <a:schemeClr val="tx1"/>
                          </a:solidFill>
                          <a:latin typeface="+mn-lt"/>
                          <a:ea typeface="+mn-ea"/>
                          <a:cs typeface="+mn-cs"/>
                        </a:rPr>
                        <a:t>도서</a:t>
                      </a:r>
                      <a:r>
                        <a:rPr lang="en-US" altLang="ko-KR" sz="1200" kern="1200" dirty="0">
                          <a:solidFill>
                            <a:schemeClr val="tx1"/>
                          </a:solidFill>
                          <a:latin typeface="+mn-lt"/>
                          <a:ea typeface="+mn-ea"/>
                          <a:cs typeface="+mn-cs"/>
                        </a:rPr>
                        <a:t>·</a:t>
                      </a:r>
                      <a:r>
                        <a:rPr lang="ko-KR" altLang="en-US" sz="1200" kern="1200" dirty="0">
                          <a:solidFill>
                            <a:schemeClr val="tx1"/>
                          </a:solidFill>
                          <a:latin typeface="+mn-lt"/>
                          <a:ea typeface="+mn-ea"/>
                          <a:cs typeface="+mn-cs"/>
                        </a:rPr>
                        <a:t>벽지 등 교통이 불편한 지역에 있는 자의 경우에는 총리령으로 정하는 바에 따라 그 횟수 및 기간을 추가로 연장가능</a:t>
                      </a:r>
                      <a:r>
                        <a:rPr lang="en-US" altLang="ko-KR" sz="1200" kern="1200" dirty="0">
                          <a:solidFill>
                            <a:schemeClr val="tx1"/>
                          </a:solidFill>
                          <a:latin typeface="+mn-lt"/>
                          <a:ea typeface="+mn-ea"/>
                          <a:cs typeface="+mn-cs"/>
                        </a:rPr>
                        <a:t>)</a:t>
                      </a:r>
                      <a:endParaRPr lang="ko-KR" altLang="en-US" sz="1200" kern="1200" dirty="0">
                        <a:solidFill>
                          <a:schemeClr val="tx1"/>
                        </a:solidFill>
                        <a:latin typeface="+mn-lt"/>
                        <a:ea typeface="+mn-ea"/>
                        <a:cs typeface="+mn-cs"/>
                      </a:endParaRP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31750" marR="31750" indent="0" algn="l" fontAlgn="base" latinLnBrk="1">
                        <a:lnSpc>
                          <a:spcPct val="130000"/>
                        </a:lnSpc>
                        <a:spcBef>
                          <a:spcPts val="0"/>
                        </a:spcBef>
                        <a:spcAft>
                          <a:spcPts val="0"/>
                        </a:spcAft>
                      </a:pPr>
                      <a:r>
                        <a:rPr lang="ko-KR" altLang="en-US" sz="1200" kern="1200" dirty="0">
                          <a:solidFill>
                            <a:schemeClr val="tx1"/>
                          </a:solidFill>
                          <a:latin typeface="+mn-lt"/>
                          <a:ea typeface="+mn-ea"/>
                          <a:cs typeface="+mn-cs"/>
                        </a:rPr>
                        <a:t>기간의 단축 또는 연장</a:t>
                      </a:r>
                    </a:p>
                    <a:p>
                      <a:pPr marL="31750" marR="31750" indent="0" algn="l" fontAlgn="base" latinLnBrk="1">
                        <a:lnSpc>
                          <a:spcPct val="130000"/>
                        </a:lnSpc>
                        <a:spcBef>
                          <a:spcPts val="0"/>
                        </a:spcBef>
                        <a:spcAft>
                          <a:spcPts val="0"/>
                        </a:spcAft>
                      </a:pPr>
                      <a:r>
                        <a:rPr lang="en-US" altLang="ko-KR" sz="1200" kern="1200" dirty="0">
                          <a:solidFill>
                            <a:schemeClr val="tx1"/>
                          </a:solidFill>
                          <a:latin typeface="+mn-lt"/>
                          <a:ea typeface="+mn-ea"/>
                          <a:cs typeface="+mn-cs"/>
                        </a:rPr>
                        <a:t>(</a:t>
                      </a:r>
                      <a:r>
                        <a:rPr lang="ko-KR" altLang="en-US" sz="1200" kern="1200" dirty="0">
                          <a:solidFill>
                            <a:schemeClr val="tx1"/>
                          </a:solidFill>
                          <a:latin typeface="+mn-lt"/>
                          <a:ea typeface="+mn-ea"/>
                          <a:cs typeface="+mn-cs"/>
                        </a:rPr>
                        <a:t>단</a:t>
                      </a:r>
                      <a:r>
                        <a:rPr lang="en-US" altLang="ko-KR" sz="1200" kern="1200" dirty="0">
                          <a:solidFill>
                            <a:schemeClr val="tx1"/>
                          </a:solidFill>
                          <a:latin typeface="+mn-lt"/>
                          <a:ea typeface="+mn-ea"/>
                          <a:cs typeface="+mn-cs"/>
                        </a:rPr>
                        <a:t>, </a:t>
                      </a:r>
                      <a:r>
                        <a:rPr lang="ko-KR" altLang="en-US" sz="1200" kern="1200" dirty="0">
                          <a:solidFill>
                            <a:schemeClr val="tx1"/>
                          </a:solidFill>
                          <a:latin typeface="+mn-lt"/>
                          <a:ea typeface="+mn-ea"/>
                          <a:cs typeface="+mn-cs"/>
                        </a:rPr>
                        <a:t>이해관계인의 이익 부당 침해</a:t>
                      </a:r>
                      <a:r>
                        <a:rPr lang="en-US" altLang="ko-KR" sz="1200" kern="1200" dirty="0">
                          <a:solidFill>
                            <a:schemeClr val="tx1"/>
                          </a:solidFill>
                          <a:latin typeface="+mn-lt"/>
                          <a:ea typeface="+mn-ea"/>
                          <a:cs typeface="+mn-cs"/>
                        </a:rPr>
                        <a:t>×)</a:t>
                      </a:r>
                      <a:endParaRPr lang="ko-KR" altLang="en-US" sz="1200" kern="1200" dirty="0">
                        <a:solidFill>
                          <a:schemeClr val="tx1"/>
                        </a:solidFill>
                        <a:latin typeface="+mn-lt"/>
                        <a:ea typeface="+mn-ea"/>
                        <a:cs typeface="+mn-cs"/>
                      </a:endParaRP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tc>
                  <a:txBody>
                    <a:bodyPr/>
                    <a:lstStyle/>
                    <a:p>
                      <a:pPr marL="31750" marR="31750" indent="0" algn="l" fontAlgn="base" latinLnBrk="1">
                        <a:lnSpc>
                          <a:spcPct val="130000"/>
                        </a:lnSpc>
                        <a:spcBef>
                          <a:spcPts val="0"/>
                        </a:spcBef>
                        <a:spcAft>
                          <a:spcPts val="0"/>
                        </a:spcAft>
                      </a:pPr>
                      <a:r>
                        <a:rPr lang="ko-KR" altLang="en-US" sz="1200" kern="1200" dirty="0">
                          <a:solidFill>
                            <a:schemeClr val="tx1"/>
                          </a:solidFill>
                          <a:latin typeface="+mn-lt"/>
                          <a:ea typeface="+mn-ea"/>
                          <a:cs typeface="+mn-cs"/>
                        </a:rPr>
                        <a:t>기일의 변경</a:t>
                      </a:r>
                    </a:p>
                  </a:txBody>
                  <a:tcPr marL="17907" marR="17907" marT="17907" marB="17907"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991153572"/>
                  </a:ext>
                </a:extLst>
              </a:tr>
            </a:tbl>
          </a:graphicData>
        </a:graphic>
      </p:graphicFrame>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37</a:t>
            </a:fld>
            <a:endParaRPr lang="ko-KR" altLang="en-US"/>
          </a:p>
        </p:txBody>
      </p:sp>
    </p:spTree>
    <p:extLst>
      <p:ext uri="{BB962C8B-B14F-4D97-AF65-F5344CB8AC3E}">
        <p14:creationId xmlns:p14="http://schemas.microsoft.com/office/powerpoint/2010/main" val="5660479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9" name="직선 연결선 18"/>
          <p:cNvCxnSpPr>
            <a:stCxn id="42" idx="2"/>
            <a:endCxn id="47" idx="0"/>
          </p:cNvCxnSpPr>
          <p:nvPr/>
        </p:nvCxnSpPr>
        <p:spPr>
          <a:xfrm>
            <a:off x="10877550" y="1816100"/>
            <a:ext cx="0" cy="990600"/>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 name="제목 2"/>
          <p:cNvSpPr>
            <a:spLocks noGrp="1"/>
          </p:cNvSpPr>
          <p:nvPr>
            <p:ph type="title"/>
          </p:nvPr>
        </p:nvSpPr>
        <p:spPr/>
        <p:txBody>
          <a:bodyPr/>
          <a:lstStyle/>
          <a:p>
            <a:r>
              <a:rPr lang="ko-KR" altLang="en-US" sz="1600" dirty="0"/>
              <a:t>제</a:t>
            </a:r>
            <a:r>
              <a:rPr lang="en-US" altLang="ko-KR" sz="1600" dirty="0"/>
              <a:t>16</a:t>
            </a:r>
            <a:r>
              <a:rPr lang="ko-KR" altLang="en-US" sz="1600" dirty="0"/>
              <a:t>조</a:t>
            </a:r>
            <a:r>
              <a:rPr lang="en-US" altLang="ko-KR" sz="1600" dirty="0"/>
              <a:t>, </a:t>
            </a:r>
            <a:r>
              <a:rPr lang="ko-KR" altLang="en-US" sz="1600" dirty="0"/>
              <a:t>제</a:t>
            </a:r>
            <a:r>
              <a:rPr lang="en-US" altLang="ko-KR" sz="1600" dirty="0"/>
              <a:t>28</a:t>
            </a:r>
            <a:r>
              <a:rPr lang="ko-KR" altLang="en-US" sz="1600" dirty="0"/>
              <a:t>조</a:t>
            </a:r>
            <a:r>
              <a:rPr lang="en-US" altLang="ko-KR" sz="1600" dirty="0"/>
              <a:t>~</a:t>
            </a:r>
            <a:r>
              <a:rPr lang="ko-KR" altLang="en-US" sz="1600" dirty="0"/>
              <a:t>제</a:t>
            </a:r>
            <a:r>
              <a:rPr lang="en-US" altLang="ko-KR" sz="1600" dirty="0"/>
              <a:t>28</a:t>
            </a:r>
            <a:r>
              <a:rPr lang="ko-KR" altLang="en-US" sz="1600" dirty="0"/>
              <a:t>조의</a:t>
            </a:r>
            <a:r>
              <a:rPr lang="en-US" altLang="ko-KR" sz="1600" dirty="0"/>
              <a:t>5</a:t>
            </a:r>
            <a:endParaRPr lang="ko-KR" altLang="en-US" sz="1600" dirty="0"/>
          </a:p>
        </p:txBody>
      </p:sp>
      <p:sp>
        <p:nvSpPr>
          <p:cNvPr id="4" name="텍스트 개체 틀 3"/>
          <p:cNvSpPr>
            <a:spLocks noGrp="1"/>
          </p:cNvSpPr>
          <p:nvPr>
            <p:ph type="body" sz="quarter" idx="13"/>
          </p:nvPr>
        </p:nvSpPr>
        <p:spPr/>
        <p:txBody>
          <a:bodyPr/>
          <a:lstStyle/>
          <a:p>
            <a:r>
              <a:rPr lang="ko-KR" altLang="en-US" dirty="0"/>
              <a:t>특허에 관한 절차 일반</a:t>
            </a:r>
          </a:p>
        </p:txBody>
      </p:sp>
      <p:cxnSp>
        <p:nvCxnSpPr>
          <p:cNvPr id="105" name="직선 연결선 104"/>
          <p:cNvCxnSpPr/>
          <p:nvPr/>
        </p:nvCxnSpPr>
        <p:spPr>
          <a:xfrm>
            <a:off x="7714278" y="947988"/>
            <a:ext cx="0" cy="5910012"/>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2" name="표 1"/>
          <p:cNvGraphicFramePr>
            <a:graphicFrameLocks noGrp="1"/>
          </p:cNvGraphicFramePr>
          <p:nvPr>
            <p:extLst>
              <p:ext uri="{D42A27DB-BD31-4B8C-83A1-F6EECF244321}">
                <p14:modId xmlns:p14="http://schemas.microsoft.com/office/powerpoint/2010/main" val="3815244410"/>
              </p:ext>
            </p:extLst>
          </p:nvPr>
        </p:nvGraphicFramePr>
        <p:xfrm>
          <a:off x="190500" y="1063625"/>
          <a:ext cx="7315200" cy="5453664"/>
        </p:xfrm>
        <a:graphic>
          <a:graphicData uri="http://schemas.openxmlformats.org/drawingml/2006/table">
            <a:tbl>
              <a:tblPr/>
              <a:tblGrid>
                <a:gridCol w="698500">
                  <a:extLst>
                    <a:ext uri="{9D8B030D-6E8A-4147-A177-3AD203B41FA5}">
                      <a16:colId xmlns:a16="http://schemas.microsoft.com/office/drawing/2014/main" val="3208202133"/>
                    </a:ext>
                  </a:extLst>
                </a:gridCol>
                <a:gridCol w="546100">
                  <a:extLst>
                    <a:ext uri="{9D8B030D-6E8A-4147-A177-3AD203B41FA5}">
                      <a16:colId xmlns:a16="http://schemas.microsoft.com/office/drawing/2014/main" val="1435207928"/>
                    </a:ext>
                  </a:extLst>
                </a:gridCol>
                <a:gridCol w="942789">
                  <a:extLst>
                    <a:ext uri="{9D8B030D-6E8A-4147-A177-3AD203B41FA5}">
                      <a16:colId xmlns:a16="http://schemas.microsoft.com/office/drawing/2014/main" val="544757896"/>
                    </a:ext>
                  </a:extLst>
                </a:gridCol>
                <a:gridCol w="5127811">
                  <a:extLst>
                    <a:ext uri="{9D8B030D-6E8A-4147-A177-3AD203B41FA5}">
                      <a16:colId xmlns:a16="http://schemas.microsoft.com/office/drawing/2014/main" val="792763740"/>
                    </a:ext>
                  </a:extLst>
                </a:gridCol>
              </a:tblGrid>
              <a:tr h="60711">
                <a:tc gridSpan="3">
                  <a:txBody>
                    <a:bodyPr/>
                    <a:lstStyle/>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구 분</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tc hMerge="1">
                  <a:txBody>
                    <a:bodyPr/>
                    <a:lstStyle/>
                    <a:p>
                      <a:pPr latinLnBrk="1"/>
                      <a:endParaRPr lang="ko-KR" altLang="en-US"/>
                    </a:p>
                  </a:txBody>
                  <a:tcPr/>
                </a:tc>
                <a:tc h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내 용</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564670009"/>
                  </a:ext>
                </a:extLst>
              </a:tr>
              <a:tr h="239796">
                <a:tc gridSpan="3">
                  <a:txBody>
                    <a:bodyPr/>
                    <a:lstStyle/>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고유번호의 부여 및 기재</a:t>
                      </a:r>
                    </a:p>
                    <a:p>
                      <a:pPr marL="0" marR="0" indent="0" algn="ctr" fontAlgn="base" latinLnBrk="0">
                        <a:lnSpc>
                          <a:spcPct val="100000"/>
                        </a:lnSpc>
                        <a:spcBef>
                          <a:spcPts val="0"/>
                        </a:spcBef>
                        <a:spcAft>
                          <a:spcPts val="0"/>
                        </a:spcAft>
                      </a:pPr>
                      <a:r>
                        <a:rPr lang="en-US" altLang="ko-KR" sz="1100" b="1" kern="1200" dirty="0">
                          <a:solidFill>
                            <a:schemeClr val="tx1"/>
                          </a:solidFill>
                          <a:latin typeface="+mn-lt"/>
                          <a:ea typeface="+mn-ea"/>
                          <a:cs typeface="+mn-cs"/>
                        </a:rPr>
                        <a:t>(</a:t>
                      </a:r>
                      <a:r>
                        <a:rPr lang="ko-KR" altLang="en-US" sz="1100" b="1" kern="1200" dirty="0">
                          <a:solidFill>
                            <a:schemeClr val="tx1"/>
                          </a:solidFill>
                          <a:latin typeface="+mn-lt"/>
                          <a:ea typeface="+mn-ea"/>
                          <a:cs typeface="+mn-cs"/>
                        </a:rPr>
                        <a:t>法 </a:t>
                      </a:r>
                      <a:r>
                        <a:rPr lang="en-US" altLang="ko-KR" sz="1100" b="1" kern="1200" dirty="0">
                          <a:solidFill>
                            <a:schemeClr val="tx1"/>
                          </a:solidFill>
                          <a:latin typeface="+mn-lt"/>
                          <a:ea typeface="+mn-ea"/>
                          <a:cs typeface="+mn-cs"/>
                        </a:rPr>
                        <a:t>28</a:t>
                      </a:r>
                      <a:r>
                        <a:rPr lang="ko-KR" altLang="en-US" sz="1100" b="1" kern="1200" dirty="0">
                          <a:solidFill>
                            <a:schemeClr val="tx1"/>
                          </a:solidFill>
                          <a:latin typeface="+mn-lt"/>
                          <a:ea typeface="+mn-ea"/>
                          <a:cs typeface="+mn-cs"/>
                        </a:rPr>
                        <a:t>의</a:t>
                      </a:r>
                      <a:r>
                        <a:rPr lang="en-US" altLang="ko-KR" sz="1100" b="1" kern="1200" dirty="0">
                          <a:solidFill>
                            <a:schemeClr val="tx1"/>
                          </a:solidFill>
                          <a:latin typeface="+mn-lt"/>
                          <a:ea typeface="+mn-ea"/>
                          <a:cs typeface="+mn-cs"/>
                        </a:rPr>
                        <a:t>2)</a:t>
                      </a:r>
                      <a:endParaRPr lang="ko-KR" altLang="en-US" sz="1100" b="1" kern="1200" dirty="0">
                        <a:solidFill>
                          <a:schemeClr val="tx1"/>
                        </a:solidFill>
                        <a:latin typeface="+mn-lt"/>
                        <a:ea typeface="+mn-ea"/>
                        <a:cs typeface="+mn-cs"/>
                      </a:endParaRP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a:txBody>
                    <a:bodyPr/>
                    <a:lstStyle/>
                    <a:p>
                      <a:pPr marL="31750" marR="31750" indent="0" algn="l" fontAlgn="base" latinLnBrk="1">
                        <a:lnSpc>
                          <a:spcPct val="100000"/>
                        </a:lnSpc>
                        <a:spcBef>
                          <a:spcPts val="0"/>
                        </a:spcBef>
                        <a:spcAft>
                          <a:spcPts val="0"/>
                        </a:spcAft>
                      </a:pPr>
                      <a:r>
                        <a:rPr lang="en-US" altLang="ko-KR" sz="1100" kern="1200">
                          <a:solidFill>
                            <a:schemeClr val="tx1"/>
                          </a:solidFill>
                          <a:latin typeface="+mn-lt"/>
                          <a:ea typeface="+mn-ea"/>
                          <a:cs typeface="+mn-cs"/>
                        </a:rPr>
                        <a:t>1. </a:t>
                      </a:r>
                      <a:r>
                        <a:rPr lang="ko-KR" altLang="en-US" sz="1100" kern="1200">
                          <a:solidFill>
                            <a:schemeClr val="tx1"/>
                          </a:solidFill>
                          <a:latin typeface="+mn-lt"/>
                          <a:ea typeface="+mn-ea"/>
                          <a:cs typeface="+mn-cs"/>
                        </a:rPr>
                        <a:t>신청에 의한 부여</a:t>
                      </a:r>
                      <a:r>
                        <a:rPr lang="en-US" altLang="ko-KR" sz="1100" kern="1200">
                          <a:solidFill>
                            <a:schemeClr val="tx1"/>
                          </a:solidFill>
                          <a:latin typeface="+mn-lt"/>
                          <a:ea typeface="+mn-ea"/>
                          <a:cs typeface="+mn-cs"/>
                        </a:rPr>
                        <a:t>(</a:t>
                      </a:r>
                      <a:r>
                        <a:rPr lang="ko-KR" altLang="en-US" sz="1100" kern="1200">
                          <a:solidFill>
                            <a:schemeClr val="tx1"/>
                          </a:solidFill>
                          <a:latin typeface="+mn-lt"/>
                          <a:ea typeface="+mn-ea"/>
                          <a:cs typeface="+mn-cs"/>
                        </a:rPr>
                        <a:t>法 </a:t>
                      </a:r>
                      <a:r>
                        <a:rPr lang="en-US" altLang="ko-KR" sz="1100" kern="1200">
                          <a:solidFill>
                            <a:schemeClr val="tx1"/>
                          </a:solidFill>
                          <a:latin typeface="+mn-lt"/>
                          <a:ea typeface="+mn-ea"/>
                          <a:cs typeface="+mn-cs"/>
                        </a:rPr>
                        <a:t>28</a:t>
                      </a:r>
                      <a:r>
                        <a:rPr lang="ko-KR" altLang="en-US" sz="1100" kern="1200">
                          <a:solidFill>
                            <a:schemeClr val="tx1"/>
                          </a:solidFill>
                          <a:latin typeface="+mn-lt"/>
                          <a:ea typeface="+mn-ea"/>
                          <a:cs typeface="+mn-cs"/>
                        </a:rPr>
                        <a:t>의</a:t>
                      </a:r>
                      <a:r>
                        <a:rPr lang="en-US" altLang="ko-KR" sz="1100" kern="1200">
                          <a:solidFill>
                            <a:schemeClr val="tx1"/>
                          </a:solidFill>
                          <a:latin typeface="+mn-lt"/>
                          <a:ea typeface="+mn-ea"/>
                          <a:cs typeface="+mn-cs"/>
                        </a:rPr>
                        <a:t>2</a:t>
                      </a:r>
                      <a:r>
                        <a:rPr lang="ko-KR" altLang="en-US" sz="1100" kern="1200">
                          <a:solidFill>
                            <a:schemeClr val="tx1"/>
                          </a:solidFill>
                          <a:latin typeface="+mn-lt"/>
                          <a:ea typeface="+mn-ea"/>
                          <a:cs typeface="+mn-cs"/>
                        </a:rPr>
                        <a:t>①②</a:t>
                      </a:r>
                      <a:r>
                        <a:rPr lang="en-US" altLang="ko-KR" sz="1100" kern="1200">
                          <a:solidFill>
                            <a:schemeClr val="tx1"/>
                          </a:solidFill>
                          <a:latin typeface="+mn-lt"/>
                          <a:ea typeface="+mn-ea"/>
                          <a:cs typeface="+mn-cs"/>
                        </a:rPr>
                        <a:t>)</a:t>
                      </a:r>
                      <a:endParaRPr lang="ko-KR" altLang="en-US" sz="1100" kern="1200">
                        <a:solidFill>
                          <a:schemeClr val="tx1"/>
                        </a:solidFill>
                        <a:latin typeface="+mn-lt"/>
                        <a:ea typeface="+mn-ea"/>
                        <a:cs typeface="+mn-cs"/>
                      </a:endParaRPr>
                    </a:p>
                    <a:p>
                      <a:pPr marL="31750" marR="31750" indent="0" algn="l" fontAlgn="base" latinLnBrk="1">
                        <a:lnSpc>
                          <a:spcPct val="100000"/>
                        </a:lnSpc>
                        <a:spcBef>
                          <a:spcPts val="0"/>
                        </a:spcBef>
                        <a:spcAft>
                          <a:spcPts val="0"/>
                        </a:spcAft>
                      </a:pPr>
                      <a:r>
                        <a:rPr lang="en-US" altLang="ko-KR" sz="1100" kern="1200">
                          <a:solidFill>
                            <a:schemeClr val="tx1"/>
                          </a:solidFill>
                          <a:latin typeface="+mn-lt"/>
                          <a:ea typeface="+mn-ea"/>
                          <a:cs typeface="+mn-cs"/>
                        </a:rPr>
                        <a:t>2. </a:t>
                      </a:r>
                      <a:r>
                        <a:rPr lang="ko-KR" altLang="en-US" sz="1100" kern="1200">
                          <a:solidFill>
                            <a:schemeClr val="tx1"/>
                          </a:solidFill>
                          <a:latin typeface="+mn-lt"/>
                          <a:ea typeface="+mn-ea"/>
                          <a:cs typeface="+mn-cs"/>
                        </a:rPr>
                        <a:t>직권에 의한 부여</a:t>
                      </a:r>
                      <a:r>
                        <a:rPr lang="en-US" altLang="ko-KR" sz="1100" kern="1200">
                          <a:solidFill>
                            <a:schemeClr val="tx1"/>
                          </a:solidFill>
                          <a:latin typeface="+mn-lt"/>
                          <a:ea typeface="+mn-ea"/>
                          <a:cs typeface="+mn-cs"/>
                        </a:rPr>
                        <a:t>(</a:t>
                      </a:r>
                      <a:r>
                        <a:rPr lang="ko-KR" altLang="en-US" sz="1100" kern="1200">
                          <a:solidFill>
                            <a:schemeClr val="tx1"/>
                          </a:solidFill>
                          <a:latin typeface="+mn-lt"/>
                          <a:ea typeface="+mn-ea"/>
                          <a:cs typeface="+mn-cs"/>
                        </a:rPr>
                        <a:t>法 </a:t>
                      </a:r>
                      <a:r>
                        <a:rPr lang="en-US" altLang="ko-KR" sz="1100" kern="1200">
                          <a:solidFill>
                            <a:schemeClr val="tx1"/>
                          </a:solidFill>
                          <a:latin typeface="+mn-lt"/>
                          <a:ea typeface="+mn-ea"/>
                          <a:cs typeface="+mn-cs"/>
                        </a:rPr>
                        <a:t>28</a:t>
                      </a:r>
                      <a:r>
                        <a:rPr lang="ko-KR" altLang="en-US" sz="1100" kern="1200">
                          <a:solidFill>
                            <a:schemeClr val="tx1"/>
                          </a:solidFill>
                          <a:latin typeface="+mn-lt"/>
                          <a:ea typeface="+mn-ea"/>
                          <a:cs typeface="+mn-cs"/>
                        </a:rPr>
                        <a:t>의</a:t>
                      </a:r>
                      <a:r>
                        <a:rPr lang="en-US" altLang="ko-KR" sz="1100" kern="1200">
                          <a:solidFill>
                            <a:schemeClr val="tx1"/>
                          </a:solidFill>
                          <a:latin typeface="+mn-lt"/>
                          <a:ea typeface="+mn-ea"/>
                          <a:cs typeface="+mn-cs"/>
                        </a:rPr>
                        <a:t>2</a:t>
                      </a:r>
                      <a:r>
                        <a:rPr lang="ko-KR" altLang="en-US" sz="1100" kern="1200">
                          <a:solidFill>
                            <a:schemeClr val="tx1"/>
                          </a:solidFill>
                          <a:latin typeface="+mn-lt"/>
                          <a:ea typeface="+mn-ea"/>
                          <a:cs typeface="+mn-cs"/>
                        </a:rPr>
                        <a:t>③</a:t>
                      </a:r>
                      <a:r>
                        <a:rPr lang="en-US" altLang="ko-KR" sz="1100" kern="1200">
                          <a:solidFill>
                            <a:schemeClr val="tx1"/>
                          </a:solidFill>
                          <a:latin typeface="+mn-lt"/>
                          <a:ea typeface="+mn-ea"/>
                          <a:cs typeface="+mn-cs"/>
                        </a:rPr>
                        <a:t>)</a:t>
                      </a:r>
                      <a:endParaRPr lang="ko-KR" altLang="en-US" sz="1100" kern="1200">
                        <a:solidFill>
                          <a:schemeClr val="tx1"/>
                        </a:solidFill>
                        <a:latin typeface="+mn-lt"/>
                        <a:ea typeface="+mn-ea"/>
                        <a:cs typeface="+mn-cs"/>
                      </a:endParaRPr>
                    </a:p>
                    <a:p>
                      <a:pPr marL="31750" marR="31750" indent="0" algn="l" fontAlgn="base" latinLnBrk="1">
                        <a:lnSpc>
                          <a:spcPct val="100000"/>
                        </a:lnSpc>
                        <a:spcBef>
                          <a:spcPts val="0"/>
                        </a:spcBef>
                        <a:spcAft>
                          <a:spcPts val="0"/>
                        </a:spcAft>
                      </a:pPr>
                      <a:r>
                        <a:rPr lang="en-US" altLang="ko-KR" sz="1100" kern="1200">
                          <a:solidFill>
                            <a:schemeClr val="tx1"/>
                          </a:solidFill>
                          <a:latin typeface="+mn-lt"/>
                          <a:ea typeface="+mn-ea"/>
                          <a:cs typeface="+mn-cs"/>
                        </a:rPr>
                        <a:t>3. </a:t>
                      </a:r>
                      <a:r>
                        <a:rPr lang="ko-KR" altLang="en-US" sz="1100" kern="1200">
                          <a:solidFill>
                            <a:schemeClr val="tx1"/>
                          </a:solidFill>
                          <a:latin typeface="+mn-lt"/>
                          <a:ea typeface="+mn-ea"/>
                          <a:cs typeface="+mn-cs"/>
                        </a:rPr>
                        <a:t>기재의 효과 → 주소에 갈음</a:t>
                      </a:r>
                      <a:r>
                        <a:rPr lang="en-US" altLang="ko-KR" sz="1100" kern="1200">
                          <a:solidFill>
                            <a:schemeClr val="tx1"/>
                          </a:solidFill>
                          <a:latin typeface="+mn-lt"/>
                          <a:ea typeface="+mn-ea"/>
                          <a:cs typeface="+mn-cs"/>
                        </a:rPr>
                        <a:t>(</a:t>
                      </a:r>
                      <a:r>
                        <a:rPr lang="ko-KR" altLang="en-US" sz="1100" kern="1200">
                          <a:solidFill>
                            <a:schemeClr val="tx1"/>
                          </a:solidFill>
                          <a:latin typeface="+mn-lt"/>
                          <a:ea typeface="+mn-ea"/>
                          <a:cs typeface="+mn-cs"/>
                        </a:rPr>
                        <a:t>法 </a:t>
                      </a:r>
                      <a:r>
                        <a:rPr lang="en-US" altLang="ko-KR" sz="1100" kern="1200">
                          <a:solidFill>
                            <a:schemeClr val="tx1"/>
                          </a:solidFill>
                          <a:latin typeface="+mn-lt"/>
                          <a:ea typeface="+mn-ea"/>
                          <a:cs typeface="+mn-cs"/>
                        </a:rPr>
                        <a:t>28</a:t>
                      </a:r>
                      <a:r>
                        <a:rPr lang="ko-KR" altLang="en-US" sz="1100" kern="1200">
                          <a:solidFill>
                            <a:schemeClr val="tx1"/>
                          </a:solidFill>
                          <a:latin typeface="+mn-lt"/>
                          <a:ea typeface="+mn-ea"/>
                          <a:cs typeface="+mn-cs"/>
                        </a:rPr>
                        <a:t>의</a:t>
                      </a:r>
                      <a:r>
                        <a:rPr lang="en-US" altLang="ko-KR" sz="1100" kern="1200">
                          <a:solidFill>
                            <a:schemeClr val="tx1"/>
                          </a:solidFill>
                          <a:latin typeface="+mn-lt"/>
                          <a:ea typeface="+mn-ea"/>
                          <a:cs typeface="+mn-cs"/>
                        </a:rPr>
                        <a:t>2</a:t>
                      </a:r>
                      <a:r>
                        <a:rPr lang="ko-KR" altLang="en-US" sz="1100" kern="1200">
                          <a:solidFill>
                            <a:schemeClr val="tx1"/>
                          </a:solidFill>
                          <a:latin typeface="+mn-lt"/>
                          <a:ea typeface="+mn-ea"/>
                          <a:cs typeface="+mn-cs"/>
                        </a:rPr>
                        <a:t>④</a:t>
                      </a:r>
                      <a:r>
                        <a:rPr lang="en-US" altLang="ko-KR" sz="1100" kern="1200">
                          <a:solidFill>
                            <a:schemeClr val="tx1"/>
                          </a:solidFill>
                          <a:latin typeface="+mn-lt"/>
                          <a:ea typeface="+mn-ea"/>
                          <a:cs typeface="+mn-cs"/>
                        </a:rPr>
                        <a:t>)</a:t>
                      </a:r>
                      <a:endParaRPr lang="ko-KR" altLang="en-US" sz="1100" kern="1200">
                        <a:solidFill>
                          <a:schemeClr val="tx1"/>
                        </a:solidFill>
                        <a:latin typeface="+mn-lt"/>
                        <a:ea typeface="+mn-ea"/>
                        <a:cs typeface="+mn-cs"/>
                      </a:endParaRPr>
                    </a:p>
                    <a:p>
                      <a:pPr marL="31750" marR="31750" indent="0" algn="l" fontAlgn="base" latinLnBrk="1">
                        <a:lnSpc>
                          <a:spcPct val="100000"/>
                        </a:lnSpc>
                        <a:spcBef>
                          <a:spcPts val="0"/>
                        </a:spcBef>
                        <a:spcAft>
                          <a:spcPts val="0"/>
                        </a:spcAft>
                      </a:pPr>
                      <a:r>
                        <a:rPr lang="en-US" altLang="ko-KR" sz="1100" kern="1200">
                          <a:solidFill>
                            <a:schemeClr val="tx1"/>
                          </a:solidFill>
                          <a:latin typeface="+mn-lt"/>
                          <a:ea typeface="+mn-ea"/>
                          <a:cs typeface="+mn-cs"/>
                        </a:rPr>
                        <a:t>4. </a:t>
                      </a:r>
                      <a:r>
                        <a:rPr lang="ko-KR" altLang="en-US" sz="1100" kern="1200">
                          <a:solidFill>
                            <a:schemeClr val="tx1"/>
                          </a:solidFill>
                          <a:latin typeface="+mn-lt"/>
                          <a:ea typeface="+mn-ea"/>
                          <a:cs typeface="+mn-cs"/>
                        </a:rPr>
                        <a:t>대리인번호의 준용</a:t>
                      </a:r>
                      <a:r>
                        <a:rPr lang="en-US" altLang="ko-KR" sz="1100" kern="1200">
                          <a:solidFill>
                            <a:schemeClr val="tx1"/>
                          </a:solidFill>
                          <a:latin typeface="+mn-lt"/>
                          <a:ea typeface="+mn-ea"/>
                          <a:cs typeface="+mn-cs"/>
                        </a:rPr>
                        <a:t>(</a:t>
                      </a:r>
                      <a:r>
                        <a:rPr lang="ko-KR" altLang="en-US" sz="1100" kern="1200">
                          <a:solidFill>
                            <a:schemeClr val="tx1"/>
                          </a:solidFill>
                          <a:latin typeface="+mn-lt"/>
                          <a:ea typeface="+mn-ea"/>
                          <a:cs typeface="+mn-cs"/>
                        </a:rPr>
                        <a:t>法 </a:t>
                      </a:r>
                      <a:r>
                        <a:rPr lang="en-US" altLang="ko-KR" sz="1100" kern="1200">
                          <a:solidFill>
                            <a:schemeClr val="tx1"/>
                          </a:solidFill>
                          <a:latin typeface="+mn-lt"/>
                          <a:ea typeface="+mn-ea"/>
                          <a:cs typeface="+mn-cs"/>
                        </a:rPr>
                        <a:t>28</a:t>
                      </a:r>
                      <a:r>
                        <a:rPr lang="ko-KR" altLang="en-US" sz="1100" kern="1200">
                          <a:solidFill>
                            <a:schemeClr val="tx1"/>
                          </a:solidFill>
                          <a:latin typeface="+mn-lt"/>
                          <a:ea typeface="+mn-ea"/>
                          <a:cs typeface="+mn-cs"/>
                        </a:rPr>
                        <a:t>의</a:t>
                      </a:r>
                      <a:r>
                        <a:rPr lang="en-US" altLang="ko-KR" sz="1100" kern="1200">
                          <a:solidFill>
                            <a:schemeClr val="tx1"/>
                          </a:solidFill>
                          <a:latin typeface="+mn-lt"/>
                          <a:ea typeface="+mn-ea"/>
                          <a:cs typeface="+mn-cs"/>
                        </a:rPr>
                        <a:t>2</a:t>
                      </a:r>
                      <a:r>
                        <a:rPr lang="ko-KR" altLang="en-US" sz="1100" kern="1200">
                          <a:solidFill>
                            <a:schemeClr val="tx1"/>
                          </a:solidFill>
                          <a:latin typeface="+mn-lt"/>
                          <a:ea typeface="+mn-ea"/>
                          <a:cs typeface="+mn-cs"/>
                        </a:rPr>
                        <a:t>⑤</a:t>
                      </a:r>
                      <a:r>
                        <a:rPr lang="en-US" altLang="ko-KR" sz="1100" kern="1200">
                          <a:solidFill>
                            <a:schemeClr val="tx1"/>
                          </a:solidFill>
                          <a:latin typeface="+mn-lt"/>
                          <a:ea typeface="+mn-ea"/>
                          <a:cs typeface="+mn-cs"/>
                        </a:rPr>
                        <a:t>)</a:t>
                      </a:r>
                      <a:endParaRPr lang="ko-KR" altLang="en-US" sz="1100" kern="1200">
                        <a:solidFill>
                          <a:schemeClr val="tx1"/>
                        </a:solidFill>
                        <a:latin typeface="+mn-lt"/>
                        <a:ea typeface="+mn-ea"/>
                        <a:cs typeface="+mn-cs"/>
                      </a:endParaRP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848554205"/>
                  </a:ext>
                </a:extLst>
              </a:tr>
              <a:tr h="65188">
                <a:tc gridSpan="3">
                  <a:txBody>
                    <a:bodyPr/>
                    <a:lstStyle/>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특허에 관한 서류의 작성</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a:txBody>
                    <a:bodyPr/>
                    <a:lstStyle/>
                    <a:p>
                      <a:pPr marL="31750" marR="31750" indent="0" algn="l" fontAlgn="base" latinLnBrk="1">
                        <a:lnSpc>
                          <a:spcPct val="100000"/>
                        </a:lnSpc>
                        <a:spcBef>
                          <a:spcPts val="0"/>
                        </a:spcBef>
                        <a:spcAft>
                          <a:spcPts val="0"/>
                        </a:spcAft>
                      </a:pPr>
                      <a:r>
                        <a:rPr lang="ko-KR" altLang="en-US" sz="1100" kern="1200">
                          <a:solidFill>
                            <a:schemeClr val="tx1"/>
                          </a:solidFill>
                          <a:latin typeface="+mn-lt"/>
                          <a:ea typeface="+mn-ea"/>
                          <a:cs typeface="+mn-cs"/>
                        </a:rPr>
                        <a:t>특허법에서 정한 양식에 따라 서류를 작성</a:t>
                      </a:r>
                      <a:r>
                        <a:rPr lang="en-US" altLang="ko-KR" sz="1100" kern="1200">
                          <a:solidFill>
                            <a:schemeClr val="tx1"/>
                          </a:solidFill>
                          <a:latin typeface="+mn-lt"/>
                          <a:ea typeface="+mn-ea"/>
                          <a:cs typeface="+mn-cs"/>
                        </a:rPr>
                        <a:t>(</a:t>
                      </a:r>
                      <a:r>
                        <a:rPr lang="ko-KR" altLang="en-US" sz="1100" kern="1200">
                          <a:solidFill>
                            <a:schemeClr val="tx1"/>
                          </a:solidFill>
                          <a:latin typeface="+mn-lt"/>
                          <a:ea typeface="+mn-ea"/>
                          <a:cs typeface="+mn-cs"/>
                        </a:rPr>
                        <a:t>양식주의</a:t>
                      </a:r>
                      <a:r>
                        <a:rPr lang="en-US" altLang="ko-KR" sz="1100" kern="1200">
                          <a:solidFill>
                            <a:schemeClr val="tx1"/>
                          </a:solidFill>
                          <a:latin typeface="+mn-lt"/>
                          <a:ea typeface="+mn-ea"/>
                          <a:cs typeface="+mn-cs"/>
                        </a:rPr>
                        <a:t>, </a:t>
                      </a:r>
                      <a:r>
                        <a:rPr lang="ko-KR" altLang="en-US" sz="1100" kern="1200">
                          <a:solidFill>
                            <a:schemeClr val="tx1"/>
                          </a:solidFill>
                          <a:latin typeface="+mn-lt"/>
                          <a:ea typeface="+mn-ea"/>
                          <a:cs typeface="+mn-cs"/>
                        </a:rPr>
                        <a:t>요식주의</a:t>
                      </a:r>
                      <a:r>
                        <a:rPr lang="en-US" altLang="ko-KR" sz="1100" kern="1200">
                          <a:solidFill>
                            <a:schemeClr val="tx1"/>
                          </a:solidFill>
                          <a:latin typeface="+mn-lt"/>
                          <a:ea typeface="+mn-ea"/>
                          <a:cs typeface="+mn-cs"/>
                        </a:rPr>
                        <a:t>)</a:t>
                      </a:r>
                      <a:endParaRPr lang="ko-KR" altLang="en-US" sz="1100" kern="1200">
                        <a:solidFill>
                          <a:schemeClr val="tx1"/>
                        </a:solidFill>
                        <a:latin typeface="+mn-lt"/>
                        <a:ea typeface="+mn-ea"/>
                        <a:cs typeface="+mn-cs"/>
                      </a:endParaRP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04503720"/>
                  </a:ext>
                </a:extLst>
              </a:tr>
              <a:tr h="239796">
                <a:tc rowSpan="2">
                  <a:txBody>
                    <a:bodyPr/>
                    <a:lstStyle/>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특허에 </a:t>
                      </a:r>
                      <a:endParaRPr lang="en-US" altLang="ko-KR" sz="1100" b="1" kern="1200" dirty="0">
                        <a:solidFill>
                          <a:schemeClr val="tx1"/>
                        </a:solidFill>
                        <a:latin typeface="+mn-lt"/>
                        <a:ea typeface="+mn-ea"/>
                        <a:cs typeface="+mn-cs"/>
                      </a:endParaRPr>
                    </a:p>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관한 </a:t>
                      </a:r>
                      <a:endParaRPr lang="en-US" altLang="ko-KR" sz="1100" b="1" kern="1200" dirty="0">
                        <a:solidFill>
                          <a:schemeClr val="tx1"/>
                        </a:solidFill>
                        <a:latin typeface="+mn-lt"/>
                        <a:ea typeface="+mn-ea"/>
                        <a:cs typeface="+mn-cs"/>
                      </a:endParaRPr>
                    </a:p>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서류의</a:t>
                      </a:r>
                      <a:endParaRPr lang="en-US" altLang="ko-KR" sz="1100" b="1" kern="1200" dirty="0">
                        <a:solidFill>
                          <a:schemeClr val="tx1"/>
                        </a:solidFill>
                        <a:latin typeface="+mn-lt"/>
                        <a:ea typeface="+mn-ea"/>
                        <a:cs typeface="+mn-cs"/>
                      </a:endParaRPr>
                    </a:p>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 제출</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gridSpan="2">
                  <a:txBody>
                    <a:bodyPr/>
                    <a:lstStyle/>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서면에 의한 제출</a:t>
                      </a:r>
                    </a:p>
                    <a:p>
                      <a:pPr marL="0" marR="0" indent="0" algn="ctr" fontAlgn="base" latinLnBrk="0">
                        <a:lnSpc>
                          <a:spcPct val="100000"/>
                        </a:lnSpc>
                        <a:spcBef>
                          <a:spcPts val="0"/>
                        </a:spcBef>
                        <a:spcAft>
                          <a:spcPts val="0"/>
                        </a:spcAft>
                      </a:pPr>
                      <a:r>
                        <a:rPr lang="en-US" altLang="ko-KR" sz="1100" b="1" kern="1200" dirty="0">
                          <a:solidFill>
                            <a:schemeClr val="tx1"/>
                          </a:solidFill>
                          <a:latin typeface="+mn-lt"/>
                          <a:ea typeface="+mn-ea"/>
                          <a:cs typeface="+mn-cs"/>
                        </a:rPr>
                        <a:t>(</a:t>
                      </a:r>
                      <a:r>
                        <a:rPr lang="ko-KR" altLang="en-US" sz="1100" b="1" kern="1200" dirty="0">
                          <a:solidFill>
                            <a:schemeClr val="tx1"/>
                          </a:solidFill>
                          <a:latin typeface="+mn-lt"/>
                          <a:ea typeface="+mn-ea"/>
                          <a:cs typeface="+mn-cs"/>
                        </a:rPr>
                        <a:t>法 </a:t>
                      </a:r>
                      <a:r>
                        <a:rPr lang="en-US" altLang="ko-KR" sz="1100" b="1" kern="1200" dirty="0">
                          <a:solidFill>
                            <a:schemeClr val="tx1"/>
                          </a:solidFill>
                          <a:latin typeface="+mn-lt"/>
                          <a:ea typeface="+mn-ea"/>
                          <a:cs typeface="+mn-cs"/>
                        </a:rPr>
                        <a:t>28)</a:t>
                      </a:r>
                      <a:endParaRPr lang="ko-KR" altLang="en-US" sz="1100" b="1" kern="1200" dirty="0">
                        <a:solidFill>
                          <a:schemeClr val="tx1"/>
                        </a:solidFill>
                        <a:latin typeface="+mn-lt"/>
                        <a:ea typeface="+mn-ea"/>
                        <a:cs typeface="+mn-cs"/>
                      </a:endParaRP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latinLnBrk="1"/>
                      <a:endParaRPr lang="ko-KR" altLang="en-US"/>
                    </a:p>
                  </a:txBody>
                  <a:tcPr/>
                </a:tc>
                <a:tc>
                  <a:txBody>
                    <a:bodyPr/>
                    <a:lstStyle/>
                    <a:p>
                      <a:pPr marL="31750" marR="31750" indent="0" algn="l" fontAlgn="base" latinLnBrk="1">
                        <a:lnSpc>
                          <a:spcPct val="100000"/>
                        </a:lnSpc>
                        <a:spcBef>
                          <a:spcPts val="0"/>
                        </a:spcBef>
                        <a:spcAft>
                          <a:spcPts val="0"/>
                        </a:spcAft>
                      </a:pPr>
                      <a:r>
                        <a:rPr lang="ko-KR" altLang="en-US" sz="1100" kern="1200" dirty="0">
                          <a:solidFill>
                            <a:schemeClr val="tx1"/>
                          </a:solidFill>
                          <a:latin typeface="+mn-lt"/>
                          <a:ea typeface="+mn-ea"/>
                          <a:cs typeface="+mn-cs"/>
                        </a:rPr>
                        <a:t>* 효력발생시기</a:t>
                      </a:r>
                    </a:p>
                    <a:p>
                      <a:pPr marL="31750" marR="31750" indent="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1. </a:t>
                      </a:r>
                      <a:r>
                        <a:rPr lang="ko-KR" altLang="en-US" sz="1100" kern="1200" dirty="0">
                          <a:solidFill>
                            <a:schemeClr val="tx1"/>
                          </a:solidFill>
                          <a:latin typeface="+mn-lt"/>
                          <a:ea typeface="+mn-ea"/>
                          <a:cs typeface="+mn-cs"/>
                        </a:rPr>
                        <a:t>원칙 </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도달주의</a:t>
                      </a:r>
                    </a:p>
                    <a:p>
                      <a:pPr marL="31750" marR="31750" indent="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2. </a:t>
                      </a:r>
                      <a:r>
                        <a:rPr lang="ko-KR" altLang="en-US" sz="1100" kern="1200" dirty="0">
                          <a:solidFill>
                            <a:schemeClr val="tx1"/>
                          </a:solidFill>
                          <a:latin typeface="+mn-lt"/>
                          <a:ea typeface="+mn-ea"/>
                          <a:cs typeface="+mn-cs"/>
                        </a:rPr>
                        <a:t>예외 </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우편의 경우 </a:t>
                      </a:r>
                      <a:r>
                        <a:rPr lang="ko-KR" altLang="en-US" sz="1100" kern="1200" dirty="0" err="1">
                          <a:solidFill>
                            <a:schemeClr val="tx1"/>
                          </a:solidFill>
                          <a:latin typeface="+mn-lt"/>
                          <a:ea typeface="+mn-ea"/>
                          <a:cs typeface="+mn-cs"/>
                        </a:rPr>
                        <a:t>발신주의</a:t>
                      </a:r>
                      <a:r>
                        <a:rPr lang="en-US" altLang="ko-KR" sz="1100" kern="1200" dirty="0">
                          <a:solidFill>
                            <a:schemeClr val="tx1"/>
                          </a:solidFill>
                          <a:latin typeface="+mn-lt"/>
                          <a:ea typeface="+mn-ea"/>
                          <a:cs typeface="+mn-cs"/>
                        </a:rPr>
                        <a:t>(</a:t>
                      </a:r>
                      <a:r>
                        <a:rPr lang="ko-KR" altLang="en-US" sz="1100" kern="1200" dirty="0" err="1">
                          <a:solidFill>
                            <a:schemeClr val="tx1"/>
                          </a:solidFill>
                          <a:latin typeface="+mn-lt"/>
                          <a:ea typeface="+mn-ea"/>
                          <a:cs typeface="+mn-cs"/>
                        </a:rPr>
                        <a:t>통신일부인</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우편물 수령증에 의하여 판단</a:t>
                      </a:r>
                      <a:r>
                        <a:rPr lang="en-US" altLang="ko-KR" sz="1100" kern="1200" dirty="0">
                          <a:solidFill>
                            <a:schemeClr val="tx1"/>
                          </a:solidFill>
                          <a:latin typeface="+mn-lt"/>
                          <a:ea typeface="+mn-ea"/>
                          <a:cs typeface="+mn-cs"/>
                        </a:rPr>
                        <a:t>)</a:t>
                      </a:r>
                    </a:p>
                    <a:p>
                      <a:pPr marL="31750" marR="31750" indent="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3. </a:t>
                      </a:r>
                      <a:r>
                        <a:rPr lang="ko-KR" altLang="en-US" sz="1100" kern="1200" dirty="0">
                          <a:solidFill>
                            <a:schemeClr val="tx1"/>
                          </a:solidFill>
                          <a:latin typeface="+mn-lt"/>
                          <a:ea typeface="+mn-ea"/>
                          <a:cs typeface="+mn-cs"/>
                        </a:rPr>
                        <a:t>예외의 예외 </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우편의 경우라도 등록신청서류와 국제출원에 관한 서류는 도달주의</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402640682"/>
                  </a:ext>
                </a:extLst>
              </a:tr>
              <a:tr h="472606">
                <a:tc vMerge="1">
                  <a:txBody>
                    <a:bodyPr/>
                    <a:lstStyle/>
                    <a:p>
                      <a:pPr latinLnBrk="1"/>
                      <a:endParaRPr lang="ko-KR" altLang="en-US"/>
                    </a:p>
                  </a:txBody>
                  <a:tcPr/>
                </a:tc>
                <a:tc gridSpan="2">
                  <a:txBody>
                    <a:bodyPr/>
                    <a:lstStyle/>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전자문서에 의한 제출</a:t>
                      </a:r>
                    </a:p>
                    <a:p>
                      <a:pPr marL="0" marR="0" indent="0" algn="ctr" fontAlgn="base" latinLnBrk="0">
                        <a:lnSpc>
                          <a:spcPct val="100000"/>
                        </a:lnSpc>
                        <a:spcBef>
                          <a:spcPts val="0"/>
                        </a:spcBef>
                        <a:spcAft>
                          <a:spcPts val="0"/>
                        </a:spcAft>
                      </a:pPr>
                      <a:r>
                        <a:rPr lang="en-US" altLang="ko-KR" sz="1100" b="1" kern="1200" dirty="0">
                          <a:solidFill>
                            <a:schemeClr val="tx1"/>
                          </a:solidFill>
                          <a:latin typeface="+mn-lt"/>
                          <a:ea typeface="+mn-ea"/>
                          <a:cs typeface="+mn-cs"/>
                        </a:rPr>
                        <a:t>(</a:t>
                      </a:r>
                      <a:r>
                        <a:rPr lang="ko-KR" altLang="en-US" sz="1100" b="1" kern="1200" dirty="0">
                          <a:solidFill>
                            <a:schemeClr val="tx1"/>
                          </a:solidFill>
                          <a:latin typeface="+mn-lt"/>
                          <a:ea typeface="+mn-ea"/>
                          <a:cs typeface="+mn-cs"/>
                        </a:rPr>
                        <a:t>法 </a:t>
                      </a:r>
                      <a:r>
                        <a:rPr lang="en-US" altLang="ko-KR" sz="1100" b="1" kern="1200" dirty="0">
                          <a:solidFill>
                            <a:schemeClr val="tx1"/>
                          </a:solidFill>
                          <a:latin typeface="+mn-lt"/>
                          <a:ea typeface="+mn-ea"/>
                          <a:cs typeface="+mn-cs"/>
                        </a:rPr>
                        <a:t>28</a:t>
                      </a:r>
                      <a:r>
                        <a:rPr lang="ko-KR" altLang="en-US" sz="1100" b="1" kern="1200" dirty="0">
                          <a:solidFill>
                            <a:schemeClr val="tx1"/>
                          </a:solidFill>
                          <a:latin typeface="+mn-lt"/>
                          <a:ea typeface="+mn-ea"/>
                          <a:cs typeface="+mn-cs"/>
                        </a:rPr>
                        <a:t>의 </a:t>
                      </a:r>
                      <a:r>
                        <a:rPr lang="en-US" altLang="ko-KR" sz="1100" b="1" kern="1200" dirty="0">
                          <a:solidFill>
                            <a:schemeClr val="tx1"/>
                          </a:solidFill>
                          <a:latin typeface="+mn-lt"/>
                          <a:ea typeface="+mn-ea"/>
                          <a:cs typeface="+mn-cs"/>
                        </a:rPr>
                        <a:t>3, 4)</a:t>
                      </a:r>
                      <a:endParaRPr lang="ko-KR" altLang="en-US" sz="1100" b="1" kern="1200" dirty="0">
                        <a:solidFill>
                          <a:schemeClr val="tx1"/>
                        </a:solidFill>
                        <a:latin typeface="+mn-lt"/>
                        <a:ea typeface="+mn-ea"/>
                        <a:cs typeface="+mn-cs"/>
                      </a:endParaRP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latinLnBrk="1"/>
                      <a:endParaRPr lang="ko-KR" altLang="en-US"/>
                    </a:p>
                  </a:txBody>
                  <a:tcPr/>
                </a:tc>
                <a:tc>
                  <a:txBody>
                    <a:bodyPr/>
                    <a:lstStyle/>
                    <a:p>
                      <a:pPr marL="31750" marR="31750" indent="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1. </a:t>
                      </a:r>
                      <a:r>
                        <a:rPr lang="ko-KR" altLang="en-US" sz="1100" kern="1200" dirty="0">
                          <a:solidFill>
                            <a:schemeClr val="tx1"/>
                          </a:solidFill>
                          <a:latin typeface="+mn-lt"/>
                          <a:ea typeface="+mn-ea"/>
                          <a:cs typeface="+mn-cs"/>
                        </a:rPr>
                        <a:t>종류 </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온라인 제출과 전자적 </a:t>
                      </a:r>
                      <a:r>
                        <a:rPr lang="ko-KR" altLang="en-US" sz="1100" kern="1200" dirty="0" err="1">
                          <a:solidFill>
                            <a:schemeClr val="tx1"/>
                          </a:solidFill>
                          <a:latin typeface="+mn-lt"/>
                          <a:ea typeface="+mn-ea"/>
                          <a:cs typeface="+mn-cs"/>
                        </a:rPr>
                        <a:t>기록매체</a:t>
                      </a:r>
                      <a:r>
                        <a:rPr lang="ko-KR" altLang="en-US" sz="1100" kern="1200" dirty="0">
                          <a:solidFill>
                            <a:schemeClr val="tx1"/>
                          </a:solidFill>
                          <a:latin typeface="+mn-lt"/>
                          <a:ea typeface="+mn-ea"/>
                          <a:cs typeface="+mn-cs"/>
                        </a:rPr>
                        <a:t> 제출</a:t>
                      </a:r>
                      <a:r>
                        <a:rPr lang="en-US" altLang="ko-KR" sz="1100" kern="1200" dirty="0">
                          <a:solidFill>
                            <a:schemeClr val="tx1"/>
                          </a:solidFill>
                          <a:latin typeface="+mn-lt"/>
                          <a:ea typeface="+mn-ea"/>
                          <a:cs typeface="+mn-cs"/>
                        </a:rPr>
                        <a:t>(</a:t>
                      </a:r>
                      <a:r>
                        <a:rPr lang="ko-KR" altLang="en-US" sz="1100" kern="1200" dirty="0">
                          <a:solidFill>
                            <a:schemeClr val="tx1"/>
                          </a:solidFill>
                          <a:latin typeface="+mn-lt"/>
                          <a:ea typeface="+mn-ea"/>
                          <a:cs typeface="+mn-cs"/>
                        </a:rPr>
                        <a:t>法 </a:t>
                      </a:r>
                      <a:r>
                        <a:rPr lang="en-US" altLang="ko-KR" sz="1100" kern="1200" dirty="0">
                          <a:solidFill>
                            <a:schemeClr val="tx1"/>
                          </a:solidFill>
                          <a:latin typeface="+mn-lt"/>
                          <a:ea typeface="+mn-ea"/>
                          <a:cs typeface="+mn-cs"/>
                        </a:rPr>
                        <a:t>28</a:t>
                      </a:r>
                      <a:r>
                        <a:rPr lang="ko-KR" altLang="en-US" sz="1100" kern="1200" dirty="0">
                          <a:solidFill>
                            <a:schemeClr val="tx1"/>
                          </a:solidFill>
                          <a:latin typeface="+mn-lt"/>
                          <a:ea typeface="+mn-ea"/>
                          <a:cs typeface="+mn-cs"/>
                        </a:rPr>
                        <a:t>의</a:t>
                      </a:r>
                      <a:r>
                        <a:rPr lang="en-US" altLang="ko-KR" sz="1100" kern="1200" dirty="0">
                          <a:solidFill>
                            <a:schemeClr val="tx1"/>
                          </a:solidFill>
                          <a:latin typeface="+mn-lt"/>
                          <a:ea typeface="+mn-ea"/>
                          <a:cs typeface="+mn-cs"/>
                        </a:rPr>
                        <a:t>3</a:t>
                      </a:r>
                      <a:r>
                        <a:rPr lang="ko-KR" altLang="en-US" sz="1100" kern="1200" dirty="0">
                          <a:solidFill>
                            <a:schemeClr val="tx1"/>
                          </a:solidFill>
                          <a:latin typeface="+mn-lt"/>
                          <a:ea typeface="+mn-ea"/>
                          <a:cs typeface="+mn-cs"/>
                        </a:rPr>
                        <a:t>①</a:t>
                      </a:r>
                      <a:r>
                        <a:rPr lang="en-US" altLang="ko-KR" sz="1100" kern="1200" dirty="0">
                          <a:solidFill>
                            <a:schemeClr val="tx1"/>
                          </a:solidFill>
                          <a:latin typeface="+mn-lt"/>
                          <a:ea typeface="+mn-ea"/>
                          <a:cs typeface="+mn-cs"/>
                        </a:rPr>
                        <a:t>)</a:t>
                      </a:r>
                      <a:endParaRPr lang="ko-KR" altLang="en-US" sz="1100" kern="1200" dirty="0">
                        <a:solidFill>
                          <a:schemeClr val="tx1"/>
                        </a:solidFill>
                        <a:latin typeface="+mn-lt"/>
                        <a:ea typeface="+mn-ea"/>
                        <a:cs typeface="+mn-cs"/>
                      </a:endParaRPr>
                    </a:p>
                    <a:p>
                      <a:pPr marL="162560" marR="31750" indent="-162560" algn="l" fontAlgn="base" latinLnBrk="1">
                        <a:lnSpc>
                          <a:spcPct val="100000"/>
                        </a:lnSpc>
                        <a:spcBef>
                          <a:spcPts val="0"/>
                        </a:spcBef>
                        <a:spcAft>
                          <a:spcPts val="0"/>
                        </a:spcAft>
                      </a:pPr>
                      <a:r>
                        <a:rPr lang="ko-KR" altLang="en-US" sz="1100" kern="1200" dirty="0">
                          <a:solidFill>
                            <a:schemeClr val="tx1"/>
                          </a:solidFill>
                          <a:latin typeface="+mn-lt"/>
                          <a:ea typeface="+mn-ea"/>
                          <a:cs typeface="+mn-cs"/>
                        </a:rPr>
                        <a:t> </a:t>
                      </a:r>
                      <a:r>
                        <a:rPr lang="en-US" altLang="ko-KR" sz="1100" kern="1200" dirty="0">
                          <a:solidFill>
                            <a:schemeClr val="tx1"/>
                          </a:solidFill>
                          <a:latin typeface="+mn-lt"/>
                          <a:ea typeface="+mn-ea"/>
                          <a:cs typeface="+mn-cs"/>
                        </a:rPr>
                        <a:t>2.</a:t>
                      </a:r>
                      <a:r>
                        <a:rPr lang="ko-KR" altLang="en-US" sz="1100" kern="1200" dirty="0">
                          <a:solidFill>
                            <a:schemeClr val="tx1"/>
                          </a:solidFill>
                          <a:latin typeface="+mn-lt"/>
                          <a:ea typeface="+mn-ea"/>
                          <a:cs typeface="+mn-cs"/>
                        </a:rPr>
                        <a:t> 절차 </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전자문서이용신고 후 전자서명</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전자문서는 </a:t>
                      </a:r>
                      <a:r>
                        <a:rPr lang="ko-KR" altLang="en-US" sz="1100" kern="1200" dirty="0" err="1">
                          <a:solidFill>
                            <a:schemeClr val="tx1"/>
                          </a:solidFill>
                          <a:latin typeface="+mn-lt"/>
                          <a:ea typeface="+mn-ea"/>
                          <a:cs typeface="+mn-cs"/>
                        </a:rPr>
                        <a:t>전자서명한</a:t>
                      </a:r>
                      <a:r>
                        <a:rPr lang="ko-KR" altLang="en-US" sz="1100" kern="1200" dirty="0">
                          <a:solidFill>
                            <a:schemeClr val="tx1"/>
                          </a:solidFill>
                          <a:latin typeface="+mn-lt"/>
                          <a:ea typeface="+mn-ea"/>
                          <a:cs typeface="+mn-cs"/>
                        </a:rPr>
                        <a:t> 자가 제출한 것으로 간주</a:t>
                      </a:r>
                      <a:r>
                        <a:rPr lang="en-US" altLang="ko-KR" sz="1100" kern="1200" dirty="0">
                          <a:solidFill>
                            <a:schemeClr val="tx1"/>
                          </a:solidFill>
                          <a:latin typeface="+mn-lt"/>
                          <a:ea typeface="+mn-ea"/>
                          <a:cs typeface="+mn-cs"/>
                        </a:rPr>
                        <a:t>(</a:t>
                      </a:r>
                      <a:r>
                        <a:rPr lang="ko-KR" altLang="en-US" sz="1100" kern="1200" dirty="0">
                          <a:solidFill>
                            <a:schemeClr val="tx1"/>
                          </a:solidFill>
                          <a:latin typeface="+mn-lt"/>
                          <a:ea typeface="+mn-ea"/>
                          <a:cs typeface="+mn-cs"/>
                        </a:rPr>
                        <a:t>法 </a:t>
                      </a:r>
                      <a:r>
                        <a:rPr lang="en-US" altLang="ko-KR" sz="1100" kern="1200" dirty="0">
                          <a:solidFill>
                            <a:schemeClr val="tx1"/>
                          </a:solidFill>
                          <a:latin typeface="+mn-lt"/>
                          <a:ea typeface="+mn-ea"/>
                          <a:cs typeface="+mn-cs"/>
                        </a:rPr>
                        <a:t>28</a:t>
                      </a:r>
                      <a:r>
                        <a:rPr lang="ko-KR" altLang="en-US" sz="1100" kern="1200" dirty="0">
                          <a:solidFill>
                            <a:schemeClr val="tx1"/>
                          </a:solidFill>
                          <a:latin typeface="+mn-lt"/>
                          <a:ea typeface="+mn-ea"/>
                          <a:cs typeface="+mn-cs"/>
                        </a:rPr>
                        <a:t>의</a:t>
                      </a:r>
                      <a:r>
                        <a:rPr lang="en-US" altLang="ko-KR" sz="1100" kern="1200" dirty="0">
                          <a:solidFill>
                            <a:schemeClr val="tx1"/>
                          </a:solidFill>
                          <a:latin typeface="+mn-lt"/>
                          <a:ea typeface="+mn-ea"/>
                          <a:cs typeface="+mn-cs"/>
                        </a:rPr>
                        <a:t>4)</a:t>
                      </a:r>
                      <a:endParaRPr lang="ko-KR" altLang="en-US" sz="1100" kern="1200" dirty="0">
                        <a:solidFill>
                          <a:schemeClr val="tx1"/>
                        </a:solidFill>
                        <a:latin typeface="+mn-lt"/>
                        <a:ea typeface="+mn-ea"/>
                        <a:cs typeface="+mn-cs"/>
                      </a:endParaRPr>
                    </a:p>
                    <a:p>
                      <a:pPr marL="31750" marR="31750" indent="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3. </a:t>
                      </a:r>
                      <a:r>
                        <a:rPr lang="ko-KR" altLang="en-US" sz="1100" kern="1200" dirty="0">
                          <a:solidFill>
                            <a:schemeClr val="tx1"/>
                          </a:solidFill>
                          <a:latin typeface="+mn-lt"/>
                          <a:ea typeface="+mn-ea"/>
                          <a:cs typeface="+mn-cs"/>
                        </a:rPr>
                        <a:t>효력</a:t>
                      </a:r>
                    </a:p>
                    <a:p>
                      <a:pPr marL="31750" marR="31750" indent="0" algn="l" fontAlgn="base" latinLnBrk="1">
                        <a:lnSpc>
                          <a:spcPct val="100000"/>
                        </a:lnSpc>
                        <a:spcBef>
                          <a:spcPts val="0"/>
                        </a:spcBef>
                        <a:spcAft>
                          <a:spcPts val="0"/>
                        </a:spcAft>
                      </a:pPr>
                      <a:r>
                        <a:rPr lang="ko-KR" altLang="en-US" sz="1100" kern="1200" dirty="0">
                          <a:solidFill>
                            <a:schemeClr val="tx1"/>
                          </a:solidFill>
                          <a:latin typeface="+mn-lt"/>
                          <a:ea typeface="+mn-ea"/>
                          <a:cs typeface="+mn-cs"/>
                        </a:rPr>
                        <a:t>① 서면과 동일한 효력</a:t>
                      </a:r>
                      <a:r>
                        <a:rPr lang="en-US" altLang="ko-KR" sz="1100" kern="1200" dirty="0">
                          <a:solidFill>
                            <a:schemeClr val="tx1"/>
                          </a:solidFill>
                          <a:latin typeface="+mn-lt"/>
                          <a:ea typeface="+mn-ea"/>
                          <a:cs typeface="+mn-cs"/>
                        </a:rPr>
                        <a:t>(</a:t>
                      </a:r>
                      <a:r>
                        <a:rPr lang="ko-KR" altLang="en-US" sz="1100" kern="1200" dirty="0">
                          <a:solidFill>
                            <a:schemeClr val="tx1"/>
                          </a:solidFill>
                          <a:latin typeface="+mn-lt"/>
                          <a:ea typeface="+mn-ea"/>
                          <a:cs typeface="+mn-cs"/>
                        </a:rPr>
                        <a:t>法 </a:t>
                      </a:r>
                      <a:r>
                        <a:rPr lang="en-US" altLang="ko-KR" sz="1100" kern="1200" dirty="0">
                          <a:solidFill>
                            <a:schemeClr val="tx1"/>
                          </a:solidFill>
                          <a:latin typeface="+mn-lt"/>
                          <a:ea typeface="+mn-ea"/>
                          <a:cs typeface="+mn-cs"/>
                        </a:rPr>
                        <a:t>28</a:t>
                      </a:r>
                      <a:r>
                        <a:rPr lang="ko-KR" altLang="en-US" sz="1100" kern="1200" dirty="0">
                          <a:solidFill>
                            <a:schemeClr val="tx1"/>
                          </a:solidFill>
                          <a:latin typeface="+mn-lt"/>
                          <a:ea typeface="+mn-ea"/>
                          <a:cs typeface="+mn-cs"/>
                        </a:rPr>
                        <a:t>의</a:t>
                      </a:r>
                      <a:r>
                        <a:rPr lang="en-US" altLang="ko-KR" sz="1100" kern="1200" dirty="0">
                          <a:solidFill>
                            <a:schemeClr val="tx1"/>
                          </a:solidFill>
                          <a:latin typeface="+mn-lt"/>
                          <a:ea typeface="+mn-ea"/>
                          <a:cs typeface="+mn-cs"/>
                        </a:rPr>
                        <a:t>3</a:t>
                      </a:r>
                      <a:r>
                        <a:rPr lang="ko-KR" altLang="en-US" sz="1100" kern="1200" dirty="0">
                          <a:solidFill>
                            <a:schemeClr val="tx1"/>
                          </a:solidFill>
                          <a:latin typeface="+mn-lt"/>
                          <a:ea typeface="+mn-ea"/>
                          <a:cs typeface="+mn-cs"/>
                        </a:rPr>
                        <a:t>②</a:t>
                      </a:r>
                      <a:r>
                        <a:rPr lang="en-US" altLang="ko-KR" sz="1100" kern="1200" dirty="0">
                          <a:solidFill>
                            <a:schemeClr val="tx1"/>
                          </a:solidFill>
                          <a:latin typeface="+mn-lt"/>
                          <a:ea typeface="+mn-ea"/>
                          <a:cs typeface="+mn-cs"/>
                        </a:rPr>
                        <a:t>)</a:t>
                      </a:r>
                      <a:endParaRPr lang="ko-KR" altLang="en-US" sz="1100" kern="1200" dirty="0">
                        <a:solidFill>
                          <a:schemeClr val="tx1"/>
                        </a:solidFill>
                        <a:latin typeface="+mn-lt"/>
                        <a:ea typeface="+mn-ea"/>
                        <a:cs typeface="+mn-cs"/>
                      </a:endParaRPr>
                    </a:p>
                    <a:p>
                      <a:pPr marL="182880" marR="31750" indent="-182880" algn="l" fontAlgn="base" latinLnBrk="1">
                        <a:lnSpc>
                          <a:spcPct val="100000"/>
                        </a:lnSpc>
                        <a:spcBef>
                          <a:spcPts val="0"/>
                        </a:spcBef>
                        <a:spcAft>
                          <a:spcPts val="0"/>
                        </a:spcAft>
                      </a:pPr>
                      <a:r>
                        <a:rPr lang="ko-KR" altLang="en-US" sz="1100" kern="1200" dirty="0">
                          <a:solidFill>
                            <a:schemeClr val="tx1"/>
                          </a:solidFill>
                          <a:latin typeface="+mn-lt"/>
                          <a:ea typeface="+mn-ea"/>
                          <a:cs typeface="+mn-cs"/>
                        </a:rPr>
                        <a:t> ② 정보통신망을 이용하여 제출한 전자문서는 접수번호 확인할 수 있을 때</a:t>
                      </a:r>
                      <a:r>
                        <a:rPr lang="en-US" altLang="ko-KR" sz="1100" kern="1200" dirty="0">
                          <a:solidFill>
                            <a:schemeClr val="tx1"/>
                          </a:solidFill>
                          <a:latin typeface="+mn-lt"/>
                          <a:ea typeface="+mn-ea"/>
                          <a:cs typeface="+mn-cs"/>
                        </a:rPr>
                        <a:t>, </a:t>
                      </a:r>
                      <a:r>
                        <a:rPr lang="ko-KR" altLang="en-US" sz="1100" kern="1200" dirty="0" err="1">
                          <a:solidFill>
                            <a:schemeClr val="tx1"/>
                          </a:solidFill>
                          <a:latin typeface="+mn-lt"/>
                          <a:ea typeface="+mn-ea"/>
                          <a:cs typeface="+mn-cs"/>
                        </a:rPr>
                        <a:t>접수용</a:t>
                      </a:r>
                      <a:r>
                        <a:rPr lang="ko-KR" altLang="en-US" sz="1100" kern="1200" dirty="0">
                          <a:solidFill>
                            <a:schemeClr val="tx1"/>
                          </a:solidFill>
                          <a:latin typeface="+mn-lt"/>
                          <a:ea typeface="+mn-ea"/>
                          <a:cs typeface="+mn-cs"/>
                        </a:rPr>
                        <a:t> 전산정보처리조직의 파일에 기록된 내용으로 접수된 것으로 간주</a:t>
                      </a:r>
                      <a:r>
                        <a:rPr lang="en-US" altLang="ko-KR" sz="1100" kern="1200" dirty="0">
                          <a:solidFill>
                            <a:schemeClr val="tx1"/>
                          </a:solidFill>
                          <a:latin typeface="+mn-lt"/>
                          <a:ea typeface="+mn-ea"/>
                          <a:cs typeface="+mn-cs"/>
                        </a:rPr>
                        <a:t>(</a:t>
                      </a:r>
                      <a:r>
                        <a:rPr lang="ko-KR" altLang="en-US" sz="1100" kern="1200" dirty="0">
                          <a:solidFill>
                            <a:schemeClr val="tx1"/>
                          </a:solidFill>
                          <a:latin typeface="+mn-lt"/>
                          <a:ea typeface="+mn-ea"/>
                          <a:cs typeface="+mn-cs"/>
                        </a:rPr>
                        <a:t>法 </a:t>
                      </a:r>
                      <a:r>
                        <a:rPr lang="en-US" altLang="ko-KR" sz="1100" kern="1200" dirty="0">
                          <a:solidFill>
                            <a:schemeClr val="tx1"/>
                          </a:solidFill>
                          <a:latin typeface="+mn-lt"/>
                          <a:ea typeface="+mn-ea"/>
                          <a:cs typeface="+mn-cs"/>
                        </a:rPr>
                        <a:t>28</a:t>
                      </a:r>
                      <a:r>
                        <a:rPr lang="ko-KR" altLang="en-US" sz="1100" kern="1200" dirty="0">
                          <a:solidFill>
                            <a:schemeClr val="tx1"/>
                          </a:solidFill>
                          <a:latin typeface="+mn-lt"/>
                          <a:ea typeface="+mn-ea"/>
                          <a:cs typeface="+mn-cs"/>
                        </a:rPr>
                        <a:t>의</a:t>
                      </a:r>
                      <a:r>
                        <a:rPr lang="en-US" altLang="ko-KR" sz="1100" kern="1200" dirty="0">
                          <a:solidFill>
                            <a:schemeClr val="tx1"/>
                          </a:solidFill>
                          <a:latin typeface="+mn-lt"/>
                          <a:ea typeface="+mn-ea"/>
                          <a:cs typeface="+mn-cs"/>
                        </a:rPr>
                        <a:t>3</a:t>
                      </a:r>
                      <a:r>
                        <a:rPr lang="ko-KR" altLang="en-US" sz="1100" kern="1200" dirty="0">
                          <a:solidFill>
                            <a:schemeClr val="tx1"/>
                          </a:solidFill>
                          <a:latin typeface="+mn-lt"/>
                          <a:ea typeface="+mn-ea"/>
                          <a:cs typeface="+mn-cs"/>
                        </a:rPr>
                        <a:t>③</a:t>
                      </a:r>
                      <a:r>
                        <a:rPr lang="en-US" altLang="ko-KR" sz="1100" kern="1200" dirty="0">
                          <a:solidFill>
                            <a:schemeClr val="tx1"/>
                          </a:solidFill>
                          <a:latin typeface="+mn-lt"/>
                          <a:ea typeface="+mn-ea"/>
                          <a:cs typeface="+mn-cs"/>
                        </a:rPr>
                        <a:t>)</a:t>
                      </a:r>
                      <a:endParaRPr lang="ko-KR" altLang="en-US" sz="1100" kern="1200" dirty="0">
                        <a:solidFill>
                          <a:schemeClr val="tx1"/>
                        </a:solidFill>
                        <a:latin typeface="+mn-lt"/>
                        <a:ea typeface="+mn-ea"/>
                        <a:cs typeface="+mn-cs"/>
                      </a:endParaRP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44187069"/>
                  </a:ext>
                </a:extLst>
              </a:tr>
              <a:tr h="123391">
                <a:tc gridSpan="3">
                  <a:txBody>
                    <a:bodyPr/>
                    <a:lstStyle/>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수수료의 납부</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latinLnBrk="1"/>
                      <a:endParaRPr lang="ko-KR" altLang="en-US"/>
                    </a:p>
                  </a:txBody>
                  <a:tcPr/>
                </a:tc>
                <a:tc hMerge="1">
                  <a:txBody>
                    <a:bodyPr/>
                    <a:lstStyle/>
                    <a:p>
                      <a:pPr latinLnBrk="1"/>
                      <a:endParaRPr lang="ko-KR" altLang="en-US"/>
                    </a:p>
                  </a:txBody>
                  <a:tcPr/>
                </a:tc>
                <a:tc>
                  <a:txBody>
                    <a:bodyPr/>
                    <a:lstStyle/>
                    <a:p>
                      <a:pPr marL="31750" marR="31750" indent="0" algn="l" fontAlgn="base" latinLnBrk="1">
                        <a:lnSpc>
                          <a:spcPct val="100000"/>
                        </a:lnSpc>
                        <a:spcBef>
                          <a:spcPts val="0"/>
                        </a:spcBef>
                        <a:spcAft>
                          <a:spcPts val="0"/>
                        </a:spcAft>
                      </a:pPr>
                      <a:r>
                        <a:rPr lang="en-US" altLang="ko-KR" sz="1100" kern="1200">
                          <a:solidFill>
                            <a:schemeClr val="tx1"/>
                          </a:solidFill>
                          <a:latin typeface="+mn-lt"/>
                          <a:ea typeface="+mn-ea"/>
                          <a:cs typeface="+mn-cs"/>
                        </a:rPr>
                        <a:t>1. </a:t>
                      </a:r>
                      <a:r>
                        <a:rPr lang="ko-KR" altLang="en-US" sz="1100" kern="1200">
                          <a:solidFill>
                            <a:schemeClr val="tx1"/>
                          </a:solidFill>
                          <a:latin typeface="+mn-lt"/>
                          <a:ea typeface="+mn-ea"/>
                          <a:cs typeface="+mn-cs"/>
                        </a:rPr>
                        <a:t>특허에 관한 절차를 밟은 자가 수수료 납부</a:t>
                      </a:r>
                      <a:r>
                        <a:rPr lang="en-US" altLang="ko-KR" sz="1100" kern="1200">
                          <a:solidFill>
                            <a:schemeClr val="tx1"/>
                          </a:solidFill>
                          <a:latin typeface="+mn-lt"/>
                          <a:ea typeface="+mn-ea"/>
                          <a:cs typeface="+mn-cs"/>
                        </a:rPr>
                        <a:t>(</a:t>
                      </a:r>
                      <a:r>
                        <a:rPr lang="ko-KR" altLang="en-US" sz="1100" kern="1200">
                          <a:solidFill>
                            <a:schemeClr val="tx1"/>
                          </a:solidFill>
                          <a:latin typeface="+mn-lt"/>
                          <a:ea typeface="+mn-ea"/>
                          <a:cs typeface="+mn-cs"/>
                        </a:rPr>
                        <a:t>法 </a:t>
                      </a:r>
                      <a:r>
                        <a:rPr lang="en-US" altLang="ko-KR" sz="1100" kern="1200">
                          <a:solidFill>
                            <a:schemeClr val="tx1"/>
                          </a:solidFill>
                          <a:latin typeface="+mn-lt"/>
                          <a:ea typeface="+mn-ea"/>
                          <a:cs typeface="+mn-cs"/>
                        </a:rPr>
                        <a:t>82</a:t>
                      </a:r>
                      <a:r>
                        <a:rPr lang="ko-KR" altLang="en-US" sz="1100" kern="1200">
                          <a:solidFill>
                            <a:schemeClr val="tx1"/>
                          </a:solidFill>
                          <a:latin typeface="+mn-lt"/>
                          <a:ea typeface="+mn-ea"/>
                          <a:cs typeface="+mn-cs"/>
                        </a:rPr>
                        <a:t>①</a:t>
                      </a:r>
                      <a:r>
                        <a:rPr lang="en-US" altLang="ko-KR" sz="1100" kern="1200">
                          <a:solidFill>
                            <a:schemeClr val="tx1"/>
                          </a:solidFill>
                          <a:latin typeface="+mn-lt"/>
                          <a:ea typeface="+mn-ea"/>
                          <a:cs typeface="+mn-cs"/>
                        </a:rPr>
                        <a:t>)</a:t>
                      </a:r>
                      <a:endParaRPr lang="ko-KR" altLang="en-US" sz="1100" kern="1200">
                        <a:solidFill>
                          <a:schemeClr val="tx1"/>
                        </a:solidFill>
                        <a:latin typeface="+mn-lt"/>
                        <a:ea typeface="+mn-ea"/>
                        <a:cs typeface="+mn-cs"/>
                      </a:endParaRPr>
                    </a:p>
                    <a:p>
                      <a:pPr marL="31750" marR="31750" indent="0" algn="l" fontAlgn="base" latinLnBrk="1">
                        <a:lnSpc>
                          <a:spcPct val="100000"/>
                        </a:lnSpc>
                        <a:spcBef>
                          <a:spcPts val="0"/>
                        </a:spcBef>
                        <a:spcAft>
                          <a:spcPts val="0"/>
                        </a:spcAft>
                      </a:pPr>
                      <a:r>
                        <a:rPr lang="en-US" altLang="ko-KR" sz="1100" kern="1200">
                          <a:solidFill>
                            <a:schemeClr val="tx1"/>
                          </a:solidFill>
                          <a:latin typeface="+mn-lt"/>
                          <a:ea typeface="+mn-ea"/>
                          <a:cs typeface="+mn-cs"/>
                        </a:rPr>
                        <a:t>2. </a:t>
                      </a:r>
                      <a:r>
                        <a:rPr lang="ko-KR" altLang="en-US" sz="1100" kern="1200">
                          <a:solidFill>
                            <a:schemeClr val="tx1"/>
                          </a:solidFill>
                          <a:latin typeface="+mn-lt"/>
                          <a:ea typeface="+mn-ea"/>
                          <a:cs typeface="+mn-cs"/>
                        </a:rPr>
                        <a:t>접수번호 부여받아 다음날까지 납부</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991324930"/>
                  </a:ext>
                </a:extLst>
              </a:tr>
              <a:tr h="65188">
                <a:tc rowSpan="3">
                  <a:txBody>
                    <a:bodyPr/>
                    <a:lstStyle/>
                    <a:p>
                      <a:pPr marL="0" marR="0" indent="0" algn="ctr" fontAlgn="base" latinLnBrk="0">
                        <a:lnSpc>
                          <a:spcPct val="100000"/>
                        </a:lnSpc>
                        <a:spcBef>
                          <a:spcPts val="0"/>
                        </a:spcBef>
                        <a:spcAft>
                          <a:spcPts val="0"/>
                        </a:spcAft>
                      </a:pPr>
                      <a:r>
                        <a:rPr lang="ko-KR" altLang="en-US" sz="1100" b="1" kern="1200" dirty="0" err="1">
                          <a:solidFill>
                            <a:schemeClr val="tx1"/>
                          </a:solidFill>
                          <a:latin typeface="+mn-lt"/>
                          <a:ea typeface="+mn-ea"/>
                          <a:cs typeface="+mn-cs"/>
                        </a:rPr>
                        <a:t>방식심사</a:t>
                      </a:r>
                      <a:endParaRPr lang="ko-KR" altLang="en-US" sz="1100" b="1" kern="1200" dirty="0">
                        <a:solidFill>
                          <a:schemeClr val="tx1"/>
                        </a:solidFill>
                        <a:latin typeface="+mn-lt"/>
                        <a:ea typeface="+mn-ea"/>
                        <a:cs typeface="+mn-cs"/>
                      </a:endParaRP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gridSpan="2">
                  <a:txBody>
                    <a:bodyPr/>
                    <a:lstStyle/>
                    <a:p>
                      <a:pPr marL="0" marR="0" indent="0" algn="ctr" fontAlgn="base" latinLnBrk="0">
                        <a:lnSpc>
                          <a:spcPct val="100000"/>
                        </a:lnSpc>
                        <a:spcBef>
                          <a:spcPts val="0"/>
                        </a:spcBef>
                        <a:spcAft>
                          <a:spcPts val="0"/>
                        </a:spcAft>
                      </a:pPr>
                      <a:r>
                        <a:rPr lang="ko-KR" altLang="en-US" sz="1100" b="1" kern="1200" dirty="0" err="1">
                          <a:solidFill>
                            <a:schemeClr val="tx1"/>
                          </a:solidFill>
                          <a:latin typeface="+mn-lt"/>
                          <a:ea typeface="+mn-ea"/>
                          <a:cs typeface="+mn-cs"/>
                        </a:rPr>
                        <a:t>흠결이</a:t>
                      </a:r>
                      <a:r>
                        <a:rPr lang="ko-KR" altLang="en-US" sz="1100" b="1" kern="1200" dirty="0">
                          <a:solidFill>
                            <a:schemeClr val="tx1"/>
                          </a:solidFill>
                          <a:latin typeface="+mn-lt"/>
                          <a:ea typeface="+mn-ea"/>
                          <a:cs typeface="+mn-cs"/>
                        </a:rPr>
                        <a:t> 없는 경우</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hMerge="1">
                  <a:txBody>
                    <a:bodyPr/>
                    <a:lstStyle/>
                    <a:p>
                      <a:pPr latinLnBrk="1"/>
                      <a:endParaRPr lang="ko-KR" altLang="en-US"/>
                    </a:p>
                  </a:txBody>
                  <a:tcPr/>
                </a:tc>
                <a:tc>
                  <a:txBody>
                    <a:bodyPr/>
                    <a:lstStyle/>
                    <a:p>
                      <a:pPr marL="31750" marR="31750" indent="0" algn="l" fontAlgn="base" latinLnBrk="1">
                        <a:lnSpc>
                          <a:spcPct val="100000"/>
                        </a:lnSpc>
                        <a:spcBef>
                          <a:spcPts val="0"/>
                        </a:spcBef>
                        <a:spcAft>
                          <a:spcPts val="0"/>
                        </a:spcAft>
                      </a:pPr>
                      <a:r>
                        <a:rPr lang="ko-KR" altLang="en-US" sz="1100" kern="1200">
                          <a:solidFill>
                            <a:schemeClr val="tx1"/>
                          </a:solidFill>
                          <a:latin typeface="+mn-lt"/>
                          <a:ea typeface="+mn-ea"/>
                          <a:cs typeface="+mn-cs"/>
                        </a:rPr>
                        <a:t>서류의 수리</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27766710"/>
                  </a:ext>
                </a:extLst>
              </a:tr>
              <a:tr h="239796">
                <a:tc vMerge="1">
                  <a:txBody>
                    <a:bodyPr/>
                    <a:lstStyle/>
                    <a:p>
                      <a:pPr latinLnBrk="1"/>
                      <a:endParaRPr lang="ko-KR" altLang="en-US"/>
                    </a:p>
                  </a:txBody>
                  <a:tcPr/>
                </a:tc>
                <a:tc rowSpan="2">
                  <a:txBody>
                    <a:bodyPr/>
                    <a:lstStyle/>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흠결이 있는 경우</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0" marR="0" indent="0" algn="ctr" fontAlgn="base" latinLnBrk="0">
                        <a:lnSpc>
                          <a:spcPct val="100000"/>
                        </a:lnSpc>
                        <a:spcBef>
                          <a:spcPts val="0"/>
                        </a:spcBef>
                        <a:spcAft>
                          <a:spcPts val="0"/>
                        </a:spcAft>
                      </a:pPr>
                      <a:r>
                        <a:rPr lang="ko-KR" altLang="en-US" sz="1100" b="1" kern="1200" dirty="0" err="1">
                          <a:solidFill>
                            <a:schemeClr val="tx1"/>
                          </a:solidFill>
                          <a:latin typeface="+mn-lt"/>
                          <a:ea typeface="+mn-ea"/>
                          <a:cs typeface="+mn-cs"/>
                        </a:rPr>
                        <a:t>보정가능</a:t>
                      </a:r>
                      <a:endParaRPr lang="en-US" altLang="ko-KR" sz="1100" b="1" kern="1200" dirty="0">
                        <a:solidFill>
                          <a:schemeClr val="tx1"/>
                        </a:solidFill>
                        <a:latin typeface="+mn-lt"/>
                        <a:ea typeface="+mn-ea"/>
                        <a:cs typeface="+mn-cs"/>
                      </a:endParaRPr>
                    </a:p>
                    <a:p>
                      <a:pPr marL="0" marR="0" indent="0" algn="ctr" fontAlgn="base" latinLnBrk="0">
                        <a:lnSpc>
                          <a:spcPct val="100000"/>
                        </a:lnSpc>
                        <a:spcBef>
                          <a:spcPts val="0"/>
                        </a:spcBef>
                        <a:spcAft>
                          <a:spcPts val="0"/>
                        </a:spcAft>
                      </a:pPr>
                      <a:r>
                        <a:rPr lang="en-US" altLang="ko-KR" sz="1100" b="1" kern="1200" dirty="0">
                          <a:solidFill>
                            <a:schemeClr val="tx1"/>
                          </a:solidFill>
                          <a:latin typeface="+mn-lt"/>
                          <a:ea typeface="+mn-ea"/>
                          <a:cs typeface="+mn-cs"/>
                        </a:rPr>
                        <a:t>(</a:t>
                      </a:r>
                      <a:r>
                        <a:rPr lang="ko-KR" altLang="en-US" sz="1100" b="1" kern="1200" dirty="0">
                          <a:solidFill>
                            <a:schemeClr val="tx1"/>
                          </a:solidFill>
                          <a:latin typeface="+mn-lt"/>
                          <a:ea typeface="+mn-ea"/>
                          <a:cs typeface="+mn-cs"/>
                        </a:rPr>
                        <a:t>法 </a:t>
                      </a:r>
                      <a:r>
                        <a:rPr lang="en-US" altLang="ko-KR" sz="1100" b="1" kern="1200" dirty="0">
                          <a:solidFill>
                            <a:schemeClr val="tx1"/>
                          </a:solidFill>
                          <a:latin typeface="+mn-lt"/>
                          <a:ea typeface="+mn-ea"/>
                          <a:cs typeface="+mn-cs"/>
                        </a:rPr>
                        <a:t>46)</a:t>
                      </a:r>
                      <a:r>
                        <a:rPr lang="ko-KR" altLang="en-US" sz="1100" b="1" kern="1200" dirty="0">
                          <a:solidFill>
                            <a:schemeClr val="tx1"/>
                          </a:solidFill>
                          <a:latin typeface="+mn-lt"/>
                          <a:ea typeface="+mn-ea"/>
                          <a:cs typeface="+mn-cs"/>
                        </a:rPr>
                        <a:t>한 경미한</a:t>
                      </a:r>
                      <a:endParaRPr lang="en-US" altLang="ko-KR" sz="1100" b="1" kern="1200" dirty="0">
                        <a:solidFill>
                          <a:schemeClr val="tx1"/>
                        </a:solidFill>
                        <a:latin typeface="+mn-lt"/>
                        <a:ea typeface="+mn-ea"/>
                        <a:cs typeface="+mn-cs"/>
                      </a:endParaRPr>
                    </a:p>
                    <a:p>
                      <a:pPr marL="0" marR="0" indent="0" algn="ctr" fontAlgn="base" latinLnBrk="0">
                        <a:lnSpc>
                          <a:spcPct val="100000"/>
                        </a:lnSpc>
                        <a:spcBef>
                          <a:spcPts val="0"/>
                        </a:spcBef>
                        <a:spcAft>
                          <a:spcPts val="0"/>
                        </a:spcAft>
                      </a:pPr>
                      <a:r>
                        <a:rPr lang="ko-KR" altLang="en-US" sz="1100" b="1" kern="1200" dirty="0">
                          <a:solidFill>
                            <a:schemeClr val="tx1"/>
                          </a:solidFill>
                          <a:latin typeface="+mn-lt"/>
                          <a:ea typeface="+mn-ea"/>
                          <a:cs typeface="+mn-cs"/>
                        </a:rPr>
                        <a:t> </a:t>
                      </a:r>
                      <a:r>
                        <a:rPr lang="ko-KR" altLang="en-US" sz="1100" b="1" kern="1200" dirty="0" err="1">
                          <a:solidFill>
                            <a:schemeClr val="tx1"/>
                          </a:solidFill>
                          <a:latin typeface="+mn-lt"/>
                          <a:ea typeface="+mn-ea"/>
                          <a:cs typeface="+mn-cs"/>
                        </a:rPr>
                        <a:t>흠결의</a:t>
                      </a:r>
                      <a:r>
                        <a:rPr lang="ko-KR" altLang="en-US" sz="1100" b="1" kern="1200" dirty="0">
                          <a:solidFill>
                            <a:schemeClr val="tx1"/>
                          </a:solidFill>
                          <a:latin typeface="+mn-lt"/>
                          <a:ea typeface="+mn-ea"/>
                          <a:cs typeface="+mn-cs"/>
                        </a:rPr>
                        <a:t> 경우</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31750" marR="31750" indent="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1. </a:t>
                      </a:r>
                      <a:r>
                        <a:rPr lang="ko-KR" altLang="en-US" sz="1100" kern="1200" dirty="0">
                          <a:solidFill>
                            <a:schemeClr val="tx1"/>
                          </a:solidFill>
                          <a:latin typeface="+mn-lt"/>
                          <a:ea typeface="+mn-ea"/>
                          <a:cs typeface="+mn-cs"/>
                        </a:rPr>
                        <a:t>일단 수리 후 보정명령</a:t>
                      </a:r>
                    </a:p>
                    <a:p>
                      <a:pPr marL="31750" marR="31750" indent="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2. </a:t>
                      </a:r>
                      <a:r>
                        <a:rPr lang="ko-KR" altLang="en-US" sz="1100" kern="1200" dirty="0">
                          <a:solidFill>
                            <a:schemeClr val="tx1"/>
                          </a:solidFill>
                          <a:latin typeface="+mn-lt"/>
                          <a:ea typeface="+mn-ea"/>
                          <a:cs typeface="+mn-cs"/>
                        </a:rPr>
                        <a:t>보정에 의하여 하자가 치유된 경우 </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소급효</a:t>
                      </a:r>
                    </a:p>
                    <a:p>
                      <a:pPr marL="125730" marR="31750" indent="-12573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 3. </a:t>
                      </a:r>
                      <a:r>
                        <a:rPr lang="ko-KR" altLang="en-US" sz="1100" kern="1200" dirty="0">
                          <a:solidFill>
                            <a:schemeClr val="tx1"/>
                          </a:solidFill>
                          <a:latin typeface="+mn-lt"/>
                          <a:ea typeface="+mn-ea"/>
                          <a:cs typeface="+mn-cs"/>
                        </a:rPr>
                        <a:t>보정에 의하여 하자가 치유되지 아니한 경우 </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해당 보정을 명한 특허에 관한 절차를 무효</a:t>
                      </a:r>
                      <a:r>
                        <a:rPr lang="en-US" altLang="ko-KR" sz="1100" kern="1200" dirty="0">
                          <a:solidFill>
                            <a:schemeClr val="tx1"/>
                          </a:solidFill>
                          <a:latin typeface="+mn-lt"/>
                          <a:ea typeface="+mn-ea"/>
                          <a:cs typeface="+mn-cs"/>
                        </a:rPr>
                        <a:t>(</a:t>
                      </a:r>
                      <a:r>
                        <a:rPr lang="ko-KR" altLang="en-US" sz="1100" kern="1200" dirty="0">
                          <a:solidFill>
                            <a:schemeClr val="tx1"/>
                          </a:solidFill>
                          <a:latin typeface="+mn-lt"/>
                          <a:ea typeface="+mn-ea"/>
                          <a:cs typeface="+mn-cs"/>
                        </a:rPr>
                        <a:t>재량</a:t>
                      </a:r>
                      <a:r>
                        <a:rPr lang="en-US" altLang="ko-KR" sz="1100" kern="1200" dirty="0">
                          <a:solidFill>
                            <a:schemeClr val="tx1"/>
                          </a:solidFill>
                          <a:latin typeface="+mn-lt"/>
                          <a:ea typeface="+mn-ea"/>
                          <a:cs typeface="+mn-cs"/>
                        </a:rPr>
                        <a:t>) </a:t>
                      </a:r>
                      <a:endParaRPr lang="ko-KR" altLang="en-US" sz="1100" kern="1200" dirty="0">
                        <a:solidFill>
                          <a:schemeClr val="tx1"/>
                        </a:solidFill>
                        <a:latin typeface="+mn-lt"/>
                        <a:ea typeface="+mn-ea"/>
                        <a:cs typeface="+mn-cs"/>
                      </a:endParaRP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266956973"/>
                  </a:ext>
                </a:extLst>
              </a:tr>
              <a:tr h="414403">
                <a:tc vMerge="1">
                  <a:txBody>
                    <a:bodyPr/>
                    <a:lstStyle/>
                    <a:p>
                      <a:pPr latinLnBrk="1"/>
                      <a:endParaRPr lang="ko-KR" altLang="en-US"/>
                    </a:p>
                  </a:txBody>
                  <a:tcPr/>
                </a:tc>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1100" b="1" kern="1200" dirty="0" err="1">
                          <a:solidFill>
                            <a:schemeClr val="tx1"/>
                          </a:solidFill>
                          <a:latin typeface="+mn-lt"/>
                          <a:ea typeface="+mn-ea"/>
                          <a:cs typeface="+mn-cs"/>
                        </a:rPr>
                        <a:t>보정불가능</a:t>
                      </a:r>
                      <a:endParaRPr lang="en-US" altLang="ko-KR" sz="1100" b="1" kern="1200" dirty="0">
                        <a:solidFill>
                          <a:schemeClr val="tx1"/>
                        </a:solidFill>
                        <a:latin typeface="+mn-lt"/>
                        <a:ea typeface="+mn-ea"/>
                        <a:cs typeface="+mn-cs"/>
                      </a:endParaRPr>
                    </a:p>
                    <a:p>
                      <a:pPr marL="0" marR="0" indent="0" algn="ctr" fontAlgn="base" latinLnBrk="0">
                        <a:lnSpc>
                          <a:spcPct val="100000"/>
                        </a:lnSpc>
                        <a:spcBef>
                          <a:spcPts val="0"/>
                        </a:spcBef>
                        <a:spcAft>
                          <a:spcPts val="0"/>
                        </a:spcAft>
                      </a:pPr>
                      <a:r>
                        <a:rPr lang="en-US" altLang="ko-KR" sz="1100" b="1" kern="1200" dirty="0">
                          <a:solidFill>
                            <a:schemeClr val="tx1"/>
                          </a:solidFill>
                          <a:latin typeface="+mn-lt"/>
                          <a:ea typeface="+mn-ea"/>
                          <a:cs typeface="+mn-cs"/>
                        </a:rPr>
                        <a:t>(</a:t>
                      </a:r>
                      <a:r>
                        <a:rPr lang="ko-KR" altLang="en-US" sz="1100" b="1" kern="1200" dirty="0">
                          <a:solidFill>
                            <a:schemeClr val="tx1"/>
                          </a:solidFill>
                          <a:latin typeface="+mn-lt"/>
                          <a:ea typeface="+mn-ea"/>
                          <a:cs typeface="+mn-cs"/>
                        </a:rPr>
                        <a:t>施規 </a:t>
                      </a:r>
                      <a:r>
                        <a:rPr lang="en-US" altLang="ko-KR" sz="1100" b="1" kern="1200" dirty="0">
                          <a:solidFill>
                            <a:schemeClr val="tx1"/>
                          </a:solidFill>
                          <a:latin typeface="+mn-lt"/>
                          <a:ea typeface="+mn-ea"/>
                          <a:cs typeface="+mn-cs"/>
                        </a:rPr>
                        <a:t>11)</a:t>
                      </a:r>
                      <a:r>
                        <a:rPr lang="ko-KR" altLang="en-US" sz="1100" b="1" kern="1200" dirty="0">
                          <a:solidFill>
                            <a:schemeClr val="tx1"/>
                          </a:solidFill>
                          <a:latin typeface="+mn-lt"/>
                          <a:ea typeface="+mn-ea"/>
                          <a:cs typeface="+mn-cs"/>
                        </a:rPr>
                        <a:t>한 중대한 </a:t>
                      </a:r>
                      <a:endParaRPr lang="en-US" altLang="ko-KR" sz="1100" b="1" kern="1200" dirty="0">
                        <a:solidFill>
                          <a:schemeClr val="tx1"/>
                        </a:solidFill>
                        <a:latin typeface="+mn-lt"/>
                        <a:ea typeface="+mn-ea"/>
                        <a:cs typeface="+mn-cs"/>
                      </a:endParaRPr>
                    </a:p>
                    <a:p>
                      <a:pPr marL="0" marR="0" indent="0" algn="ctr" fontAlgn="base" latinLnBrk="0">
                        <a:lnSpc>
                          <a:spcPct val="100000"/>
                        </a:lnSpc>
                        <a:spcBef>
                          <a:spcPts val="0"/>
                        </a:spcBef>
                        <a:spcAft>
                          <a:spcPts val="0"/>
                        </a:spcAft>
                      </a:pPr>
                      <a:r>
                        <a:rPr lang="ko-KR" altLang="en-US" sz="1100" b="1" kern="1200" dirty="0" err="1">
                          <a:solidFill>
                            <a:schemeClr val="tx1"/>
                          </a:solidFill>
                          <a:latin typeface="+mn-lt"/>
                          <a:ea typeface="+mn-ea"/>
                          <a:cs typeface="+mn-cs"/>
                        </a:rPr>
                        <a:t>흠결의</a:t>
                      </a:r>
                      <a:r>
                        <a:rPr lang="ko-KR" altLang="en-US" sz="1100" b="1" kern="1200" dirty="0">
                          <a:solidFill>
                            <a:schemeClr val="tx1"/>
                          </a:solidFill>
                          <a:latin typeface="+mn-lt"/>
                          <a:ea typeface="+mn-ea"/>
                          <a:cs typeface="+mn-cs"/>
                        </a:rPr>
                        <a:t> 경우</a:t>
                      </a: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noFill/>
                  </a:tcPr>
                </a:tc>
                <a:tc>
                  <a:txBody>
                    <a:bodyPr/>
                    <a:lstStyle/>
                    <a:p>
                      <a:pPr marL="31750" marR="31750" indent="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1. </a:t>
                      </a:r>
                      <a:r>
                        <a:rPr lang="ko-KR" altLang="en-US" sz="1100" kern="1200" dirty="0">
                          <a:solidFill>
                            <a:schemeClr val="tx1"/>
                          </a:solidFill>
                          <a:latin typeface="+mn-lt"/>
                          <a:ea typeface="+mn-ea"/>
                          <a:cs typeface="+mn-cs"/>
                        </a:rPr>
                        <a:t>수리하지 않고 소명기회부여</a:t>
                      </a:r>
                    </a:p>
                    <a:p>
                      <a:pPr marL="31750" marR="31750" indent="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2. </a:t>
                      </a:r>
                      <a:r>
                        <a:rPr lang="ko-KR" altLang="en-US" sz="1100" kern="1200" dirty="0">
                          <a:solidFill>
                            <a:schemeClr val="tx1"/>
                          </a:solidFill>
                          <a:latin typeface="+mn-lt"/>
                          <a:ea typeface="+mn-ea"/>
                          <a:cs typeface="+mn-cs"/>
                        </a:rPr>
                        <a:t>소명에 의하여 하자가 치유된 경우 </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처음 서류를 제출한 때 기준으로 수리</a:t>
                      </a:r>
                    </a:p>
                    <a:p>
                      <a:pPr marL="31750" marR="31750" indent="0" algn="l" fontAlgn="base" latinLnBrk="1">
                        <a:lnSpc>
                          <a:spcPct val="100000"/>
                        </a:lnSpc>
                        <a:spcBef>
                          <a:spcPts val="0"/>
                        </a:spcBef>
                        <a:spcAft>
                          <a:spcPts val="0"/>
                        </a:spcAft>
                      </a:pPr>
                      <a:r>
                        <a:rPr lang="en-US" altLang="ko-KR" sz="1100" kern="1200" dirty="0">
                          <a:solidFill>
                            <a:schemeClr val="tx1"/>
                          </a:solidFill>
                          <a:latin typeface="+mn-lt"/>
                          <a:ea typeface="+mn-ea"/>
                          <a:cs typeface="+mn-cs"/>
                        </a:rPr>
                        <a:t>3. </a:t>
                      </a:r>
                      <a:r>
                        <a:rPr lang="ko-KR" altLang="en-US" sz="1100" kern="1200" dirty="0">
                          <a:solidFill>
                            <a:schemeClr val="tx1"/>
                          </a:solidFill>
                          <a:latin typeface="+mn-lt"/>
                          <a:ea typeface="+mn-ea"/>
                          <a:cs typeface="+mn-cs"/>
                        </a:rPr>
                        <a:t>소명에 의하여 하자가 치유되지 아니한 경우 </a:t>
                      </a:r>
                    </a:p>
                    <a:p>
                      <a:pPr marL="166370" marR="31750" indent="-166370" algn="l" fontAlgn="base" latinLnBrk="1">
                        <a:lnSpc>
                          <a:spcPct val="100000"/>
                        </a:lnSpc>
                        <a:spcBef>
                          <a:spcPts val="0"/>
                        </a:spcBef>
                        <a:spcAft>
                          <a:spcPts val="0"/>
                        </a:spcAft>
                      </a:pPr>
                      <a:r>
                        <a:rPr lang="ko-KR" altLang="en-US" sz="1100" kern="1200" dirty="0">
                          <a:solidFill>
                            <a:schemeClr val="tx1"/>
                          </a:solidFill>
                          <a:latin typeface="+mn-lt"/>
                          <a:ea typeface="+mn-ea"/>
                          <a:cs typeface="+mn-cs"/>
                        </a:rPr>
                        <a:t> ① </a:t>
                      </a:r>
                      <a:r>
                        <a:rPr lang="ko-KR" altLang="en-US" sz="1100" kern="1200" dirty="0" err="1">
                          <a:solidFill>
                            <a:schemeClr val="tx1"/>
                          </a:solidFill>
                          <a:latin typeface="+mn-lt"/>
                          <a:ea typeface="+mn-ea"/>
                          <a:cs typeface="+mn-cs"/>
                        </a:rPr>
                        <a:t>반려요청한</a:t>
                      </a:r>
                      <a:r>
                        <a:rPr lang="ko-KR" altLang="en-US" sz="1100" kern="1200" dirty="0">
                          <a:solidFill>
                            <a:schemeClr val="tx1"/>
                          </a:solidFill>
                          <a:latin typeface="+mn-lt"/>
                          <a:ea typeface="+mn-ea"/>
                          <a:cs typeface="+mn-cs"/>
                        </a:rPr>
                        <a:t> 경우 </a:t>
                      </a:r>
                      <a:r>
                        <a:rPr lang="en-US" altLang="ko-KR" sz="1100" kern="1200" dirty="0">
                          <a:solidFill>
                            <a:schemeClr val="tx1"/>
                          </a:solidFill>
                          <a:latin typeface="+mn-lt"/>
                          <a:ea typeface="+mn-ea"/>
                          <a:cs typeface="+mn-cs"/>
                        </a:rPr>
                        <a:t>- </a:t>
                      </a:r>
                      <a:r>
                        <a:rPr lang="ko-KR" altLang="en-US" sz="1100" kern="1200" dirty="0">
                          <a:solidFill>
                            <a:schemeClr val="tx1"/>
                          </a:solidFill>
                          <a:latin typeface="+mn-lt"/>
                          <a:ea typeface="+mn-ea"/>
                          <a:cs typeface="+mn-cs"/>
                        </a:rPr>
                        <a:t>소명기간내라도 즉시 해당 소명기회를 준 특허에 관한 절차를 </a:t>
                      </a:r>
                      <a:r>
                        <a:rPr lang="ko-KR" altLang="en-US" sz="1100" kern="1200" dirty="0" err="1">
                          <a:solidFill>
                            <a:schemeClr val="tx1"/>
                          </a:solidFill>
                          <a:latin typeface="+mn-lt"/>
                          <a:ea typeface="+mn-ea"/>
                          <a:cs typeface="+mn-cs"/>
                        </a:rPr>
                        <a:t>불수리</a:t>
                      </a:r>
                      <a:r>
                        <a:rPr lang="en-US" altLang="ko-KR" sz="1100" kern="1200" dirty="0">
                          <a:solidFill>
                            <a:schemeClr val="tx1"/>
                          </a:solidFill>
                          <a:latin typeface="+mn-lt"/>
                          <a:ea typeface="+mn-ea"/>
                          <a:cs typeface="+mn-cs"/>
                        </a:rPr>
                        <a:t>(</a:t>
                      </a:r>
                      <a:r>
                        <a:rPr lang="ko-KR" altLang="en-US" sz="1100" kern="1200" dirty="0" err="1">
                          <a:solidFill>
                            <a:schemeClr val="tx1"/>
                          </a:solidFill>
                          <a:latin typeface="+mn-lt"/>
                          <a:ea typeface="+mn-ea"/>
                          <a:cs typeface="+mn-cs"/>
                        </a:rPr>
                        <a:t>기속</a:t>
                      </a:r>
                      <a:r>
                        <a:rPr lang="en-US" altLang="ko-KR" sz="1100" kern="1200" dirty="0">
                          <a:solidFill>
                            <a:schemeClr val="tx1"/>
                          </a:solidFill>
                          <a:latin typeface="+mn-lt"/>
                          <a:ea typeface="+mn-ea"/>
                          <a:cs typeface="+mn-cs"/>
                        </a:rPr>
                        <a:t>)</a:t>
                      </a:r>
                      <a:endParaRPr lang="ko-KR" altLang="en-US" sz="1100" kern="1200" dirty="0">
                        <a:solidFill>
                          <a:schemeClr val="tx1"/>
                        </a:solidFill>
                        <a:latin typeface="+mn-lt"/>
                        <a:ea typeface="+mn-ea"/>
                        <a:cs typeface="+mn-cs"/>
                      </a:endParaRPr>
                    </a:p>
                    <a:p>
                      <a:pPr marL="163830" marR="31750" indent="-163830" algn="l" fontAlgn="base" latinLnBrk="1">
                        <a:lnSpc>
                          <a:spcPct val="100000"/>
                        </a:lnSpc>
                        <a:spcBef>
                          <a:spcPts val="0"/>
                        </a:spcBef>
                        <a:spcAft>
                          <a:spcPts val="0"/>
                        </a:spcAft>
                      </a:pPr>
                      <a:r>
                        <a:rPr lang="ko-KR" altLang="en-US" sz="1100" kern="1200" dirty="0">
                          <a:solidFill>
                            <a:schemeClr val="tx1"/>
                          </a:solidFill>
                          <a:latin typeface="+mn-lt"/>
                          <a:ea typeface="+mn-ea"/>
                          <a:cs typeface="+mn-cs"/>
                        </a:rPr>
                        <a:t> ② </a:t>
                      </a:r>
                      <a:r>
                        <a:rPr lang="ko-KR" altLang="en-US" sz="1100" kern="1200" dirty="0" err="1">
                          <a:solidFill>
                            <a:schemeClr val="tx1"/>
                          </a:solidFill>
                          <a:latin typeface="+mn-lt"/>
                          <a:ea typeface="+mn-ea"/>
                          <a:cs typeface="+mn-cs"/>
                        </a:rPr>
                        <a:t>반려요청을</a:t>
                      </a:r>
                      <a:r>
                        <a:rPr lang="ko-KR" altLang="en-US" sz="1100" kern="1200" dirty="0">
                          <a:solidFill>
                            <a:schemeClr val="tx1"/>
                          </a:solidFill>
                          <a:latin typeface="+mn-lt"/>
                          <a:ea typeface="+mn-ea"/>
                          <a:cs typeface="+mn-cs"/>
                        </a:rPr>
                        <a:t> 하지 아니한 경우 </a:t>
                      </a:r>
                      <a:r>
                        <a:rPr lang="en-US" altLang="ko-KR" sz="1100" kern="1200" dirty="0">
                          <a:solidFill>
                            <a:schemeClr val="tx1"/>
                          </a:solidFill>
                          <a:latin typeface="+mn-lt"/>
                          <a:ea typeface="+mn-ea"/>
                          <a:cs typeface="+mn-cs"/>
                        </a:rPr>
                        <a:t>- </a:t>
                      </a:r>
                      <a:r>
                        <a:rPr lang="ko-KR" altLang="en-US" sz="1100" kern="1200" dirty="0" err="1">
                          <a:solidFill>
                            <a:schemeClr val="tx1"/>
                          </a:solidFill>
                          <a:latin typeface="+mn-lt"/>
                          <a:ea typeface="+mn-ea"/>
                          <a:cs typeface="+mn-cs"/>
                        </a:rPr>
                        <a:t>소명기간</a:t>
                      </a:r>
                      <a:r>
                        <a:rPr lang="ko-KR" altLang="en-US" sz="1100" kern="1200" dirty="0">
                          <a:solidFill>
                            <a:schemeClr val="tx1"/>
                          </a:solidFill>
                          <a:latin typeface="+mn-lt"/>
                          <a:ea typeface="+mn-ea"/>
                          <a:cs typeface="+mn-cs"/>
                        </a:rPr>
                        <a:t> </a:t>
                      </a:r>
                      <a:r>
                        <a:rPr lang="ko-KR" altLang="en-US" sz="1100" kern="1200" dirty="0" err="1">
                          <a:solidFill>
                            <a:schemeClr val="tx1"/>
                          </a:solidFill>
                          <a:latin typeface="+mn-lt"/>
                          <a:ea typeface="+mn-ea"/>
                          <a:cs typeface="+mn-cs"/>
                        </a:rPr>
                        <a:t>경과후</a:t>
                      </a:r>
                      <a:r>
                        <a:rPr lang="ko-KR" altLang="en-US" sz="1100" kern="1200" dirty="0">
                          <a:solidFill>
                            <a:schemeClr val="tx1"/>
                          </a:solidFill>
                          <a:latin typeface="+mn-lt"/>
                          <a:ea typeface="+mn-ea"/>
                          <a:cs typeface="+mn-cs"/>
                        </a:rPr>
                        <a:t> 해당 소명기회를 준 특허에 관한 절차를 </a:t>
                      </a:r>
                      <a:r>
                        <a:rPr lang="ko-KR" altLang="en-US" sz="1100" kern="1200" dirty="0" err="1">
                          <a:solidFill>
                            <a:schemeClr val="tx1"/>
                          </a:solidFill>
                          <a:latin typeface="+mn-lt"/>
                          <a:ea typeface="+mn-ea"/>
                          <a:cs typeface="+mn-cs"/>
                        </a:rPr>
                        <a:t>불수리</a:t>
                      </a:r>
                      <a:r>
                        <a:rPr lang="en-US" altLang="ko-KR" sz="1100" kern="1200" dirty="0">
                          <a:solidFill>
                            <a:schemeClr val="tx1"/>
                          </a:solidFill>
                          <a:latin typeface="+mn-lt"/>
                          <a:ea typeface="+mn-ea"/>
                          <a:cs typeface="+mn-cs"/>
                        </a:rPr>
                        <a:t>(</a:t>
                      </a:r>
                      <a:r>
                        <a:rPr lang="ko-KR" altLang="en-US" sz="1100" kern="1200" dirty="0" err="1">
                          <a:solidFill>
                            <a:schemeClr val="tx1"/>
                          </a:solidFill>
                          <a:latin typeface="+mn-lt"/>
                          <a:ea typeface="+mn-ea"/>
                          <a:cs typeface="+mn-cs"/>
                        </a:rPr>
                        <a:t>기속</a:t>
                      </a:r>
                      <a:r>
                        <a:rPr lang="en-US" altLang="ko-KR" sz="1100" kern="1200" dirty="0">
                          <a:solidFill>
                            <a:schemeClr val="tx1"/>
                          </a:solidFill>
                          <a:latin typeface="+mn-lt"/>
                          <a:ea typeface="+mn-ea"/>
                          <a:cs typeface="+mn-cs"/>
                        </a:rPr>
                        <a:t>)</a:t>
                      </a:r>
                      <a:endParaRPr lang="ko-KR" altLang="en-US" sz="1100" kern="1200" dirty="0">
                        <a:solidFill>
                          <a:schemeClr val="tx1"/>
                        </a:solidFill>
                        <a:latin typeface="+mn-lt"/>
                        <a:ea typeface="+mn-ea"/>
                        <a:cs typeface="+mn-cs"/>
                      </a:endParaRPr>
                    </a:p>
                  </a:txBody>
                  <a:tcPr marL="14268" marR="14268" marT="14268" marB="14268"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096786618"/>
                  </a:ext>
                </a:extLst>
              </a:tr>
            </a:tbl>
          </a:graphicData>
        </a:graphic>
      </p:graphicFrame>
      <p:sp>
        <p:nvSpPr>
          <p:cNvPr id="6" name="직사각형 5"/>
          <p:cNvSpPr/>
          <p:nvPr/>
        </p:nvSpPr>
        <p:spPr>
          <a:xfrm>
            <a:off x="8178800" y="990600"/>
            <a:ext cx="990600" cy="482600"/>
          </a:xfrm>
          <a:prstGeom prst="rect">
            <a:avLst/>
          </a:prstGeom>
          <a:solidFill>
            <a:schemeClr val="accent2">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고유번호 부여</a:t>
            </a:r>
          </a:p>
        </p:txBody>
      </p:sp>
      <p:sp>
        <p:nvSpPr>
          <p:cNvPr id="28" name="직사각형 27"/>
          <p:cNvSpPr/>
          <p:nvPr/>
        </p:nvSpPr>
        <p:spPr>
          <a:xfrm>
            <a:off x="8178800" y="2044700"/>
            <a:ext cx="990600" cy="482600"/>
          </a:xfrm>
          <a:prstGeom prst="rect">
            <a:avLst/>
          </a:prstGeom>
          <a:solidFill>
            <a:schemeClr val="accent5">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특허출원</a:t>
            </a:r>
          </a:p>
        </p:txBody>
      </p:sp>
      <p:sp>
        <p:nvSpPr>
          <p:cNvPr id="29" name="직사각형 28"/>
          <p:cNvSpPr/>
          <p:nvPr/>
        </p:nvSpPr>
        <p:spPr>
          <a:xfrm>
            <a:off x="8178800" y="3814094"/>
            <a:ext cx="990600" cy="482600"/>
          </a:xfrm>
          <a:prstGeom prst="rect">
            <a:avLst/>
          </a:prstGeom>
          <a:solidFill>
            <a:schemeClr val="bg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rPr>
              <a:t>심사청구</a:t>
            </a:r>
          </a:p>
        </p:txBody>
      </p:sp>
      <p:sp>
        <p:nvSpPr>
          <p:cNvPr id="31" name="직사각형 30"/>
          <p:cNvSpPr/>
          <p:nvPr/>
        </p:nvSpPr>
        <p:spPr>
          <a:xfrm>
            <a:off x="8178800" y="5524082"/>
            <a:ext cx="990600" cy="482600"/>
          </a:xfrm>
          <a:prstGeom prst="rect">
            <a:avLst/>
          </a:prstGeom>
          <a:solidFill>
            <a:schemeClr val="accent6">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보정</a:t>
            </a:r>
          </a:p>
        </p:txBody>
      </p:sp>
      <p:cxnSp>
        <p:nvCxnSpPr>
          <p:cNvPr id="8" name="직선 화살표 연결선 7"/>
          <p:cNvCxnSpPr>
            <a:stCxn id="6" idx="2"/>
            <a:endCxn id="28" idx="0"/>
          </p:cNvCxnSpPr>
          <p:nvPr/>
        </p:nvCxnSpPr>
        <p:spPr>
          <a:xfrm>
            <a:off x="8674100" y="1473200"/>
            <a:ext cx="0" cy="571500"/>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0" name="직선 화살표 연결선 9"/>
          <p:cNvCxnSpPr>
            <a:stCxn id="28" idx="2"/>
            <a:endCxn id="29" idx="0"/>
          </p:cNvCxnSpPr>
          <p:nvPr/>
        </p:nvCxnSpPr>
        <p:spPr>
          <a:xfrm>
            <a:off x="8674100" y="2527300"/>
            <a:ext cx="0" cy="1286794"/>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직선 화살표 연결선 11"/>
          <p:cNvCxnSpPr>
            <a:stCxn id="29" idx="2"/>
            <a:endCxn id="31" idx="0"/>
          </p:cNvCxnSpPr>
          <p:nvPr/>
        </p:nvCxnSpPr>
        <p:spPr>
          <a:xfrm>
            <a:off x="8674100" y="4296694"/>
            <a:ext cx="0" cy="1227388"/>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직사각형 41"/>
          <p:cNvSpPr/>
          <p:nvPr/>
        </p:nvSpPr>
        <p:spPr>
          <a:xfrm>
            <a:off x="10033000" y="1498600"/>
            <a:ext cx="1689100" cy="317500"/>
          </a:xfrm>
          <a:prstGeom prst="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출원서류</a:t>
            </a:r>
            <a:r>
              <a:rPr lang="ko-KR" altLang="en-US" sz="1400" dirty="0">
                <a:solidFill>
                  <a:schemeClr val="tx1"/>
                </a:solidFill>
              </a:rPr>
              <a:t> 작성</a:t>
            </a:r>
          </a:p>
        </p:txBody>
      </p:sp>
      <p:sp>
        <p:nvSpPr>
          <p:cNvPr id="43" name="직사각형 42"/>
          <p:cNvSpPr/>
          <p:nvPr/>
        </p:nvSpPr>
        <p:spPr>
          <a:xfrm>
            <a:off x="10033000" y="1930400"/>
            <a:ext cx="1689100" cy="317500"/>
          </a:xfrm>
          <a:prstGeom prst="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출원서</a:t>
            </a:r>
            <a:r>
              <a:rPr lang="ko-KR" altLang="en-US" sz="1400" dirty="0">
                <a:solidFill>
                  <a:schemeClr val="tx1"/>
                </a:solidFill>
              </a:rPr>
              <a:t> 제출</a:t>
            </a:r>
          </a:p>
        </p:txBody>
      </p:sp>
      <p:sp>
        <p:nvSpPr>
          <p:cNvPr id="46" name="직사각형 45"/>
          <p:cNvSpPr/>
          <p:nvPr/>
        </p:nvSpPr>
        <p:spPr>
          <a:xfrm>
            <a:off x="10033000" y="2374900"/>
            <a:ext cx="1689100" cy="317500"/>
          </a:xfrm>
          <a:prstGeom prst="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출원료</a:t>
            </a:r>
            <a:r>
              <a:rPr lang="ko-KR" altLang="en-US" sz="1400" dirty="0">
                <a:solidFill>
                  <a:schemeClr val="tx1"/>
                </a:solidFill>
              </a:rPr>
              <a:t> 납부</a:t>
            </a:r>
          </a:p>
        </p:txBody>
      </p:sp>
      <p:sp>
        <p:nvSpPr>
          <p:cNvPr id="47" name="직사각형 46"/>
          <p:cNvSpPr/>
          <p:nvPr/>
        </p:nvSpPr>
        <p:spPr>
          <a:xfrm>
            <a:off x="10033000" y="2806700"/>
            <a:ext cx="1689100" cy="317500"/>
          </a:xfrm>
          <a:prstGeom prst="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방식심사</a:t>
            </a:r>
            <a:endParaRPr lang="ko-KR" altLang="en-US" sz="1400" dirty="0">
              <a:solidFill>
                <a:schemeClr val="tx1"/>
              </a:solidFill>
            </a:endParaRPr>
          </a:p>
        </p:txBody>
      </p:sp>
      <p:cxnSp>
        <p:nvCxnSpPr>
          <p:cNvPr id="21" name="직선 연결선 20"/>
          <p:cNvCxnSpPr/>
          <p:nvPr/>
        </p:nvCxnSpPr>
        <p:spPr>
          <a:xfrm flipV="1">
            <a:off x="9169400" y="1498600"/>
            <a:ext cx="863600" cy="546100"/>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직선 연결선 49"/>
          <p:cNvCxnSpPr/>
          <p:nvPr/>
        </p:nvCxnSpPr>
        <p:spPr>
          <a:xfrm>
            <a:off x="9169400" y="2511425"/>
            <a:ext cx="863600" cy="612775"/>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직선 연결선 52"/>
          <p:cNvCxnSpPr>
            <a:stCxn id="54" idx="2"/>
            <a:endCxn id="57" idx="0"/>
          </p:cNvCxnSpPr>
          <p:nvPr/>
        </p:nvCxnSpPr>
        <p:spPr>
          <a:xfrm>
            <a:off x="10877550" y="3568491"/>
            <a:ext cx="0" cy="990600"/>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직사각형 53"/>
          <p:cNvSpPr/>
          <p:nvPr/>
        </p:nvSpPr>
        <p:spPr>
          <a:xfrm>
            <a:off x="10033000" y="3250991"/>
            <a:ext cx="1689100" cy="317500"/>
          </a:xfrm>
          <a:prstGeom prst="rect">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심사청구서</a:t>
            </a:r>
            <a:r>
              <a:rPr lang="ko-KR" altLang="en-US" sz="1400" dirty="0">
                <a:solidFill>
                  <a:schemeClr val="tx1"/>
                </a:solidFill>
              </a:rPr>
              <a:t> 작성</a:t>
            </a:r>
          </a:p>
        </p:txBody>
      </p:sp>
      <p:sp>
        <p:nvSpPr>
          <p:cNvPr id="55" name="직사각형 54"/>
          <p:cNvSpPr/>
          <p:nvPr/>
        </p:nvSpPr>
        <p:spPr>
          <a:xfrm>
            <a:off x="10033000" y="3682791"/>
            <a:ext cx="1689100" cy="317500"/>
          </a:xfrm>
          <a:prstGeom prst="rect">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심사청구서</a:t>
            </a:r>
            <a:r>
              <a:rPr lang="ko-KR" altLang="en-US" sz="1400" dirty="0">
                <a:solidFill>
                  <a:schemeClr val="tx1"/>
                </a:solidFill>
              </a:rPr>
              <a:t> 제출</a:t>
            </a:r>
          </a:p>
        </p:txBody>
      </p:sp>
      <p:sp>
        <p:nvSpPr>
          <p:cNvPr id="56" name="직사각형 55"/>
          <p:cNvSpPr/>
          <p:nvPr/>
        </p:nvSpPr>
        <p:spPr>
          <a:xfrm>
            <a:off x="10033000" y="4127291"/>
            <a:ext cx="1689100" cy="317500"/>
          </a:xfrm>
          <a:prstGeom prst="rect">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심사청구료</a:t>
            </a:r>
            <a:r>
              <a:rPr lang="ko-KR" altLang="en-US" sz="1400" dirty="0">
                <a:solidFill>
                  <a:schemeClr val="tx1"/>
                </a:solidFill>
              </a:rPr>
              <a:t> 납부</a:t>
            </a:r>
          </a:p>
        </p:txBody>
      </p:sp>
      <p:sp>
        <p:nvSpPr>
          <p:cNvPr id="57" name="직사각형 56"/>
          <p:cNvSpPr/>
          <p:nvPr/>
        </p:nvSpPr>
        <p:spPr>
          <a:xfrm>
            <a:off x="10033000" y="4559091"/>
            <a:ext cx="1689100" cy="317500"/>
          </a:xfrm>
          <a:prstGeom prst="rect">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방식심사</a:t>
            </a:r>
            <a:endParaRPr lang="ko-KR" altLang="en-US" sz="1400" dirty="0">
              <a:solidFill>
                <a:schemeClr val="tx1"/>
              </a:solidFill>
            </a:endParaRPr>
          </a:p>
        </p:txBody>
      </p:sp>
      <p:cxnSp>
        <p:nvCxnSpPr>
          <p:cNvPr id="58" name="직선 연결선 57"/>
          <p:cNvCxnSpPr/>
          <p:nvPr/>
        </p:nvCxnSpPr>
        <p:spPr>
          <a:xfrm flipV="1">
            <a:off x="9169400" y="3250991"/>
            <a:ext cx="863600" cy="546100"/>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직선 연결선 58"/>
          <p:cNvCxnSpPr/>
          <p:nvPr/>
        </p:nvCxnSpPr>
        <p:spPr>
          <a:xfrm>
            <a:off x="9169400" y="4263816"/>
            <a:ext cx="863600" cy="612775"/>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직선 연결선 63"/>
          <p:cNvCxnSpPr>
            <a:stCxn id="65" idx="2"/>
            <a:endCxn id="68" idx="0"/>
          </p:cNvCxnSpPr>
          <p:nvPr/>
        </p:nvCxnSpPr>
        <p:spPr>
          <a:xfrm>
            <a:off x="10877550" y="5326313"/>
            <a:ext cx="0" cy="990600"/>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직사각형 64"/>
          <p:cNvSpPr/>
          <p:nvPr/>
        </p:nvSpPr>
        <p:spPr>
          <a:xfrm>
            <a:off x="10033000" y="5008813"/>
            <a:ext cx="1689100" cy="317500"/>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보정서</a:t>
            </a:r>
            <a:r>
              <a:rPr lang="ko-KR" altLang="en-US" sz="1400" dirty="0">
                <a:solidFill>
                  <a:schemeClr val="tx1"/>
                </a:solidFill>
              </a:rPr>
              <a:t> 작성</a:t>
            </a:r>
          </a:p>
        </p:txBody>
      </p:sp>
      <p:sp>
        <p:nvSpPr>
          <p:cNvPr id="66" name="직사각형 65"/>
          <p:cNvSpPr/>
          <p:nvPr/>
        </p:nvSpPr>
        <p:spPr>
          <a:xfrm>
            <a:off x="10033000" y="5440613"/>
            <a:ext cx="1689100" cy="317500"/>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보정서</a:t>
            </a:r>
            <a:r>
              <a:rPr lang="ko-KR" altLang="en-US" sz="1400" dirty="0">
                <a:solidFill>
                  <a:schemeClr val="tx1"/>
                </a:solidFill>
              </a:rPr>
              <a:t> 제출</a:t>
            </a:r>
          </a:p>
        </p:txBody>
      </p:sp>
      <p:sp>
        <p:nvSpPr>
          <p:cNvPr id="67" name="직사각형 66"/>
          <p:cNvSpPr/>
          <p:nvPr/>
        </p:nvSpPr>
        <p:spPr>
          <a:xfrm>
            <a:off x="10033000" y="5885113"/>
            <a:ext cx="1689100" cy="317500"/>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보정료</a:t>
            </a:r>
            <a:r>
              <a:rPr lang="ko-KR" altLang="en-US" sz="1400" dirty="0">
                <a:solidFill>
                  <a:schemeClr val="tx1"/>
                </a:solidFill>
              </a:rPr>
              <a:t> 납부</a:t>
            </a:r>
          </a:p>
        </p:txBody>
      </p:sp>
      <p:sp>
        <p:nvSpPr>
          <p:cNvPr id="68" name="직사각형 67"/>
          <p:cNvSpPr/>
          <p:nvPr/>
        </p:nvSpPr>
        <p:spPr>
          <a:xfrm>
            <a:off x="10033000" y="6316913"/>
            <a:ext cx="1689100" cy="317500"/>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방식심사</a:t>
            </a:r>
            <a:endParaRPr lang="ko-KR" altLang="en-US" sz="1400" dirty="0">
              <a:solidFill>
                <a:schemeClr val="tx1"/>
              </a:solidFill>
            </a:endParaRPr>
          </a:p>
        </p:txBody>
      </p:sp>
      <p:cxnSp>
        <p:nvCxnSpPr>
          <p:cNvPr id="69" name="직선 연결선 68"/>
          <p:cNvCxnSpPr/>
          <p:nvPr/>
        </p:nvCxnSpPr>
        <p:spPr>
          <a:xfrm flipV="1">
            <a:off x="9169400" y="5008813"/>
            <a:ext cx="863600" cy="546100"/>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직선 연결선 69"/>
          <p:cNvCxnSpPr/>
          <p:nvPr/>
        </p:nvCxnSpPr>
        <p:spPr>
          <a:xfrm>
            <a:off x="9169400" y="6021638"/>
            <a:ext cx="863600" cy="612775"/>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 name="슬라이드 번호 개체 틀 4"/>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38</a:t>
            </a:fld>
            <a:endParaRPr lang="ko-KR" altLang="en-US"/>
          </a:p>
        </p:txBody>
      </p:sp>
    </p:spTree>
    <p:extLst>
      <p:ext uri="{BB962C8B-B14F-4D97-AF65-F5344CB8AC3E}">
        <p14:creationId xmlns:p14="http://schemas.microsoft.com/office/powerpoint/2010/main" val="402237000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16</a:t>
            </a:r>
            <a:r>
              <a:rPr lang="ko-KR" altLang="en-US" dirty="0"/>
              <a:t>조</a:t>
            </a:r>
          </a:p>
        </p:txBody>
      </p:sp>
      <p:sp>
        <p:nvSpPr>
          <p:cNvPr id="4" name="텍스트 개체 틀 3"/>
          <p:cNvSpPr>
            <a:spLocks noGrp="1"/>
          </p:cNvSpPr>
          <p:nvPr>
            <p:ph type="body" sz="quarter" idx="13"/>
          </p:nvPr>
        </p:nvSpPr>
        <p:spPr/>
        <p:txBody>
          <a:bodyPr/>
          <a:lstStyle/>
          <a:p>
            <a:r>
              <a:rPr lang="ko-KR" altLang="en-US" dirty="0"/>
              <a:t>절차의 무효</a:t>
            </a:r>
          </a:p>
        </p:txBody>
      </p:sp>
      <p:cxnSp>
        <p:nvCxnSpPr>
          <p:cNvPr id="19" name="직선 연결선 18"/>
          <p:cNvCxnSpPr>
            <a:stCxn id="42" idx="2"/>
            <a:endCxn id="47" idx="0"/>
          </p:cNvCxnSpPr>
          <p:nvPr/>
        </p:nvCxnSpPr>
        <p:spPr>
          <a:xfrm>
            <a:off x="3117850" y="2276967"/>
            <a:ext cx="0" cy="842599"/>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8" name="직사각형 27"/>
          <p:cNvSpPr/>
          <p:nvPr/>
        </p:nvSpPr>
        <p:spPr>
          <a:xfrm>
            <a:off x="419100" y="2471413"/>
            <a:ext cx="990600" cy="410497"/>
          </a:xfrm>
          <a:prstGeom prst="rect">
            <a:avLst/>
          </a:prstGeom>
          <a:solidFill>
            <a:schemeClr val="accent5">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특허출원</a:t>
            </a:r>
          </a:p>
        </p:txBody>
      </p:sp>
      <p:sp>
        <p:nvSpPr>
          <p:cNvPr id="29" name="직사각형 28"/>
          <p:cNvSpPr/>
          <p:nvPr/>
        </p:nvSpPr>
        <p:spPr>
          <a:xfrm>
            <a:off x="419100" y="3976451"/>
            <a:ext cx="990600" cy="410497"/>
          </a:xfrm>
          <a:prstGeom prst="rect">
            <a:avLst/>
          </a:prstGeom>
          <a:solidFill>
            <a:schemeClr val="bg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bg1"/>
                </a:solidFill>
              </a:rPr>
              <a:t>심사청구</a:t>
            </a:r>
          </a:p>
        </p:txBody>
      </p:sp>
      <p:sp>
        <p:nvSpPr>
          <p:cNvPr id="31" name="직사각형 30"/>
          <p:cNvSpPr/>
          <p:nvPr/>
        </p:nvSpPr>
        <p:spPr>
          <a:xfrm>
            <a:off x="419100" y="5430958"/>
            <a:ext cx="990600" cy="410497"/>
          </a:xfrm>
          <a:prstGeom prst="rect">
            <a:avLst/>
          </a:prstGeom>
          <a:solidFill>
            <a:schemeClr val="accent6">
              <a:lumMod val="60000"/>
              <a:lumOff val="4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보정</a:t>
            </a:r>
          </a:p>
        </p:txBody>
      </p:sp>
      <p:cxnSp>
        <p:nvCxnSpPr>
          <p:cNvPr id="10" name="직선 화살표 연결선 9"/>
          <p:cNvCxnSpPr>
            <a:stCxn id="28" idx="2"/>
            <a:endCxn id="29" idx="0"/>
          </p:cNvCxnSpPr>
          <p:nvPr/>
        </p:nvCxnSpPr>
        <p:spPr>
          <a:xfrm>
            <a:off x="914400" y="2881910"/>
            <a:ext cx="0" cy="1094541"/>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12" name="직선 화살표 연결선 11"/>
          <p:cNvCxnSpPr>
            <a:stCxn id="29" idx="2"/>
            <a:endCxn id="31" idx="0"/>
          </p:cNvCxnSpPr>
          <p:nvPr/>
        </p:nvCxnSpPr>
        <p:spPr>
          <a:xfrm>
            <a:off x="914400" y="4386948"/>
            <a:ext cx="0" cy="1044010"/>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2" name="직사각형 41"/>
          <p:cNvSpPr/>
          <p:nvPr/>
        </p:nvSpPr>
        <p:spPr>
          <a:xfrm>
            <a:off x="2273300" y="2006903"/>
            <a:ext cx="2120900" cy="253697"/>
          </a:xfrm>
          <a:prstGeom prst="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출원서류</a:t>
            </a:r>
            <a:r>
              <a:rPr lang="ko-KR" altLang="en-US" sz="1400" dirty="0">
                <a:solidFill>
                  <a:schemeClr val="tx1"/>
                </a:solidFill>
              </a:rPr>
              <a:t> 작성</a:t>
            </a:r>
          </a:p>
        </p:txBody>
      </p:sp>
      <p:sp>
        <p:nvSpPr>
          <p:cNvPr id="43" name="직사각형 42"/>
          <p:cNvSpPr/>
          <p:nvPr/>
        </p:nvSpPr>
        <p:spPr>
          <a:xfrm>
            <a:off x="2273300" y="2374190"/>
            <a:ext cx="2120900" cy="253697"/>
          </a:xfrm>
          <a:prstGeom prst="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출원서</a:t>
            </a:r>
            <a:r>
              <a:rPr lang="ko-KR" altLang="en-US" sz="1400" dirty="0">
                <a:solidFill>
                  <a:schemeClr val="tx1"/>
                </a:solidFill>
              </a:rPr>
              <a:t> 제출</a:t>
            </a:r>
          </a:p>
        </p:txBody>
      </p:sp>
      <p:sp>
        <p:nvSpPr>
          <p:cNvPr id="46" name="직사각형 45"/>
          <p:cNvSpPr/>
          <p:nvPr/>
        </p:nvSpPr>
        <p:spPr>
          <a:xfrm>
            <a:off x="2273300" y="2752280"/>
            <a:ext cx="2120900" cy="253697"/>
          </a:xfrm>
          <a:prstGeom prst="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출원료</a:t>
            </a:r>
            <a:r>
              <a:rPr lang="ko-KR" altLang="en-US" sz="1400" dirty="0">
                <a:solidFill>
                  <a:schemeClr val="tx1"/>
                </a:solidFill>
              </a:rPr>
              <a:t> 납부</a:t>
            </a:r>
          </a:p>
        </p:txBody>
      </p:sp>
      <p:sp>
        <p:nvSpPr>
          <p:cNvPr id="47" name="직사각형 46"/>
          <p:cNvSpPr/>
          <p:nvPr/>
        </p:nvSpPr>
        <p:spPr>
          <a:xfrm>
            <a:off x="2273300" y="3119567"/>
            <a:ext cx="2120900" cy="253697"/>
          </a:xfrm>
          <a:prstGeom prst="rect">
            <a:avLst/>
          </a:prstGeom>
          <a:solidFill>
            <a:schemeClr val="accent5">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방식심사</a:t>
            </a:r>
            <a:endParaRPr lang="ko-KR" altLang="en-US" sz="1400" dirty="0">
              <a:solidFill>
                <a:schemeClr val="tx1"/>
              </a:solidFill>
            </a:endParaRPr>
          </a:p>
        </p:txBody>
      </p:sp>
      <p:cxnSp>
        <p:nvCxnSpPr>
          <p:cNvPr id="21" name="직선 연결선 20"/>
          <p:cNvCxnSpPr/>
          <p:nvPr/>
        </p:nvCxnSpPr>
        <p:spPr>
          <a:xfrm flipV="1">
            <a:off x="1409700" y="2006903"/>
            <a:ext cx="863600" cy="464510"/>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0" name="직선 연결선 49"/>
          <p:cNvCxnSpPr/>
          <p:nvPr/>
        </p:nvCxnSpPr>
        <p:spPr>
          <a:xfrm>
            <a:off x="1409700" y="2868407"/>
            <a:ext cx="863600" cy="521223"/>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3" name="직선 연결선 52"/>
          <p:cNvCxnSpPr>
            <a:stCxn id="54" idx="2"/>
            <a:endCxn id="57" idx="0"/>
          </p:cNvCxnSpPr>
          <p:nvPr/>
        </p:nvCxnSpPr>
        <p:spPr>
          <a:xfrm>
            <a:off x="3117850" y="3767542"/>
            <a:ext cx="0" cy="842599"/>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4" name="직사각형 53"/>
          <p:cNvSpPr/>
          <p:nvPr/>
        </p:nvSpPr>
        <p:spPr>
          <a:xfrm>
            <a:off x="2273300" y="3497478"/>
            <a:ext cx="2120900" cy="253697"/>
          </a:xfrm>
          <a:prstGeom prst="rect">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심사청구서</a:t>
            </a:r>
            <a:r>
              <a:rPr lang="ko-KR" altLang="en-US" sz="1400" dirty="0">
                <a:solidFill>
                  <a:schemeClr val="tx1"/>
                </a:solidFill>
              </a:rPr>
              <a:t> 작성</a:t>
            </a:r>
          </a:p>
        </p:txBody>
      </p:sp>
      <p:sp>
        <p:nvSpPr>
          <p:cNvPr id="55" name="직사각형 54"/>
          <p:cNvSpPr/>
          <p:nvPr/>
        </p:nvSpPr>
        <p:spPr>
          <a:xfrm>
            <a:off x="2273300" y="3864765"/>
            <a:ext cx="2120900" cy="253697"/>
          </a:xfrm>
          <a:prstGeom prst="rect">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심사청구서</a:t>
            </a:r>
            <a:r>
              <a:rPr lang="ko-KR" altLang="en-US" sz="1400" dirty="0">
                <a:solidFill>
                  <a:schemeClr val="tx1"/>
                </a:solidFill>
              </a:rPr>
              <a:t> 제출</a:t>
            </a:r>
          </a:p>
        </p:txBody>
      </p:sp>
      <p:sp>
        <p:nvSpPr>
          <p:cNvPr id="56" name="직사각형 55"/>
          <p:cNvSpPr/>
          <p:nvPr/>
        </p:nvSpPr>
        <p:spPr>
          <a:xfrm>
            <a:off x="2273300" y="4242855"/>
            <a:ext cx="2120900" cy="253697"/>
          </a:xfrm>
          <a:prstGeom prst="rect">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심사청구료</a:t>
            </a:r>
            <a:r>
              <a:rPr lang="ko-KR" altLang="en-US" sz="1400" dirty="0">
                <a:solidFill>
                  <a:schemeClr val="tx1"/>
                </a:solidFill>
              </a:rPr>
              <a:t> 납부</a:t>
            </a:r>
          </a:p>
        </p:txBody>
      </p:sp>
      <p:sp>
        <p:nvSpPr>
          <p:cNvPr id="57" name="직사각형 56"/>
          <p:cNvSpPr/>
          <p:nvPr/>
        </p:nvSpPr>
        <p:spPr>
          <a:xfrm>
            <a:off x="2273300" y="4610142"/>
            <a:ext cx="2120900" cy="253697"/>
          </a:xfrm>
          <a:prstGeom prst="rect">
            <a:avLst/>
          </a:prstGeom>
          <a:solidFill>
            <a:schemeClr val="bg2">
              <a:lumMod val="9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방식심사</a:t>
            </a:r>
            <a:endParaRPr lang="ko-KR" altLang="en-US" sz="1400" dirty="0">
              <a:solidFill>
                <a:schemeClr val="tx1"/>
              </a:solidFill>
            </a:endParaRPr>
          </a:p>
        </p:txBody>
      </p:sp>
      <p:cxnSp>
        <p:nvCxnSpPr>
          <p:cNvPr id="58" name="직선 연결선 57"/>
          <p:cNvCxnSpPr/>
          <p:nvPr/>
        </p:nvCxnSpPr>
        <p:spPr>
          <a:xfrm flipV="1">
            <a:off x="1409700" y="3497478"/>
            <a:ext cx="863600" cy="464510"/>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직선 연결선 58"/>
          <p:cNvCxnSpPr/>
          <p:nvPr/>
        </p:nvCxnSpPr>
        <p:spPr>
          <a:xfrm>
            <a:off x="1409700" y="4358982"/>
            <a:ext cx="863600" cy="521223"/>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4" name="직선 연결선 63"/>
          <p:cNvCxnSpPr>
            <a:stCxn id="65" idx="2"/>
            <a:endCxn id="68" idx="0"/>
          </p:cNvCxnSpPr>
          <p:nvPr/>
        </p:nvCxnSpPr>
        <p:spPr>
          <a:xfrm>
            <a:off x="3117850" y="5262737"/>
            <a:ext cx="0" cy="842599"/>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5" name="직사각형 64"/>
          <p:cNvSpPr/>
          <p:nvPr/>
        </p:nvSpPr>
        <p:spPr>
          <a:xfrm>
            <a:off x="2273300" y="4992673"/>
            <a:ext cx="2120900" cy="253697"/>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보정서</a:t>
            </a:r>
            <a:r>
              <a:rPr lang="ko-KR" altLang="en-US" sz="1400" dirty="0">
                <a:solidFill>
                  <a:schemeClr val="tx1"/>
                </a:solidFill>
              </a:rPr>
              <a:t> 작성</a:t>
            </a:r>
          </a:p>
        </p:txBody>
      </p:sp>
      <p:sp>
        <p:nvSpPr>
          <p:cNvPr id="66" name="직사각형 65"/>
          <p:cNvSpPr/>
          <p:nvPr/>
        </p:nvSpPr>
        <p:spPr>
          <a:xfrm>
            <a:off x="2273300" y="5359960"/>
            <a:ext cx="2120900" cy="253697"/>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보정서</a:t>
            </a:r>
            <a:r>
              <a:rPr lang="ko-KR" altLang="en-US" sz="1400" dirty="0">
                <a:solidFill>
                  <a:schemeClr val="tx1"/>
                </a:solidFill>
              </a:rPr>
              <a:t> 제출</a:t>
            </a:r>
          </a:p>
        </p:txBody>
      </p:sp>
      <p:sp>
        <p:nvSpPr>
          <p:cNvPr id="67" name="직사각형 66"/>
          <p:cNvSpPr/>
          <p:nvPr/>
        </p:nvSpPr>
        <p:spPr>
          <a:xfrm>
            <a:off x="2273300" y="5738049"/>
            <a:ext cx="2120900" cy="253697"/>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보정료</a:t>
            </a:r>
            <a:r>
              <a:rPr lang="en-US" altLang="ko-KR" sz="1400" dirty="0">
                <a:solidFill>
                  <a:schemeClr val="tx1"/>
                </a:solidFill>
              </a:rPr>
              <a:t>/</a:t>
            </a:r>
            <a:r>
              <a:rPr lang="ko-KR" altLang="en-US" sz="1400" dirty="0" err="1">
                <a:solidFill>
                  <a:schemeClr val="tx1"/>
                </a:solidFill>
              </a:rPr>
              <a:t>심사청구료</a:t>
            </a:r>
            <a:r>
              <a:rPr lang="ko-KR" altLang="en-US" sz="1400" dirty="0">
                <a:solidFill>
                  <a:schemeClr val="tx1"/>
                </a:solidFill>
              </a:rPr>
              <a:t> 납부</a:t>
            </a:r>
          </a:p>
        </p:txBody>
      </p:sp>
      <p:sp>
        <p:nvSpPr>
          <p:cNvPr id="68" name="직사각형 67"/>
          <p:cNvSpPr/>
          <p:nvPr/>
        </p:nvSpPr>
        <p:spPr>
          <a:xfrm>
            <a:off x="2273300" y="6105336"/>
            <a:ext cx="2120900" cy="253697"/>
          </a:xfrm>
          <a:prstGeom prst="rect">
            <a:avLst/>
          </a:prstGeom>
          <a:solidFill>
            <a:schemeClr val="accent6">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방식심사</a:t>
            </a:r>
            <a:endParaRPr lang="ko-KR" altLang="en-US" sz="1400" dirty="0">
              <a:solidFill>
                <a:schemeClr val="tx1"/>
              </a:solidFill>
            </a:endParaRPr>
          </a:p>
        </p:txBody>
      </p:sp>
      <p:cxnSp>
        <p:nvCxnSpPr>
          <p:cNvPr id="69" name="직선 연결선 68"/>
          <p:cNvCxnSpPr/>
          <p:nvPr/>
        </p:nvCxnSpPr>
        <p:spPr>
          <a:xfrm flipV="1">
            <a:off x="1409700" y="4992673"/>
            <a:ext cx="863600" cy="464510"/>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0" name="직선 연결선 69"/>
          <p:cNvCxnSpPr/>
          <p:nvPr/>
        </p:nvCxnSpPr>
        <p:spPr>
          <a:xfrm>
            <a:off x="1409700" y="5854177"/>
            <a:ext cx="863600" cy="521223"/>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5" name="직선 연결선 34"/>
          <p:cNvCxnSpPr/>
          <p:nvPr/>
        </p:nvCxnSpPr>
        <p:spPr>
          <a:xfrm>
            <a:off x="0" y="1546974"/>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36" name="TextBox 35"/>
          <p:cNvSpPr txBox="1"/>
          <p:nvPr/>
        </p:nvSpPr>
        <p:spPr>
          <a:xfrm>
            <a:off x="77875" y="986046"/>
            <a:ext cx="11936323" cy="523220"/>
          </a:xfrm>
          <a:prstGeom prst="rect">
            <a:avLst/>
          </a:prstGeom>
          <a:noFill/>
        </p:spPr>
        <p:txBody>
          <a:bodyPr wrap="square" rtlCol="0">
            <a:spAutoFit/>
          </a:bodyPr>
          <a:lstStyle/>
          <a:p>
            <a:pPr fontAlgn="base"/>
            <a:r>
              <a:rPr lang="ko-KR" altLang="en-US" sz="1400" dirty="0">
                <a:solidFill>
                  <a:schemeClr val="tx2"/>
                </a:solidFill>
              </a:rPr>
              <a:t>지식재산처장 등은 절차보정사유</a:t>
            </a:r>
            <a:r>
              <a:rPr lang="en-US" altLang="ko-KR" sz="1400" dirty="0">
                <a:solidFill>
                  <a:schemeClr val="tx2"/>
                </a:solidFill>
              </a:rPr>
              <a:t>(</a:t>
            </a:r>
            <a:r>
              <a:rPr lang="ko-KR" altLang="en-US" sz="1400" dirty="0">
                <a:solidFill>
                  <a:schemeClr val="tx2"/>
                </a:solidFill>
              </a:rPr>
              <a:t>法 </a:t>
            </a:r>
            <a:r>
              <a:rPr lang="en-US" altLang="ko-KR" sz="1400" dirty="0">
                <a:solidFill>
                  <a:schemeClr val="tx2"/>
                </a:solidFill>
              </a:rPr>
              <a:t>46)</a:t>
            </a:r>
            <a:r>
              <a:rPr lang="ko-KR" altLang="en-US" sz="1400" dirty="0">
                <a:solidFill>
                  <a:schemeClr val="tx2"/>
                </a:solidFill>
              </a:rPr>
              <a:t>에 해당함을 이유로 보정명령을 받은 자가 지정된 기간에 그 보정을 하지 아니하면 </a:t>
            </a:r>
            <a:r>
              <a:rPr lang="ko-KR" altLang="en-US" sz="1400" dirty="0">
                <a:solidFill>
                  <a:srgbClr val="FF0000"/>
                </a:solidFill>
              </a:rPr>
              <a:t>그 보정을 명한 특허에 관한 절차</a:t>
            </a:r>
            <a:r>
              <a:rPr lang="ko-KR" altLang="en-US" sz="1400" dirty="0">
                <a:solidFill>
                  <a:schemeClr val="tx2"/>
                </a:solidFill>
              </a:rPr>
              <a:t>를 무효로 할 수 있으며</a:t>
            </a:r>
            <a:r>
              <a:rPr lang="en-US" altLang="ko-KR" sz="1400" dirty="0">
                <a:solidFill>
                  <a:schemeClr val="tx2"/>
                </a:solidFill>
              </a:rPr>
              <a:t>, </a:t>
            </a:r>
            <a:r>
              <a:rPr lang="ko-KR" altLang="en-US" sz="1400" dirty="0">
                <a:solidFill>
                  <a:srgbClr val="FF0000"/>
                </a:solidFill>
              </a:rPr>
              <a:t>무효가 된 경우 해당 특허에 관한 절차는 처음부터 없었던 것으로 본다</a:t>
            </a:r>
            <a:r>
              <a:rPr lang="en-US" altLang="ko-KR" sz="1400" dirty="0">
                <a:solidFill>
                  <a:srgbClr val="FF0000"/>
                </a:solidFill>
              </a:rPr>
              <a:t>(</a:t>
            </a:r>
            <a:r>
              <a:rPr lang="ko-KR" altLang="en-US" sz="1400" dirty="0">
                <a:solidFill>
                  <a:srgbClr val="FF0000"/>
                </a:solidFill>
              </a:rPr>
              <a:t>法 </a:t>
            </a:r>
            <a:r>
              <a:rPr lang="en-US" altLang="ko-KR" sz="1400" dirty="0">
                <a:solidFill>
                  <a:srgbClr val="FF0000"/>
                </a:solidFill>
              </a:rPr>
              <a:t>16①). </a:t>
            </a:r>
            <a:r>
              <a:rPr lang="ko-KR" altLang="en-US" sz="1400" dirty="0">
                <a:solidFill>
                  <a:srgbClr val="FF0000"/>
                </a:solidFill>
              </a:rPr>
              <a:t>그러나 </a:t>
            </a:r>
            <a:r>
              <a:rPr lang="ko-KR" altLang="en-US" sz="1400" dirty="0" err="1">
                <a:solidFill>
                  <a:srgbClr val="FF0000"/>
                </a:solidFill>
              </a:rPr>
              <a:t>무효처분</a:t>
            </a:r>
            <a:r>
              <a:rPr lang="ko-KR" altLang="en-US" sz="1400" dirty="0">
                <a:solidFill>
                  <a:srgbClr val="FF0000"/>
                </a:solidFill>
              </a:rPr>
              <a:t> 이외의 절차는 계속 유효하게 진행된다</a:t>
            </a:r>
            <a:r>
              <a:rPr lang="en-US" altLang="ko-KR" sz="1400" dirty="0">
                <a:solidFill>
                  <a:srgbClr val="FF0000"/>
                </a:solidFill>
              </a:rPr>
              <a:t>.</a:t>
            </a:r>
          </a:p>
        </p:txBody>
      </p:sp>
      <p:sp>
        <p:nvSpPr>
          <p:cNvPr id="9" name="TextBox 8"/>
          <p:cNvSpPr txBox="1"/>
          <p:nvPr/>
        </p:nvSpPr>
        <p:spPr>
          <a:xfrm>
            <a:off x="4394200" y="1994506"/>
            <a:ext cx="2552302" cy="276999"/>
          </a:xfrm>
          <a:prstGeom prst="rect">
            <a:avLst/>
          </a:prstGeom>
          <a:noFill/>
        </p:spPr>
        <p:txBody>
          <a:bodyPr wrap="none" rtlCol="0">
            <a:spAutoFit/>
          </a:bodyPr>
          <a:lstStyle/>
          <a:p>
            <a:r>
              <a:rPr lang="ko-KR" altLang="en-US" sz="1200" dirty="0" err="1"/>
              <a:t>청구범위</a:t>
            </a:r>
            <a:r>
              <a:rPr lang="en-US" altLang="ko-KR" sz="1200" dirty="0"/>
              <a:t>: A, B / </a:t>
            </a:r>
            <a:r>
              <a:rPr lang="ko-KR" altLang="en-US" sz="1200" dirty="0"/>
              <a:t>발명의 설명</a:t>
            </a:r>
            <a:r>
              <a:rPr lang="en-US" altLang="ko-KR" sz="1200" dirty="0"/>
              <a:t>: A, B, C</a:t>
            </a:r>
            <a:endParaRPr lang="ko-KR" altLang="en-US" sz="1200" dirty="0"/>
          </a:p>
        </p:txBody>
      </p:sp>
      <p:sp>
        <p:nvSpPr>
          <p:cNvPr id="39" name="TextBox 38"/>
          <p:cNvSpPr txBox="1"/>
          <p:nvPr/>
        </p:nvSpPr>
        <p:spPr>
          <a:xfrm>
            <a:off x="4394200" y="2375238"/>
            <a:ext cx="1511952" cy="276999"/>
          </a:xfrm>
          <a:prstGeom prst="rect">
            <a:avLst/>
          </a:prstGeom>
          <a:noFill/>
        </p:spPr>
        <p:txBody>
          <a:bodyPr wrap="none" rtlCol="0">
            <a:spAutoFit/>
          </a:bodyPr>
          <a:lstStyle/>
          <a:p>
            <a:r>
              <a:rPr lang="ko-KR" altLang="en-US" sz="1200" dirty="0" err="1"/>
              <a:t>출원인이</a:t>
            </a:r>
            <a:r>
              <a:rPr lang="ko-KR" altLang="en-US" sz="1200" dirty="0"/>
              <a:t> 온라인 제출</a:t>
            </a:r>
          </a:p>
        </p:txBody>
      </p:sp>
      <p:sp>
        <p:nvSpPr>
          <p:cNvPr id="40" name="TextBox 39"/>
          <p:cNvSpPr txBox="1"/>
          <p:nvPr/>
        </p:nvSpPr>
        <p:spPr>
          <a:xfrm>
            <a:off x="4394200" y="2755970"/>
            <a:ext cx="1109599" cy="276999"/>
          </a:xfrm>
          <a:prstGeom prst="rect">
            <a:avLst/>
          </a:prstGeom>
          <a:noFill/>
        </p:spPr>
        <p:txBody>
          <a:bodyPr wrap="none" rtlCol="0">
            <a:spAutoFit/>
          </a:bodyPr>
          <a:lstStyle/>
          <a:p>
            <a:r>
              <a:rPr lang="ko-KR" altLang="en-US" sz="1200" dirty="0"/>
              <a:t>건당 </a:t>
            </a:r>
            <a:r>
              <a:rPr lang="en-US" altLang="ko-KR" sz="1200" dirty="0"/>
              <a:t>46,000</a:t>
            </a:r>
            <a:r>
              <a:rPr lang="ko-KR" altLang="en-US" sz="1200" dirty="0"/>
              <a:t>원</a:t>
            </a:r>
          </a:p>
        </p:txBody>
      </p:sp>
      <p:sp>
        <p:nvSpPr>
          <p:cNvPr id="48" name="TextBox 47"/>
          <p:cNvSpPr txBox="1"/>
          <p:nvPr/>
        </p:nvSpPr>
        <p:spPr>
          <a:xfrm>
            <a:off x="4394200" y="3086578"/>
            <a:ext cx="6110968" cy="338554"/>
          </a:xfrm>
          <a:prstGeom prst="rect">
            <a:avLst/>
          </a:prstGeom>
          <a:noFill/>
        </p:spPr>
        <p:txBody>
          <a:bodyPr wrap="none" rtlCol="0">
            <a:spAutoFit/>
          </a:bodyPr>
          <a:lstStyle/>
          <a:p>
            <a:r>
              <a:rPr lang="ko-KR" altLang="en-US" sz="1600" dirty="0" err="1">
                <a:solidFill>
                  <a:srgbClr val="FF0000"/>
                </a:solidFill>
              </a:rPr>
              <a:t>출원인이</a:t>
            </a:r>
            <a:r>
              <a:rPr lang="ko-KR" altLang="en-US" sz="1600" dirty="0">
                <a:solidFill>
                  <a:srgbClr val="FF0000"/>
                </a:solidFill>
              </a:rPr>
              <a:t> </a:t>
            </a:r>
            <a:r>
              <a:rPr lang="en-US" altLang="ko-KR" sz="1600" dirty="0">
                <a:solidFill>
                  <a:srgbClr val="FF0000"/>
                </a:solidFill>
              </a:rPr>
              <a:t>46,000</a:t>
            </a:r>
            <a:r>
              <a:rPr lang="ko-KR" altLang="en-US" sz="1600" dirty="0">
                <a:solidFill>
                  <a:srgbClr val="FF0000"/>
                </a:solidFill>
              </a:rPr>
              <a:t>원을 납부하지 않는다면</a:t>
            </a:r>
            <a:r>
              <a:rPr lang="en-US" altLang="ko-KR" sz="1600" dirty="0">
                <a:solidFill>
                  <a:srgbClr val="FF0000"/>
                </a:solidFill>
              </a:rPr>
              <a:t>? </a:t>
            </a:r>
            <a:r>
              <a:rPr lang="ko-KR" altLang="en-US" sz="1600" dirty="0" err="1">
                <a:solidFill>
                  <a:srgbClr val="FF0000"/>
                </a:solidFill>
              </a:rPr>
              <a:t>보정명령후</a:t>
            </a:r>
            <a:r>
              <a:rPr lang="ko-KR" altLang="en-US" sz="1600" dirty="0">
                <a:solidFill>
                  <a:srgbClr val="FF0000"/>
                </a:solidFill>
              </a:rPr>
              <a:t> 특허출원을 무효</a:t>
            </a:r>
            <a:r>
              <a:rPr lang="en-US" altLang="ko-KR" sz="1600" dirty="0">
                <a:solidFill>
                  <a:srgbClr val="FF0000"/>
                </a:solidFill>
              </a:rPr>
              <a:t> </a:t>
            </a:r>
            <a:endParaRPr lang="ko-KR" altLang="en-US" sz="1600" dirty="0">
              <a:solidFill>
                <a:srgbClr val="FF0000"/>
              </a:solidFill>
            </a:endParaRPr>
          </a:p>
        </p:txBody>
      </p:sp>
      <p:sp>
        <p:nvSpPr>
          <p:cNvPr id="51" name="TextBox 50"/>
          <p:cNvSpPr txBox="1"/>
          <p:nvPr/>
        </p:nvSpPr>
        <p:spPr>
          <a:xfrm>
            <a:off x="4394200" y="3862205"/>
            <a:ext cx="1459054" cy="276999"/>
          </a:xfrm>
          <a:prstGeom prst="rect">
            <a:avLst/>
          </a:prstGeom>
          <a:noFill/>
        </p:spPr>
        <p:txBody>
          <a:bodyPr wrap="none" rtlCol="0">
            <a:spAutoFit/>
          </a:bodyPr>
          <a:lstStyle/>
          <a:p>
            <a:r>
              <a:rPr lang="ko-KR" altLang="en-US" sz="1200" dirty="0"/>
              <a:t>제</a:t>
            </a:r>
            <a:r>
              <a:rPr lang="en-US" altLang="ko-KR" sz="1200" dirty="0"/>
              <a:t>3</a:t>
            </a:r>
            <a:r>
              <a:rPr lang="ko-KR" altLang="en-US" sz="1200" dirty="0"/>
              <a:t>자가 온라인 제출</a:t>
            </a:r>
          </a:p>
        </p:txBody>
      </p:sp>
      <p:sp>
        <p:nvSpPr>
          <p:cNvPr id="52" name="TextBox 51"/>
          <p:cNvSpPr txBox="1"/>
          <p:nvPr/>
        </p:nvSpPr>
        <p:spPr>
          <a:xfrm>
            <a:off x="4394200" y="4242937"/>
            <a:ext cx="3575018" cy="276999"/>
          </a:xfrm>
          <a:prstGeom prst="rect">
            <a:avLst/>
          </a:prstGeom>
          <a:noFill/>
        </p:spPr>
        <p:txBody>
          <a:bodyPr wrap="none" rtlCol="0">
            <a:spAutoFit/>
          </a:bodyPr>
          <a:lstStyle/>
          <a:p>
            <a:r>
              <a:rPr lang="ko-KR" altLang="en-US" sz="1200" dirty="0"/>
              <a:t>기본료</a:t>
            </a:r>
            <a:r>
              <a:rPr lang="en-US" altLang="ko-KR" sz="1200" dirty="0"/>
              <a:t>: </a:t>
            </a:r>
            <a:r>
              <a:rPr lang="ko-KR" altLang="en-US" sz="1200" dirty="0"/>
              <a:t>건당 </a:t>
            </a:r>
            <a:r>
              <a:rPr lang="en-US" altLang="ko-KR" sz="1200" dirty="0"/>
              <a:t>166,000</a:t>
            </a:r>
            <a:r>
              <a:rPr lang="ko-KR" altLang="en-US" sz="1200" dirty="0"/>
              <a:t>원 </a:t>
            </a:r>
            <a:r>
              <a:rPr lang="en-US" altLang="ko-KR" sz="1200" dirty="0"/>
              <a:t>+ </a:t>
            </a:r>
            <a:r>
              <a:rPr lang="ko-KR" altLang="en-US" sz="1200" dirty="0" err="1"/>
              <a:t>가산료</a:t>
            </a:r>
            <a:r>
              <a:rPr lang="en-US" altLang="ko-KR" sz="1200" dirty="0"/>
              <a:t>: </a:t>
            </a:r>
            <a:r>
              <a:rPr lang="ko-KR" altLang="en-US" sz="1200" dirty="0"/>
              <a:t>청구항당 </a:t>
            </a:r>
            <a:r>
              <a:rPr lang="en-US" altLang="ko-KR" sz="1200" dirty="0"/>
              <a:t>51,000</a:t>
            </a:r>
            <a:r>
              <a:rPr lang="ko-KR" altLang="en-US" sz="1200" dirty="0"/>
              <a:t>원</a:t>
            </a:r>
          </a:p>
        </p:txBody>
      </p:sp>
      <p:sp>
        <p:nvSpPr>
          <p:cNvPr id="60" name="TextBox 59"/>
          <p:cNvSpPr txBox="1"/>
          <p:nvPr/>
        </p:nvSpPr>
        <p:spPr>
          <a:xfrm>
            <a:off x="4394200" y="4573545"/>
            <a:ext cx="6154249" cy="338554"/>
          </a:xfrm>
          <a:prstGeom prst="rect">
            <a:avLst/>
          </a:prstGeom>
          <a:noFill/>
        </p:spPr>
        <p:txBody>
          <a:bodyPr wrap="none" rtlCol="0">
            <a:spAutoFit/>
          </a:bodyPr>
          <a:lstStyle/>
          <a:p>
            <a:r>
              <a:rPr lang="ko-KR" altLang="en-US" sz="1600" dirty="0">
                <a:solidFill>
                  <a:srgbClr val="FF0000"/>
                </a:solidFill>
              </a:rPr>
              <a:t>제</a:t>
            </a:r>
            <a:r>
              <a:rPr lang="en-US" altLang="ko-KR" sz="1600" dirty="0">
                <a:solidFill>
                  <a:srgbClr val="FF0000"/>
                </a:solidFill>
              </a:rPr>
              <a:t>3</a:t>
            </a:r>
            <a:r>
              <a:rPr lang="ko-KR" altLang="en-US" sz="1600" dirty="0">
                <a:solidFill>
                  <a:srgbClr val="FF0000"/>
                </a:solidFill>
              </a:rPr>
              <a:t>자가 </a:t>
            </a:r>
            <a:r>
              <a:rPr lang="en-US" altLang="ko-KR" sz="1600" dirty="0">
                <a:solidFill>
                  <a:srgbClr val="FF0000"/>
                </a:solidFill>
              </a:rPr>
              <a:t>268,000</a:t>
            </a:r>
            <a:r>
              <a:rPr lang="ko-KR" altLang="en-US" sz="1600" dirty="0">
                <a:solidFill>
                  <a:srgbClr val="FF0000"/>
                </a:solidFill>
              </a:rPr>
              <a:t>원을 납부하지 않는다면</a:t>
            </a:r>
            <a:r>
              <a:rPr lang="en-US" altLang="ko-KR" sz="1600" dirty="0">
                <a:solidFill>
                  <a:srgbClr val="FF0000"/>
                </a:solidFill>
              </a:rPr>
              <a:t>? </a:t>
            </a:r>
            <a:r>
              <a:rPr lang="ko-KR" altLang="en-US" sz="1600" dirty="0" err="1">
                <a:solidFill>
                  <a:srgbClr val="FF0000"/>
                </a:solidFill>
              </a:rPr>
              <a:t>보정명령후</a:t>
            </a:r>
            <a:r>
              <a:rPr lang="ko-KR" altLang="en-US" sz="1600" dirty="0">
                <a:solidFill>
                  <a:srgbClr val="FF0000"/>
                </a:solidFill>
              </a:rPr>
              <a:t> 심사청구를 무효</a:t>
            </a:r>
            <a:r>
              <a:rPr lang="en-US" altLang="ko-KR" sz="1600" dirty="0">
                <a:solidFill>
                  <a:srgbClr val="FF0000"/>
                </a:solidFill>
              </a:rPr>
              <a:t> </a:t>
            </a:r>
            <a:endParaRPr lang="ko-KR" altLang="en-US" sz="1600" dirty="0">
              <a:solidFill>
                <a:srgbClr val="FF0000"/>
              </a:solidFill>
            </a:endParaRPr>
          </a:p>
        </p:txBody>
      </p:sp>
      <p:sp>
        <p:nvSpPr>
          <p:cNvPr id="61" name="TextBox 60"/>
          <p:cNvSpPr txBox="1"/>
          <p:nvPr/>
        </p:nvSpPr>
        <p:spPr>
          <a:xfrm>
            <a:off x="4394200" y="5359555"/>
            <a:ext cx="1511952" cy="276999"/>
          </a:xfrm>
          <a:prstGeom prst="rect">
            <a:avLst/>
          </a:prstGeom>
          <a:noFill/>
        </p:spPr>
        <p:txBody>
          <a:bodyPr wrap="none" rtlCol="0">
            <a:spAutoFit/>
          </a:bodyPr>
          <a:lstStyle/>
          <a:p>
            <a:r>
              <a:rPr lang="ko-KR" altLang="en-US" sz="1200" dirty="0" err="1"/>
              <a:t>출원인이</a:t>
            </a:r>
            <a:r>
              <a:rPr lang="ko-KR" altLang="en-US" sz="1200" dirty="0"/>
              <a:t> 온라인 제출</a:t>
            </a:r>
          </a:p>
        </p:txBody>
      </p:sp>
      <p:sp>
        <p:nvSpPr>
          <p:cNvPr id="62" name="TextBox 61"/>
          <p:cNvSpPr txBox="1"/>
          <p:nvPr/>
        </p:nvSpPr>
        <p:spPr>
          <a:xfrm>
            <a:off x="4394200" y="5740287"/>
            <a:ext cx="1524776" cy="276999"/>
          </a:xfrm>
          <a:prstGeom prst="rect">
            <a:avLst/>
          </a:prstGeom>
          <a:noFill/>
        </p:spPr>
        <p:txBody>
          <a:bodyPr wrap="none" rtlCol="0">
            <a:spAutoFit/>
          </a:bodyPr>
          <a:lstStyle/>
          <a:p>
            <a:r>
              <a:rPr lang="ko-KR" altLang="en-US" sz="1200" dirty="0" err="1"/>
              <a:t>보정료</a:t>
            </a:r>
            <a:r>
              <a:rPr lang="en-US" altLang="ko-KR" sz="1200" dirty="0"/>
              <a:t>: </a:t>
            </a:r>
            <a:r>
              <a:rPr lang="ko-KR" altLang="en-US" sz="1200" dirty="0"/>
              <a:t>건당 </a:t>
            </a:r>
            <a:r>
              <a:rPr lang="en-US" altLang="ko-KR" sz="1200" dirty="0"/>
              <a:t>4,000</a:t>
            </a:r>
            <a:r>
              <a:rPr lang="ko-KR" altLang="en-US" sz="1200" dirty="0"/>
              <a:t>원</a:t>
            </a:r>
          </a:p>
        </p:txBody>
      </p:sp>
      <p:sp>
        <p:nvSpPr>
          <p:cNvPr id="63" name="TextBox 62"/>
          <p:cNvSpPr txBox="1"/>
          <p:nvPr/>
        </p:nvSpPr>
        <p:spPr>
          <a:xfrm>
            <a:off x="4394200" y="6070895"/>
            <a:ext cx="5742278" cy="338554"/>
          </a:xfrm>
          <a:prstGeom prst="rect">
            <a:avLst/>
          </a:prstGeom>
          <a:noFill/>
        </p:spPr>
        <p:txBody>
          <a:bodyPr wrap="none" rtlCol="0">
            <a:spAutoFit/>
          </a:bodyPr>
          <a:lstStyle/>
          <a:p>
            <a:r>
              <a:rPr lang="ko-KR" altLang="en-US" sz="1600" dirty="0">
                <a:solidFill>
                  <a:srgbClr val="FF0000"/>
                </a:solidFill>
              </a:rPr>
              <a:t>출원인이 </a:t>
            </a:r>
            <a:r>
              <a:rPr lang="en-US" altLang="ko-KR" sz="1600" dirty="0">
                <a:solidFill>
                  <a:srgbClr val="FF0000"/>
                </a:solidFill>
              </a:rPr>
              <a:t>55,000</a:t>
            </a:r>
            <a:r>
              <a:rPr lang="ko-KR" altLang="en-US" sz="1600" dirty="0">
                <a:solidFill>
                  <a:srgbClr val="FF0000"/>
                </a:solidFill>
              </a:rPr>
              <a:t>원을 납부하지 않는다면</a:t>
            </a:r>
            <a:r>
              <a:rPr lang="en-US" altLang="ko-KR" sz="1600" dirty="0">
                <a:solidFill>
                  <a:srgbClr val="FF0000"/>
                </a:solidFill>
              </a:rPr>
              <a:t>? </a:t>
            </a:r>
            <a:r>
              <a:rPr lang="ko-KR" altLang="en-US" sz="1600" dirty="0" err="1">
                <a:solidFill>
                  <a:srgbClr val="FF0000"/>
                </a:solidFill>
              </a:rPr>
              <a:t>보정명령후</a:t>
            </a:r>
            <a:r>
              <a:rPr lang="ko-KR" altLang="en-US" sz="1600" dirty="0">
                <a:solidFill>
                  <a:srgbClr val="FF0000"/>
                </a:solidFill>
              </a:rPr>
              <a:t> 보정을 무효</a:t>
            </a:r>
            <a:r>
              <a:rPr lang="en-US" altLang="ko-KR" sz="1600" dirty="0">
                <a:solidFill>
                  <a:srgbClr val="FF0000"/>
                </a:solidFill>
              </a:rPr>
              <a:t> </a:t>
            </a:r>
            <a:endParaRPr lang="ko-KR" altLang="en-US" sz="1600" dirty="0">
              <a:solidFill>
                <a:srgbClr val="FF0000"/>
              </a:solidFill>
            </a:endParaRPr>
          </a:p>
        </p:txBody>
      </p:sp>
      <p:sp>
        <p:nvSpPr>
          <p:cNvPr id="71" name="TextBox 70"/>
          <p:cNvSpPr txBox="1"/>
          <p:nvPr/>
        </p:nvSpPr>
        <p:spPr>
          <a:xfrm>
            <a:off x="4394200" y="4978823"/>
            <a:ext cx="2733441" cy="276999"/>
          </a:xfrm>
          <a:prstGeom prst="rect">
            <a:avLst/>
          </a:prstGeom>
          <a:noFill/>
        </p:spPr>
        <p:txBody>
          <a:bodyPr wrap="none" rtlCol="0">
            <a:spAutoFit/>
          </a:bodyPr>
          <a:lstStyle/>
          <a:p>
            <a:r>
              <a:rPr lang="ko-KR" altLang="en-US" sz="1200" dirty="0" err="1"/>
              <a:t>청구범위</a:t>
            </a:r>
            <a:r>
              <a:rPr lang="en-US" altLang="ko-KR" sz="1200" dirty="0"/>
              <a:t>: A, B, C / </a:t>
            </a:r>
            <a:r>
              <a:rPr lang="ko-KR" altLang="en-US" sz="1200" dirty="0"/>
              <a:t>발명의 설명</a:t>
            </a:r>
            <a:r>
              <a:rPr lang="en-US" altLang="ko-KR" sz="1200" dirty="0"/>
              <a:t>: A, B, C</a:t>
            </a:r>
            <a:endParaRPr lang="ko-KR" altLang="en-US" sz="1200" dirty="0"/>
          </a:p>
        </p:txBody>
      </p:sp>
      <p:sp>
        <p:nvSpPr>
          <p:cNvPr id="13" name="모서리가 둥근 사각형 설명선 12"/>
          <p:cNvSpPr/>
          <p:nvPr/>
        </p:nvSpPr>
        <p:spPr>
          <a:xfrm>
            <a:off x="8128000" y="2383394"/>
            <a:ext cx="3759200" cy="436486"/>
          </a:xfrm>
          <a:prstGeom prst="wedgeRoundRectCallout">
            <a:avLst>
              <a:gd name="adj1" fmla="val -36374"/>
              <a:gd name="adj2" fmla="val 104689"/>
              <a:gd name="adj3" fmla="val 16667"/>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ko-KR" altLang="en-US" sz="1400" dirty="0">
                <a:solidFill>
                  <a:schemeClr val="tx1"/>
                </a:solidFill>
              </a:rPr>
              <a:t>특허출원이 처음부터 없었던 것으로 간주 </a:t>
            </a:r>
          </a:p>
        </p:txBody>
      </p:sp>
      <p:sp>
        <p:nvSpPr>
          <p:cNvPr id="72" name="모서리가 둥근 사각형 설명선 71"/>
          <p:cNvSpPr/>
          <p:nvPr/>
        </p:nvSpPr>
        <p:spPr>
          <a:xfrm>
            <a:off x="8128000" y="3656299"/>
            <a:ext cx="3759200" cy="629893"/>
          </a:xfrm>
          <a:prstGeom prst="wedgeRoundRectCallout">
            <a:avLst>
              <a:gd name="adj1" fmla="val -36374"/>
              <a:gd name="adj2" fmla="val 104689"/>
              <a:gd name="adj3" fmla="val 16667"/>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ko-KR" altLang="en-US" sz="1400" dirty="0" err="1">
                <a:solidFill>
                  <a:schemeClr val="tx1"/>
                </a:solidFill>
              </a:rPr>
              <a:t>심사청구가</a:t>
            </a:r>
            <a:r>
              <a:rPr lang="ko-KR" altLang="en-US" sz="1400" dirty="0">
                <a:solidFill>
                  <a:schemeClr val="tx1"/>
                </a:solidFill>
              </a:rPr>
              <a:t> 처음부터 없었던 것으로 간주</a:t>
            </a:r>
            <a:endParaRPr lang="en-US" altLang="ko-KR" sz="1400" dirty="0">
              <a:solidFill>
                <a:schemeClr val="tx1"/>
              </a:solidFill>
            </a:endParaRPr>
          </a:p>
          <a:p>
            <a:pPr marL="285750" indent="-285750">
              <a:buFont typeface="Wingdings" panose="05000000000000000000" pitchFamily="2" charset="2"/>
              <a:buChar char="§"/>
            </a:pPr>
            <a:r>
              <a:rPr lang="ko-KR" altLang="en-US" sz="1400" dirty="0">
                <a:solidFill>
                  <a:schemeClr val="tx1"/>
                </a:solidFill>
              </a:rPr>
              <a:t>특허출원만 유효하게 진행 </a:t>
            </a:r>
          </a:p>
        </p:txBody>
      </p:sp>
      <p:sp>
        <p:nvSpPr>
          <p:cNvPr id="73" name="모서리가 둥근 사각형 설명선 72"/>
          <p:cNvSpPr/>
          <p:nvPr/>
        </p:nvSpPr>
        <p:spPr>
          <a:xfrm>
            <a:off x="8128000" y="5101265"/>
            <a:ext cx="3759200" cy="625907"/>
          </a:xfrm>
          <a:prstGeom prst="wedgeRoundRectCallout">
            <a:avLst>
              <a:gd name="adj1" fmla="val -36374"/>
              <a:gd name="adj2" fmla="val 104689"/>
              <a:gd name="adj3" fmla="val 16667"/>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285750" indent="-285750">
              <a:buFont typeface="Wingdings" panose="05000000000000000000" pitchFamily="2" charset="2"/>
              <a:buChar char="§"/>
            </a:pPr>
            <a:r>
              <a:rPr lang="ko-KR" altLang="en-US" sz="1400" dirty="0">
                <a:solidFill>
                  <a:schemeClr val="tx1"/>
                </a:solidFill>
              </a:rPr>
              <a:t>보정이 처음부터 없었던 것으로 간주</a:t>
            </a:r>
            <a:endParaRPr lang="en-US" altLang="ko-KR" sz="1400" dirty="0">
              <a:solidFill>
                <a:schemeClr val="tx1"/>
              </a:solidFill>
            </a:endParaRPr>
          </a:p>
          <a:p>
            <a:pPr marL="285750" indent="-285750">
              <a:buFont typeface="Wingdings" panose="05000000000000000000" pitchFamily="2" charset="2"/>
              <a:buChar char="§"/>
            </a:pPr>
            <a:r>
              <a:rPr lang="ko-KR" altLang="en-US" sz="1400" dirty="0">
                <a:solidFill>
                  <a:schemeClr val="tx1"/>
                </a:solidFill>
              </a:rPr>
              <a:t>특허출원과 </a:t>
            </a:r>
            <a:r>
              <a:rPr lang="ko-KR" altLang="en-US" sz="1400" dirty="0" err="1">
                <a:solidFill>
                  <a:schemeClr val="tx1"/>
                </a:solidFill>
              </a:rPr>
              <a:t>심사청구만</a:t>
            </a:r>
            <a:r>
              <a:rPr lang="ko-KR" altLang="en-US" sz="1400" dirty="0">
                <a:solidFill>
                  <a:schemeClr val="tx1"/>
                </a:solidFill>
              </a:rPr>
              <a:t> 유효하게 진행 </a:t>
            </a:r>
          </a:p>
        </p:txBody>
      </p: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39</a:t>
            </a:fld>
            <a:endParaRPr lang="ko-KR" altLang="en-US"/>
          </a:p>
        </p:txBody>
      </p:sp>
      <p:sp>
        <p:nvSpPr>
          <p:cNvPr id="5" name="TextBox 4">
            <a:extLst>
              <a:ext uri="{FF2B5EF4-FFF2-40B4-BE49-F238E27FC236}">
                <a16:creationId xmlns:a16="http://schemas.microsoft.com/office/drawing/2014/main" id="{1136643F-F656-2238-F72B-5BB8A4238D1A}"/>
              </a:ext>
            </a:extLst>
          </p:cNvPr>
          <p:cNvSpPr txBox="1"/>
          <p:nvPr/>
        </p:nvSpPr>
        <p:spPr>
          <a:xfrm>
            <a:off x="4378942" y="6375400"/>
            <a:ext cx="2783134" cy="276999"/>
          </a:xfrm>
          <a:prstGeom prst="rect">
            <a:avLst/>
          </a:prstGeom>
          <a:noFill/>
        </p:spPr>
        <p:txBody>
          <a:bodyPr wrap="none" rtlCol="0">
            <a:spAutoFit/>
          </a:bodyPr>
          <a:lstStyle/>
          <a:p>
            <a:r>
              <a:rPr lang="en-US" altLang="ko-KR" sz="1200" dirty="0">
                <a:solidFill>
                  <a:srgbClr val="FF0000"/>
                </a:solidFill>
              </a:rPr>
              <a:t>(</a:t>
            </a:r>
            <a:r>
              <a:rPr lang="ko-KR" altLang="en-US" sz="1200" dirty="0" err="1">
                <a:solidFill>
                  <a:srgbClr val="FF0000"/>
                </a:solidFill>
              </a:rPr>
              <a:t>보정료</a:t>
            </a:r>
            <a:r>
              <a:rPr lang="ko-KR" altLang="en-US" sz="1200" dirty="0">
                <a:solidFill>
                  <a:srgbClr val="FF0000"/>
                </a:solidFill>
              </a:rPr>
              <a:t> </a:t>
            </a:r>
            <a:r>
              <a:rPr lang="en-US" altLang="ko-KR" sz="1200" dirty="0">
                <a:solidFill>
                  <a:srgbClr val="FF0000"/>
                </a:solidFill>
              </a:rPr>
              <a:t>4,000</a:t>
            </a:r>
            <a:r>
              <a:rPr lang="ko-KR" altLang="en-US" sz="1200" dirty="0">
                <a:solidFill>
                  <a:srgbClr val="FF0000"/>
                </a:solidFill>
              </a:rPr>
              <a:t>원</a:t>
            </a:r>
            <a:r>
              <a:rPr lang="en-US" altLang="ko-KR" sz="1200" dirty="0">
                <a:solidFill>
                  <a:srgbClr val="FF0000"/>
                </a:solidFill>
              </a:rPr>
              <a:t> + </a:t>
            </a:r>
            <a:r>
              <a:rPr lang="ko-KR" altLang="en-US" sz="1200" dirty="0" err="1">
                <a:solidFill>
                  <a:srgbClr val="FF0000"/>
                </a:solidFill>
              </a:rPr>
              <a:t>심사청구료</a:t>
            </a:r>
            <a:r>
              <a:rPr lang="ko-KR" altLang="en-US" sz="1200" dirty="0">
                <a:solidFill>
                  <a:srgbClr val="FF0000"/>
                </a:solidFill>
              </a:rPr>
              <a:t> </a:t>
            </a:r>
            <a:r>
              <a:rPr lang="en-US" altLang="ko-KR" sz="1200" dirty="0">
                <a:solidFill>
                  <a:srgbClr val="FF0000"/>
                </a:solidFill>
              </a:rPr>
              <a:t>51,000</a:t>
            </a:r>
            <a:r>
              <a:rPr lang="ko-KR" altLang="en-US" sz="1200" dirty="0">
                <a:solidFill>
                  <a:srgbClr val="FF0000"/>
                </a:solidFill>
              </a:rPr>
              <a:t>원</a:t>
            </a:r>
            <a:r>
              <a:rPr lang="en-US" altLang="ko-KR" sz="1200" dirty="0">
                <a:solidFill>
                  <a:srgbClr val="FF0000"/>
                </a:solidFill>
              </a:rPr>
              <a:t>)</a:t>
            </a:r>
            <a:endParaRPr lang="ko-KR" altLang="en-US" sz="1200" dirty="0">
              <a:solidFill>
                <a:srgbClr val="FF0000"/>
              </a:solidFill>
            </a:endParaRPr>
          </a:p>
        </p:txBody>
      </p:sp>
    </p:spTree>
    <p:extLst>
      <p:ext uri="{BB962C8B-B14F-4D97-AF65-F5344CB8AC3E}">
        <p14:creationId xmlns:p14="http://schemas.microsoft.com/office/powerpoint/2010/main" val="390718477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C68B98-FED4-E21C-D58A-94B2E98C3DF3}"/>
            </a:ext>
          </a:extLst>
        </p:cNvPr>
        <p:cNvGrpSpPr/>
        <p:nvPr/>
      </p:nvGrpSpPr>
      <p:grpSpPr>
        <a:xfrm>
          <a:off x="0" y="0"/>
          <a:ext cx="0" cy="0"/>
          <a:chOff x="0" y="0"/>
          <a:chExt cx="0" cy="0"/>
        </a:xfrm>
      </p:grpSpPr>
      <p:sp>
        <p:nvSpPr>
          <p:cNvPr id="3" name="제목 2">
            <a:extLst>
              <a:ext uri="{FF2B5EF4-FFF2-40B4-BE49-F238E27FC236}">
                <a16:creationId xmlns:a16="http://schemas.microsoft.com/office/drawing/2014/main" id="{9BCBD970-BC78-E8DE-2409-74B98AC77D15}"/>
              </a:ext>
            </a:extLst>
          </p:cNvPr>
          <p:cNvSpPr>
            <a:spLocks noGrp="1"/>
          </p:cNvSpPr>
          <p:nvPr>
            <p:ph type="title"/>
          </p:nvPr>
        </p:nvSpPr>
        <p:spPr/>
        <p:txBody>
          <a:bodyPr/>
          <a:lstStyle/>
          <a:p>
            <a:r>
              <a:rPr lang="ko-KR" altLang="en-US" dirty="0"/>
              <a:t>제</a:t>
            </a:r>
            <a:r>
              <a:rPr lang="en-US" altLang="ko-KR" dirty="0"/>
              <a:t>16</a:t>
            </a:r>
            <a:r>
              <a:rPr lang="ko-KR" altLang="en-US" dirty="0"/>
              <a:t>조</a:t>
            </a:r>
          </a:p>
        </p:txBody>
      </p:sp>
      <p:sp>
        <p:nvSpPr>
          <p:cNvPr id="4" name="텍스트 개체 틀 3">
            <a:extLst>
              <a:ext uri="{FF2B5EF4-FFF2-40B4-BE49-F238E27FC236}">
                <a16:creationId xmlns:a16="http://schemas.microsoft.com/office/drawing/2014/main" id="{7D66D039-C833-0096-C044-5EC03187EC44}"/>
              </a:ext>
            </a:extLst>
          </p:cNvPr>
          <p:cNvSpPr>
            <a:spLocks noGrp="1"/>
          </p:cNvSpPr>
          <p:nvPr>
            <p:ph type="body" sz="quarter" idx="13"/>
          </p:nvPr>
        </p:nvSpPr>
        <p:spPr/>
        <p:txBody>
          <a:bodyPr/>
          <a:lstStyle/>
          <a:p>
            <a:r>
              <a:rPr lang="ko-KR" altLang="en-US" dirty="0"/>
              <a:t>절차의 무효사유 </a:t>
            </a:r>
            <a:r>
              <a:rPr lang="en-US" altLang="ko-KR" dirty="0"/>
              <a:t>vs </a:t>
            </a:r>
            <a:r>
              <a:rPr lang="ko-KR" altLang="en-US" dirty="0"/>
              <a:t>불수리사유</a:t>
            </a:r>
          </a:p>
        </p:txBody>
      </p:sp>
      <p:sp>
        <p:nvSpPr>
          <p:cNvPr id="2" name="슬라이드 번호 개체 틀 1">
            <a:extLst>
              <a:ext uri="{FF2B5EF4-FFF2-40B4-BE49-F238E27FC236}">
                <a16:creationId xmlns:a16="http://schemas.microsoft.com/office/drawing/2014/main" id="{7B20BD9C-5B1B-4453-3CDE-718660089E47}"/>
              </a:ext>
            </a:extLst>
          </p:cNvPr>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40</a:t>
            </a:fld>
            <a:endParaRPr lang="ko-KR" altLang="en-US"/>
          </a:p>
        </p:txBody>
      </p:sp>
      <p:sp>
        <p:nvSpPr>
          <p:cNvPr id="6" name="사각형: 둥근 모서리 5">
            <a:extLst>
              <a:ext uri="{FF2B5EF4-FFF2-40B4-BE49-F238E27FC236}">
                <a16:creationId xmlns:a16="http://schemas.microsoft.com/office/drawing/2014/main" id="{8E230CFF-411E-76EF-327D-8B5228D5130B}"/>
              </a:ext>
            </a:extLst>
          </p:cNvPr>
          <p:cNvSpPr/>
          <p:nvPr/>
        </p:nvSpPr>
        <p:spPr>
          <a:xfrm>
            <a:off x="2784929" y="1295535"/>
            <a:ext cx="2088232" cy="1296144"/>
          </a:xfrm>
          <a:prstGeom prst="roundRect">
            <a:avLst/>
          </a:prstGeom>
          <a:solidFill>
            <a:schemeClr val="accent2"/>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2">
                    <a:lumMod val="50000"/>
                  </a:schemeClr>
                </a:solidFill>
              </a:rPr>
              <a:t>경미한 하자</a:t>
            </a:r>
            <a:endParaRPr lang="en-US" altLang="ko-KR" dirty="0">
              <a:solidFill>
                <a:schemeClr val="tx2">
                  <a:lumMod val="50000"/>
                </a:schemeClr>
              </a:solidFill>
            </a:endParaRPr>
          </a:p>
          <a:p>
            <a:pPr algn="ctr"/>
            <a:r>
              <a:rPr lang="en-US" altLang="ko-KR" dirty="0">
                <a:solidFill>
                  <a:schemeClr val="tx2">
                    <a:lumMod val="50000"/>
                  </a:schemeClr>
                </a:solidFill>
              </a:rPr>
              <a:t>(</a:t>
            </a:r>
            <a:r>
              <a:rPr lang="ko-KR" altLang="en-US" dirty="0">
                <a:solidFill>
                  <a:schemeClr val="tx2">
                    <a:lumMod val="50000"/>
                  </a:schemeClr>
                </a:solidFill>
              </a:rPr>
              <a:t>제</a:t>
            </a:r>
            <a:r>
              <a:rPr lang="en-US" altLang="ko-KR" dirty="0">
                <a:solidFill>
                  <a:schemeClr val="tx2">
                    <a:lumMod val="50000"/>
                  </a:schemeClr>
                </a:solidFill>
              </a:rPr>
              <a:t>46</a:t>
            </a:r>
            <a:r>
              <a:rPr lang="ko-KR" altLang="en-US" dirty="0">
                <a:solidFill>
                  <a:schemeClr val="tx2">
                    <a:lumMod val="50000"/>
                  </a:schemeClr>
                </a:solidFill>
              </a:rPr>
              <a:t>조</a:t>
            </a:r>
            <a:r>
              <a:rPr lang="en-US" altLang="ko-KR" dirty="0">
                <a:solidFill>
                  <a:schemeClr val="tx2">
                    <a:lumMod val="50000"/>
                  </a:schemeClr>
                </a:solidFill>
              </a:rPr>
              <a:t>)</a:t>
            </a:r>
            <a:endParaRPr lang="ko-KR" altLang="en-US" dirty="0">
              <a:solidFill>
                <a:schemeClr val="tx2">
                  <a:lumMod val="50000"/>
                </a:schemeClr>
              </a:solidFill>
            </a:endParaRPr>
          </a:p>
        </p:txBody>
      </p:sp>
      <p:sp>
        <p:nvSpPr>
          <p:cNvPr id="7" name="사각형: 둥근 모서리 6">
            <a:extLst>
              <a:ext uri="{FF2B5EF4-FFF2-40B4-BE49-F238E27FC236}">
                <a16:creationId xmlns:a16="http://schemas.microsoft.com/office/drawing/2014/main" id="{F436FFB1-3CA0-AE9E-EA6D-0C2CC7468CCE}"/>
              </a:ext>
            </a:extLst>
          </p:cNvPr>
          <p:cNvSpPr/>
          <p:nvPr/>
        </p:nvSpPr>
        <p:spPr>
          <a:xfrm>
            <a:off x="6961393" y="1295535"/>
            <a:ext cx="2088232" cy="1296144"/>
          </a:xfrm>
          <a:prstGeom prst="roundRect">
            <a:avLst/>
          </a:prstGeom>
          <a:solidFill>
            <a:schemeClr val="tx2">
              <a:lumMod val="50000"/>
            </a:schemeClr>
          </a:solidFill>
          <a:ln w="19050">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rgbClr val="FFFF00"/>
                </a:solidFill>
              </a:rPr>
              <a:t>중대한 하자</a:t>
            </a:r>
            <a:endParaRPr lang="en-US" altLang="ko-KR" dirty="0">
              <a:solidFill>
                <a:srgbClr val="FFFF00"/>
              </a:solidFill>
            </a:endParaRPr>
          </a:p>
          <a:p>
            <a:pPr algn="ctr"/>
            <a:r>
              <a:rPr lang="en-US" altLang="ko-KR" dirty="0">
                <a:solidFill>
                  <a:srgbClr val="FFFF00"/>
                </a:solidFill>
              </a:rPr>
              <a:t>(</a:t>
            </a:r>
            <a:r>
              <a:rPr lang="ko-KR" altLang="en-US" dirty="0">
                <a:solidFill>
                  <a:srgbClr val="FFFF00"/>
                </a:solidFill>
              </a:rPr>
              <a:t>시행규칙 제</a:t>
            </a:r>
            <a:r>
              <a:rPr lang="en-US" altLang="ko-KR" dirty="0">
                <a:solidFill>
                  <a:srgbClr val="FFFF00"/>
                </a:solidFill>
              </a:rPr>
              <a:t>11</a:t>
            </a:r>
            <a:r>
              <a:rPr lang="ko-KR" altLang="en-US" dirty="0">
                <a:solidFill>
                  <a:srgbClr val="FFFF00"/>
                </a:solidFill>
              </a:rPr>
              <a:t>조</a:t>
            </a:r>
            <a:r>
              <a:rPr lang="en-US" altLang="ko-KR" dirty="0">
                <a:solidFill>
                  <a:srgbClr val="FFFF00"/>
                </a:solidFill>
              </a:rPr>
              <a:t>)</a:t>
            </a:r>
            <a:endParaRPr lang="ko-KR" altLang="en-US" dirty="0">
              <a:solidFill>
                <a:srgbClr val="FFFF00"/>
              </a:solidFill>
            </a:endParaRPr>
          </a:p>
        </p:txBody>
      </p:sp>
      <p:sp>
        <p:nvSpPr>
          <p:cNvPr id="8" name="TextBox 7">
            <a:extLst>
              <a:ext uri="{FF2B5EF4-FFF2-40B4-BE49-F238E27FC236}">
                <a16:creationId xmlns:a16="http://schemas.microsoft.com/office/drawing/2014/main" id="{6B8C787D-FB69-74EA-92C0-12242B4C61DD}"/>
              </a:ext>
            </a:extLst>
          </p:cNvPr>
          <p:cNvSpPr txBox="1"/>
          <p:nvPr/>
        </p:nvSpPr>
        <p:spPr>
          <a:xfrm>
            <a:off x="5514998" y="1620441"/>
            <a:ext cx="646331" cy="646331"/>
          </a:xfrm>
          <a:prstGeom prst="rect">
            <a:avLst/>
          </a:prstGeom>
          <a:noFill/>
        </p:spPr>
        <p:txBody>
          <a:bodyPr wrap="none" rtlCol="0">
            <a:spAutoFit/>
          </a:bodyPr>
          <a:lstStyle/>
          <a:p>
            <a:r>
              <a:rPr lang="en-US" altLang="ko-KR" sz="3600" dirty="0"/>
              <a:t>vs</a:t>
            </a:r>
            <a:endParaRPr lang="ko-KR" altLang="en-US" sz="3600" dirty="0"/>
          </a:p>
        </p:txBody>
      </p:sp>
      <p:sp>
        <p:nvSpPr>
          <p:cNvPr id="11" name="직사각형 10">
            <a:extLst>
              <a:ext uri="{FF2B5EF4-FFF2-40B4-BE49-F238E27FC236}">
                <a16:creationId xmlns:a16="http://schemas.microsoft.com/office/drawing/2014/main" id="{57110F97-D156-A0B4-9336-79A1E3D8425B}"/>
              </a:ext>
            </a:extLst>
          </p:cNvPr>
          <p:cNvSpPr/>
          <p:nvPr/>
        </p:nvSpPr>
        <p:spPr>
          <a:xfrm>
            <a:off x="2800953" y="3034612"/>
            <a:ext cx="2088232" cy="711019"/>
          </a:xfrm>
          <a:prstGeom prst="rect">
            <a:avLst/>
          </a:prstGeom>
          <a:solidFill>
            <a:schemeClr val="accent2">
              <a:lumMod val="20000"/>
              <a:lumOff val="80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rPr>
              <a:t>행위능력 흠결</a:t>
            </a:r>
            <a:endParaRPr lang="en-US" altLang="ko-KR" dirty="0">
              <a:solidFill>
                <a:schemeClr val="bg1">
                  <a:lumMod val="50000"/>
                </a:schemeClr>
              </a:solidFill>
            </a:endParaRPr>
          </a:p>
          <a:p>
            <a:pPr algn="ctr"/>
            <a:r>
              <a:rPr lang="en-US" altLang="ko-KR" dirty="0">
                <a:solidFill>
                  <a:schemeClr val="bg1">
                    <a:lumMod val="50000"/>
                  </a:schemeClr>
                </a:solidFill>
              </a:rPr>
              <a:t>(</a:t>
            </a:r>
            <a:r>
              <a:rPr lang="ko-KR" altLang="en-US" dirty="0">
                <a:solidFill>
                  <a:schemeClr val="bg1">
                    <a:lumMod val="50000"/>
                  </a:schemeClr>
                </a:solidFill>
              </a:rPr>
              <a:t>제</a:t>
            </a:r>
            <a:r>
              <a:rPr lang="en-US" altLang="ko-KR" dirty="0">
                <a:solidFill>
                  <a:schemeClr val="bg1">
                    <a:lumMod val="50000"/>
                  </a:schemeClr>
                </a:solidFill>
              </a:rPr>
              <a:t>3</a:t>
            </a:r>
            <a:r>
              <a:rPr lang="ko-KR" altLang="en-US" dirty="0">
                <a:solidFill>
                  <a:schemeClr val="bg1">
                    <a:lumMod val="50000"/>
                  </a:schemeClr>
                </a:solidFill>
              </a:rPr>
              <a:t>조제</a:t>
            </a:r>
            <a:r>
              <a:rPr lang="en-US" altLang="ko-KR" dirty="0">
                <a:solidFill>
                  <a:schemeClr val="bg1">
                    <a:lumMod val="50000"/>
                  </a:schemeClr>
                </a:solidFill>
              </a:rPr>
              <a:t>1</a:t>
            </a:r>
            <a:r>
              <a:rPr lang="ko-KR" altLang="en-US" dirty="0">
                <a:solidFill>
                  <a:schemeClr val="bg1">
                    <a:lumMod val="50000"/>
                  </a:schemeClr>
                </a:solidFill>
              </a:rPr>
              <a:t>항</a:t>
            </a:r>
            <a:r>
              <a:rPr lang="en-US" altLang="ko-KR" dirty="0">
                <a:solidFill>
                  <a:schemeClr val="bg1">
                    <a:lumMod val="50000"/>
                  </a:schemeClr>
                </a:solidFill>
              </a:rPr>
              <a:t>)</a:t>
            </a:r>
            <a:endParaRPr lang="ko-KR" altLang="en-US" dirty="0">
              <a:solidFill>
                <a:schemeClr val="bg1">
                  <a:lumMod val="50000"/>
                </a:schemeClr>
              </a:solidFill>
            </a:endParaRPr>
          </a:p>
        </p:txBody>
      </p:sp>
      <p:sp>
        <p:nvSpPr>
          <p:cNvPr id="14" name="직사각형 13">
            <a:extLst>
              <a:ext uri="{FF2B5EF4-FFF2-40B4-BE49-F238E27FC236}">
                <a16:creationId xmlns:a16="http://schemas.microsoft.com/office/drawing/2014/main" id="{7D4E5E2F-7336-39A4-6287-5AAE0E76D660}"/>
              </a:ext>
            </a:extLst>
          </p:cNvPr>
          <p:cNvSpPr/>
          <p:nvPr/>
        </p:nvSpPr>
        <p:spPr>
          <a:xfrm>
            <a:off x="2800953" y="3832582"/>
            <a:ext cx="2088232" cy="711019"/>
          </a:xfrm>
          <a:prstGeom prst="rect">
            <a:avLst/>
          </a:prstGeom>
          <a:solidFill>
            <a:schemeClr val="accent2">
              <a:lumMod val="20000"/>
              <a:lumOff val="80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rPr>
              <a:t>대리권 흠결</a:t>
            </a:r>
            <a:endParaRPr lang="en-US" altLang="ko-KR" dirty="0">
              <a:solidFill>
                <a:schemeClr val="bg1">
                  <a:lumMod val="50000"/>
                </a:schemeClr>
              </a:solidFill>
            </a:endParaRPr>
          </a:p>
          <a:p>
            <a:pPr algn="ctr"/>
            <a:r>
              <a:rPr lang="en-US" altLang="ko-KR" dirty="0">
                <a:solidFill>
                  <a:schemeClr val="bg1">
                    <a:lumMod val="50000"/>
                  </a:schemeClr>
                </a:solidFill>
              </a:rPr>
              <a:t>(</a:t>
            </a:r>
            <a:r>
              <a:rPr lang="ko-KR" altLang="en-US" dirty="0">
                <a:solidFill>
                  <a:schemeClr val="bg1">
                    <a:lumMod val="50000"/>
                  </a:schemeClr>
                </a:solidFill>
              </a:rPr>
              <a:t>제</a:t>
            </a:r>
            <a:r>
              <a:rPr lang="en-US" altLang="ko-KR" dirty="0">
                <a:solidFill>
                  <a:schemeClr val="bg1">
                    <a:lumMod val="50000"/>
                  </a:schemeClr>
                </a:solidFill>
              </a:rPr>
              <a:t>6</a:t>
            </a:r>
            <a:r>
              <a:rPr lang="ko-KR" altLang="en-US" dirty="0">
                <a:solidFill>
                  <a:schemeClr val="bg1">
                    <a:lumMod val="50000"/>
                  </a:schemeClr>
                </a:solidFill>
              </a:rPr>
              <a:t>조</a:t>
            </a:r>
            <a:r>
              <a:rPr lang="en-US" altLang="ko-KR" dirty="0">
                <a:solidFill>
                  <a:schemeClr val="bg1">
                    <a:lumMod val="50000"/>
                  </a:schemeClr>
                </a:solidFill>
              </a:rPr>
              <a:t>)</a:t>
            </a:r>
            <a:endParaRPr lang="ko-KR" altLang="en-US" dirty="0">
              <a:solidFill>
                <a:schemeClr val="bg1">
                  <a:lumMod val="50000"/>
                </a:schemeClr>
              </a:solidFill>
            </a:endParaRPr>
          </a:p>
        </p:txBody>
      </p:sp>
      <p:sp>
        <p:nvSpPr>
          <p:cNvPr id="15" name="직사각형 14">
            <a:extLst>
              <a:ext uri="{FF2B5EF4-FFF2-40B4-BE49-F238E27FC236}">
                <a16:creationId xmlns:a16="http://schemas.microsoft.com/office/drawing/2014/main" id="{867279EE-25C1-C61F-CCE8-C3109CCB0A6F}"/>
              </a:ext>
            </a:extLst>
          </p:cNvPr>
          <p:cNvSpPr/>
          <p:nvPr/>
        </p:nvSpPr>
        <p:spPr>
          <a:xfrm>
            <a:off x="2800953" y="4630553"/>
            <a:ext cx="2088232" cy="711019"/>
          </a:xfrm>
          <a:prstGeom prst="rect">
            <a:avLst/>
          </a:prstGeom>
          <a:solidFill>
            <a:schemeClr val="accent2">
              <a:lumMod val="20000"/>
              <a:lumOff val="80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rPr>
              <a:t>방식위반</a:t>
            </a:r>
          </a:p>
        </p:txBody>
      </p:sp>
      <p:sp>
        <p:nvSpPr>
          <p:cNvPr id="16" name="직사각형 15">
            <a:extLst>
              <a:ext uri="{FF2B5EF4-FFF2-40B4-BE49-F238E27FC236}">
                <a16:creationId xmlns:a16="http://schemas.microsoft.com/office/drawing/2014/main" id="{265FD85A-529B-7604-4937-1FD1216BFBFB}"/>
              </a:ext>
            </a:extLst>
          </p:cNvPr>
          <p:cNvSpPr/>
          <p:nvPr/>
        </p:nvSpPr>
        <p:spPr>
          <a:xfrm>
            <a:off x="2800953" y="5439406"/>
            <a:ext cx="2088232" cy="711019"/>
          </a:xfrm>
          <a:prstGeom prst="rect">
            <a:avLst/>
          </a:prstGeom>
          <a:solidFill>
            <a:schemeClr val="accent2">
              <a:lumMod val="20000"/>
              <a:lumOff val="80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bg1">
                    <a:lumMod val="50000"/>
                  </a:schemeClr>
                </a:solidFill>
              </a:rPr>
              <a:t>수수료 불납</a:t>
            </a:r>
            <a:endParaRPr lang="en-US" altLang="ko-KR" dirty="0">
              <a:solidFill>
                <a:schemeClr val="bg1">
                  <a:lumMod val="50000"/>
                </a:schemeClr>
              </a:solidFill>
            </a:endParaRPr>
          </a:p>
          <a:p>
            <a:pPr algn="ctr"/>
            <a:r>
              <a:rPr lang="en-US" altLang="ko-KR" dirty="0">
                <a:solidFill>
                  <a:schemeClr val="bg1">
                    <a:lumMod val="50000"/>
                  </a:schemeClr>
                </a:solidFill>
              </a:rPr>
              <a:t>(</a:t>
            </a:r>
            <a:r>
              <a:rPr lang="ko-KR" altLang="en-US" dirty="0">
                <a:solidFill>
                  <a:schemeClr val="bg1">
                    <a:lumMod val="50000"/>
                  </a:schemeClr>
                </a:solidFill>
              </a:rPr>
              <a:t>제</a:t>
            </a:r>
            <a:r>
              <a:rPr lang="en-US" altLang="ko-KR" dirty="0">
                <a:solidFill>
                  <a:schemeClr val="bg1">
                    <a:lumMod val="50000"/>
                  </a:schemeClr>
                </a:solidFill>
              </a:rPr>
              <a:t>82</a:t>
            </a:r>
            <a:r>
              <a:rPr lang="ko-KR" altLang="en-US" dirty="0">
                <a:solidFill>
                  <a:schemeClr val="bg1">
                    <a:lumMod val="50000"/>
                  </a:schemeClr>
                </a:solidFill>
              </a:rPr>
              <a:t>조</a:t>
            </a:r>
            <a:r>
              <a:rPr lang="en-US" altLang="ko-KR" dirty="0">
                <a:solidFill>
                  <a:schemeClr val="bg1">
                    <a:lumMod val="50000"/>
                  </a:schemeClr>
                </a:solidFill>
              </a:rPr>
              <a:t>)</a:t>
            </a:r>
            <a:endParaRPr lang="ko-KR" altLang="en-US" dirty="0">
              <a:solidFill>
                <a:schemeClr val="bg1">
                  <a:lumMod val="50000"/>
                </a:schemeClr>
              </a:solidFill>
            </a:endParaRPr>
          </a:p>
        </p:txBody>
      </p:sp>
      <p:sp>
        <p:nvSpPr>
          <p:cNvPr id="17" name="직사각형 16">
            <a:extLst>
              <a:ext uri="{FF2B5EF4-FFF2-40B4-BE49-F238E27FC236}">
                <a16:creationId xmlns:a16="http://schemas.microsoft.com/office/drawing/2014/main" id="{93B2117D-4620-BC1B-D79C-8B698A570329}"/>
              </a:ext>
            </a:extLst>
          </p:cNvPr>
          <p:cNvSpPr/>
          <p:nvPr/>
        </p:nvSpPr>
        <p:spPr>
          <a:xfrm>
            <a:off x="6961393" y="3032789"/>
            <a:ext cx="2088232" cy="711019"/>
          </a:xfrm>
          <a:prstGeom prst="rect">
            <a:avLst/>
          </a:prstGeom>
          <a:solidFill>
            <a:schemeClr val="tx2">
              <a:lumMod val="20000"/>
              <a:lumOff val="80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a:solidFill>
                  <a:schemeClr val="bg1">
                    <a:lumMod val="50000"/>
                  </a:schemeClr>
                </a:solidFill>
              </a:rPr>
              <a:t>제한열거적</a:t>
            </a:r>
            <a:endParaRPr lang="ko-KR" altLang="en-US" dirty="0">
              <a:solidFill>
                <a:schemeClr val="bg1">
                  <a:lumMod val="50000"/>
                </a:schemeClr>
              </a:solidFill>
            </a:endParaRPr>
          </a:p>
        </p:txBody>
      </p:sp>
      <p:cxnSp>
        <p:nvCxnSpPr>
          <p:cNvPr id="18" name="직선 화살표 연결선 17">
            <a:extLst>
              <a:ext uri="{FF2B5EF4-FFF2-40B4-BE49-F238E27FC236}">
                <a16:creationId xmlns:a16="http://schemas.microsoft.com/office/drawing/2014/main" id="{4DAF2D6B-0652-91CA-0AA0-F993947DC636}"/>
              </a:ext>
            </a:extLst>
          </p:cNvPr>
          <p:cNvCxnSpPr>
            <a:cxnSpLocks/>
            <a:stCxn id="15" idx="3"/>
            <a:endCxn id="17" idx="1"/>
          </p:cNvCxnSpPr>
          <p:nvPr/>
        </p:nvCxnSpPr>
        <p:spPr>
          <a:xfrm flipV="1">
            <a:off x="4889185" y="3388299"/>
            <a:ext cx="2072208" cy="1597764"/>
          </a:xfrm>
          <a:prstGeom prst="straightConnector1">
            <a:avLst/>
          </a:prstGeom>
          <a:ln w="381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sp>
        <p:nvSpPr>
          <p:cNvPr id="20" name="TextBox 19">
            <a:extLst>
              <a:ext uri="{FF2B5EF4-FFF2-40B4-BE49-F238E27FC236}">
                <a16:creationId xmlns:a16="http://schemas.microsoft.com/office/drawing/2014/main" id="{45166C34-45E8-C3BD-BFAC-D5EB9D96C74D}"/>
              </a:ext>
            </a:extLst>
          </p:cNvPr>
          <p:cNvSpPr txBox="1"/>
          <p:nvPr/>
        </p:nvSpPr>
        <p:spPr>
          <a:xfrm>
            <a:off x="5932941" y="4445887"/>
            <a:ext cx="5238935" cy="461665"/>
          </a:xfrm>
          <a:prstGeom prst="rect">
            <a:avLst/>
          </a:prstGeom>
          <a:noFill/>
          <a:ln w="57150">
            <a:solidFill>
              <a:srgbClr val="FF0000"/>
            </a:solidFill>
          </a:ln>
        </p:spPr>
        <p:txBody>
          <a:bodyPr wrap="none" rtlCol="0">
            <a:spAutoFit/>
          </a:bodyPr>
          <a:lstStyle/>
          <a:p>
            <a:r>
              <a:rPr lang="ko-KR" altLang="en-US" sz="2400"/>
              <a:t>열거되지 않은 하자는 방식위반으로 취급</a:t>
            </a:r>
          </a:p>
        </p:txBody>
      </p:sp>
    </p:spTree>
    <p:extLst>
      <p:ext uri="{BB962C8B-B14F-4D97-AF65-F5344CB8AC3E}">
        <p14:creationId xmlns:p14="http://schemas.microsoft.com/office/powerpoint/2010/main" val="406148092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18</a:t>
            </a:r>
            <a:r>
              <a:rPr lang="ko-KR" altLang="en-US" dirty="0"/>
              <a:t>조</a:t>
            </a:r>
            <a:r>
              <a:rPr lang="en-US" altLang="ko-KR" dirty="0"/>
              <a:t>~</a:t>
            </a:r>
            <a:r>
              <a:rPr lang="ko-KR" altLang="en-US" dirty="0"/>
              <a:t>제</a:t>
            </a:r>
            <a:r>
              <a:rPr lang="en-US" altLang="ko-KR" dirty="0"/>
              <a:t>19</a:t>
            </a:r>
            <a:r>
              <a:rPr lang="ko-KR" altLang="en-US" dirty="0"/>
              <a:t>조</a:t>
            </a:r>
          </a:p>
        </p:txBody>
      </p:sp>
      <p:sp>
        <p:nvSpPr>
          <p:cNvPr id="4" name="텍스트 개체 틀 3"/>
          <p:cNvSpPr>
            <a:spLocks noGrp="1"/>
          </p:cNvSpPr>
          <p:nvPr>
            <p:ph type="body" sz="quarter" idx="13"/>
          </p:nvPr>
        </p:nvSpPr>
        <p:spPr/>
        <p:txBody>
          <a:bodyPr/>
          <a:lstStyle/>
          <a:p>
            <a:r>
              <a:rPr lang="ko-KR" altLang="en-US" dirty="0">
                <a:solidFill>
                  <a:srgbClr val="525252"/>
                </a:solidFill>
              </a:rPr>
              <a:t>절차의 효력의 승계 및 속행</a:t>
            </a:r>
          </a:p>
        </p:txBody>
      </p:sp>
      <p:sp>
        <p:nvSpPr>
          <p:cNvPr id="2" name="슬라이드 번호 개체 틀 1"/>
          <p:cNvSpPr>
            <a:spLocks noGrp="1"/>
          </p:cNvSpPr>
          <p:nvPr>
            <p:ph type="sldNum" sz="quarter" idx="4294967295"/>
          </p:nvPr>
        </p:nvSpPr>
        <p:spPr>
          <a:xfrm>
            <a:off x="11129963" y="0"/>
            <a:ext cx="1062037" cy="733425"/>
          </a:xfrm>
        </p:spPr>
        <p:txBody>
          <a:bodyPr/>
          <a:lstStyle/>
          <a:p>
            <a:fld id="{3875FC6C-1516-4DC4-8C58-3090F7D4F003}" type="slidenum">
              <a:rPr lang="ko-KR" altLang="en-US" smtClean="0"/>
              <a:t>41</a:t>
            </a:fld>
            <a:endParaRPr lang="ko-KR" altLang="en-US"/>
          </a:p>
        </p:txBody>
      </p:sp>
      <p:sp>
        <p:nvSpPr>
          <p:cNvPr id="49" name="직사각형 48">
            <a:extLst>
              <a:ext uri="{FF2B5EF4-FFF2-40B4-BE49-F238E27FC236}">
                <a16:creationId xmlns:a16="http://schemas.microsoft.com/office/drawing/2014/main" id="{6CFB3405-187B-46AB-AA75-78213D5A4AC2}"/>
              </a:ext>
            </a:extLst>
          </p:cNvPr>
          <p:cNvSpPr/>
          <p:nvPr/>
        </p:nvSpPr>
        <p:spPr>
          <a:xfrm>
            <a:off x="776852" y="3627613"/>
            <a:ext cx="1931784" cy="464548"/>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甲 설정등록</a:t>
            </a:r>
            <a:r>
              <a:rPr lang="en-US" altLang="ko-KR" sz="1600" dirty="0">
                <a:solidFill>
                  <a:schemeClr val="tx1"/>
                </a:solidFill>
              </a:rPr>
              <a:t>(X)</a:t>
            </a:r>
            <a:endParaRPr lang="en-US" altLang="ko-KR" sz="1200" dirty="0">
              <a:solidFill>
                <a:schemeClr val="tx1"/>
              </a:solidFill>
            </a:endParaRPr>
          </a:p>
        </p:txBody>
      </p:sp>
      <p:cxnSp>
        <p:nvCxnSpPr>
          <p:cNvPr id="74" name="직선 화살표 연결선 73">
            <a:extLst>
              <a:ext uri="{FF2B5EF4-FFF2-40B4-BE49-F238E27FC236}">
                <a16:creationId xmlns:a16="http://schemas.microsoft.com/office/drawing/2014/main" id="{C7CEA66F-CC31-494B-94D1-A0C7A9560391}"/>
              </a:ext>
            </a:extLst>
          </p:cNvPr>
          <p:cNvCxnSpPr>
            <a:cxnSpLocks/>
            <a:stCxn id="49" idx="3"/>
          </p:cNvCxnSpPr>
          <p:nvPr/>
        </p:nvCxnSpPr>
        <p:spPr>
          <a:xfrm>
            <a:off x="2708636" y="3859887"/>
            <a:ext cx="8171174" cy="0"/>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5" name="직사각형 74">
            <a:extLst>
              <a:ext uri="{FF2B5EF4-FFF2-40B4-BE49-F238E27FC236}">
                <a16:creationId xmlns:a16="http://schemas.microsoft.com/office/drawing/2014/main" id="{67C88E7B-4DC9-4AB2-93E8-AF10605B103D}"/>
              </a:ext>
            </a:extLst>
          </p:cNvPr>
          <p:cNvSpPr/>
          <p:nvPr/>
        </p:nvSpPr>
        <p:spPr>
          <a:xfrm>
            <a:off x="5436338" y="3627613"/>
            <a:ext cx="1931784" cy="464548"/>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甲</a:t>
            </a:r>
            <a:r>
              <a:rPr lang="en-US" altLang="ko-KR" sz="1600" dirty="0">
                <a:solidFill>
                  <a:schemeClr val="tx1"/>
                </a:solidFill>
              </a:rPr>
              <a:t>-</a:t>
            </a:r>
            <a:r>
              <a:rPr lang="ko-KR" altLang="en-US" sz="1600" dirty="0">
                <a:solidFill>
                  <a:schemeClr val="tx1"/>
                </a:solidFill>
              </a:rPr>
              <a:t>乙 이전</a:t>
            </a:r>
            <a:r>
              <a:rPr lang="en-US" altLang="ko-KR" sz="1600" dirty="0">
                <a:solidFill>
                  <a:schemeClr val="tx1"/>
                </a:solidFill>
              </a:rPr>
              <a:t>(X)</a:t>
            </a:r>
            <a:endParaRPr lang="en-US" altLang="ko-KR" sz="1200" dirty="0">
              <a:solidFill>
                <a:schemeClr val="tx1"/>
              </a:solidFill>
            </a:endParaRPr>
          </a:p>
        </p:txBody>
      </p:sp>
      <p:sp>
        <p:nvSpPr>
          <p:cNvPr id="76" name="직사각형 75">
            <a:extLst>
              <a:ext uri="{FF2B5EF4-FFF2-40B4-BE49-F238E27FC236}">
                <a16:creationId xmlns:a16="http://schemas.microsoft.com/office/drawing/2014/main" id="{B022D3BB-DE5F-4371-A90C-5365C6D1487B}"/>
              </a:ext>
            </a:extLst>
          </p:cNvPr>
          <p:cNvSpPr/>
          <p:nvPr/>
        </p:nvSpPr>
        <p:spPr>
          <a:xfrm>
            <a:off x="2977612" y="4201975"/>
            <a:ext cx="2458726" cy="703122"/>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丙이 甲을 피청구인으로 </a:t>
            </a:r>
            <a:endParaRPr lang="en-US" altLang="ko-KR" sz="1600" dirty="0">
              <a:solidFill>
                <a:schemeClr val="tx1"/>
              </a:solidFill>
            </a:endParaRPr>
          </a:p>
          <a:p>
            <a:pPr algn="ctr"/>
            <a:r>
              <a:rPr lang="ko-KR" altLang="en-US" sz="1600" dirty="0">
                <a:solidFill>
                  <a:schemeClr val="tx1"/>
                </a:solidFill>
              </a:rPr>
              <a:t>하여 무효심판청구</a:t>
            </a:r>
            <a:endParaRPr lang="en-US" altLang="ko-KR" sz="1200" dirty="0">
              <a:solidFill>
                <a:schemeClr val="tx1"/>
              </a:solidFill>
            </a:endParaRPr>
          </a:p>
        </p:txBody>
      </p:sp>
      <p:cxnSp>
        <p:nvCxnSpPr>
          <p:cNvPr id="8" name="직선 화살표 연결선 7">
            <a:extLst>
              <a:ext uri="{FF2B5EF4-FFF2-40B4-BE49-F238E27FC236}">
                <a16:creationId xmlns:a16="http://schemas.microsoft.com/office/drawing/2014/main" id="{5D82BFD8-8228-4152-AF24-04C3E06E2920}"/>
              </a:ext>
            </a:extLst>
          </p:cNvPr>
          <p:cNvCxnSpPr>
            <a:cxnSpLocks/>
            <a:stCxn id="76" idx="0"/>
          </p:cNvCxnSpPr>
          <p:nvPr/>
        </p:nvCxnSpPr>
        <p:spPr>
          <a:xfrm flipV="1">
            <a:off x="4206975" y="3859889"/>
            <a:ext cx="0" cy="342086"/>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7" name="사각형: 둥근 모서리 76">
            <a:extLst>
              <a:ext uri="{FF2B5EF4-FFF2-40B4-BE49-F238E27FC236}">
                <a16:creationId xmlns:a16="http://schemas.microsoft.com/office/drawing/2014/main" id="{6C0C0944-8773-46FE-8A10-40985404F074}"/>
              </a:ext>
            </a:extLst>
          </p:cNvPr>
          <p:cNvSpPr/>
          <p:nvPr/>
        </p:nvSpPr>
        <p:spPr>
          <a:xfrm>
            <a:off x="8134350" y="3627613"/>
            <a:ext cx="527896" cy="464548"/>
          </a:xfrm>
          <a:prstGeom prst="roundRect">
            <a:avLst>
              <a:gd name="adj" fmla="val 37756"/>
            </a:avLst>
          </a:prstGeom>
          <a:solidFill>
            <a:schemeClr val="tx2">
              <a:lumMod val="7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sz="2800" dirty="0">
                <a:solidFill>
                  <a:schemeClr val="accent4"/>
                </a:solidFill>
              </a:rPr>
              <a:t>1</a:t>
            </a:r>
            <a:endParaRPr lang="en-US" altLang="ko-KR" sz="2000" dirty="0">
              <a:solidFill>
                <a:schemeClr val="accent4"/>
              </a:solidFill>
            </a:endParaRPr>
          </a:p>
        </p:txBody>
      </p:sp>
      <p:sp>
        <p:nvSpPr>
          <p:cNvPr id="78" name="직사각형 77">
            <a:extLst>
              <a:ext uri="{FF2B5EF4-FFF2-40B4-BE49-F238E27FC236}">
                <a16:creationId xmlns:a16="http://schemas.microsoft.com/office/drawing/2014/main" id="{066C07F3-02A5-4B96-AE47-5784B6A0DB7C}"/>
              </a:ext>
            </a:extLst>
          </p:cNvPr>
          <p:cNvSpPr/>
          <p:nvPr/>
        </p:nvSpPr>
        <p:spPr>
          <a:xfrm>
            <a:off x="2225690" y="5877017"/>
            <a:ext cx="965892" cy="464548"/>
          </a:xfrm>
          <a:prstGeom prst="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이전</a:t>
            </a:r>
            <a:r>
              <a:rPr lang="en-US" altLang="ko-KR" sz="1600" dirty="0">
                <a:solidFill>
                  <a:schemeClr val="tx1"/>
                </a:solidFill>
              </a:rPr>
              <a:t>(X)</a:t>
            </a:r>
            <a:endParaRPr lang="en-US" altLang="ko-KR" sz="1200" dirty="0">
              <a:solidFill>
                <a:schemeClr val="tx1"/>
              </a:solidFill>
            </a:endParaRPr>
          </a:p>
        </p:txBody>
      </p:sp>
      <p:sp>
        <p:nvSpPr>
          <p:cNvPr id="79" name="직사각형 78">
            <a:extLst>
              <a:ext uri="{FF2B5EF4-FFF2-40B4-BE49-F238E27FC236}">
                <a16:creationId xmlns:a16="http://schemas.microsoft.com/office/drawing/2014/main" id="{3DE2EE3F-A1D1-446F-A9FA-C4B6C375CBC5}"/>
              </a:ext>
            </a:extLst>
          </p:cNvPr>
          <p:cNvSpPr/>
          <p:nvPr/>
        </p:nvSpPr>
        <p:spPr>
          <a:xfrm>
            <a:off x="3724028" y="5490760"/>
            <a:ext cx="2458725" cy="464548"/>
          </a:xfrm>
          <a:prstGeom prst="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양도</a:t>
            </a:r>
            <a:r>
              <a:rPr lang="en-US" altLang="ko-KR" sz="1600" dirty="0">
                <a:solidFill>
                  <a:schemeClr val="tx1"/>
                </a:solidFill>
              </a:rPr>
              <a:t>(X)</a:t>
            </a:r>
          </a:p>
          <a:p>
            <a:pPr algn="ctr"/>
            <a:r>
              <a:rPr lang="en-US" altLang="ko-KR" sz="1200" dirty="0">
                <a:solidFill>
                  <a:schemeClr val="tx1"/>
                </a:solidFill>
              </a:rPr>
              <a:t>(</a:t>
            </a:r>
            <a:r>
              <a:rPr lang="ko-KR" altLang="en-US" sz="1200" dirty="0">
                <a:solidFill>
                  <a:schemeClr val="tx1"/>
                </a:solidFill>
              </a:rPr>
              <a:t>이전등록시 효력발생</a:t>
            </a:r>
            <a:r>
              <a:rPr lang="en-US" altLang="ko-KR" sz="1200" dirty="0">
                <a:solidFill>
                  <a:schemeClr val="tx1"/>
                </a:solidFill>
              </a:rPr>
              <a:t>)</a:t>
            </a:r>
            <a:endParaRPr lang="en-US" altLang="ko-KR" sz="1050" dirty="0">
              <a:solidFill>
                <a:schemeClr val="tx1"/>
              </a:solidFill>
            </a:endParaRPr>
          </a:p>
        </p:txBody>
      </p:sp>
      <p:sp>
        <p:nvSpPr>
          <p:cNvPr id="80" name="직사각형 79">
            <a:extLst>
              <a:ext uri="{FF2B5EF4-FFF2-40B4-BE49-F238E27FC236}">
                <a16:creationId xmlns:a16="http://schemas.microsoft.com/office/drawing/2014/main" id="{DC45F392-B7C4-455F-91D5-367EB82B0454}"/>
              </a:ext>
            </a:extLst>
          </p:cNvPr>
          <p:cNvSpPr/>
          <p:nvPr/>
        </p:nvSpPr>
        <p:spPr>
          <a:xfrm>
            <a:off x="3724029" y="6268884"/>
            <a:ext cx="2458724" cy="464548"/>
          </a:xfrm>
          <a:prstGeom prst="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상속</a:t>
            </a:r>
            <a:r>
              <a:rPr lang="en-US" altLang="ko-KR" sz="1600" dirty="0">
                <a:solidFill>
                  <a:schemeClr val="tx1"/>
                </a:solidFill>
              </a:rPr>
              <a:t>(X)</a:t>
            </a:r>
          </a:p>
          <a:p>
            <a:pPr algn="ctr"/>
            <a:r>
              <a:rPr lang="en-US" altLang="ko-KR" sz="1200" dirty="0">
                <a:solidFill>
                  <a:schemeClr val="tx1"/>
                </a:solidFill>
              </a:rPr>
              <a:t>(</a:t>
            </a:r>
            <a:r>
              <a:rPr lang="ko-KR" altLang="en-US" sz="1200" dirty="0" err="1">
                <a:solidFill>
                  <a:schemeClr val="tx1"/>
                </a:solidFill>
              </a:rPr>
              <a:t>상속시</a:t>
            </a:r>
            <a:r>
              <a:rPr lang="ko-KR" altLang="en-US" sz="1200" dirty="0">
                <a:solidFill>
                  <a:schemeClr val="tx1"/>
                </a:solidFill>
              </a:rPr>
              <a:t> 효력발생</a:t>
            </a:r>
            <a:r>
              <a:rPr lang="en-US" altLang="ko-KR" sz="1200" dirty="0">
                <a:solidFill>
                  <a:schemeClr val="tx1"/>
                </a:solidFill>
              </a:rPr>
              <a:t>)</a:t>
            </a:r>
            <a:endParaRPr lang="en-US" altLang="ko-KR" sz="1050" dirty="0">
              <a:solidFill>
                <a:schemeClr val="tx1"/>
              </a:solidFill>
            </a:endParaRPr>
          </a:p>
        </p:txBody>
      </p:sp>
      <p:sp>
        <p:nvSpPr>
          <p:cNvPr id="15" name="직사각형 14">
            <a:extLst>
              <a:ext uri="{FF2B5EF4-FFF2-40B4-BE49-F238E27FC236}">
                <a16:creationId xmlns:a16="http://schemas.microsoft.com/office/drawing/2014/main" id="{1077AF12-EAA0-421A-A518-975607C4DE6B}"/>
              </a:ext>
            </a:extLst>
          </p:cNvPr>
          <p:cNvSpPr/>
          <p:nvPr/>
        </p:nvSpPr>
        <p:spPr>
          <a:xfrm>
            <a:off x="6265614" y="5361625"/>
            <a:ext cx="5544093" cy="748219"/>
          </a:xfrm>
          <a:prstGeom prst="rect">
            <a:avLst/>
          </a:prstGeom>
        </p:spPr>
        <p:txBody>
          <a:bodyPr wrap="square">
            <a:spAutoFit/>
          </a:bodyPr>
          <a:lstStyle/>
          <a:p>
            <a:pPr marL="139700" marR="17780" indent="-122238" algn="just" fontAlgn="base">
              <a:spcBef>
                <a:spcPts val="700"/>
              </a:spcBef>
            </a:pPr>
            <a:r>
              <a:rPr lang="en-US" altLang="ko-KR" sz="1400" kern="0" spc="-100" dirty="0">
                <a:solidFill>
                  <a:srgbClr val="000000"/>
                </a:solidFill>
                <a:latin typeface="Rix모던고딕 B" panose="02020603020101020101" pitchFamily="18" charset="-127"/>
                <a:ea typeface="Rix모던고딕 B" panose="02020603020101020101" pitchFamily="18" charset="-127"/>
              </a:rPr>
              <a:t>- </a:t>
            </a:r>
            <a:r>
              <a:rPr lang="ko-KR" altLang="en-US" sz="1400" kern="0" spc="-100" dirty="0">
                <a:solidFill>
                  <a:srgbClr val="000000"/>
                </a:solidFill>
                <a:latin typeface="Rix모던고딕 B" panose="02020603020101020101" pitchFamily="18" charset="-127"/>
                <a:ea typeface="Rix모던고딕 B" panose="02020603020101020101" pitchFamily="18" charset="-127"/>
              </a:rPr>
              <a:t>심판장은 乙을 피청구인으로 하여 절차를 속행하게 할 수도 있고</a:t>
            </a:r>
            <a:r>
              <a:rPr lang="en-US" altLang="ko-KR" sz="1400" kern="0" spc="-100" dirty="0">
                <a:solidFill>
                  <a:srgbClr val="000000"/>
                </a:solidFill>
                <a:latin typeface="Rix모던고딕 B" panose="02020603020101020101" pitchFamily="18" charset="-127"/>
                <a:ea typeface="Rix모던고딕 B" panose="02020603020101020101" pitchFamily="18" charset="-127"/>
              </a:rPr>
              <a:t>, </a:t>
            </a:r>
            <a:r>
              <a:rPr lang="ko-KR" altLang="en-US" sz="1400" kern="0" spc="-100" dirty="0">
                <a:solidFill>
                  <a:srgbClr val="000000"/>
                </a:solidFill>
                <a:latin typeface="Rix모던고딕 B" panose="02020603020101020101" pitchFamily="18" charset="-127"/>
                <a:ea typeface="Rix모던고딕 B" panose="02020603020101020101" pitchFamily="18" charset="-127"/>
              </a:rPr>
              <a:t>甲으로 하여금 계속 절차를 진행하게 할 수도 있다</a:t>
            </a:r>
            <a:r>
              <a:rPr lang="en-US" altLang="ko-KR" sz="1400" kern="0" spc="-100" dirty="0">
                <a:solidFill>
                  <a:srgbClr val="000000"/>
                </a:solidFill>
                <a:latin typeface="Rix모던고딕 B" panose="02020603020101020101" pitchFamily="18" charset="-127"/>
                <a:ea typeface="Rix모던고딕 B" panose="02020603020101020101" pitchFamily="18" charset="-127"/>
              </a:rPr>
              <a:t>(</a:t>
            </a:r>
            <a:r>
              <a:rPr lang="ko-KR" altLang="en-US" sz="1400" kern="0" spc="-100" dirty="0">
                <a:solidFill>
                  <a:srgbClr val="000000"/>
                </a:solidFill>
                <a:latin typeface="Rix모던고딕 B" panose="02020603020101020101" pitchFamily="18" charset="-127"/>
                <a:ea typeface="Rix모던고딕 B" panose="02020603020101020101" pitchFamily="18" charset="-127"/>
              </a:rPr>
              <a:t>法 </a:t>
            </a:r>
            <a:r>
              <a:rPr lang="en-US" altLang="ko-KR" sz="1400" kern="0" spc="-100" dirty="0">
                <a:solidFill>
                  <a:srgbClr val="000000"/>
                </a:solidFill>
                <a:latin typeface="Rix모던고딕 B" panose="02020603020101020101" pitchFamily="18" charset="-127"/>
                <a:ea typeface="Rix모던고딕 B" panose="02020603020101020101" pitchFamily="18" charset="-127"/>
              </a:rPr>
              <a:t>19). </a:t>
            </a:r>
          </a:p>
          <a:p>
            <a:pPr marL="93663" marR="17780" indent="-76200" algn="just" fontAlgn="base">
              <a:spcBef>
                <a:spcPts val="700"/>
              </a:spcBef>
            </a:pPr>
            <a:r>
              <a:rPr lang="en-US" altLang="ko-KR" sz="1400" kern="0" spc="-100" dirty="0">
                <a:solidFill>
                  <a:srgbClr val="000000"/>
                </a:solidFill>
                <a:latin typeface="Rix모던고딕 B" panose="02020603020101020101" pitchFamily="18" charset="-127"/>
                <a:ea typeface="Rix모던고딕 B" panose="02020603020101020101" pitchFamily="18" charset="-127"/>
              </a:rPr>
              <a:t>- </a:t>
            </a:r>
            <a:r>
              <a:rPr lang="ko-KR" altLang="en-US" sz="1400" kern="0" spc="-100" dirty="0">
                <a:solidFill>
                  <a:srgbClr val="000000"/>
                </a:solidFill>
                <a:latin typeface="Rix모던고딕 B" panose="02020603020101020101" pitchFamily="18" charset="-127"/>
                <a:ea typeface="Rix모던고딕 B" panose="02020603020101020101" pitchFamily="18" charset="-127"/>
              </a:rPr>
              <a:t>甲이 승계 전에 밟은 절차의 효력은 乙에게 미친다</a:t>
            </a:r>
            <a:r>
              <a:rPr lang="en-US" altLang="ko-KR" sz="1400" kern="0" spc="-100" dirty="0">
                <a:solidFill>
                  <a:srgbClr val="000000"/>
                </a:solidFill>
                <a:latin typeface="Rix모던고딕 B" panose="02020603020101020101" pitchFamily="18" charset="-127"/>
                <a:ea typeface="Rix모던고딕 B" panose="02020603020101020101" pitchFamily="18" charset="-127"/>
              </a:rPr>
              <a:t>(</a:t>
            </a:r>
            <a:r>
              <a:rPr lang="ko-KR" altLang="en-US" sz="1400" kern="0" spc="-100" dirty="0">
                <a:solidFill>
                  <a:srgbClr val="000000"/>
                </a:solidFill>
                <a:latin typeface="Rix모던고딕 B" panose="02020603020101020101" pitchFamily="18" charset="-127"/>
                <a:ea typeface="Rix모던고딕 B" panose="02020603020101020101" pitchFamily="18" charset="-127"/>
              </a:rPr>
              <a:t>法 </a:t>
            </a:r>
            <a:r>
              <a:rPr lang="en-US" altLang="ko-KR" sz="1400" kern="0" spc="-100" dirty="0">
                <a:solidFill>
                  <a:srgbClr val="000000"/>
                </a:solidFill>
                <a:latin typeface="Rix모던고딕 B" panose="02020603020101020101" pitchFamily="18" charset="-127"/>
                <a:ea typeface="Rix모던고딕 B" panose="02020603020101020101" pitchFamily="18" charset="-127"/>
              </a:rPr>
              <a:t>18).</a:t>
            </a:r>
            <a:endParaRPr lang="ko-KR" altLang="en-US" sz="1400" kern="0" dirty="0">
              <a:solidFill>
                <a:srgbClr val="000000"/>
              </a:solidFill>
              <a:latin typeface="Rix모던고딕 B" panose="02020603020101020101" pitchFamily="18" charset="-127"/>
              <a:ea typeface="Rix모던고딕 B" panose="02020603020101020101" pitchFamily="18" charset="-127"/>
            </a:endParaRPr>
          </a:p>
        </p:txBody>
      </p:sp>
      <p:cxnSp>
        <p:nvCxnSpPr>
          <p:cNvPr id="17" name="연결선: 꺾임 16">
            <a:extLst>
              <a:ext uri="{FF2B5EF4-FFF2-40B4-BE49-F238E27FC236}">
                <a16:creationId xmlns:a16="http://schemas.microsoft.com/office/drawing/2014/main" id="{D4159721-EDFA-4609-A3FB-6B0FE944B21A}"/>
              </a:ext>
            </a:extLst>
          </p:cNvPr>
          <p:cNvCxnSpPr>
            <a:stCxn id="78" idx="3"/>
            <a:endCxn id="79" idx="1"/>
          </p:cNvCxnSpPr>
          <p:nvPr/>
        </p:nvCxnSpPr>
        <p:spPr>
          <a:xfrm flipV="1">
            <a:off x="3191582" y="5723034"/>
            <a:ext cx="532446" cy="38625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연결선: 꺾임 19">
            <a:extLst>
              <a:ext uri="{FF2B5EF4-FFF2-40B4-BE49-F238E27FC236}">
                <a16:creationId xmlns:a16="http://schemas.microsoft.com/office/drawing/2014/main" id="{AD7F5B00-A123-4D47-95F7-49EB79D2800C}"/>
              </a:ext>
            </a:extLst>
          </p:cNvPr>
          <p:cNvCxnSpPr>
            <a:stCxn id="78" idx="3"/>
            <a:endCxn id="80" idx="1"/>
          </p:cNvCxnSpPr>
          <p:nvPr/>
        </p:nvCxnSpPr>
        <p:spPr>
          <a:xfrm>
            <a:off x="3191582" y="6109291"/>
            <a:ext cx="532447" cy="39186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연결선: 꺾임 22">
            <a:extLst>
              <a:ext uri="{FF2B5EF4-FFF2-40B4-BE49-F238E27FC236}">
                <a16:creationId xmlns:a16="http://schemas.microsoft.com/office/drawing/2014/main" id="{DCCD7039-8032-40E0-9178-C6EEAE8F2302}"/>
              </a:ext>
            </a:extLst>
          </p:cNvPr>
          <p:cNvCxnSpPr>
            <a:cxnSpLocks/>
            <a:endCxn id="78" idx="0"/>
          </p:cNvCxnSpPr>
          <p:nvPr/>
        </p:nvCxnSpPr>
        <p:spPr>
          <a:xfrm rot="5400000">
            <a:off x="4661039" y="2139758"/>
            <a:ext cx="1784856" cy="5689662"/>
          </a:xfrm>
          <a:prstGeom prst="bentConnector3">
            <a:avLst>
              <a:gd name="adj1" fmla="val 6067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1" name="직사각형 80">
            <a:extLst>
              <a:ext uri="{FF2B5EF4-FFF2-40B4-BE49-F238E27FC236}">
                <a16:creationId xmlns:a16="http://schemas.microsoft.com/office/drawing/2014/main" id="{B2FAEFDF-4939-4368-AF32-ECD122520AE3}"/>
              </a:ext>
            </a:extLst>
          </p:cNvPr>
          <p:cNvSpPr/>
          <p:nvPr/>
        </p:nvSpPr>
        <p:spPr>
          <a:xfrm>
            <a:off x="6265614" y="6392147"/>
            <a:ext cx="5544093" cy="277976"/>
          </a:xfrm>
          <a:prstGeom prst="rect">
            <a:avLst/>
          </a:prstGeom>
        </p:spPr>
        <p:txBody>
          <a:bodyPr wrap="square">
            <a:spAutoFit/>
          </a:bodyPr>
          <a:lstStyle/>
          <a:p>
            <a:pPr marL="139700" marR="17780" indent="-122238" algn="just" fontAlgn="base">
              <a:spcBef>
                <a:spcPts val="700"/>
              </a:spcBef>
            </a:pPr>
            <a:r>
              <a:rPr lang="en-US" altLang="ko-KR" sz="1400" kern="0" spc="-100" dirty="0">
                <a:solidFill>
                  <a:srgbClr val="000000"/>
                </a:solidFill>
                <a:latin typeface="Rix모던고딕 B" panose="02020603020101020101" pitchFamily="18" charset="-127"/>
                <a:ea typeface="Rix모던고딕 B" panose="02020603020101020101" pitchFamily="18" charset="-127"/>
              </a:rPr>
              <a:t>- </a:t>
            </a:r>
            <a:r>
              <a:rPr lang="ko-KR" altLang="en-US" sz="1400" kern="0" spc="-100" dirty="0">
                <a:solidFill>
                  <a:srgbClr val="000000"/>
                </a:solidFill>
                <a:latin typeface="Rix모던고딕 B" panose="02020603020101020101" pitchFamily="18" charset="-127"/>
                <a:ea typeface="Rix모던고딕 B" panose="02020603020101020101" pitchFamily="18" charset="-127"/>
              </a:rPr>
              <a:t>절차의</a:t>
            </a:r>
            <a:r>
              <a:rPr lang="en-US" altLang="ko-KR" sz="1400" kern="0" spc="-100" dirty="0">
                <a:solidFill>
                  <a:srgbClr val="000000"/>
                </a:solidFill>
                <a:latin typeface="Rix모던고딕 B" panose="02020603020101020101" pitchFamily="18" charset="-127"/>
                <a:ea typeface="Rix모던고딕 B" panose="02020603020101020101" pitchFamily="18" charset="-127"/>
              </a:rPr>
              <a:t> </a:t>
            </a:r>
            <a:r>
              <a:rPr lang="ko-KR" altLang="en-US" sz="1400" kern="0" spc="-100" dirty="0">
                <a:solidFill>
                  <a:srgbClr val="000000"/>
                </a:solidFill>
                <a:latin typeface="Rix모던고딕 B" panose="02020603020101020101" pitchFamily="18" charset="-127"/>
                <a:ea typeface="Rix모던고딕 B" panose="02020603020101020101" pitchFamily="18" charset="-127"/>
              </a:rPr>
              <a:t>중단 및 수계</a:t>
            </a:r>
            <a:r>
              <a:rPr lang="en-US" altLang="ko-KR" sz="1400" kern="0" spc="-100" dirty="0">
                <a:solidFill>
                  <a:srgbClr val="000000"/>
                </a:solidFill>
                <a:latin typeface="Rix모던고딕 B" panose="02020603020101020101" pitchFamily="18" charset="-127"/>
                <a:ea typeface="Rix모던고딕 B" panose="02020603020101020101" pitchFamily="18" charset="-127"/>
              </a:rPr>
              <a:t>(</a:t>
            </a:r>
            <a:r>
              <a:rPr lang="ko-KR" altLang="en-US" sz="1400" kern="0" spc="-100" dirty="0">
                <a:solidFill>
                  <a:srgbClr val="000000"/>
                </a:solidFill>
                <a:latin typeface="Rix모던고딕 B" panose="02020603020101020101" pitchFamily="18" charset="-127"/>
                <a:ea typeface="Rix모던고딕 B" panose="02020603020101020101" pitchFamily="18" charset="-127"/>
              </a:rPr>
              <a:t>法</a:t>
            </a:r>
            <a:r>
              <a:rPr lang="en-US" altLang="ko-KR" sz="1400" kern="0" spc="-100" dirty="0">
                <a:solidFill>
                  <a:srgbClr val="000000"/>
                </a:solidFill>
                <a:latin typeface="Rix모던고딕 B" panose="02020603020101020101" pitchFamily="18" charset="-127"/>
                <a:ea typeface="Rix모던고딕 B" panose="02020603020101020101" pitchFamily="18" charset="-127"/>
              </a:rPr>
              <a:t>20-22).</a:t>
            </a:r>
            <a:endParaRPr lang="ko-KR" altLang="en-US" sz="1400" kern="0" dirty="0">
              <a:solidFill>
                <a:srgbClr val="000000"/>
              </a:solidFill>
              <a:latin typeface="Rix모던고딕 B" panose="02020603020101020101" pitchFamily="18" charset="-127"/>
              <a:ea typeface="Rix모던고딕 B" panose="02020603020101020101" pitchFamily="18" charset="-127"/>
            </a:endParaRPr>
          </a:p>
        </p:txBody>
      </p:sp>
      <p:sp>
        <p:nvSpPr>
          <p:cNvPr id="22" name="모서리가 둥근 직사각형 10">
            <a:extLst>
              <a:ext uri="{FF2B5EF4-FFF2-40B4-BE49-F238E27FC236}">
                <a16:creationId xmlns:a16="http://schemas.microsoft.com/office/drawing/2014/main" id="{78BA9FE0-B90C-46C1-82A6-8BB581518DEC}"/>
              </a:ext>
            </a:extLst>
          </p:cNvPr>
          <p:cNvSpPr/>
          <p:nvPr/>
        </p:nvSpPr>
        <p:spPr bwMode="auto">
          <a:xfrm>
            <a:off x="378418" y="1002199"/>
            <a:ext cx="4981233" cy="313998"/>
          </a:xfrm>
          <a:prstGeom prst="roundRect">
            <a:avLst>
              <a:gd name="adj" fmla="val 50000"/>
            </a:avLst>
          </a:prstGeom>
          <a:ln>
            <a:headEnd type="none" w="med" len="med"/>
            <a:tailEnd type="none"/>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400" dirty="0"/>
              <a:t>대법원 </a:t>
            </a:r>
            <a:r>
              <a:rPr lang="en-US" altLang="ko-KR" sz="1400" dirty="0"/>
              <a:t>1967. 6. 27. </a:t>
            </a:r>
            <a:r>
              <a:rPr lang="ko-KR" altLang="en-US" sz="1400" dirty="0"/>
              <a:t>선고 </a:t>
            </a:r>
            <a:r>
              <a:rPr lang="en-US" altLang="ko-KR" sz="1400" dirty="0"/>
              <a:t>67</a:t>
            </a:r>
            <a:r>
              <a:rPr lang="ko-KR" altLang="en-US" sz="1400" dirty="0"/>
              <a:t>후</a:t>
            </a:r>
            <a:r>
              <a:rPr lang="en-US" altLang="ko-KR" sz="1400" dirty="0"/>
              <a:t>1 </a:t>
            </a:r>
            <a:r>
              <a:rPr lang="ko-KR" altLang="en-US" sz="1400" dirty="0"/>
              <a:t>판결 </a:t>
            </a:r>
            <a:r>
              <a:rPr lang="en-US" altLang="ko-KR" sz="1400" dirty="0"/>
              <a:t>【</a:t>
            </a:r>
            <a:r>
              <a:rPr lang="ko-KR" altLang="en-US" sz="1400" dirty="0"/>
              <a:t>실용신안등록무효</a:t>
            </a:r>
            <a:r>
              <a:rPr lang="en-US" altLang="ko-KR" sz="1400" dirty="0"/>
              <a:t>】</a:t>
            </a:r>
          </a:p>
        </p:txBody>
      </p:sp>
      <p:sp>
        <p:nvSpPr>
          <p:cNvPr id="24" name="직사각형 23">
            <a:extLst>
              <a:ext uri="{FF2B5EF4-FFF2-40B4-BE49-F238E27FC236}">
                <a16:creationId xmlns:a16="http://schemas.microsoft.com/office/drawing/2014/main" id="{087E7FE3-8E27-403A-9D0F-F5C3DE5B9A82}"/>
              </a:ext>
            </a:extLst>
          </p:cNvPr>
          <p:cNvSpPr/>
          <p:nvPr/>
        </p:nvSpPr>
        <p:spPr>
          <a:xfrm>
            <a:off x="232372" y="1469453"/>
            <a:ext cx="11681987" cy="830997"/>
          </a:xfrm>
          <a:prstGeom prst="rect">
            <a:avLst/>
          </a:prstGeom>
        </p:spPr>
        <p:txBody>
          <a:bodyPr wrap="square">
            <a:spAutoFit/>
          </a:bodyPr>
          <a:lstStyle/>
          <a:p>
            <a:pPr algn="just"/>
            <a:r>
              <a:rPr lang="ko-KR" altLang="en-US" sz="1200" dirty="0"/>
              <a:t>특허사건에 있어서의 당사자 적격에 관한 법리를 오해한 위법이 있는 사례</a:t>
            </a:r>
            <a:r>
              <a:rPr lang="en-US" altLang="ko-KR" sz="1200" dirty="0"/>
              <a:t>: </a:t>
            </a:r>
            <a:r>
              <a:rPr lang="ko-KR" altLang="en-US" sz="1200" dirty="0"/>
              <a:t>특허의 등록무효를 구하는 특허사건은 그가 가지고 있는 특허의 등록을 대상으로 하여 그 등록의 무효사유를 주장하여</a:t>
            </a:r>
            <a:r>
              <a:rPr lang="en-US" altLang="ko-KR" sz="1200" dirty="0"/>
              <a:t>, </a:t>
            </a:r>
            <a:r>
              <a:rPr lang="ko-KR" altLang="en-US" sz="1200" dirty="0"/>
              <a:t>이에 대한 심판을 구하는 것이니 만큼</a:t>
            </a:r>
            <a:r>
              <a:rPr lang="en-US" altLang="ko-KR" sz="1200" dirty="0"/>
              <a:t>, </a:t>
            </a:r>
            <a:r>
              <a:rPr lang="ko-KR" altLang="en-US" sz="1200" dirty="0"/>
              <a:t>심판청구인으로서는 그 등록이 존재하는 한 언제나 그 권리자를 상대로 같은 사유를 주장하여 무효심판을 구할 필요와 그 이익이 있는 것이라고 할 것임에 반하여 </a:t>
            </a:r>
            <a:r>
              <a:rPr lang="ko-KR" altLang="en-US" sz="1200" dirty="0">
                <a:highlight>
                  <a:srgbClr val="FFFF00"/>
                </a:highlight>
              </a:rPr>
              <a:t>특허법이나 민사소송법상 사건 계속 중</a:t>
            </a:r>
            <a:r>
              <a:rPr lang="en-US" altLang="ko-KR" sz="1200" dirty="0">
                <a:highlight>
                  <a:srgbClr val="FFFF00"/>
                </a:highlight>
              </a:rPr>
              <a:t>, </a:t>
            </a:r>
            <a:r>
              <a:rPr lang="ko-KR" altLang="en-US" sz="1200" dirty="0">
                <a:highlight>
                  <a:srgbClr val="FFFF00"/>
                </a:highlight>
              </a:rPr>
              <a:t>그 등록권리의 특별승계가 있는 경우 승계인으로 하여금 당사자의 지위를 당연히 승계케 하는 규정이 없으므로</a:t>
            </a:r>
            <a:r>
              <a:rPr lang="en-US" altLang="ko-KR" sz="1200" dirty="0">
                <a:highlight>
                  <a:srgbClr val="FFFF00"/>
                </a:highlight>
              </a:rPr>
              <a:t>, </a:t>
            </a:r>
            <a:r>
              <a:rPr lang="ko-KR" altLang="en-US" sz="1200" dirty="0">
                <a:highlight>
                  <a:srgbClr val="FFFF00"/>
                </a:highlight>
              </a:rPr>
              <a:t>등록무효심판 계속 중 피심판청구인이 그 등록권리를 제</a:t>
            </a:r>
            <a:r>
              <a:rPr lang="en-US" altLang="ko-KR" sz="1200" dirty="0">
                <a:highlight>
                  <a:srgbClr val="FFFF00"/>
                </a:highlight>
              </a:rPr>
              <a:t>3</a:t>
            </a:r>
            <a:r>
              <a:rPr lang="ko-KR" altLang="en-US" sz="1200" dirty="0">
                <a:highlight>
                  <a:srgbClr val="FFFF00"/>
                </a:highlight>
              </a:rPr>
              <a:t>자에게 이전하였다 하더라도 </a:t>
            </a:r>
            <a:r>
              <a:rPr lang="ko-KR" altLang="en-US" sz="1200" dirty="0" err="1">
                <a:highlight>
                  <a:srgbClr val="FFFF00"/>
                </a:highlight>
              </a:rPr>
              <a:t>당사자로서의</a:t>
            </a:r>
            <a:r>
              <a:rPr lang="ko-KR" altLang="en-US" sz="1200" dirty="0">
                <a:highlight>
                  <a:srgbClr val="FFFF00"/>
                </a:highlight>
              </a:rPr>
              <a:t> 지위에는 영향을 받지 아니한다</a:t>
            </a:r>
            <a:r>
              <a:rPr lang="en-US" altLang="ko-KR" sz="1200" dirty="0">
                <a:highlight>
                  <a:srgbClr val="FFFF00"/>
                </a:highlight>
              </a:rPr>
              <a:t>.</a:t>
            </a:r>
          </a:p>
        </p:txBody>
      </p:sp>
      <p:cxnSp>
        <p:nvCxnSpPr>
          <p:cNvPr id="25" name="직선 연결선 24">
            <a:extLst>
              <a:ext uri="{FF2B5EF4-FFF2-40B4-BE49-F238E27FC236}">
                <a16:creationId xmlns:a16="http://schemas.microsoft.com/office/drawing/2014/main" id="{3B400292-E1B4-4FE9-BE9B-8BBA2CF6FE1E}"/>
              </a:ext>
            </a:extLst>
          </p:cNvPr>
          <p:cNvCxnSpPr/>
          <p:nvPr/>
        </p:nvCxnSpPr>
        <p:spPr>
          <a:xfrm>
            <a:off x="0" y="2361307"/>
            <a:ext cx="12191999" cy="0"/>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6" name="모서리가 둥근 직사각형 10">
            <a:extLst>
              <a:ext uri="{FF2B5EF4-FFF2-40B4-BE49-F238E27FC236}">
                <a16:creationId xmlns:a16="http://schemas.microsoft.com/office/drawing/2014/main" id="{C6E07EBB-6F4B-49CC-A56E-EF892ACA6576}"/>
              </a:ext>
            </a:extLst>
          </p:cNvPr>
          <p:cNvSpPr/>
          <p:nvPr/>
        </p:nvSpPr>
        <p:spPr bwMode="auto">
          <a:xfrm>
            <a:off x="378418" y="2457027"/>
            <a:ext cx="4981233" cy="313998"/>
          </a:xfrm>
          <a:prstGeom prst="roundRect">
            <a:avLst>
              <a:gd name="adj" fmla="val 50000"/>
            </a:avLst>
          </a:prstGeom>
          <a:ln>
            <a:headEnd type="none" w="med" len="med"/>
            <a:tailEnd type="none"/>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400" dirty="0"/>
              <a:t>대법원 </a:t>
            </a:r>
            <a:r>
              <a:rPr lang="en-US" altLang="ko-KR" sz="1400" dirty="0"/>
              <a:t>1977. 12. 27. </a:t>
            </a:r>
            <a:r>
              <a:rPr lang="ko-KR" altLang="en-US" sz="1400" dirty="0"/>
              <a:t>선고 </a:t>
            </a:r>
            <a:r>
              <a:rPr lang="en-US" altLang="ko-KR" sz="1400" dirty="0"/>
              <a:t>76</a:t>
            </a:r>
            <a:r>
              <a:rPr lang="ko-KR" altLang="en-US" sz="1400" dirty="0"/>
              <a:t>후</a:t>
            </a:r>
            <a:r>
              <a:rPr lang="en-US" altLang="ko-KR" sz="1400" dirty="0"/>
              <a:t>33 </a:t>
            </a:r>
            <a:r>
              <a:rPr lang="ko-KR" altLang="en-US" sz="1400" dirty="0"/>
              <a:t>판결 </a:t>
            </a:r>
            <a:r>
              <a:rPr lang="en-US" altLang="ko-KR" sz="1400" dirty="0"/>
              <a:t>【</a:t>
            </a:r>
            <a:r>
              <a:rPr lang="ko-KR" altLang="en-US" sz="1400" dirty="0"/>
              <a:t>권리범위확인</a:t>
            </a:r>
            <a:r>
              <a:rPr lang="en-US" altLang="ko-KR" sz="1400" dirty="0"/>
              <a:t>】</a:t>
            </a:r>
          </a:p>
        </p:txBody>
      </p:sp>
      <p:sp>
        <p:nvSpPr>
          <p:cNvPr id="27" name="직사각형 26">
            <a:extLst>
              <a:ext uri="{FF2B5EF4-FFF2-40B4-BE49-F238E27FC236}">
                <a16:creationId xmlns:a16="http://schemas.microsoft.com/office/drawing/2014/main" id="{8649BCF4-2AA4-489A-B514-D6705C430B4F}"/>
              </a:ext>
            </a:extLst>
          </p:cNvPr>
          <p:cNvSpPr/>
          <p:nvPr/>
        </p:nvSpPr>
        <p:spPr>
          <a:xfrm>
            <a:off x="232372" y="2924281"/>
            <a:ext cx="11681987" cy="461665"/>
          </a:xfrm>
          <a:prstGeom prst="rect">
            <a:avLst/>
          </a:prstGeom>
        </p:spPr>
        <p:txBody>
          <a:bodyPr wrap="square">
            <a:spAutoFit/>
          </a:bodyPr>
          <a:lstStyle/>
          <a:p>
            <a:pPr algn="just"/>
            <a:r>
              <a:rPr lang="ko-KR" altLang="en-US" sz="1200" dirty="0"/>
              <a:t>실용신안권의 </a:t>
            </a:r>
            <a:r>
              <a:rPr lang="ko-KR" altLang="en-US" sz="1200" dirty="0" err="1"/>
              <a:t>권리범위확인심판청구인이</a:t>
            </a:r>
            <a:r>
              <a:rPr lang="ko-KR" altLang="en-US" sz="1200" dirty="0"/>
              <a:t> 그 심판 계속 중에 그 실용신안 물건의 제조판매영업권을 양도하였다 하더라도 본법상의 이해관계인임에는 변함이 없으므로 </a:t>
            </a:r>
            <a:r>
              <a:rPr lang="ko-KR" altLang="en-US" sz="1200" dirty="0">
                <a:highlight>
                  <a:srgbClr val="FFFF00"/>
                </a:highlight>
              </a:rPr>
              <a:t>심판청구인에 대한 </a:t>
            </a:r>
            <a:r>
              <a:rPr lang="ko-KR" altLang="en-US" sz="1200" dirty="0" err="1">
                <a:highlight>
                  <a:srgbClr val="FFFF00"/>
                </a:highlight>
              </a:rPr>
              <a:t>심결이나</a:t>
            </a:r>
            <a:r>
              <a:rPr lang="ko-KR" altLang="en-US" sz="1200" dirty="0">
                <a:highlight>
                  <a:srgbClr val="FFFF00"/>
                </a:highlight>
              </a:rPr>
              <a:t> 판결의 효력은 그 승계인에게도 미치는 것이므로 심판청구인은 종국에 이르기까지 당사자로서 자기 또는 승계인을 위하여 </a:t>
            </a:r>
            <a:r>
              <a:rPr lang="ko-KR" altLang="en-US" sz="1200" dirty="0" err="1">
                <a:highlight>
                  <a:srgbClr val="FFFF00"/>
                </a:highlight>
              </a:rPr>
              <a:t>행위할</a:t>
            </a:r>
            <a:r>
              <a:rPr lang="ko-KR" altLang="en-US" sz="1200" dirty="0">
                <a:highlight>
                  <a:srgbClr val="FFFF00"/>
                </a:highlight>
              </a:rPr>
              <a:t> 당사자 적격을 가진다</a:t>
            </a:r>
            <a:r>
              <a:rPr lang="en-US" altLang="ko-KR" sz="1200" dirty="0">
                <a:highlight>
                  <a:srgbClr val="FFFF00"/>
                </a:highlight>
              </a:rPr>
              <a:t>.</a:t>
            </a:r>
          </a:p>
        </p:txBody>
      </p:sp>
      <p:cxnSp>
        <p:nvCxnSpPr>
          <p:cNvPr id="28" name="직선 연결선 27">
            <a:extLst>
              <a:ext uri="{FF2B5EF4-FFF2-40B4-BE49-F238E27FC236}">
                <a16:creationId xmlns:a16="http://schemas.microsoft.com/office/drawing/2014/main" id="{DFD9487E-7B7E-45CA-93C4-C41ED4FBD92C}"/>
              </a:ext>
            </a:extLst>
          </p:cNvPr>
          <p:cNvCxnSpPr/>
          <p:nvPr/>
        </p:nvCxnSpPr>
        <p:spPr>
          <a:xfrm>
            <a:off x="0" y="3452624"/>
            <a:ext cx="12191999" cy="0"/>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08106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 name="직사각형 117"/>
          <p:cNvSpPr/>
          <p:nvPr/>
        </p:nvSpPr>
        <p:spPr>
          <a:xfrm>
            <a:off x="3009900" y="1520168"/>
            <a:ext cx="1358900" cy="3140732"/>
          </a:xfrm>
          <a:prstGeom prst="rect">
            <a:avLst/>
          </a:prstGeom>
          <a:noFill/>
          <a:ln w="28575">
            <a:solidFill>
              <a:schemeClr val="accent2">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 name="제목 2"/>
          <p:cNvSpPr>
            <a:spLocks noGrp="1"/>
          </p:cNvSpPr>
          <p:nvPr>
            <p:ph type="title"/>
          </p:nvPr>
        </p:nvSpPr>
        <p:spPr/>
        <p:txBody>
          <a:bodyPr/>
          <a:lstStyle/>
          <a:p>
            <a:r>
              <a:rPr lang="ko-KR" altLang="en-US" dirty="0"/>
              <a:t>제</a:t>
            </a:r>
            <a:r>
              <a:rPr lang="en-US" altLang="ko-KR" dirty="0"/>
              <a:t>20</a:t>
            </a:r>
            <a:r>
              <a:rPr lang="ko-KR" altLang="en-US" dirty="0"/>
              <a:t>조</a:t>
            </a:r>
            <a:r>
              <a:rPr lang="en-US" altLang="ko-KR" dirty="0"/>
              <a:t>~</a:t>
            </a:r>
            <a:r>
              <a:rPr lang="ko-KR" altLang="en-US" dirty="0"/>
              <a:t>제</a:t>
            </a:r>
            <a:r>
              <a:rPr lang="en-US" altLang="ko-KR" dirty="0"/>
              <a:t>24</a:t>
            </a:r>
            <a:r>
              <a:rPr lang="ko-KR" altLang="en-US" dirty="0"/>
              <a:t>조</a:t>
            </a:r>
          </a:p>
        </p:txBody>
      </p:sp>
      <p:sp>
        <p:nvSpPr>
          <p:cNvPr id="4" name="텍스트 개체 틀 3"/>
          <p:cNvSpPr>
            <a:spLocks noGrp="1"/>
          </p:cNvSpPr>
          <p:nvPr>
            <p:ph type="body" sz="quarter" idx="13"/>
          </p:nvPr>
        </p:nvSpPr>
        <p:spPr/>
        <p:txBody>
          <a:bodyPr/>
          <a:lstStyle/>
          <a:p>
            <a:r>
              <a:rPr lang="ko-KR" altLang="en-US" dirty="0"/>
              <a:t>절차의 정지</a:t>
            </a:r>
          </a:p>
        </p:txBody>
      </p:sp>
      <p:sp>
        <p:nvSpPr>
          <p:cNvPr id="49" name="직사각형 48"/>
          <p:cNvSpPr/>
          <p:nvPr/>
        </p:nvSpPr>
        <p:spPr>
          <a:xfrm>
            <a:off x="1282699" y="2094381"/>
            <a:ext cx="1349189"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중단</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당사자 교체 ○ </a:t>
            </a:r>
            <a:r>
              <a:rPr lang="en-US" altLang="ko-KR" sz="1200" dirty="0">
                <a:solidFill>
                  <a:schemeClr val="accent2"/>
                </a:solidFill>
              </a:rPr>
              <a:t>)</a:t>
            </a:r>
            <a:endParaRPr lang="ko-KR" altLang="en-US" sz="1200" dirty="0">
              <a:solidFill>
                <a:schemeClr val="accent2"/>
              </a:solidFill>
            </a:endParaRPr>
          </a:p>
        </p:txBody>
      </p:sp>
      <p:sp>
        <p:nvSpPr>
          <p:cNvPr id="74" name="직사각형 73"/>
          <p:cNvSpPr/>
          <p:nvPr/>
        </p:nvSpPr>
        <p:spPr>
          <a:xfrm>
            <a:off x="1282699" y="3751731"/>
            <a:ext cx="1349189"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중지</a:t>
            </a:r>
            <a:endParaRPr lang="en-US" altLang="ko-KR" sz="1200" dirty="0">
              <a:solidFill>
                <a:schemeClr val="tx1"/>
              </a:solidFill>
            </a:endParaRPr>
          </a:p>
          <a:p>
            <a:pPr algn="ctr"/>
            <a:r>
              <a:rPr lang="en-US" altLang="ko-KR" sz="1200" dirty="0">
                <a:solidFill>
                  <a:schemeClr val="accent2"/>
                </a:solidFill>
              </a:rPr>
              <a:t>(</a:t>
            </a:r>
            <a:r>
              <a:rPr lang="ko-KR" altLang="en-US" sz="1200" dirty="0">
                <a:solidFill>
                  <a:schemeClr val="accent2"/>
                </a:solidFill>
              </a:rPr>
              <a:t>당사자 교체 </a:t>
            </a:r>
            <a:r>
              <a:rPr lang="en-US" altLang="ko-KR" sz="1200" dirty="0">
                <a:solidFill>
                  <a:schemeClr val="accent2"/>
                </a:solidFill>
              </a:rPr>
              <a:t>×)</a:t>
            </a:r>
            <a:endParaRPr lang="ko-KR" altLang="en-US" sz="1200" dirty="0">
              <a:solidFill>
                <a:schemeClr val="accent2"/>
              </a:solidFill>
            </a:endParaRPr>
          </a:p>
        </p:txBody>
      </p:sp>
      <p:cxnSp>
        <p:nvCxnSpPr>
          <p:cNvPr id="75" name="꺾인 연결선 74"/>
          <p:cNvCxnSpPr>
            <a:stCxn id="49" idx="3"/>
            <a:endCxn id="80" idx="1"/>
          </p:cNvCxnSpPr>
          <p:nvPr/>
        </p:nvCxnSpPr>
        <p:spPr>
          <a:xfrm>
            <a:off x="2631888" y="2351556"/>
            <a:ext cx="484651" cy="261090"/>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6" name="꺾인 연결선 75"/>
          <p:cNvCxnSpPr>
            <a:stCxn id="49" idx="3"/>
            <a:endCxn id="79" idx="1"/>
          </p:cNvCxnSpPr>
          <p:nvPr/>
        </p:nvCxnSpPr>
        <p:spPr>
          <a:xfrm flipV="1">
            <a:off x="2631888" y="2047664"/>
            <a:ext cx="484651" cy="303892"/>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꺾인 연결선 76"/>
          <p:cNvCxnSpPr>
            <a:stCxn id="74" idx="3"/>
            <a:endCxn id="82" idx="1"/>
          </p:cNvCxnSpPr>
          <p:nvPr/>
        </p:nvCxnSpPr>
        <p:spPr>
          <a:xfrm>
            <a:off x="2631888" y="4008906"/>
            <a:ext cx="484651" cy="320721"/>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꺾인 연결선 77"/>
          <p:cNvCxnSpPr>
            <a:stCxn id="74" idx="3"/>
            <a:endCxn id="81" idx="1"/>
          </p:cNvCxnSpPr>
          <p:nvPr/>
        </p:nvCxnSpPr>
        <p:spPr>
          <a:xfrm flipV="1">
            <a:off x="2631888" y="3751945"/>
            <a:ext cx="484651" cy="256961"/>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9" name="직사각형 78"/>
          <p:cNvSpPr/>
          <p:nvPr/>
        </p:nvSpPr>
        <p:spPr>
          <a:xfrm>
            <a:off x="3116539" y="1868177"/>
            <a:ext cx="1163361" cy="358974"/>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당연중단</a:t>
            </a:r>
            <a:r>
              <a:rPr lang="ko-KR" altLang="en-US" sz="1200" dirty="0">
                <a:solidFill>
                  <a:schemeClr val="tx1"/>
                </a:solidFill>
              </a:rPr>
              <a:t> ○</a:t>
            </a:r>
            <a:endParaRPr lang="en-US" altLang="ko-KR" sz="1200" dirty="0">
              <a:solidFill>
                <a:schemeClr val="tx1"/>
              </a:solidFill>
            </a:endParaRPr>
          </a:p>
        </p:txBody>
      </p:sp>
      <p:sp>
        <p:nvSpPr>
          <p:cNvPr id="80" name="직사각형 79"/>
          <p:cNvSpPr/>
          <p:nvPr/>
        </p:nvSpPr>
        <p:spPr>
          <a:xfrm>
            <a:off x="3116539" y="2433159"/>
            <a:ext cx="1163361" cy="358974"/>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결정중단</a:t>
            </a:r>
            <a:r>
              <a:rPr lang="ko-KR" altLang="en-US" sz="1200" dirty="0">
                <a:solidFill>
                  <a:schemeClr val="tx1"/>
                </a:solidFill>
              </a:rPr>
              <a:t> </a:t>
            </a:r>
            <a:r>
              <a:rPr lang="en-US" altLang="ko-KR" sz="1200" dirty="0">
                <a:solidFill>
                  <a:schemeClr val="tx1"/>
                </a:solidFill>
              </a:rPr>
              <a:t>× </a:t>
            </a:r>
          </a:p>
        </p:txBody>
      </p:sp>
      <p:sp>
        <p:nvSpPr>
          <p:cNvPr id="81" name="직사각형 80"/>
          <p:cNvSpPr/>
          <p:nvPr/>
        </p:nvSpPr>
        <p:spPr>
          <a:xfrm>
            <a:off x="3116539" y="3572458"/>
            <a:ext cx="1163361" cy="358974"/>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당연중지</a:t>
            </a:r>
            <a:r>
              <a:rPr lang="ko-KR" altLang="en-US" sz="1200" dirty="0">
                <a:solidFill>
                  <a:schemeClr val="tx1"/>
                </a:solidFill>
              </a:rPr>
              <a:t> ○</a:t>
            </a:r>
            <a:endParaRPr lang="en-US" altLang="ko-KR" sz="1200" dirty="0">
              <a:solidFill>
                <a:schemeClr val="tx1"/>
              </a:solidFill>
            </a:endParaRPr>
          </a:p>
        </p:txBody>
      </p:sp>
      <p:sp>
        <p:nvSpPr>
          <p:cNvPr id="82" name="직사각형 81"/>
          <p:cNvSpPr/>
          <p:nvPr/>
        </p:nvSpPr>
        <p:spPr>
          <a:xfrm>
            <a:off x="3116539" y="4150140"/>
            <a:ext cx="1163361" cy="358974"/>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결정중지</a:t>
            </a:r>
            <a:r>
              <a:rPr lang="ko-KR" altLang="en-US" sz="1200" dirty="0">
                <a:solidFill>
                  <a:schemeClr val="tx1"/>
                </a:solidFill>
              </a:rPr>
              <a:t> ○</a:t>
            </a:r>
            <a:endParaRPr lang="en-US" altLang="ko-KR" sz="1200" dirty="0">
              <a:solidFill>
                <a:schemeClr val="tx1"/>
              </a:solidFill>
            </a:endParaRPr>
          </a:p>
        </p:txBody>
      </p:sp>
      <p:sp>
        <p:nvSpPr>
          <p:cNvPr id="84" name="직사각형 83"/>
          <p:cNvSpPr/>
          <p:nvPr/>
        </p:nvSpPr>
        <p:spPr>
          <a:xfrm>
            <a:off x="4574051" y="1337258"/>
            <a:ext cx="2144250" cy="36581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중단사유</a:t>
            </a:r>
            <a:r>
              <a:rPr lang="en-US" altLang="ko-KR" sz="1200" dirty="0">
                <a:solidFill>
                  <a:schemeClr val="tx1"/>
                </a:solidFill>
              </a:rPr>
              <a:t>(</a:t>
            </a:r>
            <a:r>
              <a:rPr lang="ko-KR" altLang="en-US" sz="1200" dirty="0">
                <a:solidFill>
                  <a:schemeClr val="tx1"/>
                </a:solidFill>
              </a:rPr>
              <a:t>法 </a:t>
            </a:r>
            <a:r>
              <a:rPr lang="en-US" altLang="ko-KR" sz="1200" dirty="0">
                <a:solidFill>
                  <a:schemeClr val="tx1"/>
                </a:solidFill>
              </a:rPr>
              <a:t>20)</a:t>
            </a:r>
          </a:p>
        </p:txBody>
      </p:sp>
      <p:cxnSp>
        <p:nvCxnSpPr>
          <p:cNvPr id="87" name="꺾인 연결선 86"/>
          <p:cNvCxnSpPr>
            <a:stCxn id="49" idx="1"/>
            <a:endCxn id="74" idx="1"/>
          </p:cNvCxnSpPr>
          <p:nvPr/>
        </p:nvCxnSpPr>
        <p:spPr>
          <a:xfrm rot="10800000" flipV="1">
            <a:off x="1282699" y="2351556"/>
            <a:ext cx="12700" cy="1657350"/>
          </a:xfrm>
          <a:prstGeom prst="bentConnector3">
            <a:avLst>
              <a:gd name="adj1" fmla="val 180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92" name="직사각형 91"/>
          <p:cNvSpPr/>
          <p:nvPr/>
        </p:nvSpPr>
        <p:spPr>
          <a:xfrm>
            <a:off x="4574051" y="1874569"/>
            <a:ext cx="2144250" cy="36581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수계자</a:t>
            </a:r>
            <a:r>
              <a:rPr lang="en-US" altLang="ko-KR" sz="1200" dirty="0">
                <a:solidFill>
                  <a:schemeClr val="tx1"/>
                </a:solidFill>
              </a:rPr>
              <a:t>(</a:t>
            </a:r>
            <a:r>
              <a:rPr lang="ko-KR" altLang="en-US" sz="1200" dirty="0">
                <a:solidFill>
                  <a:schemeClr val="tx1"/>
                </a:solidFill>
              </a:rPr>
              <a:t>法 </a:t>
            </a:r>
            <a:r>
              <a:rPr lang="en-US" altLang="ko-KR" sz="1200" dirty="0">
                <a:solidFill>
                  <a:schemeClr val="tx1"/>
                </a:solidFill>
              </a:rPr>
              <a:t>21)</a:t>
            </a:r>
          </a:p>
        </p:txBody>
      </p:sp>
      <p:sp>
        <p:nvSpPr>
          <p:cNvPr id="93" name="직사각형 92"/>
          <p:cNvSpPr/>
          <p:nvPr/>
        </p:nvSpPr>
        <p:spPr>
          <a:xfrm>
            <a:off x="4574051" y="2413614"/>
            <a:ext cx="2144250" cy="36581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수계방법</a:t>
            </a:r>
            <a:r>
              <a:rPr lang="en-US" altLang="ko-KR" sz="1200" dirty="0">
                <a:solidFill>
                  <a:schemeClr val="tx1"/>
                </a:solidFill>
              </a:rPr>
              <a:t>(</a:t>
            </a:r>
            <a:r>
              <a:rPr lang="ko-KR" altLang="en-US" sz="1200" dirty="0">
                <a:solidFill>
                  <a:schemeClr val="tx1"/>
                </a:solidFill>
              </a:rPr>
              <a:t>法 </a:t>
            </a:r>
            <a:r>
              <a:rPr lang="en-US" altLang="ko-KR" sz="1200" dirty="0">
                <a:solidFill>
                  <a:schemeClr val="tx1"/>
                </a:solidFill>
              </a:rPr>
              <a:t>22)</a:t>
            </a:r>
          </a:p>
        </p:txBody>
      </p:sp>
      <p:sp>
        <p:nvSpPr>
          <p:cNvPr id="94" name="직사각형 93"/>
          <p:cNvSpPr/>
          <p:nvPr/>
        </p:nvSpPr>
        <p:spPr>
          <a:xfrm>
            <a:off x="4574051" y="3566150"/>
            <a:ext cx="2144250" cy="36581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당연중지</a:t>
            </a:r>
            <a:r>
              <a:rPr lang="ko-KR" altLang="en-US" sz="1200" dirty="0">
                <a:solidFill>
                  <a:schemeClr val="tx1"/>
                </a:solidFill>
              </a:rPr>
              <a:t> 및 해소</a:t>
            </a:r>
            <a:r>
              <a:rPr lang="en-US" altLang="ko-KR" sz="1200" dirty="0">
                <a:solidFill>
                  <a:schemeClr val="tx1"/>
                </a:solidFill>
              </a:rPr>
              <a:t>(</a:t>
            </a:r>
            <a:r>
              <a:rPr lang="ko-KR" altLang="en-US" sz="1200" dirty="0">
                <a:solidFill>
                  <a:schemeClr val="tx1"/>
                </a:solidFill>
              </a:rPr>
              <a:t>法 </a:t>
            </a:r>
            <a:r>
              <a:rPr lang="en-US" altLang="ko-KR" sz="1200" dirty="0">
                <a:solidFill>
                  <a:schemeClr val="tx1"/>
                </a:solidFill>
              </a:rPr>
              <a:t>23①④)</a:t>
            </a:r>
          </a:p>
        </p:txBody>
      </p:sp>
      <p:sp>
        <p:nvSpPr>
          <p:cNvPr id="95" name="직사각형 94"/>
          <p:cNvSpPr/>
          <p:nvPr/>
        </p:nvSpPr>
        <p:spPr>
          <a:xfrm>
            <a:off x="4574051" y="4143832"/>
            <a:ext cx="2144250" cy="36581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err="1">
                <a:solidFill>
                  <a:schemeClr val="tx1"/>
                </a:solidFill>
              </a:rPr>
              <a:t>결정중지</a:t>
            </a:r>
            <a:r>
              <a:rPr lang="en-US" altLang="ko-KR" sz="1200" dirty="0">
                <a:solidFill>
                  <a:schemeClr val="tx1"/>
                </a:solidFill>
              </a:rPr>
              <a:t> </a:t>
            </a:r>
            <a:r>
              <a:rPr lang="ko-KR" altLang="en-US" sz="1200" dirty="0">
                <a:solidFill>
                  <a:schemeClr val="tx1"/>
                </a:solidFill>
              </a:rPr>
              <a:t>및 해소</a:t>
            </a:r>
            <a:r>
              <a:rPr lang="en-US" altLang="ko-KR" sz="1200" dirty="0">
                <a:solidFill>
                  <a:schemeClr val="tx1"/>
                </a:solidFill>
              </a:rPr>
              <a:t>(</a:t>
            </a:r>
            <a:r>
              <a:rPr lang="ko-KR" altLang="en-US" sz="1200" dirty="0">
                <a:solidFill>
                  <a:schemeClr val="tx1"/>
                </a:solidFill>
              </a:rPr>
              <a:t>法 </a:t>
            </a:r>
            <a:r>
              <a:rPr lang="en-US" altLang="ko-KR" sz="1200" dirty="0">
                <a:solidFill>
                  <a:schemeClr val="tx1"/>
                </a:solidFill>
              </a:rPr>
              <a:t>23②③④)</a:t>
            </a:r>
          </a:p>
        </p:txBody>
      </p:sp>
      <p:sp>
        <p:nvSpPr>
          <p:cNvPr id="96" name="직사각형 95"/>
          <p:cNvSpPr/>
          <p:nvPr/>
        </p:nvSpPr>
        <p:spPr>
          <a:xfrm>
            <a:off x="6948950" y="2413614"/>
            <a:ext cx="2360149" cy="36581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신청에 의한 수계</a:t>
            </a:r>
            <a:r>
              <a:rPr lang="en-US" altLang="ko-KR" sz="1200" dirty="0">
                <a:solidFill>
                  <a:schemeClr val="tx1"/>
                </a:solidFill>
              </a:rPr>
              <a:t>(</a:t>
            </a:r>
            <a:r>
              <a:rPr lang="ko-KR" altLang="en-US" sz="1200" dirty="0">
                <a:solidFill>
                  <a:schemeClr val="tx1"/>
                </a:solidFill>
              </a:rPr>
              <a:t>法 </a:t>
            </a:r>
            <a:r>
              <a:rPr lang="en-US" altLang="ko-KR" sz="1200" dirty="0">
                <a:solidFill>
                  <a:schemeClr val="tx1"/>
                </a:solidFill>
              </a:rPr>
              <a:t>22①②③④)</a:t>
            </a:r>
          </a:p>
        </p:txBody>
      </p:sp>
      <p:sp>
        <p:nvSpPr>
          <p:cNvPr id="97" name="직사각형 96"/>
          <p:cNvSpPr/>
          <p:nvPr/>
        </p:nvSpPr>
        <p:spPr>
          <a:xfrm>
            <a:off x="6948950" y="2997321"/>
            <a:ext cx="2360149" cy="365819"/>
          </a:xfrm>
          <a:prstGeom prst="rect">
            <a:avLst/>
          </a:prstGeom>
          <a:solidFill>
            <a:schemeClr val="bg1"/>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200" dirty="0">
                <a:solidFill>
                  <a:schemeClr val="tx1"/>
                </a:solidFill>
              </a:rPr>
              <a:t>명령에 의한 수계</a:t>
            </a:r>
            <a:r>
              <a:rPr lang="en-US" altLang="ko-KR" sz="1200" dirty="0">
                <a:solidFill>
                  <a:schemeClr val="tx1"/>
                </a:solidFill>
              </a:rPr>
              <a:t>(</a:t>
            </a:r>
            <a:r>
              <a:rPr lang="ko-KR" altLang="en-US" sz="1200" dirty="0">
                <a:solidFill>
                  <a:schemeClr val="tx1"/>
                </a:solidFill>
              </a:rPr>
              <a:t>法 </a:t>
            </a:r>
            <a:r>
              <a:rPr lang="en-US" altLang="ko-KR" sz="1200" dirty="0">
                <a:solidFill>
                  <a:schemeClr val="tx1"/>
                </a:solidFill>
              </a:rPr>
              <a:t>22⑤⑥⑦)</a:t>
            </a:r>
          </a:p>
        </p:txBody>
      </p:sp>
      <p:cxnSp>
        <p:nvCxnSpPr>
          <p:cNvPr id="41" name="꺾인 연결선 40"/>
          <p:cNvCxnSpPr>
            <a:stCxn id="79" idx="3"/>
            <a:endCxn id="84" idx="1"/>
          </p:cNvCxnSpPr>
          <p:nvPr/>
        </p:nvCxnSpPr>
        <p:spPr>
          <a:xfrm flipV="1">
            <a:off x="4279900" y="1520168"/>
            <a:ext cx="294151" cy="527496"/>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5" name="꺾인 연결선 44"/>
          <p:cNvCxnSpPr>
            <a:stCxn id="79" idx="3"/>
            <a:endCxn id="93" idx="1"/>
          </p:cNvCxnSpPr>
          <p:nvPr/>
        </p:nvCxnSpPr>
        <p:spPr>
          <a:xfrm>
            <a:off x="4279900" y="2047664"/>
            <a:ext cx="294151" cy="548860"/>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꺾인 연결선 98"/>
          <p:cNvCxnSpPr>
            <a:stCxn id="79" idx="3"/>
            <a:endCxn id="92" idx="1"/>
          </p:cNvCxnSpPr>
          <p:nvPr/>
        </p:nvCxnSpPr>
        <p:spPr>
          <a:xfrm>
            <a:off x="4279900" y="2047664"/>
            <a:ext cx="294151" cy="981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1" name="꺾인 연결선 110"/>
          <p:cNvCxnSpPr>
            <a:stCxn id="81" idx="3"/>
            <a:endCxn id="94" idx="1"/>
          </p:cNvCxnSpPr>
          <p:nvPr/>
        </p:nvCxnSpPr>
        <p:spPr>
          <a:xfrm flipV="1">
            <a:off x="4279900" y="3749060"/>
            <a:ext cx="294151" cy="288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3" name="꺾인 연결선 112"/>
          <p:cNvCxnSpPr>
            <a:stCxn id="82" idx="3"/>
            <a:endCxn id="95" idx="1"/>
          </p:cNvCxnSpPr>
          <p:nvPr/>
        </p:nvCxnSpPr>
        <p:spPr>
          <a:xfrm flipV="1">
            <a:off x="4279900" y="4326742"/>
            <a:ext cx="294151" cy="288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5" name="꺾인 연결선 114"/>
          <p:cNvCxnSpPr>
            <a:stCxn id="93" idx="3"/>
            <a:endCxn id="97" idx="1"/>
          </p:cNvCxnSpPr>
          <p:nvPr/>
        </p:nvCxnSpPr>
        <p:spPr>
          <a:xfrm>
            <a:off x="6718301" y="2596524"/>
            <a:ext cx="230649" cy="58370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17" name="직선 연결선 116"/>
          <p:cNvCxnSpPr>
            <a:stCxn id="93" idx="3"/>
            <a:endCxn id="96" idx="1"/>
          </p:cNvCxnSpPr>
          <p:nvPr/>
        </p:nvCxnSpPr>
        <p:spPr>
          <a:xfrm>
            <a:off x="6718301" y="2596524"/>
            <a:ext cx="230649" cy="0"/>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119" name="표 118"/>
          <p:cNvGraphicFramePr>
            <a:graphicFrameLocks noGrp="1"/>
          </p:cNvGraphicFramePr>
          <p:nvPr>
            <p:extLst>
              <p:ext uri="{D42A27DB-BD31-4B8C-83A1-F6EECF244321}">
                <p14:modId xmlns:p14="http://schemas.microsoft.com/office/powerpoint/2010/main" val="1821788179"/>
              </p:ext>
            </p:extLst>
          </p:nvPr>
        </p:nvGraphicFramePr>
        <p:xfrm>
          <a:off x="1616913" y="5302696"/>
          <a:ext cx="4111812" cy="1211536"/>
        </p:xfrm>
        <a:graphic>
          <a:graphicData uri="http://schemas.openxmlformats.org/drawingml/2006/table">
            <a:tbl>
              <a:tblPr/>
              <a:tblGrid>
                <a:gridCol w="952102">
                  <a:extLst>
                    <a:ext uri="{9D8B030D-6E8A-4147-A177-3AD203B41FA5}">
                      <a16:colId xmlns:a16="http://schemas.microsoft.com/office/drawing/2014/main" val="1552754059"/>
                    </a:ext>
                  </a:extLst>
                </a:gridCol>
                <a:gridCol w="1579855">
                  <a:extLst>
                    <a:ext uri="{9D8B030D-6E8A-4147-A177-3AD203B41FA5}">
                      <a16:colId xmlns:a16="http://schemas.microsoft.com/office/drawing/2014/main" val="2115459155"/>
                    </a:ext>
                  </a:extLst>
                </a:gridCol>
                <a:gridCol w="1579855">
                  <a:extLst>
                    <a:ext uri="{9D8B030D-6E8A-4147-A177-3AD203B41FA5}">
                      <a16:colId xmlns:a16="http://schemas.microsoft.com/office/drawing/2014/main" val="1671124529"/>
                    </a:ext>
                  </a:extLst>
                </a:gridCol>
              </a:tblGrid>
              <a:tr h="302884">
                <a:tc>
                  <a:txBody>
                    <a:bodyPr/>
                    <a:lstStyle/>
                    <a:p>
                      <a:pPr marL="0" marR="0" indent="0" algn="ctr" fontAlgn="base" latinLnBrk="0">
                        <a:lnSpc>
                          <a:spcPct val="120000"/>
                        </a:lnSpc>
                        <a:spcBef>
                          <a:spcPts val="0"/>
                        </a:spcBef>
                        <a:spcAft>
                          <a:spcPts val="0"/>
                        </a:spcAft>
                      </a:pPr>
                      <a:r>
                        <a:rPr lang="ko-KR" altLang="en-US" sz="1200" kern="1200" dirty="0">
                          <a:solidFill>
                            <a:schemeClr val="tx1"/>
                          </a:solidFill>
                          <a:latin typeface="+mn-lt"/>
                          <a:ea typeface="+mn-ea"/>
                          <a:cs typeface="+mn-cs"/>
                        </a:rPr>
                        <a:t>구분</a:t>
                      </a: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rgbClr val="EEECE8"/>
                    </a:solidFill>
                  </a:tcPr>
                </a:tc>
                <a:tc>
                  <a:txBody>
                    <a:bodyPr/>
                    <a:lstStyle/>
                    <a:p>
                      <a:pPr marL="0" marR="0" indent="0" algn="ctr" fontAlgn="base" latinLnBrk="0">
                        <a:lnSpc>
                          <a:spcPct val="120000"/>
                        </a:lnSpc>
                        <a:spcBef>
                          <a:spcPts val="0"/>
                        </a:spcBef>
                        <a:spcAft>
                          <a:spcPts val="0"/>
                        </a:spcAft>
                      </a:pPr>
                      <a:r>
                        <a:rPr lang="ko-KR" altLang="en-US" sz="1200" kern="1200" dirty="0">
                          <a:solidFill>
                            <a:schemeClr val="tx1"/>
                          </a:solidFill>
                          <a:latin typeface="+mn-lt"/>
                          <a:ea typeface="+mn-ea"/>
                          <a:cs typeface="+mn-cs"/>
                        </a:rPr>
                        <a:t>절차 정지</a:t>
                      </a: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rgbClr val="EEECE8"/>
                    </a:solidFill>
                  </a:tcPr>
                </a:tc>
                <a:tc>
                  <a:txBody>
                    <a:bodyPr/>
                    <a:lstStyle/>
                    <a:p>
                      <a:pPr marL="0" marR="0" indent="0" algn="ctr" fontAlgn="base" latinLnBrk="0">
                        <a:lnSpc>
                          <a:spcPct val="120000"/>
                        </a:lnSpc>
                        <a:spcBef>
                          <a:spcPts val="0"/>
                        </a:spcBef>
                        <a:spcAft>
                          <a:spcPts val="0"/>
                        </a:spcAft>
                      </a:pPr>
                      <a:r>
                        <a:rPr lang="ko-KR" altLang="en-US" sz="1200" kern="1200">
                          <a:solidFill>
                            <a:schemeClr val="tx1"/>
                          </a:solidFill>
                          <a:latin typeface="+mn-lt"/>
                          <a:ea typeface="+mn-ea"/>
                          <a:cs typeface="+mn-cs"/>
                        </a:rPr>
                        <a:t>절차 정지의 해소</a:t>
                      </a: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solidFill>
                      <a:srgbClr val="EEECE8"/>
                    </a:solidFill>
                  </a:tcPr>
                </a:tc>
                <a:extLst>
                  <a:ext uri="{0D108BD9-81ED-4DB2-BD59-A6C34878D82A}">
                    <a16:rowId xmlns:a16="http://schemas.microsoft.com/office/drawing/2014/main" val="2936960723"/>
                  </a:ext>
                </a:extLst>
              </a:tr>
              <a:tr h="302884">
                <a:tc>
                  <a:txBody>
                    <a:bodyPr/>
                    <a:lstStyle/>
                    <a:p>
                      <a:pPr marL="0" marR="0" indent="0" algn="ctr" fontAlgn="base" latinLnBrk="0">
                        <a:lnSpc>
                          <a:spcPct val="120000"/>
                        </a:lnSpc>
                        <a:spcBef>
                          <a:spcPts val="0"/>
                        </a:spcBef>
                        <a:spcAft>
                          <a:spcPts val="0"/>
                        </a:spcAft>
                      </a:pPr>
                      <a:r>
                        <a:rPr lang="ko-KR" altLang="en-US" sz="1200" kern="1200">
                          <a:solidFill>
                            <a:schemeClr val="tx1"/>
                          </a:solidFill>
                          <a:latin typeface="+mn-lt"/>
                          <a:ea typeface="+mn-ea"/>
                          <a:cs typeface="+mn-cs"/>
                        </a:rPr>
                        <a:t>당연중단</a:t>
                      </a: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20000"/>
                        </a:lnSpc>
                        <a:spcBef>
                          <a:spcPts val="0"/>
                        </a:spcBef>
                        <a:spcAft>
                          <a:spcPts val="0"/>
                        </a:spcAft>
                      </a:pPr>
                      <a:r>
                        <a:rPr lang="ko-KR" altLang="en-US" sz="1200" kern="1200" dirty="0" err="1">
                          <a:solidFill>
                            <a:schemeClr val="tx1"/>
                          </a:solidFill>
                          <a:latin typeface="+mn-lt"/>
                          <a:ea typeface="+mn-ea"/>
                          <a:cs typeface="+mn-cs"/>
                        </a:rPr>
                        <a:t>사유발생</a:t>
                      </a:r>
                      <a:endParaRPr lang="ko-KR" altLang="en-US" sz="1200" kern="1200" dirty="0">
                        <a:solidFill>
                          <a:schemeClr val="tx1"/>
                        </a:solidFill>
                        <a:latin typeface="+mn-lt"/>
                        <a:ea typeface="+mn-ea"/>
                        <a:cs typeface="+mn-cs"/>
                      </a:endParaRP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20000"/>
                        </a:lnSpc>
                        <a:spcBef>
                          <a:spcPts val="0"/>
                        </a:spcBef>
                        <a:spcAft>
                          <a:spcPts val="0"/>
                        </a:spcAft>
                      </a:pPr>
                      <a:r>
                        <a:rPr lang="ko-KR" altLang="en-US" sz="1200" kern="1200">
                          <a:solidFill>
                            <a:schemeClr val="tx1"/>
                          </a:solidFill>
                          <a:latin typeface="+mn-lt"/>
                          <a:ea typeface="+mn-ea"/>
                          <a:cs typeface="+mn-cs"/>
                        </a:rPr>
                        <a:t>사유소멸 </a:t>
                      </a:r>
                      <a:r>
                        <a:rPr lang="en-US" altLang="ko-KR" sz="1200" kern="1200">
                          <a:solidFill>
                            <a:schemeClr val="tx1"/>
                          </a:solidFill>
                          <a:latin typeface="+mn-lt"/>
                          <a:ea typeface="+mn-ea"/>
                          <a:cs typeface="+mn-cs"/>
                        </a:rPr>
                        <a:t>&amp; </a:t>
                      </a:r>
                      <a:r>
                        <a:rPr lang="ko-KR" altLang="en-US" sz="1200" kern="1200">
                          <a:solidFill>
                            <a:schemeClr val="tx1"/>
                          </a:solidFill>
                          <a:latin typeface="+mn-lt"/>
                          <a:ea typeface="+mn-ea"/>
                          <a:cs typeface="+mn-cs"/>
                        </a:rPr>
                        <a:t>수계</a:t>
                      </a: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40432730"/>
                  </a:ext>
                </a:extLst>
              </a:tr>
              <a:tr h="302884">
                <a:tc>
                  <a:txBody>
                    <a:bodyPr/>
                    <a:lstStyle/>
                    <a:p>
                      <a:pPr marL="0" marR="0" indent="0" algn="ctr" fontAlgn="base" latinLnBrk="0">
                        <a:lnSpc>
                          <a:spcPct val="120000"/>
                        </a:lnSpc>
                        <a:spcBef>
                          <a:spcPts val="0"/>
                        </a:spcBef>
                        <a:spcAft>
                          <a:spcPts val="0"/>
                        </a:spcAft>
                      </a:pPr>
                      <a:r>
                        <a:rPr lang="ko-KR" altLang="en-US" sz="1200" kern="1200">
                          <a:solidFill>
                            <a:schemeClr val="tx1"/>
                          </a:solidFill>
                          <a:latin typeface="+mn-lt"/>
                          <a:ea typeface="+mn-ea"/>
                          <a:cs typeface="+mn-cs"/>
                        </a:rPr>
                        <a:t>당연중지</a:t>
                      </a: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20000"/>
                        </a:lnSpc>
                        <a:spcBef>
                          <a:spcPts val="0"/>
                        </a:spcBef>
                        <a:spcAft>
                          <a:spcPts val="0"/>
                        </a:spcAft>
                      </a:pPr>
                      <a:r>
                        <a:rPr lang="ko-KR" altLang="en-US" sz="1200" kern="1200" dirty="0" err="1">
                          <a:solidFill>
                            <a:schemeClr val="tx1"/>
                          </a:solidFill>
                          <a:latin typeface="+mn-lt"/>
                          <a:ea typeface="+mn-ea"/>
                          <a:cs typeface="+mn-cs"/>
                        </a:rPr>
                        <a:t>사유발생</a:t>
                      </a:r>
                      <a:endParaRPr lang="ko-KR" altLang="en-US" sz="1200" kern="1200" dirty="0">
                        <a:solidFill>
                          <a:schemeClr val="tx1"/>
                        </a:solidFill>
                        <a:latin typeface="+mn-lt"/>
                        <a:ea typeface="+mn-ea"/>
                        <a:cs typeface="+mn-cs"/>
                      </a:endParaRP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20000"/>
                        </a:lnSpc>
                        <a:spcBef>
                          <a:spcPts val="0"/>
                        </a:spcBef>
                        <a:spcAft>
                          <a:spcPts val="0"/>
                        </a:spcAft>
                      </a:pPr>
                      <a:r>
                        <a:rPr lang="ko-KR" altLang="en-US" sz="1200" kern="1200" dirty="0" err="1">
                          <a:solidFill>
                            <a:schemeClr val="tx1"/>
                          </a:solidFill>
                          <a:latin typeface="+mn-lt"/>
                          <a:ea typeface="+mn-ea"/>
                          <a:cs typeface="+mn-cs"/>
                        </a:rPr>
                        <a:t>사유소멸</a:t>
                      </a:r>
                      <a:endParaRPr lang="ko-KR" altLang="en-US" sz="1200" kern="1200" dirty="0">
                        <a:solidFill>
                          <a:schemeClr val="tx1"/>
                        </a:solidFill>
                        <a:latin typeface="+mn-lt"/>
                        <a:ea typeface="+mn-ea"/>
                        <a:cs typeface="+mn-cs"/>
                      </a:endParaRP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451262148"/>
                  </a:ext>
                </a:extLst>
              </a:tr>
              <a:tr h="302884">
                <a:tc>
                  <a:txBody>
                    <a:bodyPr/>
                    <a:lstStyle/>
                    <a:p>
                      <a:pPr marL="0" marR="0" indent="0" algn="ctr" fontAlgn="base" latinLnBrk="0">
                        <a:lnSpc>
                          <a:spcPct val="120000"/>
                        </a:lnSpc>
                        <a:spcBef>
                          <a:spcPts val="0"/>
                        </a:spcBef>
                        <a:spcAft>
                          <a:spcPts val="0"/>
                        </a:spcAft>
                      </a:pPr>
                      <a:r>
                        <a:rPr lang="ko-KR" altLang="en-US" sz="1200" kern="1200">
                          <a:solidFill>
                            <a:schemeClr val="tx1"/>
                          </a:solidFill>
                          <a:latin typeface="+mn-lt"/>
                          <a:ea typeface="+mn-ea"/>
                          <a:cs typeface="+mn-cs"/>
                        </a:rPr>
                        <a:t>결정중지</a:t>
                      </a: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20000"/>
                        </a:lnSpc>
                        <a:spcBef>
                          <a:spcPts val="0"/>
                        </a:spcBef>
                        <a:spcAft>
                          <a:spcPts val="0"/>
                        </a:spcAft>
                      </a:pPr>
                      <a:r>
                        <a:rPr lang="ko-KR" altLang="en-US" sz="1200" kern="1200">
                          <a:solidFill>
                            <a:schemeClr val="tx1"/>
                          </a:solidFill>
                          <a:latin typeface="+mn-lt"/>
                          <a:ea typeface="+mn-ea"/>
                          <a:cs typeface="+mn-cs"/>
                        </a:rPr>
                        <a:t>사유발생 </a:t>
                      </a:r>
                      <a:r>
                        <a:rPr lang="en-US" altLang="ko-KR" sz="1200" kern="1200">
                          <a:solidFill>
                            <a:schemeClr val="tx1"/>
                          </a:solidFill>
                          <a:latin typeface="+mn-lt"/>
                          <a:ea typeface="+mn-ea"/>
                          <a:cs typeface="+mn-cs"/>
                        </a:rPr>
                        <a:t>&amp; </a:t>
                      </a:r>
                      <a:r>
                        <a:rPr lang="ko-KR" altLang="en-US" sz="1200" kern="1200">
                          <a:solidFill>
                            <a:schemeClr val="tx1"/>
                          </a:solidFill>
                          <a:latin typeface="+mn-lt"/>
                          <a:ea typeface="+mn-ea"/>
                          <a:cs typeface="+mn-cs"/>
                        </a:rPr>
                        <a:t>결정</a:t>
                      </a: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tc>
                  <a:txBody>
                    <a:bodyPr/>
                    <a:lstStyle/>
                    <a:p>
                      <a:pPr marL="0" marR="0" indent="0" algn="ctr" fontAlgn="base" latinLnBrk="0">
                        <a:lnSpc>
                          <a:spcPct val="120000"/>
                        </a:lnSpc>
                        <a:spcBef>
                          <a:spcPts val="0"/>
                        </a:spcBef>
                        <a:spcAft>
                          <a:spcPts val="0"/>
                        </a:spcAft>
                      </a:pPr>
                      <a:r>
                        <a:rPr lang="ko-KR" altLang="en-US" sz="1200" kern="1200" dirty="0" err="1">
                          <a:solidFill>
                            <a:schemeClr val="tx1"/>
                          </a:solidFill>
                          <a:latin typeface="+mn-lt"/>
                          <a:ea typeface="+mn-ea"/>
                          <a:cs typeface="+mn-cs"/>
                        </a:rPr>
                        <a:t>사유소멸</a:t>
                      </a:r>
                      <a:r>
                        <a:rPr lang="ko-KR" altLang="en-US" sz="1200" kern="1200" dirty="0">
                          <a:solidFill>
                            <a:schemeClr val="tx1"/>
                          </a:solidFill>
                          <a:latin typeface="+mn-lt"/>
                          <a:ea typeface="+mn-ea"/>
                          <a:cs typeface="+mn-cs"/>
                        </a:rPr>
                        <a:t> </a:t>
                      </a:r>
                      <a:r>
                        <a:rPr lang="en-US" altLang="ko-KR" sz="1200" kern="1200" dirty="0">
                          <a:solidFill>
                            <a:schemeClr val="tx1"/>
                          </a:solidFill>
                          <a:latin typeface="+mn-lt"/>
                          <a:ea typeface="+mn-ea"/>
                          <a:cs typeface="+mn-cs"/>
                        </a:rPr>
                        <a:t>&amp; </a:t>
                      </a:r>
                      <a:r>
                        <a:rPr lang="ko-KR" altLang="en-US" sz="1200" kern="1200" dirty="0">
                          <a:solidFill>
                            <a:schemeClr val="tx1"/>
                          </a:solidFill>
                          <a:latin typeface="+mn-lt"/>
                          <a:ea typeface="+mn-ea"/>
                          <a:cs typeface="+mn-cs"/>
                        </a:rPr>
                        <a:t>결정</a:t>
                      </a:r>
                    </a:p>
                  </a:txBody>
                  <a:tcPr marL="17907" marR="17907" marT="17907" marB="17907" anchor="ctr">
                    <a:lnL w="3556" cap="flat" cmpd="sng" algn="ctr">
                      <a:solidFill>
                        <a:srgbClr val="000000"/>
                      </a:solidFill>
                      <a:prstDash val="solid"/>
                      <a:round/>
                      <a:headEnd type="none" w="med" len="med"/>
                      <a:tailEnd type="none" w="med" len="med"/>
                    </a:lnL>
                    <a:lnR w="3556" cap="flat" cmpd="sng" algn="ctr">
                      <a:solidFill>
                        <a:srgbClr val="000000"/>
                      </a:solidFill>
                      <a:prstDash val="solid"/>
                      <a:round/>
                      <a:headEnd type="none" w="med" len="med"/>
                      <a:tailEnd type="none" w="med" len="med"/>
                    </a:lnR>
                    <a:lnT w="3556" cap="flat" cmpd="sng" algn="ctr">
                      <a:solidFill>
                        <a:srgbClr val="000000"/>
                      </a:solidFill>
                      <a:prstDash val="solid"/>
                      <a:round/>
                      <a:headEnd type="none" w="med" len="med"/>
                      <a:tailEnd type="none" w="med" len="med"/>
                    </a:lnT>
                    <a:lnB w="3556"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06500597"/>
                  </a:ext>
                </a:extLst>
              </a:tr>
            </a:tbl>
          </a:graphicData>
        </a:graphic>
      </p:graphicFrame>
      <p:sp>
        <p:nvSpPr>
          <p:cNvPr id="120" name="아래쪽 화살표 119"/>
          <p:cNvSpPr/>
          <p:nvPr/>
        </p:nvSpPr>
        <p:spPr>
          <a:xfrm>
            <a:off x="3479800" y="4660900"/>
            <a:ext cx="393700" cy="527496"/>
          </a:xfrm>
          <a:prstGeom prst="downArrow">
            <a:avLst/>
          </a:prstGeom>
          <a:noFill/>
          <a:ln w="28575">
            <a:solidFill>
              <a:schemeClr val="accent2">
                <a:lumMod val="50000"/>
              </a:schemeClr>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1" name="직사각형 120"/>
          <p:cNvSpPr/>
          <p:nvPr/>
        </p:nvSpPr>
        <p:spPr>
          <a:xfrm>
            <a:off x="3596640" y="4572000"/>
            <a:ext cx="160020" cy="25908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2" name="직사각형 121"/>
          <p:cNvSpPr/>
          <p:nvPr/>
        </p:nvSpPr>
        <p:spPr>
          <a:xfrm>
            <a:off x="10579100" y="2701520"/>
            <a:ext cx="1016000" cy="957419"/>
          </a:xfrm>
          <a:prstGeom prst="rect">
            <a:avLst/>
          </a:prstGeom>
          <a:solidFill>
            <a:schemeClr val="accent2">
              <a:lumMod val="5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t>정지</a:t>
            </a:r>
            <a:endParaRPr lang="en-US" altLang="ko-KR" dirty="0"/>
          </a:p>
          <a:p>
            <a:pPr algn="ctr"/>
            <a:r>
              <a:rPr lang="ko-KR" altLang="en-US" dirty="0"/>
              <a:t>효과</a:t>
            </a:r>
            <a:endParaRPr lang="en-US" altLang="ko-KR" dirty="0"/>
          </a:p>
          <a:p>
            <a:pPr algn="ctr"/>
            <a:r>
              <a:rPr lang="en-US" altLang="ko-KR" dirty="0"/>
              <a:t>(</a:t>
            </a:r>
            <a:r>
              <a:rPr lang="ko-KR" altLang="en-US" dirty="0"/>
              <a:t>法 </a:t>
            </a:r>
            <a:r>
              <a:rPr lang="en-US" altLang="ko-KR" dirty="0"/>
              <a:t>24)</a:t>
            </a:r>
            <a:endParaRPr lang="ko-KR" altLang="en-US" dirty="0"/>
          </a:p>
        </p:txBody>
      </p:sp>
      <p:sp>
        <p:nvSpPr>
          <p:cNvPr id="123" name="자유형 122"/>
          <p:cNvSpPr/>
          <p:nvPr/>
        </p:nvSpPr>
        <p:spPr>
          <a:xfrm>
            <a:off x="9258300" y="1498600"/>
            <a:ext cx="685800" cy="2959100"/>
          </a:xfrm>
          <a:custGeom>
            <a:avLst/>
            <a:gdLst>
              <a:gd name="connsiteX0" fmla="*/ 0 w 685800"/>
              <a:gd name="connsiteY0" fmla="*/ 0 h 2959100"/>
              <a:gd name="connsiteX1" fmla="*/ 685800 w 685800"/>
              <a:gd name="connsiteY1" fmla="*/ 0 h 2959100"/>
              <a:gd name="connsiteX2" fmla="*/ 685800 w 685800"/>
              <a:gd name="connsiteY2" fmla="*/ 2959100 h 2959100"/>
              <a:gd name="connsiteX3" fmla="*/ 114300 w 685800"/>
              <a:gd name="connsiteY3" fmla="*/ 2959100 h 2959100"/>
            </a:gdLst>
            <a:ahLst/>
            <a:cxnLst>
              <a:cxn ang="0">
                <a:pos x="connsiteX0" y="connsiteY0"/>
              </a:cxn>
              <a:cxn ang="0">
                <a:pos x="connsiteX1" y="connsiteY1"/>
              </a:cxn>
              <a:cxn ang="0">
                <a:pos x="connsiteX2" y="connsiteY2"/>
              </a:cxn>
              <a:cxn ang="0">
                <a:pos x="connsiteX3" y="connsiteY3"/>
              </a:cxn>
            </a:cxnLst>
            <a:rect l="l" t="t" r="r" b="b"/>
            <a:pathLst>
              <a:path w="685800" h="2959100">
                <a:moveTo>
                  <a:pt x="0" y="0"/>
                </a:moveTo>
                <a:lnTo>
                  <a:pt x="685800" y="0"/>
                </a:lnTo>
                <a:lnTo>
                  <a:pt x="685800" y="2959100"/>
                </a:lnTo>
                <a:lnTo>
                  <a:pt x="114300" y="2959100"/>
                </a:lnTo>
              </a:path>
            </a:pathLst>
          </a:cu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125" name="직선 화살표 연결선 124"/>
          <p:cNvCxnSpPr>
            <a:endCxn id="122" idx="1"/>
          </p:cNvCxnSpPr>
          <p:nvPr/>
        </p:nvCxnSpPr>
        <p:spPr>
          <a:xfrm>
            <a:off x="9944100" y="3180229"/>
            <a:ext cx="635000" cy="1"/>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42</a:t>
            </a:fld>
            <a:endParaRPr lang="ko-KR" altLang="en-US"/>
          </a:p>
        </p:txBody>
      </p:sp>
    </p:spTree>
    <p:extLst>
      <p:ext uri="{BB962C8B-B14F-4D97-AF65-F5344CB8AC3E}">
        <p14:creationId xmlns:p14="http://schemas.microsoft.com/office/powerpoint/2010/main" val="1115500408"/>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78</a:t>
            </a:r>
            <a:r>
              <a:rPr lang="ko-KR" altLang="en-US" dirty="0"/>
              <a:t>조</a:t>
            </a:r>
            <a:r>
              <a:rPr lang="en-US" altLang="ko-KR" dirty="0"/>
              <a:t>, </a:t>
            </a:r>
            <a:r>
              <a:rPr lang="ko-KR" altLang="en-US" dirty="0"/>
              <a:t>제</a:t>
            </a:r>
            <a:r>
              <a:rPr lang="en-US" altLang="ko-KR" dirty="0"/>
              <a:t>164</a:t>
            </a:r>
            <a:r>
              <a:rPr lang="ko-KR" altLang="en-US" dirty="0"/>
              <a:t>조</a:t>
            </a:r>
          </a:p>
        </p:txBody>
      </p:sp>
      <p:sp>
        <p:nvSpPr>
          <p:cNvPr id="4" name="텍스트 개체 틀 3"/>
          <p:cNvSpPr>
            <a:spLocks noGrp="1"/>
          </p:cNvSpPr>
          <p:nvPr>
            <p:ph type="body" sz="quarter" idx="13"/>
          </p:nvPr>
        </p:nvSpPr>
        <p:spPr/>
        <p:txBody>
          <a:bodyPr/>
          <a:lstStyle/>
          <a:p>
            <a:r>
              <a:rPr lang="ko-KR" altLang="en-US" dirty="0" err="1"/>
              <a:t>타절차와의</a:t>
            </a:r>
            <a:r>
              <a:rPr lang="ko-KR" altLang="en-US" dirty="0"/>
              <a:t> 관계에서 중지</a:t>
            </a:r>
          </a:p>
        </p:txBody>
      </p:sp>
      <p:sp>
        <p:nvSpPr>
          <p:cNvPr id="36" name="직사각형 35"/>
          <p:cNvSpPr/>
          <p:nvPr/>
        </p:nvSpPr>
        <p:spPr>
          <a:xfrm>
            <a:off x="342899" y="2983381"/>
            <a:ext cx="110490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심사절차</a:t>
            </a:r>
            <a:endParaRPr lang="en-US" altLang="ko-KR" sz="1600" dirty="0">
              <a:solidFill>
                <a:schemeClr val="tx1"/>
              </a:solidFill>
            </a:endParaRPr>
          </a:p>
          <a:p>
            <a:pPr algn="ctr"/>
            <a:r>
              <a:rPr lang="en-US" altLang="ko-KR" sz="1200" dirty="0">
                <a:solidFill>
                  <a:schemeClr val="tx1"/>
                </a:solidFill>
              </a:rPr>
              <a:t>(</a:t>
            </a:r>
            <a:r>
              <a:rPr lang="ko-KR" altLang="en-US" sz="1200" dirty="0" err="1">
                <a:solidFill>
                  <a:schemeClr val="tx1"/>
                </a:solidFill>
              </a:rPr>
              <a:t>심사국</a:t>
            </a:r>
            <a:r>
              <a:rPr lang="en-US" altLang="ko-KR" sz="1200" dirty="0">
                <a:solidFill>
                  <a:schemeClr val="tx1"/>
                </a:solidFill>
              </a:rPr>
              <a:t>)</a:t>
            </a:r>
          </a:p>
        </p:txBody>
      </p:sp>
      <p:sp>
        <p:nvSpPr>
          <p:cNvPr id="37" name="직사각형 36"/>
          <p:cNvSpPr/>
          <p:nvPr/>
        </p:nvSpPr>
        <p:spPr>
          <a:xfrm>
            <a:off x="342899" y="4050181"/>
            <a:ext cx="110490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solidFill>
                  <a:schemeClr val="tx1"/>
                </a:solidFill>
              </a:rPr>
              <a:t>심판절차</a:t>
            </a:r>
            <a:endParaRPr lang="en-US" altLang="ko-KR" sz="1600" dirty="0">
              <a:solidFill>
                <a:schemeClr val="tx1"/>
              </a:solidFill>
            </a:endParaRPr>
          </a:p>
          <a:p>
            <a:pPr algn="ctr"/>
            <a:r>
              <a:rPr lang="en-US" altLang="ko-KR" sz="1200" dirty="0">
                <a:solidFill>
                  <a:schemeClr val="tx1"/>
                </a:solidFill>
              </a:rPr>
              <a:t>(</a:t>
            </a:r>
            <a:r>
              <a:rPr lang="ko-KR" altLang="en-US" sz="1200" dirty="0">
                <a:solidFill>
                  <a:schemeClr val="tx1"/>
                </a:solidFill>
              </a:rPr>
              <a:t>심판원</a:t>
            </a:r>
            <a:r>
              <a:rPr lang="en-US" altLang="ko-KR" sz="1200" dirty="0">
                <a:solidFill>
                  <a:schemeClr val="tx1"/>
                </a:solidFill>
              </a:rPr>
              <a:t>)</a:t>
            </a:r>
          </a:p>
        </p:txBody>
      </p:sp>
      <p:sp>
        <p:nvSpPr>
          <p:cNvPr id="38" name="직사각형 37"/>
          <p:cNvSpPr/>
          <p:nvPr/>
        </p:nvSpPr>
        <p:spPr>
          <a:xfrm>
            <a:off x="342899" y="5015381"/>
            <a:ext cx="110490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소송절차</a:t>
            </a:r>
            <a:endParaRPr lang="en-US" altLang="ko-KR" sz="1600" dirty="0">
              <a:solidFill>
                <a:schemeClr val="tx1"/>
              </a:solidFill>
            </a:endParaRPr>
          </a:p>
          <a:p>
            <a:pPr algn="ctr"/>
            <a:r>
              <a:rPr lang="en-US" altLang="ko-KR" sz="1200" dirty="0">
                <a:solidFill>
                  <a:schemeClr val="tx1"/>
                </a:solidFill>
              </a:rPr>
              <a:t>(</a:t>
            </a:r>
            <a:r>
              <a:rPr lang="ko-KR" altLang="en-US" sz="1200" dirty="0">
                <a:solidFill>
                  <a:schemeClr val="tx1"/>
                </a:solidFill>
              </a:rPr>
              <a:t>법원</a:t>
            </a:r>
            <a:r>
              <a:rPr lang="en-US" altLang="ko-KR" sz="1200" dirty="0">
                <a:solidFill>
                  <a:schemeClr val="tx1"/>
                </a:solidFill>
              </a:rPr>
              <a:t>)</a:t>
            </a:r>
          </a:p>
        </p:txBody>
      </p:sp>
      <p:cxnSp>
        <p:nvCxnSpPr>
          <p:cNvPr id="5" name="직선 화살표 연결선 4"/>
          <p:cNvCxnSpPr>
            <a:stCxn id="36" idx="3"/>
          </p:cNvCxnSpPr>
          <p:nvPr/>
        </p:nvCxnSpPr>
        <p:spPr>
          <a:xfrm flipV="1">
            <a:off x="1447800" y="3234542"/>
            <a:ext cx="3467100" cy="6014"/>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2" name="직선 화살표 연결선 41"/>
          <p:cNvCxnSpPr/>
          <p:nvPr/>
        </p:nvCxnSpPr>
        <p:spPr>
          <a:xfrm flipV="1">
            <a:off x="1447800" y="4292600"/>
            <a:ext cx="3467100" cy="14756"/>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43" name="직선 화살표 연결선 42"/>
          <p:cNvCxnSpPr/>
          <p:nvPr/>
        </p:nvCxnSpPr>
        <p:spPr>
          <a:xfrm flipV="1">
            <a:off x="1447800" y="5241771"/>
            <a:ext cx="3467100" cy="5385"/>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 name="직선 화살표 연결선 6"/>
          <p:cNvCxnSpPr/>
          <p:nvPr/>
        </p:nvCxnSpPr>
        <p:spPr>
          <a:xfrm>
            <a:off x="2806700" y="2921000"/>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2228896" y="2604481"/>
            <a:ext cx="1156086" cy="307777"/>
          </a:xfrm>
          <a:prstGeom prst="rect">
            <a:avLst/>
          </a:prstGeom>
          <a:noFill/>
        </p:spPr>
        <p:txBody>
          <a:bodyPr wrap="none" rtlCol="0">
            <a:spAutoFit/>
          </a:bodyPr>
          <a:lstStyle/>
          <a:p>
            <a:r>
              <a:rPr lang="ko-KR" altLang="en-US" sz="1400" dirty="0"/>
              <a:t>심사절차진행</a:t>
            </a:r>
          </a:p>
        </p:txBody>
      </p:sp>
      <p:cxnSp>
        <p:nvCxnSpPr>
          <p:cNvPr id="47" name="직선 화살표 연결선 46"/>
          <p:cNvCxnSpPr>
            <a:stCxn id="48" idx="2"/>
          </p:cNvCxnSpPr>
          <p:nvPr/>
        </p:nvCxnSpPr>
        <p:spPr>
          <a:xfrm flipH="1">
            <a:off x="2806700" y="3990485"/>
            <a:ext cx="239" cy="313542"/>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8" name="TextBox 47"/>
          <p:cNvSpPr txBox="1"/>
          <p:nvPr/>
        </p:nvSpPr>
        <p:spPr>
          <a:xfrm>
            <a:off x="2228896" y="3682708"/>
            <a:ext cx="1156086" cy="307777"/>
          </a:xfrm>
          <a:prstGeom prst="rect">
            <a:avLst/>
          </a:prstGeom>
          <a:noFill/>
        </p:spPr>
        <p:txBody>
          <a:bodyPr wrap="none" rtlCol="0">
            <a:spAutoFit/>
          </a:bodyPr>
          <a:lstStyle/>
          <a:p>
            <a:r>
              <a:rPr lang="ko-KR" altLang="en-US" sz="1400" dirty="0"/>
              <a:t>심판절차진행</a:t>
            </a:r>
          </a:p>
        </p:txBody>
      </p:sp>
      <p:cxnSp>
        <p:nvCxnSpPr>
          <p:cNvPr id="50" name="직선 화살표 연결선 49"/>
          <p:cNvCxnSpPr>
            <a:stCxn id="51" idx="2"/>
          </p:cNvCxnSpPr>
          <p:nvPr/>
        </p:nvCxnSpPr>
        <p:spPr>
          <a:xfrm flipH="1">
            <a:off x="2806700" y="4928229"/>
            <a:ext cx="239" cy="300842"/>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1" name="TextBox 50"/>
          <p:cNvSpPr txBox="1"/>
          <p:nvPr/>
        </p:nvSpPr>
        <p:spPr>
          <a:xfrm>
            <a:off x="2228896" y="4620452"/>
            <a:ext cx="1156086" cy="307777"/>
          </a:xfrm>
          <a:prstGeom prst="rect">
            <a:avLst/>
          </a:prstGeom>
          <a:noFill/>
        </p:spPr>
        <p:txBody>
          <a:bodyPr wrap="none" rtlCol="0">
            <a:spAutoFit/>
          </a:bodyPr>
          <a:lstStyle/>
          <a:p>
            <a:r>
              <a:rPr lang="ko-KR" altLang="en-US" sz="1400" dirty="0"/>
              <a:t>소송절차진행</a:t>
            </a:r>
          </a:p>
        </p:txBody>
      </p:sp>
      <p:sp>
        <p:nvSpPr>
          <p:cNvPr id="22" name="아래쪽 화살표 설명선 21"/>
          <p:cNvSpPr/>
          <p:nvPr/>
        </p:nvSpPr>
        <p:spPr>
          <a:xfrm>
            <a:off x="1714500" y="2468798"/>
            <a:ext cx="2235200" cy="3754202"/>
          </a:xfrm>
          <a:prstGeom prst="downArrowCallout">
            <a:avLst>
              <a:gd name="adj1" fmla="val 40909"/>
              <a:gd name="adj2" fmla="val 21023"/>
              <a:gd name="adj3" fmla="val 25000"/>
              <a:gd name="adj4" fmla="val 83049"/>
            </a:avLst>
          </a:prstGeom>
          <a:noFill/>
          <a:ln w="28575">
            <a:solidFill>
              <a:schemeClr val="accent2"/>
            </a:solidFill>
            <a:prstDash val="sysDo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6" name="TextBox 65"/>
          <p:cNvSpPr txBox="1"/>
          <p:nvPr/>
        </p:nvSpPr>
        <p:spPr>
          <a:xfrm>
            <a:off x="1710108" y="6270471"/>
            <a:ext cx="2226892" cy="523220"/>
          </a:xfrm>
          <a:prstGeom prst="rect">
            <a:avLst/>
          </a:prstGeom>
          <a:noFill/>
        </p:spPr>
        <p:txBody>
          <a:bodyPr wrap="none" rtlCol="0">
            <a:spAutoFit/>
          </a:bodyPr>
          <a:lstStyle/>
          <a:p>
            <a:r>
              <a:rPr lang="ko-KR" altLang="en-US" sz="2800" dirty="0" err="1">
                <a:solidFill>
                  <a:srgbClr val="FF0000"/>
                </a:solidFill>
              </a:rPr>
              <a:t>모순저촉</a:t>
            </a:r>
            <a:r>
              <a:rPr lang="ko-KR" altLang="en-US" sz="2800" dirty="0">
                <a:solidFill>
                  <a:srgbClr val="FF0000"/>
                </a:solidFill>
              </a:rPr>
              <a:t> 발생</a:t>
            </a:r>
          </a:p>
        </p:txBody>
      </p:sp>
      <p:sp>
        <p:nvSpPr>
          <p:cNvPr id="67" name="직사각형 66"/>
          <p:cNvSpPr/>
          <p:nvPr/>
        </p:nvSpPr>
        <p:spPr>
          <a:xfrm>
            <a:off x="6388099" y="2983381"/>
            <a:ext cx="110490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심사절차</a:t>
            </a:r>
            <a:endParaRPr lang="en-US" altLang="ko-KR" sz="1600" dirty="0">
              <a:solidFill>
                <a:schemeClr val="tx1"/>
              </a:solidFill>
            </a:endParaRPr>
          </a:p>
          <a:p>
            <a:pPr algn="ctr"/>
            <a:r>
              <a:rPr lang="en-US" altLang="ko-KR" sz="1200" dirty="0">
                <a:solidFill>
                  <a:schemeClr val="tx1"/>
                </a:solidFill>
              </a:rPr>
              <a:t>(</a:t>
            </a:r>
            <a:r>
              <a:rPr lang="ko-KR" altLang="en-US" sz="1200" dirty="0" err="1">
                <a:solidFill>
                  <a:schemeClr val="tx1"/>
                </a:solidFill>
              </a:rPr>
              <a:t>심사국</a:t>
            </a:r>
            <a:r>
              <a:rPr lang="en-US" altLang="ko-KR" sz="1200" dirty="0">
                <a:solidFill>
                  <a:schemeClr val="tx1"/>
                </a:solidFill>
              </a:rPr>
              <a:t>)</a:t>
            </a:r>
          </a:p>
        </p:txBody>
      </p:sp>
      <p:sp>
        <p:nvSpPr>
          <p:cNvPr id="68" name="직사각형 67"/>
          <p:cNvSpPr/>
          <p:nvPr/>
        </p:nvSpPr>
        <p:spPr>
          <a:xfrm>
            <a:off x="6388099" y="4050181"/>
            <a:ext cx="110490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err="1">
                <a:solidFill>
                  <a:schemeClr val="tx1"/>
                </a:solidFill>
              </a:rPr>
              <a:t>심판절차</a:t>
            </a:r>
            <a:endParaRPr lang="en-US" altLang="ko-KR" sz="1600" dirty="0">
              <a:solidFill>
                <a:schemeClr val="tx1"/>
              </a:solidFill>
            </a:endParaRPr>
          </a:p>
          <a:p>
            <a:pPr algn="ctr"/>
            <a:r>
              <a:rPr lang="en-US" altLang="ko-KR" sz="1200" dirty="0">
                <a:solidFill>
                  <a:schemeClr val="tx1"/>
                </a:solidFill>
              </a:rPr>
              <a:t>(</a:t>
            </a:r>
            <a:r>
              <a:rPr lang="ko-KR" altLang="en-US" sz="1200" dirty="0">
                <a:solidFill>
                  <a:schemeClr val="tx1"/>
                </a:solidFill>
              </a:rPr>
              <a:t>심판원</a:t>
            </a:r>
            <a:r>
              <a:rPr lang="en-US" altLang="ko-KR" sz="1200" dirty="0">
                <a:solidFill>
                  <a:schemeClr val="tx1"/>
                </a:solidFill>
              </a:rPr>
              <a:t>)</a:t>
            </a:r>
          </a:p>
        </p:txBody>
      </p:sp>
      <p:sp>
        <p:nvSpPr>
          <p:cNvPr id="69" name="직사각형 68"/>
          <p:cNvSpPr/>
          <p:nvPr/>
        </p:nvSpPr>
        <p:spPr>
          <a:xfrm>
            <a:off x="6388099" y="5015381"/>
            <a:ext cx="1104901" cy="514350"/>
          </a:xfrm>
          <a:prstGeom prst="rect">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600" dirty="0">
                <a:solidFill>
                  <a:schemeClr val="tx1"/>
                </a:solidFill>
              </a:rPr>
              <a:t>소송절차</a:t>
            </a:r>
            <a:endParaRPr lang="en-US" altLang="ko-KR" sz="1600" dirty="0">
              <a:solidFill>
                <a:schemeClr val="tx1"/>
              </a:solidFill>
            </a:endParaRPr>
          </a:p>
          <a:p>
            <a:pPr algn="ctr"/>
            <a:r>
              <a:rPr lang="en-US" altLang="ko-KR" sz="1200" dirty="0">
                <a:solidFill>
                  <a:schemeClr val="tx1"/>
                </a:solidFill>
              </a:rPr>
              <a:t>(</a:t>
            </a:r>
            <a:r>
              <a:rPr lang="ko-KR" altLang="en-US" sz="1200" dirty="0">
                <a:solidFill>
                  <a:schemeClr val="tx1"/>
                </a:solidFill>
              </a:rPr>
              <a:t>법원</a:t>
            </a:r>
            <a:r>
              <a:rPr lang="en-US" altLang="ko-KR" sz="1200" dirty="0">
                <a:solidFill>
                  <a:schemeClr val="tx1"/>
                </a:solidFill>
              </a:rPr>
              <a:t>)</a:t>
            </a:r>
          </a:p>
        </p:txBody>
      </p:sp>
      <p:grpSp>
        <p:nvGrpSpPr>
          <p:cNvPr id="23" name="그룹 22"/>
          <p:cNvGrpSpPr/>
          <p:nvPr/>
        </p:nvGrpSpPr>
        <p:grpSpPr>
          <a:xfrm>
            <a:off x="7493000" y="3450442"/>
            <a:ext cx="4165600" cy="1796714"/>
            <a:chOff x="7493000" y="3234542"/>
            <a:chExt cx="3467100" cy="1796714"/>
          </a:xfrm>
        </p:grpSpPr>
        <p:cxnSp>
          <p:nvCxnSpPr>
            <p:cNvPr id="70" name="직선 화살표 연결선 69"/>
            <p:cNvCxnSpPr>
              <a:stCxn id="67" idx="3"/>
            </p:cNvCxnSpPr>
            <p:nvPr/>
          </p:nvCxnSpPr>
          <p:spPr>
            <a:xfrm flipV="1">
              <a:off x="7493000" y="3234542"/>
              <a:ext cx="3467100" cy="6014"/>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1" name="직선 화살표 연결선 70"/>
            <p:cNvCxnSpPr/>
            <p:nvPr/>
          </p:nvCxnSpPr>
          <p:spPr>
            <a:xfrm flipV="1">
              <a:off x="7493000" y="4076700"/>
              <a:ext cx="3467100" cy="14756"/>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2" name="직선 화살표 연결선 71"/>
            <p:cNvCxnSpPr/>
            <p:nvPr/>
          </p:nvCxnSpPr>
          <p:spPr>
            <a:xfrm flipV="1">
              <a:off x="7493000" y="5025871"/>
              <a:ext cx="3467100" cy="5385"/>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grpSp>
      <p:cxnSp>
        <p:nvCxnSpPr>
          <p:cNvPr id="73" name="직선 화살표 연결선 72"/>
          <p:cNvCxnSpPr/>
          <p:nvPr/>
        </p:nvCxnSpPr>
        <p:spPr>
          <a:xfrm>
            <a:off x="8343900" y="2921000"/>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3" name="TextBox 82"/>
          <p:cNvSpPr txBox="1"/>
          <p:nvPr/>
        </p:nvSpPr>
        <p:spPr>
          <a:xfrm>
            <a:off x="7766096" y="2604481"/>
            <a:ext cx="1156086" cy="307777"/>
          </a:xfrm>
          <a:prstGeom prst="rect">
            <a:avLst/>
          </a:prstGeom>
          <a:noFill/>
        </p:spPr>
        <p:txBody>
          <a:bodyPr wrap="none" rtlCol="0">
            <a:spAutoFit/>
          </a:bodyPr>
          <a:lstStyle/>
          <a:p>
            <a:r>
              <a:rPr lang="ko-KR" altLang="en-US" sz="1400" dirty="0"/>
              <a:t>심사절차진행</a:t>
            </a:r>
          </a:p>
        </p:txBody>
      </p:sp>
      <p:cxnSp>
        <p:nvCxnSpPr>
          <p:cNvPr id="85" name="직선 화살표 연결선 84"/>
          <p:cNvCxnSpPr>
            <a:stCxn id="86" idx="2"/>
          </p:cNvCxnSpPr>
          <p:nvPr/>
        </p:nvCxnSpPr>
        <p:spPr>
          <a:xfrm flipH="1">
            <a:off x="9385300" y="3990485"/>
            <a:ext cx="239" cy="313542"/>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6" name="TextBox 85"/>
          <p:cNvSpPr txBox="1"/>
          <p:nvPr/>
        </p:nvSpPr>
        <p:spPr>
          <a:xfrm>
            <a:off x="8807496" y="3682708"/>
            <a:ext cx="1156086" cy="307777"/>
          </a:xfrm>
          <a:prstGeom prst="rect">
            <a:avLst/>
          </a:prstGeom>
          <a:noFill/>
        </p:spPr>
        <p:txBody>
          <a:bodyPr wrap="none" rtlCol="0">
            <a:spAutoFit/>
          </a:bodyPr>
          <a:lstStyle/>
          <a:p>
            <a:r>
              <a:rPr lang="ko-KR" altLang="en-US" sz="1400" dirty="0"/>
              <a:t>심판절차진행</a:t>
            </a:r>
          </a:p>
        </p:txBody>
      </p:sp>
      <p:cxnSp>
        <p:nvCxnSpPr>
          <p:cNvPr id="88" name="직선 화살표 연결선 87"/>
          <p:cNvCxnSpPr>
            <a:stCxn id="89" idx="2"/>
          </p:cNvCxnSpPr>
          <p:nvPr/>
        </p:nvCxnSpPr>
        <p:spPr>
          <a:xfrm flipH="1">
            <a:off x="10490200" y="4928229"/>
            <a:ext cx="239" cy="300842"/>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9" name="TextBox 88"/>
          <p:cNvSpPr txBox="1"/>
          <p:nvPr/>
        </p:nvSpPr>
        <p:spPr>
          <a:xfrm>
            <a:off x="9912396" y="4620452"/>
            <a:ext cx="1156086" cy="307777"/>
          </a:xfrm>
          <a:prstGeom prst="rect">
            <a:avLst/>
          </a:prstGeom>
          <a:noFill/>
        </p:spPr>
        <p:txBody>
          <a:bodyPr wrap="none" rtlCol="0">
            <a:spAutoFit/>
          </a:bodyPr>
          <a:lstStyle/>
          <a:p>
            <a:r>
              <a:rPr lang="ko-KR" altLang="en-US" sz="1400" dirty="0"/>
              <a:t>소송절차진행</a:t>
            </a:r>
          </a:p>
        </p:txBody>
      </p:sp>
      <p:cxnSp>
        <p:nvCxnSpPr>
          <p:cNvPr id="90" name="직선 화살표 연결선 89"/>
          <p:cNvCxnSpPr/>
          <p:nvPr/>
        </p:nvCxnSpPr>
        <p:spPr>
          <a:xfrm>
            <a:off x="9384914" y="2921000"/>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1" name="TextBox 90"/>
          <p:cNvSpPr txBox="1"/>
          <p:nvPr/>
        </p:nvSpPr>
        <p:spPr>
          <a:xfrm>
            <a:off x="9137310" y="2604481"/>
            <a:ext cx="508473" cy="307777"/>
          </a:xfrm>
          <a:prstGeom prst="rect">
            <a:avLst/>
          </a:prstGeom>
          <a:noFill/>
        </p:spPr>
        <p:txBody>
          <a:bodyPr wrap="none" rtlCol="0">
            <a:spAutoFit/>
          </a:bodyPr>
          <a:lstStyle/>
          <a:p>
            <a:r>
              <a:rPr lang="ko-KR" altLang="en-US" sz="1400" dirty="0"/>
              <a:t>종료</a:t>
            </a:r>
          </a:p>
        </p:txBody>
      </p:sp>
      <p:cxnSp>
        <p:nvCxnSpPr>
          <p:cNvPr id="98" name="직선 화살표 연결선 97"/>
          <p:cNvCxnSpPr/>
          <p:nvPr/>
        </p:nvCxnSpPr>
        <p:spPr>
          <a:xfrm>
            <a:off x="10483567" y="3999227"/>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100" name="TextBox 99"/>
          <p:cNvSpPr txBox="1"/>
          <p:nvPr/>
        </p:nvSpPr>
        <p:spPr>
          <a:xfrm>
            <a:off x="10235963" y="3682708"/>
            <a:ext cx="508473" cy="307777"/>
          </a:xfrm>
          <a:prstGeom prst="rect">
            <a:avLst/>
          </a:prstGeom>
          <a:noFill/>
        </p:spPr>
        <p:txBody>
          <a:bodyPr wrap="none" rtlCol="0">
            <a:spAutoFit/>
          </a:bodyPr>
          <a:lstStyle/>
          <a:p>
            <a:r>
              <a:rPr lang="ko-KR" altLang="en-US" sz="1400" dirty="0"/>
              <a:t>종료</a:t>
            </a:r>
          </a:p>
        </p:txBody>
      </p:sp>
      <p:grpSp>
        <p:nvGrpSpPr>
          <p:cNvPr id="26" name="그룹 25"/>
          <p:cNvGrpSpPr/>
          <p:nvPr/>
        </p:nvGrpSpPr>
        <p:grpSpPr>
          <a:xfrm>
            <a:off x="8343900" y="3246122"/>
            <a:ext cx="2146300" cy="2976877"/>
            <a:chOff x="8343900" y="2044700"/>
            <a:chExt cx="2146300" cy="3962400"/>
          </a:xfrm>
        </p:grpSpPr>
        <p:cxnSp>
          <p:nvCxnSpPr>
            <p:cNvPr id="25" name="직선 연결선 24"/>
            <p:cNvCxnSpPr/>
            <p:nvPr/>
          </p:nvCxnSpPr>
          <p:spPr>
            <a:xfrm>
              <a:off x="8343900" y="2044700"/>
              <a:ext cx="0" cy="3962400"/>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직선 연결선 100"/>
            <p:cNvCxnSpPr/>
            <p:nvPr/>
          </p:nvCxnSpPr>
          <p:spPr>
            <a:xfrm>
              <a:off x="9385300" y="2044700"/>
              <a:ext cx="0" cy="3962400"/>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2" name="직선 연결선 101"/>
            <p:cNvCxnSpPr/>
            <p:nvPr/>
          </p:nvCxnSpPr>
          <p:spPr>
            <a:xfrm>
              <a:off x="10490200" y="2044700"/>
              <a:ext cx="0" cy="3962400"/>
            </a:xfrm>
            <a:prstGeom prst="line">
              <a:avLst/>
            </a:prstGeom>
            <a:ln>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28" name="직선 연결선 27"/>
          <p:cNvCxnSpPr/>
          <p:nvPr/>
        </p:nvCxnSpPr>
        <p:spPr>
          <a:xfrm>
            <a:off x="8343900" y="4304027"/>
            <a:ext cx="1041014" cy="0"/>
          </a:xfrm>
          <a:prstGeom prst="line">
            <a:avLst/>
          </a:prstGeom>
          <a:ln w="5715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직선 연결선 102"/>
          <p:cNvCxnSpPr/>
          <p:nvPr/>
        </p:nvCxnSpPr>
        <p:spPr>
          <a:xfrm>
            <a:off x="8343900" y="5227798"/>
            <a:ext cx="2139667" cy="0"/>
          </a:xfrm>
          <a:prstGeom prst="line">
            <a:avLst/>
          </a:prstGeom>
          <a:ln w="57150">
            <a:solidFill>
              <a:schemeClr val="accent2"/>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4" name="TextBox 103"/>
          <p:cNvSpPr txBox="1"/>
          <p:nvPr/>
        </p:nvSpPr>
        <p:spPr>
          <a:xfrm>
            <a:off x="8619274" y="4346597"/>
            <a:ext cx="508473" cy="307777"/>
          </a:xfrm>
          <a:prstGeom prst="rect">
            <a:avLst/>
          </a:prstGeom>
          <a:noFill/>
        </p:spPr>
        <p:txBody>
          <a:bodyPr wrap="none" rtlCol="0">
            <a:spAutoFit/>
          </a:bodyPr>
          <a:lstStyle/>
          <a:p>
            <a:r>
              <a:rPr lang="ko-KR" altLang="en-US" sz="1400" dirty="0">
                <a:solidFill>
                  <a:srgbClr val="FF0000"/>
                </a:solidFill>
              </a:rPr>
              <a:t>중지</a:t>
            </a:r>
          </a:p>
        </p:txBody>
      </p:sp>
      <p:sp>
        <p:nvSpPr>
          <p:cNvPr id="105" name="TextBox 104"/>
          <p:cNvSpPr txBox="1"/>
          <p:nvPr/>
        </p:nvSpPr>
        <p:spPr>
          <a:xfrm>
            <a:off x="9127746" y="5345057"/>
            <a:ext cx="508473" cy="307777"/>
          </a:xfrm>
          <a:prstGeom prst="rect">
            <a:avLst/>
          </a:prstGeom>
          <a:solidFill>
            <a:schemeClr val="bg1"/>
          </a:solidFill>
        </p:spPr>
        <p:txBody>
          <a:bodyPr wrap="none" rtlCol="0">
            <a:spAutoFit/>
          </a:bodyPr>
          <a:lstStyle/>
          <a:p>
            <a:r>
              <a:rPr lang="ko-KR" altLang="en-US" sz="1400" dirty="0">
                <a:solidFill>
                  <a:srgbClr val="FF0000"/>
                </a:solidFill>
              </a:rPr>
              <a:t>중지</a:t>
            </a:r>
          </a:p>
        </p:txBody>
      </p:sp>
      <p:cxnSp>
        <p:nvCxnSpPr>
          <p:cNvPr id="106" name="직선 연결선 105"/>
          <p:cNvCxnSpPr/>
          <p:nvPr/>
        </p:nvCxnSpPr>
        <p:spPr>
          <a:xfrm>
            <a:off x="5771178" y="2514600"/>
            <a:ext cx="0" cy="4279091"/>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7" name="직선 연결선 106"/>
          <p:cNvCxnSpPr/>
          <p:nvPr/>
        </p:nvCxnSpPr>
        <p:spPr>
          <a:xfrm>
            <a:off x="0" y="2169274"/>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77875" y="986046"/>
            <a:ext cx="11936323" cy="1169551"/>
          </a:xfrm>
          <a:prstGeom prst="rect">
            <a:avLst/>
          </a:prstGeom>
          <a:noFill/>
        </p:spPr>
        <p:txBody>
          <a:bodyPr wrap="square" rtlCol="0">
            <a:spAutoFit/>
          </a:bodyPr>
          <a:lstStyle/>
          <a:p>
            <a:pPr fontAlgn="base"/>
            <a:r>
              <a:rPr lang="ko-KR" altLang="en-US" sz="1400" dirty="0">
                <a:solidFill>
                  <a:schemeClr val="tx2"/>
                </a:solidFill>
              </a:rPr>
              <a:t>특허출원의 심사에 있어서 필요한 경우에는 특허취소신청에 대한 결정이나 </a:t>
            </a:r>
            <a:r>
              <a:rPr lang="ko-KR" altLang="en-US" sz="1400" dirty="0" err="1">
                <a:solidFill>
                  <a:schemeClr val="tx2"/>
                </a:solidFill>
              </a:rPr>
              <a:t>심결이</a:t>
            </a:r>
            <a:r>
              <a:rPr lang="ko-KR" altLang="en-US" sz="1400" dirty="0">
                <a:solidFill>
                  <a:schemeClr val="tx2"/>
                </a:solidFill>
              </a:rPr>
              <a:t> 확정될 때까지 또는 소송절차가 완결될 때까지 그 심사절차를 </a:t>
            </a:r>
            <a:r>
              <a:rPr lang="ko-KR" altLang="en-US" sz="1400" dirty="0">
                <a:highlight>
                  <a:srgbClr val="FFFF00"/>
                </a:highlight>
              </a:rPr>
              <a:t>중지할 수 있다</a:t>
            </a:r>
            <a:r>
              <a:rPr lang="en-US" altLang="ko-KR" sz="1400" dirty="0">
                <a:solidFill>
                  <a:schemeClr val="tx2"/>
                </a:solidFill>
              </a:rPr>
              <a:t>(</a:t>
            </a:r>
            <a:r>
              <a:rPr lang="ko-KR" altLang="en-US" sz="1400" dirty="0">
                <a:solidFill>
                  <a:schemeClr val="tx2"/>
                </a:solidFill>
              </a:rPr>
              <a:t>法 </a:t>
            </a:r>
            <a:r>
              <a:rPr lang="en-US" altLang="ko-KR" sz="1400" dirty="0">
                <a:solidFill>
                  <a:schemeClr val="tx2"/>
                </a:solidFill>
              </a:rPr>
              <a:t>78①). </a:t>
            </a:r>
            <a:r>
              <a:rPr lang="ko-KR" altLang="en-US" sz="1400" dirty="0">
                <a:solidFill>
                  <a:schemeClr val="tx2"/>
                </a:solidFill>
              </a:rPr>
              <a:t>심판장은 심판에서 필요하면 </a:t>
            </a:r>
            <a:r>
              <a:rPr lang="ko-KR" altLang="en-US" sz="1400" dirty="0">
                <a:highlight>
                  <a:srgbClr val="FFFF00"/>
                </a:highlight>
              </a:rPr>
              <a:t>직권 또는 당사자의 신청에 따라 </a:t>
            </a:r>
            <a:r>
              <a:rPr lang="ko-KR" altLang="en-US" sz="1400" dirty="0">
                <a:solidFill>
                  <a:schemeClr val="tx2"/>
                </a:solidFill>
              </a:rPr>
              <a:t>그 </a:t>
            </a:r>
            <a:r>
              <a:rPr lang="ko-KR" altLang="en-US" sz="1400" dirty="0" err="1">
                <a:solidFill>
                  <a:schemeClr val="tx2"/>
                </a:solidFill>
              </a:rPr>
              <a:t>심판사건과</a:t>
            </a:r>
            <a:r>
              <a:rPr lang="ko-KR" altLang="en-US" sz="1400" dirty="0">
                <a:solidFill>
                  <a:schemeClr val="tx2"/>
                </a:solidFill>
              </a:rPr>
              <a:t> 관련되는 특허취소신청에 대한 결정 또는 다른 심판의 </a:t>
            </a:r>
            <a:r>
              <a:rPr lang="ko-KR" altLang="en-US" sz="1400" dirty="0" err="1">
                <a:solidFill>
                  <a:schemeClr val="tx2"/>
                </a:solidFill>
              </a:rPr>
              <a:t>심결이</a:t>
            </a:r>
            <a:r>
              <a:rPr lang="ko-KR" altLang="en-US" sz="1400" dirty="0">
                <a:solidFill>
                  <a:schemeClr val="tx2"/>
                </a:solidFill>
              </a:rPr>
              <a:t> 확정되거나 소송절차가 완결될 때까지 그 절차를 </a:t>
            </a:r>
            <a:r>
              <a:rPr lang="ko-KR" altLang="en-US" sz="1400" dirty="0">
                <a:highlight>
                  <a:srgbClr val="FFFF00"/>
                </a:highlight>
              </a:rPr>
              <a:t>중지할 수 있다</a:t>
            </a:r>
            <a:r>
              <a:rPr lang="en-US" altLang="ko-KR" sz="1400" dirty="0">
                <a:solidFill>
                  <a:schemeClr val="tx2"/>
                </a:solidFill>
              </a:rPr>
              <a:t>(</a:t>
            </a:r>
            <a:r>
              <a:rPr lang="ko-KR" altLang="en-US" sz="1400" dirty="0">
                <a:solidFill>
                  <a:schemeClr val="tx2"/>
                </a:solidFill>
              </a:rPr>
              <a:t>法 </a:t>
            </a:r>
            <a:r>
              <a:rPr lang="en-US" altLang="ko-KR" sz="1400" dirty="0">
                <a:solidFill>
                  <a:schemeClr val="tx2"/>
                </a:solidFill>
              </a:rPr>
              <a:t>164①). </a:t>
            </a:r>
            <a:r>
              <a:rPr lang="ko-KR" altLang="en-US" sz="1400" dirty="0">
                <a:solidFill>
                  <a:schemeClr val="tx2"/>
                </a:solidFill>
              </a:rPr>
              <a:t>법원은 소송에서 필요하면 </a:t>
            </a:r>
            <a:r>
              <a:rPr lang="ko-KR" altLang="en-US" sz="1400" dirty="0">
                <a:highlight>
                  <a:srgbClr val="FFFF00"/>
                </a:highlight>
              </a:rPr>
              <a:t>직권 또는 당사자의 신청에 따라</a:t>
            </a:r>
            <a:r>
              <a:rPr lang="ko-KR" altLang="en-US" sz="1400" dirty="0">
                <a:solidFill>
                  <a:srgbClr val="FF0000"/>
                </a:solidFill>
              </a:rPr>
              <a:t> </a:t>
            </a:r>
            <a:r>
              <a:rPr lang="ko-KR" altLang="en-US" sz="1400" dirty="0">
                <a:solidFill>
                  <a:schemeClr val="tx2"/>
                </a:solidFill>
              </a:rPr>
              <a:t>특허여부결정</a:t>
            </a:r>
            <a:r>
              <a:rPr lang="en-US" altLang="ko-KR" sz="1400" dirty="0">
                <a:solidFill>
                  <a:schemeClr val="tx2"/>
                </a:solidFill>
              </a:rPr>
              <a:t>, </a:t>
            </a:r>
            <a:r>
              <a:rPr lang="ko-KR" altLang="en-US" sz="1400" dirty="0">
                <a:solidFill>
                  <a:schemeClr val="tx2"/>
                </a:solidFill>
              </a:rPr>
              <a:t>특허취소신청에 대한 결정이나 특허에 관한 </a:t>
            </a:r>
            <a:r>
              <a:rPr lang="ko-KR" altLang="en-US" sz="1400" dirty="0" err="1">
                <a:solidFill>
                  <a:schemeClr val="tx2"/>
                </a:solidFill>
              </a:rPr>
              <a:t>심결이</a:t>
            </a:r>
            <a:r>
              <a:rPr lang="ko-KR" altLang="en-US" sz="1400" dirty="0">
                <a:solidFill>
                  <a:schemeClr val="tx2"/>
                </a:solidFill>
              </a:rPr>
              <a:t> 확정될 때까지 그 소송절차를 </a:t>
            </a:r>
            <a:r>
              <a:rPr lang="ko-KR" altLang="en-US" sz="1400" dirty="0">
                <a:highlight>
                  <a:srgbClr val="FFFF00"/>
                </a:highlight>
              </a:rPr>
              <a:t>중지할 수 있다</a:t>
            </a:r>
            <a:r>
              <a:rPr lang="en-US" altLang="ko-KR" sz="1400" dirty="0">
                <a:solidFill>
                  <a:schemeClr val="tx2"/>
                </a:solidFill>
              </a:rPr>
              <a:t>(</a:t>
            </a:r>
            <a:r>
              <a:rPr lang="ko-KR" altLang="en-US" sz="1400" dirty="0">
                <a:solidFill>
                  <a:schemeClr val="tx2"/>
                </a:solidFill>
              </a:rPr>
              <a:t>法</a:t>
            </a:r>
            <a:r>
              <a:rPr lang="en-US" altLang="ko-KR" sz="1400" dirty="0">
                <a:solidFill>
                  <a:schemeClr val="tx2"/>
                </a:solidFill>
              </a:rPr>
              <a:t>78②, 164②). </a:t>
            </a:r>
            <a:r>
              <a:rPr lang="ko-KR" altLang="en-US" sz="1400" dirty="0">
                <a:solidFill>
                  <a:schemeClr val="tx2"/>
                </a:solidFill>
              </a:rPr>
              <a:t>심사와 심판 또는 소송중인 사건들이 상호 관련성이 있을 때 이 사건들 간에 </a:t>
            </a:r>
            <a:r>
              <a:rPr lang="ko-KR" altLang="en-US" sz="1400" dirty="0">
                <a:highlight>
                  <a:srgbClr val="FFFF00"/>
                </a:highlight>
              </a:rPr>
              <a:t>상호 </a:t>
            </a:r>
            <a:r>
              <a:rPr lang="ko-KR" altLang="en-US" sz="1400" dirty="0" err="1">
                <a:highlight>
                  <a:srgbClr val="FFFF00"/>
                </a:highlight>
              </a:rPr>
              <a:t>모순ㆍ저촉되는</a:t>
            </a:r>
            <a:r>
              <a:rPr lang="ko-KR" altLang="en-US" sz="1400" dirty="0">
                <a:highlight>
                  <a:srgbClr val="FFFF00"/>
                </a:highlight>
              </a:rPr>
              <a:t> 결과를 예방</a:t>
            </a:r>
            <a:r>
              <a:rPr lang="ko-KR" altLang="en-US" sz="1400" dirty="0">
                <a:solidFill>
                  <a:schemeClr val="tx2"/>
                </a:solidFill>
              </a:rPr>
              <a:t>하고</a:t>
            </a:r>
            <a:r>
              <a:rPr lang="en-US" altLang="ko-KR" sz="1400" dirty="0">
                <a:solidFill>
                  <a:schemeClr val="tx2"/>
                </a:solidFill>
              </a:rPr>
              <a:t>, </a:t>
            </a:r>
            <a:r>
              <a:rPr lang="ko-KR" altLang="en-US" sz="1400" dirty="0">
                <a:solidFill>
                  <a:schemeClr val="tx2"/>
                </a:solidFill>
              </a:rPr>
              <a:t>나아가 심사</a:t>
            </a:r>
            <a:r>
              <a:rPr lang="en-US" altLang="ko-KR" sz="1400" dirty="0">
                <a:solidFill>
                  <a:schemeClr val="tx2"/>
                </a:solidFill>
              </a:rPr>
              <a:t>, </a:t>
            </a:r>
            <a:r>
              <a:rPr lang="ko-KR" altLang="en-US" sz="1400" dirty="0">
                <a:solidFill>
                  <a:schemeClr val="tx2"/>
                </a:solidFill>
              </a:rPr>
              <a:t>심판 및 소송 </a:t>
            </a:r>
            <a:r>
              <a:rPr lang="ko-KR" altLang="en-US" sz="1400" dirty="0">
                <a:highlight>
                  <a:srgbClr val="FFFF00"/>
                </a:highlight>
              </a:rPr>
              <a:t>등의 </a:t>
            </a:r>
            <a:r>
              <a:rPr lang="ko-KR" altLang="en-US" sz="1400" dirty="0" err="1">
                <a:highlight>
                  <a:srgbClr val="FFFF00"/>
                </a:highlight>
              </a:rPr>
              <a:t>소송경제를</a:t>
            </a:r>
            <a:r>
              <a:rPr lang="ko-KR" altLang="en-US" sz="1400" dirty="0">
                <a:highlight>
                  <a:srgbClr val="FFFF00"/>
                </a:highlight>
              </a:rPr>
              <a:t> 도모</a:t>
            </a:r>
            <a:r>
              <a:rPr lang="ko-KR" altLang="en-US" sz="1400" dirty="0">
                <a:solidFill>
                  <a:schemeClr val="tx2"/>
                </a:solidFill>
              </a:rPr>
              <a:t>하기 위해서이다</a:t>
            </a:r>
            <a:r>
              <a:rPr lang="en-US" altLang="ko-KR" sz="1400" dirty="0">
                <a:solidFill>
                  <a:schemeClr val="tx2"/>
                </a:solidFill>
              </a:rPr>
              <a:t>. </a:t>
            </a:r>
            <a:r>
              <a:rPr lang="ko-KR" altLang="en-US" sz="1400" dirty="0">
                <a:solidFill>
                  <a:schemeClr val="tx2"/>
                </a:solidFill>
              </a:rPr>
              <a:t>다만</a:t>
            </a:r>
            <a:r>
              <a:rPr lang="en-US" altLang="ko-KR" sz="1400" dirty="0">
                <a:solidFill>
                  <a:schemeClr val="tx2"/>
                </a:solidFill>
              </a:rPr>
              <a:t>, </a:t>
            </a:r>
            <a:r>
              <a:rPr lang="ko-KR" altLang="en-US" sz="1400" dirty="0">
                <a:solidFill>
                  <a:schemeClr val="tx2"/>
                </a:solidFill>
              </a:rPr>
              <a:t>절차를 중지할 것인지 여부는 </a:t>
            </a:r>
            <a:r>
              <a:rPr lang="ko-KR" altLang="en-US" sz="1400" dirty="0">
                <a:highlight>
                  <a:srgbClr val="FFFF00"/>
                </a:highlight>
              </a:rPr>
              <a:t>재량사항</a:t>
            </a:r>
            <a:r>
              <a:rPr lang="ko-KR" altLang="en-US" sz="1400" dirty="0">
                <a:solidFill>
                  <a:schemeClr val="tx2"/>
                </a:solidFill>
              </a:rPr>
              <a:t>이다</a:t>
            </a:r>
            <a:r>
              <a:rPr lang="en-US" altLang="ko-KR" sz="1400" dirty="0">
                <a:solidFill>
                  <a:schemeClr val="tx2"/>
                </a:solidFill>
              </a:rPr>
              <a:t>.</a:t>
            </a:r>
            <a:endParaRPr lang="en-US" altLang="ko-KR" sz="1400" dirty="0">
              <a:solidFill>
                <a:srgbClr val="FF0000"/>
              </a:solidFill>
            </a:endParaRPr>
          </a:p>
        </p:txBody>
      </p: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43</a:t>
            </a:fld>
            <a:endParaRPr lang="ko-KR" altLang="en-US"/>
          </a:p>
        </p:txBody>
      </p:sp>
    </p:spTree>
    <p:extLst>
      <p:ext uri="{BB962C8B-B14F-4D97-AF65-F5344CB8AC3E}">
        <p14:creationId xmlns:p14="http://schemas.microsoft.com/office/powerpoint/2010/main" val="105272519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err="1"/>
              <a:t>참고노트</a:t>
            </a:r>
            <a:endParaRPr lang="ko-KR" altLang="en-US" dirty="0"/>
          </a:p>
        </p:txBody>
      </p:sp>
      <p:sp>
        <p:nvSpPr>
          <p:cNvPr id="4" name="텍스트 개체 틀 3"/>
          <p:cNvSpPr>
            <a:spLocks noGrp="1"/>
          </p:cNvSpPr>
          <p:nvPr>
            <p:ph type="body" sz="quarter" idx="13"/>
          </p:nvPr>
        </p:nvSpPr>
        <p:spPr/>
        <p:txBody>
          <a:bodyPr/>
          <a:lstStyle/>
          <a:p>
            <a:r>
              <a:rPr lang="ko-KR" altLang="en-US" dirty="0"/>
              <a:t>지식재산처의 구조와 역할</a:t>
            </a:r>
          </a:p>
        </p:txBody>
      </p:sp>
      <p:sp>
        <p:nvSpPr>
          <p:cNvPr id="6" name="직사각형 5"/>
          <p:cNvSpPr/>
          <p:nvPr/>
        </p:nvSpPr>
        <p:spPr>
          <a:xfrm>
            <a:off x="508398" y="1992200"/>
            <a:ext cx="4365811" cy="403412"/>
          </a:xfrm>
          <a:prstGeom prst="rect">
            <a:avLst/>
          </a:prstGeom>
          <a:solidFill>
            <a:schemeClr val="accent1">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지식재산처장</a:t>
            </a:r>
          </a:p>
        </p:txBody>
      </p:sp>
      <p:sp>
        <p:nvSpPr>
          <p:cNvPr id="49" name="직사각형 48"/>
          <p:cNvSpPr/>
          <p:nvPr/>
        </p:nvSpPr>
        <p:spPr>
          <a:xfrm>
            <a:off x="508398" y="2994213"/>
            <a:ext cx="2124635" cy="403412"/>
          </a:xfrm>
          <a:prstGeom prst="rect">
            <a:avLst/>
          </a:prstGeom>
          <a:solidFill>
            <a:schemeClr val="accent3">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심사국</a:t>
            </a:r>
            <a:endParaRPr lang="ko-KR" altLang="en-US" sz="1400" dirty="0">
              <a:solidFill>
                <a:schemeClr val="tx1"/>
              </a:solidFill>
            </a:endParaRPr>
          </a:p>
        </p:txBody>
      </p:sp>
      <p:sp>
        <p:nvSpPr>
          <p:cNvPr id="53" name="직사각형 52"/>
          <p:cNvSpPr/>
          <p:nvPr/>
        </p:nvSpPr>
        <p:spPr>
          <a:xfrm>
            <a:off x="508398" y="3406587"/>
            <a:ext cx="2124635" cy="1819838"/>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지식재산처장</a:t>
            </a:r>
          </a:p>
        </p:txBody>
      </p:sp>
      <p:sp>
        <p:nvSpPr>
          <p:cNvPr id="54" name="직사각형 53"/>
          <p:cNvSpPr/>
          <p:nvPr/>
        </p:nvSpPr>
        <p:spPr>
          <a:xfrm>
            <a:off x="2749574" y="2994213"/>
            <a:ext cx="2124635" cy="403412"/>
          </a:xfrm>
          <a:prstGeom prst="rect">
            <a:avLst/>
          </a:prstGeom>
          <a:solidFill>
            <a:schemeClr val="accent3">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특허심판원</a:t>
            </a:r>
          </a:p>
        </p:txBody>
      </p:sp>
      <p:sp>
        <p:nvSpPr>
          <p:cNvPr id="55" name="직사각형 54"/>
          <p:cNvSpPr/>
          <p:nvPr/>
        </p:nvSpPr>
        <p:spPr>
          <a:xfrm>
            <a:off x="2749574" y="3406587"/>
            <a:ext cx="2124635" cy="1819838"/>
          </a:xfrm>
          <a:prstGeom prst="rect">
            <a:avLst/>
          </a:prstGeom>
          <a:solidFill>
            <a:schemeClr val="bg1"/>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t>지식재산처장</a:t>
            </a:r>
          </a:p>
        </p:txBody>
      </p:sp>
      <p:sp>
        <p:nvSpPr>
          <p:cNvPr id="9" name="모서리가 둥근 직사각형 8"/>
          <p:cNvSpPr/>
          <p:nvPr/>
        </p:nvSpPr>
        <p:spPr>
          <a:xfrm>
            <a:off x="893881" y="4087909"/>
            <a:ext cx="1389530" cy="430305"/>
          </a:xfrm>
          <a:prstGeom prst="roundRect">
            <a:avLst/>
          </a:prstGeom>
          <a:solidFill>
            <a:schemeClr val="accent4">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심사관</a:t>
            </a:r>
          </a:p>
        </p:txBody>
      </p:sp>
      <p:sp>
        <p:nvSpPr>
          <p:cNvPr id="56" name="모서리가 둥근 직사각형 55"/>
          <p:cNvSpPr/>
          <p:nvPr/>
        </p:nvSpPr>
        <p:spPr>
          <a:xfrm>
            <a:off x="3117126" y="3711389"/>
            <a:ext cx="1389530" cy="430305"/>
          </a:xfrm>
          <a:prstGeom prst="roundRect">
            <a:avLst/>
          </a:prstGeom>
          <a:solidFill>
            <a:schemeClr val="accent4">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err="1">
                <a:solidFill>
                  <a:schemeClr val="tx1"/>
                </a:solidFill>
              </a:rPr>
              <a:t>심판원장</a:t>
            </a:r>
            <a:endParaRPr lang="ko-KR" altLang="en-US" sz="1400" dirty="0">
              <a:solidFill>
                <a:schemeClr val="tx1"/>
              </a:solidFill>
            </a:endParaRPr>
          </a:p>
        </p:txBody>
      </p:sp>
      <p:sp>
        <p:nvSpPr>
          <p:cNvPr id="57" name="모서리가 둥근 직사각형 56"/>
          <p:cNvSpPr/>
          <p:nvPr/>
        </p:nvSpPr>
        <p:spPr>
          <a:xfrm>
            <a:off x="3117126" y="4401673"/>
            <a:ext cx="1389530" cy="430305"/>
          </a:xfrm>
          <a:prstGeom prst="roundRect">
            <a:avLst/>
          </a:prstGeom>
          <a:solidFill>
            <a:schemeClr val="accent4">
              <a:lumMod val="20000"/>
              <a:lumOff val="8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400" dirty="0">
                <a:solidFill>
                  <a:schemeClr val="tx1"/>
                </a:solidFill>
              </a:rPr>
              <a:t>심판관합의체</a:t>
            </a:r>
            <a:endParaRPr lang="en-US" altLang="ko-KR" sz="1400" dirty="0">
              <a:solidFill>
                <a:schemeClr val="tx1"/>
              </a:solidFill>
            </a:endParaRPr>
          </a:p>
          <a:p>
            <a:pPr algn="ctr"/>
            <a:r>
              <a:rPr lang="en-US" altLang="ko-KR" sz="1100" dirty="0">
                <a:solidFill>
                  <a:schemeClr val="tx1"/>
                </a:solidFill>
              </a:rPr>
              <a:t>(3</a:t>
            </a:r>
            <a:r>
              <a:rPr lang="ko-KR" altLang="en-US" sz="1100" dirty="0">
                <a:solidFill>
                  <a:schemeClr val="tx1"/>
                </a:solidFill>
              </a:rPr>
              <a:t>인</a:t>
            </a:r>
            <a:r>
              <a:rPr lang="en-US" altLang="ko-KR" sz="1100" dirty="0">
                <a:solidFill>
                  <a:schemeClr val="tx1"/>
                </a:solidFill>
              </a:rPr>
              <a:t> </a:t>
            </a:r>
            <a:r>
              <a:rPr lang="ko-KR" altLang="en-US" sz="1100" dirty="0">
                <a:solidFill>
                  <a:schemeClr val="tx1"/>
                </a:solidFill>
              </a:rPr>
              <a:t>또는 </a:t>
            </a:r>
            <a:r>
              <a:rPr lang="en-US" altLang="ko-KR" sz="1100" dirty="0">
                <a:solidFill>
                  <a:schemeClr val="tx1"/>
                </a:solidFill>
              </a:rPr>
              <a:t>5</a:t>
            </a:r>
            <a:r>
              <a:rPr lang="ko-KR" altLang="en-US" sz="1100" dirty="0">
                <a:solidFill>
                  <a:schemeClr val="tx1"/>
                </a:solidFill>
              </a:rPr>
              <a:t>인</a:t>
            </a:r>
            <a:r>
              <a:rPr lang="en-US" altLang="ko-KR" sz="1100" dirty="0">
                <a:solidFill>
                  <a:schemeClr val="tx1"/>
                </a:solidFill>
              </a:rPr>
              <a:t>)</a:t>
            </a:r>
            <a:endParaRPr lang="ko-KR" altLang="en-US" sz="1400" dirty="0">
              <a:solidFill>
                <a:schemeClr val="tx1"/>
              </a:solidFill>
            </a:endParaRPr>
          </a:p>
        </p:txBody>
      </p:sp>
      <p:grpSp>
        <p:nvGrpSpPr>
          <p:cNvPr id="21" name="그룹 20"/>
          <p:cNvGrpSpPr/>
          <p:nvPr/>
        </p:nvGrpSpPr>
        <p:grpSpPr>
          <a:xfrm>
            <a:off x="1570715" y="2404573"/>
            <a:ext cx="2236692" cy="589639"/>
            <a:chOff x="1570715" y="2537013"/>
            <a:chExt cx="2236692" cy="457200"/>
          </a:xfrm>
        </p:grpSpPr>
        <p:cxnSp>
          <p:nvCxnSpPr>
            <p:cNvPr id="13" name="직선 연결선 12"/>
            <p:cNvCxnSpPr>
              <a:stCxn id="49" idx="0"/>
            </p:cNvCxnSpPr>
            <p:nvPr/>
          </p:nvCxnSpPr>
          <p:spPr>
            <a:xfrm flipH="1" flipV="1">
              <a:off x="1570715" y="2537013"/>
              <a:ext cx="1" cy="457200"/>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1" name="직선 연결선 60"/>
            <p:cNvCxnSpPr/>
            <p:nvPr/>
          </p:nvCxnSpPr>
          <p:spPr>
            <a:xfrm flipH="1" flipV="1">
              <a:off x="3807406" y="2537013"/>
              <a:ext cx="1" cy="457200"/>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cxnSp>
        <p:nvCxnSpPr>
          <p:cNvPr id="62" name="직선 연결선 61"/>
          <p:cNvCxnSpPr>
            <a:stCxn id="57" idx="0"/>
          </p:cNvCxnSpPr>
          <p:nvPr/>
        </p:nvCxnSpPr>
        <p:spPr>
          <a:xfrm flipH="1" flipV="1">
            <a:off x="3807407" y="4137213"/>
            <a:ext cx="4484" cy="264460"/>
          </a:xfrm>
          <a:prstGeom prst="line">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 name="타원 14"/>
          <p:cNvSpPr/>
          <p:nvPr/>
        </p:nvSpPr>
        <p:spPr>
          <a:xfrm>
            <a:off x="3408476" y="5531227"/>
            <a:ext cx="797859" cy="797859"/>
          </a:xfrm>
          <a:prstGeom prst="ellipse">
            <a:avLst/>
          </a:prstGeom>
          <a:solidFill>
            <a:schemeClr val="accent2">
              <a:lumMod val="40000"/>
              <a:lumOff val="60000"/>
            </a:schemeClr>
          </a:solidFill>
          <a:ln>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algn="ctr"/>
            <a:r>
              <a:rPr lang="ko-KR" altLang="en-US" sz="1400" dirty="0">
                <a:solidFill>
                  <a:schemeClr val="tx2"/>
                </a:solidFill>
              </a:rPr>
              <a:t>심판장</a:t>
            </a:r>
          </a:p>
        </p:txBody>
      </p:sp>
      <p:cxnSp>
        <p:nvCxnSpPr>
          <p:cNvPr id="17" name="직선 화살표 연결선 16"/>
          <p:cNvCxnSpPr>
            <a:stCxn id="15" idx="0"/>
            <a:endCxn id="57" idx="2"/>
          </p:cNvCxnSpPr>
          <p:nvPr/>
        </p:nvCxnSpPr>
        <p:spPr>
          <a:xfrm flipV="1">
            <a:off x="3807406" y="4831978"/>
            <a:ext cx="4485" cy="699249"/>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4" name="직선 연결선 73"/>
          <p:cNvCxnSpPr/>
          <p:nvPr/>
        </p:nvCxnSpPr>
        <p:spPr>
          <a:xfrm>
            <a:off x="5412959" y="980388"/>
            <a:ext cx="0" cy="5766169"/>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graphicFrame>
        <p:nvGraphicFramePr>
          <p:cNvPr id="20" name="표 19"/>
          <p:cNvGraphicFramePr>
            <a:graphicFrameLocks noGrp="1"/>
          </p:cNvGraphicFramePr>
          <p:nvPr>
            <p:extLst>
              <p:ext uri="{D42A27DB-BD31-4B8C-83A1-F6EECF244321}">
                <p14:modId xmlns:p14="http://schemas.microsoft.com/office/powerpoint/2010/main" val="2642865620"/>
              </p:ext>
            </p:extLst>
          </p:nvPr>
        </p:nvGraphicFramePr>
        <p:xfrm>
          <a:off x="6044097" y="1960775"/>
          <a:ext cx="5673420" cy="4368310"/>
        </p:xfrm>
        <a:graphic>
          <a:graphicData uri="http://schemas.openxmlformats.org/drawingml/2006/table">
            <a:tbl>
              <a:tblPr firstRow="1">
                <a:tableStyleId>{BC89EF96-8CEA-46FF-86C4-4CE0E7609802}</a:tableStyleId>
              </a:tblPr>
              <a:tblGrid>
                <a:gridCol w="809190">
                  <a:extLst>
                    <a:ext uri="{9D8B030D-6E8A-4147-A177-3AD203B41FA5}">
                      <a16:colId xmlns:a16="http://schemas.microsoft.com/office/drawing/2014/main" val="3983345955"/>
                    </a:ext>
                  </a:extLst>
                </a:gridCol>
                <a:gridCol w="2535810">
                  <a:extLst>
                    <a:ext uri="{9D8B030D-6E8A-4147-A177-3AD203B41FA5}">
                      <a16:colId xmlns:a16="http://schemas.microsoft.com/office/drawing/2014/main" val="3677995398"/>
                    </a:ext>
                  </a:extLst>
                </a:gridCol>
                <a:gridCol w="1197204">
                  <a:extLst>
                    <a:ext uri="{9D8B030D-6E8A-4147-A177-3AD203B41FA5}">
                      <a16:colId xmlns:a16="http://schemas.microsoft.com/office/drawing/2014/main" val="2756715230"/>
                    </a:ext>
                  </a:extLst>
                </a:gridCol>
                <a:gridCol w="1131216">
                  <a:extLst>
                    <a:ext uri="{9D8B030D-6E8A-4147-A177-3AD203B41FA5}">
                      <a16:colId xmlns:a16="http://schemas.microsoft.com/office/drawing/2014/main" val="2915743918"/>
                    </a:ext>
                  </a:extLst>
                </a:gridCol>
              </a:tblGrid>
              <a:tr h="396153">
                <a:tc gridSpan="2">
                  <a:txBody>
                    <a:bodyPr/>
                    <a:lstStyle/>
                    <a:p>
                      <a:pPr algn="ctr" latinLnBrk="1"/>
                      <a:r>
                        <a:rPr lang="ko-KR" altLang="en-US" sz="1200" dirty="0"/>
                        <a:t>구분</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hMerge="1">
                  <a:txBody>
                    <a:bodyPr/>
                    <a:lstStyle/>
                    <a:p>
                      <a:pPr latinLnBrk="1"/>
                      <a:endParaRPr lang="ko-KR" altLang="en-US" sz="1200" dirty="0"/>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ko-KR" altLang="en-US" sz="1200" dirty="0" err="1"/>
                        <a:t>심사국</a:t>
                      </a:r>
                      <a:endParaRPr lang="ko-KR" altLang="en-US" sz="12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tc>
                  <a:txBody>
                    <a:bodyPr/>
                    <a:lstStyle/>
                    <a:p>
                      <a:pPr algn="ctr" latinLnBrk="1"/>
                      <a:r>
                        <a:rPr lang="ko-KR" altLang="en-US" sz="1200" dirty="0"/>
                        <a:t>심판원</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accent3">
                        <a:lumMod val="20000"/>
                        <a:lumOff val="80000"/>
                      </a:schemeClr>
                    </a:solidFill>
                  </a:tcPr>
                </a:tc>
                <a:extLst>
                  <a:ext uri="{0D108BD9-81ED-4DB2-BD59-A6C34878D82A}">
                    <a16:rowId xmlns:a16="http://schemas.microsoft.com/office/drawing/2014/main" val="3135348478"/>
                  </a:ext>
                </a:extLst>
              </a:tr>
              <a:tr h="476659">
                <a:tc rowSpan="5">
                  <a:txBody>
                    <a:bodyPr/>
                    <a:lstStyle/>
                    <a:p>
                      <a:pPr algn="ctr" latinLnBrk="1"/>
                      <a:r>
                        <a:rPr lang="ko-KR" altLang="en-US" sz="1200" dirty="0" err="1"/>
                        <a:t>절차사무</a:t>
                      </a:r>
                      <a:endParaRPr lang="ko-KR" altLang="en-US" sz="12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ko-KR" altLang="en-US" sz="1200" dirty="0"/>
                        <a:t>대리인 선임</a:t>
                      </a:r>
                      <a:r>
                        <a:rPr lang="en-US" altLang="ko-KR" sz="1200" dirty="0"/>
                        <a:t>/</a:t>
                      </a:r>
                      <a:r>
                        <a:rPr lang="ko-KR" altLang="en-US" sz="1200" dirty="0"/>
                        <a:t>교체</a:t>
                      </a:r>
                      <a:r>
                        <a:rPr lang="en-US" altLang="ko-KR" sz="1200" dirty="0"/>
                        <a:t>(</a:t>
                      </a:r>
                      <a:r>
                        <a:rPr lang="ko-KR" altLang="en-US" sz="1200" dirty="0"/>
                        <a:t>法 </a:t>
                      </a:r>
                      <a:r>
                        <a:rPr lang="en-US" altLang="ko-KR" sz="1200" dirty="0"/>
                        <a:t>10)</a:t>
                      </a:r>
                      <a:endParaRPr lang="ko-KR" altLang="en-US" sz="12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pPr algn="ctr" latinLnBrk="1"/>
                      <a:r>
                        <a:rPr lang="ko-KR" altLang="en-US" sz="1200" dirty="0"/>
                        <a:t>지식재산처장</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rowSpan="5">
                  <a:txBody>
                    <a:bodyPr/>
                    <a:lstStyle/>
                    <a:p>
                      <a:pPr algn="ctr" latinLnBrk="1"/>
                      <a:r>
                        <a:rPr lang="ko-KR" altLang="en-US" sz="1200" dirty="0"/>
                        <a:t>심판장</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31567777"/>
                  </a:ext>
                </a:extLst>
              </a:tr>
              <a:tr h="476659">
                <a:tc vMerge="1">
                  <a:txBody>
                    <a:bodyPr/>
                    <a:lstStyle/>
                    <a:p>
                      <a:pPr latinLnBrk="1"/>
                      <a:endParaRPr lang="ko-KR" altLang="en-US"/>
                    </a:p>
                  </a:txBody>
                  <a:tcPr/>
                </a:tc>
                <a:tc>
                  <a:txBody>
                    <a:bodyPr/>
                    <a:lstStyle/>
                    <a:p>
                      <a:pPr algn="ctr" latinLnBrk="1"/>
                      <a:r>
                        <a:rPr lang="ko-KR" altLang="en-US" sz="1200" dirty="0"/>
                        <a:t>절차의 속행</a:t>
                      </a:r>
                      <a:r>
                        <a:rPr lang="en-US" altLang="ko-KR" sz="1200" dirty="0"/>
                        <a:t>(</a:t>
                      </a:r>
                      <a:r>
                        <a:rPr lang="ko-KR" altLang="en-US" sz="1200" dirty="0"/>
                        <a:t>法 </a:t>
                      </a:r>
                      <a:r>
                        <a:rPr lang="en-US" altLang="ko-KR" sz="1200" dirty="0"/>
                        <a:t>19)</a:t>
                      </a:r>
                      <a:endParaRPr lang="ko-KR" altLang="en-US" sz="12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4233542548"/>
                  </a:ext>
                </a:extLst>
              </a:tr>
              <a:tr h="476659">
                <a:tc vMerge="1">
                  <a:txBody>
                    <a:bodyPr/>
                    <a:lstStyle/>
                    <a:p>
                      <a:pPr latinLnBrk="1"/>
                      <a:endParaRPr lang="ko-KR" altLang="en-US"/>
                    </a:p>
                  </a:txBody>
                  <a:tcPr/>
                </a:tc>
                <a:tc>
                  <a:txBody>
                    <a:bodyPr/>
                    <a:lstStyle/>
                    <a:p>
                      <a:pPr algn="ctr" latinLnBrk="1"/>
                      <a:r>
                        <a:rPr lang="ko-KR" altLang="en-US" sz="1200" dirty="0" err="1"/>
                        <a:t>취지통지</a:t>
                      </a:r>
                      <a:r>
                        <a:rPr lang="en-US" altLang="ko-KR" sz="1200" dirty="0"/>
                        <a:t>(</a:t>
                      </a:r>
                      <a:r>
                        <a:rPr lang="ko-KR" altLang="en-US" sz="1200" dirty="0"/>
                        <a:t>法 </a:t>
                      </a:r>
                      <a:r>
                        <a:rPr lang="en-US" altLang="ko-KR" sz="1200" dirty="0"/>
                        <a:t>22)</a:t>
                      </a:r>
                      <a:endParaRPr lang="ko-KR" altLang="en-US" sz="12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231754216"/>
                  </a:ext>
                </a:extLst>
              </a:tr>
              <a:tr h="476659">
                <a:tc vMerge="1">
                  <a:txBody>
                    <a:bodyPr/>
                    <a:lstStyle/>
                    <a:p>
                      <a:pPr latinLnBrk="1"/>
                      <a:endParaRPr lang="ko-KR" altLang="en-US"/>
                    </a:p>
                  </a:txBody>
                  <a:tcPr/>
                </a:tc>
                <a:tc>
                  <a:txBody>
                    <a:bodyPr/>
                    <a:lstStyle/>
                    <a:p>
                      <a:pPr algn="ctr" latinLnBrk="1"/>
                      <a:r>
                        <a:rPr lang="ko-KR" altLang="en-US" sz="1200" dirty="0" err="1"/>
                        <a:t>부본송달</a:t>
                      </a:r>
                      <a:r>
                        <a:rPr lang="en-US" altLang="ko-KR" sz="1200" dirty="0"/>
                        <a:t>(</a:t>
                      </a:r>
                      <a:r>
                        <a:rPr lang="ko-KR" altLang="en-US" sz="1200" dirty="0"/>
                        <a:t>法 </a:t>
                      </a:r>
                      <a:r>
                        <a:rPr lang="en-US" altLang="ko-KR" sz="1200" dirty="0"/>
                        <a:t>108, 132</a:t>
                      </a:r>
                      <a:r>
                        <a:rPr lang="ko-KR" altLang="en-US" sz="1200" dirty="0"/>
                        <a:t>의</a:t>
                      </a:r>
                      <a:r>
                        <a:rPr lang="en-US" altLang="ko-KR" sz="1200" dirty="0"/>
                        <a:t>4,</a:t>
                      </a:r>
                      <a:r>
                        <a:rPr lang="en-US" altLang="ko-KR" sz="1200" baseline="0" dirty="0"/>
                        <a:t> </a:t>
                      </a:r>
                      <a:r>
                        <a:rPr lang="en-US" altLang="ko-KR" sz="1200" dirty="0"/>
                        <a:t>147, 156)</a:t>
                      </a:r>
                      <a:endParaRPr lang="ko-KR" altLang="en-US" sz="12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2758651447"/>
                  </a:ext>
                </a:extLst>
              </a:tr>
              <a:tr h="476659">
                <a:tc vMerge="1">
                  <a:txBody>
                    <a:bodyPr/>
                    <a:lstStyle/>
                    <a:p>
                      <a:pPr latinLnBrk="1"/>
                      <a:endParaRPr lang="ko-KR" altLang="en-US"/>
                    </a:p>
                  </a:txBody>
                  <a:tcPr/>
                </a:tc>
                <a:tc>
                  <a:txBody>
                    <a:bodyPr/>
                    <a:lstStyle/>
                    <a:p>
                      <a:pPr marL="0" marR="0" indent="0" algn="ctr" defTabSz="914400" rtl="0" eaLnBrk="1" fontAlgn="auto" latinLnBrk="1" hangingPunct="1">
                        <a:lnSpc>
                          <a:spcPct val="100000"/>
                        </a:lnSpc>
                        <a:spcBef>
                          <a:spcPts val="0"/>
                        </a:spcBef>
                        <a:spcAft>
                          <a:spcPts val="0"/>
                        </a:spcAft>
                        <a:buClrTx/>
                        <a:buSzTx/>
                        <a:buFontTx/>
                        <a:buNone/>
                        <a:tabLst/>
                        <a:defRPr/>
                      </a:pPr>
                      <a:r>
                        <a:rPr lang="ko-KR" altLang="en-US" sz="1200" dirty="0" err="1"/>
                        <a:t>등본송달</a:t>
                      </a:r>
                      <a:r>
                        <a:rPr lang="en-US" altLang="ko-KR" sz="1200" dirty="0"/>
                        <a:t>(</a:t>
                      </a:r>
                      <a:r>
                        <a:rPr lang="ko-KR" altLang="en-US" sz="1200" dirty="0"/>
                        <a:t>法 </a:t>
                      </a:r>
                      <a:r>
                        <a:rPr lang="en-US" altLang="ko-KR" sz="1200" dirty="0"/>
                        <a:t>67, 132</a:t>
                      </a:r>
                      <a:r>
                        <a:rPr lang="ko-KR" altLang="en-US" sz="1200" dirty="0"/>
                        <a:t>의</a:t>
                      </a:r>
                      <a:r>
                        <a:rPr lang="en-US" altLang="ko-KR" sz="1200" dirty="0"/>
                        <a:t>14,</a:t>
                      </a:r>
                      <a:r>
                        <a:rPr lang="en-US" altLang="ko-KR" sz="1200" baseline="0" dirty="0"/>
                        <a:t> </a:t>
                      </a:r>
                      <a:r>
                        <a:rPr lang="en-US" altLang="ko-KR" sz="1200" dirty="0"/>
                        <a:t>162)</a:t>
                      </a:r>
                      <a:endParaRPr lang="ko-KR" altLang="en-US" sz="12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vMerge="1">
                  <a:txBody>
                    <a:bodyPr/>
                    <a:lstStyle/>
                    <a:p>
                      <a:pPr latinLnBrk="1"/>
                      <a:endParaRPr lang="ko-KR" altLang="en-US"/>
                    </a:p>
                  </a:txBody>
                  <a:tcPr/>
                </a:tc>
                <a:tc vMerge="1">
                  <a:txBody>
                    <a:bodyPr/>
                    <a:lstStyle/>
                    <a:p>
                      <a:pPr latinLnBrk="1"/>
                      <a:endParaRPr lang="ko-KR" altLang="en-US"/>
                    </a:p>
                  </a:txBody>
                  <a:tcPr/>
                </a:tc>
                <a:extLst>
                  <a:ext uri="{0D108BD9-81ED-4DB2-BD59-A6C34878D82A}">
                    <a16:rowId xmlns:a16="http://schemas.microsoft.com/office/drawing/2014/main" val="223091246"/>
                  </a:ext>
                </a:extLst>
              </a:tr>
              <a:tr h="794431">
                <a:tc>
                  <a:txBody>
                    <a:bodyPr/>
                    <a:lstStyle/>
                    <a:p>
                      <a:pPr algn="ctr" latinLnBrk="1"/>
                      <a:r>
                        <a:rPr lang="ko-KR" altLang="en-US" sz="1200" dirty="0" err="1"/>
                        <a:t>실체사무</a:t>
                      </a:r>
                      <a:endParaRPr lang="ko-KR" altLang="en-US" sz="12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ko-KR" altLang="en-US" sz="1200" dirty="0"/>
                        <a:t>의견제출기회의 부여</a:t>
                      </a:r>
                      <a:endParaRPr lang="en-US" altLang="ko-KR" sz="1200" dirty="0"/>
                    </a:p>
                    <a:p>
                      <a:pPr algn="ctr" latinLnBrk="1"/>
                      <a:r>
                        <a:rPr lang="en-US" altLang="ko-KR" sz="1200" dirty="0"/>
                        <a:t>(</a:t>
                      </a:r>
                      <a:r>
                        <a:rPr lang="ko-KR" altLang="en-US" sz="1200" dirty="0"/>
                        <a:t>法</a:t>
                      </a:r>
                      <a:r>
                        <a:rPr lang="ko-KR" altLang="en-US" sz="1200" baseline="0" dirty="0"/>
                        <a:t> </a:t>
                      </a:r>
                      <a:r>
                        <a:rPr lang="en-US" altLang="ko-KR" sz="1200" baseline="0" dirty="0"/>
                        <a:t>63, 132</a:t>
                      </a:r>
                      <a:r>
                        <a:rPr lang="ko-KR" altLang="en-US" sz="1200" baseline="0" dirty="0"/>
                        <a:t>의</a:t>
                      </a:r>
                      <a:r>
                        <a:rPr lang="en-US" altLang="ko-KR" sz="1200" baseline="0" dirty="0"/>
                        <a:t>13, 157, 159)</a:t>
                      </a:r>
                      <a:endParaRPr lang="en-US" altLang="ko-KR" sz="12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ko-KR" altLang="en-US" sz="1200" dirty="0"/>
                        <a:t>심사관</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ko-KR" altLang="en-US" sz="1200" dirty="0"/>
                        <a:t>심판장</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098828730"/>
                  </a:ext>
                </a:extLst>
              </a:tr>
              <a:tr h="794431">
                <a:tc gridSpan="2">
                  <a:txBody>
                    <a:bodyPr/>
                    <a:lstStyle/>
                    <a:p>
                      <a:pPr algn="ctr" latinLnBrk="1"/>
                      <a:r>
                        <a:rPr lang="ko-KR" altLang="en-US" sz="1200" dirty="0" err="1"/>
                        <a:t>실체심사</a:t>
                      </a:r>
                      <a:r>
                        <a:rPr lang="en-US" altLang="ko-KR" sz="1200" dirty="0"/>
                        <a:t>/</a:t>
                      </a:r>
                      <a:r>
                        <a:rPr lang="ko-KR" altLang="en-US" sz="1200" dirty="0" err="1"/>
                        <a:t>실체심리</a:t>
                      </a:r>
                      <a:endParaRPr lang="ko-KR" altLang="en-US" sz="1200" dirty="0"/>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hMerge="1">
                  <a:txBody>
                    <a:bodyPr/>
                    <a:lstStyle/>
                    <a:p>
                      <a:pPr latinLnBrk="1"/>
                      <a:endParaRPr lang="ko-KR" altLang="en-US" sz="1200" dirty="0"/>
                    </a:p>
                  </a:txBody>
                  <a:tcP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ko-KR" altLang="en-US" sz="1200" dirty="0"/>
                        <a:t>심사관</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tc>
                  <a:txBody>
                    <a:bodyPr/>
                    <a:lstStyle/>
                    <a:p>
                      <a:pPr algn="ctr" latinLnBrk="1"/>
                      <a:r>
                        <a:rPr lang="ko-KR" altLang="en-US" sz="1200" dirty="0"/>
                        <a:t>심판관합의체</a:t>
                      </a:r>
                    </a:p>
                  </a:txBody>
                  <a:tcPr anchor="ctr">
                    <a:lnL w="12700" cap="flat" cmpd="sng" algn="ctr">
                      <a:solidFill>
                        <a:schemeClr val="bg1">
                          <a:lumMod val="50000"/>
                        </a:schemeClr>
                      </a:solidFill>
                      <a:prstDash val="solid"/>
                      <a:round/>
                      <a:headEnd type="none" w="med" len="med"/>
                      <a:tailEnd type="none" w="med" len="med"/>
                    </a:lnL>
                    <a:lnR w="12700" cap="flat" cmpd="sng" algn="ctr">
                      <a:solidFill>
                        <a:schemeClr val="bg1">
                          <a:lumMod val="50000"/>
                        </a:schemeClr>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12700"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885815534"/>
                  </a:ext>
                </a:extLst>
              </a:tr>
            </a:tbl>
          </a:graphicData>
        </a:graphic>
      </p:graphicFrame>
      <p:sp>
        <p:nvSpPr>
          <p:cNvPr id="75" name="Rectangle 5"/>
          <p:cNvSpPr>
            <a:spLocks noChangeArrowheads="1"/>
          </p:cNvSpPr>
          <p:nvPr/>
        </p:nvSpPr>
        <p:spPr bwMode="auto">
          <a:xfrm>
            <a:off x="5977294" y="1254379"/>
            <a:ext cx="2274563"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err="1">
                <a:solidFill>
                  <a:schemeClr val="bg1"/>
                </a:solidFill>
                <a:latin typeface="+mj-ea"/>
                <a:ea typeface="+mj-ea"/>
              </a:rPr>
              <a:t>주체별</a:t>
            </a:r>
            <a:r>
              <a:rPr lang="ko-KR" altLang="en-US" sz="1600" b="0" dirty="0">
                <a:solidFill>
                  <a:schemeClr val="bg1"/>
                </a:solidFill>
                <a:latin typeface="+mj-ea"/>
                <a:ea typeface="+mj-ea"/>
              </a:rPr>
              <a:t> 공통 역할</a:t>
            </a:r>
          </a:p>
        </p:txBody>
      </p:sp>
      <p:sp>
        <p:nvSpPr>
          <p:cNvPr id="76" name="Rectangle 5"/>
          <p:cNvSpPr>
            <a:spLocks noChangeArrowheads="1"/>
          </p:cNvSpPr>
          <p:nvPr/>
        </p:nvSpPr>
        <p:spPr bwMode="auto">
          <a:xfrm>
            <a:off x="508398" y="1254379"/>
            <a:ext cx="2274563" cy="348102"/>
          </a:xfrm>
          <a:prstGeom prst="roundRect">
            <a:avLst>
              <a:gd name="adj" fmla="val 50000"/>
            </a:avLst>
          </a:prstGeom>
          <a:solidFill>
            <a:schemeClr val="accent1"/>
          </a:solidFill>
          <a:ln w="9525" algn="ctr">
            <a:noFill/>
            <a:miter lim="800000"/>
            <a:headEnd/>
            <a:tailEnd/>
          </a:ln>
        </p:spPr>
        <p:txBody>
          <a:bodyPr wrap="none" anchor="ctr"/>
          <a:lstStyle/>
          <a:p>
            <a:pPr algn="ctr"/>
            <a:r>
              <a:rPr lang="ko-KR" altLang="en-US" sz="1600" b="0" dirty="0">
                <a:solidFill>
                  <a:schemeClr val="bg1"/>
                </a:solidFill>
                <a:latin typeface="+mj-ea"/>
                <a:ea typeface="+mj-ea"/>
              </a:rPr>
              <a:t>지식재산처의 구조</a:t>
            </a:r>
          </a:p>
        </p:txBody>
      </p:sp>
      <p:sp>
        <p:nvSpPr>
          <p:cNvPr id="2" name="슬라이드 번호 개체 틀 1"/>
          <p:cNvSpPr>
            <a:spLocks noGrp="1"/>
          </p:cNvSpPr>
          <p:nvPr>
            <p:ph type="sldNum" sz="quarter" idx="12"/>
          </p:nvPr>
        </p:nvSpPr>
        <p:spPr/>
        <p:txBody>
          <a:bodyPr/>
          <a:lstStyle/>
          <a:p>
            <a:fld id="{3875FC6C-1516-4DC4-8C58-3090F7D4F003}" type="slidenum">
              <a:rPr lang="ko-KR" altLang="en-US" smtClean="0"/>
              <a:t>44</a:t>
            </a:fld>
            <a:endParaRPr lang="ko-KR" altLang="en-US"/>
          </a:p>
        </p:txBody>
      </p:sp>
    </p:spTree>
    <p:extLst>
      <p:ext uri="{BB962C8B-B14F-4D97-AF65-F5344CB8AC3E}">
        <p14:creationId xmlns:p14="http://schemas.microsoft.com/office/powerpoint/2010/main" val="197267575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총칙 체계</a:t>
            </a:r>
            <a:r>
              <a:rPr lang="en-US" altLang="ko-KR" dirty="0"/>
              <a:t>: </a:t>
            </a:r>
            <a:r>
              <a:rPr lang="ko-KR" altLang="en-US" dirty="0"/>
              <a:t>제</a:t>
            </a:r>
            <a:r>
              <a:rPr lang="en-US" altLang="ko-KR" dirty="0"/>
              <a:t>1</a:t>
            </a:r>
            <a:r>
              <a:rPr lang="ko-KR" altLang="en-US" dirty="0"/>
              <a:t>장</a:t>
            </a:r>
          </a:p>
        </p:txBody>
      </p:sp>
      <p:sp>
        <p:nvSpPr>
          <p:cNvPr id="5" name="직사각형 4"/>
          <p:cNvSpPr/>
          <p:nvPr/>
        </p:nvSpPr>
        <p:spPr>
          <a:xfrm>
            <a:off x="182592" y="3540483"/>
            <a:ext cx="602531" cy="60735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ko-KR" altLang="en-US" sz="1600" dirty="0"/>
              <a:t>총칙</a:t>
            </a:r>
          </a:p>
        </p:txBody>
      </p:sp>
      <p:sp>
        <p:nvSpPr>
          <p:cNvPr id="7" name="직사각형 6"/>
          <p:cNvSpPr/>
          <p:nvPr/>
        </p:nvSpPr>
        <p:spPr>
          <a:xfrm>
            <a:off x="1135236" y="1324623"/>
            <a:ext cx="2823906"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목적</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a:t>
            </a:r>
            <a:endParaRPr lang="ko-KR" altLang="en-US" sz="1100" dirty="0">
              <a:solidFill>
                <a:schemeClr val="tx1"/>
              </a:solidFill>
            </a:endParaRPr>
          </a:p>
        </p:txBody>
      </p:sp>
      <p:sp>
        <p:nvSpPr>
          <p:cNvPr id="8" name="직사각형 7"/>
          <p:cNvSpPr/>
          <p:nvPr/>
        </p:nvSpPr>
        <p:spPr>
          <a:xfrm>
            <a:off x="1135236" y="1798844"/>
            <a:ext cx="2823906"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정의</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a:t>
            </a:r>
            <a:endParaRPr lang="ko-KR" altLang="en-US" sz="1100" dirty="0">
              <a:solidFill>
                <a:schemeClr val="tx1"/>
              </a:solidFill>
            </a:endParaRPr>
          </a:p>
        </p:txBody>
      </p:sp>
      <p:sp>
        <p:nvSpPr>
          <p:cNvPr id="9" name="직사각형 8"/>
          <p:cNvSpPr/>
          <p:nvPr/>
        </p:nvSpPr>
        <p:spPr>
          <a:xfrm>
            <a:off x="1135236" y="2259053"/>
            <a:ext cx="2823906"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행위능력</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3~5①, 7</a:t>
            </a:r>
            <a:r>
              <a:rPr lang="ko-KR" altLang="en-US" sz="1100" dirty="0">
                <a:solidFill>
                  <a:schemeClr val="tx1"/>
                </a:solidFill>
              </a:rPr>
              <a:t>의</a:t>
            </a:r>
            <a:r>
              <a:rPr lang="en-US" altLang="ko-KR" sz="1100" dirty="0">
                <a:solidFill>
                  <a:schemeClr val="tx1"/>
                </a:solidFill>
              </a:rPr>
              <a:t>2)</a:t>
            </a:r>
            <a:endParaRPr lang="ko-KR" altLang="en-US" sz="1100" dirty="0">
              <a:solidFill>
                <a:schemeClr val="tx1"/>
              </a:solidFill>
            </a:endParaRPr>
          </a:p>
        </p:txBody>
      </p:sp>
      <p:sp>
        <p:nvSpPr>
          <p:cNvPr id="10" name="직사각형 9"/>
          <p:cNvSpPr/>
          <p:nvPr/>
        </p:nvSpPr>
        <p:spPr>
          <a:xfrm>
            <a:off x="1135236" y="2733274"/>
            <a:ext cx="2823906"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대리인</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3②, 5②~10, 12)</a:t>
            </a:r>
            <a:endParaRPr lang="ko-KR" altLang="en-US" sz="1100" dirty="0">
              <a:solidFill>
                <a:schemeClr val="tx1"/>
              </a:solidFill>
            </a:endParaRPr>
          </a:p>
        </p:txBody>
      </p:sp>
      <p:sp>
        <p:nvSpPr>
          <p:cNvPr id="11" name="직사각형 10"/>
          <p:cNvSpPr/>
          <p:nvPr/>
        </p:nvSpPr>
        <p:spPr>
          <a:xfrm>
            <a:off x="1135236" y="3188939"/>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복수당사자 대표</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11)</a:t>
            </a:r>
            <a:endParaRPr lang="ko-KR" altLang="en-US" sz="1100" dirty="0">
              <a:solidFill>
                <a:schemeClr val="tx1"/>
              </a:solidFill>
            </a:endParaRPr>
          </a:p>
        </p:txBody>
      </p:sp>
      <p:sp>
        <p:nvSpPr>
          <p:cNvPr id="12" name="직사각형 11"/>
          <p:cNvSpPr/>
          <p:nvPr/>
        </p:nvSpPr>
        <p:spPr>
          <a:xfrm>
            <a:off x="1135236" y="3663160"/>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err="1">
                <a:solidFill>
                  <a:schemeClr val="tx1"/>
                </a:solidFill>
              </a:rPr>
              <a:t>재외자의</a:t>
            </a:r>
            <a:r>
              <a:rPr lang="ko-KR" altLang="en-US" sz="1100" dirty="0">
                <a:solidFill>
                  <a:schemeClr val="tx1"/>
                </a:solidFill>
              </a:rPr>
              <a:t> 재판관할</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13)</a:t>
            </a:r>
            <a:endParaRPr lang="ko-KR" altLang="en-US" sz="1100" dirty="0">
              <a:solidFill>
                <a:schemeClr val="tx1"/>
              </a:solidFill>
            </a:endParaRPr>
          </a:p>
        </p:txBody>
      </p:sp>
      <p:sp>
        <p:nvSpPr>
          <p:cNvPr id="74" name="직사각형 73"/>
          <p:cNvSpPr/>
          <p:nvPr/>
        </p:nvSpPr>
        <p:spPr>
          <a:xfrm>
            <a:off x="1135236" y="4154601"/>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기일과 기간</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14, 15)</a:t>
            </a:r>
            <a:endParaRPr lang="ko-KR" altLang="en-US" sz="1100" dirty="0">
              <a:solidFill>
                <a:schemeClr val="tx1"/>
              </a:solidFill>
            </a:endParaRPr>
          </a:p>
        </p:txBody>
      </p:sp>
      <p:sp>
        <p:nvSpPr>
          <p:cNvPr id="75" name="직사각형 74"/>
          <p:cNvSpPr/>
          <p:nvPr/>
        </p:nvSpPr>
        <p:spPr>
          <a:xfrm>
            <a:off x="1135236" y="4608951"/>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특허에 관한 절차 일반</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16, 28~28</a:t>
            </a:r>
            <a:r>
              <a:rPr lang="ko-KR" altLang="en-US" sz="1100" dirty="0">
                <a:solidFill>
                  <a:schemeClr val="tx1"/>
                </a:solidFill>
              </a:rPr>
              <a:t>의</a:t>
            </a:r>
            <a:r>
              <a:rPr lang="en-US" altLang="ko-KR" sz="1100" dirty="0">
                <a:solidFill>
                  <a:schemeClr val="tx1"/>
                </a:solidFill>
              </a:rPr>
              <a:t>5)</a:t>
            </a:r>
            <a:endParaRPr lang="ko-KR" altLang="en-US" sz="1100" dirty="0">
              <a:solidFill>
                <a:schemeClr val="tx1"/>
              </a:solidFill>
            </a:endParaRPr>
          </a:p>
        </p:txBody>
      </p:sp>
      <p:sp>
        <p:nvSpPr>
          <p:cNvPr id="76" name="직사각형 75"/>
          <p:cNvSpPr/>
          <p:nvPr/>
        </p:nvSpPr>
        <p:spPr>
          <a:xfrm>
            <a:off x="1135236" y="5075700"/>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추후보완</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17, 67</a:t>
            </a:r>
            <a:r>
              <a:rPr lang="ko-KR" altLang="en-US" sz="1100" dirty="0">
                <a:solidFill>
                  <a:schemeClr val="tx1"/>
                </a:solidFill>
              </a:rPr>
              <a:t>의</a:t>
            </a:r>
            <a:r>
              <a:rPr lang="en-US" altLang="ko-KR" sz="1100" dirty="0">
                <a:solidFill>
                  <a:schemeClr val="tx1"/>
                </a:solidFill>
              </a:rPr>
              <a:t>3)</a:t>
            </a:r>
            <a:endParaRPr lang="ko-KR" altLang="en-US" sz="1100" dirty="0">
              <a:solidFill>
                <a:schemeClr val="tx1"/>
              </a:solidFill>
            </a:endParaRPr>
          </a:p>
        </p:txBody>
      </p:sp>
      <p:sp>
        <p:nvSpPr>
          <p:cNvPr id="31" name="직사각형 30"/>
          <p:cNvSpPr/>
          <p:nvPr/>
        </p:nvSpPr>
        <p:spPr>
          <a:xfrm>
            <a:off x="1135236" y="5529238"/>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절차의 효력의 승계 및 절차의 속행</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18, 19)</a:t>
            </a:r>
            <a:endParaRPr lang="ko-KR" altLang="en-US" sz="1100" dirty="0">
              <a:solidFill>
                <a:schemeClr val="tx1"/>
              </a:solidFill>
            </a:endParaRPr>
          </a:p>
        </p:txBody>
      </p:sp>
      <p:sp>
        <p:nvSpPr>
          <p:cNvPr id="32" name="직사각형 31"/>
          <p:cNvSpPr/>
          <p:nvPr/>
        </p:nvSpPr>
        <p:spPr>
          <a:xfrm>
            <a:off x="1135236" y="5983588"/>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절차의 정지</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20~24, 78, 164)</a:t>
            </a:r>
            <a:endParaRPr lang="ko-KR" altLang="en-US" sz="1100" dirty="0">
              <a:solidFill>
                <a:schemeClr val="tx1"/>
              </a:solidFill>
            </a:endParaRPr>
          </a:p>
        </p:txBody>
      </p:sp>
      <p:cxnSp>
        <p:nvCxnSpPr>
          <p:cNvPr id="15" name="꺾인 연결선 14"/>
          <p:cNvCxnSpPr>
            <a:stCxn id="5" idx="3"/>
            <a:endCxn id="7" idx="1"/>
          </p:cNvCxnSpPr>
          <p:nvPr/>
        </p:nvCxnSpPr>
        <p:spPr>
          <a:xfrm flipV="1">
            <a:off x="785123" y="1502456"/>
            <a:ext cx="350113" cy="2341703"/>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꺾인 연결선 16"/>
          <p:cNvCxnSpPr>
            <a:stCxn id="5" idx="3"/>
            <a:endCxn id="32" idx="1"/>
          </p:cNvCxnSpPr>
          <p:nvPr/>
        </p:nvCxnSpPr>
        <p:spPr>
          <a:xfrm>
            <a:off x="785123" y="3844159"/>
            <a:ext cx="350113" cy="231726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꺾인 연결선 18"/>
          <p:cNvCxnSpPr>
            <a:stCxn id="5" idx="3"/>
            <a:endCxn id="8" idx="1"/>
          </p:cNvCxnSpPr>
          <p:nvPr/>
        </p:nvCxnSpPr>
        <p:spPr>
          <a:xfrm flipV="1">
            <a:off x="785123" y="1976677"/>
            <a:ext cx="350113" cy="186748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꺾인 연결선 20"/>
          <p:cNvCxnSpPr>
            <a:stCxn id="5" idx="3"/>
            <a:endCxn id="9" idx="1"/>
          </p:cNvCxnSpPr>
          <p:nvPr/>
        </p:nvCxnSpPr>
        <p:spPr>
          <a:xfrm flipV="1">
            <a:off x="785123" y="2436886"/>
            <a:ext cx="350113" cy="1407273"/>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5" idx="3"/>
            <a:endCxn id="74" idx="1"/>
          </p:cNvCxnSpPr>
          <p:nvPr/>
        </p:nvCxnSpPr>
        <p:spPr>
          <a:xfrm>
            <a:off x="785123" y="3844159"/>
            <a:ext cx="350113" cy="48827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꺾인 연결선 26"/>
          <p:cNvCxnSpPr>
            <a:stCxn id="5" idx="3"/>
            <a:endCxn id="75" idx="1"/>
          </p:cNvCxnSpPr>
          <p:nvPr/>
        </p:nvCxnSpPr>
        <p:spPr>
          <a:xfrm>
            <a:off x="785123" y="3844159"/>
            <a:ext cx="350113" cy="94262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꺾인 연결선 28"/>
          <p:cNvCxnSpPr>
            <a:stCxn id="5" idx="3"/>
            <a:endCxn id="76" idx="1"/>
          </p:cNvCxnSpPr>
          <p:nvPr/>
        </p:nvCxnSpPr>
        <p:spPr>
          <a:xfrm>
            <a:off x="785123" y="3844159"/>
            <a:ext cx="350113" cy="1409374"/>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꺾인 연결선 33"/>
          <p:cNvCxnSpPr>
            <a:stCxn id="5" idx="3"/>
            <a:endCxn id="31" idx="1"/>
          </p:cNvCxnSpPr>
          <p:nvPr/>
        </p:nvCxnSpPr>
        <p:spPr>
          <a:xfrm>
            <a:off x="785123" y="3844159"/>
            <a:ext cx="350113" cy="186291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꺾인 연결선 35"/>
          <p:cNvCxnSpPr>
            <a:stCxn id="5" idx="3"/>
            <a:endCxn id="10" idx="1"/>
          </p:cNvCxnSpPr>
          <p:nvPr/>
        </p:nvCxnSpPr>
        <p:spPr>
          <a:xfrm flipV="1">
            <a:off x="785123" y="2911107"/>
            <a:ext cx="350113" cy="93305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꺾인 연결선 37"/>
          <p:cNvCxnSpPr>
            <a:stCxn id="5" idx="3"/>
            <a:endCxn id="11" idx="1"/>
          </p:cNvCxnSpPr>
          <p:nvPr/>
        </p:nvCxnSpPr>
        <p:spPr>
          <a:xfrm flipV="1">
            <a:off x="785123" y="3366772"/>
            <a:ext cx="350113" cy="47738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꺾인 연결선 39"/>
          <p:cNvCxnSpPr>
            <a:stCxn id="5" idx="3"/>
            <a:endCxn id="12" idx="1"/>
          </p:cNvCxnSpPr>
          <p:nvPr/>
        </p:nvCxnSpPr>
        <p:spPr>
          <a:xfrm flipV="1">
            <a:off x="785123" y="3840993"/>
            <a:ext cx="350113" cy="3166"/>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직사각형 40"/>
          <p:cNvSpPr/>
          <p:nvPr/>
        </p:nvSpPr>
        <p:spPr>
          <a:xfrm>
            <a:off x="4390289" y="1858045"/>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원칙</a:t>
            </a:r>
            <a:r>
              <a:rPr lang="en-US" altLang="ko-KR" sz="1000" dirty="0">
                <a:solidFill>
                  <a:schemeClr val="tx1"/>
                </a:solidFill>
              </a:rPr>
              <a:t>: </a:t>
            </a:r>
            <a:r>
              <a:rPr lang="ko-KR" altLang="en-US" sz="1000" dirty="0">
                <a:solidFill>
                  <a:schemeClr val="tx1"/>
                </a:solidFill>
              </a:rPr>
              <a:t>발명의 정의 규정 만족</a:t>
            </a:r>
          </a:p>
        </p:txBody>
      </p:sp>
      <p:sp>
        <p:nvSpPr>
          <p:cNvPr id="60" name="직사각형 59"/>
          <p:cNvSpPr/>
          <p:nvPr/>
        </p:nvSpPr>
        <p:spPr>
          <a:xfrm>
            <a:off x="4390289" y="2283894"/>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예외</a:t>
            </a:r>
            <a:r>
              <a:rPr lang="en-US" altLang="ko-KR" sz="1000" dirty="0">
                <a:solidFill>
                  <a:schemeClr val="tx1"/>
                </a:solidFill>
              </a:rPr>
              <a:t>: </a:t>
            </a:r>
            <a:r>
              <a:rPr lang="ko-KR" altLang="en-US" sz="1000" dirty="0">
                <a:solidFill>
                  <a:schemeClr val="tx1"/>
                </a:solidFill>
              </a:rPr>
              <a:t>탄력적 해석</a:t>
            </a:r>
          </a:p>
        </p:txBody>
      </p:sp>
      <p:sp>
        <p:nvSpPr>
          <p:cNvPr id="30" name="직사각형 29"/>
          <p:cNvSpPr/>
          <p:nvPr/>
        </p:nvSpPr>
        <p:spPr>
          <a:xfrm>
            <a:off x="6193690" y="2275427"/>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식물발명</a:t>
            </a:r>
          </a:p>
        </p:txBody>
      </p:sp>
      <p:sp>
        <p:nvSpPr>
          <p:cNvPr id="33" name="직사각형 32"/>
          <p:cNvSpPr/>
          <p:nvPr/>
        </p:nvSpPr>
        <p:spPr>
          <a:xfrm>
            <a:off x="6193690" y="2562469"/>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미생물발명</a:t>
            </a:r>
          </a:p>
        </p:txBody>
      </p:sp>
      <p:sp>
        <p:nvSpPr>
          <p:cNvPr id="35" name="직사각형 34"/>
          <p:cNvSpPr/>
          <p:nvPr/>
        </p:nvSpPr>
        <p:spPr>
          <a:xfrm>
            <a:off x="6193690" y="2851276"/>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용도발명</a:t>
            </a:r>
          </a:p>
        </p:txBody>
      </p:sp>
      <p:sp>
        <p:nvSpPr>
          <p:cNvPr id="37" name="직사각형 36"/>
          <p:cNvSpPr/>
          <p:nvPr/>
        </p:nvSpPr>
        <p:spPr>
          <a:xfrm>
            <a:off x="6193690" y="3139143"/>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컴퓨터프로그램관련발명</a:t>
            </a:r>
          </a:p>
        </p:txBody>
      </p:sp>
      <p:cxnSp>
        <p:nvCxnSpPr>
          <p:cNvPr id="6" name="꺾인 연결선 5"/>
          <p:cNvCxnSpPr>
            <a:stCxn id="41" idx="1"/>
            <a:endCxn id="60" idx="1"/>
          </p:cNvCxnSpPr>
          <p:nvPr/>
        </p:nvCxnSpPr>
        <p:spPr>
          <a:xfrm rot="10800000" flipV="1">
            <a:off x="4390289" y="1982644"/>
            <a:ext cx="12700" cy="425849"/>
          </a:xfrm>
          <a:prstGeom prst="bentConnector3">
            <a:avLst>
              <a:gd name="adj1" fmla="val 180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꺾인 연결선 15"/>
          <p:cNvCxnSpPr>
            <a:stCxn id="60" idx="3"/>
            <a:endCxn id="30" idx="1"/>
          </p:cNvCxnSpPr>
          <p:nvPr/>
        </p:nvCxnSpPr>
        <p:spPr>
          <a:xfrm flipV="1">
            <a:off x="6025659" y="2400027"/>
            <a:ext cx="168031" cy="846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꺾인 연결선 19"/>
          <p:cNvCxnSpPr>
            <a:stCxn id="60" idx="3"/>
            <a:endCxn id="37" idx="1"/>
          </p:cNvCxnSpPr>
          <p:nvPr/>
        </p:nvCxnSpPr>
        <p:spPr>
          <a:xfrm>
            <a:off x="6025659" y="2408494"/>
            <a:ext cx="168031" cy="85524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꺾인 연결선 22"/>
          <p:cNvCxnSpPr>
            <a:stCxn id="60" idx="3"/>
            <a:endCxn id="33" idx="1"/>
          </p:cNvCxnSpPr>
          <p:nvPr/>
        </p:nvCxnSpPr>
        <p:spPr>
          <a:xfrm>
            <a:off x="6025659" y="2408494"/>
            <a:ext cx="168031" cy="27857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꺾인 연결선 25"/>
          <p:cNvCxnSpPr>
            <a:stCxn id="60" idx="3"/>
            <a:endCxn id="35" idx="1"/>
          </p:cNvCxnSpPr>
          <p:nvPr/>
        </p:nvCxnSpPr>
        <p:spPr>
          <a:xfrm>
            <a:off x="6025659" y="2408494"/>
            <a:ext cx="168031" cy="56738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직사각형 47"/>
          <p:cNvSpPr/>
          <p:nvPr/>
        </p:nvSpPr>
        <p:spPr>
          <a:xfrm>
            <a:off x="8936907" y="1934248"/>
            <a:ext cx="638908"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재내자</a:t>
            </a:r>
          </a:p>
        </p:txBody>
      </p:sp>
      <p:sp>
        <p:nvSpPr>
          <p:cNvPr id="49" name="직사각형 48"/>
          <p:cNvSpPr/>
          <p:nvPr/>
        </p:nvSpPr>
        <p:spPr>
          <a:xfrm>
            <a:off x="8936907" y="2605640"/>
            <a:ext cx="638908"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재외자</a:t>
            </a:r>
          </a:p>
        </p:txBody>
      </p:sp>
      <p:cxnSp>
        <p:nvCxnSpPr>
          <p:cNvPr id="50" name="꺾인 연결선 49"/>
          <p:cNvCxnSpPr>
            <a:stCxn id="48" idx="1"/>
            <a:endCxn id="49" idx="1"/>
          </p:cNvCxnSpPr>
          <p:nvPr/>
        </p:nvCxnSpPr>
        <p:spPr>
          <a:xfrm rot="10800000" flipV="1">
            <a:off x="8936907" y="2058848"/>
            <a:ext cx="12700" cy="671392"/>
          </a:xfrm>
          <a:prstGeom prst="bentConnector3">
            <a:avLst>
              <a:gd name="adj1" fmla="val 180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2" name="직사각형 51"/>
          <p:cNvSpPr/>
          <p:nvPr/>
        </p:nvSpPr>
        <p:spPr>
          <a:xfrm>
            <a:off x="10020640" y="1925781"/>
            <a:ext cx="884442"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원칙</a:t>
            </a:r>
          </a:p>
        </p:txBody>
      </p:sp>
      <p:sp>
        <p:nvSpPr>
          <p:cNvPr id="53" name="직사각형 52"/>
          <p:cNvSpPr/>
          <p:nvPr/>
        </p:nvSpPr>
        <p:spPr>
          <a:xfrm>
            <a:off x="10020640" y="2250026"/>
            <a:ext cx="884442"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예외</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3, 4)</a:t>
            </a:r>
            <a:endParaRPr lang="ko-KR" altLang="en-US" sz="1000" dirty="0">
              <a:solidFill>
                <a:schemeClr val="tx1"/>
              </a:solidFill>
            </a:endParaRPr>
          </a:p>
        </p:txBody>
      </p:sp>
      <p:cxnSp>
        <p:nvCxnSpPr>
          <p:cNvPr id="54" name="꺾인 연결선 53"/>
          <p:cNvCxnSpPr>
            <a:stCxn id="52" idx="1"/>
            <a:endCxn id="48" idx="3"/>
          </p:cNvCxnSpPr>
          <p:nvPr/>
        </p:nvCxnSpPr>
        <p:spPr>
          <a:xfrm rot="10800000" flipV="1">
            <a:off x="9575816" y="2050380"/>
            <a:ext cx="444825" cy="8467"/>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5" name="직사각형 54"/>
          <p:cNvSpPr/>
          <p:nvPr/>
        </p:nvSpPr>
        <p:spPr>
          <a:xfrm>
            <a:off x="10020640" y="2607076"/>
            <a:ext cx="884442"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원칙</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5①)</a:t>
            </a:r>
            <a:endParaRPr lang="ko-KR" altLang="en-US" sz="1000" dirty="0">
              <a:solidFill>
                <a:schemeClr val="tx1"/>
              </a:solidFill>
            </a:endParaRPr>
          </a:p>
        </p:txBody>
      </p:sp>
      <p:sp>
        <p:nvSpPr>
          <p:cNvPr id="56" name="직사각형 55"/>
          <p:cNvSpPr/>
          <p:nvPr/>
        </p:nvSpPr>
        <p:spPr>
          <a:xfrm>
            <a:off x="10020640" y="2931321"/>
            <a:ext cx="884442"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예외</a:t>
            </a:r>
          </a:p>
        </p:txBody>
      </p:sp>
      <p:cxnSp>
        <p:nvCxnSpPr>
          <p:cNvPr id="57" name="꺾인 연결선 56"/>
          <p:cNvCxnSpPr>
            <a:stCxn id="55" idx="1"/>
            <a:endCxn id="49" idx="3"/>
          </p:cNvCxnSpPr>
          <p:nvPr/>
        </p:nvCxnSpPr>
        <p:spPr>
          <a:xfrm rot="10800000">
            <a:off x="9575816" y="2730240"/>
            <a:ext cx="444825" cy="1436"/>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7" name="꺾인 연결선 46"/>
          <p:cNvCxnSpPr>
            <a:stCxn id="48" idx="3"/>
            <a:endCxn id="53" idx="1"/>
          </p:cNvCxnSpPr>
          <p:nvPr/>
        </p:nvCxnSpPr>
        <p:spPr>
          <a:xfrm>
            <a:off x="9575815" y="2058848"/>
            <a:ext cx="444825" cy="31577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9" name="꺾인 연결선 58"/>
          <p:cNvCxnSpPr>
            <a:stCxn id="49" idx="3"/>
            <a:endCxn id="56" idx="1"/>
          </p:cNvCxnSpPr>
          <p:nvPr/>
        </p:nvCxnSpPr>
        <p:spPr>
          <a:xfrm>
            <a:off x="9575815" y="2730240"/>
            <a:ext cx="444825" cy="325681"/>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4" name="직사각형 63"/>
          <p:cNvSpPr/>
          <p:nvPr/>
        </p:nvSpPr>
        <p:spPr>
          <a:xfrm>
            <a:off x="4390289" y="4248343"/>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대리인의 종류</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3 ②, 5②)</a:t>
            </a:r>
            <a:endParaRPr lang="ko-KR" altLang="en-US" sz="1000" dirty="0">
              <a:solidFill>
                <a:schemeClr val="tx1"/>
              </a:solidFill>
            </a:endParaRPr>
          </a:p>
        </p:txBody>
      </p:sp>
      <p:sp>
        <p:nvSpPr>
          <p:cNvPr id="65" name="직사각형 64"/>
          <p:cNvSpPr/>
          <p:nvPr/>
        </p:nvSpPr>
        <p:spPr>
          <a:xfrm>
            <a:off x="4390289" y="4657258"/>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대리권의 내용</a:t>
            </a:r>
          </a:p>
        </p:txBody>
      </p:sp>
      <p:sp>
        <p:nvSpPr>
          <p:cNvPr id="66" name="직사각형 65"/>
          <p:cNvSpPr/>
          <p:nvPr/>
        </p:nvSpPr>
        <p:spPr>
          <a:xfrm>
            <a:off x="6193690" y="4648791"/>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대리권의 범위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6)</a:t>
            </a:r>
            <a:endParaRPr lang="ko-KR" altLang="en-US" sz="1000" dirty="0">
              <a:solidFill>
                <a:schemeClr val="tx1"/>
              </a:solidFill>
            </a:endParaRPr>
          </a:p>
        </p:txBody>
      </p:sp>
      <p:sp>
        <p:nvSpPr>
          <p:cNvPr id="67" name="직사각형 66"/>
          <p:cNvSpPr/>
          <p:nvPr/>
        </p:nvSpPr>
        <p:spPr>
          <a:xfrm>
            <a:off x="6193690" y="4935833"/>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대리권의 증명</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7)</a:t>
            </a:r>
            <a:endParaRPr lang="ko-KR" altLang="en-US" sz="1000" dirty="0">
              <a:solidFill>
                <a:schemeClr val="tx1"/>
              </a:solidFill>
            </a:endParaRPr>
          </a:p>
        </p:txBody>
      </p:sp>
      <p:sp>
        <p:nvSpPr>
          <p:cNvPr id="68" name="직사각형 67"/>
          <p:cNvSpPr/>
          <p:nvPr/>
        </p:nvSpPr>
        <p:spPr>
          <a:xfrm>
            <a:off x="6193690" y="5224640"/>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대리권의 </a:t>
            </a:r>
            <a:r>
              <a:rPr lang="ko-KR" altLang="en-US" sz="1000" dirty="0" err="1">
                <a:solidFill>
                  <a:schemeClr val="tx1"/>
                </a:solidFill>
              </a:rPr>
              <a:t>불소멸</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8)</a:t>
            </a:r>
            <a:endParaRPr lang="ko-KR" altLang="en-US" sz="1000" dirty="0">
              <a:solidFill>
                <a:schemeClr val="tx1"/>
              </a:solidFill>
            </a:endParaRPr>
          </a:p>
        </p:txBody>
      </p:sp>
      <p:sp>
        <p:nvSpPr>
          <p:cNvPr id="69" name="직사각형 68"/>
          <p:cNvSpPr/>
          <p:nvPr/>
        </p:nvSpPr>
        <p:spPr>
          <a:xfrm>
            <a:off x="6193690" y="5826163"/>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대리인의 선임</a:t>
            </a:r>
            <a:r>
              <a:rPr lang="en-US" altLang="ko-KR" sz="1000" dirty="0">
                <a:solidFill>
                  <a:schemeClr val="tx1"/>
                </a:solidFill>
              </a:rPr>
              <a:t>/</a:t>
            </a:r>
            <a:r>
              <a:rPr lang="ko-KR" altLang="en-US" sz="1000" dirty="0">
                <a:solidFill>
                  <a:schemeClr val="tx1"/>
                </a:solidFill>
              </a:rPr>
              <a:t>개임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10)</a:t>
            </a:r>
            <a:endParaRPr lang="ko-KR" altLang="en-US" sz="1000" dirty="0">
              <a:solidFill>
                <a:schemeClr val="tx1"/>
              </a:solidFill>
            </a:endParaRPr>
          </a:p>
        </p:txBody>
      </p:sp>
      <p:cxnSp>
        <p:nvCxnSpPr>
          <p:cNvPr id="70" name="꺾인 연결선 69"/>
          <p:cNvCxnSpPr>
            <a:stCxn id="64" idx="1"/>
            <a:endCxn id="65" idx="1"/>
          </p:cNvCxnSpPr>
          <p:nvPr/>
        </p:nvCxnSpPr>
        <p:spPr>
          <a:xfrm rot="10800000" flipV="1">
            <a:off x="4390289" y="4372942"/>
            <a:ext cx="12700" cy="408915"/>
          </a:xfrm>
          <a:prstGeom prst="bentConnector3">
            <a:avLst>
              <a:gd name="adj1" fmla="val 180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1" name="꺾인 연결선 70"/>
          <p:cNvCxnSpPr>
            <a:stCxn id="65" idx="3"/>
            <a:endCxn id="66" idx="1"/>
          </p:cNvCxnSpPr>
          <p:nvPr/>
        </p:nvCxnSpPr>
        <p:spPr>
          <a:xfrm flipV="1">
            <a:off x="6025659" y="4773391"/>
            <a:ext cx="168031" cy="846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꺾인 연결선 71"/>
          <p:cNvCxnSpPr>
            <a:stCxn id="65" idx="3"/>
            <a:endCxn id="69" idx="1"/>
          </p:cNvCxnSpPr>
          <p:nvPr/>
        </p:nvCxnSpPr>
        <p:spPr>
          <a:xfrm>
            <a:off x="6025659" y="4781858"/>
            <a:ext cx="168031" cy="116890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3" name="꺾인 연결선 72"/>
          <p:cNvCxnSpPr>
            <a:stCxn id="65" idx="3"/>
            <a:endCxn id="67" idx="1"/>
          </p:cNvCxnSpPr>
          <p:nvPr/>
        </p:nvCxnSpPr>
        <p:spPr>
          <a:xfrm>
            <a:off x="6025659" y="4781858"/>
            <a:ext cx="168031" cy="27857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7" name="꺾인 연결선 76"/>
          <p:cNvCxnSpPr>
            <a:stCxn id="65" idx="3"/>
            <a:endCxn id="68" idx="1"/>
          </p:cNvCxnSpPr>
          <p:nvPr/>
        </p:nvCxnSpPr>
        <p:spPr>
          <a:xfrm>
            <a:off x="6025659" y="4781858"/>
            <a:ext cx="168031" cy="56738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78" name="직사각형 77"/>
          <p:cNvSpPr/>
          <p:nvPr/>
        </p:nvSpPr>
        <p:spPr>
          <a:xfrm>
            <a:off x="6193690" y="6124786"/>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민사소송법의 준용</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12)</a:t>
            </a:r>
            <a:endParaRPr lang="ko-KR" altLang="en-US" sz="1000" dirty="0">
              <a:solidFill>
                <a:schemeClr val="tx1"/>
              </a:solidFill>
            </a:endParaRPr>
          </a:p>
        </p:txBody>
      </p:sp>
      <p:sp>
        <p:nvSpPr>
          <p:cNvPr id="79" name="직사각형 78"/>
          <p:cNvSpPr/>
          <p:nvPr/>
        </p:nvSpPr>
        <p:spPr>
          <a:xfrm>
            <a:off x="6193690" y="5525608"/>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개별대리</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9)</a:t>
            </a:r>
            <a:endParaRPr lang="ko-KR" altLang="en-US" sz="1000" dirty="0">
              <a:solidFill>
                <a:schemeClr val="tx1"/>
              </a:solidFill>
            </a:endParaRPr>
          </a:p>
        </p:txBody>
      </p:sp>
      <p:cxnSp>
        <p:nvCxnSpPr>
          <p:cNvPr id="81" name="꺾인 연결선 80"/>
          <p:cNvCxnSpPr>
            <a:stCxn id="65" idx="3"/>
            <a:endCxn id="78" idx="1"/>
          </p:cNvCxnSpPr>
          <p:nvPr/>
        </p:nvCxnSpPr>
        <p:spPr>
          <a:xfrm>
            <a:off x="6025659" y="4781858"/>
            <a:ext cx="168031" cy="146752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83" name="꺾인 연결선 82"/>
          <p:cNvCxnSpPr>
            <a:stCxn id="65" idx="3"/>
            <a:endCxn id="79" idx="1"/>
          </p:cNvCxnSpPr>
          <p:nvPr/>
        </p:nvCxnSpPr>
        <p:spPr>
          <a:xfrm>
            <a:off x="6025659" y="4781858"/>
            <a:ext cx="168031" cy="86835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5" name="직사각형 84"/>
          <p:cNvSpPr/>
          <p:nvPr/>
        </p:nvSpPr>
        <p:spPr>
          <a:xfrm>
            <a:off x="8513556" y="4536221"/>
            <a:ext cx="1117603"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출원 및 심판청구</a:t>
            </a:r>
          </a:p>
        </p:txBody>
      </p:sp>
      <p:sp>
        <p:nvSpPr>
          <p:cNvPr id="86" name="직사각형 85"/>
          <p:cNvSpPr/>
          <p:nvPr/>
        </p:nvSpPr>
        <p:spPr>
          <a:xfrm>
            <a:off x="8513556" y="5492323"/>
            <a:ext cx="1117603"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그 밖의 절차</a:t>
            </a:r>
          </a:p>
        </p:txBody>
      </p:sp>
      <p:sp>
        <p:nvSpPr>
          <p:cNvPr id="87" name="직사각형 86"/>
          <p:cNvSpPr/>
          <p:nvPr/>
        </p:nvSpPr>
        <p:spPr>
          <a:xfrm>
            <a:off x="9902104" y="4536221"/>
            <a:ext cx="170569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출원</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44, 90, 92</a:t>
            </a:r>
            <a:r>
              <a:rPr lang="ko-KR" altLang="en-US" sz="1000" dirty="0">
                <a:solidFill>
                  <a:schemeClr val="tx1"/>
                </a:solidFill>
              </a:rPr>
              <a:t>의</a:t>
            </a:r>
            <a:r>
              <a:rPr lang="en-US" altLang="ko-KR" sz="1000" dirty="0">
                <a:solidFill>
                  <a:schemeClr val="tx1"/>
                </a:solidFill>
              </a:rPr>
              <a:t>3)</a:t>
            </a:r>
            <a:endParaRPr lang="ko-KR" altLang="en-US" sz="1000" dirty="0">
              <a:solidFill>
                <a:schemeClr val="tx1"/>
              </a:solidFill>
            </a:endParaRPr>
          </a:p>
        </p:txBody>
      </p:sp>
      <p:sp>
        <p:nvSpPr>
          <p:cNvPr id="88" name="직사각형 87"/>
          <p:cNvSpPr/>
          <p:nvPr/>
        </p:nvSpPr>
        <p:spPr>
          <a:xfrm>
            <a:off x="9902104" y="4891282"/>
            <a:ext cx="170569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심판청구</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139)</a:t>
            </a:r>
            <a:endParaRPr lang="ko-KR" altLang="en-US" sz="1000" dirty="0">
              <a:solidFill>
                <a:schemeClr val="tx1"/>
              </a:solidFill>
            </a:endParaRPr>
          </a:p>
        </p:txBody>
      </p:sp>
      <p:sp>
        <p:nvSpPr>
          <p:cNvPr id="89" name="직사각형 88"/>
          <p:cNvSpPr/>
          <p:nvPr/>
        </p:nvSpPr>
        <p:spPr>
          <a:xfrm>
            <a:off x="9902104" y="5492323"/>
            <a:ext cx="170569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대표자 </a:t>
            </a:r>
            <a:r>
              <a:rPr lang="ko-KR" altLang="en-US" sz="1000" dirty="0" err="1">
                <a:solidFill>
                  <a:schemeClr val="tx1"/>
                </a:solidFill>
              </a:rPr>
              <a:t>不선정</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11①</a:t>
            </a:r>
            <a:r>
              <a:rPr lang="ko-KR" altLang="en-US" sz="1000" dirty="0">
                <a:solidFill>
                  <a:schemeClr val="tx1"/>
                </a:solidFill>
              </a:rPr>
              <a:t>본문</a:t>
            </a:r>
            <a:r>
              <a:rPr lang="en-US" altLang="ko-KR" sz="1000" dirty="0">
                <a:solidFill>
                  <a:schemeClr val="tx1"/>
                </a:solidFill>
              </a:rPr>
              <a:t>)</a:t>
            </a:r>
            <a:endParaRPr lang="ko-KR" altLang="en-US" sz="1000" dirty="0">
              <a:solidFill>
                <a:schemeClr val="tx1"/>
              </a:solidFill>
            </a:endParaRPr>
          </a:p>
        </p:txBody>
      </p:sp>
      <p:sp>
        <p:nvSpPr>
          <p:cNvPr id="90" name="직사각형 89"/>
          <p:cNvSpPr/>
          <p:nvPr/>
        </p:nvSpPr>
        <p:spPr>
          <a:xfrm>
            <a:off x="9902104" y="5847384"/>
            <a:ext cx="170569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대표자 선정</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11①</a:t>
            </a:r>
            <a:r>
              <a:rPr lang="ko-KR" altLang="en-US" sz="1000" dirty="0">
                <a:solidFill>
                  <a:schemeClr val="tx1"/>
                </a:solidFill>
              </a:rPr>
              <a:t>단서</a:t>
            </a:r>
            <a:r>
              <a:rPr lang="en-US" altLang="ko-KR" sz="1000" dirty="0">
                <a:solidFill>
                  <a:schemeClr val="tx1"/>
                </a:solidFill>
              </a:rPr>
              <a:t>)</a:t>
            </a:r>
            <a:endParaRPr lang="ko-KR" altLang="en-US" sz="1000" dirty="0">
              <a:solidFill>
                <a:schemeClr val="tx1"/>
              </a:solidFill>
            </a:endParaRPr>
          </a:p>
        </p:txBody>
      </p:sp>
      <p:sp>
        <p:nvSpPr>
          <p:cNvPr id="91" name="직사각형 90"/>
          <p:cNvSpPr/>
          <p:nvPr/>
        </p:nvSpPr>
        <p:spPr>
          <a:xfrm>
            <a:off x="4063993" y="1172217"/>
            <a:ext cx="3928533" cy="251637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dirty="0">
                <a:solidFill>
                  <a:schemeClr val="accent2">
                    <a:lumMod val="50000"/>
                  </a:schemeClr>
                </a:solidFill>
              </a:rPr>
              <a:t>발명의 </a:t>
            </a:r>
            <a:r>
              <a:rPr lang="ko-KR" altLang="en-US" dirty="0" err="1">
                <a:solidFill>
                  <a:schemeClr val="accent2">
                    <a:lumMod val="50000"/>
                  </a:schemeClr>
                </a:solidFill>
              </a:rPr>
              <a:t>성립성</a:t>
            </a:r>
            <a:r>
              <a:rPr lang="en-US" altLang="ko-KR" dirty="0">
                <a:solidFill>
                  <a:schemeClr val="accent2">
                    <a:lumMod val="50000"/>
                  </a:schemeClr>
                </a:solidFill>
              </a:rPr>
              <a:t>(</a:t>
            </a:r>
            <a:r>
              <a:rPr lang="ko-KR" altLang="en-US" dirty="0">
                <a:solidFill>
                  <a:schemeClr val="accent2">
                    <a:lumMod val="50000"/>
                  </a:schemeClr>
                </a:solidFill>
              </a:rPr>
              <a:t>法 </a:t>
            </a:r>
            <a:r>
              <a:rPr lang="en-US" altLang="ko-KR" dirty="0">
                <a:solidFill>
                  <a:schemeClr val="accent2">
                    <a:lumMod val="50000"/>
                  </a:schemeClr>
                </a:solidFill>
              </a:rPr>
              <a:t>2)</a:t>
            </a:r>
            <a:endParaRPr lang="ko-KR" altLang="en-US" dirty="0">
              <a:solidFill>
                <a:schemeClr val="accent2">
                  <a:lumMod val="50000"/>
                </a:schemeClr>
              </a:solidFill>
            </a:endParaRPr>
          </a:p>
        </p:txBody>
      </p:sp>
      <p:sp>
        <p:nvSpPr>
          <p:cNvPr id="92" name="직사각형 91"/>
          <p:cNvSpPr/>
          <p:nvPr/>
        </p:nvSpPr>
        <p:spPr>
          <a:xfrm>
            <a:off x="8077193" y="1172217"/>
            <a:ext cx="3928533" cy="251637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dirty="0">
                <a:solidFill>
                  <a:schemeClr val="accent2">
                    <a:lumMod val="50000"/>
                  </a:schemeClr>
                </a:solidFill>
              </a:rPr>
              <a:t>행위능력</a:t>
            </a:r>
            <a:r>
              <a:rPr lang="en-US" altLang="ko-KR" dirty="0">
                <a:solidFill>
                  <a:schemeClr val="accent2">
                    <a:lumMod val="50000"/>
                  </a:schemeClr>
                </a:solidFill>
              </a:rPr>
              <a:t>(</a:t>
            </a:r>
            <a:r>
              <a:rPr lang="ko-KR" altLang="en-US" dirty="0">
                <a:solidFill>
                  <a:schemeClr val="accent2">
                    <a:lumMod val="50000"/>
                  </a:schemeClr>
                </a:solidFill>
              </a:rPr>
              <a:t>法 </a:t>
            </a:r>
            <a:r>
              <a:rPr lang="en-US" altLang="ko-KR" dirty="0">
                <a:solidFill>
                  <a:schemeClr val="accent2">
                    <a:lumMod val="50000"/>
                  </a:schemeClr>
                </a:solidFill>
              </a:rPr>
              <a:t>3~5①)</a:t>
            </a:r>
          </a:p>
        </p:txBody>
      </p:sp>
      <p:sp>
        <p:nvSpPr>
          <p:cNvPr id="93" name="직사각형 92"/>
          <p:cNvSpPr/>
          <p:nvPr/>
        </p:nvSpPr>
        <p:spPr>
          <a:xfrm>
            <a:off x="4063993" y="3734088"/>
            <a:ext cx="3928533" cy="2751374"/>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dirty="0">
                <a:solidFill>
                  <a:schemeClr val="accent2">
                    <a:lumMod val="50000"/>
                  </a:schemeClr>
                </a:solidFill>
              </a:rPr>
              <a:t>대리인</a:t>
            </a:r>
            <a:r>
              <a:rPr lang="en-US" altLang="ko-KR" dirty="0">
                <a:solidFill>
                  <a:schemeClr val="accent2">
                    <a:lumMod val="50000"/>
                  </a:schemeClr>
                </a:solidFill>
              </a:rPr>
              <a:t>(</a:t>
            </a:r>
            <a:r>
              <a:rPr lang="ko-KR" altLang="en-US" dirty="0">
                <a:solidFill>
                  <a:schemeClr val="accent2">
                    <a:lumMod val="50000"/>
                  </a:schemeClr>
                </a:solidFill>
              </a:rPr>
              <a:t>法 </a:t>
            </a:r>
            <a:r>
              <a:rPr lang="en-US" altLang="ko-KR" dirty="0">
                <a:solidFill>
                  <a:schemeClr val="accent2">
                    <a:lumMod val="50000"/>
                  </a:schemeClr>
                </a:solidFill>
              </a:rPr>
              <a:t>3②, 5②~10, 12)</a:t>
            </a:r>
          </a:p>
        </p:txBody>
      </p:sp>
      <p:sp>
        <p:nvSpPr>
          <p:cNvPr id="95" name="직사각형 94"/>
          <p:cNvSpPr/>
          <p:nvPr/>
        </p:nvSpPr>
        <p:spPr>
          <a:xfrm>
            <a:off x="8077192" y="3734088"/>
            <a:ext cx="3928533" cy="2751374"/>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dirty="0">
                <a:solidFill>
                  <a:schemeClr val="accent2">
                    <a:lumMod val="50000"/>
                  </a:schemeClr>
                </a:solidFill>
              </a:rPr>
              <a:t>복수당사자 대표</a:t>
            </a:r>
            <a:r>
              <a:rPr lang="en-US" altLang="ko-KR" dirty="0">
                <a:solidFill>
                  <a:schemeClr val="accent2">
                    <a:lumMod val="50000"/>
                  </a:schemeClr>
                </a:solidFill>
              </a:rPr>
              <a:t>(</a:t>
            </a:r>
            <a:r>
              <a:rPr lang="ko-KR" altLang="en-US" dirty="0">
                <a:solidFill>
                  <a:schemeClr val="accent2">
                    <a:lumMod val="50000"/>
                  </a:schemeClr>
                </a:solidFill>
              </a:rPr>
              <a:t>法 </a:t>
            </a:r>
            <a:r>
              <a:rPr lang="en-US" altLang="ko-KR" dirty="0">
                <a:solidFill>
                  <a:schemeClr val="accent2">
                    <a:lumMod val="50000"/>
                  </a:schemeClr>
                </a:solidFill>
              </a:rPr>
              <a:t>11)</a:t>
            </a:r>
          </a:p>
        </p:txBody>
      </p:sp>
      <p:cxnSp>
        <p:nvCxnSpPr>
          <p:cNvPr id="97" name="꺾인 연결선 96"/>
          <p:cNvCxnSpPr>
            <a:stCxn id="85" idx="1"/>
            <a:endCxn id="86" idx="1"/>
          </p:cNvCxnSpPr>
          <p:nvPr/>
        </p:nvCxnSpPr>
        <p:spPr>
          <a:xfrm rot="10800000" flipV="1">
            <a:off x="8513556" y="4660821"/>
            <a:ext cx="12700" cy="956102"/>
          </a:xfrm>
          <a:prstGeom prst="bentConnector3">
            <a:avLst>
              <a:gd name="adj1" fmla="val 180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9" name="꺾인 연결선 98"/>
          <p:cNvCxnSpPr>
            <a:stCxn id="85" idx="3"/>
            <a:endCxn id="87" idx="1"/>
          </p:cNvCxnSpPr>
          <p:nvPr/>
        </p:nvCxnSpPr>
        <p:spPr>
          <a:xfrm>
            <a:off x="9631159" y="4660821"/>
            <a:ext cx="270945" cy="1270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1" name="꺾인 연결선 100"/>
          <p:cNvCxnSpPr>
            <a:stCxn id="85" idx="3"/>
            <a:endCxn id="88" idx="1"/>
          </p:cNvCxnSpPr>
          <p:nvPr/>
        </p:nvCxnSpPr>
        <p:spPr>
          <a:xfrm>
            <a:off x="9631159" y="4660821"/>
            <a:ext cx="270945" cy="355061"/>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3" name="꺾인 연결선 102"/>
          <p:cNvCxnSpPr>
            <a:stCxn id="86" idx="3"/>
            <a:endCxn id="89" idx="1"/>
          </p:cNvCxnSpPr>
          <p:nvPr/>
        </p:nvCxnSpPr>
        <p:spPr>
          <a:xfrm>
            <a:off x="9631159" y="5616923"/>
            <a:ext cx="270945" cy="1270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05" name="꺾인 연결선 104"/>
          <p:cNvCxnSpPr>
            <a:stCxn id="86" idx="3"/>
            <a:endCxn id="90" idx="1"/>
          </p:cNvCxnSpPr>
          <p:nvPr/>
        </p:nvCxnSpPr>
        <p:spPr>
          <a:xfrm>
            <a:off x="9631159" y="5616923"/>
            <a:ext cx="270945" cy="355061"/>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12"/>
          </p:nvPr>
        </p:nvSpPr>
        <p:spPr/>
        <p:txBody>
          <a:bodyPr/>
          <a:lstStyle/>
          <a:p>
            <a:fld id="{3875FC6C-1516-4DC4-8C58-3090F7D4F003}" type="slidenum">
              <a:rPr lang="ko-KR" altLang="en-US" smtClean="0"/>
              <a:t>45</a:t>
            </a:fld>
            <a:endParaRPr lang="ko-KR" altLang="en-US"/>
          </a:p>
        </p:txBody>
      </p:sp>
    </p:spTree>
    <p:extLst>
      <p:ext uri="{BB962C8B-B14F-4D97-AF65-F5344CB8AC3E}">
        <p14:creationId xmlns:p14="http://schemas.microsoft.com/office/powerpoint/2010/main" val="105250992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a:t>총칙 체계</a:t>
            </a:r>
            <a:r>
              <a:rPr lang="en-US" altLang="ko-KR" dirty="0"/>
              <a:t>: </a:t>
            </a:r>
            <a:r>
              <a:rPr lang="ko-KR" altLang="en-US" dirty="0"/>
              <a:t>제</a:t>
            </a:r>
            <a:r>
              <a:rPr lang="en-US" altLang="ko-KR" dirty="0"/>
              <a:t>1</a:t>
            </a:r>
            <a:r>
              <a:rPr lang="ko-KR" altLang="en-US" dirty="0"/>
              <a:t>장</a:t>
            </a:r>
          </a:p>
        </p:txBody>
      </p:sp>
      <p:sp>
        <p:nvSpPr>
          <p:cNvPr id="5" name="직사각형 4"/>
          <p:cNvSpPr/>
          <p:nvPr/>
        </p:nvSpPr>
        <p:spPr>
          <a:xfrm>
            <a:off x="182592" y="3540483"/>
            <a:ext cx="602531" cy="60735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ko-KR" altLang="en-US" sz="1600" dirty="0"/>
              <a:t>총칙</a:t>
            </a:r>
          </a:p>
        </p:txBody>
      </p:sp>
      <p:sp>
        <p:nvSpPr>
          <p:cNvPr id="7" name="직사각형 6"/>
          <p:cNvSpPr/>
          <p:nvPr/>
        </p:nvSpPr>
        <p:spPr>
          <a:xfrm>
            <a:off x="1135236" y="1324623"/>
            <a:ext cx="2823906"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목적</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a:t>
            </a:r>
            <a:endParaRPr lang="ko-KR" altLang="en-US" sz="1100" dirty="0">
              <a:solidFill>
                <a:schemeClr val="tx1"/>
              </a:solidFill>
            </a:endParaRPr>
          </a:p>
        </p:txBody>
      </p:sp>
      <p:sp>
        <p:nvSpPr>
          <p:cNvPr id="8" name="직사각형 7"/>
          <p:cNvSpPr/>
          <p:nvPr/>
        </p:nvSpPr>
        <p:spPr>
          <a:xfrm>
            <a:off x="1135236" y="1798844"/>
            <a:ext cx="2823906"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정의</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a:t>
            </a:r>
            <a:endParaRPr lang="ko-KR" altLang="en-US" sz="1100" dirty="0">
              <a:solidFill>
                <a:schemeClr val="tx1"/>
              </a:solidFill>
            </a:endParaRPr>
          </a:p>
        </p:txBody>
      </p:sp>
      <p:sp>
        <p:nvSpPr>
          <p:cNvPr id="9" name="직사각형 8"/>
          <p:cNvSpPr/>
          <p:nvPr/>
        </p:nvSpPr>
        <p:spPr>
          <a:xfrm>
            <a:off x="1135236" y="2259053"/>
            <a:ext cx="2823906"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행위능력</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3~5①, 7</a:t>
            </a:r>
            <a:r>
              <a:rPr lang="ko-KR" altLang="en-US" sz="1100" dirty="0">
                <a:solidFill>
                  <a:schemeClr val="tx1"/>
                </a:solidFill>
              </a:rPr>
              <a:t>의</a:t>
            </a:r>
            <a:r>
              <a:rPr lang="en-US" altLang="ko-KR" sz="1100" dirty="0">
                <a:solidFill>
                  <a:schemeClr val="tx1"/>
                </a:solidFill>
              </a:rPr>
              <a:t>2)</a:t>
            </a:r>
            <a:endParaRPr lang="ko-KR" altLang="en-US" sz="1100" dirty="0">
              <a:solidFill>
                <a:schemeClr val="tx1"/>
              </a:solidFill>
            </a:endParaRPr>
          </a:p>
        </p:txBody>
      </p:sp>
      <p:sp>
        <p:nvSpPr>
          <p:cNvPr id="10" name="직사각형 9"/>
          <p:cNvSpPr/>
          <p:nvPr/>
        </p:nvSpPr>
        <p:spPr>
          <a:xfrm>
            <a:off x="1135236" y="2733274"/>
            <a:ext cx="2823906"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대리인</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3②, 5②~10, 12)</a:t>
            </a:r>
            <a:endParaRPr lang="ko-KR" altLang="en-US" sz="1100" dirty="0">
              <a:solidFill>
                <a:schemeClr val="tx1"/>
              </a:solidFill>
            </a:endParaRPr>
          </a:p>
        </p:txBody>
      </p:sp>
      <p:sp>
        <p:nvSpPr>
          <p:cNvPr id="11" name="직사각형 10"/>
          <p:cNvSpPr/>
          <p:nvPr/>
        </p:nvSpPr>
        <p:spPr>
          <a:xfrm>
            <a:off x="1135236" y="3188939"/>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복수당사자 대표</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11)</a:t>
            </a:r>
            <a:endParaRPr lang="ko-KR" altLang="en-US" sz="1100" dirty="0">
              <a:solidFill>
                <a:schemeClr val="tx1"/>
              </a:solidFill>
            </a:endParaRPr>
          </a:p>
        </p:txBody>
      </p:sp>
      <p:sp>
        <p:nvSpPr>
          <p:cNvPr id="12" name="직사각형 11"/>
          <p:cNvSpPr/>
          <p:nvPr/>
        </p:nvSpPr>
        <p:spPr>
          <a:xfrm>
            <a:off x="1135236" y="3663160"/>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err="1">
                <a:solidFill>
                  <a:schemeClr val="tx1"/>
                </a:solidFill>
              </a:rPr>
              <a:t>재외자의</a:t>
            </a:r>
            <a:r>
              <a:rPr lang="ko-KR" altLang="en-US" sz="1100" dirty="0">
                <a:solidFill>
                  <a:schemeClr val="tx1"/>
                </a:solidFill>
              </a:rPr>
              <a:t> 재판관할</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13)</a:t>
            </a:r>
            <a:endParaRPr lang="ko-KR" altLang="en-US" sz="1100" dirty="0">
              <a:solidFill>
                <a:schemeClr val="tx1"/>
              </a:solidFill>
            </a:endParaRPr>
          </a:p>
        </p:txBody>
      </p:sp>
      <p:sp>
        <p:nvSpPr>
          <p:cNvPr id="74" name="직사각형 73"/>
          <p:cNvSpPr/>
          <p:nvPr/>
        </p:nvSpPr>
        <p:spPr>
          <a:xfrm>
            <a:off x="1135236" y="4154601"/>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기일과 기간</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14, 15)</a:t>
            </a:r>
            <a:endParaRPr lang="ko-KR" altLang="en-US" sz="1100" dirty="0">
              <a:solidFill>
                <a:schemeClr val="tx1"/>
              </a:solidFill>
            </a:endParaRPr>
          </a:p>
        </p:txBody>
      </p:sp>
      <p:sp>
        <p:nvSpPr>
          <p:cNvPr id="75" name="직사각형 74"/>
          <p:cNvSpPr/>
          <p:nvPr/>
        </p:nvSpPr>
        <p:spPr>
          <a:xfrm>
            <a:off x="1135236" y="4608951"/>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특허에 관한 절차 일반</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16, 28~28</a:t>
            </a:r>
            <a:r>
              <a:rPr lang="ko-KR" altLang="en-US" sz="1100" dirty="0">
                <a:solidFill>
                  <a:schemeClr val="tx1"/>
                </a:solidFill>
              </a:rPr>
              <a:t>의</a:t>
            </a:r>
            <a:r>
              <a:rPr lang="en-US" altLang="ko-KR" sz="1100" dirty="0">
                <a:solidFill>
                  <a:schemeClr val="tx1"/>
                </a:solidFill>
              </a:rPr>
              <a:t>5)</a:t>
            </a:r>
            <a:endParaRPr lang="ko-KR" altLang="en-US" sz="1100" dirty="0">
              <a:solidFill>
                <a:schemeClr val="tx1"/>
              </a:solidFill>
            </a:endParaRPr>
          </a:p>
        </p:txBody>
      </p:sp>
      <p:sp>
        <p:nvSpPr>
          <p:cNvPr id="76" name="직사각형 75"/>
          <p:cNvSpPr/>
          <p:nvPr/>
        </p:nvSpPr>
        <p:spPr>
          <a:xfrm>
            <a:off x="1135236" y="5075700"/>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추후보완</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17, 67</a:t>
            </a:r>
            <a:r>
              <a:rPr lang="ko-KR" altLang="en-US" sz="1100" dirty="0">
                <a:solidFill>
                  <a:schemeClr val="tx1"/>
                </a:solidFill>
              </a:rPr>
              <a:t>의</a:t>
            </a:r>
            <a:r>
              <a:rPr lang="en-US" altLang="ko-KR" sz="1100" dirty="0">
                <a:solidFill>
                  <a:schemeClr val="tx1"/>
                </a:solidFill>
              </a:rPr>
              <a:t>3)</a:t>
            </a:r>
            <a:endParaRPr lang="ko-KR" altLang="en-US" sz="1100" dirty="0">
              <a:solidFill>
                <a:schemeClr val="tx1"/>
              </a:solidFill>
            </a:endParaRPr>
          </a:p>
        </p:txBody>
      </p:sp>
      <p:sp>
        <p:nvSpPr>
          <p:cNvPr id="31" name="직사각형 30"/>
          <p:cNvSpPr/>
          <p:nvPr/>
        </p:nvSpPr>
        <p:spPr>
          <a:xfrm>
            <a:off x="1135236" y="5529238"/>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절차의 효력의 승계 및 절차의 속행</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18, 19)</a:t>
            </a:r>
            <a:endParaRPr lang="ko-KR" altLang="en-US" sz="1100" dirty="0">
              <a:solidFill>
                <a:schemeClr val="tx1"/>
              </a:solidFill>
            </a:endParaRPr>
          </a:p>
        </p:txBody>
      </p:sp>
      <p:sp>
        <p:nvSpPr>
          <p:cNvPr id="32" name="직사각형 31"/>
          <p:cNvSpPr/>
          <p:nvPr/>
        </p:nvSpPr>
        <p:spPr>
          <a:xfrm>
            <a:off x="1135236" y="5983588"/>
            <a:ext cx="2823906"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절차의 정지</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20~24, 78, 164)</a:t>
            </a:r>
            <a:endParaRPr lang="ko-KR" altLang="en-US" sz="1100" dirty="0">
              <a:solidFill>
                <a:schemeClr val="tx1"/>
              </a:solidFill>
            </a:endParaRPr>
          </a:p>
        </p:txBody>
      </p:sp>
      <p:cxnSp>
        <p:nvCxnSpPr>
          <p:cNvPr id="15" name="꺾인 연결선 14"/>
          <p:cNvCxnSpPr>
            <a:stCxn id="5" idx="3"/>
            <a:endCxn id="7" idx="1"/>
          </p:cNvCxnSpPr>
          <p:nvPr/>
        </p:nvCxnSpPr>
        <p:spPr>
          <a:xfrm flipV="1">
            <a:off x="785123" y="1502456"/>
            <a:ext cx="350113" cy="2341703"/>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 name="꺾인 연결선 16"/>
          <p:cNvCxnSpPr>
            <a:stCxn id="5" idx="3"/>
            <a:endCxn id="32" idx="1"/>
          </p:cNvCxnSpPr>
          <p:nvPr/>
        </p:nvCxnSpPr>
        <p:spPr>
          <a:xfrm>
            <a:off x="785123" y="3844159"/>
            <a:ext cx="350113" cy="231726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꺾인 연결선 18"/>
          <p:cNvCxnSpPr>
            <a:stCxn id="5" idx="3"/>
            <a:endCxn id="8" idx="1"/>
          </p:cNvCxnSpPr>
          <p:nvPr/>
        </p:nvCxnSpPr>
        <p:spPr>
          <a:xfrm flipV="1">
            <a:off x="785123" y="1976677"/>
            <a:ext cx="350113" cy="186748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꺾인 연결선 20"/>
          <p:cNvCxnSpPr>
            <a:stCxn id="5" idx="3"/>
            <a:endCxn id="9" idx="1"/>
          </p:cNvCxnSpPr>
          <p:nvPr/>
        </p:nvCxnSpPr>
        <p:spPr>
          <a:xfrm flipV="1">
            <a:off x="785123" y="2436886"/>
            <a:ext cx="350113" cy="1407273"/>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꺾인 연결선 24"/>
          <p:cNvCxnSpPr>
            <a:stCxn id="5" idx="3"/>
            <a:endCxn id="74" idx="1"/>
          </p:cNvCxnSpPr>
          <p:nvPr/>
        </p:nvCxnSpPr>
        <p:spPr>
          <a:xfrm>
            <a:off x="785123" y="3844159"/>
            <a:ext cx="350113" cy="48827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꺾인 연결선 26"/>
          <p:cNvCxnSpPr>
            <a:stCxn id="5" idx="3"/>
            <a:endCxn id="75" idx="1"/>
          </p:cNvCxnSpPr>
          <p:nvPr/>
        </p:nvCxnSpPr>
        <p:spPr>
          <a:xfrm>
            <a:off x="785123" y="3844159"/>
            <a:ext cx="350113" cy="94262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꺾인 연결선 28"/>
          <p:cNvCxnSpPr>
            <a:stCxn id="5" idx="3"/>
            <a:endCxn id="76" idx="1"/>
          </p:cNvCxnSpPr>
          <p:nvPr/>
        </p:nvCxnSpPr>
        <p:spPr>
          <a:xfrm>
            <a:off x="785123" y="3844159"/>
            <a:ext cx="350113" cy="1409374"/>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꺾인 연결선 33"/>
          <p:cNvCxnSpPr>
            <a:stCxn id="5" idx="3"/>
            <a:endCxn id="31" idx="1"/>
          </p:cNvCxnSpPr>
          <p:nvPr/>
        </p:nvCxnSpPr>
        <p:spPr>
          <a:xfrm>
            <a:off x="785123" y="3844159"/>
            <a:ext cx="350113" cy="186291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6" name="꺾인 연결선 35"/>
          <p:cNvCxnSpPr>
            <a:stCxn id="5" idx="3"/>
            <a:endCxn id="10" idx="1"/>
          </p:cNvCxnSpPr>
          <p:nvPr/>
        </p:nvCxnSpPr>
        <p:spPr>
          <a:xfrm flipV="1">
            <a:off x="785123" y="2911107"/>
            <a:ext cx="350113" cy="93305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꺾인 연결선 37"/>
          <p:cNvCxnSpPr>
            <a:stCxn id="5" idx="3"/>
            <a:endCxn id="11" idx="1"/>
          </p:cNvCxnSpPr>
          <p:nvPr/>
        </p:nvCxnSpPr>
        <p:spPr>
          <a:xfrm flipV="1">
            <a:off x="785123" y="3366772"/>
            <a:ext cx="350113" cy="47738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꺾인 연결선 39"/>
          <p:cNvCxnSpPr>
            <a:stCxn id="5" idx="3"/>
            <a:endCxn id="12" idx="1"/>
          </p:cNvCxnSpPr>
          <p:nvPr/>
        </p:nvCxnSpPr>
        <p:spPr>
          <a:xfrm flipV="1">
            <a:off x="785123" y="3840993"/>
            <a:ext cx="350113" cy="3166"/>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1" name="직사각형 40"/>
          <p:cNvSpPr/>
          <p:nvPr/>
        </p:nvSpPr>
        <p:spPr>
          <a:xfrm>
            <a:off x="4390289" y="2827325"/>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기일과 기간의 종류</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15)</a:t>
            </a:r>
            <a:endParaRPr lang="ko-KR" altLang="en-US" sz="1000" dirty="0">
              <a:solidFill>
                <a:schemeClr val="tx1"/>
              </a:solidFill>
            </a:endParaRPr>
          </a:p>
        </p:txBody>
      </p:sp>
      <p:sp>
        <p:nvSpPr>
          <p:cNvPr id="60" name="직사각형 59"/>
          <p:cNvSpPr/>
          <p:nvPr/>
        </p:nvSpPr>
        <p:spPr>
          <a:xfrm>
            <a:off x="4390289" y="1615001"/>
            <a:ext cx="163537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기간 계산</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14)</a:t>
            </a:r>
            <a:endParaRPr lang="ko-KR" altLang="en-US" sz="1000" dirty="0">
              <a:solidFill>
                <a:schemeClr val="tx1"/>
              </a:solidFill>
            </a:endParaRPr>
          </a:p>
        </p:txBody>
      </p:sp>
      <p:sp>
        <p:nvSpPr>
          <p:cNvPr id="30" name="직사각형 29"/>
          <p:cNvSpPr/>
          <p:nvPr/>
        </p:nvSpPr>
        <p:spPr>
          <a:xfrm>
            <a:off x="6193690" y="1606534"/>
            <a:ext cx="112151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초일 결정</a:t>
            </a:r>
          </a:p>
        </p:txBody>
      </p:sp>
      <p:sp>
        <p:nvSpPr>
          <p:cNvPr id="33" name="직사각형 32"/>
          <p:cNvSpPr/>
          <p:nvPr/>
        </p:nvSpPr>
        <p:spPr>
          <a:xfrm>
            <a:off x="6193690" y="1893576"/>
            <a:ext cx="112151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기산일 결정</a:t>
            </a:r>
          </a:p>
        </p:txBody>
      </p:sp>
      <p:sp>
        <p:nvSpPr>
          <p:cNvPr id="35" name="직사각형 34"/>
          <p:cNvSpPr/>
          <p:nvPr/>
        </p:nvSpPr>
        <p:spPr>
          <a:xfrm>
            <a:off x="6193690" y="2182383"/>
            <a:ext cx="112151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계산방법 결정</a:t>
            </a:r>
          </a:p>
        </p:txBody>
      </p:sp>
      <p:sp>
        <p:nvSpPr>
          <p:cNvPr id="37" name="직사각형 36"/>
          <p:cNvSpPr/>
          <p:nvPr/>
        </p:nvSpPr>
        <p:spPr>
          <a:xfrm>
            <a:off x="6193690" y="2470250"/>
            <a:ext cx="112151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만료일 결정</a:t>
            </a:r>
          </a:p>
        </p:txBody>
      </p:sp>
      <p:cxnSp>
        <p:nvCxnSpPr>
          <p:cNvPr id="6" name="꺾인 연결선 5"/>
          <p:cNvCxnSpPr>
            <a:stCxn id="41" idx="1"/>
            <a:endCxn id="60" idx="1"/>
          </p:cNvCxnSpPr>
          <p:nvPr/>
        </p:nvCxnSpPr>
        <p:spPr>
          <a:xfrm rot="10800000">
            <a:off x="4390289" y="1739601"/>
            <a:ext cx="12700" cy="1212324"/>
          </a:xfrm>
          <a:prstGeom prst="bentConnector3">
            <a:avLst>
              <a:gd name="adj1" fmla="val 180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6" name="꺾인 연결선 15"/>
          <p:cNvCxnSpPr>
            <a:stCxn id="60" idx="3"/>
            <a:endCxn id="30" idx="1"/>
          </p:cNvCxnSpPr>
          <p:nvPr/>
        </p:nvCxnSpPr>
        <p:spPr>
          <a:xfrm flipV="1">
            <a:off x="6025659" y="1731134"/>
            <a:ext cx="168031" cy="846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0" name="꺾인 연결선 19"/>
          <p:cNvCxnSpPr>
            <a:stCxn id="60" idx="3"/>
            <a:endCxn id="37" idx="1"/>
          </p:cNvCxnSpPr>
          <p:nvPr/>
        </p:nvCxnSpPr>
        <p:spPr>
          <a:xfrm>
            <a:off x="6025659" y="1739601"/>
            <a:ext cx="168031" cy="85524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꺾인 연결선 22"/>
          <p:cNvCxnSpPr>
            <a:stCxn id="60" idx="3"/>
            <a:endCxn id="33" idx="1"/>
          </p:cNvCxnSpPr>
          <p:nvPr/>
        </p:nvCxnSpPr>
        <p:spPr>
          <a:xfrm>
            <a:off x="6025659" y="1739601"/>
            <a:ext cx="168031" cy="27857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꺾인 연결선 25"/>
          <p:cNvCxnSpPr>
            <a:stCxn id="60" idx="3"/>
            <a:endCxn id="35" idx="1"/>
          </p:cNvCxnSpPr>
          <p:nvPr/>
        </p:nvCxnSpPr>
        <p:spPr>
          <a:xfrm>
            <a:off x="6025659" y="1739601"/>
            <a:ext cx="168031" cy="56738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48" name="직사각형 47"/>
          <p:cNvSpPr/>
          <p:nvPr/>
        </p:nvSpPr>
        <p:spPr>
          <a:xfrm>
            <a:off x="8043333" y="1637903"/>
            <a:ext cx="1667934"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고유번호의 부여 및 기재</a:t>
            </a:r>
          </a:p>
          <a:p>
            <a:pPr algn="ct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28</a:t>
            </a:r>
            <a:r>
              <a:rPr lang="ko-KR" altLang="en-US" sz="1000" dirty="0">
                <a:solidFill>
                  <a:schemeClr val="tx1"/>
                </a:solidFill>
              </a:rPr>
              <a:t>의</a:t>
            </a:r>
            <a:r>
              <a:rPr lang="en-US" altLang="ko-KR" sz="1000" dirty="0">
                <a:solidFill>
                  <a:schemeClr val="tx1"/>
                </a:solidFill>
              </a:rPr>
              <a:t>2)</a:t>
            </a:r>
            <a:endParaRPr lang="ko-KR" altLang="en-US" sz="1000" dirty="0">
              <a:solidFill>
                <a:schemeClr val="tx1"/>
              </a:solidFill>
            </a:endParaRPr>
          </a:p>
        </p:txBody>
      </p:sp>
      <p:sp>
        <p:nvSpPr>
          <p:cNvPr id="82" name="직사각형 81"/>
          <p:cNvSpPr/>
          <p:nvPr/>
        </p:nvSpPr>
        <p:spPr>
          <a:xfrm>
            <a:off x="5096933" y="3134481"/>
            <a:ext cx="931326"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기일</a:t>
            </a:r>
          </a:p>
        </p:txBody>
      </p:sp>
      <p:sp>
        <p:nvSpPr>
          <p:cNvPr id="84" name="직사각형 83"/>
          <p:cNvSpPr/>
          <p:nvPr/>
        </p:nvSpPr>
        <p:spPr>
          <a:xfrm>
            <a:off x="5096933" y="3557820"/>
            <a:ext cx="931326"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기간</a:t>
            </a:r>
          </a:p>
        </p:txBody>
      </p:sp>
      <p:sp>
        <p:nvSpPr>
          <p:cNvPr id="94" name="직사각형 93"/>
          <p:cNvSpPr/>
          <p:nvPr/>
        </p:nvSpPr>
        <p:spPr>
          <a:xfrm>
            <a:off x="6193690" y="2981248"/>
            <a:ext cx="112151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법정기일 </a:t>
            </a:r>
            <a:r>
              <a:rPr lang="en-US" altLang="ko-KR" sz="1000" dirty="0">
                <a:solidFill>
                  <a:schemeClr val="tx1"/>
                </a:solidFill>
              </a:rPr>
              <a:t>×</a:t>
            </a:r>
          </a:p>
        </p:txBody>
      </p:sp>
      <p:sp>
        <p:nvSpPr>
          <p:cNvPr id="96" name="직사각형 95"/>
          <p:cNvSpPr/>
          <p:nvPr/>
        </p:nvSpPr>
        <p:spPr>
          <a:xfrm>
            <a:off x="6193690" y="3268290"/>
            <a:ext cx="112151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지정기일 ○</a:t>
            </a:r>
            <a:endParaRPr lang="en-US" altLang="ko-KR" sz="1000" dirty="0">
              <a:solidFill>
                <a:schemeClr val="tx1"/>
              </a:solidFill>
            </a:endParaRPr>
          </a:p>
        </p:txBody>
      </p:sp>
      <p:sp>
        <p:nvSpPr>
          <p:cNvPr id="98" name="직사각형 97"/>
          <p:cNvSpPr/>
          <p:nvPr/>
        </p:nvSpPr>
        <p:spPr>
          <a:xfrm>
            <a:off x="6193690" y="3557097"/>
            <a:ext cx="112151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법정기간 ○</a:t>
            </a:r>
            <a:endParaRPr lang="en-US" altLang="ko-KR" sz="1000" dirty="0">
              <a:solidFill>
                <a:schemeClr val="tx1"/>
              </a:solidFill>
            </a:endParaRPr>
          </a:p>
        </p:txBody>
      </p:sp>
      <p:sp>
        <p:nvSpPr>
          <p:cNvPr id="100" name="직사각형 99"/>
          <p:cNvSpPr/>
          <p:nvPr/>
        </p:nvSpPr>
        <p:spPr>
          <a:xfrm>
            <a:off x="6193690" y="3844964"/>
            <a:ext cx="1121510" cy="249199"/>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지정기간 ○</a:t>
            </a:r>
            <a:endParaRPr lang="en-US" altLang="ko-KR" sz="1000" dirty="0">
              <a:solidFill>
                <a:schemeClr val="tx1"/>
              </a:solidFill>
            </a:endParaRPr>
          </a:p>
        </p:txBody>
      </p:sp>
      <p:cxnSp>
        <p:nvCxnSpPr>
          <p:cNvPr id="42" name="꺾인 연결선 41"/>
          <p:cNvCxnSpPr>
            <a:stCxn id="82" idx="3"/>
            <a:endCxn id="94" idx="1"/>
          </p:cNvCxnSpPr>
          <p:nvPr/>
        </p:nvCxnSpPr>
        <p:spPr>
          <a:xfrm flipV="1">
            <a:off x="6028259" y="3105848"/>
            <a:ext cx="165431" cy="15323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4" name="꺾인 연결선 43"/>
          <p:cNvCxnSpPr>
            <a:stCxn id="82" idx="3"/>
            <a:endCxn id="96" idx="1"/>
          </p:cNvCxnSpPr>
          <p:nvPr/>
        </p:nvCxnSpPr>
        <p:spPr>
          <a:xfrm>
            <a:off x="6028259" y="3259081"/>
            <a:ext cx="165431" cy="133809"/>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6" name="꺾인 연결선 45"/>
          <p:cNvCxnSpPr>
            <a:stCxn id="84" idx="3"/>
            <a:endCxn id="98" idx="1"/>
          </p:cNvCxnSpPr>
          <p:nvPr/>
        </p:nvCxnSpPr>
        <p:spPr>
          <a:xfrm flipV="1">
            <a:off x="6028259" y="3681697"/>
            <a:ext cx="165431" cy="723"/>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58" name="꺾인 연결선 57"/>
          <p:cNvCxnSpPr>
            <a:stCxn id="84" idx="3"/>
            <a:endCxn id="100" idx="1"/>
          </p:cNvCxnSpPr>
          <p:nvPr/>
        </p:nvCxnSpPr>
        <p:spPr>
          <a:xfrm>
            <a:off x="6028259" y="3682420"/>
            <a:ext cx="165431" cy="287144"/>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3" name="자유형 62"/>
          <p:cNvSpPr/>
          <p:nvPr/>
        </p:nvSpPr>
        <p:spPr>
          <a:xfrm>
            <a:off x="4648200" y="3073408"/>
            <a:ext cx="440267" cy="186267"/>
          </a:xfrm>
          <a:custGeom>
            <a:avLst/>
            <a:gdLst>
              <a:gd name="connsiteX0" fmla="*/ 0 w 440267"/>
              <a:gd name="connsiteY0" fmla="*/ 0 h 186267"/>
              <a:gd name="connsiteX1" fmla="*/ 0 w 440267"/>
              <a:gd name="connsiteY1" fmla="*/ 186267 h 186267"/>
              <a:gd name="connsiteX2" fmla="*/ 440267 w 440267"/>
              <a:gd name="connsiteY2" fmla="*/ 186267 h 186267"/>
            </a:gdLst>
            <a:ahLst/>
            <a:cxnLst>
              <a:cxn ang="0">
                <a:pos x="connsiteX0" y="connsiteY0"/>
              </a:cxn>
              <a:cxn ang="0">
                <a:pos x="connsiteX1" y="connsiteY1"/>
              </a:cxn>
              <a:cxn ang="0">
                <a:pos x="connsiteX2" y="connsiteY2"/>
              </a:cxn>
            </a:cxnLst>
            <a:rect l="l" t="t" r="r" b="b"/>
            <a:pathLst>
              <a:path w="440267" h="186267">
                <a:moveTo>
                  <a:pt x="0" y="0"/>
                </a:moveTo>
                <a:lnTo>
                  <a:pt x="0" y="186267"/>
                </a:lnTo>
                <a:lnTo>
                  <a:pt x="440267" y="186267"/>
                </a:lnTo>
              </a:path>
            </a:pathLst>
          </a:custGeom>
          <a:ln>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04" name="자유형 103"/>
          <p:cNvSpPr/>
          <p:nvPr/>
        </p:nvSpPr>
        <p:spPr>
          <a:xfrm>
            <a:off x="4648200" y="3073408"/>
            <a:ext cx="448733" cy="609600"/>
          </a:xfrm>
          <a:custGeom>
            <a:avLst/>
            <a:gdLst>
              <a:gd name="connsiteX0" fmla="*/ 0 w 448733"/>
              <a:gd name="connsiteY0" fmla="*/ 0 h 609600"/>
              <a:gd name="connsiteX1" fmla="*/ 0 w 448733"/>
              <a:gd name="connsiteY1" fmla="*/ 609600 h 609600"/>
              <a:gd name="connsiteX2" fmla="*/ 448733 w 448733"/>
              <a:gd name="connsiteY2" fmla="*/ 609600 h 609600"/>
            </a:gdLst>
            <a:ahLst/>
            <a:cxnLst>
              <a:cxn ang="0">
                <a:pos x="connsiteX0" y="connsiteY0"/>
              </a:cxn>
              <a:cxn ang="0">
                <a:pos x="connsiteX1" y="connsiteY1"/>
              </a:cxn>
              <a:cxn ang="0">
                <a:pos x="connsiteX2" y="connsiteY2"/>
              </a:cxn>
            </a:cxnLst>
            <a:rect l="l" t="t" r="r" b="b"/>
            <a:pathLst>
              <a:path w="448733" h="609600">
                <a:moveTo>
                  <a:pt x="0" y="0"/>
                </a:moveTo>
                <a:lnTo>
                  <a:pt x="0" y="609600"/>
                </a:lnTo>
                <a:lnTo>
                  <a:pt x="448733" y="609600"/>
                </a:lnTo>
              </a:path>
            </a:pathLst>
          </a:custGeom>
          <a:ln w="3175">
            <a:solidFill>
              <a:schemeClr val="bg1">
                <a:lumMod val="50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ko-KR" altLang="en-US"/>
          </a:p>
        </p:txBody>
      </p:sp>
      <p:sp>
        <p:nvSpPr>
          <p:cNvPr id="120" name="직사각형 119"/>
          <p:cNvSpPr/>
          <p:nvPr/>
        </p:nvSpPr>
        <p:spPr>
          <a:xfrm>
            <a:off x="8043333" y="2070306"/>
            <a:ext cx="1667934"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특허에 관한 서류의 작성</a:t>
            </a:r>
          </a:p>
        </p:txBody>
      </p:sp>
      <p:sp>
        <p:nvSpPr>
          <p:cNvPr id="121" name="직사각형 120"/>
          <p:cNvSpPr/>
          <p:nvPr/>
        </p:nvSpPr>
        <p:spPr>
          <a:xfrm>
            <a:off x="8043333" y="2493725"/>
            <a:ext cx="1667934"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특허에 관한 서류의  제출</a:t>
            </a:r>
          </a:p>
        </p:txBody>
      </p:sp>
      <p:sp>
        <p:nvSpPr>
          <p:cNvPr id="122" name="직사각형 121"/>
          <p:cNvSpPr/>
          <p:nvPr/>
        </p:nvSpPr>
        <p:spPr>
          <a:xfrm>
            <a:off x="8043333" y="2926383"/>
            <a:ext cx="1667934"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수수료의 납부</a:t>
            </a:r>
            <a:endParaRPr lang="en-US" altLang="ko-KR" sz="1000" dirty="0">
              <a:solidFill>
                <a:schemeClr val="tx1"/>
              </a:solidFill>
            </a:endParaRPr>
          </a:p>
          <a:p>
            <a:pPr algn="ct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82)</a:t>
            </a:r>
            <a:endParaRPr lang="ko-KR" altLang="en-US" sz="1000" dirty="0">
              <a:solidFill>
                <a:schemeClr val="tx1"/>
              </a:solidFill>
            </a:endParaRPr>
          </a:p>
        </p:txBody>
      </p:sp>
      <p:sp>
        <p:nvSpPr>
          <p:cNvPr id="123" name="직사각형 122"/>
          <p:cNvSpPr/>
          <p:nvPr/>
        </p:nvSpPr>
        <p:spPr>
          <a:xfrm>
            <a:off x="8043333" y="3366736"/>
            <a:ext cx="1667934"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방식심사</a:t>
            </a:r>
          </a:p>
        </p:txBody>
      </p:sp>
      <p:sp>
        <p:nvSpPr>
          <p:cNvPr id="124" name="직사각형 123"/>
          <p:cNvSpPr/>
          <p:nvPr/>
        </p:nvSpPr>
        <p:spPr>
          <a:xfrm>
            <a:off x="9965271" y="2493725"/>
            <a:ext cx="1667934"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서면에 의한 제출</a:t>
            </a:r>
          </a:p>
          <a:p>
            <a:pPr algn="ct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28)</a:t>
            </a:r>
          </a:p>
        </p:txBody>
      </p:sp>
      <p:sp>
        <p:nvSpPr>
          <p:cNvPr id="125" name="직사각형 124"/>
          <p:cNvSpPr/>
          <p:nvPr/>
        </p:nvSpPr>
        <p:spPr>
          <a:xfrm>
            <a:off x="9965271" y="2926383"/>
            <a:ext cx="1667934"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전자문서에 의한 제출</a:t>
            </a:r>
          </a:p>
          <a:p>
            <a:pPr algn="ct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28</a:t>
            </a:r>
            <a:r>
              <a:rPr lang="ko-KR" altLang="en-US" sz="1000" dirty="0">
                <a:solidFill>
                  <a:schemeClr val="tx1"/>
                </a:solidFill>
              </a:rPr>
              <a:t>의 </a:t>
            </a:r>
            <a:r>
              <a:rPr lang="en-US" altLang="ko-KR" sz="1000" dirty="0">
                <a:solidFill>
                  <a:schemeClr val="tx1"/>
                </a:solidFill>
              </a:rPr>
              <a:t>3, 4)</a:t>
            </a:r>
          </a:p>
        </p:txBody>
      </p:sp>
      <p:sp>
        <p:nvSpPr>
          <p:cNvPr id="126" name="직사각형 125"/>
          <p:cNvSpPr/>
          <p:nvPr/>
        </p:nvSpPr>
        <p:spPr>
          <a:xfrm>
            <a:off x="9965271" y="3373722"/>
            <a:ext cx="702729"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흠결</a:t>
            </a:r>
            <a:r>
              <a:rPr lang="ko-KR" altLang="en-US" sz="1000" dirty="0">
                <a:solidFill>
                  <a:schemeClr val="tx1"/>
                </a:solidFill>
              </a:rPr>
              <a:t> </a:t>
            </a:r>
            <a:r>
              <a:rPr lang="en-US" altLang="ko-KR" sz="1000" dirty="0">
                <a:solidFill>
                  <a:schemeClr val="tx1"/>
                </a:solidFill>
              </a:rPr>
              <a:t>×</a:t>
            </a:r>
            <a:r>
              <a:rPr lang="ko-KR" altLang="en-US" sz="1000" dirty="0">
                <a:solidFill>
                  <a:schemeClr val="tx1"/>
                </a:solidFill>
              </a:rPr>
              <a:t> </a:t>
            </a:r>
            <a:endParaRPr lang="en-US" altLang="ko-KR" sz="1000" dirty="0">
              <a:solidFill>
                <a:schemeClr val="tx1"/>
              </a:solidFill>
            </a:endParaRPr>
          </a:p>
        </p:txBody>
      </p:sp>
      <p:sp>
        <p:nvSpPr>
          <p:cNvPr id="128" name="직사각형 127"/>
          <p:cNvSpPr/>
          <p:nvPr/>
        </p:nvSpPr>
        <p:spPr>
          <a:xfrm>
            <a:off x="9965271" y="3815618"/>
            <a:ext cx="702729"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흠결</a:t>
            </a:r>
            <a:r>
              <a:rPr lang="ko-KR" altLang="en-US" sz="1000" dirty="0">
                <a:solidFill>
                  <a:schemeClr val="tx1"/>
                </a:solidFill>
              </a:rPr>
              <a:t> ○ </a:t>
            </a:r>
            <a:endParaRPr lang="en-US" altLang="ko-KR" sz="1000" dirty="0">
              <a:solidFill>
                <a:schemeClr val="tx1"/>
              </a:solidFill>
            </a:endParaRPr>
          </a:p>
        </p:txBody>
      </p:sp>
      <p:sp>
        <p:nvSpPr>
          <p:cNvPr id="129" name="직사각형 128"/>
          <p:cNvSpPr/>
          <p:nvPr/>
        </p:nvSpPr>
        <p:spPr>
          <a:xfrm>
            <a:off x="10930476" y="3409202"/>
            <a:ext cx="702729"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法 </a:t>
            </a:r>
            <a:r>
              <a:rPr lang="en-US" altLang="ko-KR" sz="1000" dirty="0">
                <a:solidFill>
                  <a:schemeClr val="tx1"/>
                </a:solidFill>
              </a:rPr>
              <a:t>46, 16</a:t>
            </a:r>
          </a:p>
        </p:txBody>
      </p:sp>
      <p:sp>
        <p:nvSpPr>
          <p:cNvPr id="130" name="직사각형 129"/>
          <p:cNvSpPr/>
          <p:nvPr/>
        </p:nvSpPr>
        <p:spPr>
          <a:xfrm>
            <a:off x="10930476" y="3816345"/>
            <a:ext cx="702729" cy="315778"/>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施規</a:t>
            </a:r>
            <a:r>
              <a:rPr lang="ko-KR" altLang="en-US" sz="1000" dirty="0">
                <a:solidFill>
                  <a:schemeClr val="tx1"/>
                </a:solidFill>
              </a:rPr>
              <a:t> </a:t>
            </a:r>
            <a:r>
              <a:rPr lang="en-US" altLang="ko-KR" sz="1000" dirty="0">
                <a:solidFill>
                  <a:schemeClr val="tx1"/>
                </a:solidFill>
              </a:rPr>
              <a:t>11</a:t>
            </a:r>
          </a:p>
        </p:txBody>
      </p:sp>
      <p:cxnSp>
        <p:nvCxnSpPr>
          <p:cNvPr id="132" name="꺾인 연결선 131"/>
          <p:cNvCxnSpPr>
            <a:stCxn id="48" idx="1"/>
            <a:endCxn id="123" idx="1"/>
          </p:cNvCxnSpPr>
          <p:nvPr/>
        </p:nvCxnSpPr>
        <p:spPr>
          <a:xfrm rot="10800000" flipV="1">
            <a:off x="8043333" y="1795791"/>
            <a:ext cx="12700" cy="1728833"/>
          </a:xfrm>
          <a:prstGeom prst="bentConnector3">
            <a:avLst>
              <a:gd name="adj1" fmla="val 180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4" name="꺾인 연결선 133"/>
          <p:cNvCxnSpPr>
            <a:endCxn id="120" idx="1"/>
          </p:cNvCxnSpPr>
          <p:nvPr/>
        </p:nvCxnSpPr>
        <p:spPr>
          <a:xfrm rot="16200000" flipH="1">
            <a:off x="7722825" y="1907686"/>
            <a:ext cx="429351" cy="211666"/>
          </a:xfrm>
          <a:prstGeom prst="bentConnector2">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6" name="꺾인 연결선 135"/>
          <p:cNvCxnSpPr>
            <a:endCxn id="121" idx="1"/>
          </p:cNvCxnSpPr>
          <p:nvPr/>
        </p:nvCxnSpPr>
        <p:spPr>
          <a:xfrm rot="16200000" flipH="1">
            <a:off x="7539560" y="2147840"/>
            <a:ext cx="795881" cy="211666"/>
          </a:xfrm>
          <a:prstGeom prst="bentConnector2">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38" name="꺾인 연결선 137"/>
          <p:cNvCxnSpPr>
            <a:endCxn id="122" idx="1"/>
          </p:cNvCxnSpPr>
          <p:nvPr/>
        </p:nvCxnSpPr>
        <p:spPr>
          <a:xfrm rot="16200000" flipH="1">
            <a:off x="7293260" y="2334198"/>
            <a:ext cx="1288481" cy="211666"/>
          </a:xfrm>
          <a:prstGeom prst="bentConnector2">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0" name="꺾인 연결선 139"/>
          <p:cNvCxnSpPr>
            <a:stCxn id="121" idx="3"/>
            <a:endCxn id="124" idx="1"/>
          </p:cNvCxnSpPr>
          <p:nvPr/>
        </p:nvCxnSpPr>
        <p:spPr>
          <a:xfrm>
            <a:off x="9711267" y="2651614"/>
            <a:ext cx="254004" cy="12700"/>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2" name="꺾인 연결선 141"/>
          <p:cNvCxnSpPr>
            <a:stCxn id="121" idx="3"/>
            <a:endCxn id="125" idx="1"/>
          </p:cNvCxnSpPr>
          <p:nvPr/>
        </p:nvCxnSpPr>
        <p:spPr>
          <a:xfrm>
            <a:off x="9711267" y="2651614"/>
            <a:ext cx="254004" cy="432658"/>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4" name="꺾인 연결선 143"/>
          <p:cNvCxnSpPr>
            <a:stCxn id="123" idx="3"/>
            <a:endCxn id="126" idx="1"/>
          </p:cNvCxnSpPr>
          <p:nvPr/>
        </p:nvCxnSpPr>
        <p:spPr>
          <a:xfrm>
            <a:off x="9711267" y="3524625"/>
            <a:ext cx="254004" cy="698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6" name="꺾인 연결선 145"/>
          <p:cNvCxnSpPr>
            <a:stCxn id="123" idx="3"/>
            <a:endCxn id="128" idx="1"/>
          </p:cNvCxnSpPr>
          <p:nvPr/>
        </p:nvCxnSpPr>
        <p:spPr>
          <a:xfrm>
            <a:off x="9711267" y="3524625"/>
            <a:ext cx="254004" cy="44888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48" name="꺾인 연결선 147"/>
          <p:cNvCxnSpPr>
            <a:stCxn id="128" idx="3"/>
            <a:endCxn id="129" idx="1"/>
          </p:cNvCxnSpPr>
          <p:nvPr/>
        </p:nvCxnSpPr>
        <p:spPr>
          <a:xfrm flipV="1">
            <a:off x="10668000" y="3567091"/>
            <a:ext cx="262476" cy="40641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0" name="꺾인 연결선 149"/>
          <p:cNvCxnSpPr>
            <a:stCxn id="128" idx="3"/>
            <a:endCxn id="130" idx="1"/>
          </p:cNvCxnSpPr>
          <p:nvPr/>
        </p:nvCxnSpPr>
        <p:spPr>
          <a:xfrm>
            <a:off x="10668000" y="3973507"/>
            <a:ext cx="262476" cy="727"/>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2" name="직사각형 151"/>
          <p:cNvSpPr/>
          <p:nvPr/>
        </p:nvSpPr>
        <p:spPr>
          <a:xfrm>
            <a:off x="4418598" y="5032594"/>
            <a:ext cx="525935" cy="229432"/>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중단</a:t>
            </a:r>
            <a:endParaRPr lang="en-US" altLang="ko-KR" sz="1000" dirty="0">
              <a:solidFill>
                <a:schemeClr val="tx1"/>
              </a:solidFill>
            </a:endParaRPr>
          </a:p>
        </p:txBody>
      </p:sp>
      <p:sp>
        <p:nvSpPr>
          <p:cNvPr id="153" name="직사각형 152"/>
          <p:cNvSpPr/>
          <p:nvPr/>
        </p:nvSpPr>
        <p:spPr>
          <a:xfrm>
            <a:off x="4418598" y="5948065"/>
            <a:ext cx="525935" cy="229432"/>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중지</a:t>
            </a:r>
            <a:endParaRPr lang="en-US" altLang="ko-KR" sz="1000" dirty="0">
              <a:solidFill>
                <a:schemeClr val="tx1"/>
              </a:solidFill>
            </a:endParaRPr>
          </a:p>
        </p:txBody>
      </p:sp>
      <p:cxnSp>
        <p:nvCxnSpPr>
          <p:cNvPr id="154" name="꺾인 연결선 153"/>
          <p:cNvCxnSpPr>
            <a:stCxn id="152" idx="3"/>
            <a:endCxn id="159" idx="1"/>
          </p:cNvCxnSpPr>
          <p:nvPr/>
        </p:nvCxnSpPr>
        <p:spPr>
          <a:xfrm>
            <a:off x="4944533" y="5147310"/>
            <a:ext cx="237049" cy="162596"/>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5" name="꺾인 연결선 154"/>
          <p:cNvCxnSpPr>
            <a:stCxn id="152" idx="3"/>
            <a:endCxn id="158" idx="1"/>
          </p:cNvCxnSpPr>
          <p:nvPr/>
        </p:nvCxnSpPr>
        <p:spPr>
          <a:xfrm flipV="1">
            <a:off x="4944533" y="5002254"/>
            <a:ext cx="237049" cy="145056"/>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6" name="꺾인 연결선 155"/>
          <p:cNvCxnSpPr>
            <a:stCxn id="153" idx="3"/>
            <a:endCxn id="161" idx="1"/>
          </p:cNvCxnSpPr>
          <p:nvPr/>
        </p:nvCxnSpPr>
        <p:spPr>
          <a:xfrm>
            <a:off x="4944533" y="6062781"/>
            <a:ext cx="237049" cy="175922"/>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57" name="꺾인 연결선 156"/>
          <p:cNvCxnSpPr>
            <a:stCxn id="153" idx="3"/>
            <a:endCxn id="160" idx="1"/>
          </p:cNvCxnSpPr>
          <p:nvPr/>
        </p:nvCxnSpPr>
        <p:spPr>
          <a:xfrm flipV="1">
            <a:off x="4944533" y="5948205"/>
            <a:ext cx="237049" cy="114576"/>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58" name="직사각형 157"/>
          <p:cNvSpPr/>
          <p:nvPr/>
        </p:nvSpPr>
        <p:spPr>
          <a:xfrm>
            <a:off x="5181582" y="4885688"/>
            <a:ext cx="845822" cy="233131"/>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당연중단</a:t>
            </a:r>
            <a:r>
              <a:rPr lang="ko-KR" altLang="en-US" sz="1000" dirty="0">
                <a:solidFill>
                  <a:schemeClr val="tx1"/>
                </a:solidFill>
              </a:rPr>
              <a:t> ○</a:t>
            </a:r>
            <a:endParaRPr lang="en-US" altLang="ko-KR" sz="1000" dirty="0">
              <a:solidFill>
                <a:schemeClr val="tx1"/>
              </a:solidFill>
            </a:endParaRPr>
          </a:p>
        </p:txBody>
      </p:sp>
      <p:sp>
        <p:nvSpPr>
          <p:cNvPr id="159" name="직사각형 158"/>
          <p:cNvSpPr/>
          <p:nvPr/>
        </p:nvSpPr>
        <p:spPr>
          <a:xfrm>
            <a:off x="5181582" y="5193340"/>
            <a:ext cx="845822" cy="233131"/>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결정중단</a:t>
            </a:r>
            <a:r>
              <a:rPr lang="ko-KR" altLang="en-US" sz="1000" dirty="0">
                <a:solidFill>
                  <a:schemeClr val="tx1"/>
                </a:solidFill>
              </a:rPr>
              <a:t> </a:t>
            </a:r>
            <a:r>
              <a:rPr lang="en-US" altLang="ko-KR" sz="1000" dirty="0">
                <a:solidFill>
                  <a:schemeClr val="tx1"/>
                </a:solidFill>
              </a:rPr>
              <a:t>× </a:t>
            </a:r>
          </a:p>
        </p:txBody>
      </p:sp>
      <p:sp>
        <p:nvSpPr>
          <p:cNvPr id="160" name="직사각형 159"/>
          <p:cNvSpPr/>
          <p:nvPr/>
        </p:nvSpPr>
        <p:spPr>
          <a:xfrm>
            <a:off x="5181582" y="5831639"/>
            <a:ext cx="845822" cy="233131"/>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당연중지</a:t>
            </a:r>
            <a:r>
              <a:rPr lang="ko-KR" altLang="en-US" sz="1000" dirty="0">
                <a:solidFill>
                  <a:schemeClr val="tx1"/>
                </a:solidFill>
              </a:rPr>
              <a:t> ○</a:t>
            </a:r>
            <a:endParaRPr lang="en-US" altLang="ko-KR" sz="1000" dirty="0">
              <a:solidFill>
                <a:schemeClr val="tx1"/>
              </a:solidFill>
            </a:endParaRPr>
          </a:p>
        </p:txBody>
      </p:sp>
      <p:sp>
        <p:nvSpPr>
          <p:cNvPr id="161" name="직사각형 160"/>
          <p:cNvSpPr/>
          <p:nvPr/>
        </p:nvSpPr>
        <p:spPr>
          <a:xfrm>
            <a:off x="5181582" y="6122137"/>
            <a:ext cx="845822" cy="233131"/>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결정중지</a:t>
            </a:r>
            <a:r>
              <a:rPr lang="ko-KR" altLang="en-US" sz="1000" dirty="0">
                <a:solidFill>
                  <a:schemeClr val="tx1"/>
                </a:solidFill>
              </a:rPr>
              <a:t> ○</a:t>
            </a:r>
            <a:endParaRPr lang="en-US" altLang="ko-KR" sz="1000" dirty="0">
              <a:solidFill>
                <a:schemeClr val="tx1"/>
              </a:solidFill>
            </a:endParaRPr>
          </a:p>
        </p:txBody>
      </p:sp>
      <p:sp>
        <p:nvSpPr>
          <p:cNvPr id="162" name="직사각형 161"/>
          <p:cNvSpPr/>
          <p:nvPr/>
        </p:nvSpPr>
        <p:spPr>
          <a:xfrm>
            <a:off x="6222687" y="4811834"/>
            <a:ext cx="1833346" cy="237576"/>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중단사유</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20)</a:t>
            </a:r>
          </a:p>
        </p:txBody>
      </p:sp>
      <p:cxnSp>
        <p:nvCxnSpPr>
          <p:cNvPr id="163" name="꺾인 연결선 162"/>
          <p:cNvCxnSpPr>
            <a:stCxn id="152" idx="1"/>
            <a:endCxn id="153" idx="1"/>
          </p:cNvCxnSpPr>
          <p:nvPr/>
        </p:nvCxnSpPr>
        <p:spPr>
          <a:xfrm rot="10800000" flipV="1">
            <a:off x="4418598" y="5147309"/>
            <a:ext cx="12700" cy="915471"/>
          </a:xfrm>
          <a:prstGeom prst="bentConnector3">
            <a:avLst>
              <a:gd name="adj1" fmla="val 180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64" name="직사각형 163"/>
          <p:cNvSpPr/>
          <p:nvPr/>
        </p:nvSpPr>
        <p:spPr>
          <a:xfrm>
            <a:off x="6222687" y="5109982"/>
            <a:ext cx="1833346" cy="237576"/>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수계자</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21)</a:t>
            </a:r>
          </a:p>
        </p:txBody>
      </p:sp>
      <p:sp>
        <p:nvSpPr>
          <p:cNvPr id="165" name="직사각형 164"/>
          <p:cNvSpPr/>
          <p:nvPr/>
        </p:nvSpPr>
        <p:spPr>
          <a:xfrm>
            <a:off x="6222687" y="5417722"/>
            <a:ext cx="1833346" cy="237576"/>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수계방법</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22)</a:t>
            </a:r>
          </a:p>
        </p:txBody>
      </p:sp>
      <p:sp>
        <p:nvSpPr>
          <p:cNvPr id="166" name="직사각형 165"/>
          <p:cNvSpPr/>
          <p:nvPr/>
        </p:nvSpPr>
        <p:spPr>
          <a:xfrm>
            <a:off x="6222687" y="5827542"/>
            <a:ext cx="1833346" cy="237576"/>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당연중지</a:t>
            </a:r>
            <a:r>
              <a:rPr lang="ko-KR" altLang="en-US" sz="1000" dirty="0">
                <a:solidFill>
                  <a:schemeClr val="tx1"/>
                </a:solidFill>
              </a:rPr>
              <a:t> 및 해소</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23①④)</a:t>
            </a:r>
          </a:p>
        </p:txBody>
      </p:sp>
      <p:sp>
        <p:nvSpPr>
          <p:cNvPr id="167" name="직사각형 166"/>
          <p:cNvSpPr/>
          <p:nvPr/>
        </p:nvSpPr>
        <p:spPr>
          <a:xfrm>
            <a:off x="6222687" y="6118040"/>
            <a:ext cx="1833346" cy="237576"/>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schemeClr val="tx1"/>
                </a:solidFill>
              </a:rPr>
              <a:t>결정중지</a:t>
            </a:r>
            <a:r>
              <a:rPr lang="en-US" altLang="ko-KR" sz="1000" dirty="0">
                <a:solidFill>
                  <a:schemeClr val="tx1"/>
                </a:solidFill>
              </a:rPr>
              <a:t> </a:t>
            </a:r>
            <a:r>
              <a:rPr lang="ko-KR" altLang="en-US" sz="1000" dirty="0">
                <a:solidFill>
                  <a:schemeClr val="tx1"/>
                </a:solidFill>
              </a:rPr>
              <a:t>및 해소</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23②③④)</a:t>
            </a:r>
          </a:p>
        </p:txBody>
      </p:sp>
      <p:sp>
        <p:nvSpPr>
          <p:cNvPr id="168" name="직사각형 167"/>
          <p:cNvSpPr/>
          <p:nvPr/>
        </p:nvSpPr>
        <p:spPr>
          <a:xfrm>
            <a:off x="8273516" y="5417722"/>
            <a:ext cx="1901436" cy="237576"/>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신청에 의한 수계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22①②③④)</a:t>
            </a:r>
          </a:p>
        </p:txBody>
      </p:sp>
      <p:sp>
        <p:nvSpPr>
          <p:cNvPr id="169" name="직사각형 168"/>
          <p:cNvSpPr/>
          <p:nvPr/>
        </p:nvSpPr>
        <p:spPr>
          <a:xfrm>
            <a:off x="8273516" y="5703666"/>
            <a:ext cx="1901436" cy="237576"/>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명령에 의한 수계</a:t>
            </a: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22⑤⑥⑦)</a:t>
            </a:r>
          </a:p>
        </p:txBody>
      </p:sp>
      <p:cxnSp>
        <p:nvCxnSpPr>
          <p:cNvPr id="170" name="꺾인 연결선 169"/>
          <p:cNvCxnSpPr>
            <a:stCxn id="158" idx="3"/>
            <a:endCxn id="162" idx="1"/>
          </p:cNvCxnSpPr>
          <p:nvPr/>
        </p:nvCxnSpPr>
        <p:spPr>
          <a:xfrm flipV="1">
            <a:off x="6027404" y="4930622"/>
            <a:ext cx="195283" cy="71632"/>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1" name="꺾인 연결선 170"/>
          <p:cNvCxnSpPr>
            <a:stCxn id="158" idx="3"/>
            <a:endCxn id="165" idx="1"/>
          </p:cNvCxnSpPr>
          <p:nvPr/>
        </p:nvCxnSpPr>
        <p:spPr>
          <a:xfrm>
            <a:off x="6027404" y="5002254"/>
            <a:ext cx="195283" cy="53425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2" name="꺾인 연결선 171"/>
          <p:cNvCxnSpPr>
            <a:stCxn id="158" idx="3"/>
            <a:endCxn id="164" idx="1"/>
          </p:cNvCxnSpPr>
          <p:nvPr/>
        </p:nvCxnSpPr>
        <p:spPr>
          <a:xfrm>
            <a:off x="6027404" y="5002254"/>
            <a:ext cx="195283" cy="226516"/>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3" name="꺾인 연결선 172"/>
          <p:cNvCxnSpPr>
            <a:stCxn id="160" idx="3"/>
            <a:endCxn id="166" idx="1"/>
          </p:cNvCxnSpPr>
          <p:nvPr/>
        </p:nvCxnSpPr>
        <p:spPr>
          <a:xfrm flipV="1">
            <a:off x="6027404" y="5946330"/>
            <a:ext cx="195283" cy="187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4" name="꺾인 연결선 173"/>
          <p:cNvCxnSpPr>
            <a:stCxn id="161" idx="3"/>
            <a:endCxn id="167" idx="1"/>
          </p:cNvCxnSpPr>
          <p:nvPr/>
        </p:nvCxnSpPr>
        <p:spPr>
          <a:xfrm flipV="1">
            <a:off x="6027404" y="6236828"/>
            <a:ext cx="195283" cy="1875"/>
          </a:xfrm>
          <a:prstGeom prst="bentConnector3">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5" name="꺾인 연결선 174"/>
          <p:cNvCxnSpPr>
            <a:stCxn id="165" idx="3"/>
            <a:endCxn id="169" idx="1"/>
          </p:cNvCxnSpPr>
          <p:nvPr/>
        </p:nvCxnSpPr>
        <p:spPr>
          <a:xfrm>
            <a:off x="8056033" y="5536510"/>
            <a:ext cx="217483" cy="285944"/>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76" name="직선 연결선 175"/>
          <p:cNvCxnSpPr/>
          <p:nvPr/>
        </p:nvCxnSpPr>
        <p:spPr>
          <a:xfrm flipH="1">
            <a:off x="8485191" y="5536510"/>
            <a:ext cx="150821" cy="0"/>
          </a:xfrm>
          <a:prstGeom prst="line">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77" name="직사각형 176"/>
          <p:cNvSpPr/>
          <p:nvPr/>
        </p:nvSpPr>
        <p:spPr>
          <a:xfrm>
            <a:off x="10920621" y="5181349"/>
            <a:ext cx="674515" cy="621783"/>
          </a:xfrm>
          <a:prstGeom prst="rect">
            <a:avLst/>
          </a:prstGeom>
          <a:solidFill>
            <a:schemeClr val="bg1">
              <a:lumMod val="95000"/>
            </a:schemeClr>
          </a:solid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schemeClr val="tx1"/>
                </a:solidFill>
              </a:rPr>
              <a:t>정지</a:t>
            </a:r>
            <a:endParaRPr lang="en-US" altLang="ko-KR" sz="1000" dirty="0">
              <a:solidFill>
                <a:schemeClr val="tx1"/>
              </a:solidFill>
            </a:endParaRPr>
          </a:p>
          <a:p>
            <a:pPr algn="ctr"/>
            <a:r>
              <a:rPr lang="ko-KR" altLang="en-US" sz="1000" dirty="0">
                <a:solidFill>
                  <a:schemeClr val="tx1"/>
                </a:solidFill>
              </a:rPr>
              <a:t>효과</a:t>
            </a:r>
            <a:endParaRPr lang="en-US" altLang="ko-KR" sz="1000" dirty="0">
              <a:solidFill>
                <a:schemeClr val="tx1"/>
              </a:solidFill>
            </a:endParaRPr>
          </a:p>
          <a:p>
            <a:pPr algn="ctr"/>
            <a:r>
              <a:rPr lang="en-US" altLang="ko-KR" sz="1000" dirty="0">
                <a:solidFill>
                  <a:schemeClr val="tx1"/>
                </a:solidFill>
              </a:rPr>
              <a:t>(</a:t>
            </a:r>
            <a:r>
              <a:rPr lang="ko-KR" altLang="en-US" sz="1000" dirty="0">
                <a:solidFill>
                  <a:schemeClr val="tx1"/>
                </a:solidFill>
              </a:rPr>
              <a:t>法 </a:t>
            </a:r>
            <a:r>
              <a:rPr lang="en-US" altLang="ko-KR" sz="1000" dirty="0">
                <a:solidFill>
                  <a:schemeClr val="tx1"/>
                </a:solidFill>
              </a:rPr>
              <a:t>24)</a:t>
            </a:r>
            <a:endParaRPr lang="ko-KR" altLang="en-US" sz="1000" dirty="0">
              <a:solidFill>
                <a:schemeClr val="tx1"/>
              </a:solidFill>
            </a:endParaRPr>
          </a:p>
        </p:txBody>
      </p:sp>
      <p:sp>
        <p:nvSpPr>
          <p:cNvPr id="178" name="자유형 177"/>
          <p:cNvSpPr/>
          <p:nvPr/>
        </p:nvSpPr>
        <p:spPr>
          <a:xfrm>
            <a:off x="10316635" y="4885688"/>
            <a:ext cx="182413" cy="1515299"/>
          </a:xfrm>
          <a:custGeom>
            <a:avLst/>
            <a:gdLst>
              <a:gd name="connsiteX0" fmla="*/ 0 w 685800"/>
              <a:gd name="connsiteY0" fmla="*/ 0 h 2959100"/>
              <a:gd name="connsiteX1" fmla="*/ 685800 w 685800"/>
              <a:gd name="connsiteY1" fmla="*/ 0 h 2959100"/>
              <a:gd name="connsiteX2" fmla="*/ 685800 w 685800"/>
              <a:gd name="connsiteY2" fmla="*/ 2959100 h 2959100"/>
              <a:gd name="connsiteX3" fmla="*/ 114300 w 685800"/>
              <a:gd name="connsiteY3" fmla="*/ 2959100 h 2959100"/>
            </a:gdLst>
            <a:ahLst/>
            <a:cxnLst>
              <a:cxn ang="0">
                <a:pos x="connsiteX0" y="connsiteY0"/>
              </a:cxn>
              <a:cxn ang="0">
                <a:pos x="connsiteX1" y="connsiteY1"/>
              </a:cxn>
              <a:cxn ang="0">
                <a:pos x="connsiteX2" y="connsiteY2"/>
              </a:cxn>
              <a:cxn ang="0">
                <a:pos x="connsiteX3" y="connsiteY3"/>
              </a:cxn>
            </a:cxnLst>
            <a:rect l="l" t="t" r="r" b="b"/>
            <a:pathLst>
              <a:path w="685800" h="2959100">
                <a:moveTo>
                  <a:pt x="0" y="0"/>
                </a:moveTo>
                <a:lnTo>
                  <a:pt x="685800" y="0"/>
                </a:lnTo>
                <a:lnTo>
                  <a:pt x="685800" y="2959100"/>
                </a:lnTo>
                <a:lnTo>
                  <a:pt x="114300" y="2959100"/>
                </a:lnTo>
              </a:path>
            </a:pathLst>
          </a:custGeom>
          <a:noFill/>
          <a:ln w="3175">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a:p>
        </p:txBody>
      </p:sp>
      <p:cxnSp>
        <p:nvCxnSpPr>
          <p:cNvPr id="179" name="직선 화살표 연결선 178"/>
          <p:cNvCxnSpPr>
            <a:endCxn id="177" idx="1"/>
          </p:cNvCxnSpPr>
          <p:nvPr/>
        </p:nvCxnSpPr>
        <p:spPr>
          <a:xfrm>
            <a:off x="10499050" y="5492241"/>
            <a:ext cx="421572" cy="1"/>
          </a:xfrm>
          <a:prstGeom prst="straightConnector1">
            <a:avLst/>
          </a:prstGeom>
          <a:ln w="3175">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221" name="꺾인 연결선 220"/>
          <p:cNvCxnSpPr>
            <a:stCxn id="165" idx="3"/>
            <a:endCxn id="168" idx="1"/>
          </p:cNvCxnSpPr>
          <p:nvPr/>
        </p:nvCxnSpPr>
        <p:spPr>
          <a:xfrm>
            <a:off x="8056033" y="5536510"/>
            <a:ext cx="217483" cy="12700"/>
          </a:xfrm>
          <a:prstGeom prst="bentConnector3">
            <a:avLst>
              <a:gd name="adj1" fmla="val 50000"/>
            </a:avLst>
          </a:prstGeom>
          <a:ln w="3175">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25" name="직사각형 224"/>
          <p:cNvSpPr/>
          <p:nvPr/>
        </p:nvSpPr>
        <p:spPr>
          <a:xfrm>
            <a:off x="4063993" y="1172217"/>
            <a:ext cx="3479807" cy="307805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dirty="0">
                <a:solidFill>
                  <a:schemeClr val="accent2">
                    <a:lumMod val="50000"/>
                  </a:schemeClr>
                </a:solidFill>
              </a:rPr>
              <a:t>기일과 기간</a:t>
            </a:r>
            <a:r>
              <a:rPr lang="en-US" altLang="ko-KR" dirty="0">
                <a:solidFill>
                  <a:schemeClr val="accent2">
                    <a:lumMod val="50000"/>
                  </a:schemeClr>
                </a:solidFill>
              </a:rPr>
              <a:t>(</a:t>
            </a:r>
            <a:r>
              <a:rPr lang="ko-KR" altLang="en-US" dirty="0">
                <a:solidFill>
                  <a:schemeClr val="accent2">
                    <a:lumMod val="50000"/>
                  </a:schemeClr>
                </a:solidFill>
              </a:rPr>
              <a:t>法 </a:t>
            </a:r>
            <a:r>
              <a:rPr lang="en-US" altLang="ko-KR" dirty="0">
                <a:solidFill>
                  <a:schemeClr val="accent2">
                    <a:lumMod val="50000"/>
                  </a:schemeClr>
                </a:solidFill>
              </a:rPr>
              <a:t>14, 15)</a:t>
            </a:r>
          </a:p>
        </p:txBody>
      </p:sp>
      <p:sp>
        <p:nvSpPr>
          <p:cNvPr id="226" name="직사각형 225"/>
          <p:cNvSpPr/>
          <p:nvPr/>
        </p:nvSpPr>
        <p:spPr>
          <a:xfrm>
            <a:off x="7670793" y="1172217"/>
            <a:ext cx="4131740" cy="3078050"/>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dirty="0">
                <a:solidFill>
                  <a:schemeClr val="accent2">
                    <a:lumMod val="50000"/>
                  </a:schemeClr>
                </a:solidFill>
              </a:rPr>
              <a:t>특허에 관한 절차 일반</a:t>
            </a:r>
            <a:r>
              <a:rPr lang="en-US" altLang="ko-KR" dirty="0">
                <a:solidFill>
                  <a:schemeClr val="accent2">
                    <a:lumMod val="50000"/>
                  </a:schemeClr>
                </a:solidFill>
              </a:rPr>
              <a:t>(</a:t>
            </a:r>
            <a:r>
              <a:rPr lang="ko-KR" altLang="en-US" dirty="0">
                <a:solidFill>
                  <a:schemeClr val="accent2">
                    <a:lumMod val="50000"/>
                  </a:schemeClr>
                </a:solidFill>
              </a:rPr>
              <a:t>法 </a:t>
            </a:r>
            <a:r>
              <a:rPr lang="en-US" altLang="ko-KR" dirty="0">
                <a:solidFill>
                  <a:schemeClr val="accent2">
                    <a:lumMod val="50000"/>
                  </a:schemeClr>
                </a:solidFill>
              </a:rPr>
              <a:t>16, 28~28</a:t>
            </a:r>
            <a:r>
              <a:rPr lang="ko-KR" altLang="en-US" dirty="0">
                <a:solidFill>
                  <a:schemeClr val="accent2">
                    <a:lumMod val="50000"/>
                  </a:schemeClr>
                </a:solidFill>
              </a:rPr>
              <a:t>의</a:t>
            </a:r>
            <a:r>
              <a:rPr lang="en-US" altLang="ko-KR" dirty="0">
                <a:solidFill>
                  <a:schemeClr val="accent2">
                    <a:lumMod val="50000"/>
                  </a:schemeClr>
                </a:solidFill>
              </a:rPr>
              <a:t>5)</a:t>
            </a:r>
          </a:p>
        </p:txBody>
      </p:sp>
      <p:sp>
        <p:nvSpPr>
          <p:cNvPr id="227" name="직사각형 226"/>
          <p:cNvSpPr/>
          <p:nvPr/>
        </p:nvSpPr>
        <p:spPr>
          <a:xfrm>
            <a:off x="4063993" y="4340926"/>
            <a:ext cx="7738540" cy="2200351"/>
          </a:xfrm>
          <a:prstGeom prst="rect">
            <a:avLst/>
          </a:prstGeom>
          <a:no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r>
              <a:rPr lang="ko-KR" altLang="en-US" dirty="0">
                <a:solidFill>
                  <a:schemeClr val="accent2">
                    <a:lumMod val="50000"/>
                  </a:schemeClr>
                </a:solidFill>
              </a:rPr>
              <a:t>절차의 정지</a:t>
            </a:r>
            <a:r>
              <a:rPr lang="en-US" altLang="ko-KR" dirty="0">
                <a:solidFill>
                  <a:schemeClr val="accent2">
                    <a:lumMod val="50000"/>
                  </a:schemeClr>
                </a:solidFill>
              </a:rPr>
              <a:t>(</a:t>
            </a:r>
            <a:r>
              <a:rPr lang="ko-KR" altLang="en-US" dirty="0">
                <a:solidFill>
                  <a:schemeClr val="accent2">
                    <a:lumMod val="50000"/>
                  </a:schemeClr>
                </a:solidFill>
              </a:rPr>
              <a:t>法 </a:t>
            </a:r>
            <a:r>
              <a:rPr lang="en-US" altLang="ko-KR" dirty="0">
                <a:solidFill>
                  <a:schemeClr val="accent2">
                    <a:lumMod val="50000"/>
                  </a:schemeClr>
                </a:solidFill>
              </a:rPr>
              <a:t>20~24, 78, 164)</a:t>
            </a:r>
          </a:p>
        </p:txBody>
      </p:sp>
      <p:sp>
        <p:nvSpPr>
          <p:cNvPr id="2" name="슬라이드 번호 개체 틀 1"/>
          <p:cNvSpPr>
            <a:spLocks noGrp="1"/>
          </p:cNvSpPr>
          <p:nvPr>
            <p:ph type="sldNum" sz="quarter" idx="12"/>
          </p:nvPr>
        </p:nvSpPr>
        <p:spPr/>
        <p:txBody>
          <a:bodyPr/>
          <a:lstStyle/>
          <a:p>
            <a:fld id="{3875FC6C-1516-4DC4-8C58-3090F7D4F003}" type="slidenum">
              <a:rPr lang="ko-KR" altLang="en-US" smtClean="0"/>
              <a:t>46</a:t>
            </a:fld>
            <a:endParaRPr lang="ko-KR" altLang="en-US"/>
          </a:p>
        </p:txBody>
      </p:sp>
    </p:spTree>
    <p:extLst>
      <p:ext uri="{BB962C8B-B14F-4D97-AF65-F5344CB8AC3E}">
        <p14:creationId xmlns:p14="http://schemas.microsoft.com/office/powerpoint/2010/main" val="417761886"/>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err="1"/>
              <a:t>보칙</a:t>
            </a:r>
            <a:r>
              <a:rPr lang="ko-KR" altLang="en-US" dirty="0"/>
              <a:t> 체계</a:t>
            </a:r>
            <a:r>
              <a:rPr lang="en-US" altLang="ko-KR" dirty="0"/>
              <a:t>: </a:t>
            </a:r>
            <a:r>
              <a:rPr lang="ko-KR" altLang="en-US" dirty="0"/>
              <a:t>제</a:t>
            </a:r>
            <a:r>
              <a:rPr lang="en-US" altLang="ko-KR" dirty="0"/>
              <a:t>11</a:t>
            </a:r>
            <a:r>
              <a:rPr lang="ko-KR" altLang="en-US" dirty="0"/>
              <a:t>장</a:t>
            </a:r>
          </a:p>
        </p:txBody>
      </p:sp>
      <p:sp>
        <p:nvSpPr>
          <p:cNvPr id="5" name="직사각형 4"/>
          <p:cNvSpPr/>
          <p:nvPr/>
        </p:nvSpPr>
        <p:spPr>
          <a:xfrm>
            <a:off x="487392" y="3552922"/>
            <a:ext cx="602531" cy="607352"/>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ko-KR" altLang="en-US" sz="1600" dirty="0" err="1"/>
              <a:t>보칙</a:t>
            </a:r>
            <a:endParaRPr lang="ko-KR" altLang="en-US" sz="1600" dirty="0"/>
          </a:p>
        </p:txBody>
      </p:sp>
      <p:sp>
        <p:nvSpPr>
          <p:cNvPr id="7" name="직사각형 6"/>
          <p:cNvSpPr/>
          <p:nvPr/>
        </p:nvSpPr>
        <p:spPr>
          <a:xfrm>
            <a:off x="1440036" y="1337062"/>
            <a:ext cx="3716682"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err="1">
                <a:solidFill>
                  <a:schemeClr val="tx1"/>
                </a:solidFill>
              </a:rPr>
              <a:t>청구항별</a:t>
            </a:r>
            <a:r>
              <a:rPr lang="ko-KR" altLang="en-US" sz="1100" dirty="0">
                <a:solidFill>
                  <a:schemeClr val="tx1"/>
                </a:solidFill>
              </a:rPr>
              <a:t> </a:t>
            </a:r>
            <a:r>
              <a:rPr lang="ko-KR" altLang="en-US" sz="1100" dirty="0" err="1">
                <a:solidFill>
                  <a:schemeClr val="tx1"/>
                </a:solidFill>
              </a:rPr>
              <a:t>특칙</a:t>
            </a:r>
            <a:endParaRPr lang="ko-KR" altLang="en-US" sz="1100" dirty="0">
              <a:solidFill>
                <a:schemeClr val="tx1"/>
              </a:solidFill>
            </a:endParaRPr>
          </a:p>
        </p:txBody>
      </p:sp>
      <p:sp>
        <p:nvSpPr>
          <p:cNvPr id="8" name="직사각형 7"/>
          <p:cNvSpPr/>
          <p:nvPr/>
        </p:nvSpPr>
        <p:spPr>
          <a:xfrm>
            <a:off x="1440036" y="1865713"/>
            <a:ext cx="3716682"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서류의 열람 등</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216)</a:t>
            </a:r>
            <a:endParaRPr lang="ko-KR" altLang="en-US" sz="1100" dirty="0">
              <a:solidFill>
                <a:schemeClr val="tx1"/>
              </a:solidFill>
            </a:endParaRPr>
          </a:p>
        </p:txBody>
      </p:sp>
      <p:sp>
        <p:nvSpPr>
          <p:cNvPr id="9" name="직사각형 8"/>
          <p:cNvSpPr/>
          <p:nvPr/>
        </p:nvSpPr>
        <p:spPr>
          <a:xfrm>
            <a:off x="1440036" y="2358580"/>
            <a:ext cx="3716682"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특허출원 등에 관한 서류 등의 반출 및 감정 등의 금지</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217)</a:t>
            </a:r>
            <a:endParaRPr lang="ko-KR" altLang="en-US" sz="1100" dirty="0">
              <a:solidFill>
                <a:schemeClr val="tx1"/>
              </a:solidFill>
            </a:endParaRPr>
          </a:p>
        </p:txBody>
      </p:sp>
      <p:sp>
        <p:nvSpPr>
          <p:cNvPr id="11" name="직사각형 10"/>
          <p:cNvSpPr/>
          <p:nvPr/>
        </p:nvSpPr>
        <p:spPr>
          <a:xfrm>
            <a:off x="1440036" y="2863921"/>
            <a:ext cx="3716682"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송달</a:t>
            </a:r>
          </a:p>
        </p:txBody>
      </p:sp>
      <p:sp>
        <p:nvSpPr>
          <p:cNvPr id="12" name="직사각형 11"/>
          <p:cNvSpPr/>
          <p:nvPr/>
        </p:nvSpPr>
        <p:spPr>
          <a:xfrm>
            <a:off x="1440036" y="3338142"/>
            <a:ext cx="3716682"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특허공보</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221)</a:t>
            </a:r>
            <a:endParaRPr lang="ko-KR" altLang="en-US" sz="1100" dirty="0">
              <a:solidFill>
                <a:schemeClr val="tx1"/>
              </a:solidFill>
            </a:endParaRPr>
          </a:p>
        </p:txBody>
      </p:sp>
      <p:sp>
        <p:nvSpPr>
          <p:cNvPr id="74" name="직사각형 73"/>
          <p:cNvSpPr/>
          <p:nvPr/>
        </p:nvSpPr>
        <p:spPr>
          <a:xfrm>
            <a:off x="1440036" y="3829583"/>
            <a:ext cx="3716682"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서류의 제출 등</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222)</a:t>
            </a:r>
            <a:endParaRPr lang="ko-KR" altLang="en-US" sz="1100" dirty="0">
              <a:solidFill>
                <a:schemeClr val="tx1"/>
              </a:solidFill>
            </a:endParaRPr>
          </a:p>
        </p:txBody>
      </p:sp>
      <p:sp>
        <p:nvSpPr>
          <p:cNvPr id="75" name="직사각형 74"/>
          <p:cNvSpPr/>
          <p:nvPr/>
        </p:nvSpPr>
        <p:spPr>
          <a:xfrm>
            <a:off x="1440036" y="4283933"/>
            <a:ext cx="3716682"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특허표시</a:t>
            </a:r>
          </a:p>
        </p:txBody>
      </p:sp>
      <p:sp>
        <p:nvSpPr>
          <p:cNvPr id="76" name="직사각형 75"/>
          <p:cNvSpPr/>
          <p:nvPr/>
        </p:nvSpPr>
        <p:spPr>
          <a:xfrm>
            <a:off x="1440036" y="4750682"/>
            <a:ext cx="3716682"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불복의 제한</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224</a:t>
            </a:r>
            <a:r>
              <a:rPr lang="ko-KR" altLang="en-US" sz="1100" dirty="0">
                <a:solidFill>
                  <a:schemeClr val="tx1"/>
                </a:solidFill>
              </a:rPr>
              <a:t>의</a:t>
            </a:r>
            <a:r>
              <a:rPr lang="en-US" altLang="ko-KR" sz="1100" dirty="0">
                <a:solidFill>
                  <a:schemeClr val="tx1"/>
                </a:solidFill>
              </a:rPr>
              <a:t>2)</a:t>
            </a:r>
            <a:endParaRPr lang="ko-KR" altLang="en-US" sz="1100" dirty="0">
              <a:solidFill>
                <a:schemeClr val="tx1"/>
              </a:solidFill>
            </a:endParaRPr>
          </a:p>
        </p:txBody>
      </p:sp>
      <p:sp>
        <p:nvSpPr>
          <p:cNvPr id="31" name="직사각형 30"/>
          <p:cNvSpPr/>
          <p:nvPr/>
        </p:nvSpPr>
        <p:spPr>
          <a:xfrm>
            <a:off x="1440036" y="5204220"/>
            <a:ext cx="3716682" cy="355666"/>
          </a:xfrm>
          <a:prstGeom prst="rect">
            <a:avLst/>
          </a:prstGeom>
          <a:solidFill>
            <a:schemeClr val="accent1">
              <a:lumMod val="20000"/>
              <a:lumOff val="80000"/>
            </a:schemeClr>
          </a:solidFill>
          <a:ln>
            <a:solidFill>
              <a:schemeClr val="bg1">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ko-KR" altLang="en-US" sz="1100" dirty="0">
                <a:solidFill>
                  <a:schemeClr val="tx1"/>
                </a:solidFill>
              </a:rPr>
              <a:t>비밀유지명령제도</a:t>
            </a:r>
          </a:p>
        </p:txBody>
      </p:sp>
      <p:cxnSp>
        <p:nvCxnSpPr>
          <p:cNvPr id="15" name="꺾인 연결선 14"/>
          <p:cNvCxnSpPr>
            <a:cxnSpLocks/>
            <a:stCxn id="5" idx="3"/>
            <a:endCxn id="7" idx="1"/>
          </p:cNvCxnSpPr>
          <p:nvPr/>
        </p:nvCxnSpPr>
        <p:spPr>
          <a:xfrm flipV="1">
            <a:off x="1089923" y="1514895"/>
            <a:ext cx="350113" cy="2341703"/>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19" name="꺾인 연결선 18"/>
          <p:cNvCxnSpPr>
            <a:cxnSpLocks/>
            <a:stCxn id="5" idx="3"/>
            <a:endCxn id="8" idx="1"/>
          </p:cNvCxnSpPr>
          <p:nvPr/>
        </p:nvCxnSpPr>
        <p:spPr>
          <a:xfrm flipV="1">
            <a:off x="1089923" y="2043546"/>
            <a:ext cx="350113" cy="181305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1" name="꺾인 연결선 20"/>
          <p:cNvCxnSpPr>
            <a:cxnSpLocks/>
            <a:stCxn id="5" idx="3"/>
            <a:endCxn id="9" idx="1"/>
          </p:cNvCxnSpPr>
          <p:nvPr/>
        </p:nvCxnSpPr>
        <p:spPr>
          <a:xfrm flipV="1">
            <a:off x="1089923" y="2536413"/>
            <a:ext cx="350113" cy="132018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5" name="꺾인 연결선 24"/>
          <p:cNvCxnSpPr>
            <a:cxnSpLocks/>
            <a:stCxn id="5" idx="3"/>
            <a:endCxn id="74" idx="1"/>
          </p:cNvCxnSpPr>
          <p:nvPr/>
        </p:nvCxnSpPr>
        <p:spPr>
          <a:xfrm>
            <a:off x="1089923" y="3856598"/>
            <a:ext cx="350113" cy="150818"/>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꺾인 연결선 26"/>
          <p:cNvCxnSpPr>
            <a:cxnSpLocks/>
            <a:stCxn id="5" idx="3"/>
            <a:endCxn id="75" idx="1"/>
          </p:cNvCxnSpPr>
          <p:nvPr/>
        </p:nvCxnSpPr>
        <p:spPr>
          <a:xfrm>
            <a:off x="1089923" y="3856598"/>
            <a:ext cx="350113" cy="605168"/>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꺾인 연결선 28"/>
          <p:cNvCxnSpPr>
            <a:cxnSpLocks/>
            <a:stCxn id="5" idx="3"/>
            <a:endCxn id="76" idx="1"/>
          </p:cNvCxnSpPr>
          <p:nvPr/>
        </p:nvCxnSpPr>
        <p:spPr>
          <a:xfrm>
            <a:off x="1089923" y="3856598"/>
            <a:ext cx="350113" cy="1071917"/>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4" name="꺾인 연결선 33"/>
          <p:cNvCxnSpPr>
            <a:cxnSpLocks/>
            <a:stCxn id="5" idx="3"/>
            <a:endCxn id="31" idx="1"/>
          </p:cNvCxnSpPr>
          <p:nvPr/>
        </p:nvCxnSpPr>
        <p:spPr>
          <a:xfrm>
            <a:off x="1089923" y="3856598"/>
            <a:ext cx="350113" cy="1525455"/>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8" name="꺾인 연결선 37"/>
          <p:cNvCxnSpPr>
            <a:cxnSpLocks/>
            <a:stCxn id="5" idx="3"/>
            <a:endCxn id="11" idx="1"/>
          </p:cNvCxnSpPr>
          <p:nvPr/>
        </p:nvCxnSpPr>
        <p:spPr>
          <a:xfrm flipV="1">
            <a:off x="1089923" y="3041754"/>
            <a:ext cx="350113" cy="814844"/>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40" name="꺾인 연결선 39"/>
          <p:cNvCxnSpPr>
            <a:cxnSpLocks/>
            <a:stCxn id="5" idx="3"/>
            <a:endCxn id="12" idx="1"/>
          </p:cNvCxnSpPr>
          <p:nvPr/>
        </p:nvCxnSpPr>
        <p:spPr>
          <a:xfrm flipV="1">
            <a:off x="1089923" y="3515975"/>
            <a:ext cx="350113" cy="340623"/>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2" name="슬라이드 번호 개체 틀 1"/>
          <p:cNvSpPr>
            <a:spLocks noGrp="1"/>
          </p:cNvSpPr>
          <p:nvPr>
            <p:ph type="sldNum" sz="quarter" idx="12"/>
          </p:nvPr>
        </p:nvSpPr>
        <p:spPr/>
        <p:txBody>
          <a:bodyPr/>
          <a:lstStyle/>
          <a:p>
            <a:fld id="{3875FC6C-1516-4DC4-8C58-3090F7D4F003}" type="slidenum">
              <a:rPr lang="ko-KR" altLang="en-US" smtClean="0"/>
              <a:t>47</a:t>
            </a:fld>
            <a:endParaRPr lang="ko-KR" altLang="en-US"/>
          </a:p>
        </p:txBody>
      </p:sp>
      <p:sp>
        <p:nvSpPr>
          <p:cNvPr id="52" name="직사각형 51">
            <a:extLst>
              <a:ext uri="{FF2B5EF4-FFF2-40B4-BE49-F238E27FC236}">
                <a16:creationId xmlns:a16="http://schemas.microsoft.com/office/drawing/2014/main" id="{A7561D64-D708-01F7-5A4B-504C7ACBC1F5}"/>
              </a:ext>
            </a:extLst>
          </p:cNvPr>
          <p:cNvSpPr/>
          <p:nvPr/>
        </p:nvSpPr>
        <p:spPr>
          <a:xfrm>
            <a:off x="5704126" y="1112030"/>
            <a:ext cx="5729884"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둘 이상의 청구항이 있는 특허 또는 특허권에 관한 </a:t>
            </a:r>
            <a:r>
              <a:rPr lang="ko-KR" altLang="en-US" sz="1100" dirty="0" err="1">
                <a:solidFill>
                  <a:schemeClr val="tx1"/>
                </a:solidFill>
              </a:rPr>
              <a:t>특칙</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215)</a:t>
            </a:r>
            <a:endParaRPr lang="ko-KR" altLang="en-US" sz="1100" dirty="0">
              <a:solidFill>
                <a:schemeClr val="tx1"/>
              </a:solidFill>
            </a:endParaRPr>
          </a:p>
        </p:txBody>
      </p:sp>
      <p:cxnSp>
        <p:nvCxnSpPr>
          <p:cNvPr id="54" name="연결선: 꺾임 53">
            <a:extLst>
              <a:ext uri="{FF2B5EF4-FFF2-40B4-BE49-F238E27FC236}">
                <a16:creationId xmlns:a16="http://schemas.microsoft.com/office/drawing/2014/main" id="{9991B1FB-102D-38F3-6167-610F214A0294}"/>
              </a:ext>
            </a:extLst>
          </p:cNvPr>
          <p:cNvCxnSpPr>
            <a:cxnSpLocks/>
            <a:stCxn id="7" idx="3"/>
            <a:endCxn id="52" idx="1"/>
          </p:cNvCxnSpPr>
          <p:nvPr/>
        </p:nvCxnSpPr>
        <p:spPr>
          <a:xfrm flipV="1">
            <a:off x="5156718" y="1289863"/>
            <a:ext cx="547408" cy="22503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57" name="직사각형 56">
            <a:extLst>
              <a:ext uri="{FF2B5EF4-FFF2-40B4-BE49-F238E27FC236}">
                <a16:creationId xmlns:a16="http://schemas.microsoft.com/office/drawing/2014/main" id="{D3C0CCDF-B8ED-3F66-2266-D27D2FB58B34}"/>
              </a:ext>
            </a:extLst>
          </p:cNvPr>
          <p:cNvSpPr/>
          <p:nvPr/>
        </p:nvSpPr>
        <p:spPr>
          <a:xfrm>
            <a:off x="5704126" y="1556613"/>
            <a:ext cx="5729884"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둘 이상의 청구항이 있는 특허출원의 등록에 관한 </a:t>
            </a:r>
            <a:r>
              <a:rPr lang="ko-KR" altLang="en-US" sz="1100" dirty="0" err="1">
                <a:solidFill>
                  <a:schemeClr val="tx1"/>
                </a:solidFill>
              </a:rPr>
              <a:t>특칙</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215</a:t>
            </a:r>
            <a:r>
              <a:rPr lang="ko-KR" altLang="en-US" sz="1100" dirty="0">
                <a:solidFill>
                  <a:schemeClr val="tx1"/>
                </a:solidFill>
              </a:rPr>
              <a:t>의</a:t>
            </a:r>
            <a:r>
              <a:rPr lang="en-US" altLang="ko-KR" sz="1100" dirty="0">
                <a:solidFill>
                  <a:schemeClr val="tx1"/>
                </a:solidFill>
              </a:rPr>
              <a:t>2)</a:t>
            </a:r>
            <a:endParaRPr lang="ko-KR" altLang="en-US" sz="1100" dirty="0">
              <a:solidFill>
                <a:schemeClr val="tx1"/>
              </a:solidFill>
            </a:endParaRPr>
          </a:p>
        </p:txBody>
      </p:sp>
      <p:cxnSp>
        <p:nvCxnSpPr>
          <p:cNvPr id="59" name="연결선: 꺾임 58">
            <a:extLst>
              <a:ext uri="{FF2B5EF4-FFF2-40B4-BE49-F238E27FC236}">
                <a16:creationId xmlns:a16="http://schemas.microsoft.com/office/drawing/2014/main" id="{25107319-0ADB-3E3F-9FC3-86D4534743CE}"/>
              </a:ext>
            </a:extLst>
          </p:cNvPr>
          <p:cNvCxnSpPr>
            <a:cxnSpLocks/>
            <a:stCxn id="7" idx="3"/>
            <a:endCxn id="57" idx="1"/>
          </p:cNvCxnSpPr>
          <p:nvPr/>
        </p:nvCxnSpPr>
        <p:spPr>
          <a:xfrm>
            <a:off x="5156718" y="1514895"/>
            <a:ext cx="547408" cy="21955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66" name="직사각형 65">
            <a:extLst>
              <a:ext uri="{FF2B5EF4-FFF2-40B4-BE49-F238E27FC236}">
                <a16:creationId xmlns:a16="http://schemas.microsoft.com/office/drawing/2014/main" id="{61C8E41C-B901-EDE0-9208-3432BAF563C7}"/>
              </a:ext>
            </a:extLst>
          </p:cNvPr>
          <p:cNvSpPr/>
          <p:nvPr/>
        </p:nvSpPr>
        <p:spPr>
          <a:xfrm>
            <a:off x="5704126" y="2415216"/>
            <a:ext cx="5729884"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서류의 송달</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218)</a:t>
            </a:r>
            <a:endParaRPr lang="ko-KR" altLang="en-US" sz="1100" dirty="0">
              <a:solidFill>
                <a:schemeClr val="tx1"/>
              </a:solidFill>
            </a:endParaRPr>
          </a:p>
        </p:txBody>
      </p:sp>
      <p:sp>
        <p:nvSpPr>
          <p:cNvPr id="67" name="직사각형 66">
            <a:extLst>
              <a:ext uri="{FF2B5EF4-FFF2-40B4-BE49-F238E27FC236}">
                <a16:creationId xmlns:a16="http://schemas.microsoft.com/office/drawing/2014/main" id="{00FE2256-5396-D157-DDCF-7C3FFCB09796}"/>
              </a:ext>
            </a:extLst>
          </p:cNvPr>
          <p:cNvSpPr/>
          <p:nvPr/>
        </p:nvSpPr>
        <p:spPr>
          <a:xfrm>
            <a:off x="5704126" y="2859799"/>
            <a:ext cx="5729884"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공시송달</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219)</a:t>
            </a:r>
            <a:endParaRPr lang="ko-KR" altLang="en-US" sz="1100" dirty="0">
              <a:solidFill>
                <a:schemeClr val="tx1"/>
              </a:solidFill>
            </a:endParaRPr>
          </a:p>
        </p:txBody>
      </p:sp>
      <p:sp>
        <p:nvSpPr>
          <p:cNvPr id="68" name="직사각형 67">
            <a:extLst>
              <a:ext uri="{FF2B5EF4-FFF2-40B4-BE49-F238E27FC236}">
                <a16:creationId xmlns:a16="http://schemas.microsoft.com/office/drawing/2014/main" id="{5382445E-F29F-6EC0-E79A-6E0D5259048E}"/>
              </a:ext>
            </a:extLst>
          </p:cNvPr>
          <p:cNvSpPr/>
          <p:nvPr/>
        </p:nvSpPr>
        <p:spPr>
          <a:xfrm>
            <a:off x="5704126" y="3301285"/>
            <a:ext cx="5729884"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재외자에 대한 송달</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220)</a:t>
            </a:r>
            <a:endParaRPr lang="ko-KR" altLang="en-US" sz="1100" dirty="0">
              <a:solidFill>
                <a:schemeClr val="tx1"/>
              </a:solidFill>
            </a:endParaRPr>
          </a:p>
        </p:txBody>
      </p:sp>
      <p:cxnSp>
        <p:nvCxnSpPr>
          <p:cNvPr id="69" name="연결선: 꺾임 68">
            <a:extLst>
              <a:ext uri="{FF2B5EF4-FFF2-40B4-BE49-F238E27FC236}">
                <a16:creationId xmlns:a16="http://schemas.microsoft.com/office/drawing/2014/main" id="{87AD073A-1CC2-D4F8-052E-0ABB068CE04E}"/>
              </a:ext>
            </a:extLst>
          </p:cNvPr>
          <p:cNvCxnSpPr>
            <a:cxnSpLocks/>
            <a:stCxn id="11" idx="3"/>
            <a:endCxn id="68" idx="1"/>
          </p:cNvCxnSpPr>
          <p:nvPr/>
        </p:nvCxnSpPr>
        <p:spPr>
          <a:xfrm>
            <a:off x="5156718" y="3041754"/>
            <a:ext cx="547408" cy="437364"/>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2" name="연결선: 꺾임 71">
            <a:extLst>
              <a:ext uri="{FF2B5EF4-FFF2-40B4-BE49-F238E27FC236}">
                <a16:creationId xmlns:a16="http://schemas.microsoft.com/office/drawing/2014/main" id="{5A174E7E-F06E-4498-9A01-2953A0D5DB81}"/>
              </a:ext>
            </a:extLst>
          </p:cNvPr>
          <p:cNvCxnSpPr>
            <a:cxnSpLocks/>
            <a:stCxn id="11" idx="3"/>
            <a:endCxn id="66" idx="1"/>
          </p:cNvCxnSpPr>
          <p:nvPr/>
        </p:nvCxnSpPr>
        <p:spPr>
          <a:xfrm flipV="1">
            <a:off x="5156718" y="2593049"/>
            <a:ext cx="547408" cy="448705"/>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8" name="연결선: 꺾임 77">
            <a:extLst>
              <a:ext uri="{FF2B5EF4-FFF2-40B4-BE49-F238E27FC236}">
                <a16:creationId xmlns:a16="http://schemas.microsoft.com/office/drawing/2014/main" id="{0EBAC462-58F8-D465-C1FA-1887C7FBBC83}"/>
              </a:ext>
            </a:extLst>
          </p:cNvPr>
          <p:cNvCxnSpPr>
            <a:cxnSpLocks/>
            <a:stCxn id="11" idx="3"/>
            <a:endCxn id="67" idx="1"/>
          </p:cNvCxnSpPr>
          <p:nvPr/>
        </p:nvCxnSpPr>
        <p:spPr>
          <a:xfrm flipV="1">
            <a:off x="5156718" y="3037632"/>
            <a:ext cx="547408" cy="4122"/>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1" name="직사각형 80">
            <a:extLst>
              <a:ext uri="{FF2B5EF4-FFF2-40B4-BE49-F238E27FC236}">
                <a16:creationId xmlns:a16="http://schemas.microsoft.com/office/drawing/2014/main" id="{0C1AFF6D-5744-1D7F-B268-0CD8CC4A0AF2}"/>
              </a:ext>
            </a:extLst>
          </p:cNvPr>
          <p:cNvSpPr/>
          <p:nvPr/>
        </p:nvSpPr>
        <p:spPr>
          <a:xfrm>
            <a:off x="5704126" y="4070082"/>
            <a:ext cx="5729884"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특허표시 및 </a:t>
            </a:r>
            <a:r>
              <a:rPr lang="ko-KR" altLang="en-US" sz="1100" dirty="0" err="1">
                <a:solidFill>
                  <a:schemeClr val="tx1"/>
                </a:solidFill>
              </a:rPr>
              <a:t>특허출원표시</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223)</a:t>
            </a:r>
            <a:endParaRPr lang="ko-KR" altLang="en-US" sz="1100" dirty="0">
              <a:solidFill>
                <a:schemeClr val="tx1"/>
              </a:solidFill>
            </a:endParaRPr>
          </a:p>
        </p:txBody>
      </p:sp>
      <p:cxnSp>
        <p:nvCxnSpPr>
          <p:cNvPr id="83" name="연결선: 꺾임 82">
            <a:extLst>
              <a:ext uri="{FF2B5EF4-FFF2-40B4-BE49-F238E27FC236}">
                <a16:creationId xmlns:a16="http://schemas.microsoft.com/office/drawing/2014/main" id="{6F678608-9B14-C974-F14F-A1018C86E276}"/>
              </a:ext>
            </a:extLst>
          </p:cNvPr>
          <p:cNvCxnSpPr>
            <a:cxnSpLocks/>
            <a:stCxn id="75" idx="3"/>
            <a:endCxn id="81" idx="1"/>
          </p:cNvCxnSpPr>
          <p:nvPr/>
        </p:nvCxnSpPr>
        <p:spPr>
          <a:xfrm flipV="1">
            <a:off x="5156718" y="4247915"/>
            <a:ext cx="547408" cy="213851"/>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5" name="직사각형 84">
            <a:extLst>
              <a:ext uri="{FF2B5EF4-FFF2-40B4-BE49-F238E27FC236}">
                <a16:creationId xmlns:a16="http://schemas.microsoft.com/office/drawing/2014/main" id="{4C651B9C-0309-7CCD-BAD6-32B78258D939}"/>
              </a:ext>
            </a:extLst>
          </p:cNvPr>
          <p:cNvSpPr/>
          <p:nvPr/>
        </p:nvSpPr>
        <p:spPr>
          <a:xfrm>
            <a:off x="5704126" y="4514665"/>
            <a:ext cx="5729884"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허위표시의 금지</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224)</a:t>
            </a:r>
            <a:endParaRPr lang="ko-KR" altLang="en-US" sz="1100" dirty="0">
              <a:solidFill>
                <a:schemeClr val="tx1"/>
              </a:solidFill>
            </a:endParaRPr>
          </a:p>
        </p:txBody>
      </p:sp>
      <p:cxnSp>
        <p:nvCxnSpPr>
          <p:cNvPr id="86" name="연결선: 꺾임 85">
            <a:extLst>
              <a:ext uri="{FF2B5EF4-FFF2-40B4-BE49-F238E27FC236}">
                <a16:creationId xmlns:a16="http://schemas.microsoft.com/office/drawing/2014/main" id="{2DC005C0-F22B-4D91-2568-8FEF8DFA282A}"/>
              </a:ext>
            </a:extLst>
          </p:cNvPr>
          <p:cNvCxnSpPr>
            <a:cxnSpLocks/>
            <a:stCxn id="75" idx="3"/>
            <a:endCxn id="85" idx="1"/>
          </p:cNvCxnSpPr>
          <p:nvPr/>
        </p:nvCxnSpPr>
        <p:spPr>
          <a:xfrm>
            <a:off x="5156718" y="4461766"/>
            <a:ext cx="547408" cy="230732"/>
          </a:xfrm>
          <a:prstGeom prst="bentConnector3">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89" name="직사각형 88">
            <a:extLst>
              <a:ext uri="{FF2B5EF4-FFF2-40B4-BE49-F238E27FC236}">
                <a16:creationId xmlns:a16="http://schemas.microsoft.com/office/drawing/2014/main" id="{C40A369E-F3DE-D8BC-A653-B1ED4DE5688A}"/>
              </a:ext>
            </a:extLst>
          </p:cNvPr>
          <p:cNvSpPr/>
          <p:nvPr/>
        </p:nvSpPr>
        <p:spPr>
          <a:xfrm>
            <a:off x="5704126" y="5194545"/>
            <a:ext cx="5729884"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비밀유지명령</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224</a:t>
            </a:r>
            <a:r>
              <a:rPr lang="ko-KR" altLang="en-US" sz="1100" dirty="0">
                <a:solidFill>
                  <a:schemeClr val="tx1"/>
                </a:solidFill>
              </a:rPr>
              <a:t>의</a:t>
            </a:r>
            <a:r>
              <a:rPr lang="en-US" altLang="ko-KR" sz="1100" dirty="0">
                <a:solidFill>
                  <a:schemeClr val="tx1"/>
                </a:solidFill>
              </a:rPr>
              <a:t>3)</a:t>
            </a:r>
            <a:endParaRPr lang="ko-KR" altLang="en-US" sz="1100" dirty="0">
              <a:solidFill>
                <a:schemeClr val="tx1"/>
              </a:solidFill>
            </a:endParaRPr>
          </a:p>
        </p:txBody>
      </p:sp>
      <p:sp>
        <p:nvSpPr>
          <p:cNvPr id="90" name="직사각형 89">
            <a:extLst>
              <a:ext uri="{FF2B5EF4-FFF2-40B4-BE49-F238E27FC236}">
                <a16:creationId xmlns:a16="http://schemas.microsoft.com/office/drawing/2014/main" id="{7B04D0E2-4F14-D18C-591F-B9E5DCEB6684}"/>
              </a:ext>
            </a:extLst>
          </p:cNvPr>
          <p:cNvSpPr/>
          <p:nvPr/>
        </p:nvSpPr>
        <p:spPr>
          <a:xfrm>
            <a:off x="5704126" y="5639128"/>
            <a:ext cx="5729884"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비밀유지명령의 취소</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224</a:t>
            </a:r>
            <a:r>
              <a:rPr lang="ko-KR" altLang="en-US" sz="1100" dirty="0">
                <a:solidFill>
                  <a:schemeClr val="tx1"/>
                </a:solidFill>
              </a:rPr>
              <a:t>의</a:t>
            </a:r>
            <a:r>
              <a:rPr lang="en-US" altLang="ko-KR" sz="1100" dirty="0">
                <a:solidFill>
                  <a:schemeClr val="tx1"/>
                </a:solidFill>
              </a:rPr>
              <a:t>4)</a:t>
            </a:r>
            <a:endParaRPr lang="ko-KR" altLang="en-US" sz="1100" dirty="0">
              <a:solidFill>
                <a:schemeClr val="tx1"/>
              </a:solidFill>
            </a:endParaRPr>
          </a:p>
        </p:txBody>
      </p:sp>
      <p:sp>
        <p:nvSpPr>
          <p:cNvPr id="91" name="직사각형 90">
            <a:extLst>
              <a:ext uri="{FF2B5EF4-FFF2-40B4-BE49-F238E27FC236}">
                <a16:creationId xmlns:a16="http://schemas.microsoft.com/office/drawing/2014/main" id="{E6ED078E-CE5C-F0DD-8A62-647E07BD6454}"/>
              </a:ext>
            </a:extLst>
          </p:cNvPr>
          <p:cNvSpPr/>
          <p:nvPr/>
        </p:nvSpPr>
        <p:spPr>
          <a:xfrm>
            <a:off x="5704126" y="6080614"/>
            <a:ext cx="5729884" cy="355666"/>
          </a:xfrm>
          <a:prstGeom prst="rect">
            <a:avLst/>
          </a:prstGeom>
          <a:solidFill>
            <a:schemeClr val="accent1">
              <a:lumMod val="20000"/>
              <a:lumOff val="80000"/>
            </a:schemeClr>
          </a:solidFill>
          <a:ln>
            <a:solidFill>
              <a:schemeClr val="bg1">
                <a:lumMod val="50000"/>
              </a:schemeClr>
            </a:solid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ko-KR" altLang="en-US" sz="1100" dirty="0">
                <a:solidFill>
                  <a:schemeClr val="tx1"/>
                </a:solidFill>
              </a:rPr>
              <a:t>소송기록 열람 등의 청구 통지 등</a:t>
            </a:r>
            <a:r>
              <a:rPr lang="en-US" altLang="ko-KR" sz="1100" dirty="0">
                <a:solidFill>
                  <a:schemeClr val="tx1"/>
                </a:solidFill>
              </a:rPr>
              <a:t>(</a:t>
            </a:r>
            <a:r>
              <a:rPr lang="ko-KR" altLang="en-US" sz="1100" dirty="0">
                <a:solidFill>
                  <a:schemeClr val="tx1"/>
                </a:solidFill>
              </a:rPr>
              <a:t>法 </a:t>
            </a:r>
            <a:r>
              <a:rPr lang="en-US" altLang="ko-KR" sz="1100" dirty="0">
                <a:solidFill>
                  <a:schemeClr val="tx1"/>
                </a:solidFill>
              </a:rPr>
              <a:t>224</a:t>
            </a:r>
            <a:r>
              <a:rPr lang="ko-KR" altLang="en-US" sz="1100" dirty="0">
                <a:solidFill>
                  <a:schemeClr val="tx1"/>
                </a:solidFill>
              </a:rPr>
              <a:t>의</a:t>
            </a:r>
            <a:r>
              <a:rPr lang="en-US" altLang="ko-KR" sz="1100" dirty="0">
                <a:solidFill>
                  <a:schemeClr val="tx1"/>
                </a:solidFill>
              </a:rPr>
              <a:t>5)</a:t>
            </a:r>
            <a:endParaRPr lang="ko-KR" altLang="en-US" sz="1100" dirty="0">
              <a:solidFill>
                <a:schemeClr val="tx1"/>
              </a:solidFill>
            </a:endParaRPr>
          </a:p>
        </p:txBody>
      </p:sp>
      <p:cxnSp>
        <p:nvCxnSpPr>
          <p:cNvPr id="92" name="연결선: 꺾임 91">
            <a:extLst>
              <a:ext uri="{FF2B5EF4-FFF2-40B4-BE49-F238E27FC236}">
                <a16:creationId xmlns:a16="http://schemas.microsoft.com/office/drawing/2014/main" id="{0F9239BB-8C01-A45B-31C3-E4A74E8BE133}"/>
              </a:ext>
            </a:extLst>
          </p:cNvPr>
          <p:cNvCxnSpPr>
            <a:cxnSpLocks/>
            <a:stCxn id="31" idx="3"/>
            <a:endCxn id="91" idx="1"/>
          </p:cNvCxnSpPr>
          <p:nvPr/>
        </p:nvCxnSpPr>
        <p:spPr>
          <a:xfrm>
            <a:off x="5156718" y="5382053"/>
            <a:ext cx="547408" cy="876394"/>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3" name="연결선: 꺾임 92">
            <a:extLst>
              <a:ext uri="{FF2B5EF4-FFF2-40B4-BE49-F238E27FC236}">
                <a16:creationId xmlns:a16="http://schemas.microsoft.com/office/drawing/2014/main" id="{F97E412A-709B-E03B-6690-81DC35F70DC2}"/>
              </a:ext>
            </a:extLst>
          </p:cNvPr>
          <p:cNvCxnSpPr>
            <a:cxnSpLocks/>
            <a:stCxn id="31" idx="3"/>
            <a:endCxn id="89" idx="1"/>
          </p:cNvCxnSpPr>
          <p:nvPr/>
        </p:nvCxnSpPr>
        <p:spPr>
          <a:xfrm flipV="1">
            <a:off x="5156718" y="5372378"/>
            <a:ext cx="547408" cy="9675"/>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95" name="연결선: 꺾임 94">
            <a:extLst>
              <a:ext uri="{FF2B5EF4-FFF2-40B4-BE49-F238E27FC236}">
                <a16:creationId xmlns:a16="http://schemas.microsoft.com/office/drawing/2014/main" id="{FEBB8321-5547-F4DC-4614-D459E85476E5}"/>
              </a:ext>
            </a:extLst>
          </p:cNvPr>
          <p:cNvCxnSpPr>
            <a:cxnSpLocks/>
            <a:stCxn id="31" idx="3"/>
            <a:endCxn id="90" idx="1"/>
          </p:cNvCxnSpPr>
          <p:nvPr/>
        </p:nvCxnSpPr>
        <p:spPr>
          <a:xfrm>
            <a:off x="5156718" y="5382053"/>
            <a:ext cx="547408" cy="434908"/>
          </a:xfrm>
          <a:prstGeom prst="bentConnector3">
            <a:avLst>
              <a:gd name="adj1" fmla="val 50000"/>
            </a:avLst>
          </a:prstGeom>
          <a:ln>
            <a:solidFill>
              <a:schemeClr val="bg1">
                <a:lumMod val="50000"/>
              </a:schemeClr>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1741160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제목 2"/>
          <p:cNvSpPr>
            <a:spLocks noGrp="1"/>
          </p:cNvSpPr>
          <p:nvPr>
            <p:ph type="title"/>
          </p:nvPr>
        </p:nvSpPr>
        <p:spPr/>
        <p:txBody>
          <a:bodyPr/>
          <a:lstStyle/>
          <a:p>
            <a:r>
              <a:rPr lang="ko-KR" altLang="en-US" dirty="0"/>
              <a:t>제</a:t>
            </a:r>
            <a:r>
              <a:rPr lang="en-US" altLang="ko-KR" dirty="0"/>
              <a:t>216</a:t>
            </a:r>
            <a:r>
              <a:rPr lang="ko-KR" altLang="en-US" dirty="0"/>
              <a:t>조</a:t>
            </a:r>
          </a:p>
        </p:txBody>
      </p:sp>
      <p:sp>
        <p:nvSpPr>
          <p:cNvPr id="4" name="텍스트 개체 틀 3"/>
          <p:cNvSpPr>
            <a:spLocks noGrp="1"/>
          </p:cNvSpPr>
          <p:nvPr>
            <p:ph type="body" sz="quarter" idx="13"/>
          </p:nvPr>
        </p:nvSpPr>
        <p:spPr/>
        <p:txBody>
          <a:bodyPr/>
          <a:lstStyle/>
          <a:p>
            <a:r>
              <a:rPr lang="ko-KR" altLang="en-US" dirty="0">
                <a:solidFill>
                  <a:schemeClr val="tx1">
                    <a:lumMod val="65000"/>
                    <a:lumOff val="35000"/>
                  </a:schemeClr>
                </a:solidFill>
              </a:rPr>
              <a:t>서류의 열람 등</a:t>
            </a:r>
          </a:p>
        </p:txBody>
      </p:sp>
      <p:cxnSp>
        <p:nvCxnSpPr>
          <p:cNvPr id="5" name="직선 화살표 연결선 4"/>
          <p:cNvCxnSpPr/>
          <p:nvPr/>
        </p:nvCxnSpPr>
        <p:spPr>
          <a:xfrm>
            <a:off x="508000" y="3893448"/>
            <a:ext cx="4432300" cy="0"/>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7" name="직선 화살표 연결선 6"/>
          <p:cNvCxnSpPr/>
          <p:nvPr/>
        </p:nvCxnSpPr>
        <p:spPr>
          <a:xfrm>
            <a:off x="914400" y="3577067"/>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514396" y="3263387"/>
            <a:ext cx="832279" cy="307777"/>
          </a:xfrm>
          <a:prstGeom prst="rect">
            <a:avLst/>
          </a:prstGeom>
          <a:noFill/>
        </p:spPr>
        <p:txBody>
          <a:bodyPr wrap="none" rtlCol="0">
            <a:spAutoFit/>
          </a:bodyPr>
          <a:lstStyle/>
          <a:p>
            <a:pPr algn="ctr"/>
            <a:r>
              <a:rPr lang="ko-KR" altLang="en-US" sz="1400" dirty="0"/>
              <a:t>특허출원</a:t>
            </a:r>
          </a:p>
        </p:txBody>
      </p:sp>
      <p:cxnSp>
        <p:nvCxnSpPr>
          <p:cNvPr id="107" name="직선 연결선 106"/>
          <p:cNvCxnSpPr/>
          <p:nvPr/>
        </p:nvCxnSpPr>
        <p:spPr>
          <a:xfrm>
            <a:off x="0" y="2169274"/>
            <a:ext cx="9144000" cy="0"/>
          </a:xfrm>
          <a:prstGeom prst="line">
            <a:avLst/>
          </a:prstGeom>
          <a:ln w="12700">
            <a:solidFill>
              <a:schemeClr val="accent2">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sp>
        <p:nvSpPr>
          <p:cNvPr id="108" name="TextBox 107"/>
          <p:cNvSpPr txBox="1"/>
          <p:nvPr/>
        </p:nvSpPr>
        <p:spPr>
          <a:xfrm>
            <a:off x="77875" y="986046"/>
            <a:ext cx="11936323" cy="1169551"/>
          </a:xfrm>
          <a:prstGeom prst="rect">
            <a:avLst/>
          </a:prstGeom>
          <a:noFill/>
        </p:spPr>
        <p:txBody>
          <a:bodyPr wrap="square" rtlCol="0">
            <a:spAutoFit/>
          </a:bodyPr>
          <a:lstStyle/>
          <a:p>
            <a:pPr fontAlgn="base"/>
            <a:r>
              <a:rPr lang="ko-KR" altLang="en-US" sz="1400" dirty="0">
                <a:solidFill>
                  <a:schemeClr val="tx2"/>
                </a:solidFill>
              </a:rPr>
              <a:t>특허출원</a:t>
            </a:r>
            <a:r>
              <a:rPr lang="en-US" altLang="ko-KR" sz="1400" dirty="0">
                <a:solidFill>
                  <a:schemeClr val="tx2"/>
                </a:solidFill>
              </a:rPr>
              <a:t>, </a:t>
            </a:r>
            <a:r>
              <a:rPr lang="ko-KR" altLang="en-US" sz="1400" dirty="0">
                <a:solidFill>
                  <a:schemeClr val="tx2"/>
                </a:solidFill>
              </a:rPr>
              <a:t>특허취소신청</a:t>
            </a:r>
            <a:r>
              <a:rPr lang="en-US" altLang="ko-KR" sz="1400" dirty="0">
                <a:solidFill>
                  <a:schemeClr val="tx2"/>
                </a:solidFill>
              </a:rPr>
              <a:t>, </a:t>
            </a:r>
            <a:r>
              <a:rPr lang="ko-KR" altLang="en-US" sz="1400" dirty="0">
                <a:solidFill>
                  <a:schemeClr val="tx2"/>
                </a:solidFill>
              </a:rPr>
              <a:t>심판 등에 관한 증명</a:t>
            </a:r>
            <a:r>
              <a:rPr lang="en-US" altLang="ko-KR" sz="1400" dirty="0">
                <a:solidFill>
                  <a:schemeClr val="tx2"/>
                </a:solidFill>
              </a:rPr>
              <a:t>, </a:t>
            </a:r>
            <a:r>
              <a:rPr lang="ko-KR" altLang="en-US" sz="1400" dirty="0">
                <a:solidFill>
                  <a:schemeClr val="tx2"/>
                </a:solidFill>
              </a:rPr>
              <a:t>서류의 등본 또는 초본의 발급</a:t>
            </a:r>
            <a:r>
              <a:rPr lang="en-US" altLang="ko-KR" sz="1400" dirty="0">
                <a:solidFill>
                  <a:schemeClr val="tx2"/>
                </a:solidFill>
              </a:rPr>
              <a:t>, </a:t>
            </a:r>
            <a:r>
              <a:rPr lang="ko-KR" altLang="en-US" sz="1400" dirty="0">
                <a:solidFill>
                  <a:schemeClr val="tx2"/>
                </a:solidFill>
              </a:rPr>
              <a:t>특허원부 및 서류의 열람 또는 복사가 필요한 자는 지식재산처장 또는 특허심판원장에게 서류의 열람 등의 허가를 신청할 수 있다</a:t>
            </a:r>
            <a:r>
              <a:rPr lang="en-US" altLang="ko-KR" sz="1400" dirty="0">
                <a:solidFill>
                  <a:schemeClr val="tx2"/>
                </a:solidFill>
              </a:rPr>
              <a:t>(</a:t>
            </a:r>
            <a:r>
              <a:rPr lang="ko-KR" altLang="en-US" sz="1400" dirty="0">
                <a:solidFill>
                  <a:schemeClr val="tx2"/>
                </a:solidFill>
              </a:rPr>
              <a:t>法 </a:t>
            </a:r>
            <a:r>
              <a:rPr lang="en-US" altLang="ko-KR" sz="1400" dirty="0">
                <a:solidFill>
                  <a:schemeClr val="tx2"/>
                </a:solidFill>
              </a:rPr>
              <a:t>216①). </a:t>
            </a:r>
            <a:r>
              <a:rPr lang="ko-KR" altLang="en-US" sz="1400" dirty="0">
                <a:solidFill>
                  <a:schemeClr val="tx2"/>
                </a:solidFill>
              </a:rPr>
              <a:t>지식재산처장 또는 특허심판원장은 신청이 있더라도 </a:t>
            </a:r>
            <a:r>
              <a:rPr lang="en-US" altLang="ko-KR" sz="1400" dirty="0">
                <a:highlight>
                  <a:srgbClr val="FFFF00"/>
                </a:highlight>
              </a:rPr>
              <a:t>ⅰ) </a:t>
            </a:r>
            <a:r>
              <a:rPr lang="ko-KR" altLang="en-US" sz="1400" dirty="0" err="1">
                <a:highlight>
                  <a:srgbClr val="FFFF00"/>
                </a:highlight>
              </a:rPr>
              <a:t>출원공개</a:t>
            </a:r>
            <a:r>
              <a:rPr lang="ko-KR" altLang="en-US" sz="1400" dirty="0">
                <a:highlight>
                  <a:srgbClr val="FFFF00"/>
                </a:highlight>
              </a:rPr>
              <a:t> 또는 설정등록되지 아니한 특허출원</a:t>
            </a:r>
            <a:r>
              <a:rPr lang="en-US" altLang="ko-KR" sz="1400" dirty="0">
                <a:highlight>
                  <a:srgbClr val="FFFF00"/>
                </a:highlight>
              </a:rPr>
              <a:t>(</a:t>
            </a:r>
            <a:r>
              <a:rPr lang="ko-KR" altLang="en-US" sz="1400" dirty="0" err="1">
                <a:highlight>
                  <a:srgbClr val="FFFF00"/>
                </a:highlight>
              </a:rPr>
              <a:t>국내우선권</a:t>
            </a:r>
            <a:r>
              <a:rPr lang="ko-KR" altLang="en-US" sz="1400" dirty="0">
                <a:highlight>
                  <a:srgbClr val="FFFF00"/>
                </a:highlight>
              </a:rPr>
              <a:t> 주장을 수반하는 특허출원이 </a:t>
            </a:r>
            <a:r>
              <a:rPr lang="ko-KR" altLang="en-US" sz="1400" dirty="0" err="1">
                <a:highlight>
                  <a:srgbClr val="FFFF00"/>
                </a:highlight>
              </a:rPr>
              <a:t>출원공개</a:t>
            </a:r>
            <a:r>
              <a:rPr lang="ko-KR" altLang="en-US" sz="1400" dirty="0">
                <a:highlight>
                  <a:srgbClr val="FFFF00"/>
                </a:highlight>
              </a:rPr>
              <a:t> 또는 </a:t>
            </a:r>
            <a:r>
              <a:rPr lang="ko-KR" altLang="en-US" sz="1400" dirty="0" err="1">
                <a:highlight>
                  <a:srgbClr val="FFFF00"/>
                </a:highlight>
              </a:rPr>
              <a:t>설정등록된</a:t>
            </a:r>
            <a:r>
              <a:rPr lang="ko-KR" altLang="en-US" sz="1400" dirty="0">
                <a:highlight>
                  <a:srgbClr val="FFFF00"/>
                </a:highlight>
              </a:rPr>
              <a:t> 경우에는 그 </a:t>
            </a:r>
            <a:r>
              <a:rPr lang="ko-KR" altLang="en-US" sz="1400" dirty="0" err="1">
                <a:highlight>
                  <a:srgbClr val="FFFF00"/>
                </a:highlight>
              </a:rPr>
              <a:t>선출원은</a:t>
            </a:r>
            <a:r>
              <a:rPr lang="ko-KR" altLang="en-US" sz="1400" dirty="0">
                <a:highlight>
                  <a:srgbClr val="FFFF00"/>
                </a:highlight>
              </a:rPr>
              <a:t> 제외한다</a:t>
            </a:r>
            <a:r>
              <a:rPr lang="en-US" altLang="ko-KR" sz="1400" dirty="0">
                <a:highlight>
                  <a:srgbClr val="FFFF00"/>
                </a:highlight>
              </a:rPr>
              <a:t>)</a:t>
            </a:r>
            <a:r>
              <a:rPr lang="ko-KR" altLang="en-US" sz="1400" dirty="0">
                <a:highlight>
                  <a:srgbClr val="FFFF00"/>
                </a:highlight>
              </a:rPr>
              <a:t>에 관한 서류</a:t>
            </a:r>
            <a:r>
              <a:rPr lang="en-US" altLang="ko-KR" sz="1400" dirty="0">
                <a:highlight>
                  <a:srgbClr val="FFFF00"/>
                </a:highlight>
              </a:rPr>
              <a:t>, ⅱ) </a:t>
            </a:r>
            <a:r>
              <a:rPr lang="ko-KR" altLang="en-US" sz="1400" dirty="0" err="1">
                <a:highlight>
                  <a:srgbClr val="FFFF00"/>
                </a:highlight>
              </a:rPr>
              <a:t>출원공개</a:t>
            </a:r>
            <a:r>
              <a:rPr lang="ko-KR" altLang="en-US" sz="1400" dirty="0">
                <a:highlight>
                  <a:srgbClr val="FFFF00"/>
                </a:highlight>
              </a:rPr>
              <a:t> 또는 설정등록되지 아니한 특허출원의 특허거절결정에 대한 심판</a:t>
            </a:r>
            <a:r>
              <a:rPr lang="en-US" altLang="ko-KR" sz="1400" dirty="0">
                <a:highlight>
                  <a:srgbClr val="FFFF00"/>
                </a:highlight>
              </a:rPr>
              <a:t>(</a:t>
            </a:r>
            <a:r>
              <a:rPr lang="ko-KR" altLang="en-US" sz="1400" dirty="0">
                <a:highlight>
                  <a:srgbClr val="FFFF00"/>
                </a:highlight>
              </a:rPr>
              <a:t>法 </a:t>
            </a:r>
            <a:r>
              <a:rPr lang="en-US" altLang="ko-KR" sz="1400" dirty="0">
                <a:highlight>
                  <a:srgbClr val="FFFF00"/>
                </a:highlight>
              </a:rPr>
              <a:t>132</a:t>
            </a:r>
            <a:r>
              <a:rPr lang="ko-KR" altLang="en-US" sz="1400" dirty="0">
                <a:highlight>
                  <a:srgbClr val="FFFF00"/>
                </a:highlight>
              </a:rPr>
              <a:t>의</a:t>
            </a:r>
            <a:r>
              <a:rPr lang="en-US" altLang="ko-KR" sz="1400" dirty="0">
                <a:highlight>
                  <a:srgbClr val="FFFF00"/>
                </a:highlight>
              </a:rPr>
              <a:t>17)</a:t>
            </a:r>
            <a:r>
              <a:rPr lang="ko-KR" altLang="en-US" sz="1400" dirty="0">
                <a:highlight>
                  <a:srgbClr val="FFFF00"/>
                </a:highlight>
              </a:rPr>
              <a:t>에 관한 서류</a:t>
            </a:r>
            <a:r>
              <a:rPr lang="en-US" altLang="ko-KR" sz="1400" dirty="0">
                <a:highlight>
                  <a:srgbClr val="FFFF00"/>
                </a:highlight>
              </a:rPr>
              <a:t>, ⅲ) </a:t>
            </a:r>
            <a:r>
              <a:rPr lang="ko-KR" altLang="en-US" sz="1400" dirty="0">
                <a:highlight>
                  <a:srgbClr val="FFFF00"/>
                </a:highlight>
              </a:rPr>
              <a:t>공공의 질서 또는 선량한 풍속에 어긋나거나 공중의 위생을 해칠 우려가 있는 서류</a:t>
            </a:r>
            <a:r>
              <a:rPr lang="ko-KR" altLang="en-US" sz="1400" dirty="0">
                <a:solidFill>
                  <a:schemeClr val="tx2"/>
                </a:solidFill>
              </a:rPr>
              <a:t> 중 어느 하나에 해당하는 서류를 비밀로 유지할 필요가 있다고 인정하는 경우에는 그 서류의 열람 또는 복사를 허가하지 아니할 수 있다</a:t>
            </a:r>
            <a:r>
              <a:rPr lang="en-US" altLang="ko-KR" sz="1400" dirty="0">
                <a:solidFill>
                  <a:schemeClr val="tx2"/>
                </a:solidFill>
              </a:rPr>
              <a:t>(</a:t>
            </a:r>
            <a:r>
              <a:rPr lang="ko-KR" altLang="en-US" sz="1400" dirty="0">
                <a:solidFill>
                  <a:schemeClr val="tx2"/>
                </a:solidFill>
              </a:rPr>
              <a:t>法 </a:t>
            </a:r>
            <a:r>
              <a:rPr lang="en-US" altLang="ko-KR" sz="1400" dirty="0">
                <a:solidFill>
                  <a:schemeClr val="tx2"/>
                </a:solidFill>
              </a:rPr>
              <a:t>216②).</a:t>
            </a:r>
            <a:endParaRPr lang="en-US" altLang="ko-KR" sz="1400" dirty="0">
              <a:solidFill>
                <a:srgbClr val="FF0000"/>
              </a:solidFill>
            </a:endParaRPr>
          </a:p>
        </p:txBody>
      </p:sp>
      <p:cxnSp>
        <p:nvCxnSpPr>
          <p:cNvPr id="49" name="직선 화살표 연결선 48"/>
          <p:cNvCxnSpPr/>
          <p:nvPr/>
        </p:nvCxnSpPr>
        <p:spPr>
          <a:xfrm>
            <a:off x="2225561" y="3577067"/>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1825557" y="3263387"/>
            <a:ext cx="832279" cy="307777"/>
          </a:xfrm>
          <a:prstGeom prst="rect">
            <a:avLst/>
          </a:prstGeom>
          <a:noFill/>
        </p:spPr>
        <p:txBody>
          <a:bodyPr wrap="none" rtlCol="0">
            <a:spAutoFit/>
          </a:bodyPr>
          <a:lstStyle/>
          <a:p>
            <a:pPr algn="ctr"/>
            <a:r>
              <a:rPr lang="ko-KR" altLang="en-US" sz="1400" dirty="0" err="1"/>
              <a:t>출원공개</a:t>
            </a:r>
            <a:endParaRPr lang="ko-KR" altLang="en-US" sz="1400" dirty="0"/>
          </a:p>
        </p:txBody>
      </p:sp>
      <p:cxnSp>
        <p:nvCxnSpPr>
          <p:cNvPr id="53" name="직선 화살표 연결선 52"/>
          <p:cNvCxnSpPr/>
          <p:nvPr/>
        </p:nvCxnSpPr>
        <p:spPr>
          <a:xfrm>
            <a:off x="3384504" y="3577067"/>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2984500" y="3263387"/>
            <a:ext cx="832279" cy="307777"/>
          </a:xfrm>
          <a:prstGeom prst="rect">
            <a:avLst/>
          </a:prstGeom>
          <a:noFill/>
        </p:spPr>
        <p:txBody>
          <a:bodyPr wrap="none" rtlCol="0">
            <a:spAutoFit/>
          </a:bodyPr>
          <a:lstStyle/>
          <a:p>
            <a:pPr algn="ctr"/>
            <a:r>
              <a:rPr lang="ko-KR" altLang="en-US" sz="1400" dirty="0" err="1"/>
              <a:t>설정등록</a:t>
            </a:r>
            <a:endParaRPr lang="ko-KR" altLang="en-US" sz="1400" dirty="0"/>
          </a:p>
        </p:txBody>
      </p:sp>
      <p:cxnSp>
        <p:nvCxnSpPr>
          <p:cNvPr id="55" name="직선 화살표 연결선 54"/>
          <p:cNvCxnSpPr/>
          <p:nvPr/>
        </p:nvCxnSpPr>
        <p:spPr>
          <a:xfrm>
            <a:off x="4467246" y="3577067"/>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56" name="TextBox 55"/>
          <p:cNvSpPr txBox="1"/>
          <p:nvPr/>
        </p:nvSpPr>
        <p:spPr>
          <a:xfrm>
            <a:off x="4067243" y="3263387"/>
            <a:ext cx="832279" cy="307777"/>
          </a:xfrm>
          <a:prstGeom prst="rect">
            <a:avLst/>
          </a:prstGeom>
          <a:noFill/>
        </p:spPr>
        <p:txBody>
          <a:bodyPr wrap="none" rtlCol="0">
            <a:spAutoFit/>
          </a:bodyPr>
          <a:lstStyle/>
          <a:p>
            <a:pPr algn="ctr"/>
            <a:r>
              <a:rPr lang="ko-KR" altLang="en-US" sz="1400" dirty="0" err="1"/>
              <a:t>등록공고</a:t>
            </a:r>
            <a:endParaRPr lang="ko-KR" altLang="en-US" sz="1400" dirty="0"/>
          </a:p>
        </p:txBody>
      </p:sp>
      <p:sp>
        <p:nvSpPr>
          <p:cNvPr id="12" name="직사각형 11"/>
          <p:cNvSpPr/>
          <p:nvPr/>
        </p:nvSpPr>
        <p:spPr>
          <a:xfrm>
            <a:off x="2225561" y="3918848"/>
            <a:ext cx="2673961" cy="499258"/>
          </a:xfrm>
          <a:prstGeom prst="rect">
            <a:avLst/>
          </a:prstGeom>
          <a:pattFill prst="pct25">
            <a:fgClr>
              <a:schemeClr val="accent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a:solidFill>
                  <a:schemeClr val="tx1"/>
                </a:solidFill>
              </a:rPr>
              <a:t>출원</a:t>
            </a:r>
            <a:r>
              <a:rPr lang="en-US" altLang="ko-KR" dirty="0">
                <a:solidFill>
                  <a:schemeClr val="tx1"/>
                </a:solidFill>
              </a:rPr>
              <a:t>, </a:t>
            </a:r>
            <a:r>
              <a:rPr lang="ko-KR" altLang="en-US" dirty="0">
                <a:solidFill>
                  <a:schemeClr val="tx1"/>
                </a:solidFill>
              </a:rPr>
              <a:t>보정 모두 </a:t>
            </a:r>
            <a:r>
              <a:rPr lang="ko-KR" altLang="en-US" dirty="0" err="1">
                <a:solidFill>
                  <a:schemeClr val="tx1"/>
                </a:solidFill>
              </a:rPr>
              <a:t>열람가능</a:t>
            </a:r>
            <a:endParaRPr lang="ko-KR" altLang="en-US" dirty="0">
              <a:solidFill>
                <a:schemeClr val="tx1"/>
              </a:solidFill>
            </a:endParaRPr>
          </a:p>
        </p:txBody>
      </p:sp>
      <p:cxnSp>
        <p:nvCxnSpPr>
          <p:cNvPr id="58" name="직선 화살표 연결선 57"/>
          <p:cNvCxnSpPr/>
          <p:nvPr/>
        </p:nvCxnSpPr>
        <p:spPr>
          <a:xfrm>
            <a:off x="508000" y="6044980"/>
            <a:ext cx="4432300" cy="0"/>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59" name="직선 화살표 연결선 58"/>
          <p:cNvCxnSpPr/>
          <p:nvPr/>
        </p:nvCxnSpPr>
        <p:spPr>
          <a:xfrm>
            <a:off x="914400" y="5728599"/>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514396" y="5414919"/>
            <a:ext cx="832279" cy="307777"/>
          </a:xfrm>
          <a:prstGeom prst="rect">
            <a:avLst/>
          </a:prstGeom>
          <a:noFill/>
        </p:spPr>
        <p:txBody>
          <a:bodyPr wrap="none" rtlCol="0">
            <a:spAutoFit/>
          </a:bodyPr>
          <a:lstStyle/>
          <a:p>
            <a:pPr algn="ctr"/>
            <a:r>
              <a:rPr lang="ko-KR" altLang="en-US" sz="1400" dirty="0"/>
              <a:t>특허출원</a:t>
            </a:r>
          </a:p>
        </p:txBody>
      </p:sp>
      <p:cxnSp>
        <p:nvCxnSpPr>
          <p:cNvPr id="61" name="직선 화살표 연결선 60"/>
          <p:cNvCxnSpPr/>
          <p:nvPr/>
        </p:nvCxnSpPr>
        <p:spPr>
          <a:xfrm>
            <a:off x="2225561" y="5728599"/>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2" name="TextBox 61"/>
          <p:cNvSpPr txBox="1"/>
          <p:nvPr/>
        </p:nvSpPr>
        <p:spPr>
          <a:xfrm>
            <a:off x="1694912" y="5414919"/>
            <a:ext cx="1093569" cy="307777"/>
          </a:xfrm>
          <a:prstGeom prst="rect">
            <a:avLst/>
          </a:prstGeom>
          <a:noFill/>
        </p:spPr>
        <p:txBody>
          <a:bodyPr wrap="none" rtlCol="0">
            <a:spAutoFit/>
          </a:bodyPr>
          <a:lstStyle/>
          <a:p>
            <a:pPr algn="ctr"/>
            <a:r>
              <a:rPr lang="ko-KR" altLang="en-US" sz="1400" dirty="0" err="1"/>
              <a:t>출원공개</a:t>
            </a:r>
            <a:r>
              <a:rPr lang="ko-KR" altLang="en-US" sz="1400" dirty="0"/>
              <a:t> </a:t>
            </a:r>
            <a:r>
              <a:rPr lang="en-US" altLang="ko-KR" sz="1400" dirty="0"/>
              <a:t>× </a:t>
            </a:r>
            <a:endParaRPr lang="ko-KR" altLang="en-US" sz="1400" dirty="0"/>
          </a:p>
        </p:txBody>
      </p:sp>
      <p:cxnSp>
        <p:nvCxnSpPr>
          <p:cNvPr id="63" name="직선 화살표 연결선 62"/>
          <p:cNvCxnSpPr/>
          <p:nvPr/>
        </p:nvCxnSpPr>
        <p:spPr>
          <a:xfrm>
            <a:off x="3384504" y="5728599"/>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64" name="TextBox 63"/>
          <p:cNvSpPr txBox="1"/>
          <p:nvPr/>
        </p:nvSpPr>
        <p:spPr>
          <a:xfrm>
            <a:off x="2984500" y="5414919"/>
            <a:ext cx="832279" cy="307777"/>
          </a:xfrm>
          <a:prstGeom prst="rect">
            <a:avLst/>
          </a:prstGeom>
          <a:noFill/>
        </p:spPr>
        <p:txBody>
          <a:bodyPr wrap="none" rtlCol="0">
            <a:spAutoFit/>
          </a:bodyPr>
          <a:lstStyle/>
          <a:p>
            <a:pPr algn="ctr"/>
            <a:r>
              <a:rPr lang="ko-KR" altLang="en-US" sz="1400" dirty="0" err="1"/>
              <a:t>설정등록</a:t>
            </a:r>
            <a:endParaRPr lang="ko-KR" altLang="en-US" sz="1400" dirty="0"/>
          </a:p>
        </p:txBody>
      </p:sp>
      <p:cxnSp>
        <p:nvCxnSpPr>
          <p:cNvPr id="65" name="직선 화살표 연결선 64"/>
          <p:cNvCxnSpPr/>
          <p:nvPr/>
        </p:nvCxnSpPr>
        <p:spPr>
          <a:xfrm>
            <a:off x="4467246" y="5728599"/>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74" name="TextBox 73"/>
          <p:cNvSpPr txBox="1"/>
          <p:nvPr/>
        </p:nvSpPr>
        <p:spPr>
          <a:xfrm>
            <a:off x="4067243" y="5414919"/>
            <a:ext cx="832279" cy="307777"/>
          </a:xfrm>
          <a:prstGeom prst="rect">
            <a:avLst/>
          </a:prstGeom>
          <a:noFill/>
        </p:spPr>
        <p:txBody>
          <a:bodyPr wrap="none" rtlCol="0">
            <a:spAutoFit/>
          </a:bodyPr>
          <a:lstStyle/>
          <a:p>
            <a:pPr algn="ctr"/>
            <a:r>
              <a:rPr lang="ko-KR" altLang="en-US" sz="1400" dirty="0" err="1"/>
              <a:t>등록공고</a:t>
            </a:r>
            <a:endParaRPr lang="ko-KR" altLang="en-US" sz="1400" dirty="0"/>
          </a:p>
        </p:txBody>
      </p:sp>
      <p:sp>
        <p:nvSpPr>
          <p:cNvPr id="75" name="직사각형 74"/>
          <p:cNvSpPr/>
          <p:nvPr/>
        </p:nvSpPr>
        <p:spPr>
          <a:xfrm>
            <a:off x="3384504" y="6070380"/>
            <a:ext cx="1515018" cy="499258"/>
          </a:xfrm>
          <a:prstGeom prst="rect">
            <a:avLst/>
          </a:prstGeom>
          <a:pattFill prst="pct20">
            <a:fgClr>
              <a:schemeClr val="accent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dirty="0" err="1">
                <a:solidFill>
                  <a:schemeClr val="tx1"/>
                </a:solidFill>
              </a:rPr>
              <a:t>열람가능</a:t>
            </a:r>
            <a:endParaRPr lang="ko-KR" altLang="en-US" dirty="0">
              <a:solidFill>
                <a:schemeClr val="tx1"/>
              </a:solidFill>
            </a:endParaRPr>
          </a:p>
        </p:txBody>
      </p:sp>
      <p:sp>
        <p:nvSpPr>
          <p:cNvPr id="76" name="직사각형 75"/>
          <p:cNvSpPr/>
          <p:nvPr/>
        </p:nvSpPr>
        <p:spPr>
          <a:xfrm>
            <a:off x="388180" y="2422681"/>
            <a:ext cx="5022020" cy="596900"/>
          </a:xfrm>
          <a:prstGeom prst="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600" dirty="0" err="1">
                <a:solidFill>
                  <a:schemeClr val="bg1">
                    <a:lumMod val="50000"/>
                  </a:schemeClr>
                </a:solidFill>
              </a:rPr>
              <a:t>출원공개</a:t>
            </a:r>
            <a:r>
              <a:rPr lang="ko-KR" altLang="en-US" sz="1600" dirty="0">
                <a:solidFill>
                  <a:schemeClr val="bg1">
                    <a:lumMod val="50000"/>
                  </a:schemeClr>
                </a:solidFill>
              </a:rPr>
              <a:t> 또는 </a:t>
            </a:r>
            <a:r>
              <a:rPr lang="ko-KR" altLang="en-US" sz="1600" dirty="0" err="1">
                <a:solidFill>
                  <a:schemeClr val="bg1">
                    <a:lumMod val="50000"/>
                  </a:schemeClr>
                </a:solidFill>
              </a:rPr>
              <a:t>설정등록된</a:t>
            </a:r>
            <a:r>
              <a:rPr lang="ko-KR" altLang="en-US" sz="1600" dirty="0">
                <a:solidFill>
                  <a:schemeClr val="bg1">
                    <a:lumMod val="50000"/>
                  </a:schemeClr>
                </a:solidFill>
              </a:rPr>
              <a:t> 후부터 최초 명세서 또는 도면의 </a:t>
            </a:r>
            <a:r>
              <a:rPr lang="ko-KR" altLang="en-US" sz="1600" dirty="0" err="1">
                <a:solidFill>
                  <a:schemeClr val="bg1">
                    <a:lumMod val="50000"/>
                  </a:schemeClr>
                </a:solidFill>
              </a:rPr>
              <a:t>공지기술</a:t>
            </a:r>
            <a:r>
              <a:rPr lang="ko-KR" altLang="en-US" sz="1600" dirty="0">
                <a:solidFill>
                  <a:schemeClr val="bg1">
                    <a:lumMod val="50000"/>
                  </a:schemeClr>
                </a:solidFill>
              </a:rPr>
              <a:t> 지위 인정</a:t>
            </a:r>
          </a:p>
        </p:txBody>
      </p:sp>
      <p:sp>
        <p:nvSpPr>
          <p:cNvPr id="77" name="직사각형 76"/>
          <p:cNvSpPr/>
          <p:nvPr/>
        </p:nvSpPr>
        <p:spPr>
          <a:xfrm>
            <a:off x="6115049" y="2422681"/>
            <a:ext cx="5784851" cy="596900"/>
          </a:xfrm>
          <a:prstGeom prst="rect">
            <a:avLst/>
          </a:prstGeom>
          <a:solidFill>
            <a:schemeClr val="accent4">
              <a:lumMod val="20000"/>
              <a:lumOff val="80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600" dirty="0">
                <a:solidFill>
                  <a:schemeClr val="bg1">
                    <a:lumMod val="50000"/>
                  </a:schemeClr>
                </a:solidFill>
              </a:rPr>
              <a:t>국내우선권주장의 적법성을 판단하기 위해서 국내우선권주장출원이 출원공개 또는 </a:t>
            </a:r>
            <a:r>
              <a:rPr lang="ko-KR" altLang="en-US" sz="1600" dirty="0" err="1">
                <a:solidFill>
                  <a:schemeClr val="bg1">
                    <a:lumMod val="50000"/>
                  </a:schemeClr>
                </a:solidFill>
              </a:rPr>
              <a:t>설정등록된</a:t>
            </a:r>
            <a:r>
              <a:rPr lang="ko-KR" altLang="en-US" sz="1600" dirty="0">
                <a:solidFill>
                  <a:schemeClr val="bg1">
                    <a:lumMod val="50000"/>
                  </a:schemeClr>
                </a:solidFill>
              </a:rPr>
              <a:t> 후부터 </a:t>
            </a:r>
            <a:r>
              <a:rPr lang="ko-KR" altLang="en-US" sz="1600" dirty="0" err="1">
                <a:solidFill>
                  <a:schemeClr val="bg1">
                    <a:lumMod val="50000"/>
                  </a:schemeClr>
                </a:solidFill>
              </a:rPr>
              <a:t>선출원의</a:t>
            </a:r>
            <a:r>
              <a:rPr lang="ko-KR" altLang="en-US" sz="1600" dirty="0">
                <a:solidFill>
                  <a:schemeClr val="bg1">
                    <a:lumMod val="50000"/>
                  </a:schemeClr>
                </a:solidFill>
              </a:rPr>
              <a:t> 열람을 허가함</a:t>
            </a:r>
          </a:p>
        </p:txBody>
      </p:sp>
      <p:cxnSp>
        <p:nvCxnSpPr>
          <p:cNvPr id="78" name="직선 연결선 77"/>
          <p:cNvCxnSpPr/>
          <p:nvPr/>
        </p:nvCxnSpPr>
        <p:spPr>
          <a:xfrm>
            <a:off x="5771178" y="2422681"/>
            <a:ext cx="0" cy="4371010"/>
          </a:xfrm>
          <a:prstGeom prst="line">
            <a:avLst/>
          </a:prstGeom>
          <a:ln w="28575">
            <a:solidFill>
              <a:schemeClr val="bg1">
                <a:lumMod val="50000"/>
              </a:schemeClr>
            </a:solidFill>
            <a:prstDash val="sysDot"/>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79" name="직선 화살표 연결선 78"/>
          <p:cNvCxnSpPr/>
          <p:nvPr/>
        </p:nvCxnSpPr>
        <p:spPr>
          <a:xfrm>
            <a:off x="6271856" y="4787745"/>
            <a:ext cx="5704244" cy="0"/>
          </a:xfrm>
          <a:prstGeom prst="straightConnector1">
            <a:avLst/>
          </a:prstGeom>
          <a:ln>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cxnSp>
        <p:nvCxnSpPr>
          <p:cNvPr id="80" name="직선 화살표 연결선 79"/>
          <p:cNvCxnSpPr/>
          <p:nvPr/>
        </p:nvCxnSpPr>
        <p:spPr>
          <a:xfrm>
            <a:off x="6678256" y="4471364"/>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1" name="TextBox 80"/>
          <p:cNvSpPr txBox="1"/>
          <p:nvPr/>
        </p:nvSpPr>
        <p:spPr>
          <a:xfrm>
            <a:off x="6278252" y="3890984"/>
            <a:ext cx="832279" cy="523220"/>
          </a:xfrm>
          <a:prstGeom prst="rect">
            <a:avLst/>
          </a:prstGeom>
          <a:noFill/>
          <a:ln>
            <a:noFill/>
          </a:ln>
        </p:spPr>
        <p:txBody>
          <a:bodyPr wrap="none" rtlCol="0">
            <a:spAutoFit/>
          </a:bodyPr>
          <a:lstStyle/>
          <a:p>
            <a:pPr algn="ctr"/>
            <a:r>
              <a:rPr lang="ko-KR" altLang="en-US" sz="1400" dirty="0"/>
              <a:t>특허출원</a:t>
            </a:r>
            <a:endParaRPr lang="en-US" altLang="ko-KR" sz="1400" dirty="0"/>
          </a:p>
          <a:p>
            <a:pPr algn="ctr"/>
            <a:r>
              <a:rPr lang="en-US" altLang="ko-KR" sz="1400" dirty="0"/>
              <a:t>(X)</a:t>
            </a:r>
            <a:endParaRPr lang="ko-KR" altLang="en-US" sz="1400" dirty="0"/>
          </a:p>
        </p:txBody>
      </p:sp>
      <p:cxnSp>
        <p:nvCxnSpPr>
          <p:cNvPr id="82" name="직선 화살표 연결선 81"/>
          <p:cNvCxnSpPr/>
          <p:nvPr/>
        </p:nvCxnSpPr>
        <p:spPr>
          <a:xfrm flipV="1">
            <a:off x="7862417" y="4787746"/>
            <a:ext cx="0" cy="444654"/>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84" name="TextBox 83"/>
          <p:cNvSpPr txBox="1"/>
          <p:nvPr/>
        </p:nvSpPr>
        <p:spPr>
          <a:xfrm>
            <a:off x="7032255" y="5313384"/>
            <a:ext cx="1641795" cy="523220"/>
          </a:xfrm>
          <a:prstGeom prst="rect">
            <a:avLst/>
          </a:prstGeom>
          <a:noFill/>
          <a:ln>
            <a:noFill/>
          </a:ln>
        </p:spPr>
        <p:txBody>
          <a:bodyPr wrap="none" rtlCol="0">
            <a:spAutoFit/>
          </a:bodyPr>
          <a:lstStyle/>
          <a:p>
            <a:pPr algn="ctr"/>
            <a:r>
              <a:rPr lang="ko-KR" altLang="en-US" sz="1400" dirty="0"/>
              <a:t>국내우선권주장출원</a:t>
            </a:r>
            <a:endParaRPr lang="en-US" altLang="ko-KR" sz="1400" dirty="0"/>
          </a:p>
          <a:p>
            <a:pPr algn="ctr"/>
            <a:r>
              <a:rPr lang="en-US" altLang="ko-KR" sz="1400" dirty="0"/>
              <a:t>(Y)</a:t>
            </a:r>
            <a:endParaRPr lang="ko-KR" altLang="en-US" sz="1400" dirty="0"/>
          </a:p>
        </p:txBody>
      </p:sp>
      <p:cxnSp>
        <p:nvCxnSpPr>
          <p:cNvPr id="87" name="직선 화살표 연결선 86"/>
          <p:cNvCxnSpPr/>
          <p:nvPr/>
        </p:nvCxnSpPr>
        <p:spPr>
          <a:xfrm>
            <a:off x="8640360" y="4471364"/>
            <a:ext cx="0" cy="316381"/>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5" name="TextBox 94"/>
          <p:cNvSpPr txBox="1"/>
          <p:nvPr/>
        </p:nvSpPr>
        <p:spPr>
          <a:xfrm>
            <a:off x="8224222" y="3890984"/>
            <a:ext cx="832279" cy="523220"/>
          </a:xfrm>
          <a:prstGeom prst="rect">
            <a:avLst/>
          </a:prstGeom>
          <a:noFill/>
          <a:ln>
            <a:noFill/>
          </a:ln>
        </p:spPr>
        <p:txBody>
          <a:bodyPr wrap="none" rtlCol="0">
            <a:spAutoFit/>
          </a:bodyPr>
          <a:lstStyle/>
          <a:p>
            <a:pPr algn="ctr"/>
            <a:r>
              <a:rPr lang="ko-KR" altLang="en-US" sz="1400" dirty="0" err="1"/>
              <a:t>취하간주</a:t>
            </a:r>
            <a:endParaRPr lang="en-US" altLang="ko-KR" sz="1400" dirty="0"/>
          </a:p>
          <a:p>
            <a:pPr algn="ctr"/>
            <a:r>
              <a:rPr lang="en-US" altLang="ko-KR" sz="1400" dirty="0"/>
              <a:t>(X)</a:t>
            </a:r>
            <a:endParaRPr lang="ko-KR" altLang="en-US" sz="1400" dirty="0"/>
          </a:p>
        </p:txBody>
      </p:sp>
      <p:cxnSp>
        <p:nvCxnSpPr>
          <p:cNvPr id="96" name="직선 화살표 연결선 95"/>
          <p:cNvCxnSpPr/>
          <p:nvPr/>
        </p:nvCxnSpPr>
        <p:spPr>
          <a:xfrm flipV="1">
            <a:off x="9754717" y="4787746"/>
            <a:ext cx="0" cy="444654"/>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97" name="TextBox 96"/>
          <p:cNvSpPr txBox="1"/>
          <p:nvPr/>
        </p:nvSpPr>
        <p:spPr>
          <a:xfrm>
            <a:off x="8970243" y="5313384"/>
            <a:ext cx="1550424" cy="523220"/>
          </a:xfrm>
          <a:prstGeom prst="rect">
            <a:avLst/>
          </a:prstGeom>
          <a:noFill/>
          <a:ln>
            <a:noFill/>
          </a:ln>
        </p:spPr>
        <p:txBody>
          <a:bodyPr wrap="none" rtlCol="0">
            <a:spAutoFit/>
          </a:bodyPr>
          <a:lstStyle/>
          <a:p>
            <a:pPr algn="ctr"/>
            <a:r>
              <a:rPr lang="ko-KR" altLang="en-US" sz="1400" dirty="0" err="1"/>
              <a:t>출원공개</a:t>
            </a:r>
            <a:r>
              <a:rPr lang="en-US" altLang="ko-KR" sz="1400" dirty="0"/>
              <a:t>/</a:t>
            </a:r>
            <a:r>
              <a:rPr lang="ko-KR" altLang="en-US" sz="1400" dirty="0" err="1"/>
              <a:t>설정등록</a:t>
            </a:r>
            <a:endParaRPr lang="en-US" altLang="ko-KR" sz="1400" dirty="0"/>
          </a:p>
          <a:p>
            <a:pPr algn="ctr"/>
            <a:r>
              <a:rPr lang="en-US" altLang="ko-KR" sz="1400" dirty="0"/>
              <a:t>(Y)</a:t>
            </a:r>
            <a:endParaRPr lang="ko-KR" altLang="en-US" sz="1400" dirty="0"/>
          </a:p>
        </p:txBody>
      </p:sp>
      <p:sp>
        <p:nvSpPr>
          <p:cNvPr id="99" name="직사각형 98"/>
          <p:cNvSpPr/>
          <p:nvPr/>
        </p:nvSpPr>
        <p:spPr>
          <a:xfrm>
            <a:off x="9760277" y="4262107"/>
            <a:ext cx="2063424" cy="499258"/>
          </a:xfrm>
          <a:prstGeom prst="rect">
            <a:avLst/>
          </a:prstGeom>
          <a:pattFill prst="pct20">
            <a:fgClr>
              <a:schemeClr val="accent2"/>
            </a:fgClr>
            <a:bgClr>
              <a:schemeClr val="bg1"/>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ko-KR" dirty="0">
                <a:solidFill>
                  <a:schemeClr val="tx1"/>
                </a:solidFill>
              </a:rPr>
              <a:t>X, Y </a:t>
            </a:r>
            <a:r>
              <a:rPr lang="ko-KR" altLang="en-US" dirty="0">
                <a:solidFill>
                  <a:schemeClr val="tx1"/>
                </a:solidFill>
              </a:rPr>
              <a:t>모두 </a:t>
            </a:r>
            <a:r>
              <a:rPr lang="ko-KR" altLang="en-US" dirty="0" err="1">
                <a:solidFill>
                  <a:schemeClr val="tx1"/>
                </a:solidFill>
              </a:rPr>
              <a:t>열람가능</a:t>
            </a:r>
            <a:endParaRPr lang="ko-KR" altLang="en-US" dirty="0">
              <a:solidFill>
                <a:schemeClr val="tx1"/>
              </a:solidFill>
            </a:endParaRPr>
          </a:p>
        </p:txBody>
      </p:sp>
      <p:sp>
        <p:nvSpPr>
          <p:cNvPr id="19" name="자유형 18"/>
          <p:cNvSpPr/>
          <p:nvPr/>
        </p:nvSpPr>
        <p:spPr>
          <a:xfrm>
            <a:off x="6680200" y="4495800"/>
            <a:ext cx="1993900" cy="266700"/>
          </a:xfrm>
          <a:custGeom>
            <a:avLst/>
            <a:gdLst>
              <a:gd name="connsiteX0" fmla="*/ 0 w 1993900"/>
              <a:gd name="connsiteY0" fmla="*/ 266700 h 266700"/>
              <a:gd name="connsiteX1" fmla="*/ 939800 w 1993900"/>
              <a:gd name="connsiteY1" fmla="*/ 0 h 266700"/>
              <a:gd name="connsiteX2" fmla="*/ 1993900 w 1993900"/>
              <a:gd name="connsiteY2" fmla="*/ 266700 h 266700"/>
            </a:gdLst>
            <a:ahLst/>
            <a:cxnLst>
              <a:cxn ang="0">
                <a:pos x="connsiteX0" y="connsiteY0"/>
              </a:cxn>
              <a:cxn ang="0">
                <a:pos x="connsiteX1" y="connsiteY1"/>
              </a:cxn>
              <a:cxn ang="0">
                <a:pos x="connsiteX2" y="connsiteY2"/>
              </a:cxn>
            </a:cxnLst>
            <a:rect l="l" t="t" r="r" b="b"/>
            <a:pathLst>
              <a:path w="1993900" h="266700">
                <a:moveTo>
                  <a:pt x="0" y="266700"/>
                </a:moveTo>
                <a:cubicBezTo>
                  <a:pt x="303741" y="133350"/>
                  <a:pt x="607483" y="0"/>
                  <a:pt x="939800" y="0"/>
                </a:cubicBezTo>
                <a:cubicBezTo>
                  <a:pt x="1272117" y="0"/>
                  <a:pt x="1633008" y="133350"/>
                  <a:pt x="1993900" y="266700"/>
                </a:cubicBezTo>
              </a:path>
            </a:pathLst>
          </a:custGeom>
          <a:noFill/>
          <a:ln w="285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9" name="TextBox 108"/>
          <p:cNvSpPr txBox="1"/>
          <p:nvPr/>
        </p:nvSpPr>
        <p:spPr>
          <a:xfrm>
            <a:off x="7294144" y="4317415"/>
            <a:ext cx="707246" cy="307777"/>
          </a:xfrm>
          <a:prstGeom prst="rect">
            <a:avLst/>
          </a:prstGeom>
          <a:solidFill>
            <a:schemeClr val="bg1"/>
          </a:solidFill>
          <a:ln>
            <a:noFill/>
          </a:ln>
        </p:spPr>
        <p:txBody>
          <a:bodyPr wrap="none" rtlCol="0">
            <a:spAutoFit/>
          </a:bodyPr>
          <a:lstStyle/>
          <a:p>
            <a:pPr algn="ctr"/>
            <a:r>
              <a:rPr lang="en-US" altLang="ko-KR" sz="1400" dirty="0"/>
              <a:t>1</a:t>
            </a:r>
            <a:r>
              <a:rPr lang="ko-KR" altLang="en-US" sz="1400" dirty="0"/>
              <a:t>년</a:t>
            </a:r>
            <a:r>
              <a:rPr lang="en-US" altLang="ko-KR" sz="1400" dirty="0"/>
              <a:t>3</a:t>
            </a:r>
            <a:r>
              <a:rPr lang="ko-KR" altLang="en-US" sz="1400" dirty="0"/>
              <a:t>월</a:t>
            </a:r>
          </a:p>
        </p:txBody>
      </p:sp>
      <p:cxnSp>
        <p:nvCxnSpPr>
          <p:cNvPr id="41" name="직선 화살표 연결선 40"/>
          <p:cNvCxnSpPr/>
          <p:nvPr/>
        </p:nvCxnSpPr>
        <p:spPr>
          <a:xfrm flipV="1">
            <a:off x="1452282" y="3918849"/>
            <a:ext cx="0" cy="398566"/>
          </a:xfrm>
          <a:prstGeom prst="straightConnector1">
            <a:avLst/>
          </a:prstGeom>
          <a:ln w="38100">
            <a:solidFill>
              <a:schemeClr val="bg1">
                <a:lumMod val="50000"/>
              </a:schemeClr>
            </a:solidFill>
            <a:headEnd type="none" w="med" len="med"/>
            <a:tailEnd type="triangle"/>
          </a:ln>
        </p:spPr>
        <p:style>
          <a:lnRef idx="1">
            <a:schemeClr val="accent1"/>
          </a:lnRef>
          <a:fillRef idx="0">
            <a:schemeClr val="accent1"/>
          </a:fillRef>
          <a:effectRef idx="0">
            <a:schemeClr val="accent1"/>
          </a:effectRef>
          <a:fontRef idx="minor">
            <a:schemeClr val="tx1"/>
          </a:fontRef>
        </p:style>
      </p:cxnSp>
      <p:sp>
        <p:nvSpPr>
          <p:cNvPr id="44" name="TextBox 43"/>
          <p:cNvSpPr txBox="1"/>
          <p:nvPr/>
        </p:nvSpPr>
        <p:spPr>
          <a:xfrm>
            <a:off x="1191863" y="4339917"/>
            <a:ext cx="508474" cy="307777"/>
          </a:xfrm>
          <a:prstGeom prst="rect">
            <a:avLst/>
          </a:prstGeom>
          <a:noFill/>
        </p:spPr>
        <p:txBody>
          <a:bodyPr wrap="none" rtlCol="0">
            <a:spAutoFit/>
          </a:bodyPr>
          <a:lstStyle/>
          <a:p>
            <a:pPr algn="ctr"/>
            <a:r>
              <a:rPr lang="ko-KR" altLang="en-US" sz="1400" dirty="0"/>
              <a:t>보정</a:t>
            </a:r>
          </a:p>
        </p:txBody>
      </p:sp>
      <p:sp>
        <p:nvSpPr>
          <p:cNvPr id="10" name="모서리가 둥근 사각형 설명선 9"/>
          <p:cNvSpPr/>
          <p:nvPr/>
        </p:nvSpPr>
        <p:spPr>
          <a:xfrm>
            <a:off x="2124075" y="4608186"/>
            <a:ext cx="3532007" cy="705198"/>
          </a:xfrm>
          <a:prstGeom prst="wedgeRoundRectCallout">
            <a:avLst>
              <a:gd name="adj1" fmla="val -28192"/>
              <a:gd name="adj2" fmla="val -77887"/>
              <a:gd name="adj3" fmla="val 16667"/>
            </a:avLst>
          </a:prstGeom>
          <a:solidFill>
            <a:schemeClr val="bg1">
              <a:lumMod val="95000"/>
            </a:schemeClr>
          </a:solidFill>
          <a:ln>
            <a:solidFill>
              <a:schemeClr val="bg1">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ko-KR" altLang="en-US" sz="1200" dirty="0">
                <a:solidFill>
                  <a:schemeClr val="tx1"/>
                </a:solidFill>
              </a:rPr>
              <a:t>보정은 최초 명세서 또는 도면에 기재된 </a:t>
            </a:r>
            <a:r>
              <a:rPr lang="ko-KR" altLang="en-US" sz="1200" dirty="0" err="1">
                <a:solidFill>
                  <a:schemeClr val="tx1"/>
                </a:solidFill>
              </a:rPr>
              <a:t>범위안에서</a:t>
            </a:r>
            <a:r>
              <a:rPr lang="ko-KR" altLang="en-US" sz="1200" dirty="0">
                <a:solidFill>
                  <a:schemeClr val="tx1"/>
                </a:solidFill>
              </a:rPr>
              <a:t> 가능하기 때문에 최초 명세서 또는 도면에 </a:t>
            </a:r>
            <a:r>
              <a:rPr lang="ko-KR" altLang="en-US" sz="1200" dirty="0" err="1">
                <a:solidFill>
                  <a:schemeClr val="tx1"/>
                </a:solidFill>
              </a:rPr>
              <a:t>공지기술의</a:t>
            </a:r>
            <a:r>
              <a:rPr lang="ko-KR" altLang="en-US" sz="1200" dirty="0">
                <a:solidFill>
                  <a:schemeClr val="tx1"/>
                </a:solidFill>
              </a:rPr>
              <a:t> 지위가 인정됨</a:t>
            </a:r>
          </a:p>
        </p:txBody>
      </p:sp>
      <p:sp>
        <p:nvSpPr>
          <p:cNvPr id="2" name="슬라이드 번호 개체 틀 1"/>
          <p:cNvSpPr>
            <a:spLocks noGrp="1"/>
          </p:cNvSpPr>
          <p:nvPr>
            <p:ph type="sldNum" sz="quarter" idx="4294967295"/>
          </p:nvPr>
        </p:nvSpPr>
        <p:spPr>
          <a:xfrm>
            <a:off x="11129210" y="0"/>
            <a:ext cx="1062789" cy="733926"/>
          </a:xfrm>
        </p:spPr>
        <p:txBody>
          <a:bodyPr/>
          <a:lstStyle/>
          <a:p>
            <a:fld id="{3875FC6C-1516-4DC4-8C58-3090F7D4F003}" type="slidenum">
              <a:rPr lang="ko-KR" altLang="en-US" smtClean="0"/>
              <a:t>48</a:t>
            </a:fld>
            <a:endParaRPr lang="ko-KR" altLang="en-US"/>
          </a:p>
        </p:txBody>
      </p:sp>
      <p:sp>
        <p:nvSpPr>
          <p:cNvPr id="6" name="TextBox 5">
            <a:extLst>
              <a:ext uri="{FF2B5EF4-FFF2-40B4-BE49-F238E27FC236}">
                <a16:creationId xmlns:a16="http://schemas.microsoft.com/office/drawing/2014/main" id="{EC8AC0B0-FEAA-4B95-AB13-0D106F6689C7}"/>
              </a:ext>
            </a:extLst>
          </p:cNvPr>
          <p:cNvSpPr txBox="1"/>
          <p:nvPr/>
        </p:nvSpPr>
        <p:spPr>
          <a:xfrm>
            <a:off x="6152180" y="6320009"/>
            <a:ext cx="4193777" cy="307777"/>
          </a:xfrm>
          <a:prstGeom prst="rect">
            <a:avLst/>
          </a:prstGeom>
          <a:noFill/>
        </p:spPr>
        <p:txBody>
          <a:bodyPr wrap="none" rtlCol="0">
            <a:spAutoFit/>
          </a:bodyPr>
          <a:lstStyle/>
          <a:p>
            <a:r>
              <a:rPr lang="en-US" altLang="ko-KR" sz="1400" dirty="0">
                <a:solidFill>
                  <a:schemeClr val="bg1">
                    <a:lumMod val="50000"/>
                  </a:schemeClr>
                </a:solidFill>
              </a:rPr>
              <a:t>* </a:t>
            </a:r>
            <a:r>
              <a:rPr lang="ko-KR" altLang="en-US" sz="1400" dirty="0">
                <a:solidFill>
                  <a:schemeClr val="bg1">
                    <a:lumMod val="50000"/>
                  </a:schemeClr>
                </a:solidFill>
              </a:rPr>
              <a:t>변경출원을 제외하고 있는 것은 </a:t>
            </a:r>
            <a:r>
              <a:rPr lang="ko-KR" altLang="en-US" sz="1400" dirty="0" err="1">
                <a:solidFill>
                  <a:schemeClr val="bg1">
                    <a:lumMod val="50000"/>
                  </a:schemeClr>
                </a:solidFill>
              </a:rPr>
              <a:t>입법불비라고</a:t>
            </a:r>
            <a:r>
              <a:rPr lang="ko-KR" altLang="en-US" sz="1400" dirty="0">
                <a:solidFill>
                  <a:schemeClr val="bg1">
                    <a:lumMod val="50000"/>
                  </a:schemeClr>
                </a:solidFill>
              </a:rPr>
              <a:t> 판단됨</a:t>
            </a:r>
          </a:p>
        </p:txBody>
      </p:sp>
    </p:spTree>
    <p:extLst>
      <p:ext uri="{BB962C8B-B14F-4D97-AF65-F5344CB8AC3E}">
        <p14:creationId xmlns:p14="http://schemas.microsoft.com/office/powerpoint/2010/main" val="215603867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err="1"/>
              <a:t>성립성이</a:t>
            </a:r>
            <a:r>
              <a:rPr lang="ko-KR" altLang="en-US" dirty="0"/>
              <a:t> 문제되는 발명</a:t>
            </a:r>
          </a:p>
        </p:txBody>
      </p:sp>
      <p:graphicFrame>
        <p:nvGraphicFramePr>
          <p:cNvPr id="5" name="표 4"/>
          <p:cNvGraphicFramePr>
            <a:graphicFrameLocks noGrp="1"/>
          </p:cNvGraphicFramePr>
          <p:nvPr>
            <p:extLst>
              <p:ext uri="{D42A27DB-BD31-4B8C-83A1-F6EECF244321}">
                <p14:modId xmlns:p14="http://schemas.microsoft.com/office/powerpoint/2010/main" val="2583459610"/>
              </p:ext>
            </p:extLst>
          </p:nvPr>
        </p:nvGraphicFramePr>
        <p:xfrm>
          <a:off x="325315" y="1050234"/>
          <a:ext cx="11509130" cy="5110058"/>
        </p:xfrm>
        <a:graphic>
          <a:graphicData uri="http://schemas.openxmlformats.org/drawingml/2006/table">
            <a:tbl>
              <a:tblPr>
                <a:tableStyleId>{8799B23B-EC83-4686-B30A-512413B5E67A}</a:tableStyleId>
              </a:tblPr>
              <a:tblGrid>
                <a:gridCol w="365104">
                  <a:extLst>
                    <a:ext uri="{9D8B030D-6E8A-4147-A177-3AD203B41FA5}">
                      <a16:colId xmlns:a16="http://schemas.microsoft.com/office/drawing/2014/main" val="20000"/>
                    </a:ext>
                  </a:extLst>
                </a:gridCol>
                <a:gridCol w="363671">
                  <a:extLst>
                    <a:ext uri="{9D8B030D-6E8A-4147-A177-3AD203B41FA5}">
                      <a16:colId xmlns:a16="http://schemas.microsoft.com/office/drawing/2014/main" val="20001"/>
                    </a:ext>
                  </a:extLst>
                </a:gridCol>
                <a:gridCol w="3104808">
                  <a:extLst>
                    <a:ext uri="{9D8B030D-6E8A-4147-A177-3AD203B41FA5}">
                      <a16:colId xmlns:a16="http://schemas.microsoft.com/office/drawing/2014/main" val="20002"/>
                    </a:ext>
                  </a:extLst>
                </a:gridCol>
                <a:gridCol w="7675547">
                  <a:extLst>
                    <a:ext uri="{9D8B030D-6E8A-4147-A177-3AD203B41FA5}">
                      <a16:colId xmlns:a16="http://schemas.microsoft.com/office/drawing/2014/main" val="20003"/>
                    </a:ext>
                  </a:extLst>
                </a:gridCol>
              </a:tblGrid>
              <a:tr h="149961">
                <a:tc gridSpan="2">
                  <a:txBody>
                    <a:bodyPr/>
                    <a:lstStyle/>
                    <a:p>
                      <a:pPr marL="0" marR="0" indent="0" algn="ctr" fontAlgn="base" latinLnBrk="0">
                        <a:lnSpc>
                          <a:spcPct val="100000"/>
                        </a:lnSpc>
                        <a:spcBef>
                          <a:spcPts val="0"/>
                        </a:spcBef>
                        <a:spcAft>
                          <a:spcPts val="0"/>
                        </a:spcAft>
                      </a:pPr>
                      <a:r>
                        <a:rPr lang="ko-KR" altLang="en-US" sz="950" b="1" kern="0" spc="0" dirty="0">
                          <a:effectLst/>
                        </a:rPr>
                        <a:t>　</a:t>
                      </a:r>
                      <a:endParaRPr lang="ko-KR" altLang="en-US" sz="950" b="1" kern="0" spc="0" dirty="0">
                        <a:solidFill>
                          <a:srgbClr val="000000"/>
                        </a:solidFill>
                        <a:effectLst/>
                        <a:latin typeface="+mn-ea"/>
                        <a:ea typeface="+mn-ea"/>
                      </a:endParaRPr>
                    </a:p>
                  </a:txBody>
                  <a:tcPr marL="47473" marR="47473" marT="23737" marB="23737" anchor="ctr">
                    <a:solidFill>
                      <a:schemeClr val="accent1">
                        <a:lumMod val="20000"/>
                        <a:lumOff val="80000"/>
                      </a:schemeClr>
                    </a:solidFill>
                  </a:tcPr>
                </a:tc>
                <a:tc h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950" b="1" kern="0" spc="0" dirty="0">
                          <a:effectLst/>
                        </a:rPr>
                        <a:t>용도발명</a:t>
                      </a:r>
                      <a:endParaRPr lang="ko-KR" altLang="en-US" sz="950" b="1" kern="0" spc="0" dirty="0">
                        <a:solidFill>
                          <a:srgbClr val="000000"/>
                        </a:solidFill>
                        <a:effectLst/>
                        <a:latin typeface="+mn-ea"/>
                        <a:ea typeface="+mn-ea"/>
                      </a:endParaRPr>
                    </a:p>
                  </a:txBody>
                  <a:tcPr marL="47473" marR="47473" marT="23737" marB="23737" anchor="ctr">
                    <a:solidFill>
                      <a:schemeClr val="accent1">
                        <a:lumMod val="20000"/>
                        <a:lumOff val="80000"/>
                      </a:schemeClr>
                    </a:solidFill>
                  </a:tcPr>
                </a:tc>
                <a:tc>
                  <a:txBody>
                    <a:bodyPr/>
                    <a:lstStyle/>
                    <a:p>
                      <a:pPr marL="0" marR="0" indent="0" algn="ctr" fontAlgn="base" latinLnBrk="0">
                        <a:lnSpc>
                          <a:spcPct val="100000"/>
                        </a:lnSpc>
                        <a:spcBef>
                          <a:spcPts val="0"/>
                        </a:spcBef>
                        <a:spcAft>
                          <a:spcPts val="0"/>
                        </a:spcAft>
                      </a:pPr>
                      <a:r>
                        <a:rPr lang="ko-KR" altLang="en-US" sz="950" b="1" kern="0" spc="0" dirty="0">
                          <a:effectLst/>
                        </a:rPr>
                        <a:t>의약발명</a:t>
                      </a:r>
                      <a:endParaRPr lang="ko-KR" altLang="en-US" sz="950" b="1" kern="0" spc="0" dirty="0">
                        <a:solidFill>
                          <a:srgbClr val="000000"/>
                        </a:solidFill>
                        <a:effectLst/>
                        <a:latin typeface="+mn-ea"/>
                        <a:ea typeface="+mn-ea"/>
                      </a:endParaRPr>
                    </a:p>
                  </a:txBody>
                  <a:tcPr marL="47473" marR="47473" marT="23737" marB="23737" anchor="ctr">
                    <a:solidFill>
                      <a:schemeClr val="accent1">
                        <a:lumMod val="20000"/>
                        <a:lumOff val="80000"/>
                      </a:schemeClr>
                    </a:solidFill>
                  </a:tcPr>
                </a:tc>
                <a:extLst>
                  <a:ext uri="{0D108BD9-81ED-4DB2-BD59-A6C34878D82A}">
                    <a16:rowId xmlns:a16="http://schemas.microsoft.com/office/drawing/2014/main" val="10000"/>
                  </a:ext>
                </a:extLst>
              </a:tr>
              <a:tr h="262479">
                <a:tc gridSpan="2">
                  <a:txBody>
                    <a:bodyPr/>
                    <a:lstStyle/>
                    <a:p>
                      <a:pPr marL="0" marR="0" indent="0" algn="ctr" fontAlgn="base" latinLnBrk="0">
                        <a:lnSpc>
                          <a:spcPct val="100000"/>
                        </a:lnSpc>
                        <a:spcBef>
                          <a:spcPts val="0"/>
                        </a:spcBef>
                        <a:spcAft>
                          <a:spcPts val="0"/>
                        </a:spcAft>
                      </a:pPr>
                      <a:r>
                        <a:rPr lang="ko-KR" altLang="en-US" sz="950" kern="0" spc="0">
                          <a:effectLst/>
                        </a:rPr>
                        <a:t>의의</a:t>
                      </a:r>
                      <a:endParaRPr lang="ko-KR" altLang="en-US" sz="950" b="1" kern="0" spc="0">
                        <a:solidFill>
                          <a:srgbClr val="000000"/>
                        </a:solidFill>
                        <a:effectLst/>
                        <a:latin typeface="+mn-ea"/>
                        <a:ea typeface="+mn-ea"/>
                      </a:endParaRPr>
                    </a:p>
                  </a:txBody>
                  <a:tcPr marL="47473" marR="47473" marT="23737" marB="23737" anchor="ctr"/>
                </a:tc>
                <a:tc hMerge="1">
                  <a:txBody>
                    <a:bodyPr/>
                    <a:lstStyle/>
                    <a:p>
                      <a:pPr latinLnBrk="1"/>
                      <a:endParaRPr lang="ko-KR" altLang="en-US"/>
                    </a:p>
                  </a:txBody>
                  <a:tcPr/>
                </a:tc>
                <a:tc>
                  <a:txBody>
                    <a:bodyPr/>
                    <a:lstStyle/>
                    <a:p>
                      <a:pPr marL="0" marR="0" indent="0" algn="just" fontAlgn="base" latinLnBrk="1">
                        <a:lnSpc>
                          <a:spcPct val="100000"/>
                        </a:lnSpc>
                        <a:spcBef>
                          <a:spcPts val="0"/>
                        </a:spcBef>
                        <a:spcAft>
                          <a:spcPts val="0"/>
                        </a:spcAft>
                      </a:pPr>
                      <a:r>
                        <a:rPr lang="ko-KR" altLang="en-US" sz="950" kern="0" spc="0" dirty="0">
                          <a:solidFill>
                            <a:schemeClr val="tx1"/>
                          </a:solidFill>
                          <a:effectLst/>
                        </a:rPr>
                        <a:t>물질로부터 새로운 속성을 발견하고 새로운 용도로 이용하는 과정에서 창작적 요소가 존재하는 발명을 말한다</a:t>
                      </a:r>
                      <a:r>
                        <a:rPr lang="en-US" altLang="ko-KR" sz="950" kern="0" spc="0" dirty="0">
                          <a:solidFill>
                            <a:schemeClr val="tx1"/>
                          </a:solidFill>
                          <a:effectLst/>
                        </a:rPr>
                        <a:t>.</a:t>
                      </a:r>
                      <a:endParaRPr lang="ko-KR" altLang="en-US" sz="950" kern="0" spc="0" dirty="0">
                        <a:solidFill>
                          <a:schemeClr val="tx1"/>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ko-KR" altLang="en-US" sz="950" kern="0" spc="0" dirty="0">
                          <a:solidFill>
                            <a:schemeClr val="tx1"/>
                          </a:solidFill>
                          <a:effectLst/>
                        </a:rPr>
                        <a:t>사람의 질병을 </a:t>
                      </a:r>
                      <a:r>
                        <a:rPr lang="ko-KR" altLang="en-US" sz="950" kern="0" spc="0" dirty="0" err="1">
                          <a:solidFill>
                            <a:schemeClr val="tx1"/>
                          </a:solidFill>
                          <a:effectLst/>
                        </a:rPr>
                        <a:t>진단ㆍ치료ㆍ처리ㆍ예방을</a:t>
                      </a:r>
                      <a:r>
                        <a:rPr lang="ko-KR" altLang="en-US" sz="950" kern="0" spc="0" dirty="0">
                          <a:solidFill>
                            <a:schemeClr val="tx1"/>
                          </a:solidFill>
                          <a:effectLst/>
                        </a:rPr>
                        <a:t> 하는 물질인 의약의 발명 이외에 둘 이상의 의약을 혼합하여 하나의 의약을 조제하는 방법의 발명까지 포함한 개념이다</a:t>
                      </a:r>
                      <a:r>
                        <a:rPr lang="en-US" altLang="ko-KR" sz="950" kern="0" spc="0" dirty="0">
                          <a:solidFill>
                            <a:schemeClr val="tx1"/>
                          </a:solidFill>
                          <a:effectLst/>
                        </a:rPr>
                        <a:t>. </a:t>
                      </a:r>
                      <a:endParaRPr lang="ko-KR" altLang="en-US" sz="950" kern="0" spc="0" dirty="0">
                        <a:solidFill>
                          <a:schemeClr val="tx1"/>
                        </a:solidFill>
                        <a:effectLst/>
                        <a:latin typeface="+mn-ea"/>
                        <a:ea typeface="+mn-ea"/>
                      </a:endParaRPr>
                    </a:p>
                  </a:txBody>
                  <a:tcPr marL="47473" marR="47473" marT="23737" marB="23737" anchor="ctr"/>
                </a:tc>
                <a:extLst>
                  <a:ext uri="{0D108BD9-81ED-4DB2-BD59-A6C34878D82A}">
                    <a16:rowId xmlns:a16="http://schemas.microsoft.com/office/drawing/2014/main" val="10001"/>
                  </a:ext>
                </a:extLst>
              </a:tr>
              <a:tr h="600740">
                <a:tc rowSpan="2">
                  <a:txBody>
                    <a:bodyPr/>
                    <a:lstStyle/>
                    <a:p>
                      <a:pPr marL="0" marR="0" indent="0" algn="ctr" fontAlgn="base" latinLnBrk="0">
                        <a:lnSpc>
                          <a:spcPct val="100000"/>
                        </a:lnSpc>
                        <a:spcBef>
                          <a:spcPts val="0"/>
                        </a:spcBef>
                        <a:spcAft>
                          <a:spcPts val="0"/>
                        </a:spcAft>
                      </a:pPr>
                      <a:r>
                        <a:rPr lang="ko-KR" altLang="en-US" sz="950" kern="0" spc="0" dirty="0">
                          <a:effectLst/>
                        </a:rPr>
                        <a:t>특허</a:t>
                      </a:r>
                    </a:p>
                    <a:p>
                      <a:pPr marL="0" marR="0" indent="0" algn="ctr" fontAlgn="base" latinLnBrk="0">
                        <a:lnSpc>
                          <a:spcPct val="100000"/>
                        </a:lnSpc>
                        <a:spcBef>
                          <a:spcPts val="0"/>
                        </a:spcBef>
                        <a:spcAft>
                          <a:spcPts val="0"/>
                        </a:spcAft>
                      </a:pPr>
                      <a:r>
                        <a:rPr lang="ko-KR" altLang="en-US" sz="950" kern="0" spc="0" dirty="0">
                          <a:effectLst/>
                        </a:rPr>
                        <a:t>요건</a:t>
                      </a:r>
                      <a:endParaRPr lang="en-US" altLang="ko-KR" sz="950" kern="0" spc="0" dirty="0">
                        <a:effectLst/>
                      </a:endParaRPr>
                    </a:p>
                    <a:p>
                      <a:pPr marL="0" marR="0" indent="0" algn="ctr" fontAlgn="base" latinLnBrk="0">
                        <a:lnSpc>
                          <a:spcPct val="100000"/>
                        </a:lnSpc>
                        <a:spcBef>
                          <a:spcPts val="0"/>
                        </a:spcBef>
                        <a:spcAft>
                          <a:spcPts val="0"/>
                        </a:spcAft>
                      </a:pPr>
                      <a:endParaRPr lang="ko-KR" altLang="en-US" sz="950" kern="0" spc="0" dirty="0">
                        <a:effectLst/>
                      </a:endParaRPr>
                    </a:p>
                    <a:p>
                      <a:pPr marL="0" marR="0" indent="0" algn="ctr" fontAlgn="base" latinLnBrk="0">
                        <a:lnSpc>
                          <a:spcPct val="100000"/>
                        </a:lnSpc>
                        <a:spcBef>
                          <a:spcPts val="0"/>
                        </a:spcBef>
                        <a:spcAft>
                          <a:spcPts val="0"/>
                        </a:spcAft>
                      </a:pPr>
                      <a:r>
                        <a:rPr lang="ko-KR" altLang="en-US" sz="950" kern="0" spc="0" dirty="0">
                          <a:effectLst/>
                        </a:rPr>
                        <a:t>및</a:t>
                      </a:r>
                      <a:endParaRPr lang="en-US" altLang="ko-KR" sz="950" kern="0" spc="0" dirty="0">
                        <a:effectLst/>
                      </a:endParaRPr>
                    </a:p>
                    <a:p>
                      <a:pPr marL="0" marR="0" indent="0" algn="ctr" fontAlgn="base" latinLnBrk="0">
                        <a:lnSpc>
                          <a:spcPct val="100000"/>
                        </a:lnSpc>
                        <a:spcBef>
                          <a:spcPts val="0"/>
                        </a:spcBef>
                        <a:spcAft>
                          <a:spcPts val="0"/>
                        </a:spcAft>
                      </a:pPr>
                      <a:endParaRPr lang="ko-KR" altLang="en-US" sz="950" kern="0" spc="0" dirty="0">
                        <a:effectLst/>
                      </a:endParaRPr>
                    </a:p>
                    <a:p>
                      <a:pPr marL="0" marR="0" indent="0" algn="ctr" fontAlgn="base" latinLnBrk="0">
                        <a:lnSpc>
                          <a:spcPct val="100000"/>
                        </a:lnSpc>
                        <a:spcBef>
                          <a:spcPts val="0"/>
                        </a:spcBef>
                        <a:spcAft>
                          <a:spcPts val="0"/>
                        </a:spcAft>
                      </a:pPr>
                      <a:r>
                        <a:rPr lang="ko-KR" altLang="en-US" sz="950" kern="0" spc="0" dirty="0">
                          <a:effectLst/>
                        </a:rPr>
                        <a:t>특허</a:t>
                      </a:r>
                    </a:p>
                    <a:p>
                      <a:pPr marL="0" marR="0" indent="0" algn="ctr" fontAlgn="base" latinLnBrk="0">
                        <a:lnSpc>
                          <a:spcPct val="100000"/>
                        </a:lnSpc>
                        <a:spcBef>
                          <a:spcPts val="0"/>
                        </a:spcBef>
                        <a:spcAft>
                          <a:spcPts val="0"/>
                        </a:spcAft>
                      </a:pPr>
                      <a:r>
                        <a:rPr lang="ko-KR" altLang="en-US" sz="950" kern="0" spc="0" dirty="0">
                          <a:effectLst/>
                        </a:rPr>
                        <a:t>출원</a:t>
                      </a:r>
                      <a:endParaRPr lang="ko-KR" altLang="en-US" sz="950" b="1" kern="0" spc="0" dirty="0">
                        <a:solidFill>
                          <a:srgbClr val="000000"/>
                        </a:solidFill>
                        <a:effectLst/>
                        <a:latin typeface="+mn-ea"/>
                        <a:ea typeface="+mn-ea"/>
                      </a:endParaRPr>
                    </a:p>
                  </a:txBody>
                  <a:tcPr marL="47473" marR="47473" marT="23737" marB="23737" anchor="ctr"/>
                </a:tc>
                <a:tc>
                  <a:txBody>
                    <a:bodyPr/>
                    <a:lstStyle/>
                    <a:p>
                      <a:pPr marL="0" marR="0" indent="0" algn="ctr" fontAlgn="base" latinLnBrk="0">
                        <a:lnSpc>
                          <a:spcPct val="100000"/>
                        </a:lnSpc>
                        <a:spcBef>
                          <a:spcPts val="0"/>
                        </a:spcBef>
                        <a:spcAft>
                          <a:spcPts val="0"/>
                        </a:spcAft>
                      </a:pPr>
                      <a:r>
                        <a:rPr lang="ko-KR" altLang="en-US" sz="950" kern="0" spc="0" dirty="0">
                          <a:effectLst/>
                        </a:rPr>
                        <a:t>성</a:t>
                      </a:r>
                      <a:endParaRPr lang="en-US" altLang="ko-KR" sz="950" kern="0" spc="0" dirty="0">
                        <a:effectLst/>
                      </a:endParaRPr>
                    </a:p>
                    <a:p>
                      <a:pPr marL="0" marR="0" indent="0" algn="ctr" fontAlgn="base" latinLnBrk="0">
                        <a:lnSpc>
                          <a:spcPct val="100000"/>
                        </a:lnSpc>
                        <a:spcBef>
                          <a:spcPts val="0"/>
                        </a:spcBef>
                        <a:spcAft>
                          <a:spcPts val="0"/>
                        </a:spcAft>
                      </a:pPr>
                      <a:r>
                        <a:rPr lang="ko-KR" altLang="en-US" sz="950" kern="0" spc="0" dirty="0" err="1">
                          <a:effectLst/>
                        </a:rPr>
                        <a:t>립</a:t>
                      </a:r>
                      <a:endParaRPr lang="en-US" altLang="ko-KR" sz="950" kern="0" spc="0" dirty="0">
                        <a:effectLst/>
                      </a:endParaRPr>
                    </a:p>
                    <a:p>
                      <a:pPr marL="0" marR="0" indent="0" algn="ctr" fontAlgn="base" latinLnBrk="0">
                        <a:lnSpc>
                          <a:spcPct val="100000"/>
                        </a:lnSpc>
                        <a:spcBef>
                          <a:spcPts val="0"/>
                        </a:spcBef>
                        <a:spcAft>
                          <a:spcPts val="0"/>
                        </a:spcAft>
                      </a:pPr>
                      <a:r>
                        <a:rPr lang="ko-KR" altLang="en-US" sz="950" kern="0" spc="0" dirty="0">
                          <a:effectLst/>
                        </a:rPr>
                        <a:t>성</a:t>
                      </a:r>
                      <a:endParaRPr lang="ko-KR" altLang="en-US" sz="950" b="1" kern="0" spc="0" dirty="0">
                        <a:solidFill>
                          <a:srgbClr val="000000"/>
                        </a:solidFill>
                        <a:effectLst/>
                        <a:latin typeface="+mn-ea"/>
                        <a:ea typeface="+mn-ea"/>
                      </a:endParaRPr>
                    </a:p>
                  </a:txBody>
                  <a:tcPr marL="47473" marR="47473" marT="23737" marB="23737" anchor="ctr"/>
                </a:tc>
                <a:tc>
                  <a:txBody>
                    <a:bodyPr/>
                    <a:lstStyle/>
                    <a:p>
                      <a:pPr marL="73660" marR="0" indent="-73660" algn="just" fontAlgn="base" latinLnBrk="1">
                        <a:lnSpc>
                          <a:spcPct val="100000"/>
                        </a:lnSpc>
                        <a:spcBef>
                          <a:spcPts val="0"/>
                        </a:spcBef>
                        <a:spcAft>
                          <a:spcPts val="0"/>
                        </a:spcAft>
                      </a:pPr>
                      <a:r>
                        <a:rPr lang="en-US" altLang="ko-KR" sz="950" kern="0" spc="0" dirty="0">
                          <a:solidFill>
                            <a:schemeClr val="tx1"/>
                          </a:solidFill>
                          <a:effectLst/>
                        </a:rPr>
                        <a:t>1.</a:t>
                      </a:r>
                      <a:r>
                        <a:rPr lang="ko-KR" altLang="en-US" sz="950" kern="0" spc="0" dirty="0">
                          <a:solidFill>
                            <a:schemeClr val="tx1"/>
                          </a:solidFill>
                          <a:effectLst/>
                        </a:rPr>
                        <a:t>발견이지만 창작적 요소가 보호가치가 있어 발명의 </a:t>
                      </a:r>
                      <a:r>
                        <a:rPr lang="ko-KR" altLang="en-US" sz="950" kern="0" spc="0" dirty="0" err="1">
                          <a:solidFill>
                            <a:schemeClr val="tx1"/>
                          </a:solidFill>
                          <a:effectLst/>
                        </a:rPr>
                        <a:t>성립성</a:t>
                      </a:r>
                      <a:r>
                        <a:rPr lang="ko-KR" altLang="en-US" sz="950" kern="0" spc="0" dirty="0">
                          <a:solidFill>
                            <a:schemeClr val="tx1"/>
                          </a:solidFill>
                          <a:effectLst/>
                        </a:rPr>
                        <a:t> 인정</a:t>
                      </a: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2.</a:t>
                      </a:r>
                      <a:r>
                        <a:rPr lang="ko-KR" altLang="en-US" sz="950" kern="0" spc="0" dirty="0">
                          <a:solidFill>
                            <a:schemeClr val="tx1"/>
                          </a:solidFill>
                          <a:effectLst/>
                        </a:rPr>
                        <a:t>그 용도가 당시까지 알려지지 않았던 새로운 것이면 충분하고</a:t>
                      </a:r>
                      <a:r>
                        <a:rPr lang="en-US" altLang="ko-KR" sz="950" kern="0" spc="0" dirty="0">
                          <a:solidFill>
                            <a:schemeClr val="tx1"/>
                          </a:solidFill>
                          <a:effectLst/>
                        </a:rPr>
                        <a:t>, </a:t>
                      </a:r>
                      <a:r>
                        <a:rPr lang="ko-KR" altLang="en-US" sz="950" kern="0" spc="0" dirty="0">
                          <a:solidFill>
                            <a:schemeClr val="tx1"/>
                          </a:solidFill>
                          <a:effectLst/>
                        </a:rPr>
                        <a:t>그 물질이나 그 물질의 다른 용도가 출원 이전에 공지되어 있어야 하는 것은 아님</a:t>
                      </a:r>
                      <a:endParaRPr lang="ko-KR" altLang="en-US" sz="950" kern="0" spc="0" dirty="0">
                        <a:solidFill>
                          <a:schemeClr val="tx1"/>
                        </a:solidFill>
                        <a:effectLst/>
                        <a:latin typeface="+mn-ea"/>
                        <a:ea typeface="+mn-ea"/>
                      </a:endParaRPr>
                    </a:p>
                  </a:txBody>
                  <a:tcPr marL="47473" marR="47473" marT="23737" marB="23737" anchor="ctr"/>
                </a:tc>
                <a:tc>
                  <a:txBody>
                    <a:bodyPr/>
                    <a:lstStyle/>
                    <a:p>
                      <a:pPr marL="73660" marR="0" indent="-73660" algn="just" fontAlgn="base" latinLnBrk="1">
                        <a:lnSpc>
                          <a:spcPct val="100000"/>
                        </a:lnSpc>
                        <a:spcBef>
                          <a:spcPts val="0"/>
                        </a:spcBef>
                        <a:spcAft>
                          <a:spcPts val="0"/>
                        </a:spcAft>
                      </a:pPr>
                      <a:r>
                        <a:rPr lang="ko-KR" altLang="en-US" sz="950" kern="0" spc="0">
                          <a:solidFill>
                            <a:schemeClr val="tx1"/>
                          </a:solidFill>
                          <a:effectLst/>
                        </a:rPr>
                        <a:t>의약발명 </a:t>
                      </a:r>
                      <a:r>
                        <a:rPr lang="ko-KR" altLang="en-US" sz="950" kern="0" spc="0" dirty="0">
                          <a:solidFill>
                            <a:schemeClr val="tx1"/>
                          </a:solidFill>
                          <a:effectLst/>
                        </a:rPr>
                        <a:t>중 물질발명의 대부분은 천연물질에서 인체의 치료에 필요한 특정 성분을 발견하고 추출하여 의약으로 이용하는 바</a:t>
                      </a:r>
                      <a:r>
                        <a:rPr lang="en-US" altLang="ko-KR" sz="950" kern="0" spc="0" dirty="0">
                          <a:solidFill>
                            <a:schemeClr val="tx1"/>
                          </a:solidFill>
                          <a:effectLst/>
                        </a:rPr>
                        <a:t>, </a:t>
                      </a:r>
                      <a:r>
                        <a:rPr lang="ko-KR" altLang="en-US" sz="950" kern="0" spc="0" dirty="0">
                          <a:solidFill>
                            <a:schemeClr val="tx1"/>
                          </a:solidFill>
                          <a:effectLst/>
                        </a:rPr>
                        <a:t>용도발명의 일종</a:t>
                      </a:r>
                    </a:p>
                  </a:txBody>
                  <a:tcPr marL="47473" marR="47473" marT="23737" marB="23737" anchor="ctr"/>
                </a:tc>
                <a:extLst>
                  <a:ext uri="{0D108BD9-81ED-4DB2-BD59-A6C34878D82A}">
                    <a16:rowId xmlns:a16="http://schemas.microsoft.com/office/drawing/2014/main" val="10002"/>
                  </a:ext>
                </a:extLst>
              </a:tr>
              <a:tr h="826247">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950" kern="0" spc="0">
                          <a:effectLst/>
                        </a:rPr>
                        <a:t>기타</a:t>
                      </a:r>
                      <a:endParaRPr lang="ko-KR" altLang="en-US" sz="950" b="1" kern="0" spc="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ko-KR" altLang="en-US" sz="950" kern="0" spc="0" dirty="0">
                          <a:solidFill>
                            <a:schemeClr val="tx1"/>
                          </a:solidFill>
                          <a:effectLst/>
                        </a:rPr>
                        <a:t>물건발명</a:t>
                      </a:r>
                      <a:r>
                        <a:rPr lang="en-US" altLang="ko-KR" sz="950" kern="0" spc="0" dirty="0">
                          <a:solidFill>
                            <a:schemeClr val="tx1"/>
                          </a:solidFill>
                          <a:effectLst/>
                        </a:rPr>
                        <a:t>/</a:t>
                      </a:r>
                      <a:r>
                        <a:rPr lang="ko-KR" altLang="en-US" sz="950" kern="0" spc="0" dirty="0">
                          <a:solidFill>
                            <a:schemeClr val="tx1"/>
                          </a:solidFill>
                          <a:effectLst/>
                        </a:rPr>
                        <a:t>방법발명 중 택일하여 청구항 기재 가능</a:t>
                      </a:r>
                      <a:endParaRPr lang="ko-KR" altLang="en-US" sz="950" kern="0" spc="0" dirty="0">
                        <a:solidFill>
                          <a:schemeClr val="tx1"/>
                        </a:solidFill>
                        <a:effectLst/>
                        <a:latin typeface="+mn-ea"/>
                        <a:ea typeface="+mn-ea"/>
                      </a:endParaRPr>
                    </a:p>
                  </a:txBody>
                  <a:tcPr marL="47473" marR="47473" marT="23737" marB="23737" anchor="ctr"/>
                </a:tc>
                <a:tc>
                  <a:txBody>
                    <a:bodyPr/>
                    <a:lstStyle/>
                    <a:p>
                      <a:pPr marL="73660" marR="0" lvl="0" indent="-73660" algn="just" defTabSz="914400" rtl="0" eaLnBrk="1" fontAlgn="base" latinLnBrk="1" hangingPunct="1">
                        <a:lnSpc>
                          <a:spcPct val="100000"/>
                        </a:lnSpc>
                        <a:spcBef>
                          <a:spcPts val="0"/>
                        </a:spcBef>
                        <a:spcAft>
                          <a:spcPts val="0"/>
                        </a:spcAft>
                        <a:buClrTx/>
                        <a:buSzTx/>
                        <a:buFontTx/>
                        <a:buNone/>
                        <a:tabLst/>
                        <a:defRPr/>
                      </a:pPr>
                      <a:r>
                        <a:rPr lang="en-US" altLang="ko-KR" sz="950" kern="0" spc="0" dirty="0">
                          <a:solidFill>
                            <a:schemeClr val="tx1"/>
                          </a:solidFill>
                          <a:effectLst/>
                        </a:rPr>
                        <a:t>1.</a:t>
                      </a:r>
                      <a:r>
                        <a:rPr lang="ko-KR" altLang="en-US" sz="950" kern="0" spc="0" dirty="0">
                          <a:solidFill>
                            <a:schemeClr val="tx1"/>
                          </a:solidFill>
                          <a:effectLst/>
                        </a:rPr>
                        <a:t>약리기전이 명확히 밝혀지지 아니한 이상 일정한 확실성 및 반복가능성이 미약하여 목적달성이 현저히 의심스럽기 때문에 특정 물질에 그와 같은 약리효과가 있다는 것을 약리데이터 등이 나타난 시험예로 기재하거나 또는 이에 대신할 수 있을 정도로 구체적으로 </a:t>
                      </a:r>
                      <a:r>
                        <a:rPr lang="ko-KR" altLang="en-US" sz="950" kern="0" spc="0" dirty="0" err="1">
                          <a:solidFill>
                            <a:schemeClr val="tx1"/>
                          </a:solidFill>
                          <a:effectLst/>
                        </a:rPr>
                        <a:t>기재하여야만</a:t>
                      </a:r>
                      <a:r>
                        <a:rPr lang="ko-KR" altLang="en-US" sz="950" kern="0" spc="0" dirty="0">
                          <a:solidFill>
                            <a:schemeClr val="tx1"/>
                          </a:solidFill>
                          <a:effectLst/>
                        </a:rPr>
                        <a:t> 발명의 설명의 기재요건을 충족</a:t>
                      </a:r>
                      <a:endParaRPr lang="ko-KR" altLang="en-US" sz="950" kern="0" spc="0" dirty="0">
                        <a:solidFill>
                          <a:schemeClr val="tx1"/>
                        </a:solidFill>
                        <a:effectLst/>
                        <a:latin typeface="+mn-ea"/>
                        <a:ea typeface="+mn-ea"/>
                      </a:endParaRP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2.</a:t>
                      </a:r>
                      <a:r>
                        <a:rPr lang="ko-KR" altLang="en-US" sz="950" kern="0" spc="0" dirty="0">
                          <a:solidFill>
                            <a:schemeClr val="tx1"/>
                          </a:solidFill>
                          <a:effectLst/>
                        </a:rPr>
                        <a:t>청구범위에는 특정 물질의 의약용도를 대상 질병 또는 약효로 명확히 기재하는 것이 원칙이나</a:t>
                      </a:r>
                      <a:r>
                        <a:rPr lang="en-US" altLang="ko-KR" sz="950" kern="0" spc="0" dirty="0">
                          <a:solidFill>
                            <a:schemeClr val="tx1"/>
                          </a:solidFill>
                          <a:effectLst/>
                        </a:rPr>
                        <a:t>, </a:t>
                      </a:r>
                      <a:r>
                        <a:rPr lang="ko-KR" altLang="en-US" sz="950" kern="0" spc="0" dirty="0">
                          <a:solidFill>
                            <a:schemeClr val="tx1"/>
                          </a:solidFill>
                          <a:effectLst/>
                        </a:rPr>
                        <a:t>특정 물질의 의약용도가 약리기전만으로 기재되어 있다 하더라도 명세서 등 발명의 설명의 다른 기재나 기술상식에 의하여 </a:t>
                      </a:r>
                      <a:r>
                        <a:rPr lang="ko-KR" altLang="en-US" sz="950" kern="0" spc="0" dirty="0" err="1">
                          <a:solidFill>
                            <a:schemeClr val="tx1"/>
                          </a:solidFill>
                          <a:effectLst/>
                        </a:rPr>
                        <a:t>의약으로서의</a:t>
                      </a:r>
                      <a:r>
                        <a:rPr lang="ko-KR" altLang="en-US" sz="950" kern="0" spc="0" dirty="0">
                          <a:solidFill>
                            <a:schemeClr val="tx1"/>
                          </a:solidFill>
                          <a:effectLst/>
                        </a:rPr>
                        <a:t> 구체적인 용도를 명확하게 파악할 수 있는 경우에는 적법</a:t>
                      </a: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3.</a:t>
                      </a:r>
                      <a:r>
                        <a:rPr lang="ko-KR" altLang="en-US" sz="950" kern="0" spc="0" dirty="0">
                          <a:solidFill>
                            <a:schemeClr val="tx1"/>
                          </a:solidFill>
                          <a:effectLst/>
                        </a:rPr>
                        <a:t>청구범위에 기재되어 있는 약리기전은 특정 물질이 가지고 있는 의약용도를 특정하는 한도 내에서만 발명의 구성요소로서 의미를 가질 뿐 약리기전 그 자체가 청구범위를 한정하는 구성요소는 아님</a:t>
                      </a: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4.</a:t>
                      </a:r>
                      <a:r>
                        <a:rPr lang="ko-KR" altLang="en-US" sz="950" kern="0" spc="0" dirty="0">
                          <a:solidFill>
                            <a:schemeClr val="tx1"/>
                          </a:solidFill>
                          <a:effectLst/>
                        </a:rPr>
                        <a:t>의약의 투여용법과 투여용량도 용도발명의 구성요소에 해당함</a:t>
                      </a:r>
                      <a:endParaRPr lang="ko-KR" altLang="en-US" sz="950" kern="0" spc="0" dirty="0">
                        <a:solidFill>
                          <a:schemeClr val="tx1"/>
                        </a:solidFill>
                        <a:effectLst/>
                        <a:latin typeface="+mn-ea"/>
                        <a:ea typeface="+mn-ea"/>
                      </a:endParaRP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5.</a:t>
                      </a:r>
                      <a:r>
                        <a:rPr lang="ko-KR" altLang="en-US" sz="950" kern="0" spc="0" dirty="0">
                          <a:solidFill>
                            <a:schemeClr val="tx1"/>
                          </a:solidFill>
                          <a:effectLst/>
                        </a:rPr>
                        <a:t>의약발명은 인체를 직접적인 구성요소로 하지 아니하기 때문에 산업상 이용가능성</a:t>
                      </a:r>
                      <a:r>
                        <a:rPr lang="en-US" altLang="ko-KR" sz="950" kern="0" spc="0" dirty="0">
                          <a:solidFill>
                            <a:schemeClr val="tx1"/>
                          </a:solidFill>
                          <a:effectLst/>
                        </a:rPr>
                        <a:t>(</a:t>
                      </a:r>
                      <a:r>
                        <a:rPr lang="ko-KR" altLang="en-US" sz="950" kern="0" spc="0" dirty="0">
                          <a:solidFill>
                            <a:schemeClr val="tx1"/>
                          </a:solidFill>
                          <a:effectLst/>
                        </a:rPr>
                        <a:t>法 </a:t>
                      </a:r>
                      <a:r>
                        <a:rPr lang="en-US" altLang="ko-KR" sz="950" kern="0" spc="0" dirty="0">
                          <a:solidFill>
                            <a:schemeClr val="tx1"/>
                          </a:solidFill>
                          <a:effectLst/>
                        </a:rPr>
                        <a:t>29</a:t>
                      </a:r>
                      <a:r>
                        <a:rPr lang="ko-KR" altLang="en-US" sz="950" kern="0" spc="0" dirty="0">
                          <a:solidFill>
                            <a:schemeClr val="tx1"/>
                          </a:solidFill>
                          <a:effectLst/>
                        </a:rPr>
                        <a:t>①본문</a:t>
                      </a:r>
                      <a:r>
                        <a:rPr lang="en-US" altLang="ko-KR" sz="950" kern="0" spc="0" dirty="0">
                          <a:solidFill>
                            <a:schemeClr val="tx1"/>
                          </a:solidFill>
                          <a:effectLst/>
                        </a:rPr>
                        <a:t>)</a:t>
                      </a:r>
                      <a:r>
                        <a:rPr lang="ko-KR" altLang="en-US" sz="950" kern="0" spc="0" dirty="0">
                          <a:solidFill>
                            <a:schemeClr val="tx1"/>
                          </a:solidFill>
                          <a:effectLst/>
                        </a:rPr>
                        <a:t>이 인정되고</a:t>
                      </a:r>
                      <a:r>
                        <a:rPr lang="en-US" altLang="ko-KR" sz="950" kern="0" spc="0" dirty="0">
                          <a:solidFill>
                            <a:schemeClr val="tx1"/>
                          </a:solidFill>
                          <a:effectLst/>
                        </a:rPr>
                        <a:t>, </a:t>
                      </a:r>
                      <a:r>
                        <a:rPr lang="ko-KR" altLang="en-US" sz="950" kern="0" spc="0" dirty="0">
                          <a:solidFill>
                            <a:schemeClr val="tx1"/>
                          </a:solidFill>
                          <a:effectLst/>
                        </a:rPr>
                        <a:t>그 발명을 실행할 때 필연적으로 신체를 손상하거나</a:t>
                      </a:r>
                      <a:r>
                        <a:rPr lang="en-US" altLang="ko-KR" sz="950" kern="0" spc="0" dirty="0">
                          <a:solidFill>
                            <a:schemeClr val="tx1"/>
                          </a:solidFill>
                          <a:effectLst/>
                        </a:rPr>
                        <a:t>, </a:t>
                      </a:r>
                      <a:r>
                        <a:rPr lang="ko-KR" altLang="en-US" sz="950" kern="0" spc="0" dirty="0">
                          <a:solidFill>
                            <a:schemeClr val="tx1"/>
                          </a:solidFill>
                          <a:effectLst/>
                        </a:rPr>
                        <a:t>신체의 자유를 비인도적으로 구속하지 아니하기 때문에 공서양속에 위반되거나 공중의 위생을 해칠 우려가 있는 발명</a:t>
                      </a:r>
                      <a:r>
                        <a:rPr lang="en-US" altLang="ko-KR" sz="950" kern="0" spc="0" dirty="0">
                          <a:solidFill>
                            <a:schemeClr val="tx1"/>
                          </a:solidFill>
                          <a:effectLst/>
                        </a:rPr>
                        <a:t>(</a:t>
                      </a:r>
                      <a:r>
                        <a:rPr lang="ko-KR" altLang="en-US" sz="950" kern="0" spc="0" dirty="0">
                          <a:solidFill>
                            <a:schemeClr val="tx1"/>
                          </a:solidFill>
                          <a:effectLst/>
                        </a:rPr>
                        <a:t>法 </a:t>
                      </a:r>
                      <a:r>
                        <a:rPr lang="en-US" altLang="ko-KR" sz="950" kern="0" spc="0" dirty="0">
                          <a:solidFill>
                            <a:schemeClr val="tx1"/>
                          </a:solidFill>
                          <a:effectLst/>
                        </a:rPr>
                        <a:t>32)</a:t>
                      </a:r>
                      <a:r>
                        <a:rPr lang="ko-KR" altLang="en-US" sz="950" kern="0" spc="0" dirty="0">
                          <a:solidFill>
                            <a:schemeClr val="tx1"/>
                          </a:solidFill>
                          <a:effectLst/>
                        </a:rPr>
                        <a:t>에 해당하지 않음</a:t>
                      </a:r>
                      <a:endParaRPr lang="en-US" altLang="ko-KR" sz="950" kern="0" spc="0" dirty="0">
                        <a:solidFill>
                          <a:schemeClr val="tx1"/>
                        </a:solidFill>
                        <a:effectLst/>
                      </a:endParaRP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6.</a:t>
                      </a:r>
                      <a:r>
                        <a:rPr lang="ko-KR" altLang="en-US" sz="950" kern="0" spc="0" dirty="0">
                          <a:solidFill>
                            <a:schemeClr val="tx1"/>
                          </a:solidFill>
                          <a:effectLst/>
                        </a:rPr>
                        <a:t>화학물질이나 의약품 등의 경우에는 통상의 기술자가 특허발명의 출원일 또는 우선권 주장일 전에 사용할 수 있었던 분석방법을 통해 과도한 노력을 기울이지 않고 그 조성이나 성분을 알 수 없었다면 비록 공연히 판매되었더라도 불특정다수인이 인식할 수 있는 상태였다고 볼 수 없어 신규성이 상실되지 아니함</a:t>
                      </a:r>
                      <a:endParaRPr lang="en-US" altLang="ko-KR" sz="950" kern="0" spc="0" dirty="0">
                        <a:solidFill>
                          <a:schemeClr val="tx1"/>
                        </a:solidFill>
                        <a:effectLst/>
                      </a:endParaRP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7.</a:t>
                      </a:r>
                      <a:r>
                        <a:rPr lang="ko-KR" altLang="en-US" sz="950" kern="0" spc="0" dirty="0">
                          <a:solidFill>
                            <a:schemeClr val="tx1"/>
                          </a:solidFill>
                          <a:effectLst/>
                        </a:rPr>
                        <a:t>특정한 투여용법이나 투여용량으로 인하여 나타난 유리한 효과가 통상의 기술자의 기술수준에서 예측되는 범위를 넘는 현저한 경우이거나 또는 통상의 기술자가 당해 의약발명의 약리효과가 온전히 유지되면서 독성이나 부작용이 최소화되는 특정한 투여용법이나 투여용량을 선행발명 또는 공지의 발명으로부터 예측할 수 없었던 경우에 진보성을 인정받을 수 있음</a:t>
                      </a:r>
                    </a:p>
                  </a:txBody>
                  <a:tcPr marL="47473" marR="47473" marT="23737" marB="23737" anchor="ctr"/>
                </a:tc>
                <a:extLst>
                  <a:ext uri="{0D108BD9-81ED-4DB2-BD59-A6C34878D82A}">
                    <a16:rowId xmlns:a16="http://schemas.microsoft.com/office/drawing/2014/main" val="10003"/>
                  </a:ext>
                </a:extLst>
              </a:tr>
              <a:tr h="826247">
                <a:tc rowSpan="3">
                  <a:txBody>
                    <a:bodyPr/>
                    <a:lstStyle/>
                    <a:p>
                      <a:pPr marL="0" marR="0" indent="0" algn="ctr" fontAlgn="base" latinLnBrk="0">
                        <a:lnSpc>
                          <a:spcPct val="100000"/>
                        </a:lnSpc>
                        <a:spcBef>
                          <a:spcPts val="0"/>
                        </a:spcBef>
                        <a:spcAft>
                          <a:spcPts val="0"/>
                        </a:spcAft>
                      </a:pPr>
                      <a:r>
                        <a:rPr lang="ko-KR" altLang="en-US" sz="950" kern="0" spc="0" dirty="0" err="1">
                          <a:effectLst/>
                        </a:rPr>
                        <a:t>특</a:t>
                      </a:r>
                      <a:endParaRPr lang="en-US" altLang="ko-KR" sz="950" kern="0" spc="0" dirty="0">
                        <a:effectLst/>
                      </a:endParaRPr>
                    </a:p>
                    <a:p>
                      <a:pPr marL="0" marR="0" indent="0" algn="ctr" fontAlgn="base" latinLnBrk="0">
                        <a:lnSpc>
                          <a:spcPct val="100000"/>
                        </a:lnSpc>
                        <a:spcBef>
                          <a:spcPts val="0"/>
                        </a:spcBef>
                        <a:spcAft>
                          <a:spcPts val="0"/>
                        </a:spcAft>
                      </a:pPr>
                      <a:r>
                        <a:rPr lang="ko-KR" altLang="en-US" sz="950" kern="0" spc="0" dirty="0">
                          <a:effectLst/>
                        </a:rPr>
                        <a:t>허</a:t>
                      </a:r>
                      <a:endParaRPr lang="en-US" altLang="ko-KR" sz="950" kern="0" spc="0" dirty="0">
                        <a:effectLst/>
                      </a:endParaRPr>
                    </a:p>
                    <a:p>
                      <a:pPr marL="0" marR="0" indent="0" algn="ctr" fontAlgn="base" latinLnBrk="0">
                        <a:lnSpc>
                          <a:spcPct val="100000"/>
                        </a:lnSpc>
                        <a:spcBef>
                          <a:spcPts val="0"/>
                        </a:spcBef>
                        <a:spcAft>
                          <a:spcPts val="0"/>
                        </a:spcAft>
                      </a:pPr>
                      <a:r>
                        <a:rPr lang="ko-KR" altLang="en-US" sz="950" kern="0" spc="0" dirty="0">
                          <a:effectLst/>
                        </a:rPr>
                        <a:t>권</a:t>
                      </a:r>
                      <a:endParaRPr lang="ko-KR" altLang="en-US" sz="950" b="1" kern="0" spc="0" dirty="0">
                        <a:solidFill>
                          <a:srgbClr val="000000"/>
                        </a:solidFill>
                        <a:effectLst/>
                        <a:latin typeface="+mn-ea"/>
                        <a:ea typeface="+mn-ea"/>
                      </a:endParaRPr>
                    </a:p>
                  </a:txBody>
                  <a:tcPr marL="47473" marR="47473" marT="23737" marB="23737" anchor="ctr"/>
                </a:tc>
                <a:tc>
                  <a:txBody>
                    <a:bodyPr/>
                    <a:lstStyle/>
                    <a:p>
                      <a:pPr marL="0" marR="0" indent="0" algn="ctr" fontAlgn="base" latinLnBrk="0">
                        <a:lnSpc>
                          <a:spcPct val="100000"/>
                        </a:lnSpc>
                        <a:spcBef>
                          <a:spcPts val="0"/>
                        </a:spcBef>
                        <a:spcAft>
                          <a:spcPts val="0"/>
                        </a:spcAft>
                      </a:pPr>
                      <a:r>
                        <a:rPr lang="ko-KR" altLang="en-US" sz="950" kern="0" spc="0">
                          <a:effectLst/>
                        </a:rPr>
                        <a:t>효력</a:t>
                      </a:r>
                      <a:endParaRPr lang="ko-KR" altLang="en-US" sz="950" b="1" kern="0" spc="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ko-KR" altLang="en-US" sz="950" kern="0" spc="0" dirty="0">
                          <a:solidFill>
                            <a:schemeClr val="tx1"/>
                          </a:solidFill>
                          <a:effectLst/>
                        </a:rPr>
                        <a:t>용도발명은 물건발명을 그대로 이용한 것이므로 </a:t>
                      </a:r>
                      <a:r>
                        <a:rPr lang="ko-KR" altLang="en-US" sz="950" kern="0" spc="0" dirty="0" err="1">
                          <a:solidFill>
                            <a:schemeClr val="tx1"/>
                          </a:solidFill>
                          <a:effectLst/>
                        </a:rPr>
                        <a:t>선출원되어</a:t>
                      </a:r>
                      <a:r>
                        <a:rPr lang="ko-KR" altLang="en-US" sz="950" kern="0" spc="0" dirty="0">
                          <a:solidFill>
                            <a:schemeClr val="tx1"/>
                          </a:solidFill>
                          <a:effectLst/>
                        </a:rPr>
                        <a:t> </a:t>
                      </a:r>
                      <a:r>
                        <a:rPr lang="ko-KR" altLang="en-US" sz="950" kern="0" spc="0" dirty="0" err="1">
                          <a:solidFill>
                            <a:schemeClr val="tx1"/>
                          </a:solidFill>
                          <a:effectLst/>
                        </a:rPr>
                        <a:t>특허된</a:t>
                      </a:r>
                      <a:r>
                        <a:rPr lang="ko-KR" altLang="en-US" sz="950" kern="0" spc="0" dirty="0">
                          <a:solidFill>
                            <a:schemeClr val="tx1"/>
                          </a:solidFill>
                          <a:effectLst/>
                        </a:rPr>
                        <a:t> 물건발명과 이용관계임 → 용도발명의 특허권자는 물건발명의 특허권자의 허락을 받거나</a:t>
                      </a:r>
                      <a:r>
                        <a:rPr lang="en-US" altLang="ko-KR" sz="950" kern="0" spc="0" dirty="0">
                          <a:solidFill>
                            <a:schemeClr val="tx1"/>
                          </a:solidFill>
                          <a:effectLst/>
                        </a:rPr>
                        <a:t>(</a:t>
                      </a:r>
                      <a:r>
                        <a:rPr lang="ko-KR" altLang="en-US" sz="950" kern="0" spc="0" dirty="0">
                          <a:solidFill>
                            <a:schemeClr val="tx1"/>
                          </a:solidFill>
                          <a:effectLst/>
                        </a:rPr>
                        <a:t>法 </a:t>
                      </a:r>
                      <a:r>
                        <a:rPr lang="en-US" altLang="ko-KR" sz="950" kern="0" spc="0" dirty="0">
                          <a:solidFill>
                            <a:schemeClr val="tx1"/>
                          </a:solidFill>
                          <a:effectLst/>
                        </a:rPr>
                        <a:t>98), </a:t>
                      </a:r>
                      <a:r>
                        <a:rPr lang="ko-KR" altLang="en-US" sz="950" kern="0" spc="0" dirty="0" err="1">
                          <a:solidFill>
                            <a:schemeClr val="tx1"/>
                          </a:solidFill>
                          <a:effectLst/>
                        </a:rPr>
                        <a:t>통상실시권허여심판</a:t>
                      </a:r>
                      <a:r>
                        <a:rPr lang="en-US" altLang="ko-KR" sz="950" kern="0" spc="0" dirty="0">
                          <a:solidFill>
                            <a:schemeClr val="tx1"/>
                          </a:solidFill>
                          <a:effectLst/>
                        </a:rPr>
                        <a:t>(</a:t>
                      </a:r>
                      <a:r>
                        <a:rPr lang="ko-KR" altLang="en-US" sz="950" kern="0" spc="0" dirty="0">
                          <a:solidFill>
                            <a:schemeClr val="tx1"/>
                          </a:solidFill>
                          <a:effectLst/>
                        </a:rPr>
                        <a:t>法 </a:t>
                      </a:r>
                      <a:r>
                        <a:rPr lang="en-US" altLang="ko-KR" sz="950" kern="0" spc="0" dirty="0">
                          <a:solidFill>
                            <a:schemeClr val="tx1"/>
                          </a:solidFill>
                          <a:effectLst/>
                        </a:rPr>
                        <a:t>138)</a:t>
                      </a:r>
                      <a:r>
                        <a:rPr lang="ko-KR" altLang="en-US" sz="950" kern="0" spc="0" dirty="0">
                          <a:solidFill>
                            <a:schemeClr val="tx1"/>
                          </a:solidFill>
                          <a:effectLst/>
                        </a:rPr>
                        <a:t>에 의하지 아니하고는 용도발명을 실시 不可</a:t>
                      </a:r>
                      <a:endParaRPr lang="ko-KR" altLang="en-US" sz="950" kern="0" spc="0" dirty="0">
                        <a:solidFill>
                          <a:schemeClr val="tx1"/>
                        </a:solidFill>
                        <a:effectLst/>
                        <a:latin typeface="+mn-ea"/>
                        <a:ea typeface="+mn-ea"/>
                      </a:endParaRPr>
                    </a:p>
                  </a:txBody>
                  <a:tcPr marL="47473" marR="47473" marT="23737" marB="23737" anchor="ctr"/>
                </a:tc>
                <a:tc>
                  <a:txBody>
                    <a:bodyPr/>
                    <a:lstStyle/>
                    <a:p>
                      <a:pPr marL="73660" marR="0" indent="-73660" algn="just" fontAlgn="base" latinLnBrk="1">
                        <a:lnSpc>
                          <a:spcPct val="100000"/>
                        </a:lnSpc>
                        <a:spcBef>
                          <a:spcPts val="0"/>
                        </a:spcBef>
                        <a:spcAft>
                          <a:spcPts val="0"/>
                        </a:spcAft>
                      </a:pPr>
                      <a:r>
                        <a:rPr lang="en-US" altLang="ko-KR" sz="950" kern="0" spc="0" dirty="0">
                          <a:solidFill>
                            <a:schemeClr val="tx1"/>
                          </a:solidFill>
                          <a:effectLst/>
                        </a:rPr>
                        <a:t>1.</a:t>
                      </a:r>
                      <a:r>
                        <a:rPr lang="ko-KR" altLang="en-US" sz="950" kern="0" spc="0" dirty="0">
                          <a:solidFill>
                            <a:schemeClr val="tx1"/>
                          </a:solidFill>
                          <a:effectLst/>
                        </a:rPr>
                        <a:t>「약사법」에 따른 의약품의 </a:t>
                      </a:r>
                      <a:r>
                        <a:rPr lang="ko-KR" altLang="en-US" sz="950" kern="0" spc="0" dirty="0" err="1">
                          <a:solidFill>
                            <a:schemeClr val="tx1"/>
                          </a:solidFill>
                          <a:effectLst/>
                        </a:rPr>
                        <a:t>품목허가ㆍ품목신고를</a:t>
                      </a:r>
                      <a:r>
                        <a:rPr lang="ko-KR" altLang="en-US" sz="950" kern="0" spc="0" dirty="0">
                          <a:solidFill>
                            <a:schemeClr val="tx1"/>
                          </a:solidFill>
                          <a:effectLst/>
                        </a:rPr>
                        <a:t> 위한 연구 또는 시험의 경우에는 특허권의 효력이 미치지 아니함</a:t>
                      </a:r>
                      <a:r>
                        <a:rPr lang="en-US" altLang="ko-KR" sz="950" kern="0" spc="0" dirty="0">
                          <a:solidFill>
                            <a:schemeClr val="tx1"/>
                          </a:solidFill>
                          <a:effectLst/>
                        </a:rPr>
                        <a:t>(</a:t>
                      </a:r>
                      <a:r>
                        <a:rPr lang="ko-KR" altLang="en-US" sz="950" kern="0" spc="0" dirty="0">
                          <a:solidFill>
                            <a:schemeClr val="tx1"/>
                          </a:solidFill>
                          <a:effectLst/>
                        </a:rPr>
                        <a:t>法 </a:t>
                      </a:r>
                      <a:r>
                        <a:rPr lang="en-US" altLang="ko-KR" sz="950" kern="0" spc="0" dirty="0">
                          <a:solidFill>
                            <a:schemeClr val="tx1"/>
                          </a:solidFill>
                          <a:effectLst/>
                        </a:rPr>
                        <a:t>96</a:t>
                      </a:r>
                      <a:r>
                        <a:rPr lang="ko-KR" altLang="en-US" sz="950" kern="0" spc="0" dirty="0">
                          <a:solidFill>
                            <a:schemeClr val="tx1"/>
                          </a:solidFill>
                          <a:effectLst/>
                        </a:rPr>
                        <a:t>①</a:t>
                      </a:r>
                      <a:r>
                        <a:rPr lang="en-US" altLang="ko-KR" sz="950" kern="0" spc="0" dirty="0">
                          <a:solidFill>
                            <a:schemeClr val="tx1"/>
                          </a:solidFill>
                          <a:effectLst/>
                        </a:rPr>
                        <a:t>Ⅰ)</a:t>
                      </a:r>
                      <a:endParaRPr lang="ko-KR" altLang="en-US" sz="950" kern="0" spc="0" dirty="0">
                        <a:solidFill>
                          <a:schemeClr val="tx1"/>
                        </a:solidFill>
                        <a:effectLst/>
                      </a:endParaRP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2.</a:t>
                      </a:r>
                      <a:r>
                        <a:rPr lang="ko-KR" altLang="en-US" sz="950" kern="0" spc="0" dirty="0">
                          <a:solidFill>
                            <a:schemeClr val="tx1"/>
                          </a:solidFill>
                          <a:effectLst/>
                        </a:rPr>
                        <a:t>둘 이상의 의약</a:t>
                      </a:r>
                      <a:r>
                        <a:rPr lang="en-US" altLang="ko-KR" sz="950" kern="0" spc="0" dirty="0">
                          <a:solidFill>
                            <a:schemeClr val="tx1"/>
                          </a:solidFill>
                          <a:effectLst/>
                        </a:rPr>
                        <a:t>[</a:t>
                      </a:r>
                      <a:r>
                        <a:rPr lang="ko-KR" altLang="en-US" sz="950" kern="0" spc="0" dirty="0">
                          <a:solidFill>
                            <a:schemeClr val="tx1"/>
                          </a:solidFill>
                          <a:effectLst/>
                        </a:rPr>
                        <a:t>사람의 질병의 진단</a:t>
                      </a:r>
                      <a:r>
                        <a:rPr lang="en-US" altLang="ko-KR" sz="950" kern="0" spc="0" dirty="0">
                          <a:solidFill>
                            <a:schemeClr val="tx1"/>
                          </a:solidFill>
                          <a:effectLst/>
                        </a:rPr>
                        <a:t>·</a:t>
                      </a:r>
                      <a:r>
                        <a:rPr lang="ko-KR" altLang="en-US" sz="950" kern="0" spc="0" dirty="0">
                          <a:solidFill>
                            <a:schemeClr val="tx1"/>
                          </a:solidFill>
                          <a:effectLst/>
                        </a:rPr>
                        <a:t>경감</a:t>
                      </a:r>
                      <a:r>
                        <a:rPr lang="en-US" altLang="ko-KR" sz="950" kern="0" spc="0" dirty="0">
                          <a:solidFill>
                            <a:schemeClr val="tx1"/>
                          </a:solidFill>
                          <a:effectLst/>
                        </a:rPr>
                        <a:t>·</a:t>
                      </a:r>
                      <a:r>
                        <a:rPr lang="ko-KR" altLang="en-US" sz="950" kern="0" spc="0" dirty="0">
                          <a:solidFill>
                            <a:schemeClr val="tx1"/>
                          </a:solidFill>
                          <a:effectLst/>
                        </a:rPr>
                        <a:t>치료</a:t>
                      </a:r>
                      <a:r>
                        <a:rPr lang="en-US" altLang="ko-KR" sz="950" kern="0" spc="0" dirty="0">
                          <a:solidFill>
                            <a:schemeClr val="tx1"/>
                          </a:solidFill>
                          <a:effectLst/>
                        </a:rPr>
                        <a:t>·</a:t>
                      </a:r>
                      <a:r>
                        <a:rPr lang="ko-KR" altLang="en-US" sz="950" kern="0" spc="0" dirty="0">
                          <a:solidFill>
                            <a:schemeClr val="tx1"/>
                          </a:solidFill>
                          <a:effectLst/>
                        </a:rPr>
                        <a:t>처치</a:t>
                      </a:r>
                      <a:r>
                        <a:rPr lang="en-US" altLang="ko-KR" sz="950" kern="0" spc="0" dirty="0">
                          <a:solidFill>
                            <a:schemeClr val="tx1"/>
                          </a:solidFill>
                          <a:effectLst/>
                        </a:rPr>
                        <a:t>(</a:t>
                      </a:r>
                      <a:r>
                        <a:rPr lang="ko-KR" altLang="en-US" sz="950" kern="0" spc="0" dirty="0">
                          <a:solidFill>
                            <a:schemeClr val="tx1"/>
                          </a:solidFill>
                          <a:effectLst/>
                        </a:rPr>
                        <a:t>處置</a:t>
                      </a:r>
                      <a:r>
                        <a:rPr lang="en-US" altLang="ko-KR" sz="950" kern="0" spc="0" dirty="0">
                          <a:solidFill>
                            <a:schemeClr val="tx1"/>
                          </a:solidFill>
                          <a:effectLst/>
                        </a:rPr>
                        <a:t>) </a:t>
                      </a:r>
                      <a:r>
                        <a:rPr lang="ko-KR" altLang="en-US" sz="950" kern="0" spc="0" dirty="0">
                          <a:solidFill>
                            <a:schemeClr val="tx1"/>
                          </a:solidFill>
                          <a:effectLst/>
                        </a:rPr>
                        <a:t>또는 예방을 위하여 사용되는 물건을 말한다</a:t>
                      </a:r>
                      <a:r>
                        <a:rPr lang="en-US" altLang="ko-KR" sz="950" kern="0" spc="0" dirty="0">
                          <a:solidFill>
                            <a:schemeClr val="tx1"/>
                          </a:solidFill>
                          <a:effectLst/>
                        </a:rPr>
                        <a:t>. </a:t>
                      </a:r>
                      <a:r>
                        <a:rPr lang="ko-KR" altLang="en-US" sz="950" kern="0" spc="0" dirty="0">
                          <a:solidFill>
                            <a:schemeClr val="tx1"/>
                          </a:solidFill>
                          <a:effectLst/>
                        </a:rPr>
                        <a:t>이하 같다</a:t>
                      </a:r>
                      <a:r>
                        <a:rPr lang="en-US" altLang="ko-KR" sz="950" kern="0" spc="0" dirty="0">
                          <a:solidFill>
                            <a:schemeClr val="tx1"/>
                          </a:solidFill>
                          <a:effectLst/>
                        </a:rPr>
                        <a:t>]</a:t>
                      </a:r>
                      <a:r>
                        <a:rPr lang="ko-KR" altLang="en-US" sz="950" kern="0" spc="0" dirty="0">
                          <a:solidFill>
                            <a:schemeClr val="tx1"/>
                          </a:solidFill>
                          <a:effectLst/>
                        </a:rPr>
                        <a:t>이 혼합되어 제조되는 의약의 발명 또는 둘 이상의 의약을 혼합하여 의약을 제조하는 방법의 발명에 관한 특허권의 효력은 「약사법」에 따른 조제행위와 그 조제에 의한 의약에는 미치지 아니함</a:t>
                      </a:r>
                      <a:r>
                        <a:rPr lang="en-US" altLang="ko-KR" sz="950" kern="0" spc="0" dirty="0">
                          <a:solidFill>
                            <a:schemeClr val="tx1"/>
                          </a:solidFill>
                          <a:effectLst/>
                        </a:rPr>
                        <a:t>(</a:t>
                      </a:r>
                      <a:r>
                        <a:rPr lang="ko-KR" altLang="en-US" sz="950" kern="0" spc="0" dirty="0">
                          <a:solidFill>
                            <a:schemeClr val="tx1"/>
                          </a:solidFill>
                          <a:effectLst/>
                        </a:rPr>
                        <a:t>法 </a:t>
                      </a:r>
                      <a:r>
                        <a:rPr lang="en-US" altLang="ko-KR" sz="950" kern="0" spc="0" dirty="0">
                          <a:solidFill>
                            <a:schemeClr val="tx1"/>
                          </a:solidFill>
                          <a:effectLst/>
                        </a:rPr>
                        <a:t>96</a:t>
                      </a:r>
                      <a:r>
                        <a:rPr lang="ko-KR" altLang="en-US" sz="950" kern="0" spc="0" dirty="0">
                          <a:solidFill>
                            <a:schemeClr val="tx1"/>
                          </a:solidFill>
                          <a:effectLst/>
                        </a:rPr>
                        <a:t>②</a:t>
                      </a:r>
                      <a:r>
                        <a:rPr lang="en-US" altLang="ko-KR" sz="950" kern="0" spc="0" dirty="0">
                          <a:solidFill>
                            <a:schemeClr val="tx1"/>
                          </a:solidFill>
                          <a:effectLst/>
                        </a:rPr>
                        <a:t>).</a:t>
                      </a:r>
                      <a:endParaRPr lang="ko-KR" altLang="en-US" sz="950" kern="0" spc="0" dirty="0">
                        <a:solidFill>
                          <a:schemeClr val="tx1"/>
                        </a:solidFill>
                        <a:effectLst/>
                      </a:endParaRP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3.</a:t>
                      </a:r>
                      <a:r>
                        <a:rPr lang="ko-KR" altLang="en-US" sz="950" kern="0" spc="0" dirty="0">
                          <a:solidFill>
                            <a:schemeClr val="tx1"/>
                          </a:solidFill>
                          <a:effectLst/>
                        </a:rPr>
                        <a:t>특허발명을 실시하려는 자는 수입국에 그 의약품을 수출할 수 있도록 특허발명을 실시할 필요가 있는 경우에 그 특허발명의 특허권자 또는 </a:t>
                      </a:r>
                      <a:r>
                        <a:rPr lang="ko-KR" altLang="en-US" sz="950" kern="0" spc="0" dirty="0" err="1">
                          <a:solidFill>
                            <a:schemeClr val="tx1"/>
                          </a:solidFill>
                          <a:effectLst/>
                        </a:rPr>
                        <a:t>전용실시권자와</a:t>
                      </a:r>
                      <a:r>
                        <a:rPr lang="ko-KR" altLang="en-US" sz="950" kern="0" spc="0" dirty="0">
                          <a:solidFill>
                            <a:schemeClr val="tx1"/>
                          </a:solidFill>
                          <a:effectLst/>
                        </a:rPr>
                        <a:t> 합리적인 조건으로 통상실시권 허락에 관한 협의를 하였으나 합의가 이루어지지 아니하는 경우 또는 협의를 할 수 없는 경우에는 지식재산처장에게 통상실시권 설정에 관한 재정을 청구할 수 있다</a:t>
                      </a:r>
                      <a:r>
                        <a:rPr lang="en-US" altLang="ko-KR" sz="950" kern="0" spc="0" dirty="0">
                          <a:solidFill>
                            <a:schemeClr val="tx1"/>
                          </a:solidFill>
                          <a:effectLst/>
                        </a:rPr>
                        <a:t>(</a:t>
                      </a:r>
                      <a:r>
                        <a:rPr lang="ko-KR" altLang="en-US" sz="950" kern="0" spc="0" dirty="0">
                          <a:solidFill>
                            <a:schemeClr val="tx1"/>
                          </a:solidFill>
                          <a:effectLst/>
                        </a:rPr>
                        <a:t>法 </a:t>
                      </a:r>
                      <a:r>
                        <a:rPr lang="en-US" altLang="ko-KR" sz="950" kern="0" spc="0" dirty="0">
                          <a:solidFill>
                            <a:schemeClr val="tx1"/>
                          </a:solidFill>
                          <a:effectLst/>
                        </a:rPr>
                        <a:t>107).</a:t>
                      </a:r>
                      <a:endParaRPr lang="ko-KR" altLang="en-US" sz="950" kern="0" spc="0" dirty="0">
                        <a:solidFill>
                          <a:schemeClr val="tx1"/>
                        </a:solidFill>
                        <a:effectLst/>
                        <a:latin typeface="+mn-ea"/>
                        <a:ea typeface="+mn-ea"/>
                      </a:endParaRPr>
                    </a:p>
                  </a:txBody>
                  <a:tcPr marL="47473" marR="47473" marT="23737" marB="23737" anchor="ctr"/>
                </a:tc>
                <a:extLst>
                  <a:ext uri="{0D108BD9-81ED-4DB2-BD59-A6C34878D82A}">
                    <a16:rowId xmlns:a16="http://schemas.microsoft.com/office/drawing/2014/main" val="10005"/>
                  </a:ext>
                </a:extLst>
              </a:tr>
              <a:tr h="149726">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950" kern="0" spc="0">
                          <a:effectLst/>
                        </a:rPr>
                        <a:t>제한</a:t>
                      </a:r>
                      <a:endParaRPr lang="ko-KR" altLang="en-US" sz="950" b="1" kern="0" spc="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endParaRPr lang="ko-KR" altLang="en-US" sz="950" kern="0" spc="0">
                        <a:solidFill>
                          <a:schemeClr val="tx1"/>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endParaRPr lang="ko-KR" altLang="en-US" sz="950" kern="0" spc="0" dirty="0">
                        <a:solidFill>
                          <a:schemeClr val="tx1"/>
                        </a:solidFill>
                        <a:effectLst/>
                        <a:latin typeface="+mn-ea"/>
                        <a:ea typeface="+mn-ea"/>
                      </a:endParaRPr>
                    </a:p>
                  </a:txBody>
                  <a:tcPr marL="47473" marR="47473" marT="23737" marB="23737" anchor="ctr"/>
                </a:tc>
                <a:extLst>
                  <a:ext uri="{0D108BD9-81ED-4DB2-BD59-A6C34878D82A}">
                    <a16:rowId xmlns:a16="http://schemas.microsoft.com/office/drawing/2014/main" val="10006"/>
                  </a:ext>
                </a:extLst>
              </a:tr>
              <a:tr h="375233">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950" kern="0" spc="0">
                          <a:effectLst/>
                        </a:rPr>
                        <a:t>확장</a:t>
                      </a:r>
                      <a:endParaRPr lang="ko-KR" altLang="en-US" sz="950" b="1" kern="0" spc="0">
                        <a:solidFill>
                          <a:srgbClr val="000000"/>
                        </a:solidFill>
                        <a:effectLst/>
                        <a:latin typeface="+mn-ea"/>
                        <a:ea typeface="+mn-ea"/>
                      </a:endParaRPr>
                    </a:p>
                  </a:txBody>
                  <a:tcPr marL="47473" marR="47473" marT="23737" marB="23737" anchor="ctr"/>
                </a:tc>
                <a:tc>
                  <a:txBody>
                    <a:bodyPr/>
                    <a:lstStyle/>
                    <a:p>
                      <a:pPr marL="73660" marR="0" indent="-73660" algn="just" fontAlgn="base" latinLnBrk="1">
                        <a:lnSpc>
                          <a:spcPct val="100000"/>
                        </a:lnSpc>
                        <a:spcBef>
                          <a:spcPts val="0"/>
                        </a:spcBef>
                        <a:spcAft>
                          <a:spcPts val="0"/>
                        </a:spcAft>
                      </a:pPr>
                      <a:r>
                        <a:rPr lang="en-US" altLang="ko-KR" sz="950" kern="0" spc="0">
                          <a:solidFill>
                            <a:schemeClr val="tx1"/>
                          </a:solidFill>
                          <a:effectLst/>
                        </a:rPr>
                        <a:t>1.</a:t>
                      </a:r>
                      <a:r>
                        <a:rPr lang="ko-KR" altLang="en-US" sz="950" kern="0" spc="0">
                          <a:solidFill>
                            <a:schemeClr val="tx1"/>
                          </a:solidFill>
                          <a:effectLst/>
                        </a:rPr>
                        <a:t>허가 등에 따른 존속기간의 연장가능</a:t>
                      </a:r>
                    </a:p>
                    <a:p>
                      <a:pPr marL="73660" marR="0" indent="-73660" algn="just" fontAlgn="base" latinLnBrk="1">
                        <a:lnSpc>
                          <a:spcPct val="100000"/>
                        </a:lnSpc>
                        <a:spcBef>
                          <a:spcPts val="0"/>
                        </a:spcBef>
                        <a:spcAft>
                          <a:spcPts val="0"/>
                        </a:spcAft>
                      </a:pPr>
                      <a:r>
                        <a:rPr lang="en-US" altLang="ko-KR" sz="950" kern="0" spc="0">
                          <a:solidFill>
                            <a:schemeClr val="tx1"/>
                          </a:solidFill>
                          <a:effectLst/>
                        </a:rPr>
                        <a:t>2.</a:t>
                      </a:r>
                      <a:r>
                        <a:rPr lang="ko-KR" altLang="en-US" sz="950" kern="0" spc="0">
                          <a:solidFill>
                            <a:schemeClr val="tx1"/>
                          </a:solidFill>
                          <a:effectLst/>
                        </a:rPr>
                        <a:t>연장등록된 특허권의 효력은 용도에 사용되는 물건에 관한 그 특허발명의 실시 행위에만 미침</a:t>
                      </a:r>
                      <a:endParaRPr lang="ko-KR" altLang="en-US" sz="950" kern="0" spc="0">
                        <a:solidFill>
                          <a:schemeClr val="tx1"/>
                        </a:solidFill>
                        <a:effectLst/>
                        <a:latin typeface="+mn-ea"/>
                        <a:ea typeface="+mn-ea"/>
                      </a:endParaRPr>
                    </a:p>
                  </a:txBody>
                  <a:tcPr marL="47473" marR="47473" marT="23737" marB="23737" anchor="ctr"/>
                </a:tc>
                <a:tc>
                  <a:txBody>
                    <a:bodyPr/>
                    <a:lstStyle/>
                    <a:p>
                      <a:pPr marL="73660" marR="0" indent="-73660" algn="just" fontAlgn="base" latinLnBrk="1">
                        <a:lnSpc>
                          <a:spcPct val="100000"/>
                        </a:lnSpc>
                        <a:spcBef>
                          <a:spcPts val="0"/>
                        </a:spcBef>
                        <a:spcAft>
                          <a:spcPts val="0"/>
                        </a:spcAft>
                      </a:pPr>
                      <a:r>
                        <a:rPr lang="en-US" altLang="ko-KR" sz="950" kern="0" spc="0" dirty="0">
                          <a:solidFill>
                            <a:schemeClr val="tx1"/>
                          </a:solidFill>
                          <a:effectLst/>
                        </a:rPr>
                        <a:t>1.</a:t>
                      </a:r>
                      <a:r>
                        <a:rPr lang="ko-KR" altLang="en-US" sz="950" kern="0" spc="0" dirty="0">
                          <a:solidFill>
                            <a:schemeClr val="tx1"/>
                          </a:solidFill>
                          <a:effectLst/>
                        </a:rPr>
                        <a:t>허가 등에 따른 존속기간의 연장가능</a:t>
                      </a: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2.</a:t>
                      </a:r>
                      <a:r>
                        <a:rPr lang="ko-KR" altLang="en-US" sz="950" kern="0" spc="0" dirty="0" err="1">
                          <a:solidFill>
                            <a:schemeClr val="tx1"/>
                          </a:solidFill>
                          <a:effectLst/>
                        </a:rPr>
                        <a:t>연장등록된</a:t>
                      </a:r>
                      <a:r>
                        <a:rPr lang="ko-KR" altLang="en-US" sz="950" kern="0" spc="0" dirty="0">
                          <a:solidFill>
                            <a:schemeClr val="tx1"/>
                          </a:solidFill>
                          <a:effectLst/>
                        </a:rPr>
                        <a:t> 특허권의 효력은 용도에 사용되는 물건에 관한 그 특허발명의 실시 행위에만 미침</a:t>
                      </a:r>
                      <a:endParaRPr lang="ko-KR" altLang="en-US" sz="950" kern="0" spc="0" dirty="0">
                        <a:solidFill>
                          <a:schemeClr val="tx1"/>
                        </a:solidFill>
                        <a:effectLst/>
                        <a:latin typeface="+mn-ea"/>
                        <a:ea typeface="+mn-ea"/>
                      </a:endParaRPr>
                    </a:p>
                  </a:txBody>
                  <a:tcPr marL="47473" marR="47473" marT="23737" marB="23737" anchor="ctr"/>
                </a:tc>
                <a:extLst>
                  <a:ext uri="{0D108BD9-81ED-4DB2-BD59-A6C34878D82A}">
                    <a16:rowId xmlns:a16="http://schemas.microsoft.com/office/drawing/2014/main" val="10007"/>
                  </a:ext>
                </a:extLst>
              </a:tr>
            </a:tbl>
          </a:graphicData>
        </a:graphic>
      </p:graphicFrame>
      <p:sp>
        <p:nvSpPr>
          <p:cNvPr id="3" name="슬라이드 번호 개체 틀 2"/>
          <p:cNvSpPr>
            <a:spLocks noGrp="1"/>
          </p:cNvSpPr>
          <p:nvPr>
            <p:ph type="sldNum" sz="quarter" idx="12"/>
          </p:nvPr>
        </p:nvSpPr>
        <p:spPr/>
        <p:txBody>
          <a:bodyPr/>
          <a:lstStyle/>
          <a:p>
            <a:fld id="{3875FC6C-1516-4DC4-8C58-3090F7D4F003}" type="slidenum">
              <a:rPr lang="ko-KR" altLang="en-US" smtClean="0"/>
              <a:t>49</a:t>
            </a:fld>
            <a:endParaRPr lang="ko-KR" altLang="en-US"/>
          </a:p>
        </p:txBody>
      </p:sp>
    </p:spTree>
    <p:extLst>
      <p:ext uri="{BB962C8B-B14F-4D97-AF65-F5344CB8AC3E}">
        <p14:creationId xmlns:p14="http://schemas.microsoft.com/office/powerpoint/2010/main" val="17931135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제목 1"/>
          <p:cNvSpPr>
            <a:spLocks noGrp="1"/>
          </p:cNvSpPr>
          <p:nvPr>
            <p:ph type="title"/>
          </p:nvPr>
        </p:nvSpPr>
        <p:spPr/>
        <p:txBody>
          <a:bodyPr/>
          <a:lstStyle/>
          <a:p>
            <a:r>
              <a:rPr lang="ko-KR" altLang="en-US" dirty="0"/>
              <a:t>참고노트</a:t>
            </a:r>
          </a:p>
        </p:txBody>
      </p:sp>
      <p:sp>
        <p:nvSpPr>
          <p:cNvPr id="4" name="텍스트 개체 틀 3"/>
          <p:cNvSpPr>
            <a:spLocks noGrp="1"/>
          </p:cNvSpPr>
          <p:nvPr>
            <p:ph type="body" sz="quarter" idx="13"/>
          </p:nvPr>
        </p:nvSpPr>
        <p:spPr/>
        <p:txBody>
          <a:bodyPr/>
          <a:lstStyle/>
          <a:p>
            <a:r>
              <a:rPr lang="ko-KR" altLang="en-US" dirty="0" err="1"/>
              <a:t>성립성이</a:t>
            </a:r>
            <a:r>
              <a:rPr lang="ko-KR" altLang="en-US" dirty="0"/>
              <a:t> 문제되는 발명</a:t>
            </a:r>
          </a:p>
        </p:txBody>
      </p:sp>
      <p:graphicFrame>
        <p:nvGraphicFramePr>
          <p:cNvPr id="5" name="표 4"/>
          <p:cNvGraphicFramePr>
            <a:graphicFrameLocks noGrp="1"/>
          </p:cNvGraphicFramePr>
          <p:nvPr>
            <p:extLst>
              <p:ext uri="{D42A27DB-BD31-4B8C-83A1-F6EECF244321}">
                <p14:modId xmlns:p14="http://schemas.microsoft.com/office/powerpoint/2010/main" val="3987867485"/>
              </p:ext>
            </p:extLst>
          </p:nvPr>
        </p:nvGraphicFramePr>
        <p:xfrm>
          <a:off x="334107" y="981875"/>
          <a:ext cx="11535509" cy="5197780"/>
        </p:xfrm>
        <a:graphic>
          <a:graphicData uri="http://schemas.openxmlformats.org/drawingml/2006/table">
            <a:tbl>
              <a:tblPr>
                <a:tableStyleId>{8799B23B-EC83-4686-B30A-512413B5E67A}</a:tableStyleId>
              </a:tblPr>
              <a:tblGrid>
                <a:gridCol w="386861">
                  <a:extLst>
                    <a:ext uri="{9D8B030D-6E8A-4147-A177-3AD203B41FA5}">
                      <a16:colId xmlns:a16="http://schemas.microsoft.com/office/drawing/2014/main" val="20000"/>
                    </a:ext>
                  </a:extLst>
                </a:gridCol>
                <a:gridCol w="322190">
                  <a:extLst>
                    <a:ext uri="{9D8B030D-6E8A-4147-A177-3AD203B41FA5}">
                      <a16:colId xmlns:a16="http://schemas.microsoft.com/office/drawing/2014/main" val="20001"/>
                    </a:ext>
                  </a:extLst>
                </a:gridCol>
                <a:gridCol w="3147842">
                  <a:extLst>
                    <a:ext uri="{9D8B030D-6E8A-4147-A177-3AD203B41FA5}">
                      <a16:colId xmlns:a16="http://schemas.microsoft.com/office/drawing/2014/main" val="20004"/>
                    </a:ext>
                  </a:extLst>
                </a:gridCol>
                <a:gridCol w="4802698">
                  <a:extLst>
                    <a:ext uri="{9D8B030D-6E8A-4147-A177-3AD203B41FA5}">
                      <a16:colId xmlns:a16="http://schemas.microsoft.com/office/drawing/2014/main" val="20005"/>
                    </a:ext>
                  </a:extLst>
                </a:gridCol>
                <a:gridCol w="2875918">
                  <a:extLst>
                    <a:ext uri="{9D8B030D-6E8A-4147-A177-3AD203B41FA5}">
                      <a16:colId xmlns:a16="http://schemas.microsoft.com/office/drawing/2014/main" val="20006"/>
                    </a:ext>
                  </a:extLst>
                </a:gridCol>
              </a:tblGrid>
              <a:tr h="200711">
                <a:tc gridSpan="2">
                  <a:txBody>
                    <a:bodyPr/>
                    <a:lstStyle/>
                    <a:p>
                      <a:pPr marL="0" marR="0" indent="0" algn="ctr" fontAlgn="base" latinLnBrk="0">
                        <a:lnSpc>
                          <a:spcPct val="100000"/>
                        </a:lnSpc>
                        <a:spcBef>
                          <a:spcPts val="0"/>
                        </a:spcBef>
                        <a:spcAft>
                          <a:spcPts val="0"/>
                        </a:spcAft>
                      </a:pPr>
                      <a:r>
                        <a:rPr lang="ko-KR" altLang="en-US" sz="950" b="1" kern="0" spc="0" dirty="0">
                          <a:effectLst/>
                        </a:rPr>
                        <a:t>　</a:t>
                      </a:r>
                      <a:endParaRPr lang="ko-KR" altLang="en-US" sz="950" b="1" kern="0" spc="0" dirty="0">
                        <a:solidFill>
                          <a:srgbClr val="000000"/>
                        </a:solidFill>
                        <a:effectLst/>
                        <a:latin typeface="+mn-ea"/>
                        <a:ea typeface="+mn-ea"/>
                      </a:endParaRPr>
                    </a:p>
                  </a:txBody>
                  <a:tcPr marL="47473" marR="47473" marT="23737" marB="23737" anchor="ctr">
                    <a:solidFill>
                      <a:schemeClr val="accent1">
                        <a:lumMod val="20000"/>
                        <a:lumOff val="80000"/>
                      </a:schemeClr>
                    </a:solidFill>
                  </a:tcPr>
                </a:tc>
                <a:tc h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950" b="1" kern="0" spc="0" dirty="0">
                          <a:effectLst/>
                        </a:rPr>
                        <a:t>전자상거래 관련 발명</a:t>
                      </a:r>
                      <a:endParaRPr lang="ko-KR" altLang="en-US" sz="950" b="1" kern="0" spc="0" dirty="0">
                        <a:solidFill>
                          <a:srgbClr val="000000"/>
                        </a:solidFill>
                        <a:effectLst/>
                        <a:latin typeface="+mn-ea"/>
                        <a:ea typeface="+mn-ea"/>
                      </a:endParaRPr>
                    </a:p>
                  </a:txBody>
                  <a:tcPr marL="47473" marR="47473" marT="23737" marB="23737" anchor="ctr">
                    <a:solidFill>
                      <a:schemeClr val="accent1">
                        <a:lumMod val="20000"/>
                        <a:lumOff val="80000"/>
                      </a:schemeClr>
                    </a:solidFill>
                  </a:tcPr>
                </a:tc>
                <a:tc>
                  <a:txBody>
                    <a:bodyPr/>
                    <a:lstStyle/>
                    <a:p>
                      <a:pPr marL="0" marR="0" indent="0" algn="ctr" fontAlgn="base" latinLnBrk="0">
                        <a:lnSpc>
                          <a:spcPct val="100000"/>
                        </a:lnSpc>
                        <a:spcBef>
                          <a:spcPts val="0"/>
                        </a:spcBef>
                        <a:spcAft>
                          <a:spcPts val="0"/>
                        </a:spcAft>
                      </a:pPr>
                      <a:r>
                        <a:rPr lang="ko-KR" altLang="en-US" sz="950" b="1" kern="0" spc="0" dirty="0">
                          <a:effectLst/>
                        </a:rPr>
                        <a:t>미생물발명</a:t>
                      </a:r>
                      <a:endParaRPr lang="ko-KR" altLang="en-US" sz="950" b="1" kern="0" spc="0" dirty="0">
                        <a:solidFill>
                          <a:srgbClr val="000000"/>
                        </a:solidFill>
                        <a:effectLst/>
                        <a:latin typeface="+mn-ea"/>
                        <a:ea typeface="+mn-ea"/>
                      </a:endParaRPr>
                    </a:p>
                  </a:txBody>
                  <a:tcPr marL="47473" marR="47473" marT="23737" marB="23737" anchor="ctr">
                    <a:solidFill>
                      <a:schemeClr val="accent1">
                        <a:lumMod val="20000"/>
                        <a:lumOff val="80000"/>
                      </a:schemeClr>
                    </a:solidFill>
                  </a:tcPr>
                </a:tc>
                <a:tc>
                  <a:txBody>
                    <a:bodyPr/>
                    <a:lstStyle/>
                    <a:p>
                      <a:pPr marL="0" marR="0" indent="0" algn="ctr" fontAlgn="base" latinLnBrk="0">
                        <a:lnSpc>
                          <a:spcPct val="100000"/>
                        </a:lnSpc>
                        <a:spcBef>
                          <a:spcPts val="0"/>
                        </a:spcBef>
                        <a:spcAft>
                          <a:spcPts val="0"/>
                        </a:spcAft>
                      </a:pPr>
                      <a:r>
                        <a:rPr lang="ko-KR" altLang="en-US" sz="950" b="1" kern="0" spc="0" dirty="0">
                          <a:effectLst/>
                        </a:rPr>
                        <a:t>식물발명</a:t>
                      </a:r>
                      <a:endParaRPr lang="ko-KR" altLang="en-US" sz="950" b="1" kern="0" spc="0" dirty="0">
                        <a:solidFill>
                          <a:srgbClr val="000000"/>
                        </a:solidFill>
                        <a:effectLst/>
                        <a:latin typeface="+mn-ea"/>
                        <a:ea typeface="+mn-ea"/>
                      </a:endParaRPr>
                    </a:p>
                  </a:txBody>
                  <a:tcPr marL="47473" marR="47473" marT="23737" marB="23737" anchor="ctr">
                    <a:solidFill>
                      <a:schemeClr val="accent1">
                        <a:lumMod val="20000"/>
                        <a:lumOff val="80000"/>
                      </a:schemeClr>
                    </a:solidFill>
                  </a:tcPr>
                </a:tc>
                <a:extLst>
                  <a:ext uri="{0D108BD9-81ED-4DB2-BD59-A6C34878D82A}">
                    <a16:rowId xmlns:a16="http://schemas.microsoft.com/office/drawing/2014/main" val="10000"/>
                  </a:ext>
                </a:extLst>
              </a:tr>
              <a:tr h="351860">
                <a:tc gridSpan="2">
                  <a:txBody>
                    <a:bodyPr/>
                    <a:lstStyle/>
                    <a:p>
                      <a:pPr marL="0" marR="0" indent="0" algn="ctr" fontAlgn="base" latinLnBrk="0">
                        <a:lnSpc>
                          <a:spcPct val="100000"/>
                        </a:lnSpc>
                        <a:spcBef>
                          <a:spcPts val="0"/>
                        </a:spcBef>
                        <a:spcAft>
                          <a:spcPts val="0"/>
                        </a:spcAft>
                      </a:pPr>
                      <a:r>
                        <a:rPr lang="ko-KR" altLang="en-US" sz="950" kern="0" spc="0">
                          <a:effectLst/>
                        </a:rPr>
                        <a:t>의의</a:t>
                      </a:r>
                      <a:endParaRPr lang="ko-KR" altLang="en-US" sz="950" b="1" kern="0" spc="0">
                        <a:solidFill>
                          <a:srgbClr val="000000"/>
                        </a:solidFill>
                        <a:effectLst/>
                        <a:latin typeface="+mn-ea"/>
                        <a:ea typeface="+mn-ea"/>
                      </a:endParaRPr>
                    </a:p>
                  </a:txBody>
                  <a:tcPr marL="47473" marR="47473" marT="23737" marB="23737" anchor="ctr"/>
                </a:tc>
                <a:tc hMerge="1">
                  <a:txBody>
                    <a:bodyPr/>
                    <a:lstStyle/>
                    <a:p>
                      <a:pPr latinLnBrk="1"/>
                      <a:endParaRPr lang="ko-KR" altLang="en-US"/>
                    </a:p>
                  </a:txBody>
                  <a:tcPr/>
                </a:tc>
                <a:tc>
                  <a:txBody>
                    <a:bodyPr/>
                    <a:lstStyle/>
                    <a:p>
                      <a:pPr marL="0" marR="0" indent="0" algn="just" fontAlgn="base" latinLnBrk="1">
                        <a:lnSpc>
                          <a:spcPct val="100000"/>
                        </a:lnSpc>
                        <a:spcBef>
                          <a:spcPts val="0"/>
                        </a:spcBef>
                        <a:spcAft>
                          <a:spcPts val="0"/>
                        </a:spcAft>
                      </a:pPr>
                      <a:r>
                        <a:rPr lang="ko-KR" altLang="en-US" sz="950" kern="0" spc="0" dirty="0">
                          <a:effectLst/>
                        </a:rPr>
                        <a:t>영업방법이 컴퓨터상에서 수행되도록 컴퓨터 기술에 의하여 구현된 발명을 말한다</a:t>
                      </a:r>
                      <a:r>
                        <a:rPr lang="en-US" altLang="ko-KR" sz="950" kern="0" spc="0" dirty="0">
                          <a:effectLst/>
                        </a:rPr>
                        <a:t>.</a:t>
                      </a:r>
                      <a:endParaRPr lang="ko-KR" altLang="en-US" sz="950" kern="0" spc="0" dirty="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ko-KR" altLang="en-US" sz="950" kern="0" spc="0" dirty="0">
                          <a:effectLst/>
                        </a:rPr>
                        <a:t>미생물이란 </a:t>
                      </a:r>
                      <a:r>
                        <a:rPr lang="ko-KR" altLang="en-US" sz="950" kern="0" spc="0" dirty="0" err="1">
                          <a:effectLst/>
                        </a:rPr>
                        <a:t>곰팡이ㆍ세균</a:t>
                      </a:r>
                      <a:r>
                        <a:rPr lang="ko-KR" altLang="en-US" sz="950" kern="0" spc="0" dirty="0">
                          <a:effectLst/>
                        </a:rPr>
                        <a:t> 등 미세크기의 생명을 가진 물체로서</a:t>
                      </a:r>
                      <a:r>
                        <a:rPr lang="en-US" altLang="ko-KR" sz="950" kern="0" spc="0" dirty="0">
                          <a:effectLst/>
                        </a:rPr>
                        <a:t>, </a:t>
                      </a:r>
                      <a:r>
                        <a:rPr lang="ko-KR" altLang="en-US" sz="950" kern="0" spc="0" dirty="0">
                          <a:effectLst/>
                        </a:rPr>
                        <a:t>미생물발명이란 미생물 자체의 발명</a:t>
                      </a:r>
                      <a:r>
                        <a:rPr lang="en-US" altLang="ko-KR" sz="950" kern="0" spc="0" dirty="0">
                          <a:effectLst/>
                        </a:rPr>
                        <a:t>, </a:t>
                      </a:r>
                      <a:r>
                        <a:rPr lang="ko-KR" altLang="en-US" sz="950" kern="0" spc="0" dirty="0">
                          <a:effectLst/>
                        </a:rPr>
                        <a:t>미생물을 생산하는 방법에 관한 발명</a:t>
                      </a:r>
                      <a:r>
                        <a:rPr lang="en-US" altLang="ko-KR" sz="950" kern="0" spc="0" dirty="0">
                          <a:effectLst/>
                        </a:rPr>
                        <a:t>, </a:t>
                      </a:r>
                      <a:r>
                        <a:rPr lang="ko-KR" altLang="en-US" sz="950" kern="0" spc="0" dirty="0">
                          <a:effectLst/>
                        </a:rPr>
                        <a:t>미생물을 이용하는 발명 등을 총칭한다</a:t>
                      </a:r>
                      <a:r>
                        <a:rPr lang="en-US" altLang="ko-KR" sz="950" kern="0" spc="0" dirty="0">
                          <a:effectLst/>
                        </a:rPr>
                        <a:t>.</a:t>
                      </a:r>
                      <a:endParaRPr lang="ko-KR" altLang="en-US" sz="950" kern="0" spc="0" dirty="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ko-KR" altLang="en-US" sz="950" kern="0" spc="0">
                          <a:effectLst/>
                        </a:rPr>
                        <a:t>반복생식할 수 있는 변종식물에 대한 발명을 말한다</a:t>
                      </a:r>
                      <a:r>
                        <a:rPr lang="en-US" altLang="ko-KR" sz="950" kern="0" spc="0">
                          <a:effectLst/>
                        </a:rPr>
                        <a:t>. </a:t>
                      </a:r>
                      <a:endParaRPr lang="ko-KR" altLang="en-US" sz="950" kern="0" spc="0">
                        <a:solidFill>
                          <a:srgbClr val="000000"/>
                        </a:solidFill>
                        <a:effectLst/>
                        <a:latin typeface="+mn-ea"/>
                        <a:ea typeface="+mn-ea"/>
                      </a:endParaRPr>
                    </a:p>
                  </a:txBody>
                  <a:tcPr marL="47473" marR="47473" marT="23737" marB="23737" anchor="ctr"/>
                </a:tc>
                <a:extLst>
                  <a:ext uri="{0D108BD9-81ED-4DB2-BD59-A6C34878D82A}">
                    <a16:rowId xmlns:a16="http://schemas.microsoft.com/office/drawing/2014/main" val="10001"/>
                  </a:ext>
                </a:extLst>
              </a:tr>
              <a:tr h="1409900">
                <a:tc rowSpan="2">
                  <a:txBody>
                    <a:bodyPr/>
                    <a:lstStyle/>
                    <a:p>
                      <a:pPr marL="0" marR="0" indent="0" algn="ctr" fontAlgn="base" latinLnBrk="0">
                        <a:lnSpc>
                          <a:spcPct val="100000"/>
                        </a:lnSpc>
                        <a:spcBef>
                          <a:spcPts val="0"/>
                        </a:spcBef>
                        <a:spcAft>
                          <a:spcPts val="0"/>
                        </a:spcAft>
                      </a:pPr>
                      <a:r>
                        <a:rPr lang="ko-KR" altLang="en-US" sz="950" kern="0" spc="0" dirty="0">
                          <a:effectLst/>
                        </a:rPr>
                        <a:t>특허</a:t>
                      </a:r>
                    </a:p>
                    <a:p>
                      <a:pPr marL="0" marR="0" indent="0" algn="ctr" fontAlgn="base" latinLnBrk="0">
                        <a:lnSpc>
                          <a:spcPct val="100000"/>
                        </a:lnSpc>
                        <a:spcBef>
                          <a:spcPts val="0"/>
                        </a:spcBef>
                        <a:spcAft>
                          <a:spcPts val="0"/>
                        </a:spcAft>
                      </a:pPr>
                      <a:r>
                        <a:rPr lang="ko-KR" altLang="en-US" sz="950" kern="0" spc="0" dirty="0">
                          <a:effectLst/>
                        </a:rPr>
                        <a:t>요건</a:t>
                      </a:r>
                      <a:endParaRPr lang="en-US" altLang="ko-KR" sz="950" kern="0" spc="0" dirty="0">
                        <a:effectLst/>
                      </a:endParaRPr>
                    </a:p>
                    <a:p>
                      <a:pPr marL="0" marR="0" indent="0" algn="ctr" fontAlgn="base" latinLnBrk="0">
                        <a:lnSpc>
                          <a:spcPct val="100000"/>
                        </a:lnSpc>
                        <a:spcBef>
                          <a:spcPts val="0"/>
                        </a:spcBef>
                        <a:spcAft>
                          <a:spcPts val="0"/>
                        </a:spcAft>
                      </a:pPr>
                      <a:endParaRPr lang="ko-KR" altLang="en-US" sz="950" kern="0" spc="0" dirty="0">
                        <a:effectLst/>
                      </a:endParaRPr>
                    </a:p>
                    <a:p>
                      <a:pPr marL="0" marR="0" indent="0" algn="ctr" fontAlgn="base" latinLnBrk="0">
                        <a:lnSpc>
                          <a:spcPct val="100000"/>
                        </a:lnSpc>
                        <a:spcBef>
                          <a:spcPts val="0"/>
                        </a:spcBef>
                        <a:spcAft>
                          <a:spcPts val="0"/>
                        </a:spcAft>
                      </a:pPr>
                      <a:r>
                        <a:rPr lang="ko-KR" altLang="en-US" sz="950" kern="0" spc="0" dirty="0">
                          <a:effectLst/>
                        </a:rPr>
                        <a:t>및</a:t>
                      </a:r>
                      <a:endParaRPr lang="en-US" altLang="ko-KR" sz="950" kern="0" spc="0" dirty="0">
                        <a:effectLst/>
                      </a:endParaRPr>
                    </a:p>
                    <a:p>
                      <a:pPr marL="0" marR="0" indent="0" algn="ctr" fontAlgn="base" latinLnBrk="0">
                        <a:lnSpc>
                          <a:spcPct val="100000"/>
                        </a:lnSpc>
                        <a:spcBef>
                          <a:spcPts val="0"/>
                        </a:spcBef>
                        <a:spcAft>
                          <a:spcPts val="0"/>
                        </a:spcAft>
                      </a:pPr>
                      <a:endParaRPr lang="ko-KR" altLang="en-US" sz="950" kern="0" spc="0" dirty="0">
                        <a:effectLst/>
                      </a:endParaRPr>
                    </a:p>
                    <a:p>
                      <a:pPr marL="0" marR="0" indent="0" algn="ctr" fontAlgn="base" latinLnBrk="0">
                        <a:lnSpc>
                          <a:spcPct val="100000"/>
                        </a:lnSpc>
                        <a:spcBef>
                          <a:spcPts val="0"/>
                        </a:spcBef>
                        <a:spcAft>
                          <a:spcPts val="0"/>
                        </a:spcAft>
                      </a:pPr>
                      <a:r>
                        <a:rPr lang="ko-KR" altLang="en-US" sz="950" kern="0" spc="0" dirty="0">
                          <a:effectLst/>
                        </a:rPr>
                        <a:t>특허</a:t>
                      </a:r>
                    </a:p>
                    <a:p>
                      <a:pPr marL="0" marR="0" indent="0" algn="ctr" fontAlgn="base" latinLnBrk="0">
                        <a:lnSpc>
                          <a:spcPct val="100000"/>
                        </a:lnSpc>
                        <a:spcBef>
                          <a:spcPts val="0"/>
                        </a:spcBef>
                        <a:spcAft>
                          <a:spcPts val="0"/>
                        </a:spcAft>
                      </a:pPr>
                      <a:r>
                        <a:rPr lang="ko-KR" altLang="en-US" sz="950" kern="0" spc="0" dirty="0">
                          <a:effectLst/>
                        </a:rPr>
                        <a:t>출원</a:t>
                      </a:r>
                      <a:endParaRPr lang="ko-KR" altLang="en-US" sz="950" b="1" kern="0" spc="0" dirty="0">
                        <a:solidFill>
                          <a:srgbClr val="000000"/>
                        </a:solidFill>
                        <a:effectLst/>
                        <a:latin typeface="+mn-ea"/>
                        <a:ea typeface="+mn-ea"/>
                      </a:endParaRPr>
                    </a:p>
                  </a:txBody>
                  <a:tcPr marL="47473" marR="47473" marT="23737" marB="23737" anchor="ctr"/>
                </a:tc>
                <a:tc>
                  <a:txBody>
                    <a:bodyPr/>
                    <a:lstStyle/>
                    <a:p>
                      <a:pPr marL="0" marR="0" indent="0" algn="ctr" fontAlgn="base" latinLnBrk="0">
                        <a:lnSpc>
                          <a:spcPct val="100000"/>
                        </a:lnSpc>
                        <a:spcBef>
                          <a:spcPts val="0"/>
                        </a:spcBef>
                        <a:spcAft>
                          <a:spcPts val="0"/>
                        </a:spcAft>
                      </a:pPr>
                      <a:r>
                        <a:rPr lang="ko-KR" altLang="en-US" sz="950" kern="0" spc="0" dirty="0">
                          <a:effectLst/>
                        </a:rPr>
                        <a:t>성</a:t>
                      </a:r>
                      <a:endParaRPr lang="en-US" altLang="ko-KR" sz="950" kern="0" spc="0" dirty="0">
                        <a:effectLst/>
                      </a:endParaRPr>
                    </a:p>
                    <a:p>
                      <a:pPr marL="0" marR="0" indent="0" algn="ctr" fontAlgn="base" latinLnBrk="0">
                        <a:lnSpc>
                          <a:spcPct val="100000"/>
                        </a:lnSpc>
                        <a:spcBef>
                          <a:spcPts val="0"/>
                        </a:spcBef>
                        <a:spcAft>
                          <a:spcPts val="0"/>
                        </a:spcAft>
                      </a:pPr>
                      <a:r>
                        <a:rPr lang="ko-KR" altLang="en-US" sz="950" kern="0" spc="0" dirty="0" err="1">
                          <a:effectLst/>
                        </a:rPr>
                        <a:t>립</a:t>
                      </a:r>
                      <a:endParaRPr lang="en-US" altLang="ko-KR" sz="950" kern="0" spc="0" dirty="0">
                        <a:effectLst/>
                      </a:endParaRPr>
                    </a:p>
                    <a:p>
                      <a:pPr marL="0" marR="0" indent="0" algn="ctr" fontAlgn="base" latinLnBrk="0">
                        <a:lnSpc>
                          <a:spcPct val="100000"/>
                        </a:lnSpc>
                        <a:spcBef>
                          <a:spcPts val="0"/>
                        </a:spcBef>
                        <a:spcAft>
                          <a:spcPts val="0"/>
                        </a:spcAft>
                      </a:pPr>
                      <a:r>
                        <a:rPr lang="ko-KR" altLang="en-US" sz="950" kern="0" spc="0" dirty="0">
                          <a:effectLst/>
                        </a:rPr>
                        <a:t>성</a:t>
                      </a:r>
                      <a:endParaRPr lang="ko-KR" altLang="en-US" sz="950" b="1" kern="0" spc="0" dirty="0">
                        <a:solidFill>
                          <a:srgbClr val="000000"/>
                        </a:solidFill>
                        <a:effectLst/>
                        <a:latin typeface="+mn-ea"/>
                        <a:ea typeface="+mn-ea"/>
                      </a:endParaRPr>
                    </a:p>
                  </a:txBody>
                  <a:tcPr marL="47473" marR="47473" marT="23737" marB="23737" anchor="ctr"/>
                </a:tc>
                <a:tc>
                  <a:txBody>
                    <a:bodyPr/>
                    <a:lstStyle/>
                    <a:p>
                      <a:pPr marL="49530" marR="0" indent="-49530" algn="just" fontAlgn="base" latinLnBrk="1">
                        <a:lnSpc>
                          <a:spcPct val="100000"/>
                        </a:lnSpc>
                        <a:spcBef>
                          <a:spcPts val="0"/>
                        </a:spcBef>
                        <a:spcAft>
                          <a:spcPts val="0"/>
                        </a:spcAft>
                      </a:pPr>
                      <a:r>
                        <a:rPr lang="en-US" altLang="ko-KR" sz="950" kern="0" spc="0" dirty="0">
                          <a:effectLst/>
                        </a:rPr>
                        <a:t>1.</a:t>
                      </a:r>
                      <a:r>
                        <a:rPr lang="ko-KR" altLang="en-US" sz="950" kern="0" spc="0" dirty="0">
                          <a:effectLst/>
                        </a:rPr>
                        <a:t>자연법칙을 </a:t>
                      </a:r>
                      <a:r>
                        <a:rPr lang="en-US" altLang="ko-KR" sz="950" kern="0" spc="0" dirty="0">
                          <a:effectLst/>
                        </a:rPr>
                        <a:t>100% </a:t>
                      </a:r>
                      <a:r>
                        <a:rPr lang="ko-KR" altLang="en-US" sz="950" kern="0" spc="0" dirty="0">
                          <a:effectLst/>
                        </a:rPr>
                        <a:t>이용하지 않지만 시대적 흐름에 부응하고자 예외적으로 </a:t>
                      </a:r>
                      <a:r>
                        <a:rPr lang="ko-KR" altLang="en-US" sz="950" kern="0" spc="0" dirty="0" err="1">
                          <a:effectLst/>
                        </a:rPr>
                        <a:t>성립성</a:t>
                      </a:r>
                      <a:r>
                        <a:rPr lang="ko-KR" altLang="en-US" sz="950" kern="0" spc="0" dirty="0">
                          <a:effectLst/>
                        </a:rPr>
                        <a:t> 인정</a:t>
                      </a:r>
                    </a:p>
                    <a:p>
                      <a:pPr marL="73660" marR="0" indent="-73660" algn="just" fontAlgn="base" latinLnBrk="1">
                        <a:lnSpc>
                          <a:spcPct val="100000"/>
                        </a:lnSpc>
                        <a:spcBef>
                          <a:spcPts val="0"/>
                        </a:spcBef>
                        <a:spcAft>
                          <a:spcPts val="0"/>
                        </a:spcAft>
                      </a:pPr>
                      <a:r>
                        <a:rPr lang="en-US" altLang="ko-KR" sz="950" kern="0" spc="0" dirty="0">
                          <a:effectLst/>
                        </a:rPr>
                        <a:t>2.</a:t>
                      </a:r>
                      <a:r>
                        <a:rPr lang="ko-KR" altLang="en-US" sz="950" kern="0" spc="0" dirty="0" err="1">
                          <a:effectLst/>
                        </a:rPr>
                        <a:t>성립성이</a:t>
                      </a:r>
                      <a:r>
                        <a:rPr lang="ko-KR" altLang="en-US" sz="950" kern="0" spc="0" dirty="0">
                          <a:effectLst/>
                        </a:rPr>
                        <a:t> 인정되기 위해서는 </a:t>
                      </a:r>
                      <a:r>
                        <a:rPr lang="en-US" altLang="ko-KR" sz="950" kern="0" spc="0" dirty="0">
                          <a:effectLst/>
                        </a:rPr>
                        <a:t>S/W</a:t>
                      </a:r>
                      <a:r>
                        <a:rPr lang="ko-KR" altLang="en-US" sz="950" kern="0" spc="0" dirty="0">
                          <a:effectLst/>
                        </a:rPr>
                        <a:t>가 </a:t>
                      </a:r>
                      <a:r>
                        <a:rPr lang="en-US" altLang="ko-KR" sz="950" kern="0" spc="0" dirty="0">
                          <a:effectLst/>
                        </a:rPr>
                        <a:t>H/W</a:t>
                      </a:r>
                      <a:r>
                        <a:rPr lang="ko-KR" altLang="en-US" sz="950" kern="0" spc="0" dirty="0">
                          <a:effectLst/>
                        </a:rPr>
                        <a:t>의 물리적 변환을 야기시키는 과정이 발명의 설명에 상세히 기재되어야 함</a:t>
                      </a:r>
                      <a:endParaRPr lang="ko-KR" altLang="en-US" sz="950" kern="0" spc="0" dirty="0">
                        <a:solidFill>
                          <a:srgbClr val="000000"/>
                        </a:solidFill>
                        <a:effectLst/>
                        <a:latin typeface="+mn-ea"/>
                        <a:ea typeface="+mn-ea"/>
                      </a:endParaRPr>
                    </a:p>
                  </a:txBody>
                  <a:tcPr marL="47473" marR="47473" marT="23737" marB="23737" anchor="ctr"/>
                </a:tc>
                <a:tc>
                  <a:txBody>
                    <a:bodyPr/>
                    <a:lstStyle/>
                    <a:p>
                      <a:pPr marL="73660" marR="0" indent="-73660" algn="just" fontAlgn="base" latinLnBrk="1">
                        <a:lnSpc>
                          <a:spcPct val="100000"/>
                        </a:lnSpc>
                        <a:spcBef>
                          <a:spcPts val="0"/>
                        </a:spcBef>
                        <a:spcAft>
                          <a:spcPts val="0"/>
                        </a:spcAft>
                      </a:pPr>
                      <a:r>
                        <a:rPr lang="en-US" altLang="ko-KR" sz="950" kern="0" spc="0" dirty="0">
                          <a:effectLst/>
                        </a:rPr>
                        <a:t>1.</a:t>
                      </a:r>
                      <a:r>
                        <a:rPr lang="ko-KR" altLang="en-US" sz="950" kern="0" spc="0" dirty="0">
                          <a:effectLst/>
                        </a:rPr>
                        <a:t>통상의 기술자가 쉽게 입수할 수 없는 미생물발명의 경우 전에 기탁기관에 해당 미생물을 기탁하고</a:t>
                      </a:r>
                      <a:r>
                        <a:rPr lang="en-US" altLang="ko-KR" sz="950" kern="0" spc="0" dirty="0">
                          <a:effectLst/>
                        </a:rPr>
                        <a:t>, </a:t>
                      </a:r>
                      <a:r>
                        <a:rPr lang="ko-KR" altLang="en-US" sz="950" kern="0" spc="0" dirty="0" err="1">
                          <a:effectLst/>
                        </a:rPr>
                        <a:t>특허출원인은</a:t>
                      </a:r>
                      <a:r>
                        <a:rPr lang="ko-KR" altLang="en-US" sz="950" kern="0" spc="0" dirty="0">
                          <a:effectLst/>
                        </a:rPr>
                        <a:t> </a:t>
                      </a:r>
                      <a:r>
                        <a:rPr lang="ko-KR" altLang="en-US" sz="950" kern="0" spc="0" dirty="0" err="1">
                          <a:effectLst/>
                        </a:rPr>
                        <a:t>특허출원서에</a:t>
                      </a:r>
                      <a:r>
                        <a:rPr lang="ko-KR" altLang="en-US" sz="950" kern="0" spc="0" dirty="0">
                          <a:effectLst/>
                        </a:rPr>
                        <a:t> 취지를 적어야 한다</a:t>
                      </a:r>
                      <a:r>
                        <a:rPr lang="en-US" altLang="ko-KR" sz="950" kern="0" spc="0" dirty="0">
                          <a:effectLst/>
                        </a:rPr>
                        <a:t>. </a:t>
                      </a:r>
                      <a:r>
                        <a:rPr lang="ko-KR" altLang="en-US" sz="950" kern="0" spc="0" dirty="0">
                          <a:effectLst/>
                        </a:rPr>
                        <a:t>기탁하지 않을 경우 미완성 발명이 되어 발명의 </a:t>
                      </a:r>
                      <a:r>
                        <a:rPr lang="ko-KR" altLang="en-US" sz="950" kern="0" spc="0" dirty="0" err="1">
                          <a:effectLst/>
                        </a:rPr>
                        <a:t>성립성이</a:t>
                      </a:r>
                      <a:r>
                        <a:rPr lang="ko-KR" altLang="en-US" sz="950" kern="0" spc="0" dirty="0">
                          <a:effectLst/>
                        </a:rPr>
                        <a:t> 인정되지 않으며</a:t>
                      </a:r>
                      <a:r>
                        <a:rPr lang="en-US" altLang="ko-KR" sz="950" kern="0" spc="0" dirty="0">
                          <a:effectLst/>
                        </a:rPr>
                        <a:t>, </a:t>
                      </a:r>
                      <a:r>
                        <a:rPr lang="ko-KR" altLang="en-US" sz="950" kern="0" spc="0" dirty="0">
                          <a:effectLst/>
                        </a:rPr>
                        <a:t>산업상 이용가능성</a:t>
                      </a:r>
                      <a:r>
                        <a:rPr lang="en-US" altLang="ko-KR" sz="950" kern="0" spc="0" dirty="0">
                          <a:effectLst/>
                        </a:rPr>
                        <a:t>(</a:t>
                      </a:r>
                      <a:r>
                        <a:rPr lang="ko-KR" altLang="en-US" sz="950" kern="0" spc="0" dirty="0">
                          <a:effectLst/>
                        </a:rPr>
                        <a:t>法</a:t>
                      </a:r>
                      <a:r>
                        <a:rPr lang="en-US" altLang="ko-KR" sz="950" kern="0" spc="0" dirty="0">
                          <a:effectLst/>
                        </a:rPr>
                        <a:t>29</a:t>
                      </a:r>
                      <a:r>
                        <a:rPr lang="ko-KR" altLang="en-US" sz="950" kern="0" spc="0" dirty="0">
                          <a:effectLst/>
                        </a:rPr>
                        <a:t>①본문</a:t>
                      </a:r>
                      <a:r>
                        <a:rPr lang="en-US" altLang="ko-KR" sz="950" kern="0" spc="0" dirty="0">
                          <a:effectLst/>
                        </a:rPr>
                        <a:t>) </a:t>
                      </a:r>
                      <a:r>
                        <a:rPr lang="ko-KR" altLang="en-US" sz="950" kern="0" spc="0" dirty="0">
                          <a:effectLst/>
                        </a:rPr>
                        <a:t>또는 명세서기재</a:t>
                      </a:r>
                      <a:r>
                        <a:rPr lang="en-US" altLang="ko-KR" sz="950" kern="0" spc="0" dirty="0">
                          <a:effectLst/>
                        </a:rPr>
                        <a:t>(</a:t>
                      </a:r>
                      <a:r>
                        <a:rPr lang="ko-KR" altLang="en-US" sz="950" kern="0" spc="0" dirty="0">
                          <a:effectLst/>
                        </a:rPr>
                        <a:t>法</a:t>
                      </a:r>
                      <a:r>
                        <a:rPr lang="en-US" altLang="ko-KR" sz="950" kern="0" spc="0" dirty="0">
                          <a:effectLst/>
                        </a:rPr>
                        <a:t>42</a:t>
                      </a:r>
                      <a:r>
                        <a:rPr lang="ko-KR" altLang="en-US" sz="950" kern="0" spc="0" dirty="0">
                          <a:effectLst/>
                        </a:rPr>
                        <a:t>③</a:t>
                      </a:r>
                      <a:r>
                        <a:rPr lang="en-US" altLang="ko-KR" sz="950" kern="0" spc="0" dirty="0">
                          <a:effectLst/>
                        </a:rPr>
                        <a:t>Ⅰ) </a:t>
                      </a:r>
                      <a:r>
                        <a:rPr lang="ko-KR" altLang="en-US" sz="950" kern="0" spc="0" dirty="0">
                          <a:effectLst/>
                        </a:rPr>
                        <a:t>위반을 이유로 거절이유</a:t>
                      </a:r>
                      <a:r>
                        <a:rPr lang="en-US" altLang="ko-KR" sz="950" kern="0" spc="0" dirty="0">
                          <a:effectLst/>
                        </a:rPr>
                        <a:t>(</a:t>
                      </a:r>
                      <a:r>
                        <a:rPr lang="ko-KR" altLang="en-US" sz="950" kern="0" spc="0" dirty="0">
                          <a:effectLst/>
                        </a:rPr>
                        <a:t>法</a:t>
                      </a:r>
                      <a:r>
                        <a:rPr lang="en-US" altLang="ko-KR" sz="950" kern="0" spc="0" dirty="0">
                          <a:effectLst/>
                        </a:rPr>
                        <a:t>62), </a:t>
                      </a:r>
                      <a:r>
                        <a:rPr lang="ko-KR" altLang="en-US" sz="950" kern="0" spc="0" dirty="0">
                          <a:effectLst/>
                        </a:rPr>
                        <a:t>정보제공사유</a:t>
                      </a:r>
                      <a:r>
                        <a:rPr lang="en-US" altLang="ko-KR" sz="950" kern="0" spc="0" dirty="0">
                          <a:effectLst/>
                        </a:rPr>
                        <a:t>(</a:t>
                      </a:r>
                      <a:r>
                        <a:rPr lang="ko-KR" altLang="en-US" sz="950" kern="0" spc="0" dirty="0">
                          <a:effectLst/>
                        </a:rPr>
                        <a:t>法</a:t>
                      </a:r>
                      <a:r>
                        <a:rPr lang="en-US" altLang="ko-KR" sz="950" kern="0" spc="0" dirty="0">
                          <a:effectLst/>
                        </a:rPr>
                        <a:t>63</a:t>
                      </a:r>
                      <a:r>
                        <a:rPr lang="ko-KR" altLang="en-US" sz="950" kern="0" spc="0" dirty="0">
                          <a:effectLst/>
                        </a:rPr>
                        <a:t>의</a:t>
                      </a:r>
                      <a:r>
                        <a:rPr lang="en-US" altLang="ko-KR" sz="950" kern="0" spc="0" dirty="0">
                          <a:effectLst/>
                        </a:rPr>
                        <a:t>2), </a:t>
                      </a:r>
                      <a:r>
                        <a:rPr lang="ko-KR" altLang="en-US" sz="950" kern="0" spc="0" dirty="0">
                          <a:effectLst/>
                        </a:rPr>
                        <a:t>특허무효사유</a:t>
                      </a:r>
                      <a:r>
                        <a:rPr lang="en-US" altLang="ko-KR" sz="950" kern="0" spc="0" dirty="0">
                          <a:effectLst/>
                        </a:rPr>
                        <a:t>(</a:t>
                      </a:r>
                      <a:r>
                        <a:rPr lang="ko-KR" altLang="en-US" sz="950" kern="0" spc="0" dirty="0">
                          <a:effectLst/>
                        </a:rPr>
                        <a:t>法</a:t>
                      </a:r>
                      <a:r>
                        <a:rPr lang="en-US" altLang="ko-KR" sz="950" kern="0" spc="0" dirty="0">
                          <a:effectLst/>
                        </a:rPr>
                        <a:t>133</a:t>
                      </a:r>
                      <a:r>
                        <a:rPr lang="ko-KR" altLang="en-US" sz="950" kern="0" spc="0" dirty="0">
                          <a:effectLst/>
                        </a:rPr>
                        <a:t>①</a:t>
                      </a:r>
                      <a:r>
                        <a:rPr lang="en-US" altLang="ko-KR" sz="950" kern="0" spc="0" dirty="0">
                          <a:effectLst/>
                        </a:rPr>
                        <a:t>)</a:t>
                      </a:r>
                      <a:r>
                        <a:rPr lang="ko-KR" altLang="en-US" sz="950" kern="0" spc="0" dirty="0">
                          <a:effectLst/>
                        </a:rPr>
                        <a:t>에 해당</a:t>
                      </a:r>
                      <a:r>
                        <a:rPr lang="en-US" altLang="ko-KR" sz="950" kern="0" spc="0" dirty="0">
                          <a:effectLst/>
                        </a:rPr>
                        <a:t>. </a:t>
                      </a:r>
                      <a:r>
                        <a:rPr lang="ko-KR" altLang="en-US" sz="950" kern="0" spc="0" dirty="0">
                          <a:effectLst/>
                        </a:rPr>
                        <a:t>한편</a:t>
                      </a:r>
                      <a:r>
                        <a:rPr lang="en-US" altLang="ko-KR" sz="950" kern="0" spc="0" dirty="0">
                          <a:effectLst/>
                        </a:rPr>
                        <a:t>, </a:t>
                      </a:r>
                      <a:r>
                        <a:rPr lang="ko-KR" altLang="en-US" sz="950" kern="0" spc="0" dirty="0">
                          <a:effectLst/>
                        </a:rPr>
                        <a:t>쉽게 입수할 수 없는데 출원 전까지 기탁하지 아니하고</a:t>
                      </a:r>
                      <a:r>
                        <a:rPr lang="en-US" altLang="ko-KR" sz="950" kern="0" spc="0" dirty="0">
                          <a:effectLst/>
                        </a:rPr>
                        <a:t>, </a:t>
                      </a:r>
                      <a:r>
                        <a:rPr lang="ko-KR" altLang="en-US" sz="950" kern="0" spc="0" dirty="0">
                          <a:effectLst/>
                        </a:rPr>
                        <a:t>특허출원 후에 미생물을 기탁한 경우에는 신규사항추가</a:t>
                      </a:r>
                      <a:r>
                        <a:rPr lang="en-US" altLang="ko-KR" sz="950" kern="0" spc="0" dirty="0">
                          <a:effectLst/>
                        </a:rPr>
                        <a:t>(</a:t>
                      </a:r>
                      <a:r>
                        <a:rPr lang="ko-KR" altLang="en-US" sz="950" kern="0" spc="0" dirty="0">
                          <a:effectLst/>
                        </a:rPr>
                        <a:t>法</a:t>
                      </a:r>
                      <a:r>
                        <a:rPr lang="en-US" altLang="ko-KR" sz="950" kern="0" spc="0" dirty="0">
                          <a:effectLst/>
                        </a:rPr>
                        <a:t>47</a:t>
                      </a:r>
                      <a:r>
                        <a:rPr lang="ko-KR" altLang="en-US" sz="950" kern="0" spc="0" dirty="0">
                          <a:effectLst/>
                        </a:rPr>
                        <a:t>②전단</a:t>
                      </a:r>
                      <a:r>
                        <a:rPr lang="en-US" altLang="ko-KR" sz="950" kern="0" spc="0" dirty="0">
                          <a:effectLst/>
                        </a:rPr>
                        <a:t>)</a:t>
                      </a:r>
                      <a:r>
                        <a:rPr lang="ko-KR" altLang="en-US" sz="950" kern="0" spc="0" dirty="0">
                          <a:effectLst/>
                        </a:rPr>
                        <a:t>에 해당</a:t>
                      </a:r>
                    </a:p>
                    <a:p>
                      <a:pPr marL="73660" marR="0" indent="-73660" algn="just" fontAlgn="base" latinLnBrk="1">
                        <a:lnSpc>
                          <a:spcPct val="100000"/>
                        </a:lnSpc>
                        <a:spcBef>
                          <a:spcPts val="0"/>
                        </a:spcBef>
                        <a:spcAft>
                          <a:spcPts val="0"/>
                        </a:spcAft>
                      </a:pPr>
                      <a:r>
                        <a:rPr lang="en-US" altLang="ko-KR" sz="950" kern="0" spc="0" dirty="0">
                          <a:effectLst/>
                        </a:rPr>
                        <a:t>2.</a:t>
                      </a:r>
                      <a:r>
                        <a:rPr lang="ko-KR" altLang="en-US" sz="950" kern="0" spc="0" dirty="0">
                          <a:effectLst/>
                        </a:rPr>
                        <a:t>통상의 기술자가 쉽게 입수할 수 있는 미생물은 반드시 국내에 현존할 필요</a:t>
                      </a:r>
                      <a:r>
                        <a:rPr lang="en-US" altLang="ko-KR" sz="950" kern="0" spc="0" dirty="0">
                          <a:effectLst/>
                        </a:rPr>
                        <a:t>×(99</a:t>
                      </a:r>
                      <a:r>
                        <a:rPr lang="ko-KR" altLang="en-US" sz="950" kern="0" spc="0" dirty="0">
                          <a:effectLst/>
                        </a:rPr>
                        <a:t>허</a:t>
                      </a:r>
                      <a:r>
                        <a:rPr lang="en-US" altLang="ko-KR" sz="950" kern="0" spc="0" dirty="0">
                          <a:effectLst/>
                        </a:rPr>
                        <a:t>8653)</a:t>
                      </a:r>
                      <a:endParaRPr lang="ko-KR" altLang="en-US" sz="950" kern="0" spc="0" dirty="0">
                        <a:effectLst/>
                      </a:endParaRPr>
                    </a:p>
                    <a:p>
                      <a:pPr marL="73660" marR="0" indent="-73660" algn="just" fontAlgn="base" latinLnBrk="1">
                        <a:lnSpc>
                          <a:spcPct val="100000"/>
                        </a:lnSpc>
                        <a:spcBef>
                          <a:spcPts val="0"/>
                        </a:spcBef>
                        <a:spcAft>
                          <a:spcPts val="0"/>
                        </a:spcAft>
                      </a:pPr>
                      <a:r>
                        <a:rPr lang="en-US" altLang="ko-KR" sz="950" kern="0" spc="0" dirty="0">
                          <a:effectLst/>
                        </a:rPr>
                        <a:t>3.</a:t>
                      </a:r>
                      <a:r>
                        <a:rPr lang="ko-KR" altLang="en-US" sz="950" kern="0" spc="0" dirty="0">
                          <a:effectLst/>
                        </a:rPr>
                        <a:t>출발 미생물만 기탁하면 되지 중간생성물이나 최종생성물까지 기탁할 필요</a:t>
                      </a:r>
                      <a:r>
                        <a:rPr lang="en-US" altLang="ko-KR" sz="950" kern="0" spc="0" dirty="0">
                          <a:effectLst/>
                        </a:rPr>
                        <a:t>×(90</a:t>
                      </a:r>
                      <a:r>
                        <a:rPr lang="ko-KR" altLang="en-US" sz="950" kern="0" spc="0" dirty="0">
                          <a:effectLst/>
                        </a:rPr>
                        <a:t>후</a:t>
                      </a:r>
                      <a:r>
                        <a:rPr lang="en-US" altLang="ko-KR" sz="950" kern="0" spc="0" dirty="0">
                          <a:effectLst/>
                        </a:rPr>
                        <a:t>1260).</a:t>
                      </a:r>
                      <a:endParaRPr lang="ko-KR" altLang="en-US" sz="950" kern="0" spc="0" dirty="0">
                        <a:effectLst/>
                      </a:endParaRPr>
                    </a:p>
                    <a:p>
                      <a:pPr marL="73660" marR="0" indent="-73660" algn="just" fontAlgn="base" latinLnBrk="1">
                        <a:lnSpc>
                          <a:spcPct val="100000"/>
                        </a:lnSpc>
                        <a:spcBef>
                          <a:spcPts val="0"/>
                        </a:spcBef>
                        <a:spcAft>
                          <a:spcPts val="0"/>
                        </a:spcAft>
                      </a:pPr>
                      <a:r>
                        <a:rPr lang="en-US" altLang="ko-KR" sz="950" kern="0" spc="0" dirty="0">
                          <a:effectLst/>
                        </a:rPr>
                        <a:t>4.</a:t>
                      </a:r>
                      <a:r>
                        <a:rPr lang="ko-KR" altLang="en-US" sz="950" kern="0" spc="0" dirty="0">
                          <a:effectLst/>
                        </a:rPr>
                        <a:t>통상의 기술자가 쉽게 입수할 수 있는 미생물인지 여부는 </a:t>
                      </a:r>
                      <a:r>
                        <a:rPr lang="ko-KR" altLang="en-US" sz="950" kern="0" spc="0" dirty="0" err="1">
                          <a:effectLst/>
                        </a:rPr>
                        <a:t>출원시를</a:t>
                      </a:r>
                      <a:r>
                        <a:rPr lang="ko-KR" altLang="en-US" sz="950" kern="0" spc="0" dirty="0">
                          <a:effectLst/>
                        </a:rPr>
                        <a:t> 기준으로 판단</a:t>
                      </a:r>
                      <a:r>
                        <a:rPr lang="en-US" altLang="ko-KR" sz="950" kern="0" spc="0" dirty="0">
                          <a:effectLst/>
                        </a:rPr>
                        <a:t>(96</a:t>
                      </a:r>
                      <a:r>
                        <a:rPr lang="ko-KR" altLang="en-US" sz="950" kern="0" spc="0" dirty="0">
                          <a:effectLst/>
                        </a:rPr>
                        <a:t>후</a:t>
                      </a:r>
                      <a:r>
                        <a:rPr lang="en-US" altLang="ko-KR" sz="950" kern="0" spc="0" dirty="0">
                          <a:effectLst/>
                        </a:rPr>
                        <a:t>658).</a:t>
                      </a:r>
                      <a:endParaRPr lang="ko-KR" altLang="en-US" sz="950" kern="0" spc="0" dirty="0">
                        <a:solidFill>
                          <a:srgbClr val="000000"/>
                        </a:solidFill>
                        <a:effectLst/>
                        <a:latin typeface="+mn-ea"/>
                        <a:ea typeface="+mn-ea"/>
                      </a:endParaRPr>
                    </a:p>
                  </a:txBody>
                  <a:tcPr marL="47473" marR="47473" marT="23737" marB="23737" anchor="ctr"/>
                </a:tc>
                <a:tc>
                  <a:txBody>
                    <a:bodyPr/>
                    <a:lstStyle/>
                    <a:p>
                      <a:pPr marL="90488" marR="0" lvl="0" indent="-90488" algn="just" defTabSz="914400" rtl="0" eaLnBrk="1" fontAlgn="base" latinLnBrk="1" hangingPunct="1">
                        <a:lnSpc>
                          <a:spcPct val="100000"/>
                        </a:lnSpc>
                        <a:spcBef>
                          <a:spcPts val="0"/>
                        </a:spcBef>
                        <a:spcAft>
                          <a:spcPts val="0"/>
                        </a:spcAft>
                        <a:buClrTx/>
                        <a:buSzTx/>
                        <a:buFontTx/>
                        <a:buNone/>
                        <a:tabLst/>
                        <a:defRPr/>
                      </a:pPr>
                      <a:r>
                        <a:rPr lang="en-US" altLang="ko-KR" sz="950" kern="0" spc="0" dirty="0">
                          <a:effectLst/>
                        </a:rPr>
                        <a:t>1.</a:t>
                      </a:r>
                      <a:r>
                        <a:rPr lang="ko-KR" altLang="en-US" sz="950" kern="0" spc="0" dirty="0">
                          <a:effectLst/>
                        </a:rPr>
                        <a:t>구법 제</a:t>
                      </a:r>
                      <a:r>
                        <a:rPr lang="en-US" altLang="ko-KR" sz="950" kern="0" spc="0" dirty="0">
                          <a:effectLst/>
                        </a:rPr>
                        <a:t>31</a:t>
                      </a:r>
                      <a:r>
                        <a:rPr lang="ko-KR" altLang="en-US" sz="950" kern="0" spc="0" dirty="0">
                          <a:effectLst/>
                        </a:rPr>
                        <a:t>조를 </a:t>
                      </a:r>
                      <a:r>
                        <a:rPr lang="ko-KR" altLang="en-US" sz="950" kern="0" spc="0" dirty="0" err="1">
                          <a:effectLst/>
                        </a:rPr>
                        <a:t>삭제함으로서</a:t>
                      </a:r>
                      <a:r>
                        <a:rPr lang="ko-KR" altLang="en-US" sz="950" kern="0" spc="0" dirty="0">
                          <a:effectLst/>
                        </a:rPr>
                        <a:t> 동물발명과 마찬가지로 유</a:t>
                      </a:r>
                      <a:r>
                        <a:rPr lang="en-US" altLang="ko-KR" sz="950" kern="0" spc="0" dirty="0">
                          <a:effectLst/>
                        </a:rPr>
                        <a:t>/</a:t>
                      </a:r>
                      <a:r>
                        <a:rPr lang="ko-KR" altLang="en-US" sz="950" kern="0" spc="0" dirty="0">
                          <a:effectLst/>
                        </a:rPr>
                        <a:t>무성 무관하게 특허법상 보호</a:t>
                      </a:r>
                      <a:endParaRPr lang="en-US" altLang="ko-KR" sz="950" kern="0" spc="0" dirty="0">
                        <a:effectLst/>
                      </a:endParaRPr>
                    </a:p>
                    <a:p>
                      <a:pPr marL="90488" marR="0" lvl="0" indent="-90488" algn="just" defTabSz="914400" rtl="0" eaLnBrk="1" fontAlgn="base" latinLnBrk="1" hangingPunct="1">
                        <a:lnSpc>
                          <a:spcPct val="100000"/>
                        </a:lnSpc>
                        <a:spcBef>
                          <a:spcPts val="0"/>
                        </a:spcBef>
                        <a:spcAft>
                          <a:spcPts val="0"/>
                        </a:spcAft>
                        <a:buClrTx/>
                        <a:buSzTx/>
                        <a:buFontTx/>
                        <a:buNone/>
                        <a:tabLst/>
                        <a:defRPr/>
                      </a:pPr>
                      <a:r>
                        <a:rPr lang="en-US" altLang="ko-KR" sz="950" kern="0" spc="0" dirty="0">
                          <a:effectLst/>
                        </a:rPr>
                        <a:t>2.</a:t>
                      </a:r>
                      <a:r>
                        <a:rPr lang="ko-KR" altLang="en-US" sz="950" kern="0" spc="0" dirty="0">
                          <a:effectLst/>
                        </a:rPr>
                        <a:t>육종경과를 상세히 기재하여야 </a:t>
                      </a:r>
                      <a:r>
                        <a:rPr lang="ko-KR" altLang="en-US" sz="950" kern="0" spc="0" dirty="0" err="1">
                          <a:effectLst/>
                        </a:rPr>
                        <a:t>성립성</a:t>
                      </a:r>
                      <a:r>
                        <a:rPr lang="ko-KR" altLang="en-US" sz="950" kern="0" spc="0" dirty="0">
                          <a:effectLst/>
                        </a:rPr>
                        <a:t> 인정</a:t>
                      </a:r>
                    </a:p>
                    <a:p>
                      <a:pPr marL="90488" marR="0" indent="-90488" algn="just" fontAlgn="base" latinLnBrk="1">
                        <a:lnSpc>
                          <a:spcPct val="100000"/>
                        </a:lnSpc>
                        <a:spcBef>
                          <a:spcPts val="0"/>
                        </a:spcBef>
                        <a:spcAft>
                          <a:spcPts val="0"/>
                        </a:spcAft>
                      </a:pPr>
                      <a:endParaRPr lang="ko-KR" altLang="en-US" sz="950" kern="0" spc="0" dirty="0">
                        <a:solidFill>
                          <a:srgbClr val="000000"/>
                        </a:solidFill>
                        <a:effectLst/>
                        <a:latin typeface="+mn-ea"/>
                        <a:ea typeface="+mn-ea"/>
                      </a:endParaRPr>
                    </a:p>
                  </a:txBody>
                  <a:tcPr marL="47473" marR="47473" marT="23737" marB="23737" anchor="ctr"/>
                </a:tc>
                <a:extLst>
                  <a:ext uri="{0D108BD9-81ED-4DB2-BD59-A6C34878D82A}">
                    <a16:rowId xmlns:a16="http://schemas.microsoft.com/office/drawing/2014/main" val="10002"/>
                  </a:ext>
                </a:extLst>
              </a:tr>
              <a:tr h="706771">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950" kern="0" spc="0">
                          <a:effectLst/>
                        </a:rPr>
                        <a:t>기타</a:t>
                      </a:r>
                      <a:endParaRPr lang="ko-KR" altLang="en-US" sz="950" b="1" kern="0" spc="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ko-KR" altLang="en-US" sz="950" kern="0" spc="0" dirty="0">
                          <a:solidFill>
                            <a:schemeClr val="tx1"/>
                          </a:solidFill>
                          <a:effectLst/>
                        </a:rPr>
                        <a:t>컴퓨터 기술을 중심으로 진보성을 판단</a:t>
                      </a:r>
                      <a:endParaRPr lang="ko-KR" altLang="en-US" sz="950" kern="0" spc="0" dirty="0">
                        <a:solidFill>
                          <a:schemeClr val="tx1"/>
                        </a:solidFill>
                        <a:effectLst/>
                        <a:latin typeface="+mn-ea"/>
                        <a:ea typeface="+mn-ea"/>
                      </a:endParaRPr>
                    </a:p>
                  </a:txBody>
                  <a:tcPr marL="47473" marR="47473" marT="23737" marB="23737" anchor="ctr"/>
                </a:tc>
                <a:tc>
                  <a:txBody>
                    <a:bodyPr/>
                    <a:lstStyle/>
                    <a:p>
                      <a:pPr marL="85090" marR="0" indent="-85090" algn="just" fontAlgn="base" latinLnBrk="1">
                        <a:lnSpc>
                          <a:spcPct val="100000"/>
                        </a:lnSpc>
                        <a:spcBef>
                          <a:spcPts val="0"/>
                        </a:spcBef>
                        <a:spcAft>
                          <a:spcPts val="0"/>
                        </a:spcAft>
                      </a:pPr>
                      <a:r>
                        <a:rPr lang="en-US" altLang="ko-KR" sz="950" kern="0" spc="0" dirty="0">
                          <a:solidFill>
                            <a:schemeClr val="tx1"/>
                          </a:solidFill>
                          <a:effectLst/>
                        </a:rPr>
                        <a:t>1.</a:t>
                      </a:r>
                      <a:r>
                        <a:rPr lang="ko-KR" altLang="en-US" sz="950" kern="0" spc="0" dirty="0">
                          <a:solidFill>
                            <a:schemeClr val="tx1"/>
                          </a:solidFill>
                          <a:effectLst/>
                        </a:rPr>
                        <a:t>쉽게 </a:t>
                      </a:r>
                      <a:r>
                        <a:rPr lang="ko-KR" altLang="en-US" sz="950" kern="0" spc="0" dirty="0" err="1">
                          <a:solidFill>
                            <a:schemeClr val="tx1"/>
                          </a:solidFill>
                          <a:effectLst/>
                        </a:rPr>
                        <a:t>입수가능하지</a:t>
                      </a:r>
                      <a:r>
                        <a:rPr lang="ko-KR" altLang="en-US" sz="950" kern="0" spc="0" dirty="0">
                          <a:solidFill>
                            <a:schemeClr val="tx1"/>
                          </a:solidFill>
                          <a:effectLst/>
                        </a:rPr>
                        <a:t> 않은 경우 </a:t>
                      </a:r>
                      <a:r>
                        <a:rPr lang="en-US" altLang="ko-KR" sz="950" kern="0" spc="0" dirty="0">
                          <a:solidFill>
                            <a:schemeClr val="tx1"/>
                          </a:solidFill>
                          <a:effectLst/>
                        </a:rPr>
                        <a:t>– </a:t>
                      </a:r>
                      <a:r>
                        <a:rPr lang="ko-KR" altLang="en-US" sz="950" kern="0" spc="0" dirty="0">
                          <a:solidFill>
                            <a:schemeClr val="tx1"/>
                          </a:solidFill>
                          <a:effectLst/>
                        </a:rPr>
                        <a:t>국내기탁기관</a:t>
                      </a:r>
                      <a:r>
                        <a:rPr lang="en-US" altLang="ko-KR" sz="950" kern="0" spc="0" dirty="0">
                          <a:solidFill>
                            <a:schemeClr val="tx1"/>
                          </a:solidFill>
                          <a:effectLst/>
                        </a:rPr>
                        <a:t>/</a:t>
                      </a:r>
                      <a:r>
                        <a:rPr lang="ko-KR" altLang="en-US" sz="950" kern="0" spc="0" dirty="0">
                          <a:solidFill>
                            <a:schemeClr val="tx1"/>
                          </a:solidFill>
                          <a:effectLst/>
                        </a:rPr>
                        <a:t>지정기탁기관</a:t>
                      </a:r>
                      <a:r>
                        <a:rPr lang="en-US" altLang="ko-KR" sz="950" kern="0" spc="0" dirty="0">
                          <a:solidFill>
                            <a:schemeClr val="tx1"/>
                          </a:solidFill>
                          <a:effectLst/>
                        </a:rPr>
                        <a:t>/</a:t>
                      </a:r>
                      <a:r>
                        <a:rPr lang="ko-KR" altLang="en-US" sz="950" kern="0" spc="0" dirty="0">
                          <a:solidFill>
                            <a:schemeClr val="tx1"/>
                          </a:solidFill>
                          <a:effectLst/>
                        </a:rPr>
                        <a:t>국제기탁기관에 기탁</a:t>
                      </a:r>
                      <a:r>
                        <a:rPr lang="en-US" altLang="ko-KR" sz="950" kern="0" spc="0" dirty="0">
                          <a:solidFill>
                            <a:schemeClr val="tx1"/>
                          </a:solidFill>
                          <a:effectLst/>
                        </a:rPr>
                        <a:t>, </a:t>
                      </a:r>
                      <a:r>
                        <a:rPr lang="ko-KR" altLang="en-US" sz="950" kern="0" spc="0" dirty="0" err="1">
                          <a:solidFill>
                            <a:schemeClr val="tx1"/>
                          </a:solidFill>
                          <a:effectLst/>
                        </a:rPr>
                        <a:t>특허출원서에</a:t>
                      </a:r>
                      <a:r>
                        <a:rPr lang="ko-KR" altLang="en-US" sz="950" kern="0" spc="0" dirty="0">
                          <a:solidFill>
                            <a:schemeClr val="tx1"/>
                          </a:solidFill>
                          <a:effectLst/>
                        </a:rPr>
                        <a:t> 그 취지를 기재하고 증명서류 제출</a:t>
                      </a:r>
                      <a:r>
                        <a:rPr lang="en-US" altLang="ko-KR" sz="950" kern="0" spc="0" dirty="0">
                          <a:solidFill>
                            <a:schemeClr val="tx1"/>
                          </a:solidFill>
                          <a:effectLst/>
                        </a:rPr>
                        <a:t>(</a:t>
                      </a:r>
                      <a:r>
                        <a:rPr lang="ko-KR" altLang="en-US" sz="950" kern="0" spc="0" dirty="0">
                          <a:solidFill>
                            <a:schemeClr val="tx1"/>
                          </a:solidFill>
                          <a:effectLst/>
                        </a:rPr>
                        <a:t>단</a:t>
                      </a:r>
                      <a:r>
                        <a:rPr lang="en-US" altLang="ko-KR" sz="950" kern="0" spc="0" dirty="0">
                          <a:solidFill>
                            <a:schemeClr val="tx1"/>
                          </a:solidFill>
                          <a:effectLst/>
                        </a:rPr>
                        <a:t>, </a:t>
                      </a:r>
                      <a:r>
                        <a:rPr lang="ko-KR" altLang="en-US" sz="950" kern="0" spc="0" dirty="0">
                          <a:solidFill>
                            <a:schemeClr val="tx1"/>
                          </a:solidFill>
                          <a:effectLst/>
                        </a:rPr>
                        <a:t>국내 소재지가 있는 국내</a:t>
                      </a:r>
                      <a:r>
                        <a:rPr lang="en-US" altLang="ko-KR" sz="950" kern="0" spc="0" dirty="0">
                          <a:solidFill>
                            <a:schemeClr val="tx1"/>
                          </a:solidFill>
                          <a:effectLst/>
                        </a:rPr>
                        <a:t>/</a:t>
                      </a:r>
                      <a:r>
                        <a:rPr lang="ko-KR" altLang="en-US" sz="950" kern="0" spc="0" dirty="0">
                          <a:solidFill>
                            <a:schemeClr val="tx1"/>
                          </a:solidFill>
                          <a:effectLst/>
                        </a:rPr>
                        <a:t>국제기탁기관에 기탁한 경우에는 증명서류 제출 생략 가능</a:t>
                      </a:r>
                      <a:r>
                        <a:rPr lang="en-US" altLang="ko-KR" sz="950" kern="0" spc="0" dirty="0">
                          <a:solidFill>
                            <a:schemeClr val="tx1"/>
                          </a:solidFill>
                          <a:effectLst/>
                        </a:rPr>
                        <a:t>), </a:t>
                      </a:r>
                      <a:r>
                        <a:rPr lang="ko-KR" altLang="en-US" sz="950" kern="0" spc="0" dirty="0">
                          <a:solidFill>
                            <a:schemeClr val="tx1"/>
                          </a:solidFill>
                          <a:effectLst/>
                        </a:rPr>
                        <a:t>수탁번호 기재 </a:t>
                      </a:r>
                      <a:r>
                        <a:rPr lang="en-US" altLang="ko-KR" sz="950" kern="0" spc="0" dirty="0">
                          <a:solidFill>
                            <a:schemeClr val="tx1"/>
                          </a:solidFill>
                          <a:effectLst/>
                        </a:rPr>
                        <a:t>--&gt; </a:t>
                      </a:r>
                      <a:r>
                        <a:rPr lang="ko-KR" altLang="en-US" sz="950" kern="0" spc="0" dirty="0">
                          <a:solidFill>
                            <a:schemeClr val="tx1"/>
                          </a:solidFill>
                          <a:effectLst/>
                        </a:rPr>
                        <a:t>기탁절차가 </a:t>
                      </a:r>
                      <a:r>
                        <a:rPr lang="ko-KR" altLang="en-US" sz="950" kern="0" spc="0" dirty="0" err="1">
                          <a:solidFill>
                            <a:schemeClr val="tx1"/>
                          </a:solidFill>
                          <a:effectLst/>
                        </a:rPr>
                        <a:t>부적법한</a:t>
                      </a:r>
                      <a:r>
                        <a:rPr lang="ko-KR" altLang="en-US" sz="950" kern="0" spc="0" dirty="0">
                          <a:solidFill>
                            <a:schemeClr val="tx1"/>
                          </a:solidFill>
                          <a:effectLst/>
                        </a:rPr>
                        <a:t> 경우 그 절차를 무효</a:t>
                      </a:r>
                      <a:r>
                        <a:rPr lang="en-US" altLang="ko-KR" sz="950" kern="0" spc="0" dirty="0">
                          <a:solidFill>
                            <a:schemeClr val="tx1"/>
                          </a:solidFill>
                          <a:effectLst/>
                        </a:rPr>
                        <a:t>(</a:t>
                      </a:r>
                      <a:r>
                        <a:rPr lang="ko-KR" altLang="en-US" sz="950" kern="0" spc="0" dirty="0">
                          <a:solidFill>
                            <a:schemeClr val="tx1"/>
                          </a:solidFill>
                          <a:effectLst/>
                        </a:rPr>
                        <a:t>재량</a:t>
                      </a:r>
                      <a:r>
                        <a:rPr lang="en-US" altLang="ko-KR" sz="950" kern="0" spc="0" dirty="0">
                          <a:solidFill>
                            <a:schemeClr val="tx1"/>
                          </a:solidFill>
                          <a:effectLst/>
                        </a:rPr>
                        <a:t>)</a:t>
                      </a:r>
                      <a:endParaRPr lang="ko-KR" altLang="en-US" sz="950" kern="0" spc="0" dirty="0">
                        <a:solidFill>
                          <a:schemeClr val="tx1"/>
                        </a:solidFill>
                        <a:effectLst/>
                      </a:endParaRPr>
                    </a:p>
                    <a:p>
                      <a:pPr marL="73660" marR="0" indent="-73660" algn="just" fontAlgn="base" latinLnBrk="1">
                        <a:lnSpc>
                          <a:spcPct val="100000"/>
                        </a:lnSpc>
                        <a:spcBef>
                          <a:spcPts val="0"/>
                        </a:spcBef>
                        <a:spcAft>
                          <a:spcPts val="0"/>
                        </a:spcAft>
                      </a:pPr>
                      <a:r>
                        <a:rPr lang="en-US" altLang="ko-KR" sz="950" kern="0" spc="0" dirty="0">
                          <a:solidFill>
                            <a:schemeClr val="tx1"/>
                          </a:solidFill>
                          <a:effectLst/>
                        </a:rPr>
                        <a:t>2.</a:t>
                      </a:r>
                      <a:r>
                        <a:rPr lang="ko-KR" altLang="en-US" sz="950" kern="0" spc="0" dirty="0">
                          <a:solidFill>
                            <a:schemeClr val="tx1"/>
                          </a:solidFill>
                          <a:effectLst/>
                        </a:rPr>
                        <a:t>쉽게 입수가능한 경우 </a:t>
                      </a:r>
                      <a:r>
                        <a:rPr lang="en-US" altLang="ko-KR" sz="950" kern="0" spc="0" dirty="0">
                          <a:solidFill>
                            <a:schemeClr val="tx1"/>
                          </a:solidFill>
                          <a:effectLst/>
                        </a:rPr>
                        <a:t>– </a:t>
                      </a:r>
                      <a:r>
                        <a:rPr lang="ko-KR" altLang="en-US" sz="950" kern="0" spc="0" dirty="0">
                          <a:solidFill>
                            <a:schemeClr val="tx1"/>
                          </a:solidFill>
                          <a:effectLst/>
                        </a:rPr>
                        <a:t>입수방법기재</a:t>
                      </a:r>
                      <a:endParaRPr lang="ko-KR" altLang="en-US" sz="950" kern="0" spc="0" dirty="0">
                        <a:solidFill>
                          <a:schemeClr val="tx1"/>
                        </a:solidFill>
                        <a:effectLst/>
                        <a:latin typeface="+mn-ea"/>
                        <a:ea typeface="+mn-ea"/>
                      </a:endParaRPr>
                    </a:p>
                  </a:txBody>
                  <a:tcPr marL="47473" marR="47473" marT="23737" marB="23737" anchor="ctr"/>
                </a:tc>
                <a:tc>
                  <a:txBody>
                    <a:bodyPr/>
                    <a:lstStyle/>
                    <a:p>
                      <a:pPr marL="73660" marR="0" indent="-73660" algn="just" fontAlgn="base" latinLnBrk="1">
                        <a:lnSpc>
                          <a:spcPct val="100000"/>
                        </a:lnSpc>
                        <a:spcBef>
                          <a:spcPts val="0"/>
                        </a:spcBef>
                        <a:spcAft>
                          <a:spcPts val="0"/>
                        </a:spcAft>
                      </a:pPr>
                      <a:r>
                        <a:rPr lang="ko-KR" altLang="en-US" sz="950" kern="0" spc="0">
                          <a:effectLst/>
                        </a:rPr>
                        <a:t>식물기탁으로 </a:t>
                      </a:r>
                      <a:r>
                        <a:rPr lang="ko-KR" altLang="en-US" sz="950" kern="0" spc="0" dirty="0">
                          <a:effectLst/>
                        </a:rPr>
                        <a:t>명세서 기재를 보충하거나 대체 不可</a:t>
                      </a:r>
                      <a:endParaRPr lang="ko-KR" altLang="en-US" sz="950" kern="0" spc="0" dirty="0">
                        <a:solidFill>
                          <a:srgbClr val="000000"/>
                        </a:solidFill>
                        <a:effectLst/>
                        <a:latin typeface="+mn-ea"/>
                        <a:ea typeface="+mn-ea"/>
                      </a:endParaRPr>
                    </a:p>
                  </a:txBody>
                  <a:tcPr marL="47473" marR="47473" marT="23737" marB="23737" anchor="ctr"/>
                </a:tc>
                <a:extLst>
                  <a:ext uri="{0D108BD9-81ED-4DB2-BD59-A6C34878D82A}">
                    <a16:rowId xmlns:a16="http://schemas.microsoft.com/office/drawing/2014/main" val="10003"/>
                  </a:ext>
                </a:extLst>
              </a:tr>
              <a:tr h="1126477">
                <a:tc rowSpan="3">
                  <a:txBody>
                    <a:bodyPr/>
                    <a:lstStyle/>
                    <a:p>
                      <a:pPr marL="0" marR="0" indent="0" algn="ctr" fontAlgn="base" latinLnBrk="0">
                        <a:lnSpc>
                          <a:spcPct val="100000"/>
                        </a:lnSpc>
                        <a:spcBef>
                          <a:spcPts val="0"/>
                        </a:spcBef>
                        <a:spcAft>
                          <a:spcPts val="0"/>
                        </a:spcAft>
                      </a:pPr>
                      <a:r>
                        <a:rPr lang="ko-KR" altLang="en-US" sz="950" kern="0" spc="0" dirty="0" err="1">
                          <a:effectLst/>
                        </a:rPr>
                        <a:t>특</a:t>
                      </a:r>
                      <a:endParaRPr lang="en-US" altLang="ko-KR" sz="950" kern="0" spc="0" dirty="0">
                        <a:effectLst/>
                      </a:endParaRPr>
                    </a:p>
                    <a:p>
                      <a:pPr marL="0" marR="0" indent="0" algn="ctr" fontAlgn="base" latinLnBrk="0">
                        <a:lnSpc>
                          <a:spcPct val="100000"/>
                        </a:lnSpc>
                        <a:spcBef>
                          <a:spcPts val="0"/>
                        </a:spcBef>
                        <a:spcAft>
                          <a:spcPts val="0"/>
                        </a:spcAft>
                      </a:pPr>
                      <a:r>
                        <a:rPr lang="ko-KR" altLang="en-US" sz="950" kern="0" spc="0" dirty="0">
                          <a:effectLst/>
                        </a:rPr>
                        <a:t>허</a:t>
                      </a:r>
                      <a:endParaRPr lang="en-US" altLang="ko-KR" sz="950" kern="0" spc="0" dirty="0">
                        <a:effectLst/>
                      </a:endParaRPr>
                    </a:p>
                    <a:p>
                      <a:pPr marL="0" marR="0" indent="0" algn="ctr" fontAlgn="base" latinLnBrk="0">
                        <a:lnSpc>
                          <a:spcPct val="100000"/>
                        </a:lnSpc>
                        <a:spcBef>
                          <a:spcPts val="0"/>
                        </a:spcBef>
                        <a:spcAft>
                          <a:spcPts val="0"/>
                        </a:spcAft>
                      </a:pPr>
                      <a:r>
                        <a:rPr lang="ko-KR" altLang="en-US" sz="950" kern="0" spc="0" dirty="0">
                          <a:effectLst/>
                        </a:rPr>
                        <a:t>권</a:t>
                      </a:r>
                      <a:endParaRPr lang="ko-KR" altLang="en-US" sz="950" b="1" kern="0" spc="0" dirty="0">
                        <a:solidFill>
                          <a:srgbClr val="000000"/>
                        </a:solidFill>
                        <a:effectLst/>
                        <a:latin typeface="+mn-ea"/>
                        <a:ea typeface="+mn-ea"/>
                      </a:endParaRPr>
                    </a:p>
                  </a:txBody>
                  <a:tcPr marL="47473" marR="47473" marT="23737" marB="23737" anchor="ctr"/>
                </a:tc>
                <a:tc>
                  <a:txBody>
                    <a:bodyPr/>
                    <a:lstStyle/>
                    <a:p>
                      <a:pPr marL="0" marR="0" indent="0" algn="ctr" fontAlgn="base" latinLnBrk="0">
                        <a:lnSpc>
                          <a:spcPct val="100000"/>
                        </a:lnSpc>
                        <a:spcBef>
                          <a:spcPts val="0"/>
                        </a:spcBef>
                        <a:spcAft>
                          <a:spcPts val="0"/>
                        </a:spcAft>
                      </a:pPr>
                      <a:r>
                        <a:rPr lang="ko-KR" altLang="en-US" sz="950" kern="0" spc="0">
                          <a:effectLst/>
                        </a:rPr>
                        <a:t>효력</a:t>
                      </a:r>
                      <a:endParaRPr lang="ko-KR" altLang="en-US" sz="950" b="1" kern="0" spc="0">
                        <a:solidFill>
                          <a:srgbClr val="000000"/>
                        </a:solidFill>
                        <a:effectLst/>
                        <a:latin typeface="+mn-ea"/>
                        <a:ea typeface="+mn-ea"/>
                      </a:endParaRPr>
                    </a:p>
                  </a:txBody>
                  <a:tcPr marL="47473" marR="47473" marT="23737" marB="23737" anchor="ctr"/>
                </a:tc>
                <a:tc>
                  <a:txBody>
                    <a:bodyPr/>
                    <a:lstStyle/>
                    <a:p>
                      <a:pPr marL="85725" marR="0" lvl="0" indent="-85725" algn="just" defTabSz="914400" rtl="0" eaLnBrk="1" fontAlgn="base" latinLnBrk="1" hangingPunct="1">
                        <a:lnSpc>
                          <a:spcPct val="100000"/>
                        </a:lnSpc>
                        <a:spcBef>
                          <a:spcPts val="0"/>
                        </a:spcBef>
                        <a:spcAft>
                          <a:spcPts val="0"/>
                        </a:spcAft>
                        <a:buClrTx/>
                        <a:buSzTx/>
                        <a:buFontTx/>
                        <a:buNone/>
                        <a:tabLst/>
                        <a:defRPr/>
                      </a:pPr>
                      <a:r>
                        <a:rPr lang="en-US" altLang="ko-KR" sz="950" kern="0" spc="0" dirty="0">
                          <a:solidFill>
                            <a:schemeClr val="tx1"/>
                          </a:solidFill>
                          <a:effectLst/>
                          <a:latin typeface="+mn-lt"/>
                          <a:ea typeface="+mn-ea"/>
                          <a:cs typeface="+mn-cs"/>
                        </a:rPr>
                        <a:t>1.</a:t>
                      </a:r>
                      <a:r>
                        <a:rPr lang="ko-KR" altLang="en-US" sz="950" kern="1200" dirty="0">
                          <a:solidFill>
                            <a:schemeClr val="tx1"/>
                          </a:solidFill>
                          <a:effectLst/>
                          <a:latin typeface="+mn-lt"/>
                          <a:ea typeface="+mn-ea"/>
                          <a:cs typeface="+mn-cs"/>
                        </a:rPr>
                        <a:t>컴퓨터 프로그램 실행</a:t>
                      </a:r>
                      <a:r>
                        <a:rPr lang="en-US" altLang="ko-KR" sz="950" kern="1200" dirty="0">
                          <a:solidFill>
                            <a:schemeClr val="tx1"/>
                          </a:solidFill>
                          <a:effectLst/>
                          <a:latin typeface="+mn-lt"/>
                          <a:ea typeface="+mn-ea"/>
                          <a:cs typeface="+mn-cs"/>
                        </a:rPr>
                        <a:t>(</a:t>
                      </a:r>
                      <a:r>
                        <a:rPr lang="ko-KR" altLang="en-US" sz="950" kern="1200" dirty="0">
                          <a:solidFill>
                            <a:schemeClr val="tx1"/>
                          </a:solidFill>
                          <a:effectLst/>
                          <a:latin typeface="+mn-lt"/>
                          <a:ea typeface="+mn-ea"/>
                          <a:cs typeface="+mn-cs"/>
                        </a:rPr>
                        <a:t>방법의 사용</a:t>
                      </a:r>
                      <a:r>
                        <a:rPr lang="en-US" altLang="ko-KR" sz="950" kern="1200" dirty="0">
                          <a:solidFill>
                            <a:schemeClr val="tx1"/>
                          </a:solidFill>
                          <a:effectLst/>
                          <a:latin typeface="+mn-lt"/>
                          <a:ea typeface="+mn-ea"/>
                          <a:cs typeface="+mn-cs"/>
                        </a:rPr>
                        <a:t>)</a:t>
                      </a:r>
                      <a:r>
                        <a:rPr lang="ko-KR" altLang="en-US" sz="950" kern="1200" dirty="0">
                          <a:solidFill>
                            <a:schemeClr val="tx1"/>
                          </a:solidFill>
                          <a:effectLst/>
                          <a:latin typeface="+mn-lt"/>
                          <a:ea typeface="+mn-ea"/>
                          <a:cs typeface="+mn-cs"/>
                        </a:rPr>
                        <a:t>을 위한 온라인 전송행위</a:t>
                      </a:r>
                      <a:r>
                        <a:rPr lang="en-US" altLang="ko-KR" sz="950" kern="1200" dirty="0">
                          <a:solidFill>
                            <a:schemeClr val="tx1"/>
                          </a:solidFill>
                          <a:effectLst/>
                          <a:latin typeface="+mn-lt"/>
                          <a:ea typeface="+mn-ea"/>
                          <a:cs typeface="+mn-cs"/>
                        </a:rPr>
                        <a:t>(</a:t>
                      </a:r>
                      <a:r>
                        <a:rPr lang="ko-KR" altLang="en-US" sz="950" kern="1200" dirty="0">
                          <a:solidFill>
                            <a:schemeClr val="tx1"/>
                          </a:solidFill>
                          <a:effectLst/>
                          <a:latin typeface="+mn-lt"/>
                          <a:ea typeface="+mn-ea"/>
                          <a:cs typeface="+mn-cs"/>
                        </a:rPr>
                        <a:t>청약</a:t>
                      </a:r>
                      <a:r>
                        <a:rPr lang="en-US" altLang="ko-KR" sz="950" kern="1200" dirty="0">
                          <a:solidFill>
                            <a:schemeClr val="tx1"/>
                          </a:solidFill>
                          <a:effectLst/>
                          <a:latin typeface="+mn-lt"/>
                          <a:ea typeface="+mn-ea"/>
                          <a:cs typeface="+mn-cs"/>
                        </a:rPr>
                        <a:t>)</a:t>
                      </a:r>
                      <a:r>
                        <a:rPr lang="ko-KR" altLang="en-US" sz="950" kern="1200" dirty="0">
                          <a:solidFill>
                            <a:schemeClr val="tx1"/>
                          </a:solidFill>
                          <a:effectLst/>
                          <a:latin typeface="+mn-lt"/>
                          <a:ea typeface="+mn-ea"/>
                          <a:cs typeface="+mn-cs"/>
                        </a:rPr>
                        <a:t>를 방법발명의 실시의 일 유형으로 포섭 </a:t>
                      </a:r>
                      <a:r>
                        <a:rPr lang="en-US" altLang="ko-KR" sz="950" kern="1200" dirty="0">
                          <a:solidFill>
                            <a:schemeClr val="tx1"/>
                          </a:solidFill>
                          <a:effectLst/>
                          <a:latin typeface="+mn-lt"/>
                          <a:ea typeface="+mn-ea"/>
                          <a:cs typeface="+mn-cs"/>
                        </a:rPr>
                        <a:t>(</a:t>
                      </a:r>
                      <a:r>
                        <a:rPr lang="ko-KR" altLang="en-US" sz="950" kern="1200" dirty="0">
                          <a:solidFill>
                            <a:schemeClr val="tx1"/>
                          </a:solidFill>
                          <a:effectLst/>
                          <a:latin typeface="+mn-lt"/>
                          <a:ea typeface="+mn-ea"/>
                          <a:cs typeface="+mn-cs"/>
                        </a:rPr>
                        <a:t>法 </a:t>
                      </a:r>
                      <a:r>
                        <a:rPr lang="en-US" altLang="ko-KR" sz="950" kern="1200" dirty="0">
                          <a:solidFill>
                            <a:schemeClr val="tx1"/>
                          </a:solidFill>
                          <a:effectLst/>
                          <a:latin typeface="+mn-lt"/>
                          <a:ea typeface="+mn-ea"/>
                          <a:cs typeface="+mn-cs"/>
                        </a:rPr>
                        <a:t>2Ⅲ</a:t>
                      </a:r>
                      <a:r>
                        <a:rPr lang="ko-KR" altLang="en-US" sz="950" kern="1200" dirty="0">
                          <a:solidFill>
                            <a:schemeClr val="tx1"/>
                          </a:solidFill>
                          <a:effectLst/>
                          <a:latin typeface="+mn-lt"/>
                          <a:ea typeface="+mn-ea"/>
                          <a:cs typeface="+mn-cs"/>
                        </a:rPr>
                        <a:t>나</a:t>
                      </a:r>
                      <a:r>
                        <a:rPr lang="en-US" altLang="ko-KR" sz="950" kern="1200" dirty="0">
                          <a:solidFill>
                            <a:schemeClr val="tx1"/>
                          </a:solidFill>
                          <a:effectLst/>
                          <a:latin typeface="+mn-lt"/>
                          <a:ea typeface="+mn-ea"/>
                          <a:cs typeface="+mn-cs"/>
                        </a:rPr>
                        <a:t>). </a:t>
                      </a:r>
                    </a:p>
                    <a:p>
                      <a:pPr marL="85725" marR="0" lvl="0" indent="-85725" algn="just" defTabSz="914400" rtl="0" eaLnBrk="1" fontAlgn="base" latinLnBrk="1" hangingPunct="1">
                        <a:lnSpc>
                          <a:spcPct val="100000"/>
                        </a:lnSpc>
                        <a:spcBef>
                          <a:spcPts val="0"/>
                        </a:spcBef>
                        <a:spcAft>
                          <a:spcPts val="0"/>
                        </a:spcAft>
                        <a:buClrTx/>
                        <a:buSzTx/>
                        <a:buFontTx/>
                        <a:buNone/>
                        <a:tabLst/>
                        <a:defRPr/>
                      </a:pPr>
                      <a:r>
                        <a:rPr lang="en-US" altLang="ko-KR" sz="950" kern="1200" dirty="0">
                          <a:solidFill>
                            <a:schemeClr val="tx1"/>
                          </a:solidFill>
                          <a:effectLst/>
                          <a:latin typeface="+mn-lt"/>
                          <a:ea typeface="+mn-ea"/>
                          <a:cs typeface="+mn-cs"/>
                        </a:rPr>
                        <a:t>2.</a:t>
                      </a:r>
                      <a:r>
                        <a:rPr lang="ko-KR" altLang="en-US" sz="950" kern="1200" dirty="0">
                          <a:solidFill>
                            <a:schemeClr val="tx1"/>
                          </a:solidFill>
                          <a:effectLst/>
                          <a:latin typeface="+mn-lt"/>
                          <a:ea typeface="+mn-ea"/>
                          <a:cs typeface="+mn-cs"/>
                        </a:rPr>
                        <a:t>다만</a:t>
                      </a:r>
                      <a:r>
                        <a:rPr lang="en-US" altLang="ko-KR" sz="950" kern="1200" dirty="0">
                          <a:solidFill>
                            <a:schemeClr val="tx1"/>
                          </a:solidFill>
                          <a:effectLst/>
                          <a:latin typeface="+mn-lt"/>
                          <a:ea typeface="+mn-ea"/>
                          <a:cs typeface="+mn-cs"/>
                        </a:rPr>
                        <a:t>, </a:t>
                      </a:r>
                      <a:r>
                        <a:rPr lang="ko-KR" altLang="en-US" sz="950" kern="1200" dirty="0">
                          <a:solidFill>
                            <a:schemeClr val="tx1"/>
                          </a:solidFill>
                          <a:effectLst/>
                          <a:latin typeface="+mn-lt"/>
                          <a:ea typeface="+mn-ea"/>
                          <a:cs typeface="+mn-cs"/>
                        </a:rPr>
                        <a:t>소프트웨어 산업의 위축을 방지하기 위하여 그 방법의 사용이 특허권 또는 전용실시권을 침해한다는 것을 알면서 그 방법의 사용을 청약하는 행위에만 특허권의 효력이 미치도록 제한하고 있다</a:t>
                      </a:r>
                      <a:r>
                        <a:rPr lang="en-US" altLang="ko-KR" sz="950" kern="1200" dirty="0">
                          <a:solidFill>
                            <a:schemeClr val="tx1"/>
                          </a:solidFill>
                          <a:effectLst/>
                          <a:latin typeface="+mn-lt"/>
                          <a:ea typeface="+mn-ea"/>
                          <a:cs typeface="+mn-cs"/>
                        </a:rPr>
                        <a:t>(</a:t>
                      </a:r>
                      <a:r>
                        <a:rPr lang="ko-KR" altLang="en-US" sz="950" kern="1200" dirty="0">
                          <a:solidFill>
                            <a:schemeClr val="tx1"/>
                          </a:solidFill>
                          <a:effectLst/>
                          <a:latin typeface="+mn-lt"/>
                          <a:ea typeface="+mn-ea"/>
                          <a:cs typeface="+mn-cs"/>
                        </a:rPr>
                        <a:t>法 </a:t>
                      </a:r>
                      <a:r>
                        <a:rPr lang="en-US" altLang="ko-KR" sz="950" kern="1200" dirty="0">
                          <a:solidFill>
                            <a:schemeClr val="tx1"/>
                          </a:solidFill>
                          <a:effectLst/>
                          <a:latin typeface="+mn-lt"/>
                          <a:ea typeface="+mn-ea"/>
                          <a:cs typeface="+mn-cs"/>
                        </a:rPr>
                        <a:t>94</a:t>
                      </a:r>
                      <a:r>
                        <a:rPr lang="ko-KR" altLang="en-US" sz="950" kern="1200" dirty="0">
                          <a:solidFill>
                            <a:schemeClr val="tx1"/>
                          </a:solidFill>
                          <a:effectLst/>
                          <a:latin typeface="+mn-lt"/>
                          <a:ea typeface="+mn-ea"/>
                          <a:cs typeface="+mn-cs"/>
                        </a:rPr>
                        <a:t>②</a:t>
                      </a:r>
                      <a:r>
                        <a:rPr lang="en-US" altLang="ko-KR" sz="950" kern="1200" dirty="0">
                          <a:solidFill>
                            <a:schemeClr val="tx1"/>
                          </a:solidFill>
                          <a:effectLst/>
                          <a:latin typeface="+mn-lt"/>
                          <a:ea typeface="+mn-ea"/>
                          <a:cs typeface="+mn-cs"/>
                        </a:rPr>
                        <a:t>). </a:t>
                      </a:r>
                      <a:r>
                        <a:rPr lang="ko-KR" altLang="en-US" sz="950" kern="1200" dirty="0">
                          <a:solidFill>
                            <a:schemeClr val="tx1"/>
                          </a:solidFill>
                          <a:effectLst/>
                          <a:latin typeface="+mn-lt"/>
                          <a:ea typeface="+mn-ea"/>
                          <a:cs typeface="+mn-cs"/>
                        </a:rPr>
                        <a:t>따라서 방법의 사용을 청약하는 행위에는 특허법 제</a:t>
                      </a:r>
                      <a:r>
                        <a:rPr lang="en-US" altLang="ko-KR" sz="950" kern="1200" dirty="0">
                          <a:solidFill>
                            <a:schemeClr val="tx1"/>
                          </a:solidFill>
                          <a:effectLst/>
                          <a:latin typeface="+mn-lt"/>
                          <a:ea typeface="+mn-ea"/>
                          <a:cs typeface="+mn-cs"/>
                        </a:rPr>
                        <a:t>130</a:t>
                      </a:r>
                      <a:r>
                        <a:rPr lang="ko-KR" altLang="en-US" sz="950" kern="1200" dirty="0">
                          <a:solidFill>
                            <a:schemeClr val="tx1"/>
                          </a:solidFill>
                          <a:effectLst/>
                          <a:latin typeface="+mn-lt"/>
                          <a:ea typeface="+mn-ea"/>
                          <a:cs typeface="+mn-cs"/>
                        </a:rPr>
                        <a:t>조의 과실추정 규정 불적용</a:t>
                      </a:r>
                      <a:endParaRPr lang="ko-KR" altLang="en-US" sz="900" kern="0" spc="0" dirty="0">
                        <a:solidFill>
                          <a:schemeClr val="tx1"/>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ko-KR" altLang="en-US" sz="950" kern="0" spc="0" dirty="0">
                          <a:solidFill>
                            <a:schemeClr val="tx1"/>
                          </a:solidFill>
                          <a:effectLst/>
                        </a:rPr>
                        <a:t>　</a:t>
                      </a:r>
                      <a:endParaRPr lang="ko-KR" altLang="en-US" sz="950" kern="0" spc="0" dirty="0">
                        <a:solidFill>
                          <a:schemeClr val="tx1"/>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ko-KR" altLang="en-US" sz="950" kern="0" spc="0" dirty="0">
                          <a:effectLst/>
                        </a:rPr>
                        <a:t>　</a:t>
                      </a:r>
                      <a:endParaRPr lang="ko-KR" altLang="en-US" sz="950" kern="0" spc="0" dirty="0">
                        <a:solidFill>
                          <a:srgbClr val="000000"/>
                        </a:solidFill>
                        <a:effectLst/>
                        <a:latin typeface="+mn-ea"/>
                        <a:ea typeface="+mn-ea"/>
                      </a:endParaRPr>
                    </a:p>
                  </a:txBody>
                  <a:tcPr marL="47473" marR="47473" marT="23737" marB="23737" anchor="ctr"/>
                </a:tc>
                <a:extLst>
                  <a:ext uri="{0D108BD9-81ED-4DB2-BD59-A6C34878D82A}">
                    <a16:rowId xmlns:a16="http://schemas.microsoft.com/office/drawing/2014/main" val="10005"/>
                  </a:ext>
                </a:extLst>
              </a:tr>
              <a:tr h="200711">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950" kern="0" spc="0">
                          <a:effectLst/>
                        </a:rPr>
                        <a:t>제한</a:t>
                      </a:r>
                      <a:endParaRPr lang="ko-KR" altLang="en-US" sz="950" b="1" kern="0" spc="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endParaRPr lang="ko-KR" altLang="en-US" sz="950" kern="0" spc="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endParaRPr lang="ko-KR" altLang="en-US" sz="950" kern="0" spc="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endParaRPr lang="ko-KR" altLang="en-US" sz="950" kern="0" spc="0">
                        <a:solidFill>
                          <a:srgbClr val="000000"/>
                        </a:solidFill>
                        <a:effectLst/>
                        <a:latin typeface="+mn-ea"/>
                        <a:ea typeface="+mn-ea"/>
                      </a:endParaRPr>
                    </a:p>
                  </a:txBody>
                  <a:tcPr marL="47473" marR="47473" marT="23737" marB="23737" anchor="ctr"/>
                </a:tc>
                <a:extLst>
                  <a:ext uri="{0D108BD9-81ED-4DB2-BD59-A6C34878D82A}">
                    <a16:rowId xmlns:a16="http://schemas.microsoft.com/office/drawing/2014/main" val="10006"/>
                  </a:ext>
                </a:extLst>
              </a:tr>
              <a:tr h="331441">
                <a:tc vMerge="1">
                  <a:txBody>
                    <a:bodyPr/>
                    <a:lstStyle/>
                    <a:p>
                      <a:pPr latinLnBrk="1"/>
                      <a:endParaRPr lang="ko-KR" altLang="en-US"/>
                    </a:p>
                  </a:txBody>
                  <a:tcPr/>
                </a:tc>
                <a:tc>
                  <a:txBody>
                    <a:bodyPr/>
                    <a:lstStyle/>
                    <a:p>
                      <a:pPr marL="0" marR="0" indent="0" algn="ctr" fontAlgn="base" latinLnBrk="0">
                        <a:lnSpc>
                          <a:spcPct val="100000"/>
                        </a:lnSpc>
                        <a:spcBef>
                          <a:spcPts val="0"/>
                        </a:spcBef>
                        <a:spcAft>
                          <a:spcPts val="0"/>
                        </a:spcAft>
                      </a:pPr>
                      <a:r>
                        <a:rPr lang="ko-KR" altLang="en-US" sz="950" kern="0" spc="0">
                          <a:effectLst/>
                        </a:rPr>
                        <a:t>확장</a:t>
                      </a:r>
                      <a:endParaRPr lang="ko-KR" altLang="en-US" sz="950" b="1" kern="0" spc="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endParaRPr lang="ko-KR" altLang="en-US" sz="950" kern="0" spc="0" dirty="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ko-KR" altLang="en-US" sz="950" kern="0" spc="0" dirty="0">
                          <a:effectLst/>
                        </a:rPr>
                        <a:t>허가 등에 따른 존속기간의 연장가능</a:t>
                      </a:r>
                      <a:endParaRPr lang="ko-KR" altLang="en-US" sz="950" kern="0" spc="0" dirty="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endParaRPr lang="ko-KR" altLang="en-US" sz="950" kern="0" spc="0">
                        <a:solidFill>
                          <a:srgbClr val="000000"/>
                        </a:solidFill>
                        <a:effectLst/>
                        <a:latin typeface="+mn-ea"/>
                        <a:ea typeface="+mn-ea"/>
                      </a:endParaRPr>
                    </a:p>
                  </a:txBody>
                  <a:tcPr marL="47473" marR="47473" marT="23737" marB="23737" anchor="ctr"/>
                </a:tc>
                <a:extLst>
                  <a:ext uri="{0D108BD9-81ED-4DB2-BD59-A6C34878D82A}">
                    <a16:rowId xmlns:a16="http://schemas.microsoft.com/office/drawing/2014/main" val="10007"/>
                  </a:ext>
                </a:extLst>
              </a:tr>
              <a:tr h="805306">
                <a:tc gridSpan="2">
                  <a:txBody>
                    <a:bodyPr/>
                    <a:lstStyle/>
                    <a:p>
                      <a:pPr marL="0" marR="0" indent="0" algn="ctr" fontAlgn="base" latinLnBrk="0">
                        <a:lnSpc>
                          <a:spcPct val="100000"/>
                        </a:lnSpc>
                        <a:spcBef>
                          <a:spcPts val="0"/>
                        </a:spcBef>
                        <a:spcAft>
                          <a:spcPts val="0"/>
                        </a:spcAft>
                      </a:pPr>
                      <a:r>
                        <a:rPr lang="ko-KR" altLang="en-US" sz="950" kern="0" spc="0">
                          <a:effectLst/>
                        </a:rPr>
                        <a:t>비고</a:t>
                      </a:r>
                      <a:endParaRPr lang="ko-KR" altLang="en-US" sz="950" b="1" kern="0" spc="0">
                        <a:solidFill>
                          <a:srgbClr val="000000"/>
                        </a:solidFill>
                        <a:effectLst/>
                        <a:latin typeface="+mn-ea"/>
                        <a:ea typeface="+mn-ea"/>
                      </a:endParaRPr>
                    </a:p>
                  </a:txBody>
                  <a:tcPr marL="47473" marR="47473" marT="23737" marB="23737" anchor="ctr"/>
                </a:tc>
                <a:tc hMerge="1">
                  <a:txBody>
                    <a:bodyPr/>
                    <a:lstStyle/>
                    <a:p>
                      <a:pPr latinLnBrk="1"/>
                      <a:endParaRPr lang="ko-KR" altLang="en-US"/>
                    </a:p>
                  </a:txBody>
                  <a:tcPr/>
                </a:tc>
                <a:tc>
                  <a:txBody>
                    <a:bodyPr/>
                    <a:lstStyle/>
                    <a:p>
                      <a:pPr marL="0" marR="0" indent="0" algn="just" fontAlgn="base" latinLnBrk="1">
                        <a:lnSpc>
                          <a:spcPct val="100000"/>
                        </a:lnSpc>
                        <a:spcBef>
                          <a:spcPts val="0"/>
                        </a:spcBef>
                        <a:spcAft>
                          <a:spcPts val="0"/>
                        </a:spcAft>
                      </a:pPr>
                      <a:r>
                        <a:rPr lang="ko-KR" altLang="en-US" sz="950" kern="0" spc="0">
                          <a:effectLst/>
                        </a:rPr>
                        <a:t>　</a:t>
                      </a:r>
                      <a:endParaRPr lang="ko-KR" altLang="en-US" sz="950" kern="0" spc="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en-US" altLang="ko-KR" sz="950" kern="0" spc="0">
                          <a:effectLst/>
                        </a:rPr>
                        <a:t>1.</a:t>
                      </a:r>
                      <a:r>
                        <a:rPr lang="ko-KR" altLang="en-US" sz="950" kern="0" spc="0">
                          <a:effectLst/>
                        </a:rPr>
                        <a:t>미생물의 분양</a:t>
                      </a:r>
                    </a:p>
                    <a:p>
                      <a:pPr marL="0" marR="0" indent="0" algn="just" fontAlgn="base" latinLnBrk="1">
                        <a:lnSpc>
                          <a:spcPct val="100000"/>
                        </a:lnSpc>
                        <a:spcBef>
                          <a:spcPts val="0"/>
                        </a:spcBef>
                        <a:spcAft>
                          <a:spcPts val="0"/>
                        </a:spcAft>
                      </a:pPr>
                      <a:r>
                        <a:rPr lang="ko-KR" altLang="en-US" sz="950" kern="0" spc="0">
                          <a:effectLst/>
                        </a:rPr>
                        <a:t>① 출원공개</a:t>
                      </a:r>
                      <a:r>
                        <a:rPr lang="en-US" altLang="ko-KR" sz="950" kern="0" spc="0">
                          <a:effectLst/>
                        </a:rPr>
                        <a:t>/</a:t>
                      </a:r>
                      <a:r>
                        <a:rPr lang="ko-KR" altLang="en-US" sz="950" kern="0" spc="0">
                          <a:effectLst/>
                        </a:rPr>
                        <a:t>설정등록</a:t>
                      </a:r>
                    </a:p>
                    <a:p>
                      <a:pPr marL="0" marR="0" indent="0" algn="just" fontAlgn="base" latinLnBrk="1">
                        <a:lnSpc>
                          <a:spcPct val="100000"/>
                        </a:lnSpc>
                        <a:spcBef>
                          <a:spcPts val="0"/>
                        </a:spcBef>
                        <a:spcAft>
                          <a:spcPts val="0"/>
                        </a:spcAft>
                      </a:pPr>
                      <a:r>
                        <a:rPr lang="ko-KR" altLang="en-US" sz="950" kern="0" spc="0">
                          <a:effectLst/>
                        </a:rPr>
                        <a:t>② 의견서 작성에 필요</a:t>
                      </a:r>
                    </a:p>
                    <a:p>
                      <a:pPr marL="0" marR="0" indent="0" algn="just" fontAlgn="base" latinLnBrk="1">
                        <a:lnSpc>
                          <a:spcPct val="100000"/>
                        </a:lnSpc>
                        <a:spcBef>
                          <a:spcPts val="0"/>
                        </a:spcBef>
                        <a:spcAft>
                          <a:spcPts val="0"/>
                        </a:spcAft>
                      </a:pPr>
                      <a:r>
                        <a:rPr lang="ko-KR" altLang="en-US" sz="950" kern="0" spc="0">
                          <a:effectLst/>
                        </a:rPr>
                        <a:t>③ 기탁한 자로부터 분양에 대한 허락을 받은 자</a:t>
                      </a:r>
                    </a:p>
                    <a:p>
                      <a:pPr marL="0" marR="0" indent="0" algn="just" fontAlgn="base" latinLnBrk="1">
                        <a:lnSpc>
                          <a:spcPct val="100000"/>
                        </a:lnSpc>
                        <a:spcBef>
                          <a:spcPts val="0"/>
                        </a:spcBef>
                        <a:spcAft>
                          <a:spcPts val="0"/>
                        </a:spcAft>
                      </a:pPr>
                      <a:r>
                        <a:rPr lang="en-US" altLang="ko-KR" sz="950" kern="0" spc="0">
                          <a:effectLst/>
                        </a:rPr>
                        <a:t>2.</a:t>
                      </a:r>
                      <a:r>
                        <a:rPr lang="ko-KR" altLang="en-US" sz="950" kern="0" spc="0">
                          <a:effectLst/>
                        </a:rPr>
                        <a:t>제</a:t>
                      </a:r>
                      <a:r>
                        <a:rPr lang="en-US" altLang="ko-KR" sz="950" kern="0" spc="0">
                          <a:effectLst/>
                        </a:rPr>
                        <a:t>3</a:t>
                      </a:r>
                      <a:r>
                        <a:rPr lang="ko-KR" altLang="en-US" sz="950" kern="0" spc="0">
                          <a:effectLst/>
                        </a:rPr>
                        <a:t>자에게 이용금지</a:t>
                      </a:r>
                      <a:endParaRPr lang="ko-KR" altLang="en-US" sz="950" kern="0" spc="0">
                        <a:solidFill>
                          <a:srgbClr val="000000"/>
                        </a:solidFill>
                        <a:effectLst/>
                        <a:latin typeface="+mn-ea"/>
                        <a:ea typeface="+mn-ea"/>
                      </a:endParaRPr>
                    </a:p>
                  </a:txBody>
                  <a:tcPr marL="47473" marR="47473" marT="23737" marB="23737" anchor="ctr"/>
                </a:tc>
                <a:tc>
                  <a:txBody>
                    <a:bodyPr/>
                    <a:lstStyle/>
                    <a:p>
                      <a:pPr marL="0" marR="0" indent="0" algn="just" fontAlgn="base" latinLnBrk="1">
                        <a:lnSpc>
                          <a:spcPct val="100000"/>
                        </a:lnSpc>
                        <a:spcBef>
                          <a:spcPts val="0"/>
                        </a:spcBef>
                        <a:spcAft>
                          <a:spcPts val="0"/>
                        </a:spcAft>
                      </a:pPr>
                      <a:r>
                        <a:rPr lang="en-US" altLang="ko-KR" sz="950" kern="0" spc="0" dirty="0">
                          <a:effectLst/>
                        </a:rPr>
                        <a:t>WTO/TRIPs </a:t>
                      </a:r>
                      <a:r>
                        <a:rPr lang="ko-KR" altLang="en-US" sz="950" kern="0" spc="0" dirty="0">
                          <a:effectLst/>
                        </a:rPr>
                        <a:t>제</a:t>
                      </a:r>
                      <a:r>
                        <a:rPr lang="en-US" altLang="ko-KR" sz="950" kern="0" spc="0" dirty="0">
                          <a:effectLst/>
                        </a:rPr>
                        <a:t>27</a:t>
                      </a:r>
                      <a:r>
                        <a:rPr lang="ko-KR" altLang="en-US" sz="950" kern="0" spc="0" dirty="0">
                          <a:effectLst/>
                        </a:rPr>
                        <a:t>조제</a:t>
                      </a:r>
                      <a:r>
                        <a:rPr lang="en-US" altLang="ko-KR" sz="950" kern="0" spc="0" dirty="0">
                          <a:effectLst/>
                        </a:rPr>
                        <a:t>3</a:t>
                      </a:r>
                      <a:r>
                        <a:rPr lang="ko-KR" altLang="en-US" sz="950" kern="0" spc="0" dirty="0">
                          <a:effectLst/>
                        </a:rPr>
                        <a:t>항의 규정에서는 식물변종의 발명에 관해서는 </a:t>
                      </a:r>
                      <a:r>
                        <a:rPr lang="ko-KR" altLang="en-US" sz="950" kern="0" spc="0" dirty="0" err="1">
                          <a:effectLst/>
                        </a:rPr>
                        <a:t>불특허대상으로</a:t>
                      </a:r>
                      <a:r>
                        <a:rPr lang="ko-KR" altLang="en-US" sz="950" kern="0" spc="0" dirty="0">
                          <a:effectLst/>
                        </a:rPr>
                        <a:t> 할 수 </a:t>
                      </a:r>
                      <a:r>
                        <a:rPr lang="ko-KR" altLang="en-US" sz="950" kern="0" spc="0" dirty="0" err="1">
                          <a:effectLst/>
                        </a:rPr>
                        <a:t>있되</a:t>
                      </a:r>
                      <a:r>
                        <a:rPr lang="ko-KR" altLang="en-US" sz="950" kern="0" spc="0" dirty="0">
                          <a:effectLst/>
                        </a:rPr>
                        <a:t> 이를 </a:t>
                      </a:r>
                      <a:r>
                        <a:rPr lang="ko-KR" altLang="en-US" sz="950" kern="0" spc="0" dirty="0" err="1">
                          <a:effectLst/>
                        </a:rPr>
                        <a:t>불특허대상으로</a:t>
                      </a:r>
                      <a:r>
                        <a:rPr lang="ko-KR" altLang="en-US" sz="950" kern="0" spc="0" dirty="0">
                          <a:effectLst/>
                        </a:rPr>
                        <a:t> 한 경우에는 특별법으로 보호해야 함을 의무화　</a:t>
                      </a:r>
                      <a:endParaRPr lang="ko-KR" altLang="en-US" sz="950" kern="0" spc="0" dirty="0">
                        <a:solidFill>
                          <a:srgbClr val="000000"/>
                        </a:solidFill>
                        <a:effectLst/>
                        <a:latin typeface="+mn-ea"/>
                        <a:ea typeface="+mn-ea"/>
                      </a:endParaRPr>
                    </a:p>
                  </a:txBody>
                  <a:tcPr marL="47473" marR="47473" marT="23737" marB="23737" anchor="ctr"/>
                </a:tc>
                <a:extLst>
                  <a:ext uri="{0D108BD9-81ED-4DB2-BD59-A6C34878D82A}">
                    <a16:rowId xmlns:a16="http://schemas.microsoft.com/office/drawing/2014/main" val="10008"/>
                  </a:ext>
                </a:extLst>
              </a:tr>
            </a:tbl>
          </a:graphicData>
        </a:graphic>
      </p:graphicFrame>
      <p:sp>
        <p:nvSpPr>
          <p:cNvPr id="3" name="슬라이드 번호 개체 틀 2"/>
          <p:cNvSpPr>
            <a:spLocks noGrp="1"/>
          </p:cNvSpPr>
          <p:nvPr>
            <p:ph type="sldNum" sz="quarter" idx="12"/>
          </p:nvPr>
        </p:nvSpPr>
        <p:spPr/>
        <p:txBody>
          <a:bodyPr/>
          <a:lstStyle/>
          <a:p>
            <a:fld id="{3875FC6C-1516-4DC4-8C58-3090F7D4F003}" type="slidenum">
              <a:rPr lang="ko-KR" altLang="en-US" smtClean="0"/>
              <a:t>50</a:t>
            </a:fld>
            <a:endParaRPr lang="ko-KR" altLang="en-US"/>
          </a:p>
        </p:txBody>
      </p:sp>
    </p:spTree>
    <p:extLst>
      <p:ext uri="{BB962C8B-B14F-4D97-AF65-F5344CB8AC3E}">
        <p14:creationId xmlns:p14="http://schemas.microsoft.com/office/powerpoint/2010/main" val="1746899193"/>
      </p:ext>
    </p:extLst>
  </p:cSld>
  <p:clrMapOvr>
    <a:masterClrMapping/>
  </p:clrMapOvr>
</p:sld>
</file>

<file path=ppt/theme/theme1.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사용자 지정 1">
      <a:majorFont>
        <a:latin typeface="Frutiger LT 75 Black"/>
        <a:ea typeface="Rix모던고딕 EB"/>
        <a:cs typeface=""/>
      </a:majorFont>
      <a:minorFont>
        <a:latin typeface="Frutiger LT 65 Bold"/>
        <a:ea typeface="Rix모던고딕 B"/>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ln>
          <a:solidFill>
            <a:schemeClr val="bg1">
              <a:lumMod val="50000"/>
            </a:schemeClr>
          </a:solidFill>
          <a:headEnd type="none" w="med" len="med"/>
          <a:tailEnd type="none" w="med" len="med"/>
        </a:ln>
      </a:spPr>
      <a:bodyPr/>
      <a:lstStyle/>
      <a:style>
        <a:lnRef idx="1">
          <a:schemeClr val="accent1"/>
        </a:lnRef>
        <a:fillRef idx="0">
          <a:schemeClr val="accent1"/>
        </a:fillRef>
        <a:effectRef idx="0">
          <a:schemeClr val="accent1"/>
        </a:effectRef>
        <a:fontRef idx="minor">
          <a:schemeClr val="tx1"/>
        </a:fontRef>
      </a:style>
    </a:ln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7729</TotalTime>
  <Words>11691</Words>
  <Application>Microsoft Office PowerPoint</Application>
  <PresentationFormat>와이드스크린</PresentationFormat>
  <Paragraphs>1908</Paragraphs>
  <Slides>51</Slides>
  <Notes>49</Notes>
  <HiddenSlides>0</HiddenSlides>
  <MMClips>0</MMClips>
  <ScaleCrop>false</ScaleCrop>
  <HeadingPairs>
    <vt:vector size="6" baseType="variant">
      <vt:variant>
        <vt:lpstr>사용한 글꼴</vt:lpstr>
      </vt:variant>
      <vt:variant>
        <vt:i4>12</vt:i4>
      </vt:variant>
      <vt:variant>
        <vt:lpstr>테마</vt:lpstr>
      </vt:variant>
      <vt:variant>
        <vt:i4>1</vt:i4>
      </vt:variant>
      <vt:variant>
        <vt:lpstr>슬라이드 제목</vt:lpstr>
      </vt:variant>
      <vt:variant>
        <vt:i4>51</vt:i4>
      </vt:variant>
    </vt:vector>
  </HeadingPairs>
  <TitlesOfParts>
    <vt:vector size="64" baseType="lpstr">
      <vt:lpstr>Rix모던고딕 M</vt:lpstr>
      <vt:lpstr>Frutiger LT 65 Bold</vt:lpstr>
      <vt:lpstr>Rix모던명조 B</vt:lpstr>
      <vt:lpstr>Rix모던고딕 L</vt:lpstr>
      <vt:lpstr>Rix커피향 M</vt:lpstr>
      <vt:lpstr>Arial</vt:lpstr>
      <vt:lpstr>Rix모던명조 L</vt:lpstr>
      <vt:lpstr>Frutiger LT 75 Black</vt:lpstr>
      <vt:lpstr>Wingdings</vt:lpstr>
      <vt:lpstr>Rix모던고딕 B</vt:lpstr>
      <vt:lpstr>Rix모던고딕 EB</vt:lpstr>
      <vt:lpstr>산돌신문제비 L</vt:lpstr>
      <vt:lpstr>Office 테마</vt:lpstr>
      <vt:lpstr>PowerPoint 프레젠테이션</vt:lpstr>
      <vt:lpstr>참고노트</vt:lpstr>
      <vt:lpstr>참고노트</vt:lpstr>
      <vt:lpstr>제1조</vt:lpstr>
      <vt:lpstr>제1조</vt:lpstr>
      <vt:lpstr>제1조</vt:lpstr>
      <vt:lpstr>제1조</vt:lpstr>
      <vt:lpstr>제1조</vt:lpstr>
      <vt:lpstr>제2조</vt:lpstr>
      <vt:lpstr>참고노트</vt:lpstr>
      <vt:lpstr>참고노트</vt:lpstr>
      <vt:lpstr>참고노트</vt:lpstr>
      <vt:lpstr>참고노트</vt:lpstr>
      <vt:lpstr>제2조</vt:lpstr>
      <vt:lpstr>참고노트</vt:lpstr>
      <vt:lpstr>참고노트</vt:lpstr>
      <vt:lpstr>참고노트</vt:lpstr>
      <vt:lpstr>참고노트</vt:lpstr>
      <vt:lpstr>참고노트</vt:lpstr>
      <vt:lpstr>참고노트</vt:lpstr>
      <vt:lpstr>참고노트</vt:lpstr>
      <vt:lpstr>참고노트</vt:lpstr>
      <vt:lpstr>제2조</vt:lpstr>
      <vt:lpstr>제2조</vt:lpstr>
      <vt:lpstr>제29조</vt:lpstr>
      <vt:lpstr>제2조</vt:lpstr>
      <vt:lpstr>제2조</vt:lpstr>
      <vt:lpstr>제2조</vt:lpstr>
      <vt:lpstr>제2조</vt:lpstr>
      <vt:lpstr>제3조~제5조</vt:lpstr>
      <vt:lpstr>제3조~제5조</vt:lpstr>
      <vt:lpstr>제5조</vt:lpstr>
      <vt:lpstr>제7조</vt:lpstr>
      <vt:lpstr>제8조</vt:lpstr>
      <vt:lpstr>제9조, 제10조</vt:lpstr>
      <vt:lpstr>제11조</vt:lpstr>
      <vt:lpstr>제14조</vt:lpstr>
      <vt:lpstr>제15조</vt:lpstr>
      <vt:lpstr>제16조, 제28조~제28조의5</vt:lpstr>
      <vt:lpstr>제16조</vt:lpstr>
      <vt:lpstr>제16조</vt:lpstr>
      <vt:lpstr>제18조~제19조</vt:lpstr>
      <vt:lpstr>제20조~제24조</vt:lpstr>
      <vt:lpstr>제78조, 제164조</vt:lpstr>
      <vt:lpstr>참고노트</vt:lpstr>
      <vt:lpstr>참고노트</vt:lpstr>
      <vt:lpstr>참고노트</vt:lpstr>
      <vt:lpstr>참고노트</vt:lpstr>
      <vt:lpstr>제216조</vt:lpstr>
      <vt:lpstr>참고노트</vt:lpstr>
      <vt:lpstr>참고노트</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(주)INVENSTOR</dc:title>
  <dc:creator>Windows 사용자</dc:creator>
  <cp:lastModifiedBy>병웅 임</cp:lastModifiedBy>
  <cp:revision>380</cp:revision>
  <cp:lastPrinted>2021-09-03T08:33:13Z</cp:lastPrinted>
  <dcterms:created xsi:type="dcterms:W3CDTF">2016-02-25T00:12:49Z</dcterms:created>
  <dcterms:modified xsi:type="dcterms:W3CDTF">2026-06-13T13:03:51Z</dcterms:modified>
</cp:coreProperties>
</file>